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embeddedFontLst>
    <p:embeddedFont>
      <p:font typeface="Amiri" pitchFamily="2" charset="-78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 AT A GLANCE — 60 minutes on Teams, mostly in breakout rooms of three.
0–2 Welcome · 2–6 How Paper 3 works · 6–10 Language bank · 10–13 Breakout routine · 13–33 Role plays A–D in rooms (rotate roles) · 33–37 Role-play models (main room) · 37–50 Topic conversation in rooms · 50–55 Conversation models · 55–58 Feedback + self-check · 58–60 Close.
Content: teacher-made exam scenarios for Advanced Topic E, Lesson 6 (Faith Celebrations and Special Occasions, TE-L06), using that lesson’s language (past for one celebration vs present for every year (iḥtafalnā / naḥtafilu); sequencing (awwalan, thumma, baʿda dhālika, akhīran); object pronouns (zurnāhum, ushtartuhā, ahdatnī iyyāhu)). Every task has Core · Develop · Stretch support and a model answer.
EXAM FORMAT: Paper 3 Speaking = a role play and a topic conversation, as in the Cambridge IGCSE Arabic 0544 speaking test. Check timings and marks against the current syllabus and the past paper you use.
BREAKOUT ROOMS: set up rooms of three before the lesson. Share the deck (or a PDF) so every room can see the cards.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WELCOME (1 min) — while students join.
• Greet each student by name as they arrive: السَّلَامُ عَلَيْكُمْ. Take the register (Pastoral Tracker: attendance 0/1).
• 2-MINUTE CHECK-IN (SEND training): a private chat to any student who seemed unsettled last lesson — “Are you okay today? 👍 / 👎”.
• Point to the four expectations — brief and positive: this is our class agreement.
• Talk code: “I will always give you thinking and practice time before I ask anyone.” Reading aloud is by invitation — a student may say “pass” and you return to them later.
• Follow-up on preparation: who learnt the five words? Quick private reminder to anyone who did not (Flipped Learning: follow up every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(1 min) — most of the lesson happens in breakout rooms; the teacher visits each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TEACH (3 min). Role play = precise and complete; conversation = develop. Choral repetition of the repair phrases. To a girl: تُعِيدِي.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LANGUAGE BANK (2 min) — the Eid day in order: أَوَّلًا نُصَلِّي صَلَاةَ العِيدِ، ثُمَّ نُفْطِرُ، بَعْدَ ذٰلِكَ نَزُورُ الأَقَارِبَ، وَأَخِيرًا نَخْرُجُ إِلَى الحَدِيقَةِ. Present for every year; past for "last Eid".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LANGUAGE BANK (2 min) — attach the object to the verb: اشْتَرَيْتُ الفُسْتَانَ → اشْتَرَيْتُهُ · زُرْنَا جَدَّتِي → زُرْنَاهَا · زُرْنَا أَقَارِبَنَا → زُرْنَاهُمْ. Two objects: أَهْدَتْنِي إِيَّاهُ (she gave it to me). Greetings: عِيدٌ مُبَارَكٌ · كُلُّ عَامٍ وَأَنْتُمْ بِخَيْرٍ.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BREAKOUT ROUTINE (3 min, in the main room). Same-level rooms make the routes simple; mixed rooms work if the strongest student is examiner first. Post the room timer in the chat. Visit every room for about two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A (Core) — Eid morning in the street.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تَبْدِينَ جَمِيلَةً · تَأْخُذِينَ.
Core: present-tense routine (nuṣallī, nazūru, naʾkulu), awwalan … thumma, courtesy (tafaḍḍal), ʿīdiyya.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B (Core+) — at school.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أَنْتِ صَائِمَةٌ · تَأْكُلِينَ · تُرِيدِينَ · تَأْتِي · أَنْتِ ضَيْفَتُنَا · أَصُومُ (same).
Core+: min … ilā, an invitation with hal turīdu an, telling the time (ath-thāmina wa-r-rubʿ), lā shayʾa, the CANDIDATE asks about a friend’s festival, lākinnahu + two verbs with object pronouns (yuʿallimunī, yudhakkirunī).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C (Develop) — a class presentation.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اسْتَعْدَدْتُمْ (same) · طُفُولَتِكِ · أَخَذْتِهَا · سَتَحْتَفِلِينَ · كُنْتُ صَغِيرَةً.
Develop: past verbs with object pronouns (labisnāhā, wazzaʿnāhu), qabla dhālika bi-yawmin, four sequencers, kunnā naḥtafilu vs ammā al-āna fa-, ahdatnī iyyāhu, sa- + li-kay.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D (Stretch) — a TV interview.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إِلَيْكِ · تُشَارِكِينَ · غَيْرِكِ · أَجْدَادُكِ · أَضَفْتِ.
Stretch: laysa … wa-lā … bal, fa-baʿda shahrin, mathalan + past with object pronouns (ahdaynāhā), a concession with mimmā yaʿnī, kānū + present + ḥāl (yakhbizūna), ammā naḥnu fa-, law … la- + li-kay lā.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Observers keep this slide open (or copy the six points into their book). Collect one strong WWW per room afterwards.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Core. Examiner asks the questions in order and may add “لِمَاذَا؟ / هَلْ يُمْكِنُ أَنْ تَشْرَحَ أَكْثَرَ؟” to push for more. Candidate aims for one full sentence per question.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Develop. Examiner asks the questions in order and may add “لِمَاذَا؟ / هَلْ يُمْكِنُ أَنْ تَشْرَحَ أَكْثَرَ؟” to push for more. Candidate aims for two or three sentences, with sequence, two time frames and an object pronoun.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Stretch. Examiner asks the questions in order and may add “لِمَاذَا؟ / هَلْ يُمْكِنُ أَنْ تَشْرَحَ أَكْثَرَ؟” to push for more. Candidate aims for a developed answer: opinion, balance, concession and a conditional.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(Core)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(Develop)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(1 min) against the website success criteria. Students tick privately, then type one WWW and one EBI in the chat (English is fine).
Teacher: one whole-class feedback point from live feedback. Pastoral: Curiosity &amp; Growth for honest reflection and a harder target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thank students, dismiss calmly. After the lesson: complete the Pastoral Tracker (attendance, character, self-management, curiosity; demerits only for the five listed concerns). Note any student below 2/3 on the exit ticket for a Do Now check-in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cs typeface="Amiri" pitchFamily="2" charset="-7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cs typeface="Amiri" pitchFamily="2" charset="-7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cs typeface="Amiri" pitchFamily="2" charset="-7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cs typeface="Amiri" pitchFamily="2" charset="-7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cs typeface="Amiri" pitchFamily="2" charset="-7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cs typeface="Amiri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858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B3B6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400" dirty="0"/>
          </a:p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ARABIC DEPARTMENT · MIFTAH ARABIC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CAMBRIDGE IGCSE ARABIC 0544  ·  ADVANCED TOPIC E · EXAM PRACTICE  ·  TE-L06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B3D1"/>
                </a:solidFill>
                <a:latin typeface="Cambria" pitchFamily="34" charset="0"/>
                <a:cs typeface="Amiri" pitchFamily="2" charset="-78"/>
              </a:rPr>
              <a:t>TE-L06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87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Speaking Workshop — Faith Celebrations and Special Occasions</a:t>
            </a:r>
            <a:endParaRPr lang="en-US" sz="26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10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36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وَرْشَةُ التَّحَدُّثِ — الأَعْيَادُ الدِّينِيَّةُ وَالمُنَاسَبَاتُ</a:t>
            </a:r>
            <a:endParaRPr lang="ar-SA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Paper 3 practice in breakout rooms: describe how you celebrate Ramadan, the two Eids and other special occasions — what you do every year (present) and what you did last time (past) — in a clear sequence (</a:t>
            </a:r>
            <a:pPr algn="l" indent="0" marL="0">
              <a:buNone/>
            </a:pPr>
            <a:r>
              <a:rPr lang="ar-SA" altLang="en-US" sz="1550" dirty="0">
                <a:solidFill>
                  <a:srgbClr val="C6D2E6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</a:t>
            </a:r>
            <a:pPr algn="l" indent="0" marL="0">
              <a:buNone/>
            </a:pPr>
            <a:r>
              <a:rPr lang="en-US" sz="12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50" dirty="0">
                <a:solidFill>
                  <a:srgbClr val="C6D2E6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ثُمَّ</a:t>
            </a:r>
            <a:pPr algn="l" indent="0" marL="0">
              <a:buNone/>
            </a:pPr>
            <a:r>
              <a:rPr lang="en-US" sz="12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50" dirty="0">
                <a:solidFill>
                  <a:srgbClr val="C6D2E6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بَعْدَ ذٰلِكَ</a:t>
            </a:r>
            <a:pPr algn="l" indent="0" marL="0">
              <a:buNone/>
            </a:pPr>
            <a:r>
              <a:rPr lang="en-US" sz="12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50" dirty="0">
                <a:solidFill>
                  <a:srgbClr val="C6D2E6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أَخِيرًا</a:t>
            </a:r>
            <a:pPr algn="l" indent="0" marL="0">
              <a:buNone/>
            </a:pPr>
            <a:r>
              <a:rPr lang="en-US" sz="12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), with object pronouns to avoid repetition (</a:t>
            </a:r>
            <a:pPr algn="l" indent="0" marL="0">
              <a:buNone/>
            </a:pPr>
            <a:r>
              <a:rPr lang="ar-SA" altLang="en-US" sz="1550" dirty="0">
                <a:solidFill>
                  <a:srgbClr val="C6D2E6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زُرْنَاهُمْ</a:t>
            </a:r>
            <a:pPr algn="l" indent="0" marL="0">
              <a:buNone/>
            </a:pPr>
            <a:r>
              <a:rPr lang="en-US" sz="12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50" dirty="0">
                <a:solidFill>
                  <a:srgbClr val="C6D2E6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اشْتَرَيْتُهَا</a:t>
            </a:r>
            <a:pPr algn="l" indent="0" marL="0">
              <a:buNone/>
            </a:pPr>
            <a:r>
              <a:rPr lang="en-US" sz="12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).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LESSON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TE-L06 · Advanced Topic E · The International World · exam practice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73552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8144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60 minutes · Teams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9904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54496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LEVEL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Topic E · A2 → B1+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06256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0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ON THE WEBSITE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Advanced Topics › Topic E › TE-L06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WE BEGIN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Our online classroom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آدَابُ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002536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96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71600" y="190195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Camera 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can see you learning and help you quickly.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9077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81528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8094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Mic muted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Unmute only when invited to speak.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57200" y="39867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60520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05993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Chat for learning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Answers, questions and Arabic only.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7200" y="50657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5239512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Raise your hand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hand button to ask for help.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172200" y="1828800"/>
            <a:ext cx="5559552" cy="4169664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00800" y="19385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HOW WE TALK — THE ORACY CODE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●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7059168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Think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silent preparation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997696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99769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↔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Rehearse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partners speak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+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7059168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 or detail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97696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9769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?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656064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Challenge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question respectfully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400800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008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◎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7059168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anyone may be invited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8997696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997696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↺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9656064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more precisely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6400800" y="5230368"/>
            <a:ext cx="5102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always give you thinking and practice time before I ask anyone. Reading aloud is by invitation — you can always say “pass, please come back to me”.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 / 25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88352" y="274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88352" y="274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TODAY’S WORKSHOP MAP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 practice, step by step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خَرِيطَةُ الوَرْشَةِ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332281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332281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How the speaking exam works; the language you need.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</a:t>
            </a:r>
            <a:endParaRPr lang="ar-SA" sz="1500" dirty="0"/>
          </a:p>
        </p:txBody>
      </p:sp>
      <p:sp>
        <p:nvSpPr>
          <p:cNvPr id="23" name="Shape 20"/>
          <p:cNvSpPr/>
          <p:nvPr/>
        </p:nvSpPr>
        <p:spPr>
          <a:xfrm>
            <a:off x="273771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84744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88401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88401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20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612794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61279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86573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A–D in breakout rooms.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82915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تَمْثِيلُ الدَّوْرِ</a:t>
            </a:r>
            <a:endParaRPr lang="ar-SA" sz="1500" dirty="0"/>
          </a:p>
        </p:txBody>
      </p:sp>
      <p:sp>
        <p:nvSpPr>
          <p:cNvPr id="31" name="Shape 28"/>
          <p:cNvSpPr/>
          <p:nvPr/>
        </p:nvSpPr>
        <p:spPr>
          <a:xfrm>
            <a:off x="5018227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127955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164531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5164531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4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89330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89330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5146243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Role-play models.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5109667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النَّمُوذَجُ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7298741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7408469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445045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7445045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13 min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173822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17382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7426757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in breakout rooms.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7390181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المُحَادَثَةُ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957925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968898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72555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972555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9 min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10454335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0454335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970727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Conversation models, feedback, self-check.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967069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457200" y="5285232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Text 53"/>
          <p:cNvSpPr txBox="1"/>
          <p:nvPr/>
        </p:nvSpPr>
        <p:spPr>
          <a:xfrm>
            <a:off x="6858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IF ARABIC FEELS HARD TODAY</a:t>
            </a:r>
            <a:endParaRPr lang="en-US" sz="1000" dirty="0"/>
          </a:p>
        </p:txBody>
      </p:sp>
      <p:sp>
        <p:nvSpPr>
          <p:cNvPr id="57" name="Text 54"/>
          <p:cNvSpPr txBox="1"/>
          <p:nvPr/>
        </p:nvSpPr>
        <p:spPr>
          <a:xfrm>
            <a:off x="685800" y="563270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In the rooms everyone has a job: examiner, candidate or observer. You swap after each role play, so everybody speaks.</a:t>
            </a:r>
            <a:endParaRPr lang="en-US" sz="1250" dirty="0"/>
          </a:p>
        </p:txBody>
      </p:sp>
      <p:sp>
        <p:nvSpPr>
          <p:cNvPr id="58" name="Text 5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3 / 25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TEACH · PAPER 3 SPEAKING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How the speaking exam works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امْتِحَانُ التَّحَدُّثِ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THE TWO PARTS WE PRACTISE TODAY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 — a card with a situation and tasks. The examiner asks; you answer every task in a full, clear sentence. One task is unexpected (!).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— the examiner asks questions about a topic you know. Short answers are not enough: develop each one.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Examiners reward: completing the tasks, a range of language (tenses, linking words, opinions) and accuracy.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Never stay silent — use a repair phrase and keep going.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REPAIR PHRASES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ar-SA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955828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Sorry, could you repeat the question?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53568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553968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لَحْظَةً، دَعْنِي أُفَكِّرُ …</a:t>
            </a:r>
            <a:endParaRPr lang="ar-SA" sz="28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4315236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One moment, let me think …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89508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913376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أَقْصِدُ …</a:t>
            </a:r>
            <a:endParaRPr lang="ar-SA" sz="28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5674644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mean …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4 / 25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OCCASIONS AND SEQUENCE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First … then … finally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تَرْتِيبُ الأَحْدَاثِ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noun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عِيدٌ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festival / Eid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ʿī-dun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9669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218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happy Eid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عِيدٌ مُبَارَكٌ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8238744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93608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festivals</a:t>
            </a:r>
            <a:endParaRPr lang="en-US" sz="700" dirty="0"/>
          </a:p>
        </p:txBody>
      </p:sp>
      <p:sp>
        <p:nvSpPr>
          <p:cNvPr id="29" name="Text 26"/>
          <p:cNvSpPr txBox="1"/>
          <p:nvPr/>
        </p:nvSpPr>
        <p:spPr>
          <a:xfrm>
            <a:off x="8284464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أَعْيَادٌ</a:t>
            </a:r>
            <a:endParaRPr lang="ar-SA" sz="1350" dirty="0"/>
          </a:p>
        </p:txBody>
      </p:sp>
      <p:sp>
        <p:nvSpPr>
          <p:cNvPr id="30" name="Shape 27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82312" y="1938528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782312" y="1938528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occasions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عِيدُ الفِطْرِ · عِيدُ الأَضْحَى</a:t>
            </a:r>
            <a:endParaRPr lang="ar-SA" sz="3000" dirty="0"/>
          </a:p>
        </p:txBody>
      </p:sp>
      <p:sp>
        <p:nvSpPr>
          <p:cNvPr id="38" name="Text 35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Eid al-Fitr · Eid al-Adha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ʿī-du al-fiṭ-ri · ʿī-du al-aḍ-ḥā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6144768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199632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 fast</a:t>
            </a:r>
            <a:endParaRPr lang="en-US" sz="700" dirty="0"/>
          </a:p>
        </p:txBody>
      </p:sp>
      <p:sp>
        <p:nvSpPr>
          <p:cNvPr id="41" name="Text 38"/>
          <p:cNvSpPr txBox="1"/>
          <p:nvPr/>
        </p:nvSpPr>
        <p:spPr>
          <a:xfrm>
            <a:off x="6190488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الصِّيَامُ</a:t>
            </a:r>
            <a:endParaRPr lang="ar-SA" sz="1350" dirty="0"/>
          </a:p>
        </p:txBody>
      </p:sp>
      <p:sp>
        <p:nvSpPr>
          <p:cNvPr id="42" name="Shape 39"/>
          <p:cNvSpPr/>
          <p:nvPr/>
        </p:nvSpPr>
        <p:spPr>
          <a:xfrm>
            <a:off x="4416552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471416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Ramadan</a:t>
            </a:r>
            <a:endParaRPr lang="en-US" sz="700" dirty="0"/>
          </a:p>
        </p:txBody>
      </p:sp>
      <p:sp>
        <p:nvSpPr>
          <p:cNvPr id="44" name="Text 41"/>
          <p:cNvSpPr txBox="1"/>
          <p:nvPr/>
        </p:nvSpPr>
        <p:spPr>
          <a:xfrm>
            <a:off x="4462272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رَمَضَانُ</a:t>
            </a:r>
            <a:endParaRPr lang="ar-SA" sz="1350" dirty="0"/>
          </a:p>
        </p:txBody>
      </p:sp>
      <p:sp>
        <p:nvSpPr>
          <p:cNvPr id="45" name="Shape 42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960120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60120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verb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أَحْتَفِلُ بِالعِيدِ</a:t>
            </a:r>
            <a:endParaRPr lang="ar-SA" sz="3000" dirty="0"/>
          </a:p>
        </p:txBody>
      </p:sp>
      <p:sp>
        <p:nvSpPr>
          <p:cNvPr id="53" name="Text 50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celebrate Eid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aḥ-ta-fi-lu bil-ʿī-di</a:t>
            </a:r>
            <a:endParaRPr lang="en-US" sz="1350" dirty="0"/>
          </a:p>
        </p:txBody>
      </p:sp>
      <p:sp>
        <p:nvSpPr>
          <p:cNvPr id="54" name="Shape 51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celebration</a:t>
            </a:r>
            <a:endParaRPr lang="en-US" sz="700" dirty="0"/>
          </a:p>
        </p:txBody>
      </p:sp>
      <p:sp>
        <p:nvSpPr>
          <p:cNvPr id="56" name="Text 53"/>
          <p:cNvSpPr txBox="1"/>
          <p:nvPr/>
        </p:nvSpPr>
        <p:spPr>
          <a:xfrm>
            <a:off x="2368296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احْتِفَالٌ</a:t>
            </a:r>
            <a:endParaRPr lang="ar-SA" sz="1350" dirty="0"/>
          </a:p>
        </p:txBody>
      </p:sp>
      <p:sp>
        <p:nvSpPr>
          <p:cNvPr id="57" name="Shape 54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we celebrated</a:t>
            </a:r>
            <a:endParaRPr lang="en-US" sz="700" dirty="0"/>
          </a:p>
        </p:txBody>
      </p:sp>
      <p:sp>
        <p:nvSpPr>
          <p:cNvPr id="59" name="Text 56"/>
          <p:cNvSpPr txBox="1"/>
          <p:nvPr/>
        </p:nvSpPr>
        <p:spPr>
          <a:xfrm>
            <a:off x="6400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احْتَفَلْنَا</a:t>
            </a:r>
            <a:endParaRPr lang="ar-SA" sz="1350" dirty="0"/>
          </a:p>
        </p:txBody>
      </p:sp>
      <p:sp>
        <p:nvSpPr>
          <p:cNvPr id="60" name="Shape 57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8604504" y="4279392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604504" y="4279392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Ramadan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7" name="Text 64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الإِفْطَارُ · السُّحُورُ</a:t>
            </a:r>
            <a:endParaRPr lang="ar-SA" sz="3000" dirty="0"/>
          </a:p>
        </p:txBody>
      </p:sp>
      <p:sp>
        <p:nvSpPr>
          <p:cNvPr id="68" name="Text 65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 fast-breaking meal · pre-dawn meal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al-if-ṭā-ru · as-su-ḥū-ru</a:t>
            </a:r>
            <a:endParaRPr lang="en-US" sz="1350" dirty="0"/>
          </a:p>
        </p:txBody>
      </p:sp>
      <p:sp>
        <p:nvSpPr>
          <p:cNvPr id="69" name="Shape 66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fasting (m. · f.)</a:t>
            </a:r>
            <a:endParaRPr lang="en-US" sz="700" dirty="0"/>
          </a:p>
        </p:txBody>
      </p:sp>
      <p:sp>
        <p:nvSpPr>
          <p:cNvPr id="71" name="Text 68"/>
          <p:cNvSpPr txBox="1"/>
          <p:nvPr/>
        </p:nvSpPr>
        <p:spPr>
          <a:xfrm>
            <a:off x="100126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صَائِمٌ · صَائِمَةٌ</a:t>
            </a:r>
            <a:endParaRPr lang="ar-SA" sz="1350" dirty="0"/>
          </a:p>
        </p:txBody>
      </p:sp>
      <p:sp>
        <p:nvSpPr>
          <p:cNvPr id="72" name="Shape 69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fast</a:t>
            </a:r>
            <a:endParaRPr lang="en-US" sz="700" dirty="0"/>
          </a:p>
        </p:txBody>
      </p:sp>
      <p:sp>
        <p:nvSpPr>
          <p:cNvPr id="74" name="Text 71"/>
          <p:cNvSpPr txBox="1"/>
          <p:nvPr/>
        </p:nvSpPr>
        <p:spPr>
          <a:xfrm>
            <a:off x="8284464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أَصُومُ</a:t>
            </a:r>
            <a:endParaRPr lang="ar-SA" sz="1350" dirty="0"/>
          </a:p>
        </p:txBody>
      </p:sp>
      <p:sp>
        <p:nvSpPr>
          <p:cNvPr id="75" name="Shape 72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6" name="Shape 73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4782312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4782312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noun</a:t>
            </a:r>
            <a:endParaRPr lang="en-US" sz="800" dirty="0"/>
          </a:p>
        </p:txBody>
      </p:sp>
      <p:sp>
        <p:nvSpPr>
          <p:cNvPr id="80" name="Shape 77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2" name="Text 79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صَلَاةُ العِيدِ</a:t>
            </a:r>
            <a:endParaRPr lang="ar-SA" sz="3000" dirty="0"/>
          </a:p>
        </p:txBody>
      </p:sp>
      <p:sp>
        <p:nvSpPr>
          <p:cNvPr id="83" name="Text 80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 Eid prayer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ṣa-lā-tu al-ʿī-di</a:t>
            </a:r>
            <a:endParaRPr lang="en-US" sz="1350" dirty="0"/>
          </a:p>
        </p:txBody>
      </p:sp>
      <p:sp>
        <p:nvSpPr>
          <p:cNvPr id="84" name="Shape 81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 morning</a:t>
            </a:r>
            <a:endParaRPr lang="en-US" sz="700" dirty="0"/>
          </a:p>
        </p:txBody>
      </p:sp>
      <p:sp>
        <p:nvSpPr>
          <p:cNvPr id="86" name="Text 83"/>
          <p:cNvSpPr txBox="1"/>
          <p:nvPr/>
        </p:nvSpPr>
        <p:spPr>
          <a:xfrm>
            <a:off x="6190488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الصَّبَاحُ</a:t>
            </a:r>
            <a:endParaRPr lang="ar-SA" sz="1350" dirty="0"/>
          </a:p>
        </p:txBody>
      </p:sp>
      <p:sp>
        <p:nvSpPr>
          <p:cNvPr id="87" name="Shape 84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 mosque</a:t>
            </a:r>
            <a:endParaRPr lang="en-US" sz="700" dirty="0"/>
          </a:p>
        </p:txBody>
      </p:sp>
      <p:sp>
        <p:nvSpPr>
          <p:cNvPr id="89" name="Text 86"/>
          <p:cNvSpPr txBox="1"/>
          <p:nvPr/>
        </p:nvSpPr>
        <p:spPr>
          <a:xfrm>
            <a:off x="4462272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المَسْجِدُ</a:t>
            </a:r>
            <a:endParaRPr lang="ar-SA" sz="1350" dirty="0"/>
          </a:p>
        </p:txBody>
      </p:sp>
      <p:sp>
        <p:nvSpPr>
          <p:cNvPr id="90" name="Shape 87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1" name="Shape 88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2" name="Text 89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000" dirty="0"/>
          </a:p>
        </p:txBody>
      </p:sp>
      <p:sp>
        <p:nvSpPr>
          <p:cNvPr id="93" name="Shape 90"/>
          <p:cNvSpPr/>
          <p:nvPr/>
        </p:nvSpPr>
        <p:spPr>
          <a:xfrm>
            <a:off x="960120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960120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noun</a:t>
            </a:r>
            <a:endParaRPr lang="en-US" sz="800" dirty="0"/>
          </a:p>
        </p:txBody>
      </p:sp>
      <p:sp>
        <p:nvSpPr>
          <p:cNvPr id="95" name="Shape 92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6" name="Text 93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7" name="Text 94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عِيدِيَّةٌ</a:t>
            </a:r>
            <a:endParaRPr lang="ar-SA" sz="3000" dirty="0"/>
          </a:p>
        </p:txBody>
      </p:sp>
      <p:sp>
        <p:nvSpPr>
          <p:cNvPr id="98" name="Text 95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Eid money (gift)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ʿī-diy-ya-tun</a:t>
            </a:r>
            <a:endParaRPr lang="en-US" sz="1350" dirty="0"/>
          </a:p>
        </p:txBody>
      </p:sp>
      <p:sp>
        <p:nvSpPr>
          <p:cNvPr id="99" name="Shape 96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gifts</a:t>
            </a:r>
            <a:endParaRPr lang="en-US" sz="700" dirty="0"/>
          </a:p>
        </p:txBody>
      </p:sp>
      <p:sp>
        <p:nvSpPr>
          <p:cNvPr id="101" name="Text 98"/>
          <p:cNvSpPr txBox="1"/>
          <p:nvPr/>
        </p:nvSpPr>
        <p:spPr>
          <a:xfrm>
            <a:off x="2368296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هَدَايَا</a:t>
            </a:r>
            <a:endParaRPr lang="ar-SA" sz="1350" dirty="0"/>
          </a:p>
        </p:txBody>
      </p:sp>
      <p:sp>
        <p:nvSpPr>
          <p:cNvPr id="102" name="Shape 99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 gift</a:t>
            </a:r>
            <a:endParaRPr lang="en-US" sz="700" dirty="0"/>
          </a:p>
        </p:txBody>
      </p:sp>
      <p:sp>
        <p:nvSpPr>
          <p:cNvPr id="104" name="Text 101"/>
          <p:cNvSpPr txBox="1"/>
          <p:nvPr/>
        </p:nvSpPr>
        <p:spPr>
          <a:xfrm>
            <a:off x="6400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هَدِيَّةٌ</a:t>
            </a:r>
            <a:endParaRPr lang="ar-SA" sz="1350" dirty="0"/>
          </a:p>
        </p:txBody>
      </p:sp>
      <p:sp>
        <p:nvSpPr>
          <p:cNvPr id="105" name="Text 10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5 / 25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OBJECT PRONOUNS AND GREETINGS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Avoid repeating the noun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الضَّمَائِرُ المُتَّصِلَةُ بِالفِعْلِ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1144829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11448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object pronoun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مَلَابِسُ جَدِيدَةٌ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new clothes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ma-lā-bi-su ja-dī-da-tun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9669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218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bought them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اشْتَرَيْتُهَا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8238744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93608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wore it (f.)</a:t>
            </a:r>
            <a:endParaRPr lang="en-US" sz="700" dirty="0"/>
          </a:p>
        </p:txBody>
      </p:sp>
      <p:sp>
        <p:nvSpPr>
          <p:cNvPr id="29" name="Text 26"/>
          <p:cNvSpPr txBox="1"/>
          <p:nvPr/>
        </p:nvSpPr>
        <p:spPr>
          <a:xfrm>
            <a:off x="8284464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لَبِسْتُهَا</a:t>
            </a:r>
            <a:endParaRPr lang="ar-SA" sz="1350" dirty="0"/>
          </a:p>
        </p:txBody>
      </p:sp>
      <p:sp>
        <p:nvSpPr>
          <p:cNvPr id="30" name="Shape 27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8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82312" y="1938528"/>
            <a:ext cx="1144829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782312" y="1938528"/>
            <a:ext cx="11448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object pronoun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نَزُورُ الأَقَارِبَ</a:t>
            </a:r>
            <a:endParaRPr lang="ar-SA" sz="3000" dirty="0"/>
          </a:p>
        </p:txBody>
      </p:sp>
      <p:sp>
        <p:nvSpPr>
          <p:cNvPr id="38" name="Text 35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we visit relatives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na-zū-ru al-a-qā-ri-ba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6144768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199632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they visited us</a:t>
            </a:r>
            <a:endParaRPr lang="en-US" sz="700" dirty="0"/>
          </a:p>
        </p:txBody>
      </p:sp>
      <p:sp>
        <p:nvSpPr>
          <p:cNvPr id="41" name="Text 38"/>
          <p:cNvSpPr txBox="1"/>
          <p:nvPr/>
        </p:nvSpPr>
        <p:spPr>
          <a:xfrm>
            <a:off x="6190488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زَارُونَا</a:t>
            </a:r>
            <a:endParaRPr lang="ar-SA" sz="1350" dirty="0"/>
          </a:p>
        </p:txBody>
      </p:sp>
      <p:sp>
        <p:nvSpPr>
          <p:cNvPr id="42" name="Shape 39"/>
          <p:cNvSpPr/>
          <p:nvPr/>
        </p:nvSpPr>
        <p:spPr>
          <a:xfrm>
            <a:off x="4416552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471416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we visited them</a:t>
            </a:r>
            <a:endParaRPr lang="en-US" sz="700" dirty="0"/>
          </a:p>
        </p:txBody>
      </p:sp>
      <p:sp>
        <p:nvSpPr>
          <p:cNvPr id="44" name="Text 41"/>
          <p:cNvSpPr txBox="1"/>
          <p:nvPr/>
        </p:nvSpPr>
        <p:spPr>
          <a:xfrm>
            <a:off x="4462272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زُرْنَاهُمْ</a:t>
            </a:r>
            <a:endParaRPr lang="ar-SA" sz="1350" dirty="0"/>
          </a:p>
        </p:txBody>
      </p:sp>
      <p:sp>
        <p:nvSpPr>
          <p:cNvPr id="45" name="Shape 42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9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960120" y="1938528"/>
            <a:ext cx="77175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60120" y="1938528"/>
            <a:ext cx="77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sequence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 · ثُمَّ</a:t>
            </a:r>
            <a:endParaRPr lang="ar-SA" sz="3000" dirty="0"/>
          </a:p>
        </p:txBody>
      </p:sp>
      <p:sp>
        <p:nvSpPr>
          <p:cNvPr id="53" name="Text 50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first · then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aw-wa-lan · thum-ma</a:t>
            </a:r>
            <a:endParaRPr lang="en-US" sz="1350" dirty="0"/>
          </a:p>
        </p:txBody>
      </p:sp>
      <p:sp>
        <p:nvSpPr>
          <p:cNvPr id="54" name="Shape 51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finally</a:t>
            </a:r>
            <a:endParaRPr lang="en-US" sz="700" dirty="0"/>
          </a:p>
        </p:txBody>
      </p:sp>
      <p:sp>
        <p:nvSpPr>
          <p:cNvPr id="56" name="Text 53"/>
          <p:cNvSpPr txBox="1"/>
          <p:nvPr/>
        </p:nvSpPr>
        <p:spPr>
          <a:xfrm>
            <a:off x="2368296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أَخِيرًا</a:t>
            </a:r>
            <a:endParaRPr lang="ar-SA" sz="1350" dirty="0"/>
          </a:p>
        </p:txBody>
      </p:sp>
      <p:sp>
        <p:nvSpPr>
          <p:cNvPr id="57" name="Shape 54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after that</a:t>
            </a:r>
            <a:endParaRPr lang="en-US" sz="700" dirty="0"/>
          </a:p>
        </p:txBody>
      </p:sp>
      <p:sp>
        <p:nvSpPr>
          <p:cNvPr id="59" name="Text 56"/>
          <p:cNvSpPr txBox="1"/>
          <p:nvPr/>
        </p:nvSpPr>
        <p:spPr>
          <a:xfrm>
            <a:off x="6400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بَعْدَ ذٰلِكَ</a:t>
            </a:r>
            <a:endParaRPr lang="ar-SA" sz="1350" dirty="0"/>
          </a:p>
        </p:txBody>
      </p:sp>
      <p:sp>
        <p:nvSpPr>
          <p:cNvPr id="60" name="Shape 57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10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8604504" y="4279392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604504" y="4279392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occasions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7" name="Text 64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حَفْلَةُ زِفَافٍ</a:t>
            </a:r>
            <a:endParaRPr lang="ar-SA" sz="3000" dirty="0"/>
          </a:p>
        </p:txBody>
      </p:sp>
      <p:sp>
        <p:nvSpPr>
          <p:cNvPr id="68" name="Text 65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wedding party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ḥaf-la-tu zi-fā-fin</a:t>
            </a:r>
            <a:endParaRPr lang="en-US" sz="1350" dirty="0"/>
          </a:p>
        </p:txBody>
      </p:sp>
      <p:sp>
        <p:nvSpPr>
          <p:cNvPr id="69" name="Shape 66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 birth</a:t>
            </a:r>
            <a:endParaRPr lang="en-US" sz="700" dirty="0"/>
          </a:p>
        </p:txBody>
      </p:sp>
      <p:sp>
        <p:nvSpPr>
          <p:cNvPr id="71" name="Text 68"/>
          <p:cNvSpPr txBox="1"/>
          <p:nvPr/>
        </p:nvSpPr>
        <p:spPr>
          <a:xfrm>
            <a:off x="100126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وِلَادَةٌ</a:t>
            </a:r>
            <a:endParaRPr lang="ar-SA" sz="1350" dirty="0"/>
          </a:p>
        </p:txBody>
      </p:sp>
      <p:sp>
        <p:nvSpPr>
          <p:cNvPr id="72" name="Shape 69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bride · groom</a:t>
            </a:r>
            <a:endParaRPr lang="en-US" sz="700" dirty="0"/>
          </a:p>
        </p:txBody>
      </p:sp>
      <p:sp>
        <p:nvSpPr>
          <p:cNvPr id="74" name="Text 71"/>
          <p:cNvSpPr txBox="1"/>
          <p:nvPr/>
        </p:nvSpPr>
        <p:spPr>
          <a:xfrm>
            <a:off x="8284464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عَرُوسٌ · عَرِيسٌ</a:t>
            </a:r>
            <a:endParaRPr lang="ar-SA" sz="1350" dirty="0"/>
          </a:p>
        </p:txBody>
      </p:sp>
      <p:sp>
        <p:nvSpPr>
          <p:cNvPr id="75" name="Shape 72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6" name="Shape 73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11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4782312" y="4279392"/>
            <a:ext cx="77175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4782312" y="4279392"/>
            <a:ext cx="77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courtesy</a:t>
            </a:r>
            <a:endParaRPr lang="en-US" sz="800" dirty="0"/>
          </a:p>
        </p:txBody>
      </p:sp>
      <p:sp>
        <p:nvSpPr>
          <p:cNvPr id="80" name="Shape 77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2" name="Text 79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أُهَنِّئُ</a:t>
            </a:r>
            <a:endParaRPr lang="ar-SA" sz="3000" dirty="0"/>
          </a:p>
        </p:txBody>
      </p:sp>
      <p:sp>
        <p:nvSpPr>
          <p:cNvPr id="83" name="Text 80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congratulate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u-han-ni-ʾu</a:t>
            </a:r>
            <a:endParaRPr lang="en-US" sz="1350" dirty="0"/>
          </a:p>
        </p:txBody>
      </p:sp>
      <p:sp>
        <p:nvSpPr>
          <p:cNvPr id="84" name="Shape 81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every year and you are well</a:t>
            </a:r>
            <a:endParaRPr lang="en-US" sz="700" dirty="0"/>
          </a:p>
        </p:txBody>
      </p:sp>
      <p:sp>
        <p:nvSpPr>
          <p:cNvPr id="86" name="Text 83"/>
          <p:cNvSpPr txBox="1"/>
          <p:nvPr/>
        </p:nvSpPr>
        <p:spPr>
          <a:xfrm>
            <a:off x="6190488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كُلُّ عَامٍ وَأَنْتُمْ بِخَيْرٍ</a:t>
            </a:r>
            <a:endParaRPr lang="ar-SA" sz="1350" dirty="0"/>
          </a:p>
        </p:txBody>
      </p:sp>
      <p:sp>
        <p:nvSpPr>
          <p:cNvPr id="87" name="Shape 84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congratulations</a:t>
            </a:r>
            <a:endParaRPr lang="en-US" sz="700" dirty="0"/>
          </a:p>
        </p:txBody>
      </p:sp>
      <p:sp>
        <p:nvSpPr>
          <p:cNvPr id="89" name="Text 86"/>
          <p:cNvSpPr txBox="1"/>
          <p:nvPr/>
        </p:nvSpPr>
        <p:spPr>
          <a:xfrm>
            <a:off x="4462272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تَهْنِئَةٌ</a:t>
            </a:r>
            <a:endParaRPr lang="ar-SA" sz="1350" dirty="0"/>
          </a:p>
        </p:txBody>
      </p:sp>
      <p:sp>
        <p:nvSpPr>
          <p:cNvPr id="90" name="Shape 87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1" name="Shape 88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2" name="Text 89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12</a:t>
            </a:r>
            <a:endParaRPr lang="en-US" sz="1000" dirty="0"/>
          </a:p>
        </p:txBody>
      </p:sp>
      <p:sp>
        <p:nvSpPr>
          <p:cNvPr id="93" name="Shape 90"/>
          <p:cNvSpPr/>
          <p:nvPr/>
        </p:nvSpPr>
        <p:spPr>
          <a:xfrm>
            <a:off x="960120" y="4279392"/>
            <a:ext cx="896112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960120" y="4279392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past habit</a:t>
            </a:r>
            <a:endParaRPr lang="en-US" sz="800" dirty="0"/>
          </a:p>
        </p:txBody>
      </p:sp>
      <p:sp>
        <p:nvSpPr>
          <p:cNvPr id="95" name="Shape 92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6" name="Text 93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7" name="Text 94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كُنَّا نَحْتَفِلُ</a:t>
            </a:r>
            <a:endParaRPr lang="ar-SA" sz="3000" dirty="0"/>
          </a:p>
        </p:txBody>
      </p:sp>
      <p:sp>
        <p:nvSpPr>
          <p:cNvPr id="98" name="Text 95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we used to celebrate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kun-nā naḥ-ta-fi-lu</a:t>
            </a:r>
            <a:endParaRPr lang="en-US" sz="1350" dirty="0"/>
          </a:p>
        </p:txBody>
      </p:sp>
      <p:sp>
        <p:nvSpPr>
          <p:cNvPr id="99" name="Shape 96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nowadays</a:t>
            </a:r>
            <a:endParaRPr lang="en-US" sz="700" dirty="0"/>
          </a:p>
        </p:txBody>
      </p:sp>
      <p:sp>
        <p:nvSpPr>
          <p:cNvPr id="101" name="Text 98"/>
          <p:cNvSpPr txBox="1"/>
          <p:nvPr/>
        </p:nvSpPr>
        <p:spPr>
          <a:xfrm>
            <a:off x="2368296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أَمَّا اليَوْمَ</a:t>
            </a:r>
            <a:endParaRPr lang="ar-SA" sz="1350" dirty="0"/>
          </a:p>
        </p:txBody>
      </p:sp>
      <p:sp>
        <p:nvSpPr>
          <p:cNvPr id="102" name="Shape 99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when I was little</a:t>
            </a:r>
            <a:endParaRPr lang="en-US" sz="700" dirty="0"/>
          </a:p>
        </p:txBody>
      </p:sp>
      <p:sp>
        <p:nvSpPr>
          <p:cNvPr id="104" name="Text 101"/>
          <p:cNvSpPr txBox="1"/>
          <p:nvPr/>
        </p:nvSpPr>
        <p:spPr>
          <a:xfrm>
            <a:off x="6400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عِنْدَمَا كُنْتُ صَغِيرًا</a:t>
            </a:r>
            <a:endParaRPr lang="ar-SA" sz="1350" dirty="0"/>
          </a:p>
        </p:txBody>
      </p:sp>
      <p:sp>
        <p:nvSpPr>
          <p:cNvPr id="105" name="Text 10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6 / 25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BREAKOUT ROOMS · HOW WE WORK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Examiner · candidate · observer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الغُرَفِ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BREAKOUT ROUTINE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🎧  Three jobs, then swap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Rooms of three. A = examiner (reads the questions only). B = candidate (answers from the task card). C = observer (ticks the checklist and gives one WWW and one EBI).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candidate reads the card and plans (no writing full sentences).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About 3 minutes: the role play — the examiner reads every question in order.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observer gives feedback (WWW + EBI).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 jobs and do the next role play. Then the topic conversation.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 and B, with the help column. Conversation: Core questions.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B and C, help column covered. Conversation: Core + Develop questions.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C and D, no help. Conversation: Develop + Stretch questions, push with “why?”.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أَحْسَنْتَ! / أَحْسَنْتِ!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well done! (m. / f.)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تَكَلَّمْ أَكْثَرَ، مِنْ فَضْلِكَ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more, please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why?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7 / 25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A · CORE · EID MORNING IN THE STREET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 — Eid morning with a neighbour</a:t>
            </a:r>
            <a:endParaRPr lang="en-US" sz="22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صَبَاحُ العِيدِ مَعَ الجَارِ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شُكْرًا! اليَوْمَ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Explain that it is Eid.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صَبَاحَ الخَيْرِ! تَبْدُو جَمِيلًا اليَوْمَ!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 … ثُمَّ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two things you do (present + sequence).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تَفْعَلُونَ فِي العِيدِ؟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نَأْكُلُ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Name a special food.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وَمَاذَا تَأْكُلُونَ؟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شُكْرًا! تَفَضَّلْ …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Thank the neighbour and offer something.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لَذِيذٌ! عِيدٌ سَعِيدٌ لَكُمْ.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آخُذُ … مِنْ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question.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أَلْطَفَكُمْ! هَلْ تَأْخُذُ هَدَايَا فِي العِيدِ؟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teenager on Eid morning  ·  The examiner is: a friendly neighbour  ·  ! = unexpected question: listen carefully.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8 / 25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B · CORE+ · AT SCHOOL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 — Inviting a friend to an iftar</a:t>
            </a:r>
            <a:endParaRPr lang="en-US" sz="23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دَعْوَةٌ إِلَى الإِفْطَارِ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أَصُومُ … مِنْ … إِلَى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yes and explain briefly.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أَنْتَ صَائِمٌ اليَوْمَ؟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نَأْكُلُ … ؛ هَلْ تُرِيدُ أَنْ …؟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Explain iftar and invite your friend.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وَمَتَى تَأْكُلُ؟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بَيْتِنَا … فِي السَّاعَةِ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time and place.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بِكُلِّ سُرُورٍ! مَتَى وَأَيْنَ؟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 شَيْءَ! … وَأَنْتَ، كَيْفَ تَحْتَفِلُونَ بِعِيدِ …؟</a:t>
            </a:r>
            <a:endParaRPr lang="ar-SA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Answer, then ASK about their festival.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أُحْضِرُ مَعِي؟</a:t>
            </a:r>
            <a:endParaRPr lang="ar-SA" sz="17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صَعْبٌ قَلِيلًا، لٰكِنَّهُ …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(opinion + reason).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نَتَبَادَلُ الهَدَايَا. أَلَيْسَ الصِّيَامُ صَعْبًا؟</a:t>
            </a:r>
            <a:endParaRPr lang="ar-SA" sz="17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student who fasts  ·  The examiner is: a classmate who does not fast  ·  ! = unexpected question: listen carefully.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9 / 25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C · DEVELOP · A CLASS PRESENTATION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 — Last Eid, step by step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العِيدُ المَاضِي خُطْوَةً خُطْوَةً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اشْتَرَيْنَا … وَ… ثُمَّ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preparations (past + object pronouns).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اسْتَعْدَدْتُمْ لِلْعِيدِ الأَخِيرِ؟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 … ثُمَّ … بَعْدَ ذٰلِكَ … وَأَخِيرًا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Sequence the day with four linkers.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وَيَوْمُ العِيدِ نَفْسُهُ؟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عِنْدَمَا كُنْتُ صَغِيرًا كُنَّا … أَمَّا الآنَ فَنَحْتَفِلُ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Contrast then and now.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يَخْتَلِفُ العِيدُ الآنَ عَنِ العِيدِ فِي طُفُولَتِكَ؟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أَهْدَانِي … إِيَّاهُ / أَهْدَتْنِي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a gift with object pronouns.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أَجْمَلُ هَدِيَّةٍ أَخَذْتَهَا؟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سَأُنَظِّمُ … لِكَيْ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(future + purpose).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سَتَحْتَفِلُ بِالعِيدِ القَادِمِ؟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student presenting  ·  The examiner is: your teacher asking questions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10 / 25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D · STRETCH · A TV INTERVIEW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 — Celebrations in a diverse society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الأَعْيَادُ فِي مُجْتَمَعٍ مُتَنَوِّعٍ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لَيْسَ … بَلْ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Explain meaning beyond food and gifts.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الَّذِي يَجْعَلُ العِيدَ مُمَيَّزًا بِالنِّسْبَةِ إِلَيْكَ؟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أُهَنِّئُ … ؛ مَثَلًا، فِي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sharing others’ festivals respectfully.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تُشَارِكُ فِي أَعْيَادِ غَيْرِكَ؟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… غَيْرَ أَنَّ … مِمَّا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Concede and balance.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يَقُولُ البَعْضُ إِنَّ الأَعْيَادَ صَارَتْ تِجَارِيَّةً.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كَانُوا … ، وَكَانَ … ؛ أَمَّا نَحْنُ فَنَشْتَرِي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Narrate the past with kāna + present.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كَانَ أَجْدَادُكَ يَحْتَفِلُونَ؟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أَضَفْتُ عَادَةً، لَدَعَوْنَا … لِكَيْ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(law … la-).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أَضَفْتَ عَادَةً جَدِيدَةً إِلَى العِيدِ، فَمَا هِيَ؟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young guest  ·  The examiner is: a TV presenter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11 / 25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OBSERVER · FEEDBACK CHECKLIST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Observer: tick and give feedback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وَرَقَةُ المُلَاحِظِ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9952" y="181051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Example you heard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662672" y="1810512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✓ / ✗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199632" y="1810512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552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candidate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226771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99248" y="226771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236208" y="226771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answered EVERY task, including the unexpected one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2881884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699248" y="2881884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236208" y="2881884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2881884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described a celebration with at least two sequencing words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6528" y="3496056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699248" y="3496056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236208" y="3496056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496056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past and present correctly and one object pronoun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96528" y="4110228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699248" y="4110228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236208" y="4110228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110228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a reason (li-anna) or an opinion (fī ra’yī)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96528" y="4724400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699248" y="4724400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236208" y="4724400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724400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more than one time frame (past / future)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796528" y="533857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699248" y="533857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6236208" y="533857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All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566928" y="533857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kept going with a repair phrase instead of silence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Feedback in the room: one WWW (what went well) + one EBI (even better if …).</a:t>
            </a:r>
            <a:endParaRPr lang="en-US" sz="115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12 / 25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A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شُكْرًا! اليَوْمَ عِيدُ الفِطْرِ.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Thanks! Today is Eid al-Fitr.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صَبَاحَ الخَيْرِ! تَبْدُو جَمِيلًا اليَوْمَ!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 نُصَلِّي فِي المَسْجِدِ، ثُمَّ نَزُورُ جَدَّتِي.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First we pray at the mosque, then we visit my grandmother.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تَفْعَلُونَ فِي العِيدِ؟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نَأْكُلُ الكَعْكَ وَالمَعْمُولَ.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 eat Eid biscuits and maamoul.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وَمَاذَا تَأْكُلُونَ؟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شُكْرًا! تَفَضَّلْ، هٰذَا مَعْمُولٌ مِنْ أُمِّي.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Thank you! Here — some maamoul from my mum.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لَذِيذٌ! عِيدٌ سَعِيدٌ لَكُمْ.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آخُذُ عِيدِيَّةً مِنْ جَدِّي.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I get Eid money from my grandpa.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أَلْطَفَكُمْ! هَلْ تَأْخُذُ هَدَايَا فِي العِيدِ؟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13 / 25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B · CORE+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أَصُومُ مِنَ الفَجْرِ إِلَى المَغْرِبِ.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I fast from dawn to sunset.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أَنْتَ صَائِمٌ اليَوْمَ؟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نَأْكُلُ الإِفْطَارَ مَعَ الأُسْرَةِ. هَلْ تُرِيدُ أَنْ تَأْتِيَ يَوْمَ السَّبْتِ؟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 eat iftar with family. Would you like to come on Saturday?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وَمَتَى تَأْكُلُ؟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بَيْتِنَا، فِي السَّاعَةِ الثَّامِنَةِ وَالرُّبْعِ، لِأَنَّ المَغْرِبَ مُتَأَخِّرٌ فِي الصَّيْفِ.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At our house at 8.15, because sunset is late in summer.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بِكُلِّ سُرُورٍ! مَتَى وَأَيْنَ؟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 شَيْءَ، أَنْتَ ضَيْفُنَا! وَأَنْتَ، كَيْفَ تَحْتَفِلُونَ بِعِيدِ المِيلَادِ؟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Nothing — you’re our guest! And you, how do you celebrate Christmas?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أُحْضِرُ مَعِي؟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صَعْبٌ قَلِيلًا فِي الأَيَّامِ الأُولَى، لٰكِنَّهُ يُعَلِّمُنِي الصَّبْرَ، وَيُذَكِّرُنِي بِالفُقَرَاءِ.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 bit hard the first days, but it teaches me patience and reminds me of the poor.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نَتَبَادَلُ الهَدَايَا. أَلَيْسَ الصِّيَامُ صَعْبًا؟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14 / 25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C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اشْتَرَيْنَا مَلَابِسَ جَدِيدَةً وَلَبِسْنَاهَا صَبَاحَ العِيدِ، وَقَبْلَ ذٰلِكَ بِيَوْمٍ خَبَزْنَا الكَعْكَ وَوَزَّعْنَاهُ عَلَى الجِيرَانِ.</a:t>
            </a:r>
            <a:endParaRPr lang="ar-SA" sz="155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 bought new clothes and wore them on Eid morning; the day before, we baked biscuits and gave them to the neighbours.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اسْتَعْدَدْتُمْ لِلْعِيدِ الأَخِيرِ؟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 صَلَّيْنَا فِي الحَدِيقَةِ مَعَ آلَافِ النَّاسِ، ثُمَّ فَطَرْنَا عِنْدَ جَدِّي، بَعْدَ ذٰلِكَ زُرْنَا أَعْمَامِي، وَأَخِيرًا ذَهَبْنَا إِلَى المَلَاهِي.</a:t>
            </a:r>
            <a:endParaRPr lang="ar-SA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First we prayed in the park with thousands, then breakfast at grandpa’s, after that we visited my uncles, and finally the funfair.</a:t>
            </a:r>
            <a:endParaRPr lang="en-US" sz="8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وَيَوْمُ العِيدِ نَفْسُهُ؟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عِنْدَمَا كُنْتُ صَغِيرًا كُنَّا نَحْتَفِلُ فِي الأُرْدُنِّ مَعَ كُلِّ العَائِلَةِ، أَمَّا الآنَ فَنَحْتَفِلُ هُنَا، وَنُكَلِّمُ أَقَارِبَنَا بِالفِيدْيُو.</a:t>
            </a:r>
            <a:endParaRPr lang="ar-SA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 a child we celebrated in Jordan with the whole family; now we celebrate here and video-call relatives.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يَخْتَلِفُ العِيدُ الآنَ عَنِ العِيدِ فِي طُفُولَتِكَ؟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أَجْمَلُ هَدِيَّةٍ مُصْحَفٌ صَغِيرٌ أَهْدَتْنِي إِيَّاهُ جَدَّتِي، وَأَحْمِلُهُ مَعِي دَائِمًا.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 small Qur’an my grandmother gave me — I always carry it.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أَجْمَلُ هَدِيَّةٍ أَخَذْتَهَا؟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سَأُنَظِّمُ مَعَ أَصْدِقَائِي حَفْلَةً صَغِيرَةً لِأَطْفَالِ المُسْتَشْفَى، لِكَيْ يَشْعُرُوا بِفَرْحَةِ العِيدِ أَيْضًا.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I’ll organise a small party with friends for children in hospital, so they feel the joy of Eid too.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سَتَحْتَفِلُ بِالعِيدِ القَادِمِ؟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15 / 25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D · STRETCH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لَيْسَ الطَّعَامَ وَلَا الهَدَايَا، بَلِ الشُّعُورُ بِأَنَّنَا أُمَّةٌ وَاحِدَةٌ؛ فَبَعْدَ شَهْرٍ مِنَ الصِّيَامِ نَفْرَحُ مَعًا، وَنَتَذَكَّرُ الفُقَرَاءَ بِزَكَاةِ الفِطْرِ.</a:t>
            </a:r>
            <a:endParaRPr lang="ar-SA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Not food or gifts but the feeling of one community: after a month of fasting we rejoice together and remember the poor through zakat al-fitr.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الَّذِي يَجْعَلُ العِيدَ مُمَيَّزًا بِالنِّسْبَةِ إِلَيْكَ؟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أُهَنِّئُ أَصْدِقَائِي بِأَعْيَادِهِمْ؛ مَثَلًا، فِي دِيوَالِي زُرْتُ صَدِيقَتِي الهِنْدُوسِيَّةَ مَعَ أُمِّي، وَأَهْدَيْنَاهَا حَلَوِيَّاتٍ، فَأَضَاءَتْ لَنَا مِصْبَاحًا.</a:t>
            </a:r>
            <a:endParaRPr lang="ar-SA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 — at Diwali mum and I visited my Hindu friend, gave her sweets, and she lit a lamp for us.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تُشَارِكُ فِي أَعْيَادِ غَيْرِكَ؟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المَحَلَّاتِ تَسْتَغِلُّهَا لِتَبِيعَ أَكْثَرَ، غَيْرَ أَنَّ العَائِلَاتِ مَا زَالَتْ تَجْتَمِعُ، مِمَّا يَعْنِي أَنَّ الرُّوحَ بَاقِيَةٌ.</a:t>
            </a:r>
            <a:endParaRPr lang="ar-SA" sz="145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Shops exploit them to sell more, but families still gather, which means the spirit remains.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يَقُولُ البَعْضُ إِنَّ الأَعْيَادَ صَارَتْ تِجَارِيَّةً.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كَانُوا يَسْهَرُونَ لَيْلَةَ العِيدِ يَخْبِزُونَ الكَعْكَ فِي فُرْنِ القَرْيَةِ، وَكَانَ الأَطْفَالُ يَطْرُقُونَ الأَبْوَابَ؛ أَمَّا نَحْنُ فَنَشْتَرِيهِ جَاهِزًا غَالِبًا.</a:t>
            </a:r>
            <a:endParaRPr lang="ar-SA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They stayed up Eid night baking biscuits in the village oven, and children knocked on doors; we mostly buy them ready-made.</a:t>
            </a:r>
            <a:endParaRPr lang="en-US" sz="9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كَانَ أَجْدَادُكَ يَحْتَفِلُونَ؟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أَضَفْتُ عَادَةً، لَدَعَوْنَا جَارًا وَحِيدًا إِلَى غَدَاءِ العِيدِ كُلَّ سَنَةٍ، لِكَيْ لَا يَبْقَى أَحَدٌ فِي حَيِّنَا وَحْدَهُ فِي يَوْمِ الفَرَحِ.</a:t>
            </a:r>
            <a:endParaRPr lang="ar-SA" sz="135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We’d invite a lonely neighbour to Eid lunch every year, so no one in our area is alone on the day of joy.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أَضَفْتَ عَادَةً جَدِيدَةً إِلَى العِيدِ، فَمَا هِيَ؟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meaning, sharing festivals, a concession, the past in kāna + present and law … la- — all with object pronouns.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16 / 25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CORE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Core questions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أَعْيَادُنَا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عِيدِي المُفَضَّلُ … لِأَنَّ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is your favourite festival?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عِيدُكَ المُفَضَّلُ؟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أَلْبَسُ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do you wear at Eid?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تَلْبَسُ فِي العِيدِ؟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أَزُورُ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Who do you visit at Eid?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مَنْ تَزُورُ فِي العِيدِ؟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أَصُومُ … / …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you fast in Ramadan?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تَصُومُ فِي رَمَضَانَ؟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نَأْكُلُ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is the Eid dish at your house?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أَكْلَةُ العِيدِ فِي بَيْتِكُمْ؟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Core: one full sentence for every question — present tense for "every year". If you are stuck: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17 / 25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DEVELOP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Develop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العِيدُ بَيْنَ الأَمْسِ وَاليَوْمِ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 … ثُمَّ … وَأَخِيرًا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Eid day at your house.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يَوْمَ العِيدِ فِي بَيْتِكُمْ.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صُمْتُ … وَكُنْتُ … كُلَّ لَيْلَةٍ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did you spend last Ramadan?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قَضَيْتَ رَمَضَانَ الأَخِيرَ؟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حَضَرْتُ … ؛ كَانَ … وَ…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Tell me about a special occasion you attended.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حَدِّثْنِي عَنْ مُنَاسَبَةٍ خَاصَّةٍ حَضَرْتَهَا.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كُنَّا … أَمَّا الآنَ فَنَذْهَبُ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Has your Eid celebration changed?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تَغَيَّرَ احْتِفَالُكُمْ بِالعِيدِ؟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سَأُهْدِيهَا … لِأَنَّ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gift will you give your mum next Eid?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الهَدِيَّةُ الَّتِي سَتُعْطِيهَا لِأُمِّكَ فِي العِيدِ القَادِمِ؟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Develop: two or three sentences — sequencing, two time frames and an object pronoun on the verb.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18 / 25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STRETCH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Stretch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مَعْنَى الأَعْيَادِ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… غَيْرَ أَنَّ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Have festivals lost their true meaning?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فَقَدَتِ الأَعْيَادُ مَعْنَاهَا الحَقِيقِيَّ؟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أَرَى أَنَّ … لِأَنَّ … مِمَّا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What’s the benefit of marking others’ festivals at school?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فَائِدَةُ الاحْتِفَالِ بِأَعْيَادِ الآخَرِينَ فِي المَدْرَسَةِ؟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هُنَاكَ … بَيْنَمَا هُنَا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do Eids differ in a Muslim country from Britain?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تَخْتَلِفُ الأَعْيَادُ فِي بَلَدٍ مُسْلِمٍ عَنْهَا فِي بَرِيطَانْيَا؟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أَهَمُّ ذِكْرَى … عِنْدَمَا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is your most important memory of a past Eid?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أَهَمُّ ذِكْرَى لَكَ مِنْ عِيدٍ مَضَى؟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حَدَثَ ذٰلِكَ، لَبَحَثْتُ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you spent Eid alone in a distant country, what would you do?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قَضَيْتَ العِيدَ وَحْدَكَ فِي بَلَدٍ بَعِيدٍ، مَاذَا تَفْعَلُ؟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a concession, an opinion with mimmā, a comparison with baynamā, a narrated memory and law … la-.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19 / 25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Core: what a strong answer sounds like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عِيدِيَ المُفَضَّلُ عِيدُ الفِطْرِ، لِأَنَّهُ بَعْدَ رَمَضَانَ.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Eid al-Fitr — it comes after Ramadan.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عِيدُكَ المُفَضَّلُ؟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أَلْبَسُ مَلَابِسَ جَدِيدَةً.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New clothes.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تَلْبَسُ فِي العِيدِ؟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أَزُورُ جَدِّي وَجَدَّتِي وَأَعْمَامِي.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grandparents and uncles.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مَنْ تَزُورُ فِي العِيدِ؟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أَصُومُ كُلَّ الشَّهْرِ.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the whole month.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تَصُومُ فِي رَمَضَانَ؟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نَأْكُلُ البِرْيَانِي، وَتَطْبُخُهُ أُمِّي.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Biryani — mum cooks it.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أَكْلَةُ العِيدِ فِي بَيْتِكُمْ؟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Full sentence + present tense + a reason = a secure Core answer.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20 / 25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Develop: what a strong answer sounds like</a:t>
            </a:r>
            <a:endParaRPr lang="en-US" sz="22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 نُصَلِّي صَلَاةَ العِيدِ، ثُمَّ نُفْطِرُ مَعًا، وَأَخِيرًا نَزُورُ أَقَارِبَنَا وَنُهَنِّئُهُمْ.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Eid prayer, breakfast together, then we visit and congratulate relatives.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يَوْمَ العِيدِ فِي بَيْتِكُمْ.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صُمْتُ الشَّهْرَ كُلَّهُ، وَكُنْتُ أَذْهَبُ إِلَى المَسْجِدِ كُلَّ لَيْلَةٍ لِصَلَاةِ التَّرَاوِيحِ مَعَ أَبِي.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fasted the whole month and went to the mosque every night for tarawih with my dad.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قَضَيْتَ رَمَضَانَ الأَخِيرَ؟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حَضَرْتُ حَفْلَةَ زِفَافِ خَالَتِي فِي الصَّيْفِ؛ كَانَ المَكَانُ جَمِيلًا، وَرَقَصْنَا الدَّبْكَةَ حَتَّى مُنْتَصَفِ اللَّيْلِ.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aunt’s wedding last summer: a beautiful venue, and we danced the dabke till midnight.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حَدِّثْنِي عَنْ مُنَاسَبَةٍ خَاصَّةٍ حَضَرْتَهَا.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كُنَّا نَحْتَفِلُ فِي البَيْتِ فَقَطْ، أَمَّا الآنَ فَنَذْهَبُ إِلَى مِهْرَجَانِ العِيدِ فِي الحَدِيقَةِ الكَبِيرَةِ.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 celebrated only at home; now we go to the Eid festival in the big park.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تَغَيَّرَ احْتِفَالُكُمْ بِالعِيدِ؟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سَأُهْدِيهَا عِطْرًا، لِأَنَّهَا تُحِبُّهُ، وَسَأَشْتَرِيهِ مِنْ مَصْرُوفِي.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Perfume — she loves it, and I’ll buy it from my pocket money.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الهَدِيَّةُ الَّتِي سَتُعْطِيهَا لِأُمِّكَ فِي العِيدِ القَادِمِ؟</a:t>
            </a:r>
            <a:endParaRPr lang="ar-SA" sz="135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Sequence + past / present + object pronouns = a strong Develop answer.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21 / 25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الإِعْلَانَاتِ تُرَكِّزُ عَلَى الشِّرَاءِ، غَيْرَ أَنَّ المَعْنَى يَبْقَى فِي أَيْدِينَا؛ فَنَحْنُ الَّذِينَ نُقَرِّرُ هَلْ نَجْعَلُهُ يَوْمَ تَسَوُّقٍ أَمْ يَوْمَ تَرَاحُمٍ.</a:t>
            </a:r>
            <a:endParaRPr lang="ar-SA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Adverts focus on buying, but the meaning is in our hands: we decide whether it’s a shopping day or a day of compassion.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فَقَدَتِ الأَعْيَادُ مَعْنَاهَا الحَقِيقِيَّ؟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أَرَى أَنَّهُ مُفِيدٌ جِدًّا، لِأَنَّ الطَّالِبَ يَشْعُرُ بِأَنَّ ثَقَافَتَهُ مُحْتَرَمَةٌ، مِمَّا يُقَوِّي انْتِمَاءَهُ إِلَى المَدْرَسَةِ.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Very useful: a student feels their culture is respected, which strengthens their sense of belonging.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فَائِدَةُ الاحْتِفَالِ بِأَعْيَادِ الآخَرِينَ فِي المَدْرَسَةِ؟</a:t>
            </a:r>
            <a:endParaRPr lang="ar-SA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858768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هُنَاكَ تُعَطَّلُ المَدَارِسُ وَتَمْتَلِئُ الشَّوَارِعُ بِالزِّينَةِ، بَيْنَمَا هُنَا يَذْهَبُ بَعْضُ النَّاسِ إِلَى العَمَلِ، لٰكِنَّ المُجْتَمَعَ يَصْنَعُ أَجْوَاءَهُ الخَاصَّةَ.</a:t>
            </a:r>
            <a:endParaRPr lang="ar-SA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279392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There schools close and streets fill with decorations; here some go to work, but the community makes its own atmosphere.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تَخْتَلِفُ الأَعْيَادُ فِي بَلَدٍ مُسْلِمٍ عَنْهَا فِي بَرِيطَانْيَا؟</a:t>
            </a:r>
            <a:endParaRPr lang="ar-SA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hal … am, the passive (tuʿaṭṭalu), mimmā, mā ziltu, lā … illā and law … la- — range is rewarded.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22 / 25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أَهَمُّ ذِكْرَى عِنْدَمَا صُمْتُ رَمَضَانَ كَامِلًا لِأَوَّلِ مَرَّةٍ وَأَنَا فِي العَاشِرَةِ، فَأَهْدَانِي جَدِّي سَاعَةً مَا زِلْتُ أَلْبَسُهَا.</a:t>
            </a:r>
            <a:endParaRPr lang="ar-SA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Fasting all of Ramadan for the first time at ten — grandpa gave me a watch I still wear.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أَهَمُّ ذِكْرَى لَكَ مِنْ عِيدٍ مَضَى؟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حَدَثَ ذٰلِكَ، لَبَحَثْتُ عَنْ أَقْرَبِ مَسْجِدٍ لِأُصَلِّيَ مَعَ النَّاسِ، وَلَكَلَّمْتُ أُسْرَتِي بِالفِيدْيُو، فَالعِيدُ لَا يَكْتَمِلُ إِلَّا مَعَ الآخَرِينَ.</a:t>
            </a:r>
            <a:endParaRPr lang="ar-SA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I’d find the nearest mosque to pray with people and video-call my family — Eid is only complete with others.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قَضَيْتَ العِيدَ وَحْدَكَ فِي بَلَدٍ بَعِيدٍ، مَاذَا تَفْعَلُ؟</a:t>
            </a:r>
            <a:endParaRPr lang="ar-SA" sz="145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hal … am, the passive (tuʿaṭṭalu), mimmā, mā ziltu, lā … illā and law … la- — range is rewarded.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23 / 25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FEEDBACK · SUCCESS CRITERIA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Check your work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 عَمَلَكَ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086661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81051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described a celebration in order (awwalan, thumma).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068373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06837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71028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298643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71028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named food, clothes and people I visit.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296814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296814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1005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388620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361005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the past for last Eid and the present for every year.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867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50982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78597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450982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an object pronoun (zurnāhum, labistuhā).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76768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7676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5409590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5685739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5409590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discussed the meaning of festivals with a concession and law … la-.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0" y="5667451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566745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092440" y="1810512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75320" y="1920240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WWW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went well? One thing you did accurately.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092440" y="404164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75320" y="4151376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EBI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Even better if… One thing you will fix or add.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24 / 25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606040"/>
            <a:ext cx="1737360" cy="1737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294436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TE-L06 COMPLETE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أَحْسَنْتُمْ! إِلَى اللِّقَاءِ</a:t>
            </a:r>
            <a:endParaRPr lang="ar-SA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Well done — great speaking practice today!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NEXT WORKSHOP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TE-L06 · Writing workshop · Form filling, directed writing and extended writing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24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وَرْشَةُ الكِتَابَةِ</a:t>
            </a:r>
            <a:endParaRPr lang="ar-SA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Remember: in the role play answer EVERY task; in the conversation, develop every answer.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miri" pitchFamily="2" charset="-78"/>
        <a:cs typeface="Amiri" pitchFamily="2" charset="-78"/>
        <a:font script="Arab" typeface="Amiri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miri" pitchFamily="2" charset="-78"/>
        <a:cs typeface="Amiri" pitchFamily="2" charset="-78"/>
        <a:font script="Arab" typeface="Amir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Al Madina Online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TE-L06 · Speaking Workshop — Faith Celebrations and Special Occasions</dc:title>
  <dc:subject>PptxGenJS Presentation</dc:subject>
  <dc:creator>Al Madina Online School · Arabic Department</dc:creator>
  <cp:lastModifiedBy>Al Madina Online School · Arabic Department</cp:lastModifiedBy>
  <cp:revision>1</cp:revision>
  <dcterms:created xsi:type="dcterms:W3CDTF">2026-10-11T14:39:27Z</dcterms:created>
  <dcterms:modified xsi:type="dcterms:W3CDTF">2026-10-11T14:39:27Z</dcterms:modified>
</cp:coreProperties>
</file>