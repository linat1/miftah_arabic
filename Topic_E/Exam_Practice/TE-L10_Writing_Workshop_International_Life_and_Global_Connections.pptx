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10 (International Life and Global Connections, TE-L10).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 3 heading: a relative clause with a returning pronoun (tumaththilīnahu — a boy reads تُمَثِّلُهُ). Box 8 combines a passive (duʿima) with a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مَنْ شَارَكَ (who took part) · مَثَّلْتِ (you represented — PAST) · نُوقِشَ / قُرِّرَ (was discussed / decided — PASSIVE) · خِطَطُكِ (plans → إِذَا … فَسَأُشَارِكُ).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(93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three passives (ṣuniʿa, ṣuniʿat, zuriʿat) with agreement, a relative clause with a returning pronoun, past experience (maththaltu, takallamtu), a balanced paragraph and idhā + past … fa-sa- with li-annī.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akūnu qad (future perfect), dūna an, three passives incl. present tuktabu, a fem. plural pronoun (maʿahunna), ḥattā ṣirtu, akthara minhā (comparison of two predicates), idh adraktu, laysa … bal, lam yaḥẓa bihā and law … la- with a passive participle (masmūʿan).
ENGLISH SUMMARY (read aloud or paste in the chat for Core students): Before leaving home each morning I’ve visited three continents without moving: mum’s coffee grown in Ethiopia, my phone made in China, the news I read written in New York and Doha and read everywhere → the links aren’t just things: I have friends in Canada, Malaysia and Egypt with whom I swap views, songs and recipes, until borders feel more like lines on a map than walls between people, and friendship needs no passport → the feeling deepened when I represented Morocco at Model UN: drought in Africa isn’t distant news but linked to the energy, clothes and food we consume in London → globalisation isn’t always fair, but it gives our generation a chance our grandparents never had — to know the world and change it; “if I ever worked at the UN, I’d make young people’s voices heard in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two present passives in relative clauses (yuṣnaʿu fīhi, tushāhadu fīhi), a hal … am question, min nāḥiyatin … wa-min nāḥiyatin ukhrā with passives (tughlaqu, tuhaddadu) and mimmā, a family example with baynamā, laysat … wa-lā … bal, and idhā + passive … fa-sa-.
ENGLISH SUMMARY (read aloud or paste in the chat for Core students): We live in a world where one phone is made in ten countries and the same song is watched on every continent in a day, and news travels before events end — is globalisation a blessing or a curse? → international trade lifted millions from poverty and put knowledge and medicine within reach of more people and opened new markets to small businesses; yet local factories sometimes close because production is cheaper elsewhere, costing workers their jobs, and small cultures are threatened by stronger ones → I saw both faces in my family: my uncle in Morocco lost his job when his textile factory moved to Asia, while his daughter found work in an international export firm thanks to her languages and degree → it is neither pure blessing nor pure curse but a force needing fair laws and responsible governments; “if people are put before profit, it will become a blessing for all, not the few”.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International Life and Global Connections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ea typeface="Amiri" pitchFamily="2" charset="-78"/>
                <a:cs typeface="Amiri" pitchFamily="2" charset="-78"/>
              </a:rPr>
              <a:t>وَرْشَةُ الكِتَابَةِ — الحَيَاةُ الدُّوَلِيَّةُ وَالرَّوَابِطُ العَالَمِيَّةُ</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Paper 4 practice: fill in a Model UN delegate form, write an email about a Model UN conference, and write an extended piece about how your life connects with the world or about whether globalisation is a blessing or a curse — with conditionals, the passive and balance.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TE-L10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Model UN conference.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the passive: ṣuniʿa (m.) / ṣuniʿat (f. and non-human plurals: ṣuniʿat malābisī), nūqishat, qubila; conditionals: idhā + PAST … fa-sa- (never idhā + sa-), law + past … la- + past; balance with min nāḥiyatin … wa-min nāḥiyatin ukhrā; feminine for a female writer (saʿīda, mandūba).</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ea typeface="Amiri" pitchFamily="2" charset="-78"/>
                <a:cs typeface="Amiri" pitchFamily="2" charset="-78"/>
              </a:rPr>
              <a:t>صُنِعَ هَاتِفِي فِي الصِّينِ، وَصُنِعَتْ مَلَابِسِي فِي بَنْغْلَادِيشَ</a:t>
            </a:r>
            <a:endParaRPr lang="ar-SA" sz="20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phone was made in China, and my clothes in Bangladesh</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إِذَا حَصَلْتُ عَلَى مِنْحَةٍ، فَسَأَدْرُسُ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get a scholarship, I will study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نَاحِيَةٍ … ، وَمِنْ نَاحِيَةٍ أُخْرَى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the one hand …, on the other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Model UN delegate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اسْتِمَارَةُ مَنْدُوبِ نَمُوذَجِ الأُمَمِ المُتَّحِدَةِ</a:t>
            </a:r>
            <a:endParaRPr lang="ar-SA" sz="25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Country you represent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 الَّذِي تُمَثِّلِينَهُ</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Committee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اللَّجْنَةُ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Issue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القَضِيَّةُ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experience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خِبْرَةٌ سَابِقَةٌ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proposal</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 اقْتِرَاحُكِ؟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idhā + a passive and fa-sa-.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Model UN delegate form: model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Hiba Youssef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هِبَةُ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Madina School</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المَدِينَةِ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المَدْرَسَةُ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البَلَدُ الَّذِي تُمَثِّلِينَهُ</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environment committee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لَجْنَةُ البِيئَةِ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اللَّجْنَةُ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drought in Africa</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الجَفَافُ فِي إِفْرِيقْيَا</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القَضِيَّةُ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Arabic and French</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وَالعَرَبِيَّةُ وَالفَرَنْسِيَّةُ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London conference 2025</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مُؤْتَمَرُ لَنْدَنَ ٢٠٢٥</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سَابِقَةٌ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If farmers are supported with water and training, hunger in the region will fall.</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إِذَا دُعِمَ المُزَارِعُونَ بِالمَاءِ وَالتَّدْرِيبِ، فَسَيَقِلُّ الجُوعُ فِي المِنْطَقَةِ.</a:t>
            </a:r>
            <a:endParaRPr lang="ar-SA" sz="14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 اقْتِرَاحُكِ؟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my Model UN conference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مُؤْتَمَرُ نَمُوذَجِ الأُمَمِ المُتَّحِدَةِ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friend of about 80–90 words. You must include: • where the conference was and who took part • which country you represented and what you spoke about • what was discussed or decided (use the passive) • your opinion and your plans (use a conditional),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passive verbs.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conditional (idhā … fa-sa-).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عُدْتُ مِنْ مُؤْتَمَرِ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came back from the … conference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مَثَّلْتُ … وَتَكَلَّمْتُ عَنْ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represented … and spoke about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نُوقِشَتْ قَضَايَا كَثِيرَةٌ، وَقُبِلَ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many issues were discussed, and … was accepted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نَجَحْتُ … فَسَأُشَارِكُ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succeed … I will take part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Model UN conference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عَنْ مُؤْتَمَرِ نَمُوذَجِ الأُمَمِ المُتَّحِدَةِ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it was; who took part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كَانَ المُؤْتَمَرُ؟ وَمَنْ شَارَكَ فِيهِ؟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country; what you spoke about</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بَلَدٍ مَثَّلْتِ؟ وَعَنْ أَيِّ مَوْضُوعٍ تَكَلَّمْتِ؟</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discussed or decided</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نُوقِشَ أَوْ قُرِّرَ؟</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 خِطَطُكِ؟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back from the … conference in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عُدْتُ مِنْ مُؤْتَمَرِ ______ فِي ______ ، وَكَانَ فِيهِ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represented …, and spoke about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مَثَّلْتُ ______ ، وَتَكَلَّمْتُ عَنْ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were discussed, and … was accepted.</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نُوقِشَتْ ______ ، وَقُبِلَ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 If …, I’ll take part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أَظُنُّ أَنَّ ______ . إِذَا ______ ، فَسَأُشَارِكُ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دِينَا،</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عُدْتُ أَمْسِ مِنْ مُؤْتَمَرِ نَمُوذَجِ الأُمَمِ المُتَّحِدَةِ فِي لَنْدَنَ! كَانَ فِيهِ طُلَّابٌ مِنْ عِشْرِينَ مَدْرَسَةً. أَنَا مَثَّلْتُ المَغْرِبَ، وَتَكَلَّمْتُ عَنْ تَغَيُّرِ المُنَاخِ. فِي المُؤْتَمَرِ نُوقِشَتْ قَضَايَا كَثِيرَةٌ، مِثْلَ الفَقْرِ وَالمِيَاهِ النَّظِيفَةِ. فِي اليَوْمِ الأَخِيرِ قُبِلَ اقْتِرَاحِي، فَكُنْتُ سَعِيدَةً جِدًّا! أَظُنُّ أَنَّ المُؤْتَمَرَ مُفِيدٌ، لِأَنَّنَا نَتَعَلَّمُ عَنِ العَالَمِ وَنَتَكَلَّمُ أَمَامَ النَّاسِ. إِذَا نَجَحْتُ فِي الاخْتِيَارِ، فَسَأُشَارِكُ فِي مُؤْتَمَرٍ دُوَلِيٍّ فِي جِنِيفَ. وَأَنْتِ، هَلْ تُحِبِّينَ أَنْ تَنْضَمِّي إِلَى النَّادِي؟</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السَّلَامَةِ،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هِبَةُ</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Dina, how are you? I got back yesterday from the Model UN conference in London! There were students from twenty schools. I represented Morocco and spoke about climate change. Many issues were discussed, such as poverty and clean water. On the last day my proposal was accepted, so I was very happy! I think the conference is useful, because we learn about the world and speak in public. If I pass the selection, I’ll take part in an international conference in Geneva. And you, would you like to join the club? Goodbye, Hiba.”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مَثَّلْتُ المَغْرِبَ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نُوقِشَتْ قَضَايَا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قُبِلَ اقْتِرَاحِي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نَجَحْتُ … فَسَأُشَارِكُ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دِينَا،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مَا زِلْتُ مُتَحَمِّسَةً بَعْدَ يَوْمَيْنِ فِي مُؤْتَمَرِ نَمُوذَجِ الأُمَمِ المُتَّحِدَةِ، الَّذِي نُظِّمَ فِي لَنْدَنَ بِمُشَارَكَةِ مِئَتَيْ طَالِبٍ. كُنْتُ مَنْدُوبَةَ المَغْرِبِ فِي لَجْنَةِ البِيئَةِ، وَدَافَعْتُ عَنْ حَقِّ الدُّوَلِ الإِفْرِيقِيَّةِ فِي الحُصُولِ عَلَى دَعْمٍ لِمُوَاجَهَةِ الجَفَافِ. وَبَعْدَ نِقَاشٍ طَوِيلٍ، صُوِّتَ عَلَى اقْتِرَاحِي وَقُبِلَ بِأَغْلَبِيَّةٍ كَبِيرَةٍ! صَحِيحٌ أَنَّنِي كُنْتُ خَائِفَةً مِنَ الكَلَامِ أَمَامَ القَاعَةِ، غَيْرَ أَنَّ التَّجْرِبَةَ عَلَّمَتْنِي أَنَّ الإِقْنَاعَ يَحْتَاجُ إِلَى أَدِلَّةٍ لَا إِلَى صَوْتٍ عَالٍ. وَأَكْثَرُ مَا أَدْهَشَنِي أَنَّ طُلَّابًا مِنْ ثَقَافَاتٍ مُخْتَلِفَةٍ اسْتَطَاعُوا أَنْ يَتَّفِقُوا. وَإِذَا اخْتِرْتُ لِلْفَرِيقِ الوَطَنِيِّ، فَسَأُسَافِرُ إِلَى جِنِيفَ فِي الرَّبِيعِ. أَلَا تُرِيدِينَ أَنْ تُجَرِّبِي مَعِي؟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هِبَةُ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Dina, I’m still excited after two days at the Model UN conference, held in London with two hundred students. I was Morocco’s delegate on the environment committee and defended African countries’ right to support against drought. After long debate, my proposal was voted on and passed by a large majority! I was afraid of speaking to the hall, but the experience taught me persuasion needs evidence, not a loud voice. What amazed me most was that students from different cultures could agree. If I’m selected for the national team, I’ll travel to Geneva in the spring. Won’t you try it with me? With love, Hiba.”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نُظِّمَ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صُوِّتَ عَلَى اقْتِرَاحِي وَقُبِلَ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أَدِلَّةٍ لَا إِلَى صَوْتٍ عَالٍ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اخْتِرْتُ … فَسَأُسَافِرُ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my life connects with the world</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تَرْتَبِطُ حَيَاتِي بِالعَالَمِ</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in your life from other countries · your friends and contacts · an international activity you took part in · your view of globalisation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أَشْيَاءُ فِي حَيَاتِكَ مِنْ بُلْدَانٍ أُخْرَى · أَصْدِقَاؤُكَ وَتَوَاصُلُكَ · نَشَاطٌ دُوَلِيٌّ شَارَكْتَ فِيهِ · رَأْيُكَ فِي العَوْلَمَةِ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globalisation a blessing or a curse?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العَوْلَمَةُ نِعْمَةٌ أَمْ نِقْمَةٌ؟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advantages and disadvantages · an example from your life or family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المَزَايَا وَالعُيُوبُ · مِثَالٌ مِنْ حَيَاتِكَ أَوْ عَائِلَتِكَ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Things — mathalan, ṣuniʿa hātifī fī …, wa-ṣuniʿat malābisī fī …, wa-zuriʿat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People — ʿindī aṣdiqāʾu fī …; atakallamu maʿa … kulla usbūʿin; natakallamu bi-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activity — fī as-sanati al-māḍiya maththaltu … fī muʾtamarin; taʿallamtu anna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min nāḥiyatin … wa-min nāḥiyatin ukhrā …; idhā ḥaṣaltu ʿalā … fa-sa-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صُنِعَ هَاتِفِي فِي الصِّينِ.</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passive: my phone was made in China.</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مِنْ نَاحِيَةٍ … وَمِنْ نَاحِيَةٍ أُخْرَى …</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balance: on one hand … on the other …</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إِذَا حَصَلْتُ عَلَى مِنْحَةٍ، فَسَأَدْرُسُ فِي الخَارِجِ.</a:t>
            </a:r>
            <a:endParaRPr lang="ar-SA" sz="25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conditional: if I get a grant, I’ll study abroad.</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أَعِيشُ فِي بَرِيطَانْيَا، لٰكِنَّ حَيَاتِي مُرْتَبِطَةٌ بِالعَالَمِ كُلَّ يَوْمٍ. مَثَلًا، صُنِعَ هَاتِفِي فِي الصِّينِ، وَصُنِعَتْ مَلَابِسِي فِي بَنْغْلَادِيشَ، وَزُرِعَتِ القَهْوَةُ الَّتِي يَشْرَبُهَا أَبِي فِي إِثْيُوبْيَا.</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عِنْدِي أَصْدِقَاءُ فِي بُلْدَانٍ كَثِيرَةٍ. أَتَكَلَّمُ مَعَ صَدِيقَتِي سَارَا فِي كَنَدَا كُلَّ أُسْبُوعٍ، وَأَلْعَبُ عَلَى الإِنْتَرْنِتِ مَعَ بَنَاتٍ مِنْ مِصْرَ وَمَالِيزِيَا. نَتَكَلَّمُ بِالإِنْجْلِيزِيَّةِ وَأَحْيَانًا بِالعَرَبِيَّةِ مَعَ صَدِيقَتِي المِصْرِيَّةِ.</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فِي المَدْرَسَةِ أَنَا عُضْوٌ فِي نَادِي نَمُوذَجِ الأُمَمِ المُتَّحِدَةِ. فِي السَّنَةِ المَاضِيَةِ مَثَّلْتُ المَغْرِبَ فِي مُؤْتَمَرٍ، وَتَكَلَّمْتُ عَنْ تَغَيُّرِ المُنَاخِ. تَعَلَّمْتُ أَنَّ المَشَاكِلَ العَالَمِيَّةَ تَحْتَاجُ إِلَى تَعَاوُنٍ بَيْنَ كُلِّ الدُّوَلِ.</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مِنْ نَاحِيَةٍ، العَوْلَمَةُ مُفِيدَةٌ، لِأَنَّنَا نَتَعَلَّمُ عَنْ ثَقَافَاتٍ كَثِيرَةٍ. وَمِنْ نَاحِيَةٍ أُخْرَى، بَعْضُ العُمَّالِ رَوَاتِبُهُمْ قَلِيلَةٌ، وَيَعْمَلُونَ سَاعَاتٍ طَوِيلَةً. إِذَا حَصَلْتُ عَلَى مِنْحَةٍ، فَسَأَدْرُسُ العَلَاقَاتِ الدُّوَلِيَّةَ، لِأَنِّي أُرِيدُ أَنْ أَعْمَلَ فِي الأُمَمِ المُتَّحِدَةِ.</a:t>
            </a:r>
            <a:endParaRPr lang="ar-SA" sz="1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life connects to the world: phone made in China, clothes in Bangladesh, coffee grown in Ethiopia → friends in Canada, Egypt and Malaysia → at Model UN I represented Morocco on climate change: global problems need cooperation → globalisation teaches us about cultures, but some workers earn little; if I get a scholarship, I’ll study international relations.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صُنِعَ هَاتِفِي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زُرِعَتِ القَهْوَةُ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حَصَلْتُ … فَسَأَدْرُسُ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قَبْلَ أَنْ أَخْرُجَ مِنَ البَيْتِ كُلَّ صَبَاحٍ، أَكُونُ قَدْ زُرْتُ ثَلَاثَ قَارَّاتٍ دُونَ أَنْ أَتَحَرَّكَ: فَقَهْوَةُ أُمِّي زُرِعَتْ فِي إِثْيُوبْيَا، وَهَاتِفِي صُنِعَ فِي الصِّينِ، وَالأَخْبَارُ الَّتِي أَقْرَؤُهَا تُكْتَبُ فِي نِيُويُورْكَ وَالدَّوْحَةِ، وَتُقْرَأُ فِي كُلِّ مَكَانٍ.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وَلَا تَقِفُ هٰذِهِ الرَّوَابِطُ عِنْدَ الأَشْيَاءِ؛ فَلِي صَدِيقَاتٌ فِي كَنَدَا وَمَالِيزِيَا وَمِصْرَ، نَتَبَادَلُ مَعَهُنَّ الآرَاءَ وَالأَغَانِيَ وَالوَصَفَاتِ، حَتَّى صِرْتُ أَشْعُرُ بِأَنَّ الحُدُودَ خُطُوطٌ عَلَى الخَرِيطَةِ أَكْثَرَ مِنْهَا جُدْرَانًا بَيْنَ البَشَرِ، وَأَنَّ الصَّدَاقَةَ لَا تَحْتَاجُ إِلَى جَوَازِ سَفَرٍ.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تَعَمَّقَ هٰذَا الشُّعُورُ حِينَ مَثَّلْتُ المَغْرِبَ فِي نَمُوذَجِ الأُمَمِ المُتَّحِدَةِ؛ إِذْ أَدْرَكْتُ أَنَّ الجَفَافَ فِي إِفْرِيقْيَا لَيْسَ خَبَرًا بَعِيدًا، بَلْ قَضِيَّةٌ تَرْتَبِطُ بِمَا نَسْتَهْلِكُهُ نَحْنُ فِي لَنْدَنَ مِنْ طَاقَةٍ وَمَلَابِسَ وَطَعَامٍ.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العَوْلَمَةَ لَيْسَتْ عَادِلَةً دَائِمًا، غَيْرَ أَنَّهَا تُتِيحُ لِجِيلِنَا فُرْصَةً لَمْ يَحْظَ بِهَا أَجْدَادُنَا: أَنْ نَعْرِفَ العَالَمَ وَنُغَيِّرَهُ. وَلَوْ عَمِلْتُ يَوْمًا فِي الأُمَمِ المُتَّحِدَةِ، لَجَعَلْتُ صَوْتَ الشَّبَابِ مَسْمُوعًا فِي كُلِّ قَرَارٍ.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أَكُونُ قَدْ زُرْتُ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مِنْهَا جُدْرَانًا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خَبَرًا بَعِيدًا،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عَمِلْتُ … لَجَعَلْتُ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ea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blessing or curse?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نَعِيشُ فِي عَالَمٍ يُصْنَعُ فِيهِ الهَاتِفُ الوَاحِدُ فِي عَشْرِ دُوَلٍ، وَتُشَاهَدُ فِيهِ الأُغْنِيَةُ نَفْسُهَا فِي كُلِّ القَارَّاتِ خِلَالَ يَوْمٍ وَاحِدٍ، وَتُنْقَلُ الأَخْبَارُ قَبْلَ أَنْ تَنْتَهِيَ الأَحْدَاثُ. فَهَلِ العَوْلَمَةُ نِعْمَةٌ أَمْ نِقْمَةٌ؟</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مِنْ نَاحِيَةٍ، أَخْرَجَتِ التِّجَارَةُ الدُّوَلِيَّةُ مَلَايِينَ النَّاسِ مِنَ الفَقْرِ، وَجَعَلَتِ المَعْرِفَةَ وَالدَّوَاءَ فِي مُتَنَاوَلِ عَدَدٍ أَكْبَرَ مِنَ البَشَرِ، كَمَا فَتَحَتْ أَسْوَاقًا جَدِيدَةً لِلشَّرِكَاتِ الصَّغِيرَةِ. وَمِنْ نَاحِيَةٍ أُخْرَى، تُغْلَقُ المَصَانِعُ المَحَلِّيَّةُ أَحْيَانًا لِأَنَّ الإِنْتَاجَ أَرْخَصُ فِي مَكَانٍ آخَرَ، مِمَّا يُفْقِدُ العُمَّالَ وَظَائِفَهُمْ، وَتُهَدَّدُ الثَّقَافَاتُ الصَّغِيرَةُ أَمَامَ الثَّقَافَاتِ الأَقْوَى.</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وَقَدْ رَأَيْتُ الوَجْهَيْنِ فِي عَائِلَتِي؛ فَعَمِّي فِي المَغْرِبِ فَقَدَ عَمَلَهُ فِي مَصْنَعِ نَسِيجٍ نُقِلَ إِلَى آسْيَا، بَيْنَمَا وَجَدَتِ ابْنَتُهُ عَمَلًا فِي شَرِكَةٍ دُوَلِيَّةٍ لِلتَّصْدِيرِ بِفَضْلِ لُغَاتِهَا وَشَهَادَتِهَا الجَامِعِيَّةِ.</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لِذٰلِكَ أَرَى أَنَّ العَوْلَمَةَ لَيْسَتْ نِعْمَةً خَالِصَةً وَلَا نِقْمَةً خَالِصَةً، بَلْ قُوَّةٌ تَحْتَاجُ إِلَى قَوَانِينَ عَادِلَةٍ وَحُكُومَاتٍ مَسْؤُولَةٍ. فَإِذَا وُضِعَ الإِنْسَانُ قَبْلَ الرِّبْحِ، فَسَتُصْبِحُ نِعْمَةً لِلْجَمِيعِ لَا لِلْقِلَّةِ.</a:t>
            </a:r>
            <a:endParaRPr lang="ar-SA" sz="16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يُصْنَعُ فِيهِ … وَتُشَاهَدُ فِيهِ</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مُتَنَاوَلِ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نُقِلَ إِلَى آسْيَا، بَيْنَمَا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وُضِعَ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conditional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two passives and idhā … fa-sa-.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paragraph (min nāḥiyatin … wa-min nāḥiyatin ukhrā).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TE-L11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TE-L10 · Writing Workshop — International Life and Global Connections</dc:title>
  <dc:subject>PptxGenJS Presentation</dc:subject>
  <dc:creator>Al Madina Online School · Arabic Department</dc:creator>
  <cp:lastModifiedBy>Al Madina Online School · Arabic Department</cp:lastModifiedBy>
  <cp:revision>1</cp:revision>
  <dcterms:created xsi:type="dcterms:W3CDTF">2026-10-11T14:56:09Z</dcterms:created>
  <dcterms:modified xsi:type="dcterms:W3CDTF">2026-10-11T14:56:09Z</dcterms:modified>
</cp:coreProperties>
</file>