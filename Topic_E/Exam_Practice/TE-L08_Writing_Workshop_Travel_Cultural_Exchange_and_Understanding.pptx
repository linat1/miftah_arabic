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E, Lesson 8 (Travel, Cultural Exchange and Understanding, TE-L08).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1 — FORM FILLING. About 8 minutes. Core: boxes 1–6. Develop / Stretch: all 8. Headings are feminine (tatawaqqaʿīnahā, turīdīna) — a boy reads تَتَوَقَّعُهَا · تُرِيدُ. Box 6 combines a country and a time phrase.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عِنْدَ مَنْ (with whom) · فَعَلْتِ (you did — PAST) · لِمَاذَا (why → لِأَنَّ / بِسَبَبِ) · خِطَطُكِ (plans —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(79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(92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(119 words). Core model: past narrative (shāraktu, qaḍaytu, sāfartu, aqamtu), kuntu / kunnā + present for life there, bi-sababi + noun vs li-annī + clause, li-dhālika, and sa- + āmulu an for the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(135 words). Full-mark model: qabla an + kuntu aẓunnu, ghayra anna, ash-shayʾ … wa-sh-shayʾ ākhar, a relative clause with lā … illā, lā tabdaʾu illā baʿda, bi-sababi, mimmā jaʿalanī, badalan min an, natījatan li-dhālika with comparatives, and law … la-qultu + a proverb-like close.
ENGLISH SUMMARY (read aloud or paste in the chat for Core students): Before going to Fes I thought I knew Morocco — I’d seen hundreds of photos online and read its history; but three weeks with a Moroccan family taught me a picture is one thing and life another → from day one my “Moroccan mother” welcomed me with milk and dates, and her daughter became my guide through old-city lanes whose secrets only locals know — we got lost and laughed together; evenings were family gatherings that only began after ten because of the heat → it wasn’t always easy: fast dialect made me feel isolated at first; but when I started asking instead of staying silent, doors and hearts opened and neighbours called me by name in the market → as a result I came back more confident with fewer stereotypes and lasting friendships; “you don’t know a country until you eat at its people’s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(134 words). Full-mark model for the Stretch title: a statistic hook with the passive yuqālu inna, hal … am annanā, li-annanā + badalan min, lā … illā + mimmā, a contrasting pair of trips with ammā … fa-qad, mā lā tuʿallimuhu, lā yakfī … bal and idhā … fa-sa-.
ENGLISH SUMMARY (read aloud or paste in the chat for Core students): Hundreds of millions travel every year, and it is said travel brings peoples closer — but does it really help us understand others, or do we only see what we want to see? → travel breaks stereotypes because we meet real people instead of news and film images; yet many tourists stay in closed hotels and speak only to receptionists, so they return with the same ideas → I saw the difference myself: on my first trip to Tunisia I stayed in a beach resort and learnt nothing about real Tunisian life; on the exchange in Fes I lived with a family and learnt what books can’t teach: generosity, patience and love of family → travel alone isn’t enough; what matters is how we travel; “if we leave the hotel for homes, markets and cafés, every journey will become a lesson in understanding and mutual respect”.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E · EXAM PRACTICE  ·  TE-L08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TE-L08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Travel, Cultural Exchange and Understanding</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السَّفَرُ وَالتَّبَادُلُ الثَّقَافِيُّ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cultural-exchange application form, write an email from your exchange in Morocco, and write an extended piece about a trip that changed your view or about whether travel really helps us understand other peoples — with causes and results.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TE-L08 · Advanced Topic E · The International World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E › TE-L08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TE-L08</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from a cultural exchange.</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TE-L08</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200" dirty="0">
                <a:solidFill>
                  <a:srgbClr val="1F2A37"/>
                </a:solidFill>
                <a:latin typeface="Calibri" pitchFamily="34" charset="0"/>
                <a:cs typeface="Amiri" pitchFamily="2" charset="-78"/>
              </a:rPr>
              <a:t>Check cause and result: bi-sababi + NOUN (bi-sababi al-ḥarri), li-anna + SENTENCE (li-anna al-jawwa ḥārrun); li-dhālika / mimmā / natījatan li-dhālika for results; kuntu + present for life during the trip; sa- or āmulu an + subjunctive for the future; feminine forms for a female writer (jāʾiʿa, saʿīda).</a:t>
            </a:r>
            <a:endParaRPr lang="en-US" sz="12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يَتَعَشَّوْنَ مُتَأَخِّرِينَ، لِأَنَّ الجَوَّ حَارٌّ فِي النَّهَارِ</a:t>
            </a:r>
            <a:endParaRPr lang="ar-SA" sz="24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they have dinner late, because it is hot in the day</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لَمْ أَفْهَمْ كَثِيرًا، لِذٰلِكَ كُنْتُ أَطْلُبُ …</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didn’t understand much, so I used to ask …</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450" b="1" dirty="0">
                <a:solidFill>
                  <a:srgbClr val="1B3B6F"/>
                </a:solidFill>
                <a:latin typeface="Amiri" pitchFamily="2" charset="-78"/>
                <a:ea typeface="Amiri" pitchFamily="2" charset="-78"/>
                <a:cs typeface="Amiri" pitchFamily="2" charset="-78"/>
              </a:rPr>
              <a:t>هٰذِهِ الرِّحْلَةُ غَيَّرَتْ نَظْرَتِي، لِأَنِّي فَهِمْتُ أَنَّ …</a:t>
            </a:r>
            <a:endParaRPr lang="ar-SA" sz="245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this trip changed my view, because I understood that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Cultural-exchange application form</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طَلَبِ التَّبَادُلِ الثَّقَافِيِّ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Age</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العُمْرُ</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Country requested</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البَلَدُ المَطْلُوبُ</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Length of stay</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مُدَّةُ الإِقَامَةِ</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of accommodation</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نَوْعُ السَّكَنِ</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previous trip</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رِحْلَةٌ سَابِقَةٌ</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difficulty you expect</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صُعُوبَةٌ تَتَوَقَّعِينَهَا</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you want to take part</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لِمَاذَا تُرِيدِينَ المُشَارَكَةَ؟</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box 7 is a verbal noun phrase; the last box is a full sentence with li-anna and a future verb.</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Cultural-exchange application form: model answers</a:t>
            </a:r>
            <a:endParaRPr lang="en-US" sz="1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Layla Mohammed</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لَيْلَى مُحَمَّدٌ</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sixteen</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سِتَّ عَشْرَةَ سَنَةً</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العُمْرُ</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Morocco</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المَغْرِبُ</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البَلَدُ المَطْلُوبُ</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weeks</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ثَلَاثَةُ أَسَابِيعَ</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مُدَّةُ الإِقَامَةِ</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 a host family</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عِنْدَ عَائِلَةٍ مُضِيفَةٍ</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نَوْعُ السَّكَنِ</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Egypt, last summer</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مِصْرُ، الصَّيْفَ المَاضِيَ</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رِحْلَةٌ سَابِقَةٌ</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understanding the dialect</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فَهْمُ الدَّارِجَةِ</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صُعُوبَةٌ تَتَوَقَّعِينَهَا</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800" dirty="0">
                <a:solidFill>
                  <a:srgbClr val="5A6472"/>
                </a:solidFill>
                <a:latin typeface="Calibri" pitchFamily="34" charset="0"/>
                <a:cs typeface="Amiri" pitchFamily="2" charset="-78"/>
              </a:rPr>
              <a:t>I want to live with an Arab family, because it will improve my language more than books.</a:t>
            </a:r>
            <a:endParaRPr lang="en-US" sz="8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ea typeface="Amiri" pitchFamily="2" charset="-78"/>
                <a:cs typeface="Amiri" pitchFamily="2" charset="-78"/>
              </a:rPr>
              <a:t>أُرِيدُ أَنْ أَعِيشَ مَعَ عَائِلَةٍ عَرَبِيَّةٍ، لِأَنَّ ذٰلِكَ سَيُحَسِّنُ لُغَتِي أَكْثَرَ مِنَ الكُتُبِ.</a:t>
            </a:r>
            <a:endParaRPr lang="ar-SA" sz="13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لِمَاذَا تُرِيدِينَ المُشَارَكَةَ؟</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my exchange in Fes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تَبَادُلِي فِي فَاسَ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00" b="1" dirty="0">
                <a:solidFill>
                  <a:srgbClr val="1F2A37"/>
                </a:solidFill>
                <a:latin typeface="Calibri" pitchFamily="34" charset="0"/>
                <a:cs typeface="Amiri" pitchFamily="2" charset="-78"/>
              </a:rPr>
              <a:t>Write an email in Arabic to a friend of about 80–90 words. You must include: • where you are and who you are staying with • what you did in the first week • a cultural difference you noticed and why • your feelings and plans, and a question for your friend.</a:t>
            </a:r>
            <a:endParaRPr lang="en-US" sz="13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cause (li-anna / bi-sababi) and a result (li-dhālika).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Past, present AND future.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أُقِيمُ عِنْدَ عَائِلَةٍ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staying with a … family</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الأُسْبُوعِ الأَوَّلِ زُرْتُ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first week I visited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لَاحَظْتُ أَنَّ … لِأَنَّ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noticed that … because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الأُسْبُوعِ القَادِمِ سَنُسَافِرُ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next week we will travel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to your friend from your exchange programme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اكْتُبِي رِسَالَةً إِلَى صَدِيقَتِكِ مِنْ بَرْنَامَجِ التَّبَادُلِ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you are; who you are staying with</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أَيْنَ أَنْتِ؟ وَعِنْدَ مَنْ تُقِيمِينَ؟</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did in the first week</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فَعَلْتِ فِي الأُسْبُوعِ الأَوَّلِ؟</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cultural difference; why</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الاخْتِلَافُ الثَّقَافِيُّ الَّذِي لَاحَظْتِهِ؟ وَلِمَاذَا؟</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feelings; plans; a question</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شُعُورُكِ؟ وَمَا خِطَطُكِ؟ وَاسْأَلِي صَدِيقَتَكِ سُؤَالًا.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I’m now in …</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أَنَا الآنَ فِي ______ .</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I’m staying with a … family; they have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أُقِيمُ عِنْدَ عَائِلَةٍ ______ ، وَعِنْدَهُمْ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week one I visited … and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الأُسْبُوعِ الأَوَّلِ زُرْتُ ______ وَ______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noticed that …, because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لَاحَظْتُ أَنَّ ______ ، لِأَنَّ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feel … We’ll travel to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______ . سَنُسَافِرُ إِلَى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you, …? Goodbye.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وَأَنْتِ، ______ ؟ مَعَ السَّلَامَةِ.</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700" dirty="0">
                <a:solidFill>
                  <a:srgbClr val="1F2A37"/>
                </a:solidFill>
                <a:latin typeface="Amiri" pitchFamily="2" charset="-78"/>
                <a:ea typeface="Amiri" pitchFamily="2" charset="-78"/>
                <a:cs typeface="Amiri" pitchFamily="2" charset="-78"/>
              </a:rPr>
              <a:t>مَرْحَبًا يَا سَارَةُ،</a:t>
            </a:r>
            <a:endParaRPr lang="ar-SA" sz="1700" dirty="0"/>
          </a:p>
          <a:p>
            <a:pPr rtl="1" algn="r" indent="0" marL="0">
              <a:lnSpc>
                <a:spcPct val="120000"/>
              </a:lnSpc>
              <a:buNone/>
            </a:pPr>
            <a:r>
              <a:rPr lang="ar-SA" altLang="en-US" sz="1700" dirty="0">
                <a:solidFill>
                  <a:srgbClr val="1F2A37"/>
                </a:solidFill>
                <a:latin typeface="Amiri" pitchFamily="2" charset="-78"/>
                <a:ea typeface="Amiri" pitchFamily="2" charset="-78"/>
                <a:cs typeface="Amiri" pitchFamily="2" charset="-78"/>
              </a:rPr>
              <a:t>كَيْفَ حَالُكِ؟ أَنَا الآنَ فِي مَدِينَةِ فَاسَ فِي المَغْرِبِ، فِي بَرْنَامَجِ تَبَادُلٍ ثَقَافِيٍّ. أُقِيمُ عِنْدَ عَائِلَةٍ مَغْرِبِيَّةٍ لَطِيفَةٍ، وَعِنْدَهُمْ بِنْتٌ فِي عُمْرِي اسْمُهَا سُكَيْنَةُ. فِي الأُسْبُوعِ الأَوَّلِ زُرْتُ المَدِينَةَ القَدِيمَةَ، وَذَهَبْتُ إِلَى المَدْرَسَةِ مَعَ سُكَيْنَةَ. لَاحَظْتُ أَنَّ النَّاسَ يَتَعَشَّوْنَ مُتَأَخِّرِينَ، لِأَنَّ الجَوَّ حَارٌّ فِي النَّهَارِ. فِي البِدَايَةِ كُنْتُ جَائِعَةً، لِذٰلِكَ آكُلُ وَجْبَةً صَغِيرَةً فِي العَصْرِ الآنَ! أَنَا سَعِيدَةٌ جِدًّا هُنَا. فِي الأُسْبُوعِ القَادِمِ سَنُسَافِرُ إِلَى الصَّحْرَاءِ. وَأَنْتِ، هَلْ تُرِيدِينَ أَنْ تُشَارِكِي فِي التَّبَادُلِ؟</a:t>
            </a:r>
            <a:endParaRPr lang="ar-SA" sz="1700" dirty="0"/>
          </a:p>
          <a:p>
            <a:pPr rtl="1" algn="r" indent="0" marL="0">
              <a:lnSpc>
                <a:spcPct val="120000"/>
              </a:lnSpc>
              <a:buNone/>
            </a:pPr>
            <a:r>
              <a:rPr lang="ar-SA" altLang="en-US" sz="1700" dirty="0">
                <a:solidFill>
                  <a:srgbClr val="1F2A37"/>
                </a:solidFill>
                <a:latin typeface="Amiri" pitchFamily="2" charset="-78"/>
                <a:ea typeface="Amiri" pitchFamily="2" charset="-78"/>
                <a:cs typeface="Amiri" pitchFamily="2" charset="-78"/>
              </a:rPr>
              <a:t>مَعَ السَّلَامَةِ،</a:t>
            </a:r>
            <a:endParaRPr lang="ar-SA" sz="1700" dirty="0"/>
          </a:p>
          <a:p>
            <a:pPr rtl="1" algn="r" indent="0" marL="0">
              <a:lnSpc>
                <a:spcPct val="120000"/>
              </a:lnSpc>
              <a:buNone/>
            </a:pPr>
            <a:r>
              <a:rPr lang="ar-SA" altLang="en-US" sz="1700" dirty="0">
                <a:solidFill>
                  <a:srgbClr val="1F2A37"/>
                </a:solidFill>
                <a:latin typeface="Amiri" pitchFamily="2" charset="-78"/>
                <a:ea typeface="Amiri" pitchFamily="2" charset="-78"/>
                <a:cs typeface="Amiri" pitchFamily="2" charset="-78"/>
              </a:rPr>
              <a:t>لَيْلَى</a:t>
            </a:r>
            <a:endParaRPr lang="ar-SA" sz="17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Sarah, how are you? I’m now in Fes in Morocco on a cultural exchange. I’m staying with a lovely Moroccan family, and they have a daughter my age called Soukaina. In the first week I visited the old city and went to school with Soukaina. I noticed people have dinner late, because it’s hot in the day. At first I was hungry, so now I eat a small meal in the afternoon! I’m very happy here. Next week we’ll travel to the desert. And you, do you want to take part in the exchange? Goodbye, Layla.”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أُقِيمُ عِنْدَ</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زُرْتُ المَدِينَةَ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لِأَنَّ الجَوَّ حَارٌّ</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لِذٰلِكَ آكُلُ</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عَزِيزَتِي سَارَةُ،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مَضَى أُسْبُوعِيَ الأَوَّلُ فِي فَاسَ أَسْرَعَ مِمَّا تَوَقَّعْتُ! أُقِيمُ عِنْدَ عَائِلَةٍ مَغْرِبِيَّةٍ كَرِيمَةٍ، وَابْنَتُهُمْ سُكَيْنَةُ تُرَافِقُنِي إِلَى المَدْرَسَةِ كُلَّ صَبَاحٍ، وَتُعَلِّمُنِي كَلِمَاتٍ مِنَ الدَّارِجَةِ لَا تُوجَدُ فِي كُتُبِنَا. وَقَدْ أَدْهَشَتْنِي المَدِينَةُ القَدِيمَةُ بِأَزِقَّتِهَا الضَّيِّقَةِ الَّتِي لَا تَدْخُلُهَا السَّيَّارَاتُ، مِمَّا جَعَلَنِي أَضِيعُ فِيهَا مَرَّتَيْنِ! أَمَّا أَكْبَرُ اخْتِلَافٍ لَاحَظْتُهُ فَهُوَ مَوْعِدُ العَشَاءِ؛ إِذْ يَتَأَخَّرُ إِلَى العَاشِرَةِ بِسَبَبِ حَرَارَةِ النَّهَارِ. صَحِيحٌ أَنَّنِي تَعِبْتُ فِي البِدَايَةِ، غَيْرَ أَنَّنِي صِرْتُ أُحِبُّ هٰذِهِ السَّهَرَاتِ العَائِلِيَّةَ. وَإِذَا سَارَ كُلُّ شَيْءٍ كَمَا خُطِّطَ لَهُ، فَسَنَقْضِي لَيْلَةً فِي الصَّحْرَاءِ الأُسْبُوعَ القَادِمَ. مَتَى سَتُشَارِكِينَ أَنْتِ فِي تَبَادُلٍ كَهٰذَا؟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بِمَحَبَّةٍ،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لَيْلَى</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Sarah, my first week in Fes went faster than I expected! I’m staying with a generous Moroccan family, and their daughter Soukaina takes me to school every morning and teaches me dialect words that aren’t in our books. The old city amazed me with its narrow lanes no car can enter — which made me get lost twice! The biggest difference I noticed is dinner time: it’s as late as ten because of the daytime heat. I was tired at first, but I’ve come to love these family evenings. If all goes as planned, we’ll spend a night in the desert next week. When will you do an exchange like this? With love, Layla.”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أَسْرَعَ مِمَّا تَوَقَّعْتُ</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مِمَّا جَعَلَنِي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بِسَبَبِ حَرَارَةِ النَّهَارِ</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إِذَا سَارَ … فَسَنَقْضِي</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trip that changed my view</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رِحْلَةٌ غَيَّرَتْ نَظْرَتِي</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you went and how · your life there · differences you noticed and their causes · how you changed and your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أَيْنَ ذَهَبْتَ وَكَيْفَ · حَيَاتُكَ هُنَاكَ · اخْتِلَافَاتٌ لَاحَظْتَهَا وَأَسْبَابُهَا · كَيْفَ تَغَيَّرْتَ وَخُطَطُكَ</a:t>
            </a:r>
            <a:endParaRPr lang="ar-SA" sz="16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Does travel help us understand other peoples?</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يُسَاعِدُ السَّفَرُ عَلَى فَهْمِ الشُّعُوبِ الأُخْرَى؟</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issue · the tourist and the real traveller · an example from your experience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المَوْضُوعُ · السَّائِحُ وَالمُسَافِرُ الحَقِيقِيُّ · مِثَالٌ مِنْ تَجْرِبَتِكَ · رَأْيُكَ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TE-L08</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trip — fī aṣ-ṣayfi al-māḍī shāraktu fī …; qaḍaytu … fī …; sāfartu bi- … thumma …</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Life there — aqamtu ʿinda …; kuntu astayqiẓu … wa-adhhabu …; fī al-masāʾi kunnā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Differences + causes — lāḥaẓtu …; mathalan … bi-sababi …; lam afham …, li-dhālika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Change + future — hādhihi ar-riḥla ghayyarat naẓratī li-annī …; sa-aʿūdu …; āmulu an …; Stretch: mimmā, natījatan li-dhālika,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كُنْتُ أَسْتَيْقِظُ فِي السَّابِعَةِ.</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habit: I used to wake at seven.</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يَتَعَشَّوْنَ مُتَأَخِّرِينَ بِسَبَبِ الحَرِّ.</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cause: they dine late because of the heat.</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آمُلُ أَنْ تَزُورَنِي سُكَيْنَةُ فِي لَنْدَنَ.</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hope Soukaina visits me.</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450" dirty="0">
                <a:solidFill>
                  <a:srgbClr val="1F2A37"/>
                </a:solidFill>
                <a:latin typeface="Amiri" pitchFamily="2" charset="-78"/>
                <a:ea typeface="Amiri" pitchFamily="2" charset="-78"/>
                <a:cs typeface="Amiri" pitchFamily="2" charset="-78"/>
              </a:rPr>
              <a:t>فِي الصَّيْفِ المَاضِي شَارَكْتُ فِي بَرْنَامَجِ تَبَادُلٍ ثَقَافِيٍّ، وَقَضَيْتُ ثَلَاثَةَ أَسَابِيعَ فِي مَدِينَةِ فَاسَ فِي المَغْرِبِ. سَافَرْتُ بِالطَّائِرَةِ مِنْ لَنْدَنَ إِلَى مُرَّاكُشَ، ثُمَّ بِالقِطَارِ إِلَى فَاسَ، وَكَانَتِ الرِّحْلَةُ طَوِيلَةً.</a:t>
            </a:r>
            <a:endParaRPr lang="ar-SA" sz="1450" dirty="0"/>
          </a:p>
          <a:p>
            <a:pPr rtl="1" algn="r" indent="0" marL="0">
              <a:lnSpc>
                <a:spcPct val="120000"/>
              </a:lnSpc>
              <a:buNone/>
            </a:pPr>
            <a:r>
              <a:rPr lang="ar-SA" altLang="en-US" sz="1450" dirty="0">
                <a:solidFill>
                  <a:srgbClr val="1F2A37"/>
                </a:solidFill>
                <a:latin typeface="Amiri" pitchFamily="2" charset="-78"/>
                <a:ea typeface="Amiri" pitchFamily="2" charset="-78"/>
                <a:cs typeface="Amiri" pitchFamily="2" charset="-78"/>
              </a:rPr>
              <a:t>أَقَمْتُ عِنْدَ عَائِلَةٍ مَغْرِبِيَّةٍ لَطِيفَةٍ جِدًّا. كُنْتُ أَسْتَيْقِظُ فِي السَّابِعَةِ، وَأَذْهَبُ إِلَى المَدْرَسَةِ مَعَ ابْنَتِهِمْ سُكَيْنَةَ. فِي المَسَاءِ كُنَّا نَزُورُ الأَقَارِبَ، أَوْ نَمْشِي فِي المَدِينَةِ القَدِيمَةِ، وَنَشْتَرِي الحَلَوِيَّاتِ مِنَ السُّوقِ.</a:t>
            </a:r>
            <a:endParaRPr lang="ar-SA" sz="1450" dirty="0"/>
          </a:p>
          <a:p>
            <a:pPr rtl="1" algn="r" indent="0" marL="0">
              <a:lnSpc>
                <a:spcPct val="120000"/>
              </a:lnSpc>
              <a:buNone/>
            </a:pPr>
            <a:r>
              <a:rPr lang="ar-SA" altLang="en-US" sz="1450" dirty="0">
                <a:solidFill>
                  <a:srgbClr val="1F2A37"/>
                </a:solidFill>
                <a:latin typeface="Amiri" pitchFamily="2" charset="-78"/>
                <a:ea typeface="Amiri" pitchFamily="2" charset="-78"/>
                <a:cs typeface="Amiri" pitchFamily="2" charset="-78"/>
              </a:rPr>
              <a:t>لَاحَظْتُ اخْتِلَافَاتٍ كَثِيرَةً. مَثَلًا، النَّاسُ يَتَعَشَّوْنَ مُتَأَخِّرِينَ بِسَبَبِ الحَرِّ، وَيَتَكَلَّمُونَ الدَّارِجَةَ وَالفَرَنْسِيَّةَ، وَيَشْرَبُونَ الشَّايَ بِالنَّعْنَاعِ بَعْدَ كُلِّ وَجْبَةٍ. فِي البِدَايَةِ لَمْ أَفْهَمْ كَثِيرًا، لِذٰلِكَ كُنْتُ أَطْلُبُ مِنْهُمْ أَنْ يَتَكَلَّمُوا بِبُطْءٍ.</a:t>
            </a:r>
            <a:endParaRPr lang="ar-SA" sz="1450" dirty="0"/>
          </a:p>
          <a:p>
            <a:pPr rtl="1" algn="r" indent="0" marL="0">
              <a:lnSpc>
                <a:spcPct val="120000"/>
              </a:lnSpc>
              <a:buNone/>
            </a:pPr>
            <a:r>
              <a:rPr lang="ar-SA" altLang="en-US" sz="1450" dirty="0">
                <a:solidFill>
                  <a:srgbClr val="1F2A37"/>
                </a:solidFill>
                <a:latin typeface="Amiri" pitchFamily="2" charset="-78"/>
                <a:ea typeface="Amiri" pitchFamily="2" charset="-78"/>
                <a:cs typeface="Amiri" pitchFamily="2" charset="-78"/>
              </a:rPr>
              <a:t>هٰذِهِ الرِّحْلَةُ غَيَّرَتْ نَظْرَتِي، لِأَنِّي فَهِمْتُ أَنَّ النَّاسَ فِي كُلِّ مَكَانٍ كُرَمَاءُ. الآنَ أَتَكَلَّمُ العَرَبِيَّةَ بِثِقَةٍ أَكْبَرَ مِنْ قَبْلُ. فِي المُسْتَقْبَلِ سَأَعُودُ إِلَى المَغْرِبِ، وَآمُلُ أَنْ تَزُورَنِي سُكَيْنَةُ فِي لَنْدَنَ.</a:t>
            </a:r>
            <a:endParaRPr lang="ar-SA" sz="14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Three weeks in Fes on an exchange: a flight to Marrakesh, then the train → a kind host family: up at seven, school with their daughter, evenings with relatives or in the old city → late dinners because of the heat, dialect, French, mint tea; I didn’t understand much, so I asked them to speak slowly → the trip changed my view; I’m more confident in Arabic and will return.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قَضَيْتُ ثَلَاثَةَ أَسَابِيعَ</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كُنْتُ أَسْتَيْقِظُ</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بِسَبَبِ الحَرِّ</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لِذٰلِكَ كُنْتُ أَطْلُبُ</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TE-L08</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قَبْلَ أَنْ أُسَافِرَ إِلَى فَاسَ، كُنْتُ أَظُنُّ أَنَّنِي أَعْرِفُ المَغْرِبَ؛ فَقَدْ رَأَيْتُ صُوَرَهُ عَلَى الإِنْتَرْنِتِ مِئَاتِ المَرَّاتِ، وَقَرَأْتُ عَنْ تَارِيخِهِ فِي الكُتُبِ. غَيْرَ أَنَّ ثَلَاثَةَ أَسَابِيعَ مَعَ عَائِلَةٍ مَغْرِبِيَّةٍ عَلَّمَتْنِي أَنَّ الصُّورَةَ شَيْءٌ، وَالحَيَاةَ شَيْءٌ آخَرُ.</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فَمُنْذُ اليَوْمِ الأَوَّلِ، اسْتَقْبَلَتْنِي "أُمِّي المَغْرِبِيَّةُ" بِالحَلِيبِ وَالتَّمْرِ، وَصَارَتِ ابْنَتُهَا سُكَيْنَةُ دَلِيلِي فِي أَزِقَّةِ المَدِينَةِ القَدِيمَةِ الَّتِي لَا يَعْرِفُ أَسْرَارَهَا إِلَّا أَهْلُهَا، فَكُنَّا نَضِيعُ وَنَضْحَكُ مَعًا. وَكُنْتُ أَقْضِي المَسَاءَ فِي سَهَرَاتٍ عَائِلِيَّةٍ لَا تَبْدَأُ إِلَّا بَعْدَ العَاشِرَةِ بِسَبَبِ حَرَارَةِ النَّهَارِ.</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وَلَمْ تَكُنِ التَّجْرِبَةُ سَهْلَةً دَائِمًا؛ فَالدَّارِجَةُ سَرِيعَةٌ، مِمَّا جَعَلَنِي أَشْعُرُ بِالعُزْلَةِ فِي الأَيَّامِ الأُولَى. وَلٰكِنْ حِينَ بَدَأْتُ أَسْأَلُ بَدَلًا مِنْ أَنْ أَصْمُتَ، انْفَتَحَتْ لِي الأَبْوَابُ وَالقُلُوبُ، وَصَارَ الجِيرَانُ يُنَادُونَنِي بِاسْمِي فِي السُّوقِ.</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وَنَتِيجَةً لِذٰلِكَ، عُدْتُ بِثِقَةٍ أَكْبَرَ وَصُوَرٍ نَمَطِيَّةٍ أَقَلَّ، وَبِصَدَاقَاتٍ سَتَدُومُ طَوِيلًا. وَلَوْ سَأَلَنِي أَحَدٌ عَنْ أَهَمِّ مَا تَعَلَّمْتُهُ، لَقُلْتُ: "لَا تَعْرِفُ بَلَدًا حَتَّى تَأْكُلَ عَلَى مَائِدَةِ أَهْلِهِ".</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قَبْلَ أَنْ أُسَافِرَ</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لَا يَعْرِفُ … إِلَّا</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مِمَّا جَعَلَنِي</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نَتِيجَةً لِذٰلِكَ</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Q3 (</a:t>
            </a:r>
            <a:pPr algn="l" indent="0" marL="0">
              <a:buNone/>
            </a:pPr>
            <a:r>
              <a:rPr lang="ar-SA" altLang="en-US" sz="2550" b="1" dirty="0">
                <a:solidFill>
                  <a:srgbClr val="1B3B6F"/>
                </a:solidFill>
                <a:latin typeface="Amiri" pitchFamily="2" charset="-78"/>
                <a:ea typeface="Amiri" pitchFamily="2" charset="-78"/>
                <a:cs typeface="Amiri" pitchFamily="2" charset="-78"/>
              </a:rPr>
              <a:t>ب</a:t>
            </a:r>
            <a:pPr algn="l" indent="0" marL="0">
              <a:buNone/>
            </a:pPr>
            <a:r>
              <a:rPr lang="en-US" sz="1950" b="1" dirty="0">
                <a:solidFill>
                  <a:srgbClr val="1B3B6F"/>
                </a:solidFill>
                <a:latin typeface="Cambria" pitchFamily="34" charset="0"/>
                <a:cs typeface="Amiri" pitchFamily="2" charset="-78"/>
              </a:rPr>
              <a:t>) full-mark model: travel and understanding</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TE-L08</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يُسَافِرُ اليَوْمَ مِئَاتُ المَلَايِينِ مِنَ البَشَرِ كُلَّ عَامٍ، وَيُقَالُ إِنَّ السَّفَرَ يُقَرِّبُ الشُّعُوبَ. وَلٰكِنْ هَلْ يُسَاعِدُنَا السَّفَرُ حَقًّا عَلَى فَهْمِ الآخَرِينَ، أَمْ أَنَّنَا نَرَى مَا نُرِيدُ أَنْ نَرَاهُ فَقَطْ؟</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مِنْ نَاحِيَةٍ، يَكْسِرُ السَّفَرُ الصُّوَرَ النَّمَطِيَّةَ، لِأَنَّنَا نَلْتَقِي بِأُنَاسٍ حَقِيقِيِّينَ بَدَلًا مِنْ صُوَرِ الأَخْبَارِ وَالأَفْلَامِ. وَمِنْ نَاحِيَةٍ أُخْرَى، يَقْضِي كَثِيرٌ مِنَ السُّيَّاحِ عُطْلَتَهُمْ فِي فَنَادِقَ مُغْلَقَةٍ، فَلَا يَتَحَدَّثُونَ إِلَّا مَعَ مُوَظَّفِي الاسْتِقْبَالِ، مِمَّا يَجْعَلُهُمْ يَعُودُونَ بِالأَفْكَارِ نَفْسِهَا.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وَقَدْ رَأَيْتُ الفَرْقَ بِنَفْسِي؛ فَفِي رِحْلَتِي الأُولَى إِلَى تُونِسَ، بَقِيتُ فِي مُنْتَجَعٍ عَلَى الشَّاطِئِ، وَلَمْ أَتَعَلَّمْ شَيْئًا عَنْ حَيَاةِ التُّونِسِيِّينَ الحَقِيقِيَّةِ. أَمَّا فِي بَرْنَامَجِ التَّبَادُلِ فِي فَاسَ، فَقَدْ عِشْتُ مَعَ عَائِلَةٍ، وَتَعَلَّمْتُ مِنْهَا مَا لَا تُعَلِّمُهُ الكُتُبُ: الكَرَمَ وَالصَّبْرَ وَحُبَّ العَائِلَةِ.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لِذٰلِكَ أَرَى أَنَّ السَّفَرَ وَحْدَهُ لَا يَكْفِي، بَلِ المُهِمُّ كَيْفَ نُسَافِرُ. فَإِذَا خَرَجْنَا مِنَ الفُنْدُقِ إِلَى البُيُوتِ وَالأَسْوَاقِ وَالمَقَاهِي، فَسَيُصْبِحُ كُلُّ سَفَرٍ دَرْسًا فِي التَّفَاهُمِ وَالاحْتِرَامِ المُتَبَادَلِ.</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يُقَالُ إِنَّ</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هَلْ … أَمْ أَنَّنَا</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مِمَّا يَجْعَلُهُمْ</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لَا يَكْفِي، بَلِ</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with a reason in box 8.</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 cause and a result.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kuntu + present for life on the trip, and a future plan.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mimmā / natījatan li-dhālika, a concession and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TE-L08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TE-L09 · Exam practice · Speaking and writing workshops — the next Topic E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TE-L08 · Writing Workshop — Travel, Cultural Exchange and Understanding</dc:title>
  <dc:subject>PptxGenJS Presentation</dc:subject>
  <dc:creator>Al Madina Online School · Arabic Department</dc:creator>
  <cp:lastModifiedBy>Al Madina Online School · Arabic Department</cp:lastModifiedBy>
  <cp:revision>1</cp:revision>
  <dcterms:created xsi:type="dcterms:W3CDTF">2026-10-11T14:47:43Z</dcterms:created>
  <dcterms:modified xsi:type="dcterms:W3CDTF">2026-10-11T14:47:43Z</dcterms:modified>
</cp:coreProperties>
</file>