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mostly in breakout rooms of three.
0–2 Welcome · 2–6 How Paper 3 works · 6–10 Language bank · 10–13 Breakout routine · 13–33 Role plays A–D in rooms (rotate roles) · 33–37 Role-play models (main room) · 37–50 Topic conversation in rooms · 50–55 Conversation models · 55–58 Feedback + self-check · 58–60 Close.
Content: teacher-made exam scenarios for Advanced Topic E, Lesson 11 (Topic E Integrated Communication Workshop, TE-L11), using that lesson’s language (mixed tenses in one answer (kuntu … ammā al-āna fa- … sa-); register (informal ahlan vs formal ḥaḍratuka / yasurrunī); cohesion (awwalan, bi-l-iḍāfati ilā dhālika, maʿa dhālika, li-dhālika, mimmā)). Every task has Core · Develop · Stretch support and a model answer.
EXAM FORMAT: Paper 3 Speaking = a role play and a topic conversation, as in the Cambridge IGCSE Arabic 0544 speaking test. Check timings and marks against the current syllabus and the past paper you use.
BREAKOUT ROOMS: set up rooms of three before the lesson. Share the deck (or a PDF) so every room can see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most of the lesson happens in breakout rooms; the teacher visits each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TEACH (3 min). Role play = precise and complete; conversation = develop. Choral repetition of the repair phrases. To a girl: تُعِيدِي.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LANGUAGE BANK (2 min) — the Topic E story in three tenses: كُنَّا نَحْتَفِلُ فِي … أَمَّا الآنَ فَنَحْتَفِلُ هُنَا … وَسَنُسَافِرُ … Link with أَوَّلًا · بِالإِضَافَةِ إِلَى ذٰلِكَ · مَعَ ذٰلِكَ · لِذٰلِكَ. Target: three linkers and three tenses in every developed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LANGUAGE BANK (2 min) — the examiner may jump from languages to festivals to travel: have one sentence ready for each. Register: with a friend أَهْلًا · كَيْفَ حَالُكَ؟; with an official حَضْرَتُكَ · يَسُرُّنِي أَنْ · شُكْرًا عَلَى وَقْتِكُمْ.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ROUTINE (3 min, in the main room). Same-level rooms make the routes simple; mixed rooms work if the strongest student is examiner first. Post the room timer in the chat. Visit every room for about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A (Core) — International Evening at school.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(answers unchanged for a girl).
Core: four Topic E themes in one card — countries and languages (L01–L02), food (L04), festivals (L06–L07); li- + a country, a relative clause in the question, fī as-sāʿati as-sābiʿa.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B (Core+) — two registers.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رِحْلَتُكِ · أَنَّكِ تُرِيدِينَ · تَسْتَطِيعِينَ · يُهِمُّكِ · صَدِيقَةً.
Core+: register switch (ahlan / masāʾa an-nūr … yasurrunī), past travel (L08), food (L04), the CANDIDATE asks formally (hal yumkinunī an …?), a reason + sa- (L06–L07,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C (Develop) — a mentoring session.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حَدِّثِينِي · أَصْلِكِ · لُغَاتِكِ · عَلَيْكِ · سَافَرْتِ · صَدِيقَتِي الإِنْجْلِيزِيَّةَ · لِكَيْ تَرَى.
Develop: kuntu + present vs ammā al-āna fa- (L01–L02), kunnā naḥtafilu + passive yuḥtafalu (L06–L07), bi-sababi + mimmā (L08), a turning point + wa-maʿa dhālika (L03), idhā … fa-sa- + li-kay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D (Stretch) — a final interview.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تَسْتَحِقِّينَ · سَفِيرَةً · هُوِيَّتَكِ · سَتَفْعَلِينَ · حَصَلْتِ · تَحْصُلِي · سَتَتَوَقَّفِينَ.
Stretch: formal register (yasurrunī, arā annanī, wa-d-dalīlu anna), an extended metaphor with laysa … bal (L03), a concession + li-dhālika + lā … faqaṭ (L09–L10), idhā … fa-sa- + li-kay + akthar mimmā, law lam … la- with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Observers keep this slide open (or copy the six points into their book). Collect one strong WWW per room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 Core. Examiner asks the questions in order and may add “لِمَاذَا؟ / هَلْ يُمْكِنُ أَنْ تَشْرَحَ أَكْثَرَ؟” to push for more. Candidate aims for one full sentence per question.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 Develop. Examiner asks the questions in order and may add “لِمَاذَا؟ / هَلْ يُمْكِنُ أَنْ تَشْرَحَ أَكْثَرَ؟” to push for more. Candidate aims for two or three sentences, with linkers and two or three time frames.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 Stretch. Examiner asks the questions in order and may add “لِمَاذَا؟ / هَلْ يُمْكِنُ أَنْ تَشْرَحَ أَكْثَرَ؟” to push for more. Candidate aims for a developed answer: opinion, balance, concession and a conditional.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(Core)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(Develop)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(Stretch)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(Stretch)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Workshop —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التَّحَدُّثِ — 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Paper 3 practice in breakout rooms, mixing all of Topic E: countries and languages, identity, customs and hospitality, faith and national celebrations, travel and exchange, comparing cultures and global life. Move between past, present and future, switch between informal and formal Arabic, and link ideas (</a:t>
            </a:r>
            <a:pPr algn="l" indent="0" marL="0">
              <a:buNone/>
            </a:pPr>
            <a:r>
              <a:rPr lang="ar-SA" altLang="en-US" sz="1450" dirty="0">
                <a:solidFill>
                  <a:srgbClr val="C6D2E6"/>
                </a:solidFill>
                <a:latin typeface="Amiri" pitchFamily="2" charset="-78"/>
                <a:ea typeface="Amiri" pitchFamily="2" charset="-78"/>
                <a:cs typeface="Amiri" pitchFamily="2" charset="-78"/>
              </a:rPr>
              <a:t>أَوَّلًا</a:t>
            </a:r>
            <a:pPr algn="l" indent="0" marL="0">
              <a:buNone/>
            </a:pPr>
            <a:r>
              <a:rPr lang="en-US" sz="1100" dirty="0">
                <a:solidFill>
                  <a:srgbClr val="C6D2E6"/>
                </a:solidFill>
                <a:latin typeface="Calibri" pitchFamily="34" charset="0"/>
                <a:cs typeface="Amiri" pitchFamily="2" charset="-78"/>
              </a:rPr>
              <a:t> · </a:t>
            </a:r>
            <a:pPr algn="l" indent="0" marL="0">
              <a:buNone/>
            </a:pPr>
            <a:r>
              <a:rPr lang="ar-SA" altLang="en-US" sz="1450" dirty="0">
                <a:solidFill>
                  <a:srgbClr val="C6D2E6"/>
                </a:solidFill>
                <a:latin typeface="Amiri" pitchFamily="2" charset="-78"/>
                <a:ea typeface="Amiri" pitchFamily="2" charset="-78"/>
                <a:cs typeface="Amiri" pitchFamily="2" charset="-78"/>
              </a:rPr>
              <a:t>بِالإِضَافَةِ إِلَى ذٰلِكَ</a:t>
            </a:r>
            <a:pPr algn="l" indent="0" marL="0">
              <a:buNone/>
            </a:pPr>
            <a:r>
              <a:rPr lang="en-US" sz="1100" dirty="0">
                <a:solidFill>
                  <a:srgbClr val="C6D2E6"/>
                </a:solidFill>
                <a:latin typeface="Calibri" pitchFamily="34" charset="0"/>
                <a:cs typeface="Amiri" pitchFamily="2" charset="-78"/>
              </a:rPr>
              <a:t> · </a:t>
            </a:r>
            <a:pPr algn="l" indent="0" marL="0">
              <a:buNone/>
            </a:pPr>
            <a:r>
              <a:rPr lang="ar-SA" altLang="en-US" sz="1450" dirty="0">
                <a:solidFill>
                  <a:srgbClr val="C6D2E6"/>
                </a:solidFill>
                <a:latin typeface="Amiri" pitchFamily="2" charset="-78"/>
                <a:ea typeface="Amiri" pitchFamily="2" charset="-78"/>
                <a:cs typeface="Amiri" pitchFamily="2" charset="-78"/>
              </a:rPr>
              <a:t>مَعَ ذٰلِكَ</a:t>
            </a:r>
            <a:pPr algn="l" indent="0" marL="0">
              <a:buNone/>
            </a:pPr>
            <a:r>
              <a:rPr lang="en-US" sz="1100" dirty="0">
                <a:solidFill>
                  <a:srgbClr val="C6D2E6"/>
                </a:solidFill>
                <a:latin typeface="Calibri" pitchFamily="34" charset="0"/>
                <a:cs typeface="Amiri" pitchFamily="2" charset="-78"/>
              </a:rPr>
              <a:t> · </a:t>
            </a:r>
            <a:pPr algn="l" indent="0" marL="0">
              <a:buNone/>
            </a:pPr>
            <a:r>
              <a:rPr lang="ar-SA" altLang="en-US" sz="1450" dirty="0">
                <a:solidFill>
                  <a:srgbClr val="C6D2E6"/>
                </a:solidFill>
                <a:latin typeface="Amiri" pitchFamily="2" charset="-78"/>
                <a:ea typeface="Amiri" pitchFamily="2" charset="-78"/>
                <a:cs typeface="Amiri" pitchFamily="2" charset="-78"/>
              </a:rPr>
              <a:t>لِذٰلِكَ</a:t>
            </a:r>
            <a:pPr algn="l" indent="0" marL="0">
              <a:buNone/>
            </a:pPr>
            <a:r>
              <a:rPr lang="en-US" sz="1100" dirty="0">
                <a:solidFill>
                  <a:srgbClr val="C6D2E6"/>
                </a:solidFill>
                <a:latin typeface="Calibri" pitchFamily="34" charset="0"/>
                <a:cs typeface="Amiri" pitchFamily="2" charset="-78"/>
              </a:rPr>
              <a: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TE-L11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speaking exam works; the language you need.</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20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Role plays A–D in breakout rooms.</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تَمْثِيلُ الدَّوْرِ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8A6D1E"/>
          </a:solidFill>
          <a:ln w="12700">
            <a:solidFill>
              <a:srgbClr val="8A6D1E"/>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Role-play models.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النَّمُوذَجُ</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Topic conversation in breakout rooms.</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المُحَادَثَةُ</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Conversation models, feedback,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In the rooms everyone has a job: examiner, candidate or observer. You swap after each role play, so everybody speaks.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3 SPEAKING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speaking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TWO PARTS WE PRACTISE TODAY</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ROLE PLAY — a card with a situation and tasks. The examiner asks; you answer every task in a full, clear sentence. One task is unexpected (!).</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TOPIC CONVERSATION — the examiner asks questions about a topic you know. Short answers are not enough: develop each one.</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Examiners reward: completing the tasks, a range of language (tenses, linking words, opinions) and accuracy.</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Never stay silent — use a repair phrase and keep going.</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REPAIR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هَلْ يُمْكِنُ أَنْ تُعِيدَ السُّؤَالَ؟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could you repeat the question?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دَعْنِي أُفَكِّرُ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let me think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أَقْصِدُ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mean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LANGUAGE BANK · COHESION AND TENSES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 it, then time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الرَّبْطِ وَالأَزْمِنَةُ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sequence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 · ثُمَّ · أَخِيرًا</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 · then · finally</a:t>
            </a:r>
            <a:endParaRPr lang="en-US" sz="1350" dirty="0"/>
          </a:p>
          <a:p>
            <a:pPr indent="0" marL="0">
              <a:buNone/>
            </a:pPr>
            <a:r>
              <a:rPr lang="en-US" sz="1100" i="1" dirty="0">
                <a:solidFill>
                  <a:srgbClr val="5A6472"/>
                </a:solidFill>
                <a:latin typeface="Calibri" pitchFamily="34" charset="0"/>
                <a:cs typeface="Amiri" pitchFamily="2" charset="-78"/>
              </a:rPr>
              <a:t>aw-wa-lan · thum-ma · a-khī-ran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before that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قَبْلَ ذٰلِكَ</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that</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بَعْدَ ذٰلِكَ</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adding</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بِالإِضَافَةِ إِلَى ذٰلِكَ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bil-ʾi-ḍā-fa-ti i-lā dhā-li-ka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moreover</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فَضْلًا عَنْ ذٰلِكَ</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also</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كَمَا أَنَّ</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contrast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 · غَيْرَ أَنَّ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 · however</a:t>
            </a:r>
            <a:endParaRPr lang="en-US" sz="1350" dirty="0"/>
          </a:p>
          <a:p>
            <a:pPr indent="0" marL="0">
              <a:buNone/>
            </a:pPr>
            <a:r>
              <a:rPr lang="en-US" sz="1100" i="1" dirty="0">
                <a:solidFill>
                  <a:srgbClr val="5A6472"/>
                </a:solidFill>
                <a:latin typeface="Calibri" pitchFamily="34" charset="0"/>
                <a:cs typeface="Amiri" pitchFamily="2" charset="-78"/>
              </a:rPr>
              <a:t>ma-ʿa dhā-li-ka · ghay-ra an-na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whereas</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بَيْنَمَا</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although</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 أَنَّ</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cause / result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 · مِمَّا</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 · which (result)</a:t>
            </a:r>
            <a:endParaRPr lang="en-US" sz="1350" dirty="0"/>
          </a:p>
          <a:p>
            <a:pPr indent="0" marL="0">
              <a:buNone/>
            </a:pPr>
            <a:r>
              <a:rPr lang="en-US" sz="1100" i="1" dirty="0">
                <a:solidFill>
                  <a:srgbClr val="5A6472"/>
                </a:solidFill>
                <a:latin typeface="Calibri" pitchFamily="34" charset="0"/>
                <a:cs typeface="Amiri" pitchFamily="2" charset="-78"/>
              </a:rPr>
              <a:t>li-dhā-li-ka · mim-mā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so that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لِكَيْ</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 of</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بِسَبَبِ</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three tenses</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كُنَّا نَحْتَفِلُ</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used to celebrate</a:t>
            </a:r>
            <a:endParaRPr lang="en-US" sz="1350" dirty="0"/>
          </a:p>
          <a:p>
            <a:pPr indent="0" marL="0">
              <a:buNone/>
            </a:pPr>
            <a:r>
              <a:rPr lang="en-US" sz="1100" i="1" dirty="0">
                <a:solidFill>
                  <a:srgbClr val="5A6472"/>
                </a:solidFill>
                <a:latin typeface="Calibri" pitchFamily="34" charset="0"/>
                <a:cs typeface="Amiri" pitchFamily="2" charset="-78"/>
              </a:rPr>
              <a:t>kun-nā naḥ-ta-fi-lu</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we will celebrate</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سَنَحْتَفِلُ</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now we celebrate</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الآنَ نَحْتَفِلُ</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register</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حَضْرَتُكَ · حَضْرَتُكِ</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(formal m. · f.)</a:t>
            </a:r>
            <a:endParaRPr lang="en-US" sz="1350" dirty="0"/>
          </a:p>
          <a:p>
            <a:pPr indent="0" marL="0">
              <a:buNone/>
            </a:pPr>
            <a:r>
              <a:rPr lang="en-US" sz="1100" i="1" dirty="0">
                <a:solidFill>
                  <a:srgbClr val="5A6472"/>
                </a:solidFill>
                <a:latin typeface="Calibri" pitchFamily="34" charset="0"/>
                <a:cs typeface="Amiri" pitchFamily="2" charset="-78"/>
              </a:rPr>
              <a:t>ḥaḍ-ra-tu-ka · ḥaḍ-ra-tu-ki</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am pleased to</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يَسُرُّنِي أَنْ</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informal</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أَنْتَ · أَنْتِ</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LANGUAGE BANK · THE TOPIC E JOURNEY AND REGISTER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Roots → customs → festivals → the world</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المِحْوَرِ 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identity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جِنْسِيَّةٌ · لُغَةٌ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 · language</a:t>
            </a:r>
            <a:endParaRPr lang="en-US" sz="1350" dirty="0"/>
          </a:p>
          <a:p>
            <a:pPr indent="0" marL="0">
              <a:buNone/>
            </a:pPr>
            <a:r>
              <a:rPr lang="en-US" sz="1100" i="1" dirty="0">
                <a:solidFill>
                  <a:srgbClr val="5A6472"/>
                </a:solidFill>
                <a:latin typeface="Calibri" pitchFamily="34" charset="0"/>
                <a:cs typeface="Amiri" pitchFamily="2" charset="-78"/>
              </a:rPr>
              <a:t>jin-siy-ya-tun · lu-gha-tun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origin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أَصْلٌ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bilingual</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ثُنَائِيُّ اللُّغَةِ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culture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عَادَاتٌ · تَقَالِيدُ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customs · traditions</a:t>
            </a:r>
            <a:endParaRPr lang="en-US" sz="1350" dirty="0"/>
          </a:p>
          <a:p>
            <a:pPr indent="0" marL="0">
              <a:buNone/>
            </a:pPr>
            <a:r>
              <a:rPr lang="en-US" sz="1100" i="1" dirty="0">
                <a:solidFill>
                  <a:srgbClr val="5A6472"/>
                </a:solidFill>
                <a:latin typeface="Calibri" pitchFamily="34" charset="0"/>
                <a:cs typeface="Amiri" pitchFamily="2" charset="-78"/>
              </a:rPr>
              <a:t>ʿā-dā-tun · ta-qā-lī-du</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manners</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آدَابٌ</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hospitality</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الضِّيَافَةُ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celebrations</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 مِهْرَجَانٌ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festival (religious) · festival (event)</a:t>
            </a:r>
            <a:endParaRPr lang="en-US" sz="1350" dirty="0"/>
          </a:p>
          <a:p>
            <a:pPr indent="0" marL="0">
              <a:buNone/>
            </a:pPr>
            <a:r>
              <a:rPr lang="en-US" sz="1100" i="1" dirty="0">
                <a:solidFill>
                  <a:srgbClr val="5A6472"/>
                </a:solidFill>
                <a:latin typeface="Calibri" pitchFamily="34" charset="0"/>
                <a:cs typeface="Amiri" pitchFamily="2" charset="-78"/>
              </a:rPr>
              <a:t>ʿī-dun · mih-ra-jā-nun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is celebrated</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يُحْتَفَلُ بِهِ</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national day</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اليَوْمُ الوَطَنِيُّ</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travel</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تَبَادُلٌ ثَقَافِيٌّ</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cultural exchange</a:t>
            </a:r>
            <a:endParaRPr lang="en-US" sz="1350" dirty="0"/>
          </a:p>
          <a:p>
            <a:pPr indent="0" marL="0">
              <a:buNone/>
            </a:pPr>
            <a:r>
              <a:rPr lang="en-US" sz="1100" i="1" dirty="0">
                <a:solidFill>
                  <a:srgbClr val="5A6472"/>
                </a:solidFill>
                <a:latin typeface="Calibri" pitchFamily="34" charset="0"/>
                <a:cs typeface="Amiri" pitchFamily="2" charset="-78"/>
              </a:rPr>
              <a:t>ta-bā-du-lun tha-qā-fiy-yun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travelled</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سَافَرْتُ</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host family</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العَائِلَةُ المُضِيفَةُ</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comparison</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مُخْتَلِفٌ لَا أَفْضَلُ</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different, not better</a:t>
            </a:r>
            <a:endParaRPr lang="en-US" sz="1350" dirty="0"/>
          </a:p>
          <a:p>
            <a:pPr indent="0" marL="0">
              <a:buNone/>
            </a:pPr>
            <a:r>
              <a:rPr lang="en-US" sz="1100" i="1" dirty="0">
                <a:solidFill>
                  <a:srgbClr val="5A6472"/>
                </a:solidFill>
                <a:latin typeface="Calibri" pitchFamily="34" charset="0"/>
                <a:cs typeface="Amiri" pitchFamily="2" charset="-78"/>
              </a:rPr>
              <a:t>mukh-ta-li-fun lā af-ḍa-lu</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usually</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غَالِبًا</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more … than</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أَكْثَرُ … مِنْ</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conditions</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لَوْ … لَاخْتَرْتُ · إِذَا … فَسَأَزُورُ</a:t>
            </a:r>
            <a:endParaRPr lang="ar-SA" sz="255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would · if … will</a:t>
            </a:r>
            <a:endParaRPr lang="en-US" sz="1350" dirty="0"/>
          </a:p>
          <a:p>
            <a:pPr indent="0" marL="0">
              <a:buNone/>
            </a:pPr>
            <a:r>
              <a:rPr lang="en-US" sz="1100" i="1" dirty="0">
                <a:solidFill>
                  <a:srgbClr val="5A6472"/>
                </a:solidFill>
                <a:latin typeface="Calibri" pitchFamily="34" charset="0"/>
                <a:cs typeface="Amiri" pitchFamily="2" charset="-78"/>
              </a:rPr>
              <a:t>law … lākh-tar-tu · i-dhā … fa-sa-ʾa-zū-ru</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if I go</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إِذَا سَافَرْتُ فَسَأَزُورُ</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if I were</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كُنْتُ … لَاخْتَرْتُ</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BREAKOUT ROOMS · HOW WE WORK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Examiner · candidate · observer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BREAKOUT ROUTINE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Three jobs, then swap</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Rooms of three. A = examiner (reads the questions only). B = candidate (answers from the task card). C = observer (ticks the checklist and gives one WWW and one EBI).</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 minute: the candidate reads the card and plans (no writing full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About 3 minutes: the role play — the examiner reads every question in order.</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 minute: the observer gives feedback (WWW + EBI).</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jobs and do the next role play. Then the topic conversation.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A and B, with the help column. Conversation: Core questions.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B and C, help column covered. Conversation: Core + Develop questions.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C and D, no help. Conversation: Develop + Stretch questions, push with “why?”.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تَكَلَّمْ أَكْثَرَ، مِنْ فَضْلِكَ</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say more, please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لِمَاذَا؟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A · CORE · INTERNATIONAL EVENING AT SCHOOL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Role play A — At the International Evening</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الأُمْسِيَةِ الدُّوَلِيَّةِ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هٰذَا الجَنَاحُ لِلْجَزَائِرِ / لِمِصْرَ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country.</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مَسَاءَ الخَيْرِ! لِأَيِّ بَلَدٍ هٰذَا الجَنَاحُ؟</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يَتَكَلَّمُونَ … وَ…</a:t>
            </a:r>
            <a:endParaRPr lang="ar-SA" sz="1500" dirty="0"/>
          </a:p>
        </p:txBody>
      </p:sp>
      <p:sp>
        <p:nvSpPr>
          <p:cNvPr id="29" name="Text 26"/>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languages.</a:t>
            </a:r>
            <a:endParaRPr lang="en-US" sz="1100" dirty="0"/>
          </a:p>
        </p:txBody>
      </p:sp>
      <p:sp>
        <p:nvSpPr>
          <p:cNvPr id="30" name="Text 27"/>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اللُّغَاتُ الَّتِي يَتَكَلَّمُهَا النَّاسُ هُنَاكَ؟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هٰذَا … ، وَهُوَ …</a:t>
            </a:r>
            <a:endParaRPr lang="ar-SA" sz="1500" dirty="0"/>
          </a:p>
        </p:txBody>
      </p:sp>
      <p:sp>
        <p:nvSpPr>
          <p:cNvPr id="36" name="Text 33"/>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describe a dish.</a:t>
            </a:r>
            <a:endParaRPr lang="en-US" sz="1100" dirty="0"/>
          </a:p>
        </p:txBody>
      </p:sp>
      <p:sp>
        <p:nvSpPr>
          <p:cNvPr id="37" name="Text 34"/>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هٰذَا الطَّعَامُ؟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نَعَمْ، فِي السَّاعَةِ …</a:t>
            </a:r>
            <a:endParaRPr lang="ar-SA" sz="1500" dirty="0"/>
          </a:p>
        </p:txBody>
      </p:sp>
      <p:sp>
        <p:nvSpPr>
          <p:cNvPr id="43" name="Text 40"/>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time the dance is.</a:t>
            </a:r>
            <a:endParaRPr lang="en-US" sz="1100" dirty="0"/>
          </a:p>
        </p:txBody>
      </p:sp>
      <p:sp>
        <p:nvSpPr>
          <p:cNvPr id="44" name="Text 41"/>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شُكْرًا! هَلْ عِنْدَكُمْ رَقْصٌ؟</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أَهَمُّ عِيدٍ … ، وَ…</a:t>
            </a:r>
            <a:endParaRPr lang="ar-SA" sz="1500" dirty="0"/>
          </a:p>
        </p:txBody>
      </p:sp>
      <p:sp>
        <p:nvSpPr>
          <p:cNvPr id="50" name="Text 47"/>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a:t>
            </a:r>
            <a:endParaRPr lang="en-US" sz="1100" dirty="0"/>
          </a:p>
        </p:txBody>
      </p:sp>
      <p:sp>
        <p:nvSpPr>
          <p:cNvPr id="51" name="Text 48"/>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عِيدٍ فِي الجَزَائِرِ؟</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student running a stall  ·  The examiner is: a parent visiting the stalls  ·  ! = unexpected question: listen carefully.</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B · CORE+ · TWO REGISTERS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 play B — Telling a friend, then the director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 صَدِيقٍ ثُمَّ مَعَ المُدِيرِ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رَائِعَةً! زُرْتُ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your friend (informal).</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(صَدِيقٌ) أَهْلًا! كَيْفَ كَانَتْ رِحْلَتُكَ إِلَى الأُرْدُنِّ؟</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الأَكْلُ … لٰكِنَّ …</a:t>
            </a:r>
            <a:endParaRPr lang="ar-SA" sz="1500" dirty="0"/>
          </a:p>
        </p:txBody>
      </p:sp>
      <p:sp>
        <p:nvSpPr>
          <p:cNvPr id="29" name="Text 26"/>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opinion (informal).</a:t>
            </a:r>
            <a:endParaRPr lang="en-US" sz="1100" dirty="0"/>
          </a:p>
        </p:txBody>
      </p:sp>
      <p:sp>
        <p:nvSpPr>
          <p:cNvPr id="30" name="Text 27"/>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وَالأَكْلُ؟</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مَسَاءَ النُّورِ يَا حَضْرَةَ المُدِيرِ. يَسُرُّنِي …</a:t>
            </a:r>
            <a:endParaRPr lang="ar-SA" sz="1500" dirty="0"/>
          </a:p>
        </p:txBody>
      </p:sp>
      <p:sp>
        <p:nvSpPr>
          <p:cNvPr id="36" name="Text 33"/>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director formally.</a:t>
            </a:r>
            <a:endParaRPr lang="en-US" sz="1100" dirty="0"/>
          </a:p>
        </p:txBody>
      </p:sp>
      <p:sp>
        <p:nvSpPr>
          <p:cNvPr id="37" name="Text 34"/>
          <p:cNvSpPr txBox="1"/>
          <p:nvPr/>
        </p:nvSpPr>
        <p:spPr>
          <a:xfrm>
            <a:off x="1051560" y="3741725"/>
            <a:ext cx="384048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(المُدِيرُ) مَسَاءَ الخَيْرِ. سَمِعْتُ أَنَّكَ تُرِيدُ أَنْ تَتَطَوَّعَ مَعَنَا.</a:t>
            </a:r>
            <a:endParaRPr lang="ar-SA" sz="15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أَسْتَطِيعُ أَنْ … ؛ هَلْ يُمْكِنُنِي أَنْ …؟</a:t>
            </a:r>
            <a:endParaRPr lang="ar-SA" sz="1500" dirty="0"/>
          </a:p>
        </p:txBody>
      </p:sp>
      <p:sp>
        <p:nvSpPr>
          <p:cNvPr id="41" name="Text 38"/>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Offer skills, then ASK politely.</a:t>
            </a:r>
            <a:endParaRPr lang="en-US" sz="1100" dirty="0"/>
          </a:p>
        </p:txBody>
      </p:sp>
      <p:sp>
        <p:nvSpPr>
          <p:cNvPr id="42" name="Text 39"/>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تَسْتَطِيعُ أَنْ تُقَدِّمَهُ؟</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لِأَنَّ … ؛ وَسَأَطْلُبُ …</a:t>
            </a:r>
            <a:endParaRPr lang="ar-SA" sz="1500" dirty="0"/>
          </a:p>
        </p:txBody>
      </p:sp>
      <p:sp>
        <p:nvSpPr>
          <p:cNvPr id="46" name="Text 43"/>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 (reason + future).</a:t>
            </a:r>
            <a:endParaRPr lang="en-US" sz="1100" dirty="0"/>
          </a:p>
        </p:txBody>
      </p:sp>
      <p:sp>
        <p:nvSpPr>
          <p:cNvPr id="47" name="Text 44"/>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طَبْعًا. لِمَاذَا يُهِمُّكَ هٰذَا العَمَلُ؟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You are: a student back from Jordan  ·  The examiner is: a friend (tasks 1–2), then the director of the Arab cultural centre (tasks 3–5)  ·  ! = unexpected question: listen carefully.</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C · DEVELOP · A MENTORING SESSION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C — My cultural journey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رِحْلَتِي الثَّقَافِيَّةُ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وُلِدْتُ فِي … ، وَكُنْتُ … أَمَّا الآنَ فَأَتَكَلَّمُ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present with linkers.</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حَدِّثْنِي عَنْ أَصْلِكَ وَلُغَاتِكَ.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كُنَّا … أَمَّا هُنَا فَنَحْتَفِلُ … ؛ وَيُحْتَفَلُ …</a:t>
            </a:r>
            <a:endParaRPr lang="ar-SA" sz="1500" dirty="0"/>
          </a:p>
        </p:txBody>
      </p:sp>
      <p:sp>
        <p:nvSpPr>
          <p:cNvPr id="27" name="Text 24"/>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then and now with a passive.</a:t>
            </a:r>
            <a:endParaRPr lang="en-US" sz="1100" dirty="0"/>
          </a:p>
        </p:txBody>
      </p:sp>
      <p:sp>
        <p:nvSpPr>
          <p:cNvPr id="28" name="Text 25"/>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تَحْتَفِلُونَ بِالأَعْيَادِ هُنَا؟</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أَصْعَبُ شَيْءٍ … بِسَبَبِ … ، مِمَّا …</a:t>
            </a:r>
            <a:endParaRPr lang="ar-SA" sz="1500" dirty="0"/>
          </a:p>
        </p:txBody>
      </p:sp>
      <p:sp>
        <p:nvSpPr>
          <p:cNvPr id="32" name="Text 29"/>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difficulty with its cause and result.</a:t>
            </a:r>
            <a:endParaRPr lang="en-US" sz="1100" dirty="0"/>
          </a:p>
        </p:txBody>
      </p:sp>
      <p:sp>
        <p:nvSpPr>
          <p:cNvPr id="33" name="Text 30"/>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الشَّيْءُ الَّذِي صَعُبَ عَلَيْكَ فِي البِدَايَةِ؟</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عِنْدَمَا … ، تَعَرَّفْتُ … ؛ وَمَعَ ذٰلِكَ …</a:t>
            </a:r>
            <a:endParaRPr lang="ar-SA" sz="1500" dirty="0"/>
          </a:p>
        </p:txBody>
      </p:sp>
      <p:sp>
        <p:nvSpPr>
          <p:cNvPr id="37" name="Text 34"/>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Narrate a turning point.</a:t>
            </a:r>
            <a:endParaRPr lang="en-US" sz="1100" dirty="0"/>
          </a:p>
        </p:txBody>
      </p:sp>
      <p:sp>
        <p:nvSpPr>
          <p:cNvPr id="38" name="Text 35"/>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وَكَيْفَ تَغَيَّرَ ذٰلِكَ؟</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سَافَرْتُ، فَسَأَصْطَحِبُ … لِكَيْ …</a:t>
            </a:r>
            <a:endParaRPr lang="ar-SA" sz="1500" dirty="0"/>
          </a:p>
        </p:txBody>
      </p:sp>
      <p:sp>
        <p:nvSpPr>
          <p:cNvPr id="42" name="Text 39"/>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 (conditional).</a:t>
            </a:r>
            <a:endParaRPr lang="en-US" sz="1100" dirty="0"/>
          </a:p>
        </p:txBody>
      </p:sp>
      <p:sp>
        <p:nvSpPr>
          <p:cNvPr id="43" name="Text 40"/>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سَافَرْتَ إِلَى الجَزَائِرِ هٰذَا الصَّيْفَ؟</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Year 12 student  ·  The examiner is: a mentor from a community organisation  ·  ! = unexpected question: listen carefully.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D · STRETCH · A FINAL INTERVIEW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 play D — The youth ambassador scholarship</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مِنْحَةُ سَفِيرِ الشَّبَابِ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يَسُرُّنِي أَنْ … ؛ وَالدَّلِيلُ أَنَّ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 formal, evidenced case.</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تَسْتَحِقُّ أَنْ تَكُونَ سَفِيرًا لِلشَّبَابِ؟</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هُوِيَّتِي لَيْسَتْ … بَلْ …</a:t>
            </a:r>
            <a:endParaRPr lang="ar-SA" sz="1500" dirty="0"/>
          </a:p>
        </p:txBody>
      </p:sp>
      <p:sp>
        <p:nvSpPr>
          <p:cNvPr id="27" name="Text 24"/>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Define identity with laysa … bal.</a:t>
            </a:r>
            <a:endParaRPr lang="en-US" sz="1100" dirty="0"/>
          </a:p>
        </p:txBody>
      </p:sp>
      <p:sp>
        <p:nvSpPr>
          <p:cNvPr id="28" name="Text 25"/>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تَصِفُ هُوِيَّتَكَ؟</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 غَيْرَ أَنَّ … لِذٰلِكَ …</a:t>
            </a:r>
            <a:endParaRPr lang="ar-SA" sz="1500" dirty="0"/>
          </a:p>
        </p:txBody>
      </p:sp>
      <p:sp>
        <p:nvSpPr>
          <p:cNvPr id="32" name="Text 29"/>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 and balance.</a:t>
            </a:r>
            <a:endParaRPr lang="en-US" sz="1100" dirty="0"/>
          </a:p>
        </p:txBody>
      </p:sp>
      <p:sp>
        <p:nvSpPr>
          <p:cNvPr id="33" name="Text 30"/>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أَلَا تُهَدِّدُ العَوْلَمَةُ هُوِيَّاتِ الشُّعُوبِ؟</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حَصَلْتُ عَلَيْهَا، فَسَأُنَظِّمُ … لِكَيْ …</a:t>
            </a:r>
            <a:endParaRPr lang="ar-SA" sz="1500" dirty="0"/>
          </a:p>
        </p:txBody>
      </p:sp>
      <p:sp>
        <p:nvSpPr>
          <p:cNvPr id="37" name="Text 34"/>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with purpose and a conditional.</a:t>
            </a:r>
            <a:endParaRPr lang="en-US" sz="1100" dirty="0"/>
          </a:p>
        </p:txBody>
      </p:sp>
      <p:sp>
        <p:nvSpPr>
          <p:cNvPr id="38" name="Text 35"/>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إِذَا حَصَلْتَ عَلَى المِنْحَةِ؟</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لَمْ أَحْصُلْ …، لَبَدَأْتُ … لٰكِنَّ …</a:t>
            </a:r>
            <a:endParaRPr lang="ar-SA" sz="1500" dirty="0"/>
          </a:p>
        </p:txBody>
      </p:sp>
      <p:sp>
        <p:nvSpPr>
          <p:cNvPr id="42" name="Text 39"/>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 (law lam … la-).</a:t>
            </a:r>
            <a:endParaRPr lang="en-US" sz="1100" dirty="0"/>
          </a:p>
        </p:txBody>
      </p:sp>
      <p:sp>
        <p:nvSpPr>
          <p:cNvPr id="43" name="Text 40"/>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لَمْ تَحْصُلْ عَلَيْهَا، هَلْ سَتَتَوَقَّفُ؟</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scholarship candidate  ·  The examiner is: the head of the selection panel  ·  ! = unexpected question: listen carefully.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OBSERVER · FEEDBACK CHECKLIST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Observer: tick and give feedback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وَرَقَةُ المُلَاحِظِ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you heard</a:t>
            </a:r>
            <a:endParaRPr lang="en-US" sz="1100" dirty="0"/>
          </a:p>
        </p:txBody>
      </p:sp>
      <p:sp>
        <p:nvSpPr>
          <p:cNvPr id="17" name="Text 14"/>
          <p:cNvSpPr txBox="1"/>
          <p:nvPr/>
        </p:nvSpPr>
        <p:spPr>
          <a:xfrm>
            <a:off x="766267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1996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candidate …</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699248" y="2267712"/>
            <a:ext cx="914400" cy="559308"/>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23620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answered EVERY task, including the unexpected one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699248" y="2881884"/>
            <a:ext cx="914400" cy="559308"/>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23620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2881884"/>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answered on languages, customs, festivals and travel in full sentences</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699248" y="3496056"/>
            <a:ext cx="914400" cy="559308"/>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23620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496056"/>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three tenses and three linking words in one answer</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796528" y="4110228"/>
            <a:ext cx="2862072" cy="559308"/>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699248" y="4110228"/>
            <a:ext cx="914400" cy="559308"/>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23620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110228"/>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gave a reason (li-anna) or an opinion (fī ra’yī)</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796528" y="4724400"/>
            <a:ext cx="2862072" cy="559308"/>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699248" y="4724400"/>
            <a:ext cx="914400" cy="559308"/>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23620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4724400"/>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more than one time frame (past / future)</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796528" y="5338572"/>
            <a:ext cx="2862072" cy="559308"/>
          </a:xfrm>
          <a:prstGeom prst="rect">
            <a:avLst/>
          </a:prstGeom>
          <a:noFill/>
          <a:ln/>
        </p:spPr>
        <p:txBody>
          <a:bodyPr wrap="square" lIns="0" tIns="0" rIns="0" bIns="0" rtlCol="0" anchor="ctr"/>
          <a:lstStyle/>
          <a:p>
            <a:pPr algn="l" indent="0" marL="0">
              <a:buNone/>
            </a:pPr>
            <a:endParaRPr lang="en-US" sz="1100" dirty="0"/>
          </a:p>
        </p:txBody>
      </p:sp>
      <p:sp>
        <p:nvSpPr>
          <p:cNvPr id="51" name="Text 48"/>
          <p:cNvSpPr txBox="1"/>
          <p:nvPr/>
        </p:nvSpPr>
        <p:spPr>
          <a:xfrm>
            <a:off x="7699248" y="5338572"/>
            <a:ext cx="914400" cy="559308"/>
          </a:xfrm>
          <a:prstGeom prst="rect">
            <a:avLst/>
          </a:prstGeom>
          <a:noFill/>
          <a:ln/>
        </p:spPr>
        <p:txBody>
          <a:bodyPr wrap="square" lIns="0" tIns="0" rIns="0" bIns="0" rtlCol="0" anchor="ctr"/>
          <a:lstStyle/>
          <a:p>
            <a:pPr algn="l" indent="0" marL="0">
              <a:buNone/>
            </a:pPr>
            <a:endParaRPr lang="en-US" sz="1100" dirty="0"/>
          </a:p>
        </p:txBody>
      </p:sp>
      <p:sp>
        <p:nvSpPr>
          <p:cNvPr id="52" name="Text 49"/>
          <p:cNvSpPr txBox="1"/>
          <p:nvPr/>
        </p:nvSpPr>
        <p:spPr>
          <a:xfrm>
            <a:off x="623620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t>
            </a:r>
            <a:endParaRPr lang="en-US" sz="1100" dirty="0"/>
          </a:p>
        </p:txBody>
      </p:sp>
      <p:sp>
        <p:nvSpPr>
          <p:cNvPr id="53" name="Text 50"/>
          <p:cNvSpPr txBox="1"/>
          <p:nvPr/>
        </p:nvSpPr>
        <p:spPr>
          <a:xfrm>
            <a:off x="566928" y="5338572"/>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kept going with a repair phrase instead of silence</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Feedback in the room: one WWW (what went well) + one EBI (even better if …).</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A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A: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النُّورِ! هٰذَا الجَنَاحُ لِلْجَزَائِرِ.</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evening! This stall is for Algeria.</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الخَيْرِ! لِأَيِّ بَلَدٍ هٰذَا الجَنَاحُ؟</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يَتَكَلَّمُونَ العَرَبِيَّةَ وَالأَمَازِيغِيَّةَ، وَكَثِيرٌ مِنْهُمْ يَتَكَلَّمُ الفَرَنْسِيَّةَ.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Arabic and Amazigh, and many speak French.</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اللُّغَاتُ الَّتِي يَتَكَلَّمُهَا النَّاسُ هُنَاكَ؟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الكُسْكُسُ، وَهُوَ أَكْلَةٌ شَعْبِيَّةٌ لَذِيذَةٌ.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couscous, a delicious traditional dish.</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هٰذَا الطَّعَامُ؟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فِي السَّاعَةِ السَّابِعَةِ عَلَى المَسْرَحِ.</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at seven on the stage.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هَلْ عِنْدَكُمْ رَقْصٌ؟</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أَهَمُّ عِيدٍ عِيدُ الفِطْرِ، وَالنَّاسُ يَزُورُونَ أَقَارِبَهُمْ فِيهِ.</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Eid al-Fitr — people visit relatives.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أَهَمُّ عِيدٍ فِي الجَزَائِرِ؟</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B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B: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رَائِعَةً! زُرْتُ البَتْرَاءَ وَالبَحْرَ المَيِّتَ.</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Amazing! I visited Petra and the Dead Sea.</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 أَهْلًا! كَيْفَ كَانَتْ رِحْلَتُكَ إِلَى الأُرْدُنِّ؟</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الأَكْلُ لَذِيذٌ جِدًّا، لٰكِنَّهُمْ يُعْطُونَكَ كَمِّيَّاتٍ كَبِيرَةً!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Delicious — but they give you huge portions!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وَالأَكْلُ؟</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النُّورِ. نَعَمْ، يَسُرُّنِي أَنْ أُسَاعِدَ فِي احْتِفَالِ العِيدِ القَادِمِ.</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evening. Yes, I’d be glad to help at the coming Eid celebration.</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(المُدِيرُ) مَسَاءَ الخَيْرِ. سَمِعْتُ أَنَّكَ تُرِيدُ أَنْ تَتَطَوَّعَ مَعَنَا.</a:t>
            </a:r>
            <a:endParaRPr lang="ar-SA" sz="14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أَنْ أُتَرْجِمَ لِلضُّيُوفِ وَأُسَاعِدَ فِي التَّنْظِيمِ. هَلْ يُمْكِنُنِي أَنْ أُحْضِرَ صَدِيقًا أَيْضًا؟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can interpret for guests and help organise. May I bring a friend too?</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الَّذِي تَسْتَطِيعُ أَنْ تُقَدِّمَهُ؟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لِأَنَّ الاحْتِفَالَ يَجْمَعُ النَّاسَ مِنْ ثَقَافَاتٍ مُخْتَلِفَةٍ؛ وَسَأَطْلُبُ مِنْ أُسْرَتِي أَنْ تَطْبُخَ طَبَقًا أُرْدُنِيًّا.</a:t>
            </a:r>
            <a:endParaRPr lang="ar-SA" sz="17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brings people of different cultures together — and I’ll ask my family to cook a Jordanian dish.</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طَبْعًا. لِمَاذَا يُهِمُّكَ هٰذَا العَمَلُ؟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C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C: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وُلِدْتُ فِي الجَزَائِرِ، وَكُنْتُ أَتَكَلَّمُ العَرَبِيَّةَ وَالفَرَنْسِيَّةَ فَقَطْ، أَمَّا الآنَ فَأَتَكَلَّمُ الإِنْجْلِيزِيَّةَ بِطَلَاقَةٍ أَيْضًا.</a:t>
            </a:r>
            <a:endParaRPr lang="ar-SA" sz="15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born in Algeria and spoke only Arabic and French; now I speak fluent English too.</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حَدِّثْنِي عَنْ أَصْلِكَ وَلُغَاتِكَ.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كُنَّا نَحْتَفِلُ مَعَ كُلِّ العَائِلَةِ فِي قَسَنْطِينَةَ، أَمَّا هُنَا فَنَحْتَفِلُ مَعَ الجِيرَانِ؛ وَيُحْتَفَلُ بِالعِيدِ فِي حَدِيقَةِ المَدِينَةِ.</a:t>
            </a:r>
            <a:endParaRPr lang="ar-SA" sz="14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celebrated with the whole family in Constantine; here with neighbours — Eid is celebrated in the city park.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تَحْتَفِلُونَ بِالأَعْيَادِ هُنَا؟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أَصْعَبُ شَيْءٍ كَانَ اخْتِلَافَ العَادَاتِ بِسَبَبِ اللُّغَةِ وَالطَّقْسِ، مِمَّا جَعَلَنِي أَشْعُرُ بِالوَحْدَةِ أَشْهُرًا.</a:t>
            </a:r>
            <a:endParaRPr lang="ar-SA" sz="175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different customs — because of language and weather — which made me feel lonely for months.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الشَّيْءُ الَّذِي صَعُبَ عَلَيْكَ فِي البِدَايَةِ؟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عِنْدَمَا شَارَكْتُ فِي نَادِي الثَّقَافَاتِ، تَعَرَّفْتُ عَلَى أَصْدِقَاءَ مِنْ عِشْرِينَ بَلَدًا، وَمَعَ ذٰلِكَ لَمْ أَنْسَ جُذُورِي.</a:t>
            </a:r>
            <a:endParaRPr lang="ar-SA" sz="16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Joining the culture club, I met friends from twenty countries — yet I didn’t forget my roots.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وَكَيْفَ تَغَيَّرَ ذٰلِكَ؟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سَافَرْتُ، فَسَأَصْطَحِبُ صَدِيقِي الإِنْجْلِيزِيَّ، لِكَيْ يَرَى بِنَفْسِهِ كَرَمَ أَهْلِنَا.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go, I’ll take my English friend so he sees our people’s generosity for himself.</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سَافَرْتَ إِلَى الجَزَائِرِ هٰذَا الصَّيْفَ؟</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D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D: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يَسُرُّنِي أَنْ أَكُونَ هُنَا. أَرَى أَنَّنِي أَجْمَعُ بَيْنَ ثَلَاثِ ثَقَافَاتٍ وَثَلَاثِ لُغَاتٍ؛ وَالدَّلِيلُ أَنَّنِي أَسَّسْتُ نَادِيًا لِلتَّبَادُلِ اللُّغَوِيِّ يَضُمُّ اليَوْمَ أَرْبَعِينَ طَالِبًا.</a:t>
            </a:r>
            <a:endParaRPr lang="ar-SA" sz="12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bring together three cultures and three languages — I founded a language-exchange club that now has forty members.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تَسْتَحِقُّ أَنْ تَكُونَ سَفِيرًا لِلشَّبَابِ؟</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هُوِيَّتِي لَيْسَتْ صُنْدُوقًا وَاحِدًا، بَلْ شَجَرَةٌ جُذُورُهَا فِي الجَزَائِرِ، وَأَغْصَانُهَا فِي بَرِيطَانْيَا، وَثِمَارُهَا لِلْجَمِيعِ.</a:t>
            </a:r>
            <a:endParaRPr lang="ar-SA" sz="15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a single box but a tree: roots in Algeria, branches in Britain, fruit for everyone.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تَصِفُ هُوِيَّتَكَ؟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صَحِيحٌ أَنَّهَا تَنْشُرُ ثَقَافَةً وَاحِدَةً أَحْيَانًا، غَيْرَ أَنَّهَا تُتِيحُ لَنَا أَيْضًا أَنْ نُعَرِّفَ العَالَمَ بِتُرَاثِنَا؛ لِذٰلِكَ المُهِمُّ أَنْ نَكُونَ مُنْتِجِينَ لِلثَّقَافَةِ لَا مُسْتَهْلِكِينَ فَقَطْ.</a:t>
            </a:r>
            <a:endParaRPr lang="ar-SA" sz="12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00" i="1" dirty="0">
                <a:solidFill>
                  <a:srgbClr val="5A6472"/>
                </a:solidFill>
                <a:latin typeface="Calibri" pitchFamily="34" charset="0"/>
                <a:cs typeface="Amiri" pitchFamily="2" charset="-78"/>
              </a:rPr>
              <a:t>It sometimes spreads one culture, but also lets us share our heritage — so we must produce culture, not just consume it.</a:t>
            </a:r>
            <a:endParaRPr lang="en-US" sz="90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أَلَا تُهَدِّدُ العَوْلَمَةُ هُوِيَّاتِ الشُّعُوبِ؟</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إِذَا حَصَلْتُ عَلَيْهَا، فَسَأُنَظِّمُ تَبَادُلًا بَيْنَ مَدْرَسَتِي وَمَدْرَسَةٍ فِي وَهْرَانَ، لِكَيْ يَكْتَشِفَ الطُّلَّابُ أَنَّ مَا يَجْمَعُهُمْ أَكْثَرُ مِمَّا يُفَرِّقُهُمْ.</a:t>
            </a:r>
            <a:endParaRPr lang="ar-SA" sz="13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I’ll set up an exchange with a school in Oran so students discover that what unites them outweighs what divides them.</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سَتَفْعَلُ إِذَا حَصَلْتَ عَلَى المِنْحَةِ؟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لَمْ أَحْصُلْ عَلَيْهَا، لَبَدَأْتُ بِمَشْرُوعٍ أَصْغَرَ عَلَى الإِنْتَرْنِتِ؛ فَالطَّرِيقُ سَيَكُونُ أَبْطَأَ، لٰكِنَّ الهَدَفَ لَنْ يَتَغَيَّرَ.</a:t>
            </a:r>
            <a:endParaRPr lang="ar-SA" sz="15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I’d start a smaller online project — slower, but the goal wouldn’t change.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لَمْ تَحْصُلْ عَلَيْهَا، هَلْ سَتَتَوَقَّفُ؟</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the whole Topic E journey — identity, languages, globalisation and an exchange plan — in formal Arabic.</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CORE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Topic conversation — Core questions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أُسْرَتِي مِنْ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أُسْرَتُكَ؟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أَتَكَلَّمُ … لُغَاتٍ</a:t>
            </a:r>
            <a:endParaRPr lang="ar-SA" sz="1500" dirty="0"/>
          </a:p>
        </p:txBody>
      </p:sp>
      <p:sp>
        <p:nvSpPr>
          <p:cNvPr id="29" name="Text 26"/>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languages do you speak?</a:t>
            </a:r>
            <a:endParaRPr lang="en-US" sz="1100" dirty="0"/>
          </a:p>
        </p:txBody>
      </p:sp>
      <p:sp>
        <p:nvSpPr>
          <p:cNvPr id="30" name="Text 27"/>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لُغَةً تَتَكَلَّمُ؟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أَكْلَتُنَا الشَّعْبِيَّةُ …</a:t>
            </a:r>
            <a:endParaRPr lang="ar-SA" sz="1500" dirty="0"/>
          </a:p>
        </p:txBody>
      </p:sp>
      <p:sp>
        <p:nvSpPr>
          <p:cNvPr id="36" name="Text 33"/>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traditional dish?</a:t>
            </a:r>
            <a:endParaRPr lang="en-US" sz="1100" dirty="0"/>
          </a:p>
        </p:txBody>
      </p:sp>
      <p:sp>
        <p:nvSpPr>
          <p:cNvPr id="37" name="Text 34"/>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أَكْلَتُكُمُ الشَّعْبِيَّةُ؟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عِيدِي المُفَضَّلُ … لِأَنَّ …</a:t>
            </a:r>
            <a:endParaRPr lang="ar-SA" sz="1500" dirty="0"/>
          </a:p>
        </p:txBody>
      </p:sp>
      <p:sp>
        <p:nvSpPr>
          <p:cNvPr id="43" name="Text 40"/>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festival?</a:t>
            </a:r>
            <a:endParaRPr lang="en-US" sz="1100" dirty="0"/>
          </a:p>
        </p:txBody>
      </p:sp>
      <p:sp>
        <p:nvSpPr>
          <p:cNvPr id="44" name="Text 41"/>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عِيدُكَ المُفَضَّلُ؟</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أُرِيدُ أَنْ أُسَافِرَ إِلَى …</a:t>
            </a:r>
            <a:endParaRPr lang="ar-SA" sz="1500" dirty="0"/>
          </a:p>
        </p:txBody>
      </p:sp>
      <p:sp>
        <p:nvSpPr>
          <p:cNvPr id="50" name="Text 47"/>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want to travel?</a:t>
            </a:r>
            <a:endParaRPr lang="en-US" sz="1100" dirty="0"/>
          </a:p>
        </p:txBody>
      </p:sp>
      <p:sp>
        <p:nvSpPr>
          <p:cNvPr id="51" name="Text 48"/>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تُرِيدُ أَنْ تُسَافِرَ؟</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one full sentence for every question — each comes from a different Topic E lesson. If you are stuck: </a:t>
            </a:r>
            <a:pPr algn="l" indent="0" marL="0">
              <a:buNone/>
            </a:pPr>
            <a:r>
              <a:rPr lang="ar-SA" altLang="en-US" sz="1500" b="1" dirty="0">
                <a:solidFill>
                  <a:srgbClr val="1B3B6F"/>
                </a:solidFill>
                <a:latin typeface="Amiri" pitchFamily="2" charset="-78"/>
                <a:ea typeface="Amiri" pitchFamily="2" charset="-78"/>
                <a:cs typeface="Amiri" pitchFamily="2" charset="-78"/>
              </a:rPr>
              <a:t>عَفْوًا، هَلْ يُمْكِنُ أَنْ تُعِيدَ السُّؤَالَ؟</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DEVELOP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Topic conversation — Develop questions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ثَقَافَتِي وَالعَالَمُ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كُنْتُ … أَمَّا الآنَ فَأَدْرُسُ … وَسَأَتَعَلَّمُ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have your languages changed since childhood?</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تَغَيَّرَتْ لُغَاتُكَ مُنْذُ طُفُولَتِكَ؟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أَوَّلًا … بِالإِضَافَةِ إِلَى ذٰلِكَ …</a:t>
            </a:r>
            <a:endParaRPr lang="ar-SA" sz="1500" dirty="0"/>
          </a:p>
        </p:txBody>
      </p:sp>
      <p:sp>
        <p:nvSpPr>
          <p:cNvPr id="27" name="Text 24"/>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hospitality custom in your culture.</a:t>
            </a:r>
            <a:endParaRPr lang="en-US" sz="1100" dirty="0"/>
          </a:p>
        </p:txBody>
      </p:sp>
      <p:sp>
        <p:nvSpPr>
          <p:cNvPr id="28" name="Text 25"/>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عَادَةً مِنْ عَادَاتِ الضِّيَافَةِ فِي ثَقَافَتِكَ.</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زُرْتُ … ؛ فَتَعَلَّمْتُ … وَمَعَ ذٰلِكَ …</a:t>
            </a:r>
            <a:endParaRPr lang="ar-SA" sz="1500" dirty="0"/>
          </a:p>
        </p:txBody>
      </p:sp>
      <p:sp>
        <p:nvSpPr>
          <p:cNvPr id="32" name="Text 29"/>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me about a trip you learnt from.</a:t>
            </a:r>
            <a:endParaRPr lang="en-US" sz="1100" dirty="0"/>
          </a:p>
        </p:txBody>
      </p:sp>
      <p:sp>
        <p:nvSpPr>
          <p:cNvPr id="33" name="Text 30"/>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حَدِّثْنِي عَنْ رِحْلَةٍ تَعَلَّمْتَ مِنْهَا شَيْئًا.</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أَكْبَرُ مِنْ … بَيْنَمَا يُحْتَفَلُ …</a:t>
            </a:r>
            <a:endParaRPr lang="ar-SA" sz="1500" dirty="0"/>
          </a:p>
        </p:txBody>
      </p:sp>
      <p:sp>
        <p:nvSpPr>
          <p:cNvPr id="37" name="Text 34"/>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a celebration here and in your family’s country.</a:t>
            </a:r>
            <a:endParaRPr lang="en-US" sz="1100" dirty="0"/>
          </a:p>
        </p:txBody>
      </p:sp>
      <p:sp>
        <p:nvSpPr>
          <p:cNvPr id="38" name="Text 35"/>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بَيْنَ احْتِفَالٍ هُنَا وَاحْتِفَالٍ فِي بَلَدِ أُسْرَتِكَ.</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أَطْمَحُ إِلَى أَنْ … وَإِذَا …</a:t>
            </a:r>
            <a:endParaRPr lang="ar-SA" sz="1500" dirty="0"/>
          </a:p>
        </p:txBody>
      </p:sp>
      <p:sp>
        <p:nvSpPr>
          <p:cNvPr id="42" name="Text 39"/>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see your future in a connected world?</a:t>
            </a:r>
            <a:endParaRPr lang="en-US" sz="1100" dirty="0"/>
          </a:p>
        </p:txBody>
      </p:sp>
      <p:sp>
        <p:nvSpPr>
          <p:cNvPr id="43" name="Text 40"/>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تَرَى مُسْتَقْبَلَكَ فِي عَالَمٍ مُتَّصِلٍ؟</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two or three sentences — at least two linkers and two time frames per answer.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STRETCH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Topic conversation — Stretch questions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الهُوِيَّةُ وَالثَّقَافَةُ وَالعَالَمُ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 غَيْرَ أَنَّ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we be global citizens and keep our identity?</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نَكُونَ مُوَاطِنِينَ عَالَمِيِّينَ وَنَحْتَفِظَ بِهُوِيَّتِنَا؟</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إِنَّ اللُّغَةَ … ؛ فَإِذَا … شَعَرَ …</a:t>
            </a:r>
            <a:endParaRPr lang="ar-SA" sz="1500" dirty="0"/>
          </a:p>
        </p:txBody>
      </p:sp>
      <p:sp>
        <p:nvSpPr>
          <p:cNvPr id="27" name="Text 24"/>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role do languages play in understanding between peoples?</a:t>
            </a:r>
            <a:endParaRPr lang="en-US" sz="1100" dirty="0"/>
          </a:p>
        </p:txBody>
      </p:sp>
      <p:sp>
        <p:nvSpPr>
          <p:cNvPr id="28" name="Text 25"/>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دَوْرُ اللُّغَاتِ فِي التَّفَاهُمِ بَيْنَ الشُّعُوبِ؟</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 أَجْدَادِي … أَمَّا جِيلُنَا فَيَعِيشُ … مِمَّا …</a:t>
            </a:r>
            <a:endParaRPr lang="ar-SA" sz="1500" dirty="0"/>
          </a:p>
        </p:txBody>
      </p:sp>
      <p:sp>
        <p:nvSpPr>
          <p:cNvPr id="32" name="Text 29"/>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generation’s experience differ from your grandparents’?</a:t>
            </a:r>
            <a:endParaRPr lang="en-US" sz="1100" dirty="0"/>
          </a:p>
        </p:txBody>
      </p:sp>
      <p:sp>
        <p:nvSpPr>
          <p:cNvPr id="33" name="Text 30"/>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اخْتَلَفَتْ تَجْرِبَةُ جِيلِكَ عَنْ تَجْرِبَةِ أَجْدَادِكَ؟</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تَعَلَّمْتُ أَنَّ … ؛ فَعِنْدَمَا …</a:t>
            </a:r>
            <a:endParaRPr lang="ar-SA" sz="1500" dirty="0"/>
          </a:p>
        </p:txBody>
      </p:sp>
      <p:sp>
        <p:nvSpPr>
          <p:cNvPr id="37" name="Text 34"/>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most important lesson from living between two cultures?</a:t>
            </a:r>
            <a:endParaRPr lang="en-US" sz="1100" dirty="0"/>
          </a:p>
        </p:txBody>
      </p:sp>
      <p:sp>
        <p:nvSpPr>
          <p:cNvPr id="38" name="Text 35"/>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دَرْسٍ تَعَلَّمْتَهُ مِنَ العَيْشِ بَيْنَ ثَقَافَتَيْنِ؟</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كَتَبْتُ لَهُ، لَقُلْتُ …</a:t>
            </a:r>
            <a:endParaRPr lang="ar-SA" sz="1500" dirty="0"/>
          </a:p>
        </p:txBody>
      </p:sp>
      <p:sp>
        <p:nvSpPr>
          <p:cNvPr id="42" name="Text 39"/>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wrote to a child arriving in Britain today, what would you say?</a:t>
            </a:r>
            <a:endParaRPr lang="en-US" sz="1100" dirty="0"/>
          </a:p>
        </p:txBody>
      </p:sp>
      <p:sp>
        <p:nvSpPr>
          <p:cNvPr id="43" name="Text 40"/>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كَتَبْتَ رِسَالَةً إِلَى طِفْلٍ يَصِلُ إِلَى بَرِيطَانْيَا اليَوْمَ، مَاذَا تَقُولُ؟</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link identity, languages and the world — a concession, inna + idhā, past vs present with mimmā, a turning point and law … la-.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Core: what a strong answer sounds like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343400" y="2286000"/>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أُسْرَتِي مِنَ الجَزَائِرِ.</a:t>
            </a:r>
            <a:endParaRPr lang="ar-SA" sz="1700" dirty="0"/>
          </a:p>
        </p:txBody>
      </p:sp>
      <p:sp>
        <p:nvSpPr>
          <p:cNvPr id="21" name="Text 18"/>
          <p:cNvSpPr txBox="1"/>
          <p:nvPr/>
        </p:nvSpPr>
        <p:spPr>
          <a:xfrm>
            <a:off x="4297680" y="267699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Algeria.</a:t>
            </a:r>
            <a:endParaRPr lang="en-US" sz="950" dirty="0"/>
          </a:p>
        </p:txBody>
      </p:sp>
      <p:sp>
        <p:nvSpPr>
          <p:cNvPr id="22" name="Text 19"/>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 أَيْنَ أُسْرَتُكَ؟</a:t>
            </a:r>
            <a:endParaRPr lang="ar-SA" sz="15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343400" y="302300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أَتَكَلَّمُ ثَلَاثَ لُغَاتٍ.</a:t>
            </a:r>
            <a:endParaRPr lang="ar-SA" sz="1700" dirty="0"/>
          </a:p>
        </p:txBody>
      </p:sp>
      <p:sp>
        <p:nvSpPr>
          <p:cNvPr id="26" name="Text 23"/>
          <p:cNvSpPr txBox="1"/>
          <p:nvPr/>
        </p:nvSpPr>
        <p:spPr>
          <a:xfrm>
            <a:off x="4297680" y="3414004"/>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Three.</a:t>
            </a:r>
            <a:endParaRPr lang="en-US" sz="950" dirty="0"/>
          </a:p>
        </p:txBody>
      </p:sp>
      <p:sp>
        <p:nvSpPr>
          <p:cNvPr id="27" name="Text 24"/>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كَمْ لُغَةً تَتَكَلَّمُ؟</a:t>
            </a:r>
            <a:endParaRPr lang="ar-SA" sz="15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343400" y="3760013"/>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أَكْلَتُنَا الشَّعْبِيَّةُ الكُسْكُسُ.</a:t>
            </a:r>
            <a:endParaRPr lang="ar-SA" sz="1700" dirty="0"/>
          </a:p>
        </p:txBody>
      </p:sp>
      <p:sp>
        <p:nvSpPr>
          <p:cNvPr id="31" name="Text 28"/>
          <p:cNvSpPr txBox="1"/>
          <p:nvPr/>
        </p:nvSpPr>
        <p:spPr>
          <a:xfrm>
            <a:off x="4297680" y="4151010"/>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Couscous.</a:t>
            </a:r>
            <a:endParaRPr lang="en-US" sz="950" dirty="0"/>
          </a:p>
        </p:txBody>
      </p:sp>
      <p:sp>
        <p:nvSpPr>
          <p:cNvPr id="32" name="Text 29"/>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أَكْلَتُكُمُ الشَّعْبِيَّةُ؟</a:t>
            </a:r>
            <a:endParaRPr lang="ar-SA" sz="15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343400" y="4497019"/>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عِيدِيَ المُفَضَّلُ عِيدُ الأَضْحَى، لِأَنَّ العَائِلَةَ تَجْتَمِعُ.</a:t>
            </a:r>
            <a:endParaRPr lang="ar-SA" sz="1700" dirty="0"/>
          </a:p>
        </p:txBody>
      </p:sp>
      <p:sp>
        <p:nvSpPr>
          <p:cNvPr id="36" name="Text 33"/>
          <p:cNvSpPr txBox="1"/>
          <p:nvPr/>
        </p:nvSpPr>
        <p:spPr>
          <a:xfrm>
            <a:off x="4297680" y="488801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Eid al-Adha — the family gets together.</a:t>
            </a:r>
            <a:endParaRPr lang="en-US" sz="950" dirty="0"/>
          </a:p>
        </p:txBody>
      </p:sp>
      <p:sp>
        <p:nvSpPr>
          <p:cNvPr id="37" name="Text 34"/>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عِيدُكَ المُفَضَّلُ؟</a:t>
            </a:r>
            <a:endParaRPr lang="ar-SA" sz="15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343400" y="523402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أُرِيدُ أَنْ أُسَافِرَ إِلَى اليَابَانِ.</a:t>
            </a:r>
            <a:endParaRPr lang="ar-SA" sz="1700" dirty="0"/>
          </a:p>
        </p:txBody>
      </p:sp>
      <p:sp>
        <p:nvSpPr>
          <p:cNvPr id="41" name="Text 38"/>
          <p:cNvSpPr txBox="1"/>
          <p:nvPr/>
        </p:nvSpPr>
        <p:spPr>
          <a:xfrm>
            <a:off x="4297680" y="5625023"/>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Japan.</a:t>
            </a:r>
            <a:endParaRPr lang="en-US" sz="950" dirty="0"/>
          </a:p>
        </p:txBody>
      </p:sp>
      <p:sp>
        <p:nvSpPr>
          <p:cNvPr id="42" name="Text 39"/>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أَيْنَ تُرِيدُ أَنْ تُسَافِرَ؟</a:t>
            </a:r>
            <a:endParaRPr lang="ar-SA" sz="15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Full sentence + a reason = a secure Core answer on any Topic E theme.</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Develop: what a strong answer sounds like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343400" y="2286000"/>
            <a:ext cx="72969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أَتَكَلَّمُ العَرَبِيَّةَ فِي البَيْتِ فَقَطْ، أَمَّا الآنَ فَأَدْرُسُ بِالإِنْجْلِيزِيَّةِ، وَسَأَتَعَلَّمُ الإِسْبَانِيَّةَ فِي الجَامِعَةِ.</a:t>
            </a:r>
            <a:endParaRPr lang="ar-SA" sz="1600" dirty="0"/>
          </a:p>
        </p:txBody>
      </p:sp>
      <p:sp>
        <p:nvSpPr>
          <p:cNvPr id="21" name="Text 18"/>
          <p:cNvSpPr txBox="1"/>
          <p:nvPr/>
        </p:nvSpPr>
        <p:spPr>
          <a:xfrm>
            <a:off x="4297680" y="267699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spoke Arabic only at home; now I study in English, and I’ll learn Spanish at university.</a:t>
            </a:r>
            <a:endParaRPr lang="en-US" sz="950" dirty="0"/>
          </a:p>
        </p:txBody>
      </p:sp>
      <p:sp>
        <p:nvSpPr>
          <p:cNvPr id="22" name="Text 19"/>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 تَغَيَّرَتْ لُغَاتُكَ مُنْذُ طُفُولَتِكَ؟</a:t>
            </a:r>
            <a:endParaRPr lang="ar-SA" sz="15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343400" y="302300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أَوَّلًا، نُقَدِّمُ القَهْوَةَ وَالتَّمْرَ لِكُلِّ ضَيْفٍ؛ بِالإِضَافَةِ إِلَى ذٰلِكَ، لَا يَخْرُجُ الضَّيْفُ قَبْلَ أَنْ يَأْكُلَ.</a:t>
            </a:r>
            <a:endParaRPr lang="ar-SA" sz="1700" dirty="0"/>
          </a:p>
        </p:txBody>
      </p:sp>
      <p:sp>
        <p:nvSpPr>
          <p:cNvPr id="26" name="Text 23"/>
          <p:cNvSpPr txBox="1"/>
          <p:nvPr/>
        </p:nvSpPr>
        <p:spPr>
          <a:xfrm>
            <a:off x="4297680" y="3414004"/>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offer coffee and dates to every guest; also no guest leaves before eating.</a:t>
            </a:r>
            <a:endParaRPr lang="en-US" sz="950" dirty="0"/>
          </a:p>
        </p:txBody>
      </p:sp>
      <p:sp>
        <p:nvSpPr>
          <p:cNvPr id="27" name="Text 24"/>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 عَادَةً مِنْ عَادَاتِ الضِّيَافَةِ فِي ثَقَافَتِكَ.</a:t>
            </a:r>
            <a:endParaRPr lang="ar-SA" sz="15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343400" y="3760013"/>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زُرْتُ المَغْرِبَ فِي تَبَادُلٍ ثَقَافِيٍّ، فَتَعَلَّمْتُ أَنَّ الكَرَمَ لُغَةٌ عَالَمِيَّةٌ، وَمَعَ ذٰلِكَ كَانَتِ اللَّهْجَةُ صَعْبَةً جِدًّا.</a:t>
            </a:r>
            <a:endParaRPr lang="ar-SA" sz="1700" dirty="0"/>
          </a:p>
        </p:txBody>
      </p:sp>
      <p:sp>
        <p:nvSpPr>
          <p:cNvPr id="31" name="Text 28"/>
          <p:cNvSpPr txBox="1"/>
          <p:nvPr/>
        </p:nvSpPr>
        <p:spPr>
          <a:xfrm>
            <a:off x="4297680" y="4151010"/>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Morocco on an exchange: generosity is a universal language — though the dialect was very hard.</a:t>
            </a:r>
            <a:endParaRPr lang="en-US" sz="950" dirty="0"/>
          </a:p>
        </p:txBody>
      </p:sp>
      <p:sp>
        <p:nvSpPr>
          <p:cNvPr id="32" name="Text 29"/>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حَدِّثْنِي عَنْ رِحْلَةٍ تَعَلَّمْتَ مِنْهَا شَيْئًا.</a:t>
            </a:r>
            <a:endParaRPr lang="ar-SA" sz="15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343400" y="4497019"/>
            <a:ext cx="7296912" cy="42292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العِيدُ فِي الجَزَائِرِ أَكْبَرُ مِنْ هُنَا، بَيْنَمَا يُحْتَفَلُ هُنَا بِلَيْلَةِ الأَلْعَابِ النَّارِيَّةِ فِي الشِّتَاءِ؛ وَكِلَاهُمَا يَجْمَعُ النَّاسَ.</a:t>
            </a:r>
            <a:endParaRPr lang="ar-SA" sz="1450" dirty="0"/>
          </a:p>
        </p:txBody>
      </p:sp>
      <p:sp>
        <p:nvSpPr>
          <p:cNvPr id="36" name="Text 33"/>
          <p:cNvSpPr txBox="1"/>
          <p:nvPr/>
        </p:nvSpPr>
        <p:spPr>
          <a:xfrm>
            <a:off x="4297680" y="488801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Eid in Algeria is bigger than here, whereas here Bonfire Night is celebrated in winter — both bring people together.</a:t>
            </a:r>
            <a:endParaRPr lang="en-US" sz="950" dirty="0"/>
          </a:p>
        </p:txBody>
      </p:sp>
      <p:sp>
        <p:nvSpPr>
          <p:cNvPr id="37" name="Text 34"/>
          <p:cNvSpPr txBox="1"/>
          <p:nvPr/>
        </p:nvSpPr>
        <p:spPr>
          <a:xfrm>
            <a:off x="1051560" y="4478731"/>
            <a:ext cx="310896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قَارِنْ بَيْنَ احْتِفَالٍ هُنَا وَاحْتِفَالٍ فِي بَلَدِ أُسْرَتِكَ.</a:t>
            </a:r>
            <a:endParaRPr lang="ar-SA" sz="145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343400" y="523402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أَطْمَحُ إِلَى أَنْ أَعْمَلَ فِي مُنَظَّمَةٍ دُوَلِيَّةٍ، وَإِذَا نَجَحْتُ فِي ذٰلِكَ، فَسَأَسْتَخْدِمُ لُغَاتِي لِلتَّقْرِيبِ بَيْنَ النَّاسِ.</a:t>
            </a:r>
            <a:endParaRPr lang="ar-SA" sz="1700" dirty="0"/>
          </a:p>
        </p:txBody>
      </p:sp>
      <p:sp>
        <p:nvSpPr>
          <p:cNvPr id="41" name="Text 38"/>
          <p:cNvSpPr txBox="1"/>
          <p:nvPr/>
        </p:nvSpPr>
        <p:spPr>
          <a:xfrm>
            <a:off x="4297680" y="5625023"/>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aspire to work for an international organisation — and if I do, I’ll use my languages to bring people together.</a:t>
            </a:r>
            <a:endParaRPr lang="en-US" sz="950" dirty="0"/>
          </a:p>
        </p:txBody>
      </p:sp>
      <p:sp>
        <p:nvSpPr>
          <p:cNvPr id="42" name="Text 39"/>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 تَرَى مُسْتَقْبَلَكَ فِي عَالَمٍ مُتَّصِلٍ؟</a:t>
            </a:r>
            <a:endParaRPr lang="ar-SA" sz="15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Linkers + several time frames = a strong Develop answer on any Topic E theme.</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STRETCH ·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Stretch: what a strong answer sounds like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343400" y="2286000"/>
            <a:ext cx="7296912" cy="453542"/>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صَحِيحٌ أَنَّ العَالَمَ يَدْفَعُنَا نَحْوَ التَّشَابُهِ، غَيْرَ أَنَّ الهُوِيَّةَ القَوِيَّةَ هِيَ الَّتِي تَجْعَلُ مُشَارَكَتَنَا فِي العَالَمِ ذَاتَ قِيمَةٍ؛ فَالجِذْرُ لَا يَمْنَعُ الشَّجَرَةَ مِنَ النُّمُوِّ.</a:t>
            </a:r>
            <a:endParaRPr lang="ar-SA" sz="1200" dirty="0"/>
          </a:p>
        </p:txBody>
      </p:sp>
      <p:sp>
        <p:nvSpPr>
          <p:cNvPr id="21" name="Text 18"/>
          <p:cNvSpPr txBox="1"/>
          <p:nvPr/>
        </p:nvSpPr>
        <p:spPr>
          <a:xfrm>
            <a:off x="4297680" y="2706624"/>
            <a:ext cx="7388352" cy="277978"/>
          </a:xfrm>
          <a:prstGeom prst="rect">
            <a:avLst/>
          </a:prstGeom>
          <a:noFill/>
          <a:ln/>
        </p:spPr>
        <p:txBody>
          <a:bodyPr wrap="square" lIns="0" tIns="0" rIns="0" bIns="0" rtlCol="0" anchor="ctr"/>
          <a:lstStyle/>
          <a:p>
            <a:pPr algn="ctr" indent="0" marL="0">
              <a:buNone/>
            </a:pPr>
            <a:r>
              <a:rPr lang="en-US" sz="900" i="1" dirty="0">
                <a:solidFill>
                  <a:srgbClr val="5A6472"/>
                </a:solidFill>
                <a:latin typeface="Calibri" pitchFamily="34" charset="0"/>
                <a:cs typeface="Amiri" pitchFamily="2" charset="-78"/>
              </a:rPr>
              <a:t>The world pushes us towards sameness, but a strong identity gives our global contribution value — roots don’t stop a tree growing.</a:t>
            </a:r>
            <a:endParaRPr lang="en-US" sz="900" dirty="0"/>
          </a:p>
        </p:txBody>
      </p:sp>
      <p:sp>
        <p:nvSpPr>
          <p:cNvPr id="22" name="Text 19"/>
          <p:cNvSpPr txBox="1"/>
          <p:nvPr/>
        </p:nvSpPr>
        <p:spPr>
          <a:xfrm>
            <a:off x="1051560" y="2267712"/>
            <a:ext cx="31089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هَلْ يُمْكِنُ أَنْ نَكُونَ مُوَاطِنِينَ عَالَمِيِّينَ وَنَحْتَفِظَ بِهُوِيَّتِنَا؟</a:t>
            </a:r>
            <a:endParaRPr lang="ar-SA" sz="14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343400" y="3072384"/>
            <a:ext cx="7296912" cy="4535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إِنَّ اللُّغَةَ مِفْتَاحُ القَلْبِ لَا العَقْلِ فَقَطْ؛ فَإِذَا كَلَّمْتَ إِنْسَانًا بِلُغَتِهِ، شَعَرَ بِأَنَّكَ تَحْتَرِمُهُ قَبْلَ أَنْ يَسْمَعَ أَفْكَارَكَ.</a:t>
            </a:r>
            <a:endParaRPr lang="ar-SA" sz="1500" dirty="0"/>
          </a:p>
        </p:txBody>
      </p:sp>
      <p:sp>
        <p:nvSpPr>
          <p:cNvPr id="26" name="Text 23"/>
          <p:cNvSpPr txBox="1"/>
          <p:nvPr/>
        </p:nvSpPr>
        <p:spPr>
          <a:xfrm>
            <a:off x="4297680" y="3493008"/>
            <a:ext cx="7388352" cy="277978"/>
          </a:xfrm>
          <a:prstGeom prst="rect">
            <a:avLst/>
          </a:prstGeom>
          <a:noFill/>
          <a:ln/>
        </p:spPr>
        <p:txBody>
          <a:bodyPr wrap="square" lIns="0" tIns="0" rIns="0" bIns="0" rtlCol="0" anchor="ctr"/>
          <a:lstStyle/>
          <a:p>
            <a:pPr algn="ctr" indent="0" marL="0">
              <a:buNone/>
            </a:pPr>
            <a:r>
              <a:rPr lang="en-US" sz="850" i="1" dirty="0">
                <a:solidFill>
                  <a:srgbClr val="5A6472"/>
                </a:solidFill>
                <a:latin typeface="Calibri" pitchFamily="34" charset="0"/>
                <a:cs typeface="Amiri" pitchFamily="2" charset="-78"/>
              </a:rPr>
              <a:t>Language is the key to the heart, not just the mind: speak to someone in their language and they feel respected before hearing your ideas.</a:t>
            </a:r>
            <a:endParaRPr lang="en-US" sz="850" dirty="0"/>
          </a:p>
        </p:txBody>
      </p:sp>
      <p:sp>
        <p:nvSpPr>
          <p:cNvPr id="27" name="Text 24"/>
          <p:cNvSpPr txBox="1"/>
          <p:nvPr/>
        </p:nvSpPr>
        <p:spPr>
          <a:xfrm>
            <a:off x="1051560" y="3054096"/>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دَوْرُ اللُّغَاتِ فِي التَّفَاهُمِ بَيْنَ الشُّعُوبِ؟</a:t>
            </a:r>
            <a:endParaRPr lang="ar-SA" sz="15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343400" y="3858768"/>
            <a:ext cx="7296912" cy="453542"/>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كَانَ أَجْدَادِي يَعِيشُونَ فِي قَرْيَةٍ وَاحِدَةٍ طُولَ حَيَاتِهِمْ، أَمَّا جِيلُنَا فَيَعِيشُ بَيْنَ بُلْدَانٍ وَلُغَاتٍ، مِمَّا يُعْطِينَا فُرَصًا أَكْثَرَ وَأَسْئِلَةً أَصْعَبَ عَنِ الانْتِمَاءِ.</a:t>
            </a:r>
            <a:endParaRPr lang="ar-SA" sz="1200" dirty="0"/>
          </a:p>
        </p:txBody>
      </p:sp>
      <p:sp>
        <p:nvSpPr>
          <p:cNvPr id="31" name="Text 28"/>
          <p:cNvSpPr txBox="1"/>
          <p:nvPr/>
        </p:nvSpPr>
        <p:spPr>
          <a:xfrm>
            <a:off x="4297680" y="4279392"/>
            <a:ext cx="7388352" cy="277978"/>
          </a:xfrm>
          <a:prstGeom prst="rect">
            <a:avLst/>
          </a:prstGeom>
          <a:noFill/>
          <a:ln/>
        </p:spPr>
        <p:txBody>
          <a:bodyPr wrap="square" lIns="0" tIns="0" rIns="0" bIns="0" rtlCol="0" anchor="ctr"/>
          <a:lstStyle/>
          <a:p>
            <a:pPr algn="ctr" indent="0" marL="0">
              <a:buNone/>
            </a:pPr>
            <a:r>
              <a:rPr lang="en-US" sz="850" i="1" dirty="0">
                <a:solidFill>
                  <a:srgbClr val="5A6472"/>
                </a:solidFill>
                <a:latin typeface="Calibri" pitchFamily="34" charset="0"/>
                <a:cs typeface="Amiri" pitchFamily="2" charset="-78"/>
              </a:rPr>
              <a:t>My grandparents lived in one village all their lives; our generation lives between countries and languages, giving us more chances and harder questions about belonging.</a:t>
            </a:r>
            <a:endParaRPr lang="en-US" sz="850" dirty="0"/>
          </a:p>
        </p:txBody>
      </p:sp>
      <p:sp>
        <p:nvSpPr>
          <p:cNvPr id="32" name="Text 29"/>
          <p:cNvSpPr txBox="1"/>
          <p:nvPr/>
        </p:nvSpPr>
        <p:spPr>
          <a:xfrm>
            <a:off x="1051560" y="3840480"/>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 اخْتَلَفَتْ تَجْرِبَةُ جِيلِكَ عَنْ تَجْرِبَةِ أَجْدَادِكَ؟</a:t>
            </a:r>
            <a:endParaRPr lang="ar-SA" sz="15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ṣaḥīḥun anna … ghayra anna, inna … lā … faqaṭ, mimmā, laysat … bal, imperatives and law … la- — range is rewarded.</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STRETCH ·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Stretch: what a strong answer sounds like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343400" y="2286000"/>
            <a:ext cx="7296912" cy="45354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ea typeface="Amiri" pitchFamily="2" charset="-78"/>
                <a:cs typeface="Amiri" pitchFamily="2" charset="-78"/>
              </a:rPr>
              <a:t>تَعَلَّمْتُ أَنَّ "مُخْتَلِفٌ" لَا تَعْنِي "أَسْوَأَ"؛ فَعِنْدَمَا ضَحِكْتُ مِنْ عَادَةٍ إِنْجْلِيزِيَّةٍ، ضَحِكَ زُمَلَائِي مِنْ عَادَةٍ عِنْدَنَا، فَفَهِمْنَا مَعًا أَنَّ لِكُلِّ عَادَةٍ سَبَبًا.</a:t>
            </a:r>
            <a:endParaRPr lang="ar-SA" sz="1200" dirty="0"/>
          </a:p>
        </p:txBody>
      </p:sp>
      <p:sp>
        <p:nvSpPr>
          <p:cNvPr id="21" name="Text 18"/>
          <p:cNvSpPr txBox="1"/>
          <p:nvPr/>
        </p:nvSpPr>
        <p:spPr>
          <a:xfrm>
            <a:off x="4297680" y="2706624"/>
            <a:ext cx="7388352" cy="277978"/>
          </a:xfrm>
          <a:prstGeom prst="rect">
            <a:avLst/>
          </a:prstGeom>
          <a:noFill/>
          <a:ln/>
        </p:spPr>
        <p:txBody>
          <a:bodyPr wrap="square" lIns="0" tIns="0" rIns="0" bIns="0" rtlCol="0" anchor="ctr"/>
          <a:lstStyle/>
          <a:p>
            <a:pPr algn="ctr" indent="0" marL="0">
              <a:buNone/>
            </a:pPr>
            <a:r>
              <a:rPr lang="en-US" sz="850" i="1" dirty="0">
                <a:solidFill>
                  <a:srgbClr val="5A6472"/>
                </a:solidFill>
                <a:latin typeface="Calibri" pitchFamily="34" charset="0"/>
                <a:cs typeface="Amiri" pitchFamily="2" charset="-78"/>
              </a:rPr>
              <a:t>“Different” doesn’t mean “worse”: when I laughed at an English custom, my classmates laughed at one of ours — and together we understood every custom has a reason.</a:t>
            </a:r>
            <a:endParaRPr lang="en-US" sz="850" dirty="0"/>
          </a:p>
        </p:txBody>
      </p:sp>
      <p:sp>
        <p:nvSpPr>
          <p:cNvPr id="22" name="Text 19"/>
          <p:cNvSpPr txBox="1"/>
          <p:nvPr/>
        </p:nvSpPr>
        <p:spPr>
          <a:xfrm>
            <a:off x="1051560" y="2267712"/>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أَهَمُّ دَرْسٍ تَعَلَّمْتَهُ مِنَ العَيْشِ بَيْنَ ثَقَافَتَيْنِ؟</a:t>
            </a:r>
            <a:endParaRPr lang="ar-SA" sz="15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343400" y="3072384"/>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كَتَبْتُ لَهُ، لَقُلْتُ: "تَعَلَّمْ لُغَتَهُمْ، وَلَا تَنْسَ لُغَتَكَ؛ وَاحْمِلْ عَادَاتِكَ مَعَكَ كَهَدِيَّةٍ لَا كَحِمْلٍ ثَقِيلٍ".</a:t>
            </a:r>
            <a:endParaRPr lang="ar-SA" sz="1700" dirty="0"/>
          </a:p>
        </p:txBody>
      </p:sp>
      <p:sp>
        <p:nvSpPr>
          <p:cNvPr id="26" name="Text 23"/>
          <p:cNvSpPr txBox="1"/>
          <p:nvPr/>
        </p:nvSpPr>
        <p:spPr>
          <a:xfrm>
            <a:off x="4297680" y="3493008"/>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“Learn their language and don’t forget yours; carry your customs as a gift, not a heavy load.”</a:t>
            </a:r>
            <a:endParaRPr lang="en-US" sz="950" dirty="0"/>
          </a:p>
        </p:txBody>
      </p:sp>
      <p:sp>
        <p:nvSpPr>
          <p:cNvPr id="27" name="Text 24"/>
          <p:cNvSpPr txBox="1"/>
          <p:nvPr/>
        </p:nvSpPr>
        <p:spPr>
          <a:xfrm>
            <a:off x="1051560" y="3054096"/>
            <a:ext cx="31089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لَوْ كَتَبْتَ رِسَالَةً إِلَى طِفْلٍ يَصِلُ إِلَى بَرِيطَانْيَا اليَوْمَ، مَاذَا تَقُولُ؟</a:t>
            </a:r>
            <a:endParaRPr lang="ar-SA" sz="14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ṣaḥīḥun anna … ghayra anna, inna … lā … faqaṭ, mimmā, laysat … bal, imperatives and law … la- — range is rewarded.</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Speaking workshop · TE-L11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on languages, food, festivals and travel.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reason in every answer.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different linking words.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past, present and future in one answer.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switched register correctly and used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speaking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TE-L11 · Writing workshop · Form filling, directed writing and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 the role play answer EVERY task; in the conversation, develop every answer.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TE-L11 · Speaking Workshop —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2026-10-11T18:15:03Z</dcterms:created>
  <dcterms:modified xsi:type="dcterms:W3CDTF">2026-10-11T18:15:03Z</dcterms:modified>
</cp:coreProperties>
</file>