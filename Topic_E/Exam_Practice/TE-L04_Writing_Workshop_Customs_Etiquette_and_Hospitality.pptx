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4 (Customs, Etiquette and Hospitality, TE-L04).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6 takes a verbal noun (khalʿ), box 7 an imperative — point out the difference. Box 8: akthar +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اُنْصُحِيهَا (advise her! — imperative) · قَارِنِي (compare!) · سَتَفْعَلَانِ (you two will do — FUTURE dual) · اسْأَلِيهَا (ask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(86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present-tense customs, inna in reported speech (taqūlu inna …), afʿal min (aqṣaru min), akthar + accusative (difʾan, tanẓīman), a past visit, imperative + negative imperative, and sa- with li-anna.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a proverb hook, a ḥīna clause, laysat mujarrada … bal, three maṣdar clauses with an / allā … illā, hādhihi vs tilka with baynamā, iḥdāhumā afḍalu min al-ukhrā, three imperatives, and law … la-.
ENGLISH SUMMARY (read aloud or paste in the chat for Core students): Grandpa always says “a guest who enters our home becomes its owner” — I understood when I saw him give his room to a stranger and sleep in the lounge on a simple mattress! → hospitality is not just food but a set of manners: welcoming before the guest knocks, serving coffee with your right hand, not asking why they came until after three days, as the Bedouin did → compared with British hospitality, that one is more organised and respectful of privacy, ours warmer and more spontaneous; neither is better — each has its beauty and something to teach us → so my advice: accept the coffee, don’t refuse food the first time, don’t forget to praise the cooking and thank the host when leaving; “if people applied the best of both cultures, every guest would truly own the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ṣāra + present, a rhetorical question, yaṣʿubu ʿalā … an, a relative clause with fīhā, laysa fī … bal fī, lam nuqaddim … bal, reported speech with inna, a superlative of time and idhā … fa-sa- with afʿal (adfaʾ).
ENGLISH SUMMARY (read aloud or paste in the chat for Core students): In an age of fast food and short messages, many young people find traditional hospitality tiring and old-fashioned — does it still matter? → it is hard for families where both parents work to cook big feasts or host unannounced guests; yet the heart of hospitality lies not in quantity of food but in respect and care, which need neither time nor money → I learnt this when a Syrian refugee family arrived on our street: we offered not a feast but a cup of tea, a smile and help registering the children at school; a year later the mother said that cup was the first thing that made her feel safe → the form of hospitality changes, but its spirit matters more than ever; “if we keep this spirit, the world will stay a warmer place for strangers”.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Customs, Etiquette and Hospitality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العَادَاتُ وَآدَابُ الضِّيَافَةِ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homestay host-family form, write an email advising a friend before she visits your family abroad (imperatives in the feminine), and write an extended piece about hospitality in your culture or about whether traditional etiquette still matters.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TE-L04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giving advice before a visit.</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the imperative for the person you address: m. iqbal, f. iqbalī, pl. iqbalū; the negative is lā + jussive (lā tarfuḍī, NOT lā tarfuḍīna); after akthar the noun is accusative (akthar difʾan); afʿal min does not change for gender (aḍ-ḍiyāfa akramu min …).</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اِخْلَعِي حِذَاءَكِ عِنْدَ البَابِ، وَلَا تَرْفُضِي القَهْوَةَ</a:t>
            </a:r>
            <a:endParaRPr lang="ar-SA" sz="23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take off your shoes at the door, and don’t refuse the coffee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الضِّيَافَةُ العَرَبِيَّةُ أَكْثَرُ دِفْئًا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Arab hospitality is warmer</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الزِّيَارَاتُ هُنَا أَقْصَرُ مِنْ زِيَارَاتِنَا</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visits here are shorter than ours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Homestay host-family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العَائِلَةِ المُضِيفَةِ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العَائِلَةِ</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المَدِينَةُ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family members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أَفْرَادِ الأُسْرَةِ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Home language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لُغَةُ البَيْتِ</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traditional meal</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وَجْبَةٌ تَقْلِيدِيَّةٌ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house custom</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عَادَةٌ فِي البَيْتِ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Advice for the guest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نَصِيحَةٌ لِلضَّيْفِ</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how your hospitality is different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كَيْفَ تَخْتَلِفُ ضِيَافَتُكُمْ؟</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 7 is an imperative; the last box is a full sentence with a comparison.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Homestay host-family form: model answers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Al-Husseini family</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عَائِلَةُ الحُسَيْنِيِّ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العَائِلَةِ</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Amman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عَمَّانُ</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المَدِينَةُ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أَفْرَادِ الأُسْرَةِ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العَرَبِيَّةُ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لُغَةُ البَيْتِ</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mansaf</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المَنْسَفُ</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وَجْبَةٌ تَقْلِيدِيَّةٌ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taking shoes off</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خَلْعُ الأَحْذِيَةِ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عَادَةٌ فِي البَيْتِ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accept the coffee</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اِقْبَلِ القَهْوَةَ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نَصِيحَةٌ لِلضَّيْفِ</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Our hospitality is warmer and less formal than British hospitality.</a:t>
            </a:r>
            <a:endParaRPr lang="en-US" sz="10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ضِيَافَتُنَا أَكْثَرُ دِفْئًا وَأَقَلُّ رَسْمِيَّةً مِنَ الضِّيَافَةِ البَرِيطَانِيَّةِ.</a:t>
            </a:r>
            <a:endParaRPr lang="ar-SA" sz="15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كَيْفَ تَخْتَلِفُ ضِيَافَتُكُمْ؟</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Question 2: advice for my friend’s visit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نَصَائِحُ قَبْلَ الزِّيَارَةِ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an email in Arabic to a friend of about 80–90 words. You must include: • where your friend is going and who she will meet • advice about behaviour in the house (imperatives) • a comparison between customs there and here • your opinion, what you will do together, and a question.</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three feminine imperatives.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comparison (akthar … min).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سَتَزُورِينَ بَيْتَ جَدِّي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will visit my grandfather’s house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اِخْلَعِي … وَكُلِي … وَلَا تَرْفُضِي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take off … eat … don’t refuse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يَأْكُلُ النَّاسُ هُنَاكَ أَكْثَرَ مِنْ هُنَا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 there eat more than here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أَظُنُّ أَنَّ الضِّيَافَةَ هُنَاكَ أَجْمَلُ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think hospitality there is nicer</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before she visits your family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صَدِيقَتِكِ قَبْلَ زِيَارَتِهَا لِأُسْرَتِكِ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she is going; who she will meet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سَتَذْهَبُ صَدِيقَتُكِ؟ وَمَنْ سَتُقَابِلُ؟</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her on behaviour in the house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اُنْصُحِيهَا: كَيْفَ تَتَصَرَّفُ فِي البَيْتِ؟</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customs there and here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قَارِنِي بَيْنَ العَادَاتِ هُنَاكَ وَهُنَا.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what you’ll do together;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وَمَاذَا سَتَفْعَلَانِ مَعًا؟ وَاسْأَلِيهَا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You’ll visit …’s house in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سَتَزُورِينَ بَيْتَ ______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Take off …, and don’t refuse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اِخْلَعِي ______ ، وَلَا تَرْفُضِي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there eat more than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هُنَاكَ يَأْكُلُ النَّاسُ أَكْثَرَ مِنْ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 We’ll cook … together.</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أَظُنُّ أَنَّ ______ . سَنَطْبُخُ ______ مَعًا.</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هَانَا،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أَنَا سَعِيدَةٌ جِدًّا، لِأَنَّكِ سَتَزُورِينَ بَيْتَ جَدِّي فِي عَمَّانَ مَعَنَا فِي الصَّيْفِ! جَدِّي وَجَدَّتِي كَرِيمَانِ جِدًّا، وَهُمَا يُحِبَّانِ الضُّيُوفَ. هٰذِهِ بَعْضُ النَّصَائِحِ: اِخْلَعِي حِذَاءَكِ عِنْدَ البَابِ، وَكُلِي بِيَدِكِ اليُمْنَى. لَا تَرْفُضِي القَهْوَةَ، وَقُولِي "سُفْرَةٌ دَائِمَةٌ" بَعْدَ الأَكْلِ. فِي الأُرْدُنِّ يَأْكُلُ النَّاسُ أَكْثَرَ مِنْ هُنَا، لِذٰلِكَ لَا تَأْكُلِي كَثِيرًا قَبْلَ الزِّيَارَةِ! أَظُنُّ أَنَّ الضِّيَافَةَ هُنَاكَ أَجْمَلُ، لِأَنَّهَا دَافِئَةٌ جِدًّا. سَنَطْبُخُ المَنْسَفَ مَعًا. هَلْ عِنْدَكِ أَسْئِلَةٌ؟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أَمِينَةُ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Hannah, how are you? I’m so happy you’ll visit my grandfather’s house in Amman with us this summer! My grandparents are very generous and love guests. Here is some advice: take off your shoes at the door and eat with your right hand. Don’t refuse the coffee, and say ‘sufra dāʾima’ after eating. In Jordan people eat more than here, so don’t eat a lot before the visit! I think hospitality there is nicer, because it’s so warm. We’ll cook mansaf together. Do you have any questions? Goodbye, Amina.”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اِخْلَعِي حِذَاءَكِ</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تَرْفُضِي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مِنْ هُنَا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تَأْكُلِي كَثِيرًا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هَانَا،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مَا أَجْمَلَ خَبَرَ زِيَارَتِكِ لِبَيْتِ جَدِّي فِي عَمَّانَ هٰذَا الصَّيْفَ! وَلِأَنَّ عَادَاتِ الضِّيَافَةِ هُنَاكَ تَخْتَلِفُ عَنْ عَادَاتِكُمْ، إِلَيْكِ بَعْضَ النَّصَائِحِ. اِخْلَعِي حِذَاءَكِ عِنْدَ البَابِ، وَصَافِحِي جَدَّتِي أَوَّلًا، فَهِيَ الأَكْبَرُ سِنًّا. وَإِذَا قَدَّمُوا لَكِ القَهْوَةَ، فَاقْبَلِيهَا بِيَدِكِ اليُمْنَى، وَهُزِّي الفِنْجَانَ عِنْدَمَا تَكْتَفِينَ. أَمَّا الطَّعَامُ، فَلَا تَقُولِي "لَا، شُكْرًا" مِنَ المَرَّةِ الأُولَى، لِأَنَّهُمْ سَيُصِرُّونَ ثَلَاثَ مَرَّاتٍ عَلَى الأَقَلِّ! صَحِيحٌ أَنَّ هٰذَا قَدْ يَبْدُو غَرِيبًا، غَيْرَ أَنَّ الضِّيَافَةَ عِنْدَنَا أَكْثَرُ دِفْئًا وَأَقَلُّ رَسْمِيَّةً مِمَّا تَعَوَّدْتِ عَلَيْهِ. وَإِذَا أَرَدْتِ، فَسَأُعَلِّمُكِ عِبَارَاتِ المُجَامَلَةِ قَبْلَ السَّفَرِ. مَا رَأْيُكِ؟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أَمِينَةُ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Hannah, what lovely news that you’re visiting my grandfather’s house in Amman this summer! Since hospitality customs there differ from yours, here is some advice. Take your shoes off at the door, and greet my grandmother first, as she is the eldest. If they offer you coffee, take it with your right hand and shake the cup when you’ve had enough. As for food, don’t say ‘no thanks’ the first time, because they’ll insist at least three times! This may seem strange, but our hospitality is warmer and less formal than what you’re used to. If you like, I’ll teach you the courtesy phrases before the trip. What do you think? With love, Amina.”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أَجْمَلَ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إِلَيْكِ بَعْضَ النَّصَائِحِ</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قَدَّمُوا … فَاقْبَلِيهَا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دِفْئًا وَأَقَلُّ رَسْمِيَّةً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Hospitality in my culture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الضِّيَافَةُ فِي ثَقَافَتِي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welcome guests · house and food customs · a comparison with another culture · advice for guests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كَيْفَ تَسْتَقْبِلُونَ الضُّيُوفَ · عَادَاتُ البَيْتِ وَالطَّعَامِ · مُقَارَنَةٌ بِثَقَافَةٍ أُخْرَى · نَصَائِحُ لِلضَّيْفِ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traditional hospitality etiquette still matter?</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مَا زَالَتْ آدَابُ الضِّيَافَةِ التَّقْلِيدِيَّةُ مُهِمَّةً؟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today’s difficulties and the heart of hospitality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الصُّعُوبَاتُ اليَوْمَ وَجَوْهَرُ الضِّيَافَةِ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Welcome — ʿindamā yazurunā ḍayfun, nuraḥḥibu bihi …; thumma nuqaddimu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House customs — fī bayti jaddī …; jaddatī taṭbukhu kathīran li-annahā …; nakhlaʿu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Comparison — fī barīṭāniyā …; az-ziyārātu aqṣaru min …; akthar difʾan / akthar tanẓīman</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Advice + future — naṣīḥatī: imdaḥ …, wa-lā tarfuḍ …; sa-astaqbilu ḍuyūfī …; Stretch: laysat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نُرَحِّبُ بِالضَّيْفِ، ثُمَّ نُقَدِّمُ القَهْوَةَ.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we welcome, then serve coffee.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الزِّيَارَاتُ هُنَا أَقْصَرُ مِنْ زِيَارَاتِنَا.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comparison: visits here are shorter.</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اِمْدَحِ الطَّعَامَ، وَلَا تَرْفُضِ القَهْوَةَ.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advice: praise the food; accept coffee.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ثَقَافَتِي العَرَبِيَّةِ، الضَّيْفُ مُهِمٌّ جِدًّا. عِنْدَمَا يَزُورُنَا ضَيْفٌ، نُرَحِّبُ بِهِ بِحَرَارَةٍ وَنَقُولُ: "أَهْلًا وَسَهْلًا، تَفَضَّلْ". ثُمَّ نُقَدِّمُ لَهُ القَهْوَةَ العَرَبِيَّةَ وَالتَّمْرَ، وَبَعْدَ ذٰلِكَ الطَّعَامَ.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بَيْتِ جَدِّي فِي عَمَّانَ، نَجْلِسُ عَلَى الأَرْضِ وَنَأْكُلُ المَنْسَفَ مَعًا. جَدَّتِي تَطْبُخُ كَثِيرًا جِدًّا، لِأَنَّهَا تَقُولُ إِنَّ الطَّعَامَ القَلِيلَ عَيْبٌ. نَخْلَعُ الأَحْذِيَةَ عِنْدَ البَابِ، وَنَأْكُلُ بِاليَدِ اليُمْنَى، وَهٰذَا مِنَ الأَدَبِ.</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بَرِيطَانْيَا، الضِّيَافَةُ مُخْتَلِفَةٌ. هُنَا يَتَّصِلُ النَّاسُ قَبْلَ الزِّيَارَةِ، وَالزِّيَارَاتُ أَقْصَرُ مِنْ زِيَارَاتِنَا. أَظُنُّ أَنَّ الضِّيَافَةَ العَرَبِيَّةَ أَكْثَرُ دِفْئًا، لٰكِنَّ الضِّيَافَةَ البَرِيطَانِيَّةَ أَكْثَرُ تَنْظِيمًا. فِي السَّنَةِ المَاضِيَةِ زَارَتْنَا صَدِيقَتِي الإِنْجْلِيزِيَّةُ، وَأَحَبَّتْ طَعَامَنَا كَثِيرًا، وَطَلَبَتْ وَصْفَةَ المَنْسَفِ مِنْ أُمِّي.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نَصِيحَتِي لِأَيِّ ضَيْفٍ: اِمْدَحِ الطَّعَامَ، وَلَا تَرْفُضِ القَهْوَةَ. فِي المُسْتَقْبَلِ سَأَسْتَقْبِلُ ضُيُوفِي مِثْلَ جَدِّي، لِأَنَّ الكَرَمَ جُزْءٌ مِنْ هُوِيَّتِي.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Guests matter: we say “ahlan wa-sahlan, tafaḍḍal”, then serve coffee, dates and food → at grandpa’s in Amman we sit on the floor and eat mansaf; grandma cooks a lot as too little food is shameful; shoes off, right hand → British visits are arranged and shorter: ours are warmer, theirs more organised → my advice: praise the food, don’t refuse coffee; I’ll host like grandpa.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نُرَحِّبُ بِهِ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أَقْصَرُ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دِفْئًا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تَرْفُضِ القَهْوَةَ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يَقُولُ جَدِّي دَائِمًا: "الضَّيْفُ إِذَا دَخَلَ بَيْتَنَا صَارَ صَاحِبَهُ". وَقَدْ فَهِمْتُ مَعْنَى هٰذِهِ الجُمْلَةِ حِينَ رَأَيْتُهُ يُعْطِي غُرْفَتَهُ لِضَيْفٍ غَرِيبٍ، وَيَنَامُ هُوَ فِي الصَّالَةِ عَلَى فِرَاشٍ بَسِيطٍ!</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فَالضِّيَافَةُ فِي ثَقَافَتِنَا لَيْسَتْ مُجَرَّدَ طَعَامٍ، بَلْ هِيَ مَجْمُوعَةٌ مِنَ الآدَابِ: أَنْ تُرَحِّبَ بِالضَّيْفِ قَبْلَ أَنْ يَطْرُقَ البَابَ، وَأَنْ تُقَدِّمَ لَهُ القَهْوَةَ بِيَمِينِكَ، وَأَلَّا تَسْأَلَهُ عَنْ سَبَبِ زِيَارَتِهِ إِلَّا بَعْدَ ثَلَاثَةِ أَيَّامٍ، كَمَا كَانَ يَفْعَلُ البَدْوُ قَدِيمًا.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وَحِينَ أُقَارِنُهَا بِالضِّيَافَةِ البَرِيطَانِيَّةِ، أَجِدُ أَنَّ هٰذِهِ أَكْثَرُ تَنْظِيمًا وَاحْتِرَامًا لِخُصُوصِيَّةِ الآخَرِينَ، بَيْنَمَا تِلْكَ أَكْثَرُ دِفْئًا وَعَفْوِيَّةً. وَلَا أَرَى أَنَّ إِحْدَاهُمَا أَفْضَلُ مِنَ الأُخْرَى؛ فَلِكُلٍّ مِنْهُمَا جَمَالُهَا، وَلِكُلٍّ مِنْهُمَا مَا يُمْكِنُ أَنْ نَتَعَلَّمَهُ.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وَلِذٰلِكَ أَنْصَحُ كُلَّ مَنْ يَزُورُ بَيْتًا عَرَبِيًّا: اِقْبَلِ القَهْوَةَ، وَلَا تَرْفُضِ الطَّعَامَ مِنَ المَرَّةِ الأُولَى، وَلَا تَنْسَ أَنْ تَمْدَحَ الطَّبْخَ وَتَشْكُرَ المُضِيفَ عِنْدَ الخُرُوجِ. وَلَوْ طَبَّقَ النَّاسُ أَجْمَلَ مَا فِي الثَّقَافَتَيْنِ، لَأَصْبَحَ كُلُّ ضَيْفٍ صَاحِبَ بَيْتٍ حَقًّا.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لَيْسَتْ مُجَرَّدَ … بَلْ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أَلَّا تَسْأَلَهُ … إِلَّا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هٰذِهِ … بَيْنَمَا تِلْكَ</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طَبَّقَ … لَأَصْبَحَ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ea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does old etiquette still matter?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فِي زَمَنِ الوَجَبَاتِ السَّرِيعَةِ وَالرَّسَائِلِ القَصِيرَةِ، صَارَ كَثِيرٌ مِنَ الشَّبَابِ يَرَوْنَ أَنَّ آدَابَ الضِّيَافَةِ التَّقْلِيدِيَّةَ مُتْعِبَةٌ وَقَدِيمَةٌ. فَهَلْ مَا زَالَتْ هٰذِهِ الآدَابُ مُهِمَّةً فِي عَالَمِنَا اليَوْمَ؟</a:t>
            </a:r>
            <a:endParaRPr lang="ar-SA" sz="1850" dirty="0"/>
          </a:p>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مِنْ نَاحِيَةٍ، يَصْعُبُ عَلَى العَائِلَاتِ الَّتِي يَعْمَلُ فِيهَا الوَالِدَانِ أَنْ تَطْبُخَ وَلَائِمَ كَبِيرَةً، أَوْ أَنْ تَسْتَقْبِلَ ضُيُوفًا بِلَا مَوْعِدٍ. وَمِنْ نَاحِيَةٍ أُخْرَى، فَإِنَّ جَوْهَرَ الضِّيَافَةِ لَيْسَ فِي كَثْرَةِ الطَّعَامِ، بَلْ فِي الاحْتِرَامِ وَالاهْتِمَامِ بِالآخَرِ، وَهٰذَا لَا يَحْتَاجُ إِلَى وَقْتٍ أَوْ مَالٍ.</a:t>
            </a:r>
            <a:endParaRPr lang="ar-SA" sz="1850" dirty="0"/>
          </a:p>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وَقَدْ تَعَلَّمْتُ هٰذَا الدَّرْسَ عِنْدَمَا وَصَلَتْ إِلَى شَارِعِنَا عَائِلَةٌ سُورِيَّةٌ لَاجِئَةٌ؛ فَلَمْ نُقَدِّمْ لَهُمْ وَلِيمَةً، بَلْ كُوبَ شَايٍ وَابْتِسَامَةً وَمُسَاعَدَةً فِي تَسْجِيلِ الأَطْفَالِ فِي المَدْرَسَةِ. وَبَعْدَ سَنَةٍ، قَالَتْ لَنَا الأُمُّ إِنَّ ذٰلِكَ الكُوبَ كَانَ أَوَّلَ شَيْءٍ جَعَلَهَا تَشْعُرُ بِالأَمَانِ.</a:t>
            </a:r>
            <a:endParaRPr lang="ar-SA" sz="1850" dirty="0"/>
          </a:p>
          <a:p>
            <a:pPr rtl="1" algn="r" indent="0" marL="0">
              <a:lnSpc>
                <a:spcPct val="120000"/>
              </a:lnSpc>
              <a:buNone/>
            </a:pPr>
            <a:r>
              <a:rPr lang="ar-SA" altLang="en-US" sz="1850" dirty="0">
                <a:solidFill>
                  <a:srgbClr val="1F2A37"/>
                </a:solidFill>
                <a:latin typeface="Amiri" pitchFamily="2" charset="-78"/>
                <a:ea typeface="Amiri" pitchFamily="2" charset="-78"/>
                <a:cs typeface="Amiri" pitchFamily="2" charset="-78"/>
              </a:rPr>
              <a:t>لِذٰلِكَ أَرَى أَنَّ شَكْلَ الضِّيَافَةِ يَتَغَيَّرُ، غَيْرَ أَنَّ رُوحَهَا أَهَمُّ مِنْ أَيِّ وَقْتٍ مَضَى. فَإِذَا حَافَظْنَا عَلَى هٰذِهِ الرُّوحِ، فَسَيَبْقَى العَالَمُ مَكَانًا أَدْفَأَ لِلْغُرَبَاءِ.</a:t>
            </a:r>
            <a:endParaRPr lang="ar-SA" sz="18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صَارَ … يَرَوْنَ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فِي … بَلْ فِي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نُقَدِّمْ …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أَهَمُّ مِنْ أَيِّ وَقْتٍ مَضَى</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an imperative in box 7.</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three feminine imperatives, one of them negative.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comparison with akthar … min or afʿal min.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TE-L05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TE-L04 · Writing Workshop — Customs, Etiquette and Hospitality</dc:title>
  <dc:subject>PptxGenJS Presentation</dc:subject>
  <dc:creator>Al Madina Online School · Arabic Department</dc:creator>
  <cp:lastModifiedBy>Al Madina Online School · Arabic Department</cp:lastModifiedBy>
  <cp:revision>1</cp:revision>
  <dcterms:created xsi:type="dcterms:W3CDTF">2026-10-11T14:31:21Z</dcterms:created>
  <dcterms:modified xsi:type="dcterms:W3CDTF">2026-10-11T14:31:21Z</dcterms:modified>
</cp:coreProperties>
</file>