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E, Lesson 9 (Comparing Cultures with Respect, TE-L09).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7 takes a verbal noun (ḥubb). Box 8: two comparatives linked by baynamā. A girl writes صَدِيقَتِكِ / عِنْدَهَا in the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words: قَارِنْ (compare! → أَكْثَرُ / أَبْكَرُ مِنْ · بَيْنَمَا) · صِفْ (describe!) · المَدْرَسَتَيْنِ (the two schools — dual) · خِطَطُكَ (plans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(73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(118 words). Core model: afʿal min + bi-kathīr, baynamā ×2, ammā hunā fa- ×2, hedging (ghāliban), awwalan / thāniyan, a similarity with mathalan and a respectful conclusion with the dual (ath-thaqāfatāni mukhtalifatāni).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a sensory hook with three short clauses and abṭaʾ, a colon list, ammā … fa- with a reversed image, a passive yustaqbala + kaʾannahu, kuntu + present (compared unfairly), ghayra annanī adraktu, a relative-free lā taṣnaʿuhu, lā aqūlu inna … bal inna and law … la- with paired adjectives.
ENGLISH SUMMARY (read aloud or paste in the chat for Core students): Landing in Khartoum each summer I feel I move between worlds in a few hours: the heat embraces me, voices are louder, time itself seems slower → in Manchester the clock runs our lives: precise appointments, planned visits, dinner at six sharp, quiet streets after ten; in Khartoum relationships run the clock: a relative may knock any time and be welcomed as if expected for days → as a child I compared unfairly — “organised” vs “chaotic”; but I realised each system has its logic: Sudanese flexibility creates a warmth timetables can’t, British precision protects people’s time, privacy and rest → I won’t say one culture is better; I’m lucky to live between them; “if I combined the best of both, I’d make a third culture: precise in appointments, generous in heart”.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(134 words). Full-mark model for the Stretch title: three comparatives in the hook (aladhdh, aghrab, akthar burūdan), dūna an ×2, laysa kullu … wa-laysa kullu, min al-adaqqi an, qabla an, a narrated turning point with fa-khajiltu, al-fahma lā at-tafḍīla, and idhā … fa-sa- with badalan min and awsaʿ.
ENGLISH SUMMARY (read aloud or paste in the chat for Core students): Every day we compare cultures without noticing: this food is tastier, those customs stranger, those people colder — how can we compare without judging? → first, avoid generalising: not all English people are cold, not all Arabs late; it’s more accurate to say “usually” or “some people”; second, ask why before judging — a strange custom usually has a logical explanation linked to climate, faith or history → I learnt this when I laughed at a Japanese friend taking off his shoes at school, then remembered we take ours off in the mosque for almost the same reason: cleanliness and respect; I felt ashamed and apologised, and he became one of my closest friends → comparison is natural and sometimes useful, but its aim should be understanding, not ranking; “if we say ‘different’ instead of ‘worse’, the world will become wider for everyone, warmer and less afraid”.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EXAM PRACTICE  ·  TE-L09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Comparing Cultures with Respect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وَرْشَةُ الكِتَابَةِ — المُقَارَنَةُ بَيْنَ الثَّقَافَاتِ بِاحْتِرَامٍ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twinning-project comparison form, write an email comparing your school week with a penfriend’s in Qatar, and write an extended piece comparing life in two cultures or about how to compare cultures without judging them.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TE-L09 · Advanced Topic E · The International World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comparing two school weeks.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00" dirty="0">
                <a:solidFill>
                  <a:srgbClr val="1F2A37"/>
                </a:solidFill>
                <a:latin typeface="Calibri" pitchFamily="34" charset="0"/>
                <a:cs typeface="Amiri" pitchFamily="2" charset="-78"/>
              </a:rPr>
              <a:t>Check comparison and contrast: afʿal min never changes (al-madrasatu akbaru min …); akthar + accusative (akthar burūdan); baynamā + a full sentence; ammā X fa- + comment (don’t forget fa-); dual agreement (mukhtalifatāni, iḥdāhumā); and hedge every generalisation (ghāliban, baʿḍu, laysa kullu).</a:t>
            </a:r>
            <a:endParaRPr lang="en-US" sz="12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cs typeface="Amiri" pitchFamily="2" charset="-78"/>
              </a:rPr>
              <a:t>يَبْدَأُ يَوْمِي فِي الثَّامِنَةِ، بَيْنَمَا يَبْدَأُ يَوْمُكَ فِي السَّابِعَةِ</a:t>
            </a:r>
            <a:endParaRPr lang="ar-SA" sz="19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my day starts at eight, whereas yours starts at seven</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عُطْلَتُنَا السَّبْتُ وَالأَحَدُ، أَمَّا عُطْلَتُكُمْ فَالجُمُعَةُ وَالسَّبْتُ</a:t>
            </a:r>
            <a:endParaRPr lang="ar-SA" sz="195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our weekend is Saturday–Sunday; as for yours, it is Friday–Saturday</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مُخْتَلِفَتَانِ، لٰكِنْ لَيْسَتْ إِحْدَاهُمَا أَفْضَلَ مِنَ الأُخْرَى</a:t>
            </a:r>
            <a:endParaRPr lang="ar-SA" sz="22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different, but neither is better than the other</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Twinning-project comparison form</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اسْتِمَارَةُ مُقَارَنَةٍ لِمَشْرُوعِ التَّوْأَمَةِ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city</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مَدِينَتُكَ</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partner’s city</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مَدِينَةُ صَدِيقِكَ</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school start time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بِدَايَةُ اليَوْمِ الدِّرَاسِيِّ عِنْدَكَ</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school start time</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بِدَايَةُ اليَوْمِ الدِّرَاسِيِّ عِنْدَهُ</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weekend</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أَيَّامُ العُطْلَةِ عِنْدَكَ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similarity</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تَشَابُهٌ وَاحِدٌ</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compare the two schools</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جُمْلَةٌ: قَارِنْ بَيْنَ المَدْرَسَتَيْنِ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boxes 4–5 are times; the last box is a full sentence with afʿal min AND baynamā.</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Twinning-project comparison form: model answers</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Hamza Ahmed</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حَمْزَةُ أَحْمَدُ</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Manchester</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مَانْشِسْتَرُ</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مَدِينَتُكَ</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Doha</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الدَّوْحَةُ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مَدِينَةُ صَدِيقِكَ</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8.30</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الثَّامِنَةُ وَالنِّصْفُ</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بِدَايَةُ اليَوْمِ الدِّرَاسِيِّ عِنْدَكَ</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7.00</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السَّابِعَةُ</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بِدَايَةُ اليَوْمِ الدِّرَاسِيِّ عِنْدَهُ</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Saturday and Sunday</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السَّبْتُ وَالأَحَدُ</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أَيَّامُ العُطْلَةِ عِنْدَكَ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love of football</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حُبُّ كُرَةِ القَدَمِ</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تَشَابُهٌ وَاحِدٌ</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00" dirty="0">
                <a:solidFill>
                  <a:srgbClr val="5A6472"/>
                </a:solidFill>
                <a:latin typeface="Calibri" pitchFamily="34" charset="0"/>
                <a:cs typeface="Amiri" pitchFamily="2" charset="-78"/>
              </a:rPr>
              <a:t>His day starts earlier than mine, whereas mine is longer because of clubs.</a:t>
            </a:r>
            <a:endParaRPr lang="en-US" sz="9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يَوْمُهُ أَبْكَرُ مِنْ يَوْمِي، بَيْنَمَا يَوْمِي أَطْوَلُ بِسَبَبِ النَّوَادِي.</a:t>
            </a:r>
            <a:endParaRPr lang="ar-SA" sz="165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جُمْلَةٌ: قَارِنْ بَيْنَ المَدْرَسَتَيْنِ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my school and yours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مَدْرَسَتِي وَمَدْرَسَتُكَ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an email in Arabic to a penfriend in Qatar of about 80–90 words. You must include: • when your school day starts and ends, compared with his • your weekend compared with his • lunch or another difference at school • your opinion of the two schools and your plans, and a question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afʿal min, baynamā AND ammā … fa-.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respectful conclusion (different, not better).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يَبْدَأُ يَوْمِي فِي … بَيْنَمَا يَبْدَأُ يَوْمُكَ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day starts at … whereas yours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يَوْمُكَ أَبْكَرُ مِنْ يَوْمِي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 day is earlier than mine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عُطْلَتُنَا … أَمَّا عُطْلَتُكُمْ فَالجُمُعَةُ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weekend … as for yours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لَيْسَتْ إِحْدَاهُمَا أَفْضَلَ مِنَ الأُخْرَى</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neither is better than the other</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in Qatar comparing your schools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اكْتُبْ رِسَالَةً إِلَى صَدِيقِكَ فِي قَطَرَ تُقَارِنُ فِيهَا بَيْنَ مَدْرَسَتَيْكُمَا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school day vs his</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مَتَى يَبْدَأُ يَوْمُكَ وَيَنْتَهِي؟ قَارِنْ بِيَوْمِهِ.</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weekend vs his</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أَيَّامُ عُطْلَتِكَ؟ قَارِنْ بِعُطْلَتِهِ.</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Lunch or another difference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صِفِ الغَدَاءَ أَوْ فَرْقًا آخَرَ فِي المَدْرَسَةِ.</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plans; a question</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مَا رَأْيُكَ فِي المَدْرَسَتَيْنِ؟ وَمَا خِطَطُكَ؟ وَاسْأَلْ صَدِيقَكَ سُؤَالًا.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thanks for your letter.</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______ ، شُكْرًا عَلَى رِسَالَتِكَ.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day starts at …, whereas yours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يَبْدَأُ يَوْمِي فِي ______ ، بَيْنَمَا يَبْدَأُ يَوْمُكَ فِي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weekend …; as for yours,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عُطْلَتُنَا ______ ، أَمَّا عُطْلَتُكُمْ فَهِيَ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eat lunch …; it is usually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نَأْكُلُ الغَدَاءَ ______ ، وَهُوَ غَالِبًا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schools differ, but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المَدْرَسَتَانِ مُخْتَلِفَتَانِ، لٰكِنْ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 Goodbye.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وَأَنْتَ، ______ ؟ مَعَ السَّلَامَةِ.</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cs typeface="Amiri" pitchFamily="2" charset="-78"/>
              </a:rPr>
              <a:t>مَرْحَبًا يَا عَلِيُّ،</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كَيْفَ حَالُكَ؟ شُكْرًا عَلَى رِسَالَتِكَ عَنْ مَدْرَسَتِكَ فِي الدَّوْحَةِ. مَدْرَسَتِي فِي مَانْشِسْتَرَ مُخْتَلِفَةٌ قَلِيلًا. يَبْدَأُ يَوْمِي فِي الثَّامِنَةِ وَالنِّصْفِ، بَيْنَمَا يَبْدَأُ يَوْمُكَ فِي السَّابِعَةِ، لِذٰلِكَ يَوْمُكَ أَبْكَرُ مِنْ يَوْمِي. عُطْلَتُنَا السَّبْتُ وَالأَحَدُ، أَمَّا عُطْلَتُكُمْ فَالجُمُعَةُ وَالسَّبْتُ. نَأْكُلُ الغَدَاءَ فِي المَدْرَسَةِ، وَهُوَ غَالِبًا سَنْدَوِيشٌ أَوْ بِيتْزَا. أَظُنُّ أَنَّ المَدْرَسَتَيْنِ مُخْتَلِفَتَانِ، لٰكِنْ لَيْسَتْ إِحْدَاهُمَا أَفْضَلَ مِنَ الأُخْرَى. فِي الصَّيْفِ سَأَزُورُ قَطَرَ إِنْ شَاءَ اللّٰهُ. وَأَنْتَ، مَاذَا تَأْكُلُ فِي المَدْرَسَةِ؟</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مَعَ السَّلَامَةِ،</a:t>
            </a:r>
            <a:endParaRPr lang="ar-SA" sz="1800" dirty="0"/>
          </a:p>
          <a:p>
            <a:pPr rtl="1" algn="r" indent="0" marL="0">
              <a:lnSpc>
                <a:spcPct val="120000"/>
              </a:lnSpc>
              <a:buNone/>
            </a:pPr>
            <a:r>
              <a:rPr lang="ar-SA" altLang="en-US" sz="1800" dirty="0">
                <a:solidFill>
                  <a:srgbClr val="1F2A37"/>
                </a:solidFill>
                <a:latin typeface="Amiri" pitchFamily="2" charset="-78"/>
                <a:cs typeface="Amiri" pitchFamily="2" charset="-78"/>
              </a:rPr>
              <a:t>حَمْزَةُ</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Ali, how are you? Thanks for your letter about your school in Doha. My school in Manchester is a bit different. My day starts at 8.30, whereas yours starts at seven, so your day is earlier than mine. Our weekend is Saturday and Sunday; as for yours, it’s Friday and Saturday. We eat lunch at school — usually a sandwich or pizza. I think the two schools are different, but neither is better than the other. In the summer I’ll visit Qatar, God willing. And you, what do you eat at school? Goodbye, Hamza.”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بَيْنَمَا يَبْدَأُ</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أَبْكَرُ مِنْ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عُطْلَتُكُمْ فَالجُمُعَةُ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إِحْدَاهُمَا أَفْضَلَ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عَزِيزِي عَلِيُّ،</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قَرَأْتُ رِسَالَتَكَ بِاهْتِمَامٍ، وَلَاحَظْتُ أَنَّ أُسْبُوعَيْنَا الدِّرَاسِيَّيْنِ يَخْتَلِفَانِ فِي أَشْيَاءَ كَثِيرَةٍ. فَيَوْمُكَ يَبْدَأُ فِي السَّابِعَةِ لِتَتَجَنَّبُوا حَرَّ الظُّهْرِ، بَيْنَمَا يَبْدَأُ يَوْمِي فِي الثَّامِنَةِ وَالنِّصْفِ، وَيَنْتَهِي مُتَأَخِّرًا لِأَنَّنَا نَبْقَى لِلنَّوَادِي. أَمَّا العُطْلَةُ، فَعُطْلَتُكُمُ الجُمُعَةُ وَالسَّبْتُ لِأَنَّ الجُمُعَةَ يَوْمُ الصَّلَاةِ الجَامِعَةِ، وَعُطْلَتُنَا السَّبْتُ وَالأَحَدُ. وَأَكْثَرُ مَا أَعْجَبَنِي فِي مَدْرَسَتِكَ أَنَّ الطُّلَّابَ يُسَاعِدُونَ فِي تَنْظِيفِ الصَّفِّ، مِمَّا يُعَلِّمُ المَسْؤُولِيَّةَ. صَحِيحٌ أَنَّ النِّظَامَيْنِ مُخْتَلِفَانِ، غَيْرَ أَنَّ لِكُلٍّ مِنْهُمَا مَزَايَاهُ. وَإِذَا زُرْتُ الدَّوْحَةَ فِي الصَّيْفِ، فَهَلْ يُمْكِنُنِي أَنْ أَحْضُرَ يَوْمًا فِي مَدْرَسَتِكَ؟</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مَعَ أَطْيَبِ التَّحِيَّاتِ،</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حَمْزَةُ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Ali, I read your letter with interest and noticed our school weeks differ in many ways. Your day starts at seven to avoid the midday heat, whereas mine starts at 8.30 and ends late because we stay for clubs. As for the weekend, yours is Friday and Saturday because Friday is the day of congregational prayer, and ours is Saturday and Sunday. What I liked most about your school is that students help clean the classroom, which teaches responsibility. The two systems are different, but each has its advantages. If I visit Doha in the summer, could I attend a day at your school? Best wishes, Hamza.”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أُسْبُوعَيْنَا الدِّرَاسِيَّيْنِ يَخْتَلِفَانِ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لِتَتَجَنَّبُوا … بَيْنَمَا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مِمَّا يُعَلِّمُ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لِكُلٍّ مِنْهُمَا مَزَايَاهُ</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Between two cultures: here and there</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بَيْنَ ثَقَافَتَيْنِ: هُنَا وَهُنَاكَ</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you are and the two cultures · a daily-life difference · a family or visiting difference · a similarity,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مَنْ أَنْتَ وَمَا الثَّقَافَتَانِ · اخْتِلَافٌ فِي الحَيَاةِ اليَوْمِيَّةِ · اخْتِلَافٌ فِي العَائِلَةِ أَوِ الزِّيَارَاتِ · تَشَابُهٌ وَرَأْيُكَ وَخُطَطُكَ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can we compare cultures without judging them?</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كَيْفَ نُقَارِنُ بَيْنَ الثَّقَافَاتِ دُونَ أَنْ نَحْكُمَ عَلَيْهَا؟</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issue · avoiding generalisations and asking why · an example from your experience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المَوْضُوعُ · تَجَنُّبُ التَّعْمِيمِ وَالسُّؤَالُ عَنِ السَّبَبِ · مِثَالٌ مِنْ تَجْرِبَتِكَ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two cultures — anā …, aʿīshu fī …, lākinna aṣla usratī min …; azūru … kulla ṣayfin</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Daily life — awwalan … aḥarru bi-kathīr, baynamā … ghāliban; li-dhālika …, ammā hunā fa-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Family / visits — thāniyan al-ʿāʾila … akbar; baynamā naskunu …; ammā hunā fa-nattaṣilu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Similarity + opinion — mathalan, fī al-baladayni …; mukhtalifatāni lākin laysat iḥdāhumā afḍala; sa- …; Stretch: lā aqūlu inna … bal,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الطَّقْسُ هُنَاكَ أَحَرُّ بِكَثِيرٍ مِنْ هُنَا.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comparative: much hotter there than here.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نَتَّصِلُ قَبْلَ الزِّيَارَةِ، بَيْنَمَا يَزُورُونَ بِدُونِ مَوْعِدٍ.</a:t>
            </a:r>
            <a:endParaRPr lang="ar-SA" sz="22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baynamā: we call; they just visit.</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cs typeface="Amiri" pitchFamily="2" charset="-78"/>
              </a:rPr>
              <a:t>لَيْسَتْ إِحْدَاهُمَا أَفْضَلَ مِنَ الأُخْرَى.</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respect: neither is better.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cs typeface="Amiri" pitchFamily="2" charset="-78"/>
              </a:rPr>
              <a:t>أَنَا حَمْزَةُ، وَأَعِيشُ فِي مَانْشِسْتَرَ، لٰكِنَّ أَصْلَ أُسْرَتِي مِنَ السُّودَانِ. أَزُورُ السُّودَانَ كُلَّ صَيْفٍ، لِذٰلِكَ أَعْرِفُ الثَّقَافَتَيْنِ جَيِّدًا، وَأُحِبُّهُمَا مَعًا.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أَوَّلًا، الطَّقْسُ مُخْتَلِفٌ جِدًّا. فِي السُّودَانِ الطَّقْسُ أَحَرُّ بِكَثِيرٍ، بَيْنَمَا الطَّقْسُ فِي مَانْشِسْتَرَ بَارِدٌ وَمُمْطِرٌ غَالِبًا. لِذٰلِكَ يَخْرُجُ النَّاسُ هُنَاكَ فِي المَسَاءِ، أَمَّا هُنَا فَيَخْرُجُونَ فِي النَّهَارِ.</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ثَانِيًا، العَائِلَةُ فِي السُّودَانِ أَكْبَرُ. يَسْكُنُ جَدِّي مَعَ أَعْمَامِي وَأَوْلَادِهِمْ فِي بَيْتٍ وَاحِدٍ، بَيْنَمَا نَسْكُنُ هُنَا فِي بَيْتٍ صَغِيرٍ مَعَ وَالِدَيَّ وَأُخْتِي. كَذٰلِكَ يَزُورُ النَّاسُ هُنَاكَ بَعْضَهُمْ بِدُونِ مَوْعِدٍ، أَمَّا هُنَا فَنَتَّصِلُ قَبْلَ الزِّيَارَةِ بِيَوْمٍ أَوْ يَوْمَيْنِ غَالِبًا.</a:t>
            </a:r>
            <a:endParaRPr lang="ar-SA" sz="1650" dirty="0"/>
          </a:p>
          <a:p>
            <a:pPr rtl="1" algn="r" indent="0" marL="0">
              <a:lnSpc>
                <a:spcPct val="120000"/>
              </a:lnSpc>
              <a:buNone/>
            </a:pPr>
            <a:r>
              <a:rPr lang="ar-SA" altLang="en-US" sz="1650" dirty="0">
                <a:solidFill>
                  <a:srgbClr val="1F2A37"/>
                </a:solidFill>
                <a:latin typeface="Amiri" pitchFamily="2" charset="-78"/>
                <a:cs typeface="Amiri" pitchFamily="2" charset="-78"/>
              </a:rPr>
              <a:t>وَلٰكِنْ هُنَاكَ أَشْيَاءُ مُتَشَابِهَةٌ أَيْضًا؛ مَثَلًا، فِي البَلَدَيْنِ يُحِبُّ النَّاسُ كُرَةَ القَدَمِ وَالشَّايَ بِالحَلِيبِ! فِي رَأْيِي، الثَّقَافَتَانِ مُخْتَلِفَتَانِ، لٰكِنْ لَيْسَتْ إِحْدَاهُمَا أَفْضَلَ مِنَ الأُخْرَى. فِي المُسْتَقْبَلِ سَأَعِيشُ هُنَا، وَسَأَزُورُ السُّودَانَ دَائِمًا مَعَ أَوْلَادِي.</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Hamza in Manchester, family from Sudan, visiting every summer → much hotter there, whereas Manchester is usually cold and rainy; so people there go out in the evening, here in the day → families there are bigger: grandpa lives with uncles and cousins, whereas we live in a small house; they visit without appointments, here we call first → similarities too, like football and tea; different, but neither is better.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أَحَرُّ بِكَثِيرٍ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بَيْنَمَا الطَّقْسُ</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هُنَا فَيَخْرُجُونَ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لَيْسَتْ إِحْدَاهُمَا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حِينَ أَهْبِطُ فِي مَطَارِ الخُرْطُومِ كُلَّ صَيْفٍ، أَشْعُرُ بِأَنَّنِي أَنْتَقِلُ مِنْ عَالَمٍ إِلَى آخَرَ فِي سَاعَاتٍ قَلِيلَةٍ؛ فَالحَرُّ يُعَانِقُنِي، وَالأَصْوَاتُ أَعْلَى، وَالزَّمَنُ نَفْسُهُ يَبْدُو أَبْطَأَ.</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فَفِي مَانْشِسْتَرَ تُدِيرُ السَّاعَةُ حَيَاتَنَا: مَوَاعِيدُ دَقِيقَةٌ، وَزِيَارَاتٌ مُخَطَّطٌ لَهَا مُسْبَقًا، وَعَشَاءٌ فِي السَّادِسَةِ تَمَامًا، وَهُدُوءٌ فِي الشَّوَارِعِ بَعْدَ العَاشِرَةِ. أَمَّا فِي الخُرْطُومِ، فَالعَلَاقَاتُ هِيَ الَّتِي تُدِيرُ السَّاعَةَ؛ إِذْ يُمْكِنُ أَنْ يَطْرُقَ قَرِيبٌ البَابَ فِي أَيِّ وَقْتٍ، فَيُسْتَقْبَلَ كَأَنَّهُ كَانَ مُنْتَظَرًا مُنْذُ أَيَّامٍ.</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كُنْتُ فِي صِغَرِي أُقَارِنُ بَيْنَ البَلَدَيْنِ بِطَرِيقَةٍ ظَالِمَةٍ، فَأَرَى هٰذَا "مُنَظَّمًا" وَذَاكَ "فَوْضَوِيًّا". غَيْرَ أَنَّنِي أَدْرَكْتُ مَعَ الوَقْتِ أَنَّ لِكُلِّ نِظَامٍ مَنْطِقَهُ؛ فَالمُرُونَةُ السُّودَانِيَّةُ تَصْنَعُ دِفْئًا لَا تَصْنَعُهُ الجَدَاوِلُ، وَالدِّقَّةُ البَرِيطَانِيَّةُ تَحْمِي وَقْتَ الإِنْسَانِ وَخُصُوصِيَّتَهُ وَرَاحَتَهُ.</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لِذٰلِكَ لَا أَقُولُ إِنَّ إِحْدَى الثَّقَافَتَيْنِ أَفْضَلُ مِنَ الأُخْرَى، بَلْ إِنَّنِي مَحْظُوظٌ لِأَنَّنِي أَعِيشُ بَيْنَهُمَا. وَلَوْ جَمَعْتُ أَجْمَلَ مَا فِيهِمَا، لَصَنَعْتُ ثَقَافَةً ثَالِثَةً: دَقِيقَةً فِي المَوَاعِيدِ، وَكَرِيمَةً فِي القُلُوبِ.</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يَبْدُو أَبْطَأَ</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أَمَّا فِي الخُرْطُومِ، فَالعَلَاقَاتُ</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لِكُلِّ نِظَامٍ مَنْطِقَهُ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لَوْ جَمَعْتُ … لَصَنَعْتُ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Q3 (</a:t>
            </a:r>
            <a:pPr algn="l" indent="0" marL="0">
              <a:buNone/>
            </a:pPr>
            <a:r>
              <a:rPr lang="ar-SA" altLang="en-US" sz="2400" b="1" dirty="0">
                <a:solidFill>
                  <a:srgbClr val="1B3B6F"/>
                </a:solidFill>
                <a:latin typeface="Amiri" pitchFamily="2" charset="-78"/>
                <a:cs typeface="Amiri" pitchFamily="2" charset="-78"/>
              </a:rPr>
              <a:t>ب</a:t>
            </a:r>
            <a:pPr algn="l" indent="0" marL="0">
              <a:buNone/>
            </a:pPr>
            <a:r>
              <a:rPr lang="en-US" sz="1850" b="1" dirty="0">
                <a:solidFill>
                  <a:srgbClr val="1B3B6F"/>
                </a:solidFill>
                <a:latin typeface="Cambria" pitchFamily="34" charset="0"/>
                <a:cs typeface="Amiri" pitchFamily="2" charset="-78"/>
              </a:rPr>
              <a:t>) full-mark model: comparing without judging</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cs typeface="Amiri" pitchFamily="2" charset="-78"/>
              </a:rPr>
              <a:t>نُقَارِنُ كُلَّ يَوْمٍ بَيْنَ الثَّقَافَاتِ دُونَ أَنْ نَشْعُرَ بِذٰلِكَ: هٰذَا الطَّعَامُ أَلَذُّ، وَتِلْكَ العَادَاتُ أَغْرَبُ، وَأُولٰئِكَ النَّاسُ أَكْثَرُ بُرُودًا. فَكَيْفَ نُقَارِنُ بَيْنَ الثَّقَافَاتِ دُونَ أَنْ نَحْكُمَ عَلَيْهَا؟</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أَوَّلًا، يَجِبُ أَنْ نَتَجَنَّبَ التَّعْمِيمَ؛ فَلَيْسَ كُلُّ الإِنْجْلِيزِ بَارِدِينَ، وَلَيْسَ كُلُّ العَرَبِ مُتَأَخِّرِينَ. لِذٰلِكَ مِنَ الأَدَقِّ أَنْ نَقُولَ "غَالِبًا" أَوْ "بَعْضُ النَّاسِ". ثَانِيًا، عَلَيْنَا أَنْ نَسْأَلَ عَنِ السَّبَبِ قَبْلَ أَنْ نَحْكُمَ؛ فَالعَادَةُ الَّتِي تَبْدُو غَرِيبَةً لَهَا غَالِبًا تَفْسِيرٌ مَنْطِقِيٌّ يَرْتَبِطُ بِالطَّقْسِ أَوِ الدِّينِ أَوِ التَّارِيخِ.</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وَقَدْ تَعَلَّمْتُ ذٰلِكَ عِنْدَمَا ضَحِكْتُ مِنْ صَدِيقٍ يَابَانِيٍّ يَخْلَعُ حِذَاءَهُ فِي المَدْرَسَةِ، ثُمَّ تَذَكَّرْتُ أَنَّنَا نَخْلَعُ أَحْذِيَتَنَا فِي المَسْجِدِ لِلسَّبَبِ نَفْسِهِ تَقْرِيبًا: النَّظَافَةُ وَالاحْتِرَامُ. فَخَجِلْتُ مِنْ نَفْسِي، وَاعْتَذَرْتُ لَهُ، فَصَارَ مِنْ أَقْرَبِ أَصْدِقَائِي.</a:t>
            </a:r>
            <a:endParaRPr lang="ar-SA" sz="1750" dirty="0"/>
          </a:p>
          <a:p>
            <a:pPr rtl="1" algn="r" indent="0" marL="0">
              <a:lnSpc>
                <a:spcPct val="120000"/>
              </a:lnSpc>
              <a:buNone/>
            </a:pPr>
            <a:r>
              <a:rPr lang="ar-SA" altLang="en-US" sz="1750" dirty="0">
                <a:solidFill>
                  <a:srgbClr val="1F2A37"/>
                </a:solidFill>
                <a:latin typeface="Amiri" pitchFamily="2" charset="-78"/>
                <a:cs typeface="Amiri" pitchFamily="2" charset="-78"/>
              </a:rPr>
              <a:t>صَحِيحٌ أَنَّ المُقَارَنَةَ طَبِيعِيَّةٌ وَمُفِيدَةٌ أَحْيَانًا، غَيْرَ أَنَّ هَدَفَهَا يَنْبَغِي أَنْ يَكُونَ الفَهْمَ لَا التَّفْضِيلَ. فَإِذَا قُلْنَا "مُخْتَلِفٌ" بَدَلًا مِنْ "أَسْوَأَ"، فَسَيُصْبِحُ العَالَمُ أَوْسَعَ لِلْجَمِيعِ، وَأَكْثَرَ دِفْئًا وَأَقَلَّ خَوْفًا.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أَلَذُّ … أَغْرَبُ … أَكْثَرُ بُرُودًا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لَيْسَ كُلُّ … وَلَيْسَ كُلُّ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لِلسَّبَبِ نَفْسِهِ</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الفَهْمَ لَا التَّفْضِيلَ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TE-L09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E · Writing workshop · TE-L09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with a comparison in box 8.</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afʿal min, baynamā and ammā … fa-.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hedging (ghāliban, baʿḍu) and a similarity as well as differences.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“different, not better”,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TE-L10 · Exam practice · Speaking and writing workshops — the next Topic E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TE-L09 · Writing Workshop — Comparing Cultures with Respect</dc:title>
  <dc:subject>PptxGenJS Presentation</dc:subject>
  <dc:creator>Al Madina Online School · Arabic Department</dc:creator>
  <cp:lastModifiedBy>Al Madina Online School · Arabic Department</cp:lastModifiedBy>
  <cp:revision>1</cp:revision>
  <dcterms:created xsi:type="dcterms:W3CDTF">2026-10-11T14:51:59Z</dcterms:created>
  <dcterms:modified xsi:type="dcterms:W3CDTF">2026-10-11T14:51:59Z</dcterms:modified>
</cp:coreProperties>
</file>