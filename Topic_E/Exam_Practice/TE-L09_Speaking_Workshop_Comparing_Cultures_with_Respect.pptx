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9 (Comparing Cultures with Respect, TE-L09), using that lesson’s language (comparatives (afʿal min, akthar / aqall + noun); baynamā for contrast; ammā … fa- for topic switch; respectful hedging (ghāliban, baʿḍu an-nās, fī raʾyī, mukhtalifun lā afḍal)).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afʿal min for simple adjectives (أَطْوَلُ مِنْ · أَبْكَرُ مِنْ); akthar / aqall + noun (acc.) for longer ones (أَكْثَرُ رَسْمِيَّةً · أَقَلُّ ازْدِحَامًا). Contrast: بَيْنَمَا + sentence; أَمَّا X فَهُوَ / فَهِيَ +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soften claims: غَالِبًا · بَعْضُ النَّاسِ · فِي رَأْيِي · لَيْسَ الجَمِيعُ. Avoid "they are all …". Close with balance: مُخْتَلِفٌ لَا أَفْضَلُ · لِكُلٍّ مِنْهُمَا مَزَايَاهُ. Teacher note: reward hedging as top-band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video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يَوْمُكِ · تَلْبَسْنَ / تَلْبَسُونَ (same) · تُحِبِّينَهُ · مَدْرَسَتِكِ.
Core: telling the time, afʿal min (abkaru min) with possessives (yawmukum / yawminā), days of the week, hal …?, li-annahā.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new classmate.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(to a female classmate) يُمْكِنُكِ · سَأُرِيكِ · تُحِبِّينَهَا.
Core+: kayfa …?, aqṣaru min + kamā samiʿtu, baynamā + kilāhumā, sa- + an offer, the CANDIDATE asks with allatī, and hedging (laysa al-jamīʿu, ghāliban) against a stereotype.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class discussion.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أُسْرَتُكِ · تَأْخُذِينَهُ.
Develop: ghāliban / ʿādatan + akbar / aṣghar, ammā … fa-, baynamā + baʿḍu, lā aqūlu inna iḥdāhumā afḍal + akthar / akbar + noun, kāna + present vs ammā al-āna fa-, a balanced ākhudhu min … wa-min.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school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تُطَبِّقِينَ · حَيَاتِكِ · زَارَتْنِي صَدِيقَةٌ يَابَانِيَّةٌ · كَتَبْتِ.
Stretch: mukhtalifa lā mutafāḍila, ghayra anna + ka- examples, qad yaẓunnu … baynamā al-ḥaqīqatu anna, bi-sharṭi an + li- … lā li-, qabla an, kuntu aẓunnu … thumma fahimtu, aʿmaqu, law … la-kānat with imperatives.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baynamā or ammā … fa- and a hedge.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Comparing Cultures with Respect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المُقَارَنَةُ بَيْنَ الثَّقَافَاتِ بِاحْتِرَامٍ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compare daily life, school, family, food and customs between cultures — fairly and respectfully — with comparatives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أَطْوَلُ مِنْ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… مِنْ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contrast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فَإِنَّ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careful hedging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بَعْضُ النَّاسِ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مُخْتَلِفٌ لَا أَفْضَلُ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COMPARING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Longer, earlier, more formal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أَدَوَاتُ المُقَارَنَةِ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أَطْوَلُ مِنْ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longer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aṭ-wa-lu min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earlier than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أَبْكَرُ مِنْ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shorter than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أَقْصَرُ مِنْ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… مِنْ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more …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ak-tha-ru … min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formal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رَسْمِيَّةً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less … than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أَقَلُّ … مِنْ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whereas / while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bay-na-mā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unlike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بِعَكْسِ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the other hand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المُقَابِلِ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فَإِنَّ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as for … (then)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am-mā … fa-ʾin-na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for school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المَدْرَسَةُ فَهِيَ …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for us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نَحْنُ فَنَأْكُلُ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similarity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يَتَشَابَهُ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similar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ya-ta-shā-ba-hu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both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كِلَاهُمَا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similarity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تَشَابُهٌ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respect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مُخْتَلِفٌ لَا أَفْضَلُ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different, not better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mukh-ta-li-fun lā af-ḍa-lu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advantages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مَزَايَاهُ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each has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لِكُلٍّ مِنْهُمَا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COMPARING WITH RESPECT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Different — not better or worse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المُقَارَنَةُ بِاحْتِرَامٍ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hedging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usually / mostly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ghā-li-ban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 everyone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الجَمِيعُ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some people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بَعْضُ النَّاسِ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respect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تَعْمِيمٌ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generalisation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taʿ-mī-mun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judge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يَحْكُمُ عَلَى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stereotype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صُورَةٌ نَمَطِيَّةٌ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daily life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عُطْلَةُ نِهَايَةِ الأُسْبُوعِ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weekend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 ni-hā-ya-ti al-us-bū-ʿi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Saturday and Sunday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السَّبْتُ وَالأَحَدُ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Friday and Saturday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الجُمُعَةُ وَالسَّبْتُ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school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زِيٌّ مَدْرَسِيٌّ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school uniform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ziy-yun mad-ra-siy-yun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optional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اخْتِيَارِيٌّ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compulsory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إِلْزَامِيٌّ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family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العَائِلَةُ المُمْتَدَّةُ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extended family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al-ʿā-ʾi-la-tu al-mum-tad-da-tu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الأَقَارِبُ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nuclear family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الأُسْرَةُ الصَّغِيرَةُ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respect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أَحْتَرِمُ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respect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aḥ-ta-ri-mu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appreciate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أُقَدِّرُ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respect (n.)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الاحْتِرَامُ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VIDEO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Comparing school days with a penfriend in Qatar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مُقَارَنَةُ اليَوْمِ الدِّرَاسِيِّ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school starts.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يَوْمُكَ الدِّرَاسِيُّ؟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يَوْمُكُمْ أَبْكَرُ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(afʿal min).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نَحْنُ نَبْدَأُ فِي السَّابِعَةِ!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السَّبْتُ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your weekend.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أَيَّامُ العُطْلَةِ عِنْدَكُمْ؟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 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school uniform.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عُطْلَتُنَا الجُمُعَةُ وَالسَّبْتُ.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نَعَمْ. مَا الشَّيْءُ الَّذِي تُحِبُّهُ فِي مَدْرَسَتِكَ؟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in Britain  ·  The examiner is: your penfriend in Doha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NEW CLASSMATE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Welcoming a classmate from Syria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زَمِيلٌ جَدِيدٌ مِنْ سُورِيَا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it is different.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المَدْرَسَةُ هُنَا مُخْتَلِفَةٌ جِدًّا!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صَحِيحٌ، وَ… أَكْثَرُ …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Respond and compare one thing.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الصُّفُوفُ هُنَا أَصْغَرُ، وَالمُعَلِّمُونَ يَمْشُونَ بَيْنَ الطُّلَّابِ.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هُنَا … بَيْنَمَا عِنْدَكُمْ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custom respectfully (baynamā).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وَالطُّلَّابُ يُنَادُونَ المُعَلِّمَ بِاسْمِهِ!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طَبْعًا! سَأُرِيكَ … ؛ وَمَا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Offer help and ASK a question.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يُمْكِنُكَ أَنْ تُسَاعِدَنِي؟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الجَمِيعُ … ؛ غَالِبًا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(avoid a stereotype).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الرِّيَاضِيَّاتُ. هَلِ النَّاسُ هُنَا بَارِدُونَ كَمَا يُقَالُ؟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British student  ·  The examiner is: a new classmate who arrived from Syria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CLASS DISCUSSION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Family life in two cultures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الحَيَاةُ العَائِلِيَّةُ فِي ثَقَافَتَيْنِ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الأُسْرَةُ … غَالِبًا … أَمَّا … فَأَصْغَرُ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ammā … fa-.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الأُسْرَةُ الصُّومَالِيَّةُ عَنِ البَرِيطَانِيَّةِ؟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بَيْتِنَا … بَيْنَمَا بَعْضُ أَصْدِقَائِي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with baynamā + a hedge.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وَالوَجَبَاتُ؟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أَقُولُ إِنَّ … ؛ لِكُلٍّ مِنْهُمَا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Refuse to rank; give advantages of each.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أَفْضَلُ فِي رَأْيِكَ؟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أَمَّا الآنَ فَنَسْكُنُ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Past vs present.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أُسْرَتُكَ بَعْدَ الهِجْرَةِ؟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مِنَ … ، وَمِنَ … 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(balanced).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تَأْخُذُهُ مِنْ كُلِّ ثَقَافَةٍ؟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with Somali and British heritage  ·  The examiner is: your Citizenship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SCHOOL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Is any culture “better” than another?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ثَقَافَةٌ أَفْضَلُ مِنْ غَيْرِهَا؟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nuanced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نَقُولَ إِنَّ ثَقَافَةً أَفْضَلُ مِنْ أُخْرَى؟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… يَظُنُّ … بَيْنَمَا الحَقِيقَةُ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Show how comparison goes wrong.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عَلَى سُوءِ مُقَارَنَةٍ.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بِشَرْطِ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set conditions.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المُقَارَنَةَ تُسَاعِدُنَا عَلَى التَّعَلُّمِ.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كُنْتُ أَظُنُّ … ثُمَّ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personal example.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تُطَبِّقُ هٰذَا فِي حَيَاتِكَ؟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كَتَبْتُ قَاعِدَةً، لَكَانَتْ: "…"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كَتَبْتَ قَاعِدَةً وَاحِدَةً لِلْمُقَارَنَةِ بَيْنَ الثَّقَافَاتِ، فَمَا هِيَ؟</a:t>
            </a:r>
            <a:endParaRPr lang="ar-SA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the opening speaker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cultures with a comparative (afʿal min)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baynamā or ammā … fa- AND a hedge (ghāliban / baʿḍu)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السَّاعَةِ الثَّامِنَةِ وَالنِّصْفِ.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8.30.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يَوْمُكَ الدِّرَاسِيُّ؟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يَوْمُكُمْ أَبْكَرُ مِنْ يَوْمِنَا!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day starts earlier than ours!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نَحْنُ نَبْدَأُ فِي السَّابِعَةِ!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السَّبْتُ وَالأَحَدُ.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Saturday and Sunday.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أَيَّامُ العُطْلَةِ عِنْدَكُمْ؟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تَلْبَسُونَ زِيًّا مَدْرَسِيًّا؟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wear a school uniform?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عُطْلَتُنَا الجُمُعَةُ وَالسَّبْتُ.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النَّوَادِيَ بَعْدَ المَدْرَسَةِ، لِأَنَّهَا مُمْتِعَةٌ.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after-school clubs, because they’re fun.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نَعَمْ. مَا الشَّيْءُ الَّذِي تُحِبُّهُ فِي مَدْرَسَتِكَ؟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هِيَ مُخْتَلِفَةٌ؟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is it different?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المَدْرَسَةُ هُنَا مُخْتَلِفَةٌ جِدًّا!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صَحِيحٌ، وَالدُّرُوسُ هُنَا أَقْصَرُ مِنْ دُرُوسِ سُورِيَا كَمَا سَمِعْتُ.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 — and I hear lessons here are shorter than in Syria.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الصُّفُوفُ هُنَا أَصْغَرُ، وَالمُعَلِّمُونَ يَمْشُونَ بَيْنَ الطُّلَّابِ.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هُنَا نَقُولُ "مِسْتَر" مَعَ الاسْمِ، بَيْنَمَا تَقُولُونَ "أُسْتَاذ"؛ وَكِلَاهُمَا احْتِرَامٌ.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Here we say “Mr” plus the name, while you say “ustādh” — both are respect.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وَالطُّلَّابُ يُنَادُونَ المُعَلِّمَ بِاسْمِهِ!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طَبْعًا! سَأُرِيكَ المَكْتَبَةَ وَالمَطْعَمَ. وَمَا المَادَّةُ الَّتِي تُحِبُّهَا أَكْثَرَ؟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 course! I’ll show you the library and canteen. And which subject do you like most?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يُمْكِنُكَ أَنْ تُسَاعِدَنِي؟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الجَمِيعُ هٰكَذَا؛ غَالِبًا يَحْتَاجُ النَّاسُ هُنَا إِلَى وَقْتٍ، لٰكِنَّهُمْ أَصْدِقَاءُ أَوْفِيَاءُ بَعْدَ ذٰلِكَ.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everyone — people here often need time, but then they’re loyal friends.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الرِّيَاضِيَّاتُ. هَلِ النَّاسُ هُنَا بَارِدُونَ كَمَا يُقَالُ؟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الأُسْرَةُ الصُّومَالِيَّةُ غَالِبًا أَكْبَرُ، وَيَسْكُنُ الأَجْدَادُ مَعَ أَحْفَادِهِمْ، أَمَّا الأُسْرَةُ البَرِيطَانِيَّةُ فَأَصْغَرُ عَادَةً، وَيَعِيشُ الأَجْدَادُ وَحْدَهُمْ.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Somali families are usually bigger, with grandparents living with grandchildren; British families are usually smaller, grandparents living alone.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الأُسْرَةُ الصُّومَالِيَّةُ عَنِ البَرِيطَانِيَّةِ؟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بَيْتِنَا نَأْكُلُ العَشَاءَ مَعًا دَائِمًا، بَيْنَمَا يَأْكُلُ بَعْضُ أَصْدِقَائِي فِي أَوْقَاتٍ مُخْتَلِفَةٍ بِسَبَبِ عَمَلِ وَالِدِيهِمْ.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always eat dinner together, while some friends eat at different times because of their parents’ work.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وَالوَجَبَاتُ؟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أَقُولُ إِنَّ إِحْدَاهُمَا أَفْضَلُ؛ فَالأُسْرَةُ الكَبِيرَةُ تُعْطِي دَعْمًا أَكْثَرَ، وَالصَّغِيرَةُ تُعْطِي حُرِّيَّةً أَكْبَرَ.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won’t say one is better: the big family gives more support, the small one more freedom.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أَفْضَلُ فِي رَأْيِكَ؟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يَعِيشُ مَعَ ثَلَاثِينَ قَرِيبًا فِي بَيْتٍ وَاحِدٍ، أَمَّا الآنَ فَنَسْكُنُ فِي شُقَّةٍ صَغِيرَةٍ، لٰكِنَّنَا نَجْتَمِعُ كُلَّ عُطْلَةٍ.</a:t>
            </a:r>
            <a:endParaRPr lang="ar-SA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Grandpa lived with thirty relatives in one house; now we live in a small flat but gather every holiday.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أُسْرَتُكَ بَعْدَ الهِجْرَةِ؟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مِنَ الثَّقَافَةِ الصُّومَالِيَّةِ الكَرَمَ وَقُرْبَ العَائِلَةِ، وَمِنَ البَرِيطَانِيَّةِ احْتِرَامَ الوَقْتِ وَالطَّابُورِ!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Somali culture generosity and closeness of family; from British, respect for time — and queues!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تَأْخُذُهُ مِنْ كُلِّ ثَقَافَةٍ؟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الثَّقَافَاتِ مُخْتَلِفَةٌ لَا مُتَفَاضِلَةٌ، غَيْرَ أَنَّ بَعْضَ القِيَمِ، كَالعَدْلِ وَالرَّحْمَةِ، يَجِبُ أَنْ تَكُونَ مِعْيَارًا لِلْجَمِيعِ.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Cultures are different, not ranked — though some values, like justice and mercy, should be a standard for all.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نَقُولَ إِنَّ ثَقَافَةً أَفْضَلُ مِنْ أُخْرَى؟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قَدْ يَظُنُّ زَائِرٌ أَنَّ النَّاسَ فِي بَلَدٍ عَرَبِيٍّ غَيْرُ مُنَظَّمِينَ لِأَنَّ المَوَاعِيدَ مَرِنَةٌ، بَيْنَمَا الحَقِيقَةُ أَنَّهُمْ يُقَدِّمُونَ العَلَاقَاتِ عَلَى السَّاعَةِ.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visitor may think people somewhere are disorganised because appointments are flexible, whereas they put relationships before the clock.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عَلَى سُوءِ مُقَارَنَةٍ.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مُفِيدَةٌ، بِشَرْطِ أَنْ نُقَارِنَ لِنَفْهَمَ لَا لِنَحْكُمَ، وَأَنْ نَسْأَلَ أَهْلَ الثَّقَافَةِ أَنْفُسَهُمْ قَبْلَ أَنْ نَسْتَنْتِجَ.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useful — provided we compare to understand, not to judge, and ask the people of that culture before concluding.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المُقَارَنَةَ تُسَاعِدُنَا عَلَى التَّعَلُّمِ.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زَارَنِي صَدِيقٌ يَابَانِيٌّ، كُنْتُ أَظُنُّ أَنَّهُ بَارِدٌ لِأَنَّهُ لَا يُعَانِقُ، ثُمَّ فَهِمْتُ أَنَّ الانْحِنَاءَ عِنْدَهُمْ تَعْبِيرٌ أَعْمَقُ عَنِ الاحْتِرَامِ.</a:t>
            </a:r>
            <a:endParaRPr lang="ar-SA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a Japanese friend visited, I thought him cold because he didn’t hug — then I understood bowing is a deeper sign of respect for them.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تُطَبِّقُ هٰذَا فِي حَيَاتِكَ؟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كَتَبْتُ قَاعِدَةً وَاحِدَةً، لَكَانَتْ: "قَبْلَ أَنْ تَقُولَ: غَرِيبٌ، اسْأَلْ: لِمَاذَا؟"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“Before you say ‘strange’, ask ‘why?’”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كَتَبْتَ قَاعِدَةً وَاحِدَةً لِلْمُقَارَنَةِ بَيْنَ الثَّقَافَاتِ، فَمَا هِيَ؟</a:t>
            </a:r>
            <a:endParaRPr lang="ar-SA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nuanced thesis, a misjudgement example, conditions for fair comparison, a personal turning point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 وَهُنَاكَ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أَكْبَرُ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is bigger: your town or your grandparents’?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أَكْبَرُ: مَدِينَتُكَ أَمْ مَدِينَةُ أَجْدَادِكَ؟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فِي … أَحَرُّ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the weather hotter?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الطَّقْسُ أَحَرُّ؟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غَالِبًا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eat together at home?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تَأْكُلُونَ مَعًا فِي البَيْتِ؟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العُطْلَةُ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weekend days in your grandparents’ country?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أَيَّامُ العُطْلَةِ فِي بَلَدِ أَجْدَادِكَ؟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فِيهِمَا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the two cultures very different?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الثَّقَافَتَانِ مُخْتَلِفَتَانِ جِدًّا؟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use afʿal min (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أَحَرُّ مِنْ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مُقَارَنَاتٌ مِنْ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 … بَيْنَمَا هُنَاكَ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school here and in an Arab country.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المَدْرَسَةِ هُنَا وَفِي بَلَدٍ عَرَبِيٍّ.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الطَّعَامُ فَهُوَ … ؛ 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food differ?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يَخْتَلِفُ الطَّعَامُ؟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كِلْتَا الثَّقَافَتَيْنِ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there similar things?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أَشْيَاءُ مُتَشَابِهَةٌ؟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أَظُنُّ أَنَّ … أَمَّا الآنَ فَأَعْرِفُ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changed your mind about a culture?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رَأْيَكَ فِي ثَقَافَةٍ مَا؟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مَعَ 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would you prefer to live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تُفَضِّلُ أَنْ تَعِيشَ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baynamā or ammā … fa-, a hedge (ghāliban, baʿḍu) and a reason.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المُقَارَنَةُ وَالاحْتِرَامُ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لِأَنَّنَا … ؛ فَمَثَلًا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some comparisons lead to misunderstanding?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تَقُودُ بَعْضُ المُقَارَنَاتِ إِلَى سُوءِ الفَهْمِ؟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an immigrant adapt to the new country’s culture?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يَتَكَيَّفَ المُهَاجِرُ مَعَ ثَقَافَةِ البَلَدِ الجَدِيدِ؟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world more tolerant than it was?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العَالَمُ اليَوْمَ أَكْثَرُ تَسَامُحًا مِمَّا كَانَ؟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رَغْمَ … فَإِنَّ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all cultures share?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يَجْمَعُ الثَّقَافَاتِ كُلَّهَا؟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…، لَتَعَلَّمْتُ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lived a day in a totally different culture, what would you learn?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يَوْمًا فِي ثَقَافَةٍ مُخْتَلِفَةٍ تَمَامًا، مَاذَا تَتَعَلَّمُ؟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reason with mathalan, a concession with lā yaʿnī … bal, a balanced view, raghma … fa-inna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مَدِينَتِي أَكْبَرُ مِنْ مَدِينَةِ أَجْدَادِي.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town is bigger than my grandparents’.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أَكْبَرُ: مَدِينَتُكَ أَمْ مَدِينَةُ أَجْدَادِكَ؟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فِي مِصْرَ أَحَرُّ مِنْ بَرِيطَانْيَا.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Egypt is hotter than Britain.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الطَّقْسُ أَحَرُّ؟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غَالِبًا نَأْكُلُ العَشَاءَ مَعًا.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usually dinner together.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تَأْكُلُونَ مَعًا فِي البَيْتِ؟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العُطْلَةُ هُنَاكَ الجُمُعَةُ وَالسَّبْتُ.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Friday and Saturday there.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أَيَّامُ العُطْلَةِ فِي بَلَدِ أَجْدَادِكَ؟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فِيهِمَا اخْتِلَافَاتٌ، لٰكِنْ فِيهِمَا تَشَابُهٌ أَيْضًا.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differences, but similarities too.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الثَّقَافَتَانِ مُخْتَلِفَتَانِ جِدًّا؟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afʿal min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 نَدْرُسُ فِي مَجْمُوعَاتٍ صَغِيرَةٍ، بَيْنَمَا الصُّفُوفُ هُنَاكَ غَالِبًا أَكْبَرُ، وَالطُّلَّابُ يَقِفُونَ عِنْدَمَا يَدْخُلُ المُعَلِّمُ.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Here we study in small groups; there classes are often bigger and students stand when the teacher enters.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المَدْرَسَةِ هُنَا وَفِي بَلَدٍ عَرَبِيٍّ.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الطَّعَامُ فَهُوَ أَكْثَرُ تَوَابِلَ عِنْدَنَا؛ مَثَلًا، نَضَعُ الكَمُّونَ فِي كُلِّ شَيْءٍ تَقْرِيبًا!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food is spicier — we put cumin in almost everything!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يَخْتَلِفُ الطَّعَامُ؟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كِلْتَا الثَّقَافَتَيْنِ يُحِبُّ النَّاسُ كُرَةَ القَدَمِ، وَيَحْتَرِمُونَ كِبَارَ السِّنِّ.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both, people love football and respect the elderly.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أَشْيَاءُ مُتَشَابِهَةٌ؟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أَظُنُّ أَنَّ الإِنْجْلِيزَ لَا يُحِبُّونَ الضُّيُوفَ، أَمَّا الآنَ فَأَعْرِفُ أَنَّهُمْ يُحِبُّونَ الدَّعَوَاتِ المُخَطَّطَ لَهَا مُسْبَقًا.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thought the English didn’t like guests; now I know they like invitations planned ahead.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رَأْيَكَ فِي ثَقَافَةٍ مَا؟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بَرِيطَانْيَا لِلدِّرَاسَةِ، مَعَ أَنَّ الطَّقْسَ أَبْرَدُ، لٰكِنَّنِي سَأَقْضِي الصَّيْفَ دَائِمًا مَعَ أَقَارِبِي فِي السُّودَانِ.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Britain for study, though it’s colder — but I’ll always spend summers with relatives in Sudan.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تُفَضِّلُ أَنْ تَعِيشَ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contrast + hedging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لِأَنَّنَا نَحْكُمُ عَلَى الآخَرِينَ بِمَقَايِيسِنَا نَحْنُ؛ فَمَثَلًا، مَا نَرَاهُ "صَوْتًا عَالِيًا" قَدْ يَكُونُ عِنْدَهُمْ تَعْبِيرًا عَنِ الحَمَاسِ لَا الغَضَبِ.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judge others by our own standards: what we call “loud” may be enthusiasm, not anger, for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تَقُودُ بَعْضُ المُقَارَنَاتِ إِلَى سُوءِ الفَهْمِ؟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عَلَيْهِ أَنْ يَحْتَرِمَ القَوَانِينَ وَالعَادَاتِ العَامَّةَ، غَيْرَ أَنَّ التَّكَيُّفَ لَا يَعْنِي أَنْ يَنْسَى ثَقَافَتَهُ، بَلْ أَنْ يَبْنِيَ جِسْرًا بَيْنَهُمَا.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should respect laws and public customs, but adapting doesn’t mean forgetting their culture — it means building a bridge.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يَتَكَيَّفَ المُهَاجِرُ مَعَ ثَقَافَةِ البَلَدِ الجَدِيدِ؟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نَعْرِفُ عَنْ بَعْضِنَا أَكْثَرَ بِفَضْلِ الإِنْتَرْنِتِ، وَمِنْ نَاحِيَةٍ أُخْرَى، تَنْتَشِرُ الصُّوَرُ النَّمَطِيَّةُ أَسْرَعَ مِنْ أَيِّ وَقْتٍ مَضَى.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know more about each other thanks to the internet, but stereotypes spread faster than ever.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العَالَمُ اليَوْمَ أَكْثَرُ تَسَامُحًا مِمَّا كَانَ؟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maqāyīsunā naḥnu, lā al-ghaḍab, lā yaʿnī … bal an, asraʿ min ayyi waqtin, raghma … fa-inna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رَغْمَ اخْتِلَافِ اللُّغَاتِ وَالأَطْعِمَةِ، فَإِنَّ كُلَّ الثَّقَافَاتِ تُحِبُّ الأَطْفَالَ، وَتُكْرِمُ الضَّيْفَ، وَتَحْزَنُ عَلَى الفَقْدِ.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Despite different languages and food, all cultures love children, honour guests and grieve loss.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يَجْمَعُ الثَّقَافَاتِ كُلَّهَا؟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يَوْمًا مَعَ عَائِلَةٍ فِي قَرْيَةٍ يَابَانِيَّةٍ، لَتَعَلَّمْتُ الصَّمْتَ وَالدِّقَّةَ، وَلَأَدْرَكْتُ أَنَّ عَادَاتِي لَيْسَتِ الطَّرِيقَةَ الوَحِيدَةَ لِلْحَيَاةِ.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a family in a Japanese village I’d learn silence and precision, and realise my habits aren’t the only way to live.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يَوْمًا فِي ثَقَافَةٍ مُخْتَلِفَةٍ تَمَامًا، مَاذَا تَتَعَلَّمُ؟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maqāyīsunā naḥnu, lā al-ghaḍab, lā yaʿnī … bal an, asraʿ min ayyi waqtin, raghma … fa-inna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with afʿal min (akbaru min, abkaru min).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one difference and one similarity.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baynamā or ammā … fa-.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hedged (ghāliban, baʿḍu an-nās, laysa al-jamīʿ).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“different, not better”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TE-L09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TE-L09 · Speaking Workshop — Comparing Cultures with Respect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2026-10-11T14:51:58Z</dcterms:created>
  <dcterms:modified xsi:type="dcterms:W3CDTF">2026-10-11T14:51:58Z</dcterms:modified>
</cp:coreProperties>
</file>