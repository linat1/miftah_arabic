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ADVANCED TOPIC E · TE-L08 — Travel, Cultural Exchange and Understanding. Website: Advanced Topics › Topic E (The International World) › Lesson 8.
The website builds this lesson on the P3-L07 lesson engine, with the Topic focus “Explain how travel and exchange can broaden knowledge and challenge assumptions.” (grammar: Past experience; future; cause and result; skills: Speaking · Writing) and the application challenge “Respectful visitor role-play”. This deck follows the same engine, re-sequenced for Topic E: lesson references now point to Topic E codes (lessons outside Topic E keep their website code), and the challenge is added before the speaking task.
No year group: Topic lessons are taught to any class following the Advanced Topics route.
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Progression › Topic E Travel, Holidays and Transport › TE-L08. The website lesson “Cultural Sensitivity in Travel — Being a Respectful Visitor”: vocabulary, grammar rules and quiz, patterns, common mistakes, sorter, listening, reading, speaking prompts and model, writing task and model, differentiation, final check and the lesson mission. Picture match: website visual game “Cultural Sensitivity in Travel — Being a Respectful Visitor”.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four advice sentences with yustaḥsan an and yajib an (website Core). Develop: add a yaḥẓur rule and a yasmaḥ bi- permission. Stretch: a full 100–110-word cultural guide with a reported tip and a Type 2 reflection.
• Our students are often the experts here: many know mosque etiquette, Ramadan courtesy and hospitality customs from home. Invite them to advise “a visitor to our community” — it builds pride and confidence.
• Mosque etiquette in the texts: taking off shoes is for everyone; covering the head (تُغَطِّيَ رَأْسَكِ) is expected of women visitors. Clarify gently if asked.
• Grammar link: the subjunctive after an was introduced in P3-L06 (website) (qarrartu an aljaʾa). Today adds yustaḥsan an and weak verbs: يَرْتَدِي → أَنْ يَرْتَدِيَ.
• TEACHER-WRITTEN ITEMS: waṣl alif shown without a kasra; rule headings and formulas in English and transliteration; sorter headings in transliteration; game card 1 not used (its waṣl alif carries a kasra); the modal, subjunctive, rules and guide tables are teacher-built from the website texts. All other website items are used as published.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test three of the five words prepared at the end of P3-L06 (website). Questions 4–5 retrieve the subjunctive after an and yuballigh ʿan (P3-L06, website) — today the subjunctive becomes polite advice.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Polite advice: yustaḥsan an + a verb in -a. Rules: yaḥẓur + object · yasmaḥ bi-.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احترام، ثقافت، لباس and عادت are shared. Careful with تقلید: in Urdu (and in fiqh) it means following / imitating; Arabic تَقَالِيدُ (sg. تَقْلِيدٌ) means traditions, customs.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Cultural sensitivity (website vocabulary (1 of 2)). Hear → Say → See → Use. Transliteration is printed for Core students (cover it for Develop/Stretch).
Cultural sensitivity: the nouns of a visitor’s guide. احْتِرَامُ المُقَدَّسَاتِ = respect for sacred places (mosques, shrines, holy sites); زَلَّةٌ ثَقَافِيَّةٌ = a cultural slip, a faux pas.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Cultural sensitivity (website vocabulary (2 of 2)). Hear → Say → See → Use. Transliteration is printed for Core students (cover it for Develop/Stretch).
Cultural sensitivity: the nouns of a visitor’s guide. احْتِرَامُ المُقَدَّسَاتِ = respect for sacred places (mosques, shrines, holy sites); زَلَّةٌ ثَقَافِيَّةٌ = a cultural slip, a faux pas.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Modal advice verbs (website vocabulary (1 of 2)). Hear → Say → See → Use. Transliteration is printed for Core students (cover it for Develop/Stretch).
Modal advice verbs: يُسْتَحْسَنُ أَنْ (polite) and يَجِبُ أَنْ (strong) + a verb in -a. Rules: يَحْظُرُ + object (prohibits), يَسْمَحُ بِـ (permits), يُفْضِي إِلَى (leads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Modal advice verbs (website vocabulary (2 of 2)). Hear → Say → See → Use. Transliteration is printed for Core students (cover it for Develop/Stretch).
FLEX: teach if time allows; otherwise these are on the website vocabulary tab for homework.
Modal advice verbs: يُسْتَحْسَنُ أَنْ (polite) and يَجِبُ أَنْ (strong) + a verb in -a. Rules: يَحْظُرُ + object (prohibits), يَسْمَحُ بِـ (permits), يُفْضِي إِلَى (leads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The subjunctive after أَنْ (website vocabulary (1 of 2)). Hear → Say → See → Use. Transliteration is printed for Core students (cover it for Develop/Stretch).
FLEX: teach if time allows; otherwise these are on the website vocabulary tab for homework.
The subjunctive after أَنْ: the verb ends in -a, even weak verbs — يَرْتَدِي → أَنْ يَرْتَدِيَ. Change the person to speak to the visitor: أَنْ تَتَعَلَّمَ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The subjunctive after أَنْ (website vocabulary (2 of 2)). Hear → Say → See → Use. Transliteration is printed for Core students (cover it for Develop/Stretch).
FLEX: teach if time allows; otherwise these are on the website vocabulary tab for homework.
The subjunctive after أَنْ: the verb ends in -a, even weak verbs — يَرْتَدِي → أَنْ يَرْتَدِيَ. Change the person to speak to the visitor: أَنْ تَتَعَلَّمَ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website rules 1–3, teaching points 1–2 and the website table.
يُسْتَحْسَنُ is passive (“it is considered good”) — so it never changes: يُسْتَحْسَنُ أَنْ يَتَعَلَّمَ / أَنْ تَتَعَلَّمِي / أَنْ نَتَعَلَّمَ.
Softer → stronger: يُسْتَحْسَنُ أَنْ (it is preferable) → يَنْبَغِي أَنْ (one should, P3-L05 (website) game) → يَجِبُ أَنْ (you must).
Islamic link for students who want it: مَكْرُوهٌ / مُسْتَحَبٌّ / وَاجِبٌ / حَرَامٌ share the same idea of graded advice.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website quiz questions 1–3, vocabulary group 3 (يَتَعَلَّمَ · يَحْتَرِمَ · يَرْتَدِيَ) and the listening and reading texts.
Weak verbs: ending in ـِي (يَرْتَدِي · يُغَطِّي · يَمْشِي) → add fatḥa: يَرْتَدِيَ. Ending in ـُو (يَدْعُو) → يَدْعُوَ. Ending in ـَى (يَسْعَى · يَنْسَى) → no visible change.
Row 4: a second verb joined with وَ is also subjunctive (أَنْ تَخْلَعَ … وَتُغَطِّيَ). To a woman: رَأْسَكِ (the website says رَأْسَكَ, addressing “you” in general).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3 — website rule “Rules: يَحْظُرُ / يَسْمَحُ بِـ”, teaching point 2 and mistakes 2–3. Card 3 uses the website vocabulary item يُفْضِي إِلَى.
On real signs you will see the noun forms: مَمْنُوعٌ التَّصْوِيرُ / يُمْنَعُ التَّصْوِيرُ (photography forbidden) · يُسْمَحُ بِالتَّصْوِيرِ (photography allowed). Note: with يَسْمَحُ, the thing permitted takes بِـ and the person takes لِـ: يَسْمَحُ لِلزُّوَّارِ بِالتَّصْوِيرِ.
Card 2: مَوَاقِعُ (non-human plural) → feminine verb تَسْمَحُ.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4 — website rule “Advice scenario and reflection” plus register tools from the listening, reading and writing model.
Row 1: دُعِيتَ = “you were invited” (passive of دَعَا). Row 2: يُعْتَبَرُ = “is considered” (passive). Row 4: احْتِرَامًا لِـ = “out of respect for” — an accusative maṣdar giving the reason (المَفْعُولُ لِأَجْلِهِ).
Row 5: قَلَّ (to become few) → لَقَلَّتِ الزَّلَّاتُ (faux pas would have been fewer) — feminine because الزَّلَّاتُ is a non-human plural.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Website overview: “يُسْتَحْسَنُ أَنْ and يَجِبُ أَنْ take a subjunctive verb (fatḥa); يَحْظُرُ and يَسْمَحُ بِـ state rules; both conditional types frame scenarios and reflections.”
• yustaḥsan an + subjunctive: Polite, impersonal advice; the verb takes a fatḥa.
• yajib an + subjunctive: A stronger obligation; still a subjunctive.
• Rules: yaḥẓur / yasmaḥ bi-: Prohibits (with an object) and permits (with بِـ).
• Advice scenario and reflection: Advise for a case, then reflect on a missed chance.
Website common error: Leaving the verb after أَنْ in the indicative (يَتَعَلَّمُ) instead of the subjunctive (يَتَعَلَّمَ), or adding بِـ after يَحْظُرُ.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4.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from the website writing model. Think aloud: “Start general: yuʿtabaru. Polite advice: yustaḥsanu AN — so yataʿallamA, yartadiyA. A scenario: idhā zurta masjidan, yajibu an takhlaʿA. A rule: yaḥẓuru + object — no bi-. A reported tip: akhbaranī … anna. Close with law … la-qallat.”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(“Respectful Visitor (Topic game)”)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TOPIC E GAME “Respectful Visitor”: respecting customs, asking the host, no photos where forbidden.
Website feedback lines: The traveller respects local customs. · The visitor asks rather than assumes. · The camera prohibition is respected.
FLEX: use it after the model sentences if the class is secure, or as the next lesson’s warm-up.
This is the website TOPIC game for this lesson (Advanced Topics page), not the pathway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(“Respectful Visitor (Topic game)”)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TOPIC E GAME “Respectful Visitor”: respecting customs, asking the host, no photos where forbidden.
Website feedback lines: The traveller respects local customs. · The visitor asks rather than assumes. · The camera prohibition is respected.
FLEX: use it after the model sentences if the class is secure, or as the next lesson’s warm-up.
This is the website TOPIC game for this lesson (Advanced Topics page), not the pathway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Cultural Sensitivity in Travel — Being a Respectful Visitor”)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card 1 not used). Then turn each into advice: يُسْتَحْسَنُ أَنْ يَتَعَلَّمَ الزَّائِرُ التَّحِيَّةَ المَحَلِّيَّةَ · يُسْتَحْسَنُ أَنْ يَحْتَرِمَ اللِّبَاسَ التَّقْلِيدِيَّ · يُسْتَحْسَنُ أَنْ يُجَرِّبَ الأَطْبَاقَ التَّقْلِيدِيَّةَ.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Cultural Sensitivity in Travel — Being a Respectful Visitor”)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card 1 not used). Then turn each into advice: يُسْتَحْسَنُ أَنْ يَتَعَلَّمَ الزَّائِرُ التَّحِيَّةَ المَحَلِّيَّةَ · يُسْتَحْسَنُ أَنْ يَحْتَرِمَ اللِّبَاسَ التَّقْلِيدِيَّ · يُسْتَحْسَنُ أَنْ يُجَرِّبَ الأَطْبَاقَ التَّقْلِيدِيَّةَ.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(3 min) — the website live builder: “Build a cultural guide from a piece of advice, a rule and a reflection.” Website feedback: any three different combinations work.
Core: read row 1 across. Develop: change column 1 to “you”: يُسْتَحْسَنُ أَنْ تَتَعَلَّمَ / تَرْتَدِيَ / تَتَجَنَّبَ. Stretch: write your own column-3 reflection about our school: لَوْ عَرَفَ الزُّوَّارُ … ، لَـ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put the right verb in front of each card: يُسْتَحْسَنُ / يَجِبُ + أَنْ … · يَحْظُرُ المَوْقِعُ … · يَسْمَحُ المَتْحَفُ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put the right verb in front of each card: يُسْتَحْسَنُ / يَجِبُ + أَنْ … · يَحْظُرُ المَوْقِعُ … · يَسْمَحُ المَتْحَفُ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5,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2 and 3. Develop / Stretch: all 5 — and write down every verb after an.
Listen 1: just listen. Listen 2: note answers. Then chat the letters.
Support: after the second listening, show the read-along slide (Arabic + English, line by line) for Core students.
SCRIPT (read aloud):
يُعْتَبَرُ الاحْتِرَامُ الثَّقَافِيُّ رَكِيزَةً أَسَاسِيَّةً لِأَيِّ رِحْلَةٍ نَاجِحَةٍ إِلَى العَالَمِ العَرَبِيِّ. يُشَارُ إِلَى أَنَّ الزُّوَّارَ الَّذِينَ يَحْتَرِمُونَ العَادَاتِ المَحَلِّيَّةَ يَحْظَوْنَ بِاسْتِقْبَالٍ أَدْفَأَ. يُسْتَحْسَنُ أَنْ يَرْتَدِيَ الزَّائِرُ مَلَابِسَ مُحْتَشِمَةً فِي الأَمَاكِنِ العَامَّةِ. وَإِذَا زُرْتَ مَسْجِدًا، يَجِبُ أَنْ تَخْلَعَ حِذَاءَكَ وَتُغَطِّيَ رَأْسَكَ. كَمَا يَحْظُرُ بَعْضُ المَوَاقِعِ التَّصْوِيرَ، بَيْنَمَا تَسْمَحُ مَوَاقِعُ أُخْرَى بِهِ دُونَ فَلَاشٍ. وَأَخْبَرَنِي مُرْشِدٌ مَحَلِّيٌّ أَنَّهُ مِنَ المُسْتَحْسَنِ تَعَلُّمُ التَّحِيَّةِ العَرَبِيَّةِ، وَقَالَ إِنَّ هٰذِهِ البَادِرَةَ تُعَبِّرُ عَنِ احْتِرَامٍ عَمِيقٍ. وَلَوْ تَعَلَّمَ كُلُّ سَائِحٍ شَيْئًا مِنْ لُغَةِ البَلَدِ، لَكَانَ التَّبَادُلُ الثَّقَافِيُّ أَعْمَقَ وَأَغْنَى.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E APPLICATION CHALLENGE (5 min — it takes the speaking-rehearsal slot; the website speaking slide after it is FLEX) — from the website Topic page: “Solve a cultural-exchange scenario involving greeting, invitation or local custom. Ask rather than assume, then explain the most respectful response.”
Website Topic E challenge “Respectful visitor role-play”. Scenarios: ① دَعَاكَ صَدِيقٌ إِلَى الغَدَاءِ وَلَا تَعْرِفُ هَلْ تَخْلَعُ حِذَاءَكَ · ② تُرِيدُ أَنْ تَلْتَقِطَ صُورَةً فِي سُوقٍ تَقْلِيدِيٍّ · ③ قَدَّمَ لَكَ المُضِيفُ قَهْوَةً وَأَنْتَ لَا تَشْرَبُهَا.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FLEX — the Topic E challenge before this slide is the main speaking task; use these website prompts if time allows or as homework rehearsal.
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وَلَوْ تَعَلَّمَ لُغَةَ البَلَدِ؟ (Reflection)
B: لَوْ تَعَلَّمَ شَيْئًا مِنَ العَرَبِيَّةِ، لَكَانَ التَّبَادُلُ الثَّقَافِيُّ أَعْمَقَ بِكَثِيرٍ. (Type 2 reflection)
Website prompts and model. Pair task: “welcome to our community” — A is a visitor to your mosque or home; B gives three pieces of advice (يُسْتَحْسَنُ أَنْ · يَجِبُ أَنْ · يَحْظُرُ / يَسْمَحُ بِـ). To a girl: اسْتَعْمِلِي · تَنْصَحِينَ.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Write four advice sentences with يُسْتَحْسَنُ أَنْ and يَجِبُ أَنْ. · Develop — Add a يَحْظُرُ rule and a يَسْمَحُ بِـ permission. · Stretch — Write a full guide with a reported tip and a Type 2 reflection.
Website writing task (Stretch): Write a cultural guide of one hundred to one hundred and ten words for visitors to an Arab country. Use يُسْتَحْسَنُ أَنْ + subjunctive twice, يَجِبُ أَنْ and يَحْظُرُ, a Type 1 scenario, a reported cultural tip and a Type 2 reflection.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Website writing model. Evidence: يُسْتَحْسَنُ أَنْ يَتَعَلَّمَ · يُسْتَحْسَنُ أَنْ يَرْتَدِيَ · إِذَا زُرْتَ مَسْجِدًا، يَجِبُ أَنْ تَخْلَعَ … وَتُغَطِّيَ · يَحْظُرُ … التَّصْوِيرَ · أَخْبَرَنِي … أَنَّهُ · قَالَ إِنَّ · لَوْ عَرَفَ … لَقَلَّتِ … وَلَكَانَ.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(TE-L09 · Comparing Cultures with Respect) · Reading — Travel and Tourism Texts) will spend class time USING this language, so students prepare it tonight — short, simple, easy to access (school guidance: “Simple, Short, Interesting, Relevant, Easy to access”). The five words come from the website P3-L08 (website) vocabulary (reading travel texts).
Follow-up: the next Do Now tests two of these words (Flipped Learning: keep it short AND follow up).
Homework by route (website tasks). No internet? Students copy the five words from this slide into their book now.
TOPIC E: the five words are the ones the TE-L09 Do Now tests (preparation list of the website D6-L04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slideLayout" Target="../slideLayouts/slideLayout1.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slideLayout" Target="../slideLayouts/slideLayout1.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slideLayout" Target="../slideLayouts/slideLayout1.xml"/><Relationship Id="rId8"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slideLayout" Target="../slideLayouts/slideLayout1.xml"/><Relationship Id="rId8"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34" charset="0"/>
                <a:ea typeface="Amiri" pitchFamily="34" charset="-122"/>
                <a:cs typeface="Amiri" pitchFamily="34" charset="-120"/>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Al Madina Online School</a:t>
            </a:r>
            <a:endParaRPr lang="en-US" sz="1400" dirty="0"/>
          </a:p>
          <a:p>
            <a:pPr indent="0" marL="0">
              <a:buNone/>
            </a:pPr>
            <a:r>
              <a:rPr lang="en-US" sz="800" b="1" spc="200" kern="0" dirty="0">
                <a:solidFill>
                  <a:srgbClr val="D4AF37"/>
                </a:solidFill>
                <a:latin typeface="Calibri" pitchFamily="34" charset="0"/>
                <a:ea typeface="Calibri" pitchFamily="34" charset="-122"/>
                <a:cs typeface="Calibri" pitchFamily="34" charset="-120"/>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ea typeface="Calibri" pitchFamily="34" charset="-122"/>
                <a:cs typeface="Calibri" pitchFamily="34" charset="-120"/>
              </a:rPr>
              <a:t>CAMBRIDGE IGCSE ARABIC 0544  ·  ADVANCED TOPIC E  ·  TE-L08</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ea typeface="Cambria" pitchFamily="34" charset="-122"/>
                <a:cs typeface="Cambria" pitchFamily="34" charset="-120"/>
              </a:rPr>
              <a:t>TE-L08</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ea typeface="Cambria" pitchFamily="34" charset="-122"/>
                <a:cs typeface="Cambria" pitchFamily="34" charset="-120"/>
              </a:rPr>
              <a:t>Travel, Cultural Exchange and Understanding</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34" charset="0"/>
                <a:ea typeface="Amiri" pitchFamily="34" charset="-122"/>
                <a:cs typeface="Amiri" pitchFamily="34" charset="-120"/>
              </a:rPr>
              <a:t>السَّفَرُ وَالتَّبَادُلُ الثَّقَافِيُّ وَالتَّفَاهُمُ</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ea typeface="Calibri" pitchFamily="34" charset="-122"/>
                <a:cs typeface="Calibri" pitchFamily="34" charset="-120"/>
              </a:rPr>
              <a:t>Explain how travel and exchange can broaden knowledge and challenge assumptions.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LESSON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TE-L08 · Advanced Topic E · The International World</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DURATION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LEVEL</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Topic E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ON THE WEBSITE</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Advanced Topics › Topic E › TE-L08</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TE-L08 · Cultural Exchange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TE-L08</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Camera on</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Mic muted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Chat for learning</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Raise your hand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Think</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Rehearse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Build</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Challenge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Share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Summarise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ea typeface="Calibri" pitchFamily="34" charset="-122"/>
                <a:cs typeface="Calibri" pitchFamily="34" charset="-120"/>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 / 52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TE-L08 · Cultural Exchange</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TE-L08</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34" charset="0"/>
                <a:ea typeface="Amiri" pitchFamily="34" charset="-122"/>
                <a:cs typeface="Amiri" pitchFamily="34" charset="-120"/>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Four modals, the subjunctive with weak verbs, rules with yaḥẓur / yasmaḥ bi-, guide register.</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34" charset="0"/>
                <a:ea typeface="Amiri" pitchFamily="34" charset="-122"/>
                <a:cs typeface="Amiri" pitchFamily="34" charset="-120"/>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Match cultural pictures, build a cultural guide, sort advice / prohibition / permission.</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34" charset="0"/>
                <a:ea typeface="Amiri" pitchFamily="34" charset="-122"/>
                <a:cs typeface="Amiri" pitchFamily="34" charset="-120"/>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34" charset="0"/>
                <a:ea typeface="Amiri" pitchFamily="34" charset="-122"/>
                <a:cs typeface="Amiri" pitchFamily="34" charset="-120"/>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34" charset="0"/>
                <a:ea typeface="Amiri" pitchFamily="34" charset="-122"/>
                <a:cs typeface="Amiri" pitchFamily="34" charset="-120"/>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Get ready at home for TE-L09.</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34" charset="0"/>
                <a:ea typeface="Amiri" pitchFamily="34" charset="-122"/>
                <a:cs typeface="Amiri" pitchFamily="34" charset="-120"/>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 / 52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TE-L08 · Cultural Exchange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حَسَاسِيَّةٌ ثَقَافِيَّةٌ</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cultural heritage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cultural sensitivity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cultural festival</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قَوَاعِدُ اللِّبَاسِ</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dress code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house rules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clothes shop</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يُسْتَحْسَنُ أَنْ</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is forbidden that</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is possible that</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is preferable that</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a:t>
            </a:r>
            <a:pPr algn="l" indent="0" marL="0">
              <a:buNone/>
            </a:pPr>
            <a:r>
              <a:rPr lang="ar-SA" altLang="en-US" sz="1650" b="1" dirty="0">
                <a:solidFill>
                  <a:srgbClr val="1B3B6F"/>
                </a:solidFill>
                <a:latin typeface="Amiri" pitchFamily="34" charset="0"/>
                <a:ea typeface="Amiri" pitchFamily="34" charset="-122"/>
                <a:cs typeface="Amiri" pitchFamily="34" charset="-120"/>
              </a:rPr>
              <a:t>قَرَّرْتُ أَنْ</a:t>
            </a:r>
            <a:pPr algn="l" indent="0" marL="0">
              <a:buNone/>
            </a:pPr>
            <a:r>
              <a:rPr lang="en-US" sz="1250" b="1" dirty="0">
                <a:solidFill>
                  <a:srgbClr val="1B3B6F"/>
                </a:solidFill>
                <a:latin typeface="Calibri" pitchFamily="34" charset="0"/>
                <a:ea typeface="Calibri" pitchFamily="34" charset="-122"/>
                <a:cs typeface="Calibri" pitchFamily="34" charset="-120"/>
              </a:rPr>
              <a:t> ___ </a:t>
            </a:r>
            <a:pPr algn="l" indent="0" marL="0">
              <a:buNone/>
            </a:pPr>
            <a:r>
              <a:rPr lang="ar-SA" altLang="en-US" sz="1650" b="1" dirty="0">
                <a:solidFill>
                  <a:srgbClr val="1B3B6F"/>
                </a:solidFill>
                <a:latin typeface="Amiri" pitchFamily="34" charset="0"/>
                <a:ea typeface="Amiri" pitchFamily="34" charset="-122"/>
                <a:cs typeface="Amiri" pitchFamily="34" charset="-120"/>
              </a:rPr>
              <a:t>إِلَى السَّفَارَةِ</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أَلْجَأُ</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لَجَأْتُ</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أَلْجَأَ</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a:t>
            </a:r>
            <a:pPr algn="l" indent="0" marL="0">
              <a:buNone/>
            </a:pPr>
            <a:r>
              <a:rPr lang="ar-SA" altLang="en-US" sz="1650" b="1" dirty="0">
                <a:solidFill>
                  <a:srgbClr val="1B3B6F"/>
                </a:solidFill>
                <a:latin typeface="Amiri" pitchFamily="34" charset="0"/>
                <a:ea typeface="Amiri" pitchFamily="34" charset="-122"/>
                <a:cs typeface="Amiri" pitchFamily="34" charset="-120"/>
              </a:rPr>
              <a:t>يُبَلِّغُ المُسَافِرُ</a:t>
            </a:r>
            <a:pPr algn="l" indent="0" marL="0">
              <a:buNone/>
            </a:pPr>
            <a:r>
              <a:rPr lang="en-US" sz="1250" b="1" dirty="0">
                <a:solidFill>
                  <a:srgbClr val="1B3B6F"/>
                </a:solidFill>
                <a:latin typeface="Calibri" pitchFamily="34" charset="0"/>
                <a:ea typeface="Calibri" pitchFamily="34" charset="-122"/>
                <a:cs typeface="Calibri" pitchFamily="34" charset="-120"/>
              </a:rPr>
              <a:t> ___ </a:t>
            </a:r>
            <a:pPr algn="l" indent="0" marL="0">
              <a:buNone/>
            </a:pPr>
            <a:r>
              <a:rPr lang="ar-SA" altLang="en-US" sz="1650" b="1" dirty="0">
                <a:solidFill>
                  <a:srgbClr val="1B3B6F"/>
                </a:solidFill>
                <a:latin typeface="Amiri" pitchFamily="34" charset="0"/>
                <a:ea typeface="Amiri" pitchFamily="34" charset="-122"/>
                <a:cs typeface="Amiri" pitchFamily="34" charset="-120"/>
              </a:rPr>
              <a:t>سَرِقَةِ حَقِيبَتِهِ</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عَنْ</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بِـ</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إِلَى</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ea typeface="Calibri" pitchFamily="34" charset="-122"/>
                <a:cs typeface="Calibri" pitchFamily="34" charset="-120"/>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ea typeface="Calibri" pitchFamily="34" charset="-122"/>
                <a:cs typeface="Calibri" pitchFamily="34" charset="-120"/>
              </a:rPr>
              <a:t>Work on your own in silence.</a:t>
            </a:r>
            <a:endParaRPr lang="en-US" sz="1350" dirty="0"/>
          </a:p>
          <a:p>
            <a:pPr algn="l" indent="0" marL="0">
              <a:buNone/>
            </a:pPr>
            <a:r>
              <a:rPr lang="en-US" sz="1350" dirty="0">
                <a:solidFill>
                  <a:srgbClr val="1F2A37"/>
                </a:solidFill>
                <a:latin typeface="Calibri" pitchFamily="34" charset="0"/>
                <a:ea typeface="Calibri" pitchFamily="34" charset="-122"/>
                <a:cs typeface="Calibri" pitchFamily="34" charset="-120"/>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ea typeface="Consolas" pitchFamily="34" charset="-122"/>
                <a:cs typeface="Consolas" pitchFamily="34" charset="-120"/>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ea typeface="Calibri" pitchFamily="34" charset="-122"/>
                <a:cs typeface="Calibri" pitchFamily="34" charset="-120"/>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 / 52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TE-L08 · Cultural Exchange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حَسَاسِيَّةٌ ثَقَافِيَّةٌ</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cultural heritage</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cultural sensitivity</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cultural festival</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 (P3-L06, website).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قَوَاعِدُ اللِّبَاسِ</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the dress code</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 house rules</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 clothes shop</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 (P3-L06, website).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يُسْتَحْسَنُ أَنْ</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it is forbidden that</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it is possible that</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it is preferable that</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 (P3-L06, website).</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a:t>
            </a:r>
            <a:pPr algn="l" indent="0" marL="0">
              <a:buNone/>
            </a:pPr>
            <a:r>
              <a:rPr lang="ar-SA" altLang="en-US" sz="1650" b="1" dirty="0">
                <a:solidFill>
                  <a:srgbClr val="1B3B6F"/>
                </a:solidFill>
                <a:latin typeface="Amiri" pitchFamily="34" charset="0"/>
                <a:ea typeface="Amiri" pitchFamily="34" charset="-122"/>
                <a:cs typeface="Amiri" pitchFamily="34" charset="-120"/>
              </a:rPr>
              <a:t>قَرَّرْتُ أَنْ</a:t>
            </a:r>
            <a:pPr algn="l" indent="0" marL="0">
              <a:buNone/>
            </a:pPr>
            <a:r>
              <a:rPr lang="en-US" sz="1250" b="1" dirty="0">
                <a:solidFill>
                  <a:srgbClr val="1B3B6F"/>
                </a:solidFill>
                <a:latin typeface="Calibri" pitchFamily="34" charset="0"/>
                <a:ea typeface="Calibri" pitchFamily="34" charset="-122"/>
                <a:cs typeface="Calibri" pitchFamily="34" charset="-120"/>
              </a:rPr>
              <a:t> ___ </a:t>
            </a:r>
            <a:pPr algn="l" indent="0" marL="0">
              <a:buNone/>
            </a:pPr>
            <a:r>
              <a:rPr lang="ar-SA" altLang="en-US" sz="1650" b="1" dirty="0">
                <a:solidFill>
                  <a:srgbClr val="1B3B6F"/>
                </a:solidFill>
                <a:latin typeface="Amiri" pitchFamily="34" charset="0"/>
                <a:ea typeface="Amiri" pitchFamily="34" charset="-122"/>
                <a:cs typeface="Amiri" pitchFamily="34" charset="-120"/>
              </a:rPr>
              <a:t>إِلَى السَّفَارَةِ</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أَلْجَأُ</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لَجَأْتُ</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أَلْجَأَ</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P3-L06 (website): after an, the verb ends in -a.</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a:t>
            </a:r>
            <a:pPr algn="l" indent="0" marL="0">
              <a:buNone/>
            </a:pPr>
            <a:r>
              <a:rPr lang="ar-SA" altLang="en-US" sz="1650" b="1" dirty="0">
                <a:solidFill>
                  <a:srgbClr val="1B3B6F"/>
                </a:solidFill>
                <a:latin typeface="Amiri" pitchFamily="34" charset="0"/>
                <a:ea typeface="Amiri" pitchFamily="34" charset="-122"/>
                <a:cs typeface="Amiri" pitchFamily="34" charset="-120"/>
              </a:rPr>
              <a:t>يُبَلِّغُ المُسَافِرُ</a:t>
            </a:r>
            <a:pPr algn="l" indent="0" marL="0">
              <a:buNone/>
            </a:pPr>
            <a:r>
              <a:rPr lang="en-US" sz="1250" b="1" dirty="0">
                <a:solidFill>
                  <a:srgbClr val="1B3B6F"/>
                </a:solidFill>
                <a:latin typeface="Calibri" pitchFamily="34" charset="0"/>
                <a:ea typeface="Calibri" pitchFamily="34" charset="-122"/>
                <a:cs typeface="Calibri" pitchFamily="34" charset="-120"/>
              </a:rPr>
              <a:t> ___ </a:t>
            </a:r>
            <a:pPr algn="l" indent="0" marL="0">
              <a:buNone/>
            </a:pPr>
            <a:r>
              <a:rPr lang="ar-SA" altLang="en-US" sz="1650" b="1" dirty="0">
                <a:solidFill>
                  <a:srgbClr val="1B3B6F"/>
                </a:solidFill>
                <a:latin typeface="Amiri" pitchFamily="34" charset="0"/>
                <a:ea typeface="Amiri" pitchFamily="34" charset="-122"/>
                <a:cs typeface="Amiri" pitchFamily="34" charset="-120"/>
              </a:rPr>
              <a:t>سَرِقَةِ حَقِيبَتِهِ</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عَنْ</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بِـ</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إِلَى</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P3-L06 (website): yuballigh is fixed with ʿan.</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ea typeface="Calibri" pitchFamily="34" charset="-122"/>
                <a:cs typeface="Calibri" pitchFamily="34" charset="-120"/>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ea typeface="Calibri" pitchFamily="34" charset="-122"/>
                <a:cs typeface="Calibri" pitchFamily="34" charset="-120"/>
              </a:rPr>
              <a:t>Polite advice: yustaḥsan an + a verb in -a. Rules: yaḥẓur + object · yasmaḥ bi-.</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34" charset="0"/>
                <a:ea typeface="Amiri" pitchFamily="34" charset="-122"/>
                <a:cs typeface="Amiri" pitchFamily="34" charset="-120"/>
              </a:rPr>
              <a:t>يُسْتَحْسَنُ أَنْ </a:t>
            </a:r>
            <a:pPr rtl="1" algn="ctr" indent="0" marL="0">
              <a:lnSpc>
                <a:spcPct val="120000"/>
              </a:lnSpc>
              <a:buNone/>
            </a:pPr>
            <a:r>
              <a:rPr lang="ar-SA" altLang="en-US" sz="1950" b="1" dirty="0">
                <a:solidFill>
                  <a:srgbClr val="0E7C86"/>
                </a:solidFill>
                <a:latin typeface="Amiri" pitchFamily="34" charset="0"/>
                <a:ea typeface="Amiri" pitchFamily="34" charset="-122"/>
                <a:cs typeface="Amiri" pitchFamily="34" charset="-120"/>
              </a:rPr>
              <a:t>يَتَعَلَّمَ</a:t>
            </a:r>
            <a:pPr rtl="1" algn="ctr" indent="0" marL="0">
              <a:lnSpc>
                <a:spcPct val="120000"/>
              </a:lnSpc>
              <a:buNone/>
            </a:pPr>
            <a:r>
              <a:rPr lang="ar-SA" altLang="en-US" sz="1950" b="1" dirty="0">
                <a:solidFill>
                  <a:srgbClr val="1B3B6F"/>
                </a:solidFill>
                <a:latin typeface="Amiri" pitchFamily="34" charset="0"/>
                <a:ea typeface="Amiri" pitchFamily="34" charset="-122"/>
                <a:cs typeface="Amiri" pitchFamily="34" charset="-120"/>
              </a:rPr>
              <a:t> · يَحْظُرُ </a:t>
            </a:r>
            <a:pPr rtl="1" algn="ctr" indent="0" marL="0">
              <a:lnSpc>
                <a:spcPct val="120000"/>
              </a:lnSpc>
              <a:buNone/>
            </a:pPr>
            <a:r>
              <a:rPr lang="ar-SA" altLang="en-US" sz="1950" b="1" dirty="0">
                <a:solidFill>
                  <a:srgbClr val="1D5FBF"/>
                </a:solidFill>
                <a:latin typeface="Amiri" pitchFamily="34" charset="0"/>
                <a:ea typeface="Amiri" pitchFamily="34" charset="-122"/>
                <a:cs typeface="Amiri" pitchFamily="34" charset="-120"/>
              </a:rPr>
              <a:t>التَّصْوِيرَ</a:t>
            </a:r>
            <a:pPr rtl="1" algn="ctr" indent="0" marL="0">
              <a:lnSpc>
                <a:spcPct val="120000"/>
              </a:lnSpc>
              <a:buNone/>
            </a:pPr>
            <a:r>
              <a:rPr lang="ar-SA" altLang="en-US" sz="1950" b="1" dirty="0">
                <a:solidFill>
                  <a:srgbClr val="1B3B6F"/>
                </a:solidFill>
                <a:latin typeface="Amiri" pitchFamily="34" charset="0"/>
                <a:ea typeface="Amiri" pitchFamily="34" charset="-122"/>
                <a:cs typeface="Amiri" pitchFamily="34" charset="-120"/>
              </a:rPr>
              <a:t> · يَسْمَحُ </a:t>
            </a:r>
            <a:pPr rtl="1" algn="ctr" indent="0" marL="0">
              <a:lnSpc>
                <a:spcPct val="120000"/>
              </a:lnSpc>
              <a:buNone/>
            </a:pPr>
            <a:r>
              <a:rPr lang="ar-SA" altLang="en-US" sz="1950" b="1" dirty="0">
                <a:solidFill>
                  <a:srgbClr val="7B3FA0"/>
                </a:solidFill>
                <a:latin typeface="Amiri" pitchFamily="34" charset="0"/>
                <a:ea typeface="Amiri" pitchFamily="34" charset="-122"/>
                <a:cs typeface="Amiri" pitchFamily="34" charset="-120"/>
              </a:rPr>
              <a:t>بِالتَّصْوِيرِ</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5 / 52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TE-L08 · Cultural Exchange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TE-L08</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34" charset="0"/>
                <a:ea typeface="Amiri" pitchFamily="34" charset="-122"/>
                <a:cs typeface="Amiri" pitchFamily="34" charset="-120"/>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Use cultural-sensitivity vocabulary.</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Give polite advice with yustaḥsan an + a verb in -a.</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State rules with yaḥẓur + object and yasmaḥ bi-.</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Write a cultural guide for visitors.</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ea typeface="Calibri" pitchFamily="34" charset="-122"/>
                <a:cs typeface="Calibri" pitchFamily="34" charset="-120"/>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name 8 cultural-sensitivity words.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advise with yustaḥsan an + a verb in -a.</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ea typeface="Calibri" pitchFamily="34" charset="-122"/>
                <a:cs typeface="Calibri" pitchFamily="34" charset="-120"/>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state a rule with yaḥẓur and yasmaḥ bi-.</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use weak verbs after an (yartadiya).</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ea typeface="Calibri" pitchFamily="34" charset="-122"/>
                <a:cs typeface="Calibri" pitchFamily="34" charset="-120"/>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add a reported tip and a Type 2 reflection.</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write a cultural guide.</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6 / 52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ea typeface="Calibri" pitchFamily="34" charset="-122"/>
                <a:cs typeface="Calibri" pitchFamily="34" charset="-120"/>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34" charset="0"/>
                <a:ea typeface="Amiri" pitchFamily="34" charset="-122"/>
                <a:cs typeface="Amiri" pitchFamily="34" charset="-120"/>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ea typeface="Calibri" pitchFamily="34" charset="-122"/>
                <a:cs typeface="Calibri" pitchFamily="34" charset="-120"/>
              </a:rPr>
              <a:t>24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1</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Cultural sensitivity · 8</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2</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Modal advice verbs · 8</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3</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The subjunctive after أَنْ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ea typeface="Calibri" pitchFamily="34" charset="-122"/>
                <a:cs typeface="Calibri" pitchFamily="34" charset="-120"/>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احْتِرَامٌ</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‎احترام‎ </a:t>
            </a:r>
            <a:pPr indent="0" marL="0">
              <a:buNone/>
            </a:pPr>
            <a:r>
              <a:rPr lang="en-US" sz="950" b="1" dirty="0">
                <a:solidFill>
                  <a:srgbClr val="2E8B57"/>
                </a:solidFill>
                <a:latin typeface="Calibri" pitchFamily="34" charset="0"/>
                <a:ea typeface="Calibri" pitchFamily="34" charset="-122"/>
                <a:cs typeface="Calibri" pitchFamily="34" charset="-120"/>
              </a:rPr>
              <a:t> ehtirām · respect</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ثَقَافَةٌ</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‎ثقافت‎ </a:t>
            </a:r>
            <a:pPr indent="0" marL="0">
              <a:buNone/>
            </a:pPr>
            <a:r>
              <a:rPr lang="en-US" sz="950" b="1" dirty="0">
                <a:solidFill>
                  <a:srgbClr val="2E8B57"/>
                </a:solidFill>
                <a:latin typeface="Calibri" pitchFamily="34" charset="0"/>
                <a:ea typeface="Calibri" pitchFamily="34" charset="-122"/>
                <a:cs typeface="Calibri" pitchFamily="34" charset="-120"/>
              </a:rPr>
              <a:t> saqāfat · culture</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لِبَاسٌ</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‎لباس‎ </a:t>
            </a:r>
            <a:pPr indent="0" marL="0">
              <a:buNone/>
            </a:pPr>
            <a:r>
              <a:rPr lang="en-US" sz="950" b="1" dirty="0">
                <a:solidFill>
                  <a:srgbClr val="2E8B57"/>
                </a:solidFill>
                <a:latin typeface="Calibri" pitchFamily="34" charset="0"/>
                <a:ea typeface="Calibri" pitchFamily="34" charset="-122"/>
                <a:cs typeface="Calibri" pitchFamily="34" charset="-120"/>
              </a:rPr>
              <a:t> libās · clothing, dress</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عَادَاتٌ</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‎عادت · عادات‎ </a:t>
            </a:r>
            <a:pPr indent="0" marL="0">
              <a:buNone/>
            </a:pPr>
            <a:r>
              <a:rPr lang="en-US" sz="950" b="1" dirty="0">
                <a:solidFill>
                  <a:srgbClr val="2E8B57"/>
                </a:solidFill>
                <a:latin typeface="Calibri" pitchFamily="34" charset="0"/>
                <a:ea typeface="Calibri" pitchFamily="34" charset="-122"/>
                <a:cs typeface="Calibri" pitchFamily="34" charset="-120"/>
              </a:rPr>
              <a:t> ādat · a habit · customs</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تَقَالِيدُ</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‎تقلید‎ </a:t>
            </a:r>
            <a:pPr indent="0" marL="0">
              <a:buNone/>
            </a:pPr>
            <a:r>
              <a:rPr lang="en-US" sz="950" b="1" dirty="0">
                <a:solidFill>
                  <a:srgbClr val="2E8B57"/>
                </a:solidFill>
                <a:latin typeface="Calibri" pitchFamily="34" charset="0"/>
                <a:ea typeface="Calibri" pitchFamily="34" charset="-122"/>
                <a:cs typeface="Calibri" pitchFamily="34" charset="-120"/>
              </a:rPr>
              <a:t> taqlīd · false friend! Urdu = imitation</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7 / 52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TE-L08 · Cultural Exchange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Cultural sensitivity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TE-L08</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حَسَاسِيَّةٌ ثَقَافِيَّةٌ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cultural sensitivity</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ḥa-sā-siy-ya-tun tha-qā-fiy-ya-tun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a:t>
            </a:r>
            <a:endParaRPr lang="en-US" sz="1000" dirty="0"/>
          </a:p>
        </p:txBody>
      </p:sp>
      <p:sp>
        <p:nvSpPr>
          <p:cNvPr id="25" name="Shape 22"/>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26" name="Text 23"/>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sg · pl</a:t>
            </a:r>
            <a:endParaRPr lang="en-US" sz="800" dirty="0"/>
          </a:p>
        </p:txBody>
      </p:sp>
      <p:sp>
        <p:nvSpPr>
          <p:cNvPr id="27" name="Shape 2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9" name="Text 26"/>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تَقَالِيدُ مَحَلِّيَّةٌ</a:t>
            </a:r>
            <a:endParaRPr lang="ar-SA" sz="3000" dirty="0"/>
          </a:p>
        </p:txBody>
      </p:sp>
      <p:sp>
        <p:nvSpPr>
          <p:cNvPr id="30" name="Text 27"/>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local customs</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ta-qā-lī-du ma-ḥal-liy-ya-tun</a:t>
            </a:r>
            <a:endParaRPr lang="en-US" sz="1350" dirty="0"/>
          </a:p>
        </p:txBody>
      </p:sp>
      <p:sp>
        <p:nvSpPr>
          <p:cNvPr id="31" name="Shape 28"/>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2" name="Text 29"/>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33" name="Text 30"/>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تَقْلِيدٌ مَحَلِّيٌّ</a:t>
            </a:r>
            <a:endParaRPr lang="ar-SA" sz="1500" dirty="0"/>
          </a:p>
        </p:txBody>
      </p:sp>
      <p:sp>
        <p:nvSpPr>
          <p:cNvPr id="34" name="Shape 31"/>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566928" y="1920240"/>
            <a:ext cx="310896" cy="310896"/>
          </a:xfrm>
          <a:prstGeom prst="ellipse">
            <a:avLst/>
          </a:prstGeom>
          <a:solidFill>
            <a:srgbClr val="F4F1EA"/>
          </a:solidFill>
          <a:ln w="12700">
            <a:solidFill>
              <a:srgbClr val="F4F1EA"/>
            </a:solidFill>
            <a:prstDash val="solid"/>
          </a:ln>
        </p:spPr>
      </p:sp>
      <p:sp>
        <p:nvSpPr>
          <p:cNvPr id="36" name="Text 33"/>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a:t>
            </a:r>
            <a:endParaRPr lang="en-US" sz="1000" dirty="0"/>
          </a:p>
        </p:txBody>
      </p:sp>
      <p:sp>
        <p:nvSpPr>
          <p:cNvPr id="37" name="Shape 34"/>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9" name="Text 36"/>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قَوَاعِدُ اللِّبَاسِ</a:t>
            </a:r>
            <a:endParaRPr lang="ar-SA" sz="3000" dirty="0"/>
          </a:p>
        </p:txBody>
      </p:sp>
      <p:sp>
        <p:nvSpPr>
          <p:cNvPr id="40" name="Text 37"/>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the dress code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qa-wā-ʿi-du all-li-bā-si</a:t>
            </a:r>
            <a:endParaRPr lang="en-US" sz="1350" dirty="0"/>
          </a:p>
        </p:txBody>
      </p:sp>
      <p:sp>
        <p:nvSpPr>
          <p:cNvPr id="41" name="Shape 3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11312" y="4261104"/>
            <a:ext cx="310896" cy="310896"/>
          </a:xfrm>
          <a:prstGeom prst="ellipse">
            <a:avLst/>
          </a:prstGeom>
          <a:solidFill>
            <a:srgbClr val="F4F1EA"/>
          </a:solidFill>
          <a:ln w="12700">
            <a:solidFill>
              <a:srgbClr val="F4F1EA"/>
            </a:solidFill>
            <a:prstDash val="solid"/>
          </a:ln>
        </p:spPr>
      </p:sp>
      <p:sp>
        <p:nvSpPr>
          <p:cNvPr id="43" name="Text 4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4</a:t>
            </a:r>
            <a:endParaRPr lang="en-US" sz="1000" dirty="0"/>
          </a:p>
        </p:txBody>
      </p:sp>
      <p:sp>
        <p:nvSpPr>
          <p:cNvPr id="44" name="Shape 41"/>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46" name="Text 43"/>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احْتِرَامُ المُقَدَّسَاتِ</a:t>
            </a:r>
            <a:endParaRPr lang="ar-SA" sz="3000" dirty="0"/>
          </a:p>
        </p:txBody>
      </p:sp>
      <p:sp>
        <p:nvSpPr>
          <p:cNvPr id="47" name="Text 44"/>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respect for sacred sites</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aḥ-ti-rā-mu al-mu-qad-da-sā-ti</a:t>
            </a:r>
            <a:endParaRPr lang="en-US" sz="135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8 / 52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TE-L08 · Cultural Exchange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Cultural sensitivity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TE-L08</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5</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sg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زَلَّةٌ ثَقَافِيَّةٌ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a cultural faux pas</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zal-la-tun tha-qā-fiy-ya-tun</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26" name="Text 23"/>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زَلَّاتٌ ثَقَافِيَّةٌ</a:t>
            </a:r>
            <a:endParaRPr lang="ar-SA" sz="150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6</a:t>
            </a:r>
            <a:endParaRPr lang="en-US" sz="1000" dirty="0"/>
          </a:p>
        </p:txBody>
      </p:sp>
      <p:sp>
        <p:nvSpPr>
          <p:cNvPr id="30" name="Text 27"/>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تَفَاهُمٌ ثَقَافِيٌّ</a:t>
            </a:r>
            <a:endParaRPr lang="ar-SA" sz="3000" dirty="0"/>
          </a:p>
        </p:txBody>
      </p:sp>
      <p:sp>
        <p:nvSpPr>
          <p:cNvPr id="31" name="Text 28"/>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cultural understanding</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ta-fā-hu-mun tha-qā-fiy-yun</a:t>
            </a:r>
            <a:endParaRPr lang="en-US" sz="1350" dirty="0"/>
          </a:p>
        </p:txBody>
      </p:sp>
      <p:sp>
        <p:nvSpPr>
          <p:cNvPr id="32" name="Shape 29"/>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566928" y="1920240"/>
            <a:ext cx="310896" cy="310896"/>
          </a:xfrm>
          <a:prstGeom prst="ellipse">
            <a:avLst/>
          </a:prstGeom>
          <a:solidFill>
            <a:srgbClr val="F4F1EA"/>
          </a:solidFill>
          <a:ln w="12700">
            <a:solidFill>
              <a:srgbClr val="F4F1EA"/>
            </a:solidFill>
            <a:prstDash val="solid"/>
          </a:ln>
        </p:spPr>
      </p:sp>
      <p:sp>
        <p:nvSpPr>
          <p:cNvPr id="34" name="Text 31"/>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7</a:t>
            </a:r>
            <a:endParaRPr lang="en-US" sz="1000" dirty="0"/>
          </a:p>
        </p:txBody>
      </p:sp>
      <p:sp>
        <p:nvSpPr>
          <p:cNvPr id="35" name="Shape 32"/>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36" name="Text 33"/>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sg · pl</a:t>
            </a:r>
            <a:endParaRPr lang="en-US" sz="800" dirty="0"/>
          </a:p>
        </p:txBody>
      </p:sp>
      <p:sp>
        <p:nvSpPr>
          <p:cNvPr id="37" name="Shape 34"/>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9" name="Text 36"/>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مُجْتَمَعٌ مُضِيفٌ</a:t>
            </a:r>
            <a:endParaRPr lang="ar-SA" sz="3000" dirty="0"/>
          </a:p>
        </p:txBody>
      </p:sp>
      <p:sp>
        <p:nvSpPr>
          <p:cNvPr id="40" name="Text 37"/>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a host community</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muj-ta-ma-ʿun mu-ḍī-fun</a:t>
            </a:r>
            <a:endParaRPr lang="en-US" sz="1350" dirty="0"/>
          </a:p>
        </p:txBody>
      </p:sp>
      <p:sp>
        <p:nvSpPr>
          <p:cNvPr id="41" name="Shape 38"/>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2" name="Text 39"/>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43" name="Text 40"/>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مُجْتَمَعَاتٌ مُضِيفَةٌ</a:t>
            </a:r>
            <a:endParaRPr lang="ar-SA" sz="1500" dirty="0"/>
          </a:p>
        </p:txBody>
      </p:sp>
      <p:sp>
        <p:nvSpPr>
          <p:cNvPr id="44" name="Shape 4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8211312" y="4261104"/>
            <a:ext cx="310896" cy="310896"/>
          </a:xfrm>
          <a:prstGeom prst="ellipse">
            <a:avLst/>
          </a:prstGeom>
          <a:solidFill>
            <a:srgbClr val="F4F1EA"/>
          </a:solidFill>
          <a:ln w="12700">
            <a:solidFill>
              <a:srgbClr val="F4F1EA"/>
            </a:solidFill>
            <a:prstDash val="solid"/>
          </a:ln>
        </p:spPr>
      </p:sp>
      <p:sp>
        <p:nvSpPr>
          <p:cNvPr id="46" name="Text 4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8</a:t>
            </a:r>
            <a:endParaRPr lang="en-US" sz="1000" dirty="0"/>
          </a:p>
        </p:txBody>
      </p:sp>
      <p:sp>
        <p:nvSpPr>
          <p:cNvPr id="47" name="Shape 44"/>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48" name="Text 45"/>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sg · pl</a:t>
            </a:r>
            <a:endParaRPr lang="en-US" sz="800" dirty="0"/>
          </a:p>
        </p:txBody>
      </p:sp>
      <p:sp>
        <p:nvSpPr>
          <p:cNvPr id="49" name="Text 46"/>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جِسْرٌ ثَقَافِيٌّ</a:t>
            </a:r>
            <a:endParaRPr lang="ar-SA" sz="3000" dirty="0"/>
          </a:p>
        </p:txBody>
      </p:sp>
      <p:sp>
        <p:nvSpPr>
          <p:cNvPr id="50" name="Text 47"/>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a cultural bridge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jis-run tha-qā-fiy-yun</a:t>
            </a:r>
            <a:endParaRPr lang="en-US" sz="1350" dirty="0"/>
          </a:p>
        </p:txBody>
      </p:sp>
      <p:sp>
        <p:nvSpPr>
          <p:cNvPr id="51" name="Shape 48"/>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52" name="Text 49"/>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53" name="Text 50"/>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جُسُورٌ ثَقَافِيَّةٌ</a:t>
            </a:r>
            <a:endParaRPr lang="ar-SA" sz="1500" dirty="0"/>
          </a:p>
        </p:txBody>
      </p:sp>
      <p:sp>
        <p:nvSpPr>
          <p:cNvPr id="54"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9 / 52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TE-L08 · Cultural Exchange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Modal advice verbs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TE-L08</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9</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يُسْتَحْسَنُ أَنْ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it is preferable that</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yus-taḥ-sa-nu an</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Impersonal + subjunctive.</a:t>
            </a:r>
            <a:endParaRPr lang="en-US" sz="10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10</a:t>
            </a:r>
            <a:endParaRPr lang="en-US" sz="1000" dirty="0"/>
          </a:p>
        </p:txBody>
      </p:sp>
      <p:sp>
        <p:nvSpPr>
          <p:cNvPr id="26" name="Shape 23"/>
          <p:cNvSpPr/>
          <p:nvPr/>
        </p:nvSpPr>
        <p:spPr>
          <a:xfrm>
            <a:off x="4782312" y="1938528"/>
            <a:ext cx="1144829" cy="256032"/>
          </a:xfrm>
          <a:prstGeom prst="roundRect">
            <a:avLst>
              <a:gd name="adj" fmla="val 50000"/>
            </a:avLst>
          </a:prstGeom>
          <a:solidFill>
            <a:srgbClr val="EFE7D2"/>
          </a:solidFill>
          <a:ln w="12700">
            <a:solidFill>
              <a:srgbClr val="EFE7D2"/>
            </a:solidFill>
            <a:prstDash val="solid"/>
          </a:ln>
        </p:spPr>
      </p:sp>
      <p:sp>
        <p:nvSpPr>
          <p:cNvPr id="27" name="Text 24"/>
          <p:cNvSpPr txBox="1"/>
          <p:nvPr/>
        </p:nvSpPr>
        <p:spPr>
          <a:xfrm>
            <a:off x="4782312" y="1938528"/>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 subjunctive.</a:t>
            </a:r>
            <a:endParaRPr lang="en-US" sz="800" dirty="0"/>
          </a:p>
        </p:txBody>
      </p:sp>
      <p:sp>
        <p:nvSpPr>
          <p:cNvPr id="28" name="Shape 2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0" name="Text 27"/>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يَجِبُ أَنْ</a:t>
            </a:r>
            <a:endParaRPr lang="ar-SA" sz="3000" dirty="0"/>
          </a:p>
        </p:txBody>
      </p:sp>
      <p:sp>
        <p:nvSpPr>
          <p:cNvPr id="31" name="Text 28"/>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it is necessary that</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ya-ji-bu an</a:t>
            </a:r>
            <a:endParaRPr lang="en-US" sz="1350" dirty="0"/>
          </a:p>
        </p:txBody>
      </p:sp>
      <p:sp>
        <p:nvSpPr>
          <p:cNvPr id="32" name="Shape 29"/>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566928" y="1920240"/>
            <a:ext cx="310896" cy="310896"/>
          </a:xfrm>
          <a:prstGeom prst="ellipse">
            <a:avLst/>
          </a:prstGeom>
          <a:solidFill>
            <a:srgbClr val="F4F1EA"/>
          </a:solidFill>
          <a:ln w="12700">
            <a:solidFill>
              <a:srgbClr val="F4F1EA"/>
            </a:solidFill>
            <a:prstDash val="solid"/>
          </a:ln>
        </p:spPr>
      </p:sp>
      <p:sp>
        <p:nvSpPr>
          <p:cNvPr id="34" name="Text 31"/>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11</a:t>
            </a:r>
            <a:endParaRPr lang="en-US" sz="1000" dirty="0"/>
          </a:p>
        </p:txBody>
      </p:sp>
      <p:sp>
        <p:nvSpPr>
          <p:cNvPr id="35" name="Shape 32"/>
          <p:cNvSpPr/>
          <p:nvPr/>
        </p:nvSpPr>
        <p:spPr>
          <a:xfrm>
            <a:off x="960120" y="1938528"/>
            <a:ext cx="1082650" cy="256032"/>
          </a:xfrm>
          <a:prstGeom prst="roundRect">
            <a:avLst>
              <a:gd name="adj" fmla="val 50000"/>
            </a:avLst>
          </a:prstGeom>
          <a:solidFill>
            <a:srgbClr val="EFE7D2"/>
          </a:solidFill>
          <a:ln w="12700">
            <a:solidFill>
              <a:srgbClr val="EFE7D2"/>
            </a:solidFill>
            <a:prstDash val="solid"/>
          </a:ln>
        </p:spPr>
      </p:sp>
      <p:sp>
        <p:nvSpPr>
          <p:cNvPr id="36" name="Text 33"/>
          <p:cNvSpPr txBox="1"/>
          <p:nvPr/>
        </p:nvSpPr>
        <p:spPr>
          <a:xfrm>
            <a:off x="960120"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he · she (it)</a:t>
            </a:r>
            <a:endParaRPr lang="en-US" sz="800" dirty="0"/>
          </a:p>
        </p:txBody>
      </p:sp>
      <p:sp>
        <p:nvSpPr>
          <p:cNvPr id="37" name="Shape 34"/>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9" name="Text 36"/>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يَحْظُرُ</a:t>
            </a:r>
            <a:endParaRPr lang="ar-SA" sz="3000" dirty="0"/>
          </a:p>
        </p:txBody>
      </p:sp>
      <p:sp>
        <p:nvSpPr>
          <p:cNvPr id="40" name="Text 37"/>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prohibits</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yaḥ-ẓu-ru</a:t>
            </a:r>
            <a:endParaRPr lang="en-US" sz="1350" dirty="0"/>
          </a:p>
        </p:txBody>
      </p:sp>
      <p:sp>
        <p:nvSpPr>
          <p:cNvPr id="41" name="Shape 38"/>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2" name="Text 39"/>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she / it (f.)</a:t>
            </a:r>
            <a:endParaRPr lang="en-US" sz="700" dirty="0"/>
          </a:p>
        </p:txBody>
      </p:sp>
      <p:sp>
        <p:nvSpPr>
          <p:cNvPr id="43" name="Text 40"/>
          <p:cNvSpPr txBox="1"/>
          <p:nvPr/>
        </p:nvSpPr>
        <p:spPr>
          <a:xfrm>
            <a:off x="640080"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تَحْظُرُ</a:t>
            </a:r>
            <a:endParaRPr lang="ar-SA" sz="1350" dirty="0"/>
          </a:p>
        </p:txBody>
      </p:sp>
      <p:sp>
        <p:nvSpPr>
          <p:cNvPr id="44" name="Shape 4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8211312" y="4261104"/>
            <a:ext cx="310896" cy="310896"/>
          </a:xfrm>
          <a:prstGeom prst="ellipse">
            <a:avLst/>
          </a:prstGeom>
          <a:solidFill>
            <a:srgbClr val="F4F1EA"/>
          </a:solidFill>
          <a:ln w="12700">
            <a:solidFill>
              <a:srgbClr val="F4F1EA"/>
            </a:solidFill>
            <a:prstDash val="solid"/>
          </a:ln>
        </p:spPr>
      </p:sp>
      <p:sp>
        <p:nvSpPr>
          <p:cNvPr id="46" name="Text 4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12</a:t>
            </a:r>
            <a:endParaRPr lang="en-US" sz="1000" dirty="0"/>
          </a:p>
        </p:txBody>
      </p:sp>
      <p:sp>
        <p:nvSpPr>
          <p:cNvPr id="47" name="Shape 44"/>
          <p:cNvSpPr/>
          <p:nvPr/>
        </p:nvSpPr>
        <p:spPr>
          <a:xfrm>
            <a:off x="8604504" y="4279392"/>
            <a:ext cx="1082650" cy="256032"/>
          </a:xfrm>
          <a:prstGeom prst="roundRect">
            <a:avLst>
              <a:gd name="adj" fmla="val 50000"/>
            </a:avLst>
          </a:prstGeom>
          <a:solidFill>
            <a:srgbClr val="EFE7D2"/>
          </a:solidFill>
          <a:ln w="12700">
            <a:solidFill>
              <a:srgbClr val="EFE7D2"/>
            </a:solidFill>
            <a:prstDash val="solid"/>
          </a:ln>
        </p:spPr>
      </p:sp>
      <p:sp>
        <p:nvSpPr>
          <p:cNvPr id="48" name="Text 45"/>
          <p:cNvSpPr txBox="1"/>
          <p:nvPr/>
        </p:nvSpPr>
        <p:spPr>
          <a:xfrm>
            <a:off x="8604504" y="4279392"/>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he · she (it)</a:t>
            </a:r>
            <a:endParaRPr lang="en-US" sz="800" dirty="0"/>
          </a:p>
        </p:txBody>
      </p:sp>
      <p:sp>
        <p:nvSpPr>
          <p:cNvPr id="49" name="Shape 4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0" name="Text 4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1" name="Text 48"/>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يَسْمَحُ بِـ</a:t>
            </a:r>
            <a:endParaRPr lang="ar-SA" sz="3000" dirty="0"/>
          </a:p>
        </p:txBody>
      </p:sp>
      <p:sp>
        <p:nvSpPr>
          <p:cNvPr id="52" name="Text 49"/>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permits</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yas-ma-ḥu bi</a:t>
            </a:r>
            <a:endParaRPr lang="en-US" sz="1350" dirty="0"/>
          </a:p>
        </p:txBody>
      </p:sp>
      <p:sp>
        <p:nvSpPr>
          <p:cNvPr id="53" name="Shape 50"/>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54" name="Text 51"/>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she / it (f.)</a:t>
            </a:r>
            <a:endParaRPr lang="en-US" sz="700" dirty="0"/>
          </a:p>
        </p:txBody>
      </p:sp>
      <p:sp>
        <p:nvSpPr>
          <p:cNvPr id="55" name="Text 52"/>
          <p:cNvSpPr txBox="1"/>
          <p:nvPr/>
        </p:nvSpPr>
        <p:spPr>
          <a:xfrm>
            <a:off x="8284464"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تَسْمَحُ بِـ</a:t>
            </a:r>
            <a:endParaRPr lang="ar-SA" sz="13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10 / 52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TE-L08 · Cultural Exchange</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Modal advice verbs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TE-L08</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13</a:t>
            </a:r>
            <a:endParaRPr lang="en-US" sz="1000" dirty="0"/>
          </a:p>
        </p:txBody>
      </p:sp>
      <p:sp>
        <p:nvSpPr>
          <p:cNvPr id="20" name="Shape 17"/>
          <p:cNvSpPr/>
          <p:nvPr/>
        </p:nvSpPr>
        <p:spPr>
          <a:xfrm>
            <a:off x="8604504" y="1938528"/>
            <a:ext cx="1082650"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he · she (it)</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يُفْضِي إِلَى</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leads to</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yuf-ḍī i-lā</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she / it (f.)</a:t>
            </a:r>
            <a:endParaRPr lang="en-US" sz="700" dirty="0"/>
          </a:p>
        </p:txBody>
      </p:sp>
      <p:sp>
        <p:nvSpPr>
          <p:cNvPr id="26" name="Text 23"/>
          <p:cNvSpPr txBox="1"/>
          <p:nvPr/>
        </p:nvSpPr>
        <p:spPr>
          <a:xfrm>
            <a:off x="8284464"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تُفْضِي إِلَى</a:t>
            </a:r>
            <a:endParaRPr lang="ar-SA" sz="135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14</a:t>
            </a:r>
            <a:endParaRPr lang="en-US" sz="1000" dirty="0"/>
          </a:p>
        </p:txBody>
      </p:sp>
      <p:sp>
        <p:nvSpPr>
          <p:cNvPr id="30" name="Shape 27"/>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pl.</a:t>
            </a:r>
            <a:endParaRPr lang="en-US" sz="800" dirty="0"/>
          </a:p>
        </p:txBody>
      </p:sp>
      <p:sp>
        <p:nvSpPr>
          <p:cNvPr id="32" name="Shape 29"/>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4" name="Text 31"/>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مَلَابِسُ مُحْتَشِمَةٌ</a:t>
            </a:r>
            <a:endParaRPr lang="ar-SA" sz="3000" dirty="0"/>
          </a:p>
        </p:txBody>
      </p:sp>
      <p:sp>
        <p:nvSpPr>
          <p:cNvPr id="35" name="Text 32"/>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modest clothing</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ma-lā-bi-su muḥ-ta-shi-ma-tun</a:t>
            </a:r>
            <a:endParaRPr lang="en-US" sz="1350" dirty="0"/>
          </a:p>
        </p:txBody>
      </p:sp>
      <p:sp>
        <p:nvSpPr>
          <p:cNvPr id="36" name="Shape 33"/>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sg. (garment)</a:t>
            </a:r>
            <a:endParaRPr lang="en-US" sz="700" dirty="0"/>
          </a:p>
        </p:txBody>
      </p:sp>
      <p:sp>
        <p:nvSpPr>
          <p:cNvPr id="38" name="Text 35"/>
          <p:cNvSpPr txBox="1"/>
          <p:nvPr/>
        </p:nvSpPr>
        <p:spPr>
          <a:xfrm>
            <a:off x="4462272"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مَلْبَسٌ</a:t>
            </a:r>
            <a:endParaRPr lang="ar-SA" sz="135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15</a:t>
            </a:r>
            <a:endParaRPr lang="en-US" sz="1000" dirty="0"/>
          </a:p>
        </p:txBody>
      </p:sp>
      <p:sp>
        <p:nvSpPr>
          <p:cNvPr id="42" name="Shape 39"/>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sg · pl</a:t>
            </a:r>
            <a:endParaRPr lang="en-US" sz="800" dirty="0"/>
          </a:p>
        </p:txBody>
      </p:sp>
      <p:sp>
        <p:nvSpPr>
          <p:cNvPr id="44" name="Shape 4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46" name="Text 4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تَحِيَّةٌ مُنَاسِبَةٌ</a:t>
            </a:r>
            <a:endParaRPr lang="ar-SA" sz="3000" dirty="0"/>
          </a:p>
        </p:txBody>
      </p:sp>
      <p:sp>
        <p:nvSpPr>
          <p:cNvPr id="47" name="Text 4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an appropriate greeting</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ta-ḥiy-ya-tun mu-nā-si-ba-tun</a:t>
            </a:r>
            <a:endParaRPr lang="en-US" sz="1350" dirty="0"/>
          </a:p>
        </p:txBody>
      </p:sp>
      <p:sp>
        <p:nvSpPr>
          <p:cNvPr id="48" name="Shape 45"/>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50" name="Text 47"/>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تَحِيَّاتٌ مُنَاسِبَةٌ</a:t>
            </a:r>
            <a:endParaRPr lang="ar-SA" sz="1500" dirty="0"/>
          </a:p>
        </p:txBody>
      </p:sp>
      <p:sp>
        <p:nvSpPr>
          <p:cNvPr id="51" name="Shape 4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8211312"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16</a:t>
            </a:r>
            <a:endParaRPr lang="en-US" sz="1000" dirty="0"/>
          </a:p>
        </p:txBody>
      </p:sp>
      <p:sp>
        <p:nvSpPr>
          <p:cNvPr id="54" name="Text 5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التَّصْوِيرُ</a:t>
            </a:r>
            <a:endParaRPr lang="ar-SA" sz="3000" dirty="0"/>
          </a:p>
        </p:txBody>
      </p:sp>
      <p:sp>
        <p:nvSpPr>
          <p:cNvPr id="55" name="Text 5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photography</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at-taṣ-wī-ru</a:t>
            </a:r>
            <a:endParaRPr lang="en-US" sz="13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11 / 52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TE-L08 · Cultural Exchange</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ea typeface="Cambria" pitchFamily="34" charset="-122"/>
                <a:cs typeface="Cambria" pitchFamily="34" charset="-120"/>
              </a:rPr>
              <a:t>The subjunctive after </a:t>
            </a:r>
            <a:pPr algn="l" indent="0" marL="0">
              <a:buNone/>
            </a:pPr>
            <a:r>
              <a:rPr lang="ar-SA" altLang="en-US" sz="3500" b="1" dirty="0">
                <a:solidFill>
                  <a:srgbClr val="1B3B6F"/>
                </a:solidFill>
                <a:latin typeface="Amiri" pitchFamily="34" charset="0"/>
                <a:ea typeface="Amiri" pitchFamily="34" charset="-122"/>
                <a:cs typeface="Amiri" pitchFamily="34" charset="-120"/>
              </a:rPr>
              <a:t>أَنْ</a:t>
            </a:r>
            <a:pPr algn="l" indent="0" marL="0">
              <a:buNone/>
            </a:pPr>
            <a:r>
              <a:rPr lang="en-US" sz="2700" b="1" dirty="0">
                <a:solidFill>
                  <a:srgbClr val="1B3B6F"/>
                </a:solidFill>
                <a:latin typeface="Cambria" pitchFamily="34" charset="0"/>
                <a:ea typeface="Cambria" pitchFamily="34" charset="-122"/>
                <a:cs typeface="Cambria" pitchFamily="34" charset="-120"/>
              </a:rPr>
              <a:t> (1 of 2)</a:t>
            </a:r>
            <a:endParaRPr lang="en-US" sz="27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TE-L08</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17</a:t>
            </a:r>
            <a:endParaRPr lang="en-US" sz="1000" dirty="0"/>
          </a:p>
        </p:txBody>
      </p:sp>
      <p:sp>
        <p:nvSpPr>
          <p:cNvPr id="20" name="Shape 17"/>
          <p:cNvSpPr/>
          <p:nvPr/>
        </p:nvSpPr>
        <p:spPr>
          <a:xfrm>
            <a:off x="8604504" y="1938528"/>
            <a:ext cx="771754"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he · you</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يُسْتَحْسَنُ أَنْ يَتَعَلَّمَ</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it is preferable he learns</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yus-taḥ-sa-nu an ya-ta-ʿal-la-ma</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you (m.)</a:t>
            </a:r>
            <a:endParaRPr lang="en-US" sz="700" dirty="0"/>
          </a:p>
        </p:txBody>
      </p:sp>
      <p:sp>
        <p:nvSpPr>
          <p:cNvPr id="26" name="Text 23"/>
          <p:cNvSpPr txBox="1"/>
          <p:nvPr/>
        </p:nvSpPr>
        <p:spPr>
          <a:xfrm>
            <a:off x="8284464"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يُسْتَحْسَنُ أَنْ تَتَعَلَّمَ</a:t>
            </a:r>
            <a:endParaRPr lang="ar-SA" sz="135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18</a:t>
            </a:r>
            <a:endParaRPr lang="en-US" sz="1000" dirty="0"/>
          </a:p>
        </p:txBody>
      </p:sp>
      <p:sp>
        <p:nvSpPr>
          <p:cNvPr id="30" name="Shape 27"/>
          <p:cNvSpPr/>
          <p:nvPr/>
        </p:nvSpPr>
        <p:spPr>
          <a:xfrm>
            <a:off x="4782312" y="1938528"/>
            <a:ext cx="771754"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he · you</a:t>
            </a:r>
            <a:endParaRPr lang="en-US" sz="800" dirty="0"/>
          </a:p>
        </p:txBody>
      </p:sp>
      <p:sp>
        <p:nvSpPr>
          <p:cNvPr id="32" name="Text 29"/>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يُسْتَحْسَنُ أَنْ يَحْتَرِمَ</a:t>
            </a:r>
            <a:endParaRPr lang="ar-SA" sz="3000" dirty="0"/>
          </a:p>
        </p:txBody>
      </p:sp>
      <p:sp>
        <p:nvSpPr>
          <p:cNvPr id="33" name="Text 30"/>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it is preferable he respects</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yus-taḥ-sa-nu an yaḥ-ta-ri-ma</a:t>
            </a:r>
            <a:endParaRPr lang="en-US" sz="1350" dirty="0"/>
          </a:p>
        </p:txBody>
      </p:sp>
      <p:sp>
        <p:nvSpPr>
          <p:cNvPr id="34" name="Shape 31"/>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5" name="Text 32"/>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you (m.)</a:t>
            </a:r>
            <a:endParaRPr lang="en-US" sz="700" dirty="0"/>
          </a:p>
        </p:txBody>
      </p:sp>
      <p:sp>
        <p:nvSpPr>
          <p:cNvPr id="36" name="Text 33"/>
          <p:cNvSpPr txBox="1"/>
          <p:nvPr/>
        </p:nvSpPr>
        <p:spPr>
          <a:xfrm>
            <a:off x="4462272"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يُسْتَحْسَنُ أَنْ تَحْتَرِمَ</a:t>
            </a:r>
            <a:endParaRPr lang="ar-SA" sz="1350" dirty="0"/>
          </a:p>
        </p:txBody>
      </p:sp>
      <p:sp>
        <p:nvSpPr>
          <p:cNvPr id="37" name="Shape 3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566928" y="1920240"/>
            <a:ext cx="310896" cy="310896"/>
          </a:xfrm>
          <a:prstGeom prst="ellipse">
            <a:avLst/>
          </a:prstGeom>
          <a:solidFill>
            <a:srgbClr val="F4F1EA"/>
          </a:solidFill>
          <a:ln w="12700">
            <a:solidFill>
              <a:srgbClr val="F4F1EA"/>
            </a:solidFill>
            <a:prstDash val="solid"/>
          </a:ln>
        </p:spPr>
      </p:sp>
      <p:sp>
        <p:nvSpPr>
          <p:cNvPr id="39" name="Text 3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19</a:t>
            </a:r>
            <a:endParaRPr lang="en-US" sz="1000" dirty="0"/>
          </a:p>
        </p:txBody>
      </p:sp>
      <p:sp>
        <p:nvSpPr>
          <p:cNvPr id="40" name="Shape 37"/>
          <p:cNvSpPr/>
          <p:nvPr/>
        </p:nvSpPr>
        <p:spPr>
          <a:xfrm>
            <a:off x="960120" y="1938528"/>
            <a:ext cx="771754" cy="256032"/>
          </a:xfrm>
          <a:prstGeom prst="roundRect">
            <a:avLst>
              <a:gd name="adj" fmla="val 50000"/>
            </a:avLst>
          </a:prstGeom>
          <a:solidFill>
            <a:srgbClr val="EFE7D2"/>
          </a:solidFill>
          <a:ln w="12700">
            <a:solidFill>
              <a:srgbClr val="EFE7D2"/>
            </a:solidFill>
            <a:prstDash val="solid"/>
          </a:ln>
        </p:spPr>
      </p:sp>
      <p:sp>
        <p:nvSpPr>
          <p:cNvPr id="41" name="Text 38"/>
          <p:cNvSpPr txBox="1"/>
          <p:nvPr/>
        </p:nvSpPr>
        <p:spPr>
          <a:xfrm>
            <a:off x="960120"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he · you</a:t>
            </a:r>
            <a:endParaRPr lang="en-US" sz="800" dirty="0"/>
          </a:p>
        </p:txBody>
      </p:sp>
      <p:sp>
        <p:nvSpPr>
          <p:cNvPr id="42" name="Text 3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يُسْتَحْسَنُ أَنْ يَرْتَدِيَ</a:t>
            </a:r>
            <a:endParaRPr lang="ar-SA" sz="3000" dirty="0"/>
          </a:p>
        </p:txBody>
      </p:sp>
      <p:sp>
        <p:nvSpPr>
          <p:cNvPr id="43" name="Text 4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it is preferable he wears</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yus-taḥ-sa-nu an yar-ta-di-ya</a:t>
            </a:r>
            <a:endParaRPr lang="en-US" sz="1350" dirty="0"/>
          </a:p>
        </p:txBody>
      </p:sp>
      <p:sp>
        <p:nvSpPr>
          <p:cNvPr id="44" name="Shape 41"/>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5" name="Text 42"/>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you (m.)</a:t>
            </a:r>
            <a:endParaRPr lang="en-US" sz="700" dirty="0"/>
          </a:p>
        </p:txBody>
      </p:sp>
      <p:sp>
        <p:nvSpPr>
          <p:cNvPr id="46" name="Text 43"/>
          <p:cNvSpPr txBox="1"/>
          <p:nvPr/>
        </p:nvSpPr>
        <p:spPr>
          <a:xfrm>
            <a:off x="640080"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يُسْتَحْسَنُ أَنْ تَرْتَدِيَ</a:t>
            </a:r>
            <a:endParaRPr lang="ar-SA" sz="1350" dirty="0"/>
          </a:p>
        </p:txBody>
      </p:sp>
      <p:sp>
        <p:nvSpPr>
          <p:cNvPr id="47" name="Shape 4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11312"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20</a:t>
            </a:r>
            <a:endParaRPr lang="en-US" sz="1000" dirty="0"/>
          </a:p>
        </p:txBody>
      </p:sp>
      <p:sp>
        <p:nvSpPr>
          <p:cNvPr id="50" name="Text 47"/>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الفِعْلُ المَنْصُوبُ</a:t>
            </a:r>
            <a:endParaRPr lang="ar-SA" sz="3000" dirty="0"/>
          </a:p>
        </p:txBody>
      </p:sp>
      <p:sp>
        <p:nvSpPr>
          <p:cNvPr id="51" name="Text 48"/>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the subjunctive verb</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al-fiʿ-lu al-man-ṣū-bu</a:t>
            </a:r>
            <a:endParaRPr lang="en-US" sz="135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12 / 52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TE-L08 · Cultural Exchange</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ea typeface="Cambria" pitchFamily="34" charset="-122"/>
                <a:cs typeface="Cambria" pitchFamily="34" charset="-120"/>
              </a:rPr>
              <a:t>The subjunctive after </a:t>
            </a:r>
            <a:pPr algn="l" indent="0" marL="0">
              <a:buNone/>
            </a:pPr>
            <a:r>
              <a:rPr lang="ar-SA" altLang="en-US" sz="3500" b="1" dirty="0">
                <a:solidFill>
                  <a:srgbClr val="1B3B6F"/>
                </a:solidFill>
                <a:latin typeface="Amiri" pitchFamily="34" charset="0"/>
                <a:ea typeface="Amiri" pitchFamily="34" charset="-122"/>
                <a:cs typeface="Amiri" pitchFamily="34" charset="-120"/>
              </a:rPr>
              <a:t>أَنْ</a:t>
            </a:r>
            <a:pPr algn="l" indent="0" marL="0">
              <a:buNone/>
            </a:pPr>
            <a:r>
              <a:rPr lang="en-US" sz="2700" b="1" dirty="0">
                <a:solidFill>
                  <a:srgbClr val="1B3B6F"/>
                </a:solidFill>
                <a:latin typeface="Cambria" pitchFamily="34" charset="0"/>
                <a:ea typeface="Cambria" pitchFamily="34" charset="-122"/>
                <a:cs typeface="Cambria" pitchFamily="34" charset="-120"/>
              </a:rPr>
              <a:t> (2 of 2)</a:t>
            </a:r>
            <a:endParaRPr lang="en-US" sz="27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TE-L08</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21</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أَنْ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the subjunctive trigger</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22</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فَتْحَةُ النَّصْبِ</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the subjunctive fatḥa</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fat-ḥa-tu an-naṣ-bi</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23</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التَّبَادُلُ الثَّقَافِيُّ</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cultural exchange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at-ta-bā-du-lu ath-tha-qā-fiy-yu</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24</a:t>
            </a:r>
            <a:endParaRPr lang="en-US" sz="1000" dirty="0"/>
          </a:p>
        </p:txBody>
      </p:sp>
      <p:sp>
        <p:nvSpPr>
          <p:cNvPr id="35" name="Shape 32"/>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36" name="Text 33"/>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sg · pl</a:t>
            </a:r>
            <a:endParaRPr lang="en-US" sz="800" dirty="0"/>
          </a:p>
        </p:txBody>
      </p:sp>
      <p:sp>
        <p:nvSpPr>
          <p:cNvPr id="37" name="Text 3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بَادِرَةُ احْتِرَامٍ</a:t>
            </a:r>
            <a:endParaRPr lang="ar-SA" sz="3000" dirty="0"/>
          </a:p>
        </p:txBody>
      </p:sp>
      <p:sp>
        <p:nvSpPr>
          <p:cNvPr id="38" name="Text 3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a gesture of respect</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bā-di-ra-tu aḥ-ti-rā-min</a:t>
            </a:r>
            <a:endParaRPr lang="en-US" sz="1350" dirty="0"/>
          </a:p>
        </p:txBody>
      </p:sp>
      <p:sp>
        <p:nvSpPr>
          <p:cNvPr id="39" name="Shape 36"/>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41" name="Text 38"/>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بَوَادِرُ احْتِرَامٍ</a:t>
            </a:r>
            <a:endParaRPr lang="ar-SA" sz="15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13 / 52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TE-L08 · Cultural Exchange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ea typeface="Calibri" pitchFamily="34" charset="-122"/>
                <a:cs typeface="Calibri" pitchFamily="34" charset="-120"/>
              </a:rPr>
              <a:t>GRAMMAR FOCUS · PART 1 · FOUR WAYS TO GUIDE A VISITOR (WEBSITE RULES 1–3 + TABLE) · CORE</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Advise, require, forbid, allow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650" b="1" dirty="0">
                <a:solidFill>
                  <a:srgbClr val="8A6D1E"/>
                </a:solidFill>
                <a:latin typeface="Amiri" pitchFamily="34" charset="0"/>
                <a:ea typeface="Amiri" pitchFamily="34" charset="-122"/>
                <a:cs typeface="Amiri" pitchFamily="34" charset="-120"/>
              </a:rPr>
              <a:t>النُّصْحُ · الوُجُوبُ · الحَظْرُ · السَّمَاحُ</a:t>
            </a:r>
            <a:endParaRPr lang="ar-SA" sz="265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291072" y="1810512"/>
            <a:ext cx="5367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Example (website)</a:t>
            </a:r>
            <a:endParaRPr lang="en-US" sz="1100" dirty="0"/>
          </a:p>
        </p:txBody>
      </p:sp>
      <p:sp>
        <p:nvSpPr>
          <p:cNvPr id="17" name="Text 14"/>
          <p:cNvSpPr txBox="1"/>
          <p:nvPr/>
        </p:nvSpPr>
        <p:spPr>
          <a:xfrm>
            <a:off x="4462272" y="1810512"/>
            <a:ext cx="1682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What follows</a:t>
            </a:r>
            <a:endParaRPr lang="en-US" sz="1100" dirty="0"/>
          </a:p>
        </p:txBody>
      </p:sp>
      <p:sp>
        <p:nvSpPr>
          <p:cNvPr id="18" name="Text 15"/>
          <p:cNvSpPr txBox="1"/>
          <p:nvPr/>
        </p:nvSpPr>
        <p:spPr>
          <a:xfrm>
            <a:off x="2724912" y="1810512"/>
            <a:ext cx="1591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Force</a:t>
            </a:r>
            <a:endParaRPr lang="en-US" sz="1100" dirty="0"/>
          </a:p>
        </p:txBody>
      </p:sp>
      <p:sp>
        <p:nvSpPr>
          <p:cNvPr id="19" name="Text 16"/>
          <p:cNvSpPr txBox="1"/>
          <p:nvPr/>
        </p:nvSpPr>
        <p:spPr>
          <a:xfrm>
            <a:off x="53035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Verb</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6309360" y="2267712"/>
            <a:ext cx="5330952" cy="731520"/>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34" charset="0"/>
                <a:ea typeface="Amiri" pitchFamily="34" charset="-122"/>
                <a:cs typeface="Amiri" pitchFamily="34" charset="-120"/>
              </a:rPr>
              <a:t>يُسْتَحْسَنُ أَنْ </a:t>
            </a:r>
            <a:pPr rtl="1" algn="ctr" indent="0" marL="0">
              <a:buNone/>
            </a:pPr>
            <a:r>
              <a:rPr lang="ar-SA" altLang="en-US" sz="1900" b="1" dirty="0">
                <a:solidFill>
                  <a:srgbClr val="0E7C86"/>
                </a:solidFill>
                <a:latin typeface="Amiri" pitchFamily="34" charset="0"/>
                <a:ea typeface="Amiri" pitchFamily="34" charset="-122"/>
                <a:cs typeface="Amiri" pitchFamily="34" charset="-120"/>
              </a:rPr>
              <a:t>يَتَعَلَّمَ</a:t>
            </a:r>
            <a:pPr rtl="1" algn="ctr" indent="0" marL="0">
              <a:buNone/>
            </a:pPr>
            <a:r>
              <a:rPr lang="ar-SA" altLang="en-US" sz="1900" b="1" dirty="0">
                <a:solidFill>
                  <a:srgbClr val="1B3B6F"/>
                </a:solidFill>
                <a:latin typeface="Amiri" pitchFamily="34" charset="0"/>
                <a:ea typeface="Amiri" pitchFamily="34" charset="-122"/>
                <a:cs typeface="Amiri" pitchFamily="34" charset="-120"/>
              </a:rPr>
              <a:t> الزَّائِرُ تَحِيَّةً عَرَبِيَّةً.</a:t>
            </a:r>
            <a:endParaRPr lang="ar-SA" sz="1900" dirty="0"/>
          </a:p>
        </p:txBody>
      </p:sp>
      <p:sp>
        <p:nvSpPr>
          <p:cNvPr id="22" name="Text 19"/>
          <p:cNvSpPr txBox="1"/>
          <p:nvPr/>
        </p:nvSpPr>
        <p:spPr>
          <a:xfrm>
            <a:off x="4498848" y="2267712"/>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verb in -a</a:t>
            </a:r>
            <a:endParaRPr lang="en-US" sz="1100" dirty="0"/>
          </a:p>
        </p:txBody>
      </p:sp>
      <p:sp>
        <p:nvSpPr>
          <p:cNvPr id="23" name="Text 20"/>
          <p:cNvSpPr txBox="1"/>
          <p:nvPr/>
        </p:nvSpPr>
        <p:spPr>
          <a:xfrm>
            <a:off x="2761488" y="2267712"/>
            <a:ext cx="15544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polite advice</a:t>
            </a:r>
            <a:endParaRPr lang="en-US" sz="1100" dirty="0"/>
          </a:p>
        </p:txBody>
      </p:sp>
      <p:sp>
        <p:nvSpPr>
          <p:cNvPr id="24" name="Text 21"/>
          <p:cNvSpPr txBox="1"/>
          <p:nvPr/>
        </p:nvSpPr>
        <p:spPr>
          <a:xfrm>
            <a:off x="548640" y="2267712"/>
            <a:ext cx="2011680" cy="731520"/>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34" charset="0"/>
                <a:ea typeface="Amiri" pitchFamily="34" charset="-122"/>
                <a:cs typeface="Amiri" pitchFamily="34" charset="-120"/>
              </a:rPr>
              <a:t>يُسْتَحْسَنُ أَنْ</a:t>
            </a:r>
            <a:endParaRPr lang="ar-SA" sz="20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6309360" y="3054096"/>
            <a:ext cx="5330952" cy="731520"/>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34" charset="0"/>
                <a:ea typeface="Amiri" pitchFamily="34" charset="-122"/>
                <a:cs typeface="Amiri" pitchFamily="34" charset="-120"/>
              </a:rPr>
              <a:t>يَجِبُ أَنْ </a:t>
            </a:r>
            <a:pPr rtl="1" algn="ctr" indent="0" marL="0">
              <a:buNone/>
            </a:pPr>
            <a:r>
              <a:rPr lang="ar-SA" altLang="en-US" sz="1900" b="1" dirty="0">
                <a:solidFill>
                  <a:srgbClr val="0E7C86"/>
                </a:solidFill>
                <a:latin typeface="Amiri" pitchFamily="34" charset="0"/>
                <a:ea typeface="Amiri" pitchFamily="34" charset="-122"/>
                <a:cs typeface="Amiri" pitchFamily="34" charset="-120"/>
              </a:rPr>
              <a:t>تَخْلَعَ</a:t>
            </a:r>
            <a:pPr rtl="1" algn="ctr" indent="0" marL="0">
              <a:buNone/>
            </a:pPr>
            <a:r>
              <a:rPr lang="ar-SA" altLang="en-US" sz="1900" b="1" dirty="0">
                <a:solidFill>
                  <a:srgbClr val="1B3B6F"/>
                </a:solidFill>
                <a:latin typeface="Amiri" pitchFamily="34" charset="0"/>
                <a:ea typeface="Amiri" pitchFamily="34" charset="-122"/>
                <a:cs typeface="Amiri" pitchFamily="34" charset="-120"/>
              </a:rPr>
              <a:t> حِذَاءَكَ.</a:t>
            </a:r>
            <a:endParaRPr lang="ar-SA" sz="1900" dirty="0"/>
          </a:p>
        </p:txBody>
      </p:sp>
      <p:sp>
        <p:nvSpPr>
          <p:cNvPr id="29" name="Text 26"/>
          <p:cNvSpPr txBox="1"/>
          <p:nvPr/>
        </p:nvSpPr>
        <p:spPr>
          <a:xfrm>
            <a:off x="4498848" y="3054096"/>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verb in -a</a:t>
            </a:r>
            <a:endParaRPr lang="en-US" sz="1100" dirty="0"/>
          </a:p>
        </p:txBody>
      </p:sp>
      <p:sp>
        <p:nvSpPr>
          <p:cNvPr id="30" name="Text 27"/>
          <p:cNvSpPr txBox="1"/>
          <p:nvPr/>
        </p:nvSpPr>
        <p:spPr>
          <a:xfrm>
            <a:off x="2761488" y="3054096"/>
            <a:ext cx="15544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obligation</a:t>
            </a:r>
            <a:endParaRPr lang="en-US" sz="1100" dirty="0"/>
          </a:p>
        </p:txBody>
      </p:sp>
      <p:sp>
        <p:nvSpPr>
          <p:cNvPr id="31" name="Text 28"/>
          <p:cNvSpPr txBox="1"/>
          <p:nvPr/>
        </p:nvSpPr>
        <p:spPr>
          <a:xfrm>
            <a:off x="548640" y="3054096"/>
            <a:ext cx="2011680" cy="731520"/>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34" charset="0"/>
                <a:ea typeface="Amiri" pitchFamily="34" charset="-122"/>
                <a:cs typeface="Amiri" pitchFamily="34" charset="-120"/>
              </a:rPr>
              <a:t>يَجِبُ أَنْ</a:t>
            </a:r>
            <a:endParaRPr lang="ar-SA" sz="20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6309360" y="3840480"/>
            <a:ext cx="5330952" cy="731520"/>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34" charset="0"/>
                <a:ea typeface="Amiri" pitchFamily="34" charset="-122"/>
                <a:cs typeface="Amiri" pitchFamily="34" charset="-120"/>
              </a:rPr>
              <a:t>يَحْظُرُ القَانُونُ </a:t>
            </a:r>
            <a:pPr rtl="1" algn="ctr" indent="0" marL="0">
              <a:buNone/>
            </a:pPr>
            <a:r>
              <a:rPr lang="ar-SA" altLang="en-US" sz="1900" b="1" dirty="0">
                <a:solidFill>
                  <a:srgbClr val="1D5FBF"/>
                </a:solidFill>
                <a:latin typeface="Amiri" pitchFamily="34" charset="0"/>
                <a:ea typeface="Amiri" pitchFamily="34" charset="-122"/>
                <a:cs typeface="Amiri" pitchFamily="34" charset="-120"/>
              </a:rPr>
              <a:t>التَّصْوِيرَ</a:t>
            </a:r>
            <a:pPr rtl="1" algn="ctr" indent="0" marL="0">
              <a:buNone/>
            </a:pPr>
            <a:r>
              <a:rPr lang="ar-SA" altLang="en-US" sz="1900" b="1" dirty="0">
                <a:solidFill>
                  <a:srgbClr val="1B3B6F"/>
                </a:solidFill>
                <a:latin typeface="Amiri" pitchFamily="34" charset="0"/>
                <a:ea typeface="Amiri" pitchFamily="34" charset="-122"/>
                <a:cs typeface="Amiri" pitchFamily="34" charset="-120"/>
              </a:rPr>
              <a:t> هُنَا.</a:t>
            </a:r>
            <a:endParaRPr lang="ar-SA" sz="1900" dirty="0"/>
          </a:p>
        </p:txBody>
      </p:sp>
      <p:sp>
        <p:nvSpPr>
          <p:cNvPr id="36" name="Text 33"/>
          <p:cNvSpPr txBox="1"/>
          <p:nvPr/>
        </p:nvSpPr>
        <p:spPr>
          <a:xfrm>
            <a:off x="4498848" y="3840480"/>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direct object</a:t>
            </a:r>
            <a:endParaRPr lang="en-US" sz="1100" dirty="0"/>
          </a:p>
        </p:txBody>
      </p:sp>
      <p:sp>
        <p:nvSpPr>
          <p:cNvPr id="37" name="Text 34"/>
          <p:cNvSpPr txBox="1"/>
          <p:nvPr/>
        </p:nvSpPr>
        <p:spPr>
          <a:xfrm>
            <a:off x="2761488" y="3840480"/>
            <a:ext cx="15544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prohibition</a:t>
            </a:r>
            <a:endParaRPr lang="en-US" sz="1100" dirty="0"/>
          </a:p>
        </p:txBody>
      </p:sp>
      <p:sp>
        <p:nvSpPr>
          <p:cNvPr id="38" name="Text 35"/>
          <p:cNvSpPr txBox="1"/>
          <p:nvPr/>
        </p:nvSpPr>
        <p:spPr>
          <a:xfrm>
            <a:off x="548640" y="3840480"/>
            <a:ext cx="2011680" cy="731520"/>
          </a:xfrm>
          <a:prstGeom prst="rect">
            <a:avLst/>
          </a:prstGeom>
          <a:noFill/>
          <a:ln/>
        </p:spPr>
        <p:txBody>
          <a:bodyPr wrap="square" lIns="0" tIns="0" rIns="0" bIns="0" rtlCol="0" anchor="ctr"/>
          <a:lstStyle/>
          <a:p>
            <a:pPr rtl="1" algn="ctr" indent="0" marL="0">
              <a:buNone/>
            </a:pPr>
            <a:r>
              <a:rPr lang="ar-SA" altLang="en-US" sz="2000" b="1" dirty="0">
                <a:solidFill>
                  <a:srgbClr val="1D5FBF"/>
                </a:solidFill>
                <a:latin typeface="Amiri" pitchFamily="34" charset="0"/>
                <a:ea typeface="Amiri" pitchFamily="34" charset="-122"/>
                <a:cs typeface="Amiri" pitchFamily="34" charset="-120"/>
              </a:rPr>
              <a:t>يَحْظُرُ</a:t>
            </a:r>
            <a:endParaRPr lang="ar-SA" sz="20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6309360" y="4626864"/>
            <a:ext cx="5330952" cy="731520"/>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34" charset="0"/>
                <a:ea typeface="Amiri" pitchFamily="34" charset="-122"/>
                <a:cs typeface="Amiri" pitchFamily="34" charset="-120"/>
              </a:rPr>
              <a:t>يَسْمَحُ المَتْحَفُ </a:t>
            </a:r>
            <a:pPr rtl="1" algn="ctr" indent="0" marL="0">
              <a:buNone/>
            </a:pPr>
            <a:r>
              <a:rPr lang="ar-SA" altLang="en-US" sz="1900" b="1" dirty="0">
                <a:solidFill>
                  <a:srgbClr val="7B3FA0"/>
                </a:solidFill>
                <a:latin typeface="Amiri" pitchFamily="34" charset="0"/>
                <a:ea typeface="Amiri" pitchFamily="34" charset="-122"/>
                <a:cs typeface="Amiri" pitchFamily="34" charset="-120"/>
              </a:rPr>
              <a:t>بِالتَّصْوِيرِ</a:t>
            </a:r>
            <a:pPr rtl="1" algn="ctr" indent="0" marL="0">
              <a:buNone/>
            </a:pPr>
            <a:r>
              <a:rPr lang="ar-SA" altLang="en-US" sz="1900" b="1" dirty="0">
                <a:solidFill>
                  <a:srgbClr val="1B3B6F"/>
                </a:solidFill>
                <a:latin typeface="Amiri" pitchFamily="34" charset="0"/>
                <a:ea typeface="Amiri" pitchFamily="34" charset="-122"/>
                <a:cs typeface="Amiri" pitchFamily="34" charset="-120"/>
              </a:rPr>
              <a:t> دُونَ فَلَاشٍ.</a:t>
            </a:r>
            <a:endParaRPr lang="ar-SA" sz="1900" dirty="0"/>
          </a:p>
        </p:txBody>
      </p:sp>
      <p:sp>
        <p:nvSpPr>
          <p:cNvPr id="41" name="Text 38"/>
          <p:cNvSpPr txBox="1"/>
          <p:nvPr/>
        </p:nvSpPr>
        <p:spPr>
          <a:xfrm>
            <a:off x="4498848" y="4626864"/>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bi- + noun</a:t>
            </a:r>
            <a:endParaRPr lang="en-US" sz="1100" dirty="0"/>
          </a:p>
        </p:txBody>
      </p:sp>
      <p:sp>
        <p:nvSpPr>
          <p:cNvPr id="42" name="Text 39"/>
          <p:cNvSpPr txBox="1"/>
          <p:nvPr/>
        </p:nvSpPr>
        <p:spPr>
          <a:xfrm>
            <a:off x="2761488" y="4626864"/>
            <a:ext cx="15544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permission</a:t>
            </a:r>
            <a:endParaRPr lang="en-US" sz="1100" dirty="0"/>
          </a:p>
        </p:txBody>
      </p:sp>
      <p:sp>
        <p:nvSpPr>
          <p:cNvPr id="43" name="Text 40"/>
          <p:cNvSpPr txBox="1"/>
          <p:nvPr/>
        </p:nvSpPr>
        <p:spPr>
          <a:xfrm>
            <a:off x="548640" y="4626864"/>
            <a:ext cx="2011680" cy="731520"/>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34" charset="0"/>
                <a:ea typeface="Amiri" pitchFamily="34" charset="-122"/>
                <a:cs typeface="Amiri" pitchFamily="34" charset="-120"/>
              </a:rPr>
              <a:t>يَسْمَحُ بِـ</a:t>
            </a:r>
            <a:endParaRPr lang="ar-SA" sz="20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Website mistakes 2–3: yaḥẓur bi-l-taṣwīr ✗ → yaḥẓur al-taṣwīra ✓ · yasmaḥ al-taṣwīra ✗ → yasmaḥ bi-l-taṣwīr ✓.</a:t>
            </a:r>
            <a:endParaRPr lang="en-US" sz="11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14 / 52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TE-L08 · Cultural Exchange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ea typeface="Calibri" pitchFamily="34" charset="-122"/>
                <a:cs typeface="Calibri" pitchFamily="34" charset="-120"/>
              </a:rPr>
              <a:t>GRAMMAR FOCUS · PART 2 · THE SUBJUNCTIVE WITH SOUND AND WEAK VERBS (WEBSITE QUIZ, VOCABULARY AND TEXTS) · DEVELOP</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After an: -u becomes -a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المُضَارِعُ المَنْصُوبُ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473952" y="1810512"/>
            <a:ext cx="5184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Example (website texts)</a:t>
            </a:r>
            <a:endParaRPr lang="en-US" sz="1100" dirty="0"/>
          </a:p>
        </p:txBody>
      </p:sp>
      <p:sp>
        <p:nvSpPr>
          <p:cNvPr id="17" name="Text 14"/>
          <p:cNvSpPr txBox="1"/>
          <p:nvPr/>
        </p:nvSpPr>
        <p:spPr>
          <a:xfrm>
            <a:off x="4736592" y="1810512"/>
            <a:ext cx="1591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Note</a:t>
            </a:r>
            <a:endParaRPr lang="en-US" sz="1100" dirty="0"/>
          </a:p>
        </p:txBody>
      </p:sp>
      <p:sp>
        <p:nvSpPr>
          <p:cNvPr id="18" name="Text 15"/>
          <p:cNvSpPr txBox="1"/>
          <p:nvPr/>
        </p:nvSpPr>
        <p:spPr>
          <a:xfrm>
            <a:off x="254203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After an</a:t>
            </a:r>
            <a:endParaRPr lang="en-US" sz="1100" dirty="0"/>
          </a:p>
        </p:txBody>
      </p:sp>
      <p:sp>
        <p:nvSpPr>
          <p:cNvPr id="19" name="Text 16"/>
          <p:cNvSpPr txBox="1"/>
          <p:nvPr/>
        </p:nvSpPr>
        <p:spPr>
          <a:xfrm>
            <a:off x="530352"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Normal</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6492240" y="2267712"/>
            <a:ext cx="5148072"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يُسْتَحْسَنُ أَنْ </a:t>
            </a:r>
            <a:pPr rtl="1" algn="ctr" indent="0" marL="0">
              <a:buNone/>
            </a:pPr>
            <a:r>
              <a:rPr lang="ar-SA" altLang="en-US" sz="1800" b="1" dirty="0">
                <a:solidFill>
                  <a:srgbClr val="0E7C86"/>
                </a:solidFill>
                <a:latin typeface="Amiri" pitchFamily="34" charset="0"/>
                <a:ea typeface="Amiri" pitchFamily="34" charset="-122"/>
                <a:cs typeface="Amiri" pitchFamily="34" charset="-120"/>
              </a:rPr>
              <a:t>يَتَعَلَّمَ</a:t>
            </a:r>
            <a:pPr rtl="1" algn="ctr" indent="0" marL="0">
              <a:buNone/>
            </a:pPr>
            <a:r>
              <a:rPr lang="ar-SA" altLang="en-US" sz="1800" b="1" dirty="0">
                <a:solidFill>
                  <a:srgbClr val="1B3B6F"/>
                </a:solidFill>
                <a:latin typeface="Amiri" pitchFamily="34" charset="0"/>
                <a:ea typeface="Amiri" pitchFamily="34" charset="-122"/>
                <a:cs typeface="Amiri" pitchFamily="34" charset="-120"/>
              </a:rPr>
              <a:t> الزَّائِرُ بَعْضَ العِبَارَاتِ.</a:t>
            </a:r>
            <a:endParaRPr lang="ar-SA" sz="1800" dirty="0"/>
          </a:p>
        </p:txBody>
      </p:sp>
      <p:sp>
        <p:nvSpPr>
          <p:cNvPr id="22" name="Text 19"/>
          <p:cNvSpPr txBox="1"/>
          <p:nvPr/>
        </p:nvSpPr>
        <p:spPr>
          <a:xfrm>
            <a:off x="4773168" y="2267712"/>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sound</a:t>
            </a:r>
            <a:endParaRPr lang="en-US" sz="1100" dirty="0"/>
          </a:p>
        </p:txBody>
      </p:sp>
      <p:sp>
        <p:nvSpPr>
          <p:cNvPr id="23" name="Text 20"/>
          <p:cNvSpPr txBox="1"/>
          <p:nvPr/>
        </p:nvSpPr>
        <p:spPr>
          <a:xfrm>
            <a:off x="2560320" y="2267712"/>
            <a:ext cx="2011680" cy="682142"/>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34" charset="0"/>
                <a:ea typeface="Amiri" pitchFamily="34" charset="-122"/>
                <a:cs typeface="Amiri" pitchFamily="34" charset="-120"/>
              </a:rPr>
              <a:t>يَتَعَلَّمَ</a:t>
            </a:r>
            <a:endParaRPr lang="ar-SA" sz="2000" dirty="0"/>
          </a:p>
        </p:txBody>
      </p:sp>
      <p:sp>
        <p:nvSpPr>
          <p:cNvPr id="24" name="Text 21"/>
          <p:cNvSpPr txBox="1"/>
          <p:nvPr/>
        </p:nvSpPr>
        <p:spPr>
          <a:xfrm>
            <a:off x="548640" y="2267712"/>
            <a:ext cx="182880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يَتَعَلَّمُ</a:t>
            </a:r>
            <a:endParaRPr lang="ar-SA" sz="20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6492240" y="3004718"/>
            <a:ext cx="5148072"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يَجِبُ أَنْ </a:t>
            </a:r>
            <a:pPr rtl="1" algn="ctr" indent="0" marL="0">
              <a:buNone/>
            </a:pPr>
            <a:r>
              <a:rPr lang="ar-SA" altLang="en-US" sz="1800" b="1" dirty="0">
                <a:solidFill>
                  <a:srgbClr val="0E7C86"/>
                </a:solidFill>
                <a:latin typeface="Amiri" pitchFamily="34" charset="0"/>
                <a:ea typeface="Amiri" pitchFamily="34" charset="-122"/>
                <a:cs typeface="Amiri" pitchFamily="34" charset="-120"/>
              </a:rPr>
              <a:t>تَخْلَعَ</a:t>
            </a:r>
            <a:pPr rtl="1" algn="ctr" indent="0" marL="0">
              <a:buNone/>
            </a:pPr>
            <a:r>
              <a:rPr lang="ar-SA" altLang="en-US" sz="1800" b="1" dirty="0">
                <a:solidFill>
                  <a:srgbClr val="1B3B6F"/>
                </a:solidFill>
                <a:latin typeface="Amiri" pitchFamily="34" charset="0"/>
                <a:ea typeface="Amiri" pitchFamily="34" charset="-122"/>
                <a:cs typeface="Amiri" pitchFamily="34" charset="-120"/>
              </a:rPr>
              <a:t> حِذَاءَكَ.</a:t>
            </a:r>
            <a:endParaRPr lang="ar-SA" sz="1800" dirty="0"/>
          </a:p>
        </p:txBody>
      </p:sp>
      <p:sp>
        <p:nvSpPr>
          <p:cNvPr id="29" name="Text 26"/>
          <p:cNvSpPr txBox="1"/>
          <p:nvPr/>
        </p:nvSpPr>
        <p:spPr>
          <a:xfrm>
            <a:off x="4773168" y="3004718"/>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sound · you</a:t>
            </a:r>
            <a:endParaRPr lang="en-US" sz="1100" dirty="0"/>
          </a:p>
        </p:txBody>
      </p:sp>
      <p:sp>
        <p:nvSpPr>
          <p:cNvPr id="30" name="Text 27"/>
          <p:cNvSpPr txBox="1"/>
          <p:nvPr/>
        </p:nvSpPr>
        <p:spPr>
          <a:xfrm>
            <a:off x="2560320" y="3004718"/>
            <a:ext cx="2011680" cy="682142"/>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34" charset="0"/>
                <a:ea typeface="Amiri" pitchFamily="34" charset="-122"/>
                <a:cs typeface="Amiri" pitchFamily="34" charset="-120"/>
              </a:rPr>
              <a:t>تَخْلَعَ</a:t>
            </a:r>
            <a:endParaRPr lang="ar-SA" sz="2000" dirty="0"/>
          </a:p>
        </p:txBody>
      </p:sp>
      <p:sp>
        <p:nvSpPr>
          <p:cNvPr id="31" name="Text 28"/>
          <p:cNvSpPr txBox="1"/>
          <p:nvPr/>
        </p:nvSpPr>
        <p:spPr>
          <a:xfrm>
            <a:off x="548640" y="3004718"/>
            <a:ext cx="182880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تَخْلَعُ</a:t>
            </a:r>
            <a:endParaRPr lang="ar-SA" sz="20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6492240" y="3741725"/>
            <a:ext cx="5148072"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يُسْتَحْسَنُ أَنْ </a:t>
            </a:r>
            <a:pPr rtl="1" algn="ctr" indent="0" marL="0">
              <a:buNone/>
            </a:pPr>
            <a:r>
              <a:rPr lang="ar-SA" altLang="en-US" sz="1800" b="1" dirty="0">
                <a:solidFill>
                  <a:srgbClr val="0E7C86"/>
                </a:solidFill>
                <a:latin typeface="Amiri" pitchFamily="34" charset="0"/>
                <a:ea typeface="Amiri" pitchFamily="34" charset="-122"/>
                <a:cs typeface="Amiri" pitchFamily="34" charset="-120"/>
              </a:rPr>
              <a:t>يَرْتَدِيَ</a:t>
            </a:r>
            <a:pPr rtl="1" algn="ctr" indent="0" marL="0">
              <a:buNone/>
            </a:pPr>
            <a:r>
              <a:rPr lang="ar-SA" altLang="en-US" sz="1800" b="1" dirty="0">
                <a:solidFill>
                  <a:srgbClr val="1B3B6F"/>
                </a:solidFill>
                <a:latin typeface="Amiri" pitchFamily="34" charset="0"/>
                <a:ea typeface="Amiri" pitchFamily="34" charset="-122"/>
                <a:cs typeface="Amiri" pitchFamily="34" charset="-120"/>
              </a:rPr>
              <a:t> مَلَابِسَ مُحْتَشِمَةً.</a:t>
            </a:r>
            <a:endParaRPr lang="ar-SA" sz="1800" dirty="0"/>
          </a:p>
        </p:txBody>
      </p:sp>
      <p:sp>
        <p:nvSpPr>
          <p:cNvPr id="36" name="Text 33"/>
          <p:cNvSpPr txBox="1"/>
          <p:nvPr/>
        </p:nvSpPr>
        <p:spPr>
          <a:xfrm>
            <a:off x="4773168" y="3741725"/>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weak: -ī → -iya</a:t>
            </a:r>
            <a:endParaRPr lang="en-US" sz="1100" dirty="0"/>
          </a:p>
        </p:txBody>
      </p:sp>
      <p:sp>
        <p:nvSpPr>
          <p:cNvPr id="37" name="Text 34"/>
          <p:cNvSpPr txBox="1"/>
          <p:nvPr/>
        </p:nvSpPr>
        <p:spPr>
          <a:xfrm>
            <a:off x="2560320" y="3741725"/>
            <a:ext cx="2011680" cy="682142"/>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34" charset="0"/>
                <a:ea typeface="Amiri" pitchFamily="34" charset="-122"/>
                <a:cs typeface="Amiri" pitchFamily="34" charset="-120"/>
              </a:rPr>
              <a:t>يَرْتَدِيَ</a:t>
            </a:r>
            <a:endParaRPr lang="ar-SA" sz="2000" dirty="0"/>
          </a:p>
        </p:txBody>
      </p:sp>
      <p:sp>
        <p:nvSpPr>
          <p:cNvPr id="38" name="Text 35"/>
          <p:cNvSpPr txBox="1"/>
          <p:nvPr/>
        </p:nvSpPr>
        <p:spPr>
          <a:xfrm>
            <a:off x="548640" y="3741725"/>
            <a:ext cx="182880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يَرْتَدِي</a:t>
            </a:r>
            <a:endParaRPr lang="ar-SA" sz="20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6492240" y="4478731"/>
            <a:ext cx="5148072"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يَجِبُ أَنْ تَخْلَعَ حِذَاءَكَ </a:t>
            </a:r>
            <a:pPr rtl="1" algn="ctr" indent="0" marL="0">
              <a:buNone/>
            </a:pPr>
            <a:r>
              <a:rPr lang="ar-SA" altLang="en-US" sz="1800" b="1" dirty="0">
                <a:solidFill>
                  <a:srgbClr val="0E7C86"/>
                </a:solidFill>
                <a:latin typeface="Amiri" pitchFamily="34" charset="0"/>
                <a:ea typeface="Amiri" pitchFamily="34" charset="-122"/>
                <a:cs typeface="Amiri" pitchFamily="34" charset="-120"/>
              </a:rPr>
              <a:t>وَتُغَطِّيَ</a:t>
            </a:r>
            <a:pPr rtl="1" algn="ctr" indent="0" marL="0">
              <a:buNone/>
            </a:pPr>
            <a:r>
              <a:rPr lang="ar-SA" altLang="en-US" sz="1800" b="1" dirty="0">
                <a:solidFill>
                  <a:srgbClr val="1B3B6F"/>
                </a:solidFill>
                <a:latin typeface="Amiri" pitchFamily="34" charset="0"/>
                <a:ea typeface="Amiri" pitchFamily="34" charset="-122"/>
                <a:cs typeface="Amiri" pitchFamily="34" charset="-120"/>
              </a:rPr>
              <a:t> رَأْسَكِ.</a:t>
            </a:r>
            <a:endParaRPr lang="ar-SA" sz="1800" dirty="0"/>
          </a:p>
        </p:txBody>
      </p:sp>
      <p:sp>
        <p:nvSpPr>
          <p:cNvPr id="41" name="Text 38"/>
          <p:cNvSpPr txBox="1"/>
          <p:nvPr/>
        </p:nvSpPr>
        <p:spPr>
          <a:xfrm>
            <a:off x="4773168" y="4478731"/>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weak: -ī → -iya</a:t>
            </a:r>
            <a:endParaRPr lang="en-US" sz="1100" dirty="0"/>
          </a:p>
        </p:txBody>
      </p:sp>
      <p:sp>
        <p:nvSpPr>
          <p:cNvPr id="42" name="Text 39"/>
          <p:cNvSpPr txBox="1"/>
          <p:nvPr/>
        </p:nvSpPr>
        <p:spPr>
          <a:xfrm>
            <a:off x="2560320" y="4478731"/>
            <a:ext cx="2011680" cy="682142"/>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34" charset="0"/>
                <a:ea typeface="Amiri" pitchFamily="34" charset="-122"/>
                <a:cs typeface="Amiri" pitchFamily="34" charset="-120"/>
              </a:rPr>
              <a:t>تُغَطِّيَ</a:t>
            </a:r>
            <a:endParaRPr lang="ar-SA" sz="2000" dirty="0"/>
          </a:p>
        </p:txBody>
      </p:sp>
      <p:sp>
        <p:nvSpPr>
          <p:cNvPr id="43" name="Text 40"/>
          <p:cNvSpPr txBox="1"/>
          <p:nvPr/>
        </p:nvSpPr>
        <p:spPr>
          <a:xfrm>
            <a:off x="548640" y="4478731"/>
            <a:ext cx="182880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تُغَطِّي</a:t>
            </a:r>
            <a:endParaRPr lang="ar-SA" sz="20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6492240" y="5215738"/>
            <a:ext cx="5148072"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يُسْتَحْسَنُ أَنْ </a:t>
            </a:r>
            <a:pPr rtl="1" algn="ctr" indent="0" marL="0">
              <a:buNone/>
            </a:pPr>
            <a:r>
              <a:rPr lang="ar-SA" altLang="en-US" sz="1800" b="1" dirty="0">
                <a:solidFill>
                  <a:srgbClr val="0E7C86"/>
                </a:solidFill>
                <a:latin typeface="Amiri" pitchFamily="34" charset="0"/>
                <a:ea typeface="Amiri" pitchFamily="34" charset="-122"/>
                <a:cs typeface="Amiri" pitchFamily="34" charset="-120"/>
              </a:rPr>
              <a:t>يَتَجَنَّبَ</a:t>
            </a:r>
            <a:pPr rtl="1" algn="ctr" indent="0" marL="0">
              <a:buNone/>
            </a:pPr>
            <a:r>
              <a:rPr lang="ar-SA" altLang="en-US" sz="1800" b="1" dirty="0">
                <a:solidFill>
                  <a:srgbClr val="1B3B6F"/>
                </a:solidFill>
                <a:latin typeface="Amiri" pitchFamily="34" charset="0"/>
                <a:ea typeface="Amiri" pitchFamily="34" charset="-122"/>
                <a:cs typeface="Amiri" pitchFamily="34" charset="-120"/>
              </a:rPr>
              <a:t> الأَكْلَ عَلَنًا فِي رَمَضَانَ.</a:t>
            </a:r>
            <a:endParaRPr lang="ar-SA" sz="1800" dirty="0"/>
          </a:p>
        </p:txBody>
      </p:sp>
      <p:sp>
        <p:nvSpPr>
          <p:cNvPr id="46" name="Text 43"/>
          <p:cNvSpPr txBox="1"/>
          <p:nvPr/>
        </p:nvSpPr>
        <p:spPr>
          <a:xfrm>
            <a:off x="4773168" y="5215738"/>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sound</a:t>
            </a:r>
            <a:endParaRPr lang="en-US" sz="1100" dirty="0"/>
          </a:p>
        </p:txBody>
      </p:sp>
      <p:sp>
        <p:nvSpPr>
          <p:cNvPr id="47" name="Text 44"/>
          <p:cNvSpPr txBox="1"/>
          <p:nvPr/>
        </p:nvSpPr>
        <p:spPr>
          <a:xfrm>
            <a:off x="2560320" y="5215738"/>
            <a:ext cx="2011680" cy="682142"/>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34" charset="0"/>
                <a:ea typeface="Amiri" pitchFamily="34" charset="-122"/>
                <a:cs typeface="Amiri" pitchFamily="34" charset="-120"/>
              </a:rPr>
              <a:t>يَتَجَنَّبَ</a:t>
            </a:r>
            <a:endParaRPr lang="ar-SA" sz="2000" dirty="0"/>
          </a:p>
        </p:txBody>
      </p:sp>
      <p:sp>
        <p:nvSpPr>
          <p:cNvPr id="48" name="Text 45"/>
          <p:cNvSpPr txBox="1"/>
          <p:nvPr/>
        </p:nvSpPr>
        <p:spPr>
          <a:xfrm>
            <a:off x="548640" y="5215738"/>
            <a:ext cx="182880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يَتَجَنَّبُ</a:t>
            </a:r>
            <a:endParaRPr lang="ar-SA" sz="20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Website mistake 1: an yataʿallamu ✗ → an yataʿallama ✓. Weak verbs in -ī keep the yāʾ and add -a: yartadiya.</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15 / 52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TE-L08 · Cultural Exchange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ea typeface="Calibri" pitchFamily="34" charset="-122"/>
                <a:cs typeface="Calibri" pitchFamily="34" charset="-120"/>
              </a:rPr>
              <a:t>GRAMMAR FOCUS · PART 3 · RULES ON SIGNS AND IN GUIDES (WEBSITE RULE 3 + TEACHING POINT 2) · DEVELOP</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 the sign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لُغَةُ اللَّافِتَاتِ وَالقَوَاعِدِ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TE-L08</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371600" cy="274320"/>
          </a:xfrm>
          <a:prstGeom prst="roundRect">
            <a:avLst>
              <a:gd name="adj" fmla="val 50000"/>
            </a:avLst>
          </a:prstGeom>
          <a:solidFill>
            <a:srgbClr val="C0386B"/>
          </a:solidFill>
          <a:ln w="12700">
            <a:solidFill>
              <a:srgbClr val="C0386B"/>
            </a:solidFill>
            <a:prstDash val="solid"/>
          </a:ln>
        </p:spPr>
      </p:sp>
      <p:sp>
        <p:nvSpPr>
          <p:cNvPr id="17" name="Text 14"/>
          <p:cNvSpPr txBox="1"/>
          <p:nvPr/>
        </p:nvSpPr>
        <p:spPr>
          <a:xfrm>
            <a:off x="8232648" y="1920240"/>
            <a:ext cx="13716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PROHIBITS · CORE</a:t>
            </a:r>
            <a:endParaRPr lang="en-US" sz="850" dirty="0"/>
          </a:p>
        </p:txBody>
      </p:sp>
      <p:sp>
        <p:nvSpPr>
          <p:cNvPr id="18" name="Text 15"/>
          <p:cNvSpPr txBox="1"/>
          <p:nvPr/>
        </p:nvSpPr>
        <p:spPr>
          <a:xfrm>
            <a:off x="9649968" y="1874520"/>
            <a:ext cx="1944624" cy="365760"/>
          </a:xfrm>
          <a:prstGeom prst="rect">
            <a:avLst/>
          </a:prstGeom>
          <a:noFill/>
          <a:ln/>
        </p:spPr>
        <p:txBody>
          <a:bodyPr wrap="square" lIns="0" tIns="0" rIns="0" bIns="0" rtlCol="0" anchor="ctr"/>
          <a:lstStyle/>
          <a:p>
            <a:pPr algn="l" indent="0" marL="0">
              <a:buNone/>
            </a:pPr>
            <a:r>
              <a:rPr lang="ar-SA" altLang="en-US" sz="2100" b="1" dirty="0">
                <a:solidFill>
                  <a:srgbClr val="8A6D1E"/>
                </a:solidFill>
                <a:latin typeface="Amiri" pitchFamily="34" charset="0"/>
                <a:ea typeface="Amiri" pitchFamily="34" charset="-122"/>
                <a:cs typeface="Amiri" pitchFamily="34" charset="-120"/>
              </a:rPr>
              <a:t>يَحْظُرُ</a:t>
            </a:r>
            <a:pPr algn="l" indent="0" marL="0">
              <a:buNone/>
            </a:pPr>
            <a:r>
              <a:rPr lang="en-US" sz="1600" b="1" dirty="0">
                <a:solidFill>
                  <a:srgbClr val="8A6D1E"/>
                </a:solidFill>
                <a:latin typeface="Calibri" pitchFamily="34" charset="0"/>
                <a:ea typeface="Calibri" pitchFamily="34" charset="-122"/>
                <a:cs typeface="Calibri" pitchFamily="34" charset="-120"/>
              </a:rPr>
              <a:t> + object</a:t>
            </a:r>
            <a:endParaRPr lang="en-US"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34" charset="0"/>
                <a:ea typeface="Amiri" pitchFamily="34" charset="-122"/>
                <a:cs typeface="Amiri" pitchFamily="34" charset="-120"/>
              </a:rPr>
              <a:t>يَحْظُرُ بَعْضُ المَوَاقِعِ التَّصْوِيرَ.</a:t>
            </a:r>
            <a:endParaRPr lang="ar-SA" sz="265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Some sites prohibit photography.</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No preposition.</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234440" cy="274320"/>
          </a:xfrm>
          <a:prstGeom prst="roundRect">
            <a:avLst>
              <a:gd name="adj" fmla="val 50000"/>
            </a:avLst>
          </a:prstGeom>
          <a:solidFill>
            <a:srgbClr val="1E6B52"/>
          </a:solidFill>
          <a:ln w="12700">
            <a:solidFill>
              <a:srgbClr val="1E6B52"/>
            </a:solidFill>
            <a:prstDash val="solid"/>
          </a:ln>
        </p:spPr>
      </p:sp>
      <p:sp>
        <p:nvSpPr>
          <p:cNvPr id="25" name="Text 22"/>
          <p:cNvSpPr txBox="1"/>
          <p:nvPr/>
        </p:nvSpPr>
        <p:spPr>
          <a:xfrm>
            <a:off x="4413504" y="1920240"/>
            <a:ext cx="12344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PERMITS · CORE</a:t>
            </a:r>
            <a:endParaRPr lang="en-US" sz="850" dirty="0"/>
          </a:p>
        </p:txBody>
      </p:sp>
      <p:sp>
        <p:nvSpPr>
          <p:cNvPr id="26" name="Text 23"/>
          <p:cNvSpPr txBox="1"/>
          <p:nvPr/>
        </p:nvSpPr>
        <p:spPr>
          <a:xfrm>
            <a:off x="5693664" y="1874520"/>
            <a:ext cx="20817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يَسْمَحُ بِـ</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34" charset="0"/>
                <a:ea typeface="Amiri" pitchFamily="34" charset="-122"/>
                <a:cs typeface="Amiri" pitchFamily="34" charset="-120"/>
              </a:rPr>
              <a:t>تَسْمَحُ مَوَاقِعُ أُخْرَى بِالتَّصْوِيرِ.</a:t>
            </a:r>
            <a:endParaRPr lang="ar-SA" sz="265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Other sites permit photography.</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Always bi-.</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508760" cy="274320"/>
          </a:xfrm>
          <a:prstGeom prst="roundRect">
            <a:avLst>
              <a:gd name="adj" fmla="val 50000"/>
            </a:avLst>
          </a:prstGeom>
          <a:solidFill>
            <a:srgbClr val="1D5FBF"/>
          </a:solidFill>
          <a:ln w="12700">
            <a:solidFill>
              <a:srgbClr val="1D5FBF"/>
            </a:solidFill>
            <a:prstDash val="solid"/>
          </a:ln>
        </p:spPr>
      </p:sp>
      <p:sp>
        <p:nvSpPr>
          <p:cNvPr id="33" name="Text 30"/>
          <p:cNvSpPr txBox="1"/>
          <p:nvPr/>
        </p:nvSpPr>
        <p:spPr>
          <a:xfrm>
            <a:off x="594360" y="1920240"/>
            <a:ext cx="15087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LEADS TO · STRETCH</a:t>
            </a:r>
            <a:endParaRPr lang="en-US" sz="850" dirty="0"/>
          </a:p>
        </p:txBody>
      </p:sp>
      <p:sp>
        <p:nvSpPr>
          <p:cNvPr id="34" name="Text 31"/>
          <p:cNvSpPr txBox="1"/>
          <p:nvPr/>
        </p:nvSpPr>
        <p:spPr>
          <a:xfrm>
            <a:off x="2148840" y="1874520"/>
            <a:ext cx="18074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يُفْضِي إِلَى</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2550" b="1" dirty="0">
                <a:solidFill>
                  <a:srgbClr val="1B3B6F"/>
                </a:solidFill>
                <a:latin typeface="Amiri" pitchFamily="34" charset="0"/>
                <a:ea typeface="Amiri" pitchFamily="34" charset="-122"/>
                <a:cs typeface="Amiri" pitchFamily="34" charset="-120"/>
              </a:rPr>
              <a:t>الاحْتِرَامُ يُفْضِي إِلَى التَّفَاهُمِ.</a:t>
            </a:r>
            <a:endParaRPr lang="ar-SA" sz="255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Respect leads to understanding.</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Always ilā.</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ea typeface="Calibri" pitchFamily="34" charset="-122"/>
                <a:cs typeface="Calibri" pitchFamily="34" charset="-120"/>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ea typeface="Calibri" pitchFamily="34" charset="-122"/>
                <a:cs typeface="Calibri" pitchFamily="34" charset="-120"/>
              </a:rPr>
              <a:t>Website mistake 2: yaḥẓur takes a direct object.</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34" charset="0"/>
                <a:ea typeface="Amiri" pitchFamily="34" charset="-122"/>
                <a:cs typeface="Amiri" pitchFamily="34" charset="-120"/>
              </a:rPr>
              <a:t>يَحْظُرُ القَانُونُ التَّصْوِيرَ</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B83227"/>
                </a:solidFill>
                <a:latin typeface="Amiri" pitchFamily="34" charset="0"/>
                <a:ea typeface="Amiri" pitchFamily="34" charset="-122"/>
                <a:cs typeface="Amiri" pitchFamily="34" charset="-120"/>
              </a:rPr>
              <a:t>يَحْظُرُ القَانُونُ بِالتَّصْوِيرِ</a:t>
            </a:r>
            <a:endParaRPr lang="ar-SA" sz="16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16 / 52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TE-L08 · Cultural Exchange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ea typeface="Calibri" pitchFamily="34" charset="-122"/>
                <a:cs typeface="Calibri" pitchFamily="34" charset="-120"/>
              </a:rPr>
              <a:t>GRAMMAR FOCUS · PART 4 · THE VOICE OF A CULTURAL GUIDE (WEBSITE RULE 4, LISTENING AND WRITING MODEL)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Scenario, tip and reflection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أُسْلُوبُ الدَّلِيلِ الثَّقَافِيِّ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400032" y="1810512"/>
            <a:ext cx="2258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Structure</a:t>
            </a:r>
            <a:endParaRPr lang="en-US" sz="1100" dirty="0"/>
          </a:p>
        </p:txBody>
      </p:sp>
      <p:sp>
        <p:nvSpPr>
          <p:cNvPr id="17" name="Text 14"/>
          <p:cNvSpPr txBox="1"/>
          <p:nvPr/>
        </p:nvSpPr>
        <p:spPr>
          <a:xfrm>
            <a:off x="2724912" y="1810512"/>
            <a:ext cx="65288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Example (website texts)</a:t>
            </a:r>
            <a:endParaRPr lang="en-US" sz="1100" dirty="0"/>
          </a:p>
        </p:txBody>
      </p:sp>
      <p:sp>
        <p:nvSpPr>
          <p:cNvPr id="18" name="Text 15"/>
          <p:cNvSpPr txBox="1"/>
          <p:nvPr/>
        </p:nvSpPr>
        <p:spPr>
          <a:xfrm>
            <a:off x="53035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Tool</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9436608" y="2267712"/>
            <a:ext cx="2221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idhā + modal</a:t>
            </a:r>
            <a:endParaRPr lang="en-US" sz="1100" dirty="0"/>
          </a:p>
        </p:txBody>
      </p:sp>
      <p:sp>
        <p:nvSpPr>
          <p:cNvPr id="21" name="Text 18"/>
          <p:cNvSpPr txBox="1"/>
          <p:nvPr/>
        </p:nvSpPr>
        <p:spPr>
          <a:xfrm>
            <a:off x="2743200" y="2267712"/>
            <a:ext cx="6492240" cy="682142"/>
          </a:xfrm>
          <a:prstGeom prst="rect">
            <a:avLst/>
          </a:prstGeom>
          <a:noFill/>
          <a:ln/>
        </p:spPr>
        <p:txBody>
          <a:bodyPr wrap="square" lIns="0" tIns="0" rIns="0" bIns="0" rtlCol="0" anchor="ctr"/>
          <a:lstStyle/>
          <a:p>
            <a:pPr rtl="1" algn="ctr" indent="0" marL="0">
              <a:buNone/>
            </a:pPr>
            <a:r>
              <a:rPr lang="ar-SA" altLang="en-US" sz="1900" b="1" dirty="0">
                <a:solidFill>
                  <a:srgbClr val="1D5FBF"/>
                </a:solidFill>
                <a:latin typeface="Amiri" pitchFamily="34" charset="0"/>
                <a:ea typeface="Amiri" pitchFamily="34" charset="-122"/>
                <a:cs typeface="Amiri" pitchFamily="34" charset="-120"/>
              </a:rPr>
              <a:t>إِذَا</a:t>
            </a:r>
            <a:pPr rtl="1" algn="ctr" indent="0" marL="0">
              <a:buNone/>
            </a:pPr>
            <a:r>
              <a:rPr lang="ar-SA" altLang="en-US" sz="1900" b="1" dirty="0">
                <a:solidFill>
                  <a:srgbClr val="1B3B6F"/>
                </a:solidFill>
                <a:latin typeface="Amiri" pitchFamily="34" charset="0"/>
                <a:ea typeface="Amiri" pitchFamily="34" charset="-122"/>
                <a:cs typeface="Amiri" pitchFamily="34" charset="-120"/>
              </a:rPr>
              <a:t> دُعِيتَ إِلَى مَنْزِلٍ، يُسْتَحْسَنُ أَنْ </a:t>
            </a:r>
            <a:pPr rtl="1" algn="ctr" indent="0" marL="0">
              <a:buNone/>
            </a:pPr>
            <a:r>
              <a:rPr lang="ar-SA" altLang="en-US" sz="1900" b="1" dirty="0">
                <a:solidFill>
                  <a:srgbClr val="0E7C86"/>
                </a:solidFill>
                <a:latin typeface="Amiri" pitchFamily="34" charset="0"/>
                <a:ea typeface="Amiri" pitchFamily="34" charset="-122"/>
                <a:cs typeface="Amiri" pitchFamily="34" charset="-120"/>
              </a:rPr>
              <a:t>تُحْضِرَ</a:t>
            </a:r>
            <a:pPr rtl="1" algn="ctr" indent="0" marL="0">
              <a:buNone/>
            </a:pPr>
            <a:r>
              <a:rPr lang="ar-SA" altLang="en-US" sz="1900" b="1" dirty="0">
                <a:solidFill>
                  <a:srgbClr val="1B3B6F"/>
                </a:solidFill>
                <a:latin typeface="Amiri" pitchFamily="34" charset="0"/>
                <a:ea typeface="Amiri" pitchFamily="34" charset="-122"/>
                <a:cs typeface="Amiri" pitchFamily="34" charset="-120"/>
              </a:rPr>
              <a:t> هَدِيَّةً.</a:t>
            </a:r>
            <a:endParaRPr lang="ar-SA" sz="1900" dirty="0"/>
          </a:p>
        </p:txBody>
      </p:sp>
      <p:sp>
        <p:nvSpPr>
          <p:cNvPr id="22" name="Text 19"/>
          <p:cNvSpPr txBox="1"/>
          <p:nvPr/>
        </p:nvSpPr>
        <p:spPr>
          <a:xfrm>
            <a:off x="566928" y="2267712"/>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scenario</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9436608" y="3004718"/>
            <a:ext cx="2221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passive</a:t>
            </a:r>
            <a:endParaRPr lang="en-US" sz="1100" dirty="0"/>
          </a:p>
        </p:txBody>
      </p:sp>
      <p:sp>
        <p:nvSpPr>
          <p:cNvPr id="27" name="Text 24"/>
          <p:cNvSpPr txBox="1"/>
          <p:nvPr/>
        </p:nvSpPr>
        <p:spPr>
          <a:xfrm>
            <a:off x="2743200" y="3004718"/>
            <a:ext cx="6492240" cy="682142"/>
          </a:xfrm>
          <a:prstGeom prst="rect">
            <a:avLst/>
          </a:prstGeom>
          <a:noFill/>
          <a:ln/>
        </p:spPr>
        <p:txBody>
          <a:bodyPr wrap="square" lIns="0" tIns="0" rIns="0" bIns="0" rtlCol="0" anchor="ctr"/>
          <a:lstStyle/>
          <a:p>
            <a:pPr rtl="1" algn="ctr" indent="0" marL="0">
              <a:buNone/>
            </a:pPr>
            <a:r>
              <a:rPr lang="ar-SA" altLang="en-US" sz="1900" b="1" dirty="0">
                <a:solidFill>
                  <a:srgbClr val="C77700"/>
                </a:solidFill>
                <a:latin typeface="Amiri" pitchFamily="34" charset="0"/>
                <a:ea typeface="Amiri" pitchFamily="34" charset="-122"/>
                <a:cs typeface="Amiri" pitchFamily="34" charset="-120"/>
              </a:rPr>
              <a:t>يُعْتَبَرُ</a:t>
            </a:r>
            <a:pPr rtl="1" algn="ctr" indent="0" marL="0">
              <a:buNone/>
            </a:pPr>
            <a:r>
              <a:rPr lang="ar-SA" altLang="en-US" sz="1900" b="1" dirty="0">
                <a:solidFill>
                  <a:srgbClr val="1B3B6F"/>
                </a:solidFill>
                <a:latin typeface="Amiri" pitchFamily="34" charset="0"/>
                <a:ea typeface="Amiri" pitchFamily="34" charset="-122"/>
                <a:cs typeface="Amiri" pitchFamily="34" charset="-120"/>
              </a:rPr>
              <a:t> الاحْتِرَامُ الثَّقَافِيُّ رَكِيزَةً أَسَاسِيَّةً.</a:t>
            </a:r>
            <a:endParaRPr lang="ar-SA" sz="1900" dirty="0"/>
          </a:p>
        </p:txBody>
      </p:sp>
      <p:sp>
        <p:nvSpPr>
          <p:cNvPr id="28" name="Text 25"/>
          <p:cNvSpPr txBox="1"/>
          <p:nvPr/>
        </p:nvSpPr>
        <p:spPr>
          <a:xfrm>
            <a:off x="566928" y="3004718"/>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impersonal</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9436608" y="3741725"/>
            <a:ext cx="2221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akhbaranī anna</a:t>
            </a:r>
            <a:endParaRPr lang="en-US" sz="1100" dirty="0"/>
          </a:p>
        </p:txBody>
      </p:sp>
      <p:sp>
        <p:nvSpPr>
          <p:cNvPr id="31" name="Text 28"/>
          <p:cNvSpPr txBox="1"/>
          <p:nvPr/>
        </p:nvSpPr>
        <p:spPr>
          <a:xfrm>
            <a:off x="2743200" y="3741725"/>
            <a:ext cx="6492240" cy="682142"/>
          </a:xfrm>
          <a:prstGeom prst="rect">
            <a:avLst/>
          </a:prstGeom>
          <a:noFill/>
          <a:ln/>
        </p:spPr>
        <p:txBody>
          <a:bodyPr wrap="square" lIns="0" tIns="0" rIns="0" bIns="0" rtlCol="0" anchor="ctr"/>
          <a:lstStyle/>
          <a:p>
            <a:pPr rtl="1" algn="ctr" indent="0" marL="0">
              <a:buNone/>
            </a:pPr>
            <a:r>
              <a:rPr lang="ar-SA" altLang="en-US" sz="1900" b="1" dirty="0">
                <a:solidFill>
                  <a:srgbClr val="7B3FA0"/>
                </a:solidFill>
                <a:latin typeface="Amiri" pitchFamily="34" charset="0"/>
                <a:ea typeface="Amiri" pitchFamily="34" charset="-122"/>
                <a:cs typeface="Amiri" pitchFamily="34" charset="-120"/>
              </a:rPr>
              <a:t>أَخْبَرَنِي</a:t>
            </a:r>
            <a:pPr rtl="1" algn="ctr" indent="0" marL="0">
              <a:buNone/>
            </a:pPr>
            <a:r>
              <a:rPr lang="ar-SA" altLang="en-US" sz="1900" b="1" dirty="0">
                <a:solidFill>
                  <a:srgbClr val="1B3B6F"/>
                </a:solidFill>
                <a:latin typeface="Amiri" pitchFamily="34" charset="0"/>
                <a:ea typeface="Amiri" pitchFamily="34" charset="-122"/>
                <a:cs typeface="Amiri" pitchFamily="34" charset="-120"/>
              </a:rPr>
              <a:t> مُضِيفٌ عَرَبِيٌّ </a:t>
            </a:r>
            <a:pPr rtl="1" algn="ctr" indent="0" marL="0">
              <a:buNone/>
            </a:pPr>
            <a:r>
              <a:rPr lang="ar-SA" altLang="en-US" sz="1900" b="1" dirty="0">
                <a:solidFill>
                  <a:srgbClr val="7B3FA0"/>
                </a:solidFill>
                <a:latin typeface="Amiri" pitchFamily="34" charset="0"/>
                <a:ea typeface="Amiri" pitchFamily="34" charset="-122"/>
                <a:cs typeface="Amiri" pitchFamily="34" charset="-120"/>
              </a:rPr>
              <a:t>أَنَّ</a:t>
            </a:r>
            <a:pPr rtl="1" algn="ctr" indent="0" marL="0">
              <a:buNone/>
            </a:pPr>
            <a:r>
              <a:rPr lang="ar-SA" altLang="en-US" sz="1900" b="1" dirty="0">
                <a:solidFill>
                  <a:srgbClr val="1B3B6F"/>
                </a:solidFill>
                <a:latin typeface="Amiri" pitchFamily="34" charset="0"/>
                <a:ea typeface="Amiri" pitchFamily="34" charset="-122"/>
                <a:cs typeface="Amiri" pitchFamily="34" charset="-120"/>
              </a:rPr>
              <a:t> بَادِرَةً صَغِيرَةً تَفْتَحُ القُلُوبَ.</a:t>
            </a:r>
            <a:endParaRPr lang="ar-SA" sz="1900" dirty="0"/>
          </a:p>
        </p:txBody>
      </p:sp>
      <p:sp>
        <p:nvSpPr>
          <p:cNvPr id="32" name="Text 29"/>
          <p:cNvSpPr txBox="1"/>
          <p:nvPr/>
        </p:nvSpPr>
        <p:spPr>
          <a:xfrm>
            <a:off x="566928" y="3741725"/>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reported tip</a:t>
            </a:r>
            <a:endParaRPr lang="en-US" sz="1100" dirty="0"/>
          </a:p>
        </p:txBody>
      </p:sp>
      <p:sp>
        <p:nvSpPr>
          <p:cNvPr id="33" name="Shape 30"/>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4" name="Text 31"/>
          <p:cNvSpPr txBox="1"/>
          <p:nvPr/>
        </p:nvSpPr>
        <p:spPr>
          <a:xfrm>
            <a:off x="9436608" y="4478731"/>
            <a:ext cx="2221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maṣdar + li-</a:t>
            </a:r>
            <a:endParaRPr lang="en-US" sz="1100" dirty="0"/>
          </a:p>
        </p:txBody>
      </p:sp>
      <p:sp>
        <p:nvSpPr>
          <p:cNvPr id="35" name="Text 32"/>
          <p:cNvSpPr txBox="1"/>
          <p:nvPr/>
        </p:nvSpPr>
        <p:spPr>
          <a:xfrm>
            <a:off x="2743200" y="4478731"/>
            <a:ext cx="6492240"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34" charset="0"/>
                <a:ea typeface="Amiri" pitchFamily="34" charset="-122"/>
                <a:cs typeface="Amiri" pitchFamily="34" charset="-120"/>
              </a:rPr>
              <a:t>يَتَجَنَّبُ الأَكْلَ عَلَنًا </a:t>
            </a:r>
            <a:pPr rtl="1" algn="ctr" indent="0" marL="0">
              <a:buNone/>
            </a:pPr>
            <a:r>
              <a:rPr lang="ar-SA" altLang="en-US" sz="1900" b="1" dirty="0">
                <a:solidFill>
                  <a:srgbClr val="C77700"/>
                </a:solidFill>
                <a:latin typeface="Amiri" pitchFamily="34" charset="0"/>
                <a:ea typeface="Amiri" pitchFamily="34" charset="-122"/>
                <a:cs typeface="Amiri" pitchFamily="34" charset="-120"/>
              </a:rPr>
              <a:t>احْتِرَامًا لِلصَّائِمِينَ</a:t>
            </a:r>
            <a:pPr rtl="1" algn="ctr" indent="0" marL="0">
              <a:buNone/>
            </a:pPr>
            <a:r>
              <a:rPr lang="ar-SA" altLang="en-US" sz="1900" b="1" dirty="0">
                <a:solidFill>
                  <a:srgbClr val="1B3B6F"/>
                </a:solidFill>
                <a:latin typeface="Amiri" pitchFamily="34" charset="0"/>
                <a:ea typeface="Amiri" pitchFamily="34" charset="-122"/>
                <a:cs typeface="Amiri" pitchFamily="34" charset="-120"/>
              </a:rPr>
              <a:t>.</a:t>
            </a:r>
            <a:endParaRPr lang="ar-SA" sz="1900" dirty="0"/>
          </a:p>
        </p:txBody>
      </p:sp>
      <p:sp>
        <p:nvSpPr>
          <p:cNvPr id="36" name="Text 33"/>
          <p:cNvSpPr txBox="1"/>
          <p:nvPr/>
        </p:nvSpPr>
        <p:spPr>
          <a:xfrm>
            <a:off x="566928" y="4478731"/>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reason</a:t>
            </a:r>
            <a:endParaRPr lang="en-US" sz="1100" dirty="0"/>
          </a:p>
        </p:txBody>
      </p:sp>
      <p:sp>
        <p:nvSpPr>
          <p:cNvPr id="37" name="Shape 34"/>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436608" y="5215738"/>
            <a:ext cx="2221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law … la-</a:t>
            </a:r>
            <a:endParaRPr lang="en-US" sz="1100" dirty="0"/>
          </a:p>
        </p:txBody>
      </p:sp>
      <p:sp>
        <p:nvSpPr>
          <p:cNvPr id="39" name="Text 36"/>
          <p:cNvSpPr txBox="1"/>
          <p:nvPr/>
        </p:nvSpPr>
        <p:spPr>
          <a:xfrm>
            <a:off x="2743200" y="5215738"/>
            <a:ext cx="6492240" cy="682142"/>
          </a:xfrm>
          <a:prstGeom prst="rect">
            <a:avLst/>
          </a:prstGeom>
          <a:noFill/>
          <a:ln/>
        </p:spPr>
        <p:txBody>
          <a:bodyPr wrap="square" lIns="0" tIns="0" rIns="0" bIns="0" rtlCol="0" anchor="ctr"/>
          <a:lstStyle/>
          <a:p>
            <a:pPr rtl="1" algn="ctr" indent="0" marL="0">
              <a:buNone/>
            </a:pPr>
            <a:r>
              <a:rPr lang="ar-SA" altLang="en-US" sz="1900" b="1" dirty="0">
                <a:solidFill>
                  <a:srgbClr val="D6336C"/>
                </a:solidFill>
                <a:latin typeface="Amiri" pitchFamily="34" charset="0"/>
                <a:ea typeface="Amiri" pitchFamily="34" charset="-122"/>
                <a:cs typeface="Amiri" pitchFamily="34" charset="-120"/>
              </a:rPr>
              <a:t>لَوْ</a:t>
            </a:r>
            <a:pPr rtl="1" algn="ctr" indent="0" marL="0">
              <a:buNone/>
            </a:pPr>
            <a:r>
              <a:rPr lang="ar-SA" altLang="en-US" sz="1900" b="1" dirty="0">
                <a:solidFill>
                  <a:srgbClr val="1B3B6F"/>
                </a:solidFill>
                <a:latin typeface="Amiri" pitchFamily="34" charset="0"/>
                <a:ea typeface="Amiri" pitchFamily="34" charset="-122"/>
                <a:cs typeface="Amiri" pitchFamily="34" charset="-120"/>
              </a:rPr>
              <a:t> عَرَفَ كُلُّ زَائِرٍ عَادَاتِ البَلَدِ، </a:t>
            </a:r>
            <a:pPr rtl="1" algn="ctr" indent="0" marL="0">
              <a:buNone/>
            </a:pPr>
            <a:r>
              <a:rPr lang="ar-SA" altLang="en-US" sz="1900" b="1" dirty="0">
                <a:solidFill>
                  <a:srgbClr val="D6336C"/>
                </a:solidFill>
                <a:latin typeface="Amiri" pitchFamily="34" charset="0"/>
                <a:ea typeface="Amiri" pitchFamily="34" charset="-122"/>
                <a:cs typeface="Amiri" pitchFamily="34" charset="-120"/>
              </a:rPr>
              <a:t>لَقَلَّتِ</a:t>
            </a:r>
            <a:pPr rtl="1" algn="ctr" indent="0" marL="0">
              <a:buNone/>
            </a:pPr>
            <a:r>
              <a:rPr lang="ar-SA" altLang="en-US" sz="1900" b="1" dirty="0">
                <a:solidFill>
                  <a:srgbClr val="1B3B6F"/>
                </a:solidFill>
                <a:latin typeface="Amiri" pitchFamily="34" charset="0"/>
                <a:ea typeface="Amiri" pitchFamily="34" charset="-122"/>
                <a:cs typeface="Amiri" pitchFamily="34" charset="-120"/>
              </a:rPr>
              <a:t> الزَّلَّاتُ الثَّقَافِيَّةُ.</a:t>
            </a:r>
            <a:endParaRPr lang="ar-SA" sz="1900" dirty="0"/>
          </a:p>
        </p:txBody>
      </p:sp>
      <p:sp>
        <p:nvSpPr>
          <p:cNvPr id="40" name="Text 37"/>
          <p:cNvSpPr txBox="1"/>
          <p:nvPr/>
        </p:nvSpPr>
        <p:spPr>
          <a:xfrm>
            <a:off x="566928" y="5215738"/>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reflection</a:t>
            </a:r>
            <a:endParaRPr lang="en-US" sz="1100" dirty="0"/>
          </a:p>
        </p:txBody>
      </p:sp>
      <p:sp>
        <p:nvSpPr>
          <p:cNvPr id="41" name="Shape 38"/>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A guide moves from the general (yuʿtabar) to the scenario (idhā) to the personal (akhbaranī) to the reflection (law).</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17 / 52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TE-L08 · Cultural Exchange</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The website grammar rules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650" b="1" dirty="0">
                <a:solidFill>
                  <a:srgbClr val="8A6D1E"/>
                </a:solidFill>
                <a:latin typeface="Amiri" pitchFamily="34" charset="0"/>
                <a:ea typeface="Amiri" pitchFamily="34" charset="-122"/>
                <a:cs typeface="Amiri" pitchFamily="34" charset="-120"/>
              </a:rPr>
              <a:t>صِيَغُ النُّصْحِ وَالفِعْلُ المَنْصُوبُ بَعْدَ أَنْ</a:t>
            </a:r>
            <a:endParaRPr lang="ar-SA" sz="265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TE-L08</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1. yustaḥsan an + subjunctive</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ea typeface="Calibri" pitchFamily="34" charset="-122"/>
                <a:cs typeface="Calibri" pitchFamily="34" charset="-120"/>
              </a:rPr>
              <a:t>yustaḥsan an + verb in -a</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يُسْتَحْسَنُ أَنْ يَتَعَلَّمَ الزَّائِرُ تَحِيَّةً عَرَبِيَّةً   ·   يُسْتَحْسَنُ أَنْ يَرْتَدِيَ مَلَابِسَ مُحْتَشِمَةً</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2. yajib an + subjunctive</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ea typeface="Calibri" pitchFamily="34" charset="-122"/>
                <a:cs typeface="Calibri" pitchFamily="34" charset="-120"/>
              </a:rPr>
              <a:t>yajib an + verb in -a</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إِذَا زُرْتَ مَسْجِدًا، يَجِبُ أَنْ تَخْلَعَ حِذَاءَكَ</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3. Rules: yaḥẓur / yasmaḥ bi-</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ea typeface="Calibri" pitchFamily="34" charset="-122"/>
                <a:cs typeface="Calibri" pitchFamily="34" charset="-120"/>
              </a:rPr>
              <a:t>yaḥẓur + object · yasmaḥ bi-</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يَحْظُرُ القَانُونُ التَّصْوِيرَ هُنَا   ·   يَسْمَحُ المَتْحَفُ بِالتَّصْوِيرِ</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4. Advice scenario and reflection</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ea typeface="Calibri" pitchFamily="34" charset="-122"/>
                <a:cs typeface="Calibri" pitchFamily="34" charset="-120"/>
              </a:rPr>
              <a:t>idhā … yustaḥsan an · law … la-</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lnSpc>
                <a:spcPct val="120000"/>
              </a:lnSpc>
              <a:buNone/>
            </a:pPr>
            <a:r>
              <a:rPr lang="ar-SA" altLang="en-US" sz="1850" b="1" dirty="0">
                <a:solidFill>
                  <a:srgbClr val="1F2A37"/>
                </a:solidFill>
                <a:latin typeface="Amiri" pitchFamily="34" charset="0"/>
                <a:ea typeface="Amiri" pitchFamily="34" charset="-122"/>
                <a:cs typeface="Amiri" pitchFamily="34" charset="-120"/>
              </a:rPr>
              <a:t>إِذَا دُعِيتَ إِلَى مَنْزِلٍ، يُسْتَحْسَنُ أَنْ تُحْضِرَ هَدِيَّةً   ·   لَوْ تَعَلَّمْتُ العَرَبِيَّةَ قَبْلَ الرِّحْلَةِ، لَكَانَتِ التَّجْرِبَةُ أَعْمَقَ</a:t>
            </a:r>
            <a:endParaRPr lang="ar-SA" sz="18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18 / 52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TE-L08 · Cultural Exchange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TE-L08</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200" b="1" dirty="0">
                <a:solidFill>
                  <a:srgbClr val="1F2A37"/>
                </a:solidFill>
                <a:latin typeface="Amiri" pitchFamily="34" charset="0"/>
                <a:ea typeface="Amiri" pitchFamily="34" charset="-122"/>
                <a:cs typeface="Amiri" pitchFamily="34" charset="-120"/>
              </a:rPr>
              <a:t>يُسْتَحْسَنُ أَنْ ___ الزَّائِرُ بَعْضَ الكَلِمَاتِ العَرَبِيَّةِ.</a:t>
            </a:r>
            <a:endParaRPr lang="ar-SA" sz="12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يَتَعَلَّمُ</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تَعَلَّمَ</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يَتَعَلَّمَ</a:t>
            </a:r>
            <a:endParaRPr lang="ar-SA" sz="2050" dirty="0"/>
          </a:p>
        </p:txBody>
      </p:sp>
      <p:sp>
        <p:nvSpPr>
          <p:cNvPr id="29" name="Shape 26"/>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313932"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2" name="Text 29"/>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33" name="Text 30"/>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34" charset="0"/>
                <a:ea typeface="Amiri" pitchFamily="34" charset="-122"/>
                <a:cs typeface="Amiri" pitchFamily="34" charset="-120"/>
              </a:rPr>
              <a:t>يُسْتَحْسَنُ أَنْ ___ الزَّائِرُ مَلَابِسَ مُحْتَشِمَةً.</a:t>
            </a:r>
            <a:endParaRPr lang="ar-SA" sz="14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يَرْتَدِيَ</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يَرْتَدِي</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يَرْتَدِيَةً</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6" name="Text 43"/>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47" name="Text 44"/>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إِذَا زُرْتَ مَسْجِدًا، يَجِبُ أَنْ ___ حِذَاءَكَ.</a:t>
            </a:r>
            <a:endParaRPr lang="ar-SA" sz="150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تَخْلَعُ</a:t>
            </a:r>
            <a:endParaRPr lang="ar-SA" sz="20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تَخْلَعَ</a:t>
            </a:r>
            <a:endParaRPr lang="ar-SA" sz="20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خَلَعْتَ</a:t>
            </a:r>
            <a:endParaRPr lang="ar-SA" sz="20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0" name="Text 57"/>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uses </a:t>
            </a:r>
            <a:pPr algn="l" indent="0" marL="0">
              <a:buNone/>
            </a:pPr>
            <a:r>
              <a:rPr lang="ar-SA" altLang="en-US" sz="1650" b="1" dirty="0">
                <a:solidFill>
                  <a:srgbClr val="1B3B6F"/>
                </a:solidFill>
                <a:latin typeface="Amiri" pitchFamily="34" charset="0"/>
                <a:ea typeface="Amiri" pitchFamily="34" charset="-122"/>
                <a:cs typeface="Amiri" pitchFamily="34" charset="-120"/>
              </a:rPr>
              <a:t>يَحْظُرُ</a:t>
            </a:r>
            <a:pPr algn="l" indent="0" marL="0">
              <a:buNone/>
            </a:pPr>
            <a:r>
              <a:rPr lang="en-US" sz="1250" b="1" dirty="0">
                <a:solidFill>
                  <a:srgbClr val="1B3B6F"/>
                </a:solidFill>
                <a:latin typeface="Calibri" pitchFamily="34" charset="0"/>
                <a:ea typeface="Calibri" pitchFamily="34" charset="-122"/>
                <a:cs typeface="Calibri" pitchFamily="34" charset="-120"/>
              </a:rPr>
              <a:t> correctly?</a:t>
            </a:r>
            <a:endParaRPr lang="en-US" sz="125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يَحْظُرُ القَانُونُ التَّصْوِيرَ هُنَا.</a:t>
            </a:r>
            <a:endParaRPr lang="ar-SA" sz="20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يَحْظُرُ القَانُونُ بِالتَّصْوِيرِ هُنَا.</a:t>
            </a:r>
            <a:endParaRPr lang="ar-SA" sz="20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يَحْظُرُ القَانُونُ عَلَى التَّصْوِيرِ هُنَا.</a:t>
            </a:r>
            <a:endParaRPr lang="ar-SA" sz="20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19 / 52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TE-L08 · Cultural Exchange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TE-L08</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200" b="1" dirty="0">
                <a:solidFill>
                  <a:srgbClr val="1F2A37"/>
                </a:solidFill>
                <a:latin typeface="Amiri" pitchFamily="34" charset="0"/>
                <a:ea typeface="Amiri" pitchFamily="34" charset="-122"/>
                <a:cs typeface="Amiri" pitchFamily="34" charset="-120"/>
              </a:rPr>
              <a:t>يُسْتَحْسَنُ أَنْ ___ الزَّائِرُ بَعْضَ الكَلِمَاتِ العَرَبِيَّةِ.</a:t>
            </a:r>
            <a:endParaRPr lang="ar-SA" sz="12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يَتَعَلَّمُ</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تَعَلَّمَ</a:t>
            </a:r>
            <a:endParaRPr lang="ar-SA" sz="1700" dirty="0"/>
          </a:p>
        </p:txBody>
      </p:sp>
      <p:sp>
        <p:nvSpPr>
          <p:cNvPr id="26" name="Shape 23"/>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7" name="Shape 24"/>
          <p:cNvSpPr/>
          <p:nvPr/>
        </p:nvSpPr>
        <p:spPr>
          <a:xfrm>
            <a:off x="640080" y="3233928"/>
            <a:ext cx="256032" cy="256032"/>
          </a:xfrm>
          <a:prstGeom prst="ellipse">
            <a:avLst/>
          </a:prstGeom>
          <a:solidFill>
            <a:srgbClr val="2E8B57"/>
          </a:solidFill>
          <a:ln w="12700">
            <a:solidFill>
              <a:srgbClr val="2E8B57"/>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29" name="Text 26"/>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يَتَعَلَّمَ</a:t>
            </a:r>
            <a:endParaRPr lang="ar-SA" sz="1700" dirty="0"/>
          </a:p>
        </p:txBody>
      </p:sp>
      <p:sp>
        <p:nvSpPr>
          <p:cNvPr id="30" name="Text 27"/>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After </a:t>
            </a:r>
            <a:pPr algn="l" indent="0" marL="0">
              <a:buNone/>
            </a:pPr>
            <a:r>
              <a:rPr lang="ar-SA" altLang="en-US" sz="1350" dirty="0">
                <a:solidFill>
                  <a:srgbClr val="8A6D1E"/>
                </a:solidFill>
                <a:latin typeface="Amiri" pitchFamily="34" charset="0"/>
                <a:ea typeface="Amiri" pitchFamily="34" charset="-122"/>
                <a:cs typeface="Amiri" pitchFamily="34" charset="-120"/>
              </a:rPr>
              <a:t>أَنْ</a:t>
            </a:r>
            <a:pPr algn="l" indent="0" marL="0">
              <a:buNone/>
            </a:pPr>
            <a:r>
              <a:rPr lang="en-US" sz="1050" i="1" dirty="0">
                <a:solidFill>
                  <a:srgbClr val="8A6D1E"/>
                </a:solidFill>
                <a:latin typeface="Calibri" pitchFamily="34" charset="0"/>
                <a:ea typeface="Calibri" pitchFamily="34" charset="-122"/>
                <a:cs typeface="Calibri" pitchFamily="34" charset="-120"/>
              </a:rPr>
              <a:t> the verb is subjunctive: </a:t>
            </a:r>
            <a:pPr algn="l" indent="0" marL="0">
              <a:buNone/>
            </a:pPr>
            <a:r>
              <a:rPr lang="ar-SA" altLang="en-US" sz="1350" dirty="0">
                <a:solidFill>
                  <a:srgbClr val="8A6D1E"/>
                </a:solidFill>
                <a:latin typeface="Amiri" pitchFamily="34" charset="0"/>
                <a:ea typeface="Amiri" pitchFamily="34" charset="-122"/>
                <a:cs typeface="Amiri" pitchFamily="34" charset="-120"/>
              </a:rPr>
              <a:t>يَتَعَلَّمَ</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4" name="Text 31"/>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35" name="Text 32"/>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34" charset="0"/>
                <a:ea typeface="Amiri" pitchFamily="34" charset="-122"/>
                <a:cs typeface="Amiri" pitchFamily="34" charset="-120"/>
              </a:rPr>
              <a:t>يُسْتَحْسَنُ أَنْ ___ الزَّائِرُ مَلَابِسَ مُحْتَشِمَةً.</a:t>
            </a:r>
            <a:endParaRPr lang="ar-SA" sz="1450" dirty="0"/>
          </a:p>
        </p:txBody>
      </p:sp>
      <p:sp>
        <p:nvSpPr>
          <p:cNvPr id="36" name="Shape 33"/>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7" name="Shape 34"/>
          <p:cNvSpPr/>
          <p:nvPr/>
        </p:nvSpPr>
        <p:spPr>
          <a:xfrm>
            <a:off x="6368796" y="2490216"/>
            <a:ext cx="256032" cy="256032"/>
          </a:xfrm>
          <a:prstGeom prst="ellipse">
            <a:avLst/>
          </a:prstGeom>
          <a:solidFill>
            <a:srgbClr val="2E8B57"/>
          </a:solidFill>
          <a:ln w="12700">
            <a:solidFill>
              <a:srgbClr val="2E8B57"/>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يَرْتَدِيَ</a:t>
            </a:r>
            <a:endParaRPr lang="ar-SA" sz="1700" dirty="0"/>
          </a:p>
        </p:txBody>
      </p:sp>
      <p:sp>
        <p:nvSpPr>
          <p:cNvPr id="40" name="Shape 37"/>
          <p:cNvSpPr/>
          <p:nvPr/>
        </p:nvSpPr>
        <p:spPr>
          <a:xfrm>
            <a:off x="6368796" y="2862072"/>
            <a:ext cx="256032" cy="256032"/>
          </a:xfrm>
          <a:prstGeom prst="ellipse">
            <a:avLst/>
          </a:prstGeom>
          <a:solidFill>
            <a:srgbClr val="C9CED6"/>
          </a:solidFill>
          <a:ln w="12700">
            <a:solidFill>
              <a:srgbClr val="C9CED6"/>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يَرْتَدِي</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يَرْتَدِيَةً</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defective verb in the subjunctive is </a:t>
            </a:r>
            <a:pPr algn="l" indent="0" marL="0">
              <a:buNone/>
            </a:pPr>
            <a:r>
              <a:rPr lang="ar-SA" altLang="en-US" sz="1350" dirty="0">
                <a:solidFill>
                  <a:srgbClr val="8A6D1E"/>
                </a:solidFill>
                <a:latin typeface="Amiri" pitchFamily="34" charset="0"/>
                <a:ea typeface="Amiri" pitchFamily="34" charset="-122"/>
                <a:cs typeface="Amiri" pitchFamily="34" charset="-120"/>
              </a:rPr>
              <a:t>يَرْتَدِيَ</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50" name="Text 47"/>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51" name="Text 48"/>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إِذَا زُرْتَ مَسْجِدًا، يَجِبُ أَنْ ___ حِذَاءَكَ.</a:t>
            </a:r>
            <a:endParaRPr lang="ar-SA" sz="150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تَخْلَعُ</a:t>
            </a:r>
            <a:endParaRPr lang="ar-SA" sz="170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تَخْلَعَ</a:t>
            </a:r>
            <a:endParaRPr lang="ar-SA" sz="170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خَلَعْتَ</a:t>
            </a:r>
            <a:endParaRPr lang="ar-SA" sz="170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After </a:t>
            </a:r>
            <a:pPr algn="l" indent="0" marL="0">
              <a:buNone/>
            </a:pPr>
            <a:r>
              <a:rPr lang="ar-SA" altLang="en-US" sz="1350" dirty="0">
                <a:solidFill>
                  <a:srgbClr val="8A6D1E"/>
                </a:solidFill>
                <a:latin typeface="Amiri" pitchFamily="34" charset="0"/>
                <a:ea typeface="Amiri" pitchFamily="34" charset="-122"/>
                <a:cs typeface="Amiri" pitchFamily="34" charset="-120"/>
              </a:rPr>
              <a:t>أَنْ</a:t>
            </a:r>
            <a:pPr algn="l" indent="0" marL="0">
              <a:buNone/>
            </a:pPr>
            <a:r>
              <a:rPr lang="en-US" sz="1050" i="1" dirty="0">
                <a:solidFill>
                  <a:srgbClr val="8A6D1E"/>
                </a:solidFill>
                <a:latin typeface="Calibri" pitchFamily="34" charset="0"/>
                <a:ea typeface="Calibri" pitchFamily="34" charset="-122"/>
                <a:cs typeface="Calibri" pitchFamily="34" charset="-120"/>
              </a:rPr>
              <a:t> the verb takes a fatḥa: </a:t>
            </a:r>
            <a:pPr algn="l" indent="0" marL="0">
              <a:buNone/>
            </a:pPr>
            <a:r>
              <a:rPr lang="ar-SA" altLang="en-US" sz="1350" dirty="0">
                <a:solidFill>
                  <a:srgbClr val="8A6D1E"/>
                </a:solidFill>
                <a:latin typeface="Amiri" pitchFamily="34" charset="0"/>
                <a:ea typeface="Amiri" pitchFamily="34" charset="-122"/>
                <a:cs typeface="Amiri" pitchFamily="34" charset="-120"/>
              </a:rPr>
              <a:t>تَخْلَعَ</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6" name="Text 63"/>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uses </a:t>
            </a:r>
            <a:pPr algn="l" indent="0" marL="0">
              <a:buNone/>
            </a:pPr>
            <a:r>
              <a:rPr lang="ar-SA" altLang="en-US" sz="1650" b="1" dirty="0">
                <a:solidFill>
                  <a:srgbClr val="1B3B6F"/>
                </a:solidFill>
                <a:latin typeface="Amiri" pitchFamily="34" charset="0"/>
                <a:ea typeface="Amiri" pitchFamily="34" charset="-122"/>
                <a:cs typeface="Amiri" pitchFamily="34" charset="-120"/>
              </a:rPr>
              <a:t>يَحْظُرُ</a:t>
            </a:r>
            <a:pPr algn="l" indent="0" marL="0">
              <a:buNone/>
            </a:pPr>
            <a:r>
              <a:rPr lang="en-US" sz="1250" b="1" dirty="0">
                <a:solidFill>
                  <a:srgbClr val="1B3B6F"/>
                </a:solidFill>
                <a:latin typeface="Calibri" pitchFamily="34" charset="0"/>
                <a:ea typeface="Calibri" pitchFamily="34" charset="-122"/>
                <a:cs typeface="Calibri" pitchFamily="34" charset="-120"/>
              </a:rPr>
              <a:t> correctly?</a:t>
            </a:r>
            <a:endParaRPr lang="en-US" sz="1250" dirty="0"/>
          </a:p>
        </p:txBody>
      </p:sp>
      <p:sp>
        <p:nvSpPr>
          <p:cNvPr id="67" name="Shape 64"/>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368796" y="4831080"/>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70" name="Text 67"/>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يَحْظُرُ القَانُونُ التَّصْوِيرَ هُنَا.</a:t>
            </a:r>
            <a:endParaRPr lang="ar-SA" sz="1700" dirty="0"/>
          </a:p>
        </p:txBody>
      </p:sp>
      <p:sp>
        <p:nvSpPr>
          <p:cNvPr id="71" name="Shape 68"/>
          <p:cNvSpPr/>
          <p:nvPr/>
        </p:nvSpPr>
        <p:spPr>
          <a:xfrm>
            <a:off x="6368796" y="5202936"/>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3" name="Text 70"/>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يَحْظُرُ القَانُونُ بِالتَّصْوِيرِ هُنَا.</a:t>
            </a:r>
            <a:endParaRPr lang="ar-SA" sz="1700" dirty="0"/>
          </a:p>
        </p:txBody>
      </p:sp>
      <p:sp>
        <p:nvSpPr>
          <p:cNvPr id="74" name="Shape 71"/>
          <p:cNvSpPr/>
          <p:nvPr/>
        </p:nvSpPr>
        <p:spPr>
          <a:xfrm>
            <a:off x="6368796" y="5574792"/>
            <a:ext cx="256032" cy="256032"/>
          </a:xfrm>
          <a:prstGeom prst="ellipse">
            <a:avLst/>
          </a:prstGeom>
          <a:solidFill>
            <a:srgbClr val="C9CED6"/>
          </a:solidFill>
          <a:ln w="12700">
            <a:solidFill>
              <a:srgbClr val="C9CED6"/>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يَحْظُرُ القَانُونُ عَلَى التَّصْوِيرِ هُنَا.</a:t>
            </a:r>
            <a:endParaRPr lang="ar-SA" sz="170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يَحْظُرُ</a:t>
            </a:r>
            <a:pPr algn="l" indent="0" marL="0">
              <a:buNone/>
            </a:pPr>
            <a:r>
              <a:rPr lang="en-US" sz="1050" i="1" dirty="0">
                <a:solidFill>
                  <a:srgbClr val="8A6D1E"/>
                </a:solidFill>
                <a:latin typeface="Calibri" pitchFamily="34" charset="0"/>
                <a:ea typeface="Calibri" pitchFamily="34" charset="-122"/>
                <a:cs typeface="Calibri" pitchFamily="34" charset="-120"/>
              </a:rPr>
              <a:t> takes a direct object.</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20 / 52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TE-L08 · Cultural Exchange</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ea typeface="Calibri" pitchFamily="34" charset="-122"/>
                <a:cs typeface="Calibri" pitchFamily="34" charset="-120"/>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Watch me write a cultural guide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TE-L08</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Big idea</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C77700"/>
                </a:solidFill>
                <a:latin typeface="Amiri" pitchFamily="34" charset="0"/>
                <a:ea typeface="Amiri" pitchFamily="34" charset="-122"/>
                <a:cs typeface="Amiri" pitchFamily="34" charset="-120"/>
              </a:rPr>
              <a:t>يُعْتَبَرُ</a:t>
            </a:r>
            <a:pPr rtl="1" algn="ctr" indent="0" marL="0">
              <a:buNone/>
            </a:pPr>
            <a:r>
              <a:rPr lang="ar-SA" altLang="en-US" sz="2800" b="1" dirty="0">
                <a:solidFill>
                  <a:srgbClr val="1B3B6F"/>
                </a:solidFill>
                <a:latin typeface="Amiri" pitchFamily="34" charset="0"/>
                <a:ea typeface="Amiri" pitchFamily="34" charset="-122"/>
                <a:cs typeface="Amiri" pitchFamily="34" charset="-120"/>
              </a:rPr>
              <a:t> الاحْتِرَامُ …</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General.</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Polite advice</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34" charset="0"/>
                <a:ea typeface="Amiri" pitchFamily="34" charset="-122"/>
                <a:cs typeface="Amiri" pitchFamily="34" charset="-120"/>
              </a:rPr>
              <a:t>يُسْتَحْسَنُ أَنْ </a:t>
            </a:r>
            <a:pPr rtl="1" algn="ctr" indent="0" marL="0">
              <a:buNone/>
            </a:pPr>
            <a:r>
              <a:rPr lang="ar-SA" altLang="en-US" sz="2800" b="1" dirty="0">
                <a:solidFill>
                  <a:srgbClr val="0E7C86"/>
                </a:solidFill>
                <a:latin typeface="Amiri" pitchFamily="34" charset="0"/>
                <a:ea typeface="Amiri" pitchFamily="34" charset="-122"/>
                <a:cs typeface="Amiri" pitchFamily="34" charset="-120"/>
              </a:rPr>
              <a:t>يَتَعَلَّمَ</a:t>
            </a:r>
            <a:pPr rtl="1" algn="ctr" indent="0" marL="0">
              <a:buNone/>
            </a:pPr>
            <a:r>
              <a:rPr lang="ar-SA" altLang="en-US" sz="2800" b="1" dirty="0">
                <a:solidFill>
                  <a:srgbClr val="1B3B6F"/>
                </a:solidFill>
                <a:latin typeface="Amiri" pitchFamily="34" charset="0"/>
                <a:ea typeface="Amiri" pitchFamily="34" charset="-122"/>
                <a:cs typeface="Amiri" pitchFamily="34" charset="-120"/>
              </a:rPr>
              <a:t> …</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-a after an.</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Scenario + rule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900" b="1" dirty="0">
                <a:solidFill>
                  <a:srgbClr val="1D5FBF"/>
                </a:solidFill>
                <a:latin typeface="Amiri" pitchFamily="34" charset="0"/>
                <a:ea typeface="Amiri" pitchFamily="34" charset="-122"/>
                <a:cs typeface="Amiri" pitchFamily="34" charset="-120"/>
              </a:rPr>
              <a:t>إِذَا</a:t>
            </a:r>
            <a:pPr rtl="1" algn="ctr" indent="0" marL="0">
              <a:lnSpc>
                <a:spcPct val="120000"/>
              </a:lnSpc>
              <a:buNone/>
            </a:pPr>
            <a:r>
              <a:rPr lang="ar-SA" altLang="en-US" sz="1900" b="1" dirty="0">
                <a:solidFill>
                  <a:srgbClr val="1B3B6F"/>
                </a:solidFill>
                <a:latin typeface="Amiri" pitchFamily="34" charset="0"/>
                <a:ea typeface="Amiri" pitchFamily="34" charset="-122"/>
                <a:cs typeface="Amiri" pitchFamily="34" charset="-120"/>
              </a:rPr>
              <a:t> زُرْتَ … يَجِبُ أَنْ · </a:t>
            </a:r>
            <a:pPr rtl="1" algn="ctr" indent="0" marL="0">
              <a:lnSpc>
                <a:spcPct val="120000"/>
              </a:lnSpc>
              <a:buNone/>
            </a:pPr>
            <a:r>
              <a:rPr lang="ar-SA" altLang="en-US" sz="1900" b="1" dirty="0">
                <a:solidFill>
                  <a:srgbClr val="7B3FA0"/>
                </a:solidFill>
                <a:latin typeface="Amiri" pitchFamily="34" charset="0"/>
                <a:ea typeface="Amiri" pitchFamily="34" charset="-122"/>
                <a:cs typeface="Amiri" pitchFamily="34" charset="-120"/>
              </a:rPr>
              <a:t>يَحْظُرُ</a:t>
            </a:r>
            <a:pPr rtl="1" algn="ctr" indent="0" marL="0">
              <a:lnSpc>
                <a:spcPct val="120000"/>
              </a:lnSpc>
              <a:buNone/>
            </a:pPr>
            <a:r>
              <a:rPr lang="ar-SA" altLang="en-US" sz="1900" b="1" dirty="0">
                <a:solidFill>
                  <a:srgbClr val="1B3B6F"/>
                </a:solidFill>
                <a:latin typeface="Amiri" pitchFamily="34" charset="0"/>
                <a:ea typeface="Amiri" pitchFamily="34" charset="-122"/>
                <a:cs typeface="Amiri" pitchFamily="34" charset="-120"/>
              </a:rPr>
              <a:t> …</a:t>
            </a:r>
            <a:endParaRPr lang="ar-SA" sz="19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Object!</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Tip + reflection</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400" b="1" dirty="0">
                <a:solidFill>
                  <a:srgbClr val="7B3FA0"/>
                </a:solidFill>
                <a:latin typeface="Amiri" pitchFamily="34" charset="0"/>
                <a:ea typeface="Amiri" pitchFamily="34" charset="-122"/>
                <a:cs typeface="Amiri" pitchFamily="34" charset="-120"/>
              </a:rPr>
              <a:t>أَخْبَرَنِي … أَنَّ</a:t>
            </a:r>
            <a:pPr rtl="1" algn="ctr" indent="0" marL="0">
              <a:buNone/>
            </a:pPr>
            <a:r>
              <a:rPr lang="ar-SA" altLang="en-US" sz="2400" b="1" dirty="0">
                <a:solidFill>
                  <a:srgbClr val="1B3B6F"/>
                </a:solidFill>
                <a:latin typeface="Amiri" pitchFamily="34" charset="0"/>
                <a:ea typeface="Amiri" pitchFamily="34" charset="-122"/>
                <a:cs typeface="Amiri" pitchFamily="34" charset="-120"/>
              </a:rPr>
              <a:t> · </a:t>
            </a:r>
            <a:pPr rtl="1" algn="ctr" indent="0" marL="0">
              <a:buNone/>
            </a:pPr>
            <a:r>
              <a:rPr lang="ar-SA" altLang="en-US" sz="2400" b="1" dirty="0">
                <a:solidFill>
                  <a:srgbClr val="D6336C"/>
                </a:solidFill>
                <a:latin typeface="Amiri" pitchFamily="34" charset="0"/>
                <a:ea typeface="Amiri" pitchFamily="34" charset="-122"/>
                <a:cs typeface="Amiri" pitchFamily="34" charset="-120"/>
              </a:rPr>
              <a:t>لَوْ … لَـ</a:t>
            </a:r>
            <a:endParaRPr lang="ar-SA" sz="24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Type 2.</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ea typeface="Calibri" pitchFamily="34" charset="-122"/>
                <a:cs typeface="Calibri" pitchFamily="34" charset="-120"/>
              </a:rPr>
              <a:t>COPY THIS INTO YOUR BOOK</a:t>
            </a:r>
            <a:endParaRPr lang="en-US" sz="1200" dirty="0"/>
          </a:p>
        </p:txBody>
      </p:sp>
      <p:sp>
        <p:nvSpPr>
          <p:cNvPr id="45" name="Shape 41"/>
          <p:cNvSpPr/>
          <p:nvPr/>
        </p:nvSpPr>
        <p:spPr>
          <a:xfrm>
            <a:off x="6565392" y="4736592"/>
            <a:ext cx="914400" cy="237744"/>
          </a:xfrm>
          <a:prstGeom prst="roundRect">
            <a:avLst>
              <a:gd name="adj" fmla="val 50000"/>
            </a:avLst>
          </a:prstGeom>
          <a:solidFill>
            <a:srgbClr val="C77700"/>
          </a:solidFill>
          <a:ln w="12700">
            <a:solidFill>
              <a:srgbClr val="C77700"/>
            </a:solidFill>
            <a:prstDash val="solid"/>
          </a:ln>
        </p:spPr>
      </p:sp>
      <p:sp>
        <p:nvSpPr>
          <p:cNvPr id="46" name="Text 42"/>
          <p:cNvSpPr txBox="1"/>
          <p:nvPr/>
        </p:nvSpPr>
        <p:spPr>
          <a:xfrm>
            <a:off x="6565392"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GENERAL</a:t>
            </a:r>
            <a:endParaRPr lang="en-US" sz="800" dirty="0"/>
          </a:p>
        </p:txBody>
      </p:sp>
      <p:sp>
        <p:nvSpPr>
          <p:cNvPr id="47" name="Shape 43"/>
          <p:cNvSpPr/>
          <p:nvPr/>
        </p:nvSpPr>
        <p:spPr>
          <a:xfrm>
            <a:off x="7552944" y="4736592"/>
            <a:ext cx="914400" cy="237744"/>
          </a:xfrm>
          <a:prstGeom prst="roundRect">
            <a:avLst>
              <a:gd name="adj" fmla="val 50000"/>
            </a:avLst>
          </a:prstGeom>
          <a:solidFill>
            <a:srgbClr val="0E7C86"/>
          </a:solidFill>
          <a:ln w="12700">
            <a:solidFill>
              <a:srgbClr val="0E7C86"/>
            </a:solidFill>
            <a:prstDash val="solid"/>
          </a:ln>
        </p:spPr>
      </p:sp>
      <p:sp>
        <p:nvSpPr>
          <p:cNvPr id="48" name="Text 44"/>
          <p:cNvSpPr txBox="1"/>
          <p:nvPr/>
        </p:nvSpPr>
        <p:spPr>
          <a:xfrm>
            <a:off x="7552944"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VERB IN -A</a:t>
            </a:r>
            <a:endParaRPr lang="en-US" sz="800" dirty="0"/>
          </a:p>
        </p:txBody>
      </p:sp>
      <p:sp>
        <p:nvSpPr>
          <p:cNvPr id="49" name="Shape 45"/>
          <p:cNvSpPr/>
          <p:nvPr/>
        </p:nvSpPr>
        <p:spPr>
          <a:xfrm>
            <a:off x="8540496" y="4736592"/>
            <a:ext cx="914400" cy="237744"/>
          </a:xfrm>
          <a:prstGeom prst="roundRect">
            <a:avLst>
              <a:gd name="adj" fmla="val 50000"/>
            </a:avLst>
          </a:prstGeom>
          <a:solidFill>
            <a:srgbClr val="1D5FBF"/>
          </a:solidFill>
          <a:ln w="12700">
            <a:solidFill>
              <a:srgbClr val="1D5FBF"/>
            </a:solidFill>
            <a:prstDash val="solid"/>
          </a:ln>
        </p:spPr>
      </p:sp>
      <p:sp>
        <p:nvSpPr>
          <p:cNvPr id="50" name="Text 46"/>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SCENARIO</a:t>
            </a:r>
            <a:endParaRPr lang="en-US" sz="800" dirty="0"/>
          </a:p>
        </p:txBody>
      </p:sp>
      <p:sp>
        <p:nvSpPr>
          <p:cNvPr id="51" name="Shape 47"/>
          <p:cNvSpPr/>
          <p:nvPr/>
        </p:nvSpPr>
        <p:spPr>
          <a:xfrm>
            <a:off x="9528048" y="4736592"/>
            <a:ext cx="914400" cy="237744"/>
          </a:xfrm>
          <a:prstGeom prst="roundRect">
            <a:avLst>
              <a:gd name="adj" fmla="val 50000"/>
            </a:avLst>
          </a:prstGeom>
          <a:solidFill>
            <a:srgbClr val="7B3FA0"/>
          </a:solidFill>
          <a:ln w="12700">
            <a:solidFill>
              <a:srgbClr val="7B3FA0"/>
            </a:solidFill>
            <a:prstDash val="solid"/>
          </a:ln>
        </p:spPr>
      </p:sp>
      <p:sp>
        <p:nvSpPr>
          <p:cNvPr id="52" name="Text 48"/>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RULE / TIP</a:t>
            </a:r>
            <a:endParaRPr lang="en-US" sz="800" dirty="0"/>
          </a:p>
        </p:txBody>
      </p:sp>
      <p:sp>
        <p:nvSpPr>
          <p:cNvPr id="53" name="Shape 49"/>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54" name="Text 50"/>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REFLECTION</a:t>
            </a:r>
            <a:endParaRPr lang="en-US" sz="800" dirty="0"/>
          </a:p>
        </p:txBody>
      </p:sp>
      <p:sp>
        <p:nvSpPr>
          <p:cNvPr id="55" name="Text 51"/>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C77700"/>
                </a:solidFill>
                <a:latin typeface="Amiri" pitchFamily="34" charset="0"/>
                <a:ea typeface="Amiri" pitchFamily="34" charset="-122"/>
                <a:cs typeface="Amiri" pitchFamily="34" charset="-120"/>
              </a:rPr>
              <a:t>يُعْتَبَرُ</a:t>
            </a:r>
            <a:pPr rtl="1" algn="r" indent="0" marL="0">
              <a:lnSpc>
                <a:spcPct val="120000"/>
              </a:lnSpc>
              <a:buNone/>
            </a:pPr>
            <a:r>
              <a:rPr lang="ar-SA" altLang="en-US" sz="1400" b="1" dirty="0">
                <a:solidFill>
                  <a:srgbClr val="1B3B6F"/>
                </a:solidFill>
                <a:latin typeface="Amiri" pitchFamily="34" charset="0"/>
                <a:ea typeface="Amiri" pitchFamily="34" charset="-122"/>
                <a:cs typeface="Amiri" pitchFamily="34" charset="-120"/>
              </a:rPr>
              <a:t> الاحْتِرَامُ الثَّقَافِيُّ رَكِيزَةً أَسَاسِيَّةً لِأَيِّ رِحْلَةٍ نَاجِحَةٍ. يُسْتَحْسَنُ أَنْ </a:t>
            </a:r>
            <a:pPr rtl="1" algn="r" indent="0" marL="0">
              <a:lnSpc>
                <a:spcPct val="120000"/>
              </a:lnSpc>
              <a:buNone/>
            </a:pPr>
            <a:r>
              <a:rPr lang="ar-SA" altLang="en-US" sz="1400" b="1" dirty="0">
                <a:solidFill>
                  <a:srgbClr val="0E7C86"/>
                </a:solidFill>
                <a:latin typeface="Amiri" pitchFamily="34" charset="0"/>
                <a:ea typeface="Amiri" pitchFamily="34" charset="-122"/>
                <a:cs typeface="Amiri" pitchFamily="34" charset="-120"/>
              </a:rPr>
              <a:t>يَتَعَلَّمَ</a:t>
            </a:r>
            <a:pPr rtl="1" algn="r" indent="0" marL="0">
              <a:lnSpc>
                <a:spcPct val="120000"/>
              </a:lnSpc>
              <a:buNone/>
            </a:pPr>
            <a:r>
              <a:rPr lang="ar-SA" altLang="en-US" sz="1400" b="1" dirty="0">
                <a:solidFill>
                  <a:srgbClr val="1B3B6F"/>
                </a:solidFill>
                <a:latin typeface="Amiri" pitchFamily="34" charset="0"/>
                <a:ea typeface="Amiri" pitchFamily="34" charset="-122"/>
                <a:cs typeface="Amiri" pitchFamily="34" charset="-120"/>
              </a:rPr>
              <a:t> الزَّائِرُ بَعْضَ العِبَارَاتِ العَرَبِيَّةِ، وَيُسْتَحْسَنُ أَنْ </a:t>
            </a:r>
            <a:pPr rtl="1" algn="r" indent="0" marL="0">
              <a:lnSpc>
                <a:spcPct val="120000"/>
              </a:lnSpc>
              <a:buNone/>
            </a:pPr>
            <a:r>
              <a:rPr lang="ar-SA" altLang="en-US" sz="1400" b="1" dirty="0">
                <a:solidFill>
                  <a:srgbClr val="0E7C86"/>
                </a:solidFill>
                <a:latin typeface="Amiri" pitchFamily="34" charset="0"/>
                <a:ea typeface="Amiri" pitchFamily="34" charset="-122"/>
                <a:cs typeface="Amiri" pitchFamily="34" charset="-120"/>
              </a:rPr>
              <a:t>يَرْتَدِيَ</a:t>
            </a:r>
            <a:pPr rtl="1" algn="r" indent="0" marL="0">
              <a:lnSpc>
                <a:spcPct val="120000"/>
              </a:lnSpc>
              <a:buNone/>
            </a:pPr>
            <a:r>
              <a:rPr lang="ar-SA" altLang="en-US" sz="1400" b="1" dirty="0">
                <a:solidFill>
                  <a:srgbClr val="1B3B6F"/>
                </a:solidFill>
                <a:latin typeface="Amiri" pitchFamily="34" charset="0"/>
                <a:ea typeface="Amiri" pitchFamily="34" charset="-122"/>
                <a:cs typeface="Amiri" pitchFamily="34" charset="-120"/>
              </a:rPr>
              <a:t> مَلَابِسَ مُحْتَشِمَةً. </a:t>
            </a:r>
            <a:pPr rtl="1" algn="r" indent="0" marL="0">
              <a:lnSpc>
                <a:spcPct val="120000"/>
              </a:lnSpc>
              <a:buNone/>
            </a:pPr>
            <a:r>
              <a:rPr lang="ar-SA" altLang="en-US" sz="1400" b="1" dirty="0">
                <a:solidFill>
                  <a:srgbClr val="1D5FBF"/>
                </a:solidFill>
                <a:latin typeface="Amiri" pitchFamily="34" charset="0"/>
                <a:ea typeface="Amiri" pitchFamily="34" charset="-122"/>
                <a:cs typeface="Amiri" pitchFamily="34" charset="-120"/>
              </a:rPr>
              <a:t>وَإِذَا</a:t>
            </a:r>
            <a:pPr rtl="1" algn="r" indent="0" marL="0">
              <a:lnSpc>
                <a:spcPct val="120000"/>
              </a:lnSpc>
              <a:buNone/>
            </a:pPr>
            <a:r>
              <a:rPr lang="ar-SA" altLang="en-US" sz="1400" b="1" dirty="0">
                <a:solidFill>
                  <a:srgbClr val="1B3B6F"/>
                </a:solidFill>
                <a:latin typeface="Amiri" pitchFamily="34" charset="0"/>
                <a:ea typeface="Amiri" pitchFamily="34" charset="-122"/>
                <a:cs typeface="Amiri" pitchFamily="34" charset="-120"/>
              </a:rPr>
              <a:t> زُرْتَ مَسْجِدًا، يَجِبُ أَنْ </a:t>
            </a:r>
            <a:pPr rtl="1" algn="r" indent="0" marL="0">
              <a:lnSpc>
                <a:spcPct val="120000"/>
              </a:lnSpc>
              <a:buNone/>
            </a:pPr>
            <a:r>
              <a:rPr lang="ar-SA" altLang="en-US" sz="1400" b="1" dirty="0">
                <a:solidFill>
                  <a:srgbClr val="0E7C86"/>
                </a:solidFill>
                <a:latin typeface="Amiri" pitchFamily="34" charset="0"/>
                <a:ea typeface="Amiri" pitchFamily="34" charset="-122"/>
                <a:cs typeface="Amiri" pitchFamily="34" charset="-120"/>
              </a:rPr>
              <a:t>تَخْلَعَ</a:t>
            </a:r>
            <a:pPr rtl="1" algn="r" indent="0" marL="0">
              <a:lnSpc>
                <a:spcPct val="120000"/>
              </a:lnSpc>
              <a:buNone/>
            </a:pPr>
            <a:r>
              <a:rPr lang="ar-SA" altLang="en-US" sz="1400" b="1" dirty="0">
                <a:solidFill>
                  <a:srgbClr val="1B3B6F"/>
                </a:solidFill>
                <a:latin typeface="Amiri" pitchFamily="34" charset="0"/>
                <a:ea typeface="Amiri" pitchFamily="34" charset="-122"/>
                <a:cs typeface="Amiri" pitchFamily="34" charset="-120"/>
              </a:rPr>
              <a:t> حِذَاءَكَ. كَمَا </a:t>
            </a:r>
            <a:pPr rtl="1" algn="r" indent="0" marL="0">
              <a:lnSpc>
                <a:spcPct val="120000"/>
              </a:lnSpc>
              <a:buNone/>
            </a:pPr>
            <a:r>
              <a:rPr lang="ar-SA" altLang="en-US" sz="1400" b="1" dirty="0">
                <a:solidFill>
                  <a:srgbClr val="7B3FA0"/>
                </a:solidFill>
                <a:latin typeface="Amiri" pitchFamily="34" charset="0"/>
                <a:ea typeface="Amiri" pitchFamily="34" charset="-122"/>
                <a:cs typeface="Amiri" pitchFamily="34" charset="-120"/>
              </a:rPr>
              <a:t>يَحْظُرُ</a:t>
            </a:r>
            <a:pPr rtl="1" algn="r" indent="0" marL="0">
              <a:lnSpc>
                <a:spcPct val="120000"/>
              </a:lnSpc>
              <a:buNone/>
            </a:pPr>
            <a:r>
              <a:rPr lang="ar-SA" altLang="en-US" sz="1400" b="1" dirty="0">
                <a:solidFill>
                  <a:srgbClr val="1B3B6F"/>
                </a:solidFill>
                <a:latin typeface="Amiri" pitchFamily="34" charset="0"/>
                <a:ea typeface="Amiri" pitchFamily="34" charset="-122"/>
                <a:cs typeface="Amiri" pitchFamily="34" charset="-120"/>
              </a:rPr>
              <a:t> بَعْضُ المُقَدَّسَاتِ </a:t>
            </a:r>
            <a:pPr rtl="1" algn="r" indent="0" marL="0">
              <a:lnSpc>
                <a:spcPct val="120000"/>
              </a:lnSpc>
              <a:buNone/>
            </a:pPr>
            <a:r>
              <a:rPr lang="ar-SA" altLang="en-US" sz="1400" b="1" dirty="0">
                <a:solidFill>
                  <a:srgbClr val="7B3FA0"/>
                </a:solidFill>
                <a:latin typeface="Amiri" pitchFamily="34" charset="0"/>
                <a:ea typeface="Amiri" pitchFamily="34" charset="-122"/>
                <a:cs typeface="Amiri" pitchFamily="34" charset="-120"/>
              </a:rPr>
              <a:t>التَّصْوِيرَ</a:t>
            </a:r>
            <a:pPr rtl="1" algn="r" indent="0" marL="0">
              <a:lnSpc>
                <a:spcPct val="120000"/>
              </a:lnSpc>
              <a:buNone/>
            </a:pPr>
            <a:r>
              <a:rPr lang="ar-SA" altLang="en-US" sz="1400" b="1" dirty="0">
                <a:solidFill>
                  <a:srgbClr val="1B3B6F"/>
                </a:solidFill>
                <a:latin typeface="Amiri" pitchFamily="34" charset="0"/>
                <a:ea typeface="Amiri" pitchFamily="34" charset="-122"/>
                <a:cs typeface="Amiri" pitchFamily="34" charset="-120"/>
              </a:rPr>
              <a:t>، فَاسْأَلْ أَوَّلًا. </a:t>
            </a:r>
            <a:pPr rtl="1" algn="r" indent="0" marL="0">
              <a:lnSpc>
                <a:spcPct val="120000"/>
              </a:lnSpc>
              <a:buNone/>
            </a:pPr>
            <a:r>
              <a:rPr lang="ar-SA" altLang="en-US" sz="1400" b="1" dirty="0">
                <a:solidFill>
                  <a:srgbClr val="7B3FA0"/>
                </a:solidFill>
                <a:latin typeface="Amiri" pitchFamily="34" charset="0"/>
                <a:ea typeface="Amiri" pitchFamily="34" charset="-122"/>
                <a:cs typeface="Amiri" pitchFamily="34" charset="-120"/>
              </a:rPr>
              <a:t>أَخْبَرَنِي</a:t>
            </a:r>
            <a:pPr rtl="1" algn="r" indent="0" marL="0">
              <a:lnSpc>
                <a:spcPct val="120000"/>
              </a:lnSpc>
              <a:buNone/>
            </a:pPr>
            <a:r>
              <a:rPr lang="ar-SA" altLang="en-US" sz="1400" b="1" dirty="0">
                <a:solidFill>
                  <a:srgbClr val="1B3B6F"/>
                </a:solidFill>
                <a:latin typeface="Amiri" pitchFamily="34" charset="0"/>
                <a:ea typeface="Amiri" pitchFamily="34" charset="-122"/>
                <a:cs typeface="Amiri" pitchFamily="34" charset="-120"/>
              </a:rPr>
              <a:t> مُرْشِدٌ مَحَلِّيٌّ </a:t>
            </a:r>
            <a:pPr rtl="1" algn="r" indent="0" marL="0">
              <a:lnSpc>
                <a:spcPct val="120000"/>
              </a:lnSpc>
              <a:buNone/>
            </a:pPr>
            <a:r>
              <a:rPr lang="ar-SA" altLang="en-US" sz="1400" b="1" dirty="0">
                <a:solidFill>
                  <a:srgbClr val="7B3FA0"/>
                </a:solidFill>
                <a:latin typeface="Amiri" pitchFamily="34" charset="0"/>
                <a:ea typeface="Amiri" pitchFamily="34" charset="-122"/>
                <a:cs typeface="Amiri" pitchFamily="34" charset="-120"/>
              </a:rPr>
              <a:t>أَنَّ</a:t>
            </a:r>
            <a:pPr rtl="1" algn="r" indent="0" marL="0">
              <a:lnSpc>
                <a:spcPct val="120000"/>
              </a:lnSpc>
              <a:buNone/>
            </a:pPr>
            <a:r>
              <a:rPr lang="ar-SA" altLang="en-US" sz="1400" b="1" dirty="0">
                <a:solidFill>
                  <a:srgbClr val="1B3B6F"/>
                </a:solidFill>
                <a:latin typeface="Amiri" pitchFamily="34" charset="0"/>
                <a:ea typeface="Amiri" pitchFamily="34" charset="-122"/>
                <a:cs typeface="Amiri" pitchFamily="34" charset="-120"/>
              </a:rPr>
              <a:t> التَّحِيَّةَ تُعَبِّرُ عَنِ احْتِرَامٍ عَمِيقٍ. </a:t>
            </a:r>
            <a:pPr rtl="1" algn="r" indent="0" marL="0">
              <a:lnSpc>
                <a:spcPct val="120000"/>
              </a:lnSpc>
              <a:buNone/>
            </a:pPr>
            <a:r>
              <a:rPr lang="ar-SA" altLang="en-US" sz="1400" b="1" dirty="0">
                <a:solidFill>
                  <a:srgbClr val="D6336C"/>
                </a:solidFill>
                <a:latin typeface="Amiri" pitchFamily="34" charset="0"/>
                <a:ea typeface="Amiri" pitchFamily="34" charset="-122"/>
                <a:cs typeface="Amiri" pitchFamily="34" charset="-120"/>
              </a:rPr>
              <a:t>وَلَوْ</a:t>
            </a:r>
            <a:pPr rtl="1" algn="r" indent="0" marL="0">
              <a:lnSpc>
                <a:spcPct val="120000"/>
              </a:lnSpc>
              <a:buNone/>
            </a:pPr>
            <a:r>
              <a:rPr lang="ar-SA" altLang="en-US" sz="1400" b="1" dirty="0">
                <a:solidFill>
                  <a:srgbClr val="1B3B6F"/>
                </a:solidFill>
                <a:latin typeface="Amiri" pitchFamily="34" charset="0"/>
                <a:ea typeface="Amiri" pitchFamily="34" charset="-122"/>
                <a:cs typeface="Amiri" pitchFamily="34" charset="-120"/>
              </a:rPr>
              <a:t> عَرَفَ كُلُّ زَائِرٍ عَادَاتِ البَلَدِ، </a:t>
            </a:r>
            <a:pPr rtl="1" algn="r" indent="0" marL="0">
              <a:lnSpc>
                <a:spcPct val="120000"/>
              </a:lnSpc>
              <a:buNone/>
            </a:pPr>
            <a:r>
              <a:rPr lang="ar-SA" altLang="en-US" sz="1400" b="1" dirty="0">
                <a:solidFill>
                  <a:srgbClr val="D6336C"/>
                </a:solidFill>
                <a:latin typeface="Amiri" pitchFamily="34" charset="0"/>
                <a:ea typeface="Amiri" pitchFamily="34" charset="-122"/>
                <a:cs typeface="Amiri" pitchFamily="34" charset="-120"/>
              </a:rPr>
              <a:t>لَقَلَّتِ</a:t>
            </a:r>
            <a:pPr rtl="1" algn="r" indent="0" marL="0">
              <a:lnSpc>
                <a:spcPct val="120000"/>
              </a:lnSpc>
              <a:buNone/>
            </a:pPr>
            <a:r>
              <a:rPr lang="ar-SA" altLang="en-US" sz="1400" b="1" dirty="0">
                <a:solidFill>
                  <a:srgbClr val="1B3B6F"/>
                </a:solidFill>
                <a:latin typeface="Amiri" pitchFamily="34" charset="0"/>
                <a:ea typeface="Amiri" pitchFamily="34" charset="-122"/>
                <a:cs typeface="Amiri" pitchFamily="34" charset="-120"/>
              </a:rPr>
              <a:t> الزَّلَّاتُ الثَّقَافِيَّةُ.</a:t>
            </a:r>
            <a:endParaRPr lang="ar-SA" sz="1400" dirty="0"/>
          </a:p>
        </p:txBody>
      </p:sp>
      <p:sp>
        <p:nvSpPr>
          <p:cNvPr id="56" name="Text 52"/>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900" i="1" dirty="0">
                <a:solidFill>
                  <a:srgbClr val="5A6472"/>
                </a:solidFill>
                <a:latin typeface="Calibri" pitchFamily="34" charset="0"/>
                <a:ea typeface="Calibri" pitchFamily="34" charset="-122"/>
                <a:cs typeface="Calibri" pitchFamily="34" charset="-120"/>
              </a:rPr>
              <a:t>Cultural respect is considered a cornerstone of any successful trip. It is preferable for the visitor to learn some Arabic phrases, and to wear modest clothing. If you visit a mosque, you must take off your shoes. Some sacred places also prohibit photography, so ask first. A local guide told me that the greeting expresses deep respect. And had every visitor known the country’s customs, cultural faux pas would have been fewer.</a:t>
            </a:r>
            <a:endParaRPr lang="en-US" sz="900" dirty="0"/>
          </a:p>
        </p:txBody>
      </p:sp>
      <p:sp>
        <p:nvSpPr>
          <p:cNvPr id="57"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21 / 52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TE-L08 · Cultural Exchange</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ea typeface="Calibri" pitchFamily="34" charset="-122"/>
                <a:cs typeface="Calibri" pitchFamily="34" charset="-120"/>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TE-L08</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يُسْتَحْسَنُ أَنْ يَتَعَلَّمَ الزَّائِرُ بَعْضَ العِبَارَاتِ العَرَبِيَّةِ</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it is preferable for the visitor to learn some Arabic phrases</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A verb in -a after an.</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إِذَا زُرْتَ مَسْجِدًا، يَجِبُ أَنْ تَخْلَعَ حِذَاءَكَ</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if you visit a mosque, you must take off your shoes</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Type 1 scenario plus subjunctive.</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لَوْ تَعَلَّمْتُ شَيْئًا مِنَ العَرَبِيَّةِ، لَكَانَتِ التَّجْرِبَةُ أَعْمَقَ</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had I learned some Arabic, the experience would have been deeper</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Type 2 cultural reflection.</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22 / 52</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TE-L08 · Cultural Exchange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ea typeface="Calibri" pitchFamily="34" charset="-122"/>
                <a:cs typeface="Calibri" pitchFamily="34" charset="-120"/>
              </a:rPr>
              <a:t>WE DO · PICTURE MATCH · WEBSITE GAME “RESPECTFUL VISITOR (TOPIC GAME)”</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ea typeface="Cambria" pitchFamily="34" charset="-122"/>
                <a:cs typeface="Cambria" pitchFamily="34" charset="-120"/>
              </a:rPr>
              <a:t>Match the picture to the sentence</a:t>
            </a:r>
            <a:endParaRPr lang="en-US" sz="27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الزَّائِرُ الْمُحْتَرِمُ</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TE-L08</a:t>
            </a:r>
            <a:endParaRPr lang="en-US" sz="850" dirty="0"/>
          </a:p>
        </p:txBody>
      </p:sp>
      <p:sp>
        <p:nvSpPr>
          <p:cNvPr id="17" name="Shape 14"/>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23504" y="19385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0" name="Shape 17"/>
          <p:cNvSpPr/>
          <p:nvPr/>
        </p:nvSpPr>
        <p:spPr>
          <a:xfrm>
            <a:off x="8811768" y="2066544"/>
            <a:ext cx="1014984" cy="1014984"/>
          </a:xfrm>
          <a:prstGeom prst="ellipse">
            <a:avLst/>
          </a:prstGeom>
          <a:solidFill>
            <a:srgbClr val="F4F1EA"/>
          </a:solidFill>
          <a:ln w="12700">
            <a:solidFill>
              <a:srgbClr val="F4F1EA"/>
            </a:solidFill>
            <a:prstDash val="solid"/>
          </a:ln>
        </p:spPr>
      </p:sp>
      <p:pic>
        <p:nvPicPr>
          <p:cNvPr id="21"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2" name="Shape 18"/>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3"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4" name="Text 19"/>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respect customs</a:t>
            </a:r>
            <a:endParaRPr lang="en-US" sz="1100" dirty="0"/>
          </a:p>
        </p:txBody>
      </p:sp>
      <p:sp>
        <p:nvSpPr>
          <p:cNvPr id="25" name="Shape 20"/>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1"/>
          <p:cNvSpPr/>
          <p:nvPr/>
        </p:nvSpPr>
        <p:spPr>
          <a:xfrm>
            <a:off x="4404360" y="1938528"/>
            <a:ext cx="365760" cy="365760"/>
          </a:xfrm>
          <a:prstGeom prst="ellipse">
            <a:avLst/>
          </a:prstGeom>
          <a:solidFill>
            <a:srgbClr val="1B3B6F"/>
          </a:solidFill>
          <a:ln w="12700">
            <a:solidFill>
              <a:srgbClr val="1B3B6F"/>
            </a:solidFill>
            <a:prstDash val="solid"/>
          </a:ln>
        </p:spPr>
      </p:sp>
      <p:sp>
        <p:nvSpPr>
          <p:cNvPr id="27" name="Text 22"/>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8" name="Shape 23"/>
          <p:cNvSpPr/>
          <p:nvPr/>
        </p:nvSpPr>
        <p:spPr>
          <a:xfrm>
            <a:off x="4992624" y="2066544"/>
            <a:ext cx="1014984" cy="1014984"/>
          </a:xfrm>
          <a:prstGeom prst="ellipse">
            <a:avLst/>
          </a:prstGeom>
          <a:solidFill>
            <a:srgbClr val="F4F1EA"/>
          </a:solidFill>
          <a:ln w="12700">
            <a:solidFill>
              <a:srgbClr val="F4F1EA"/>
            </a:solidFill>
            <a:prstDash val="solid"/>
          </a:ln>
        </p:spPr>
      </p:sp>
      <p:pic>
        <p:nvPicPr>
          <p:cNvPr id="29"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0" name="Shape 24"/>
          <p:cNvSpPr/>
          <p:nvPr/>
        </p:nvSpPr>
        <p:spPr>
          <a:xfrm>
            <a:off x="6181344" y="2066544"/>
            <a:ext cx="1014984" cy="1014984"/>
          </a:xfrm>
          <a:prstGeom prst="ellipse">
            <a:avLst/>
          </a:prstGeom>
          <a:solidFill>
            <a:srgbClr val="F4F1EA"/>
          </a:solidFill>
          <a:ln w="12700">
            <a:solidFill>
              <a:srgbClr val="F4F1EA"/>
            </a:solidFill>
            <a:prstDash val="solid"/>
          </a:ln>
        </p:spPr>
      </p:sp>
      <p:pic>
        <p:nvPicPr>
          <p:cNvPr id="31"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2" name="Text 25"/>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ask the host</a:t>
            </a:r>
            <a:endParaRPr lang="en-US" sz="1100" dirty="0"/>
          </a:p>
        </p:txBody>
      </p:sp>
      <p:sp>
        <p:nvSpPr>
          <p:cNvPr id="33" name="Shape 26"/>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27"/>
          <p:cNvSpPr/>
          <p:nvPr/>
        </p:nvSpPr>
        <p:spPr>
          <a:xfrm>
            <a:off x="585216" y="1938528"/>
            <a:ext cx="365760" cy="365760"/>
          </a:xfrm>
          <a:prstGeom prst="ellipse">
            <a:avLst/>
          </a:prstGeom>
          <a:solidFill>
            <a:srgbClr val="1B3B6F"/>
          </a:solidFill>
          <a:ln w="12700">
            <a:solidFill>
              <a:srgbClr val="1B3B6F"/>
            </a:solidFill>
            <a:prstDash val="solid"/>
          </a:ln>
        </p:spPr>
      </p:sp>
      <p:sp>
        <p:nvSpPr>
          <p:cNvPr id="35" name="Text 28"/>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6" name="Shape 29"/>
          <p:cNvSpPr/>
          <p:nvPr/>
        </p:nvSpPr>
        <p:spPr>
          <a:xfrm>
            <a:off x="1173480" y="2066544"/>
            <a:ext cx="1014984" cy="1014984"/>
          </a:xfrm>
          <a:prstGeom prst="ellipse">
            <a:avLst/>
          </a:prstGeom>
          <a:solidFill>
            <a:srgbClr val="F4F1EA"/>
          </a:solidFill>
          <a:ln w="12700">
            <a:solidFill>
              <a:srgbClr val="F4F1EA"/>
            </a:solidFill>
            <a:prstDash val="solid"/>
          </a:ln>
        </p:spPr>
      </p:sp>
      <p:pic>
        <p:nvPicPr>
          <p:cNvPr id="37"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8" name="Shape 30"/>
          <p:cNvSpPr/>
          <p:nvPr/>
        </p:nvSpPr>
        <p:spPr>
          <a:xfrm>
            <a:off x="2362200" y="2066544"/>
            <a:ext cx="1014984" cy="1014984"/>
          </a:xfrm>
          <a:prstGeom prst="ellipse">
            <a:avLst/>
          </a:prstGeom>
          <a:solidFill>
            <a:srgbClr val="F4F1EA"/>
          </a:solidFill>
          <a:ln w="12700">
            <a:solidFill>
              <a:srgbClr val="F4F1EA"/>
            </a:solidFill>
            <a:prstDash val="solid"/>
          </a:ln>
        </p:spPr>
      </p:sp>
      <p:pic>
        <p:nvPicPr>
          <p:cNvPr id="39"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0" name="Text 31"/>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no photos</a:t>
            </a:r>
            <a:endParaRPr lang="en-US" sz="1100" dirty="0"/>
          </a:p>
        </p:txBody>
      </p:sp>
      <p:sp>
        <p:nvSpPr>
          <p:cNvPr id="41" name="Shape 32"/>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2" name="Shape 33"/>
          <p:cNvSpPr/>
          <p:nvPr/>
        </p:nvSpPr>
        <p:spPr>
          <a:xfrm>
            <a:off x="11247120" y="3831336"/>
            <a:ext cx="292608" cy="292608"/>
          </a:xfrm>
          <a:prstGeom prst="ellipse">
            <a:avLst/>
          </a:prstGeom>
          <a:solidFill>
            <a:srgbClr val="2F6FB0"/>
          </a:solidFill>
          <a:ln w="12700">
            <a:solidFill>
              <a:srgbClr val="2F6FB0"/>
            </a:solidFill>
            <a:prstDash val="solid"/>
          </a:ln>
        </p:spPr>
      </p:sp>
      <p:sp>
        <p:nvSpPr>
          <p:cNvPr id="43" name="Text 34"/>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44" name="Text 35"/>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إِذَا لَمْ أَعْرِفْ قَاعِدَةَ الطَّعَامِ أَسْأَلُ الْمُضِيفَ بِأَدَبٍ.</a:t>
            </a:r>
            <a:endParaRPr lang="ar-SA" sz="2000" dirty="0"/>
          </a:p>
        </p:txBody>
      </p:sp>
      <p:sp>
        <p:nvSpPr>
          <p:cNvPr id="45" name="Shape 36"/>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6" name="Shape 37"/>
          <p:cNvSpPr/>
          <p:nvPr/>
        </p:nvSpPr>
        <p:spPr>
          <a:xfrm>
            <a:off x="11247120" y="4398264"/>
            <a:ext cx="292608" cy="292608"/>
          </a:xfrm>
          <a:prstGeom prst="ellipse">
            <a:avLst/>
          </a:prstGeom>
          <a:solidFill>
            <a:srgbClr val="2F6FB0"/>
          </a:solidFill>
          <a:ln w="12700">
            <a:solidFill>
              <a:srgbClr val="2F6FB0"/>
            </a:solidFill>
            <a:prstDash val="solid"/>
          </a:ln>
        </p:spPr>
      </p:sp>
      <p:sp>
        <p:nvSpPr>
          <p:cNvPr id="47" name="Text 38"/>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48" name="Text 39"/>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لَا أَلْتَقِطُ صُوَرًا فِي مَكَانٍ يُمْنَعُ فِيهِ التَّصْوِيرُ.</a:t>
            </a:r>
            <a:endParaRPr lang="ar-SA" sz="2000" dirty="0"/>
          </a:p>
        </p:txBody>
      </p:sp>
      <p:sp>
        <p:nvSpPr>
          <p:cNvPr id="49" name="Shape 40"/>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50" name="Shape 41"/>
          <p:cNvSpPr/>
          <p:nvPr/>
        </p:nvSpPr>
        <p:spPr>
          <a:xfrm>
            <a:off x="11247120" y="4965192"/>
            <a:ext cx="292608" cy="292608"/>
          </a:xfrm>
          <a:prstGeom prst="ellipse">
            <a:avLst/>
          </a:prstGeom>
          <a:solidFill>
            <a:srgbClr val="2F6FB0"/>
          </a:solidFill>
          <a:ln w="12700">
            <a:solidFill>
              <a:srgbClr val="2F6FB0"/>
            </a:solidFill>
            <a:prstDash val="solid"/>
          </a:ln>
        </p:spPr>
      </p:sp>
      <p:sp>
        <p:nvSpPr>
          <p:cNvPr id="51" name="Text 42"/>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a:t>
            </a:r>
            <a:endParaRPr lang="en-US" sz="1000" dirty="0"/>
          </a:p>
        </p:txBody>
      </p:sp>
      <p:sp>
        <p:nvSpPr>
          <p:cNvPr id="52" name="Text 43"/>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عِنْدَ السَّفَرِ أَحْتَرِمُ عَادَاتِ الْمَكَانِ الَّذِي أَزُورُهُ.</a:t>
            </a:r>
            <a:endParaRPr lang="ar-SA" sz="2000" dirty="0"/>
          </a:p>
        </p:txBody>
      </p:sp>
      <p:sp>
        <p:nvSpPr>
          <p:cNvPr id="53" name="Text 44"/>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ea typeface="Calibri" pitchFamily="34" charset="-122"/>
                <a:cs typeface="Calibri" pitchFamily="34" charset="-120"/>
              </a:rPr>
              <a:t>Match each picture to a sentence. Type in the chat: 1_  2_  3_</a:t>
            </a:r>
            <a:endParaRPr lang="en-US" sz="1250" dirty="0"/>
          </a:p>
        </p:txBody>
      </p:sp>
      <p:sp>
        <p:nvSpPr>
          <p:cNvPr id="54" name="Text 45"/>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Core: find ONE key word you know in each sentence first.</a:t>
            </a:r>
            <a:endParaRPr lang="en-US" sz="1150" dirty="0"/>
          </a:p>
        </p:txBody>
      </p:sp>
      <p:sp>
        <p:nvSpPr>
          <p:cNvPr id="55"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23 / 52</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TE-L08 · Cultural Exchange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PICTURE MATCH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Picture match: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الزَّائِرُ الْمُحْتَرِمُ</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TE-L08</a:t>
            </a:r>
            <a:endParaRPr lang="en-US" sz="850" dirty="0"/>
          </a:p>
        </p:txBody>
      </p:sp>
      <p:sp>
        <p:nvSpPr>
          <p:cNvPr id="17" name="Shape 14"/>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23504" y="19385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0" name="Shape 17"/>
          <p:cNvSpPr/>
          <p:nvPr/>
        </p:nvSpPr>
        <p:spPr>
          <a:xfrm>
            <a:off x="8811768" y="2066544"/>
            <a:ext cx="1014984" cy="1014984"/>
          </a:xfrm>
          <a:prstGeom prst="ellipse">
            <a:avLst/>
          </a:prstGeom>
          <a:solidFill>
            <a:srgbClr val="F4F1EA"/>
          </a:solidFill>
          <a:ln w="12700">
            <a:solidFill>
              <a:srgbClr val="F4F1EA"/>
            </a:solidFill>
            <a:prstDash val="solid"/>
          </a:ln>
        </p:spPr>
      </p:sp>
      <p:pic>
        <p:nvPicPr>
          <p:cNvPr id="21"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2" name="Shape 18"/>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3"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4" name="Text 19"/>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respect customs</a:t>
            </a:r>
            <a:endParaRPr lang="en-US" sz="1100" dirty="0"/>
          </a:p>
        </p:txBody>
      </p:sp>
      <p:sp>
        <p:nvSpPr>
          <p:cNvPr id="25" name="Shape 20"/>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6" name="Shape 21"/>
          <p:cNvSpPr/>
          <p:nvPr/>
        </p:nvSpPr>
        <p:spPr>
          <a:xfrm>
            <a:off x="11256264" y="3785616"/>
            <a:ext cx="329184" cy="329184"/>
          </a:xfrm>
          <a:prstGeom prst="ellipse">
            <a:avLst/>
          </a:prstGeom>
          <a:solidFill>
            <a:srgbClr val="2E8B57"/>
          </a:solidFill>
          <a:ln w="12700">
            <a:solidFill>
              <a:srgbClr val="2E8B57"/>
            </a:solidFill>
            <a:prstDash val="solid"/>
          </a:ln>
        </p:spPr>
      </p:sp>
      <p:sp>
        <p:nvSpPr>
          <p:cNvPr id="27" name="Text 22"/>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28" name="Text 23"/>
          <p:cNvSpPr txBox="1"/>
          <p:nvPr/>
        </p:nvSpPr>
        <p:spPr>
          <a:xfrm>
            <a:off x="8232648"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34" charset="0"/>
                <a:ea typeface="Amiri" pitchFamily="34" charset="-122"/>
                <a:cs typeface="Amiri" pitchFamily="34" charset="-120"/>
              </a:rPr>
              <a:t>عِنْدَ السَّفَرِ أَحْتَرِمُ عَادَاتِ الْمَكَانِ الَّذِي أَزُورُهُ.</a:t>
            </a:r>
            <a:endParaRPr lang="ar-SA" sz="2200" dirty="0"/>
          </a:p>
        </p:txBody>
      </p:sp>
      <p:sp>
        <p:nvSpPr>
          <p:cNvPr id="29" name="Text 24"/>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When I travel, I respect the customs of the place I visit.</a:t>
            </a:r>
            <a:endParaRPr lang="en-US" sz="1200" dirty="0"/>
          </a:p>
        </p:txBody>
      </p:sp>
      <p:sp>
        <p:nvSpPr>
          <p:cNvPr id="30" name="Shape 25"/>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6"/>
          <p:cNvSpPr/>
          <p:nvPr/>
        </p:nvSpPr>
        <p:spPr>
          <a:xfrm>
            <a:off x="4404360" y="1938528"/>
            <a:ext cx="365760" cy="365760"/>
          </a:xfrm>
          <a:prstGeom prst="ellipse">
            <a:avLst/>
          </a:prstGeom>
          <a:solidFill>
            <a:srgbClr val="1B3B6F"/>
          </a:solidFill>
          <a:ln w="12700">
            <a:solidFill>
              <a:srgbClr val="1B3B6F"/>
            </a:solidFill>
            <a:prstDash val="solid"/>
          </a:ln>
        </p:spPr>
      </p:sp>
      <p:sp>
        <p:nvSpPr>
          <p:cNvPr id="32" name="Text 27"/>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3" name="Shape 28"/>
          <p:cNvSpPr/>
          <p:nvPr/>
        </p:nvSpPr>
        <p:spPr>
          <a:xfrm>
            <a:off x="4992624" y="2066544"/>
            <a:ext cx="1014984" cy="1014984"/>
          </a:xfrm>
          <a:prstGeom prst="ellipse">
            <a:avLst/>
          </a:prstGeom>
          <a:solidFill>
            <a:srgbClr val="F4F1EA"/>
          </a:solidFill>
          <a:ln w="12700">
            <a:solidFill>
              <a:srgbClr val="F4F1EA"/>
            </a:solidFill>
            <a:prstDash val="solid"/>
          </a:ln>
        </p:spPr>
      </p:sp>
      <p:pic>
        <p:nvPicPr>
          <p:cNvPr id="34"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5" name="Shape 29"/>
          <p:cNvSpPr/>
          <p:nvPr/>
        </p:nvSpPr>
        <p:spPr>
          <a:xfrm>
            <a:off x="6181344" y="2066544"/>
            <a:ext cx="1014984" cy="1014984"/>
          </a:xfrm>
          <a:prstGeom prst="ellipse">
            <a:avLst/>
          </a:prstGeom>
          <a:solidFill>
            <a:srgbClr val="F4F1EA"/>
          </a:solidFill>
          <a:ln w="12700">
            <a:solidFill>
              <a:srgbClr val="F4F1EA"/>
            </a:solidFill>
            <a:prstDash val="solid"/>
          </a:ln>
        </p:spPr>
      </p:sp>
      <p:pic>
        <p:nvPicPr>
          <p:cNvPr id="36"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7" name="Text 30"/>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ask the host</a:t>
            </a:r>
            <a:endParaRPr lang="en-US" sz="1100" dirty="0"/>
          </a:p>
        </p:txBody>
      </p:sp>
      <p:sp>
        <p:nvSpPr>
          <p:cNvPr id="38" name="Shape 31"/>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9" name="Shape 32"/>
          <p:cNvSpPr/>
          <p:nvPr/>
        </p:nvSpPr>
        <p:spPr>
          <a:xfrm>
            <a:off x="7437120" y="3785616"/>
            <a:ext cx="329184" cy="329184"/>
          </a:xfrm>
          <a:prstGeom prst="ellipse">
            <a:avLst/>
          </a:prstGeom>
          <a:solidFill>
            <a:srgbClr val="2E8B57"/>
          </a:solidFill>
          <a:ln w="12700">
            <a:solidFill>
              <a:srgbClr val="2E8B57"/>
            </a:solidFill>
            <a:prstDash val="solid"/>
          </a:ln>
        </p:spPr>
      </p:sp>
      <p:sp>
        <p:nvSpPr>
          <p:cNvPr id="40" name="Text 33"/>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41" name="Text 34"/>
          <p:cNvSpPr txBox="1"/>
          <p:nvPr/>
        </p:nvSpPr>
        <p:spPr>
          <a:xfrm>
            <a:off x="4413504"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34" charset="0"/>
                <a:ea typeface="Amiri" pitchFamily="34" charset="-122"/>
                <a:cs typeface="Amiri" pitchFamily="34" charset="-120"/>
              </a:rPr>
              <a:t>إِذَا لَمْ أَعْرِفْ قَاعِدَةَ الطَّعَامِ أَسْأَلُ الْمُضِيفَ بِأَدَبٍ.</a:t>
            </a:r>
            <a:endParaRPr lang="ar-SA" sz="2200" dirty="0"/>
          </a:p>
        </p:txBody>
      </p:sp>
      <p:sp>
        <p:nvSpPr>
          <p:cNvPr id="42" name="Text 35"/>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If I do not know the rule about food, I ask the host politely.</a:t>
            </a:r>
            <a:endParaRPr lang="en-US" sz="1200" dirty="0"/>
          </a:p>
        </p:txBody>
      </p:sp>
      <p:sp>
        <p:nvSpPr>
          <p:cNvPr id="43" name="Shape 36"/>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37"/>
          <p:cNvSpPr/>
          <p:nvPr/>
        </p:nvSpPr>
        <p:spPr>
          <a:xfrm>
            <a:off x="585216" y="1938528"/>
            <a:ext cx="365760" cy="365760"/>
          </a:xfrm>
          <a:prstGeom prst="ellipse">
            <a:avLst/>
          </a:prstGeom>
          <a:solidFill>
            <a:srgbClr val="1B3B6F"/>
          </a:solidFill>
          <a:ln w="12700">
            <a:solidFill>
              <a:srgbClr val="1B3B6F"/>
            </a:solidFill>
            <a:prstDash val="solid"/>
          </a:ln>
        </p:spPr>
      </p:sp>
      <p:sp>
        <p:nvSpPr>
          <p:cNvPr id="45" name="Text 38"/>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6" name="Shape 39"/>
          <p:cNvSpPr/>
          <p:nvPr/>
        </p:nvSpPr>
        <p:spPr>
          <a:xfrm>
            <a:off x="1173480" y="2066544"/>
            <a:ext cx="1014984" cy="1014984"/>
          </a:xfrm>
          <a:prstGeom prst="ellipse">
            <a:avLst/>
          </a:prstGeom>
          <a:solidFill>
            <a:srgbClr val="F4F1EA"/>
          </a:solidFill>
          <a:ln w="12700">
            <a:solidFill>
              <a:srgbClr val="F4F1EA"/>
            </a:solidFill>
            <a:prstDash val="solid"/>
          </a:ln>
        </p:spPr>
      </p:sp>
      <p:pic>
        <p:nvPicPr>
          <p:cNvPr id="47"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8" name="Shape 40"/>
          <p:cNvSpPr/>
          <p:nvPr/>
        </p:nvSpPr>
        <p:spPr>
          <a:xfrm>
            <a:off x="2362200" y="2066544"/>
            <a:ext cx="1014984" cy="1014984"/>
          </a:xfrm>
          <a:prstGeom prst="ellipse">
            <a:avLst/>
          </a:prstGeom>
          <a:solidFill>
            <a:srgbClr val="F4F1EA"/>
          </a:solidFill>
          <a:ln w="12700">
            <a:solidFill>
              <a:srgbClr val="F4F1EA"/>
            </a:solidFill>
            <a:prstDash val="solid"/>
          </a:ln>
        </p:spPr>
      </p:sp>
      <p:pic>
        <p:nvPicPr>
          <p:cNvPr id="49"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50" name="Text 41"/>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no photos</a:t>
            </a:r>
            <a:endParaRPr lang="en-US" sz="1100" dirty="0"/>
          </a:p>
        </p:txBody>
      </p:sp>
      <p:sp>
        <p:nvSpPr>
          <p:cNvPr id="51" name="Shape 42"/>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2" name="Shape 43"/>
          <p:cNvSpPr/>
          <p:nvPr/>
        </p:nvSpPr>
        <p:spPr>
          <a:xfrm>
            <a:off x="3617976" y="3785616"/>
            <a:ext cx="329184" cy="329184"/>
          </a:xfrm>
          <a:prstGeom prst="ellipse">
            <a:avLst/>
          </a:prstGeom>
          <a:solidFill>
            <a:srgbClr val="2E8B57"/>
          </a:solidFill>
          <a:ln w="12700">
            <a:solidFill>
              <a:srgbClr val="2E8B57"/>
            </a:solidFill>
            <a:prstDash val="solid"/>
          </a:ln>
        </p:spPr>
      </p:sp>
      <p:sp>
        <p:nvSpPr>
          <p:cNvPr id="53" name="Text 44"/>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54" name="Text 45"/>
          <p:cNvSpPr txBox="1"/>
          <p:nvPr/>
        </p:nvSpPr>
        <p:spPr>
          <a:xfrm>
            <a:off x="594360"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34" charset="0"/>
                <a:ea typeface="Amiri" pitchFamily="34" charset="-122"/>
                <a:cs typeface="Amiri" pitchFamily="34" charset="-120"/>
              </a:rPr>
              <a:t>لَا أَلْتَقِطُ صُوَرًا فِي مَكَانٍ يُمْنَعُ فِيهِ التَّصْوِيرُ.</a:t>
            </a:r>
            <a:endParaRPr lang="ar-SA" sz="2200" dirty="0"/>
          </a:p>
        </p:txBody>
      </p:sp>
      <p:sp>
        <p:nvSpPr>
          <p:cNvPr id="55" name="Text 46"/>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I do not take photos in a place where photography is forbidden.</a:t>
            </a:r>
            <a:endParaRPr lang="en-US" sz="1200" dirty="0"/>
          </a:p>
        </p:txBody>
      </p:sp>
      <p:sp>
        <p:nvSpPr>
          <p:cNvPr id="56"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24 / 52</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TE-L08 · Cultural Exchange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ea typeface="Calibri" pitchFamily="34" charset="-122"/>
                <a:cs typeface="Calibri" pitchFamily="34" charset="-120"/>
              </a:rPr>
              <a:t>WE DO · PICTURE MATCH · WEBSITE GAME “VISUAL GAME — CULTURAL SENSITIVITY IN TRAVEL — BEING A RESPECTFUL VISITOR”</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ea typeface="Cambria" pitchFamily="34" charset="-122"/>
                <a:cs typeface="Cambria" pitchFamily="34" charset="-120"/>
              </a:rPr>
              <a:t>Culture around us: match the picture</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الثَّقَافَةُ وَالعَادَاتُ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TE-L08</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greetings</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traditional dress</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traditional dishes</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تَخْتَلِفُ المَلَابِسُ التَّقْلِيدِيَّةُ بَيْنَ المَنَاطِقِ.</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لِكُلِّ بَلَدٍ أَطْبَاقٌ تَقْلِيدِيَّةٌ.</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تَخْتَلِفُ طُرُقُ التَّحِيَّةِ مِنْ مَكَانٍ إِلَى آخَرَ.</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ea typeface="Calibri" pitchFamily="34" charset="-122"/>
                <a:cs typeface="Calibri" pitchFamily="34" charset="-120"/>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25 / 52</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TE-L08 · Cultural Exchange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الثَّقَافَةُ وَالعَادَاتُ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TE-L08</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greetings</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34" charset="0"/>
                <a:ea typeface="Amiri" pitchFamily="34" charset="-122"/>
                <a:cs typeface="Amiri" pitchFamily="34" charset="-120"/>
              </a:rPr>
              <a:t>تَخْتَلِفُ طُرُقُ التَّحِيَّةِ مِنْ مَكَانٍ إِلَى آخَرَ.</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Ways of greeting differ from place to place.</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traditional dress</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34" charset="0"/>
                <a:ea typeface="Amiri" pitchFamily="34" charset="-122"/>
                <a:cs typeface="Amiri" pitchFamily="34" charset="-120"/>
              </a:rPr>
              <a:t>تَخْتَلِفُ المَلَابِسُ التَّقْلِيدِيَّةُ بَيْنَ المَنَاطِقِ.</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Traditional clothes differ between regions.</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traditional dishes</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لِكُلِّ بَلَدٍ أَطْبَاقٌ تَقْلِيدِيَّةٌ.</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Every country has traditional dishes.</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26 / 52</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TE-L08 · Cultural Exchange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BUILD A CULTURAL GUIDE (WEBSITE LIVE BUILDER)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Advice + rule + reflection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ابْنِ دَلِيلًا ثَقَافِيًّا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147304" y="1810512"/>
            <a:ext cx="3511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 · Polite advice</a:t>
            </a:r>
            <a:endParaRPr lang="en-US" sz="1100" dirty="0"/>
          </a:p>
        </p:txBody>
      </p:sp>
      <p:sp>
        <p:nvSpPr>
          <p:cNvPr id="17" name="Text 14"/>
          <p:cNvSpPr txBox="1"/>
          <p:nvPr/>
        </p:nvSpPr>
        <p:spPr>
          <a:xfrm>
            <a:off x="4398264"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 · Scenario / rule</a:t>
            </a:r>
            <a:endParaRPr lang="en-US" sz="1100" dirty="0"/>
          </a:p>
        </p:txBody>
      </p:sp>
      <p:sp>
        <p:nvSpPr>
          <p:cNvPr id="18" name="Text 15"/>
          <p:cNvSpPr txBox="1"/>
          <p:nvPr/>
        </p:nvSpPr>
        <p:spPr>
          <a:xfrm>
            <a:off x="530352" y="1810512"/>
            <a:ext cx="37216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 · Tip / reflection</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165592" y="2267712"/>
            <a:ext cx="3474720" cy="731520"/>
          </a:xfrm>
          <a:prstGeom prst="rect">
            <a:avLst/>
          </a:prstGeom>
          <a:noFill/>
          <a:ln/>
        </p:spPr>
        <p:txBody>
          <a:bodyPr wrap="square" lIns="0" tIns="0" rIns="0" bIns="0" rtlCol="0" anchor="ctr"/>
          <a:lstStyle/>
          <a:p>
            <a:pPr rtl="1" algn="ctr" indent="0" marL="0">
              <a:lnSpc>
                <a:spcPct val="120000"/>
              </a:lnSpc>
              <a:buNone/>
            </a:pPr>
            <a:r>
              <a:rPr lang="ar-SA" altLang="en-US" sz="1550" b="1" dirty="0">
                <a:solidFill>
                  <a:srgbClr val="1B3B6F"/>
                </a:solidFill>
                <a:latin typeface="Amiri" pitchFamily="34" charset="0"/>
                <a:ea typeface="Amiri" pitchFamily="34" charset="-122"/>
                <a:cs typeface="Amiri" pitchFamily="34" charset="-120"/>
              </a:rPr>
              <a:t>يُسْتَحْسَنُ أَنْ يَتَعَلَّمَ الزَّائِرُ بَعْضَ العِبَارَاتِ العَرَبِيَّةِ</a:t>
            </a:r>
            <a:endParaRPr lang="ar-SA" sz="1550" dirty="0"/>
          </a:p>
        </p:txBody>
      </p:sp>
      <p:sp>
        <p:nvSpPr>
          <p:cNvPr id="21" name="Text 18"/>
          <p:cNvSpPr txBox="1"/>
          <p:nvPr/>
        </p:nvSpPr>
        <p:spPr>
          <a:xfrm>
            <a:off x="4416552"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34" charset="0"/>
                <a:ea typeface="Amiri" pitchFamily="34" charset="-122"/>
                <a:cs typeface="Amiri" pitchFamily="34" charset="-120"/>
              </a:rPr>
              <a:t>وَإِذَا زَارَ مَسْجِدًا يَجِبُ أَنْ يَخْلَعَ حِذَاءَهُ</a:t>
            </a:r>
            <a:endParaRPr lang="ar-SA" sz="1600" dirty="0"/>
          </a:p>
        </p:txBody>
      </p:sp>
      <p:sp>
        <p:nvSpPr>
          <p:cNvPr id="22" name="Text 19"/>
          <p:cNvSpPr txBox="1"/>
          <p:nvPr/>
        </p:nvSpPr>
        <p:spPr>
          <a:xfrm>
            <a:off x="548640" y="2267712"/>
            <a:ext cx="368503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34" charset="0"/>
                <a:ea typeface="Amiri" pitchFamily="34" charset="-122"/>
                <a:cs typeface="Amiri" pitchFamily="34" charset="-120"/>
              </a:rPr>
              <a:t>وَلَوْ عَرَفَ كُلُّ زَائِرٍ العَادَاتِ لَقَلَّتِ الزَّلَّاتُ الثَّقَافِيَّةُ</a:t>
            </a:r>
            <a:endParaRPr lang="ar-SA" sz="16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165592" y="3054096"/>
            <a:ext cx="347472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34" charset="0"/>
                <a:ea typeface="Amiri" pitchFamily="34" charset="-122"/>
                <a:cs typeface="Amiri" pitchFamily="34" charset="-120"/>
              </a:rPr>
              <a:t>يُسْتَحْسَنُ أَنْ يَرْتَدِيَ مَلَابِسَ مُحْتَشِمَةً</a:t>
            </a:r>
            <a:endParaRPr lang="ar-SA" sz="1600" dirty="0"/>
          </a:p>
        </p:txBody>
      </p:sp>
      <p:sp>
        <p:nvSpPr>
          <p:cNvPr id="27" name="Text 24"/>
          <p:cNvSpPr txBox="1"/>
          <p:nvPr/>
        </p:nvSpPr>
        <p:spPr>
          <a:xfrm>
            <a:off x="4416552"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34" charset="0"/>
                <a:ea typeface="Amiri" pitchFamily="34" charset="-122"/>
                <a:cs typeface="Amiri" pitchFamily="34" charset="-120"/>
              </a:rPr>
              <a:t>وَيَحْظُرُ بَعْضُ المُقَدَّسَاتِ التَّصْوِيرَ</a:t>
            </a:r>
            <a:endParaRPr lang="ar-SA" sz="1600" dirty="0"/>
          </a:p>
        </p:txBody>
      </p:sp>
      <p:sp>
        <p:nvSpPr>
          <p:cNvPr id="28" name="Text 25"/>
          <p:cNvSpPr txBox="1"/>
          <p:nvPr/>
        </p:nvSpPr>
        <p:spPr>
          <a:xfrm>
            <a:off x="548640" y="3054096"/>
            <a:ext cx="368503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34" charset="0"/>
                <a:ea typeface="Amiri" pitchFamily="34" charset="-122"/>
                <a:cs typeface="Amiri" pitchFamily="34" charset="-120"/>
              </a:rPr>
              <a:t>وَأَخْبَرَنِي مُضِيفٌ أَنَّ بَادِرَةَ احْتِرَامٍ تَفْتَحُ القُلُوبَ</a:t>
            </a:r>
            <a:endParaRPr lang="ar-SA" sz="16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8165592" y="3840480"/>
            <a:ext cx="347472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34" charset="0"/>
                <a:ea typeface="Amiri" pitchFamily="34" charset="-122"/>
                <a:cs typeface="Amiri" pitchFamily="34" charset="-120"/>
              </a:rPr>
              <a:t>يُسْتَحْسَنُ أَنْ يَتَجَنَّبَ الأَكْلَ عَلَنًا فِي رَمَضَانَ</a:t>
            </a:r>
            <a:endParaRPr lang="ar-SA" sz="1600" dirty="0"/>
          </a:p>
        </p:txBody>
      </p:sp>
      <p:sp>
        <p:nvSpPr>
          <p:cNvPr id="31" name="Text 28"/>
          <p:cNvSpPr txBox="1"/>
          <p:nvPr/>
        </p:nvSpPr>
        <p:spPr>
          <a:xfrm>
            <a:off x="4416552"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34" charset="0"/>
                <a:ea typeface="Amiri" pitchFamily="34" charset="-122"/>
                <a:cs typeface="Amiri" pitchFamily="34" charset="-120"/>
              </a:rPr>
              <a:t>وَتَسْمَحُ مَوَاقِعُ أُخْرَى بِالتَّصْوِيرِ دُونَ فَلَاشٍ</a:t>
            </a:r>
            <a:endParaRPr lang="ar-SA" sz="1600" dirty="0"/>
          </a:p>
        </p:txBody>
      </p:sp>
      <p:sp>
        <p:nvSpPr>
          <p:cNvPr id="32" name="Text 29"/>
          <p:cNvSpPr txBox="1"/>
          <p:nvPr/>
        </p:nvSpPr>
        <p:spPr>
          <a:xfrm>
            <a:off x="548640" y="3840480"/>
            <a:ext cx="368503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34" charset="0"/>
                <a:ea typeface="Amiri" pitchFamily="34" charset="-122"/>
                <a:cs typeface="Amiri" pitchFamily="34" charset="-120"/>
              </a:rPr>
              <a:t>وَلَكَانَ التَّبَادُلُ الثَّقَافِيُّ أَعْمَقَ وَأَغْنَى</a:t>
            </a:r>
            <a:endParaRPr lang="ar-SA" sz="1600" dirty="0"/>
          </a:p>
        </p:txBody>
      </p:sp>
      <p:sp>
        <p:nvSpPr>
          <p:cNvPr id="33" name="Text 3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Pick one from each column — any combination is accurate. Then find every verb after an: does it end in -a?</a:t>
            </a:r>
            <a:endParaRPr lang="en-US" sz="11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27 / 52</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TE-L08 · Cultural Exchange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ea typeface="Cambria" pitchFamily="34" charset="-122"/>
                <a:cs typeface="Cambria" pitchFamily="34" charset="-120"/>
              </a:rPr>
              <a:t>Advice (an + -a), prohibition (+ object) — or permission (bi-)?</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TE-L08</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أَنْ يَتَعَلَّمَ الزَّائِرُ</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أَنْ يَرْتَدِيَ مَلَابِسَ مُحْتَشِمَةً</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أَنْ تَخْلَعَ حِذَاءَكَ</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التَّصْوِيرَ فِي المُقَدَّسَاتِ</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الدُّخُولَ بِالأَحْذِيَةِ</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اللَّمْسَ فِي بَعْضِ الأَمَاكِنِ</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بِالتَّصْوِيرِ دُونَ فَلَاشٍ</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بِالزِّيَارَةِ صَبَاحًا</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بِالدُّخُولِ مَجَّانًا</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 · an + verb in -a</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 · yaḥẓur + object</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 · yasmaḥ bi-</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28 / 52</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TE-L08 · Cultural Exchange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TE-L08</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 · an + verb in -a</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أَنْ يَتَعَلَّمَ الزَّائِرُ</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أَنْ يَرْتَدِيَ مَلَابِسَ مُحْتَشِمَةً</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أَنْ تَخْلَعَ حِذَاءَكَ</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 · yaḥẓur + object</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التَّصْوِيرَ فِي المُقَدَّسَاتِ</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الدُّخُولَ بِالأَحْذِيَةِ</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اللَّمْسَ فِي بَعْضِ الأَمَاكِنِ</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 · yasmaḥ bi-</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بِالتَّصْوِيرِ دُونَ فَلَاشٍ</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بِالزِّيَارَةِ صَبَاحًا</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بِالدُّخُولِ مَجَّانًا</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29 / 52</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TE-L08 · Cultural Exchange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GUIDED PRACTICE · WEBSITE QUIZ QUESTIONS 5,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TE-L08</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يَسْمَحُ المَتْحَفُ ___ التَّصْوِيرِ دُونَ فَلَاشٍ.</a:t>
            </a:r>
            <a:endParaRPr lang="ar-SA" sz="1500" dirty="0"/>
          </a:p>
        </p:txBody>
      </p:sp>
      <p:sp>
        <p:nvSpPr>
          <p:cNvPr id="22" name="Shape 19"/>
          <p:cNvSpPr/>
          <p:nvPr/>
        </p:nvSpPr>
        <p:spPr>
          <a:xfrm>
            <a:off x="640080" y="25328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4" name="Text 21"/>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عَنْ</a:t>
            </a:r>
            <a:endParaRPr lang="ar-SA" sz="2050" dirty="0"/>
          </a:p>
        </p:txBody>
      </p:sp>
      <p:sp>
        <p:nvSpPr>
          <p:cNvPr id="25" name="Shape 22"/>
          <p:cNvSpPr/>
          <p:nvPr/>
        </p:nvSpPr>
        <p:spPr>
          <a:xfrm>
            <a:off x="640080" y="29900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7" name="Text 24"/>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إِلَى</a:t>
            </a:r>
            <a:endParaRPr lang="ar-SA" sz="2050" dirty="0"/>
          </a:p>
        </p:txBody>
      </p:sp>
      <p:sp>
        <p:nvSpPr>
          <p:cNvPr id="28" name="Shape 25"/>
          <p:cNvSpPr/>
          <p:nvPr/>
        </p:nvSpPr>
        <p:spPr>
          <a:xfrm>
            <a:off x="640080" y="3447288"/>
            <a:ext cx="256032" cy="256032"/>
          </a:xfrm>
          <a:prstGeom prst="ellipse">
            <a:avLst/>
          </a:prstGeom>
          <a:solidFill>
            <a:srgbClr val="F4F1EA"/>
          </a:solidFill>
          <a:ln w="12700">
            <a:solidFill>
              <a:srgbClr val="F4F1EA"/>
            </a:solidFill>
            <a:prstDash val="solid"/>
          </a:ln>
        </p:spPr>
      </p:sp>
      <p:sp>
        <p:nvSpPr>
          <p:cNvPr id="29" name="Text 26"/>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30" name="Text 27"/>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بِـ</a:t>
            </a:r>
            <a:endParaRPr lang="ar-SA" sz="2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4" name="Text 31"/>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is polite advice for a scenario (Type 1 + modal)?</a:t>
            </a:r>
            <a:endParaRPr lang="en-US" sz="1250" dirty="0"/>
          </a:p>
        </p:txBody>
      </p:sp>
      <p:sp>
        <p:nvSpPr>
          <p:cNvPr id="35" name="Shape 32"/>
          <p:cNvSpPr/>
          <p:nvPr/>
        </p:nvSpPr>
        <p:spPr>
          <a:xfrm>
            <a:off x="6368796"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إِذَا دُعِيتَ إِلَى مَنْزِلٍ، تُحْضِرُ هَدِيَّةً.</a:t>
            </a:r>
            <a:endParaRPr lang="ar-SA" sz="2050" dirty="0"/>
          </a:p>
        </p:txBody>
      </p:sp>
      <p:sp>
        <p:nvSpPr>
          <p:cNvPr id="38" name="Shape 35"/>
          <p:cNvSpPr/>
          <p:nvPr/>
        </p:nvSpPr>
        <p:spPr>
          <a:xfrm>
            <a:off x="6368796"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إِذَا دُعِيتَ إِلَى مَنْزِلٍ، يُسْتَحْسَنُ أَنْ تُحْضِرَ هَدِيَّةً.</a:t>
            </a:r>
            <a:endParaRPr lang="ar-SA" sz="2050" dirty="0"/>
          </a:p>
        </p:txBody>
      </p:sp>
      <p:sp>
        <p:nvSpPr>
          <p:cNvPr id="41" name="Shape 38"/>
          <p:cNvSpPr/>
          <p:nvPr/>
        </p:nvSpPr>
        <p:spPr>
          <a:xfrm>
            <a:off x="6368796"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دُعِيتَ إِلَى مَنْزِلٍ.</a:t>
            </a:r>
            <a:endParaRPr lang="ar-SA" sz="2050" dirty="0"/>
          </a:p>
        </p:txBody>
      </p:sp>
      <p:sp>
        <p:nvSpPr>
          <p:cNvPr id="44" name="Shape 41"/>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585216" y="4288536"/>
            <a:ext cx="310896" cy="310896"/>
          </a:xfrm>
          <a:prstGeom prst="ellipse">
            <a:avLst/>
          </a:prstGeom>
          <a:solidFill>
            <a:srgbClr val="1B3B6F"/>
          </a:solidFill>
          <a:ln w="12700">
            <a:solidFill>
              <a:srgbClr val="1B3B6F"/>
            </a:solidFill>
            <a:prstDash val="solid"/>
          </a:ln>
        </p:spPr>
      </p:sp>
      <p:sp>
        <p:nvSpPr>
          <p:cNvPr id="46" name="Text 4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47" name="Text 44"/>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is the Type 2 reflection?</a:t>
            </a:r>
            <a:endParaRPr lang="en-US" sz="125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إِذَا تَعَلَّمْتُ العَرَبِيَّةَ، سَتَكُونُ التَّجْرِبَةُ أَعْمَقَ.</a:t>
            </a:r>
            <a:endParaRPr lang="ar-SA" sz="200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لَوْ تَعَلَّمْتُ العَرَبِيَّةَ قَبْلَ الرِّحْلَةِ، لَكَانَتِ التَّجْرِبَةُ أَعْمَقَ.</a:t>
            </a:r>
            <a:endParaRPr lang="ar-SA" sz="200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أَتَعَلَّمُ العَرَبِيَّةَ.</a:t>
            </a:r>
            <a:endParaRPr lang="ar-SA" sz="200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60" name="Text 57"/>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is </a:t>
            </a:r>
            <a:pPr algn="l" indent="0" marL="0">
              <a:buNone/>
            </a:pPr>
            <a:r>
              <a:rPr lang="ar-SA" altLang="en-US" sz="1650" b="1" dirty="0">
                <a:solidFill>
                  <a:srgbClr val="1B3B6F"/>
                </a:solidFill>
                <a:latin typeface="Amiri" pitchFamily="34" charset="0"/>
                <a:ea typeface="Amiri" pitchFamily="34" charset="-122"/>
                <a:cs typeface="Amiri" pitchFamily="34" charset="-120"/>
              </a:rPr>
              <a:t>يُسْتَحْسَنُ أَنْ</a:t>
            </a:r>
            <a:pPr algn="l" indent="0" marL="0">
              <a:buNone/>
            </a:pPr>
            <a:r>
              <a:rPr lang="en-US" sz="1250" b="1" dirty="0">
                <a:solidFill>
                  <a:srgbClr val="1B3B6F"/>
                </a:solidFill>
                <a:latin typeface="Calibri" pitchFamily="34" charset="0"/>
                <a:ea typeface="Calibri" pitchFamily="34" charset="-122"/>
                <a:cs typeface="Calibri" pitchFamily="34" charset="-120"/>
              </a:rPr>
              <a:t> different from </a:t>
            </a:r>
            <a:pPr algn="l" indent="0" marL="0">
              <a:buNone/>
            </a:pPr>
            <a:r>
              <a:rPr lang="ar-SA" altLang="en-US" sz="1650" b="1" dirty="0">
                <a:solidFill>
                  <a:srgbClr val="1B3B6F"/>
                </a:solidFill>
                <a:latin typeface="Amiri" pitchFamily="34" charset="0"/>
                <a:ea typeface="Amiri" pitchFamily="34" charset="-122"/>
                <a:cs typeface="Amiri" pitchFamily="34" charset="-120"/>
              </a:rPr>
              <a:t>يَجِبُ أَنْ</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is a command</a:t>
            </a:r>
            <a:endParaRPr lang="en-US" sz="12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is a prohibition</a:t>
            </a:r>
            <a:endParaRPr lang="en-US" sz="12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is softer, more polite advice</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30 / 52</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TE-L08 · Cultural Exchange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TE-L08</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يَسْمَحُ المَتْحَفُ ___ التَّصْوِيرِ دُونَ فَلَاشٍ.</a:t>
            </a:r>
            <a:endParaRPr lang="ar-SA" sz="1500" dirty="0"/>
          </a:p>
        </p:txBody>
      </p:sp>
      <p:sp>
        <p:nvSpPr>
          <p:cNvPr id="22" name="Shape 19"/>
          <p:cNvSpPr/>
          <p:nvPr/>
        </p:nvSpPr>
        <p:spPr>
          <a:xfrm>
            <a:off x="640080" y="2490216"/>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4" name="Text 21"/>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عَنْ</a:t>
            </a:r>
            <a:endParaRPr lang="ar-SA" sz="1700" dirty="0"/>
          </a:p>
        </p:txBody>
      </p:sp>
      <p:sp>
        <p:nvSpPr>
          <p:cNvPr id="25" name="Shape 22"/>
          <p:cNvSpPr/>
          <p:nvPr/>
        </p:nvSpPr>
        <p:spPr>
          <a:xfrm>
            <a:off x="640080" y="2862072"/>
            <a:ext cx="256032" cy="256032"/>
          </a:xfrm>
          <a:prstGeom prst="ellipse">
            <a:avLst/>
          </a:prstGeom>
          <a:solidFill>
            <a:srgbClr val="C9CED6"/>
          </a:solidFill>
          <a:ln w="12700">
            <a:solidFill>
              <a:srgbClr val="C9CED6"/>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7" name="Text 24"/>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إِلَى</a:t>
            </a:r>
            <a:endParaRPr lang="ar-SA" sz="1700" dirty="0"/>
          </a:p>
        </p:txBody>
      </p:sp>
      <p:sp>
        <p:nvSpPr>
          <p:cNvPr id="28" name="Shape 25"/>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9" name="Shape 26"/>
          <p:cNvSpPr/>
          <p:nvPr/>
        </p:nvSpPr>
        <p:spPr>
          <a:xfrm>
            <a:off x="640080" y="3233928"/>
            <a:ext cx="256032" cy="256032"/>
          </a:xfrm>
          <a:prstGeom prst="ellipse">
            <a:avLst/>
          </a:prstGeom>
          <a:solidFill>
            <a:srgbClr val="2E8B57"/>
          </a:solidFill>
          <a:ln w="12700">
            <a:solidFill>
              <a:srgbClr val="2E8B57"/>
            </a:solidFill>
            <a:prstDash val="solid"/>
          </a:ln>
        </p:spPr>
      </p:sp>
      <p:sp>
        <p:nvSpPr>
          <p:cNvPr id="30" name="Text 27"/>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31" name="Text 28"/>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بِـ</a:t>
            </a:r>
            <a:endParaRPr lang="ar-SA" sz="1700" dirty="0"/>
          </a:p>
        </p:txBody>
      </p:sp>
      <p:sp>
        <p:nvSpPr>
          <p:cNvPr id="32" name="Text 29"/>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يَسْمَحُ</a:t>
            </a:r>
            <a:pPr algn="l" indent="0" marL="0">
              <a:buNone/>
            </a:pPr>
            <a:r>
              <a:rPr lang="en-US" sz="1050" i="1" dirty="0">
                <a:solidFill>
                  <a:srgbClr val="8A6D1E"/>
                </a:solidFill>
                <a:latin typeface="Calibri" pitchFamily="34" charset="0"/>
                <a:ea typeface="Calibri" pitchFamily="34" charset="-122"/>
                <a:cs typeface="Calibri" pitchFamily="34" charset="-120"/>
              </a:rPr>
              <a:t> is fixed with </a:t>
            </a:r>
            <a:pPr algn="l" indent="0" marL="0">
              <a:buNone/>
            </a:pPr>
            <a:r>
              <a:rPr lang="ar-SA" altLang="en-US" sz="1350" dirty="0">
                <a:solidFill>
                  <a:srgbClr val="8A6D1E"/>
                </a:solidFill>
                <a:latin typeface="Amiri" pitchFamily="34" charset="0"/>
                <a:ea typeface="Amiri" pitchFamily="34" charset="-122"/>
                <a:cs typeface="Amiri" pitchFamily="34" charset="-120"/>
              </a:rPr>
              <a:t>بِـ</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33" name="Shape 30"/>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313932" y="1947672"/>
            <a:ext cx="310896" cy="310896"/>
          </a:xfrm>
          <a:prstGeom prst="ellipse">
            <a:avLst/>
          </a:prstGeom>
          <a:solidFill>
            <a:srgbClr val="1B3B6F"/>
          </a:solidFill>
          <a:ln w="12700">
            <a:solidFill>
              <a:srgbClr val="1B3B6F"/>
            </a:solidFill>
            <a:prstDash val="solid"/>
          </a:ln>
        </p:spPr>
      </p:sp>
      <p:sp>
        <p:nvSpPr>
          <p:cNvPr id="35" name="Text 3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6" name="Text 33"/>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is polite advice for a scenario (Type 1 + modal)?</a:t>
            </a:r>
            <a:endParaRPr lang="en-US" sz="1250" dirty="0"/>
          </a:p>
        </p:txBody>
      </p:sp>
      <p:sp>
        <p:nvSpPr>
          <p:cNvPr id="37" name="Shape 34"/>
          <p:cNvSpPr/>
          <p:nvPr/>
        </p:nvSpPr>
        <p:spPr>
          <a:xfrm>
            <a:off x="6368796" y="2490216"/>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إِذَا دُعِيتَ إِلَى مَنْزِلٍ، تُحْضِرُ هَدِيَّةً.</a:t>
            </a:r>
            <a:endParaRPr lang="ar-SA" sz="1700" dirty="0"/>
          </a:p>
        </p:txBody>
      </p:sp>
      <p:sp>
        <p:nvSpPr>
          <p:cNvPr id="40" name="Shape 37"/>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2862072"/>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3" name="Text 40"/>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إِذَا دُعِيتَ إِلَى مَنْزِلٍ، يُسْتَحْسَنُ أَنْ تُحْضِرَ هَدِيَّةً.</a:t>
            </a:r>
            <a:endParaRPr lang="ar-SA" sz="1700" dirty="0"/>
          </a:p>
        </p:txBody>
      </p:sp>
      <p:sp>
        <p:nvSpPr>
          <p:cNvPr id="44" name="Shape 41"/>
          <p:cNvSpPr/>
          <p:nvPr/>
        </p:nvSpPr>
        <p:spPr>
          <a:xfrm>
            <a:off x="6368796" y="3233928"/>
            <a:ext cx="256032" cy="256032"/>
          </a:xfrm>
          <a:prstGeom prst="ellipse">
            <a:avLst/>
          </a:prstGeom>
          <a:solidFill>
            <a:srgbClr val="C9CED6"/>
          </a:solidFill>
          <a:ln w="12700">
            <a:solidFill>
              <a:srgbClr val="C9CED6"/>
            </a:solidFill>
            <a:prstDash val="solid"/>
          </a:ln>
        </p:spPr>
      </p:sp>
      <p:sp>
        <p:nvSpPr>
          <p:cNvPr id="45" name="Text 42"/>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6" name="Text 43"/>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دُعِيتَ إِلَى مَنْزِلٍ.</a:t>
            </a:r>
            <a:endParaRPr lang="ar-SA" sz="1700" dirty="0"/>
          </a:p>
        </p:txBody>
      </p:sp>
      <p:sp>
        <p:nvSpPr>
          <p:cNvPr id="47" name="Text 44"/>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It combines a Type 1 scenario with </a:t>
            </a:r>
            <a:pPr algn="l" indent="0" marL="0">
              <a:buNone/>
            </a:pPr>
            <a:r>
              <a:rPr lang="ar-SA" altLang="en-US" sz="1350" dirty="0">
                <a:solidFill>
                  <a:srgbClr val="8A6D1E"/>
                </a:solidFill>
                <a:latin typeface="Amiri" pitchFamily="34" charset="0"/>
                <a:ea typeface="Amiri" pitchFamily="34" charset="-122"/>
                <a:cs typeface="Amiri" pitchFamily="34" charset="-120"/>
              </a:rPr>
              <a:t>يُسْتَحْسَنُ أَنْ</a:t>
            </a:r>
            <a:pPr algn="l" indent="0" marL="0">
              <a:buNone/>
            </a:pPr>
            <a:r>
              <a:rPr lang="en-US" sz="1050" i="1" dirty="0">
                <a:solidFill>
                  <a:srgbClr val="8A6D1E"/>
                </a:solidFill>
                <a:latin typeface="Calibri" pitchFamily="34" charset="0"/>
                <a:ea typeface="Calibri" pitchFamily="34" charset="-122"/>
                <a:cs typeface="Calibri" pitchFamily="34" charset="-120"/>
              </a:rPr>
              <a:t> + subjunctive.</a:t>
            </a:r>
            <a:endParaRPr lang="en-US" sz="1050" dirty="0"/>
          </a:p>
        </p:txBody>
      </p:sp>
      <p:sp>
        <p:nvSpPr>
          <p:cNvPr id="48" name="Shape 45"/>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85216" y="4288536"/>
            <a:ext cx="310896" cy="310896"/>
          </a:xfrm>
          <a:prstGeom prst="ellipse">
            <a:avLst/>
          </a:prstGeom>
          <a:solidFill>
            <a:srgbClr val="1B3B6F"/>
          </a:solidFill>
          <a:ln w="12700">
            <a:solidFill>
              <a:srgbClr val="1B3B6F"/>
            </a:solidFill>
            <a:prstDash val="solid"/>
          </a:ln>
        </p:spPr>
      </p:sp>
      <p:sp>
        <p:nvSpPr>
          <p:cNvPr id="50" name="Text 4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51" name="Text 48"/>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is the Type 2 reflection?</a:t>
            </a:r>
            <a:endParaRPr lang="en-US" sz="125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إِذَا تَعَلَّمْتُ العَرَبِيَّةَ، سَتَكُونُ التَّجْرِبَةُ أَعْمَقَ.</a:t>
            </a:r>
            <a:endParaRPr lang="ar-SA" sz="170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لَوْ تَعَلَّمْتُ العَرَبِيَّةَ قَبْلَ الرِّحْلَةِ، لَكَانَتِ التَّجْرِبَةُ أَعْمَقَ.</a:t>
            </a:r>
            <a:endParaRPr lang="ar-SA" sz="170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أَتَعَلَّمُ العَرَبِيَّةَ.</a:t>
            </a:r>
            <a:endParaRPr lang="ar-SA" sz="170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لَوْ … لَـ</a:t>
            </a:r>
            <a:pPr algn="l" indent="0" marL="0">
              <a:buNone/>
            </a:pPr>
            <a:r>
              <a:rPr lang="en-US" sz="1050" i="1" dirty="0">
                <a:solidFill>
                  <a:srgbClr val="8A6D1E"/>
                </a:solidFill>
                <a:latin typeface="Calibri" pitchFamily="34" charset="0"/>
                <a:ea typeface="Calibri" pitchFamily="34" charset="-122"/>
                <a:cs typeface="Calibri" pitchFamily="34" charset="-120"/>
              </a:rPr>
              <a:t> is the counterfactual reflection.</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66" name="Text 63"/>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is </a:t>
            </a:r>
            <a:pPr algn="l" indent="0" marL="0">
              <a:buNone/>
            </a:pPr>
            <a:r>
              <a:rPr lang="ar-SA" altLang="en-US" sz="1650" b="1" dirty="0">
                <a:solidFill>
                  <a:srgbClr val="1B3B6F"/>
                </a:solidFill>
                <a:latin typeface="Amiri" pitchFamily="34" charset="0"/>
                <a:ea typeface="Amiri" pitchFamily="34" charset="-122"/>
                <a:cs typeface="Amiri" pitchFamily="34" charset="-120"/>
              </a:rPr>
              <a:t>يُسْتَحْسَنُ أَنْ</a:t>
            </a:r>
            <a:pPr algn="l" indent="0" marL="0">
              <a:buNone/>
            </a:pPr>
            <a:r>
              <a:rPr lang="en-US" sz="1250" b="1" dirty="0">
                <a:solidFill>
                  <a:srgbClr val="1B3B6F"/>
                </a:solidFill>
                <a:latin typeface="Calibri" pitchFamily="34" charset="0"/>
                <a:ea typeface="Calibri" pitchFamily="34" charset="-122"/>
                <a:cs typeface="Calibri" pitchFamily="34" charset="-120"/>
              </a:rPr>
              <a:t> different from </a:t>
            </a:r>
            <a:pPr algn="l" indent="0" marL="0">
              <a:buNone/>
            </a:pPr>
            <a:r>
              <a:rPr lang="ar-SA" altLang="en-US" sz="1650" b="1" dirty="0">
                <a:solidFill>
                  <a:srgbClr val="1B3B6F"/>
                </a:solidFill>
                <a:latin typeface="Amiri" pitchFamily="34" charset="0"/>
                <a:ea typeface="Amiri" pitchFamily="34" charset="-122"/>
                <a:cs typeface="Amiri" pitchFamily="34" charset="-120"/>
              </a:rPr>
              <a:t>يَجِبُ أَنْ</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67" name="Shape 64"/>
          <p:cNvSpPr/>
          <p:nvPr/>
        </p:nvSpPr>
        <p:spPr>
          <a:xfrm>
            <a:off x="6368796" y="4831080"/>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It is a command</a:t>
            </a:r>
            <a:endParaRPr lang="en-US" sz="125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It is a prohibition</a:t>
            </a:r>
            <a:endParaRPr lang="en-US" sz="1250" dirty="0"/>
          </a:p>
        </p:txBody>
      </p:sp>
      <p:sp>
        <p:nvSpPr>
          <p:cNvPr id="73" name="Shape 70"/>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6368796" y="557479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It is softer, more polite advice</a:t>
            </a:r>
            <a:endParaRPr lang="en-US" sz="125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يُسْتَحْسَنُ أَنْ</a:t>
            </a:r>
            <a:pPr algn="l" indent="0" marL="0">
              <a:buNone/>
            </a:pPr>
            <a:r>
              <a:rPr lang="en-US" sz="1050" i="1" dirty="0">
                <a:solidFill>
                  <a:srgbClr val="8A6D1E"/>
                </a:solidFill>
                <a:latin typeface="Calibri" pitchFamily="34" charset="0"/>
                <a:ea typeface="Calibri" pitchFamily="34" charset="-122"/>
                <a:cs typeface="Calibri" pitchFamily="34" charset="-120"/>
              </a:rPr>
              <a:t> is gentler advice than the obligation </a:t>
            </a:r>
            <a:pPr algn="l" indent="0" marL="0">
              <a:buNone/>
            </a:pPr>
            <a:r>
              <a:rPr lang="ar-SA" altLang="en-US" sz="1350" dirty="0">
                <a:solidFill>
                  <a:srgbClr val="8A6D1E"/>
                </a:solidFill>
                <a:latin typeface="Amiri" pitchFamily="34" charset="0"/>
                <a:ea typeface="Amiri" pitchFamily="34" charset="-122"/>
                <a:cs typeface="Amiri" pitchFamily="34" charset="-120"/>
              </a:rPr>
              <a:t>يَجِبُ أَنْ</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31 / 52</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TE-L08 · Cultural Exchange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TE-L08</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يُسْتَحْسَنُ أَنْ يَتَعَلَّمُ الزَّائِرُ التَّحِيَّةَ.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an + -u?</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يَحْظُرُ القَانُونُ بِالتَّصْوِيرِ.</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yaḥẓur + bi-?</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يَسْمَحُ المَتْحَفُ التَّصْوِيرَ.</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yasmaḥ + no bi-?</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32 / 52</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TE-L08 · Cultural Exchange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TE-L08</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يُسْتَحْسَنُ أَنْ يَتَعَلَّمُ الزَّائِرُ التَّحِيَّةَ.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يُسْتَحْسَنُ أَنْ يَتَعَلَّمَ الزَّائِرُ التَّحِيَّةَ.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The verb after </a:t>
            </a:r>
            <a:pPr algn="l" indent="0" marL="0">
              <a:buNone/>
            </a:pPr>
            <a:r>
              <a:rPr lang="ar-SA" altLang="en-US" sz="1500" b="1" dirty="0">
                <a:solidFill>
                  <a:srgbClr val="1B3B6F"/>
                </a:solidFill>
                <a:latin typeface="Amiri" pitchFamily="34" charset="0"/>
                <a:ea typeface="Amiri" pitchFamily="34" charset="-122"/>
                <a:cs typeface="Amiri" pitchFamily="34" charset="-120"/>
              </a:rPr>
              <a:t>أَنْ</a:t>
            </a:r>
            <a:pPr algn="l" indent="0" marL="0">
              <a:buNone/>
            </a:pPr>
            <a:r>
              <a:rPr lang="en-US" sz="1150" b="1" dirty="0">
                <a:solidFill>
                  <a:srgbClr val="1B3B6F"/>
                </a:solidFill>
                <a:latin typeface="Calibri" pitchFamily="34" charset="0"/>
                <a:ea typeface="Calibri" pitchFamily="34" charset="-122"/>
                <a:cs typeface="Calibri" pitchFamily="34" charset="-120"/>
              </a:rPr>
              <a:t> is subjunctive: </a:t>
            </a:r>
            <a:pPr algn="l" indent="0" marL="0">
              <a:buNone/>
            </a:pPr>
            <a:r>
              <a:rPr lang="ar-SA" altLang="en-US" sz="1500" b="1" dirty="0">
                <a:solidFill>
                  <a:srgbClr val="1B3B6F"/>
                </a:solidFill>
                <a:latin typeface="Amiri" pitchFamily="34" charset="0"/>
                <a:ea typeface="Amiri" pitchFamily="34" charset="-122"/>
                <a:cs typeface="Amiri" pitchFamily="34" charset="-120"/>
              </a:rPr>
              <a:t>يَتَعَلَّمَ</a:t>
            </a:r>
            <a:pPr algn="l" indent="0" marL="0">
              <a:buNone/>
            </a:pPr>
            <a:r>
              <a:rPr lang="en-US" sz="1150" b="1" dirty="0">
                <a:solidFill>
                  <a:srgbClr val="1B3B6F"/>
                </a:solidFill>
                <a:latin typeface="Calibri" pitchFamily="34" charset="0"/>
                <a:ea typeface="Calibri" pitchFamily="34" charset="-122"/>
                <a:cs typeface="Calibri" pitchFamily="34" charset="-120"/>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يَحْظُرُ القَانُونُ بِالتَّصْوِيرِ.</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يَحْظُرُ القَانُونُ التَّصْوِيرَ.</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34" charset="0"/>
                <a:ea typeface="Amiri" pitchFamily="34" charset="-122"/>
                <a:cs typeface="Amiri" pitchFamily="34" charset="-120"/>
              </a:rPr>
              <a:t>يَحْظُرُ</a:t>
            </a:r>
            <a:pPr algn="l" indent="0" marL="0">
              <a:buNone/>
            </a:pPr>
            <a:r>
              <a:rPr lang="en-US" sz="1150" b="1" dirty="0">
                <a:solidFill>
                  <a:srgbClr val="1B3B6F"/>
                </a:solidFill>
                <a:latin typeface="Calibri" pitchFamily="34" charset="0"/>
                <a:ea typeface="Calibri" pitchFamily="34" charset="-122"/>
                <a:cs typeface="Calibri" pitchFamily="34" charset="-120"/>
              </a:rPr>
              <a:t> takes a direct object.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يَسْمَحُ المَتْحَفُ التَّصْوِيرَ.</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يَسْمَحُ المَتْحَفُ بِالتَّصْوِيرِ.</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34" charset="0"/>
                <a:ea typeface="Amiri" pitchFamily="34" charset="-122"/>
                <a:cs typeface="Amiri" pitchFamily="34" charset="-120"/>
              </a:rPr>
              <a:t>يَسْمَحُ</a:t>
            </a:r>
            <a:pPr algn="l" indent="0" marL="0">
              <a:buNone/>
            </a:pPr>
            <a:r>
              <a:rPr lang="en-US" sz="1150" b="1" dirty="0">
                <a:solidFill>
                  <a:srgbClr val="1B3B6F"/>
                </a:solidFill>
                <a:latin typeface="Calibri" pitchFamily="34" charset="0"/>
                <a:ea typeface="Calibri" pitchFamily="34" charset="-122"/>
                <a:cs typeface="Calibri" pitchFamily="34" charset="-120"/>
              </a:rPr>
              <a:t> is fixed with </a:t>
            </a:r>
            <a:pPr algn="l" indent="0" marL="0">
              <a:buNone/>
            </a:pPr>
            <a:r>
              <a:rPr lang="ar-SA" altLang="en-US" sz="1500" b="1" dirty="0">
                <a:solidFill>
                  <a:srgbClr val="1B3B6F"/>
                </a:solidFill>
                <a:latin typeface="Amiri" pitchFamily="34" charset="0"/>
                <a:ea typeface="Amiri" pitchFamily="34" charset="-122"/>
                <a:cs typeface="Amiri" pitchFamily="34" charset="-120"/>
              </a:rPr>
              <a:t>بِـ</a:t>
            </a:r>
            <a:pPr algn="l" indent="0" marL="0">
              <a:buNone/>
            </a:pPr>
            <a:r>
              <a:rPr lang="en-US" sz="1150" b="1" dirty="0">
                <a:solidFill>
                  <a:srgbClr val="1B3B6F"/>
                </a:solidFill>
                <a:latin typeface="Calibri" pitchFamily="34" charset="0"/>
                <a:ea typeface="Calibri" pitchFamily="34" charset="-122"/>
                <a:cs typeface="Calibri" pitchFamily="34" charset="-120"/>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33 / 52</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TE-L08 · Cultural Exchange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ea typeface="Cambria" pitchFamily="34" charset="-122"/>
                <a:cs typeface="Cambria" pitchFamily="34" charset="-120"/>
              </a:rPr>
              <a:t>Listening: advice for a respectful visitor</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described as a pillar of a successful trip?</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Cultural respect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Cheap flights</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Fast transport</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it preferable for a visitor to wear?</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Bright colours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uniform</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Modest clothing in public places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must you do if you visit a mosque?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Take photos</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Speak loudly</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Take off your shoes and cover your head</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did the local guide say about greetings?</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Learning the Arabic greeting expresses deep respect</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Greetings are unimportant</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Greetings are forbidden</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Type 2 reflection?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Language does not matter</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000" dirty="0">
                <a:solidFill>
                  <a:srgbClr val="1F2A37"/>
                </a:solidFill>
                <a:latin typeface="Calibri" pitchFamily="34" charset="0"/>
                <a:ea typeface="Calibri" pitchFamily="34" charset="-122"/>
                <a:cs typeface="Calibri" pitchFamily="34" charset="-120"/>
              </a:rPr>
              <a:t>Had every tourist learned some of the language, cultural exchange would have been deeper</a:t>
            </a:r>
            <a:endParaRPr lang="en-US" sz="100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Tourists refuse to learn</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Listen twice. Core: questions 1, 2 and 3.</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Listen for: yustaḥsan an · yajib an · yaḥẓur.</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34 / 52</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TE-L08 · Cultural Exchange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ea typeface="Cambria" pitchFamily="34" charset="-122"/>
                <a:cs typeface="Cambria" pitchFamily="34" charset="-120"/>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TE-L08</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34" charset="0"/>
                <a:ea typeface="Amiri" pitchFamily="34" charset="-122"/>
                <a:cs typeface="Amiri" pitchFamily="34" charset="-120"/>
              </a:rPr>
              <a:t>يُعْتَبَرُ الاحْتِرَامُ الثَّقَافِيُّ رَكِيزَةً أَسَاسِيَّةً لِأَيِّ رِحْلَةٍ نَاجِحَةٍ إِلَى العَالَمِ العَرَبِيِّ. يُشَارُ إِلَى أَنَّ الزُّوَّارَ الَّذِينَ يَحْتَرِمُونَ العَادَاتِ المَحَلِّيَّةَ يَحْظَوْنَ بِاسْتِقْبَالٍ أَدْفَأَ.</a:t>
            </a:r>
            <a:endParaRPr lang="ar-SA" sz="155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Cultural respect is considered a cornerstone of any successful trip to the Arab world. It is noted that visitors who respect local customs receive a warmer welcome.</a:t>
            </a:r>
            <a:endParaRPr lang="en-US" sz="120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34" charset="0"/>
                <a:ea typeface="Amiri" pitchFamily="34" charset="-122"/>
                <a:cs typeface="Amiri" pitchFamily="34" charset="-120"/>
              </a:rPr>
              <a:t>يُسْتَحْسَنُ أَنْ يَرْتَدِيَ الزَّائِرُ مَلَابِسَ مُحْتَشِمَةً فِي الأَمَاكِنِ العَامَّةِ. وَإِذَا زُرْتَ مَسْجِدًا، يَجِبُ أَنْ تَخْلَعَ حِذَاءَكَ وَتُغَطِّيَ رَأْسَكَ.</a:t>
            </a:r>
            <a:endParaRPr lang="ar-SA" sz="155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is preferable for the visitor to wear modest clothing in public places. And if you visit a mosque, you must take off your shoes and cover your head.</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كَمَا يَحْظُرُ بَعْضُ المَوَاقِعِ التَّصْوِيرَ، بَيْنَمَا تَسْمَحُ مَوَاقِعُ أُخْرَى بِهِ دُونَ فَلَاشٍ.</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Some sites also prohibit photography, while other sites allow it without flash.</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34" charset="0"/>
                <a:ea typeface="Amiri" pitchFamily="34" charset="-122"/>
                <a:cs typeface="Amiri" pitchFamily="34" charset="-120"/>
              </a:rPr>
              <a:t>وَأَخْبَرَنِي مُرْشِدٌ مَحَلِّيٌّ أَنَّهُ مِنَ المُسْتَحْسَنِ تَعَلُّمُ التَّحِيَّةِ العَرَبِيَّةِ، وَقَالَ إِنَّ هٰذِهِ البَادِرَةَ تُعَبِّرُ عَنِ احْتِرَامٍ عَمِيقٍ.</a:t>
            </a:r>
            <a:endParaRPr lang="ar-SA" sz="155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local guide told me that it is good to learn the Arabic greeting, and said that this gesture expresses deep respect.</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وَلَوْ تَعَلَّمَ كُلُّ سَائِحٍ شَيْئًا مِنْ لُغَةِ البَلَدِ، لَكَانَ التَّبَادُلُ الثَّقَافِيُّ أَعْمَقَ وَأَغْنَى.</a:t>
            </a:r>
            <a:endParaRPr lang="ar-SA" sz="19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And had every tourist learned some of the country’s language, cultural exchange would have been deeper and richer.</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35 / 52</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TE-L08 · Cultural Exchange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described as a pillar of a successful trip?</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Cultural respect</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Cheap flights</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Fast transport</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يُعْتَبَرُ الاحْتِرَامُ الثَّقَافِيُّ رَكِيزَةً أَسَاسِيَّةً.</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it preferable for a visitor to wear?</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Bright colours</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uniform</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Modest clothing in public places</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يُسْتَحْسَنُ أَنْ يَرْتَدِيَ الزَّائِرُ مَلَابِسَ مُحْتَشِمَةً.</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must you do if you visit a mosque?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Take photos</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Speak loudly</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ea typeface="Calibri" pitchFamily="34" charset="-122"/>
                <a:cs typeface="Calibri" pitchFamily="34" charset="-120"/>
              </a:rPr>
              <a:t>Take off your shoes and cover your head</a:t>
            </a:r>
            <a:endParaRPr lang="en-US" sz="12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يَجِبُ أَنْ تَخْلَعَ حِذَاءَكَ وَتُغَطِّيَ رَأْسَكَ.</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did the local guide say about greetings?</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Learning the Arabic greeting expresses deep respect</a:t>
            </a:r>
            <a:endParaRPr lang="en-US" sz="11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Greetings are unimportant</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Greetings are forbidden</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قَالَ إِنَّ هٰذِهِ البَادِرَةَ تُعَبِّرُ عَنِ احْتِرَامٍ عَمِيقٍ.</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Type 2 reflection?</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Language does not matter</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000" b="1" dirty="0">
                <a:solidFill>
                  <a:srgbClr val="1F2A37"/>
                </a:solidFill>
                <a:latin typeface="Calibri" pitchFamily="34" charset="0"/>
                <a:ea typeface="Calibri" pitchFamily="34" charset="-122"/>
                <a:cs typeface="Calibri" pitchFamily="34" charset="-120"/>
              </a:rPr>
              <a:t>Had every tourist learned some of the language, cultural exchange would have been deeper</a:t>
            </a:r>
            <a:endParaRPr lang="en-US" sz="10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Tourists refuse to learn</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050" dirty="0">
                <a:solidFill>
                  <a:srgbClr val="8A6D1E"/>
                </a:solidFill>
                <a:latin typeface="Amiri" pitchFamily="34" charset="0"/>
                <a:ea typeface="Amiri" pitchFamily="34" charset="-122"/>
                <a:cs typeface="Amiri" pitchFamily="34" charset="-120"/>
              </a:rPr>
              <a:t>لَوْ تَعَلَّمَ كُلُّ سَائِحٍ شَيْئًا مِنْ لُغَةِ البَلَدِ، لَكَانَ التَّبَادُلُ الثَّقَافِيُّ أَعْمَقَ.</a:t>
            </a:r>
            <a:endParaRPr lang="ar-SA"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Listen twice. Core: questions 1, 2 and 3.</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Listen for: yustaḥsan an · yajib an · yaḥẓur.</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36 / 52</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TE-L08 · Cultural Exchange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TOPIC E APPLICATION CHALLENGE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Respectful visitor role-play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تَحَدِّي التَّطْبِيقِ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TE-L08</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TOPIC E CHALLENGE · WEBSITE</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ea typeface="Calibri" pitchFamily="34" charset="-122"/>
                <a:cs typeface="Calibri" pitchFamily="34" charset="-120"/>
              </a:rPr>
              <a:t>🧳  Respectful visitor role-play</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ea typeface="Calibri" pitchFamily="34" charset="-122"/>
                <a:cs typeface="Calibri" pitchFamily="34" charset="-120"/>
              </a:rPr>
              <a:t>Solve a cultural-exchange scenario involving greeting, invitation or local custom. Ask rather than assume, then explain the most respectful response.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Pairs get a scenario card: greeting, invitation or local custom (in the notes).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Role-play it: the visitor ASKS rather than assumes.</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Agree the most respectful response.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Explain it to the class with a reason (li-anna …).</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Ask one polite question: “hal yumkinu an …?”</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Role-play + explain with past experience (zurtu … wa-taʿallamtu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Role-play + cause and result (fa-li-dhālika …) and a future intention.</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34" charset="0"/>
                <a:ea typeface="Amiri" pitchFamily="34" charset="-122"/>
                <a:cs typeface="Amiri" pitchFamily="34" charset="-120"/>
              </a:rPr>
              <a:t>هَلْ يُمْكِنُ أَنْ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ea typeface="Calibri" pitchFamily="34" charset="-122"/>
                <a:cs typeface="Calibri" pitchFamily="34" charset="-120"/>
              </a:rPr>
              <a:t>is it possible to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34" charset="0"/>
                <a:ea typeface="Amiri" pitchFamily="34" charset="-122"/>
                <a:cs typeface="Amiri" pitchFamily="34" charset="-120"/>
              </a:rPr>
              <a:t>مَا العَادَةُ هُنَا؟</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ea typeface="Calibri" pitchFamily="34" charset="-122"/>
                <a:cs typeface="Calibri" pitchFamily="34" charset="-120"/>
              </a:rPr>
              <a:t>what is the custom here?</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34" charset="0"/>
                <a:ea typeface="Amiri" pitchFamily="34" charset="-122"/>
                <a:cs typeface="Amiri" pitchFamily="34" charset="-120"/>
              </a:rPr>
              <a:t>احْتِرَامًا لِلْعَادَاتِ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ea typeface="Calibri" pitchFamily="34" charset="-122"/>
                <a:cs typeface="Calibri" pitchFamily="34" charset="-120"/>
              </a:rPr>
              <a:t>out of respect for the customs</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34" charset="0"/>
                <a:ea typeface="Amiri" pitchFamily="34" charset="-122"/>
                <a:cs typeface="Amiri" pitchFamily="34" charset="-120"/>
              </a:rPr>
              <a:t>لِذٰلِكَ سَأَسْأَلُ أَوَّلًا</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ea typeface="Calibri" pitchFamily="34" charset="-122"/>
                <a:cs typeface="Calibri" pitchFamily="34" charset="-120"/>
              </a:rPr>
              <a:t>so I will ask first</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37 / 52</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TE-L08 · Cultural Exchange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SAY IT BEFORE YOU WRITE IT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Speaking: advise a visitor</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التَّحَدُّثُ</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TE-L08</a:t>
            </a:r>
            <a:endParaRPr lang="en-US" sz="850" dirty="0"/>
          </a:p>
        </p:txBody>
      </p:sp>
      <p:sp>
        <p:nvSpPr>
          <p:cNvPr id="17" name="Shape 14"/>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8" name="Text 15"/>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19" name="Text 16"/>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Think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10 seconds</a:t>
            </a:r>
            <a:endParaRPr lang="en-US" sz="1050" dirty="0"/>
          </a:p>
        </p:txBody>
      </p:sp>
      <p:sp>
        <p:nvSpPr>
          <p:cNvPr id="20" name="Shape 17"/>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21" name="Text 18"/>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2" name="Text 19"/>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Rehearse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muted · 45 s</a:t>
            </a:r>
            <a:endParaRPr lang="en-US" sz="1050" dirty="0"/>
          </a:p>
        </p:txBody>
      </p:sp>
      <p:sp>
        <p:nvSpPr>
          <p:cNvPr id="23" name="Shape 20"/>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4" name="Text 21"/>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5" name="Text 22"/>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Pairs share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open mic</a:t>
            </a:r>
            <a:endParaRPr lang="en-US" sz="1050" dirty="0"/>
          </a:p>
        </p:txBody>
      </p:sp>
      <p:sp>
        <p:nvSpPr>
          <p:cNvPr id="26" name="Shape 23"/>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7" name="Text 24"/>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 ?</a:t>
            </a:r>
            <a:endParaRPr lang="en-US" sz="1800" dirty="0"/>
          </a:p>
        </p:txBody>
      </p:sp>
      <p:sp>
        <p:nvSpPr>
          <p:cNvPr id="28" name="Text 25"/>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Build / ask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in the chat</a:t>
            </a:r>
            <a:endParaRPr lang="en-US" sz="1050" dirty="0"/>
          </a:p>
        </p:txBody>
      </p:sp>
      <p:sp>
        <p:nvSpPr>
          <p:cNvPr id="29" name="Shape 26"/>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30" name="Text 27"/>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31" name="Text 28"/>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Summarise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he / she …</a:t>
            </a:r>
            <a:endParaRPr lang="en-US" sz="1050" dirty="0"/>
          </a:p>
        </p:txBody>
      </p:sp>
      <p:sp>
        <p:nvSpPr>
          <p:cNvPr id="32" name="Shape 29"/>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5" name="Text 32"/>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بِمَ تَنْصَحُ زَائِرًا؟ اسْتَعْمِلْ «يُسْتَحْسَنُ أَنْ».</a:t>
            </a:r>
            <a:endParaRPr lang="ar-SA" sz="1800" dirty="0"/>
          </a:p>
        </p:txBody>
      </p:sp>
      <p:sp>
        <p:nvSpPr>
          <p:cNvPr id="36" name="Shape 33"/>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9" name="Text 36"/>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مَا الَّذِي يَجِبُ أَنْ يَفْعَلَهُ فِي مَكَانٍ دِينِيٍّ؟</a:t>
            </a:r>
            <a:endParaRPr lang="ar-SA" sz="1800" dirty="0"/>
          </a:p>
        </p:txBody>
      </p:sp>
      <p:sp>
        <p:nvSpPr>
          <p:cNvPr id="40" name="Shape 37"/>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2" name="Text 39"/>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3" name="Text 40"/>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لَوْ تَعَلَّمَ الزَّائِرُ لُغَةَ البَلَدِ، مَاذَا كَانَ سَيَخْتَلِفُ؟</a:t>
            </a:r>
            <a:endParaRPr lang="ar-SA" sz="1800" dirty="0"/>
          </a:p>
        </p:txBody>
      </p:sp>
      <p:sp>
        <p:nvSpPr>
          <p:cNvPr id="44" name="Shape 41"/>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5" name="Text 42"/>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SENTENCE STEMS</a:t>
            </a:r>
            <a:endParaRPr lang="en-US" sz="1000" dirty="0"/>
          </a:p>
        </p:txBody>
      </p:sp>
      <p:sp>
        <p:nvSpPr>
          <p:cNvPr id="46" name="Shape 43"/>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48" name="Text 45"/>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34" charset="0"/>
                <a:ea typeface="Amiri" pitchFamily="34" charset="-122"/>
                <a:cs typeface="Amiri" pitchFamily="34" charset="-120"/>
              </a:rPr>
              <a:t>يُسْتَحْسَنُ أَنْ يَتَعَلَّمَ الزَّائِرُ ___ .</a:t>
            </a:r>
            <a:endParaRPr lang="ar-SA" sz="1600" dirty="0"/>
          </a:p>
        </p:txBody>
      </p:sp>
      <p:sp>
        <p:nvSpPr>
          <p:cNvPr id="49" name="Shape 46"/>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0" name="Text 47"/>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51" name="Text 48"/>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إِذَا زُرْتَ مَسْجِدًا، يَجِبُ أَنْ تَخْلَعَ ___ .</a:t>
            </a:r>
            <a:endParaRPr lang="ar-SA" sz="1600" dirty="0"/>
          </a:p>
        </p:txBody>
      </p:sp>
      <p:sp>
        <p:nvSpPr>
          <p:cNvPr id="52" name="Shape 49"/>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3" name="Text 50"/>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54" name="Text 51"/>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لَوْ تَعَلَّمَ الزَّائِرُ ___ ، لَكَانَ ___ أَعْمَقَ.</a:t>
            </a:r>
            <a:endParaRPr lang="ar-SA" sz="1500" dirty="0"/>
          </a:p>
        </p:txBody>
      </p:sp>
      <p:sp>
        <p:nvSpPr>
          <p:cNvPr id="55" name="Shape 52"/>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ea typeface="Calibri" pitchFamily="34" charset="-122"/>
                <a:cs typeface="Calibri" pitchFamily="34" charset="-120"/>
              </a:rPr>
              <a:t>MODEL (WEBSITE)</a:t>
            </a:r>
            <a:endParaRPr lang="en-US" sz="950" dirty="0"/>
          </a:p>
        </p:txBody>
      </p:sp>
      <p:sp>
        <p:nvSpPr>
          <p:cNvPr id="57" name="Shape 54"/>
          <p:cNvSpPr/>
          <p:nvPr/>
        </p:nvSpPr>
        <p:spPr>
          <a:xfrm>
            <a:off x="11274552" y="5559552"/>
            <a:ext cx="292608" cy="292608"/>
          </a:xfrm>
          <a:prstGeom prst="ellipse">
            <a:avLst/>
          </a:prstGeom>
          <a:solidFill>
            <a:srgbClr val="1E6B52"/>
          </a:solidFill>
          <a:ln w="12700">
            <a:solidFill>
              <a:srgbClr val="1E6B52"/>
            </a:solidFill>
            <a:prstDash val="solid"/>
          </a:ln>
        </p:spPr>
      </p:sp>
      <p:sp>
        <p:nvSpPr>
          <p:cNvPr id="58" name="Text 55"/>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59" name="Text 56"/>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بِمَ تَنْصَحُ زَائِرًا؟</a:t>
            </a:r>
            <a:endParaRPr lang="ar-SA" sz="1550" dirty="0"/>
          </a:p>
        </p:txBody>
      </p:sp>
      <p:sp>
        <p:nvSpPr>
          <p:cNvPr id="60" name="Text 57"/>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ea typeface="Calibri" pitchFamily="34" charset="-122"/>
                <a:cs typeface="Calibri" pitchFamily="34" charset="-120"/>
              </a:rPr>
              <a:t>What do you advise a visitor?</a:t>
            </a:r>
            <a:endParaRPr lang="en-US" sz="950" dirty="0"/>
          </a:p>
        </p:txBody>
      </p:sp>
      <p:sp>
        <p:nvSpPr>
          <p:cNvPr id="61" name="Shape 58"/>
          <p:cNvSpPr/>
          <p:nvPr/>
        </p:nvSpPr>
        <p:spPr>
          <a:xfrm>
            <a:off x="11274552" y="5925312"/>
            <a:ext cx="292608" cy="292608"/>
          </a:xfrm>
          <a:prstGeom prst="ellipse">
            <a:avLst/>
          </a:prstGeom>
          <a:solidFill>
            <a:srgbClr val="1E6B52"/>
          </a:solidFill>
          <a:ln w="12700">
            <a:solidFill>
              <a:srgbClr val="1E6B52"/>
            </a:solidFill>
            <a:prstDash val="solid"/>
          </a:ln>
        </p:spPr>
      </p:sp>
      <p:sp>
        <p:nvSpPr>
          <p:cNvPr id="62" name="Text 59"/>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63" name="Text 60"/>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يُسْتَحْسَنُ أَنْ يَتَعَلَّمَ الزَّائِرُ تَحِيَّةً عَرَبِيَّةً وَأَنْ يَرْتَدِيَ مَلَابِسَ مُحْتَشِمَةً.</a:t>
            </a:r>
            <a:endParaRPr lang="ar-SA" sz="1550" dirty="0"/>
          </a:p>
        </p:txBody>
      </p:sp>
      <p:sp>
        <p:nvSpPr>
          <p:cNvPr id="64" name="Text 61"/>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ea typeface="Calibri" pitchFamily="34" charset="-122"/>
                <a:cs typeface="Calibri" pitchFamily="34" charset="-120"/>
              </a:rPr>
              <a:t>It is preferable for the visitor to learn an Arabic greeting and to wear modest clothing.</a:t>
            </a:r>
            <a:endParaRPr lang="en-US" sz="750" dirty="0"/>
          </a:p>
        </p:txBody>
      </p:sp>
      <p:sp>
        <p:nvSpPr>
          <p:cNvPr id="65" name="Text 6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38 / 52</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TE-L08 · Cultural Exchange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TE-L08</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34" charset="0"/>
                <a:ea typeface="Amiri" pitchFamily="34" charset="-122"/>
                <a:cs typeface="Amiri" pitchFamily="34" charset="-120"/>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ea typeface="Cambria" pitchFamily="34" charset="-122"/>
                <a:cs typeface="Cambria" pitchFamily="34" charset="-120"/>
              </a:rPr>
              <a:t>4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Write four advice sentences with </a:t>
            </a:r>
            <a:pPr algn="l" indent="0" marL="0">
              <a:buNone/>
            </a:pPr>
            <a:r>
              <a:rPr lang="ar-SA" altLang="en-US" sz="1800" b="1" dirty="0">
                <a:solidFill>
                  <a:srgbClr val="1F2A37"/>
                </a:solidFill>
                <a:latin typeface="Amiri" pitchFamily="34" charset="0"/>
                <a:ea typeface="Amiri" pitchFamily="34" charset="-122"/>
                <a:cs typeface="Amiri" pitchFamily="34" charset="-120"/>
              </a:rPr>
              <a:t>يُسْتَحْسَنُ أَنْ</a:t>
            </a:r>
            <a:pPr algn="l" indent="0" marL="0">
              <a:buNone/>
            </a:pPr>
            <a:r>
              <a:rPr lang="en-US" sz="1400" b="1" dirty="0">
                <a:solidFill>
                  <a:srgbClr val="1F2A37"/>
                </a:solidFill>
                <a:latin typeface="Calibri" pitchFamily="34" charset="0"/>
                <a:ea typeface="Calibri" pitchFamily="34" charset="-122"/>
                <a:cs typeface="Calibri" pitchFamily="34" charset="-120"/>
              </a:rPr>
              <a:t> and </a:t>
            </a:r>
            <a:pPr algn="l" indent="0" marL="0">
              <a:buNone/>
            </a:pPr>
            <a:r>
              <a:rPr lang="ar-SA" altLang="en-US" sz="1800" b="1" dirty="0">
                <a:solidFill>
                  <a:srgbClr val="1F2A37"/>
                </a:solidFill>
                <a:latin typeface="Amiri" pitchFamily="34" charset="0"/>
                <a:ea typeface="Amiri" pitchFamily="34" charset="-122"/>
                <a:cs typeface="Amiri" pitchFamily="34" charset="-120"/>
              </a:rPr>
              <a:t>يَجِبُ أَنْ</a:t>
            </a:r>
            <a:pPr algn="l" indent="0" marL="0">
              <a:buNone/>
            </a:pPr>
            <a:r>
              <a:rPr lang="en-US" sz="1400" b="1" dirty="0">
                <a:solidFill>
                  <a:srgbClr val="1F2A37"/>
                </a:solidFill>
                <a:latin typeface="Calibri" pitchFamily="34" charset="0"/>
                <a:ea typeface="Calibri" pitchFamily="34" charset="-122"/>
                <a:cs typeface="Calibri" pitchFamily="34" charset="-120"/>
              </a:rPr>
              <a:t>.</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Website Core: four advice sentences with yustaḥsan an and yajib an.</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34" charset="0"/>
                <a:ea typeface="Amiri" pitchFamily="34" charset="-122"/>
                <a:cs typeface="Amiri" pitchFamily="34" charset="-120"/>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ea typeface="Cambria" pitchFamily="34" charset="-122"/>
                <a:cs typeface="Cambria" pitchFamily="34" charset="-120"/>
              </a:rPr>
              <a:t>60–80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Add a </a:t>
            </a:r>
            <a:pPr algn="l" indent="0" marL="0">
              <a:buNone/>
            </a:pPr>
            <a:r>
              <a:rPr lang="ar-SA" altLang="en-US" sz="1800" b="1" dirty="0">
                <a:solidFill>
                  <a:srgbClr val="1F2A37"/>
                </a:solidFill>
                <a:latin typeface="Amiri" pitchFamily="34" charset="0"/>
                <a:ea typeface="Amiri" pitchFamily="34" charset="-122"/>
                <a:cs typeface="Amiri" pitchFamily="34" charset="-120"/>
              </a:rPr>
              <a:t>يَحْظُرُ</a:t>
            </a:r>
            <a:pPr algn="l" indent="0" marL="0">
              <a:buNone/>
            </a:pPr>
            <a:r>
              <a:rPr lang="en-US" sz="1400" b="1" dirty="0">
                <a:solidFill>
                  <a:srgbClr val="1F2A37"/>
                </a:solidFill>
                <a:latin typeface="Calibri" pitchFamily="34" charset="0"/>
                <a:ea typeface="Calibri" pitchFamily="34" charset="-122"/>
                <a:cs typeface="Calibri" pitchFamily="34" charset="-120"/>
              </a:rPr>
              <a:t> rule and a </a:t>
            </a:r>
            <a:pPr algn="l" indent="0" marL="0">
              <a:buNone/>
            </a:pPr>
            <a:r>
              <a:rPr lang="ar-SA" altLang="en-US" sz="1800" b="1" dirty="0">
                <a:solidFill>
                  <a:srgbClr val="1F2A37"/>
                </a:solidFill>
                <a:latin typeface="Amiri" pitchFamily="34" charset="0"/>
                <a:ea typeface="Amiri" pitchFamily="34" charset="-122"/>
                <a:cs typeface="Amiri" pitchFamily="34" charset="-120"/>
              </a:rPr>
              <a:t>يَسْمَحُ بِـ</a:t>
            </a:r>
            <a:pPr algn="l" indent="0" marL="0">
              <a:buNone/>
            </a:pPr>
            <a:r>
              <a:rPr lang="en-US" sz="1400" b="1" dirty="0">
                <a:solidFill>
                  <a:srgbClr val="1F2A37"/>
                </a:solidFill>
                <a:latin typeface="Calibri" pitchFamily="34" charset="0"/>
                <a:ea typeface="Calibri" pitchFamily="34" charset="-122"/>
                <a:cs typeface="Calibri" pitchFamily="34" charset="-120"/>
              </a:rPr>
              <a:t> permission.</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Website Develop: add a yaḥẓur rule and a yasmaḥ bi- permission.</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ea typeface="Cambria" pitchFamily="34" charset="-122"/>
                <a:cs typeface="Cambria" pitchFamily="34" charset="-120"/>
              </a:rPr>
              <a:t>100–110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Write a full guide with a reported tip and a Type 2 reflection.</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Website task: a cultural guide with yustaḥsan an twice, yajib an, yaḥẓur, a Type 1 scenario, a reported tip and a Type 2 reflection.</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39 / 52</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TE-L08 · Cultural Exchange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TE-L08</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يَحْظُرُ بَعْضُ المَوَاقِعِ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Some sites prohibit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يَسْمَحُ المَتْحَفُ بِالتَّصْوِيرِ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The museum permits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أَخْبَرَنِي مُرْشِدٌ مَحَلِّيٌّ أَنَّ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A local guide told me that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لَوْ عَرَفَ كُلُّ زَائِرٍ ______ ، لَكَانَ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Had every visitor known …, … would have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يُسْتَحْسَنُ أَنْ يَتَعَلَّمَ الزَّائِرُ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It is preferable for the visitor to learn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يُسْتَحْسَنُ أَنْ يَرْتَدِيَ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It is preferable for him to wear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إِذَا زُرْتَ مَسْجِدًا، يَجِبُ أَنْ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If you visit a mosque, you must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فِي رَمَضَانَ، يُسْتَحْسَنُ أَنْ يَتَجَنَّبَ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In Ramadan, it is preferable to avoid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150" b="1" dirty="0">
                <a:solidFill>
                  <a:srgbClr val="1B3B6F"/>
                </a:solidFill>
                <a:latin typeface="Amiri" pitchFamily="34" charset="0"/>
                <a:ea typeface="Amiri" pitchFamily="34" charset="-122"/>
                <a:cs typeface="Amiri" pitchFamily="34" charset="-120"/>
              </a:rPr>
              <a:t>بَعْضَ العِبَارَاتِ العَرَبِيَّةِ  ·  التَّحِيَّةَ المَحَلِّيَّةَ  ·  مَلَابِسَ مُحْتَشِمَةً  ·  حِذَاءَكَ  ·  الأَكْلَ عَلَنًا نَهَارًا  ·  التَّصْوِيرَ  ·  الدُّخُولَ بِالأَحْذِيَةِ  ·  دُونَ فَلَاشٍ  ·  عَادَاتِ البَلَدِ  ·  الزَّلَّاتُ الثَّقَافِيَّةُ  ·  التَّبَادُلُ الثَّقَافِيُّ  ·  بَادِرَةً صَغِيرَةً</a:t>
            </a:r>
            <a:endParaRPr lang="ar-SA"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40 / 52</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TE-L08 · Cultural Exchange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TE-L08</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ea typeface="Calibri" pitchFamily="34" charset="-122"/>
                <a:cs typeface="Calibri" pitchFamily="34" charset="-120"/>
              </a:rPr>
              <a:t>Write a cultural guide of one hundred to one hundred and ten words for visitors to an Arab country. Use </a:t>
            </a:r>
            <a:pPr algn="l" indent="0" marL="0">
              <a:buNone/>
            </a:pPr>
            <a:r>
              <a:rPr lang="ar-SA" altLang="en-US" sz="1750" b="1" dirty="0">
                <a:solidFill>
                  <a:srgbClr val="1F2A37"/>
                </a:solidFill>
                <a:latin typeface="Amiri" pitchFamily="34" charset="0"/>
                <a:ea typeface="Amiri" pitchFamily="34" charset="-122"/>
                <a:cs typeface="Amiri" pitchFamily="34" charset="-120"/>
              </a:rPr>
              <a:t>يُسْتَحْسَنُ أَنْ</a:t>
            </a:r>
            <a:pPr algn="l" indent="0" marL="0">
              <a:buNone/>
            </a:pPr>
            <a:r>
              <a:rPr lang="en-US" sz="1350" b="1" dirty="0">
                <a:solidFill>
                  <a:srgbClr val="1F2A37"/>
                </a:solidFill>
                <a:latin typeface="Calibri" pitchFamily="34" charset="0"/>
                <a:ea typeface="Calibri" pitchFamily="34" charset="-122"/>
                <a:cs typeface="Calibri" pitchFamily="34" charset="-120"/>
              </a:rPr>
              <a:t> + subjunctive twice, </a:t>
            </a:r>
            <a:pPr algn="l" indent="0" marL="0">
              <a:buNone/>
            </a:pPr>
            <a:r>
              <a:rPr lang="ar-SA" altLang="en-US" sz="1750" b="1" dirty="0">
                <a:solidFill>
                  <a:srgbClr val="1F2A37"/>
                </a:solidFill>
                <a:latin typeface="Amiri" pitchFamily="34" charset="0"/>
                <a:ea typeface="Amiri" pitchFamily="34" charset="-122"/>
                <a:cs typeface="Amiri" pitchFamily="34" charset="-120"/>
              </a:rPr>
              <a:t>يَجِبُ أَنْ</a:t>
            </a:r>
            <a:pPr algn="l" indent="0" marL="0">
              <a:buNone/>
            </a:pPr>
            <a:r>
              <a:rPr lang="en-US" sz="1350" b="1" dirty="0">
                <a:solidFill>
                  <a:srgbClr val="1F2A37"/>
                </a:solidFill>
                <a:latin typeface="Calibri" pitchFamily="34" charset="0"/>
                <a:ea typeface="Calibri" pitchFamily="34" charset="-122"/>
                <a:cs typeface="Calibri" pitchFamily="34" charset="-120"/>
              </a:rPr>
              <a:t> and </a:t>
            </a:r>
            <a:pPr algn="l" indent="0" marL="0">
              <a:buNone/>
            </a:pPr>
            <a:r>
              <a:rPr lang="ar-SA" altLang="en-US" sz="1750" b="1" dirty="0">
                <a:solidFill>
                  <a:srgbClr val="1F2A37"/>
                </a:solidFill>
                <a:latin typeface="Amiri" pitchFamily="34" charset="0"/>
                <a:ea typeface="Amiri" pitchFamily="34" charset="-122"/>
                <a:cs typeface="Amiri" pitchFamily="34" charset="-120"/>
              </a:rPr>
              <a:t>يَحْظُرُ</a:t>
            </a:r>
            <a:pPr algn="l" indent="0" marL="0">
              <a:buNone/>
            </a:pPr>
            <a:r>
              <a:rPr lang="en-US" sz="1350" b="1" dirty="0">
                <a:solidFill>
                  <a:srgbClr val="1F2A37"/>
                </a:solidFill>
                <a:latin typeface="Calibri" pitchFamily="34" charset="0"/>
                <a:ea typeface="Calibri" pitchFamily="34" charset="-122"/>
                <a:cs typeface="Calibri" pitchFamily="34" charset="-120"/>
              </a:rPr>
              <a:t>, a Type 1 scenario, a reported cultural tip and a Type 2 reflection.</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Two </a:t>
            </a:r>
            <a:pPr algn="l" indent="0" marL="0">
              <a:buNone/>
            </a:pPr>
            <a:r>
              <a:rPr lang="ar-SA" altLang="en-US" sz="1550" dirty="0">
                <a:solidFill>
                  <a:srgbClr val="1F2A37"/>
                </a:solidFill>
                <a:latin typeface="Amiri" pitchFamily="34" charset="0"/>
                <a:ea typeface="Amiri" pitchFamily="34" charset="-122"/>
                <a:cs typeface="Amiri" pitchFamily="34" charset="-120"/>
              </a:rPr>
              <a:t>يُسْتَحْسَنُ أَنْ</a:t>
            </a:r>
            <a:pPr algn="l" indent="0" marL="0">
              <a:buNone/>
            </a:pPr>
            <a:r>
              <a:rPr lang="en-US" sz="1200" dirty="0">
                <a:solidFill>
                  <a:srgbClr val="1F2A37"/>
                </a:solidFill>
                <a:latin typeface="Calibri" pitchFamily="34" charset="0"/>
                <a:ea typeface="Calibri" pitchFamily="34" charset="-122"/>
                <a:cs typeface="Calibri" pitchFamily="34" charset="-120"/>
              </a:rPr>
              <a:t> + subjunctive advice sentences.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One </a:t>
            </a:r>
            <a:pPr algn="l" indent="0" marL="0">
              <a:buNone/>
            </a:pPr>
            <a:r>
              <a:rPr lang="ar-SA" altLang="en-US" sz="1550" dirty="0">
                <a:solidFill>
                  <a:srgbClr val="1F2A37"/>
                </a:solidFill>
                <a:latin typeface="Amiri" pitchFamily="34" charset="0"/>
                <a:ea typeface="Amiri" pitchFamily="34" charset="-122"/>
                <a:cs typeface="Amiri" pitchFamily="34" charset="-120"/>
              </a:rPr>
              <a:t>يَجِبُ أَنْ</a:t>
            </a:r>
            <a:pPr algn="l" indent="0" marL="0">
              <a:buNone/>
            </a:pPr>
            <a:r>
              <a:rPr lang="en-US" sz="1200" dirty="0">
                <a:solidFill>
                  <a:srgbClr val="1F2A37"/>
                </a:solidFill>
                <a:latin typeface="Calibri" pitchFamily="34" charset="0"/>
                <a:ea typeface="Calibri" pitchFamily="34" charset="-122"/>
                <a:cs typeface="Calibri" pitchFamily="34" charset="-120"/>
              </a:rPr>
              <a:t> scenario and one </a:t>
            </a:r>
            <a:pPr algn="l" indent="0" marL="0">
              <a:buNone/>
            </a:pPr>
            <a:r>
              <a:rPr lang="ar-SA" altLang="en-US" sz="1550" dirty="0">
                <a:solidFill>
                  <a:srgbClr val="1F2A37"/>
                </a:solidFill>
                <a:latin typeface="Amiri" pitchFamily="34" charset="0"/>
                <a:ea typeface="Amiri" pitchFamily="34" charset="-122"/>
                <a:cs typeface="Amiri" pitchFamily="34" charset="-120"/>
              </a:rPr>
              <a:t>يَحْظُرُ</a:t>
            </a:r>
            <a:pPr algn="l" indent="0" marL="0">
              <a:buNone/>
            </a:pPr>
            <a:r>
              <a:rPr lang="en-US" sz="1200" dirty="0">
                <a:solidFill>
                  <a:srgbClr val="1F2A37"/>
                </a:solidFill>
                <a:latin typeface="Calibri" pitchFamily="34" charset="0"/>
                <a:ea typeface="Calibri" pitchFamily="34" charset="-122"/>
                <a:cs typeface="Calibri" pitchFamily="34" charset="-120"/>
              </a:rPr>
              <a:t> rule.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A reported cultural tip (</a:t>
            </a:r>
            <a:pPr algn="l" indent="0" marL="0">
              <a:buNone/>
            </a:pPr>
            <a:r>
              <a:rPr lang="ar-SA" altLang="en-US" sz="1550" dirty="0">
                <a:solidFill>
                  <a:srgbClr val="1F2A37"/>
                </a:solidFill>
                <a:latin typeface="Amiri" pitchFamily="34" charset="0"/>
                <a:ea typeface="Amiri" pitchFamily="34" charset="-122"/>
                <a:cs typeface="Amiri" pitchFamily="34" charset="-120"/>
              </a:rPr>
              <a:t>قَالَ / أَخْبَرَنِي … أَنَّ</a:t>
            </a:r>
            <a:pPr algn="l" indent="0" marL="0">
              <a:buNone/>
            </a:pPr>
            <a:r>
              <a:rPr lang="en-US" sz="1200" dirty="0">
                <a:solidFill>
                  <a:srgbClr val="1F2A37"/>
                </a:solidFill>
                <a:latin typeface="Calibri" pitchFamily="34" charset="0"/>
                <a:ea typeface="Calibri" pitchFamily="34" charset="-122"/>
                <a:cs typeface="Calibri" pitchFamily="34" charset="-120"/>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A Type 2 reflection with the </a:t>
            </a:r>
            <a:pPr algn="l" indent="0" marL="0">
              <a:buNone/>
            </a:pPr>
            <a:r>
              <a:rPr lang="ar-SA" altLang="en-US" sz="1550" dirty="0">
                <a:solidFill>
                  <a:srgbClr val="1F2A37"/>
                </a:solidFill>
                <a:latin typeface="Amiri" pitchFamily="34" charset="0"/>
                <a:ea typeface="Amiri" pitchFamily="34" charset="-122"/>
                <a:cs typeface="Amiri" pitchFamily="34" charset="-120"/>
              </a:rPr>
              <a:t>لَـ</a:t>
            </a:r>
            <a:pPr algn="l" indent="0" marL="0">
              <a:buNone/>
            </a:pPr>
            <a:r>
              <a:rPr lang="en-US" sz="1200" dirty="0">
                <a:solidFill>
                  <a:srgbClr val="1F2A37"/>
                </a:solidFill>
                <a:latin typeface="Calibri" pitchFamily="34" charset="0"/>
                <a:ea typeface="Calibri" pitchFamily="34" charset="-122"/>
                <a:cs typeface="Calibri" pitchFamily="34" charset="-120"/>
              </a:rPr>
              <a:t> result.</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ea typeface="Calibri" pitchFamily="34" charset="-122"/>
                <a:cs typeface="Calibri" pitchFamily="34" charset="-120"/>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34" charset="0"/>
                <a:ea typeface="Amiri" pitchFamily="34" charset="-122"/>
                <a:cs typeface="Amiri" pitchFamily="34" charset="-120"/>
              </a:rPr>
              <a:t>يُعْتَبَرُ الاحْتِرَامُ الثَّقَافِيُّ رَكِيزَةً أَسَاسِيَّةً</a:t>
            </a:r>
            <a:endParaRPr lang="ar-SA" sz="175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cultural respect is considered a cornerstone</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فِي الأَمَاكِنِ العَامَّةِ</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in public places</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فَاسْأَلْ أَوَّلًا</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so ask first</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أَنَّهُ مِنَ المُسْتَحْسَنِ تَعَلُّمُ التَّحِيَّةِ</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that it is good to learn the greeting</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لَكَانَ التَّبَادُلُ الثَّقَافِيُّ أَعْمَقَ وَأَغْنَى</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cultural exchange would have been deeper and richer</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41 / 52</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TE-L08 · Cultural Exchange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TE-L08</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34" charset="0"/>
                <a:ea typeface="Amiri" pitchFamily="34" charset="-122"/>
                <a:cs typeface="Amiri" pitchFamily="34" charset="-120"/>
              </a:rPr>
              <a:t>يُعْتَبَرُ الاحْتِرَامُ الثَّقَافِيُّ رَكِيزَةً أَسَاسِيَّةً لِأَيِّ رِحْلَةٍ نَاجِحَةٍ إِلَى العَالَمِ العَرَبِيِّ. يُسْتَحْسَنُ أَنْ يَتَعَلَّمَ الزَّائِرُ بَعْضَ العِبَارَاتِ العَرَبِيَّةِ قَبْلَ سَفَرِهِ، وَيُسْتَحْسَنُ أَنْ يَرْتَدِيَ مَلَابِسَ مُحْتَشِمَةً فِي الأَمَاكِنِ العَامَّةِ. وَإِذَا زُرْتَ مَسْجِدًا، يَجِبُ أَنْ تَخْلَعَ حِذَاءَكَ وَتُغَطِّيَ رَأْسَكَ. كَمَا يَحْظُرُ بَعْضُ المُقَدَّسَاتِ التَّصْوِيرَ، فَاسْأَلْ أَوَّلًا. فِي إِحْدَى رِحْلَاتِي، أَخْبَرَنِي مُرْشِدٌ مَحَلِّيٌّ أَنَّهُ مِنَ المُسْتَحْسَنِ تَعَلُّمُ التَّحِيَّةِ، وَقَالَ إِنَّ هٰذِهِ البَادِرَةَ تُعَبِّرُ عَنِ احْتِرَامٍ عَمِيقٍ. وَلَوْ عَرَفَ كُلُّ زَائِرٍ عَادَاتِ البَلَدِ، لَقَلَّتِ الزَّلَّاتُ الثَّقَافِيَّةُ، وَلَكَانَ التَّبَادُلُ الثَّقَافِيُّ أَعْمَقَ وَأَغْنَى.</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ea typeface="Calibri" pitchFamily="34" charset="-122"/>
                <a:cs typeface="Calibri" pitchFamily="34" charset="-120"/>
              </a:rPr>
              <a:t>Cultural respect is considered a cornerstone of any successful trip to the Arab world. It is preferable for the visitor to learn some Arabic phrases before travelling, and it is preferable to wear modest clothing in public places. If you visit a mosque, you must take off your shoes and cover your head. Some sacred places also prohibit photography, so ask first. On one of my trips, a local guide told me that it is good to learn the greeting, and said that this gesture expresses deep respect. And had every visitor known the country’s customs, cultural faux pas would have been fewer, and cultural exchange deeper and richer.</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yustaḥsan an + -a (twice)</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yajib an · yaḥẓur + object</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akhbaranī … anna · qāla inna</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law … la-qallat · la-kāna</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42 / 52</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TE-L08 · Cultural Exchange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TE-L08</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My verbs after an end in -a (yataʿallama · yartadiya).</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used yustaḥsan an for polite advice and yajib an for a must.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yaḥẓur has a direct object; yasmaḥ has bi-.</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have a Type 1 scenario (idhā zurta …).</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report a tip (akhbaranī … anna) and reflect with law … la-.</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ea typeface="Calibri" pitchFamily="34" charset="-122"/>
                <a:cs typeface="Calibri" pitchFamily="34" charset="-120"/>
              </a:rPr>
              <a:t>WWW</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ea typeface="Calibri" pitchFamily="34" charset="-122"/>
                <a:cs typeface="Calibri" pitchFamily="34" charset="-120"/>
              </a:rPr>
              <a:t>EBI</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43 / 52</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TE-L08 · Cultural Exchange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TE-L08</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a:t>
            </a:r>
            <a:pPr algn="l" indent="0" marL="0">
              <a:buNone/>
            </a:pPr>
            <a:r>
              <a:rPr lang="ar-SA" altLang="en-US" sz="1650" b="1" dirty="0">
                <a:solidFill>
                  <a:srgbClr val="1B3B6F"/>
                </a:solidFill>
                <a:latin typeface="Amiri" pitchFamily="34" charset="0"/>
                <a:ea typeface="Amiri" pitchFamily="34" charset="-122"/>
                <a:cs typeface="Amiri" pitchFamily="34" charset="-120"/>
              </a:rPr>
              <a:t>يُسْتَحْسَنُ أَنْ</a:t>
            </a:r>
            <a:pPr algn="l" indent="0" marL="0">
              <a:buNone/>
            </a:pPr>
            <a:r>
              <a:rPr lang="en-US" sz="1250" b="1" dirty="0">
                <a:solidFill>
                  <a:srgbClr val="1B3B6F"/>
                </a:solidFill>
                <a:latin typeface="Calibri" pitchFamily="34" charset="0"/>
                <a:ea typeface="Calibri" pitchFamily="34" charset="-122"/>
                <a:cs typeface="Calibri" pitchFamily="34" charset="-120"/>
              </a:rPr>
              <a:t> ___ </a:t>
            </a:r>
            <a:pPr algn="l" indent="0" marL="0">
              <a:buNone/>
            </a:pPr>
            <a:r>
              <a:rPr lang="ar-SA" altLang="en-US" sz="1650" b="1" dirty="0">
                <a:solidFill>
                  <a:srgbClr val="1B3B6F"/>
                </a:solidFill>
                <a:latin typeface="Amiri" pitchFamily="34" charset="0"/>
                <a:ea typeface="Amiri" pitchFamily="34" charset="-122"/>
                <a:cs typeface="Amiri" pitchFamily="34" charset="-120"/>
              </a:rPr>
              <a:t>الزَّائِرُ التَّحِيَّةَ العَرَبِيَّةَ</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يَتَعَلَّمَ</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يَتَعَلَّمُ</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تَعَلَّمَ</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uses </a:t>
            </a:r>
            <a:pPr algn="l" indent="0" marL="0">
              <a:buNone/>
            </a:pPr>
            <a:r>
              <a:rPr lang="ar-SA" altLang="en-US" sz="1650" b="1" dirty="0">
                <a:solidFill>
                  <a:srgbClr val="1B3B6F"/>
                </a:solidFill>
                <a:latin typeface="Amiri" pitchFamily="34" charset="0"/>
                <a:ea typeface="Amiri" pitchFamily="34" charset="-122"/>
                <a:cs typeface="Amiri" pitchFamily="34" charset="-120"/>
              </a:rPr>
              <a:t>يَحْظُرُ</a:t>
            </a:r>
            <a:pPr algn="l" indent="0" marL="0">
              <a:buNone/>
            </a:pPr>
            <a:r>
              <a:rPr lang="en-US" sz="1250" b="1" dirty="0">
                <a:solidFill>
                  <a:srgbClr val="1B3B6F"/>
                </a:solidFill>
                <a:latin typeface="Calibri" pitchFamily="34" charset="0"/>
                <a:ea typeface="Calibri" pitchFamily="34" charset="-122"/>
                <a:cs typeface="Calibri" pitchFamily="34" charset="-120"/>
              </a:rPr>
              <a:t> correctly?</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يَحْظُرُ المَوْقِعُ بِالتَّصْوِيرِ.</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يَحْظُرُ المَوْقِعُ التَّصْوِيرَ.</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يَحْظُرُ المَوْقِعُ عَلَى التَّصْوِيرِ.</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a:t>
            </a:r>
            <a:pPr algn="l" indent="0" marL="0">
              <a:buNone/>
            </a:pPr>
            <a:r>
              <a:rPr lang="ar-SA" altLang="en-US" sz="1650" b="1" dirty="0">
                <a:solidFill>
                  <a:srgbClr val="1B3B6F"/>
                </a:solidFill>
                <a:latin typeface="Amiri" pitchFamily="34" charset="0"/>
                <a:ea typeface="Amiri" pitchFamily="34" charset="-122"/>
                <a:cs typeface="Amiri" pitchFamily="34" charset="-120"/>
              </a:rPr>
              <a:t>يَسْمَحُ المَتْحَفُ</a:t>
            </a:r>
            <a:pPr algn="l" indent="0" marL="0">
              <a:buNone/>
            </a:pPr>
            <a:r>
              <a:rPr lang="en-US" sz="1250" b="1" dirty="0">
                <a:solidFill>
                  <a:srgbClr val="1B3B6F"/>
                </a:solidFill>
                <a:latin typeface="Calibri" pitchFamily="34" charset="0"/>
                <a:ea typeface="Calibri" pitchFamily="34" charset="-122"/>
                <a:cs typeface="Calibri" pitchFamily="34" charset="-120"/>
              </a:rPr>
              <a:t> ___ </a:t>
            </a:r>
            <a:pPr algn="l" indent="0" marL="0">
              <a:buNone/>
            </a:pPr>
            <a:r>
              <a:rPr lang="ar-SA" altLang="en-US" sz="1650" b="1" dirty="0">
                <a:solidFill>
                  <a:srgbClr val="1B3B6F"/>
                </a:solidFill>
                <a:latin typeface="Amiri" pitchFamily="34" charset="0"/>
                <a:ea typeface="Amiri" pitchFamily="34" charset="-122"/>
                <a:cs typeface="Amiri" pitchFamily="34" charset="-120"/>
              </a:rPr>
              <a:t>التَّصْوِيرِ</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بِـ</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عَنْ</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إِلَى</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ea typeface="Calibri" pitchFamily="34" charset="-122"/>
                <a:cs typeface="Calibri" pitchFamily="34" charset="-120"/>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44 / 52</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TE-L08 · Cultural Exchange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TE-L08</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a:t>
            </a:r>
            <a:pPr algn="l" indent="0" marL="0">
              <a:buNone/>
            </a:pPr>
            <a:r>
              <a:rPr lang="ar-SA" altLang="en-US" sz="1650" b="1" dirty="0">
                <a:solidFill>
                  <a:srgbClr val="1B3B6F"/>
                </a:solidFill>
                <a:latin typeface="Amiri" pitchFamily="34" charset="0"/>
                <a:ea typeface="Amiri" pitchFamily="34" charset="-122"/>
                <a:cs typeface="Amiri" pitchFamily="34" charset="-120"/>
              </a:rPr>
              <a:t>يُسْتَحْسَنُ أَنْ</a:t>
            </a:r>
            <a:pPr algn="l" indent="0" marL="0">
              <a:buNone/>
            </a:pPr>
            <a:r>
              <a:rPr lang="en-US" sz="1250" b="1" dirty="0">
                <a:solidFill>
                  <a:srgbClr val="1B3B6F"/>
                </a:solidFill>
                <a:latin typeface="Calibri" pitchFamily="34" charset="0"/>
                <a:ea typeface="Calibri" pitchFamily="34" charset="-122"/>
                <a:cs typeface="Calibri" pitchFamily="34" charset="-120"/>
              </a:rPr>
              <a:t> ___ </a:t>
            </a:r>
            <a:pPr algn="l" indent="0" marL="0">
              <a:buNone/>
            </a:pPr>
            <a:r>
              <a:rPr lang="ar-SA" altLang="en-US" sz="1650" b="1" dirty="0">
                <a:solidFill>
                  <a:srgbClr val="1B3B6F"/>
                </a:solidFill>
                <a:latin typeface="Amiri" pitchFamily="34" charset="0"/>
                <a:ea typeface="Amiri" pitchFamily="34" charset="-122"/>
                <a:cs typeface="Amiri" pitchFamily="34" charset="-120"/>
              </a:rPr>
              <a:t>الزَّائِرُ التَّحِيَّةَ العَرَبِيَّةَ</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يَتَعَلَّمَ</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يَتَعَلَّمُ</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تَعَلَّمَ</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After </a:t>
            </a:r>
            <a:pPr algn="l" indent="0" marL="0">
              <a:buNone/>
            </a:pPr>
            <a:r>
              <a:rPr lang="ar-SA" altLang="en-US" sz="1350" dirty="0">
                <a:solidFill>
                  <a:srgbClr val="8A6D1E"/>
                </a:solidFill>
                <a:latin typeface="Amiri" pitchFamily="34" charset="0"/>
                <a:ea typeface="Amiri" pitchFamily="34" charset="-122"/>
                <a:cs typeface="Amiri" pitchFamily="34" charset="-120"/>
              </a:rPr>
              <a:t>أَنْ</a:t>
            </a:r>
            <a:pPr algn="l" indent="0" marL="0">
              <a:buNone/>
            </a:pPr>
            <a:r>
              <a:rPr lang="en-US" sz="1050" i="1" dirty="0">
                <a:solidFill>
                  <a:srgbClr val="8A6D1E"/>
                </a:solidFill>
                <a:latin typeface="Calibri" pitchFamily="34" charset="0"/>
                <a:ea typeface="Calibri" pitchFamily="34" charset="-122"/>
                <a:cs typeface="Calibri" pitchFamily="34" charset="-120"/>
              </a:rPr>
              <a:t> the verb is subjunctive: </a:t>
            </a:r>
            <a:pPr algn="l" indent="0" marL="0">
              <a:buNone/>
            </a:pPr>
            <a:r>
              <a:rPr lang="ar-SA" altLang="en-US" sz="1350" dirty="0">
                <a:solidFill>
                  <a:srgbClr val="8A6D1E"/>
                </a:solidFill>
                <a:latin typeface="Amiri" pitchFamily="34" charset="0"/>
                <a:ea typeface="Amiri" pitchFamily="34" charset="-122"/>
                <a:cs typeface="Amiri" pitchFamily="34" charset="-120"/>
              </a:rPr>
              <a:t>يَتَعَلَّمَ</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uses </a:t>
            </a:r>
            <a:pPr algn="l" indent="0" marL="0">
              <a:buNone/>
            </a:pPr>
            <a:r>
              <a:rPr lang="ar-SA" altLang="en-US" sz="1650" b="1" dirty="0">
                <a:solidFill>
                  <a:srgbClr val="1B3B6F"/>
                </a:solidFill>
                <a:latin typeface="Amiri" pitchFamily="34" charset="0"/>
                <a:ea typeface="Amiri" pitchFamily="34" charset="-122"/>
                <a:cs typeface="Amiri" pitchFamily="34" charset="-120"/>
              </a:rPr>
              <a:t>يَحْظُرُ</a:t>
            </a:r>
            <a:pPr algn="l" indent="0" marL="0">
              <a:buNone/>
            </a:pPr>
            <a:r>
              <a:rPr lang="en-US" sz="1250" b="1" dirty="0">
                <a:solidFill>
                  <a:srgbClr val="1B3B6F"/>
                </a:solidFill>
                <a:latin typeface="Calibri" pitchFamily="34" charset="0"/>
                <a:ea typeface="Calibri" pitchFamily="34" charset="-122"/>
                <a:cs typeface="Calibri" pitchFamily="34" charset="-120"/>
              </a:rPr>
              <a:t> correctly?</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يَحْظُرُ المَوْقِعُ بِالتَّصْوِيرِ.</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يَحْظُرُ المَوْقِعُ التَّصْوِيرَ.</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يَحْظُرُ المَوْقِعُ عَلَى التَّصْوِيرِ.</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يَحْظُرُ</a:t>
            </a:r>
            <a:pPr algn="l" indent="0" marL="0">
              <a:buNone/>
            </a:pPr>
            <a:r>
              <a:rPr lang="en-US" sz="1050" i="1" dirty="0">
                <a:solidFill>
                  <a:srgbClr val="8A6D1E"/>
                </a:solidFill>
                <a:latin typeface="Calibri" pitchFamily="34" charset="0"/>
                <a:ea typeface="Calibri" pitchFamily="34" charset="-122"/>
                <a:cs typeface="Calibri" pitchFamily="34" charset="-120"/>
              </a:rPr>
              <a:t> takes a direct object.</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a:t>
            </a:r>
            <a:pPr algn="l" indent="0" marL="0">
              <a:buNone/>
            </a:pPr>
            <a:r>
              <a:rPr lang="ar-SA" altLang="en-US" sz="1650" b="1" dirty="0">
                <a:solidFill>
                  <a:srgbClr val="1B3B6F"/>
                </a:solidFill>
                <a:latin typeface="Amiri" pitchFamily="34" charset="0"/>
                <a:ea typeface="Amiri" pitchFamily="34" charset="-122"/>
                <a:cs typeface="Amiri" pitchFamily="34" charset="-120"/>
              </a:rPr>
              <a:t>يَسْمَحُ المَتْحَفُ</a:t>
            </a:r>
            <a:pPr algn="l" indent="0" marL="0">
              <a:buNone/>
            </a:pPr>
            <a:r>
              <a:rPr lang="en-US" sz="1250" b="1" dirty="0">
                <a:solidFill>
                  <a:srgbClr val="1B3B6F"/>
                </a:solidFill>
                <a:latin typeface="Calibri" pitchFamily="34" charset="0"/>
                <a:ea typeface="Calibri" pitchFamily="34" charset="-122"/>
                <a:cs typeface="Calibri" pitchFamily="34" charset="-120"/>
              </a:rPr>
              <a:t> ___ </a:t>
            </a:r>
            <a:pPr algn="l" indent="0" marL="0">
              <a:buNone/>
            </a:pPr>
            <a:r>
              <a:rPr lang="ar-SA" altLang="en-US" sz="1650" b="1" dirty="0">
                <a:solidFill>
                  <a:srgbClr val="1B3B6F"/>
                </a:solidFill>
                <a:latin typeface="Amiri" pitchFamily="34" charset="0"/>
                <a:ea typeface="Amiri" pitchFamily="34" charset="-122"/>
                <a:cs typeface="Amiri" pitchFamily="34" charset="-120"/>
              </a:rPr>
              <a:t>التَّصْوِيرِ</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بِـ</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عَنْ</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إِلَى</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يَسْمَحُ</a:t>
            </a:r>
            <a:pPr algn="l" indent="0" marL="0">
              <a:buNone/>
            </a:pPr>
            <a:r>
              <a:rPr lang="en-US" sz="1050" i="1" dirty="0">
                <a:solidFill>
                  <a:srgbClr val="8A6D1E"/>
                </a:solidFill>
                <a:latin typeface="Calibri" pitchFamily="34" charset="0"/>
                <a:ea typeface="Calibri" pitchFamily="34" charset="-122"/>
                <a:cs typeface="Calibri" pitchFamily="34" charset="-120"/>
              </a:rPr>
              <a:t> is fixed with </a:t>
            </a:r>
            <a:pPr algn="l" indent="0" marL="0">
              <a:buNone/>
            </a:pPr>
            <a:r>
              <a:rPr lang="ar-SA" altLang="en-US" sz="1350" dirty="0">
                <a:solidFill>
                  <a:srgbClr val="8A6D1E"/>
                </a:solidFill>
                <a:latin typeface="Amiri" pitchFamily="34" charset="0"/>
                <a:ea typeface="Amiri" pitchFamily="34" charset="-122"/>
                <a:cs typeface="Amiri" pitchFamily="34" charset="-120"/>
              </a:rPr>
              <a:t>بِـ</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ea typeface="Calibri" pitchFamily="34" charset="-122"/>
                <a:cs typeface="Calibri" pitchFamily="34" charset="-120"/>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45 / 52</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TE-L08 · Cultural Exchange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Reading: a guide for visitors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TE-L08</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300" dirty="0">
                <a:solidFill>
                  <a:srgbClr val="1F2A37"/>
                </a:solidFill>
                <a:latin typeface="Amiri" pitchFamily="34" charset="0"/>
                <a:ea typeface="Amiri" pitchFamily="34" charset="-122"/>
                <a:cs typeface="Amiri" pitchFamily="34" charset="-120"/>
              </a:rPr>
              <a:t>يُشَكِّلُ الاحْتِرَامُ الثَّقَافِيُّ جِسْرًا بَيْنَ الزَّائِرِ وَالمُجْتَمَعِ المُضِيفِ. يُسْتَحْسَنُ أَنْ يَتَعَلَّمَ الزَّائِرُ بَعْضَ العِبَارَاتِ العَرَبِيَّةِ قَبْلَ رِحْلَتِهِ، وَأَنْ يَحْتَرِمَ قَوَاعِدَ اللِّبَاسِ فِي الأَمَاكِنِ الدِّينِيَّةِ. وَفِي شَهْرِ رَمَضَانَ، يُسْتَحْسَنُ أَنْ يَتَجَنَّبَ الأَكْلَ عَلَنًا نَهَارًا احْتِرَامًا لِلصَّائِمِينَ. كَمَا يَحْظُرُ بَعْضُ المُقَدَّسَاتِ التَّصْوِيرَ، فَمِنَ المُهِمِّ السُّؤَالُ أَوَّلًا. وَقَدْ أَخْبَرَنِي مُضِيفٌ عَرَبِيٌّ أَنَّ بَادِرَةً صَغِيرَةً مِنَ الاحْتِرَامِ تَفْتَحُ القُلُوبَ. وَلَوْ عَرَفَ كُلُّ زَائِرٍ عَادَاتِ البَلَدِ قَبْلَ وُصُولِهِ، لَقَلَّتِ الزَّلَّاتُ الثَّقَافِيَّةُ كَثِيرًا. فَالتَّفَاهُمُ يَبْدَأُ بِخُطْوَةٍ بَسِيطَةٍ مِنَ الفَهْمِ.</a:t>
            </a:r>
            <a:endParaRPr lang="ar-SA" sz="23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يُشَكِّلُ</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it forms</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جِسْرًا</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a bridge</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العِبَارَاتِ</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phrases</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الدِّينِيَّةِ</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religious</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يَتَجَنَّبَ</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(to) avoid</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عَلَنًا</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in public</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نَهَارًا</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during the day</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لِلصَّائِمِينَ</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for those fasting</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مُضِيفٌ</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a host</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تَفْتَحُ القُلُوبَ</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it opens hearts</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46 / 52</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TE-L08 · Cultural Exchange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TE-L08</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cultural respect form?</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barrier</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bridge between the visitor and the host community</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cost</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it preferable to do before the trip?</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Pack lightly only</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Nothing</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Learn some Arabic phrases and respect dress codes</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advised during Ramadan?</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Avoid eating in public during the day out of respect</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Eat publicly</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Fast for others</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did an Arab host say?</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Respect is unnecessary</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small gesture of respect opens hearts</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Hosts dislike visitors</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Type 2 reflection?</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000" dirty="0">
                <a:solidFill>
                  <a:srgbClr val="1F2A37"/>
                </a:solidFill>
                <a:latin typeface="Calibri" pitchFamily="34" charset="0"/>
                <a:ea typeface="Calibri" pitchFamily="34" charset="-122"/>
                <a:cs typeface="Calibri" pitchFamily="34" charset="-120"/>
              </a:rPr>
              <a:t>Had every visitor known the country's customs first, faux pas would have been much fewer</a:t>
            </a:r>
            <a:endParaRPr lang="en-US" sz="100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Customs do not matter</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Visitors cannot learn customs</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1. Read the question first.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2. Find ONE key word from the question in the text.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47 / 52</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TE-L08 · Cultural Exchange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TE-L08</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cultural respect form?</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barrier</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A bridge between the visitor and the host community</a:t>
            </a:r>
            <a:endParaRPr lang="en-US" sz="11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cost</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200" dirty="0">
                <a:solidFill>
                  <a:srgbClr val="8A6D1E"/>
                </a:solidFill>
                <a:latin typeface="Amiri" pitchFamily="34" charset="0"/>
                <a:ea typeface="Amiri" pitchFamily="34" charset="-122"/>
                <a:cs typeface="Amiri" pitchFamily="34" charset="-120"/>
              </a:rPr>
              <a:t>يُشَكِّلُ الاحْتِرَامُ الثَّقَافِيُّ جِسْرًا بَيْنَ الزَّائِرِ وَالمُجْتَمَعِ المُضِيفِ.</a:t>
            </a:r>
            <a:endParaRPr lang="ar-SA" sz="120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it preferable to do before the trip?</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Pack lightly only</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Nothing</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Learn some Arabic phrases and respect dress codes</a:t>
            </a:r>
            <a:endParaRPr lang="en-US" sz="11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050" dirty="0">
                <a:solidFill>
                  <a:srgbClr val="8A6D1E"/>
                </a:solidFill>
                <a:latin typeface="Amiri" pitchFamily="34" charset="0"/>
                <a:ea typeface="Amiri" pitchFamily="34" charset="-122"/>
                <a:cs typeface="Amiri" pitchFamily="34" charset="-120"/>
              </a:rPr>
              <a:t>يُسْتَحْسَنُ أَنْ يَتَعَلَّمَ الزَّائِرُ بَعْضَ العِبَارَاتِ … وَأَنْ يَحْتَرِمَ قَوَاعِدَ اللِّبَاسِ.</a:t>
            </a:r>
            <a:endParaRPr lang="ar-SA" sz="10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advised during Ramadan?</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Avoid eating in public during the day out of respect</a:t>
            </a:r>
            <a:endParaRPr lang="en-US" sz="11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Eat publicly</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Fast for others</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34" charset="0"/>
                <a:ea typeface="Amiri" pitchFamily="34" charset="-122"/>
                <a:cs typeface="Amiri" pitchFamily="34" charset="-120"/>
              </a:rPr>
              <a:t>يُسْتَحْسَنُ أَنْ يَتَجَنَّبَ الأَكْلَ عَلَنًا نَهَارًا احْتِرَامًا لِلصَّائِمِينَ.</a:t>
            </a:r>
            <a:endParaRPr lang="ar-SA" sz="130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did an Arab host say?</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Respect is unnecessary</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ea typeface="Calibri" pitchFamily="34" charset="-122"/>
                <a:cs typeface="Calibri" pitchFamily="34" charset="-120"/>
              </a:rPr>
              <a:t>A small gesture of respect opens hearts</a:t>
            </a:r>
            <a:endParaRPr lang="en-US" sz="120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Hosts dislike visitors</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150" dirty="0">
                <a:solidFill>
                  <a:srgbClr val="8A6D1E"/>
                </a:solidFill>
                <a:latin typeface="Amiri" pitchFamily="34" charset="0"/>
                <a:ea typeface="Amiri" pitchFamily="34" charset="-122"/>
                <a:cs typeface="Amiri" pitchFamily="34" charset="-120"/>
              </a:rPr>
              <a:t>أَخْبَرَنِي مُضِيفٌ عَرَبِيٌّ أَنَّ بَادِرَةً صَغِيرَةً مِنَ الاحْتِرَامِ تَفْتَحُ القُلُوبَ.</a:t>
            </a:r>
            <a:endParaRPr lang="ar-SA" sz="11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Type 2 reflection?</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000" b="1" dirty="0">
                <a:solidFill>
                  <a:srgbClr val="1F2A37"/>
                </a:solidFill>
                <a:latin typeface="Calibri" pitchFamily="34" charset="0"/>
                <a:ea typeface="Calibri" pitchFamily="34" charset="-122"/>
                <a:cs typeface="Calibri" pitchFamily="34" charset="-120"/>
              </a:rPr>
              <a:t>Had every visitor known the country's customs first, faux pas would have been much fewer</a:t>
            </a:r>
            <a:endParaRPr lang="en-US" sz="100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Customs do not matter</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Visitors cannot learn customs</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100" dirty="0">
                <a:solidFill>
                  <a:srgbClr val="8A6D1E"/>
                </a:solidFill>
                <a:latin typeface="Amiri" pitchFamily="34" charset="0"/>
                <a:ea typeface="Amiri" pitchFamily="34" charset="-122"/>
                <a:cs typeface="Amiri" pitchFamily="34" charset="-120"/>
              </a:rPr>
              <a:t>لَوْ عَرَفَ كُلُّ زَائِرٍ عَادَاتِ البَلَدِ قَبْلَ وُصُولِهِ، لَقَلَّتِ الزَّلَّاتُ الثَّقَافِيَّةُ.</a:t>
            </a:r>
            <a:endParaRPr lang="ar-SA" sz="110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1. Read the question first.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2. Find ONE key word from the question in the text.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48 / 52</a:t>
            </a:r>
            <a:endParaRPr lang="en-US" sz="8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TE-L08 · Cultural Exchange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50" b="1" dirty="0">
                <a:solidFill>
                  <a:srgbClr val="1B3B6F"/>
                </a:solidFill>
                <a:latin typeface="Cambria" pitchFamily="34" charset="0"/>
                <a:ea typeface="Cambria" pitchFamily="34" charset="-122"/>
                <a:cs typeface="Cambria" pitchFamily="34" charset="-120"/>
              </a:rPr>
              <a:t>Advice Mission — Subjunctive, Rules and Reflection</a:t>
            </a:r>
            <a:endParaRPr lang="en-US" sz="18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TE-L08</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Subjunctive: complete — </a:t>
            </a:r>
            <a:pPr algn="l" indent="0" marL="0">
              <a:buNone/>
            </a:pPr>
            <a:r>
              <a:rPr lang="ar-SA" altLang="en-US" sz="1650" b="1" dirty="0">
                <a:solidFill>
                  <a:srgbClr val="1B3B6F"/>
                </a:solidFill>
                <a:latin typeface="Amiri" pitchFamily="34" charset="0"/>
                <a:ea typeface="Amiri" pitchFamily="34" charset="-122"/>
                <a:cs typeface="Amiri" pitchFamily="34" charset="-120"/>
              </a:rPr>
              <a:t>يُسْتَحْسَنُ أَنْ</a:t>
            </a:r>
            <a:pPr algn="l" indent="0" marL="0">
              <a:buNone/>
            </a:pPr>
            <a:r>
              <a:rPr lang="en-US" sz="1250" b="1" dirty="0">
                <a:solidFill>
                  <a:srgbClr val="1B3B6F"/>
                </a:solidFill>
                <a:latin typeface="Calibri" pitchFamily="34" charset="0"/>
                <a:ea typeface="Calibri" pitchFamily="34" charset="-122"/>
                <a:cs typeface="Calibri" pitchFamily="34" charset="-120"/>
              </a:rPr>
              <a:t> ___ </a:t>
            </a:r>
            <a:pPr algn="l" indent="0" marL="0">
              <a:buNone/>
            </a:pPr>
            <a:r>
              <a:rPr lang="ar-SA" altLang="en-US" sz="1650" b="1" dirty="0">
                <a:solidFill>
                  <a:srgbClr val="1B3B6F"/>
                </a:solidFill>
                <a:latin typeface="Amiri" pitchFamily="34" charset="0"/>
                <a:ea typeface="Amiri" pitchFamily="34" charset="-122"/>
                <a:cs typeface="Amiri" pitchFamily="34" charset="-120"/>
              </a:rPr>
              <a:t>الزَّائِرُ التَّحِيَّةَ</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يَتَعَلَّمُ</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يَتَعَلَّمَ</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تَعَلَّمَ</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Subjunctive: complete — </a:t>
            </a:r>
            <a:pPr algn="l" indent="0" marL="0">
              <a:buNone/>
            </a:pPr>
            <a:r>
              <a:rPr lang="ar-SA" altLang="en-US" sz="1650" b="1" dirty="0">
                <a:solidFill>
                  <a:srgbClr val="1B3B6F"/>
                </a:solidFill>
                <a:latin typeface="Amiri" pitchFamily="34" charset="0"/>
                <a:ea typeface="Amiri" pitchFamily="34" charset="-122"/>
                <a:cs typeface="Amiri" pitchFamily="34" charset="-120"/>
              </a:rPr>
              <a:t>يُسْتَحْسَنُ أَنْ</a:t>
            </a:r>
            <a:pPr algn="l" indent="0" marL="0">
              <a:buNone/>
            </a:pPr>
            <a:r>
              <a:rPr lang="en-US" sz="1250" b="1" dirty="0">
                <a:solidFill>
                  <a:srgbClr val="1B3B6F"/>
                </a:solidFill>
                <a:latin typeface="Calibri" pitchFamily="34" charset="0"/>
                <a:ea typeface="Calibri" pitchFamily="34" charset="-122"/>
                <a:cs typeface="Calibri" pitchFamily="34" charset="-120"/>
              </a:rPr>
              <a:t> ___ </a:t>
            </a:r>
            <a:pPr algn="l" indent="0" marL="0">
              <a:buNone/>
            </a:pPr>
            <a:r>
              <a:rPr lang="ar-SA" altLang="en-US" sz="1650" b="1" dirty="0">
                <a:solidFill>
                  <a:srgbClr val="1B3B6F"/>
                </a:solidFill>
                <a:latin typeface="Amiri" pitchFamily="34" charset="0"/>
                <a:ea typeface="Amiri" pitchFamily="34" charset="-122"/>
                <a:cs typeface="Amiri" pitchFamily="34" charset="-120"/>
              </a:rPr>
              <a:t>مَلَابِسَ مُحْتَشِمَةً</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يَرْتَدِيَ</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يَرْتَدِي</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ارْتَدَى</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Subjunctive: complete — </a:t>
            </a:r>
            <a:pPr algn="l" indent="0" marL="0">
              <a:buNone/>
            </a:pPr>
            <a:r>
              <a:rPr lang="ar-SA" altLang="en-US" sz="1650" b="1" dirty="0">
                <a:solidFill>
                  <a:srgbClr val="1B3B6F"/>
                </a:solidFill>
                <a:latin typeface="Amiri" pitchFamily="34" charset="0"/>
                <a:ea typeface="Amiri" pitchFamily="34" charset="-122"/>
                <a:cs typeface="Amiri" pitchFamily="34" charset="-120"/>
              </a:rPr>
              <a:t>يَجِبُ أَنْ</a:t>
            </a:r>
            <a:pPr algn="l" indent="0" marL="0">
              <a:buNone/>
            </a:pPr>
            <a:r>
              <a:rPr lang="en-US" sz="1250" b="1" dirty="0">
                <a:solidFill>
                  <a:srgbClr val="1B3B6F"/>
                </a:solidFill>
                <a:latin typeface="Calibri" pitchFamily="34" charset="0"/>
                <a:ea typeface="Calibri" pitchFamily="34" charset="-122"/>
                <a:cs typeface="Calibri" pitchFamily="34" charset="-120"/>
              </a:rPr>
              <a:t> ___ </a:t>
            </a:r>
            <a:pPr algn="l" indent="0" marL="0">
              <a:buNone/>
            </a:pPr>
            <a:r>
              <a:rPr lang="ar-SA" altLang="en-US" sz="1650" b="1" dirty="0">
                <a:solidFill>
                  <a:srgbClr val="1B3B6F"/>
                </a:solidFill>
                <a:latin typeface="Amiri" pitchFamily="34" charset="0"/>
                <a:ea typeface="Amiri" pitchFamily="34" charset="-122"/>
                <a:cs typeface="Amiri" pitchFamily="34" charset="-120"/>
              </a:rPr>
              <a:t>حِذَاءَكَ</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تَخْلَعُ</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خَلَعْتَ</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تَخْلَعَ</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Object: which uses </a:t>
            </a:r>
            <a:pPr algn="l" indent="0" marL="0">
              <a:buNone/>
            </a:pPr>
            <a:r>
              <a:rPr lang="ar-SA" altLang="en-US" sz="1650" b="1" dirty="0">
                <a:solidFill>
                  <a:srgbClr val="1B3B6F"/>
                </a:solidFill>
                <a:latin typeface="Amiri" pitchFamily="34" charset="0"/>
                <a:ea typeface="Amiri" pitchFamily="34" charset="-122"/>
                <a:cs typeface="Amiri" pitchFamily="34" charset="-120"/>
              </a:rPr>
              <a:t>يَحْظُرُ</a:t>
            </a:r>
            <a:pPr algn="l" indent="0" marL="0">
              <a:buNone/>
            </a:pPr>
            <a:r>
              <a:rPr lang="en-US" sz="1250" b="1" dirty="0">
                <a:solidFill>
                  <a:srgbClr val="1B3B6F"/>
                </a:solidFill>
                <a:latin typeface="Calibri" pitchFamily="34" charset="0"/>
                <a:ea typeface="Calibri" pitchFamily="34" charset="-122"/>
                <a:cs typeface="Calibri" pitchFamily="34" charset="-120"/>
              </a:rPr>
              <a:t> correctly?</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يَحْظُرُ المَوْقِعُ بِالتَّصْوِيرِ.</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يَحْظُرُ المَوْقِعُ عَنِ التَّصْوِيرِ.</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يَحْظُرُ المَوْقِعُ التَّصْوِيرَ.</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Preposition: complete — </a:t>
            </a:r>
            <a:pPr algn="l" indent="0" marL="0">
              <a:buNone/>
            </a:pPr>
            <a:r>
              <a:rPr lang="ar-SA" altLang="en-US" sz="1650" b="1" dirty="0">
                <a:solidFill>
                  <a:srgbClr val="1B3B6F"/>
                </a:solidFill>
                <a:latin typeface="Amiri" pitchFamily="34" charset="0"/>
                <a:ea typeface="Amiri" pitchFamily="34" charset="-122"/>
                <a:cs typeface="Amiri" pitchFamily="34" charset="-120"/>
              </a:rPr>
              <a:t>يَسْمَحُ المَتْحَفُ</a:t>
            </a:r>
            <a:pPr algn="l" indent="0" marL="0">
              <a:buNone/>
            </a:pPr>
            <a:r>
              <a:rPr lang="en-US" sz="1250" b="1" dirty="0">
                <a:solidFill>
                  <a:srgbClr val="1B3B6F"/>
                </a:solidFill>
                <a:latin typeface="Calibri" pitchFamily="34" charset="0"/>
                <a:ea typeface="Calibri" pitchFamily="34" charset="-122"/>
                <a:cs typeface="Calibri" pitchFamily="34" charset="-120"/>
              </a:rPr>
              <a:t> ___ </a:t>
            </a:r>
            <a:pPr algn="l" indent="0" marL="0">
              <a:buNone/>
            </a:pPr>
            <a:r>
              <a:rPr lang="ar-SA" altLang="en-US" sz="1650" b="1" dirty="0">
                <a:solidFill>
                  <a:srgbClr val="1B3B6F"/>
                </a:solidFill>
                <a:latin typeface="Amiri" pitchFamily="34" charset="0"/>
                <a:ea typeface="Amiri" pitchFamily="34" charset="-122"/>
                <a:cs typeface="Amiri" pitchFamily="34" charset="-120"/>
              </a:rPr>
              <a:t>التَّصْوِيرِ</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بِـ</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عَنْ</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إِلَى</a:t>
            </a:r>
            <a:endParaRPr lang="ar-SA" sz="2050" dirty="0"/>
          </a:p>
        </p:txBody>
      </p:sp>
      <p:sp>
        <p:nvSpPr>
          <p:cNvPr id="82" name="Shape 7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22350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85" name="Text 82"/>
          <p:cNvSpPr txBox="1"/>
          <p:nvPr/>
        </p:nvSpPr>
        <p:spPr>
          <a:xfrm>
            <a:off x="8589264"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Force:</a:t>
            </a:r>
            <a:endParaRPr lang="en-US" sz="1200" dirty="0"/>
          </a:p>
        </p:txBody>
      </p:sp>
      <p:sp>
        <p:nvSpPr>
          <p:cNvPr id="86" name="Text 83"/>
          <p:cNvSpPr txBox="1"/>
          <p:nvPr/>
        </p:nvSpPr>
        <p:spPr>
          <a:xfrm>
            <a:off x="10044989" y="4224528"/>
            <a:ext cx="1577035" cy="475488"/>
          </a:xfrm>
          <a:prstGeom prst="rect">
            <a:avLst/>
          </a:prstGeom>
          <a:noFill/>
          <a:ln/>
        </p:spPr>
        <p:txBody>
          <a:bodyPr wrap="square" lIns="0" tIns="0" rIns="0" bIns="0" rtlCol="0" anchor="ctr"/>
          <a:lstStyle/>
          <a:p>
            <a:pPr algn="l" indent="0" marL="0">
              <a:buNone/>
            </a:pPr>
            <a:r>
              <a:rPr lang="ar-SA" altLang="en-US" sz="1900" b="1" dirty="0">
                <a:solidFill>
                  <a:srgbClr val="1F2A37"/>
                </a:solidFill>
                <a:latin typeface="Amiri" pitchFamily="34" charset="0"/>
                <a:ea typeface="Amiri" pitchFamily="34" charset="-122"/>
                <a:cs typeface="Amiri" pitchFamily="34" charset="-120"/>
              </a:rPr>
              <a:t>يُسْتَحْسَنُ أَنْ</a:t>
            </a:r>
            <a:pPr algn="l" indent="0" marL="0">
              <a:buNone/>
            </a:pPr>
            <a:r>
              <a:rPr lang="en-US" sz="1450" b="1" dirty="0">
                <a:solidFill>
                  <a:srgbClr val="1F2A37"/>
                </a:solidFill>
                <a:latin typeface="Calibri" pitchFamily="34" charset="0"/>
                <a:ea typeface="Calibri" pitchFamily="34" charset="-122"/>
                <a:cs typeface="Calibri" pitchFamily="34" charset="-120"/>
              </a:rPr>
              <a:t> is …</a:t>
            </a:r>
            <a:endParaRPr lang="en-US" sz="1450" dirty="0"/>
          </a:p>
        </p:txBody>
      </p:sp>
      <p:sp>
        <p:nvSpPr>
          <p:cNvPr id="87" name="Shape 84"/>
          <p:cNvSpPr/>
          <p:nvPr/>
        </p:nvSpPr>
        <p:spPr>
          <a:xfrm>
            <a:off x="8278368" y="48737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9" name="Text 86"/>
          <p:cNvSpPr txBox="1"/>
          <p:nvPr/>
        </p:nvSpPr>
        <p:spPr>
          <a:xfrm>
            <a:off x="8607552"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strict prohibition</a:t>
            </a:r>
            <a:endParaRPr lang="en-US" sz="1250" dirty="0"/>
          </a:p>
        </p:txBody>
      </p:sp>
      <p:sp>
        <p:nvSpPr>
          <p:cNvPr id="90" name="Shape 87"/>
          <p:cNvSpPr/>
          <p:nvPr/>
        </p:nvSpPr>
        <p:spPr>
          <a:xfrm>
            <a:off x="8278368" y="53309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92" name="Text 89"/>
          <p:cNvSpPr txBox="1"/>
          <p:nvPr/>
        </p:nvSpPr>
        <p:spPr>
          <a:xfrm>
            <a:off x="8607552"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polite advice</a:t>
            </a:r>
            <a:endParaRPr lang="en-US" sz="1250" dirty="0"/>
          </a:p>
        </p:txBody>
      </p:sp>
      <p:sp>
        <p:nvSpPr>
          <p:cNvPr id="93" name="Shape 90"/>
          <p:cNvSpPr/>
          <p:nvPr/>
        </p:nvSpPr>
        <p:spPr>
          <a:xfrm>
            <a:off x="8278368" y="5788152"/>
            <a:ext cx="256032" cy="256032"/>
          </a:xfrm>
          <a:prstGeom prst="ellipse">
            <a:avLst/>
          </a:prstGeom>
          <a:solidFill>
            <a:srgbClr val="F4F1EA"/>
          </a:solidFill>
          <a:ln w="12700">
            <a:solidFill>
              <a:srgbClr val="F4F1EA"/>
            </a:solidFill>
            <a:prstDash val="solid"/>
          </a:ln>
        </p:spPr>
      </p:sp>
      <p:sp>
        <p:nvSpPr>
          <p:cNvPr id="94" name="Text 91"/>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95" name="Text 92"/>
          <p:cNvSpPr txBox="1"/>
          <p:nvPr/>
        </p:nvSpPr>
        <p:spPr>
          <a:xfrm>
            <a:off x="8607552"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command</a:t>
            </a:r>
            <a:endParaRPr lang="en-US" sz="1250" dirty="0"/>
          </a:p>
        </p:txBody>
      </p:sp>
      <p:sp>
        <p:nvSpPr>
          <p:cNvPr id="96" name="Text 9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49 / 52</a:t>
            </a:r>
            <a:endParaRPr lang="en-US" sz="8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TE-L08 · Cultural Exchange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TE-L08</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Subjunctive: complete — </a:t>
            </a:r>
            <a:pPr algn="l" indent="0" marL="0">
              <a:buNone/>
            </a:pPr>
            <a:r>
              <a:rPr lang="ar-SA" altLang="en-US" sz="1650" b="1" dirty="0">
                <a:solidFill>
                  <a:srgbClr val="1B3B6F"/>
                </a:solidFill>
                <a:latin typeface="Amiri" pitchFamily="34" charset="0"/>
                <a:ea typeface="Amiri" pitchFamily="34" charset="-122"/>
                <a:cs typeface="Amiri" pitchFamily="34" charset="-120"/>
              </a:rPr>
              <a:t>يُسْتَحْسَنُ أَنْ</a:t>
            </a:r>
            <a:pPr algn="l" indent="0" marL="0">
              <a:buNone/>
            </a:pPr>
            <a:r>
              <a:rPr lang="en-US" sz="1250" b="1" dirty="0">
                <a:solidFill>
                  <a:srgbClr val="1B3B6F"/>
                </a:solidFill>
                <a:latin typeface="Calibri" pitchFamily="34" charset="0"/>
                <a:ea typeface="Calibri" pitchFamily="34" charset="-122"/>
                <a:cs typeface="Calibri" pitchFamily="34" charset="-120"/>
              </a:rPr>
              <a:t> ___ </a:t>
            </a:r>
            <a:pPr algn="l" indent="0" marL="0">
              <a:buNone/>
            </a:pPr>
            <a:r>
              <a:rPr lang="ar-SA" altLang="en-US" sz="1650" b="1" dirty="0">
                <a:solidFill>
                  <a:srgbClr val="1B3B6F"/>
                </a:solidFill>
                <a:latin typeface="Amiri" pitchFamily="34" charset="0"/>
                <a:ea typeface="Amiri" pitchFamily="34" charset="-122"/>
                <a:cs typeface="Amiri" pitchFamily="34" charset="-120"/>
              </a:rPr>
              <a:t>الزَّائِرُ التَّحِيَّةَ</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يَتَعَلَّمُ</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يَتَعَلَّمَ</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تَعَلَّمَ</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After </a:t>
            </a:r>
            <a:pPr algn="l" indent="0" marL="0">
              <a:buNone/>
            </a:pPr>
            <a:r>
              <a:rPr lang="ar-SA" altLang="en-US" sz="1350" dirty="0">
                <a:solidFill>
                  <a:srgbClr val="8A6D1E"/>
                </a:solidFill>
                <a:latin typeface="Amiri" pitchFamily="34" charset="0"/>
                <a:ea typeface="Amiri" pitchFamily="34" charset="-122"/>
                <a:cs typeface="Amiri" pitchFamily="34" charset="-120"/>
              </a:rPr>
              <a:t>أَنْ</a:t>
            </a:r>
            <a:pPr algn="l" indent="0" marL="0">
              <a:buNone/>
            </a:pPr>
            <a:r>
              <a:rPr lang="en-US" sz="1050" i="1" dirty="0">
                <a:solidFill>
                  <a:srgbClr val="8A6D1E"/>
                </a:solidFill>
                <a:latin typeface="Calibri" pitchFamily="34" charset="0"/>
                <a:ea typeface="Calibri" pitchFamily="34" charset="-122"/>
                <a:cs typeface="Calibri" pitchFamily="34" charset="-120"/>
              </a:rPr>
              <a:t> the verb is subjunctive.</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Subjunctive: complete — </a:t>
            </a:r>
            <a:pPr algn="l" indent="0" marL="0">
              <a:buNone/>
            </a:pPr>
            <a:r>
              <a:rPr lang="ar-SA" altLang="en-US" sz="1650" b="1" dirty="0">
                <a:solidFill>
                  <a:srgbClr val="1B3B6F"/>
                </a:solidFill>
                <a:latin typeface="Amiri" pitchFamily="34" charset="0"/>
                <a:ea typeface="Amiri" pitchFamily="34" charset="-122"/>
                <a:cs typeface="Amiri" pitchFamily="34" charset="-120"/>
              </a:rPr>
              <a:t>يُسْتَحْسَنُ أَنْ</a:t>
            </a:r>
            <a:pPr algn="l" indent="0" marL="0">
              <a:buNone/>
            </a:pPr>
            <a:r>
              <a:rPr lang="en-US" sz="1250" b="1" dirty="0">
                <a:solidFill>
                  <a:srgbClr val="1B3B6F"/>
                </a:solidFill>
                <a:latin typeface="Calibri" pitchFamily="34" charset="0"/>
                <a:ea typeface="Calibri" pitchFamily="34" charset="-122"/>
                <a:cs typeface="Calibri" pitchFamily="34" charset="-120"/>
              </a:rPr>
              <a:t> ___ </a:t>
            </a:r>
            <a:pPr algn="l" indent="0" marL="0">
              <a:buNone/>
            </a:pPr>
            <a:r>
              <a:rPr lang="ar-SA" altLang="en-US" sz="1650" b="1" dirty="0">
                <a:solidFill>
                  <a:srgbClr val="1B3B6F"/>
                </a:solidFill>
                <a:latin typeface="Amiri" pitchFamily="34" charset="0"/>
                <a:ea typeface="Amiri" pitchFamily="34" charset="-122"/>
                <a:cs typeface="Amiri" pitchFamily="34" charset="-120"/>
              </a:rPr>
              <a:t>مَلَابِسَ مُحْتَشِمَةً</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يَرْتَدِيَ</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يَرْتَدِي</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ارْتَدَى</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defective verb's subjunctive is </a:t>
            </a:r>
            <a:pPr algn="l" indent="0" marL="0">
              <a:buNone/>
            </a:pPr>
            <a:r>
              <a:rPr lang="ar-SA" altLang="en-US" sz="1350" dirty="0">
                <a:solidFill>
                  <a:srgbClr val="8A6D1E"/>
                </a:solidFill>
                <a:latin typeface="Amiri" pitchFamily="34" charset="0"/>
                <a:ea typeface="Amiri" pitchFamily="34" charset="-122"/>
                <a:cs typeface="Amiri" pitchFamily="34" charset="-120"/>
              </a:rPr>
              <a:t>يَرْتَدِيَ</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Subjunctive: complete — </a:t>
            </a:r>
            <a:pPr algn="l" indent="0" marL="0">
              <a:buNone/>
            </a:pPr>
            <a:r>
              <a:rPr lang="ar-SA" altLang="en-US" sz="1650" b="1" dirty="0">
                <a:solidFill>
                  <a:srgbClr val="1B3B6F"/>
                </a:solidFill>
                <a:latin typeface="Amiri" pitchFamily="34" charset="0"/>
                <a:ea typeface="Amiri" pitchFamily="34" charset="-122"/>
                <a:cs typeface="Amiri" pitchFamily="34" charset="-120"/>
              </a:rPr>
              <a:t>يَجِبُ أَنْ</a:t>
            </a:r>
            <a:pPr algn="l" indent="0" marL="0">
              <a:buNone/>
            </a:pPr>
            <a:r>
              <a:rPr lang="en-US" sz="1250" b="1" dirty="0">
                <a:solidFill>
                  <a:srgbClr val="1B3B6F"/>
                </a:solidFill>
                <a:latin typeface="Calibri" pitchFamily="34" charset="0"/>
                <a:ea typeface="Calibri" pitchFamily="34" charset="-122"/>
                <a:cs typeface="Calibri" pitchFamily="34" charset="-120"/>
              </a:rPr>
              <a:t> ___ </a:t>
            </a:r>
            <a:pPr algn="l" indent="0" marL="0">
              <a:buNone/>
            </a:pPr>
            <a:r>
              <a:rPr lang="ar-SA" altLang="en-US" sz="1650" b="1" dirty="0">
                <a:solidFill>
                  <a:srgbClr val="1B3B6F"/>
                </a:solidFill>
                <a:latin typeface="Amiri" pitchFamily="34" charset="0"/>
                <a:ea typeface="Amiri" pitchFamily="34" charset="-122"/>
                <a:cs typeface="Amiri" pitchFamily="34" charset="-120"/>
              </a:rPr>
              <a:t>حِذَاءَكَ</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تَخْلَعُ</a:t>
            </a:r>
            <a:endParaRPr lang="ar-SA" sz="17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خَلَعْتَ</a:t>
            </a:r>
            <a:endParaRPr lang="ar-SA" sz="17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تَخْلَعَ</a:t>
            </a:r>
            <a:endParaRPr lang="ar-SA" sz="17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verb after </a:t>
            </a:r>
            <a:pPr algn="l" indent="0" marL="0">
              <a:buNone/>
            </a:pPr>
            <a:r>
              <a:rPr lang="ar-SA" altLang="en-US" sz="1350" dirty="0">
                <a:solidFill>
                  <a:srgbClr val="8A6D1E"/>
                </a:solidFill>
                <a:latin typeface="Amiri" pitchFamily="34" charset="0"/>
                <a:ea typeface="Amiri" pitchFamily="34" charset="-122"/>
                <a:cs typeface="Amiri" pitchFamily="34" charset="-120"/>
              </a:rPr>
              <a:t>أَنْ</a:t>
            </a:r>
            <a:pPr algn="l" indent="0" marL="0">
              <a:buNone/>
            </a:pPr>
            <a:r>
              <a:rPr lang="en-US" sz="1050" i="1" dirty="0">
                <a:solidFill>
                  <a:srgbClr val="8A6D1E"/>
                </a:solidFill>
                <a:latin typeface="Calibri" pitchFamily="34" charset="0"/>
                <a:ea typeface="Calibri" pitchFamily="34" charset="-122"/>
                <a:cs typeface="Calibri" pitchFamily="34" charset="-120"/>
              </a:rPr>
              <a:t> takes a fatḥa.</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Object: which uses </a:t>
            </a:r>
            <a:pPr algn="l" indent="0" marL="0">
              <a:buNone/>
            </a:pPr>
            <a:r>
              <a:rPr lang="ar-SA" altLang="en-US" sz="1650" b="1" dirty="0">
                <a:solidFill>
                  <a:srgbClr val="1B3B6F"/>
                </a:solidFill>
                <a:latin typeface="Amiri" pitchFamily="34" charset="0"/>
                <a:ea typeface="Amiri" pitchFamily="34" charset="-122"/>
                <a:cs typeface="Amiri" pitchFamily="34" charset="-120"/>
              </a:rPr>
              <a:t>يَحْظُرُ</a:t>
            </a:r>
            <a:pPr algn="l" indent="0" marL="0">
              <a:buNone/>
            </a:pPr>
            <a:r>
              <a:rPr lang="en-US" sz="1250" b="1" dirty="0">
                <a:solidFill>
                  <a:srgbClr val="1B3B6F"/>
                </a:solidFill>
                <a:latin typeface="Calibri" pitchFamily="34" charset="0"/>
                <a:ea typeface="Calibri" pitchFamily="34" charset="-122"/>
                <a:cs typeface="Calibri" pitchFamily="34" charset="-120"/>
              </a:rPr>
              <a:t> correctly?</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يَحْظُرُ المَوْقِعُ بِالتَّصْوِيرِ.</a:t>
            </a:r>
            <a:endParaRPr lang="ar-SA" sz="170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يَحْظُرُ المَوْقِعُ عَنِ التَّصْوِيرِ.</a:t>
            </a:r>
            <a:endParaRPr lang="ar-SA" sz="170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يَحْظُرُ المَوْقِعُ التَّصْوِيرَ.</a:t>
            </a:r>
            <a:endParaRPr lang="ar-SA" sz="170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يَحْظُرُ</a:t>
            </a:r>
            <a:pPr algn="l" indent="0" marL="0">
              <a:buNone/>
            </a:pPr>
            <a:r>
              <a:rPr lang="en-US" sz="1050" i="1" dirty="0">
                <a:solidFill>
                  <a:srgbClr val="8A6D1E"/>
                </a:solidFill>
                <a:latin typeface="Calibri" pitchFamily="34" charset="0"/>
                <a:ea typeface="Calibri" pitchFamily="34" charset="-122"/>
                <a:cs typeface="Calibri" pitchFamily="34" charset="-120"/>
              </a:rPr>
              <a:t> takes a direct object.</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9"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Preposition: complete — </a:t>
            </a:r>
            <a:pPr algn="l" indent="0" marL="0">
              <a:buNone/>
            </a:pPr>
            <a:r>
              <a:rPr lang="ar-SA" altLang="en-US" sz="1650" b="1" dirty="0">
                <a:solidFill>
                  <a:srgbClr val="1B3B6F"/>
                </a:solidFill>
                <a:latin typeface="Amiri" pitchFamily="34" charset="0"/>
                <a:ea typeface="Amiri" pitchFamily="34" charset="-122"/>
                <a:cs typeface="Amiri" pitchFamily="34" charset="-120"/>
              </a:rPr>
              <a:t>يَسْمَحُ المَتْحَفُ</a:t>
            </a:r>
            <a:pPr algn="l" indent="0" marL="0">
              <a:buNone/>
            </a:pPr>
            <a:r>
              <a:rPr lang="en-US" sz="1250" b="1" dirty="0">
                <a:solidFill>
                  <a:srgbClr val="1B3B6F"/>
                </a:solidFill>
                <a:latin typeface="Calibri" pitchFamily="34" charset="0"/>
                <a:ea typeface="Calibri" pitchFamily="34" charset="-122"/>
                <a:cs typeface="Calibri" pitchFamily="34" charset="-120"/>
              </a:rPr>
              <a:t> ___ </a:t>
            </a:r>
            <a:pPr algn="l" indent="0" marL="0">
              <a:buNone/>
            </a:pPr>
            <a:r>
              <a:rPr lang="ar-SA" altLang="en-US" sz="1650" b="1" dirty="0">
                <a:solidFill>
                  <a:srgbClr val="1B3B6F"/>
                </a:solidFill>
                <a:latin typeface="Amiri" pitchFamily="34" charset="0"/>
                <a:ea typeface="Amiri" pitchFamily="34" charset="-122"/>
                <a:cs typeface="Amiri" pitchFamily="34" charset="-120"/>
              </a:rPr>
              <a:t>التَّصْوِيرِ</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80"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3"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بِـ</a:t>
            </a:r>
            <a:endParaRPr lang="ar-SA" sz="1700" dirty="0"/>
          </a:p>
        </p:txBody>
      </p:sp>
      <p:sp>
        <p:nvSpPr>
          <p:cNvPr id="84"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6"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عَنْ</a:t>
            </a:r>
            <a:endParaRPr lang="ar-SA" sz="1700" dirty="0"/>
          </a:p>
        </p:txBody>
      </p:sp>
      <p:sp>
        <p:nvSpPr>
          <p:cNvPr id="87"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9"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إِلَى</a:t>
            </a:r>
            <a:endParaRPr lang="ar-SA" sz="1700" dirty="0"/>
          </a:p>
        </p:txBody>
      </p:sp>
      <p:sp>
        <p:nvSpPr>
          <p:cNvPr id="90"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يَسْمَحُ</a:t>
            </a:r>
            <a:pPr algn="l" indent="0" marL="0">
              <a:buNone/>
            </a:pPr>
            <a:r>
              <a:rPr lang="en-US" sz="1050" i="1" dirty="0">
                <a:solidFill>
                  <a:srgbClr val="8A6D1E"/>
                </a:solidFill>
                <a:latin typeface="Calibri" pitchFamily="34" charset="0"/>
                <a:ea typeface="Calibri" pitchFamily="34" charset="-122"/>
                <a:cs typeface="Calibri" pitchFamily="34" charset="-120"/>
              </a:rPr>
              <a:t> takes </a:t>
            </a:r>
            <a:pPr algn="l" indent="0" marL="0">
              <a:buNone/>
            </a:pPr>
            <a:r>
              <a:rPr lang="ar-SA" altLang="en-US" sz="1350" dirty="0">
                <a:solidFill>
                  <a:srgbClr val="8A6D1E"/>
                </a:solidFill>
                <a:latin typeface="Amiri" pitchFamily="34" charset="0"/>
                <a:ea typeface="Amiri" pitchFamily="34" charset="-122"/>
                <a:cs typeface="Amiri" pitchFamily="34" charset="-120"/>
              </a:rPr>
              <a:t>بِـ</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91" name="Shape 8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2" name="Shape 90"/>
          <p:cNvSpPr/>
          <p:nvPr/>
        </p:nvSpPr>
        <p:spPr>
          <a:xfrm>
            <a:off x="8223504" y="4288536"/>
            <a:ext cx="310896" cy="310896"/>
          </a:xfrm>
          <a:prstGeom prst="ellipse">
            <a:avLst/>
          </a:prstGeom>
          <a:solidFill>
            <a:srgbClr val="1B3B6F"/>
          </a:solidFill>
          <a:ln w="12700">
            <a:solidFill>
              <a:srgbClr val="1B3B6F"/>
            </a:solidFill>
            <a:prstDash val="solid"/>
          </a:ln>
        </p:spPr>
      </p:sp>
      <p:sp>
        <p:nvSpPr>
          <p:cNvPr id="93" name="Text 9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94" name="Text 92"/>
          <p:cNvSpPr txBox="1"/>
          <p:nvPr/>
        </p:nvSpPr>
        <p:spPr>
          <a:xfrm>
            <a:off x="8589264"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Force:</a:t>
            </a:r>
            <a:endParaRPr lang="en-US" sz="1200" dirty="0"/>
          </a:p>
        </p:txBody>
      </p:sp>
      <p:sp>
        <p:nvSpPr>
          <p:cNvPr id="95" name="Text 93"/>
          <p:cNvSpPr txBox="1"/>
          <p:nvPr/>
        </p:nvSpPr>
        <p:spPr>
          <a:xfrm>
            <a:off x="10044989" y="4224528"/>
            <a:ext cx="1577035" cy="475488"/>
          </a:xfrm>
          <a:prstGeom prst="rect">
            <a:avLst/>
          </a:prstGeom>
          <a:noFill/>
          <a:ln/>
        </p:spPr>
        <p:txBody>
          <a:bodyPr wrap="square" lIns="0" tIns="0" rIns="0" bIns="0" rtlCol="0" anchor="ctr"/>
          <a:lstStyle/>
          <a:p>
            <a:pPr algn="l" indent="0" marL="0">
              <a:buNone/>
            </a:pPr>
            <a:r>
              <a:rPr lang="ar-SA" altLang="en-US" sz="1900" b="1" dirty="0">
                <a:solidFill>
                  <a:srgbClr val="1F2A37"/>
                </a:solidFill>
                <a:latin typeface="Amiri" pitchFamily="34" charset="0"/>
                <a:ea typeface="Amiri" pitchFamily="34" charset="-122"/>
                <a:cs typeface="Amiri" pitchFamily="34" charset="-120"/>
              </a:rPr>
              <a:t>يُسْتَحْسَنُ أَنْ</a:t>
            </a:r>
            <a:pPr algn="l" indent="0" marL="0">
              <a:buNone/>
            </a:pPr>
            <a:r>
              <a:rPr lang="en-US" sz="1450" b="1" dirty="0">
                <a:solidFill>
                  <a:srgbClr val="1F2A37"/>
                </a:solidFill>
                <a:latin typeface="Calibri" pitchFamily="34" charset="0"/>
                <a:ea typeface="Calibri" pitchFamily="34" charset="-122"/>
                <a:cs typeface="Calibri" pitchFamily="34" charset="-120"/>
              </a:rPr>
              <a:t> is …</a:t>
            </a:r>
            <a:endParaRPr lang="en-US" sz="1450" dirty="0"/>
          </a:p>
        </p:txBody>
      </p:sp>
      <p:sp>
        <p:nvSpPr>
          <p:cNvPr id="96" name="Shape 94"/>
          <p:cNvSpPr/>
          <p:nvPr/>
        </p:nvSpPr>
        <p:spPr>
          <a:xfrm>
            <a:off x="8278368" y="4831080"/>
            <a:ext cx="256032" cy="256032"/>
          </a:xfrm>
          <a:prstGeom prst="ellipse">
            <a:avLst/>
          </a:prstGeom>
          <a:solidFill>
            <a:srgbClr val="C9CED6"/>
          </a:solidFill>
          <a:ln w="12700">
            <a:solidFill>
              <a:srgbClr val="C9CED6"/>
            </a:solidFill>
            <a:prstDash val="solid"/>
          </a:ln>
        </p:spPr>
      </p:sp>
      <p:sp>
        <p:nvSpPr>
          <p:cNvPr id="97" name="Text 95"/>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98" name="Text 96"/>
          <p:cNvSpPr txBox="1"/>
          <p:nvPr/>
        </p:nvSpPr>
        <p:spPr>
          <a:xfrm>
            <a:off x="8607552"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strict prohibition</a:t>
            </a:r>
            <a:endParaRPr lang="en-US" sz="1250" dirty="0"/>
          </a:p>
        </p:txBody>
      </p:sp>
      <p:sp>
        <p:nvSpPr>
          <p:cNvPr id="99" name="Shape 97"/>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100" name="Shape 98"/>
          <p:cNvSpPr/>
          <p:nvPr/>
        </p:nvSpPr>
        <p:spPr>
          <a:xfrm>
            <a:off x="8278368" y="5202936"/>
            <a:ext cx="256032" cy="256032"/>
          </a:xfrm>
          <a:prstGeom prst="ellipse">
            <a:avLst/>
          </a:prstGeom>
          <a:solidFill>
            <a:srgbClr val="2E8B57"/>
          </a:solidFill>
          <a:ln w="12700">
            <a:solidFill>
              <a:srgbClr val="2E8B57"/>
            </a:solidFill>
            <a:prstDash val="solid"/>
          </a:ln>
        </p:spPr>
      </p:sp>
      <p:sp>
        <p:nvSpPr>
          <p:cNvPr id="101" name="Text 99"/>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102" name="Text 100"/>
          <p:cNvSpPr txBox="1"/>
          <p:nvPr/>
        </p:nvSpPr>
        <p:spPr>
          <a:xfrm>
            <a:off x="8607552"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polite advice</a:t>
            </a:r>
            <a:endParaRPr lang="en-US" sz="1250" dirty="0"/>
          </a:p>
        </p:txBody>
      </p:sp>
      <p:sp>
        <p:nvSpPr>
          <p:cNvPr id="103" name="Shape 101"/>
          <p:cNvSpPr/>
          <p:nvPr/>
        </p:nvSpPr>
        <p:spPr>
          <a:xfrm>
            <a:off x="8278368" y="5574792"/>
            <a:ext cx="256032" cy="256032"/>
          </a:xfrm>
          <a:prstGeom prst="ellipse">
            <a:avLst/>
          </a:prstGeom>
          <a:solidFill>
            <a:srgbClr val="C9CED6"/>
          </a:solidFill>
          <a:ln w="12700">
            <a:solidFill>
              <a:srgbClr val="C9CED6"/>
            </a:solidFill>
            <a:prstDash val="solid"/>
          </a:ln>
        </p:spPr>
      </p:sp>
      <p:sp>
        <p:nvSpPr>
          <p:cNvPr id="104" name="Text 102"/>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105" name="Text 103"/>
          <p:cNvSpPr txBox="1"/>
          <p:nvPr/>
        </p:nvSpPr>
        <p:spPr>
          <a:xfrm>
            <a:off x="8607552"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command</a:t>
            </a:r>
            <a:endParaRPr lang="en-US" sz="1250" dirty="0"/>
          </a:p>
        </p:txBody>
      </p:sp>
      <p:sp>
        <p:nvSpPr>
          <p:cNvPr id="106" name="Text 104"/>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يُسْتَحْسَنُ أَنْ</a:t>
            </a:r>
            <a:pPr algn="l" indent="0" marL="0">
              <a:buNone/>
            </a:pPr>
            <a:r>
              <a:rPr lang="en-US" sz="1050" i="1" dirty="0">
                <a:solidFill>
                  <a:srgbClr val="8A6D1E"/>
                </a:solidFill>
                <a:latin typeface="Calibri" pitchFamily="34" charset="0"/>
                <a:ea typeface="Calibri" pitchFamily="34" charset="-122"/>
                <a:cs typeface="Calibri" pitchFamily="34" charset="-120"/>
              </a:rPr>
              <a:t> is gentle, polite advice.</a:t>
            </a:r>
            <a:endParaRPr lang="en-US" sz="1050" dirty="0"/>
          </a:p>
        </p:txBody>
      </p:sp>
      <p:sp>
        <p:nvSpPr>
          <p:cNvPr id="107" name="Text 10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50 / 52</a:t>
            </a:r>
            <a:endParaRPr lang="en-US" sz="8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TE-L08 · Cultural Exchange</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ea typeface="Calibri" pitchFamily="34" charset="-122"/>
                <a:cs typeface="Calibri" pitchFamily="34" charset="-120"/>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Before TE-L09: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E · The International World · TE-L08</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ea typeface="Calibri" pitchFamily="34" charset="-122"/>
                <a:cs typeface="Calibri" pitchFamily="34" charset="-120"/>
              </a:rPr>
              <a:t>LEARN THESE 5 WORDS</a:t>
            </a:r>
            <a:endParaRPr lang="en-US" sz="1100" dirty="0"/>
          </a:p>
          <a:p>
            <a:pPr indent="0" marL="0">
              <a:buNone/>
            </a:pPr>
            <a:r>
              <a:rPr lang="en-US" sz="1000" dirty="0">
                <a:solidFill>
                  <a:srgbClr val="5A6472"/>
                </a:solidFill>
                <a:latin typeface="Calibri" pitchFamily="34" charset="0"/>
                <a:ea typeface="Calibri" pitchFamily="34" charset="-122"/>
                <a:cs typeface="Calibri" pitchFamily="34" charset="-120"/>
              </a:rPr>
              <a:t>for TE-L09 · Comparing Cultures with Respect</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جَالِيَةٌ عَرَبِيَّةٌ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an Arab community abroad</a:t>
            </a:r>
            <a:pPr indent="0" marL="0">
              <a:buNone/>
            </a:pPr>
            <a:r>
              <a:rPr lang="en-US" sz="1000" i="1" dirty="0">
                <a:solidFill>
                  <a:srgbClr val="5A6472"/>
                </a:solidFill>
                <a:latin typeface="Calibri" pitchFamily="34" charset="0"/>
                <a:ea typeface="Calibri" pitchFamily="34" charset="-122"/>
                <a:cs typeface="Calibri" pitchFamily="34" charset="-120"/>
              </a:rPr>
              <a:t>  pl. جَالِيَاتٌ</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مُهَاجِرٌ / مُهَاجِرَةٌ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a migrant (m / f)</a:t>
            </a:r>
            <a:pPr indent="0" marL="0">
              <a:buNone/>
            </a:pPr>
            <a:r>
              <a:rPr lang="en-US" sz="1000" i="1" dirty="0">
                <a:solidFill>
                  <a:srgbClr val="5A6472"/>
                </a:solidFill>
                <a:latin typeface="Calibri" pitchFamily="34" charset="0"/>
                <a:ea typeface="Calibri" pitchFamily="34" charset="-122"/>
                <a:cs typeface="Calibri" pitchFamily="34" charset="-120"/>
              </a:rPr>
              <a:t>  pl. مُهَاجِرُونَ</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الجِيلُ الثَّانِي</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the second generation</a:t>
            </a:r>
            <a:pPr indent="0" marL="0">
              <a:buNone/>
            </a:pPr>
            <a:r>
              <a:rPr lang="en-US" sz="1000" i="1" dirty="0">
                <a:solidFill>
                  <a:srgbClr val="5A6472"/>
                </a:solidFill>
                <a:latin typeface="Calibri" pitchFamily="34" charset="0"/>
                <a:ea typeface="Calibri" pitchFamily="34" charset="-122"/>
                <a:cs typeface="Calibri" pitchFamily="34" charset="-120"/>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هُوِيَّةٌ مُزْدَوَجَةٌ</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dual identity</a:t>
            </a:r>
            <a:pPr indent="0" marL="0">
              <a:buNone/>
            </a:pPr>
            <a:r>
              <a:rPr lang="en-US" sz="1000" i="1" dirty="0">
                <a:solidFill>
                  <a:srgbClr val="5A6472"/>
                </a:solidFill>
                <a:latin typeface="Calibri" pitchFamily="34" charset="0"/>
                <a:ea typeface="Calibri" pitchFamily="34" charset="-122"/>
                <a:cs typeface="Calibri" pitchFamily="34" charset="-120"/>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جُذُورٌ</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roots</a:t>
            </a:r>
            <a:pPr indent="0" marL="0">
              <a:buNone/>
            </a:pPr>
            <a:r>
              <a:rPr lang="en-US" sz="1000" i="1" dirty="0">
                <a:solidFill>
                  <a:srgbClr val="5A6472"/>
                </a:solidFill>
                <a:latin typeface="Calibri" pitchFamily="34" charset="0"/>
                <a:ea typeface="Calibri" pitchFamily="34" charset="-122"/>
                <a:cs typeface="Calibri" pitchFamily="34" charset="-120"/>
              </a:rPr>
              <a:t>  sing. جِذْرٌ</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ea typeface="Calibri" pitchFamily="34" charset="-122"/>
                <a:cs typeface="Calibri" pitchFamily="34" charset="-120"/>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ea typeface="Calibri" pitchFamily="34" charset="-122"/>
                <a:cs typeface="Calibri" pitchFamily="34" charset="-120"/>
              </a:rPr>
              <a:t>Where did your family’s roots begin, and how does your family keep its language and culture here?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34" charset="0"/>
                <a:ea typeface="Amiri" pitchFamily="34" charset="-122"/>
                <a:cs typeface="Amiri" pitchFamily="34" charset="-120"/>
              </a:rPr>
              <a:t>جُذُورُ عَائِلَتِي فِي … وَنَحْتَفِظُ بِـ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Write four advice sentences with yustaḥsan an and yajib an (verbs in -a).</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Add a yaḥẓur rule and a yasmaḥ bi- permission (60–80 words).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writing task: a 100–110-word cultural guide for visitors to an Arab country.</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51 / 52</a:t>
            </a:r>
            <a:endParaRPr lang="en-US" sz="8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TE-L08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34" charset="0"/>
                <a:ea typeface="Amiri" pitchFamily="34" charset="-122"/>
                <a:cs typeface="Amiri" pitchFamily="34" charset="-120"/>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ea typeface="Calibri" pitchFamily="34" charset="-122"/>
                <a:cs typeface="Calibri" pitchFamily="34" charset="-120"/>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300" b="1" dirty="0">
                <a:solidFill>
                  <a:srgbClr val="FFFFFF"/>
                </a:solidFill>
                <a:latin typeface="Cambria" pitchFamily="34" charset="0"/>
                <a:ea typeface="Cambria" pitchFamily="34" charset="-122"/>
                <a:cs typeface="Cambria" pitchFamily="34" charset="-120"/>
              </a:rPr>
              <a:t>TE-L09 · Comparing Cultures with Respect</a:t>
            </a:r>
            <a:endParaRPr lang="en-US" sz="23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34" charset="0"/>
                <a:ea typeface="Amiri" pitchFamily="34" charset="-122"/>
                <a:cs typeface="Amiri" pitchFamily="34" charset="-120"/>
              </a:rPr>
              <a:t>مُقَارَنَةُ الثَّقَافَاتِ بِاحْتِرَامٍ</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Remember: learn the 5 words for TE-L09.</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TE-L08 · Travel, Cultural Exchange and Understanding</dc:title>
  <dc:subject>PptxGenJS Presentation</dc:subject>
  <dc:creator>Al Madina Online School · Arabic Department</dc:creator>
  <cp:lastModifiedBy>Al Madina Online School · Arabic Department</cp:lastModifiedBy>
  <cp:revision>1</cp:revision>
  <dcterms:created xsi:type="dcterms:W3CDTF">2026-10-11T04:23:35Z</dcterms:created>
  <dcterms:modified xsi:type="dcterms:W3CDTF">2026-10-11T04:23:35Z</dcterms:modified>
</cp:coreProperties>
</file>