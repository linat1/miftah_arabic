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TE-L08 — Travel, Cultural Exchange and Understanding. Website: Advanced Topics › Topic E (The International World) › Lesson 8.
The website builds this lesson on the P3-L07 lesson engine, with the Topic focus “Explain how travel and exchange can broaden knowledge and challenge assumptions.” (grammar: Past experience; future; cause and result; skills: Speaking · Writing) and the application challenge “Respectful visitor role-play”.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E Travel, Holidays and Transport › TE-L08. The website lesson “Cultural Sensitivity in Travel — Being a Respectful Visitor”: vocabulary, grammar rules and quiz, patterns, common mistakes, sorter, listening, reading, speaking prompts and model, writing task and model, differentiation, final check and the lesson mission. Picture match: website visual game “Cultural Sensitivity in Travel — Being a Respectful Visitor”.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four advice sentences with yustaḥsan an and yajib an (website Core). Develop: add a yaḥẓur rule and a yasmaḥ bi- permission. Stretch: a full 100–110-word cultural guide with a reported tip and a Type 2 reflection.
• Our students are often the experts here: many know mosque etiquette, Ramadan courtesy and hospitality customs from home. Invite them to advise “a visitor to our community” — it builds pride and confidence.
• Mosque etiquette in the texts: taking off shoes is for everyone; covering the head (تُغَطِّيَ رَأْسَكِ) is expected of women visitors. Clarify gently if asked.
• Grammar link: the subjunctive after an was introduced in P3-L06 (website) (qarrartu an aljaʾa). Today adds yustaḥsan an and weak verbs: يَرْتَدِي → أَنْ يَرْتَدِيَ.
• TEACHER-WRITTEN ITEMS: waṣl alif shown without a kasra; rule headings and formulas in English and transliteration; sorter headings in transliteration; game card 1 not used (its waṣl alif carries a kasra); the modal, subjunctive, rules and guide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P3-L06 (website). Questions 4–5 retrieve the subjunctive after an and yuballigh ʿan (P3-L06, website) — today the subjunctive becomes polite advice.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Polite advice: yustaḥsan an + a verb in -a. Rules: yaḥẓur + object · yasmaḥ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احترام، ثقافت، لباس and عادت are shared. Careful with تقلید: in Urdu (and in fiqh) it means following / imitating; Arabic تَقَالِيدُ (sg. تَقْلِيدٌ) means traditions, customs.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Cultural sensitivity (website vocabulary (1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Cultural sensitivity (website vocabulary (2 of 2)). Hear → Say → See → Use. Transliteration is printed for Core students (cover it for Develop/Stretch).
Cultural sensitivity: the nouns of a visitor’s guide. احْتِرَامُ المُقَدَّسَاتِ = respect for sacred places (mosques, shrines, holy sites); زَلَّةٌ ثَقَافِيَّةٌ = a cultural slip, a faux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Modal advice verbs (website vocabulary (1 of 2)). Hear → Say → See → Use. Transliteration is printed for Core students (cover it for Develop/Stretch).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Modal advice verbs (website vocabulary (2 of 2)). Hear → Say → See → Use. Transliteration is printed for Core students (cover it for Develop/Stretch).
FLEX: teach if time allows; otherwise these are on the website vocabulary tab for homework.
Modal advice verbs: يُسْتَحْسَنُ أَنْ (polite) and يَجِبُ أَنْ (strong) + a verb in -a. Rules: يَحْظُرُ + object (prohibits), يَسْمَحُ بِـ (permits), يُفْضِي إِلَى (leads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subjunctive after أَنْ (website vocabulary (1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subjunctive after أَنْ (website vocabulary (2 of 2)). Hear → Say → See → Use. Transliteration is printed for Core students (cover it for Develop/Stretch).
FLEX: teach if time allows; otherwise these are on the website vocabulary tab for homework.
The subjunctive after أَنْ: the verb ends in -a, even weak verbs — يَرْتَدِي → أَنْ يَرْتَدِيَ. Change the person to speak to the visitor: أَنْ تَتَعَلَّمَ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1–3, teaching points 1–2 and the website table.
يُسْتَحْسَنُ is passive (“it is considered good”) — so it never changes: يُسْتَحْسَنُ أَنْ يَتَعَلَّمَ / أَنْ تَتَعَلَّمِي / أَنْ نَتَعَلَّمَ.
Softer → stronger: يُسْتَحْسَنُ أَنْ (it is preferable) → يَنْبَغِي أَنْ (one should, P3-L05 (website) game) → يَجِبُ أَنْ (you must).
Islamic link for students who want it: مَكْرُوهٌ / مُسْتَحَبٌّ / وَاجِبٌ / حَرَامٌ share the same idea of graded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quiz questions 1–3, vocabulary group 3 (يَتَعَلَّمَ · يَحْتَرِمَ · يَرْتَدِيَ) and the listening and reading texts.
Weak verbs: ending in ـِي (يَرْتَدِي · يُغَطِّي · يَمْشِي) → add fatḥa: يَرْتَدِيَ. Ending in ـُو (يَدْعُو) → يَدْعُوَ. Ending in ـَى (يَسْعَى · يَنْسَى) → no visible change.
Row 4: a second verb joined with وَ is also subjunctive (أَنْ تَخْلَعَ … وَتُغَطِّيَ). To a woman: رَأْسَكِ (the website says رَأْسَكَ, addressing “you” in 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“Rules: يَحْظُرُ / يَسْمَحُ بِـ”, teaching point 2 and mistakes 2–3. Card 3 uses the website vocabulary item يُفْضِي إِلَى.
On real signs you will see the noun forms: مَمْنُوعٌ التَّصْوِيرُ / يُمْنَعُ التَّصْوِيرُ (photography forbidden) · يُسْمَحُ بِالتَّصْوِيرِ (photography allowed). Note: with يَسْمَحُ, the thing permitted takes بِـ and the person takes لِـ: يَسْمَحُ لِلزُّوَّارِ بِالتَّصْوِيرِ.
Card 2: مَوَاقِعُ (non-human plural) → feminine verb تَسْمَحُ.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“Advice scenario and reflection” plus register tools from the listening, reading and writing model.
Row 1: دُعِيتَ = “you were invited” (passive of دَعَا). Row 2: يُعْتَبَرُ = “is considered” (passive). Row 4: احْتِرَامًا لِـ = “out of respect for” — an accusative maṣdar giving the reason (المَفْعُولُ لِأَجْلِهِ).
Row 5: قَلَّ (to become few) → لَقَلَّتِ الزَّلَّاتُ (faux pas would have been fewer) — feminine because الزَّلَّاتُ is a non-human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“يُسْتَحْسَنُ أَنْ and يَجِبُ أَنْ take a subjunctive verb (fatḥa); يَحْظُرُ and يَسْمَحُ بِـ state rules; both conditional types frame scenarios and reflections.”
• yustaḥsan an + subjunctive: Polite, impersonal advice; the verb takes a fatḥa.
• yajib an + subjunctive: A stronger obligation; still a subjunctive.
• Rules: yaḥẓur / yasmaḥ bi-: Prohibits (with an object) and permits (with بِـ).
• Advice scenario and reflection: Advise for a case, then reflect on a missed chance.
Website common error: Leaving the verb after أَنْ in the indicative (يَتَعَلَّمُ) instead of the subjunctive (يَتَعَلَّمَ), or adding بِـ after يَحْظُرُ.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general: yuʿtabaru. Polite advice: yustaḥsanu AN — so yataʿallamA, yartadiyA. A scenario: idhā zurta masjidan, yajibu an takhlaʿA. A rule: yaḥẓuru + object — no bi-. A reported tip: akhbaranī … anna. Close with law … la-qallat.”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(“Respectful Visitor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“Respectful Visitor”: respecting customs, asking the host, no photos where forbidden.
Website feedback lines: The traveller respects local customs. · The visitor asks rather than assumes. · The camera prohibition is respected.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(“Respectful Visitor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“Respectful Visitor”: respecting customs, asking the host, no photos where forbidden.
Website feedback lines: The traveller respects local customs. · The visitor asks rather than assumes. · The camera prohibition is respected.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Cultural Sensitivity in Travel — Being a Respectful Visitor”)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1 not used). Then turn each into advice: يُسْتَحْسَنُ أَنْ يَتَعَلَّمَ الزَّائِرُ التَّحِيَّةَ المَحَلِّيَّةَ · يُسْتَحْسَنُ أَنْ يَحْتَرِمَ اللِّبَاسَ التَّقْلِيدِيَّ · يُسْتَحْسَنُ أَنْ يُجَرِّبَ الأَطْبَاقَ التَّقْلِيدِيَّةَ.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 cultural guide from a piece of advice, a rule and a reflection.” Website feedback: any three different combinations work.
Core: read row 1 across. Develop: change column 1 to “you”: يُسْتَحْسَنُ أَنْ تَتَعَلَّمَ / تَرْتَدِيَ / تَتَجَنَّبَ. Stretch: write your own column-3 reflection about our school: لَوْ عَرَفَ الزُّوَّارُ … ، لَـ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put the right verb in front of each card: يُسْتَحْسَنُ / يَجِبُ + أَنْ … · يَحْظُرُ المَوْقِعُ … · يَسْمَحُ المَتْحَفُ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every verb after an.
Listen 1: just listen. Listen 2: note answers. Then chat the letters.
Support: after the second listening, show the read-along slide (Arabic + English, line by line) for Core students.
SCRIPT (read aloud):
يُعْتَبَرُ الاحْتِرَامُ الثَّقَافِيُّ رَكِيزَةً أَسَاسِيَّةً لِأَيِّ رِحْلَةٍ نَاجِحَةٍ إِلَى العَالَمِ العَرَبِيِّ. يُشَارُ إِلَى أَنَّ الزُّوَّارَ الَّذِينَ يَحْتَرِمُونَ العَادَاتِ المَحَلِّيَّةَ يَحْظَوْنَ بِاسْتِقْبَالٍ أَدْفَأَ. يُسْتَحْسَنُ أَنْ يَرْتَدِيَ الزَّائِرُ مَلَابِسَ مُحْتَشِمَةً فِي الأَمَاكِنِ العَامَّةِ. وَإِذَا زُرْتَ مَسْجِدًا، يَجِبُ أَنْ تَخْلَعَ حِذَاءَكَ وَتُغَطِّيَ رَأْسَكَ. كَمَا يَحْظُرُ بَعْضُ المَوَاقِعِ التَّصْوِيرَ، بَيْنَمَا تَسْمَحُ مَوَاقِعُ أُخْرَى بِهِ دُونَ فَلَاشٍ. وَأَخْبَرَنِي مُرْشِدٌ مَحَلِّيٌّ أَنَّهُ مِنَ المُسْتَحْسَنِ تَعَلُّمُ التَّحِيَّةِ العَرَبِيَّةِ، وَقَالَ إِنَّ هٰذِهِ البَادِرَةَ تُعَبِّرُ عَنِ احْتِرَامٍ عَمِيقٍ. وَلَوْ تَعَلَّمَ كُلُّ سَائِحٍ شَيْئًا مِنْ لُغَةِ البَلَدِ، لَكَانَ التَّبَادُلُ الثَّقَافِيُّ أَعْمَقَ وَأَغْنَى.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E APPLICATION CHALLENGE (5 min — it takes the speaking-rehearsal slot; the website speaking slide after it is FLEX) — from the website Topic page: “Solve a cultural-exchange scenario involving greeting, invitation or local custom. Ask rather than assume, then explain the most respectful response.”
Website Topic E challenge “Respectful visitor role-play”. Scenarios: ① دَعَاكَ صَدِيقٌ إِلَى الغَدَاءِ وَلَا تَعْرِفُ هَلْ تَخْلَعُ حِذَاءَكَ · ② تُرِيدُ أَنْ تَلْتَقِطَ صُورَةً فِي سُوقٍ تَقْلِيدِيٍّ · ③ قَدَّمَ لَكَ المُضِيفُ قَهْوَةً وَأَنْتَ لَا تَشْرَبُهَا.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تَعَلَّمَ لُغَةَ البَلَدِ؟ (Reflection)
B: لَوْ تَعَلَّمَ شَيْئًا مِنَ العَرَبِيَّةِ، لَكَانَ التَّبَادُلُ الثَّقَافِيُّ أَعْمَقَ بِكَثِيرٍ. (Type 2 reflection)
Website prompts and model. Pair task: “welcome to our community” — A is a visitor to your mosque or home; B gives three pieces of advice (يُسْتَحْسَنُ أَنْ · يَجِبُ أَنْ · يَحْظُرُ / يَسْمَحُ بِـ). To a girl: اسْتَعْمِلِي · تَنْصَحِينَ.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four advice sentences with يُسْتَحْسَنُ أَنْ and يَجِبُ أَنْ. · Develop — Add a يَحْظُرُ rule and a يَسْمَحُ بِـ permission. · Stretch — Write a full guide with a reported tip and a Type 2 reflection.
Website writing task (Stretch): Write a cultural guide of one hundred to one hundred and ten words for visitors to an Arab country. Use يُسْتَحْسَنُ أَنْ + subjunctive twice, يَجِبُ أَنْ and يَحْظُرُ, a Type 1 scenario, a reported cultural tip and a Type 2 reflection.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يُسْتَحْسَنُ أَنْ يَتَعَلَّمَ · يُسْتَحْسَنُ أَنْ يَرْتَدِيَ · إِذَا زُرْتَ مَسْجِدًا، يَجِبُ أَنْ تَخْلَعَ … وَتُغَطِّيَ · يَحْظُرُ … التَّصْوِيرَ · أَخْبَرَنِي … أَنَّهُ · قَالَ إِنَّ · لَوْ عَرَفَ … لَقَلَّتِ … وَلَكَانَ.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(TE-L09 · Comparing Cultures with Respect) · Reading — Travel and Tourism Texts) will spend class time USING this language, so students prepare it tonight — short, simple, easy to access (school guidance: “Simple, Short, Interesting, Relevant, Easy to access”). The five words come from the website P3-L08 (website) vocabulary (reading travel texts).
Follow-up: the next Do Now tests two of these words (Flipped Learning: keep it short AND follow up).
Homework by route (website tasks). No internet? Students copy the five words from this slide into their book now.
TOPIC E: the five words are the ones the TE-L09 Do Now tests (preparation list of the website D6-L04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Travel, Cultural Exchange and Understanding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السَّفَرُ وَالتَّبَادُلُ الثَّقَافِيُّ وَالتَّفَاهُمُ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Explain how travel and exchange can broaden knowledge and challenge assumptions.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TE-L08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modals, the subjunctive with weak verbs, rules with yaḥẓur / yasmaḥ bi-, guide register.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cultural pictures, build a cultural guide, sort advice / prohibition / permission.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حَسَاسِيَّةٌ ثَقَافِيَّةٌ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heritage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sensitivity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cultural festival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قَوَاعِدُ اللِّبَاسِ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dress code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house rules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clothes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forbidden that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possible that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preferable that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لَجَأْتُ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أَلْجَأَ</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يُبَلِّغُ المُسَافِرُ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سَرِقَةِ حَقِيبَتِهِ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حَسَاسِيَّةٌ ثَقَافِيَّةٌ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cultural heritage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sensitivity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cultural festival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قَوَاعِدُ اللِّبَاسِ</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dress code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house rules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clothes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forbidden that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possible that</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preferable that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(P3-L06,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قَرَّرْتُ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إِلَى السَّفَارَةِ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أَلْجَأُ</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لَجَأْتُ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أَلْجَأَ</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P3-L06 (website): after an, the verb ends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يُبَلِّغُ المُسَافِرُ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سَرِقَةِ حَقِيبَتِهِ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P3-L06 (website): yuballigh is fixed with ʿan.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Polite advice: yustaḥsan an + a verb in -a. Rules: yaḥẓur + object · yasmaḥ bi-.</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يُسْتَحْسَنُ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يَتَعَلَّمَ</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يَحْظُرُ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التَّصْوِيرَ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يَسْمَحُ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بِالتَّصْوِيرِ</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cultural-sensitivity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Give polite advice with yustaḥsan an + a verb in -a.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State rules with yaḥẓur + object and yasmaḥ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cultural guide for visitors.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cultural-sensitivity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advise with yustaḥsan an +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state a rule with yaḥẓur and yasmaḥ bi-.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weak verbs after an (yartadiya).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reported tip and a Type 2 reflection.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cultural guide.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Cultural sensitivity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Modal advice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ar-SA" sz="1200" b="1" dirty="0">
                <a:solidFill>
                  <a:srgbClr val="FFFFFF"/>
                </a:solidFill>
                <a:latin typeface="Calibri" pitchFamily="34" charset="0"/>
                <a:ea typeface="Amiri" pitchFamily="2" charset="-78"/>
                <a:cs typeface="Amiri" pitchFamily="2" charset="-78"/>
              </a:rPr>
              <a:t>The subjunctive after أَنْ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احْتِرَامٌ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‎احترام‎ </a:t>
            </a:r>
            <a:pPr indent="0" marL="0">
              <a:buNone/>
            </a:pPr>
            <a:r>
              <a:rPr lang="en-US" sz="950" b="1" dirty="0">
                <a:solidFill>
                  <a:srgbClr val="2E8B57"/>
                </a:solidFill>
                <a:latin typeface="Calibri" pitchFamily="34" charset="0"/>
                <a:cs typeface="Amiri" pitchFamily="2" charset="-78"/>
              </a:rPr>
              <a:t> ehtirām · respect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ثَقَافَةٌ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‎ثقافت‎ </a:t>
            </a:r>
            <a:pPr indent="0" marL="0">
              <a:buNone/>
            </a:pPr>
            <a:r>
              <a:rPr lang="en-US" sz="950" b="1" dirty="0">
                <a:solidFill>
                  <a:srgbClr val="2E8B57"/>
                </a:solidFill>
                <a:latin typeface="Calibri" pitchFamily="34" charset="0"/>
                <a:cs typeface="Amiri" pitchFamily="2" charset="-78"/>
              </a:rPr>
              <a:t> saqāfat · culture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‎لباس‎ </a:t>
            </a:r>
            <a:pPr indent="0" marL="0">
              <a:buNone/>
            </a:pPr>
            <a:r>
              <a:rPr lang="en-US" sz="950" b="1" dirty="0">
                <a:solidFill>
                  <a:srgbClr val="2E8B57"/>
                </a:solidFill>
                <a:latin typeface="Calibri" pitchFamily="34" charset="0"/>
                <a:cs typeface="Amiri" pitchFamily="2" charset="-78"/>
              </a:rPr>
              <a:t> libās · clothing, dress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عَادَاتٌ</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 عادات‎ </a:t>
            </a:r>
            <a:pPr indent="0" marL="0">
              <a:buNone/>
            </a:pPr>
            <a:r>
              <a:rPr lang="en-US" sz="950" b="1" dirty="0">
                <a:solidFill>
                  <a:srgbClr val="2E8B57"/>
                </a:solidFill>
                <a:latin typeface="Calibri" pitchFamily="34" charset="0"/>
                <a:cs typeface="Amiri" pitchFamily="2" charset="-78"/>
              </a:rPr>
              <a:t> ādat · a habit · customs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تَقَالِيدُ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‎تقلید‎ </a:t>
            </a:r>
            <a:pPr indent="0" marL="0">
              <a:buNone/>
            </a:pPr>
            <a:r>
              <a:rPr lang="en-US" sz="950" b="1" dirty="0">
                <a:solidFill>
                  <a:srgbClr val="2E8B57"/>
                </a:solidFill>
                <a:latin typeface="Calibri" pitchFamily="34" charset="0"/>
                <a:cs typeface="Amiri" pitchFamily="2" charset="-78"/>
              </a:rPr>
              <a:t> taqlīd · false friend! Urdu = imitation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sensitivity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حَسَاسِيَّةٌ ثَقَافِيَّةٌ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sensitivity</a:t>
            </a:r>
            <a:endParaRPr lang="en-US" sz="1350" dirty="0"/>
          </a:p>
          <a:p>
            <a:pPr indent="0" marL="0">
              <a:buNone/>
            </a:pPr>
            <a:r>
              <a:rPr lang="en-US" sz="1100" i="1" dirty="0">
                <a:solidFill>
                  <a:srgbClr val="5A6472"/>
                </a:solidFill>
                <a:latin typeface="Calibri" pitchFamily="34" charset="0"/>
                <a:cs typeface="Amiri" pitchFamily="2" charset="-78"/>
              </a:rPr>
              <a:t>ḥa-sā-siy-ya-tun tha-qā-fiy-ya-tun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تَقَالِيدُ مَحَلِّيَّةٌ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local customs</a:t>
            </a:r>
            <a:endParaRPr lang="en-US" sz="1350" dirty="0"/>
          </a:p>
          <a:p>
            <a:pPr indent="0" marL="0">
              <a:buNone/>
            </a:pPr>
            <a:r>
              <a:rPr lang="en-US" sz="1100" i="1" dirty="0">
                <a:solidFill>
                  <a:srgbClr val="5A6472"/>
                </a:solidFill>
                <a:latin typeface="Calibri" pitchFamily="34" charset="0"/>
                <a:cs typeface="Amiri" pitchFamily="2" charset="-78"/>
              </a:rPr>
              <a:t>ta-qā-lī-du ma-ḥal-liy-ya-tun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 مَحَلِّيٌّ</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قَوَاعِدُ اللِّبَاسِ</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dress code</a:t>
            </a:r>
            <a:endParaRPr lang="en-US" sz="1350" dirty="0"/>
          </a:p>
          <a:p>
            <a:pPr indent="0" marL="0">
              <a:buNone/>
            </a:pPr>
            <a:r>
              <a:rPr lang="en-US" sz="1100" i="1" dirty="0">
                <a:solidFill>
                  <a:srgbClr val="5A6472"/>
                </a:solidFill>
                <a:latin typeface="Calibri" pitchFamily="34" charset="0"/>
                <a:cs typeface="Amiri" pitchFamily="2" charset="-78"/>
              </a:rPr>
              <a:t>qa-wā-ʿi-du all-li-bā-si</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احْتِرَامُ المُقَدَّسَاتِ</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 for sacred sites</a:t>
            </a:r>
            <a:endParaRPr lang="en-US" sz="1350" dirty="0"/>
          </a:p>
          <a:p>
            <a:pPr indent="0" marL="0">
              <a:buNone/>
            </a:pPr>
            <a:r>
              <a:rPr lang="en-US" sz="1100" i="1" dirty="0">
                <a:solidFill>
                  <a:srgbClr val="5A6472"/>
                </a:solidFill>
                <a:latin typeface="Calibri" pitchFamily="34" charset="0"/>
                <a:cs typeface="Amiri" pitchFamily="2" charset="-78"/>
              </a:rPr>
              <a:t>aḥ-ti-rā-mu al-mu-qad-da-sā-ti</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sensitivity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زَلَّةٌ ثَقَافِيَّةٌ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faux pas</a:t>
            </a:r>
            <a:endParaRPr lang="en-US" sz="1350" dirty="0"/>
          </a:p>
          <a:p>
            <a:pPr indent="0" marL="0">
              <a:buNone/>
            </a:pPr>
            <a:r>
              <a:rPr lang="en-US" sz="1100" i="1" dirty="0">
                <a:solidFill>
                  <a:srgbClr val="5A6472"/>
                </a:solidFill>
                <a:latin typeface="Calibri" pitchFamily="34" charset="0"/>
                <a:cs typeface="Amiri" pitchFamily="2" charset="-78"/>
              </a:rPr>
              <a:t>zal-la-tun tha-qā-fiy-ya-tun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زَلَّاتٌ ثَقَافِيَّةٌ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تَفَاهُمٌ ثَقَافِيٌّ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understanding</a:t>
            </a:r>
            <a:endParaRPr lang="en-US" sz="1350" dirty="0"/>
          </a:p>
          <a:p>
            <a:pPr indent="0" marL="0">
              <a:buNone/>
            </a:pPr>
            <a:r>
              <a:rPr lang="en-US" sz="1100" i="1" dirty="0">
                <a:solidFill>
                  <a:srgbClr val="5A6472"/>
                </a:solidFill>
                <a:latin typeface="Calibri" pitchFamily="34" charset="0"/>
                <a:cs typeface="Amiri" pitchFamily="2" charset="-78"/>
              </a:rPr>
              <a:t>ta-fā-hu-mun tha-qā-fiy-yun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5" name="Shape 3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 مُضِيفٌ</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host community</a:t>
            </a:r>
            <a:endParaRPr lang="en-US" sz="1350" dirty="0"/>
          </a:p>
          <a:p>
            <a:pPr indent="0" marL="0">
              <a:buNone/>
            </a:pPr>
            <a:r>
              <a:rPr lang="en-US" sz="1100" i="1" dirty="0">
                <a:solidFill>
                  <a:srgbClr val="5A6472"/>
                </a:solidFill>
                <a:latin typeface="Calibri" pitchFamily="34" charset="0"/>
                <a:cs typeface="Amiri" pitchFamily="2" charset="-78"/>
              </a:rPr>
              <a:t>muj-ta-ma-ʿun mu-ḍī-fun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مُجْتَمَعَاتٌ مُضِيفَةٌ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جِسْرٌ ثَقَافِيٌّ</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cultural bridge</a:t>
            </a:r>
            <a:endParaRPr lang="en-US" sz="1350" dirty="0"/>
          </a:p>
          <a:p>
            <a:pPr indent="0" marL="0">
              <a:buNone/>
            </a:pPr>
            <a:r>
              <a:rPr lang="en-US" sz="1100" i="1" dirty="0">
                <a:solidFill>
                  <a:srgbClr val="5A6472"/>
                </a:solidFill>
                <a:latin typeface="Calibri" pitchFamily="34" charset="0"/>
                <a:cs typeface="Amiri" pitchFamily="2" charset="-78"/>
              </a:rPr>
              <a:t>jis-run tha-qā-fiy-yun</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جُسُورٌ ثَقَافِيَّةٌ</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Modal advice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يُسْتَحْسَنُ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that</a:t>
            </a:r>
            <a:endParaRPr lang="en-US" sz="1350" dirty="0"/>
          </a:p>
          <a:p>
            <a:pPr indent="0" marL="0">
              <a:buNone/>
            </a:pPr>
            <a:r>
              <a:rPr lang="en-US" sz="1100" i="1" dirty="0">
                <a:solidFill>
                  <a:srgbClr val="5A6472"/>
                </a:solidFill>
                <a:latin typeface="Calibri" pitchFamily="34" charset="0"/>
                <a:cs typeface="Amiri" pitchFamily="2" charset="-78"/>
              </a:rPr>
              <a:t>yus-taḥ-sa-nu an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Impersonal + subjunctive.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6" name="Shape 2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necessary that</a:t>
            </a:r>
            <a:endParaRPr lang="en-US" sz="1350" dirty="0"/>
          </a:p>
          <a:p>
            <a:pPr indent="0" marL="0">
              <a:buNone/>
            </a:pPr>
            <a:r>
              <a:rPr lang="en-US" sz="1100" i="1" dirty="0">
                <a:solidFill>
                  <a:srgbClr val="5A6472"/>
                </a:solidFill>
                <a:latin typeface="Calibri" pitchFamily="34" charset="0"/>
                <a:cs typeface="Amiri" pitchFamily="2" charset="-78"/>
              </a:rPr>
              <a:t>ya-ji-bu an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5" name="Shape 32"/>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يَحْظُرُ</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prohibits</a:t>
            </a:r>
            <a:endParaRPr lang="en-US" sz="1350" dirty="0"/>
          </a:p>
          <a:p>
            <a:pPr indent="0" marL="0">
              <a:buNone/>
            </a:pPr>
            <a:r>
              <a:rPr lang="en-US" sz="1100" i="1" dirty="0">
                <a:solidFill>
                  <a:srgbClr val="5A6472"/>
                </a:solidFill>
                <a:latin typeface="Calibri" pitchFamily="34" charset="0"/>
                <a:cs typeface="Amiri" pitchFamily="2" charset="-78"/>
              </a:rPr>
              <a:t>yaḥ-ẓu-ru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3" name="Text 40"/>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تَحْظُرُ</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7" name="Shape 44"/>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يَسْمَحُ بِـ</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permits</a:t>
            </a:r>
            <a:endParaRPr lang="en-US" sz="1350" dirty="0"/>
          </a:p>
          <a:p>
            <a:pPr indent="0" marL="0">
              <a:buNone/>
            </a:pPr>
            <a:r>
              <a:rPr lang="en-US" sz="1100" i="1" dirty="0">
                <a:solidFill>
                  <a:srgbClr val="5A6472"/>
                </a:solidFill>
                <a:latin typeface="Calibri" pitchFamily="34" charset="0"/>
                <a:cs typeface="Amiri" pitchFamily="2" charset="-78"/>
              </a:rPr>
              <a:t>yas-ma-ḥu bi</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5" name="Text 52"/>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تَسْمَحُ بِـ</a:t>
            </a:r>
            <a:endParaRPr lang="ar-SA"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Modal advice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يُفْضِي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yuf-ḍī i-lā</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تُفْضِي إِلَى</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مَلَابِسُ مُحْتَشِمَةٌ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 clothing</a:t>
            </a:r>
            <a:endParaRPr lang="en-US" sz="1350" dirty="0"/>
          </a:p>
          <a:p>
            <a:pPr indent="0" marL="0">
              <a:buNone/>
            </a:pPr>
            <a:r>
              <a:rPr lang="en-US" sz="1100" i="1" dirty="0">
                <a:solidFill>
                  <a:srgbClr val="5A6472"/>
                </a:solidFill>
                <a:latin typeface="Calibri" pitchFamily="34" charset="0"/>
                <a:cs typeface="Amiri" pitchFamily="2" charset="-78"/>
              </a:rPr>
              <a:t>ma-lā-bi-su muḥ-ta-shi-ma-tun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sg. (garment)</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مَلْبَسٌ</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تَحِيَّةٌ مُنَاسِبَةٌ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appropriate greeting</a:t>
            </a:r>
            <a:endParaRPr lang="en-US" sz="1350" dirty="0"/>
          </a:p>
          <a:p>
            <a:pPr indent="0" marL="0">
              <a:buNone/>
            </a:pPr>
            <a:r>
              <a:rPr lang="en-US" sz="1100" i="1" dirty="0">
                <a:solidFill>
                  <a:srgbClr val="5A6472"/>
                </a:solidFill>
                <a:latin typeface="Calibri" pitchFamily="34" charset="0"/>
                <a:cs typeface="Amiri" pitchFamily="2" charset="-78"/>
              </a:rPr>
              <a:t>ta-ḥiy-ya-tun mu-nā-si-ba-tun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تَحِيَّاتٌ مُنَاسِبَةٌ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54" name="Text 5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التَّصْوِيرُ</a:t>
            </a:r>
            <a:endParaRPr lang="ar-SA" sz="3000" dirty="0"/>
          </a:p>
        </p:txBody>
      </p:sp>
      <p:sp>
        <p:nvSpPr>
          <p:cNvPr id="55" name="Text 5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photography</a:t>
            </a:r>
            <a:endParaRPr lang="en-US" sz="1350" dirty="0"/>
          </a:p>
          <a:p>
            <a:pPr indent="0" marL="0">
              <a:buNone/>
            </a:pPr>
            <a:r>
              <a:rPr lang="en-US" sz="1100" i="1" dirty="0">
                <a:solidFill>
                  <a:srgbClr val="5A6472"/>
                </a:solidFill>
                <a:latin typeface="Calibri" pitchFamily="34" charset="0"/>
                <a:cs typeface="Amiri" pitchFamily="2" charset="-78"/>
              </a:rPr>
              <a:t>at-taṣ-wī-ru</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subjunctive after </a:t>
            </a:r>
            <a:pPr algn="l" indent="0" marL="0">
              <a:buNone/>
            </a:pPr>
            <a:r>
              <a:rPr lang="ar-SA" altLang="en-US" sz="3500" b="1" dirty="0">
                <a:solidFill>
                  <a:srgbClr val="1B3B6F"/>
                </a:solidFill>
                <a:latin typeface="Amiri" pitchFamily="2" charset="-78"/>
                <a:ea typeface="Amiri" pitchFamily="2" charset="-78"/>
                <a:cs typeface="Amiri" pitchFamily="2" charset="-78"/>
              </a:rPr>
              <a:t>أَنْ</a:t>
            </a:r>
            <a:pPr algn="l" indent="0" marL="0">
              <a:buNone/>
            </a:pPr>
            <a:r>
              <a:rPr lang="en-US" sz="2700" b="1" dirty="0">
                <a:solidFill>
                  <a:srgbClr val="1B3B6F"/>
                </a:solidFill>
                <a:latin typeface="Cambria" pitchFamily="34" charset="0"/>
                <a:cs typeface="Amiri" pitchFamily="2" charset="-78"/>
              </a:rPr>
              <a:t>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يُسْتَحْسَنُ أَنْ يَتَعَلَّمَ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learns</a:t>
            </a:r>
            <a:endParaRPr lang="en-US" sz="1350" dirty="0"/>
          </a:p>
          <a:p>
            <a:pPr indent="0" marL="0">
              <a:buNone/>
            </a:pPr>
            <a:r>
              <a:rPr lang="en-US" sz="1100" i="1" dirty="0">
                <a:solidFill>
                  <a:srgbClr val="5A6472"/>
                </a:solidFill>
                <a:latin typeface="Calibri" pitchFamily="34" charset="0"/>
                <a:cs typeface="Amiri" pitchFamily="2" charset="-78"/>
              </a:rPr>
              <a:t>yus-taḥ-sa-nu an ya-ta-ʿal-la-ma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يُسْتَحْسَنُ أَنْ تَتَعَلَّمَ</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يُسْتَحْسَنُ أَنْ يَحْتَرِمَ</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respects</a:t>
            </a:r>
            <a:endParaRPr lang="en-US" sz="1350" dirty="0"/>
          </a:p>
          <a:p>
            <a:pPr indent="0" marL="0">
              <a:buNone/>
            </a:pPr>
            <a:r>
              <a:rPr lang="en-US" sz="1100" i="1" dirty="0">
                <a:solidFill>
                  <a:srgbClr val="5A6472"/>
                </a:solidFill>
                <a:latin typeface="Calibri" pitchFamily="34" charset="0"/>
                <a:cs typeface="Amiri" pitchFamily="2" charset="-78"/>
              </a:rPr>
              <a:t>yus-taḥ-sa-nu an yaḥ-ta-ri-ma</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36" name="Text 33"/>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يُسْتَحْسَنُ أَنْ تَحْتَرِمَ</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you</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يُسْتَحْسَنُ أَنْ يَرْتَدِيَ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preferable he wears</a:t>
            </a:r>
            <a:endParaRPr lang="en-US" sz="1350" dirty="0"/>
          </a:p>
          <a:p>
            <a:pPr indent="0" marL="0">
              <a:buNone/>
            </a:pPr>
            <a:r>
              <a:rPr lang="en-US" sz="1100" i="1" dirty="0">
                <a:solidFill>
                  <a:srgbClr val="5A6472"/>
                </a:solidFill>
                <a:latin typeface="Calibri" pitchFamily="34" charset="0"/>
                <a:cs typeface="Amiri" pitchFamily="2" charset="-78"/>
              </a:rPr>
              <a:t>yus-taḥ-sa-nu an yar-ta-di-ya</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46" name="Text 4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يُسْتَحْسَنُ أَنْ تَرْتَدِيَ</a:t>
            </a:r>
            <a:endParaRPr lang="ar-SA" sz="135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0" name="Text 4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المَنْصُوبُ</a:t>
            </a:r>
            <a:endParaRPr lang="ar-SA" sz="3000" dirty="0"/>
          </a:p>
        </p:txBody>
      </p:sp>
      <p:sp>
        <p:nvSpPr>
          <p:cNvPr id="51" name="Text 4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verb</a:t>
            </a:r>
            <a:endParaRPr lang="en-US" sz="1350" dirty="0"/>
          </a:p>
          <a:p>
            <a:pPr indent="0" marL="0">
              <a:buNone/>
            </a:pPr>
            <a:r>
              <a:rPr lang="en-US" sz="1100" i="1" dirty="0">
                <a:solidFill>
                  <a:srgbClr val="5A6472"/>
                </a:solidFill>
                <a:latin typeface="Calibri" pitchFamily="34" charset="0"/>
                <a:cs typeface="Amiri" pitchFamily="2" charset="-78"/>
              </a:rPr>
              <a:t>al-fiʿ-lu al-man-ṣū-bu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subjunctive after </a:t>
            </a:r>
            <a:pPr algn="l" indent="0" marL="0">
              <a:buNone/>
            </a:pPr>
            <a:r>
              <a:rPr lang="ar-SA" altLang="en-US" sz="3500" b="1" dirty="0">
                <a:solidFill>
                  <a:srgbClr val="1B3B6F"/>
                </a:solidFill>
                <a:latin typeface="Amiri" pitchFamily="2" charset="-78"/>
                <a:ea typeface="Amiri" pitchFamily="2" charset="-78"/>
                <a:cs typeface="Amiri" pitchFamily="2" charset="-78"/>
              </a:rPr>
              <a:t>أَنْ</a:t>
            </a:r>
            <a:pPr algn="l" indent="0" marL="0">
              <a:buNone/>
            </a:pPr>
            <a:r>
              <a:rPr lang="en-US" sz="2700" b="1" dirty="0">
                <a:solidFill>
                  <a:srgbClr val="1B3B6F"/>
                </a:solidFill>
                <a:latin typeface="Cambria" pitchFamily="34" charset="0"/>
                <a:cs typeface="Amiri" pitchFamily="2" charset="-78"/>
              </a:rPr>
              <a:t>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trigger</a:t>
            </a:r>
            <a:endParaRPr lang="en-US" sz="1350" dirty="0"/>
          </a:p>
          <a:p>
            <a:pPr indent="0" marL="0">
              <a:buNone/>
            </a:pPr>
            <a:r>
              <a:rPr lang="en-US" sz="1100" i="1" dirty="0">
                <a:solidFill>
                  <a:srgbClr val="5A6472"/>
                </a:solidFill>
                <a:latin typeface="Calibri" pitchFamily="34" charset="0"/>
                <a:cs typeface="Amiri" pitchFamily="2" charset="-78"/>
              </a:rPr>
              <a:t>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فَتْحَةُ النَّصْبِ</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fatḥa</a:t>
            </a:r>
            <a:endParaRPr lang="en-US" sz="1350" dirty="0"/>
          </a:p>
          <a:p>
            <a:pPr indent="0" marL="0">
              <a:buNone/>
            </a:pPr>
            <a:r>
              <a:rPr lang="en-US" sz="1100" i="1" dirty="0">
                <a:solidFill>
                  <a:srgbClr val="5A6472"/>
                </a:solidFill>
                <a:latin typeface="Calibri" pitchFamily="34" charset="0"/>
                <a:cs typeface="Amiri" pitchFamily="2" charset="-78"/>
              </a:rPr>
              <a:t>fat-ḥa-tu an-naṣ-bi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التَّبَادُلُ الثَّقَافِيُّ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exchange</a:t>
            </a:r>
            <a:endParaRPr lang="en-US" sz="1350" dirty="0"/>
          </a:p>
          <a:p>
            <a:pPr indent="0" marL="0">
              <a:buNone/>
            </a:pPr>
            <a:r>
              <a:rPr lang="en-US" sz="1100" i="1" dirty="0">
                <a:solidFill>
                  <a:srgbClr val="5A6472"/>
                </a:solidFill>
                <a:latin typeface="Calibri" pitchFamily="34" charset="0"/>
                <a:cs typeface="Amiri" pitchFamily="2" charset="-78"/>
              </a:rPr>
              <a:t>at-ta-bā-du-lu ath-tha-qā-fiy-yu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بَادِرَةُ احْتِرَامٍ</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gesture of respect</a:t>
            </a:r>
            <a:endParaRPr lang="en-US" sz="1350" dirty="0"/>
          </a:p>
          <a:p>
            <a:pPr indent="0" marL="0">
              <a:buNone/>
            </a:pPr>
            <a:r>
              <a:rPr lang="en-US" sz="1100" i="1" dirty="0">
                <a:solidFill>
                  <a:srgbClr val="5A6472"/>
                </a:solidFill>
                <a:latin typeface="Calibri" pitchFamily="34" charset="0"/>
                <a:cs typeface="Amiri" pitchFamily="2" charset="-78"/>
              </a:rPr>
              <a:t>bā-di-ra-tu aḥ-ti-rā-min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بَوَادِرُ احْتِرَامٍ</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FOUR WAYS TO GUIDE A VISITOR (WEBSITE RULES 1–3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Advise, require, forbid, allow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النُّصْحُ · الوُجُوبُ · الحَظْرُ · السَّمَاحُ</a:t>
            </a:r>
            <a:endParaRPr lang="ar-SA" sz="26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291072" y="1810512"/>
            <a:ext cx="5367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7" name="Text 14"/>
          <p:cNvSpPr txBox="1"/>
          <p:nvPr/>
        </p:nvSpPr>
        <p:spPr>
          <a:xfrm>
            <a:off x="44622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a:t>
            </a:r>
            <a:endParaRPr lang="en-US" sz="1100" dirty="0"/>
          </a:p>
        </p:txBody>
      </p:sp>
      <p:sp>
        <p:nvSpPr>
          <p:cNvPr id="18" name="Text 15"/>
          <p:cNvSpPr txBox="1"/>
          <p:nvPr/>
        </p:nvSpPr>
        <p:spPr>
          <a:xfrm>
            <a:off x="272491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Force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6309360" y="2267712"/>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1900" b="1" dirty="0">
                <a:solidFill>
                  <a:srgbClr val="0E7C86"/>
                </a:solidFill>
                <a:latin typeface="Amiri" pitchFamily="2" charset="-78"/>
                <a:ea typeface="Amiri" pitchFamily="2" charset="-78"/>
                <a:cs typeface="Amiri" pitchFamily="2" charset="-78"/>
              </a:rPr>
              <a:t>يَتَعَلَّمَ</a:t>
            </a:r>
            <a:pPr rtl="1" algn="ctr" indent="0" marL="0">
              <a:buNone/>
            </a:pPr>
            <a:r>
              <a:rPr lang="ar-SA" altLang="en-US" sz="1900" b="1" dirty="0">
                <a:solidFill>
                  <a:srgbClr val="1B3B6F"/>
                </a:solidFill>
                <a:latin typeface="Amiri" pitchFamily="2" charset="-78"/>
                <a:ea typeface="Amiri" pitchFamily="2" charset="-78"/>
                <a:cs typeface="Amiri" pitchFamily="2" charset="-78"/>
              </a:rPr>
              <a:t> الزَّائِرُ تَحِيَّةً عَرَبِيَّةً.</a:t>
            </a:r>
            <a:endParaRPr lang="ar-SA" sz="1900" dirty="0"/>
          </a:p>
        </p:txBody>
      </p:sp>
      <p:sp>
        <p:nvSpPr>
          <p:cNvPr id="22" name="Text 19"/>
          <p:cNvSpPr txBox="1"/>
          <p:nvPr/>
        </p:nvSpPr>
        <p:spPr>
          <a:xfrm>
            <a:off x="449884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23" name="Text 20"/>
          <p:cNvSpPr txBox="1"/>
          <p:nvPr/>
        </p:nvSpPr>
        <p:spPr>
          <a:xfrm>
            <a:off x="276148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polite advice</a:t>
            </a:r>
            <a:endParaRPr lang="en-US" sz="1100" dirty="0"/>
          </a:p>
        </p:txBody>
      </p:sp>
      <p:sp>
        <p:nvSpPr>
          <p:cNvPr id="24" name="Text 21"/>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يُسْتَحْسَنُ أَنْ</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6309360" y="3054096"/>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1900" b="1" dirty="0">
                <a:solidFill>
                  <a:srgbClr val="0E7C86"/>
                </a:solidFill>
                <a:latin typeface="Amiri" pitchFamily="2" charset="-78"/>
                <a:ea typeface="Amiri" pitchFamily="2" charset="-78"/>
                <a:cs typeface="Amiri" pitchFamily="2" charset="-78"/>
              </a:rPr>
              <a:t>تَخْلَعَ</a:t>
            </a:r>
            <a:pPr rtl="1" algn="ctr" indent="0" marL="0">
              <a:buNone/>
            </a:pPr>
            <a:r>
              <a:rPr lang="ar-SA" altLang="en-US" sz="1900" b="1" dirty="0">
                <a:solidFill>
                  <a:srgbClr val="1B3B6F"/>
                </a:solidFill>
                <a:latin typeface="Amiri" pitchFamily="2" charset="-78"/>
                <a:ea typeface="Amiri" pitchFamily="2" charset="-78"/>
                <a:cs typeface="Amiri" pitchFamily="2" charset="-78"/>
              </a:rPr>
              <a:t> حِذَاءَكَ.</a:t>
            </a:r>
            <a:endParaRPr lang="ar-SA" sz="1900" dirty="0"/>
          </a:p>
        </p:txBody>
      </p:sp>
      <p:sp>
        <p:nvSpPr>
          <p:cNvPr id="29" name="Text 26"/>
          <p:cNvSpPr txBox="1"/>
          <p:nvPr/>
        </p:nvSpPr>
        <p:spPr>
          <a:xfrm>
            <a:off x="449884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in -a</a:t>
            </a:r>
            <a:endParaRPr lang="en-US" sz="1100" dirty="0"/>
          </a:p>
        </p:txBody>
      </p:sp>
      <p:sp>
        <p:nvSpPr>
          <p:cNvPr id="30" name="Text 27"/>
          <p:cNvSpPr txBox="1"/>
          <p:nvPr/>
        </p:nvSpPr>
        <p:spPr>
          <a:xfrm>
            <a:off x="276148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obligation</a:t>
            </a:r>
            <a:endParaRPr lang="en-US" sz="1100" dirty="0"/>
          </a:p>
        </p:txBody>
      </p:sp>
      <p:sp>
        <p:nvSpPr>
          <p:cNvPr id="31" name="Text 28"/>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يَجِبُ أَنْ</a:t>
            </a:r>
            <a:endParaRPr lang="ar-SA" sz="20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6309360" y="3840480"/>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يَحْظُرُ القَانُونُ </a:t>
            </a:r>
            <a:pPr rtl="1" algn="ctr" indent="0" marL="0">
              <a:buNone/>
            </a:pPr>
            <a:r>
              <a:rPr lang="ar-SA" altLang="en-US" sz="1900" b="1" dirty="0">
                <a:solidFill>
                  <a:srgbClr val="1D5FBF"/>
                </a:solidFill>
                <a:latin typeface="Amiri" pitchFamily="2" charset="-78"/>
                <a:ea typeface="Amiri" pitchFamily="2" charset="-78"/>
                <a:cs typeface="Amiri" pitchFamily="2" charset="-78"/>
              </a:rPr>
              <a:t>التَّصْوِيرَ</a:t>
            </a:r>
            <a:pPr rtl="1" algn="ctr" indent="0" marL="0">
              <a:buNone/>
            </a:pPr>
            <a:r>
              <a:rPr lang="ar-SA" altLang="en-US" sz="1900" b="1" dirty="0">
                <a:solidFill>
                  <a:srgbClr val="1B3B6F"/>
                </a:solidFill>
                <a:latin typeface="Amiri" pitchFamily="2" charset="-78"/>
                <a:ea typeface="Amiri" pitchFamily="2" charset="-78"/>
                <a:cs typeface="Amiri" pitchFamily="2" charset="-78"/>
              </a:rPr>
              <a:t> هُنَا.</a:t>
            </a:r>
            <a:endParaRPr lang="ar-SA" sz="1900" dirty="0"/>
          </a:p>
        </p:txBody>
      </p:sp>
      <p:sp>
        <p:nvSpPr>
          <p:cNvPr id="36" name="Text 33"/>
          <p:cNvSpPr txBox="1"/>
          <p:nvPr/>
        </p:nvSpPr>
        <p:spPr>
          <a:xfrm>
            <a:off x="449884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 object</a:t>
            </a:r>
            <a:endParaRPr lang="en-US" sz="1100" dirty="0"/>
          </a:p>
        </p:txBody>
      </p:sp>
      <p:sp>
        <p:nvSpPr>
          <p:cNvPr id="37" name="Text 34"/>
          <p:cNvSpPr txBox="1"/>
          <p:nvPr/>
        </p:nvSpPr>
        <p:spPr>
          <a:xfrm>
            <a:off x="276148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prohibition</a:t>
            </a:r>
            <a:endParaRPr lang="en-US" sz="1100" dirty="0"/>
          </a:p>
        </p:txBody>
      </p:sp>
      <p:sp>
        <p:nvSpPr>
          <p:cNvPr id="38" name="Text 35"/>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يَحْظُرُ</a:t>
            </a:r>
            <a:endParaRPr lang="ar-SA" sz="20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6309360" y="4626864"/>
            <a:ext cx="533095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يَسْمَحُ المَتْحَفُ </a:t>
            </a:r>
            <a:pPr rtl="1" algn="ctr" indent="0" marL="0">
              <a:buNone/>
            </a:pPr>
            <a:r>
              <a:rPr lang="ar-SA" altLang="en-US" sz="1900" b="1" dirty="0">
                <a:solidFill>
                  <a:srgbClr val="7B3FA0"/>
                </a:solidFill>
                <a:latin typeface="Amiri" pitchFamily="2" charset="-78"/>
                <a:ea typeface="Amiri" pitchFamily="2" charset="-78"/>
                <a:cs typeface="Amiri" pitchFamily="2" charset="-78"/>
              </a:rPr>
              <a:t>بِالتَّصْوِيرِ</a:t>
            </a:r>
            <a:pPr rtl="1" algn="ctr" indent="0" marL="0">
              <a:buNone/>
            </a:pPr>
            <a:r>
              <a:rPr lang="ar-SA" altLang="en-US" sz="1900" b="1" dirty="0">
                <a:solidFill>
                  <a:srgbClr val="1B3B6F"/>
                </a:solidFill>
                <a:latin typeface="Amiri" pitchFamily="2" charset="-78"/>
                <a:ea typeface="Amiri" pitchFamily="2" charset="-78"/>
                <a:cs typeface="Amiri" pitchFamily="2" charset="-78"/>
              </a:rPr>
              <a:t> دُونَ فَلَاشٍ.</a:t>
            </a:r>
            <a:endParaRPr lang="ar-SA" sz="1900" dirty="0"/>
          </a:p>
        </p:txBody>
      </p:sp>
      <p:sp>
        <p:nvSpPr>
          <p:cNvPr id="41" name="Text 38"/>
          <p:cNvSpPr txBox="1"/>
          <p:nvPr/>
        </p:nvSpPr>
        <p:spPr>
          <a:xfrm>
            <a:off x="449884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 + noun</a:t>
            </a:r>
            <a:endParaRPr lang="en-US" sz="1100" dirty="0"/>
          </a:p>
        </p:txBody>
      </p:sp>
      <p:sp>
        <p:nvSpPr>
          <p:cNvPr id="42" name="Text 39"/>
          <p:cNvSpPr txBox="1"/>
          <p:nvPr/>
        </p:nvSpPr>
        <p:spPr>
          <a:xfrm>
            <a:off x="276148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permission</a:t>
            </a:r>
            <a:endParaRPr lang="en-US" sz="1100" dirty="0"/>
          </a:p>
        </p:txBody>
      </p:sp>
      <p:sp>
        <p:nvSpPr>
          <p:cNvPr id="43" name="Text 40"/>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يَسْمَحُ بِـ</a:t>
            </a:r>
            <a:endParaRPr lang="ar-SA" sz="20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2–3: yaḥẓur bi-l-taṣwīr ✗ → yaḥẓur al-taṣwīra ✓ · yasmaḥ al-taṣwīra ✗ → yasmaḥ bi-l-taṣwīr ✓.</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SUBJUNCTIVE WITH SOUND AND WEAK VERBS (WEBSITE QUIZ, VOCABULARY AND TEXTS)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After an: -u becomes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المُضَارِعُ المَنْصُوبُ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473952" y="1810512"/>
            <a:ext cx="5184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7" name="Text 14"/>
          <p:cNvSpPr txBox="1"/>
          <p:nvPr/>
        </p:nvSpPr>
        <p:spPr>
          <a:xfrm>
            <a:off x="47365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8" name="Text 15"/>
          <p:cNvSpPr txBox="1"/>
          <p:nvPr/>
        </p:nvSpPr>
        <p:spPr>
          <a:xfrm>
            <a:off x="2542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After an</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Normal</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492240" y="2267712"/>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ea typeface="Amiri" pitchFamily="2" charset="-78"/>
                <a:cs typeface="Amiri" pitchFamily="2" charset="-78"/>
              </a:rPr>
              <a:t>يَتَعَلَّمَ</a:t>
            </a:r>
            <a:pPr rtl="1" algn="ctr" indent="0" marL="0">
              <a:buNone/>
            </a:pPr>
            <a:r>
              <a:rPr lang="ar-SA" altLang="en-US" sz="1800" b="1" dirty="0">
                <a:solidFill>
                  <a:srgbClr val="1B3B6F"/>
                </a:solidFill>
                <a:latin typeface="Amiri" pitchFamily="2" charset="-78"/>
                <a:ea typeface="Amiri" pitchFamily="2" charset="-78"/>
                <a:cs typeface="Amiri" pitchFamily="2" charset="-78"/>
              </a:rPr>
              <a:t> الزَّائِرُ بَعْضَ العِبَارَاتِ.</a:t>
            </a:r>
            <a:endParaRPr lang="ar-SA" sz="1800" dirty="0"/>
          </a:p>
        </p:txBody>
      </p:sp>
      <p:sp>
        <p:nvSpPr>
          <p:cNvPr id="22" name="Text 19"/>
          <p:cNvSpPr txBox="1"/>
          <p:nvPr/>
        </p:nvSpPr>
        <p:spPr>
          <a:xfrm>
            <a:off x="47731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23" name="Text 20"/>
          <p:cNvSpPr txBox="1"/>
          <p:nvPr/>
        </p:nvSpPr>
        <p:spPr>
          <a:xfrm>
            <a:off x="2560320" y="2267712"/>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يَتَعَلَّمَ</a:t>
            </a:r>
            <a:endParaRPr lang="ar-SA" sz="2000" dirty="0"/>
          </a:p>
        </p:txBody>
      </p:sp>
      <p:sp>
        <p:nvSpPr>
          <p:cNvPr id="24" name="Text 21"/>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يَتَعَلَّمُ</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492240" y="300471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a:t>
            </a:r>
            <a:pPr rtl="1" algn="ctr" indent="0" marL="0">
              <a:buNone/>
            </a:pPr>
            <a:r>
              <a:rPr lang="ar-SA" altLang="en-US" sz="1800" b="1" dirty="0">
                <a:solidFill>
                  <a:srgbClr val="0E7C86"/>
                </a:solidFill>
                <a:latin typeface="Amiri" pitchFamily="2" charset="-78"/>
                <a:ea typeface="Amiri" pitchFamily="2" charset="-78"/>
                <a:cs typeface="Amiri" pitchFamily="2" charset="-78"/>
              </a:rPr>
              <a:t>تَخْلَعَ</a:t>
            </a:r>
            <a:pPr rtl="1" algn="ctr" indent="0" marL="0">
              <a:buNone/>
            </a:pPr>
            <a:r>
              <a:rPr lang="ar-SA" altLang="en-US" sz="1800" b="1" dirty="0">
                <a:solidFill>
                  <a:srgbClr val="1B3B6F"/>
                </a:solidFill>
                <a:latin typeface="Amiri" pitchFamily="2" charset="-78"/>
                <a:ea typeface="Amiri" pitchFamily="2" charset="-78"/>
                <a:cs typeface="Amiri" pitchFamily="2" charset="-78"/>
              </a:rPr>
              <a:t> حِذَاءَكَ.</a:t>
            </a:r>
            <a:endParaRPr lang="ar-SA" sz="1800" dirty="0"/>
          </a:p>
        </p:txBody>
      </p:sp>
      <p:sp>
        <p:nvSpPr>
          <p:cNvPr id="29" name="Text 26"/>
          <p:cNvSpPr txBox="1"/>
          <p:nvPr/>
        </p:nvSpPr>
        <p:spPr>
          <a:xfrm>
            <a:off x="47731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 · you</a:t>
            </a:r>
            <a:endParaRPr lang="en-US" sz="1100" dirty="0"/>
          </a:p>
        </p:txBody>
      </p:sp>
      <p:sp>
        <p:nvSpPr>
          <p:cNvPr id="30" name="Text 27"/>
          <p:cNvSpPr txBox="1"/>
          <p:nvPr/>
        </p:nvSpPr>
        <p:spPr>
          <a:xfrm>
            <a:off x="2560320" y="300471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تَخْلَعَ</a:t>
            </a:r>
            <a:endParaRPr lang="ar-SA" sz="2000" dirty="0"/>
          </a:p>
        </p:txBody>
      </p:sp>
      <p:sp>
        <p:nvSpPr>
          <p:cNvPr id="31" name="Text 28"/>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تَخْلَعُ</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492240" y="3741725"/>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ea typeface="Amiri" pitchFamily="2" charset="-78"/>
                <a:cs typeface="Amiri" pitchFamily="2" charset="-78"/>
              </a:rPr>
              <a:t>يَرْتَدِيَ</a:t>
            </a:r>
            <a:pPr rtl="1" algn="ctr" indent="0" marL="0">
              <a:buNone/>
            </a:pPr>
            <a:r>
              <a:rPr lang="ar-SA" altLang="en-US" sz="1800" b="1" dirty="0">
                <a:solidFill>
                  <a:srgbClr val="1B3B6F"/>
                </a:solidFill>
                <a:latin typeface="Amiri" pitchFamily="2" charset="-78"/>
                <a:ea typeface="Amiri" pitchFamily="2" charset="-78"/>
                <a:cs typeface="Amiri" pitchFamily="2" charset="-78"/>
              </a:rPr>
              <a:t> مَلَابِسَ مُحْتَشِمَةً.</a:t>
            </a:r>
            <a:endParaRPr lang="ar-SA" sz="1800" dirty="0"/>
          </a:p>
        </p:txBody>
      </p:sp>
      <p:sp>
        <p:nvSpPr>
          <p:cNvPr id="36" name="Text 33"/>
          <p:cNvSpPr txBox="1"/>
          <p:nvPr/>
        </p:nvSpPr>
        <p:spPr>
          <a:xfrm>
            <a:off x="47731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37" name="Text 34"/>
          <p:cNvSpPr txBox="1"/>
          <p:nvPr/>
        </p:nvSpPr>
        <p:spPr>
          <a:xfrm>
            <a:off x="2560320" y="3741725"/>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يَرْتَدِيَ</a:t>
            </a:r>
            <a:endParaRPr lang="ar-SA" sz="2000" dirty="0"/>
          </a:p>
        </p:txBody>
      </p:sp>
      <p:sp>
        <p:nvSpPr>
          <p:cNvPr id="38" name="Text 35"/>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يَرْتَدِي</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492240" y="4478731"/>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تَخْلَعَ حِذَاءَكَ </a:t>
            </a:r>
            <a:pPr rtl="1" algn="ctr" indent="0" marL="0">
              <a:buNone/>
            </a:pPr>
            <a:r>
              <a:rPr lang="ar-SA" altLang="en-US" sz="1800" b="1" dirty="0">
                <a:solidFill>
                  <a:srgbClr val="0E7C86"/>
                </a:solidFill>
                <a:latin typeface="Amiri" pitchFamily="2" charset="-78"/>
                <a:ea typeface="Amiri" pitchFamily="2" charset="-78"/>
                <a:cs typeface="Amiri" pitchFamily="2" charset="-78"/>
              </a:rPr>
              <a:t>وَتُغَطِّيَ</a:t>
            </a:r>
            <a:pPr rtl="1" algn="ctr" indent="0" marL="0">
              <a:buNone/>
            </a:pPr>
            <a:r>
              <a:rPr lang="ar-SA" altLang="en-US" sz="1800" b="1" dirty="0">
                <a:solidFill>
                  <a:srgbClr val="1B3B6F"/>
                </a:solidFill>
                <a:latin typeface="Amiri" pitchFamily="2" charset="-78"/>
                <a:ea typeface="Amiri" pitchFamily="2" charset="-78"/>
                <a:cs typeface="Amiri" pitchFamily="2" charset="-78"/>
              </a:rPr>
              <a:t> رَأْسَكِ.</a:t>
            </a:r>
            <a:endParaRPr lang="ar-SA" sz="1800" dirty="0"/>
          </a:p>
        </p:txBody>
      </p:sp>
      <p:sp>
        <p:nvSpPr>
          <p:cNvPr id="41" name="Text 38"/>
          <p:cNvSpPr txBox="1"/>
          <p:nvPr/>
        </p:nvSpPr>
        <p:spPr>
          <a:xfrm>
            <a:off x="47731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-ī → -iya</a:t>
            </a:r>
            <a:endParaRPr lang="en-US" sz="1100" dirty="0"/>
          </a:p>
        </p:txBody>
      </p:sp>
      <p:sp>
        <p:nvSpPr>
          <p:cNvPr id="42" name="Text 39"/>
          <p:cNvSpPr txBox="1"/>
          <p:nvPr/>
        </p:nvSpPr>
        <p:spPr>
          <a:xfrm>
            <a:off x="2560320" y="4478731"/>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تُغَطِّيَ</a:t>
            </a:r>
            <a:endParaRPr lang="ar-SA" sz="2000" dirty="0"/>
          </a:p>
        </p:txBody>
      </p:sp>
      <p:sp>
        <p:nvSpPr>
          <p:cNvPr id="43" name="Text 40"/>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تُغَطِّي</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492240" y="5215738"/>
            <a:ext cx="5148072"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1800" b="1" dirty="0">
                <a:solidFill>
                  <a:srgbClr val="0E7C86"/>
                </a:solidFill>
                <a:latin typeface="Amiri" pitchFamily="2" charset="-78"/>
                <a:ea typeface="Amiri" pitchFamily="2" charset="-78"/>
                <a:cs typeface="Amiri" pitchFamily="2" charset="-78"/>
              </a:rPr>
              <a:t>يَتَجَنَّبَ</a:t>
            </a:r>
            <a:pPr rtl="1" algn="ctr" indent="0" marL="0">
              <a:buNone/>
            </a:pPr>
            <a:r>
              <a:rPr lang="ar-SA" altLang="en-US" sz="1800" b="1" dirty="0">
                <a:solidFill>
                  <a:srgbClr val="1B3B6F"/>
                </a:solidFill>
                <a:latin typeface="Amiri" pitchFamily="2" charset="-78"/>
                <a:ea typeface="Amiri" pitchFamily="2" charset="-78"/>
                <a:cs typeface="Amiri" pitchFamily="2" charset="-78"/>
              </a:rPr>
              <a:t> الأَكْلَ عَلَنًا فِي رَمَضَانَ.</a:t>
            </a:r>
            <a:endParaRPr lang="ar-SA" sz="1800" dirty="0"/>
          </a:p>
        </p:txBody>
      </p:sp>
      <p:sp>
        <p:nvSpPr>
          <p:cNvPr id="46" name="Text 43"/>
          <p:cNvSpPr txBox="1"/>
          <p:nvPr/>
        </p:nvSpPr>
        <p:spPr>
          <a:xfrm>
            <a:off x="47731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sound</a:t>
            </a:r>
            <a:endParaRPr lang="en-US" sz="1100" dirty="0"/>
          </a:p>
        </p:txBody>
      </p:sp>
      <p:sp>
        <p:nvSpPr>
          <p:cNvPr id="47" name="Text 44"/>
          <p:cNvSpPr txBox="1"/>
          <p:nvPr/>
        </p:nvSpPr>
        <p:spPr>
          <a:xfrm>
            <a:off x="2560320" y="5215738"/>
            <a:ext cx="201168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يَتَجَنَّبَ</a:t>
            </a:r>
            <a:endParaRPr lang="ar-SA" sz="2000" dirty="0"/>
          </a:p>
        </p:txBody>
      </p:sp>
      <p:sp>
        <p:nvSpPr>
          <p:cNvPr id="48" name="Text 45"/>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يَتَجَنَّبُ</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an yataʿallamu ✗ → an yataʿallama ✓. Weak verbs in -ī keep the yāʾ and add -a: yartadiya.</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RULES ON SIGNS AND IN GUIDES (WEBSITE RULE 3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sign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لُغَةُ اللَّافِتَاتِ وَالقَوَاعِدِ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PROHIBITS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2" charset="-78"/>
                <a:ea typeface="Amiri" pitchFamily="2" charset="-78"/>
                <a:cs typeface="Amiri" pitchFamily="2" charset="-78"/>
              </a:rPr>
              <a:t>يَحْظُرُ</a:t>
            </a:r>
            <a:pPr algn="l" indent="0" marL="0">
              <a:buNone/>
            </a:pPr>
            <a:r>
              <a:rPr lang="en-US" sz="1600" b="1" dirty="0">
                <a:solidFill>
                  <a:srgbClr val="8A6D1E"/>
                </a:solidFill>
                <a:latin typeface="Calibri" pitchFamily="34" charset="0"/>
                <a:cs typeface="Amiri" pitchFamily="2" charset="-78"/>
              </a:rPr>
              <a:t> + object</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يَحْظُرُ بَعْضُ المَوَاقِعِ التَّصْوِيرَ.</a:t>
            </a:r>
            <a:endParaRPr lang="ar-SA" sz="26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Some sites prohibit photography.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 preposition.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PERMITS · CORE</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يَسْمَحُ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تَسْمَحُ مَوَاقِعُ أُخْرَى بِالتَّصْوِيرِ.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Other sites permit photography.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bi-.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LEADS TO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يُفْضِي إِلَى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الاحْتِرَامُ يُفْضِي إِلَى التَّفَاهُمِ.</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Respect leads to understanding.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Always ilā.</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yaḥẓur takes a direct object.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يَحْظُرُ القَانُونُ التَّصْوِيرَ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يَحْظُرُ القَانُونُ بِالتَّصْوِيرِ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VOICE OF A CULTURAL GUIDE (WEBSITE RULE 4, LISTENING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Scenario, tip and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أُسْلُوبُ الدَّلِيلِ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0003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2724912" y="1810512"/>
            <a:ext cx="6528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436608" y="2267712"/>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idhā + modal</a:t>
            </a:r>
            <a:endParaRPr lang="en-US" sz="1100" dirty="0"/>
          </a:p>
        </p:txBody>
      </p:sp>
      <p:sp>
        <p:nvSpPr>
          <p:cNvPr id="21" name="Text 18"/>
          <p:cNvSpPr txBox="1"/>
          <p:nvPr/>
        </p:nvSpPr>
        <p:spPr>
          <a:xfrm>
            <a:off x="2743200" y="2267712"/>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ea typeface="Amiri" pitchFamily="2" charset="-78"/>
                <a:cs typeface="Amiri" pitchFamily="2" charset="-78"/>
              </a:rPr>
              <a:t>إِذَا</a:t>
            </a:r>
            <a:pPr rtl="1" algn="ctr" indent="0" marL="0">
              <a:buNone/>
            </a:pPr>
            <a:r>
              <a:rPr lang="ar-SA" altLang="en-US" sz="1900" b="1" dirty="0">
                <a:solidFill>
                  <a:srgbClr val="1B3B6F"/>
                </a:solidFill>
                <a:latin typeface="Amiri" pitchFamily="2" charset="-78"/>
                <a:ea typeface="Amiri" pitchFamily="2" charset="-78"/>
                <a:cs typeface="Amiri" pitchFamily="2" charset="-78"/>
              </a:rPr>
              <a:t> دُعِيتَ إِلَى مَنْزِلٍ، يُسْتَحْسَنُ أَنْ </a:t>
            </a:r>
            <a:pPr rtl="1" algn="ctr" indent="0" marL="0">
              <a:buNone/>
            </a:pPr>
            <a:r>
              <a:rPr lang="ar-SA" altLang="en-US" sz="1900" b="1" dirty="0">
                <a:solidFill>
                  <a:srgbClr val="0E7C86"/>
                </a:solidFill>
                <a:latin typeface="Amiri" pitchFamily="2" charset="-78"/>
                <a:ea typeface="Amiri" pitchFamily="2" charset="-78"/>
                <a:cs typeface="Amiri" pitchFamily="2" charset="-78"/>
              </a:rPr>
              <a:t>تُحْضِرَ</a:t>
            </a:r>
            <a:pPr rtl="1" algn="ctr" indent="0" marL="0">
              <a:buNone/>
            </a:pPr>
            <a:r>
              <a:rPr lang="ar-SA" altLang="en-US" sz="1900" b="1" dirty="0">
                <a:solidFill>
                  <a:srgbClr val="1B3B6F"/>
                </a:solidFill>
                <a:latin typeface="Amiri" pitchFamily="2" charset="-78"/>
                <a:ea typeface="Amiri" pitchFamily="2" charset="-78"/>
                <a:cs typeface="Amiri" pitchFamily="2" charset="-78"/>
              </a:rPr>
              <a:t> هَدِيَّةً.</a:t>
            </a:r>
            <a:endParaRPr lang="ar-SA" sz="19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scenario</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436608" y="300471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27" name="Text 24"/>
          <p:cNvSpPr txBox="1"/>
          <p:nvPr/>
        </p:nvSpPr>
        <p:spPr>
          <a:xfrm>
            <a:off x="2743200" y="300471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C77700"/>
                </a:solidFill>
                <a:latin typeface="Amiri" pitchFamily="2" charset="-78"/>
                <a:ea typeface="Amiri" pitchFamily="2" charset="-78"/>
                <a:cs typeface="Amiri" pitchFamily="2" charset="-78"/>
              </a:rPr>
              <a:t>يُعْتَبَرُ</a:t>
            </a:r>
            <a:pPr rtl="1" algn="ctr" indent="0" marL="0">
              <a:buNone/>
            </a:pPr>
            <a:r>
              <a:rPr lang="ar-SA" altLang="en-US" sz="1900" b="1" dirty="0">
                <a:solidFill>
                  <a:srgbClr val="1B3B6F"/>
                </a:solidFill>
                <a:latin typeface="Amiri" pitchFamily="2" charset="-78"/>
                <a:ea typeface="Amiri" pitchFamily="2" charset="-78"/>
                <a:cs typeface="Amiri" pitchFamily="2" charset="-78"/>
              </a:rPr>
              <a:t> الاحْتِرَامُ الثَّقَافِيُّ رَكِيزَةً أَسَاسِيَّةً.</a:t>
            </a:r>
            <a:endParaRPr lang="ar-SA" sz="19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impersonal</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436608" y="3741725"/>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akhbaranī anna</a:t>
            </a:r>
            <a:endParaRPr lang="en-US" sz="1100" dirty="0"/>
          </a:p>
        </p:txBody>
      </p:sp>
      <p:sp>
        <p:nvSpPr>
          <p:cNvPr id="31" name="Text 28"/>
          <p:cNvSpPr txBox="1"/>
          <p:nvPr/>
        </p:nvSpPr>
        <p:spPr>
          <a:xfrm>
            <a:off x="2743200" y="3741725"/>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2" charset="-78"/>
                <a:ea typeface="Amiri" pitchFamily="2" charset="-78"/>
                <a:cs typeface="Amiri" pitchFamily="2" charset="-78"/>
              </a:rPr>
              <a:t>أَخْبَرَنِي</a:t>
            </a:r>
            <a:pPr rtl="1" algn="ctr" indent="0" marL="0">
              <a:buNone/>
            </a:pPr>
            <a:r>
              <a:rPr lang="ar-SA" altLang="en-US" sz="1900" b="1" dirty="0">
                <a:solidFill>
                  <a:srgbClr val="1B3B6F"/>
                </a:solidFill>
                <a:latin typeface="Amiri" pitchFamily="2" charset="-78"/>
                <a:ea typeface="Amiri" pitchFamily="2" charset="-78"/>
                <a:cs typeface="Amiri" pitchFamily="2" charset="-78"/>
              </a:rPr>
              <a:t> مُضِيفٌ عَرَبِيٌّ </a:t>
            </a:r>
            <a:pPr rtl="1" algn="ctr" indent="0" marL="0">
              <a:buNone/>
            </a:pPr>
            <a:r>
              <a:rPr lang="ar-SA" altLang="en-US" sz="1900" b="1" dirty="0">
                <a:solidFill>
                  <a:srgbClr val="7B3FA0"/>
                </a:solidFill>
                <a:latin typeface="Amiri" pitchFamily="2" charset="-78"/>
                <a:ea typeface="Amiri" pitchFamily="2" charset="-78"/>
                <a:cs typeface="Amiri" pitchFamily="2" charset="-78"/>
              </a:rPr>
              <a:t>أَنَّ</a:t>
            </a:r>
            <a:pPr rtl="1" algn="ctr" indent="0" marL="0">
              <a:buNone/>
            </a:pPr>
            <a:r>
              <a:rPr lang="ar-SA" altLang="en-US" sz="1900" b="1" dirty="0">
                <a:solidFill>
                  <a:srgbClr val="1B3B6F"/>
                </a:solidFill>
                <a:latin typeface="Amiri" pitchFamily="2" charset="-78"/>
                <a:ea typeface="Amiri" pitchFamily="2" charset="-78"/>
                <a:cs typeface="Amiri" pitchFamily="2" charset="-78"/>
              </a:rPr>
              <a:t> بَادِرَةً صَغِيرَةً تَفْتَحُ القُلُوبَ.</a:t>
            </a:r>
            <a:endParaRPr lang="ar-SA" sz="19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tip</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436608" y="4478731"/>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maṣdar + li-</a:t>
            </a:r>
            <a:endParaRPr lang="en-US" sz="1100" dirty="0"/>
          </a:p>
        </p:txBody>
      </p:sp>
      <p:sp>
        <p:nvSpPr>
          <p:cNvPr id="35" name="Text 32"/>
          <p:cNvSpPr txBox="1"/>
          <p:nvPr/>
        </p:nvSpPr>
        <p:spPr>
          <a:xfrm>
            <a:off x="2743200" y="4478731"/>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يَتَجَنَّبُ الأَكْلَ عَلَنًا </a:t>
            </a:r>
            <a:pPr rtl="1" algn="ctr" indent="0" marL="0">
              <a:buNone/>
            </a:pPr>
            <a:r>
              <a:rPr lang="ar-SA" altLang="en-US" sz="1900" b="1" dirty="0">
                <a:solidFill>
                  <a:srgbClr val="C77700"/>
                </a:solidFill>
                <a:latin typeface="Amiri" pitchFamily="2" charset="-78"/>
                <a:ea typeface="Amiri" pitchFamily="2" charset="-78"/>
                <a:cs typeface="Amiri" pitchFamily="2" charset="-78"/>
              </a:rPr>
              <a:t>احْتِرَامًا لِلصَّائِمِينَ</a:t>
            </a:r>
            <a:pPr rtl="1" algn="ctr" indent="0" marL="0">
              <a:buNone/>
            </a:pPr>
            <a:r>
              <a:rPr lang="ar-SA" altLang="en-US" sz="1900" b="1" dirty="0">
                <a:solidFill>
                  <a:srgbClr val="1B3B6F"/>
                </a:solidFill>
                <a:latin typeface="Amiri" pitchFamily="2" charset="-78"/>
                <a:cs typeface="Amiri" pitchFamily="2" charset="-78"/>
              </a:rPr>
              <a:t>.</a:t>
            </a:r>
            <a:endParaRPr lang="ar-SA" sz="19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436608" y="5215738"/>
            <a:ext cx="2221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law … la-</a:t>
            </a:r>
            <a:endParaRPr lang="en-US" sz="1100" dirty="0"/>
          </a:p>
        </p:txBody>
      </p:sp>
      <p:sp>
        <p:nvSpPr>
          <p:cNvPr id="39" name="Text 36"/>
          <p:cNvSpPr txBox="1"/>
          <p:nvPr/>
        </p:nvSpPr>
        <p:spPr>
          <a:xfrm>
            <a:off x="2743200" y="5215738"/>
            <a:ext cx="649224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ea typeface="Amiri" pitchFamily="2" charset="-78"/>
                <a:cs typeface="Amiri" pitchFamily="2" charset="-78"/>
              </a:rPr>
              <a:t>لَوْ</a:t>
            </a:r>
            <a:pPr rtl="1" algn="ctr" indent="0" marL="0">
              <a:buNone/>
            </a:pPr>
            <a:r>
              <a:rPr lang="ar-SA" altLang="en-US" sz="1900" b="1" dirty="0">
                <a:solidFill>
                  <a:srgbClr val="1B3B6F"/>
                </a:solidFill>
                <a:latin typeface="Amiri" pitchFamily="2" charset="-78"/>
                <a:ea typeface="Amiri" pitchFamily="2" charset="-78"/>
                <a:cs typeface="Amiri" pitchFamily="2" charset="-78"/>
              </a:rPr>
              <a:t> عَرَفَ كُلُّ زَائِرٍ عَادَاتِ البَلَدِ، </a:t>
            </a:r>
            <a:pPr rtl="1" algn="ctr" indent="0" marL="0">
              <a:buNone/>
            </a:pPr>
            <a:r>
              <a:rPr lang="ar-SA" altLang="en-US" sz="1900" b="1" dirty="0">
                <a:solidFill>
                  <a:srgbClr val="D6336C"/>
                </a:solidFill>
                <a:latin typeface="Amiri" pitchFamily="2" charset="-78"/>
                <a:ea typeface="Amiri" pitchFamily="2" charset="-78"/>
                <a:cs typeface="Amiri" pitchFamily="2" charset="-78"/>
              </a:rPr>
              <a:t>لَقَلَّتِ</a:t>
            </a:r>
            <a:pPr rtl="1" algn="ctr" indent="0" marL="0">
              <a:buNone/>
            </a:pPr>
            <a:r>
              <a:rPr lang="ar-SA" altLang="en-US" sz="1900" b="1" dirty="0">
                <a:solidFill>
                  <a:srgbClr val="1B3B6F"/>
                </a:solidFill>
                <a:latin typeface="Amiri" pitchFamily="2" charset="-78"/>
                <a:ea typeface="Amiri" pitchFamily="2" charset="-78"/>
                <a:cs typeface="Amiri" pitchFamily="2" charset="-78"/>
              </a:rPr>
              <a:t> الزَّلَّاتُ الثَّقَافِيَّةُ.</a:t>
            </a:r>
            <a:endParaRPr lang="ar-SA" sz="19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reflection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guide moves from the general (yuʿtabar) to the scenario (idhā) to the personal (akhbaranī) to the reflection (law).</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صِيَغُ النُّصْحِ وَالفِعْلُ المَنْصُوبُ بَعْدَ أَنْ</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yustaḥsan an + subjunctive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yustaḥsan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يُسْتَحْسَنُ أَنْ يَتَعَلَّمَ الزَّائِرُ تَحِيَّةً عَرَبِيَّةً   ·   يُسْتَحْسَنُ أَنْ يَرْتَدِيَ مَلَابِسَ مُحْتَشِمَةً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yajib an + subjunctive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yajib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زُرْتَ مَسْجِدًا، يَجِبُ أَنْ تَخْلَعَ حِذَاءَكَ</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Rules: yaḥẓur / yasmaḥ bi-</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yaḥẓur + object · yasmaḥ bi-</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يَحْظُرُ القَانُونُ التَّصْوِيرَ هُنَا   ·   يَسْمَحُ المَتْحَفُ بِالتَّصْوِيرِ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Advice scenario and reflection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yustaḥsan an · law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إِذَا دُعِيتَ إِلَى مَنْزِلٍ، يُسْتَحْسَنُ أَنْ تُحْضِرَ هَدِيَّةً   ·   لَوْ تَعَلَّمْتُ العَرَبِيَّةَ قَبْلَ الرِّحْلَةِ، لَكَانَتِ التَّجْرِبَةُ أَعْمَقَ</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يُسْتَحْسَنُ أَنْ ___ الزَّائِرُ بَعْضَ الكَلِمَاتِ العَرَبِيَّةِ.</a:t>
            </a:r>
            <a:endParaRPr lang="ar-SA" sz="1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يُسْتَحْسَنُ أَنْ ___ الزَّائِرُ مَلَابِسَ مُحْتَشِمَةً.</a:t>
            </a:r>
            <a:endParaRPr lang="ar-SA" sz="14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زُرْتَ مَسْجِدًا، يَجِبُ أَنْ ___ حِذَاءَكَ.</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تَخْلَعُ</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تَخْلَعَ</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خَلَعْتَ</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القَانُونُ التَّصْوِيرَ هُنَا.</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القَانُونُ بِالتَّصْوِيرِ هُنَا.</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القَانُونُ عَلَى التَّصْوِيرِ هُنَا.</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يُسْتَحْسَنُ أَنْ ___ الزَّائِرُ بَعْضَ الكَلِمَاتِ العَرَبِيَّةِ.</a:t>
            </a:r>
            <a:endParaRPr lang="ar-SA" sz="1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يَتَعَلَّمُ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يَتَعَلَّمَ</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يُسْتَحْسَنُ أَنْ ___ الزَّائِرُ مَلَابِسَ مُحْتَشِمَةً.</a:t>
            </a:r>
            <a:endParaRPr lang="ar-SA" sz="145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يَرْتَدِيَ</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defective verb in the subjunctive is </a:t>
            </a:r>
            <a:pPr algn="l" indent="0" marL="0">
              <a:buNone/>
            </a:pPr>
            <a:r>
              <a:rPr lang="ar-SA" altLang="en-US" sz="1350" dirty="0">
                <a:solidFill>
                  <a:srgbClr val="8A6D1E"/>
                </a:solidFill>
                <a:latin typeface="Amiri" pitchFamily="2" charset="-78"/>
                <a:ea typeface="Amiri" pitchFamily="2" charset="-78"/>
                <a:cs typeface="Amiri" pitchFamily="2" charset="-78"/>
              </a:rPr>
              <a:t>يَرْتَدِيَ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إِذَا زُرْتَ مَسْجِدًا، يَجِبُ أَنْ ___ حِذَاءَكَ.</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تَخْلَعُ</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تَخْلَعَ</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خَلَعْتَ</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تَخْلَعَ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يَحْظُرُ القَانُونُ التَّصْوِيرَ هُنَا.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يَحْظُرُ القَانُونُ بِالتَّصْوِيرِ هُنَا.</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يَحْظُرُ القَانُونُ عَلَى التَّصْوِيرِ هُنَا.</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 cultural guide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Big idea</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C77700"/>
                </a:solidFill>
                <a:latin typeface="Amiri" pitchFamily="2" charset="-78"/>
                <a:ea typeface="Amiri" pitchFamily="2" charset="-78"/>
                <a:cs typeface="Amiri" pitchFamily="2" charset="-78"/>
              </a:rPr>
              <a:t>يُعْتَبَرُ</a:t>
            </a:r>
            <a:pPr rtl="1" algn="ctr" indent="0" marL="0">
              <a:buNone/>
            </a:pPr>
            <a:r>
              <a:rPr lang="ar-SA" altLang="en-US" sz="2800" b="1" dirty="0">
                <a:solidFill>
                  <a:srgbClr val="1B3B6F"/>
                </a:solidFill>
                <a:latin typeface="Amiri" pitchFamily="2" charset="-78"/>
                <a:ea typeface="Amiri" pitchFamily="2" charset="-78"/>
                <a:cs typeface="Amiri" pitchFamily="2" charset="-78"/>
              </a:rPr>
              <a:t> الاحْتِرَامُ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General.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Polite advice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يُسْتَحْسَنُ أَنْ </a:t>
            </a:r>
            <a:pPr rtl="1" algn="ctr" indent="0" marL="0">
              <a:buNone/>
            </a:pPr>
            <a:r>
              <a:rPr lang="ar-SA" altLang="en-US" sz="2800" b="1" dirty="0">
                <a:solidFill>
                  <a:srgbClr val="0E7C86"/>
                </a:solidFill>
                <a:latin typeface="Amiri" pitchFamily="2" charset="-78"/>
                <a:ea typeface="Amiri" pitchFamily="2" charset="-78"/>
                <a:cs typeface="Amiri" pitchFamily="2" charset="-78"/>
              </a:rPr>
              <a:t>يَتَعَلَّمَ</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after an.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Scenario + rule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D5FBF"/>
                </a:solidFill>
                <a:latin typeface="Amiri" pitchFamily="2" charset="-78"/>
                <a:ea typeface="Amiri" pitchFamily="2" charset="-78"/>
                <a:cs typeface="Amiri" pitchFamily="2" charset="-78"/>
              </a:rPr>
              <a:t>إِذَا</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زُرْتَ … يَجِبُ أَنْ · </a:t>
            </a:r>
            <a:pPr rtl="1" algn="ctr" indent="0" marL="0">
              <a:lnSpc>
                <a:spcPct val="120000"/>
              </a:lnSpc>
              <a:buNone/>
            </a:pPr>
            <a:r>
              <a:rPr lang="ar-SA" altLang="en-US" sz="1900" b="1" dirty="0">
                <a:solidFill>
                  <a:srgbClr val="7B3FA0"/>
                </a:solidFill>
                <a:latin typeface="Amiri" pitchFamily="2" charset="-78"/>
                <a:ea typeface="Amiri" pitchFamily="2" charset="-78"/>
                <a:cs typeface="Amiri" pitchFamily="2" charset="-78"/>
              </a:rPr>
              <a:t>يَحْظُرُ</a:t>
            </a:r>
            <a:pPr rtl="1" algn="ctr" indent="0" marL="0">
              <a:lnSpc>
                <a:spcPct val="120000"/>
              </a:lnSpc>
              <a:buNone/>
            </a:pPr>
            <a:r>
              <a:rPr lang="ar-SA" altLang="en-US" sz="1900" b="1" dirty="0">
                <a:solidFill>
                  <a:srgbClr val="1B3B6F"/>
                </a:solidFill>
                <a:latin typeface="Amiri" pitchFamily="2" charset="-78"/>
                <a:cs typeface="Amiri" pitchFamily="2" charset="-78"/>
              </a:rPr>
              <a:t> …</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Object!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Tip + reflection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أَخْبَرَنِي … أَنَّ</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D6336C"/>
                </a:solidFill>
                <a:latin typeface="Amiri" pitchFamily="2" charset="-78"/>
                <a:ea typeface="Amiri" pitchFamily="2" charset="-78"/>
                <a:cs typeface="Amiri" pitchFamily="2" charset="-78"/>
              </a:rPr>
              <a:t>لَوْ … لَـ</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GENERAL</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IN -A</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SCENARIO</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RULE / TIP</a:t>
            </a:r>
            <a:endParaRPr lang="en-US" sz="800" dirty="0"/>
          </a:p>
        </p:txBody>
      </p:sp>
      <p:sp>
        <p:nvSpPr>
          <p:cNvPr id="53" name="Shape 49"/>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REFLECTION</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يُعْتَبَرُ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الاحْتِرَامُ الثَّقَافِيُّ رَكِيزَةً أَسَاسِيَّةً لِأَيِّ رِحْلَةٍ نَاجِحَةٍ. يُسْتَحْسَنُ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يَتَعَلَّمَ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الزَّائِرُ بَعْضَ العِبَارَاتِ العَرَبِيَّةِ، وَيُسْتَحْسَنُ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يَرْتَدِيَ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مَلَابِسَ مُحْتَشِمَةً.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وَإِذَا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زُرْتَ مَسْجِدًا، يَجِبُ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تَخْلَعَ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حِذَاءَكَ. كَمَا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يَحْظُرُ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بَعْضُ المُقَدَّسَاتِ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التَّصْوِيرَ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فَاسْأَلْ أَوَّلًا.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أَخْبَرَنِي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مُرْشِدٌ مَحَلِّيٌّ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التَّحِيَّةَ تُعَبِّرُ عَنِ احْتِرَامٍ عَمِيقٍ.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عَرَفَ كُلُّ زَائِرٍ عَادَاتِ البَلَدِ،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لَقَلَّتِ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الزَّلَّاتُ الثَّقَافِيَّةُ.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Cultural respect is considered a cornerstone of any successful trip. It is preferable for the visitor to learn some Arabic phrases, and to wear modest clothing. If you visit a mosque, you must take off your shoes. Some sacred places also prohibit photography, so ask first. A local guide told me that the greeting expresses deep respect. And had every visitor known the country’s customs, cultural faux pas would have been fewer.</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يُسْتَحْسَنُ أَنْ يَتَعَلَّمَ الزَّائِرُ بَعْضَ العِبَارَاتِ العَرَبِيَّةِ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preferable for the visitor to learn some Arabic phrases</a:t>
            </a:r>
            <a:endParaRPr lang="en-US" sz="1250" dirty="0"/>
          </a:p>
          <a:p>
            <a:pPr indent="0" marL="0">
              <a:buNone/>
            </a:pPr>
            <a:r>
              <a:rPr lang="en-US" sz="1050" i="1" dirty="0">
                <a:solidFill>
                  <a:srgbClr val="8A6D1E"/>
                </a:solidFill>
                <a:latin typeface="Calibri" pitchFamily="34" charset="0"/>
                <a:cs typeface="Amiri" pitchFamily="2" charset="-78"/>
              </a:rPr>
              <a:t>A verb in -a after an.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زُرْتَ مَسْجِدًا، يَجِبُ أَنْ تَخْلَعَ حِذَاءَكَ</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visit a mosque, you must take off your shoes</a:t>
            </a:r>
            <a:endParaRPr lang="en-US" sz="1250" dirty="0"/>
          </a:p>
          <a:p>
            <a:pPr indent="0" marL="0">
              <a:buNone/>
            </a:pPr>
            <a:r>
              <a:rPr lang="en-US" sz="1050" i="1" dirty="0">
                <a:solidFill>
                  <a:srgbClr val="8A6D1E"/>
                </a:solidFill>
                <a:latin typeface="Calibri" pitchFamily="34" charset="0"/>
                <a:cs typeface="Amiri" pitchFamily="2" charset="-78"/>
              </a:rPr>
              <a:t>Type 1 scenario plus subjunctive.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تَعَلَّمْتُ شَيْئًا مِنَ العَرَبِيَّةِ، لَكَانَتِ التَّجْرِبَةُ أَعْمَقَ</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I learned some Arabic, the experience would have been deeper</a:t>
            </a:r>
            <a:endParaRPr lang="en-US" sz="1250" dirty="0"/>
          </a:p>
          <a:p>
            <a:pPr indent="0" marL="0">
              <a:buNone/>
            </a:pPr>
            <a:r>
              <a:rPr lang="en-US" sz="1050" i="1" dirty="0">
                <a:solidFill>
                  <a:srgbClr val="8A6D1E"/>
                </a:solidFill>
                <a:latin typeface="Calibri" pitchFamily="34" charset="0"/>
                <a:cs typeface="Amiri" pitchFamily="2" charset="-78"/>
              </a:rPr>
              <a:t>Type 2 cultural reflection.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“RESPECTFUL VISITOR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الزَّائِرُ الْمُحْتَرِمُ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respect customs</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ask the host</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photos</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لَمْ أَعْرِفْ قَاعِدَةَ الطَّعَامِ أَسْأَلُ الْمُضِيفَ بِأَدَبٍ.</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لَا أَلْتَقِطُ صُوَرًا فِي مَكَانٍ يُمْنَعُ فِيهِ التَّصْوِيرُ.</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 السَّفَرِ أَحْتَرِمُ عَادَاتِ الْمَكَانِ الَّذِي أَزُورُهُ.</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الزَّائِرُ الْمُحْتَرِمُ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respect customs</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عِنْدَ السَّفَرِ أَحْتَرِمُ عَادَاتِ الْمَكَانِ الَّذِي أَزُورُهُ.</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When I travel, I respect the customs of the place I visit.</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ask the host</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إِذَا لَمْ أَعْرِفْ قَاعِدَةَ الطَّعَامِ أَسْأَلُ الْمُضِيفَ بِأَدَبٍ.</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If I do not know the rule about food, I ask the host politely.</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photos</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لَا أَلْتَقِطُ صُوَرًا فِي مَكَانٍ يُمْنَعُ فِيهِ التَّصْوِيرُ.</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do not take photos in a place where photography is forbidden.</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CULTURAL SENSITIVITY IN TRAVEL — BEING A RESPECTFUL VISITOR”</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Culture around us: match the picture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dress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dishes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تَخْتَلِفُ المَلَابِسُ التَّقْلِيدِيَّةُ بَيْنَ المَنَاطِقِ.</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لِكُلِّ بَلَدٍ أَطْبَاقٌ تَقْلِيدِيَّةٌ.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تَخْتَلِفُ طُرُقُ التَّحِيَّةِ مِنْ مَكَانٍ إِلَى آخَرَ.</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greetings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تَخْتَلِفُ طُرُقُ التَّحِيَّةِ مِنْ مَكَانٍ إِلَى آخَرَ.</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dress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تَخْتَلِفُ المَلَابِسُ التَّقْلِيدِيَّةُ بَيْنَ المَنَاطِقِ.</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Traditional clothes differ between regions.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traditional dishes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لِكُلِّ بَلَدٍ أَطْبَاقٌ تَقْلِيدِيَّةٌ.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Every country has traditional dishes.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CULTURAL GUIDE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 rule +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دَلِيلًا ثَقَافِيًّا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Polite advice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Scenario / rule</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Tip / reflection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يُسْتَحْسَنُ أَنْ يَتَعَلَّمَ الزَّائِرُ بَعْضَ العِبَارَاتِ العَرَبِيَّةِ</a:t>
            </a:r>
            <a:endParaRPr lang="ar-SA" sz="155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زَارَ مَسْجِدًا يَجِبُ أَنْ يَخْلَعَ حِذَاءَهُ</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عَرَفَ كُلُّ زَائِرٍ العَادَاتِ لَقَلَّتِ الزَّلَّاتُ الثَّقَافِيَّةُ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يُسْتَحْسَنُ أَنْ يَرْتَدِيَ مَلَابِسَ مُحْتَشِمَةً</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وَيَحْظُرُ بَعْضُ المُقَدَّسَاتِ التَّصْوِيرَ</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وَأَخْبَرَنِي مُضِيفٌ أَنَّ بَادِرَةَ احْتِرَامٍ تَفْتَحُ القُلُوبَ</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يُسْتَحْسَنُ أَنْ يَتَجَنَّبَ الأَكْلَ عَلَنًا فِي رَمَضَانَ</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وَتَسْمَحُ مَوَاقِعُ أُخْرَى بِالتَّصْوِيرِ دُونَ فَلَاشٍ</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وَلَكَانَ التَّبَادُلُ الثَّقَافِيُّ أَعْمَقَ وَأَغْنَى</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Then find every verb after an: does it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Advice (an + -a), prohibition (+ object) — or permission (bi-)?</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يَتَعَلَّمَ الزَّائِرُ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يَرْتَدِيَ مَلَابِسَ مُحْتَشِمَةً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تَخْلَعَ حِذَاءَكَ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التَّصْوِيرَ فِي المُقَدَّسَاتِ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الدُّخُولَ بِالأَحْذِيَةِ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اللَّمْسَ فِي بَعْضِ الأَمَاكِنِ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بِالتَّصْوِيرِ دُونَ فَلَاشٍ</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بِالزِّيَارَةِ صَبَاحًا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بِالدُّخُولِ مَجَّانًا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 verb in -a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yaḥẓur + object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yasmaḥ bi-</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 + verb in -a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يَتَعَلَّمَ الزَّائِرُ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يَرْتَدِيَ مَلَابِسَ مُحْتَشِمَةً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 تَخْلَعَ حِذَاءَكَ</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yaḥẓur + object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التَّصْوِيرَ فِي المُقَدَّسَاتِ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الدُّخُولَ بِالأَحْذِيَةِ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اللَّمْسَ فِي بَعْضِ الأَمَاكِنِ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yasmaḥ bi-</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بِالتَّصْوِيرِ دُونَ فَلَاشٍ</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بِالزِّيَارَةِ صَبَاحًا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بِالدُّخُولِ مَجَّانًا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يَسْمَحُ المَتْحَفُ ___ التَّصْوِيرِ دُونَ فَلَاشٍ.</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polite advice for a scenario (Type 1 + modal)?</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دُعِيتَ إِلَى مَنْزِلٍ، تُحْضِرُ هَدِيَّةً.</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دُعِيتَ إِلَى مَنْزِلٍ، يُسْتَحْسَنُ أَنْ تُحْضِرَ هَدِيَّةً.</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دُعِيتَ إِلَى مَنْزِلٍ.</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إِذَا تَعَلَّمْتُ العَرَبِيَّةَ، سَتَكُونُ التَّجْرِبَةُ أَعْمَقَ.</a:t>
            </a:r>
            <a:endParaRPr lang="ar-SA" sz="200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لَوْ تَعَلَّمْتُ العَرَبِيَّةَ قَبْلَ الرِّحْلَةِ، لَكَانَتِ التَّجْرِبَةُ أَعْمَقَ.</a:t>
            </a:r>
            <a:endParaRPr lang="ar-SA" sz="200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أَتَعَلَّمُ العَرَبِيَّةَ.</a:t>
            </a:r>
            <a:endParaRPr lang="ar-SA" sz="200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different from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command</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prohibition</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softer, more polite advice</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يَسْمَحُ المَتْحَفُ ___ التَّصْوِيرِ دُونَ فَلَاشٍ.</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polite advice for a scenario (Type 1 + modal)?</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دُعِيتَ إِلَى مَنْزِلٍ، تُحْضِرُ هَدِيَّةً.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دُعِيتَ إِلَى مَنْزِلٍ، يُسْتَحْسَنُ أَنْ تُحْضِرَ هَدِيَّةً.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دُعِيتَ إِلَى مَنْزِلٍ.</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Type 1 scenario with </a:t>
            </a:r>
            <a:pPr algn="l" indent="0" marL="0">
              <a:buNone/>
            </a:pPr>
            <a:r>
              <a:rPr lang="ar-SA" altLang="en-US" sz="1350" dirty="0">
                <a:solidFill>
                  <a:srgbClr val="8A6D1E"/>
                </a:solidFill>
                <a:latin typeface="Amiri" pitchFamily="2" charset="-78"/>
                <a:ea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 subjunctive.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reflection?</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تَعَلَّمْتُ العَرَبِيَّةَ، سَتَكُونُ التَّجْرِبَةُ أَعْمَقَ.</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تَعَلَّمْتُ العَرَبِيَّةَ قَبْلَ الرِّحْلَةِ، لَكَانَتِ التَّجْرِبَةُ أَعْمَقَ.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أَتَعَلَّمُ العَرَبِيَّةَ.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counterfactual reflection.</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different from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command</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prohibition</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softer, more polite advice</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is gentler advice than the obligation </a:t>
            </a:r>
            <a:pPr algn="l" indent="0" marL="0">
              <a:buNone/>
            </a:pPr>
            <a:r>
              <a:rPr lang="ar-SA" altLang="en-US" sz="1350" dirty="0">
                <a:solidFill>
                  <a:srgbClr val="8A6D1E"/>
                </a:solidFill>
                <a:latin typeface="Amiri" pitchFamily="2" charset="-78"/>
                <a:ea typeface="Amiri" pitchFamily="2" charset="-78"/>
                <a:cs typeface="Amiri" pitchFamily="2" charset="-78"/>
              </a:rPr>
              <a:t>يَجِبُ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يُسْتَحْسَنُ أَنْ يَتَعَلَّمُ الزَّائِرُ التَّحِيَّةَ.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 -u?</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يَحْظُرُ القَانُونُ بِالتَّصْوِيرِ.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yaḥẓur +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يَسْمَحُ المَتْحَفُ التَّصْوِيرَ.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yasmaḥ + no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يُسْتَحْسَنُ أَنْ يَتَعَلَّمُ الزَّائِرُ التَّحِيَّةَ.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يُسْتَحْسَنُ أَنْ يَتَعَلَّمَ الزَّائِرُ التَّحِيَّةَ.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verb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يَتَعَلَّمَ</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يَحْظُرُ القَانُونُ بِالتَّصْوِيرِ.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يَحْظُرُ القَانُونُ التَّصْوِيرَ.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يَحْظُرُ</a:t>
            </a:r>
            <a:pPr algn="l" indent="0" marL="0">
              <a:buNone/>
            </a:pPr>
            <a:r>
              <a:rPr lang="en-US" sz="1150" b="1" dirty="0">
                <a:solidFill>
                  <a:srgbClr val="1B3B6F"/>
                </a:solidFill>
                <a:latin typeface="Calibri" pitchFamily="34" charset="0"/>
                <a:cs typeface="Amiri" pitchFamily="2" charset="-78"/>
              </a:rPr>
              <a:t> takes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يَسْمَحُ المَتْحَفُ التَّصْوِيرَ.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يَسْمَحُ المَتْحَفُ بِالتَّصْوِيرِ.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يَسْمَحُ</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Listening: advice for a respectful visitor</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a pillar of a successful trip?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Cultural respect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Cheap flights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transport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for a visitor to wear?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Bright colours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uniform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Modest clothing in public places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do if you visit a mosque?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photos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 loudly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off your shoes and cover your head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say about greetings?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the Arabic greeting expresses deep respect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Greetings are unimportant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Greetings are forbidden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Language does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every tourist learned some of the language, cultural exchange would have been deeper</a:t>
            </a:r>
            <a:endParaRPr lang="en-US" sz="1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Tourists refuse to learn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yustaḥsan an · yajib an · yaḥẓur.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يُعْتَبَرُ الاحْتِرَامُ الثَّقَافِيُّ رَكِيزَةً أَسَاسِيَّةً لِأَيِّ رِحْلَةٍ نَاجِحَةٍ إِلَى العَالَمِ العَرَبِيِّ. يُشَارُ إِلَى أَنَّ الزُّوَّارَ الَّذِينَ يَحْتَرِمُونَ العَادَاتِ المَحَلِّيَّةَ يَحْظَوْنَ بِاسْتِقْبَالٍ أَدْفَأَ.</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Cultural respect is considered a cornerstone of any successful trip to the Arab world. It is noted that visitors who respect local customs receive a warmer welcome.</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يُسْتَحْسَنُ أَنْ يَرْتَدِيَ الزَّائِرُ مَلَابِسَ مُحْتَشِمَةً فِي الأَمَاكِنِ العَامَّةِ. وَإِذَا زُرْتَ مَسْجِدًا، يَجِبُ أَنْ تَخْلَعَ حِذَاءَكَ وَتُغَطِّيَ رَأْسَكَ.</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preferable for the visitor to wear modest clothing in public places. And if you visit a mosque, you must take off your shoes and cover your head.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كَمَا يَحْظُرُ بَعْضُ المَوَاقِعِ التَّصْوِيرَ، بَيْنَمَا تَسْمَحُ مَوَاقِعُ أُخْرَى بِهِ دُونَ فَلَاشٍ.</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sites also prohibit photography, while other sites allow it without flash.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وَأَخْبَرَنِي مُرْشِدٌ مَحَلِّيٌّ أَنَّهُ مِنَ المُسْتَحْسَنِ تَعَلُّمُ التَّحِيَّةِ العَرَبِيَّةِ، وَقَالَ إِنَّ هٰذِهِ البَادِرَةَ تُعَبِّرُ عَنِ احْتِرَامٍ عَمِيقٍ.</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local guide told me that it is good to learn the Arabic greeting, and said that this gesture expresses deep respect.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وَلَوْ تَعَلَّمَ كُلُّ سَائِحٍ شَيْئًا مِنْ لُغَةِ البَلَدِ، لَكَانَ التَّبَادُلُ الثَّقَافِيُّ أَعْمَقَ وَأَغْنَى.</a:t>
            </a:r>
            <a:endParaRPr lang="ar-SA" sz="19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every tourist learned some of the country’s language, cultural exchange would have been deeper and richer.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described as a pillar of a successful trip?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Cultural respect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Cheap flights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transport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يُعْتَبَرُ الاحْتِرَامُ الثَّقَافِيُّ رَكِيزَةً أَسَاسِيَّةً.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for a visitor to wear?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Bright colours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uniform</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Modest clothing in public places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يُسْتَحْسَنُ أَنْ يَرْتَدِيَ الزَّائِرُ مَلَابِسَ مُحْتَشِمَةً.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must you do if you visit a mosque?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 photos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 loudly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Take off your shoes and cover your head</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يَجِبُ أَنْ تَخْلَعَ حِذَاءَكَ وَتُغَطِّيَ رَأْسَكَ.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local guide say about greetings?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Learning the Arabic greeting expresses deep respect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Greetings are unimportant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Greetings are forbidden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قَالَ إِنَّ هٰذِهِ البَادِرَةَ تُعَبِّرُ عَنِ احْتِرَامٍ عَمِيقٍ.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Language does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every tourist learned some of the language, cultural exchange would have been deeper</a:t>
            </a:r>
            <a:endParaRPr lang="en-US" sz="10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Tourists refuse to learn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لَوْ تَعَلَّمَ كُلُّ سَائِحٍ شَيْئًا مِنْ لُغَةِ البَلَدِ، لَكَانَ التَّبَادُلُ الثَّقَافِيُّ أَعْمَقَ.</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yustaḥsan an · yajib an · yaḥẓur.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Respectful visitor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Respectful visitor role-play</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Solve a cultural-exchange scenario involving greeting, invitation or local custom. Ask rather than assume, then explain the most respectful response.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get a scenario card: greeting, invitation or local custom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Role-play it: the visitor ASKS rather than assumes.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Agree the most respectful response.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Explain it to the class with a reason (li-anna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Ask one polite question: “hal yumkinu an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Role-play + explain with past experience (zurtu … wa-taʿallamtu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Role-play + cause and result (fa-li-dhālika …) and a future intention.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هَلْ يُمْكِنُ أَنْ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is it possible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مَا العَادَةُ هُنَا؟</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what is the custom here?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احْتِرَامًا لِلْعَادَاتِ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out of respect for the customs</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لِذٰلِكَ سَأَسْأَلُ أَوَّلًا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so I will ask first</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advise a visitor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بِمَ تَنْصَحُ زَائِرًا؟ اسْتَعْمِلْ «يُسْتَحْسَنُ أَنْ».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يَجِبُ أَنْ يَفْعَلَهُ فِي مَكَانٍ دِينِيٍّ؟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تَعَلَّمَ الزَّائِرُ لُغَةَ البَلَدِ، مَاذَا كَانَ سَيَخْتَلِفُ؟</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يُسْتَحْسَنُ أَنْ يَتَعَلَّمَ الزَّائِرُ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زُرْتَ مَسْجِدًا، يَجِبُ أَنْ تَخْلَعَ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تَعَلَّمَ الزَّائِرُ ___ ، لَكَانَ ___ أَعْمَقَ.</a:t>
            </a:r>
            <a:endParaRPr lang="ar-SA" sz="15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بِمَ تَنْصَحُ زَائِرًا؟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advise a visitor?</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يُسْتَحْسَنُ أَنْ يَتَعَلَّمَ الزَّائِرُ تَحِيَّةً عَرَبِيَّةً وَأَنْ يَرْتَدِيَ مَلَابِسَ مُحْتَشِمَةً.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It is preferable for the visitor to learn an Arabic greeting and to wear modest clothing.</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four advice sentences with </a:t>
            </a:r>
            <a:pPr algn="l" indent="0" marL="0">
              <a:buNone/>
            </a:pPr>
            <a:r>
              <a:rPr lang="ar-SA" altLang="en-US" sz="1800" b="1" dirty="0">
                <a:solidFill>
                  <a:srgbClr val="1F2A37"/>
                </a:solidFill>
                <a:latin typeface="Amiri" pitchFamily="2" charset="-78"/>
                <a:ea typeface="Amiri" pitchFamily="2" charset="-78"/>
                <a:cs typeface="Amiri" pitchFamily="2" charset="-78"/>
              </a:rPr>
              <a:t>يُسْتَحْسَنُ أَنْ</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يَجِبُ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four advice sentences with yustaḥsan an and yajib an.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a:t>
            </a:r>
            <a:pPr algn="l" indent="0" marL="0">
              <a:buNone/>
            </a:pPr>
            <a:r>
              <a:rPr lang="ar-SA" altLang="en-US" sz="1800" b="1" dirty="0">
                <a:solidFill>
                  <a:srgbClr val="1F2A37"/>
                </a:solidFill>
                <a:latin typeface="Amiri" pitchFamily="2" charset="-78"/>
                <a:ea typeface="Amiri" pitchFamily="2" charset="-78"/>
                <a:cs typeface="Amiri" pitchFamily="2" charset="-78"/>
              </a:rPr>
              <a:t>يَحْظُرُ</a:t>
            </a:r>
            <a:pPr algn="l" indent="0" marL="0">
              <a:buNone/>
            </a:pPr>
            <a:r>
              <a:rPr lang="en-US" sz="1400" b="1" dirty="0">
                <a:solidFill>
                  <a:srgbClr val="1F2A37"/>
                </a:solidFill>
                <a:latin typeface="Calibri" pitchFamily="34" charset="0"/>
                <a:cs typeface="Amiri" pitchFamily="2" charset="-78"/>
              </a:rPr>
              <a:t> rule and a </a:t>
            </a:r>
            <a:pPr algn="l" indent="0" marL="0">
              <a:buNone/>
            </a:pPr>
            <a:r>
              <a:rPr lang="ar-SA" altLang="en-US" sz="1800" b="1" dirty="0">
                <a:solidFill>
                  <a:srgbClr val="1F2A37"/>
                </a:solidFill>
                <a:latin typeface="Amiri" pitchFamily="2" charset="-78"/>
                <a:ea typeface="Amiri" pitchFamily="2" charset="-78"/>
                <a:cs typeface="Amiri" pitchFamily="2" charset="-78"/>
              </a:rPr>
              <a:t>يَسْمَحُ بِـ</a:t>
            </a:r>
            <a:pPr algn="l" indent="0" marL="0">
              <a:buNone/>
            </a:pPr>
            <a:r>
              <a:rPr lang="en-US" sz="1400" b="1" dirty="0">
                <a:solidFill>
                  <a:srgbClr val="1F2A37"/>
                </a:solidFill>
                <a:latin typeface="Calibri" pitchFamily="34" charset="0"/>
                <a:cs typeface="Amiri" pitchFamily="2" charset="-78"/>
              </a:rPr>
              <a:t> permission.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yaḥẓur rule and a yasmaḥ bi- permission.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guide with a reported tip and a Type 2 reflection.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cultural guide with yustaḥsan an twice, yajib an, yaḥẓur, a Type 1 scenario, a reported tip and a Type 2 reflection.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يَحْظُرُ بَعْضُ المَوَاقِعِ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 sites prohibit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يَسْمَحُ المَتْحَفُ بِالتَّصْوِيرِ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museum permits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أَخْبَرَنِي مُرْشِدٌ مَحَلِّيٌّ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local guide told me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عَرَفَ كُلُّ زَائِرٍ ______ ، لَكَانَ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every visitor known …, … would have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يُسْتَحْسَنُ أَنْ يَتَعَلَّمَ الزَّائِرُ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preferable for the visitor to learn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يُسْتَحْسَنُ أَنْ يَرْتَدِيَ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preferable for him to wear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زُرْتَ مَسْجِدًا، يَجِبُ أَنْ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visit a mosque, you must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رَمَضَانَ، يُسْتَحْسَنُ أَنْ يَتَجَنَّبَ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Ramadan, it is preferable to avoid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150" b="1" dirty="0">
                <a:solidFill>
                  <a:srgbClr val="1B3B6F"/>
                </a:solidFill>
                <a:latin typeface="Amiri" pitchFamily="2" charset="-78"/>
                <a:ea typeface="Amiri" pitchFamily="2" charset="-78"/>
                <a:cs typeface="Amiri" pitchFamily="2" charset="-78"/>
              </a:rPr>
              <a:t>بَعْضَ العِبَارَاتِ العَرَبِيَّةِ  ·  التَّحِيَّةَ المَحَلِّيَّةَ  ·  مَلَابِسَ مُحْتَشِمَةً  ·  حِذَاءَكَ  ·  الأَكْلَ عَلَنًا نَهَارًا  ·  التَّصْوِيرَ  ·  الدُّخُولَ بِالأَحْذِيَةِ  ·  دُونَ فَلَاشٍ  ·  عَادَاتِ البَلَدِ  ·  الزَّلَّاتُ الثَّقَافِيَّةُ  ·  التَّبَادُلُ الثَّقَافِيُّ  ·  بَادِرَةً صَغِيرَةً</a:t>
            </a:r>
            <a:endParaRPr lang="ar-SA"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cultural guide of one hundred to one hundred and ten words for visitors to an Arab country. Use </a:t>
            </a:r>
            <a:pPr algn="l" indent="0" marL="0">
              <a:buNone/>
            </a:pPr>
            <a:r>
              <a:rPr lang="ar-SA" altLang="en-US" sz="1750" b="1" dirty="0">
                <a:solidFill>
                  <a:srgbClr val="1F2A37"/>
                </a:solidFill>
                <a:latin typeface="Amiri" pitchFamily="2" charset="-78"/>
                <a:ea typeface="Amiri" pitchFamily="2" charset="-78"/>
                <a:cs typeface="Amiri" pitchFamily="2" charset="-78"/>
              </a:rPr>
              <a:t>يُسْتَحْسَنُ أَنْ</a:t>
            </a:r>
            <a:pPr algn="l" indent="0" marL="0">
              <a:buNone/>
            </a:pPr>
            <a:r>
              <a:rPr lang="en-US" sz="1350" b="1" dirty="0">
                <a:solidFill>
                  <a:srgbClr val="1F2A37"/>
                </a:solidFill>
                <a:latin typeface="Calibri" pitchFamily="34" charset="0"/>
                <a:cs typeface="Amiri" pitchFamily="2" charset="-78"/>
              </a:rPr>
              <a:t> + subjunctive twice, </a:t>
            </a:r>
            <a:pPr algn="l" indent="0" marL="0">
              <a:buNone/>
            </a:pPr>
            <a:r>
              <a:rPr lang="ar-SA" altLang="en-US" sz="1750" b="1" dirty="0">
                <a:solidFill>
                  <a:srgbClr val="1F2A37"/>
                </a:solidFill>
                <a:latin typeface="Amiri" pitchFamily="2" charset="-78"/>
                <a:ea typeface="Amiri" pitchFamily="2" charset="-78"/>
                <a:cs typeface="Amiri" pitchFamily="2" charset="-78"/>
              </a:rPr>
              <a:t>يَجِبُ أَنْ</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يَحْظُرُ</a:t>
            </a:r>
            <a:pPr algn="l" indent="0" marL="0">
              <a:buNone/>
            </a:pPr>
            <a:r>
              <a:rPr lang="en-US" sz="1350" b="1" dirty="0">
                <a:solidFill>
                  <a:srgbClr val="1F2A37"/>
                </a:solidFill>
                <a:latin typeface="Calibri" pitchFamily="34" charset="0"/>
                <a:cs typeface="Amiri" pitchFamily="2" charset="-78"/>
              </a:rPr>
              <a:t>, a Type 1 scenario, a reported cultural tip and a Type 2 reflection.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a:t>
            </a:r>
            <a:pPr algn="l" indent="0" marL="0">
              <a:buNone/>
            </a:pPr>
            <a:r>
              <a:rPr lang="ar-SA" altLang="en-US" sz="1550" dirty="0">
                <a:solidFill>
                  <a:srgbClr val="1F2A37"/>
                </a:solidFill>
                <a:latin typeface="Amiri" pitchFamily="2" charset="-78"/>
                <a:ea typeface="Amiri" pitchFamily="2" charset="-78"/>
                <a:cs typeface="Amiri" pitchFamily="2" charset="-78"/>
              </a:rPr>
              <a:t>يُسْتَحْسَنُ أَنْ</a:t>
            </a:r>
            <a:pPr algn="l" indent="0" marL="0">
              <a:buNone/>
            </a:pPr>
            <a:r>
              <a:rPr lang="en-US" sz="1200" dirty="0">
                <a:solidFill>
                  <a:srgbClr val="1F2A37"/>
                </a:solidFill>
                <a:latin typeface="Calibri" pitchFamily="34" charset="0"/>
                <a:cs typeface="Amiri" pitchFamily="2" charset="-78"/>
              </a:rPr>
              <a:t> + subjunctive advice sentences.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يَجِبُ أَنْ</a:t>
            </a:r>
            <a:pPr algn="l" indent="0" marL="0">
              <a:buNone/>
            </a:pPr>
            <a:r>
              <a:rPr lang="en-US" sz="1200" dirty="0">
                <a:solidFill>
                  <a:srgbClr val="1F2A37"/>
                </a:solidFill>
                <a:latin typeface="Calibri" pitchFamily="34" charset="0"/>
                <a:cs typeface="Amiri" pitchFamily="2" charset="-78"/>
              </a:rPr>
              <a:t> scenario and one </a:t>
            </a:r>
            <a:pPr algn="l" indent="0" marL="0">
              <a:buNone/>
            </a:pPr>
            <a:r>
              <a:rPr lang="ar-SA" altLang="en-US" sz="1550" dirty="0">
                <a:solidFill>
                  <a:srgbClr val="1F2A37"/>
                </a:solidFill>
                <a:latin typeface="Amiri" pitchFamily="2" charset="-78"/>
                <a:ea typeface="Amiri" pitchFamily="2" charset="-78"/>
                <a:cs typeface="Amiri" pitchFamily="2" charset="-78"/>
              </a:rPr>
              <a:t>يَحْظُرُ</a:t>
            </a:r>
            <a:pPr algn="l" indent="0" marL="0">
              <a:buNone/>
            </a:pPr>
            <a:r>
              <a:rPr lang="en-US" sz="1200" dirty="0">
                <a:solidFill>
                  <a:srgbClr val="1F2A37"/>
                </a:solidFill>
                <a:latin typeface="Calibri" pitchFamily="34" charset="0"/>
                <a:cs typeface="Amiri" pitchFamily="2" charset="-78"/>
              </a:rPr>
              <a:t> rule.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 cultural tip (</a:t>
            </a:r>
            <a:pPr algn="l" indent="0" marL="0">
              <a:buNone/>
            </a:pPr>
            <a:r>
              <a:rPr lang="ar-SA" altLang="en-US" sz="1550" dirty="0">
                <a:solidFill>
                  <a:srgbClr val="1F2A37"/>
                </a:solidFill>
                <a:latin typeface="Amiri" pitchFamily="2" charset="-78"/>
                <a:ea typeface="Amiri" pitchFamily="2" charset="-78"/>
                <a:cs typeface="Amiri" pitchFamily="2" charset="-78"/>
              </a:rPr>
              <a:t>قَالَ / أَخْبَرَنِي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reflection with the </a:t>
            </a:r>
            <a:pPr algn="l" indent="0" marL="0">
              <a:buNone/>
            </a:pPr>
            <a:r>
              <a:rPr lang="ar-SA" altLang="en-US" sz="1550" dirty="0">
                <a:solidFill>
                  <a:srgbClr val="1F2A37"/>
                </a:solidFill>
                <a:latin typeface="Amiri" pitchFamily="2" charset="-78"/>
                <a:ea typeface="Amiri" pitchFamily="2" charset="-78"/>
                <a:cs typeface="Amiri" pitchFamily="2" charset="-78"/>
              </a:rPr>
              <a:t>لَـ</a:t>
            </a:r>
            <a:pPr algn="l" indent="0" marL="0">
              <a:buNone/>
            </a:pPr>
            <a:r>
              <a:rPr lang="en-US" sz="1200" dirty="0">
                <a:solidFill>
                  <a:srgbClr val="1F2A37"/>
                </a:solidFill>
                <a:latin typeface="Calibri" pitchFamily="34" charset="0"/>
                <a:cs typeface="Amiri" pitchFamily="2" charset="-78"/>
              </a:rPr>
              <a:t> result.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يُعْتَبَرُ الاحْتِرَامُ الثَّقَافِيُّ رَكِيزَةً أَسَاسِيَّةً</a:t>
            </a:r>
            <a:endParaRPr lang="ar-SA" sz="17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cultural respect is considered a cornerstone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الأَمَاكِنِ العَامَّةِ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public places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فَاسْأَلْ أَوَّلًا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ask first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أَنَّهُ مِنَ المُسْتَحْسَنِ تَعَلُّمُ التَّحِيَّةِ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it is good to learn the greeting</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لَكَانَ التَّبَادُلُ الثَّقَافِيُّ أَعْمَقَ وَأَغْنَى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cultural exchange would have been deeper and richer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يُعْتَبَرُ الاحْتِرَامُ الثَّقَافِيُّ رَكِيزَةً أَسَاسِيَّةً لِأَيِّ رِحْلَةٍ نَاجِحَةٍ إِلَى العَالَمِ العَرَبِيِّ. يُسْتَحْسَنُ أَنْ يَتَعَلَّمَ الزَّائِرُ بَعْضَ العِبَارَاتِ العَرَبِيَّةِ قَبْلَ سَفَرِهِ، وَيُسْتَحْسَنُ أَنْ يَرْتَدِيَ مَلَابِسَ مُحْتَشِمَةً فِي الأَمَاكِنِ العَامَّةِ. وَإِذَا زُرْتَ مَسْجِدًا، يَجِبُ أَنْ تَخْلَعَ حِذَاءَكَ وَتُغَطِّيَ رَأْسَكَ. كَمَا يَحْظُرُ بَعْضُ المُقَدَّسَاتِ التَّصْوِيرَ، فَاسْأَلْ أَوَّلًا. فِي إِحْدَى رِحْلَاتِي، أَخْبَرَنِي مُرْشِدٌ مَحَلِّيٌّ أَنَّهُ مِنَ المُسْتَحْسَنِ تَعَلُّمُ التَّحِيَّةِ، وَقَالَ إِنَّ هٰذِهِ البَادِرَةَ تُعَبِّرُ عَنِ احْتِرَامٍ عَمِيقٍ. وَلَوْ عَرَفَ كُلُّ زَائِرٍ عَادَاتِ البَلَدِ، لَقَلَّتِ الزَّلَّاتُ الثَّقَافِيَّةُ، وَلَكَانَ التَّبَادُلُ الثَّقَافِيُّ أَعْمَقَ وَأَغْنَى.</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Cultural respect is considered a cornerstone of any successful trip to the Arab world. It is preferable for the visitor to learn some Arabic phrases before travelling, and it is preferable to wear modest clothing in public places. If you visit a mosque, you must take off your shoes and cover your head. Some sacred places also prohibit photography, so ask first. On one of my trips, a local guide told me that it is good to learn the greeting, and said that this gesture expresses deep respect. And had every visitor known the country’s customs, cultural faux pas would have been fewer, and cultural exchange deeper and richer.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yustaḥsan an + -a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yajib an · yaḥẓur +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akhbaranī … anna · qāla inna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law … la-qallat · la-kāna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verbs after an end in -a (yataʿallama · yartadiya).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yustaḥsan an for polite advice and yajib an for a must.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yaḥẓur has a direct object; yasmaḥ has bi-.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have a Type 1 scenario (idhā zurta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report a tip (akhbaranī … anna) and reflect with law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بِالتَّصْوِيرِ.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التَّصْوِيرَ.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عَلَى التَّصْوِيرِ.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 العَرَبِيَّةَ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يَتَعَلَّمَ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يَتَعَلَّمُ</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تَعَلَّمَ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يَتَعَلَّمَ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يَحْظُرُ المَوْقِعُ بِالتَّصْوِيرِ.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يَحْظُرُ المَوْقِعُ التَّصْوِيرَ.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يَحْظُرُ المَوْقِعُ عَلَى التَّصْوِيرِ.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guide for visitors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يُشَكِّلُ الاحْتِرَامُ الثَّقَافِيُّ جِسْرًا بَيْنَ الزَّائِرِ وَالمُجْتَمَعِ المُضِيفِ. يُسْتَحْسَنُ أَنْ يَتَعَلَّمَ الزَّائِرُ بَعْضَ العِبَارَاتِ العَرَبِيَّةِ قَبْلَ رِحْلَتِهِ، وَأَنْ يَحْتَرِمَ قَوَاعِدَ اللِّبَاسِ فِي الأَمَاكِنِ الدِّينِيَّةِ. وَفِي شَهْرِ رَمَضَانَ، يُسْتَحْسَنُ أَنْ يَتَجَنَّبَ الأَكْلَ عَلَنًا نَهَارًا احْتِرَامًا لِلصَّائِمِينَ. كَمَا يَحْظُرُ بَعْضُ المُقَدَّسَاتِ التَّصْوِيرَ، فَمِنَ المُهِمِّ السُّؤَالُ أَوَّلًا. وَقَدْ أَخْبَرَنِي مُضِيفٌ عَرَبِيٌّ أَنَّ بَادِرَةً صَغِيرَةً مِنَ الاحْتِرَامِ تَفْتَحُ القُلُوبَ. وَلَوْ عَرَفَ كُلُّ زَائِرٍ عَادَاتِ البَلَدِ قَبْلَ وُصُولِهِ، لَقَلَّتِ الزَّلَّاتُ الثَّقَافِيَّةُ كَثِيرًا. فَالتَّفَاهُمُ يَبْدَأُ بِخُطْوَةٍ بَسِيطَةٍ مِنَ الفَهْمِ.</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يُشَكِّلُ</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forms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جِسْرًا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bridge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العِبَارَاتِ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phrases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الدِّينِيَّةِ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religious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يَتَجَنَّبَ</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avoid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عَلَنًا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public</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نَهَارًا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during the day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لِلصَّائِمِينَ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those fasting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مُضِيفٌ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host</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تَفْتَحُ القُلُوبَ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opens hearts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cultural respect form?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bridge between the visitor and the host community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cost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to do before the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Pack lightly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some Arabic phrases and respect dress codes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during Ramadan?</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eating in public during the day out of respect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publicly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Fast for others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an Arab host say?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is unnecessary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gesture of respect opens hearts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Hosts dislike visitors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cs typeface="Amiri" pitchFamily="2" charset="-78"/>
              </a:rPr>
              <a:t>Had every visitor known the country's customs first, faux pas would have been much fewer</a:t>
            </a:r>
            <a:endParaRPr lang="en-US" sz="10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Customs do not matter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Visitors cannot learn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cultural respect form?</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bridge between the visitor and the host community</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cost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يُشَكِّلُ الاحْتِرَامُ الثَّقَافِيُّ جِسْرًا بَيْنَ الزَّائِرِ وَالمُجْتَمَعِ المُضِيفِ.</a:t>
            </a:r>
            <a:endParaRPr lang="ar-SA" sz="12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 preferable to do before the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Pack lightly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Learn some Arabic phrases and respect dress codes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يُسْتَحْسَنُ أَنْ يَتَعَلَّمَ الزَّائِرُ بَعْضَ العِبَارَاتِ … وَأَنْ يَحْتَرِمَ قَوَاعِدَ اللِّبَاسِ.</a:t>
            </a:r>
            <a:endParaRPr lang="ar-SA"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advised during Ramadan?</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Avoid eating in public during the day out of respect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 publicly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Fast for others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يُسْتَحْسَنُ أَنْ يَتَجَنَّبَ الأَكْلَ عَلَنًا نَهَارًا احْتِرَامًا لِلصَّائِمِينَ.</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an Arab host say?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 is unnecessary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small gesture of respect opens hearts</a:t>
            </a:r>
            <a:endParaRPr lang="en-US" sz="12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Hosts dislike visitors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أَخْبَرَنِي مُضِيفٌ عَرَبِيٌّ أَنَّ بَادِرَةً صَغِيرَةً مِنَ الاحْتِرَامِ تَفْتَحُ القُلُوبَ.</a:t>
            </a:r>
            <a:endParaRPr lang="ar-SA" sz="11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reflection?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cs typeface="Amiri" pitchFamily="2" charset="-78"/>
              </a:rPr>
              <a:t>Had every visitor known the country's customs first, faux pas would have been much fewer</a:t>
            </a:r>
            <a:endParaRPr lang="en-US" sz="10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Customs do not matter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Visitors cannot learn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لَوْ عَرَفَ كُلُّ زَائِرٍ عَادَاتِ البَلَدِ قَبْلَ وُصُولِهِ، لَقَلَّتِ الزَّلَّاتُ الثَّقَافِيَّةُ.</a:t>
            </a:r>
            <a:endParaRPr lang="ar-SA" sz="11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Advice Mission — Subjunctive, Rules and Reflection</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يَتَعَلَّمَ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تَعَلَّمَ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ارْتَدَى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حِذَاءَكَ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تَخْلَعُ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خَلَعْتَ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تَخْلَعَ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بِالتَّصْوِيرِ.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عَنِ التَّصْوِيرِ.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يَحْظُرُ المَوْقِعُ التَّصْوِيرَ.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Force:</a:t>
            </a:r>
            <a:endParaRPr lang="en-US" sz="1200" dirty="0"/>
          </a:p>
        </p:txBody>
      </p:sp>
      <p:sp>
        <p:nvSpPr>
          <p:cNvPr id="86" name="Text 8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يُسْتَحْسَنُ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strict prohibition</a:t>
            </a:r>
            <a:endParaRPr lang="en-US" sz="12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polite advice</a:t>
            </a:r>
            <a:endParaRPr lang="en-US" sz="12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الزَّائِرُ التَّحِيَّةَ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يَتَعَلَّمُ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يَتَعَلَّمَ</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تَعَلَّمَ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يُسْتَحْسَنُ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مَلَابِسَ مُحْتَشِمَةً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يَرْتَدِيَ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ارْتَدَى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defective verb's subjunctive is </a:t>
            </a:r>
            <a:pPr algn="l" indent="0" marL="0">
              <a:buNone/>
            </a:pPr>
            <a:r>
              <a:rPr lang="ar-SA" altLang="en-US" sz="1350" dirty="0">
                <a:solidFill>
                  <a:srgbClr val="8A6D1E"/>
                </a:solidFill>
                <a:latin typeface="Amiri" pitchFamily="2" charset="-78"/>
                <a:ea typeface="Amiri" pitchFamily="2" charset="-78"/>
                <a:cs typeface="Amiri" pitchFamily="2" charset="-78"/>
              </a:rPr>
              <a:t>يَرْتَدِيَ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Subjunctive: complete — </a:t>
            </a:r>
            <a:pPr algn="l" indent="0" marL="0">
              <a:buNone/>
            </a:pPr>
            <a:r>
              <a:rPr lang="ar-SA" altLang="en-US" sz="1650" b="1" dirty="0">
                <a:solidFill>
                  <a:srgbClr val="1B3B6F"/>
                </a:solidFill>
                <a:latin typeface="Amiri" pitchFamily="2" charset="-78"/>
                <a:ea typeface="Amiri" pitchFamily="2" charset="-78"/>
                <a:cs typeface="Amiri" pitchFamily="2" charset="-78"/>
              </a:rPr>
              <a:t>يَجِبُ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حِذَاءَكَ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تَخْلَعُ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خَلَعْتَ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تَخْلَعَ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verb 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uses </a:t>
            </a:r>
            <a:pPr algn="l" indent="0" marL="0">
              <a:buNone/>
            </a:pPr>
            <a:r>
              <a:rPr lang="ar-SA" altLang="en-US" sz="1650" b="1" dirty="0">
                <a:solidFill>
                  <a:srgbClr val="1B3B6F"/>
                </a:solidFill>
                <a:latin typeface="Amiri" pitchFamily="2" charset="-78"/>
                <a:ea typeface="Amiri" pitchFamily="2" charset="-78"/>
                <a:cs typeface="Amiri" pitchFamily="2" charset="-78"/>
              </a:rPr>
              <a:t>يَحْظُرُ</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يَحْظُرُ المَوْقِعُ بِالتَّصْوِيرِ.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يَحْظُرُ المَوْقِعُ عَنِ التَّصْوِيرِ.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يَحْظُرُ المَوْقِعُ التَّصْوِيرَ.</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يَحْظُرُ</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يَسْمَحُ المَتْحَفُ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التَّصْوِيرِ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Force:</a:t>
            </a:r>
            <a:endParaRPr lang="en-US" sz="1200" dirty="0"/>
          </a:p>
        </p:txBody>
      </p:sp>
      <p:sp>
        <p:nvSpPr>
          <p:cNvPr id="95" name="Text 93"/>
          <p:cNvSpPr txBox="1"/>
          <p:nvPr/>
        </p:nvSpPr>
        <p:spPr>
          <a:xfrm>
            <a:off x="10044989"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يُسْتَحْسَنُ أَنْ</a:t>
            </a:r>
            <a:pPr algn="l" indent="0" marL="0">
              <a:buNone/>
            </a:pPr>
            <a:r>
              <a:rPr lang="en-US" sz="1450" b="1" dirty="0">
                <a:solidFill>
                  <a:srgbClr val="1F2A37"/>
                </a:solidFill>
                <a:latin typeface="Calibri" pitchFamily="34" charset="0"/>
                <a:cs typeface="Amiri" pitchFamily="2" charset="-78"/>
              </a:rPr>
              <a:t> is …</a:t>
            </a:r>
            <a:endParaRPr lang="en-US" sz="14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strict prohibition</a:t>
            </a:r>
            <a:endParaRPr lang="en-US" sz="12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polite advice</a:t>
            </a:r>
            <a:endParaRPr lang="en-US" sz="12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يُسْتَحْسَنُ أَنْ</a:t>
            </a:r>
            <a:pPr algn="l" indent="0" marL="0">
              <a:buNone/>
            </a:pPr>
            <a:r>
              <a:rPr lang="en-US" sz="1050" i="1" dirty="0">
                <a:solidFill>
                  <a:srgbClr val="8A6D1E"/>
                </a:solidFill>
                <a:latin typeface="Calibri" pitchFamily="34" charset="0"/>
                <a:cs typeface="Amiri" pitchFamily="2" charset="-78"/>
              </a:rPr>
              <a:t> is gentle, polite advice.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Cultural Exchange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TE-L09 · Comparing Cultures with Respect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جَالِيَةٌ عَرَبِيَّةٌ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Arab community abroad</a:t>
            </a:r>
            <a:pPr indent="0" marL="0">
              <a:buNone/>
            </a:pPr>
            <a:r>
              <a:rPr lang="ar-SA" sz="1000" i="1" dirty="0">
                <a:solidFill>
                  <a:srgbClr val="5A6472"/>
                </a:solidFill>
                <a:latin typeface="Calibri" pitchFamily="34" charset="0"/>
                <a:ea typeface="Amiri" pitchFamily="2" charset="-78"/>
                <a:cs typeface="Amiri" pitchFamily="2" charset="-78"/>
              </a:rPr>
              <a:t>  pl. جَالِيَاتٌ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مُهَاجِرٌ / مُهَاجِرَةٌ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migrant (m / f)</a:t>
            </a:r>
            <a:pPr indent="0" marL="0">
              <a:buNone/>
            </a:pPr>
            <a:r>
              <a:rPr lang="ar-SA" sz="1000" i="1" dirty="0">
                <a:solidFill>
                  <a:srgbClr val="5A6472"/>
                </a:solidFill>
                <a:latin typeface="Calibri" pitchFamily="34" charset="0"/>
                <a:ea typeface="Amiri" pitchFamily="2" charset="-78"/>
                <a:cs typeface="Amiri" pitchFamily="2" charset="-78"/>
              </a:rPr>
              <a:t>  pl. مُهَاجِرُونَ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الجِيلُ الثَّانِي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second generation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هُوِيَّةٌ مُزْدَوَجَةٌ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dual identity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جُذُورٌ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roots</a:t>
            </a:r>
            <a:pPr indent="0" marL="0">
              <a:buNone/>
            </a:pPr>
            <a:r>
              <a:rPr lang="ar-SA" sz="1000" i="1" dirty="0">
                <a:solidFill>
                  <a:srgbClr val="5A6472"/>
                </a:solidFill>
                <a:latin typeface="Calibri" pitchFamily="34" charset="0"/>
                <a:ea typeface="Amiri" pitchFamily="2" charset="-78"/>
                <a:cs typeface="Amiri" pitchFamily="2" charset="-78"/>
              </a:rPr>
              <a:t>  sing. جِذْرٌ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Where did your family’s roots begin, and how does your family keep its language and culture here?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جُذُورُ عَائِلَتِي فِي … وَنَحْتَفِظُ بِـ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four advice sentences with yustaḥsan an and yajib an (verbs in -a).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yaḥẓur rule and a yasmaḥ bi- permission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cultural guide for visitors to an Arab country.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cs typeface="Amiri" pitchFamily="2" charset="-78"/>
              </a:rPr>
              <a:t>TE-L09 · Comparing Cultures with Respect</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مُقَارَنَةُ الثَّقَافَاتِ بِاحْتِرَامٍ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TE-L09.</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TE-L08 · Travel, Cultural Exchange and Understanding</dc:title>
  <dc:subject>PptxGenJS Presentation</dc:subject>
  <dc:creator>Al Madina Online School · Arabic Department</dc:creator>
  <cp:lastModifiedBy>Al Madina Online School · Arabic Department</cp:lastModifiedBy>
  <cp:revision>1</cp:revision>
  <dcterms:created xsi:type="dcterms:W3CDTF">2026-10-11T06:44:19Z</dcterms:created>
  <dcterms:modified xsi:type="dcterms:W3CDTF">2026-10-11T06:44:19Z</dcterms:modified>
</cp:coreProperties>
</file>