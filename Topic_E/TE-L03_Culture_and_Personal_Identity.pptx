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TE-L03 — Culture and Personal Identity. Website: Advanced Topics › Topic E (The International World) › Lesson 3.
The website builds this lesson on the D6-L09 lesson engine, with the Topic focus “Explain how language, family, place and experience contribute to identity.” (grammar: Possessives; إنّ; reasons and examples; skills: Speaking · Writing) and the application challenge “Culture and identity layers”.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TE-L03. The website lesson “Writing — Countries, Culture and Identity (Paper 4 Extended Writing)”: vocabulary, grammar rules and quiz, patterns, common mistakes, sorter, listening, reading, speaking prompts and model, writing task and model, differentiation, final check and the lesson mission. Picture match: website visual game “Writing — Countries, Culture and Identity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past celebration · present · future (70–90 words), one cultural verb with its preposition. Develop: 110–130 words with a passive and a formal connector. Stretch: the website task (130–140 words) with all six structures and a supported opinion — then the 90-second self-mark.
• Website key message: Range = variety of STRUCTURE, not long words. Accuracy: ONE cultural verb with the right preposition is worth more than three used carelessly.
• Identity is personal: any celebration or family tradition works, and a fictional family is always acceptable. This is the Topic E writing showcase — keep the best draft for the TE-L12 assessment.
• TEACHER-WRITTEN ITEMS: English added to the patterns and speaking model (its last line smoothed); the key case-ending quiz distractors are kept on purpose; the website visual game repeats TE-L04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D6-L08 (website). Questions 4–5 retrieve D6-L08 (website) (يُشِيرُ إِلَى) and D6-L07 (website) (لَنْ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 not long words. Plan where each structure goes, then check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نظریہ، انکار are shared. CAREFUL: Urdu انکار = saying no; Arabic لَا يُمْكِنُ إِنْكَارُ أَنَّ = “it cannot be denied that”. Urdu قیمت = price; Arabic القِيمَةُ الثَّقَافِيَّةُ = cultural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(1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(2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(1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(2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(1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(2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“Three tenses, signalled” (past experience → present habit → future aspiration; each section carries its own time phrase) and the website listening (a student plans each paragraph, adds an opinion, then counts the words and checks every suffix and preposition).
Website mistake: فِي الطُّفُولَةِ نَحْتَفِلُ ✗ → احْتَفَلْنَا.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“One cultural verb, correctly governed” (يَحْتَفِلُ بِـ · يَنْتَمِي إِلَى · يَتَمَسَّكُ بِـ · يَعْتَادُ عَلَى — choose one and get its preposition right), “An opinion with a supported claim” (أَنَّ makes the following noun accusative; follow the claim with a reason) and “A passive and a formal connector” (passive subject nominative; عَلَى الرَّغْمِ مِنْ + genitive).
Website teaching point: “Mark your own draft in ninety seconds: count the past verbs, check each suffix, check the preposition on every cultural verb, confirm the passive subject is nominative,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text, six structures. Plan where each will appear before you write, then check them one at a time afterwards.”
• Three tenses, signalled: Each section carries its own time phrase, and the verbs follow it.
• One cultural verb, correctly governed: Choose one and get its preposition right; that is worth more than using three carelessly.
• An opinion with a supported claim: أَنَّ makes the following noun accusative. Follow the claim with a reason.
• A passive and a formal connector: The passive subject is nominative; عَلَى الرَّغْمِ مِنْ takes a genitive noun.
Website common error: Using three cultural verbs with the wrong prepositions instead of one with the right preposition. Accuracy is worth more than quantity in the Accuracy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self-mark cycle. The copy box is the skeleton of the website model (one sentence per section). The full 130-word website model is on the Write / model slides. Then model the 90-second self-mark aloud: circle every verb, box every preposition, underline the passive subject,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then copy the student’s plan as your own plan.
Listen 1: just listen. Listen 2: note answers. Then chat the letters.
Support: after the second listening, show the read-along slide (Arabic + English, line by line) for Core students.
SCRIPT (read aloud):
قَبْلَ أَنْ أَكْتُبَ، خَطَّطْتُ لِكُلِّ فِقْرَةٍ. فِي الفِقْرَةِ الأُولَى كَتَبْتُ عَنِ المَاضِي: فِي الطُّفُولَةِ احْتَفَلْنَا بِالعِيدِ فِي بَلَدِ أُسْرَتِي، وَكَانَتْ جَدَّتِي تَحْكِي لَنَا القِصَصَ. وَفِي الفِقْرَةِ الثَّانِيَةِ كَتَبْتُ عَنِ الحَاضِرِ: أَمَّا الآنَ فَنَحْتَفِلُ هُنَا مَعَ الجَالِيَةِ، وَتُزَيَّنُ البُيُوتُ وَتُتَبَادَلُ التَّهَانِي. ثُمَّ أَضَفْتُ رَأْيِي: لَا يُمْكِنُ إِنْكَارُ أَنَّ اللُّغَةَ جُزْءٌ مِنَ الهُوِيَّةِ. وَفِي الخِتَامِ كَتَبْتُ عَنِ المُسْتَقْبَلِ: أَطْمَحُ إِلَى زِيَارَةِ بَلَدِ أُسْرَتِي، وَسَأُوَاصِلُ تَعَلُّمَ العَرَبِيَّةِ. وَأَخِيرًا عَدَدْتُ الكَلِمَاتِ وَرَاجَعْتُ كُلَّ لَاحِقَةٍ وَكُلَّ حَرْفِ 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“Sort identity statements into personal, family, local, national or international influences, then explain how two influences can coexist.”
Website Topic E challenge “Culture and identity layers”. Statements: أَتَكَلَّمُ الأُرْدِيَّةَ مَعَ أُسْرَتِي · أُشَجِّعُ فَرِيقَ مَدِينَتِي · أَحْمِلُ جِنْسِيَّتَيْنِ · أَتَعَلَّمُ العَرَبِيَّةَ · أُحِبُّ طَعَامَ جَدَّتِي · أَعِيشُ فِي بِرِيطَانْيَا · أُتَابِعُ أَخْبَارَ العَالَمِ · أُحِبُّ الرَّسْمَ. SENSITIVITY: identity is personal; never require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(And how will you finish?)
B: أَخْتِمُ بِرَأْيٍ: لَا يُمْكِنُ إِنْكَارُ أَنَّ اللُّغَةَ جُزْءٌ مِنَ الهُوِيَّةِ، ثُمَّ أَذْكُرُ طُمُوحِي: أَطْمَحُ إِلَى أَنْ أُتْقِنَ الفُصْحَى. (I finish with an opinion — it cannot be denied that language is part of identity — then I state my aspiration: I aspire to master classical Arabic.)
Website prompts and model: talk the plan through BEFORE writing. Pairs: 60 seconds each; the partner ticks past / present / opinion / future heard. To a girl: فِقْرَتِكِ · سَتَسْتَعْمِلِينَ · سَتَخْتِمِينَ.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with one structure per section. · Develop — Add a passive and a formal connector. · Stretch — Include all six target structures and a supported opinion within the word limit.
Website writing task (Stretch): Write 130 to 140 words on ثَقَافَتِي وَهُوِيَّتِي. Narrate a past cultural experience, describe the present, give a supported opinion and close with a future aspiration.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135 words). Evidence: احْتَفَلْنَا بِالعِيدِ · كَانَتْ جَدَّتِي تَحْكِي · زُرْنَا · تَبَادَلْنَا · أَكَلْنَا · تُزَيَّنُ البُيُوتُ · تُتَبَادَلُ التَّهَانِي · عَلَى الرَّغْمِ مِنْ بُعْدِ المَسَافَةِ · أَصْغَرُ مِنَ السَّابِقِ · لَا يُمْكِنُ إِنْكَارُ أَنَّ اللُّغَةَ … · سَأَزُورُ · أَطْمَحُ إِلَى أَنْ أُتْقِنَ · لِكَيْ أَقْرَأَ.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(TE-L04 · Customs, Etiquette and Hospitality) · Listening — Culture, Celebration and Identity Texts) will spend class time USING this language, so students prepare it tonight — short, simple, easy to access (school guidance: “Simple, Short, Interesting, Relevant, Easy to access”). The five words come from the website D6-L10 (website) vocabulary (listening for culture and qualifiers).
Follow-up: the next Do Now tests two of these words (Flipped Learning: keep it short AND follow up).
Homework by route (website tasks). No internet? Students copy the five words from this slide into their book now.
TOPIC E: the five words are the ones the TE-L04 Do Now tests (preparation list of the website D6-L01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ea typeface="Cambria" pitchFamily="34" charset="-122"/>
                <a:cs typeface="Cambria" pitchFamily="34" charset="-120"/>
              </a:rPr>
              <a:t>Culture and Personal Identity</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الثَّقَافَةُ وَالهُوِيَّةُ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how language, family, place and experience contribute to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TE-L03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Six structures planned, then checked one at a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sentences into sections, fix slips, then hear a student plan the piece.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أَعْتَزُّ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belong to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pride 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hope to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conclusion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frankly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نَتَخَلَّى عَنْ لُغَتِنَا.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تَخَلَّيْنَا عَنْ لُغَتِنَا.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سَنَتَخَلَّى عَنْ لُغَتِنَا.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أَعْتَزُّ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belong to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take pride 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hope to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conclusion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frankly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word count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D6-L08 (website).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نَتَخَلَّى عَنْ لُغَتِنَا.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تَخَلَّيْنَا عَنْ لُغَتِنَا.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سَنَتَخَلَّى عَنْ لُغَتِنَا.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D6-L07 (website): </a:t>
            </a:r>
            <a:pPr algn="l" indent="0" marL="0">
              <a:buNone/>
            </a:pPr>
            <a:r>
              <a:rPr lang="ar-SA" altLang="en-US" sz="1350" dirty="0">
                <a:solidFill>
                  <a:srgbClr val="8A6D1E"/>
                </a:solidFill>
                <a:latin typeface="Amiri" pitchFamily="34" charset="0"/>
                <a:ea typeface="Amiri" pitchFamily="34" charset="-122"/>
                <a:cs typeface="Amiri" pitchFamily="34" charset="-120"/>
              </a:rPr>
              <a:t>لَنْ</a:t>
            </a:r>
            <a:pPr algn="l" indent="0" marL="0">
              <a:buNone/>
            </a:pPr>
            <a:r>
              <a:rPr lang="en-US" sz="1050" i="1" dirty="0">
                <a:solidFill>
                  <a:srgbClr val="8A6D1E"/>
                </a:solidFill>
                <a:latin typeface="Calibri" pitchFamily="34" charset="0"/>
                <a:ea typeface="Calibri" pitchFamily="34" charset="-122"/>
                <a:cs typeface="Calibri" pitchFamily="34" charset="-120"/>
              </a:rPr>
              <a:t>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Range = variety of structure, not long words. Plan where each structure goes, then check them one by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احْتَفَلْنَا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تُزَيَّنُ البُيُوتُ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لَا يُمْكِنُ إِنْكَارُ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130–140 words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full Topic E range in one coherent piece.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Support an opinion with </a:t>
            </a:r>
            <a:pPr algn="l" indent="0" marL="0">
              <a:buNone/>
            </a:pPr>
            <a:r>
              <a:rPr lang="ar-SA" altLang="en-US" sz="1700" dirty="0">
                <a:solidFill>
                  <a:srgbClr val="1F2A37"/>
                </a:solidFill>
                <a:latin typeface="Amiri" pitchFamily="34" charset="0"/>
                <a:ea typeface="Amiri" pitchFamily="34" charset="-122"/>
                <a:cs typeface="Amiri" pitchFamily="34" charset="-120"/>
              </a:rPr>
              <a:t>لَا يُمْكِنُ إِنْكَارُ أَنَّ</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مِنْ وِجْهَةِ نَظَرِي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Self-mark my draft for Task Completion, Range and Accuracy.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paragraph per section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passive and a formal connector.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support my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130–140 words with all six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the three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Writing about identity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structures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mark scheme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‎ہویت / شناخت‎ </a:t>
            </a:r>
            <a:pPr indent="0" marL="0">
              <a:buNone/>
            </a:pPr>
            <a:r>
              <a:rPr lang="en-US" sz="950" b="1" dirty="0">
                <a:solidFill>
                  <a:srgbClr val="2E8B57"/>
                </a:solidFill>
                <a:latin typeface="Calibri" pitchFamily="34" charset="0"/>
                <a:ea typeface="Calibri" pitchFamily="34" charset="-122"/>
                <a:cs typeface="Calibri" pitchFamily="34" charset="-120"/>
              </a:rPr>
              <a:t> shanākht · identity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experience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قِيمَةٌ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qīmat · Urdu: price · Arabic: value (also price)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إِنْكَارٌ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‎انکار‎ </a:t>
            </a:r>
            <a:pPr indent="0" marL="0">
              <a:buNone/>
            </a:pPr>
            <a:r>
              <a:rPr lang="en-US" sz="950" b="1" dirty="0">
                <a:solidFill>
                  <a:srgbClr val="2E8B57"/>
                </a:solidFill>
                <a:latin typeface="Calibri" pitchFamily="34" charset="0"/>
                <a:ea typeface="Calibri" pitchFamily="34" charset="-122"/>
                <a:cs typeface="Calibri" pitchFamily="34" charset="-120"/>
              </a:rPr>
              <a:t> inkār · Urdu: refusal · Arabic: denial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نَظَرٌ / نَظَرِيَّةٌ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‎نظر / نظریہ‎ </a:t>
            </a:r>
            <a:pPr indent="0" marL="0">
              <a:buNone/>
            </a:pPr>
            <a:r>
              <a:rPr lang="en-US" sz="950" b="1" dirty="0">
                <a:solidFill>
                  <a:srgbClr val="2E8B57"/>
                </a:solidFill>
                <a:latin typeface="Calibri" pitchFamily="34" charset="0"/>
                <a:ea typeface="Calibri" pitchFamily="34" charset="-122"/>
                <a:cs typeface="Calibri" pitchFamily="34" charset="-120"/>
              </a:rPr>
              <a:t> nazar / nazariya · view / point of 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about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al-hu-wiy-ya-tu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الأُسْلُوبُ الشَّخْصِيُّ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 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al-us-lū-bu ash-shakh-ṣiy-yu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القِيمَةُ الثَّقَافِيَّةُ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value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al-qī-ma-tu ath-tha-qā-fiy-ya-tu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القِيَمُ الثَّقَافِيَّةُ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التَّكَامُلُ</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integration, coming together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at-ta-kā-mu-lu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about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شَخْصِيَّةٌ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personal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shakh-ṣiy-ya-tun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تَجَارِبُ شَخْصِيَّةٌ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يُمَيِّزُنِي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distinguishes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yu-may-yi-zu-nī</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أَعْتَزُّ بِـ</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pride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aʿ-taz-zu bi</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اِعْتَزَّ</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يَعْتَزُّ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0" name="Shape 47"/>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أَنْتَمِي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belong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an-ta-mī i-lā</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يَنْتَمِي</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an accusative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wij-ha-ti na-ẓa-rī</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أَعْتَقِدُ أَنَّ</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believe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aʿ-ta-qi-du an-na</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اِعْتَقَدَ</a:t>
            </a:r>
            <a:endParaRPr lang="ar-SA" sz="135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يَعْتَقِدُ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المُهِمِّ أَنْ</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important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al-mu-him-mi an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بِصَرَاحَةٍ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frankly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bi-ṣa-rā-ḥa-tin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الخِتَامِ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al-khi-tā-mi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 · past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أَتَمَنَّى أَنْ</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hope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a-ta-man-nā an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تَمَنَّى</a:t>
            </a:r>
            <a:endParaRPr lang="ar-SA" sz="135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يَتَمَنَّى</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طَمَحَ</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يَطْمَحُ</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mark scheme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 المُهِمَّةِ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Task Completion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in-jā-zu al-mu-him-ma-ti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اللُّغَوِيُّ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all-lu-gha-wiy-yu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عَدَدُ الكَلِمَاتِ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word 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ʿa-da-du al-ka-li-mā-ti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mark scheme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المُرَاجَعَةُ الذَّاتِيَّةُ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self-checking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al-mu-rā-ja-ʿa-tu adh-dhā-tiy-ya-tu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لَاحِقَةُ الفِعْلِ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verb suffix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lā-ḥi-qa-tu al-fiʿ-li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الجَرِّ الصَّحِيحُ</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correct 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al-jar-ri aṣ-ṣa-ḥī-ḥu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THE FOUR-SECTION PLAN (WEBSITE RULE 1 + LISTENING)</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present, opinion,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cultural verb</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فِي الطُّفُولَةِ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احْتَفَلْنَا بِالعِيدِ فِي بَلَدِ أُسْرَتِي.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childhood we celebrated Eid in my family’s country.</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passive</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أَمَّا الآنَ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فَنَحْتَفِلُ هُنَا، وَتُزَيَّنُ البُيُوتُ.</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Now we celebrate here, and the houses are decorated.</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 + noun in -a</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لَا يُمْكِنُ إِنْكَارُ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اللُّغَةَ جُزْءٌ مِنَ الهُوِيَّةِ.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cannot be denied that language is part of identity.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opinion</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وَفِي المُسْتَقْبَلِ</a:t>
            </a:r>
            <a:pPr rtl="1" algn="ctr" indent="0" marL="0">
              <a:buNone/>
            </a:pPr>
            <a:r>
              <a:rPr lang="ar-SA" altLang="en-US" sz="1950" b="1" dirty="0">
                <a:solidFill>
                  <a:srgbClr val="1B3B6F"/>
                </a:solidFill>
                <a:latin typeface="Amiri" pitchFamily="34" charset="0"/>
                <a:ea typeface="Amiri" pitchFamily="34" charset="-122"/>
                <a:cs typeface="Amiri" pitchFamily="34" charset="-120"/>
              </a:rPr>
              <a:t> سَأَزُورُ بَلَدَ أُسْرَتِي مَرَّةً أُخْرَى.</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the future I will visit my family’s country again.</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future</a:t>
            </a:r>
            <a:endParaRPr lang="en-US" sz="11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aṭmaḥu ilā</a:t>
            </a:r>
            <a:endParaRPr lang="en-US" sz="1100" dirty="0"/>
          </a:p>
        </p:txBody>
      </p:sp>
      <p:sp>
        <p:nvSpPr>
          <p:cNvPr id="49" name="Text 46"/>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وَأَطْمَحُ إِلَى أَنْ أُتْقِنَ الفُصْحَى.</a:t>
            </a:r>
            <a:endParaRPr lang="ar-SA" sz="1950" dirty="0"/>
          </a:p>
        </p:txBody>
      </p:sp>
      <p:sp>
        <p:nvSpPr>
          <p:cNvPr id="50" name="Text 47"/>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 I aspire to master classical Arabic.</a:t>
            </a:r>
            <a:endParaRPr lang="en-US" sz="950" dirty="0"/>
          </a:p>
        </p:txBody>
      </p:sp>
      <p:sp>
        <p:nvSpPr>
          <p:cNvPr id="51" name="Text 48"/>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aspiration</a:t>
            </a:r>
            <a:endParaRPr lang="en-US" sz="11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Plan where each structure will go BEFORE writing — then check them one at a time.</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VERB, OPINION, PASSIVE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Accuracy beats quantity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الدِّقَّةُ قَبْلَ الكَثْرَةِ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CULTURAL VERB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نَحْتَفِلُ بِالعِيدِ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نَحْتَفِلُ بِالعِيدِ كُلَّ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celebrate Eid every year.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verb, 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يُمْكِنُ إِنْكَارُ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لَا يُمْكِنُ إِنْكَارُ أَنَّ التَّنَوُّعَ ثَرْوَةٌ.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cannot be denied that diversity is a richness.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Noun after anna: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تُزَيَّنُ البُيُوتُ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تُزَيَّنُ البُيُوتُ فِي المُنَاسَبَاتِ.</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Houses are decorated on special occasions.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Subject ends in -u.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noun after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اللُّغَةَ جُزْءٌ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اللُّغَةُ جُزْءٌ</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Deploying the full range in one piece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تَوْظِيفُ القَوَاعِدِ كَامِلَةً فِي نَصٍّ وَاحِدٍ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Three tenses, signalled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experience → present habit → future aspiration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الطُّفُولَةِ احْتَفَلْنَا فِي بَلَدِ أُسْرَتِي   ·   وَفِي المُسْتَقْبَلِ سَأَزُورُهُ مَرَّةً أُخْرَى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One cultural verb, correctly governed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يَحْتَفِلُ بِـ · يَنْتَمِي إِلَى · يَتَمَسَّكُ بِـ · يَعْتَادُ عَلَى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An opinion with a supported claim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لَا يُمْكِنُ إِنْكَارُ أَنَّ</a:t>
            </a:r>
            <a:pPr algn="l" indent="0" marL="0">
              <a:buNone/>
            </a:pPr>
            <a:r>
              <a:rPr lang="en-US" sz="1050" dirty="0">
                <a:solidFill>
                  <a:srgbClr val="5A6472"/>
                </a:solidFill>
                <a:latin typeface="Calibri" pitchFamily="34" charset="0"/>
                <a:ea typeface="Calibri" pitchFamily="34" charset="-122"/>
                <a:cs typeface="Calibri" pitchFamily="34" charset="-120"/>
              </a:rPr>
              <a:t> + accusative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يُمْكِنُ إِنْكَارُ أَنَّ اللُّغَةَ جُزْءٌ مِنَ الهُوِيَّةِ   ·   مِنْ وِجْهَةِ نَظَرِي التَّنَوُّعُ ثَرْوَةٌ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 passive and a formal connector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تُزَيَّنُ / تُتَبَادَلُ · عِلَاوَةً عَلَى ذٰلِكَ · عَلَى الرَّغْمِ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تُزَيَّنُ البُيُوتُ فِي المُنَاسَبَاتِ   ·   عَلَى الرَّغْمِ مِنْ بُعْدِ المَسَافَةِ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لَا يُمْكِنُ إِنْكَارُ أَنَّ ___ جُزْءٌ مِنَ الهُوِيَّةِ.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أَعْتَزُّ ___ إِرْثِي الثَّقَافِيِّ.</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section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نَحْتَفِلُ فِي بَلَدِ أُسْرَتِي.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احْتَفَلْنَا فِي بَلَدِ أُسْرَتِي.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سَنَحْتَفِلُ فِي بَلَدِ أُسْرَتِي.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cultural verb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بِالعِيدِ مَعَ الجِيرَانِ.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العِيدَ مَعَ الجِيرَانِ.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عَلَى العِيدِ مَعَ الجِيرَانِ.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لَا يُمْكِنُ إِنْكَارُ أَنَّ ___ جُزْءٌ مِنَ الهُوِيَّةِ.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أَعْتَزُّ ___ إِرْثِي الثَّقَافِيِّ.</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section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نَحْتَفِلُ فِي بَلَدِ أُسْرَتِي.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الطُّفُولَةِ احْتَفَلْنَا فِي بَلَدِ أُسْرَتِي.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سَنَحْتَفِلُ فِي بَلَدِ أُسْرَتِي.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cultural verb sentence.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نَحْتَفِلُ بِالعِيدِ مَعَ الجِيرَانِ.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 العِيدَ مَعَ الجِيرَانِ.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 عَلَى العِيدِ مَعَ الجِيرَانِ.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plan, draft and self-mark</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المَاضِي · الحَاضِرُ · الرَّأْيُ · المُسْتَقْبَلُ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احْتَفَلْنَا بِالعِيدِ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Cultural verb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أَنَّ اللُّغَةَ</a:t>
            </a:r>
            <a:pPr rtl="1" algn="ctr" indent="0" marL="0">
              <a:buNone/>
            </a:pPr>
            <a:r>
              <a:rPr lang="ar-SA" altLang="en-US" sz="2200" b="1" dirty="0">
                <a:solidFill>
                  <a:srgbClr val="1B3B6F"/>
                </a:solidFill>
                <a:latin typeface="Amiri" pitchFamily="34" charset="0"/>
                <a:ea typeface="Amiri" pitchFamily="34" charset="-122"/>
                <a:cs typeface="Amiri" pitchFamily="34" charset="-120"/>
              </a:rPr>
              <a:t> جُزْءٌ مِنَ الهُوِيَّةِ</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Noun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اللَّوَاحِقُ · حُرُوفُ الجَرِّ · العَدَدُ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OPINION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أَنْتَمِي إِلَى ثَقَافَتَيْنِ، وَأَعْتَزُّ بِهِمَا مَعًا.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الطُّفُولَةِ احْتَفَلْنَا بِالعِيدِ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بَلَدِ أُسْرَتِي.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أَمَّا الآنَ فَنَحْتَفِلُ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هُنَا،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وَتُزَيَّنُ البُيُوتُ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لَا يُمْكِنُ إِنْكَارُ أَنَّ اللُّغَةَ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جُزْءٌ مِنَ الهُوِيَّةِ،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وَأَطْمَحُ 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أُتْقِنَ الفُصْحَى.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belong to two cultures, and I take pride in both. In childhood we celebrated Eid in my family’s country. Now we celebrate here, and the houses are decorated. It cannot be denied that language is part of identity, and I aspire to master classical Arabic.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يُمْكِنُ إِنْكَارُ أَنَّ اللُّغَةَ جُزْءٌ مِنَ الهُوِيَّةِ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cannot be denied that language is part of identity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أَنَّ makes the noun accusative; the predicate stays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أَعْتَزُّ بِإِرْثِي الثَّقَافِيِّ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take pride in my cultural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is fixed with أَعْتَزُّ.</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تُزَيَّنُ البُيُوتُ فِي المُنَاسَبَاتِ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houses are decorated on special occasions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passive with a nominative subject.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“IDENTITY LAYERS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 + family + community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 + food + celebration</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world + home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اَللُّغَةُ وَالطَّعَامُ وَالِاحْتِفَالَاتُ جُزْءٌ مِنَ الثَّقَافَةِ.</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يُمْكِنُ أَنْ أَنْتَمِيَ إِلَى أَكْثَرَ مِنْ ثَقَافَةٍ فِي الْوَقْتِ نَفْسِهِ.</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تَتَأَثَّرُ هُوِيَّتِي بِأُسْرَتِي وَمُجْتَمَعِي وَتَجَارِبِي الشَّخْصِيَّةِ.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 + family + community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تَتَأَثَّرُ هُوِيَّتِي بِأُسْرَتِي وَمُجْتَمَعِي وَتَجَارِبِي الشَّخْصِيَّةِ.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identity is shaped by my family, my community and my personal experiences.</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 + food + celebration</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اَللُّغَةُ وَالطَّعَامُ وَالِاحْتِفَالَاتُ جُزْءٌ مِنَ الثَّقَافَةِ.</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Language, food and celebrations are part of culture.</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world + home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يُمْكِنُ أَنْ أَنْتَمِيَ إِلَى أَكْثَرَ مِنْ ثَقَافَةٍ فِي الْوَقْتِ نَفْسِهِ.</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can belong to more than one culture at the same time.</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هُنَاكَ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بَلَدَ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هُنَا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فِي المُنَاسَبَاتِ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اللُّغَةَ مُهِمَّةٌ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زِيَارَتِهِ</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وَسَأُوَاصِلُ تَعَلُّمَ العَرَبِيَّةِ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Opinion and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هُنَاكَ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بَلَدَ أُسْرَتِي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فِي المُنَاسَبَاتِ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Opinion and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اللُّغَةَ مُهِمَّةٌ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زِيَارَتِهِ</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وَسَأُوَاصِلُ تَعَلُّمَ العَرَبِيَّةِ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أَزُورَ بَلَدَ أُسْرَتِي.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suffix is correct.</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moves through three tenses.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is 135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Accuracy?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covers all content points.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has an interesting title.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cultural verb has its correct preposition.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أَزُورَ بَلَدَ أُسْرَتِي.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أَطْمَحُ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البُيُوتَ فِي المُنَاسَبَاتِ.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تُزَيَّنُ البُيُوتُ فِي المُنَاسَبَاتِ.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البُيُوتُ فِي المُنَاسَبَاتِ.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suffix is correct.</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response moves through three tenses.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is 135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rewards variety of structure and tense.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Accuracy?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covers all content points.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has an interesting title.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cultural verb has its correct preposition.</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is about correct forms, including prepositions.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يُمْكِنُ إِنْكَارُ أَنَّ اللُّغَةُ جُزْءٌ مِنَ الهُوِيَّةِ.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anna: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نَحْتَفِلُ العِيدَ مَعَ الجِيرَانِ.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الطُّفُولَةِ نَحْتَفِلُ فِي بَلَدِ أُسْرَتِي.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Childhood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لَا يُمْكِنُ إِنْكَارُ أَنَّ اللُّغَةُ جُزْءٌ مِنَ الهُوِيَّةِ.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يُمْكِنُ إِنْكَارُ أَنَّ اللُّغَةَ جُزْءٌ مِنَ الهُوِيَّةِ.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noun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نَحْتَفِلُ العِيدَ مَعَ الجِيرَانِ.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نَحْتَفِلُ بِالعِيدِ مَعَ الجِيرَانِ.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الطُّفُولَةِ نَحْتَفِلُ فِي بَلَدِ أُسْرَتِي.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الطُّفُولَةِ احْتَفَلْنَا فِي بَلَدِ أُسْرَتِي.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time phrase requires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a student plans the final piece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student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Planned each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Copied a model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Wrote a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the grandmother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 for the neighbours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each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Tell them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in the present-tense paragraph?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described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past is discussed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Houses are decorated and greetings exchanged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opinion did the student add?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does not matter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customs matter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the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and title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 suffixes and prepositions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was checked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Plan → past → present → opinion → future →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أَكْتُبَ، خَطَّطْتُ لِكُلِّ فِقْرَةٍ.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I wrote, I planned each paragraph.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الفِقْرَةِ الأُولَى كَتَبْتُ عَنِ المَاضِي: فِي الطُّفُولَةِ احْتَفَلْنَا بِالعِيدِ فِي بَلَدِ أُسْرَتِي، وَكَانَتْ جَدَّتِي تَحْكِي لَنَا القِصَصَ.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paragraph I wrote about the past: in childhood we celebrated Eid in my family’s country, and my grandmother used to tell us stories.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الفِقْرَةِ الثَّانِيَةِ كَتَبْتُ عَنِ الحَاضِرِ: أَمَّا الآنَ فَنَحْتَفِلُ هُنَا مَعَ الجَالِيَةِ، وَتُزَيَّنُ البُيُوتُ وَتُتَبَادَلُ التَّهَانِي.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paragraph I wrote about the present: now we celebrate here with the community; the houses are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ثُمَّ أَضَفْتُ رَأْيِي: لَا يُمْكِنُ إِنْكَارُ أَنَّ اللُّغَةَ جُزْءٌ مِنَ الهُوِيَّةِ. وَفِي الخِتَامِ كَتَبْتُ عَنِ المُسْتَقْبَلِ: أَطْمَحُ إِلَى زِيَارَةِ بَلَدِ أُسْرَتِي، وَسَأُوَاصِلُ تَعَلُّمَ العَرَبِيَّةِ.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added my opinion: it cannot be denied that language is part of identity. To finish I wrote about the future: I aspire to visit my family’s country, and I will keep learning Arabic.</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وَأَخِيرًا عَدَدْتُ الكَلِمَاتِ وَرَاجَعْتُ كُلَّ لَاحِقَةٍ وَكُلَّ حَرْفِ جَرٍّ.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I counted the words and checked every suffix and every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student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Planned each paragraph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Copied a model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Wrote a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أَنْ أَكْتُبَ، خَطَّطْتُ لِكُلِّ فِقْرَةٍ.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the grandmother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 for the neighbours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each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Tell them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جَدَّتِي تَحْكِي لَنَا القِصَصَ.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in the present-tense paragraph?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described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past is discussed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Houses are decorated and greetings exchanged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وَتُزَيَّنُ البُيُوتُ وَتُتَبَادَلُ التَّهَانِي.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opinion did the student add?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does not matter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customs matter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اللُّغَةَ جُزْءٌ مِنَ الهُوِيَّةِ.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the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and title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Word count, suffixes and prepositions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was checked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عَدَدْتُ الكَلِمَاتِ وَرَاجَعْتُ كُلَّ لَاحِقَةٍ وَكُلَّ حَرْفِ جَرٍّ.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Plan → past → present → opinion → future →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and identity layers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Culture and identity layers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identity statements into personal, family, local, national or international influences, then explain how two influences can coexist.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8 identity statements into layers: personal · family · local · national · international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two layers that matter to you.</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how they can coexist (yumkinu an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Share one sentence by invitation — invented examples are always fine.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the cards; one sentence: “hawiyyatī …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layers with possessives and a reason (li-anna).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layers that coexist, with inna and an example (fa-mathalan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تَتَأَثَّرُ هُوِيَّتِي بِأُسْرَتِي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my identity is shaped by my family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أَنْتَمِي إِلَى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belong to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إِنَّ اللُّغَةَ جُزْءٌ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language is part of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يُمْكِنُ أَنْ … فِي الوَقْتِ نَفْسِهِ</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is possible to … at the same time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talk your plan through</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مَوْضُوعُ فِقْرَتِكَ الأُولَى؟ وَأَيُّ زَمَنٍ سَتَسْتَعْمِلُ؟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فِعْلٍ ثَقَافِيٍّ سَتَسْتَعْمِلُ؟ وَمَا حَرْفُ الجَرِّ الصَّحِيحُ؟</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سَتَخْتِمُ بِرَأْيٍ وَطُمُوحٍ؟</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سَأَكْتُبُ عَنِ المَاضِي: فِي الطُّفُولَةِ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سَأَسْتَعْمِلُ ___ ، وَحَرْفُ الجَرِّ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أَخْتِمُ بِرَأْيٍ: لَا يُمْكِنُ إِنْكَارُ أَنَّ ___ ، وَأَطْمَحُ إِلَى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مَوْضُوعُ فِقْرَتِكَ الأُولَى؟</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first paragraph about?</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سَأَكْتُبُ عَنِ المَاضِي: فِي الطُّفُولَةِ احْتَفَلْنَا بِالعِيدِ فِي بَلَدِ أُسْرَتِي.</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will write about the past: in childhood we celebrated Eid in my family’s country.</a:t>
            </a:r>
            <a:endParaRPr lang="en-US" sz="8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three-paragraph frame with one structure per section.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paragraph per section with the frames; one cultural verb +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passive and a formal connector.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passive, a formal connector and a supported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Include all six target structures and a supported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5+ past verbs · cultural verb · passive · connector · opinion · aspiration.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تُزَيَّنُ ______ ، وَتُتَبَادَلُ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decorated / are exchanged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الرَّغْمِ مِنْ بُعْدِ المَسَافَةِ نَحْتَفِظُ بِـ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the distance, we keep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cannot be denied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أَنْتَمِي إِلَى ______ ، وَأَعْتَزُّ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belong to … and I take pride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childhood we celebrated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now, 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المُسْتَقْبَلِ سَأَزُورُ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visit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أَنْتَمِي إِلَى  ·  أَعْتَزُّ بِـ  ·  احْتَفَلْنَا بِـ  ·  كَانَتْ جَدَّتِي تَحْكِي  ·  أَمَّا الآنَ فَـ  ·  تُزَيَّنُ البُيُوتُ  ·  عَلَى الرَّغْمِ مِنْ  ·  أَصْغَرُ مِنَ السَّابِقِ  ·  مِنْ وِجْهَةِ نَظَرِي  ·  لَا يُمْكِنُ إِنْكَارُ أَنَّ  ·  سَأَزُورُ  ·  أَطْمَحُ إِلَى</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 to 140 words on </a:t>
            </a:r>
            <a:pPr algn="l" indent="0" marL="0">
              <a:buNone/>
            </a:pPr>
            <a:r>
              <a:rPr lang="ar-SA" altLang="en-US" sz="1750" b="1" dirty="0">
                <a:solidFill>
                  <a:srgbClr val="1F2A37"/>
                </a:solidFill>
                <a:latin typeface="Amiri" pitchFamily="34" charset="0"/>
                <a:ea typeface="Amiri" pitchFamily="34" charset="-122"/>
                <a:cs typeface="Amiri" pitchFamily="34" charset="-120"/>
              </a:rPr>
              <a:t>ثَقَافَتِي وَهُوِيَّتِي</a:t>
            </a:r>
            <a:pPr algn="l" indent="0" marL="0">
              <a:buNone/>
            </a:pPr>
            <a:r>
              <a:rPr lang="en-US" sz="1350" b="1" dirty="0">
                <a:solidFill>
                  <a:srgbClr val="1F2A37"/>
                </a:solidFill>
                <a:latin typeface="Calibri" pitchFamily="34" charset="0"/>
                <a:ea typeface="Calibri" pitchFamily="34" charset="-122"/>
                <a:cs typeface="Calibri" pitchFamily="34" charset="-120"/>
              </a:rPr>
              <a:t>. Narrate a past cultural experience, describe the present, give a supported opinion and close with a future aspiration.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or more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cultural verb with its correct preposition.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passive with a nominative subject and one formal connector.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opinion structure and one future aspiration.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وَكَانَتْ جَدَّتِي تَحْكِي لَنَا قِصَصَ الحَيِّ القَدِيمِ</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my grandmother used to tell us stories of the old neighbourhood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وَالاحْتِفَالُ هُنَا أَصْغَرُ مِنَ السَّابِقِ وَلٰكِنَّهُ أَكْثَرُ تَنَوُّعًا</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celebration here is smaller than before but more varied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فَهِيَ تَرْبِطُنِي بِجُذُورِي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it ties me to my roots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أَقْرَأَ أَدَبَهَا بِنَفْسِي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can read its literature myself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وِجْهَةِ نَظَرِي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my point of view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لَذِيذَةً.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فَهِيَ تَرْبِطُنِي بِجُذُورِي. وَفِي المُسْتَقْبَلِ سَأَزُورُ بَلَدَ أُسْرَتِي مَرَّةً أُخْرَى، وَأَطْمَحُ إِلَى أَنْ أُتْقِنَ الفُصْحَى لِكَيْ أَقْرَأَ أَدَبَهَا بِنَفْسِي.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belong to two cultures, and I take pride in both. In childhood we celebrated Eid in my family’s country, and my grandmother used to tell us stories of the old neighbourhood. We visited relatives, exchanged gifts and ate delicious sweets. Now we celebrate here with the community; the houses are decorated and greetings are exchanged at the cultural centre. Despite the distance we keep our customs, and the celebration here is smaller than before but more varied. From my point of view, it cannot be denied that language is part of identity, for it ties me to my roots. In the future I will visit my family’s country again, and I aspire to master classical Arabic so that I can read its literature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five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cultural verb +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and a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and an aspiration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section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cultural verb has its correct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subject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my words (130–140) and checked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different tenses appear.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suffix is correct.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piece is 138 words.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التَّنَوُّعُ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التَّنَوُّعَ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التَّنَوُّعِ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different tenses appear.</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suffix is correct.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piece is 138 words.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rewards variety of structure.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model identity piece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لَا أَنْسَى طَعْمَهَا.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وَفِي المُسْتَقْبَلِ سَأَزُورُ بَلَدَ أُسْرَتِي، وَأَطْمَحُ إِلَى أَنْ أُتْقِنَ الفُصْحَى.</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ثَقَافَتَيْنِ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cultures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بَلَدِ أُسْرَتِي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family’s country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تَحْكِي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 القَدِيمِ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old neighbourhood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الأَقَارِبَ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sweets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التَّهَانِي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تَرْبِطُنِي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ties 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بِجُذُورِي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my roots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أُتْقِنَ الفُصْحَى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master classical Arabic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at the start?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belong to one culture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belong to two cultures and take pride in both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reject both cultures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Organised the travel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Taught at the centre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Told stories of the old neighbourhood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celebration here compared with before?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Smaller but more varied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Larger and simpler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food matters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aspiration?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and to master fuṣḥā</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move permanently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studying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at the start?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belong to one culture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belong to two cultures and take pride in both</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reject both cultures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أَنْتَمِي إِلَى ثَقَافَتَيْنِ، وَأَعْتَزُّ بِهِمَا مَعًا.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Organised the travel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Taught at the centre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Told stories of the old neighbourhood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جَدَّتِي تَحْكِي لَنَا قِصَصَ الحَيِّ القَدِيمِ.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celebration here compared with before?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Smaller but more varied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Larger and simpler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أَصْغَرُ مِنَ السَّابِقِ وَلٰكِنَّهُ أَكْثَرُ تَنَوُّعًا.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opinion?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food matters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اللُّغَةَ جُزْءٌ مِنَ الهُوِيَّةِ.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aspiration?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and to master fuṣḥā</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move permanently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studying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Final Writing Mission — Every Criterion Checked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مُهِمَّةٌ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إِرْثِي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زِيَارَتِهِ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Cultural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بَلَدِ أُسْرَتِي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احْتَفَلْنَا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البُيُوتُ فِي المُنَاسَبَاتِ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مُهِمَّةٌ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إِرْثِي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زِيَارَتِهِ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أَطْمَحُ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Cultural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بَلَدِ أُسْرَتِي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احْتَفَلْنَا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البُيُوتُ فِي المُنَاسَبَاتِ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تُزَيَّنُ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agrees with the feminine plural subject.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TE-L04 · Customs, Etiquette and Hospitality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custom</a:t>
            </a:r>
            <a:pPr indent="0" marL="0">
              <a:buNone/>
            </a:pPr>
            <a:r>
              <a:rPr lang="en-US" sz="1000" i="1" dirty="0">
                <a:solidFill>
                  <a:srgbClr val="5A6472"/>
                </a:solidFill>
                <a:latin typeface="Calibri" pitchFamily="34" charset="0"/>
                <a:ea typeface="Calibri" pitchFamily="34" charset="-122"/>
                <a:cs typeface="Calibri" pitchFamily="34" charset="-120"/>
              </a:rPr>
              <a:t>  pl. عَادَاتٌ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تَقْلِيدٌ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tradition</a:t>
            </a:r>
            <a:pPr indent="0" marL="0">
              <a:buNone/>
            </a:pPr>
            <a:r>
              <a:rPr lang="en-US" sz="1000" i="1" dirty="0">
                <a:solidFill>
                  <a:srgbClr val="5A6472"/>
                </a:solidFill>
                <a:latin typeface="Calibri" pitchFamily="34" charset="0"/>
                <a:ea typeface="Calibri" pitchFamily="34" charset="-122"/>
                <a:cs typeface="Calibri" pitchFamily="34" charset="-120"/>
              </a:rPr>
              <a:t>  pl. تَقَالِيدُ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ضِيَافَةٌ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احْتِرَامُ الكِبَارِ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respect for elders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celebrates</a:t>
            </a:r>
            <a:pPr indent="0" marL="0">
              <a:buNone/>
            </a:pPr>
            <a:r>
              <a:rPr lang="en-US" sz="1000" i="1" dirty="0">
                <a:solidFill>
                  <a:srgbClr val="5A6472"/>
                </a:solidFill>
                <a:latin typeface="Calibri" pitchFamily="34" charset="0"/>
                <a:ea typeface="Calibri" pitchFamily="34" charset="-122"/>
                <a:cs typeface="Calibri" pitchFamily="34" charset="-120"/>
              </a:rPr>
              <a:t>  تَحْتَفِلُ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custom in your family when a guest visits. What do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عِنْدَمَا يَزُورُنَا ضَيْفٌ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110–130-word version with a passive, a connector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130–140 words, self-marked against the three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TE-L04 · Customs, Etiquette and Hospitality</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العَادَاتُ وَآدَابُ السُّلُوكِ وَالضِّيَافَةُ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TE-L03 · Culture and Personal Identity</dc:title>
  <dc:subject>PptxGenJS Presentation</dc:subject>
  <dc:creator>Al Madina Online School · Arabic Department</dc:creator>
  <cp:lastModifiedBy>Al Madina Online School · Arabic Department</cp:lastModifiedBy>
  <cp:revision>1</cp:revision>
  <dcterms:created xsi:type="dcterms:W3CDTF">2026-10-11T04:25:10Z</dcterms:created>
  <dcterms:modified xsi:type="dcterms:W3CDTF">2026-10-11T04:25:10Z</dcterms:modified>
</cp:coreProperties>
</file>