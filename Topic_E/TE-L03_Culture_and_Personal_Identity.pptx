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E · TE-L03 — Culture and Personal Identity. Website: Advanced Topics › Topic E (The International World) › Lesson 3.
The website builds this lesson on the D6-L09 lesson engine, with the Topic focus “Explain how language, family, place and experience contribute to identity.” (grammar: Possessives; إنّ; reasons and examples; skills: Speaking · Writing) and the application challenge “Culture and identity layers”. This deck follows the same engine, re-sequenced for Topic E: lesson references now point to Topic E codes (lessons outside Topic E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Topic E Countries, Cultures and Celebrations › TE-L03. The website lesson “Writing — Countries, Culture and Identity (Paper 4 Extended Writing)”: vocabulary, grammar rules and quiz, patterns, common mistakes, sorter, listening, reading, speaking prompts and model, writing task and model, differentiation, final check and the lesson mission. Picture match: website visual game “Writing — Countries, Culture and Identity (Paper 4 Extended Writing)”.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the three-paragraph frame — past celebration · present · future (70–90 words), one cultural verb with its preposition. Develop: 110–130 words with a passive and a formal connector. Stretch: the website task (130–140 words) with all six structures and a supported opinion — then the 90-second self-mark.
• Website key message: Range = variety of STRUCTURE, not long words. Accuracy: ONE cultural verb with the right preposition is worth more than three used carelessly.
• Identity is personal: any celebration or family tradition works, and a fictional family is always acceptable. This is the Topic E writing showcase — keep the best draft for the TE-L12 assessment.
• TEACHER-WRITTEN ITEMS: English added to the patterns and speaking model (its last line smoothed); the key case-ending quiz distractors are kept on purpose; the website visual game repeats TE-L04 and is skipped.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home at the end of D6-L08 (website). Questions 4–5 retrieve D6-L08 (website) (يُشِيرُ إِلَى) and D6-L07 (website) (لَنْ + subjunctive).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Range = variety of structure, not long words. Plan where each structure goes, then check them one by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تجربہ، نظریہ، انکار are shared. CAREFUL: Urdu انکار = saying no; Arabic لَا يُمْكِنُ إِنْكَارُ أَنَّ = “it cannot be denied that”. Urdu قیمت = price; Arabic القِيمَةُ الثَّقَافِيَّةُ = cultural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Writing about identity (website vocabulary (1 of 2)). Hear → Say → See → Use. Transliteration is printed for Core students (cover it for Develop/Stretch).
Writing about identity: the content words. أَعْتَزُّ بِـ and أَنْتَمِي إِلَى keep their prepositions.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Writing about identity (website vocabulary (2 of 2)). Hear → Say → See → Use. Transliteration is printed for Core students (cover it for Develop/Stretch).
Writing about identity: the content words. أَعْتَزُّ بِـ and أَنْتَمِي إِلَى keep their prepositions.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Opinion structures (website vocabulary (1 of 2)). Hear → Say → See → Use. Transliteration is printed for Core students (cover it for Develop/Stretch).
Opinion structures: أَنَّ + noun in -a (لَا يُمْكِنُ إِنْكَارُ أَنَّ اللُّغَةَ …) · أَنْ + verb in -a (مِنَ المُهِمِّ أَنْ نَحْتَفِظَ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Opinion structures (website vocabulary (2 of 2)). Hear → Say → See → Use. Transliteration is printed for Core students (cover it for Develop/Stretch).
Opinion structures: أَنَّ + noun in -a (لَا يُمْكِنُ إِنْكَارُ أَنَّ اللُّغَةَ …) · أَنْ + verb in -a (مِنَ المُهِمِّ أَنْ نَحْتَفِظَ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mark scheme (website vocabulary (1 of 2)). Hear → Say → See → Use. Transliteration is printed for Core students (cover it for Develop/Stretch).
The mark scheme: the three criteria (Task Completion · Range · Accuracy) and the four things to check in your draft.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mark scheme (website vocabulary (2 of 2)). Hear → Say → See → Use. Transliteration is printed for Core students (cover it for Develop/Stretch).
The mark scheme: the three criteria (Task Completion · Range · Accuracy) and the four things to check in your draft.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“Three tenses, signalled” (past experience → present habit → future aspiration; each section carries its own time phrase) and the website listening (a student plans each paragraph, adds an opinion, then counts the words and checks every suffix and preposition).
Website mistake: فِي الطُّفُولَةِ نَحْتَفِلُ ✗ → احْتَفَلْنَا.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“One cultural verb, correctly governed” (يَحْتَفِلُ بِـ · يَنْتَمِي إِلَى · يَتَمَسَّكُ بِـ · يَعْتَادُ عَلَى — choose one and get its preposition right), “An opinion with a supported claim” (أَنَّ makes the following noun accusative; follow the claim with a reason) and “A passive and a formal connector” (passive subject nominative; عَلَى الرَّغْمِ مِنْ + genitive).
Website teaching point: “Mark your own draft in ninety seconds: count the past verbs, check each suffix, check the preposition on every cultural verb, confirm the passive subject is nominative, count the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“One text, six structures. Plan where each will appear before you write, then check them one at a time afterwards.”
• Three tenses, signalled: Each section carries its own time phrase, and the verbs follow it.
• One cultural verb, correctly governed: Choose one and get its preposition right; that is worth more than using three carelessly.
• An opinion with a supported claim: أَنَّ makes the following noun accusative. Follow the claim with a reason.
• A passive and a formal connector: The passive subject is nominative; عَلَى الرَّغْمِ مِنْ takes a genitive noun.
Website common error: Using three cultural verbs with the wrong prepositions instead of one with the right preposition. Accuracy is worth more than quantity in the Accuracy criterion.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plan → draft → self-mark cycle. The copy box is the skeleton of the website model (one sentence per section). The full 130-word website model is on the Write / model slides. Then model the 90-second self-mark aloud: circle every verb, box every preposition, underline the passive subject, count the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(“Identity Layers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“Identity Layers”: family, community and experience; language, food and celebrations; belonging to more than one culture.
Website feedback lines: The three layers all influence identity. · The visual shows cultural elements. · The globe and home suggest multiple cultural belonging.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(“Identity Layers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“Identity Layers”: family, community and experience; language, food and celebrations; belonging to more than one culture.
Website feedback lines: The three layers all influence identity. · The visual shows cultural elements. · The globe and home suggest multiple cultural belonging.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take one sentence from each column and join them into a mini four-section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take one sentence from each column and join them into a mini four-section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5 — then copy the student’s plan as your own plan.
Listen 1: just listen. Listen 2: note answers. Then chat the letters.
Support: after the second listening, show the read-along slide (Arabic + English, line by line) for Core students.
SCRIPT (read aloud):
قَبْلَ أَنْ أَكْتُبَ، خَطَّطْتُ لِكُلِّ فِقْرَةٍ. فِي الفِقْرَةِ الأُولَى كَتَبْتُ عَنِ المَاضِي: فِي الطُّفُولَةِ احْتَفَلْنَا بِالعِيدِ فِي بَلَدِ أُسْرَتِي، وَكَانَتْ جَدَّتِي تَحْكِي لَنَا القِصَصَ. وَفِي الفِقْرَةِ الثَّانِيَةِ كَتَبْتُ عَنِ الحَاضِرِ: أَمَّا الآنَ فَنَحْتَفِلُ هُنَا مَعَ الجَالِيَةِ، وَتُزَيَّنُ البُيُوتُ وَتُتَبَادَلُ التَّهَانِي. ثُمَّ أَضَفْتُ رَأْيِي: لَا يُمْكِنُ إِنْكَارُ أَنَّ اللُّغَةَ جُزْءٌ مِنَ الهُوِيَّةِ. وَفِي الخِتَامِ كَتَبْتُ عَنِ المُسْتَقْبَلِ: أَطْمَحُ إِلَى زِيَارَةِ بَلَدِ أُسْرَتِي، وَسَأُوَاصِلُ تَعَلُّمَ العَرَبِيَّةِ. وَأَخِيرًا عَدَدْتُ الكَلِمَاتِ وَرَاجَعْتُ كُلَّ لَاحِقَةٍ وَكُلَّ حَرْفِ جَرٍّ.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E APPLICATION CHALLENGE (5 min — it takes the speaking-rehearsal slot; the website speaking slide after it is FLEX) — from the website Topic page: “Sort identity statements into personal, family, local, national or international influences, then explain how two influences can coexist.”
Website Topic E challenge “Culture and identity layers”. Statements: أَتَكَلَّمُ الأُرْدِيَّةَ مَعَ أُسْرَتِي · أُشَجِّعُ فَرِيقَ مَدِينَتِي · أَحْمِلُ جِنْسِيَّتَيْنِ · أَتَعَلَّمُ العَرَبِيَّةَ · أُحِبُّ طَعَامَ جَدَّتِي · أَعِيشُ فِي بِرِيطَانْيَا · أُتَابِعُ أَخْبَارَ العَالَمِ · أُحِبُّ الرَّسْمَ. SENSITIVITY: identity is personal; never require disclosure.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E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وَكَيْفَ تَخْتِمُ؟ (And how will you finish?)
B: أَخْتِمُ بِرَأْيٍ: لَا يُمْكِنُ إِنْكَارُ أَنَّ اللُّغَةَ جُزْءٌ مِنَ الهُوِيَّةِ، ثُمَّ أَذْكُرُ طُمُوحِي: أَطْمَحُ إِلَى أَنْ أُتْقِنَ الفُصْحَى. (I finish with an opinion — it cannot be denied that language is part of identity — then I state my aspiration: I aspire to master classical Arabic.)
Website prompts and model: talk the plan through BEFORE writing. Pairs: 60 seconds each; the partner ticks past / present / opinion / future heard. To a girl: فِقْرَتِكِ · سَتَسْتَعْمِلِينَ · سَتَخْتِمِينَ.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the three-paragraph frame with one structure per section. · Develop — Add a passive and a formal connector. · Stretch — Include all six target structures and a supported opinion within the word limit.
Website writing task (Stretch): Write 130 to 140 words on ثَقَافَتِي وَهُوِيَّتِي. Narrate a past cultural experience, describe the present, give a supported opinion and close with a future aspiration.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 135 words). Evidence: احْتَفَلْنَا بِالعِيدِ · كَانَتْ جَدَّتِي تَحْكِي · زُرْنَا · تَبَادَلْنَا · أَكَلْنَا · تُزَيَّنُ البُيُوتُ · تُتَبَادَلُ التَّهَانِي · عَلَى الرَّغْمِ مِنْ بُعْدِ المَسَافَةِ · أَصْغَرُ مِنَ السَّابِقِ · لَا يُمْكِنُ إِنْكَارُ أَنَّ اللُّغَةَ … · سَأَزُورُ · أَطْمَحُ إِلَى أَنْ أُتْقِنَ · لِكَيْ أَقْرَأَ.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(TE-L04 · Customs, Etiquette and Hospitality) · Listening — Culture, Celebration and Identity Texts) will spend class time USING this language, so students prepare it tonight — short, simple, easy to access (school guidance: “Simple, Short, Interesting, Relevant, Easy to access”). The five words come from the website D6-L10 (website) vocabulary (listening for culture and qualifiers).
Follow-up: the next Do Now tests two of these words (Flipped Learning: keep it short AND follow up).
Homework by route (website tasks). No internet? Students copy the five words from this slide into their book now.
TOPIC E: the five words are the ones the TE-L04 Do Now tests (preparation list of the website D6-L01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slideLayout" Target="../slideLayouts/slideLayout1.xml"/><Relationship Id="rId10"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image" Target="../media/image-22-8.png"/><Relationship Id="rId9" Type="http://schemas.openxmlformats.org/officeDocument/2006/relationships/slideLayout" Target="../slideLayouts/slideLayout1.xml"/><Relationship Id="rId10"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E  ·  TE-L03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TE-L03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750" b="1" dirty="0">
                <a:solidFill>
                  <a:srgbClr val="FFFFFF"/>
                </a:solidFill>
                <a:latin typeface="Cambria" pitchFamily="34" charset="0"/>
                <a:cs typeface="Amiri" pitchFamily="2" charset="-78"/>
              </a:rPr>
              <a:t>Culture and Personal Identity</a:t>
            </a:r>
            <a:endParaRPr lang="en-US" sz="37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الثَّقَافَةُ وَالهُوِيَّةُ الشَّخْصِيَّةُ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Explain how language, family, place and experience contribute to identity.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TE-L03 · Advanced Topic E · The International World</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E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E › TE-L03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Six structures planned, then checked one at a time.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sentences into sections, fix slips, then hear a student plan the piece.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TE-L04.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أَعْتَزُّ بِـ</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belong to</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take pride in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hope to</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مِنْ وِجْهَةِ نَظَرِي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from my point of view</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conclusion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frankly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الدِّقَّةُ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range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word count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accuracy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يُشِيرُ الكَاتِبُ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أَهَمِّيَّةِ التُّرَاثِ</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 نَتَخَلَّى عَنْ لُغَتِنَا.</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 تَخَلَّيْنَا عَنْ لُغَتِنَا.</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 سَنَتَخَلَّى عَنْ لُغَتِنَا.</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أَعْتَزُّ بِـ</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belong to</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 take pride in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hope to</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(D6-L08, website).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مِنْ وِجْهَةِ نَظَرِي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from my point of view</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conclusion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frankly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(D6-L08, website).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الدِّقَّةُ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range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word count</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accuracy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(D6-L08, website).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يُشِيرُ الكَاتِبُ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أَهَمِّيَّةِ التُّرَاثِ</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بِـ</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إِلَى</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D6-L08 (website).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لَنْ نَتَخَلَّى عَنْ لُغَتِنَا.</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لَنْ تَخَلَّيْنَا عَنْ لُغَتِنَا.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لَنْ سَنَتَخَلَّى عَنْ لُغَتِنَا.</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D6-L07 (website): </a:t>
            </a:r>
            <a:pPr algn="l" indent="0" marL="0">
              <a:buNone/>
            </a:pPr>
            <a:r>
              <a:rPr lang="ar-SA" altLang="en-US" sz="1350" dirty="0">
                <a:solidFill>
                  <a:srgbClr val="8A6D1E"/>
                </a:solidFill>
                <a:latin typeface="Amiri" pitchFamily="2" charset="-78"/>
                <a:cs typeface="Amiri" pitchFamily="2" charset="-78"/>
              </a:rPr>
              <a:t>لَنْ</a:t>
            </a:r>
            <a:pPr algn="l" indent="0" marL="0">
              <a:buNone/>
            </a:pPr>
            <a:r>
              <a:rPr lang="en-US" sz="1050" i="1" dirty="0">
                <a:solidFill>
                  <a:srgbClr val="8A6D1E"/>
                </a:solidFill>
                <a:latin typeface="Calibri" pitchFamily="34" charset="0"/>
                <a:cs typeface="Amiri" pitchFamily="2" charset="-78"/>
              </a:rPr>
              <a:t> + present.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Range = variety of structure, not long words. Plan where each structure goes, then check them one by one.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2" charset="-78"/>
                <a:cs typeface="Amiri" pitchFamily="2" charset="-78"/>
              </a:rPr>
              <a:t>احْتَفَلْنَا بِـ</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D6336C"/>
                </a:solidFill>
                <a:latin typeface="Amiri" pitchFamily="2" charset="-78"/>
                <a:cs typeface="Amiri" pitchFamily="2" charset="-78"/>
              </a:rPr>
              <a:t>تُزَيَّنُ البُيُوتُ</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1D5FBF"/>
                </a:solidFill>
                <a:latin typeface="Amiri" pitchFamily="2" charset="-78"/>
                <a:cs typeface="Amiri" pitchFamily="2" charset="-78"/>
              </a:rPr>
              <a:t>لَا يُمْكِنُ إِنْكَارُ أَنَّ</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0E7C86"/>
                </a:solidFill>
                <a:latin typeface="Amiri" pitchFamily="2" charset="-78"/>
                <a:cs typeface="Amiri" pitchFamily="2" charset="-78"/>
              </a:rPr>
              <a:t>أَطْمَحُ إِلَى</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130–140 words on culture and identity.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 full Topic E range in one coherent piece.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Support an opinion with </a:t>
            </a:r>
            <a:pPr algn="l" indent="0" marL="0">
              <a:buNone/>
            </a:pPr>
            <a:r>
              <a:rPr lang="ar-SA" altLang="en-US" sz="1700" dirty="0">
                <a:solidFill>
                  <a:srgbClr val="1F2A37"/>
                </a:solidFill>
                <a:latin typeface="Amiri" pitchFamily="2" charset="-78"/>
                <a:cs typeface="Amiri" pitchFamily="2" charset="-78"/>
              </a:rPr>
              <a:t>لَا يُمْكِنُ إِنْكَارُ أَنَّ</a:t>
            </a:r>
            <a:pPr algn="l" indent="0" marL="0">
              <a:buNone/>
            </a:pPr>
            <a:r>
              <a:rPr lang="en-US" sz="1300" dirty="0">
                <a:solidFill>
                  <a:srgbClr val="1F2A37"/>
                </a:solidFill>
                <a:latin typeface="Calibri" pitchFamily="34" charset="0"/>
                <a:cs typeface="Amiri" pitchFamily="2" charset="-78"/>
              </a:rPr>
              <a:t> or </a:t>
            </a:r>
            <a:pPr algn="l" indent="0" marL="0">
              <a:buNone/>
            </a:pPr>
            <a:r>
              <a:rPr lang="ar-SA" altLang="en-US" sz="1700" dirty="0">
                <a:solidFill>
                  <a:srgbClr val="1F2A37"/>
                </a:solidFill>
                <a:latin typeface="Amiri" pitchFamily="2" charset="-78"/>
                <a:cs typeface="Amiri" pitchFamily="2" charset="-78"/>
              </a:rPr>
              <a:t>مِنْ وِجْهَةِ نَظَرِي</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Self-mark my draft for Task Completion, Range and Accuracy.</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write one paragraph per section with frames.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use one cultural verb with its preposition.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add a passive and a formal connector.</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support my opinion with a reason.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130–140 words with all six structures.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self-mark against the three criteria.</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Writing about identity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Opinion structures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The mark scheme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هُوِيَّةٌ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‎ہویت / شناخت‎ </a:t>
            </a:r>
            <a:pPr indent="0" marL="0">
              <a:buNone/>
            </a:pPr>
            <a:r>
              <a:rPr lang="en-US" sz="950" b="1" dirty="0">
                <a:solidFill>
                  <a:srgbClr val="2E8B57"/>
                </a:solidFill>
                <a:latin typeface="Calibri" pitchFamily="34" charset="0"/>
                <a:cs typeface="Amiri" pitchFamily="2" charset="-78"/>
              </a:rPr>
              <a:t> shanākht · identity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تَجْرِبَةٌ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‎تجربہ‎ </a:t>
            </a:r>
            <a:pPr indent="0" marL="0">
              <a:buNone/>
            </a:pPr>
            <a:r>
              <a:rPr lang="en-US" sz="950" b="1" dirty="0">
                <a:solidFill>
                  <a:srgbClr val="2E8B57"/>
                </a:solidFill>
                <a:latin typeface="Calibri" pitchFamily="34" charset="0"/>
                <a:cs typeface="Amiri" pitchFamily="2" charset="-78"/>
              </a:rPr>
              <a:t> tajriba · experience (same word)</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قِيمَةٌ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‎قیمت‎ </a:t>
            </a:r>
            <a:pPr indent="0" marL="0">
              <a:buNone/>
            </a:pPr>
            <a:r>
              <a:rPr lang="en-US" sz="950" b="1" dirty="0">
                <a:solidFill>
                  <a:srgbClr val="2E8B57"/>
                </a:solidFill>
                <a:latin typeface="Calibri" pitchFamily="34" charset="0"/>
                <a:cs typeface="Amiri" pitchFamily="2" charset="-78"/>
              </a:rPr>
              <a:t> qīmat · Urdu: price · Arabic: value (also price)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إِنْكَارٌ</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‎انکار‎ </a:t>
            </a:r>
            <a:pPr indent="0" marL="0">
              <a:buNone/>
            </a:pPr>
            <a:r>
              <a:rPr lang="en-US" sz="950" b="1" dirty="0">
                <a:solidFill>
                  <a:srgbClr val="2E8B57"/>
                </a:solidFill>
                <a:latin typeface="Calibri" pitchFamily="34" charset="0"/>
                <a:cs typeface="Amiri" pitchFamily="2" charset="-78"/>
              </a:rPr>
              <a:t> inkār · Urdu: refusal · Arabic: denial</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نَظَرٌ / نَظَرِيَّةٌ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‎نظر / نظریہ‎ </a:t>
            </a:r>
            <a:pPr indent="0" marL="0">
              <a:buNone/>
            </a:pPr>
            <a:r>
              <a:rPr lang="en-US" sz="950" b="1" dirty="0">
                <a:solidFill>
                  <a:srgbClr val="2E8B57"/>
                </a:solidFill>
                <a:latin typeface="Calibri" pitchFamily="34" charset="0"/>
                <a:cs typeface="Amiri" pitchFamily="2" charset="-78"/>
              </a:rPr>
              <a:t> nazar / nazariya · view / point of view</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Writing about identity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الهُوِيَّةُ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identity</a:t>
            </a:r>
            <a:endParaRPr lang="en-US" sz="1350" dirty="0"/>
          </a:p>
          <a:p>
            <a:pPr indent="0" marL="0">
              <a:buNone/>
            </a:pPr>
            <a:r>
              <a:rPr lang="en-US" sz="1100" i="1" dirty="0">
                <a:solidFill>
                  <a:srgbClr val="5A6472"/>
                </a:solidFill>
                <a:latin typeface="Calibri" pitchFamily="34" charset="0"/>
                <a:cs typeface="Amiri" pitchFamily="2" charset="-78"/>
              </a:rPr>
              <a:t>al-hu-wiy-ya-tu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الأُسْلُوبُ الشَّخْصِيُّ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personal style</a:t>
            </a:r>
            <a:endParaRPr lang="en-US" sz="1350" dirty="0"/>
          </a:p>
          <a:p>
            <a:pPr indent="0" marL="0">
              <a:buNone/>
            </a:pPr>
            <a:r>
              <a:rPr lang="en-US" sz="1100" i="1" dirty="0">
                <a:solidFill>
                  <a:srgbClr val="5A6472"/>
                </a:solidFill>
                <a:latin typeface="Calibri" pitchFamily="34" charset="0"/>
                <a:cs typeface="Amiri" pitchFamily="2" charset="-78"/>
              </a:rPr>
              <a:t>al-us-lū-bu ash-shakh-ṣiy-yu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0" name="Shape 2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2" name="Text 2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القِيمَةُ الثَّقَافِيَّةُ</a:t>
            </a:r>
            <a:endParaRPr lang="ar-SA" sz="3000" dirty="0"/>
          </a:p>
        </p:txBody>
      </p:sp>
      <p:sp>
        <p:nvSpPr>
          <p:cNvPr id="33" name="Text 3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cultural value</a:t>
            </a:r>
            <a:endParaRPr lang="en-US" sz="1350" dirty="0"/>
          </a:p>
          <a:p>
            <a:pPr indent="0" marL="0">
              <a:buNone/>
            </a:pPr>
            <a:r>
              <a:rPr lang="en-US" sz="1100" i="1" dirty="0">
                <a:solidFill>
                  <a:srgbClr val="5A6472"/>
                </a:solidFill>
                <a:latin typeface="Calibri" pitchFamily="34" charset="0"/>
                <a:cs typeface="Amiri" pitchFamily="2" charset="-78"/>
              </a:rPr>
              <a:t>al-qī-ma-tu ath-tha-qā-fiy-ya-tu</a:t>
            </a:r>
            <a:endParaRPr lang="en-US" sz="1350" dirty="0"/>
          </a:p>
        </p:txBody>
      </p:sp>
      <p:sp>
        <p:nvSpPr>
          <p:cNvPr id="34" name="Shape 31"/>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6" name="Text 33"/>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القِيَمُ الثَّقَافِيَّةُ</a:t>
            </a:r>
            <a:endParaRPr lang="ar-SA" sz="150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التَّكَامُلُ</a:t>
            </a:r>
            <a:endParaRPr lang="ar-SA" sz="30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integration, coming together</a:t>
            </a:r>
            <a:endParaRPr lang="en-US" sz="1350" dirty="0"/>
          </a:p>
          <a:p>
            <a:pPr indent="0" marL="0">
              <a:buNone/>
            </a:pPr>
            <a:r>
              <a:rPr lang="en-US" sz="1100" i="1" dirty="0">
                <a:solidFill>
                  <a:srgbClr val="5A6472"/>
                </a:solidFill>
                <a:latin typeface="Calibri" pitchFamily="34" charset="0"/>
                <a:cs typeface="Amiri" pitchFamily="2" charset="-78"/>
              </a:rPr>
              <a:t>at-ta-kā-mu-lu</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Writing about identity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تَجْرِبَةٌ شَخْصِيَّةٌ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personal experience</a:t>
            </a:r>
            <a:endParaRPr lang="en-US" sz="1350" dirty="0"/>
          </a:p>
          <a:p>
            <a:pPr indent="0" marL="0">
              <a:buNone/>
            </a:pPr>
            <a:r>
              <a:rPr lang="en-US" sz="1100" i="1" dirty="0">
                <a:solidFill>
                  <a:srgbClr val="5A6472"/>
                </a:solidFill>
                <a:latin typeface="Calibri" pitchFamily="34" charset="0"/>
                <a:cs typeface="Amiri" pitchFamily="2" charset="-78"/>
              </a:rPr>
              <a:t>taj-ri-ba-tun shakh-ṣiy-ya-tun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تَجَارِبُ شَخْصِيَّةٌ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مَا يُمَيِّزُنِي</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what distinguishes me</a:t>
            </a:r>
            <a:endParaRPr lang="en-US" sz="1350" dirty="0"/>
          </a:p>
          <a:p>
            <a:pPr indent="0" marL="0">
              <a:buNone/>
            </a:pPr>
            <a:r>
              <a:rPr lang="en-US" sz="1100" i="1" dirty="0">
                <a:solidFill>
                  <a:srgbClr val="5A6472"/>
                </a:solidFill>
                <a:latin typeface="Calibri" pitchFamily="34" charset="0"/>
                <a:cs typeface="Amiri" pitchFamily="2" charset="-78"/>
              </a:rPr>
              <a:t>mā yu-may-yi-zu-nī</a:t>
            </a:r>
            <a:endParaRPr lang="en-US" sz="135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5" name="Shape 32"/>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VIII · past</a:t>
            </a:r>
            <a:endParaRPr lang="en-US" sz="8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أَعْتَزُّ بِـ</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take pride in</a:t>
            </a:r>
            <a:endParaRPr lang="en-US" sz="1350" dirty="0"/>
          </a:p>
          <a:p>
            <a:pPr indent="0" marL="0">
              <a:buNone/>
            </a:pPr>
            <a:r>
              <a:rPr lang="en-US" sz="1100" i="1" dirty="0">
                <a:solidFill>
                  <a:srgbClr val="5A6472"/>
                </a:solidFill>
                <a:latin typeface="Calibri" pitchFamily="34" charset="0"/>
                <a:cs typeface="Amiri" pitchFamily="2" charset="-78"/>
              </a:rPr>
              <a:t>aʿ-taz-zu bi</a:t>
            </a:r>
            <a:endParaRPr lang="en-US" sz="1350" dirty="0"/>
          </a:p>
        </p:txBody>
      </p:sp>
      <p:sp>
        <p:nvSpPr>
          <p:cNvPr id="41" name="Shape 38"/>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43" name="Text 40"/>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اِعْتَزَّ</a:t>
            </a:r>
            <a:endParaRPr lang="ar-SA" sz="1350" dirty="0"/>
          </a:p>
        </p:txBody>
      </p:sp>
      <p:sp>
        <p:nvSpPr>
          <p:cNvPr id="44" name="Shape 41"/>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46" name="Text 43"/>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يَعْتَزُّ</a:t>
            </a:r>
            <a:endParaRPr lang="ar-SA" sz="150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50" name="Shape 47"/>
          <p:cNvSpPr/>
          <p:nvPr/>
        </p:nvSpPr>
        <p:spPr>
          <a:xfrm>
            <a:off x="8604504" y="4279392"/>
            <a:ext cx="958291"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8604504"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VIII · past</a:t>
            </a:r>
            <a:endParaRPr lang="en-US" sz="800" dirty="0"/>
          </a:p>
        </p:txBody>
      </p:sp>
      <p:sp>
        <p:nvSpPr>
          <p:cNvPr id="52" name="Shape 4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4" name="Text 5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أَنْتَمِي إِلَى</a:t>
            </a:r>
            <a:endParaRPr lang="ar-SA" sz="3000" dirty="0"/>
          </a:p>
        </p:txBody>
      </p:sp>
      <p:sp>
        <p:nvSpPr>
          <p:cNvPr id="55" name="Text 5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belong to</a:t>
            </a:r>
            <a:endParaRPr lang="en-US" sz="1350" dirty="0"/>
          </a:p>
          <a:p>
            <a:pPr indent="0" marL="0">
              <a:buNone/>
            </a:pPr>
            <a:r>
              <a:rPr lang="en-US" sz="1100" i="1" dirty="0">
                <a:solidFill>
                  <a:srgbClr val="5A6472"/>
                </a:solidFill>
                <a:latin typeface="Calibri" pitchFamily="34" charset="0"/>
                <a:cs typeface="Amiri" pitchFamily="2" charset="-78"/>
              </a:rPr>
              <a:t>an-ta-mī i-lā</a:t>
            </a:r>
            <a:endParaRPr lang="en-US" sz="1350" dirty="0"/>
          </a:p>
        </p:txBody>
      </p:sp>
      <p:sp>
        <p:nvSpPr>
          <p:cNvPr id="56" name="Shape 53"/>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58" name="Text 55"/>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اِنْتَمَى</a:t>
            </a:r>
            <a:endParaRPr lang="ar-SA" sz="1350" dirty="0"/>
          </a:p>
        </p:txBody>
      </p:sp>
      <p:sp>
        <p:nvSpPr>
          <p:cNvPr id="59" name="Shape 56"/>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61" name="Text 58"/>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يَنْتَمِي</a:t>
            </a:r>
            <a:endParaRPr lang="ar-SA" sz="150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Opinion structures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لَا يُمْكِنُ إِنْكَارُ 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cannot be denied that</a:t>
            </a:r>
            <a:endParaRPr lang="en-US" sz="1350" dirty="0"/>
          </a:p>
          <a:p>
            <a:pPr indent="0" marL="0">
              <a:buNone/>
            </a:pPr>
            <a:r>
              <a:rPr lang="en-US" sz="1100" i="1" dirty="0">
                <a:solidFill>
                  <a:srgbClr val="5A6472"/>
                </a:solidFill>
                <a:latin typeface="Calibri" pitchFamily="34" charset="0"/>
                <a:cs typeface="Amiri" pitchFamily="2" charset="-78"/>
              </a:rPr>
              <a:t>lā yum-ki-nu in-kā-ru an-na</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cs typeface="Amiri" pitchFamily="2" charset="-78"/>
              </a:rPr>
              <a:t>أَنَّ</a:t>
            </a:r>
            <a:pPr algn="l" indent="0" marL="0">
              <a:buNone/>
            </a:pPr>
            <a:r>
              <a:rPr lang="en-US" sz="1000" i="1" dirty="0">
                <a:solidFill>
                  <a:srgbClr val="8A6D1E"/>
                </a:solidFill>
                <a:latin typeface="Calibri" pitchFamily="34" charset="0"/>
                <a:cs typeface="Amiri" pitchFamily="2" charset="-78"/>
              </a:rPr>
              <a:t> takes an accusative noun.</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 وِجْهَةِ نَظَرِي</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from my point of view</a:t>
            </a:r>
            <a:endParaRPr lang="en-US" sz="1350" dirty="0"/>
          </a:p>
          <a:p>
            <a:pPr indent="0" marL="0">
              <a:buNone/>
            </a:pPr>
            <a:r>
              <a:rPr lang="en-US" sz="1100" i="1" dirty="0">
                <a:solidFill>
                  <a:srgbClr val="5A6472"/>
                </a:solidFill>
                <a:latin typeface="Calibri" pitchFamily="34" charset="0"/>
                <a:cs typeface="Amiri" pitchFamily="2" charset="-78"/>
              </a:rPr>
              <a:t>min wij-ha-ti na-ẓa-rī</a:t>
            </a:r>
            <a:endParaRPr lang="en-US" sz="1350" dirty="0"/>
          </a:p>
        </p:txBody>
      </p:sp>
      <p:sp>
        <p:nvSpPr>
          <p:cNvPr id="30" name="Shape 2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566928"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3" name="Shape 30"/>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VIII · past</a:t>
            </a:r>
            <a:endParaRPr lang="en-US" sz="800" dirty="0"/>
          </a:p>
        </p:txBody>
      </p:sp>
      <p:sp>
        <p:nvSpPr>
          <p:cNvPr id="35" name="Shape 32"/>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أَعْتَقِدُ أَنَّ</a:t>
            </a:r>
            <a:endParaRPr lang="ar-SA" sz="3000" dirty="0"/>
          </a:p>
        </p:txBody>
      </p:sp>
      <p:sp>
        <p:nvSpPr>
          <p:cNvPr id="38" name="Text 35"/>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believe that</a:t>
            </a:r>
            <a:endParaRPr lang="en-US" sz="1350" dirty="0"/>
          </a:p>
          <a:p>
            <a:pPr indent="0" marL="0">
              <a:buNone/>
            </a:pPr>
            <a:r>
              <a:rPr lang="en-US" sz="1100" i="1" dirty="0">
                <a:solidFill>
                  <a:srgbClr val="5A6472"/>
                </a:solidFill>
                <a:latin typeface="Calibri" pitchFamily="34" charset="0"/>
                <a:cs typeface="Amiri" pitchFamily="2" charset="-78"/>
              </a:rPr>
              <a:t>aʿ-ta-qi-du an-na</a:t>
            </a:r>
            <a:endParaRPr lang="en-US" sz="1350" dirty="0"/>
          </a:p>
        </p:txBody>
      </p:sp>
      <p:sp>
        <p:nvSpPr>
          <p:cNvPr id="39" name="Shape 36"/>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41" name="Text 38"/>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اِعْتَقَدَ</a:t>
            </a:r>
            <a:endParaRPr lang="ar-SA" sz="1350" dirty="0"/>
          </a:p>
        </p:txBody>
      </p:sp>
      <p:sp>
        <p:nvSpPr>
          <p:cNvPr id="42" name="Shape 39"/>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44" name="Text 41"/>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يَعْتَقِدُ</a:t>
            </a:r>
            <a:endParaRPr lang="ar-SA" sz="15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8" name="Text 4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 المُهِمِّ أَنْ</a:t>
            </a:r>
            <a:endParaRPr lang="ar-SA" sz="3000" dirty="0"/>
          </a:p>
        </p:txBody>
      </p:sp>
      <p:sp>
        <p:nvSpPr>
          <p:cNvPr id="49" name="Text 4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important to</a:t>
            </a:r>
            <a:endParaRPr lang="en-US" sz="1350" dirty="0"/>
          </a:p>
          <a:p>
            <a:pPr indent="0" marL="0">
              <a:buNone/>
            </a:pPr>
            <a:r>
              <a:rPr lang="en-US" sz="1100" i="1" dirty="0">
                <a:solidFill>
                  <a:srgbClr val="5A6472"/>
                </a:solidFill>
                <a:latin typeface="Calibri" pitchFamily="34" charset="0"/>
                <a:cs typeface="Amiri" pitchFamily="2" charset="-78"/>
              </a:rPr>
              <a:t>mi-na al-mu-him-mi an</a:t>
            </a:r>
            <a:endParaRPr lang="en-US" sz="1350" dirty="0"/>
          </a:p>
        </p:txBody>
      </p:sp>
      <p:sp>
        <p:nvSpPr>
          <p:cNvPr id="50" name="Text 47"/>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cs typeface="Amiri" pitchFamily="2" charset="-78"/>
              </a:rPr>
              <a:t>أَنْ</a:t>
            </a:r>
            <a:pPr algn="l" indent="0" marL="0">
              <a:buNone/>
            </a:pPr>
            <a:r>
              <a:rPr lang="en-US" sz="1000" i="1" dirty="0">
                <a:solidFill>
                  <a:srgbClr val="8A6D1E"/>
                </a:solidFill>
                <a:latin typeface="Calibri" pitchFamily="34" charset="0"/>
                <a:cs typeface="Amiri" pitchFamily="2" charset="-78"/>
              </a:rPr>
              <a:t> takes the subjunctive.</a:t>
            </a:r>
            <a:endParaRPr lang="en-US" sz="100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Opinion structures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بِصَرَاحَةٍ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frankly</a:t>
            </a:r>
            <a:endParaRPr lang="en-US" sz="1350" dirty="0"/>
          </a:p>
          <a:p>
            <a:pPr indent="0" marL="0">
              <a:buNone/>
            </a:pPr>
            <a:r>
              <a:rPr lang="en-US" sz="1100" i="1" dirty="0">
                <a:solidFill>
                  <a:srgbClr val="5A6472"/>
                </a:solidFill>
                <a:latin typeface="Calibri" pitchFamily="34" charset="0"/>
                <a:cs typeface="Amiri" pitchFamily="2" charset="-78"/>
              </a:rPr>
              <a:t>bi-ṣa-rā-ḥa-tin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فِي الخِتَامِ</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conclusion</a:t>
            </a:r>
            <a:endParaRPr lang="en-US" sz="1350" dirty="0"/>
          </a:p>
          <a:p>
            <a:pPr indent="0" marL="0">
              <a:buNone/>
            </a:pPr>
            <a:r>
              <a:rPr lang="en-US" sz="1100" i="1" dirty="0">
                <a:solidFill>
                  <a:srgbClr val="5A6472"/>
                </a:solidFill>
                <a:latin typeface="Calibri" pitchFamily="34" charset="0"/>
                <a:cs typeface="Amiri" pitchFamily="2" charset="-78"/>
              </a:rPr>
              <a:t>fī al-khi-tā-mi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0" name="Shape 27"/>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V · past</a:t>
            </a:r>
            <a:endParaRPr lang="en-US" sz="800" dirty="0"/>
          </a:p>
        </p:txBody>
      </p:sp>
      <p:sp>
        <p:nvSpPr>
          <p:cNvPr id="32" name="Text 2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أَتَمَنَّى أَنْ</a:t>
            </a:r>
            <a:endParaRPr lang="ar-SA" sz="3000" dirty="0"/>
          </a:p>
        </p:txBody>
      </p:sp>
      <p:sp>
        <p:nvSpPr>
          <p:cNvPr id="33" name="Text 3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hope to</a:t>
            </a:r>
            <a:endParaRPr lang="en-US" sz="1350" dirty="0"/>
          </a:p>
          <a:p>
            <a:pPr indent="0" marL="0">
              <a:buNone/>
            </a:pPr>
            <a:r>
              <a:rPr lang="en-US" sz="1100" i="1" dirty="0">
                <a:solidFill>
                  <a:srgbClr val="5A6472"/>
                </a:solidFill>
                <a:latin typeface="Calibri" pitchFamily="34" charset="0"/>
                <a:cs typeface="Amiri" pitchFamily="2" charset="-78"/>
              </a:rPr>
              <a:t>a-ta-man-nā an</a:t>
            </a:r>
            <a:endParaRPr lang="en-US" sz="1350" dirty="0"/>
          </a:p>
        </p:txBody>
      </p:sp>
      <p:sp>
        <p:nvSpPr>
          <p:cNvPr id="34" name="Shape 3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36" name="Text 33"/>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تَمَنَّى</a:t>
            </a:r>
            <a:endParaRPr lang="ar-SA" sz="1350" dirty="0"/>
          </a:p>
        </p:txBody>
      </p:sp>
      <p:sp>
        <p:nvSpPr>
          <p:cNvPr id="37" name="Shape 3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39" name="Text 3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يَتَمَنَّى</a:t>
            </a:r>
            <a:endParaRPr lang="ar-SA" sz="150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43" name="Shape 40"/>
          <p:cNvSpPr/>
          <p:nvPr/>
        </p:nvSpPr>
        <p:spPr>
          <a:xfrm>
            <a:off x="8604504" y="4279392"/>
            <a:ext cx="771754"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8604504"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past</a:t>
            </a:r>
            <a:endParaRPr lang="en-US" sz="800" dirty="0"/>
          </a:p>
        </p:txBody>
      </p:sp>
      <p:sp>
        <p:nvSpPr>
          <p:cNvPr id="45" name="Shape 4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7" name="Text 4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أَطْمَحُ إِلَى</a:t>
            </a:r>
            <a:endParaRPr lang="ar-SA" sz="3000" dirty="0"/>
          </a:p>
        </p:txBody>
      </p:sp>
      <p:sp>
        <p:nvSpPr>
          <p:cNvPr id="48" name="Text 4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aspire to</a:t>
            </a:r>
            <a:endParaRPr lang="en-US" sz="1350" dirty="0"/>
          </a:p>
          <a:p>
            <a:pPr indent="0" marL="0">
              <a:buNone/>
            </a:pPr>
            <a:r>
              <a:rPr lang="en-US" sz="1100" i="1" dirty="0">
                <a:solidFill>
                  <a:srgbClr val="5A6472"/>
                </a:solidFill>
                <a:latin typeface="Calibri" pitchFamily="34" charset="0"/>
                <a:cs typeface="Amiri" pitchFamily="2" charset="-78"/>
              </a:rPr>
              <a:t>aṭ-ma-ḥu i-lā</a:t>
            </a:r>
            <a:endParaRPr lang="en-US" sz="1350" dirty="0"/>
          </a:p>
        </p:txBody>
      </p:sp>
      <p:sp>
        <p:nvSpPr>
          <p:cNvPr id="49" name="Shape 4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51" name="Text 48"/>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طَمَحَ</a:t>
            </a:r>
            <a:endParaRPr lang="ar-SA" sz="1350" dirty="0"/>
          </a:p>
        </p:txBody>
      </p:sp>
      <p:sp>
        <p:nvSpPr>
          <p:cNvPr id="52" name="Shape 4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54" name="Text 5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يَطْمَحُ</a:t>
            </a:r>
            <a:endParaRPr lang="ar-SA" sz="15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mark scheme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إِنْجَازُ المُهِمَّةِ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Task Completion</a:t>
            </a:r>
            <a:endParaRPr lang="en-US" sz="1350" dirty="0"/>
          </a:p>
          <a:p>
            <a:pPr indent="0" marL="0">
              <a:buNone/>
            </a:pPr>
            <a:r>
              <a:rPr lang="en-US" sz="1100" i="1" dirty="0">
                <a:solidFill>
                  <a:srgbClr val="5A6472"/>
                </a:solidFill>
                <a:latin typeface="Calibri" pitchFamily="34" charset="0"/>
                <a:cs typeface="Amiri" pitchFamily="2" charset="-78"/>
              </a:rPr>
              <a:t>in-jā-zu al-mu-him-ma-ti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التَّنَوُّعُ اللُّغَوِيُّ</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Range</a:t>
            </a:r>
            <a:endParaRPr lang="en-US" sz="1350" dirty="0"/>
          </a:p>
          <a:p>
            <a:pPr indent="0" marL="0">
              <a:buNone/>
            </a:pPr>
            <a:r>
              <a:rPr lang="en-US" sz="1100" i="1" dirty="0">
                <a:solidFill>
                  <a:srgbClr val="5A6472"/>
                </a:solidFill>
                <a:latin typeface="Calibri" pitchFamily="34" charset="0"/>
                <a:cs typeface="Amiri" pitchFamily="2" charset="-78"/>
              </a:rPr>
              <a:t>at-ta-naw-wu-ʿu all-lu-gha-wiy-yu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الدِّقَّةُ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Accuracy</a:t>
            </a:r>
            <a:endParaRPr lang="en-US" sz="1350" dirty="0"/>
          </a:p>
          <a:p>
            <a:pPr indent="0" marL="0">
              <a:buNone/>
            </a:pPr>
            <a:r>
              <a:rPr lang="en-US" sz="1100" i="1" dirty="0">
                <a:solidFill>
                  <a:srgbClr val="5A6472"/>
                </a:solidFill>
                <a:latin typeface="Calibri" pitchFamily="34" charset="0"/>
                <a:cs typeface="Amiri" pitchFamily="2" charset="-78"/>
              </a:rPr>
              <a:t>ad-diq-qa-tu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عَدَدُ الكَلِمَاتِ</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word count</a:t>
            </a:r>
            <a:endParaRPr lang="en-US" sz="1350" dirty="0"/>
          </a:p>
          <a:p>
            <a:pPr indent="0" marL="0">
              <a:buNone/>
            </a:pPr>
            <a:r>
              <a:rPr lang="en-US" sz="1100" i="1" dirty="0">
                <a:solidFill>
                  <a:srgbClr val="5A6472"/>
                </a:solidFill>
                <a:latin typeface="Calibri" pitchFamily="34" charset="0"/>
                <a:cs typeface="Amiri" pitchFamily="2" charset="-78"/>
              </a:rPr>
              <a:t>ʿa-da-du al-ka-li-mā-ti</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mark scheme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المُرَاجَعَةُ الذَّاتِيَّةُ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self-checking</a:t>
            </a:r>
            <a:endParaRPr lang="en-US" sz="1350" dirty="0"/>
          </a:p>
          <a:p>
            <a:pPr indent="0" marL="0">
              <a:buNone/>
            </a:pPr>
            <a:r>
              <a:rPr lang="en-US" sz="1100" i="1" dirty="0">
                <a:solidFill>
                  <a:srgbClr val="5A6472"/>
                </a:solidFill>
                <a:latin typeface="Calibri" pitchFamily="34" charset="0"/>
                <a:cs typeface="Amiri" pitchFamily="2" charset="-78"/>
              </a:rPr>
              <a:t>al-mu-rā-ja-ʿa-tu adh-dhā-tiy-ya-tu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لَاحِقَةُ الفِعْلِ</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verb suffix</a:t>
            </a:r>
            <a:endParaRPr lang="en-US" sz="1350" dirty="0"/>
          </a:p>
          <a:p>
            <a:pPr indent="0" marL="0">
              <a:buNone/>
            </a:pPr>
            <a:r>
              <a:rPr lang="en-US" sz="1100" i="1" dirty="0">
                <a:solidFill>
                  <a:srgbClr val="5A6472"/>
                </a:solidFill>
                <a:latin typeface="Calibri" pitchFamily="34" charset="0"/>
                <a:cs typeface="Amiri" pitchFamily="2" charset="-78"/>
              </a:rPr>
              <a:t>lā-ḥi-qa-tu al-fiʿ-li</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حَرْفُ الجَرِّ الصَّحِيحُ</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correct preposition</a:t>
            </a:r>
            <a:endParaRPr lang="en-US" sz="1350" dirty="0"/>
          </a:p>
          <a:p>
            <a:pPr indent="0" marL="0">
              <a:buNone/>
            </a:pPr>
            <a:r>
              <a:rPr lang="en-US" sz="1100" i="1" dirty="0">
                <a:solidFill>
                  <a:srgbClr val="5A6472"/>
                </a:solidFill>
                <a:latin typeface="Calibri" pitchFamily="34" charset="0"/>
                <a:cs typeface="Amiri" pitchFamily="2" charset="-78"/>
              </a:rPr>
              <a:t>ḥar-fu al-jar-ri aṣ-ṣa-ḥī-ḥu</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المُطَابَقَةُ</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agreement</a:t>
            </a:r>
            <a:endParaRPr lang="en-US" sz="1350" dirty="0"/>
          </a:p>
          <a:p>
            <a:pPr indent="0" marL="0">
              <a:buNone/>
            </a:pPr>
            <a:r>
              <a:rPr lang="en-US" sz="1100" i="1" dirty="0">
                <a:solidFill>
                  <a:srgbClr val="5A6472"/>
                </a:solidFill>
                <a:latin typeface="Calibri" pitchFamily="34" charset="0"/>
                <a:cs typeface="Amiri" pitchFamily="2" charset="-78"/>
              </a:rPr>
              <a:t>al-mu-ṭā-ba-qa-tu</a:t>
            </a:r>
            <a:endParaRPr lang="en-US" sz="13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B3B6F"/>
                </a:solidFill>
                <a:latin typeface="Calibri" pitchFamily="34" charset="0"/>
                <a:cs typeface="Amiri" pitchFamily="2" charset="-78"/>
              </a:rPr>
              <a:t>GRAMMAR FOCUS · PART 1 · THE FOUR-SECTION PLAN (WEBSITE RULE 1 + LISTENING)</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Past, present, opinion, future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خُطَّةُ النَّصِّ</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Structure</a:t>
            </a:r>
            <a:endParaRPr lang="en-US" sz="1100" dirty="0"/>
          </a:p>
        </p:txBody>
      </p:sp>
      <p:sp>
        <p:nvSpPr>
          <p:cNvPr id="17" name="Text 14"/>
          <p:cNvSpPr txBox="1"/>
          <p:nvPr/>
        </p:nvSpPr>
        <p:spPr>
          <a:xfrm>
            <a:off x="2724912"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(website)</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Section</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 cultural verb</a:t>
            </a:r>
            <a:endParaRPr lang="en-US" sz="1100" dirty="0"/>
          </a:p>
        </p:txBody>
      </p:sp>
      <p:sp>
        <p:nvSpPr>
          <p:cNvPr id="21" name="Text 18"/>
          <p:cNvSpPr txBox="1"/>
          <p:nvPr/>
        </p:nvSpPr>
        <p:spPr>
          <a:xfrm>
            <a:off x="2743200" y="2286000"/>
            <a:ext cx="6400800"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2" charset="-78"/>
                <a:cs typeface="Amiri" pitchFamily="2" charset="-78"/>
              </a:rPr>
              <a:t>فِي الطُّفُولَةِ</a:t>
            </a:r>
            <a:pPr rtl="1" algn="ctr" indent="0" marL="0">
              <a:buNone/>
            </a:pPr>
            <a:r>
              <a:rPr lang="ar-SA" altLang="en-US" sz="1950" b="1" dirty="0">
                <a:solidFill>
                  <a:srgbClr val="1B3B6F"/>
                </a:solidFill>
                <a:latin typeface="Amiri" pitchFamily="2" charset="-78"/>
                <a:cs typeface="Amiri" pitchFamily="2" charset="-78"/>
              </a:rPr>
              <a:t> احْتَفَلْنَا بِالعِيدِ فِي بَلَدِ أُسْرَتِي.</a:t>
            </a:r>
            <a:endParaRPr lang="ar-SA" sz="1950" dirty="0"/>
          </a:p>
        </p:txBody>
      </p:sp>
      <p:sp>
        <p:nvSpPr>
          <p:cNvPr id="22" name="Text 19"/>
          <p:cNvSpPr txBox="1"/>
          <p:nvPr/>
        </p:nvSpPr>
        <p:spPr>
          <a:xfrm>
            <a:off x="2697480" y="2676997"/>
            <a:ext cx="64922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In childhood we celebrated Eid in my family’s country.</a:t>
            </a:r>
            <a:endParaRPr lang="en-US" sz="950" dirty="0"/>
          </a:p>
        </p:txBody>
      </p:sp>
      <p:sp>
        <p:nvSpPr>
          <p:cNvPr id="23" name="Text 20"/>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past</a:t>
            </a:r>
            <a:endParaRPr lang="en-US" sz="11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present + passive</a:t>
            </a:r>
            <a:endParaRPr lang="en-US" sz="1100" dirty="0"/>
          </a:p>
        </p:txBody>
      </p:sp>
      <p:sp>
        <p:nvSpPr>
          <p:cNvPr id="28" name="Text 25"/>
          <p:cNvSpPr txBox="1"/>
          <p:nvPr/>
        </p:nvSpPr>
        <p:spPr>
          <a:xfrm>
            <a:off x="2743200" y="3023006"/>
            <a:ext cx="6400800"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2" charset="-78"/>
                <a:cs typeface="Amiri" pitchFamily="2" charset="-78"/>
              </a:rPr>
              <a:t>أَمَّا الآنَ</a:t>
            </a:r>
            <a:pPr rtl="1" algn="ctr" indent="0" marL="0">
              <a:buNone/>
            </a:pPr>
            <a:r>
              <a:rPr lang="ar-SA" altLang="en-US" sz="1950" b="1" dirty="0">
                <a:solidFill>
                  <a:srgbClr val="1B3B6F"/>
                </a:solidFill>
                <a:latin typeface="Amiri" pitchFamily="2" charset="-78"/>
                <a:cs typeface="Amiri" pitchFamily="2" charset="-78"/>
              </a:rPr>
              <a:t> فَنَحْتَفِلُ هُنَا، وَتُزَيَّنُ البُيُوتُ.</a:t>
            </a:r>
            <a:endParaRPr lang="ar-SA" sz="1950" dirty="0"/>
          </a:p>
        </p:txBody>
      </p:sp>
      <p:sp>
        <p:nvSpPr>
          <p:cNvPr id="29" name="Text 26"/>
          <p:cNvSpPr txBox="1"/>
          <p:nvPr/>
        </p:nvSpPr>
        <p:spPr>
          <a:xfrm>
            <a:off x="2697480" y="3414004"/>
            <a:ext cx="64922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Now we celebrate here, and the houses are decorated.</a:t>
            </a:r>
            <a:endParaRPr lang="en-US" sz="950" dirty="0"/>
          </a:p>
        </p:txBody>
      </p:sp>
      <p:sp>
        <p:nvSpPr>
          <p:cNvPr id="30" name="Text 27"/>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present</a:t>
            </a:r>
            <a:endParaRPr lang="en-US" sz="11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anna + noun in -a</a:t>
            </a:r>
            <a:endParaRPr lang="en-US" sz="1100" dirty="0"/>
          </a:p>
        </p:txBody>
      </p:sp>
      <p:sp>
        <p:nvSpPr>
          <p:cNvPr id="35" name="Text 32"/>
          <p:cNvSpPr txBox="1"/>
          <p:nvPr/>
        </p:nvSpPr>
        <p:spPr>
          <a:xfrm>
            <a:off x="2743200" y="3760013"/>
            <a:ext cx="6400800" cy="422928"/>
          </a:xfrm>
          <a:prstGeom prst="rect">
            <a:avLst/>
          </a:prstGeom>
          <a:noFill/>
          <a:ln/>
        </p:spPr>
        <p:txBody>
          <a:bodyPr wrap="square" lIns="0" tIns="0" rIns="0" bIns="0" rtlCol="0" anchor="ctr"/>
          <a:lstStyle/>
          <a:p>
            <a:pPr rtl="1" algn="ctr" indent="0" marL="0">
              <a:buNone/>
            </a:pPr>
            <a:r>
              <a:rPr lang="ar-SA" altLang="en-US" sz="1950" b="1" dirty="0">
                <a:solidFill>
                  <a:srgbClr val="1D5FBF"/>
                </a:solidFill>
                <a:latin typeface="Amiri" pitchFamily="2" charset="-78"/>
                <a:cs typeface="Amiri" pitchFamily="2" charset="-78"/>
              </a:rPr>
              <a:t>لَا يُمْكِنُ إِنْكَارُ أَنَّ</a:t>
            </a:r>
            <a:pPr rtl="1" algn="ctr" indent="0" marL="0">
              <a:buNone/>
            </a:pPr>
            <a:r>
              <a:rPr lang="ar-SA" altLang="en-US" sz="1950" b="1" dirty="0">
                <a:solidFill>
                  <a:srgbClr val="1B3B6F"/>
                </a:solidFill>
                <a:latin typeface="Amiri" pitchFamily="2" charset="-78"/>
                <a:cs typeface="Amiri" pitchFamily="2" charset="-78"/>
              </a:rPr>
              <a:t> اللُّغَةَ جُزْءٌ مِنَ الهُوِيَّةِ.</a:t>
            </a:r>
            <a:endParaRPr lang="ar-SA" sz="1950" dirty="0"/>
          </a:p>
        </p:txBody>
      </p:sp>
      <p:sp>
        <p:nvSpPr>
          <p:cNvPr id="36" name="Text 33"/>
          <p:cNvSpPr txBox="1"/>
          <p:nvPr/>
        </p:nvSpPr>
        <p:spPr>
          <a:xfrm>
            <a:off x="2697480" y="4151010"/>
            <a:ext cx="64922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It cannot be denied that language is part of identity.</a:t>
            </a:r>
            <a:endParaRPr lang="en-US" sz="950" dirty="0"/>
          </a:p>
        </p:txBody>
      </p:sp>
      <p:sp>
        <p:nvSpPr>
          <p:cNvPr id="37" name="Text 34"/>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opinion</a:t>
            </a:r>
            <a:endParaRPr lang="en-US" sz="1100" dirty="0"/>
          </a:p>
        </p:txBody>
      </p:sp>
      <p:sp>
        <p:nvSpPr>
          <p:cNvPr id="38" name="Shape 35"/>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0" name="Shape 37"/>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1" name="Text 38"/>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 + present</a:t>
            </a:r>
            <a:endParaRPr lang="en-US" sz="1100" dirty="0"/>
          </a:p>
        </p:txBody>
      </p:sp>
      <p:sp>
        <p:nvSpPr>
          <p:cNvPr id="42" name="Text 39"/>
          <p:cNvSpPr txBox="1"/>
          <p:nvPr/>
        </p:nvSpPr>
        <p:spPr>
          <a:xfrm>
            <a:off x="2743200" y="4497019"/>
            <a:ext cx="6400800"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2" charset="-78"/>
                <a:cs typeface="Amiri" pitchFamily="2" charset="-78"/>
              </a:rPr>
              <a:t>وَفِي المُسْتَقْبَلِ</a:t>
            </a:r>
            <a:pPr rtl="1" algn="ctr" indent="0" marL="0">
              <a:buNone/>
            </a:pPr>
            <a:r>
              <a:rPr lang="ar-SA" altLang="en-US" sz="1950" b="1" dirty="0">
                <a:solidFill>
                  <a:srgbClr val="1B3B6F"/>
                </a:solidFill>
                <a:latin typeface="Amiri" pitchFamily="2" charset="-78"/>
                <a:cs typeface="Amiri" pitchFamily="2" charset="-78"/>
              </a:rPr>
              <a:t> سَأَزُورُ بَلَدَ أُسْرَتِي مَرَّةً أُخْرَى.</a:t>
            </a:r>
            <a:endParaRPr lang="ar-SA" sz="1950" dirty="0"/>
          </a:p>
        </p:txBody>
      </p:sp>
      <p:sp>
        <p:nvSpPr>
          <p:cNvPr id="43" name="Text 40"/>
          <p:cNvSpPr txBox="1"/>
          <p:nvPr/>
        </p:nvSpPr>
        <p:spPr>
          <a:xfrm>
            <a:off x="2697480" y="4888017"/>
            <a:ext cx="64922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In the future I will visit my family’s country again.</a:t>
            </a:r>
            <a:endParaRPr lang="en-US" sz="950" dirty="0"/>
          </a:p>
        </p:txBody>
      </p:sp>
      <p:sp>
        <p:nvSpPr>
          <p:cNvPr id="44" name="Text 41"/>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future</a:t>
            </a:r>
            <a:endParaRPr lang="en-US" sz="1100" dirty="0"/>
          </a:p>
        </p:txBody>
      </p:sp>
      <p:sp>
        <p:nvSpPr>
          <p:cNvPr id="45" name="Shape 42"/>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7" name="Shape 44"/>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8" name="Text 45"/>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aṭmaḥu ilā</a:t>
            </a:r>
            <a:endParaRPr lang="en-US" sz="1100" dirty="0"/>
          </a:p>
        </p:txBody>
      </p:sp>
      <p:sp>
        <p:nvSpPr>
          <p:cNvPr id="49" name="Text 46"/>
          <p:cNvSpPr txBox="1"/>
          <p:nvPr/>
        </p:nvSpPr>
        <p:spPr>
          <a:xfrm>
            <a:off x="2743200" y="5234026"/>
            <a:ext cx="640080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وَأَطْمَحُ إِلَى أَنْ أُتْقِنَ الفُصْحَى.</a:t>
            </a:r>
            <a:endParaRPr lang="ar-SA" sz="1950" dirty="0"/>
          </a:p>
        </p:txBody>
      </p:sp>
      <p:sp>
        <p:nvSpPr>
          <p:cNvPr id="50" name="Text 47"/>
          <p:cNvSpPr txBox="1"/>
          <p:nvPr/>
        </p:nvSpPr>
        <p:spPr>
          <a:xfrm>
            <a:off x="2697480" y="5625023"/>
            <a:ext cx="64922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And I aspire to master classical Arabic.</a:t>
            </a:r>
            <a:endParaRPr lang="en-US" sz="950" dirty="0"/>
          </a:p>
        </p:txBody>
      </p:sp>
      <p:sp>
        <p:nvSpPr>
          <p:cNvPr id="51" name="Text 48"/>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aspiration</a:t>
            </a:r>
            <a:endParaRPr lang="en-US" sz="1100" dirty="0"/>
          </a:p>
        </p:txBody>
      </p:sp>
      <p:sp>
        <p:nvSpPr>
          <p:cNvPr id="52" name="Text 4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Plan where each structure will go BEFORE writing — then check them one at a time.</a:t>
            </a:r>
            <a:endParaRPr lang="en-US" sz="11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VERB, OPINION, PASSIVE (WEBSITE RULES 2–4)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Accuracy beats quantity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الدِّقَّةُ قَبْلَ الكَثْرَةِ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64592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CULTURAL VERB · CORE</a:t>
            </a:r>
            <a:endParaRPr lang="en-US" sz="850" dirty="0"/>
          </a:p>
        </p:txBody>
      </p:sp>
      <p:sp>
        <p:nvSpPr>
          <p:cNvPr id="18" name="Text 15"/>
          <p:cNvSpPr txBox="1"/>
          <p:nvPr/>
        </p:nvSpPr>
        <p:spPr>
          <a:xfrm>
            <a:off x="9924288"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نَحْتَفِلُ بِالعِيدِ</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نَحْتَفِلُ بِالعِيدِ كُلَّ سَنَةٍ.</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We celebrate Eid every year.</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One verb, right preposition.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OPINION · DEVELOP</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لَا يُمْكِنُ إِنْكَارُ أَنَّ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2" charset="-78"/>
                <a:cs typeface="Amiri" pitchFamily="2" charset="-78"/>
              </a:rPr>
              <a:t>لَا يُمْكِنُ إِنْكَارُ أَنَّ التَّنَوُّعَ ثَرْوَةٌ.</a:t>
            </a:r>
            <a:endParaRPr lang="ar-SA" sz="22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It cannot be denied that diversity is a richness.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Noun after anna: -a.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PASSIVE · STRETCH</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تُزَيَّنُ البُيُوتُ</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cs typeface="Amiri" pitchFamily="2" charset="-78"/>
              </a:rPr>
              <a:t>تُزَيَّنُ البُيُوتُ فِي المُنَاسَبَاتِ.</a:t>
            </a:r>
            <a:endParaRPr lang="ar-SA" sz="26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Houses are decorated on special occasions.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Subject ends in -u.</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the noun after </a:t>
            </a:r>
            <a:pPr algn="l" indent="0" marL="0">
              <a:buNone/>
            </a:pPr>
            <a:r>
              <a:rPr lang="ar-SA" altLang="en-US" sz="1500" dirty="0">
                <a:solidFill>
                  <a:srgbClr val="1F2A37"/>
                </a:solidFill>
                <a:latin typeface="Amiri" pitchFamily="2" charset="-78"/>
                <a:cs typeface="Amiri" pitchFamily="2" charset="-78"/>
              </a:rPr>
              <a:t>أَنَّ</a:t>
            </a:r>
            <a:pPr algn="l" indent="0" marL="0">
              <a:buNone/>
            </a:pPr>
            <a:r>
              <a:rPr lang="en-US" sz="1150" dirty="0">
                <a:solidFill>
                  <a:srgbClr val="1F2A37"/>
                </a:solidFill>
                <a:latin typeface="Calibri" pitchFamily="34" charset="0"/>
                <a:cs typeface="Amiri" pitchFamily="2" charset="-78"/>
              </a:rPr>
              <a:t> is accusative.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أَنَّ اللُّغَةَ جُزْءٌ</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cs typeface="Amiri" pitchFamily="2" charset="-78"/>
              </a:rPr>
              <a:t>أَنَّ اللُّغَةُ جُزْءٌ</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Deploying the full range in one piece</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750" b="1" dirty="0">
                <a:solidFill>
                  <a:srgbClr val="8A6D1E"/>
                </a:solidFill>
                <a:latin typeface="Amiri" pitchFamily="2" charset="-78"/>
                <a:cs typeface="Amiri" pitchFamily="2" charset="-78"/>
              </a:rPr>
              <a:t>تَوْظِيفُ القَوَاعِدِ كَامِلَةً فِي نَصٍّ وَاحِدٍ</a:t>
            </a:r>
            <a:endParaRPr lang="ar-SA" sz="27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Three tenses, signalled</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past experience → present habit → future aspiration</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فِي الطُّفُولَةِ احْتَفَلْنَا فِي بَلَدِ أُسْرَتِي   ·   وَفِي المُسْتَقْبَلِ سَأَزُورُهُ مَرَّةً أُخْرَى</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One cultural verb, correctly governed</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يَحْتَفِلُ بِـ · يَنْتَمِي إِلَى · يَتَمَسَّكُ بِـ · يَعْتَادُ عَلَى</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نَحْتَفِلُ بِالعِيدِ كُلَّ سَنَةٍ   ·   أَنْتَمِي إِلَى ثَقَافَتَيْنِ</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An opinion with a supported claim</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cs typeface="Amiri" pitchFamily="2" charset="-78"/>
              </a:rPr>
              <a:t>لَا يُمْكِنُ إِنْكَارُ أَنَّ</a:t>
            </a:r>
            <a:pPr algn="l" indent="0" marL="0">
              <a:buNone/>
            </a:pPr>
            <a:r>
              <a:rPr lang="en-US" sz="1050" dirty="0">
                <a:solidFill>
                  <a:srgbClr val="5A6472"/>
                </a:solidFill>
                <a:latin typeface="Calibri" pitchFamily="34" charset="0"/>
                <a:cs typeface="Amiri" pitchFamily="2" charset="-78"/>
              </a:rPr>
              <a:t> + accusative noun</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لَا يُمْكِنُ إِنْكَارُ أَنَّ اللُّغَةَ جُزْءٌ مِنَ الهُوِيَّةِ   ·   مِنْ وِجْهَةِ نَظَرِي التَّنَوُّعُ ثَرْوَةٌ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A passive and a formal connector</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تُزَيَّنُ / تُتَبَادَلُ · عِلَاوَةً عَلَى ذٰلِكَ · عَلَى الرَّغْمِ مِنْ</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تُزَيَّنُ البُيُوتُ فِي المُنَاسَبَاتِ   ·   عَلَى الرَّغْمِ مِنْ بُعْدِ المَسَافَةِ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cs typeface="Amiri" pitchFamily="2" charset="-78"/>
              </a:rPr>
              <a:t>لَا يُمْكِنُ إِنْكَارُ أَنَّ ___ جُزْءٌ مِنَ الهُوِيَّةِ.</a:t>
            </a:r>
            <a:endParaRPr lang="ar-SA" sz="145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اللُّغَةُ</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اللُّغَةِ</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اللُّغَةَ</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أَعْتَزُّ ___ إِرْثِي الثَّقَافِيِّ.</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section opening.</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الطُّفُولَةِ نَحْتَفِلُ فِي بَلَدِ أُسْرَتِي.</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الطُّفُولَةِ احْتَفَلْنَا فِي بَلَدِ أُسْرَتِي.</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الطُّفُولَةِ سَنَحْتَفِلُ فِي بَلَدِ أُسْرَتِي.</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cultural verb sentence.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نَحْتَفِلُ بِالعِيدِ مَعَ الجِيرَانِ.</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نَحْتَفِلُ العِيدَ مَعَ الجِيرَانِ.</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نَحْتَفِلُ عَلَى العِيدِ مَعَ الجِيرَانِ.</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cs typeface="Amiri" pitchFamily="2" charset="-78"/>
              </a:rPr>
              <a:t>لَا يُمْكِنُ إِنْكَارُ أَنَّ ___ جُزْءٌ مِنَ الهُوِيَّةِ.</a:t>
            </a:r>
            <a:endParaRPr lang="ar-SA" sz="145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اللُّغَةُ</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اللُّغَةِ</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اللُّغَةَ</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makes the following noun accusative.</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أَعْتَزُّ ___ إِرْثِي الثَّقَافِيِّ.</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بِـ</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إِلَى</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أَعْتَزُّ</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section opening.</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 الطُّفُولَةِ نَحْتَفِلُ فِي بَلَدِ أُسْرَتِي.</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فِي الطُّفُولَةِ احْتَفَلْنَا فِي بَلَدِ أُسْرَتِي.</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 الطُّفُولَةِ سَنَحْتَفِلُ فِي بَلَدِ أُسْرَتِي.</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childhood time phrase requires the past.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cultural verb sentence.</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نَحْتَفِلُ بِالعِيدِ مَعَ الجِيرَانِ.</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نَحْتَفِلُ العِيدَ مَعَ الجِيرَانِ.</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نَحْتَفِلُ عَلَى العِيدِ مَعَ الجِيرَانِ.</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يَحْتَفِلُ</a:t>
            </a:r>
            <a:pPr algn="l" indent="0" marL="0">
              <a:buNone/>
            </a:pPr>
            <a:r>
              <a:rPr lang="en-US" sz="1050" i="1" dirty="0">
                <a:solidFill>
                  <a:srgbClr val="8A6D1E"/>
                </a:solidFill>
                <a:latin typeface="Calibri" pitchFamily="34" charset="0"/>
                <a:cs typeface="Amiri" pitchFamily="2" charset="-78"/>
              </a:rPr>
              <a:t> requires </a:t>
            </a:r>
            <a:pPr algn="l" indent="0" marL="0">
              <a:buNone/>
            </a:pPr>
            <a:r>
              <a:rPr lang="ar-SA" altLang="en-US" sz="1350" dirty="0">
                <a:solidFill>
                  <a:srgbClr val="8A6D1E"/>
                </a:solidFill>
                <a:latin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 with a genitive noun.</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Watch me plan, draft and self-mark</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Plan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المَاضِي · الحَاضِرُ · الرَّأْيُ · المُسْتَقْبَلُ</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Four boxes first.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Past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2" charset="-78"/>
                <a:cs typeface="Amiri" pitchFamily="2" charset="-78"/>
              </a:rPr>
              <a:t>احْتَفَلْنَا بِالعِيدِ</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Cultural verb + bi-.</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Opinion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cs typeface="Amiri" pitchFamily="2" charset="-78"/>
              </a:rPr>
              <a:t>أَنَّ اللُّغَةَ</a:t>
            </a:r>
            <a:pPr rtl="1" algn="ctr" indent="0" marL="0">
              <a:buNone/>
            </a:pPr>
            <a:r>
              <a:rPr lang="ar-SA" altLang="en-US" sz="2200" b="1" dirty="0">
                <a:solidFill>
                  <a:srgbClr val="1B3B6F"/>
                </a:solidFill>
                <a:latin typeface="Amiri" pitchFamily="2" charset="-78"/>
                <a:cs typeface="Amiri" pitchFamily="2" charset="-78"/>
              </a:rPr>
              <a:t> جُزْءٌ مِنَ الهُوِيَّةِ</a:t>
            </a:r>
            <a:endParaRPr lang="ar-SA" sz="22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Noun in -a.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Check</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2" charset="-78"/>
                <a:cs typeface="Amiri" pitchFamily="2" charset="-78"/>
              </a:rPr>
              <a:t>اللَّوَاحِقُ · حُرُوفُ الجَرِّ · العَدَدُ</a:t>
            </a:r>
            <a:endParaRPr lang="ar-SA" sz="1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90 seconds.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PAST / FUTURE</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PRESENT</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OPINION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cs typeface="Amiri" pitchFamily="2" charset="-78"/>
              </a:rPr>
              <a:t>أَنْتَمِي إِلَى ثَقَافَتَيْنِ، وَأَعْتَزُّ بِهِمَا مَعًا. </a:t>
            </a:r>
            <a:pPr rtl="1" algn="r" indent="0" marL="0">
              <a:lnSpc>
                <a:spcPct val="120000"/>
              </a:lnSpc>
              <a:buNone/>
            </a:pPr>
            <a:r>
              <a:rPr lang="ar-SA" altLang="en-US" sz="1400" b="1" dirty="0">
                <a:solidFill>
                  <a:srgbClr val="0E7C86"/>
                </a:solidFill>
                <a:latin typeface="Amiri" pitchFamily="2" charset="-78"/>
                <a:cs typeface="Amiri" pitchFamily="2" charset="-78"/>
              </a:rPr>
              <a:t>فِي الطُّفُولَةِ احْتَفَلْنَا بِالعِيدِ</a:t>
            </a:r>
            <a:pPr rtl="1" algn="r" indent="0" marL="0">
              <a:lnSpc>
                <a:spcPct val="120000"/>
              </a:lnSpc>
              <a:buNone/>
            </a:pPr>
            <a:r>
              <a:rPr lang="ar-SA" altLang="en-US" sz="1400" b="1" dirty="0">
                <a:solidFill>
                  <a:srgbClr val="1B3B6F"/>
                </a:solidFill>
                <a:latin typeface="Amiri" pitchFamily="2" charset="-78"/>
                <a:cs typeface="Amiri" pitchFamily="2" charset="-78"/>
              </a:rPr>
              <a:t> فِي بَلَدِ أُسْرَتِي. </a:t>
            </a:r>
            <a:pPr rtl="1" algn="r" indent="0" marL="0">
              <a:lnSpc>
                <a:spcPct val="120000"/>
              </a:lnSpc>
              <a:buNone/>
            </a:pPr>
            <a:r>
              <a:rPr lang="ar-SA" altLang="en-US" sz="1400" b="1" dirty="0">
                <a:solidFill>
                  <a:srgbClr val="D6336C"/>
                </a:solidFill>
                <a:latin typeface="Amiri" pitchFamily="2" charset="-78"/>
                <a:cs typeface="Amiri" pitchFamily="2" charset="-78"/>
              </a:rPr>
              <a:t>أَمَّا الآنَ فَنَحْتَفِلُ</a:t>
            </a:r>
            <a:pPr rtl="1" algn="r" indent="0" marL="0">
              <a:lnSpc>
                <a:spcPct val="120000"/>
              </a:lnSpc>
              <a:buNone/>
            </a:pPr>
            <a:r>
              <a:rPr lang="ar-SA" altLang="en-US" sz="1400" b="1" dirty="0">
                <a:solidFill>
                  <a:srgbClr val="1B3B6F"/>
                </a:solidFill>
                <a:latin typeface="Amiri" pitchFamily="2" charset="-78"/>
                <a:cs typeface="Amiri" pitchFamily="2" charset="-78"/>
              </a:rPr>
              <a:t> هُنَا، </a:t>
            </a:r>
            <a:pPr rtl="1" algn="r" indent="0" marL="0">
              <a:lnSpc>
                <a:spcPct val="120000"/>
              </a:lnSpc>
              <a:buNone/>
            </a:pPr>
            <a:r>
              <a:rPr lang="ar-SA" altLang="en-US" sz="1400" b="1" dirty="0">
                <a:solidFill>
                  <a:srgbClr val="D6336C"/>
                </a:solidFill>
                <a:latin typeface="Amiri" pitchFamily="2" charset="-78"/>
                <a:cs typeface="Amiri" pitchFamily="2" charset="-78"/>
              </a:rPr>
              <a:t>وَتُزَيَّنُ البُيُوتُ</a:t>
            </a:r>
            <a:pPr rtl="1" algn="r" indent="0" marL="0">
              <a:lnSpc>
                <a:spcPct val="120000"/>
              </a:lnSpc>
              <a:buNone/>
            </a:pPr>
            <a:r>
              <a:rPr lang="ar-SA" altLang="en-US" sz="1400" b="1" dirty="0">
                <a:solidFill>
                  <a:srgbClr val="1B3B6F"/>
                </a:solidFill>
                <a:latin typeface="Amiri" pitchFamily="2" charset="-78"/>
                <a:cs typeface="Amiri" pitchFamily="2" charset="-78"/>
              </a:rPr>
              <a:t>. </a:t>
            </a:r>
            <a:pPr rtl="1" algn="r" indent="0" marL="0">
              <a:lnSpc>
                <a:spcPct val="120000"/>
              </a:lnSpc>
              <a:buNone/>
            </a:pPr>
            <a:r>
              <a:rPr lang="ar-SA" altLang="en-US" sz="1400" b="1" dirty="0">
                <a:solidFill>
                  <a:srgbClr val="1D5FBF"/>
                </a:solidFill>
                <a:latin typeface="Amiri" pitchFamily="2" charset="-78"/>
                <a:cs typeface="Amiri" pitchFamily="2" charset="-78"/>
              </a:rPr>
              <a:t>لَا يُمْكِنُ إِنْكَارُ أَنَّ اللُّغَةَ</a:t>
            </a:r>
            <a:pPr rtl="1" algn="r" indent="0" marL="0">
              <a:lnSpc>
                <a:spcPct val="120000"/>
              </a:lnSpc>
              <a:buNone/>
            </a:pPr>
            <a:r>
              <a:rPr lang="ar-SA" altLang="en-US" sz="1400" b="1" dirty="0">
                <a:solidFill>
                  <a:srgbClr val="1B3B6F"/>
                </a:solidFill>
                <a:latin typeface="Amiri" pitchFamily="2" charset="-78"/>
                <a:cs typeface="Amiri" pitchFamily="2" charset="-78"/>
              </a:rPr>
              <a:t> جُزْءٌ مِنَ الهُوِيَّةِ، </a:t>
            </a:r>
            <a:pPr rtl="1" algn="r" indent="0" marL="0">
              <a:lnSpc>
                <a:spcPct val="120000"/>
              </a:lnSpc>
              <a:buNone/>
            </a:pPr>
            <a:r>
              <a:rPr lang="ar-SA" altLang="en-US" sz="1400" b="1" dirty="0">
                <a:solidFill>
                  <a:srgbClr val="0E7C86"/>
                </a:solidFill>
                <a:latin typeface="Amiri" pitchFamily="2" charset="-78"/>
                <a:cs typeface="Amiri" pitchFamily="2" charset="-78"/>
              </a:rPr>
              <a:t>وَأَطْمَحُ إِلَى</a:t>
            </a:r>
            <a:pPr rtl="1" algn="r" indent="0" marL="0">
              <a:lnSpc>
                <a:spcPct val="120000"/>
              </a:lnSpc>
              <a:buNone/>
            </a:pPr>
            <a:r>
              <a:rPr lang="ar-SA" altLang="en-US" sz="1400" b="1" dirty="0">
                <a:solidFill>
                  <a:srgbClr val="1B3B6F"/>
                </a:solidFill>
                <a:latin typeface="Amiri" pitchFamily="2" charset="-78"/>
                <a:cs typeface="Amiri" pitchFamily="2" charset="-78"/>
              </a:rPr>
              <a:t> أَنْ أُتْقِنَ الفُصْحَى.</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 belong to two cultures, and I take pride in both. In childhood we celebrated Eid in my family’s country. Now we celebrate here, and the houses are decorated. It cannot be denied that language is part of identity, and I aspire to master classical Arabic.</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لَا يُمْكِنُ إِنْكَارُ أَنَّ اللُّغَةَ جُزْءٌ مِنَ الهُوِيَّةِ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it cannot be denied that language is part of identity</a:t>
            </a:r>
            <a:endParaRPr lang="en-US" sz="1250" dirty="0"/>
          </a:p>
          <a:p>
            <a:pPr indent="0" marL="0">
              <a:buNone/>
            </a:pPr>
            <a:r>
              <a:rPr lang="en-US" sz="1050" i="1" dirty="0">
                <a:solidFill>
                  <a:srgbClr val="8A6D1E"/>
                </a:solidFill>
                <a:latin typeface="Calibri" pitchFamily="34" charset="0"/>
                <a:cs typeface="Amiri" pitchFamily="2" charset="-78"/>
              </a:rPr>
              <a:t>أَنَّ makes the noun accusative; the predicate stays nominative.</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أَعْتَزُّ بِإِرْثِي الثَّقَافِيِّ</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take pride in my cultural heritage</a:t>
            </a:r>
            <a:endParaRPr lang="en-US" sz="1250" dirty="0"/>
          </a:p>
          <a:p>
            <a:pPr indent="0" marL="0">
              <a:buNone/>
            </a:pPr>
            <a:r>
              <a:rPr lang="en-US" sz="1050" i="1" dirty="0">
                <a:solidFill>
                  <a:srgbClr val="8A6D1E"/>
                </a:solidFill>
                <a:latin typeface="Calibri" pitchFamily="34" charset="0"/>
                <a:cs typeface="Amiri" pitchFamily="2" charset="-78"/>
              </a:rPr>
              <a:t>بِـ is fixed with أَعْتَزُّ.</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تُزَيَّنُ البُيُوتُ فِي المُنَاسَبَاتِ</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houses are decorated on special occasions</a:t>
            </a:r>
            <a:endParaRPr lang="en-US" sz="1250" dirty="0"/>
          </a:p>
          <a:p>
            <a:pPr indent="0" marL="0">
              <a:buNone/>
            </a:pPr>
            <a:r>
              <a:rPr lang="en-US" sz="1050" i="1" dirty="0">
                <a:solidFill>
                  <a:srgbClr val="8A6D1E"/>
                </a:solidFill>
                <a:latin typeface="Calibri" pitchFamily="34" charset="0"/>
                <a:cs typeface="Amiri" pitchFamily="2" charset="-78"/>
              </a:rPr>
              <a:t>A passive with a nominative subject.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PICTURE MATCH · WEBSITE GAME “IDENTITY LAYERS (TOPIC GAME)”</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Match the picture to the sentence</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طَبَقَاتُ الْهُوِيَّةِ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21740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400288" y="2249424"/>
            <a:ext cx="649224" cy="649224"/>
          </a:xfrm>
          <a:prstGeom prst="rect">
            <a:avLst/>
          </a:prstGeom>
        </p:spPr>
      </p:pic>
      <p:sp>
        <p:nvSpPr>
          <p:cNvPr id="22" name="Shape 18"/>
          <p:cNvSpPr/>
          <p:nvPr/>
        </p:nvSpPr>
        <p:spPr>
          <a:xfrm>
            <a:off x="940612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9589008" y="2249424"/>
            <a:ext cx="649224" cy="649224"/>
          </a:xfrm>
          <a:prstGeom prst="rect">
            <a:avLst/>
          </a:prstGeom>
        </p:spPr>
      </p:pic>
      <p:sp>
        <p:nvSpPr>
          <p:cNvPr id="24" name="Shape 19"/>
          <p:cNvSpPr/>
          <p:nvPr/>
        </p:nvSpPr>
        <p:spPr>
          <a:xfrm>
            <a:off x="10594848" y="2066544"/>
            <a:ext cx="1014984" cy="1014984"/>
          </a:xfrm>
          <a:prstGeom prst="ellipse">
            <a:avLst/>
          </a:prstGeom>
          <a:solidFill>
            <a:srgbClr val="F4F1EA"/>
          </a:solidFill>
          <a:ln w="12700">
            <a:solidFill>
              <a:srgbClr val="F4F1EA"/>
            </a:solidFill>
            <a:prstDash val="solid"/>
          </a:ln>
        </p:spPr>
      </p:sp>
      <p:pic>
        <p:nvPicPr>
          <p:cNvPr id="25" name="Image 2" descr="preencoded.png">    </p:cNvPr>
          <p:cNvPicPr>
            <a:picLocks noChangeAspect="1"/>
          </p:cNvPicPr>
          <p:nvPr/>
        </p:nvPicPr>
        <p:blipFill>
          <a:blip r:embed="rId3"/>
          <a:stretch>
            <a:fillRect/>
          </a:stretch>
        </p:blipFill>
        <p:spPr>
          <a:xfrm>
            <a:off x="10777728" y="2249424"/>
            <a:ext cx="649224" cy="649224"/>
          </a:xfrm>
          <a:prstGeom prst="rect">
            <a:avLst/>
          </a:prstGeom>
        </p:spPr>
      </p:pic>
      <p:sp>
        <p:nvSpPr>
          <p:cNvPr id="26" name="Text 20"/>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self + family + community</a:t>
            </a:r>
            <a:endParaRPr lang="en-US" sz="1100" dirty="0"/>
          </a:p>
        </p:txBody>
      </p:sp>
      <p:sp>
        <p:nvSpPr>
          <p:cNvPr id="27" name="Shape 21"/>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4404360" y="1938528"/>
            <a:ext cx="365760" cy="365760"/>
          </a:xfrm>
          <a:prstGeom prst="ellipse">
            <a:avLst/>
          </a:prstGeom>
          <a:solidFill>
            <a:srgbClr val="1B3B6F"/>
          </a:solidFill>
          <a:ln w="12700">
            <a:solidFill>
              <a:srgbClr val="1B3B6F"/>
            </a:solidFill>
            <a:prstDash val="solid"/>
          </a:ln>
        </p:spPr>
      </p:sp>
      <p:sp>
        <p:nvSpPr>
          <p:cNvPr id="29" name="Text 23"/>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0" name="Shape 24"/>
          <p:cNvSpPr/>
          <p:nvPr/>
        </p:nvSpPr>
        <p:spPr>
          <a:xfrm>
            <a:off x="4398264" y="2066544"/>
            <a:ext cx="1014984" cy="1014984"/>
          </a:xfrm>
          <a:prstGeom prst="ellipse">
            <a:avLst/>
          </a:prstGeom>
          <a:solidFill>
            <a:srgbClr val="F4F1EA"/>
          </a:solidFill>
          <a:ln w="12700">
            <a:solidFill>
              <a:srgbClr val="F4F1EA"/>
            </a:solidFill>
            <a:prstDash val="solid"/>
          </a:ln>
        </p:spPr>
      </p:sp>
      <p:pic>
        <p:nvPicPr>
          <p:cNvPr id="31" name="Image 3" descr="preencoded.png">    </p:cNvPr>
          <p:cNvPicPr>
            <a:picLocks noChangeAspect="1"/>
          </p:cNvPicPr>
          <p:nvPr/>
        </p:nvPicPr>
        <p:blipFill>
          <a:blip r:embed="rId4"/>
          <a:stretch>
            <a:fillRect/>
          </a:stretch>
        </p:blipFill>
        <p:spPr>
          <a:xfrm>
            <a:off x="4581144" y="2249424"/>
            <a:ext cx="649224" cy="649224"/>
          </a:xfrm>
          <a:prstGeom prst="rect">
            <a:avLst/>
          </a:prstGeom>
        </p:spPr>
      </p:pic>
      <p:sp>
        <p:nvSpPr>
          <p:cNvPr id="32" name="Shape 25"/>
          <p:cNvSpPr/>
          <p:nvPr/>
        </p:nvSpPr>
        <p:spPr>
          <a:xfrm>
            <a:off x="5586984" y="2066544"/>
            <a:ext cx="1014984" cy="1014984"/>
          </a:xfrm>
          <a:prstGeom prst="ellipse">
            <a:avLst/>
          </a:prstGeom>
          <a:solidFill>
            <a:srgbClr val="F4F1EA"/>
          </a:solidFill>
          <a:ln w="12700">
            <a:solidFill>
              <a:srgbClr val="F4F1EA"/>
            </a:solidFill>
            <a:prstDash val="solid"/>
          </a:ln>
        </p:spPr>
      </p:sp>
      <p:pic>
        <p:nvPicPr>
          <p:cNvPr id="33" name="Image 4" descr="preencoded.png">    </p:cNvPr>
          <p:cNvPicPr>
            <a:picLocks noChangeAspect="1"/>
          </p:cNvPicPr>
          <p:nvPr/>
        </p:nvPicPr>
        <p:blipFill>
          <a:blip r:embed="rId5"/>
          <a:stretch>
            <a:fillRect/>
          </a:stretch>
        </p:blipFill>
        <p:spPr>
          <a:xfrm>
            <a:off x="5769864" y="2249424"/>
            <a:ext cx="649224" cy="649224"/>
          </a:xfrm>
          <a:prstGeom prst="rect">
            <a:avLst/>
          </a:prstGeom>
        </p:spPr>
      </p:pic>
      <p:sp>
        <p:nvSpPr>
          <p:cNvPr id="34" name="Shape 26"/>
          <p:cNvSpPr/>
          <p:nvPr/>
        </p:nvSpPr>
        <p:spPr>
          <a:xfrm>
            <a:off x="6775704" y="2066544"/>
            <a:ext cx="1014984" cy="1014984"/>
          </a:xfrm>
          <a:prstGeom prst="ellipse">
            <a:avLst/>
          </a:prstGeom>
          <a:solidFill>
            <a:srgbClr val="F4F1EA"/>
          </a:solidFill>
          <a:ln w="12700">
            <a:solidFill>
              <a:srgbClr val="F4F1EA"/>
            </a:solidFill>
            <a:prstDash val="solid"/>
          </a:ln>
        </p:spPr>
      </p:sp>
      <p:pic>
        <p:nvPicPr>
          <p:cNvPr id="35" name="Image 5" descr="preencoded.png">    </p:cNvPr>
          <p:cNvPicPr>
            <a:picLocks noChangeAspect="1"/>
          </p:cNvPicPr>
          <p:nvPr/>
        </p:nvPicPr>
        <p:blipFill>
          <a:blip r:embed="rId6"/>
          <a:stretch>
            <a:fillRect/>
          </a:stretch>
        </p:blipFill>
        <p:spPr>
          <a:xfrm>
            <a:off x="6958584" y="2249424"/>
            <a:ext cx="649224" cy="649224"/>
          </a:xfrm>
          <a:prstGeom prst="rect">
            <a:avLst/>
          </a:prstGeom>
        </p:spPr>
      </p:pic>
      <p:sp>
        <p:nvSpPr>
          <p:cNvPr id="36" name="Text 27"/>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language + food + celebration</a:t>
            </a:r>
            <a:endParaRPr lang="en-US" sz="1100" dirty="0"/>
          </a:p>
        </p:txBody>
      </p:sp>
      <p:sp>
        <p:nvSpPr>
          <p:cNvPr id="37" name="Shape 28"/>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29"/>
          <p:cNvSpPr/>
          <p:nvPr/>
        </p:nvSpPr>
        <p:spPr>
          <a:xfrm>
            <a:off x="585216" y="1938528"/>
            <a:ext cx="365760" cy="365760"/>
          </a:xfrm>
          <a:prstGeom prst="ellipse">
            <a:avLst/>
          </a:prstGeom>
          <a:solidFill>
            <a:srgbClr val="1B3B6F"/>
          </a:solidFill>
          <a:ln w="12700">
            <a:solidFill>
              <a:srgbClr val="1B3B6F"/>
            </a:solidFill>
            <a:prstDash val="solid"/>
          </a:ln>
        </p:spPr>
      </p:sp>
      <p:sp>
        <p:nvSpPr>
          <p:cNvPr id="39" name="Text 30"/>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0" name="Shape 31"/>
          <p:cNvSpPr/>
          <p:nvPr/>
        </p:nvSpPr>
        <p:spPr>
          <a:xfrm>
            <a:off x="1173480" y="2066544"/>
            <a:ext cx="1014984" cy="1014984"/>
          </a:xfrm>
          <a:prstGeom prst="ellipse">
            <a:avLst/>
          </a:prstGeom>
          <a:solidFill>
            <a:srgbClr val="F4F1EA"/>
          </a:solidFill>
          <a:ln w="12700">
            <a:solidFill>
              <a:srgbClr val="F4F1EA"/>
            </a:solidFill>
            <a:prstDash val="solid"/>
          </a:ln>
        </p:spPr>
      </p:sp>
      <p:pic>
        <p:nvPicPr>
          <p:cNvPr id="41" name="Image 6" descr="preencoded.png">    </p:cNvPr>
          <p:cNvPicPr>
            <a:picLocks noChangeAspect="1"/>
          </p:cNvPicPr>
          <p:nvPr/>
        </p:nvPicPr>
        <p:blipFill>
          <a:blip r:embed="rId7"/>
          <a:stretch>
            <a:fillRect/>
          </a:stretch>
        </p:blipFill>
        <p:spPr>
          <a:xfrm>
            <a:off x="1356360" y="2249424"/>
            <a:ext cx="649224" cy="649224"/>
          </a:xfrm>
          <a:prstGeom prst="rect">
            <a:avLst/>
          </a:prstGeom>
        </p:spPr>
      </p:pic>
      <p:sp>
        <p:nvSpPr>
          <p:cNvPr id="42" name="Shape 32"/>
          <p:cNvSpPr/>
          <p:nvPr/>
        </p:nvSpPr>
        <p:spPr>
          <a:xfrm>
            <a:off x="2362200" y="2066544"/>
            <a:ext cx="1014984" cy="1014984"/>
          </a:xfrm>
          <a:prstGeom prst="ellipse">
            <a:avLst/>
          </a:prstGeom>
          <a:solidFill>
            <a:srgbClr val="F4F1EA"/>
          </a:solidFill>
          <a:ln w="12700">
            <a:solidFill>
              <a:srgbClr val="F4F1EA"/>
            </a:solidFill>
            <a:prstDash val="solid"/>
          </a:ln>
        </p:spPr>
      </p:sp>
      <p:pic>
        <p:nvPicPr>
          <p:cNvPr id="43" name="Image 7" descr="preencoded.png">    </p:cNvPr>
          <p:cNvPicPr>
            <a:picLocks noChangeAspect="1"/>
          </p:cNvPicPr>
          <p:nvPr/>
        </p:nvPicPr>
        <p:blipFill>
          <a:blip r:embed="rId8"/>
          <a:stretch>
            <a:fillRect/>
          </a:stretch>
        </p:blipFill>
        <p:spPr>
          <a:xfrm>
            <a:off x="2545080" y="2249424"/>
            <a:ext cx="649224" cy="649224"/>
          </a:xfrm>
          <a:prstGeom prst="rect">
            <a:avLst/>
          </a:prstGeom>
        </p:spPr>
      </p:pic>
      <p:sp>
        <p:nvSpPr>
          <p:cNvPr id="44" name="Text 33"/>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world + home</a:t>
            </a:r>
            <a:endParaRPr lang="en-US" sz="1100" dirty="0"/>
          </a:p>
        </p:txBody>
      </p:sp>
      <p:sp>
        <p:nvSpPr>
          <p:cNvPr id="45" name="Shape 34"/>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6" name="Shape 35"/>
          <p:cNvSpPr/>
          <p:nvPr/>
        </p:nvSpPr>
        <p:spPr>
          <a:xfrm>
            <a:off x="11247120" y="3831336"/>
            <a:ext cx="292608" cy="292608"/>
          </a:xfrm>
          <a:prstGeom prst="ellipse">
            <a:avLst/>
          </a:prstGeom>
          <a:solidFill>
            <a:srgbClr val="2F6FB0"/>
          </a:solidFill>
          <a:ln w="12700">
            <a:solidFill>
              <a:srgbClr val="2F6FB0"/>
            </a:solidFill>
            <a:prstDash val="solid"/>
          </a:ln>
        </p:spPr>
      </p:sp>
      <p:sp>
        <p:nvSpPr>
          <p:cNvPr id="47" name="Text 36"/>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8" name="Text 37"/>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اَللُّغَةُ وَالطَّعَامُ وَالِاحْتِفَالَاتُ جُزْءٌ مِنَ الثَّقَافَةِ.</a:t>
            </a:r>
            <a:endParaRPr lang="ar-SA" sz="2000" dirty="0"/>
          </a:p>
        </p:txBody>
      </p:sp>
      <p:sp>
        <p:nvSpPr>
          <p:cNvPr id="49" name="Shape 38"/>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50" name="Shape 39"/>
          <p:cNvSpPr/>
          <p:nvPr/>
        </p:nvSpPr>
        <p:spPr>
          <a:xfrm>
            <a:off x="11247120" y="4398264"/>
            <a:ext cx="292608" cy="292608"/>
          </a:xfrm>
          <a:prstGeom prst="ellipse">
            <a:avLst/>
          </a:prstGeom>
          <a:solidFill>
            <a:srgbClr val="2F6FB0"/>
          </a:solidFill>
          <a:ln w="12700">
            <a:solidFill>
              <a:srgbClr val="2F6FB0"/>
            </a:solidFill>
            <a:prstDash val="solid"/>
          </a:ln>
        </p:spPr>
      </p:sp>
      <p:sp>
        <p:nvSpPr>
          <p:cNvPr id="51" name="Text 40"/>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52" name="Text 41"/>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يُمْكِنُ أَنْ أَنْتَمِيَ إِلَى أَكْثَرَ مِنْ ثَقَافَةٍ فِي الْوَقْتِ نَفْسِهِ.</a:t>
            </a:r>
            <a:endParaRPr lang="ar-SA" sz="2000" dirty="0"/>
          </a:p>
        </p:txBody>
      </p:sp>
      <p:sp>
        <p:nvSpPr>
          <p:cNvPr id="53" name="Shape 42"/>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4" name="Shape 43"/>
          <p:cNvSpPr/>
          <p:nvPr/>
        </p:nvSpPr>
        <p:spPr>
          <a:xfrm>
            <a:off x="11247120" y="4965192"/>
            <a:ext cx="292608" cy="292608"/>
          </a:xfrm>
          <a:prstGeom prst="ellipse">
            <a:avLst/>
          </a:prstGeom>
          <a:solidFill>
            <a:srgbClr val="2F6FB0"/>
          </a:solidFill>
          <a:ln w="12700">
            <a:solidFill>
              <a:srgbClr val="2F6FB0"/>
            </a:solidFill>
            <a:prstDash val="solid"/>
          </a:ln>
        </p:spPr>
      </p:sp>
      <p:sp>
        <p:nvSpPr>
          <p:cNvPr id="55" name="Text 44"/>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6" name="Text 45"/>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تَتَأَثَّرُ هُوِيَّتِي بِأُسْرَتِي وَمُجْتَمَعِي وَتَجَارِبِي الشَّخْصِيَّةِ.</a:t>
            </a:r>
            <a:endParaRPr lang="ar-SA" sz="2000" dirty="0"/>
          </a:p>
        </p:txBody>
      </p:sp>
      <p:sp>
        <p:nvSpPr>
          <p:cNvPr id="57" name="Text 46"/>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8" name="Text 47"/>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9"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طَبَقَاتُ الْهُوِيَّةِ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21740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400288" y="2249424"/>
            <a:ext cx="649224" cy="649224"/>
          </a:xfrm>
          <a:prstGeom prst="rect">
            <a:avLst/>
          </a:prstGeom>
        </p:spPr>
      </p:pic>
      <p:sp>
        <p:nvSpPr>
          <p:cNvPr id="22" name="Shape 18"/>
          <p:cNvSpPr/>
          <p:nvPr/>
        </p:nvSpPr>
        <p:spPr>
          <a:xfrm>
            <a:off x="940612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9589008" y="2249424"/>
            <a:ext cx="649224" cy="649224"/>
          </a:xfrm>
          <a:prstGeom prst="rect">
            <a:avLst/>
          </a:prstGeom>
        </p:spPr>
      </p:pic>
      <p:sp>
        <p:nvSpPr>
          <p:cNvPr id="24" name="Shape 19"/>
          <p:cNvSpPr/>
          <p:nvPr/>
        </p:nvSpPr>
        <p:spPr>
          <a:xfrm>
            <a:off x="10594848" y="2066544"/>
            <a:ext cx="1014984" cy="1014984"/>
          </a:xfrm>
          <a:prstGeom prst="ellipse">
            <a:avLst/>
          </a:prstGeom>
          <a:solidFill>
            <a:srgbClr val="F4F1EA"/>
          </a:solidFill>
          <a:ln w="12700">
            <a:solidFill>
              <a:srgbClr val="F4F1EA"/>
            </a:solidFill>
            <a:prstDash val="solid"/>
          </a:ln>
        </p:spPr>
      </p:sp>
      <p:pic>
        <p:nvPicPr>
          <p:cNvPr id="25" name="Image 2" descr="preencoded.png">    </p:cNvPr>
          <p:cNvPicPr>
            <a:picLocks noChangeAspect="1"/>
          </p:cNvPicPr>
          <p:nvPr/>
        </p:nvPicPr>
        <p:blipFill>
          <a:blip r:embed="rId3"/>
          <a:stretch>
            <a:fillRect/>
          </a:stretch>
        </p:blipFill>
        <p:spPr>
          <a:xfrm>
            <a:off x="10777728" y="2249424"/>
            <a:ext cx="649224" cy="649224"/>
          </a:xfrm>
          <a:prstGeom prst="rect">
            <a:avLst/>
          </a:prstGeom>
        </p:spPr>
      </p:pic>
      <p:sp>
        <p:nvSpPr>
          <p:cNvPr id="26" name="Text 20"/>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self + family + community</a:t>
            </a:r>
            <a:endParaRPr lang="en-US" sz="1100" dirty="0"/>
          </a:p>
        </p:txBody>
      </p:sp>
      <p:sp>
        <p:nvSpPr>
          <p:cNvPr id="27" name="Shape 21"/>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11256264" y="3785616"/>
            <a:ext cx="329184" cy="329184"/>
          </a:xfrm>
          <a:prstGeom prst="ellipse">
            <a:avLst/>
          </a:prstGeom>
          <a:solidFill>
            <a:srgbClr val="2E8B57"/>
          </a:solidFill>
          <a:ln w="12700">
            <a:solidFill>
              <a:srgbClr val="2E8B57"/>
            </a:solidFill>
            <a:prstDash val="solid"/>
          </a:ln>
        </p:spPr>
      </p:sp>
      <p:sp>
        <p:nvSpPr>
          <p:cNvPr id="29" name="Text 23"/>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0" name="Text 24"/>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تَتَأَثَّرُ هُوِيَّتِي بِأُسْرَتِي وَمُجْتَمَعِي وَتَجَارِبِي الشَّخْصِيَّةِ.</a:t>
            </a:r>
            <a:endParaRPr lang="ar-SA" sz="2200" dirty="0"/>
          </a:p>
        </p:txBody>
      </p:sp>
      <p:sp>
        <p:nvSpPr>
          <p:cNvPr id="31" name="Text 25"/>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My identity is shaped by my family, my community and my personal experiences.</a:t>
            </a:r>
            <a:endParaRPr lang="en-US" sz="1200" dirty="0"/>
          </a:p>
        </p:txBody>
      </p:sp>
      <p:sp>
        <p:nvSpPr>
          <p:cNvPr id="32" name="Shape 26"/>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27"/>
          <p:cNvSpPr/>
          <p:nvPr/>
        </p:nvSpPr>
        <p:spPr>
          <a:xfrm>
            <a:off x="4404360" y="1938528"/>
            <a:ext cx="365760" cy="365760"/>
          </a:xfrm>
          <a:prstGeom prst="ellipse">
            <a:avLst/>
          </a:prstGeom>
          <a:solidFill>
            <a:srgbClr val="1B3B6F"/>
          </a:solidFill>
          <a:ln w="12700">
            <a:solidFill>
              <a:srgbClr val="1B3B6F"/>
            </a:solidFill>
            <a:prstDash val="solid"/>
          </a:ln>
        </p:spPr>
      </p:sp>
      <p:sp>
        <p:nvSpPr>
          <p:cNvPr id="34" name="Text 28"/>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5" name="Shape 29"/>
          <p:cNvSpPr/>
          <p:nvPr/>
        </p:nvSpPr>
        <p:spPr>
          <a:xfrm>
            <a:off x="4398264" y="2066544"/>
            <a:ext cx="1014984" cy="1014984"/>
          </a:xfrm>
          <a:prstGeom prst="ellipse">
            <a:avLst/>
          </a:prstGeom>
          <a:solidFill>
            <a:srgbClr val="F4F1EA"/>
          </a:solidFill>
          <a:ln w="12700">
            <a:solidFill>
              <a:srgbClr val="F4F1EA"/>
            </a:solidFill>
            <a:prstDash val="solid"/>
          </a:ln>
        </p:spPr>
      </p:sp>
      <p:pic>
        <p:nvPicPr>
          <p:cNvPr id="36" name="Image 3" descr="preencoded.png">    </p:cNvPr>
          <p:cNvPicPr>
            <a:picLocks noChangeAspect="1"/>
          </p:cNvPicPr>
          <p:nvPr/>
        </p:nvPicPr>
        <p:blipFill>
          <a:blip r:embed="rId4"/>
          <a:stretch>
            <a:fillRect/>
          </a:stretch>
        </p:blipFill>
        <p:spPr>
          <a:xfrm>
            <a:off x="4581144" y="2249424"/>
            <a:ext cx="649224" cy="649224"/>
          </a:xfrm>
          <a:prstGeom prst="rect">
            <a:avLst/>
          </a:prstGeom>
        </p:spPr>
      </p:pic>
      <p:sp>
        <p:nvSpPr>
          <p:cNvPr id="37" name="Shape 30"/>
          <p:cNvSpPr/>
          <p:nvPr/>
        </p:nvSpPr>
        <p:spPr>
          <a:xfrm>
            <a:off x="5586984" y="2066544"/>
            <a:ext cx="1014984" cy="1014984"/>
          </a:xfrm>
          <a:prstGeom prst="ellipse">
            <a:avLst/>
          </a:prstGeom>
          <a:solidFill>
            <a:srgbClr val="F4F1EA"/>
          </a:solidFill>
          <a:ln w="12700">
            <a:solidFill>
              <a:srgbClr val="F4F1EA"/>
            </a:solidFill>
            <a:prstDash val="solid"/>
          </a:ln>
        </p:spPr>
      </p:sp>
      <p:pic>
        <p:nvPicPr>
          <p:cNvPr id="38" name="Image 4" descr="preencoded.png">    </p:cNvPr>
          <p:cNvPicPr>
            <a:picLocks noChangeAspect="1"/>
          </p:cNvPicPr>
          <p:nvPr/>
        </p:nvPicPr>
        <p:blipFill>
          <a:blip r:embed="rId5"/>
          <a:stretch>
            <a:fillRect/>
          </a:stretch>
        </p:blipFill>
        <p:spPr>
          <a:xfrm>
            <a:off x="5769864" y="2249424"/>
            <a:ext cx="649224" cy="649224"/>
          </a:xfrm>
          <a:prstGeom prst="rect">
            <a:avLst/>
          </a:prstGeom>
        </p:spPr>
      </p:pic>
      <p:sp>
        <p:nvSpPr>
          <p:cNvPr id="39" name="Shape 31"/>
          <p:cNvSpPr/>
          <p:nvPr/>
        </p:nvSpPr>
        <p:spPr>
          <a:xfrm>
            <a:off x="6775704" y="2066544"/>
            <a:ext cx="1014984" cy="1014984"/>
          </a:xfrm>
          <a:prstGeom prst="ellipse">
            <a:avLst/>
          </a:prstGeom>
          <a:solidFill>
            <a:srgbClr val="F4F1EA"/>
          </a:solidFill>
          <a:ln w="12700">
            <a:solidFill>
              <a:srgbClr val="F4F1EA"/>
            </a:solidFill>
            <a:prstDash val="solid"/>
          </a:ln>
        </p:spPr>
      </p:sp>
      <p:pic>
        <p:nvPicPr>
          <p:cNvPr id="40" name="Image 5" descr="preencoded.png">    </p:cNvPr>
          <p:cNvPicPr>
            <a:picLocks noChangeAspect="1"/>
          </p:cNvPicPr>
          <p:nvPr/>
        </p:nvPicPr>
        <p:blipFill>
          <a:blip r:embed="rId6"/>
          <a:stretch>
            <a:fillRect/>
          </a:stretch>
        </p:blipFill>
        <p:spPr>
          <a:xfrm>
            <a:off x="6958584" y="2249424"/>
            <a:ext cx="649224" cy="649224"/>
          </a:xfrm>
          <a:prstGeom prst="rect">
            <a:avLst/>
          </a:prstGeom>
        </p:spPr>
      </p:pic>
      <p:sp>
        <p:nvSpPr>
          <p:cNvPr id="41" name="Text 32"/>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language + food + celebration</a:t>
            </a:r>
            <a:endParaRPr lang="en-US" sz="1100" dirty="0"/>
          </a:p>
        </p:txBody>
      </p:sp>
      <p:sp>
        <p:nvSpPr>
          <p:cNvPr id="42" name="Shape 33"/>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3" name="Shape 34"/>
          <p:cNvSpPr/>
          <p:nvPr/>
        </p:nvSpPr>
        <p:spPr>
          <a:xfrm>
            <a:off x="7437120" y="3785616"/>
            <a:ext cx="329184" cy="329184"/>
          </a:xfrm>
          <a:prstGeom prst="ellipse">
            <a:avLst/>
          </a:prstGeom>
          <a:solidFill>
            <a:srgbClr val="2E8B57"/>
          </a:solidFill>
          <a:ln w="12700">
            <a:solidFill>
              <a:srgbClr val="2E8B57"/>
            </a:solidFill>
            <a:prstDash val="solid"/>
          </a:ln>
        </p:spPr>
      </p:sp>
      <p:sp>
        <p:nvSpPr>
          <p:cNvPr id="44" name="Text 35"/>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45" name="Text 36"/>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اَللُّغَةُ وَالطَّعَامُ وَالِاحْتِفَالَاتُ جُزْءٌ مِنَ الثَّقَافَةِ.</a:t>
            </a:r>
            <a:endParaRPr lang="ar-SA" sz="2200" dirty="0"/>
          </a:p>
        </p:txBody>
      </p:sp>
      <p:sp>
        <p:nvSpPr>
          <p:cNvPr id="46" name="Text 37"/>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Language, food and celebrations are part of culture.</a:t>
            </a:r>
            <a:endParaRPr lang="en-US" sz="1200" dirty="0"/>
          </a:p>
        </p:txBody>
      </p:sp>
      <p:sp>
        <p:nvSpPr>
          <p:cNvPr id="47" name="Shape 38"/>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39"/>
          <p:cNvSpPr/>
          <p:nvPr/>
        </p:nvSpPr>
        <p:spPr>
          <a:xfrm>
            <a:off x="585216" y="1938528"/>
            <a:ext cx="365760" cy="365760"/>
          </a:xfrm>
          <a:prstGeom prst="ellipse">
            <a:avLst/>
          </a:prstGeom>
          <a:solidFill>
            <a:srgbClr val="1B3B6F"/>
          </a:solidFill>
          <a:ln w="12700">
            <a:solidFill>
              <a:srgbClr val="1B3B6F"/>
            </a:solidFill>
            <a:prstDash val="solid"/>
          </a:ln>
        </p:spPr>
      </p:sp>
      <p:sp>
        <p:nvSpPr>
          <p:cNvPr id="49" name="Text 40"/>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50" name="Shape 41"/>
          <p:cNvSpPr/>
          <p:nvPr/>
        </p:nvSpPr>
        <p:spPr>
          <a:xfrm>
            <a:off x="1173480" y="2066544"/>
            <a:ext cx="1014984" cy="1014984"/>
          </a:xfrm>
          <a:prstGeom prst="ellipse">
            <a:avLst/>
          </a:prstGeom>
          <a:solidFill>
            <a:srgbClr val="F4F1EA"/>
          </a:solidFill>
          <a:ln w="12700">
            <a:solidFill>
              <a:srgbClr val="F4F1EA"/>
            </a:solidFill>
            <a:prstDash val="solid"/>
          </a:ln>
        </p:spPr>
      </p:sp>
      <p:pic>
        <p:nvPicPr>
          <p:cNvPr id="51" name="Image 6" descr="preencoded.png">    </p:cNvPr>
          <p:cNvPicPr>
            <a:picLocks noChangeAspect="1"/>
          </p:cNvPicPr>
          <p:nvPr/>
        </p:nvPicPr>
        <p:blipFill>
          <a:blip r:embed="rId7"/>
          <a:stretch>
            <a:fillRect/>
          </a:stretch>
        </p:blipFill>
        <p:spPr>
          <a:xfrm>
            <a:off x="1356360" y="2249424"/>
            <a:ext cx="649224" cy="649224"/>
          </a:xfrm>
          <a:prstGeom prst="rect">
            <a:avLst/>
          </a:prstGeom>
        </p:spPr>
      </p:pic>
      <p:sp>
        <p:nvSpPr>
          <p:cNvPr id="52" name="Shape 42"/>
          <p:cNvSpPr/>
          <p:nvPr/>
        </p:nvSpPr>
        <p:spPr>
          <a:xfrm>
            <a:off x="2362200" y="2066544"/>
            <a:ext cx="1014984" cy="1014984"/>
          </a:xfrm>
          <a:prstGeom prst="ellipse">
            <a:avLst/>
          </a:prstGeom>
          <a:solidFill>
            <a:srgbClr val="F4F1EA"/>
          </a:solidFill>
          <a:ln w="12700">
            <a:solidFill>
              <a:srgbClr val="F4F1EA"/>
            </a:solidFill>
            <a:prstDash val="solid"/>
          </a:ln>
        </p:spPr>
      </p:sp>
      <p:pic>
        <p:nvPicPr>
          <p:cNvPr id="53" name="Image 7" descr="preencoded.png">    </p:cNvPr>
          <p:cNvPicPr>
            <a:picLocks noChangeAspect="1"/>
          </p:cNvPicPr>
          <p:nvPr/>
        </p:nvPicPr>
        <p:blipFill>
          <a:blip r:embed="rId8"/>
          <a:stretch>
            <a:fillRect/>
          </a:stretch>
        </p:blipFill>
        <p:spPr>
          <a:xfrm>
            <a:off x="2545080" y="2249424"/>
            <a:ext cx="649224" cy="649224"/>
          </a:xfrm>
          <a:prstGeom prst="rect">
            <a:avLst/>
          </a:prstGeom>
        </p:spPr>
      </p:pic>
      <p:sp>
        <p:nvSpPr>
          <p:cNvPr id="54" name="Text 43"/>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world + home</a:t>
            </a:r>
            <a:endParaRPr lang="en-US" sz="1100" dirty="0"/>
          </a:p>
        </p:txBody>
      </p:sp>
      <p:sp>
        <p:nvSpPr>
          <p:cNvPr id="55" name="Shape 44"/>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Shape 45"/>
          <p:cNvSpPr/>
          <p:nvPr/>
        </p:nvSpPr>
        <p:spPr>
          <a:xfrm>
            <a:off x="3617976" y="3785616"/>
            <a:ext cx="329184" cy="329184"/>
          </a:xfrm>
          <a:prstGeom prst="ellipse">
            <a:avLst/>
          </a:prstGeom>
          <a:solidFill>
            <a:srgbClr val="2E8B57"/>
          </a:solidFill>
          <a:ln w="12700">
            <a:solidFill>
              <a:srgbClr val="2E8B57"/>
            </a:solidFill>
            <a:prstDash val="solid"/>
          </a:ln>
        </p:spPr>
      </p:sp>
      <p:sp>
        <p:nvSpPr>
          <p:cNvPr id="57" name="Text 46"/>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8" name="Text 47"/>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يُمْكِنُ أَنْ أَنْتَمِيَ إِلَى أَكْثَرَ مِنْ ثَقَافَةٍ فِي الْوَقْتِ نَفْسِهِ.</a:t>
            </a:r>
            <a:endParaRPr lang="ar-SA" sz="2200" dirty="0"/>
          </a:p>
        </p:txBody>
      </p:sp>
      <p:sp>
        <p:nvSpPr>
          <p:cNvPr id="59" name="Text 48"/>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can belong to more than one culture at the same time.</a:t>
            </a:r>
            <a:endParaRPr lang="en-US" sz="1200" dirty="0"/>
          </a:p>
        </p:txBody>
      </p:sp>
      <p:sp>
        <p:nvSpPr>
          <p:cNvPr id="60"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فِي الطُّفُولَةِ احْتَفَلْنَا هُنَاكَ</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زُرْتُ بَلَدَ أُسْرَتِي</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كَانَتْ جَدَّتِي تَحْكِي لَنَا</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أَمَّا الآنَ فَنَحْتَفِلُ هُنَا</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تُزَيَّنُ البُيُوتُ فِي المُنَاسَبَاتِ</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أَنْتَمِي إِلَى ثَقَافَتَيْنِ</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لَا يُمْكِنُ إِنْكَارُ أَنَّ اللُّغَةَ مُهِمَّةٌ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أَطْمَحُ إِلَى زِيَارَتِهِ</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وَسَأُوَاصِلُ تَعَلُّمَ العَرَبِيَّةِ</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Past section</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Present section</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Opinion and future</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Past section</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فِي الطُّفُولَةِ احْتَفَلْنَا هُنَاكَ</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زُرْتُ بَلَدَ أُسْرَتِي</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كَانَتْ جَدَّتِي تَحْكِي لَنَا</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Present section</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أَمَّا الآنَ فَنَحْتَفِلُ هُنَا</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تُزَيَّنُ البُيُوتُ فِي المُنَاسَبَاتِ</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أَنْتَمِي إِلَى ثَقَافَتَيْنِ</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Opinion and future</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لَا يُمْكِنُ إِنْكَارُ أَنَّ اللُّغَةَ مُهِمَّةٌ</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أَطْمَحُ إِلَى زِيَارَتِهِ</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وَسَأُوَاصِلُ تَعَلُّمَ العَرَبِيَّةِ</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3,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أَطْمَحُ ___ أَنْ أَزُورَ بَلَدَ أُسْرَتِي.</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passive.</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تُزَيَّنُ البُيُوتَ فِي المُنَاسَبَاتِ.</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تُزَيَّنُ البُيُوتُ فِي المُنَاسَبَاتِ.</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تُزَيِّنُ البُيُوتُ فِي المُنَاسَبَاتِ.</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check belongs to Range?</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suffix is correct.</a:t>
            </a:r>
            <a:endParaRPr lang="en-US" sz="12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response moves through three tenses.</a:t>
            </a:r>
            <a:endParaRPr lang="en-US" sz="12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response is 135 words.</a:t>
            </a:r>
            <a:endParaRPr lang="en-US" sz="12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check belongs to Accuracy?</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response covers all content points.</a:t>
            </a:r>
            <a:endParaRPr lang="en-US" sz="12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response has an interesting title.</a:t>
            </a:r>
            <a:endParaRPr lang="en-US" sz="12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cultural verb has its correct preposition.</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أَطْمَحُ ___ أَنْ أَزُورَ بَلَدَ أُسْرَتِي.</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بِـ</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إِلَى</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أَطْمَحُ</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passive.</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تُزَيَّنُ البُيُوتَ فِي المُنَاسَبَاتِ.</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تُزَيَّنُ البُيُوتُ فِي المُنَاسَبَاتِ.</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تُزَيِّنُ البُيُوتُ فِي المُنَاسَبَاتِ.</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affected noun becomes the nominative subject.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check belongs to Range?</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suffix is correct.</a:t>
            </a:r>
            <a:endParaRPr lang="en-US" sz="125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response moves through three tenses.</a:t>
            </a:r>
            <a:endParaRPr lang="en-US" sz="125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response is 135 words.</a:t>
            </a:r>
            <a:endParaRPr lang="en-US" sz="125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Range rewards variety of structure and tense.</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check belongs to Accuracy?</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response covers all content points.</a:t>
            </a:r>
            <a:endParaRPr lang="en-US" sz="125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response has an interesting title.</a:t>
            </a:r>
            <a:endParaRPr lang="en-US" sz="125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Every cultural verb has its correct preposition.</a:t>
            </a:r>
            <a:endParaRPr lang="en-US" sz="125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Accuracy is about correct forms, including prepositions.</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لَا يُمْكِنُ إِنْكَارُ أَنَّ اللُّغَةُ جُزْءٌ مِنَ الهُوِيَّةِ.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anna: which ending?</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نَحْتَفِلُ العِيدَ مَعَ الجِيرَانِ.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iḥtafala + which preposition?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فِي الطُّفُولَةِ نَحْتَفِلُ فِي بَلَدِ أُسْرَتِي.</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Childhood → which tense?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cs typeface="Amiri" pitchFamily="2" charset="-78"/>
              </a:rPr>
              <a:t>لَا يُمْكِنُ إِنْكَارُ أَنَّ اللُّغَةُ جُزْءٌ مِنَ الهُوِيَّةِ.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لَا يُمْكِنُ إِنْكَارُ أَنَّ اللُّغَةَ جُزْءٌ مِنَ الهُوِيَّةِ.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noun after </a:t>
            </a:r>
            <a:pPr algn="l" indent="0" marL="0">
              <a:buNone/>
            </a:pPr>
            <a:r>
              <a:rPr lang="ar-SA" altLang="en-US" sz="1500" b="1" dirty="0">
                <a:solidFill>
                  <a:srgbClr val="1B3B6F"/>
                </a:solidFill>
                <a:latin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is accusative.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نَحْتَفِلُ العِيدَ مَعَ الجِيرَانِ.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نَحْتَفِلُ بِالعِيدِ مَعَ الجِيرَانِ.</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يَحْتَفِلُ</a:t>
            </a:r>
            <a:pPr algn="l" indent="0" marL="0">
              <a:buNone/>
            </a:pPr>
            <a:r>
              <a:rPr lang="en-US" sz="1150" b="1" dirty="0">
                <a:solidFill>
                  <a:srgbClr val="1B3B6F"/>
                </a:solidFill>
                <a:latin typeface="Calibri" pitchFamily="34" charset="0"/>
                <a:cs typeface="Amiri" pitchFamily="2" charset="-78"/>
              </a:rPr>
              <a:t> requires </a:t>
            </a:r>
            <a:pPr algn="l" indent="0" marL="0">
              <a:buNone/>
            </a:pPr>
            <a:r>
              <a:rPr lang="ar-SA" altLang="en-US" sz="1500" b="1" dirty="0">
                <a:solidFill>
                  <a:srgbClr val="1B3B6F"/>
                </a:solidFill>
                <a:latin typeface="Amiri" pitchFamily="2" charset="-78"/>
                <a:cs typeface="Amiri" pitchFamily="2" charset="-78"/>
              </a:rPr>
              <a:t>بِـ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فِي الطُّفُولَةِ نَحْتَفِلُ فِي بَلَدِ أُسْرَتِي.</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فِي الطُّفُولَةِ احْتَفَلْنَا فِي بَلَدِ أُسْرَتِي.</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past time phrase requires a past verb.</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Listening: a student plans the final piece</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student do before writing?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Planned each paragraph</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Copied a model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Wrote a title only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used the grandmother to do?</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Cook for the neighbours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Travel each year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Tell them stories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in the present-tense paragraph?</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is described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the past is discussed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Houses are decorated and greetings exchanged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opinion did the student add?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Language is part of identity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Language does not matter</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customs matter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were the final two checks?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Handwriting and title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Word count, suffixes and prepositions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was checked</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buNone/>
            </a:pPr>
            <a:r>
              <a:rPr lang="en-US" sz="1250" dirty="0">
                <a:solidFill>
                  <a:srgbClr val="1E6B52"/>
                </a:solidFill>
                <a:latin typeface="Calibri" pitchFamily="34" charset="0"/>
                <a:cs typeface="Amiri" pitchFamily="2" charset="-78"/>
              </a:rPr>
              <a:t>Plan → past → present → opinion → future → check.</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قَبْلَ أَنْ أَكْتُبَ، خَطَّطْتُ لِكُلِّ فِقْرَةٍ.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Before I wrote, I planned each paragraph.</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فِي الفِقْرَةِ الأُولَى كَتَبْتُ عَنِ المَاضِي: فِي الطُّفُولَةِ احْتَفَلْنَا بِالعِيدِ فِي بَلَدِ أُسْرَتِي، وَكَانَتْ جَدَّتِي تَحْكِي لَنَا القِصَصَ.</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first paragraph I wrote about the past: in childhood we celebrated Eid in my family’s country, and my grandmother used to tell us stories.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وَفِي الفِقْرَةِ الثَّانِيَةِ كَتَبْتُ عَنِ الحَاضِرِ: أَمَّا الآنَ فَنَحْتَفِلُ هُنَا مَعَ الجَالِيَةِ، وَتُزَيَّنُ البُيُوتُ وَتُتَبَادَلُ التَّهَانِي.</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second paragraph I wrote about the present: now we celebrate here with the community; the houses are decorated and greetings are exchanged.</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ثُمَّ أَضَفْتُ رَأْيِي: لَا يُمْكِنُ إِنْكَارُ أَنَّ اللُّغَةَ جُزْءٌ مِنَ الهُوِيَّةِ. وَفِي الخِتَامِ كَتَبْتُ عَنِ المُسْتَقْبَلِ: أَطْمَحُ إِلَى زِيَارَةِ بَلَدِ أُسْرَتِي، وَسَأُوَاصِلُ تَعَلُّمَ العَرَبِيَّةِ.</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Then I added my opinion: it cannot be denied that language is part of identity. To finish I wrote about the future: I aspire to visit my family’s country, and I will keep learning Arabic.</a:t>
            </a:r>
            <a:endParaRPr lang="en-US" sz="120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وَأَخِيرًا عَدَدْتُ الكَلِمَاتِ وَرَاجَعْتُ كُلَّ لَاحِقَةٍ وَكُلَّ حَرْفِ جَرٍّ.</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Finally I counted the words and checked every suffix and every preposition.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student do before writing?</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Planned each paragraph</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Copied a model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Wrote a title only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قَبْلَ أَنْ أَكْتُبَ، خَطَّطْتُ لِكُلِّ فِقْرَةٍ.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used the grandmother to do?</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Cook for the neighbours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Travel each year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Tell them stories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وَكَانَتْ جَدَّتِي تَحْكِي لَنَا القِصَصَ.</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in the present-tense paragraph?</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is described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the past is discussed</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Houses are decorated and greetings exchanged</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وَتُزَيَّنُ البُيُوتُ وَتُتَبَادَلُ التَّهَانِي.</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opinion did the student add?</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Language is part of identity</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Language does not matter</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customs matter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لَا يُمْكِنُ إِنْكَارُ أَنَّ اللُّغَةَ جُزْءٌ مِنَ الهُوِيَّةِ.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were the final two checks?</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Handwriting and title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Word count, suffixes and prepositions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was checked</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عَدَدْتُ الكَلِمَاتِ وَرَاجَعْتُ كُلَّ لَاحِقَةٍ وَكُلَّ حَرْفِ جَرٍّ.</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buNone/>
            </a:pPr>
            <a:r>
              <a:rPr lang="en-US" sz="1250" dirty="0">
                <a:solidFill>
                  <a:srgbClr val="1E6B52"/>
                </a:solidFill>
                <a:latin typeface="Calibri" pitchFamily="34" charset="0"/>
                <a:cs typeface="Amiri" pitchFamily="2" charset="-78"/>
              </a:rPr>
              <a:t>Plan → past → present → opinion → future → check.</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TOPIC E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Culture and identity layers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E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Culture and identity layers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Sort identity statements into personal, family, local, national or international influences, then explain how two influences can coexist.</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Sort 8 identity statements into layers: personal · family · local · national · international (in the notes).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Choose two layers that matter to you.</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Explain how they can coexist (yumkinu an …).</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Share one sentence by invitation — invented examples are always fine.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Sort the cards; one sentence: “hawiyyatī … ”.</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layers with possessives and a reason (li-anna).</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layers that coexist, with inna and an example (fa-mathalan …).</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تَتَأَثَّرُ هُوِيَّتِي بِأُسْرَتِي</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my identity is shaped by my family</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أَنْتَمِي إِلَى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belong to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إِنَّ اللُّغَةَ جُزْءٌ مِنْ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language is part of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يُمْكِنُ أَنْ … فِي الوَقْتِ نَفْسِهِ</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it is possible to … at the same time</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talk your plan through</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مَوْضُوعُ فِقْرَتِكَ الأُولَى؟ وَأَيُّ زَمَنٍ سَتَسْتَعْمِلُ؟</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أَيَّ فِعْلٍ ثَقَافِيٍّ سَتَسْتَعْمِلُ؟ وَمَا حَرْفُ الجَرِّ الصَّحِيحُ؟</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كَيْفَ سَتَخْتِمُ بِرَأْيٍ وَطُمُوحٍ؟</a:t>
            </a:r>
            <a:endParaRPr lang="ar-SA" sz="1800" dirty="0"/>
          </a:p>
        </p:txBody>
      </p:sp>
      <p:sp>
        <p:nvSpPr>
          <p:cNvPr id="44" name="Shape 41"/>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5" name="Text 42"/>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6" name="Shape 43"/>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سَأَكْتُبُ عَنِ المَاضِي: فِي الطُّفُولَةِ ___ .</a:t>
            </a:r>
            <a:endParaRPr lang="ar-SA" sz="1600" dirty="0"/>
          </a:p>
        </p:txBody>
      </p:sp>
      <p:sp>
        <p:nvSpPr>
          <p:cNvPr id="49" name="Shape 46"/>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0" name="Text 47"/>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1" name="Text 48"/>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سَأَسْتَعْمِلُ ___ ، وَحَرْفُ الجَرِّ ___ .</a:t>
            </a:r>
            <a:endParaRPr lang="ar-SA" sz="1600" dirty="0"/>
          </a:p>
        </p:txBody>
      </p:sp>
      <p:sp>
        <p:nvSpPr>
          <p:cNvPr id="52" name="Shape 49"/>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3" name="Text 50"/>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4" name="Text 51"/>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F2A37"/>
                </a:solidFill>
                <a:latin typeface="Amiri" pitchFamily="2" charset="-78"/>
                <a:cs typeface="Amiri" pitchFamily="2" charset="-78"/>
              </a:rPr>
              <a:t>أَخْتِمُ بِرَأْيٍ: لَا يُمْكِنُ إِنْكَارُ أَنَّ ___ ، وَأَطْمَحُ إِلَى ___ .</a:t>
            </a:r>
            <a:endParaRPr lang="ar-SA" sz="1050" dirty="0"/>
          </a:p>
        </p:txBody>
      </p:sp>
      <p:sp>
        <p:nvSpPr>
          <p:cNvPr id="55" name="Shape 52"/>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7" name="Shape 54"/>
          <p:cNvSpPr/>
          <p:nvPr/>
        </p:nvSpPr>
        <p:spPr>
          <a:xfrm>
            <a:off x="11274552" y="5559552"/>
            <a:ext cx="292608" cy="292608"/>
          </a:xfrm>
          <a:prstGeom prst="ellipse">
            <a:avLst/>
          </a:prstGeom>
          <a:solidFill>
            <a:srgbClr val="1E6B52"/>
          </a:solidFill>
          <a:ln w="12700">
            <a:solidFill>
              <a:srgbClr val="1E6B52"/>
            </a:solidFill>
            <a:prstDash val="solid"/>
          </a:ln>
        </p:spPr>
      </p:sp>
      <p:sp>
        <p:nvSpPr>
          <p:cNvPr id="58" name="Text 55"/>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9" name="Text 56"/>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 مَوْضُوعُ فِقْرَتِكَ الأُولَى؟</a:t>
            </a:r>
            <a:endParaRPr lang="ar-SA" sz="1550" dirty="0"/>
          </a:p>
        </p:txBody>
      </p:sp>
      <p:sp>
        <p:nvSpPr>
          <p:cNvPr id="60" name="Text 57"/>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your first paragraph about?</a:t>
            </a:r>
            <a:endParaRPr lang="en-US" sz="950" dirty="0"/>
          </a:p>
        </p:txBody>
      </p:sp>
      <p:sp>
        <p:nvSpPr>
          <p:cNvPr id="61" name="Shape 58"/>
          <p:cNvSpPr/>
          <p:nvPr/>
        </p:nvSpPr>
        <p:spPr>
          <a:xfrm>
            <a:off x="11274552" y="5925312"/>
            <a:ext cx="292608" cy="292608"/>
          </a:xfrm>
          <a:prstGeom prst="ellipse">
            <a:avLst/>
          </a:prstGeom>
          <a:solidFill>
            <a:srgbClr val="1E6B52"/>
          </a:solidFill>
          <a:ln w="12700">
            <a:solidFill>
              <a:srgbClr val="1E6B52"/>
            </a:solidFill>
            <a:prstDash val="solid"/>
          </a:ln>
        </p:spPr>
      </p:sp>
      <p:sp>
        <p:nvSpPr>
          <p:cNvPr id="62" name="Text 59"/>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3" name="Text 60"/>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سَأَكْتُبُ عَنِ المَاضِي: فِي الطُّفُولَةِ احْتَفَلْنَا بِالعِيدِ فِي بَلَدِ أُسْرَتِي.</a:t>
            </a:r>
            <a:endParaRPr lang="ar-SA" sz="1550" dirty="0"/>
          </a:p>
        </p:txBody>
      </p:sp>
      <p:sp>
        <p:nvSpPr>
          <p:cNvPr id="64" name="Text 61"/>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50" i="1" dirty="0">
                <a:solidFill>
                  <a:srgbClr val="5A6472"/>
                </a:solidFill>
                <a:latin typeface="Calibri" pitchFamily="34" charset="0"/>
                <a:cs typeface="Amiri" pitchFamily="2" charset="-78"/>
              </a:rPr>
              <a:t>I will write about the past: in childhood we celebrated Eid in my family’s country.</a:t>
            </a:r>
            <a:endParaRPr lang="en-US" sz="8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70–90 words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the three-paragraph frame with one structure per section.</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One paragraph per section with the frames; one cultural verb + preposition.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110–130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passive and a formal connector.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a passive, a formal connector and a supported opinion.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130–140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Include all six target structures and a supported opinion within the word limit.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5+ past verbs · cultural verb · passive · connector · opinion · aspiration.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تُزَيَّنُ ______ ، وَتُتَبَادَلُ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are decorated / are exchanged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عَلَى الرَّغْمِ مِنْ بُعْدِ المَسَافَةِ نَحْتَفِظُ بِـ ______ .</a:t>
            </a:r>
            <a:endParaRPr lang="ar-SA" sz="16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Despite the distance, we keep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لَا يُمْكِنُ إِنْكَارُ أَنَّ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cannot be denied that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أَطْمَحُ إِلَى 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aspire to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أَنْتَمِي إِلَى ______ ، وَأَعْتَزُّ بِـ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belong to … and I take pride in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الطُّفُولَةِ احْتَفَلْنَا بِـ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childhood we celebrated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أَمَّا الآنَ فَنَحْتَفِلُ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As for now, we celebrate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وَفِي المُسْتَقْبَلِ سَأَزُورُ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future I will visit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2" charset="-78"/>
                <a:cs typeface="Amiri" pitchFamily="2" charset="-78"/>
              </a:rPr>
              <a:t>أَنْتَمِي إِلَى  ·  أَعْتَزُّ بِـ  ·  احْتَفَلْنَا بِـ  ·  كَانَتْ جَدَّتِي تَحْكِي  ·  أَمَّا الآنَ فَـ  ·  تُزَيَّنُ البُيُوتُ  ·  عَلَى الرَّغْمِ مِنْ  ·  أَصْغَرُ مِنَ السَّابِقِ  ·  مِنْ وِجْهَةِ نَظَرِي  ·  لَا يُمْكِنُ إِنْكَارُ أَنَّ  ·  سَأَزُورُ  ·  أَطْمَحُ إِلَى</a:t>
            </a:r>
            <a:endParaRPr lang="ar-SA" sz="13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130 to 140 words on </a:t>
            </a:r>
            <a:pPr algn="l" indent="0" marL="0">
              <a:buNone/>
            </a:pPr>
            <a:r>
              <a:rPr lang="ar-SA" altLang="en-US" sz="1750" b="1" dirty="0">
                <a:solidFill>
                  <a:srgbClr val="1F2A37"/>
                </a:solidFill>
                <a:latin typeface="Amiri" pitchFamily="2" charset="-78"/>
                <a:cs typeface="Amiri" pitchFamily="2" charset="-78"/>
              </a:rPr>
              <a:t>ثَقَافَتِي وَهُوِيَّتِي</a:t>
            </a:r>
            <a:pPr algn="l" indent="0" marL="0">
              <a:buNone/>
            </a:pPr>
            <a:r>
              <a:rPr lang="en-US" sz="1350" b="1" dirty="0">
                <a:solidFill>
                  <a:srgbClr val="1F2A37"/>
                </a:solidFill>
                <a:latin typeface="Calibri" pitchFamily="34" charset="0"/>
                <a:cs typeface="Amiri" pitchFamily="2" charset="-78"/>
              </a:rPr>
              <a:t>. Narrate a past cultural experience, describe the present, give a supported opinion and close with a future aspiration.</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Five or more past verbs with accurate suffixes.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cultural verb with its correct preposition.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passive with a nominative subject and one formal connector.</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opinion structure and one future aspiration.</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cs typeface="Amiri" pitchFamily="2" charset="-78"/>
              </a:rPr>
              <a:t>وَكَانَتْ جَدَّتِي تَحْكِي لَنَا قِصَصَ الحَيِّ القَدِيمِ</a:t>
            </a:r>
            <a:endParaRPr lang="ar-SA" sz="175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my grandmother used to tell us stories of the old neighbourhood</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2" charset="-78"/>
                <a:cs typeface="Amiri" pitchFamily="2" charset="-78"/>
              </a:rPr>
              <a:t>وَالاحْتِفَالُ هُنَا أَصْغَرُ مِنَ السَّابِقِ وَلٰكِنَّهُ أَكْثَرُ تَنَوُّعًا</a:t>
            </a:r>
            <a:endParaRPr lang="ar-SA" sz="135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celebration here is smaller than before but more varied</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فَهِيَ تَرْبِطُنِي بِجُذُورِي</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for it ties me to my roots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لِكَيْ أَقْرَأَ أَدَبَهَا بِنَفْسِي</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so that I can read its literature myself</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مِنْ وِجْهَةِ نَظَرِي</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from my point of view</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cs typeface="Amiri" pitchFamily="2" charset="-78"/>
              </a:rPr>
              <a:t>أَنْتَمِي إِلَى ثَقَافَتَيْنِ، وَأَعْتَزُّ بِهِمَا مَعًا. فِي الطُّفُولَةِ احْتَفَلْنَا بِالعِيدِ فِي بَلَدِ أُسْرَتِي، وَكَانَتْ جَدَّتِي تَحْكِي لَنَا قِصَصَ الحَيِّ القَدِيمِ. زُرْنَا الأَقَارِبَ، وَتَبَادَلْنَا الهَدَايَا، وَأَكَلْنَا حَلْوَى لَذِيذَةً. أَمَّا الآنَ فَنَحْتَفِلُ هُنَا مَعَ الجَالِيَةِ، وَتُزَيَّنُ البُيُوتُ وَتُتَبَادَلُ التَّهَانِي فِي المَرْكَزِ الثَّقَافِيِّ. عَلَى الرَّغْمِ مِنْ بُعْدِ المَسَافَةِ نَحْتَفِظُ بِعَادَاتِنَا، وَالاحْتِفَالُ هُنَا أَصْغَرُ مِنَ السَّابِقِ وَلٰكِنَّهُ أَكْثَرُ تَنَوُّعًا. وَمِنْ وِجْهَةِ نَظَرِي لَا يُمْكِنُ إِنْكَارُ أَنَّ اللُّغَةَ جُزْءٌ مِنَ الهُوِيَّةِ، فَهِيَ تَرْبِطُنِي بِجُذُورِي. وَفِي المُسْتَقْبَلِ سَأَزُورُ بَلَدَ أُسْرَتِي مَرَّةً أُخْرَى، وَأَطْمَحُ إِلَى أَنْ أُتْقِنَ الفُصْحَى لِكَيْ أَقْرَأَ أَدَبَهَا بِنَفْسِي.</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belong to two cultures, and I take pride in both. In childhood we celebrated Eid in my family’s country, and my grandmother used to tell us stories of the old neighbourhood. We visited relatives, exchanged gifts and ate delicious sweets. Now we celebrate here with the community; the houses are decorated and greetings are exchanged at the cultural centre. Despite the distance we keep our customs, and the celebration here is smaller than before but more varied. From my point of view, it cannot be denied that language is part of identity, for it ties me to my roots. In the future I will visit my family’s country again, and I aspire to master classical Arabic so that I can read its literature myself.</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five past verbs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cultural verb + preposition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passive and a connector</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opinion and an aspiration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Each section has a time phrase and matching verbs.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cultural verb has its correct preposition.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passive subject ends in -u.</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a:t>
            </a:r>
            <a:pPr algn="l" indent="0" marL="0">
              <a:buNone/>
            </a:pPr>
            <a:r>
              <a:rPr lang="ar-SA" altLang="en-US" sz="1700" dirty="0">
                <a:solidFill>
                  <a:srgbClr val="1F2A37"/>
                </a:solidFill>
                <a:latin typeface="Amiri" pitchFamily="2" charset="-78"/>
                <a:cs typeface="Amiri" pitchFamily="2" charset="-78"/>
              </a:rPr>
              <a:t>أَنَّ</a:t>
            </a:r>
            <a:pPr algn="l" indent="0" marL="0">
              <a:buNone/>
            </a:pPr>
            <a:r>
              <a:rPr lang="en-US" sz="1300" dirty="0">
                <a:solidFill>
                  <a:srgbClr val="1F2A37"/>
                </a:solidFill>
                <a:latin typeface="Calibri" pitchFamily="34" charset="0"/>
                <a:cs typeface="Amiri" pitchFamily="2" charset="-78"/>
              </a:rPr>
              <a:t> my noun ends in -a.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counted my words (130–140) and checked every suffix.</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أَعْتَزُّ</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لُغَتِي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لَا يُمْكِنُ إِنْكَارُ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ثَرْوَةٌ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التَّنَوُّعُ</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التَّنَوُّعَ</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التَّنَوُّعِ</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check belongs to Range?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 different tenses appear.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suffix is correct.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piece is 138 words.</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أَعْتَزُّ</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لُغَتِي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بِـ</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عَلَى</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إِلَى</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أَعْتَزُّ</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لَا يُمْكِنُ إِنْكَارُ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ثَرْوَةٌ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التَّنَوُّعُ</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التَّنَوُّعَ</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التَّنَوُّعِ</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makes the following noun accusative.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check belongs to Range?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Three different tenses appear.</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suffix is correct.</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piece is 138 words.</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Range rewards variety of structure.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 model identity piece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cs typeface="Amiri" pitchFamily="2" charset="-78"/>
              </a:rPr>
              <a:t>أَنْتَمِي إِلَى ثَقَافَتَيْنِ، وَأَعْتَزُّ بِهِمَا مَعًا. فِي الطُّفُولَةِ احْتَفَلْنَا بِالعِيدِ فِي بَلَدِ أُسْرَتِي، وَكَانَتْ جَدَّتِي تَحْكِي لَنَا قِصَصَ الحَيِّ القَدِيمِ. زُرْنَا الأَقَارِبَ، وَتَبَادَلْنَا الهَدَايَا، وَأَكَلْنَا حَلْوَى لَا أَنْسَى طَعْمَهَا. أَمَّا الآنَ فَنَحْتَفِلُ هُنَا مَعَ الجَالِيَةِ، وَتُزَيَّنُ البُيُوتُ وَتُتَبَادَلُ التَّهَانِي فِي المَرْكَزِ الثَّقَافِيِّ. عَلَى الرَّغْمِ مِنْ بُعْدِ المَسَافَةِ نَحْتَفِظُ بِعَادَاتِنَا، وَالاحْتِفَالُ هُنَا أَصْغَرُ مِنَ السَّابِقِ وَلٰكِنَّهُ أَكْثَرُ تَنَوُّعًا. وَمِنْ وِجْهَةِ نَظَرِي لَا يُمْكِنُ إِنْكَارُ أَنَّ اللُّغَةَ جُزْءٌ مِنَ الهُوِيَّةِ. وَفِي المُسْتَقْبَلِ سَأَزُورُ بَلَدَ أُسْرَتِي، وَأَطْمَحُ إِلَى أَنْ أُتْقِنَ الفُصْحَى.</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ثَقَافَتَيْنِ</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two cultures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بَلَدِ أُسْرَتِي</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my family’s country</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تَحْكِي</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tells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الحَيِّ القَدِيمِ</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old neighbourhood</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الأَقَارِبَ</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relatives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حَلْوَى</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sweets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التَّهَانِي</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greetings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تَرْبِطُنِي</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ties me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بِجُذُورِي</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to my roots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أُتْقِنَ الفُصْحَى</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master classical Arabic</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say at the start?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belong to one culture only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belong to two cultures and take pride in both</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reject both cultures</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grandmother do?</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Organised the travel</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Taught at the centre</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Told stories of the old neighbourhood</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celebration here compared with before?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Smaller but more varied</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Larger and simpler</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Exactly the same</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writer's opinion?</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Language is unimportant</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Language is part of identity</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food matters</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future aspiration?</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visit and to master fuṣḥā</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move permanently</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stop studying</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say at the start?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belong to one culture only</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They belong to two cultures and take pride in both</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reject both cultures</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أَنْتَمِي إِلَى ثَقَافَتَيْنِ، وَأَعْتَزُّ بِهِمَا مَعًا.</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grandmother do?</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Organised the travel</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Taught at the centre</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Told stories of the old neighbourhood</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وَكَانَتْ جَدَّتِي تَحْكِي لَنَا قِصَصَ الحَيِّ القَدِيمِ.</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celebration here compared with before?</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Smaller but more varied</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Larger and simpler</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Exactly the same</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أَصْغَرُ مِنَ السَّابِقِ وَلٰكِنَّهُ أَكْثَرُ تَنَوُّعًا.</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writer's opinion?</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Language is unimportant</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Language is part of identity</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food matters</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لَا يُمْكِنُ إِنْكَارُ أَنَّ اللُّغَةَ جُزْءٌ مِنَ الهُوِيَّةِ.</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future aspiration?</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visit and to master fuṣḥā</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move permanently</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stop studying</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سَأَزُورُ بَلَدَ أُسْرَتِي، وَأَطْمَحُ إِلَى أَنْ أُتْقِنَ الفُصْحَى.</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Final Writing Mission — Every Criterion Checked</a:t>
            </a:r>
            <a:endParaRPr lang="en-US" sz="20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Case: complete — </a:t>
            </a:r>
            <a:pPr algn="l" indent="0" marL="0">
              <a:buNone/>
            </a:pPr>
            <a:r>
              <a:rPr lang="ar-SA" altLang="en-US" sz="1650" b="1" dirty="0">
                <a:solidFill>
                  <a:srgbClr val="1B3B6F"/>
                </a:solidFill>
                <a:latin typeface="Amiri" pitchFamily="2" charset="-78"/>
                <a:cs typeface="Amiri" pitchFamily="2" charset="-78"/>
              </a:rPr>
              <a:t>لَا يُمْكِنُ إِنْكَارُ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مُهِمَّةٌ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اللُّغَةُ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اللُّغَةَ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اللُّغَةِ</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أَعْتَزُّ</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إِرْثِي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أَطْمَحُ</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زِيَارَتِهِ</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Cultural verb: complete — </a:t>
            </a:r>
            <a:pPr algn="l" indent="0" marL="0">
              <a:buNone/>
            </a:pPr>
            <a:r>
              <a:rPr lang="ar-SA" altLang="en-US" sz="1650" b="1" dirty="0">
                <a:solidFill>
                  <a:srgbClr val="1B3B6F"/>
                </a:solidFill>
                <a:latin typeface="Amiri" pitchFamily="2" charset="-78"/>
                <a:cs typeface="Amiri" pitchFamily="2" charset="-78"/>
              </a:rPr>
              <a:t>نَحْتَفِلُ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العِيدِ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Tense: complete — </a:t>
            </a:r>
            <a:pPr algn="l" indent="0" marL="0">
              <a:buNone/>
            </a:pPr>
            <a:r>
              <a:rPr lang="ar-SA" altLang="en-US" sz="1650" b="1" dirty="0">
                <a:solidFill>
                  <a:srgbClr val="1B3B6F"/>
                </a:solidFill>
                <a:latin typeface="Amiri" pitchFamily="2" charset="-78"/>
                <a:cs typeface="Amiri" pitchFamily="2" charset="-78"/>
              </a:rPr>
              <a:t>فِي الطُّفُولَةِ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فِي بَلَدِ أُسْرَتِي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احْتَفَلْنَا</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نَحْتَفِلُ</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سَنَحْتَفِلُ</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Passive: complete — ___ </a:t>
            </a:r>
            <a:pPr algn="l" indent="0" marL="0">
              <a:buNone/>
            </a:pPr>
            <a:r>
              <a:rPr lang="ar-SA" altLang="en-US" sz="1650" b="1" dirty="0">
                <a:solidFill>
                  <a:srgbClr val="1B3B6F"/>
                </a:solidFill>
                <a:latin typeface="Amiri" pitchFamily="2" charset="-78"/>
                <a:cs typeface="Amiri" pitchFamily="2" charset="-78"/>
              </a:rPr>
              <a:t>البُيُوتُ فِي المُنَاسَبَاتِ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تُزَيِّنُ</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تُزَيَّنُ</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يُزَيَّنُ</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Case: complete — </a:t>
            </a:r>
            <a:pPr algn="l" indent="0" marL="0">
              <a:buNone/>
            </a:pPr>
            <a:r>
              <a:rPr lang="ar-SA" altLang="en-US" sz="1650" b="1" dirty="0">
                <a:solidFill>
                  <a:srgbClr val="1B3B6F"/>
                </a:solidFill>
                <a:latin typeface="Amiri" pitchFamily="2" charset="-78"/>
                <a:cs typeface="Amiri" pitchFamily="2" charset="-78"/>
              </a:rPr>
              <a:t>لَا يُمْكِنُ إِنْكَارُ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مُهِمَّةٌ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اللُّغَةُ</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اللُّغَةَ</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اللُّغَةِ</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takes an accusative noun.</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أَعْتَزُّ</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إِرْثِي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بِـ</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أَعْتَزُّ</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أَطْمَحُ</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زِيَارَتِهِ</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بِـ</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إِلَى</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أَطْمَحُ</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Cultural verb: complete — </a:t>
            </a:r>
            <a:pPr algn="l" indent="0" marL="0">
              <a:buNone/>
            </a:pPr>
            <a:r>
              <a:rPr lang="ar-SA" altLang="en-US" sz="1650" b="1" dirty="0">
                <a:solidFill>
                  <a:srgbClr val="1B3B6F"/>
                </a:solidFill>
                <a:latin typeface="Amiri" pitchFamily="2" charset="-78"/>
                <a:cs typeface="Amiri" pitchFamily="2" charset="-78"/>
              </a:rPr>
              <a:t>نَحْتَفِلُ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العِيدِ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بِـ</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يَحْتَفِلُ</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Tense: complete — </a:t>
            </a:r>
            <a:pPr algn="l" indent="0" marL="0">
              <a:buNone/>
            </a:pPr>
            <a:r>
              <a:rPr lang="ar-SA" altLang="en-US" sz="1650" b="1" dirty="0">
                <a:solidFill>
                  <a:srgbClr val="1B3B6F"/>
                </a:solidFill>
                <a:latin typeface="Amiri" pitchFamily="2" charset="-78"/>
                <a:cs typeface="Amiri" pitchFamily="2" charset="-78"/>
              </a:rPr>
              <a:t>فِي الطُّفُولَةِ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فِي بَلَدِ أُسْرَتِي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احْتَفَلْنَا</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نَحْتَفِلُ</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سَنَحْتَفِلُ</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childhood time phrase requires the past.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Passive: complete — ___ </a:t>
            </a:r>
            <a:pPr algn="l" indent="0" marL="0">
              <a:buNone/>
            </a:pPr>
            <a:r>
              <a:rPr lang="ar-SA" altLang="en-US" sz="1650" b="1" dirty="0">
                <a:solidFill>
                  <a:srgbClr val="1B3B6F"/>
                </a:solidFill>
                <a:latin typeface="Amiri" pitchFamily="2" charset="-78"/>
                <a:cs typeface="Amiri" pitchFamily="2" charset="-78"/>
              </a:rPr>
              <a:t>البُيُوتُ فِي المُنَاسَبَاتِ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تُزَيِّنُ</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تُزَيَّنُ</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يُزَيَّنُ</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passive agrees with the feminine plural subject.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TE-L04: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TE-L04 · Customs, Etiquette and Hospitality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عَادَةٌ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custom</a:t>
            </a:r>
            <a:pPr indent="0" marL="0">
              <a:buNone/>
            </a:pPr>
            <a:r>
              <a:rPr lang="en-US" sz="1000" i="1" dirty="0">
                <a:solidFill>
                  <a:srgbClr val="5A6472"/>
                </a:solidFill>
                <a:latin typeface="Calibri" pitchFamily="34" charset="0"/>
                <a:cs typeface="Amiri" pitchFamily="2" charset="-78"/>
              </a:rPr>
              <a:t>  pl. عَادَاتٌ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تَقْلِيدٌ</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tradition</a:t>
            </a:r>
            <a:pPr indent="0" marL="0">
              <a:buNone/>
            </a:pPr>
            <a:r>
              <a:rPr lang="en-US" sz="1000" i="1" dirty="0">
                <a:solidFill>
                  <a:srgbClr val="5A6472"/>
                </a:solidFill>
                <a:latin typeface="Calibri" pitchFamily="34" charset="0"/>
                <a:cs typeface="Amiri" pitchFamily="2" charset="-78"/>
              </a:rPr>
              <a:t>  pl. تَقَالِيدُ</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ضِيَافَةٌ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hospitality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احْتِرَامُ الكِبَارِ</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respect for elders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يَحْتَفِلُ بِـ</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celebrates</a:t>
            </a:r>
            <a:pPr indent="0" marL="0">
              <a:buNone/>
            </a:pPr>
            <a:r>
              <a:rPr lang="en-US" sz="1000" i="1" dirty="0">
                <a:solidFill>
                  <a:srgbClr val="5A6472"/>
                </a:solidFill>
                <a:latin typeface="Calibri" pitchFamily="34" charset="0"/>
                <a:cs typeface="Amiri" pitchFamily="2" charset="-78"/>
              </a:rPr>
              <a:t>  تَحْتَفِلُ she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Think of one custom in your family when a guest visits. What do you do?</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عِنْدَمَا يَزُورُنَا ضَيْفٌ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Final 70–90-word version from the frames; learn the five listening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Final 110–130-word version with a passive, a connector and an opinion.</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final 130–140 words, self-marked against the three criteria.</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TE-L03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200" b="1" dirty="0">
                <a:solidFill>
                  <a:srgbClr val="FFFFFF"/>
                </a:solidFill>
                <a:latin typeface="Cambria" pitchFamily="34" charset="0"/>
                <a:cs typeface="Amiri" pitchFamily="2" charset="-78"/>
              </a:rPr>
              <a:t>TE-L04 · Customs, Etiquette and Hospitality</a:t>
            </a:r>
            <a:endParaRPr lang="en-US" sz="22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العَادَاتُ وَآدَابُ السُّلُوكِ وَالضِّيَافَةُ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learn the 5 words for TE-L04.</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TE-L03 · Culture and Personal Identity</dc:title>
  <dc:subject>PptxGenJS Presentation</dc:subject>
  <dc:creator>Al Madina Online School · Arabic Department</dc:creator>
  <cp:lastModifiedBy>Al Madina Online School · Arabic Department</cp:lastModifiedBy>
  <cp:revision>1</cp:revision>
  <dcterms:created xsi:type="dcterms:W3CDTF">2026-10-11T06:44:15Z</dcterms:created>
  <dcterms:modified xsi:type="dcterms:W3CDTF">2026-10-11T06:44:15Z</dcterms:modified>
</cp:coreProperties>
</file>