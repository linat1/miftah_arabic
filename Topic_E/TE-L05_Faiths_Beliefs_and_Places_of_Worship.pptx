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E · TE-L05 — Faiths, Beliefs and Places of Worship. Website: Advanced Topics › Topic E (The International World) › Lesson 5.
The website builds this lesson on the D6-L03 lesson engine, with the Topic focus “Use respectful factual language to understand and describe familiar faith contexts.” (grammar: Relative clauses; nominal sentences; prepositions; skills: Reading · Speaking) and the application challenge “Belief and place vocabulary match”. This deck follows the same engine, re-sequenced for Topic E: lesson references now point to Topic E codes (lessons outside Topic E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E Countries, Cultures and Celebrations › TE-L05. The website lesson “Islamic Celebrations — Eid, Ramadan and Religious Occasions”: vocabulary, grammar rules and quiz, patterns, common mistakes, sorter, listening, reading, speaking prompts and model, writing task and model, differentiation, final check and the lesson mission. Picture match: website visual game “Islamic Celebrations — Eid, Ramadan and Religious Occasions”.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Ramadan and Eid words + six present-tense sentences (يَصُومُ المُسْلِمُونَ فِي رَمَضَانَ). Develop: two passive verbs with nominative subjects (تُزَيَّنُ الشَّوَارِعُ). Stretch: the website 80–90-word description with a personal memory in the past (صُمْتُ …) and a hedge.
• This is a lesson students know from the inside: draw on their own Ramadan and Eid experiences, family customs and countries of origin. The hedge (فِي بَعْضِ البُلْدَانِ) is about CUSTOMS (lanterns, sweets, Eid money) — the acts of worship (fasting, Eid prayer, zakat al-Fitr) are shared.
• Grammar links: hollow verbs (earlier work: صَامَ → صُمْتُ like زَارَ → زُرْتُ), diptotes (TE-L01: فِي رَمَضَانَ), passive (D4-L03 (website) / L06).
• TEACHER-WRITTEN ITEMS: English added to the patterns and speaking model (quiz items that differ only in vowels test the passive and case endings themselves, so they are kept).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TE-L04. Questions 4–5 retrieve TE-L04 (يَحْتَفِلُ بِـ) and the earlier work hollow-verb rule (صُمْتُ like زُرْتُ).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passive puts the CUSTOM first — the doer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TE-L05 objectives (teacher-made from the website Topic E focus and grammar for this lesson).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almost every word today is shared — افطار، سحری، عیدی، صدقہ، تراویح. Urdu shab-e-qadr = Arabic لَيْلَةُ القَدْرِ (Persian شب = night = Arabic لَيْلَةٌ). Urdu roza = Arabic صَوْمٌ / صِيَامٌ.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Ramadan (website vocabulary (1 of 2)). Hear → Say → See → Use. Transliteration is printed for Core students (cover it for Develop/Stretch).
Ramadan. رَمَضَانُ is a diptote: فِي رَمَضَانَ (never رَمَضَانٍ). صَامَ is hollow: صُمْتُ · صُمْنَا.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Ramadan (website vocabulary (2 of 2)). Hear → Say → See → Use. Transliteration is printed for Core students (cover it for Develop/Stretch).
Ramadan. رَمَضَانُ is a diptote: فِي رَمَضَانَ (never رَمَضَانٍ). صَامَ is hollow: صُمْتُ · صُمْنَا.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two Eids (website vocabulary (1 of 2)). Hear → Say → See → Use. Transliteration is printed for Core students (cover it for Develop/Stretch).
The two Eids: the acts of worship (Eid prayer, takbirs, zakat al-Fitr) and the family customs (Eid money, sweets,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two Eids (website vocabulary (2 of 2)). Hear → Say → See → Use. Transliteration is printed for Core students (cover it for Develop/Stretch).
The two Eids: the acts of worship (Eid prayer, takbirs, zakat al-Fitr) and the family customs (Eid money, sweets,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cultural passive (website vocabulary (1 of 2)). Hear → Say → See → Use. Transliteration is printed for Core students (cover it for Develop/Stretch).
The cultural passive: cards show the active verb too. The doer disappears; the custom becomes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cultural passive (website vocabulary (2 of 2)). Hear → Say → See → Use. Transliteration is printed for Core students (cover it for Develop/Stretch).
The cultural passive: cards show the active verb too. The doer disappears; the custom becomes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E KEY WORDS (teacher-made, neutral and factual — the website Topic E focus: “respectful factual language to understand and describe familiar faith contexts”). Say each word, students repeat; for people say m. → f. → pl. (مُسْلِمٌ – مُسْلِمَةٌ – مُسْلِمُونَ). Broken plurals as a chant: masjid – masājid, kanīsa – kanāʾis.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E KEY WORDS (teacher-made, neutral and factual — the website Topic E focus: “respectful factual language to understand and describe familiar faith contexts”). Say each word, students repeat; for people say m. → f. → pl. (مُسْلِمٌ – مُسْلِمَةٌ – مُسْلِمُونَ). Broken plurals as a chant: masjid – masājid, kanīsa – kanāʾis.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 teacher layer for the Topic E grammar (relative clauses; nominal sentences; prepositions). Many students are Muslim and will know the Islamic vocabulary well — invite them to explain, but never require personal disclosure. Other faiths are described in the same neutral, factual way the website asks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“Forming the present passive” (يُفَعِّلُ → يُفَعَّلُ: the prefix takes a ḍamma and the letter before the ending a fatḥa; no extra word) and “The passive verb agrees with the thing affected” (the former object becomes the nominative subject; the verb agrees with it in gender). Website teaching point: “The passive changes the vowels, not the letters.”
Website mistake: يُزَيَّنُ الشَّارِعَ ✗ → الشَّارِعُ. Note الحَلْوَى is feminine → تُوَزَّعُ.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“Present for the general custom” (add a hedge where the custom is regional) and “Past for personal experience” (صَامَ is hollow: صُمْتُ، صُمْنَا). Website teaching point: “General custom in the present, personal memory in the past.”
Website mistake 3: فِي رَمَضَانٍ ✗ → فِي رَمَضَانَ (diptote, TE-L01).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“One new structure and one choice: form the passive by changing the vowel pattern, and decide between present for the general custom and past for your own memory.”
• Forming the present passive: The prefix takes a ḍamma and the letter before the ending takes a fatḥa. No extra word is added.
• The passive verb agrees with the thing affected: What was the object becomes the subject and is nominative. The verb agrees with it in gender.
• Present for the general custom: Use the present for what happens each year, and add a hedge where the custom is regional.
• Past for personal experience: صَامَ is hollow, so the middle vowel shortens: صُمْتُ، صُمْنَا.
Website common error: Leaving the affected noun in the accusative after a passive verb. Once the verb is passive, that noun becomes the subject and must be nominative: يُزَيَّنُ الشَّارِعُ, not الشَّارِعَ.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at each verb: “Every year or my memory? Who does it — does it matter? Then the passive.” Students add one sentence about their own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(“Belief &amp; Place Match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“Belief &amp; Place Match” — a main task today: the mosque, the church, and respectful discussion of beliefs.
Website feedback lines: The building is a mosque. · The building is a church. · The visual emphasises respectful discussion.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(“Belief &amp; Place Match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“Belief &amp; Place Match” — a main task today: the mosque, the church, and respectful discussion of beliefs.
Website feedback lines: The building is a mosque. · The building is a church. · The visual emphasises respectful discussion.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Islamic Celebrations — Eid, Ramadan and Religious Occasions”)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two Eids and the family). Then turn each into a passive: تُقَامُ صَلَاةُ العِيدِ · تُتَبَادَلُ الهَدَايَا. The other website cards (a birthday, a graduation, gifts) lead into TE-L07.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Islamic Celebrations — Eid, Ramadan and Religious Occasions”)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two Eids and the family). Then turn each into a passive: تُقَامُ صَلَاةُ العِيدِ · تُتَبَادَلُ الهَدَايَا. The other website cards (a birthday, a graduation, gifts) lead into TE-L07.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passive sentence about YOUR family’s Ramadan or 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passive sentence about YOUR family’s Ramadan or 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in TE-L05 — the engine’s Ramadan and Eid listening / writing are the main tasks of TE-L06. Use here only as an extension.
LISTENING (4 min) — website script. Read it aloud yourself, twice, at natural speed with pauses.
Before listening: students read the questions (● 30s). Core: questions 1, 4 and 5. Develop / Stretch: all 5 — and list the passive verbs you hear.
Listen 1: just listen. Listen 2: note answers. Then chat the letters.
Support: after the second listening, show the read-along slide (Arabic + English, line by line) for Core students.
SCRIPT (read aloud):
فِي رَمَضَانَ يَصُومُ المُسْلِمُونَ مِنَ الفَجْرِ إِلَى المَغْرِبِ، ثُمَّ يُفْطِرُونَ مَعًا. عِنْدَنَا تُعَدُّ المَائِدَةُ قَبْلَ المَغْرِبِ بِقَلِيلٍ، وَيَجْتَمِعُ الأَقَارِبُ وَالجِيرَانُ. وَفِي بَعْضِ البُلْدَانِ تُزَيَّنُ الشَّوَارِعُ بِالفَوَانِيسِ، وَلٰكِنْ لَيْسَ دَائِمًا؛ فَالعَادَاتُ تَخْتَلِفُ. أَنَا صُمْتُ لِأَوَّلِ مَرَّةٍ عِنْدَمَا كُنْتُ فِي السَّابِعَةِ، وَكَانَتْ تَجْرِبَةً لَا تُنْسَى. وَفِي عِيدِ الفِطْرِ تُقَامُ صَلَاةُ العِيدِ صَبَاحًا، وَتُتَبَادَلُ التَّهَانِي، وَتُوَزَّعُ الحَلْوَى عَلَى الجِيرَانِ، وَيَأْخُذُ الأَطْفَالُ العِيدِيَّةَ.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E APPLICATION CHALLENGE (8 min — it takes the speaking-rehearsal slot; the website speaking slide after it is FLEX) — from the website Topic page: “Match neutral vocabulary for faith, belief, community and places of worship to short factual descriptions, then compare two statements respectfully without making value judgements.”
Website Topic E challenge “Belief and place vocabulary match”: match neutral vocabulary for faith, belief, community and places of worship to short factual descriptions, then compare two statements respectfully without value judgements. Descriptions: يُصَلِّي فِيهِ المُسْلِمُونَ (مَسْجِدٌ) · يُصَلِّي فِيهَا المَسِيحِيُّونَ (كَنِيسَةٌ) · يُصَلِّي فِيهِ اليَهُودُ (كَنِيسٌ) · مَكَانُ عِبَادَةٍ عِنْدَ الهِنْدُوسِ وَالبُوذِيِّينَ (مَعْبَدٌ) · مَا يُؤْمِنُ بِهِ الإِنْسَانُ (مُعْتَقَدٌ) · مَجْمُوعَةٌ مِنَ النَّاسِ تَعِيشُ مَعًا (مُجْتَمَعٌ) · الصَّلَاةُ وَالصِّيَامُ مِنْهَا (عِبَادَةٌ) · نُعَامِلُ الآخَرِينَ بِأَدَبٍ (احْتِرَامٌ). Statements to compare: يُصَلِّي المُسْلِمُونَ خَمْسَ مَرَّاتٍ فِي اليَوْمِ · يَذْهَبُ كَثِيرٌ مِنَ المَسِيحِيِّينَ إِلَى الكَنِيسَةِ يَوْمَ الأَحَدِ.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E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حَضَرْتَ مُنَاسَبَةً بِنَفْسِكَ؟ (And have you attended an occasion yourself?)
B: نَعَمْ، صُمْتُ لِأَوَّلِ مَرَّةٍ وَأَنَا صَغِيرٌ، وَزُرْنَا الأَقَارِبَ فِي أَوَّلِ أَيَّامِ العِيدِ. (Yes, I fasted for the first time when I was little, and we visited relatives on the first day of Eid.)
Website prompts and model: general custom (present + passive + hedge) → personal memory (past, hollow verb). Invite students to compare Ramadan in their family’s country of origin with Ramadan here. To a girl: صِفِي · أَعْطِي · حَضَرْتِهَا · مُسْتَعْمِلَةً.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in TE-L05 — the engine’s Ramadan and Eid listening / writing are the main tasks of TE-L06. Use here only as an extension.
YOU DO (9 min writing). Steer routes using the Do Now and quick-check results.
Website differentiation tasks: Core — Write six sentences naming Ramadan and Eid customs in the present tense. · Develop — Add two passive verbs with accurate nominative subjects. · Stretch — Add a past-tense personal memory and a hedge that acknowledges regional difference.
Website writing task (Stretch): Write eighty to ninety words describing Ramadan and Eid. Use the present tense for the general customs, at least two passive verbs, one past-tense sentence about a personal or observed experience, and one hedge acknowledging that customs differ.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in TE-L05 — the engine’s Ramadan and Eid listening / writing are the main tasks of TE-L06. Use here only as an extension.
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in TE-L05 — the engine’s Ramadan and Eid listening / writing are the main tasks of TE-L06. Use here only as an extension.
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in TE-L05 — the engine’s Ramadan and Eid listening / writing are the main tasks of TE-L06. Use here only as an extension.
FEEDBACK (1 min) — website model answer, with an English translation for Core students.
Students find in the model (● 20s → ◎) the four items on the chips. Website writing model. Evidence: يَصُومُ · يَبْدَأُ · تُعَدُّ · تُوَزَّعُ · تُزَيَّنُ · تُقَامُ · تُتَبَادَلُ (passives) · فِي بَعْضِ البُلْدَانِ … لَيْسَ دَائِمًا · زُرْنَا … وَكَانَ يَوْمًا جَمِيلًا.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(TE-L06 · Faith Celebrations and Special Occasions) will spend class time USING this language, so students prepare it tonight — short, simple, easy to access (school guidance: “Simple, Short, Interesting, Relevant, Easy to access”). TE-L06 uses the same website engine; its Do Now tests these five words (teacher-chosen bridge from faiths to celebrations).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TE-L05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50" b="1" dirty="0">
                <a:solidFill>
                  <a:srgbClr val="FFFFFF"/>
                </a:solidFill>
                <a:latin typeface="Cambria" pitchFamily="34" charset="0"/>
                <a:cs typeface="Amiri" pitchFamily="2" charset="-78"/>
              </a:rPr>
              <a:t>Faiths, Beliefs and Places of Worship</a:t>
            </a:r>
            <a:endParaRPr lang="en-US" sz="29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الأَدْيَانُ وَالمُعْتَقَدَاتُ وَدُورُ العِبَادَةِ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Use respectful factual language to understand and describe familiar faith contexts.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TE-L05 · Advanced Topic E · The International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52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cultural passive; present for custom, past for memory.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Ramadan / Eid / passive, fix slips, then a family’s Ramadan and Eid.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TE-L06.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52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السَّحُورُ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evening meal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pre-dawn meal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crescent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عِيدِيَّةٌ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Eid money for children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Eid prayer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Eid sweets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الإِفْطَارُ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fasting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night prayer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iftar, the evening meal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تَحْتَفِلُ العَائِلَةُ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 past of </a:t>
            </a:r>
            <a:pPr algn="l" indent="0" marL="0">
              <a:buNone/>
            </a:pPr>
            <a:r>
              <a:rPr lang="ar-SA" altLang="en-US" sz="1650" b="1" dirty="0">
                <a:solidFill>
                  <a:srgbClr val="1B3B6F"/>
                </a:solidFill>
                <a:latin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زَارْتُ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أَزُورُ</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52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السَّحُورُ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evening meal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pre-dawn meal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crescent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(TE-L04).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عِيدِيَّةٌ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Eid money for children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Eid prayer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Eid sweets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(TE-L04).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الإِفْطَارُ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fasting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night prayer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iftar, the evening meal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(TE-L04).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تَحْتَفِلُ العَائِلَةُ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TE-L04: yaḥtafilu bi-.</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 past of </a:t>
            </a:r>
            <a:pPr algn="l" indent="0" marL="0">
              <a:buNone/>
            </a:pPr>
            <a:r>
              <a:rPr lang="ar-SA" altLang="en-US" sz="1650" b="1" dirty="0">
                <a:solidFill>
                  <a:srgbClr val="1B3B6F"/>
                </a:solidFill>
                <a:latin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زُرْتُ</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زَارْتُ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أَزُورُ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earlier work: hollow verbs (</a:t>
            </a:r>
            <a:pPr algn="l" indent="0" marL="0">
              <a:buNone/>
            </a:pPr>
            <a:r>
              <a:rPr lang="ar-SA" altLang="en-US" sz="1350" dirty="0">
                <a:solidFill>
                  <a:srgbClr val="8A6D1E"/>
                </a:solidFill>
                <a:latin typeface="Amiri" pitchFamily="2" charset="-78"/>
                <a:cs typeface="Amiri" pitchFamily="2" charset="-78"/>
              </a:rPr>
              <a:t>صَامَ</a:t>
            </a:r>
            <a:pPr algn="l" indent="0" marL="0">
              <a:buNone/>
            </a:pPr>
            <a:r>
              <a:rPr lang="en-US" sz="1050" i="1" dirty="0">
                <a:solidFill>
                  <a:srgbClr val="8A6D1E"/>
                </a:solidFill>
                <a:latin typeface="Calibri" pitchFamily="34" charset="0"/>
                <a:cs typeface="Amiri" pitchFamily="2" charset="-78"/>
              </a:rPr>
              <a:t> works the same way).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passive puts the CUSTOM first — the doer disappears.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يُزَيِّنُ النَّاسُ الشَّوَارِعَ ← </a:t>
            </a:r>
            <a:pPr rtl="1" algn="ctr" indent="0" marL="0">
              <a:lnSpc>
                <a:spcPct val="120000"/>
              </a:lnSpc>
              <a:buNone/>
            </a:pPr>
            <a:r>
              <a:rPr lang="ar-SA" altLang="en-US" sz="1950" b="1" dirty="0">
                <a:solidFill>
                  <a:srgbClr val="0E7C86"/>
                </a:solidFill>
                <a:latin typeface="Amiri" pitchFamily="2" charset="-78"/>
                <a:cs typeface="Amiri" pitchFamily="2" charset="-78"/>
              </a:rPr>
              <a:t>تُزَيَّنُ</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D6336C"/>
                </a:solidFill>
                <a:latin typeface="Amiri" pitchFamily="2" charset="-78"/>
                <a:cs typeface="Amiri" pitchFamily="2" charset="-78"/>
              </a:rPr>
              <a:t>الشَّوَارِعُ</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52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places of worship and the people who use them (m. / f. / pl.).</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 place of worship with a nominal sentence and a relative clause (makān yuṣallī fīhi …).</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two statements about faith practices respectfully, without value judgements.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Preview how a faith marks its celebrations (Ramadan and Eid — the full lesson is TE-L06).</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four places of worship.</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who prays there.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 relative clause with fīhi / fīhā.</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m. / f. / pl. forms for people.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practices with baynamā.</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hedge (baʿḍ / kathīr min) and avoid judgements.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52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29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Ramadan · 11</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The two Eids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cultural passive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رَمَضَانُ · صَوْمٌ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‎رمضان · روزہ‎ </a:t>
            </a:r>
            <a:pPr indent="0" marL="0">
              <a:buNone/>
            </a:pPr>
            <a:r>
              <a:rPr lang="en-US" sz="950" b="1" dirty="0">
                <a:solidFill>
                  <a:srgbClr val="2E8B57"/>
                </a:solidFill>
                <a:latin typeface="Calibri" pitchFamily="34" charset="0"/>
                <a:cs typeface="Amiri" pitchFamily="2" charset="-78"/>
              </a:rPr>
              <a:t> rōza · Ramadan · fasting (Urdu roza is Persian)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الإِفْطَارُ · السَّحُورُ</a:t>
            </a:r>
            <a:endParaRPr lang="ar-SA" sz="175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‎افطار · سحری‎ </a:t>
            </a:r>
            <a:pPr indent="0" marL="0">
              <a:buNone/>
            </a:pPr>
            <a:r>
              <a:rPr lang="en-US" sz="950" b="1" dirty="0">
                <a:solidFill>
                  <a:srgbClr val="2E8B57"/>
                </a:solidFill>
                <a:latin typeface="Calibri" pitchFamily="34" charset="0"/>
                <a:cs typeface="Amiri" pitchFamily="2" charset="-78"/>
              </a:rPr>
              <a:t> iftār · sehrī · iftar · suhoor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عِيدِيَّةٌ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‎عیدی‎ </a:t>
            </a:r>
            <a:pPr indent="0" marL="0">
              <a:buNone/>
            </a:pPr>
            <a:r>
              <a:rPr lang="en-US" sz="950" b="1" dirty="0">
                <a:solidFill>
                  <a:srgbClr val="2E8B57"/>
                </a:solidFill>
                <a:latin typeface="Calibri" pitchFamily="34" charset="0"/>
                <a:cs typeface="Amiri" pitchFamily="2" charset="-78"/>
              </a:rPr>
              <a:t> ʿīdī · Eid money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صَدَقَةٌ · زَكَاةُ الفِطْرِ</a:t>
            </a:r>
            <a:endParaRPr lang="ar-SA" sz="16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‎صدقہ · فطرانہ‎ </a:t>
            </a:r>
            <a:pPr indent="0" marL="0">
              <a:buNone/>
            </a:pPr>
            <a:r>
              <a:rPr lang="en-US" sz="950" b="1" dirty="0">
                <a:solidFill>
                  <a:srgbClr val="2E8B57"/>
                </a:solidFill>
                <a:latin typeface="Calibri" pitchFamily="34" charset="0"/>
                <a:cs typeface="Amiri" pitchFamily="2" charset="-78"/>
              </a:rPr>
              <a:t> fiṭrāna · charity · zakat al-Fitr</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التَّرَاوِيحُ · لَيْلَةُ القَدْرِ</a:t>
            </a:r>
            <a:endParaRPr lang="ar-SA" sz="13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‎تراویح · شبِ قدر‎ </a:t>
            </a:r>
            <a:pPr indent="0" marL="0">
              <a:buNone/>
            </a:pPr>
            <a:r>
              <a:rPr lang="en-US" sz="950" b="1" dirty="0">
                <a:solidFill>
                  <a:srgbClr val="2E8B57"/>
                </a:solidFill>
                <a:latin typeface="Calibri" pitchFamily="34" charset="0"/>
                <a:cs typeface="Amiri" pitchFamily="2" charset="-78"/>
              </a:rPr>
              <a:t> shab-e-qadr · Tarawih · Laylat al-Qadr</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52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Ramadan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رَمَضَانُ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Ramadan</a:t>
            </a:r>
            <a:endParaRPr lang="en-US" sz="1350" dirty="0"/>
          </a:p>
          <a:p>
            <a:pPr indent="0" marL="0">
              <a:buNone/>
            </a:pPr>
            <a:r>
              <a:rPr lang="en-US" sz="1100" i="1" dirty="0">
                <a:solidFill>
                  <a:srgbClr val="5A6472"/>
                </a:solidFill>
                <a:latin typeface="Calibri" pitchFamily="34" charset="0"/>
                <a:cs typeface="Amiri" pitchFamily="2" charset="-78"/>
              </a:rPr>
              <a:t>ra-ma-ḍā-nu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diptote: </a:t>
            </a:r>
            <a:pPr algn="l" indent="0" marL="0">
              <a:buNone/>
            </a:pPr>
            <a:r>
              <a:rPr lang="ar-SA" altLang="en-US" sz="1300" dirty="0">
                <a:solidFill>
                  <a:srgbClr val="8A6D1E"/>
                </a:solidFill>
                <a:latin typeface="Amiri" pitchFamily="2" charset="-78"/>
                <a:cs typeface="Amiri" pitchFamily="2" charset="-78"/>
              </a:rPr>
              <a:t>فِي رَمَضَانَ</a:t>
            </a:r>
            <a:pPr algn="l" indent="0" marL="0">
              <a:buNone/>
            </a:pPr>
            <a:r>
              <a:rPr lang="en-US" sz="1000" i="1" dirty="0">
                <a:solidFill>
                  <a:srgbClr val="8A6D1E"/>
                </a:solidFill>
                <a:latin typeface="Calibri" pitchFamily="34" charset="0"/>
                <a:cs typeface="Amiri" pitchFamily="2" charset="-78"/>
              </a:rPr>
              <a:t>, never </a:t>
            </a:r>
            <a:pPr algn="l" indent="0" marL="0">
              <a:buNone/>
            </a:pPr>
            <a:r>
              <a:rPr lang="ar-SA" altLang="en-US" sz="1300" dirty="0">
                <a:solidFill>
                  <a:srgbClr val="8A6D1E"/>
                </a:solidFill>
                <a:latin typeface="Amiri" pitchFamily="2" charset="-78"/>
                <a:cs typeface="Amiri" pitchFamily="2" charset="-78"/>
              </a:rPr>
              <a:t>رَمَضَانٍ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4782312" y="1938528"/>
            <a:ext cx="1704442"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70444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Both forms are current.</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الصِّيَامُ / الصَّوْمُ</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fasting</a:t>
            </a:r>
            <a:endParaRPr lang="en-US" sz="1350" dirty="0"/>
          </a:p>
          <a:p>
            <a:pPr indent="0" marL="0">
              <a:buNone/>
            </a:pPr>
            <a:r>
              <a:rPr lang="en-US" sz="1100" i="1" dirty="0">
                <a:solidFill>
                  <a:srgbClr val="5A6472"/>
                </a:solidFill>
                <a:latin typeface="Calibri" pitchFamily="34" charset="0"/>
                <a:cs typeface="Amiri" pitchFamily="2" charset="-78"/>
              </a:rPr>
              <a:t>aṣ-ṣi-yā-mu / aṣ-ṣaw-mu</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we · she</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يَصُومُ / صَامَ</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fasts / fasted</a:t>
            </a:r>
            <a:endParaRPr lang="en-US" sz="1350" dirty="0"/>
          </a:p>
          <a:p>
            <a:pPr indent="0" marL="0">
              <a:buNone/>
            </a:pPr>
            <a:r>
              <a:rPr lang="en-US" sz="1100" i="1" dirty="0">
                <a:solidFill>
                  <a:srgbClr val="5A6472"/>
                </a:solidFill>
                <a:latin typeface="Calibri" pitchFamily="34" charset="0"/>
                <a:cs typeface="Amiri" pitchFamily="2" charset="-78"/>
              </a:rPr>
              <a:t>ya-ṣū-mu / ṣā-ma</a:t>
            </a:r>
            <a:endParaRPr lang="en-US" sz="1350" dirty="0"/>
          </a:p>
        </p:txBody>
      </p:sp>
      <p:sp>
        <p:nvSpPr>
          <p:cNvPr id="41" name="Shape 38"/>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صَامَتْ</a:t>
            </a:r>
            <a:endParaRPr lang="ar-SA" sz="1500" dirty="0"/>
          </a:p>
        </p:txBody>
      </p:sp>
      <p:sp>
        <p:nvSpPr>
          <p:cNvPr id="44" name="Shape 41"/>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6" name="Text 43"/>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صُمْنَا</a:t>
            </a:r>
            <a:endParaRPr lang="ar-SA" sz="1500" dirty="0"/>
          </a:p>
        </p:txBody>
      </p:sp>
      <p:sp>
        <p:nvSpPr>
          <p:cNvPr id="47" name="Shape 44"/>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9" name="Text 46"/>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صُمْتُ</a:t>
            </a:r>
            <a:endParaRPr lang="ar-SA" sz="1500" dirty="0"/>
          </a:p>
        </p:txBody>
      </p:sp>
      <p:sp>
        <p:nvSpPr>
          <p:cNvPr id="50" name="Shape 4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8211312"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3" name="Shape 5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past · we</a:t>
            </a:r>
            <a:endParaRPr lang="en-US" sz="800" dirty="0"/>
          </a:p>
        </p:txBody>
      </p:sp>
      <p:sp>
        <p:nvSpPr>
          <p:cNvPr id="55" name="Text 5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يُفْطِرُ</a:t>
            </a:r>
            <a:endParaRPr lang="ar-SA" sz="3000" dirty="0"/>
          </a:p>
        </p:txBody>
      </p:sp>
      <p:sp>
        <p:nvSpPr>
          <p:cNvPr id="56" name="Text 5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breaks the fast</a:t>
            </a:r>
            <a:endParaRPr lang="en-US" sz="1350" dirty="0"/>
          </a:p>
          <a:p>
            <a:pPr indent="0" marL="0">
              <a:buNone/>
            </a:pPr>
            <a:r>
              <a:rPr lang="en-US" sz="1100" i="1" dirty="0">
                <a:solidFill>
                  <a:srgbClr val="5A6472"/>
                </a:solidFill>
                <a:latin typeface="Calibri" pitchFamily="34" charset="0"/>
                <a:cs typeface="Amiri" pitchFamily="2" charset="-78"/>
              </a:rPr>
              <a:t>yuf-ṭi-ru</a:t>
            </a:r>
            <a:endParaRPr lang="en-US" sz="1350" dirty="0"/>
          </a:p>
        </p:txBody>
      </p:sp>
      <p:sp>
        <p:nvSpPr>
          <p:cNvPr id="57" name="Shape 5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9" name="Text 5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أَفْطَرْنَا</a:t>
            </a:r>
            <a:endParaRPr lang="ar-SA" sz="1500" dirty="0"/>
          </a:p>
        </p:txBody>
      </p:sp>
      <p:sp>
        <p:nvSpPr>
          <p:cNvPr id="60" name="Shape 5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62" name="Text 59"/>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أَفْطَرَ</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الإِفْطَارُ</a:t>
            </a:r>
            <a:endParaRPr lang="ar-SA" sz="3000" dirty="0"/>
          </a:p>
        </p:txBody>
      </p:sp>
      <p:sp>
        <p:nvSpPr>
          <p:cNvPr id="69" name="Text 6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iftar, the evening meal</a:t>
            </a:r>
            <a:endParaRPr lang="en-US" sz="1350" dirty="0"/>
          </a:p>
          <a:p>
            <a:pPr indent="0" marL="0">
              <a:buNone/>
            </a:pPr>
            <a:r>
              <a:rPr lang="en-US" sz="1100" i="1" dirty="0">
                <a:solidFill>
                  <a:srgbClr val="5A6472"/>
                </a:solidFill>
                <a:latin typeface="Calibri" pitchFamily="34" charset="0"/>
                <a:cs typeface="Amiri" pitchFamily="2" charset="-78"/>
              </a:rPr>
              <a:t>al-if-ṭā-ru</a:t>
            </a:r>
            <a:endParaRPr lang="en-US" sz="1350" dirty="0"/>
          </a:p>
        </p:txBody>
      </p:sp>
      <p:sp>
        <p:nvSpPr>
          <p:cNvPr id="70" name="Shape 6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566928"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3" name="Shape 7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4" name="Text 7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5" name="Text 7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السَّحُورُ</a:t>
            </a:r>
            <a:endParaRPr lang="ar-SA" sz="3000" dirty="0"/>
          </a:p>
        </p:txBody>
      </p:sp>
      <p:sp>
        <p:nvSpPr>
          <p:cNvPr id="76" name="Text 7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suhoor, the pre-dawn meal</a:t>
            </a:r>
            <a:endParaRPr lang="en-US" sz="1350" dirty="0"/>
          </a:p>
          <a:p>
            <a:pPr indent="0" marL="0">
              <a:buNone/>
            </a:pPr>
            <a:r>
              <a:rPr lang="en-US" sz="1100" i="1" dirty="0">
                <a:solidFill>
                  <a:srgbClr val="5A6472"/>
                </a:solidFill>
                <a:latin typeface="Calibri" pitchFamily="34" charset="0"/>
                <a:cs typeface="Amiri" pitchFamily="2" charset="-78"/>
              </a:rPr>
              <a:t>as-sa-ḥū-ru</a:t>
            </a:r>
            <a:endParaRPr lang="en-US" sz="13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52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Ramadan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الهِلَالُ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crescent moon</a:t>
            </a:r>
            <a:endParaRPr lang="en-US" sz="1350" dirty="0"/>
          </a:p>
          <a:p>
            <a:pPr indent="0" marL="0">
              <a:buNone/>
            </a:pPr>
            <a:r>
              <a:rPr lang="en-US" sz="1100" i="1" dirty="0">
                <a:solidFill>
                  <a:srgbClr val="5A6472"/>
                </a:solidFill>
                <a:latin typeface="Calibri" pitchFamily="34" charset="0"/>
                <a:cs typeface="Amiri" pitchFamily="2" charset="-78"/>
              </a:rPr>
              <a:t>al-hi-lā-lu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Its sighting marks the start of the month.</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الفَوَانِيسُ</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lanterns</a:t>
            </a:r>
            <a:endParaRPr lang="en-US" sz="1350" dirty="0"/>
          </a:p>
          <a:p>
            <a:pPr indent="0" marL="0">
              <a:buNone/>
            </a:pPr>
            <a:r>
              <a:rPr lang="en-US" sz="1100" i="1" dirty="0">
                <a:solidFill>
                  <a:srgbClr val="5A6472"/>
                </a:solidFill>
                <a:latin typeface="Calibri" pitchFamily="34" charset="0"/>
                <a:cs typeface="Amiri" pitchFamily="2" charset="-78"/>
              </a:rPr>
              <a:t>al-fa-wā-nī-su</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Plural of </a:t>
            </a:r>
            <a:pPr algn="l" indent="0" marL="0">
              <a:buNone/>
            </a:pPr>
            <a:r>
              <a:rPr lang="ar-SA" altLang="en-US" sz="1300" dirty="0">
                <a:solidFill>
                  <a:srgbClr val="8A6D1E"/>
                </a:solidFill>
                <a:latin typeface="Amiri" pitchFamily="2" charset="-78"/>
                <a:cs typeface="Amiri" pitchFamily="2" charset="-78"/>
              </a:rPr>
              <a:t>فَانُوسٌ</a:t>
            </a:r>
            <a:pPr algn="l" indent="0" marL="0">
              <a:buNone/>
            </a:pPr>
            <a:r>
              <a:rPr lang="en-US" sz="1000" i="1" dirty="0">
                <a:solidFill>
                  <a:srgbClr val="8A6D1E"/>
                </a:solidFill>
                <a:latin typeface="Calibri" pitchFamily="34" charset="0"/>
                <a:cs typeface="Amiri" pitchFamily="2" charset="-78"/>
              </a:rPr>
              <a:t>; a diptote.</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لَيْلَةُ القَدْرِ</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Laylat al-Qadr</a:t>
            </a:r>
            <a:endParaRPr lang="en-US" sz="1350" dirty="0"/>
          </a:p>
          <a:p>
            <a:pPr indent="0" marL="0">
              <a:buNone/>
            </a:pPr>
            <a:r>
              <a:rPr lang="en-US" sz="1100" i="1" dirty="0">
                <a:solidFill>
                  <a:srgbClr val="5A6472"/>
                </a:solidFill>
                <a:latin typeface="Calibri" pitchFamily="34" charset="0"/>
                <a:cs typeface="Amiri" pitchFamily="2" charset="-78"/>
              </a:rPr>
              <a:t>lay-la-tu al-qad-ri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يُصَلِّي التَّرَاوِيحَ</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prays Tarawih</a:t>
            </a:r>
            <a:endParaRPr lang="en-US" sz="1350" dirty="0"/>
          </a:p>
          <a:p>
            <a:pPr indent="0" marL="0">
              <a:buNone/>
            </a:pPr>
            <a:r>
              <a:rPr lang="en-US" sz="1100" i="1" dirty="0">
                <a:solidFill>
                  <a:srgbClr val="5A6472"/>
                </a:solidFill>
                <a:latin typeface="Calibri" pitchFamily="34" charset="0"/>
                <a:cs typeface="Amiri" pitchFamily="2" charset="-78"/>
              </a:rPr>
              <a:t>yu-ṣal-lī at-ta-rā-wī-ḥa</a:t>
            </a:r>
            <a:endParaRPr lang="en-US" sz="1350" dirty="0"/>
          </a:p>
        </p:txBody>
      </p:sp>
      <p:sp>
        <p:nvSpPr>
          <p:cNvPr id="41" name="Text 38"/>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Night prayers during Ramadan.</a:t>
            </a:r>
            <a:endParaRPr lang="en-US" sz="1000" dirty="0"/>
          </a:p>
        </p:txBody>
      </p:sp>
      <p:sp>
        <p:nvSpPr>
          <p:cNvPr id="42" name="Shape 3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389120"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5" name="Text 4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رُوحُ رَمَضَانَ</a:t>
            </a:r>
            <a:endParaRPr lang="ar-SA" sz="3000" dirty="0"/>
          </a:p>
        </p:txBody>
      </p:sp>
      <p:sp>
        <p:nvSpPr>
          <p:cNvPr id="46" name="Text 4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spirit of Ramadan</a:t>
            </a:r>
            <a:endParaRPr lang="en-US" sz="1350" dirty="0"/>
          </a:p>
          <a:p>
            <a:pPr indent="0" marL="0">
              <a:buNone/>
            </a:pPr>
            <a:r>
              <a:rPr lang="en-US" sz="1100" i="1" dirty="0">
                <a:solidFill>
                  <a:srgbClr val="5A6472"/>
                </a:solidFill>
                <a:latin typeface="Calibri" pitchFamily="34" charset="0"/>
                <a:cs typeface="Amiri" pitchFamily="2" charset="-78"/>
              </a:rPr>
              <a:t>rū-ḥu ra-ma-ḍā-na</a:t>
            </a:r>
            <a:endParaRPr lang="en-US" sz="1350" dirty="0"/>
          </a:p>
        </p:txBody>
      </p:sp>
      <p:sp>
        <p:nvSpPr>
          <p:cNvPr id="47" name="Text 44"/>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Note the diptote in the iḍāfa.</a:t>
            </a:r>
            <a:endParaRPr lang="en-US" sz="10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52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two Eids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عِيدُ الفِطْرِ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Eid al-Fitr</a:t>
            </a:r>
            <a:endParaRPr lang="en-US" sz="1350" dirty="0"/>
          </a:p>
          <a:p>
            <a:pPr indent="0" marL="0">
              <a:buNone/>
            </a:pPr>
            <a:r>
              <a:rPr lang="en-US" sz="1100" i="1" dirty="0">
                <a:solidFill>
                  <a:srgbClr val="5A6472"/>
                </a:solidFill>
                <a:latin typeface="Calibri" pitchFamily="34" charset="0"/>
                <a:cs typeface="Amiri" pitchFamily="2" charset="-78"/>
              </a:rPr>
              <a:t>ʿī-du al-fiṭ-ri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Marks the end of Ramadan.</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عِيدُ الأَضْحَى</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Eid al-Adha</a:t>
            </a:r>
            <a:endParaRPr lang="en-US" sz="1350" dirty="0"/>
          </a:p>
          <a:p>
            <a:pPr indent="0" marL="0">
              <a:buNone/>
            </a:pPr>
            <a:r>
              <a:rPr lang="en-US" sz="1100" i="1" dirty="0">
                <a:solidFill>
                  <a:srgbClr val="5A6472"/>
                </a:solidFill>
                <a:latin typeface="Calibri" pitchFamily="34" charset="0"/>
                <a:cs typeface="Amiri" pitchFamily="2" charset="-78"/>
              </a:rPr>
              <a:t>ʿī-du al-aḍ-ḥā</a:t>
            </a:r>
            <a:endParaRPr lang="en-US" sz="135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3" name="Shape 3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صَلَاةُ العِيدِ</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Eid prayer</a:t>
            </a:r>
            <a:endParaRPr lang="en-US" sz="1350" dirty="0"/>
          </a:p>
          <a:p>
            <a:pPr indent="0" marL="0">
              <a:buNone/>
            </a:pPr>
            <a:r>
              <a:rPr lang="en-US" sz="1100" i="1" dirty="0">
                <a:solidFill>
                  <a:srgbClr val="5A6472"/>
                </a:solidFill>
                <a:latin typeface="Calibri" pitchFamily="34" charset="0"/>
                <a:cs typeface="Amiri" pitchFamily="2" charset="-78"/>
              </a:rPr>
              <a:t>ṣa-lā-tu al-ʿī-di</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تَكْبِيرَاتُ العِيدِ</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Eid takbirs</a:t>
            </a:r>
            <a:endParaRPr lang="en-US" sz="1350" dirty="0"/>
          </a:p>
          <a:p>
            <a:pPr indent="0" marL="0">
              <a:buNone/>
            </a:pPr>
            <a:r>
              <a:rPr lang="en-US" sz="1100" i="1" dirty="0">
                <a:solidFill>
                  <a:srgbClr val="5A6472"/>
                </a:solidFill>
                <a:latin typeface="Calibri" pitchFamily="34" charset="0"/>
                <a:cs typeface="Amiri" pitchFamily="2" charset="-78"/>
              </a:rPr>
              <a:t>tak-bī-rā-tu al-ʿī-di</a:t>
            </a:r>
            <a:endParaRPr lang="en-US" sz="1350" dirty="0"/>
          </a:p>
        </p:txBody>
      </p:sp>
      <p:sp>
        <p:nvSpPr>
          <p:cNvPr id="42" name="Shape 3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389120"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5" name="Shape 4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زَكَاةُ الفِطْرِ</a:t>
            </a:r>
            <a:endParaRPr lang="ar-SA" sz="3000" dirty="0"/>
          </a:p>
        </p:txBody>
      </p:sp>
      <p:sp>
        <p:nvSpPr>
          <p:cNvPr id="48" name="Text 4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zakat al-Fitr</a:t>
            </a:r>
            <a:endParaRPr lang="en-US" sz="1350" dirty="0"/>
          </a:p>
          <a:p>
            <a:pPr indent="0" marL="0">
              <a:buNone/>
            </a:pPr>
            <a:r>
              <a:rPr lang="en-US" sz="1100" i="1" dirty="0">
                <a:solidFill>
                  <a:srgbClr val="5A6472"/>
                </a:solidFill>
                <a:latin typeface="Calibri" pitchFamily="34" charset="0"/>
                <a:cs typeface="Amiri" pitchFamily="2" charset="-78"/>
              </a:rPr>
              <a:t>za-kā-tu al-fiṭ-ri</a:t>
            </a:r>
            <a:endParaRPr lang="en-US" sz="1350" dirty="0"/>
          </a:p>
        </p:txBody>
      </p:sp>
      <p:sp>
        <p:nvSpPr>
          <p:cNvPr id="49" name="Text 46"/>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Charity given before the Eid prayer.</a:t>
            </a:r>
            <a:endParaRPr lang="en-US" sz="10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52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two Eids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عِيدِيَّةٌ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Eid money given to children</a:t>
            </a:r>
            <a:endParaRPr lang="en-US" sz="1350" dirty="0"/>
          </a:p>
          <a:p>
            <a:pPr indent="0" marL="0">
              <a:buNone/>
            </a:pPr>
            <a:r>
              <a:rPr lang="en-US" sz="1100" i="1" dirty="0">
                <a:solidFill>
                  <a:srgbClr val="5A6472"/>
                </a:solidFill>
                <a:latin typeface="Calibri" pitchFamily="34" charset="0"/>
                <a:cs typeface="Amiri" pitchFamily="2" charset="-78"/>
              </a:rPr>
              <a:t>ʿī-diy-ya-tun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7" name="Shape 24"/>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past · we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يَتَصَدَّقُ</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gives charity</a:t>
            </a:r>
            <a:endParaRPr lang="en-US" sz="1350" dirty="0"/>
          </a:p>
          <a:p>
            <a:pPr indent="0" marL="0">
              <a:buNone/>
            </a:pPr>
            <a:r>
              <a:rPr lang="en-US" sz="1100" i="1" dirty="0">
                <a:solidFill>
                  <a:srgbClr val="5A6472"/>
                </a:solidFill>
                <a:latin typeface="Calibri" pitchFamily="34" charset="0"/>
                <a:cs typeface="Amiri" pitchFamily="2" charset="-78"/>
              </a:rPr>
              <a:t>ya-ta-ṣad-da-qu</a:t>
            </a:r>
            <a:endParaRPr lang="en-US" sz="1350" dirty="0"/>
          </a:p>
        </p:txBody>
      </p:sp>
      <p:sp>
        <p:nvSpPr>
          <p:cNvPr id="31" name="Shape 2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3" name="Text 3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تَصَدَّقْنَا</a:t>
            </a:r>
            <a:endParaRPr lang="ar-SA" sz="1500" dirty="0"/>
          </a:p>
        </p:txBody>
      </p:sp>
      <p:sp>
        <p:nvSpPr>
          <p:cNvPr id="34" name="Shape 3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36" name="Text 33"/>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تَصَدَّقَ</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0" name="Shape 37"/>
          <p:cNvSpPr/>
          <p:nvPr/>
        </p:nvSpPr>
        <p:spPr>
          <a:xfrm>
            <a:off x="960120" y="1938528"/>
            <a:ext cx="1580083"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Plural of تَهْنِئَةٌ.</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التَّهَانِي</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congratulations</a:t>
            </a:r>
            <a:endParaRPr lang="en-US" sz="1350" dirty="0"/>
          </a:p>
          <a:p>
            <a:pPr indent="0" marL="0">
              <a:buNone/>
            </a:pPr>
            <a:r>
              <a:rPr lang="en-US" sz="1100" i="1" dirty="0">
                <a:solidFill>
                  <a:srgbClr val="5A6472"/>
                </a:solidFill>
                <a:latin typeface="Calibri" pitchFamily="34" charset="0"/>
                <a:cs typeface="Amiri" pitchFamily="2" charset="-78"/>
              </a:rPr>
              <a:t>at-ta-hā-nī</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الحَلْوَى</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sweets</a:t>
            </a:r>
            <a:endParaRPr lang="en-US" sz="1350" dirty="0"/>
          </a:p>
          <a:p>
            <a:pPr indent="0" marL="0">
              <a:buNone/>
            </a:pPr>
            <a:r>
              <a:rPr lang="en-US" sz="1100" i="1" dirty="0">
                <a:solidFill>
                  <a:srgbClr val="5A6472"/>
                </a:solidFill>
                <a:latin typeface="Calibri" pitchFamily="34" charset="0"/>
                <a:cs typeface="Amiri" pitchFamily="2" charset="-78"/>
              </a:rPr>
              <a:t>al-ḥal-wā</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زِيَارَةُ الأَقَارِبِ</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visiting relatives</a:t>
            </a:r>
            <a:endParaRPr lang="en-US" sz="1350" dirty="0"/>
          </a:p>
          <a:p>
            <a:pPr indent="0" marL="0">
              <a:buNone/>
            </a:pPr>
            <a:r>
              <a:rPr lang="en-US" sz="1100" i="1" dirty="0">
                <a:solidFill>
                  <a:srgbClr val="5A6472"/>
                </a:solidFill>
                <a:latin typeface="Calibri" pitchFamily="34" charset="0"/>
                <a:cs typeface="Amiri" pitchFamily="2" charset="-78"/>
              </a:rPr>
              <a:t>zi-yā-ra-tu al-a-qā-ri-bi</a:t>
            </a:r>
            <a:endParaRPr lang="en-US"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52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cultural passive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 · f.</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يُزَيَّنُ</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decorated</a:t>
            </a:r>
            <a:endParaRPr lang="en-US" sz="1350" dirty="0"/>
          </a:p>
          <a:p>
            <a:pPr indent="0" marL="0">
              <a:buNone/>
            </a:pPr>
            <a:r>
              <a:rPr lang="en-US" sz="1100" i="1" dirty="0">
                <a:solidFill>
                  <a:srgbClr val="5A6472"/>
                </a:solidFill>
                <a:latin typeface="Calibri" pitchFamily="34" charset="0"/>
                <a:cs typeface="Amiri" pitchFamily="2" charset="-78"/>
              </a:rPr>
              <a:t>yu-zay-ya-nu</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تُزَيَّنُ</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27" name="Text 24"/>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يُزَيِّنُ</a:t>
            </a:r>
            <a:endParaRPr lang="ar-SA" sz="135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1" name="Shape 28"/>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تُتَبَادَلُ</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are exchanged</a:t>
            </a:r>
            <a:endParaRPr lang="en-US" sz="1350" dirty="0"/>
          </a:p>
          <a:p>
            <a:pPr indent="0" marL="0">
              <a:buNone/>
            </a:pPr>
            <a:r>
              <a:rPr lang="en-US" sz="1100" i="1" dirty="0">
                <a:solidFill>
                  <a:srgbClr val="5A6472"/>
                </a:solidFill>
                <a:latin typeface="Calibri" pitchFamily="34" charset="0"/>
                <a:cs typeface="Amiri" pitchFamily="2" charset="-78"/>
              </a:rPr>
              <a:t>tu-ta-bā-da-lu</a:t>
            </a:r>
            <a:endParaRPr lang="en-US" sz="1350" dirty="0"/>
          </a:p>
        </p:txBody>
      </p:sp>
      <p:sp>
        <p:nvSpPr>
          <p:cNvPr id="37" name="Shape 34"/>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39" name="Text 36"/>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يَتَبَادَلُ</a:t>
            </a:r>
            <a:endParaRPr lang="ar-SA"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3" name="Shape 40"/>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 · m.</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تُوَزَّعُ</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are distributed</a:t>
            </a:r>
            <a:endParaRPr lang="en-US" sz="1350" dirty="0"/>
          </a:p>
          <a:p>
            <a:pPr indent="0" marL="0">
              <a:buNone/>
            </a:pPr>
            <a:r>
              <a:rPr lang="en-US" sz="1100" i="1" dirty="0">
                <a:solidFill>
                  <a:srgbClr val="5A6472"/>
                </a:solidFill>
                <a:latin typeface="Calibri" pitchFamily="34" charset="0"/>
                <a:cs typeface="Amiri" pitchFamily="2" charset="-78"/>
              </a:rPr>
              <a:t>tu-waz-za-ʿu</a:t>
            </a:r>
            <a:endParaRPr lang="en-US" sz="1350" dirty="0"/>
          </a:p>
        </p:txBody>
      </p:sp>
      <p:sp>
        <p:nvSpPr>
          <p:cNvPr id="47" name="Shape 44"/>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9" name="Text 46"/>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يُوَزَّعُ</a:t>
            </a:r>
            <a:endParaRPr lang="ar-SA" sz="1500" dirty="0"/>
          </a:p>
        </p:txBody>
      </p:sp>
      <p:sp>
        <p:nvSpPr>
          <p:cNvPr id="50" name="Shape 47"/>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52" name="Text 49"/>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يُوَزِّعُ</a:t>
            </a:r>
            <a:endParaRPr lang="ar-SA" sz="135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تُقَامُ</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are held (of events)</a:t>
            </a:r>
            <a:endParaRPr lang="en-US" sz="1350" dirty="0"/>
          </a:p>
          <a:p>
            <a:pPr indent="0" marL="0">
              <a:buNone/>
            </a:pPr>
            <a:r>
              <a:rPr lang="en-US" sz="1100" i="1" dirty="0">
                <a:solidFill>
                  <a:srgbClr val="5A6472"/>
                </a:solidFill>
                <a:latin typeface="Calibri" pitchFamily="34" charset="0"/>
                <a:cs typeface="Amiri" pitchFamily="2" charset="-78"/>
              </a:rPr>
              <a:t>tu-qā-mu</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يُقِيمُ</a:t>
            </a:r>
            <a:endParaRPr lang="ar-SA"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52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cultural passive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يُعَدُّ</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prepared, is considered</a:t>
            </a:r>
            <a:endParaRPr lang="en-US" sz="1350" dirty="0"/>
          </a:p>
          <a:p>
            <a:pPr indent="0" marL="0">
              <a:buNone/>
            </a:pPr>
            <a:r>
              <a:rPr lang="en-US" sz="1100" i="1" dirty="0">
                <a:solidFill>
                  <a:srgbClr val="5A6472"/>
                </a:solidFill>
                <a:latin typeface="Calibri" pitchFamily="34" charset="0"/>
                <a:cs typeface="Amiri" pitchFamily="2" charset="-78"/>
              </a:rPr>
              <a:t>yu-ʿad-du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تَضَامُنٌ مُجْتَمَعِيٌّ</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community solidarity</a:t>
            </a:r>
            <a:endParaRPr lang="en-US" sz="1350" dirty="0"/>
          </a:p>
          <a:p>
            <a:pPr indent="0" marL="0">
              <a:buNone/>
            </a:pPr>
            <a:r>
              <a:rPr lang="en-US" sz="1100" i="1" dirty="0">
                <a:solidFill>
                  <a:srgbClr val="5A6472"/>
                </a:solidFill>
                <a:latin typeface="Calibri" pitchFamily="34" charset="0"/>
                <a:cs typeface="Amiri" pitchFamily="2" charset="-78"/>
              </a:rPr>
              <a:t>ta-ḍā-mu-nun muj-ta-ma-ʿiy-yun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مَائِدَةٌ</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dining table, spread</a:t>
            </a:r>
            <a:endParaRPr lang="en-US" sz="1350" dirty="0"/>
          </a:p>
          <a:p>
            <a:pPr indent="0" marL="0">
              <a:buNone/>
            </a:pPr>
            <a:r>
              <a:rPr lang="en-US" sz="1100" i="1" dirty="0">
                <a:solidFill>
                  <a:srgbClr val="5A6472"/>
                </a:solidFill>
                <a:latin typeface="Calibri" pitchFamily="34" charset="0"/>
                <a:cs typeface="Amiri" pitchFamily="2" charset="-78"/>
              </a:rPr>
              <a:t>mā-ʾi-da-tun</a:t>
            </a:r>
            <a:endParaRPr lang="en-US" sz="1350" dirty="0"/>
          </a:p>
        </p:txBody>
      </p:sp>
      <p:sp>
        <p:nvSpPr>
          <p:cNvPr id="30" name="Text 2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Plural </a:t>
            </a:r>
            <a:pPr algn="l" indent="0" marL="0">
              <a:buNone/>
            </a:pPr>
            <a:r>
              <a:rPr lang="ar-SA" altLang="en-US" sz="1300" dirty="0">
                <a:solidFill>
                  <a:srgbClr val="8A6D1E"/>
                </a:solidFill>
                <a:latin typeface="Amiri" pitchFamily="2" charset="-78"/>
                <a:cs typeface="Amiri" pitchFamily="2" charset="-78"/>
              </a:rPr>
              <a:t>مَوَائِدُ</a:t>
            </a:r>
            <a:pPr algn="l" indent="0" marL="0">
              <a:buNone/>
            </a:pPr>
            <a:r>
              <a:rPr lang="en-US" sz="1000" i="1" dirty="0">
                <a:solidFill>
                  <a:srgbClr val="8A6D1E"/>
                </a:solidFill>
                <a:latin typeface="Calibri" pitchFamily="34" charset="0"/>
                <a:cs typeface="Amiri" pitchFamily="2" charset="-78"/>
              </a:rPr>
              <a:t>, a diptote.</a:t>
            </a:r>
            <a:endParaRPr lang="en-US" sz="1000" dirty="0"/>
          </a:p>
        </p:txBody>
      </p:sp>
      <p:sp>
        <p:nvSpPr>
          <p:cNvPr id="31" name="Shape 2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11312" y="4261104"/>
            <a:ext cx="310896" cy="310896"/>
          </a:xfrm>
          <a:prstGeom prst="ellipse">
            <a:avLst/>
          </a:prstGeom>
          <a:solidFill>
            <a:srgbClr val="F4F1EA"/>
          </a:solidFill>
          <a:ln w="12700">
            <a:solidFill>
              <a:srgbClr val="F4F1EA"/>
            </a:solidFill>
            <a:prstDash val="solid"/>
          </a:ln>
        </p:spPr>
      </p:sp>
      <p:sp>
        <p:nvSpPr>
          <p:cNvPr id="33" name="Text 3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34" name="Shape 31"/>
          <p:cNvSpPr/>
          <p:nvPr/>
        </p:nvSpPr>
        <p:spPr>
          <a:xfrm>
            <a:off x="8604504" y="4279392"/>
            <a:ext cx="1331366"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8604504"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Hedging language.</a:t>
            </a:r>
            <a:endParaRPr lang="en-US" sz="800" dirty="0"/>
          </a:p>
        </p:txBody>
      </p:sp>
      <p:sp>
        <p:nvSpPr>
          <p:cNvPr id="36" name="Text 3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بَعْضِ البُلْدَانِ</a:t>
            </a:r>
            <a:endParaRPr lang="ar-SA" sz="3000" dirty="0"/>
          </a:p>
        </p:txBody>
      </p:sp>
      <p:sp>
        <p:nvSpPr>
          <p:cNvPr id="37" name="Text 3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countries</a:t>
            </a:r>
            <a:endParaRPr lang="en-US" sz="1350" dirty="0"/>
          </a:p>
          <a:p>
            <a:pPr indent="0" marL="0">
              <a:buNone/>
            </a:pPr>
            <a:r>
              <a:rPr lang="en-US" sz="1100" i="1" dirty="0">
                <a:solidFill>
                  <a:srgbClr val="5A6472"/>
                </a:solidFill>
                <a:latin typeface="Calibri" pitchFamily="34" charset="0"/>
                <a:cs typeface="Amiri" pitchFamily="2" charset="-78"/>
              </a:rPr>
              <a:t>fī baʿ-ḍi al-bul-dā-ni</a:t>
            </a:r>
            <a:endParaRPr lang="en-US" sz="13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52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TOPIC E · FAITHS AND PLACES OF WORSHIP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Faith, belief and worship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الأَدْيَانُ وَأَمَاكِنُ العِبَادَةِ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دِينٌ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religion, a faith</a:t>
            </a:r>
            <a:endParaRPr lang="en-US" sz="1350" dirty="0"/>
          </a:p>
          <a:p>
            <a:pPr indent="0" marL="0">
              <a:buNone/>
            </a:pPr>
            <a:r>
              <a:rPr lang="en-US" sz="1100" i="1" dirty="0">
                <a:solidFill>
                  <a:srgbClr val="5A6472"/>
                </a:solidFill>
                <a:latin typeface="Calibri" pitchFamily="34" charset="0"/>
                <a:cs typeface="Amiri" pitchFamily="2" charset="-78"/>
              </a:rPr>
              <a:t>dī-nun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أَدْيَانٌ</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دِينٌ</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مُعْتَقَدٌ</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belief</a:t>
            </a:r>
            <a:endParaRPr lang="en-US" sz="1350" dirty="0"/>
          </a:p>
          <a:p>
            <a:pPr indent="0" marL="0">
              <a:buNone/>
            </a:pPr>
            <a:r>
              <a:rPr lang="en-US" sz="1100" i="1" dirty="0">
                <a:solidFill>
                  <a:srgbClr val="5A6472"/>
                </a:solidFill>
                <a:latin typeface="Calibri" pitchFamily="34" charset="0"/>
                <a:cs typeface="Amiri" pitchFamily="2" charset="-78"/>
              </a:rPr>
              <a:t>muʿ-ta-qa-dun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مُعْتَقَدَاتٌ</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مُعْتَقَدٌ</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عِبَادَةٌ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worship</a:t>
            </a:r>
            <a:endParaRPr lang="en-US" sz="1350" dirty="0"/>
          </a:p>
          <a:p>
            <a:pPr indent="0" marL="0">
              <a:buNone/>
            </a:pPr>
            <a:r>
              <a:rPr lang="en-US" sz="1100" i="1" dirty="0">
                <a:solidFill>
                  <a:srgbClr val="5A6472"/>
                </a:solidFill>
                <a:latin typeface="Calibri" pitchFamily="34" charset="0"/>
                <a:cs typeface="Amiri" pitchFamily="2" charset="-78"/>
              </a:rPr>
              <a:t>ʿi-bā-da-tun</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عِبَادَاتٌ</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عِبَادَةٌ</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مَكَانُ عِبَادَةٍ</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place of worship</a:t>
            </a:r>
            <a:endParaRPr lang="en-US" sz="1350" dirty="0"/>
          </a:p>
          <a:p>
            <a:pPr indent="0" marL="0">
              <a:buNone/>
            </a:pPr>
            <a:r>
              <a:rPr lang="en-US" sz="1100" i="1" dirty="0">
                <a:solidFill>
                  <a:srgbClr val="5A6472"/>
                </a:solidFill>
                <a:latin typeface="Calibri" pitchFamily="34" charset="0"/>
                <a:cs typeface="Amiri" pitchFamily="2" charset="-78"/>
              </a:rPr>
              <a:t>ma-kā-nu ʿi-bā-da-tin</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أَمَاكِنُ عِبَادَةٍ</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مَكَانُ عِبَادَةٍ</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مَسْجِدٌ</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mosque</a:t>
            </a:r>
            <a:endParaRPr lang="en-US" sz="1350" dirty="0"/>
          </a:p>
          <a:p>
            <a:pPr indent="0" marL="0">
              <a:buNone/>
            </a:pPr>
            <a:r>
              <a:rPr lang="en-US" sz="1100" i="1" dirty="0">
                <a:solidFill>
                  <a:srgbClr val="5A6472"/>
                </a:solidFill>
                <a:latin typeface="Calibri" pitchFamily="34" charset="0"/>
                <a:cs typeface="Amiri" pitchFamily="2" charset="-78"/>
              </a:rPr>
              <a:t>mas-ji-dun</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مَسَاجِدُ</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مَسْجِدٌ</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كَنِيسَةٌ</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church</a:t>
            </a:r>
            <a:endParaRPr lang="en-US" sz="1350" dirty="0"/>
          </a:p>
          <a:p>
            <a:pPr indent="0" marL="0">
              <a:buNone/>
            </a:pPr>
            <a:r>
              <a:rPr lang="en-US" sz="1100" i="1" dirty="0">
                <a:solidFill>
                  <a:srgbClr val="5A6472"/>
                </a:solidFill>
                <a:latin typeface="Calibri" pitchFamily="34" charset="0"/>
                <a:cs typeface="Amiri" pitchFamily="2" charset="-78"/>
              </a:rPr>
              <a:t>ka-nī-sa-tun</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كَنَائِسُ</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كَنِيسَةٌ</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52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TOPIC E · FAITHS AND PLACES OF WORSHIP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Places, people and respect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الأَدْيَانُ وَأَمَاكِنُ العِبَادَةِ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كَنِيسٌ</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synagogue</a:t>
            </a:r>
            <a:endParaRPr lang="en-US" sz="1350" dirty="0"/>
          </a:p>
          <a:p>
            <a:pPr indent="0" marL="0">
              <a:buNone/>
            </a:pPr>
            <a:r>
              <a:rPr lang="en-US" sz="1100" i="1" dirty="0">
                <a:solidFill>
                  <a:srgbClr val="5A6472"/>
                </a:solidFill>
                <a:latin typeface="Calibri" pitchFamily="34" charset="0"/>
                <a:cs typeface="Amiri" pitchFamily="2" charset="-78"/>
              </a:rPr>
              <a:t>ka-nī-sun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كُنُسٌ</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كَنِيسٌ</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مَعْبَدٌ</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temple</a:t>
            </a:r>
            <a:endParaRPr lang="en-US" sz="1350" dirty="0"/>
          </a:p>
          <a:p>
            <a:pPr indent="0" marL="0">
              <a:buNone/>
            </a:pPr>
            <a:r>
              <a:rPr lang="en-US" sz="1100" i="1" dirty="0">
                <a:solidFill>
                  <a:srgbClr val="5A6472"/>
                </a:solidFill>
                <a:latin typeface="Calibri" pitchFamily="34" charset="0"/>
                <a:cs typeface="Amiri" pitchFamily="2" charset="-78"/>
              </a:rPr>
              <a:t>maʿ-ba-dun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مَعَابِدُ</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مَعْبَدٌ</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مُسْلِمٌ</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Muslim</a:t>
            </a:r>
            <a:endParaRPr lang="en-US" sz="1350" dirty="0"/>
          </a:p>
          <a:p>
            <a:pPr indent="0" marL="0">
              <a:buNone/>
            </a:pPr>
            <a:r>
              <a:rPr lang="en-US" sz="1100" i="1" dirty="0">
                <a:solidFill>
                  <a:srgbClr val="5A6472"/>
                </a:solidFill>
                <a:latin typeface="Calibri" pitchFamily="34" charset="0"/>
                <a:cs typeface="Amiri" pitchFamily="2" charset="-78"/>
              </a:rPr>
              <a:t>mus-li-mun</a:t>
            </a:r>
            <a:endParaRPr lang="en-US" sz="1350" dirty="0"/>
          </a:p>
        </p:txBody>
      </p:sp>
      <p:sp>
        <p:nvSpPr>
          <p:cNvPr id="52" name="Shape 49"/>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4" name="Text 51"/>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مُسْلِمُونَ</a:t>
            </a:r>
            <a:endParaRPr lang="ar-SA" sz="1500" dirty="0"/>
          </a:p>
        </p:txBody>
      </p:sp>
      <p:sp>
        <p:nvSpPr>
          <p:cNvPr id="55" name="Shape 52"/>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7" name="Text 54"/>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مُسْلِمَةٌ</a:t>
            </a:r>
            <a:endParaRPr lang="ar-SA" sz="1500" dirty="0"/>
          </a:p>
        </p:txBody>
      </p:sp>
      <p:sp>
        <p:nvSpPr>
          <p:cNvPr id="58" name="Shape 55"/>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0" name="Text 57"/>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مُسْلِمٌ</a:t>
            </a:r>
            <a:endParaRPr lang="ar-SA" sz="1500" dirty="0"/>
          </a:p>
        </p:txBody>
      </p:sp>
      <p:sp>
        <p:nvSpPr>
          <p:cNvPr id="61" name="Shape 5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8211312"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4" name="Shape 6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6" name="Text 6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مَسِيحِيٌّ</a:t>
            </a:r>
            <a:endParaRPr lang="ar-SA" sz="3000" dirty="0"/>
          </a:p>
        </p:txBody>
      </p:sp>
      <p:sp>
        <p:nvSpPr>
          <p:cNvPr id="67" name="Text 6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Christian</a:t>
            </a:r>
            <a:endParaRPr lang="en-US" sz="1350" dirty="0"/>
          </a:p>
          <a:p>
            <a:pPr indent="0" marL="0">
              <a:buNone/>
            </a:pPr>
            <a:r>
              <a:rPr lang="en-US" sz="1100" i="1" dirty="0">
                <a:solidFill>
                  <a:srgbClr val="5A6472"/>
                </a:solidFill>
                <a:latin typeface="Calibri" pitchFamily="34" charset="0"/>
                <a:cs typeface="Amiri" pitchFamily="2" charset="-78"/>
              </a:rPr>
              <a:t>ma-sī-ḥiy-yun</a:t>
            </a:r>
            <a:endParaRPr lang="en-US" sz="1350" dirty="0"/>
          </a:p>
        </p:txBody>
      </p:sp>
      <p:sp>
        <p:nvSpPr>
          <p:cNvPr id="68" name="Shape 6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0" name="Text 6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مَسِيحِيُّونَ</a:t>
            </a:r>
            <a:endParaRPr lang="ar-SA" sz="1500" dirty="0"/>
          </a:p>
        </p:txBody>
      </p:sp>
      <p:sp>
        <p:nvSpPr>
          <p:cNvPr id="71" name="Shape 6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3" name="Text 7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مَسِيحِيَّةٌ</a:t>
            </a:r>
            <a:endParaRPr lang="ar-SA" sz="1500" dirty="0"/>
          </a:p>
        </p:txBody>
      </p:sp>
      <p:sp>
        <p:nvSpPr>
          <p:cNvPr id="74" name="Shape 7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6" name="Text 7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مَسِيحِيٌّ</a:t>
            </a:r>
            <a:endParaRPr lang="ar-SA" sz="1500" dirty="0"/>
          </a:p>
        </p:txBody>
      </p:sp>
      <p:sp>
        <p:nvSpPr>
          <p:cNvPr id="77" name="Shape 7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389120"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0" name="Shape 77"/>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مُجْتَمَعٌ</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community, society</a:t>
            </a:r>
            <a:endParaRPr lang="en-US" sz="1350" dirty="0"/>
          </a:p>
          <a:p>
            <a:pPr indent="0" marL="0">
              <a:buNone/>
            </a:pPr>
            <a:r>
              <a:rPr lang="en-US" sz="1100" i="1" dirty="0">
                <a:solidFill>
                  <a:srgbClr val="5A6472"/>
                </a:solidFill>
                <a:latin typeface="Calibri" pitchFamily="34" charset="0"/>
                <a:cs typeface="Amiri" pitchFamily="2" charset="-78"/>
              </a:rPr>
              <a:t>muj-ta-ma-ʿun</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مُجْتَمَعَاتٌ</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مُجْتَمَعٌ</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verb</a:t>
            </a:r>
            <a:endParaRPr lang="en-US" sz="800" dirty="0"/>
          </a:p>
        </p:txBody>
      </p:sp>
      <p:sp>
        <p:nvSpPr>
          <p:cNvPr id="95" name="Text 9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احْتِرَامٌ</a:t>
            </a:r>
            <a:endParaRPr lang="ar-SA" sz="3000" dirty="0"/>
          </a:p>
        </p:txBody>
      </p:sp>
      <p:sp>
        <p:nvSpPr>
          <p:cNvPr id="96" name="Text 9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a:t>
            </a:r>
            <a:endParaRPr lang="en-US" sz="1350" dirty="0"/>
          </a:p>
          <a:p>
            <a:pPr indent="0" marL="0">
              <a:buNone/>
            </a:pPr>
            <a:r>
              <a:rPr lang="en-US" sz="1100" i="1" dirty="0">
                <a:solidFill>
                  <a:srgbClr val="5A6472"/>
                </a:solidFill>
                <a:latin typeface="Calibri" pitchFamily="34" charset="0"/>
                <a:cs typeface="Amiri" pitchFamily="2" charset="-78"/>
              </a:rPr>
              <a:t>aḥ-ti-rā-mun</a:t>
            </a:r>
            <a:endParaRPr lang="en-US" sz="1350" dirty="0"/>
          </a:p>
        </p:txBody>
      </p:sp>
      <p:sp>
        <p:nvSpPr>
          <p:cNvPr id="97" name="Shape 94"/>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verb</a:t>
            </a:r>
            <a:endParaRPr lang="en-US" sz="700" dirty="0"/>
          </a:p>
        </p:txBody>
      </p:sp>
      <p:sp>
        <p:nvSpPr>
          <p:cNvPr id="99" name="Text 96"/>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يَحْتَرِمُ</a:t>
            </a:r>
            <a:endParaRPr lang="ar-SA" sz="1350" dirty="0"/>
          </a:p>
        </p:txBody>
      </p:sp>
      <p:sp>
        <p:nvSpPr>
          <p:cNvPr id="100" name="Text 9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52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TOPIC E · DESCRIBING FAITH CONTEXTS RESPECTFULLY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Facts, not judgements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لُغَةُ الاحْتِرَامِ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WE TALK ABOUT FAITHS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Use a nominal sentence for a fact: the place + what it is (al-masjid makān ʿibāda).</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Use a relative clause to say who prays there: makān yuṣallī fīhi … (fīhi / fīhā points back to the place).</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Say “some people” or “many”, not “all” — beliefs and practices vary.</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Compare without value judgements: describe, never rank.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IN ARABIC</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المَسْجِدُ مَكَانُ عِبَادَةٍ لِلْمُسْلِمِينَ.</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mosque is a place of worship for Muslims.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الكَنِيسَةُ مَكَانٌ يُصَلِّي فِيهِ المَسِيحِيُّونَ.</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church is a place where Christians pray.</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cs typeface="Amiri" pitchFamily="2" charset="-78"/>
              </a:rPr>
              <a:t>يَحْتَرِمُ المُجْتَمَعُ أَمَاكِنَ العِبَادَةِ كُلَّهَا.</a:t>
            </a:r>
            <a:endParaRPr lang="ar-SA" sz="275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community respects all places of worship.</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52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PRESENT PASSIVE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does it? It doesn’t matter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المَبْنِيُّ لِلْمَجْهُولِ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919472" y="1810512"/>
            <a:ext cx="6739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27249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937760" y="2286000"/>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يُزَيَّنُ</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cs typeface="Amiri" pitchFamily="2" charset="-78"/>
              </a:rPr>
              <a:t>الشَّارِعُ</a:t>
            </a:r>
            <a:pPr rtl="1" algn="ctr" indent="0" marL="0">
              <a:buNone/>
            </a:pPr>
            <a:r>
              <a:rPr lang="ar-SA" altLang="en-US" sz="1950" b="1" dirty="0">
                <a:solidFill>
                  <a:srgbClr val="1B3B6F"/>
                </a:solidFill>
                <a:latin typeface="Amiri" pitchFamily="2" charset="-78"/>
                <a:cs typeface="Amiri" pitchFamily="2" charset="-78"/>
              </a:rPr>
              <a:t> بِالفَوَانِيسِ.</a:t>
            </a:r>
            <a:endParaRPr lang="ar-SA" sz="1950" dirty="0"/>
          </a:p>
        </p:txBody>
      </p:sp>
      <p:sp>
        <p:nvSpPr>
          <p:cNvPr id="21" name="Text 18"/>
          <p:cNvSpPr txBox="1"/>
          <p:nvPr/>
        </p:nvSpPr>
        <p:spPr>
          <a:xfrm>
            <a:off x="4892040" y="2676997"/>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street is decorated with lanterns.</a:t>
            </a:r>
            <a:endParaRPr lang="en-US" sz="950" dirty="0"/>
          </a:p>
        </p:txBody>
      </p:sp>
      <p:sp>
        <p:nvSpPr>
          <p:cNvPr id="22" name="Text 19"/>
          <p:cNvSpPr txBox="1"/>
          <p:nvPr/>
        </p:nvSpPr>
        <p:spPr>
          <a:xfrm>
            <a:off x="274320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يُزَيَّنُ</a:t>
            </a:r>
            <a:endParaRPr lang="ar-SA" sz="2400" dirty="0"/>
          </a:p>
        </p:txBody>
      </p:sp>
      <p:sp>
        <p:nvSpPr>
          <p:cNvPr id="23" name="Text 20"/>
          <p:cNvSpPr txBox="1"/>
          <p:nvPr/>
        </p:nvSpPr>
        <p:spPr>
          <a:xfrm>
            <a:off x="54864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يُزَيِّنُ</a:t>
            </a:r>
            <a:endParaRPr lang="ar-SA" sz="24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4937760" y="3023006"/>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تُوَزَّعُ</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cs typeface="Amiri" pitchFamily="2" charset="-78"/>
              </a:rPr>
              <a:t>الحَلْوَى</a:t>
            </a:r>
            <a:pPr rtl="1" algn="ctr" indent="0" marL="0">
              <a:buNone/>
            </a:pPr>
            <a:r>
              <a:rPr lang="ar-SA" altLang="en-US" sz="1950" b="1" dirty="0">
                <a:solidFill>
                  <a:srgbClr val="1B3B6F"/>
                </a:solidFill>
                <a:latin typeface="Amiri" pitchFamily="2" charset="-78"/>
                <a:cs typeface="Amiri" pitchFamily="2" charset="-78"/>
              </a:rPr>
              <a:t> عَلَى الجِيرَانِ.</a:t>
            </a:r>
            <a:endParaRPr lang="ar-SA" sz="1950" dirty="0"/>
          </a:p>
        </p:txBody>
      </p:sp>
      <p:sp>
        <p:nvSpPr>
          <p:cNvPr id="28" name="Text 25"/>
          <p:cNvSpPr txBox="1"/>
          <p:nvPr/>
        </p:nvSpPr>
        <p:spPr>
          <a:xfrm>
            <a:off x="4892040" y="3414004"/>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Sweets are handed out to the neighbours.</a:t>
            </a:r>
            <a:endParaRPr lang="en-US" sz="950" dirty="0"/>
          </a:p>
        </p:txBody>
      </p:sp>
      <p:sp>
        <p:nvSpPr>
          <p:cNvPr id="29" name="Text 26"/>
          <p:cNvSpPr txBox="1"/>
          <p:nvPr/>
        </p:nvSpPr>
        <p:spPr>
          <a:xfrm>
            <a:off x="274320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تُوَزَّعُ</a:t>
            </a:r>
            <a:endParaRPr lang="ar-SA" sz="2400" dirty="0"/>
          </a:p>
        </p:txBody>
      </p:sp>
      <p:sp>
        <p:nvSpPr>
          <p:cNvPr id="30" name="Text 27"/>
          <p:cNvSpPr txBox="1"/>
          <p:nvPr/>
        </p:nvSpPr>
        <p:spPr>
          <a:xfrm>
            <a:off x="54864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يُوَزِّعُ</a:t>
            </a:r>
            <a:endParaRPr lang="ar-SA" sz="24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4937760" y="3760013"/>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تُتَبَادَلُ</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cs typeface="Amiri" pitchFamily="2" charset="-78"/>
              </a:rPr>
              <a:t>التَّهَانِي</a:t>
            </a:r>
            <a:pPr rtl="1" algn="ctr" indent="0" marL="0">
              <a:buNone/>
            </a:pPr>
            <a:r>
              <a:rPr lang="ar-SA" altLang="en-US" sz="1950" b="1" dirty="0">
                <a:solidFill>
                  <a:srgbClr val="1B3B6F"/>
                </a:solidFill>
                <a:latin typeface="Amiri" pitchFamily="2" charset="-78"/>
                <a:cs typeface="Amiri" pitchFamily="2" charset="-78"/>
              </a:rPr>
              <a:t> وَالهَدَايَا.</a:t>
            </a:r>
            <a:endParaRPr lang="ar-SA" sz="1950" dirty="0"/>
          </a:p>
        </p:txBody>
      </p:sp>
      <p:sp>
        <p:nvSpPr>
          <p:cNvPr id="35" name="Text 32"/>
          <p:cNvSpPr txBox="1"/>
          <p:nvPr/>
        </p:nvSpPr>
        <p:spPr>
          <a:xfrm>
            <a:off x="4892040" y="4151010"/>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Greetings and gifts are exchanged.</a:t>
            </a:r>
            <a:endParaRPr lang="en-US" sz="950" dirty="0"/>
          </a:p>
        </p:txBody>
      </p:sp>
      <p:sp>
        <p:nvSpPr>
          <p:cNvPr id="36" name="Text 33"/>
          <p:cNvSpPr txBox="1"/>
          <p:nvPr/>
        </p:nvSpPr>
        <p:spPr>
          <a:xfrm>
            <a:off x="274320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تُتَبَادَلُ</a:t>
            </a:r>
            <a:endParaRPr lang="ar-SA" sz="2400" dirty="0"/>
          </a:p>
        </p:txBody>
      </p:sp>
      <p:sp>
        <p:nvSpPr>
          <p:cNvPr id="37" name="Text 34"/>
          <p:cNvSpPr txBox="1"/>
          <p:nvPr/>
        </p:nvSpPr>
        <p:spPr>
          <a:xfrm>
            <a:off x="54864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يَتَبَادَلُ</a:t>
            </a:r>
            <a:endParaRPr lang="ar-SA" sz="2400" dirty="0"/>
          </a:p>
        </p:txBody>
      </p:sp>
      <p:sp>
        <p:nvSpPr>
          <p:cNvPr id="38" name="Shape 35"/>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9" name="Text 36"/>
          <p:cNvSpPr txBox="1"/>
          <p:nvPr/>
        </p:nvSpPr>
        <p:spPr>
          <a:xfrm>
            <a:off x="4937760" y="4497019"/>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تُقَامُ</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cs typeface="Amiri" pitchFamily="2" charset="-78"/>
              </a:rPr>
              <a:t>صَلَاةُ</a:t>
            </a:r>
            <a:pPr rtl="1" algn="ctr" indent="0" marL="0">
              <a:buNone/>
            </a:pPr>
            <a:r>
              <a:rPr lang="ar-SA" altLang="en-US" sz="1950" b="1" dirty="0">
                <a:solidFill>
                  <a:srgbClr val="1B3B6F"/>
                </a:solidFill>
                <a:latin typeface="Amiri" pitchFamily="2" charset="-78"/>
                <a:cs typeface="Amiri" pitchFamily="2" charset="-78"/>
              </a:rPr>
              <a:t> العِيدِ صَبَاحًا.</a:t>
            </a:r>
            <a:endParaRPr lang="ar-SA" sz="1950" dirty="0"/>
          </a:p>
        </p:txBody>
      </p:sp>
      <p:sp>
        <p:nvSpPr>
          <p:cNvPr id="40" name="Text 37"/>
          <p:cNvSpPr txBox="1"/>
          <p:nvPr/>
        </p:nvSpPr>
        <p:spPr>
          <a:xfrm>
            <a:off x="4892040" y="4888017"/>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Eid prayer is held in the morning.</a:t>
            </a:r>
            <a:endParaRPr lang="en-US" sz="950" dirty="0"/>
          </a:p>
        </p:txBody>
      </p:sp>
      <p:sp>
        <p:nvSpPr>
          <p:cNvPr id="41" name="Text 38"/>
          <p:cNvSpPr txBox="1"/>
          <p:nvPr/>
        </p:nvSpPr>
        <p:spPr>
          <a:xfrm>
            <a:off x="274320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تُقَامُ</a:t>
            </a:r>
            <a:endParaRPr lang="ar-SA" sz="2400" dirty="0"/>
          </a:p>
        </p:txBody>
      </p:sp>
      <p:sp>
        <p:nvSpPr>
          <p:cNvPr id="42" name="Text 39"/>
          <p:cNvSpPr txBox="1"/>
          <p:nvPr/>
        </p:nvSpPr>
        <p:spPr>
          <a:xfrm>
            <a:off x="54864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يُقِيمُ</a:t>
            </a:r>
            <a:endParaRPr lang="ar-SA" sz="240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4937760" y="5234026"/>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تُعَدُّ</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cs typeface="Amiri" pitchFamily="2" charset="-78"/>
              </a:rPr>
              <a:t>المَائِدَةُ</a:t>
            </a:r>
            <a:pPr rtl="1" algn="ctr" indent="0" marL="0">
              <a:buNone/>
            </a:pPr>
            <a:r>
              <a:rPr lang="ar-SA" altLang="en-US" sz="1950" b="1" dirty="0">
                <a:solidFill>
                  <a:srgbClr val="1B3B6F"/>
                </a:solidFill>
                <a:latin typeface="Amiri" pitchFamily="2" charset="-78"/>
                <a:cs typeface="Amiri" pitchFamily="2" charset="-78"/>
              </a:rPr>
              <a:t> قَبْلَ المَغْرِبِ.</a:t>
            </a:r>
            <a:endParaRPr lang="ar-SA" sz="1950" dirty="0"/>
          </a:p>
        </p:txBody>
      </p:sp>
      <p:sp>
        <p:nvSpPr>
          <p:cNvPr id="45" name="Text 42"/>
          <p:cNvSpPr txBox="1"/>
          <p:nvPr/>
        </p:nvSpPr>
        <p:spPr>
          <a:xfrm>
            <a:off x="4892040" y="5625023"/>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table is prepared before sunset.</a:t>
            </a:r>
            <a:endParaRPr lang="en-US" sz="950" dirty="0"/>
          </a:p>
        </p:txBody>
      </p:sp>
      <p:sp>
        <p:nvSpPr>
          <p:cNvPr id="46" name="Text 43"/>
          <p:cNvSpPr txBox="1"/>
          <p:nvPr/>
        </p:nvSpPr>
        <p:spPr>
          <a:xfrm>
            <a:off x="274320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تُعَدُّ</a:t>
            </a:r>
            <a:endParaRPr lang="ar-SA" sz="2400" dirty="0"/>
          </a:p>
        </p:txBody>
      </p:sp>
      <p:sp>
        <p:nvSpPr>
          <p:cNvPr id="47" name="Text 44"/>
          <p:cNvSpPr txBox="1"/>
          <p:nvPr/>
        </p:nvSpPr>
        <p:spPr>
          <a:xfrm>
            <a:off x="54864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يُعِدُّ</a:t>
            </a:r>
            <a:endParaRPr lang="ar-SA" sz="240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Passive: u on the prefix, a before the last letter — and the noun after it is the SUBJECT (-u).</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52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PRESENT, PAST AND THE HEDGE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Every year — or the year I was seven?</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العَادَةُ وَالذِّكْرَى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71450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7145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GENERAL CUSTOM · CORE</a:t>
            </a:r>
            <a:endParaRPr lang="en-US" sz="850" dirty="0"/>
          </a:p>
        </p:txBody>
      </p:sp>
      <p:sp>
        <p:nvSpPr>
          <p:cNvPr id="18" name="Text 15"/>
          <p:cNvSpPr txBox="1"/>
          <p:nvPr/>
        </p:nvSpPr>
        <p:spPr>
          <a:xfrm>
            <a:off x="9992868" y="1874520"/>
            <a:ext cx="16017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يَصُومُ · يَتَصَدَّقُ</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cs typeface="Amiri" pitchFamily="2" charset="-78"/>
              </a:rPr>
              <a:t>يَصُومُ المُسْلِمُونَ فِي رَمَضَانَ.</a:t>
            </a:r>
            <a:endParaRPr lang="ar-SA" sz="28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Muslims fast in Ramadan.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Every year: present.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MY MEMORY · DEVELOP</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صُمْتُ · زُرْنَا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صُمْتُ لِأَوَّلِ مَرَّةٍ عِنْدَمَا كُنْتُ فِي السَّابِعَةِ.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fasted for the first time when I was seven.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ṣāma → ṣum-tu.</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9888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REGIONAL CUSTOM · STRETCH</a:t>
            </a:r>
            <a:endParaRPr lang="en-US" sz="850" dirty="0"/>
          </a:p>
        </p:txBody>
      </p:sp>
      <p:sp>
        <p:nvSpPr>
          <p:cNvPr id="34" name="Text 31"/>
          <p:cNvSpPr txBox="1"/>
          <p:nvPr/>
        </p:nvSpPr>
        <p:spPr>
          <a:xfrm>
            <a:off x="2628900"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فِي بَعْضِ البُلْدَانِ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فِي بَعْضِ البُلْدَانِ تُزَيَّنُ الشَّوَارِعُ بِالفَوَانِيسِ.</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some countries the streets are decorated with lanterns.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Hedge customs.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ṣāma is hollow — shorten the stem.</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صُمْتُ لِأَوَّلِ مَرَّةٍ</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2" charset="-78"/>
                <a:cs typeface="Amiri" pitchFamily="2" charset="-78"/>
              </a:rPr>
              <a:t>صَامْتُ لِأَوَّلِ مَرَّةٍ</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52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The cultural passive and tense choice</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cs typeface="Amiri" pitchFamily="2" charset="-78"/>
              </a:rPr>
              <a:t>المَبْنِيُّ لِلْمَجْهُولِ فِي الوَصْفِ الثَّقَافِيِّ</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Forming the present passive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يُفَعِّلُ → يُفَعَّلُ</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يُزَيِّنُ ← يُزَيَّنُ   ·   يُوَزِّعُ ← يُوَزَّعُ</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The passive verb agrees with the thing affected</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passive verb + nominative subject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يُزَيَّنُ الشَّارِعُ بِالفَوَانِيسِ   ·   تُتَبَادَلُ التَّهَانِي وَالهَدَايَا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Present for the general custom</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يَصُومُ / يَتَصَدَّقُ / تُقَامُ</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يَصُومُ المُسْلِمُونَ فِي رَمَضَانَ   ·   فِي بَعْضِ البُلْدَانِ تُزَيَّنُ الشَّوَارِعُ</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Past for personal experience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صُمْتُ / حَضَرْتُ / زُرْنَا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صُمْتُ لِأَوَّلِ مَرَّةٍ عِنْدَمَا كُنْتُ فِي السَّابِعَةِ   ·   زُرْنَا الأَقَارِبَ فِي أَوَّلِ أَيَّامِ العِيدِ</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52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form of </a:t>
            </a:r>
            <a:pPr algn="l" indent="0" marL="0">
              <a:buNone/>
            </a:pPr>
            <a:r>
              <a:rPr lang="ar-SA" altLang="en-US" sz="1650" b="1" dirty="0">
                <a:solidFill>
                  <a:srgbClr val="1B3B6F"/>
                </a:solidFill>
                <a:latin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يَزِينُ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يُزَيِّنُ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يُزَيَّنُ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يُزَيَّنُ الشَّارِعُ بِالفَوَانِيسِ.</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يُزَيَّنُ الشَّارِعَ بِالفَوَانِيسِ.</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يُزَيَّنُ الشَّارِعُ الفَوَانِيسَ.</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يَصُومُ المُسْلِمُونَ فِي ___.</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رَمَضَانٍ</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رَمَضَانَ</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رَمَضَانُ</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personal memory.</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صُمْتُ لِأَوَّلِ مَرَّةٍ فِي السَّابِعَةِ مِنْ عُمْرِي.</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صَامْتُ لِأَوَّلِ مَرَّةٍ فِي السَّابِعَةِ مِنْ عُمْرِي.</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أَصُومُ لِأَوَّلِ مَرَّةٍ فِي السَّابِعَةِ مِنْ عُمْرِي.</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52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form of </a:t>
            </a:r>
            <a:pPr algn="l" indent="0" marL="0">
              <a:buNone/>
            </a:pPr>
            <a:r>
              <a:rPr lang="ar-SA" altLang="en-US" sz="1650" b="1" dirty="0">
                <a:solidFill>
                  <a:srgbClr val="1B3B6F"/>
                </a:solidFill>
                <a:latin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يَزِينُ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يُزَيِّنُ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يُزَيَّنُ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takes a ḍamma on the prefix and a fatḥa before the ending.</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يُزَيَّنُ الشَّارِعُ بِالفَوَانِيسِ.</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يُزَيَّنُ الشَّارِعَ بِالفَوَانِيسِ.</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يُزَيَّنُ الشَّارِعُ الفَوَانِيسَ.</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thing affected becomes the nominative subject, and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introduces the means.</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يَصُومُ المُسْلِمُونَ فِي ___.</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رَمَضَانٍ</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رَمَضَانَ</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رَمَضَانُ</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رَمَضَان</a:t>
            </a:r>
            <a:pPr algn="l" indent="0" marL="0">
              <a:buNone/>
            </a:pPr>
            <a:r>
              <a:rPr lang="en-US" sz="1050" i="1" dirty="0">
                <a:solidFill>
                  <a:srgbClr val="8A6D1E"/>
                </a:solidFill>
                <a:latin typeface="Calibri" pitchFamily="34" charset="0"/>
                <a:cs typeface="Amiri" pitchFamily="2" charset="-78"/>
              </a:rPr>
              <a:t> is a diptote, so the genitive takes a bare fatḥa.</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personal memory.</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صُمْتُ لِأَوَّلِ مَرَّةٍ فِي السَّابِعَةِ مِنْ عُمْرِي.</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صَامْتُ لِأَوَّلِ مَرَّةٍ فِي السَّابِعَةِ مِنْ عُمْرِي.</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أَصُومُ لِأَوَّلِ مَرَّةٍ فِي السَّابِعَةِ مِنْ عُمْرِي.</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صَامَ</a:t>
            </a:r>
            <a:pPr algn="l" indent="0" marL="0">
              <a:buNone/>
            </a:pPr>
            <a:r>
              <a:rPr lang="en-US" sz="1050" i="1" dirty="0">
                <a:solidFill>
                  <a:srgbClr val="8A6D1E"/>
                </a:solidFill>
                <a:latin typeface="Calibri" pitchFamily="34" charset="0"/>
                <a:cs typeface="Amiri" pitchFamily="2" charset="-78"/>
              </a:rPr>
              <a:t> is hollow, so the stem shortens to </a:t>
            </a:r>
            <a:pPr algn="l" indent="0" marL="0">
              <a:buNone/>
            </a:pPr>
            <a:r>
              <a:rPr lang="ar-SA" altLang="en-US" sz="1350" dirty="0">
                <a:solidFill>
                  <a:srgbClr val="8A6D1E"/>
                </a:solidFill>
                <a:latin typeface="Amiri" pitchFamily="2" charset="-78"/>
                <a:cs typeface="Amiri" pitchFamily="2" charset="-78"/>
              </a:rPr>
              <a:t>صُمْـ</a:t>
            </a:r>
            <a:pPr algn="l" indent="0" marL="0">
              <a:buNone/>
            </a:pPr>
            <a:r>
              <a:rPr lang="en-US" sz="1050" i="1" dirty="0">
                <a:solidFill>
                  <a:srgbClr val="8A6D1E"/>
                </a:solidFill>
                <a:latin typeface="Calibri" pitchFamily="34" charset="0"/>
                <a:cs typeface="Amiri" pitchFamily="2" charset="-78"/>
              </a:rPr>
              <a:t> before the suffix.</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52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Watch me describe Ramadan and Eid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Custom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يَصُومُ</a:t>
            </a:r>
            <a:pPr rtl="1" algn="ctr" indent="0" marL="0">
              <a:buNone/>
            </a:pPr>
            <a:r>
              <a:rPr lang="ar-SA" altLang="en-US" sz="2200" b="1" dirty="0">
                <a:solidFill>
                  <a:srgbClr val="1B3B6F"/>
                </a:solidFill>
                <a:latin typeface="Amiri" pitchFamily="2" charset="-78"/>
                <a:cs typeface="Amiri" pitchFamily="2" charset="-78"/>
              </a:rPr>
              <a:t> المُسْلِمُونَ فِي رَمَضَانَ</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General: present.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Passive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cs typeface="Amiri" pitchFamily="2" charset="-78"/>
              </a:rPr>
              <a:t>تُعَدُّ</a:t>
            </a:r>
            <a:pPr rtl="1" algn="ctr" indent="0" marL="0">
              <a:buNone/>
            </a:pPr>
            <a:r>
              <a:rPr lang="ar-SA" altLang="en-US" sz="2800" b="1" dirty="0">
                <a:solidFill>
                  <a:srgbClr val="1B3B6F"/>
                </a:solidFill>
                <a:latin typeface="Amiri" pitchFamily="2" charset="-78"/>
                <a:cs typeface="Amiri" pitchFamily="2" charset="-78"/>
              </a:rPr>
              <a:t> المَائِدَةُ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is done.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Hedge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D6336C"/>
                </a:solidFill>
                <a:latin typeface="Amiri" pitchFamily="2" charset="-78"/>
                <a:cs typeface="Amiri" pitchFamily="2" charset="-78"/>
              </a:rPr>
              <a:t>فِي بَعْضِ البُلْدَانِ</a:t>
            </a:r>
            <a:pPr rtl="1" algn="ctr" indent="0" marL="0">
              <a:lnSpc>
                <a:spcPct val="120000"/>
              </a:lnSpc>
              <a:buNone/>
            </a:pPr>
            <a:r>
              <a:rPr lang="ar-SA" altLang="en-US" sz="1800" b="1" dirty="0">
                <a:solidFill>
                  <a:srgbClr val="1B3B6F"/>
                </a:solidFill>
                <a:latin typeface="Amiri" pitchFamily="2" charset="-78"/>
                <a:cs typeface="Amiri" pitchFamily="2" charset="-78"/>
              </a:rPr>
              <a:t> تُزَيَّنُ الشَّوَارِعُ</a:t>
            </a:r>
            <a:endParaRPr lang="ar-SA" sz="1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Regional.</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Memory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D5FBF"/>
                </a:solidFill>
                <a:latin typeface="Amiri" pitchFamily="2" charset="-78"/>
                <a:cs typeface="Amiri" pitchFamily="2" charset="-78"/>
              </a:rPr>
              <a:t>زُرْنَا</a:t>
            </a:r>
            <a:pPr rtl="1" algn="ctr" indent="0" marL="0">
              <a:buNone/>
            </a:pPr>
            <a:r>
              <a:rPr lang="ar-SA" altLang="en-US" sz="2300" b="1" dirty="0">
                <a:solidFill>
                  <a:srgbClr val="1B3B6F"/>
                </a:solidFill>
                <a:latin typeface="Amiri" pitchFamily="2" charset="-78"/>
                <a:cs typeface="Amiri" pitchFamily="2" charset="-78"/>
              </a:rPr>
              <a:t> الأَقَارِبَ فِي العِيدِ</a:t>
            </a:r>
            <a:endParaRPr lang="ar-SA" sz="23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Mine: past.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TENSE CHOICE</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PASSIVE</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HEDGE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D5FBF"/>
                </a:solidFill>
                <a:latin typeface="Amiri" pitchFamily="2" charset="-78"/>
                <a:cs typeface="Amiri" pitchFamily="2" charset="-78"/>
              </a:rPr>
              <a:t>يَصُومُ</a:t>
            </a:r>
            <a:pPr rtl="1" algn="r" indent="0" marL="0">
              <a:lnSpc>
                <a:spcPct val="120000"/>
              </a:lnSpc>
              <a:buNone/>
            </a:pPr>
            <a:r>
              <a:rPr lang="ar-SA" altLang="en-US" sz="1400" b="1" dirty="0">
                <a:solidFill>
                  <a:srgbClr val="1B3B6F"/>
                </a:solidFill>
                <a:latin typeface="Amiri" pitchFamily="2" charset="-78"/>
                <a:cs typeface="Amiri" pitchFamily="2" charset="-78"/>
              </a:rPr>
              <a:t> المُسْلِمُونَ شَهْرَ رَمَضَانَ مِنَ الفَجْرِ إِلَى المَغْرِبِ. وَفِي المَسَاءِ </a:t>
            </a:r>
            <a:pPr rtl="1" algn="r" indent="0" marL="0">
              <a:lnSpc>
                <a:spcPct val="120000"/>
              </a:lnSpc>
              <a:buNone/>
            </a:pPr>
            <a:r>
              <a:rPr lang="ar-SA" altLang="en-US" sz="1400" b="1" dirty="0">
                <a:solidFill>
                  <a:srgbClr val="0E7C86"/>
                </a:solidFill>
                <a:latin typeface="Amiri" pitchFamily="2" charset="-78"/>
                <a:cs typeface="Amiri" pitchFamily="2" charset="-78"/>
              </a:rPr>
              <a:t>تُعَدُّ</a:t>
            </a:r>
            <a:pPr rtl="1" algn="r" indent="0" marL="0">
              <a:lnSpc>
                <a:spcPct val="120000"/>
              </a:lnSpc>
              <a:buNone/>
            </a:pPr>
            <a:r>
              <a:rPr lang="ar-SA" altLang="en-US" sz="1400" b="1" dirty="0">
                <a:solidFill>
                  <a:srgbClr val="1B3B6F"/>
                </a:solidFill>
                <a:latin typeface="Amiri" pitchFamily="2" charset="-78"/>
                <a:cs typeface="Amiri" pitchFamily="2" charset="-78"/>
              </a:rPr>
              <a:t> المَائِدَةُ وَيَجْتَمِعُ الأَقَارِبُ عَلَى الإِفْطَارِ. </a:t>
            </a:r>
            <a:pPr rtl="1" algn="r" indent="0" marL="0">
              <a:lnSpc>
                <a:spcPct val="120000"/>
              </a:lnSpc>
              <a:buNone/>
            </a:pPr>
            <a:r>
              <a:rPr lang="ar-SA" altLang="en-US" sz="1400" b="1" dirty="0">
                <a:solidFill>
                  <a:srgbClr val="D6336C"/>
                </a:solidFill>
                <a:latin typeface="Amiri" pitchFamily="2" charset="-78"/>
                <a:cs typeface="Amiri" pitchFamily="2" charset="-78"/>
              </a:rPr>
              <a:t>وَفِي بَعْضِ البُلْدَانِ</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cs typeface="Amiri" pitchFamily="2" charset="-78"/>
              </a:rPr>
              <a:t>تُزَيَّنُ</a:t>
            </a:r>
            <a:pPr rtl="1" algn="r" indent="0" marL="0">
              <a:lnSpc>
                <a:spcPct val="120000"/>
              </a:lnSpc>
              <a:buNone/>
            </a:pPr>
            <a:r>
              <a:rPr lang="ar-SA" altLang="en-US" sz="1400" b="1" dirty="0">
                <a:solidFill>
                  <a:srgbClr val="1B3B6F"/>
                </a:solidFill>
                <a:latin typeface="Amiri" pitchFamily="2" charset="-78"/>
                <a:cs typeface="Amiri" pitchFamily="2" charset="-78"/>
              </a:rPr>
              <a:t> الشَّوَارِعُ بِالفَوَانِيسِ. وَفِي عِيدِ الفِطْرِ </a:t>
            </a:r>
            <a:pPr rtl="1" algn="r" indent="0" marL="0">
              <a:lnSpc>
                <a:spcPct val="120000"/>
              </a:lnSpc>
              <a:buNone/>
            </a:pPr>
            <a:r>
              <a:rPr lang="ar-SA" altLang="en-US" sz="1400" b="1" dirty="0">
                <a:solidFill>
                  <a:srgbClr val="0E7C86"/>
                </a:solidFill>
                <a:latin typeface="Amiri" pitchFamily="2" charset="-78"/>
                <a:cs typeface="Amiri" pitchFamily="2" charset="-78"/>
              </a:rPr>
              <a:t>تُقَامُ</a:t>
            </a:r>
            <a:pPr rtl="1" algn="r" indent="0" marL="0">
              <a:lnSpc>
                <a:spcPct val="120000"/>
              </a:lnSpc>
              <a:buNone/>
            </a:pPr>
            <a:r>
              <a:rPr lang="ar-SA" altLang="en-US" sz="1400" b="1" dirty="0">
                <a:solidFill>
                  <a:srgbClr val="1B3B6F"/>
                </a:solidFill>
                <a:latin typeface="Amiri" pitchFamily="2" charset="-78"/>
                <a:cs typeface="Amiri" pitchFamily="2" charset="-78"/>
              </a:rPr>
              <a:t> صَلَاةُ العِيدِ صَبَاحًا، وَقَدْ </a:t>
            </a:r>
            <a:pPr rtl="1" algn="r" indent="0" marL="0">
              <a:lnSpc>
                <a:spcPct val="120000"/>
              </a:lnSpc>
              <a:buNone/>
            </a:pPr>
            <a:r>
              <a:rPr lang="ar-SA" altLang="en-US" sz="1400" b="1" dirty="0">
                <a:solidFill>
                  <a:srgbClr val="1D5FBF"/>
                </a:solidFill>
                <a:latin typeface="Amiri" pitchFamily="2" charset="-78"/>
                <a:cs typeface="Amiri" pitchFamily="2" charset="-78"/>
              </a:rPr>
              <a:t>زُرْنَا</a:t>
            </a:r>
            <a:pPr rtl="1" algn="r" indent="0" marL="0">
              <a:lnSpc>
                <a:spcPct val="120000"/>
              </a:lnSpc>
              <a:buNone/>
            </a:pPr>
            <a:r>
              <a:rPr lang="ar-SA" altLang="en-US" sz="1400" b="1" dirty="0">
                <a:solidFill>
                  <a:srgbClr val="1B3B6F"/>
                </a:solidFill>
                <a:latin typeface="Amiri" pitchFamily="2" charset="-78"/>
                <a:cs typeface="Amiri" pitchFamily="2" charset="-78"/>
              </a:rPr>
              <a:t> الأَقَارِبَ فِي أَوَّلِ أَيَّامِ العِيدِ.</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Muslims fast the month of Ramadan from dawn to sunset. In the evening the table is prepared and relatives gather for iftar. In some countries the streets are decorated with lanterns. On Eid al-Fitr the Eid prayer is held in the morning, and we visited our relatives on the first day of Eid.</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52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يُزَيَّنُ الشَّارِعُ بِالفَوَانِيسِ</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street is decorated with lanterns</a:t>
            </a:r>
            <a:endParaRPr lang="en-US" sz="1250" dirty="0"/>
          </a:p>
          <a:p>
            <a:pPr indent="0" marL="0">
              <a:buNone/>
            </a:pPr>
            <a:r>
              <a:rPr lang="en-US" sz="1050" i="1" dirty="0">
                <a:solidFill>
                  <a:srgbClr val="8A6D1E"/>
                </a:solidFill>
                <a:latin typeface="Calibri" pitchFamily="34" charset="0"/>
                <a:cs typeface="Amiri" pitchFamily="2" charset="-78"/>
              </a:rPr>
              <a:t>Passive verb, nominative subject, بِـ for the means.</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يَصُومُ المُسْلِمُونَ فِي رَمَضَانَ</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Muslims fast in Ramadan</a:t>
            </a:r>
            <a:endParaRPr lang="en-US" sz="1250" dirty="0"/>
          </a:p>
          <a:p>
            <a:pPr indent="0" marL="0">
              <a:buNone/>
            </a:pPr>
            <a:r>
              <a:rPr lang="en-US" sz="1050" i="1" dirty="0">
                <a:solidFill>
                  <a:srgbClr val="8A6D1E"/>
                </a:solidFill>
                <a:latin typeface="Calibri" pitchFamily="34" charset="0"/>
                <a:cs typeface="Amiri" pitchFamily="2" charset="-78"/>
              </a:rPr>
              <a:t>Present for a general custom; رَمَضَان is a diptote.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صُمْتُ لِأَوَّلِ مَرَّةٍ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fasted for the first time</a:t>
            </a:r>
            <a:endParaRPr lang="en-US" sz="1250" dirty="0"/>
          </a:p>
          <a:p>
            <a:pPr indent="0" marL="0">
              <a:buNone/>
            </a:pPr>
            <a:r>
              <a:rPr lang="en-US" sz="1050" i="1" dirty="0">
                <a:solidFill>
                  <a:srgbClr val="8A6D1E"/>
                </a:solidFill>
                <a:latin typeface="Calibri" pitchFamily="34" charset="0"/>
                <a:cs typeface="Amiri" pitchFamily="2" charset="-78"/>
              </a:rPr>
              <a:t>صَامَ is hollow, so the stem becomes صُمْـ.</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52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2F6FB0"/>
                </a:solidFill>
                <a:latin typeface="Calibri" pitchFamily="34" charset="0"/>
                <a:cs typeface="Amiri" pitchFamily="2" charset="-78"/>
              </a:rPr>
              <a:t>WE DO · PICTURE MATCH · WEBSITE GAME “BELIEF &amp; PLACE MATCH (TOPIC GAME)”</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Match the place to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طَابِقِ الْمُعْتَقَدَ وَالْمَكَانَ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mosque</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church</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17348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356360" y="2249424"/>
            <a:ext cx="649224" cy="649224"/>
          </a:xfrm>
          <a:prstGeom prst="rect">
            <a:avLst/>
          </a:prstGeom>
        </p:spPr>
      </p:pic>
      <p:sp>
        <p:nvSpPr>
          <p:cNvPr id="32" name="Shape 26"/>
          <p:cNvSpPr/>
          <p:nvPr/>
        </p:nvSpPr>
        <p:spPr>
          <a:xfrm>
            <a:off x="236220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2545080" y="2249424"/>
            <a:ext cx="649224" cy="649224"/>
          </a:xfrm>
          <a:prstGeom prst="rect">
            <a:avLst/>
          </a:prstGeom>
        </p:spPr>
      </p:pic>
      <p:sp>
        <p:nvSpPr>
          <p:cNvPr id="34" name="Text 2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respect</a:t>
            </a:r>
            <a:endParaRPr lang="en-US" sz="1100" dirty="0"/>
          </a:p>
        </p:txBody>
      </p:sp>
      <p:sp>
        <p:nvSpPr>
          <p:cNvPr id="35" name="Shape 28"/>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6" name="Shape 29"/>
          <p:cNvSpPr/>
          <p:nvPr/>
        </p:nvSpPr>
        <p:spPr>
          <a:xfrm>
            <a:off x="11247120" y="3831336"/>
            <a:ext cx="292608" cy="292608"/>
          </a:xfrm>
          <a:prstGeom prst="ellipse">
            <a:avLst/>
          </a:prstGeom>
          <a:solidFill>
            <a:srgbClr val="2F6FB0"/>
          </a:solidFill>
          <a:ln w="12700">
            <a:solidFill>
              <a:srgbClr val="2F6FB0"/>
            </a:solidFill>
            <a:prstDash val="solid"/>
          </a:ln>
        </p:spPr>
      </p:sp>
      <p:sp>
        <p:nvSpPr>
          <p:cNvPr id="37" name="Text 30"/>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8" name="Text 31"/>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كَنِيسَةٌ وَهِيَ مَكَانٌ لِلْعِبَادَةِ.</a:t>
            </a:r>
            <a:endParaRPr lang="ar-SA" sz="2000" dirty="0"/>
          </a:p>
        </p:txBody>
      </p:sp>
      <p:sp>
        <p:nvSpPr>
          <p:cNvPr id="39" name="Shape 32"/>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0" name="Shape 33"/>
          <p:cNvSpPr/>
          <p:nvPr/>
        </p:nvSpPr>
        <p:spPr>
          <a:xfrm>
            <a:off x="11247120" y="4398264"/>
            <a:ext cx="292608" cy="292608"/>
          </a:xfrm>
          <a:prstGeom prst="ellipse">
            <a:avLst/>
          </a:prstGeom>
          <a:solidFill>
            <a:srgbClr val="2F6FB0"/>
          </a:solidFill>
          <a:ln w="12700">
            <a:solidFill>
              <a:srgbClr val="2F6FB0"/>
            </a:solidFill>
            <a:prstDash val="solid"/>
          </a:ln>
        </p:spPr>
      </p:sp>
      <p:sp>
        <p:nvSpPr>
          <p:cNvPr id="41" name="Text 34"/>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2" name="Text 35"/>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يَجِبُ أَنْ نَتَحَدَّثَ عَنِ الْمُعْتَقَدَاتِ بِاحْتِرَامٍ.</a:t>
            </a:r>
            <a:endParaRPr lang="ar-SA" sz="2000" dirty="0"/>
          </a:p>
        </p:txBody>
      </p:sp>
      <p:sp>
        <p:nvSpPr>
          <p:cNvPr id="43" name="Shape 36"/>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4" name="Shape 37"/>
          <p:cNvSpPr/>
          <p:nvPr/>
        </p:nvSpPr>
        <p:spPr>
          <a:xfrm>
            <a:off x="11247120" y="4965192"/>
            <a:ext cx="292608" cy="292608"/>
          </a:xfrm>
          <a:prstGeom prst="ellipse">
            <a:avLst/>
          </a:prstGeom>
          <a:solidFill>
            <a:srgbClr val="2F6FB0"/>
          </a:solidFill>
          <a:ln w="12700">
            <a:solidFill>
              <a:srgbClr val="2F6FB0"/>
            </a:solidFill>
            <a:prstDash val="solid"/>
          </a:ln>
        </p:spPr>
      </p:sp>
      <p:sp>
        <p:nvSpPr>
          <p:cNvPr id="45" name="Text 38"/>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6" name="Text 39"/>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هٰذَا مَسْجِدٌ وَهُوَ مَكَانٌ لِلْعِبَادَةِ.</a:t>
            </a:r>
            <a:endParaRPr lang="ar-SA" sz="2000" dirty="0"/>
          </a:p>
        </p:txBody>
      </p:sp>
      <p:sp>
        <p:nvSpPr>
          <p:cNvPr id="47" name="Text 40"/>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8" name="Text 41"/>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9"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52</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طَابِقِ الْمُعْتَقَدَ وَالْمَكَانَ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mosque</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مَسْجِدٌ وَهُوَ مَكَانٌ لِلْعِبَادَةِ.</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mosque; it is a place of worship.</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church</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كَنِيسَةٌ وَهِيَ مَكَانٌ لِلْعِبَادَةِ.</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church; it is a place of worship.</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17348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356360" y="2249424"/>
            <a:ext cx="649224" cy="649224"/>
          </a:xfrm>
          <a:prstGeom prst="rect">
            <a:avLst/>
          </a:prstGeom>
        </p:spPr>
      </p:pic>
      <p:sp>
        <p:nvSpPr>
          <p:cNvPr id="42" name="Shape 36"/>
          <p:cNvSpPr/>
          <p:nvPr/>
        </p:nvSpPr>
        <p:spPr>
          <a:xfrm>
            <a:off x="236220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2545080" y="2249424"/>
            <a:ext cx="649224" cy="649224"/>
          </a:xfrm>
          <a:prstGeom prst="rect">
            <a:avLst/>
          </a:prstGeom>
        </p:spPr>
      </p:pic>
      <p:sp>
        <p:nvSpPr>
          <p:cNvPr id="44" name="Text 3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respect</a:t>
            </a:r>
            <a:endParaRPr lang="en-US" sz="1100" dirty="0"/>
          </a:p>
        </p:txBody>
      </p:sp>
      <p:sp>
        <p:nvSpPr>
          <p:cNvPr id="45" name="Shape 38"/>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39"/>
          <p:cNvSpPr/>
          <p:nvPr/>
        </p:nvSpPr>
        <p:spPr>
          <a:xfrm>
            <a:off x="3617976" y="3785616"/>
            <a:ext cx="329184" cy="329184"/>
          </a:xfrm>
          <a:prstGeom prst="ellipse">
            <a:avLst/>
          </a:prstGeom>
          <a:solidFill>
            <a:srgbClr val="2E8B57"/>
          </a:solidFill>
          <a:ln w="12700">
            <a:solidFill>
              <a:srgbClr val="2E8B57"/>
            </a:solidFill>
            <a:prstDash val="solid"/>
          </a:ln>
        </p:spPr>
      </p:sp>
      <p:sp>
        <p:nvSpPr>
          <p:cNvPr id="47" name="Text 40"/>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8" name="Text 41"/>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يَجِبُ أَنْ نَتَحَدَّثَ عَنِ الْمُعْتَقَدَاتِ بِاحْتِرَامٍ.</a:t>
            </a:r>
            <a:endParaRPr lang="ar-SA" sz="2200" dirty="0"/>
          </a:p>
        </p:txBody>
      </p:sp>
      <p:sp>
        <p:nvSpPr>
          <p:cNvPr id="49" name="Text 42"/>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must talk about beliefs respectfully.</a:t>
            </a:r>
            <a:endParaRPr lang="en-US" sz="1200" dirty="0"/>
          </a:p>
        </p:txBody>
      </p:sp>
      <p:sp>
        <p:nvSpPr>
          <p:cNvPr id="50"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52</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ISLAMIC CELEBRATIONS — EID, RAMADAN AND RELIGIOUS OCCASIONS” · FLEX (TE-L06)</a:t>
            </a:r>
            <a:endParaRPr lang="en-US" sz="8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Which occasion? Match the picture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المُنَاسَبَاتُ وَالاحْتِفَالَاتُ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crescent and star</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Kaaba and a mosque</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6" name="Shape 29"/>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8" name="Shape 30"/>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0" name="Text 3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and gifts</a:t>
            </a:r>
            <a:endParaRPr lang="en-US" sz="1100" dirty="0"/>
          </a:p>
        </p:txBody>
      </p:sp>
      <p:sp>
        <p:nvSpPr>
          <p:cNvPr id="41" name="Shape 32"/>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3"/>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4"/>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4" name="Text 35"/>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عِيدُ الأَضْحَى مُنَاسَبَةٌ إِسْلَامِيَّةٌ.</a:t>
            </a:r>
            <a:endParaRPr lang="ar-SA" sz="2000" dirty="0"/>
          </a:p>
        </p:txBody>
      </p:sp>
      <p:sp>
        <p:nvSpPr>
          <p:cNvPr id="45" name="Shape 36"/>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7"/>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8"/>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8" name="Text 39"/>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تَجْتَمِعُ العَائِلَةُ لِلاحْتِفَالِ.</a:t>
            </a:r>
            <a:endParaRPr lang="ar-SA" sz="2000" dirty="0"/>
          </a:p>
        </p:txBody>
      </p:sp>
      <p:sp>
        <p:nvSpPr>
          <p:cNvPr id="49" name="Shape 40"/>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1"/>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2"/>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2" name="Text 43"/>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يَحْتَفِلُ المُسْلِمُونَ بِعِيدِ الفِطْرِ بَعْدَ رَمَضَانَ.</a:t>
            </a:r>
            <a:endParaRPr lang="ar-SA" sz="2000" dirty="0"/>
          </a:p>
        </p:txBody>
      </p:sp>
      <p:sp>
        <p:nvSpPr>
          <p:cNvPr id="53" name="Text 44"/>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4" name="Text 45"/>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5"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52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المُنَاسَبَاتُ وَالاحْتِفَالَاتُ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crescent and star</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يَحْتَفِلُ المُسْلِمُونَ بِعِيدِ الفِطْرِ بَعْدَ رَمَضَانَ.</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Muslims celebrate Eid al-Fitr after Ramadan.</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Kaaba and a mosque</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عِيدُ الأَضْحَى مُنَاسَبَةٌ إِسْلَامِيَّةٌ.</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Eid al-Adha is an Islamic occasion.</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6" name="Shape 39"/>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8" name="Shape 40"/>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50" name="Text 4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and gifts</a:t>
            </a:r>
            <a:endParaRPr lang="en-US" sz="1100" dirty="0"/>
          </a:p>
        </p:txBody>
      </p:sp>
      <p:sp>
        <p:nvSpPr>
          <p:cNvPr id="51" name="Shape 42"/>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3"/>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4"/>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4" name="Text 45"/>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تَجْتَمِعُ العَائِلَةُ لِلاحْتِفَالِ.</a:t>
            </a:r>
            <a:endParaRPr lang="ar-SA" sz="2200" dirty="0"/>
          </a:p>
        </p:txBody>
      </p:sp>
      <p:sp>
        <p:nvSpPr>
          <p:cNvPr id="55" name="Text 46"/>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family gathers to celebrate.</a:t>
            </a:r>
            <a:endParaRPr lang="en-US" sz="1200" dirty="0"/>
          </a:p>
        </p:txBody>
      </p:sp>
      <p:sp>
        <p:nvSpPr>
          <p:cNvPr id="56"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52</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السَّحُورُ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الإِفْطَارُ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لَيْلَةُ القَدْرِ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عِيدِيَّةٌ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صَلَاةُ العِيدِ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زَكَاةُ الفِطْرِ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يُزَيَّنُ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تُتَبَادَلُ</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تُوَزَّعُ</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Ramadan</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Eid</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Passive verb</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52</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Ramadan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السَّحُورُ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الإِفْطَارُ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لَيْلَةُ القَدْرِ</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Eid</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عِيدِيَّةٌ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صَلَاةُ العِيدِ</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زَكَاةُ الفِطْرِ</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Passive verb</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يُزَيَّنُ</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تُتَبَادَلُ</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تُوَزَّعُ</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52</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with a feminine plural subject.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يُتَبَادَلُ التَّهَانِي وَالهَدَايَا.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تُتَبَادَلُ التَّهَانِيَ وَالهَدَايَا.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تُتَبَادَلُ التَّهَانِي وَالهَدَايَا.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describes a general custom?</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تَصَدَّقْتُ أَمْسِ قَبْلَ الصَّلَاةِ.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يَتَصَدَّقُ النَّاسُ قَبْلَ صَلَاةِ العِيدِ.</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سَأَتَصَدَّقُ غَدًا.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qualifies a regional custom accurately?</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تُزَيَّنُ كُلُّ الشَّوَارِعِ فِي كُلِّ البُلْدَانِ.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بَعْضِ البُلْدَانِ تُزَيَّنُ الشَّوَارِعُ بِالفَوَانِيسِ.</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تُزَيَّنُ الشَّوَارِعُ أَبَدًا.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الحَلْوَى عَلَى الجِيرَانِ فِي أَوَّلِ أَيَّامِ 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يُوَزَّعُ</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تُوَزِّعُ</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تُوَزَّعُ</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52</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with a feminine plural subject.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يُتَبَادَلُ التَّهَانِي وَالهَدَايَا.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تُتَبَادَلُ التَّهَانِيَ وَالهَدَايَا.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تُتَبَادَلُ التَّهَانِي وَالهَدَايَا.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agrees with the nominative subject </a:t>
            </a:r>
            <a:pPr algn="l" indent="0" marL="0">
              <a:buNone/>
            </a:pPr>
            <a:r>
              <a:rPr lang="ar-SA" altLang="en-US" sz="1350" dirty="0">
                <a:solidFill>
                  <a:srgbClr val="8A6D1E"/>
                </a:solidFill>
                <a:latin typeface="Amiri" pitchFamily="2" charset="-78"/>
                <a:cs typeface="Amiri" pitchFamily="2" charset="-78"/>
              </a:rPr>
              <a:t>التَّهَانِي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describes a general custom?</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تَصَدَّقْتُ أَمْسِ قَبْلَ الصَّلَاةِ.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يَتَصَدَّقُ النَّاسُ قَبْلَ صَلَاةِ العِيدِ.</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سَأَتَصَدَّقُ غَدًا.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tense describes what generally happens.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qualifies a regional custom accurately?</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تُزَيَّنُ كُلُّ الشَّوَارِعِ فِي كُلِّ البُلْدَانِ.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بَعْضِ البُلْدَانِ تُزَيَّنُ الشَّوَارِعُ بِالفَوَانِيسِ.</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تُزَيَّنُ الشَّوَارِعُ أَبَدًا.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hedge reports where the custom is found without claiming it is universal.</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الحَلْوَى عَلَى الجِيرَانِ فِي أَوَّلِ أَيَّامِ 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يُوَزَّعُ</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تُوَزِّعُ</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تُوَزَّعُ</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الحَلْوَى</a:t>
            </a:r>
            <a:pPr algn="l" indent="0" marL="0">
              <a:buNone/>
            </a:pPr>
            <a:r>
              <a:rPr lang="en-US" sz="1050" i="1" dirty="0">
                <a:solidFill>
                  <a:srgbClr val="8A6D1E"/>
                </a:solidFill>
                <a:latin typeface="Calibri" pitchFamily="34" charset="0"/>
                <a:cs typeface="Amiri" pitchFamily="2" charset="-78"/>
              </a:rPr>
              <a:t> is feminine and is the subject of the passive verb.</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52</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يُزَيَّنُ الشَّارِعَ بِالفَوَانِيسِ.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Passive: the noun ends in -u!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صَامْتُ لِأَوَّلِ مَرَّةٍ.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ṣāma + -tu: which stem?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فِي رَمَضَانٍ يَصُومُ النَّاسُ.</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Ramaḍān: tanwīn or not?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52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يُزَيَّنُ الشَّارِعَ بِالفَوَانِيسِ.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يُزَيَّنُ الشَّارِعُ بِالفَوَانِيسِ.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 passive verb the affected noun becomes the nominative subject.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صَامْتُ لِأَوَّلِ مَرَّةٍ.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صُمْتُ لِأَوَّلِ مَرَّةٍ.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صَامَ</a:t>
            </a:r>
            <a:pPr algn="l" indent="0" marL="0">
              <a:buNone/>
            </a:pPr>
            <a:r>
              <a:rPr lang="en-US" sz="1150" b="1" dirty="0">
                <a:solidFill>
                  <a:srgbClr val="1B3B6F"/>
                </a:solidFill>
                <a:latin typeface="Calibri" pitchFamily="34" charset="0"/>
                <a:cs typeface="Amiri" pitchFamily="2" charset="-78"/>
              </a:rPr>
              <a:t> is a hollow verb and shortens before a consonant suffix.</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فِي رَمَضَانٍ يَصُومُ النَّاسُ.</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فِي رَمَضَانَ يَصُومُ النَّاسُ.</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رَمَضَان</a:t>
            </a:r>
            <a:pPr algn="l" indent="0" marL="0">
              <a:buNone/>
            </a:pPr>
            <a:r>
              <a:rPr lang="en-US" sz="1150" b="1" dirty="0">
                <a:solidFill>
                  <a:srgbClr val="1B3B6F"/>
                </a:solidFill>
                <a:latin typeface="Calibri" pitchFamily="34" charset="0"/>
                <a:cs typeface="Amiri" pitchFamily="2" charset="-78"/>
              </a:rPr>
              <a:t> is a diptote and takes no tanwīn.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52</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WE DO · LISTENING · TEACHER READS ALOUD TWICE · FLEX (TAUGHT IN FULL IN TE-L06)</a:t>
            </a:r>
            <a:endParaRPr lang="en-US" sz="87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Listening: a family describes Ramadan and Eid</a:t>
            </a:r>
            <a:endParaRPr lang="en-US" sz="20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 people break the fast?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sunset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dawn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midday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prepared shortly before sunset?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lanterns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prayer mats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table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describe street decoration?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happens everywhere</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never happens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happens in some countries, but not always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was the speaker when first fasting?</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Seven</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Twelve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children receive at Eid?</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New lanterns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Eid money</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prayer book</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5" name="Text 8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4 and 5.</a:t>
            </a:r>
            <a:endParaRPr lang="en-US" sz="1250" dirty="0"/>
          </a:p>
          <a:p>
            <a:pPr algn="l" indent="0" marL="0">
              <a:buNone/>
            </a:pPr>
            <a:r>
              <a:rPr lang="en-US" sz="1250" dirty="0">
                <a:solidFill>
                  <a:srgbClr val="1E6B52"/>
                </a:solidFill>
                <a:latin typeface="Calibri" pitchFamily="34" charset="0"/>
                <a:cs typeface="Amiri" pitchFamily="2" charset="-78"/>
              </a:rPr>
              <a:t>Ramadan first, then Eid.</a:t>
            </a:r>
            <a:endParaRPr lang="en-US" sz="12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52</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رَمَضَانَ يَصُومُ المُسْلِمُونَ مِنَ الفَجْرِ إِلَى المَغْرِبِ، ثُمَّ يُفْطِرُونَ مَعًا.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Ramadan Muslims fast from dawn to sunset, then break their fast together.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عِنْدَنَا تُعَدُّ المَائِدَةُ قَبْلَ المَغْرِبِ بِقَلِيلٍ، وَيَجْتَمِعُ الأَقَارِبُ وَالجِيرَانُ.</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ours the table is prepared shortly before sunset, and relatives and neighbours gather.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وَفِي بَعْضِ البُلْدَانِ تُزَيَّنُ الشَّوَارِعُ بِالفَوَانِيسِ، وَلٰكِنْ لَيْسَ دَائِمًا؛ فَالعَادَاتُ تَخْتَلِفُ.</a:t>
            </a:r>
            <a:endParaRPr lang="ar-SA" sz="18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some countries the streets are decorated with lanterns, but not always — customs differ.</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أَنَا صُمْتُ لِأَوَّلِ مَرَّةٍ عِنْدَمَا كُنْتُ فِي السَّابِعَةِ، وَكَانَتْ تَجْرِبَةً لَا تُنْسَى.</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fasted for the first time when I was seven, and it was an unforgettable experience.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وَفِي عِيدِ الفِطْرِ تُقَامُ صَلَاةُ العِيدِ صَبَاحًا، وَتُتَبَادَلُ التَّهَانِي، وَتُوَزَّعُ الحَلْوَى عَلَى الجِيرَانِ، وَيَأْخُذُ الأَطْفَالُ العِيدِيَّةَ.</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Eid al-Fitr the Eid prayer is held in the morning, greetings are exchanged, sweets are handed out to neighbours, and children receive Eid money.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52</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 people break the fast?</a:t>
            </a:r>
            <a:endParaRPr lang="en-US" sz="1250" dirty="0"/>
          </a:p>
        </p:txBody>
      </p:sp>
      <p:sp>
        <p:nvSpPr>
          <p:cNvPr id="21" name="Shape 18"/>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2" name="Shape 19"/>
          <p:cNvSpPr/>
          <p:nvPr/>
        </p:nvSpPr>
        <p:spPr>
          <a:xfrm>
            <a:off x="640080" y="2490216"/>
            <a:ext cx="256032" cy="256032"/>
          </a:xfrm>
          <a:prstGeom prst="ellipse">
            <a:avLst/>
          </a:prstGeom>
          <a:solidFill>
            <a:srgbClr val="2E8B57"/>
          </a:solidFill>
          <a:ln w="12700">
            <a:solidFill>
              <a:srgbClr val="2E8B57"/>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sunset</a:t>
            </a:r>
            <a:endParaRPr lang="en-US" sz="125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dawn</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midday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يَصُومُ … مِنَ الفَجْرِ إِلَى المَغْرِبِ، ثُمَّ يُفْطِرُونَ.</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prepared shortly before sunset?</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lanterns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prayer mats</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table</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تُعَدُّ المَائِدَةُ قَبْلَ المَغْرِبِ بِقَلِيلٍ.</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describe street decoration?</a:t>
            </a:r>
            <a:endParaRPr lang="en-US" sz="1250" dirty="0"/>
          </a:p>
        </p:txBody>
      </p:sp>
      <p:sp>
        <p:nvSpPr>
          <p:cNvPr id="51"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happens everywhere</a:t>
            </a:r>
            <a:endParaRPr lang="en-US" sz="125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never happens</a:t>
            </a:r>
            <a:endParaRPr lang="en-US" sz="1250" dirty="0"/>
          </a:p>
        </p:txBody>
      </p:sp>
      <p:sp>
        <p:nvSpPr>
          <p:cNvPr id="57"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happens in some countries, but not always</a:t>
            </a:r>
            <a:endParaRPr lang="en-US" sz="11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بَعْضِ البُلْدَانِ تُزَيَّنُ الشَّوَارِعُ … وَلٰكِنْ لَيْسَ دَائِمًا.</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was the speaker when first fasting?</a:t>
            </a:r>
            <a:endParaRPr lang="en-US" sz="1250" dirty="0"/>
          </a:p>
        </p:txBody>
      </p:sp>
      <p:sp>
        <p:nvSpPr>
          <p:cNvPr id="66" name="Shape 63"/>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40080"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Seven</a:t>
            </a:r>
            <a:endParaRPr lang="en-US" sz="1250" dirty="0"/>
          </a:p>
        </p:txBody>
      </p:sp>
      <p:sp>
        <p:nvSpPr>
          <p:cNvPr id="70"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Twelve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صُمْتُ لِأَوَّلِ مَرَّةٍ عِنْدَمَا كُنْتُ فِي السَّابِعَةِ.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children receive at Eid?</a:t>
            </a:r>
            <a:endParaRPr lang="en-US" sz="125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New lanterns</a:t>
            </a:r>
            <a:endParaRPr lang="en-US" sz="1250" dirty="0"/>
          </a:p>
        </p:txBody>
      </p:sp>
      <p:sp>
        <p:nvSpPr>
          <p:cNvPr id="84" name="Shape 81"/>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5202936"/>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Eid money</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prayer book</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وَيَأْخُذُ الأَطْفَالُ العِيدِيَّةَ.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4" name="Text 9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5" name="Text 9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4 and 5.</a:t>
            </a:r>
            <a:endParaRPr lang="en-US" sz="1250" dirty="0"/>
          </a:p>
          <a:p>
            <a:pPr algn="l" indent="0" marL="0">
              <a:buNone/>
            </a:pPr>
            <a:r>
              <a:rPr lang="en-US" sz="1250" dirty="0">
                <a:solidFill>
                  <a:srgbClr val="1E6B52"/>
                </a:solidFill>
                <a:latin typeface="Calibri" pitchFamily="34" charset="0"/>
                <a:cs typeface="Amiri" pitchFamily="2" charset="-78"/>
              </a:rPr>
              <a:t>Ramadan first, then Eid.</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52</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E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Belief and place vocabulary match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E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Belief and place vocabulary match</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Match neutral vocabulary for faith, belief, community and places of worship to short factual descriptions, then compare two statements respectfully without making value judgements.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Match 8 words (faith · belief · community · places of worship) to 8 short factual descriptions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Check with a partner: read each match aloud as a full sentence.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two statements about practices and compare them respectfully (baynamā …).</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Rule: describe, do not judge — no “better / worse”.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Match the cards; one fact: “al-masjid makān ʿibāda”.</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facts, one with a relative clause (makān yuṣallī fīhi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respectful comparison of two statements with “baynamā” and a hedge (baʿḍ / kathīr min).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المَسْجِدُ مَكَانُ عِبَادَةٍ لِلْمُسْلِمِينَ</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the mosque is a place of worship for Muslims</a:t>
            </a:r>
            <a:endParaRPr lang="en-US" sz="85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مَكَانٌ يُصَلِّي فِيهِ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place where … pray</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بَيْنَمَا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whereas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يَعْتَقِدُ كَثِيرٌ مِنَ النَّاسِ أَنَّ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many people believe that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52</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Speaking: describe a celebration accurately</a:t>
            </a:r>
            <a:endParaRPr lang="en-US" sz="22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مَا يَحْدُثُ عَادَةً فِي رَمَضَانَ. اِسْتَعْمِلْ فِعْلًا مَبْنِيًّا لِلْمَجْهُولِ.</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تَخْتَلِفُ العَادَاتُ مِنْ بَلَدٍ إِلَى بَلَدٍ؟ أَعْطِ مِثَالًا.</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مُنَاسَبَةً حَضَرْتَهَا بِنَفْسِكَ، مُسْتَعْمِلًا الفِعْلَ المَاضِيَ.</a:t>
            </a:r>
            <a:endParaRPr lang="ar-SA" sz="1800" dirty="0"/>
          </a:p>
        </p:txBody>
      </p:sp>
      <p:sp>
        <p:nvSpPr>
          <p:cNvPr id="44" name="Shape 41"/>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5" name="Text 42"/>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6" name="Shape 43"/>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D5FBF"/>
                </a:solidFill>
                <a:latin typeface="Amiri" pitchFamily="2" charset="-78"/>
                <a:cs typeface="Amiri" pitchFamily="2" charset="-78"/>
              </a:rPr>
              <a:t>فِي رَمَضَانَ يَصُومُ المُسْلِمُونَ ، وَتُعَدُّ ___ .</a:t>
            </a:r>
            <a:endParaRPr lang="ar-SA" sz="1500" dirty="0"/>
          </a:p>
        </p:txBody>
      </p:sp>
      <p:sp>
        <p:nvSpPr>
          <p:cNvPr id="49" name="Shape 46"/>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0" name="Text 47"/>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1" name="Text 48"/>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فِي بَعْضِ البُلْدَانِ ___ ، بَيْنَمَا ___ .</a:t>
            </a:r>
            <a:endParaRPr lang="ar-SA" sz="1600" dirty="0"/>
          </a:p>
        </p:txBody>
      </p:sp>
      <p:sp>
        <p:nvSpPr>
          <p:cNvPr id="52" name="Shape 49"/>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3" name="Text 50"/>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4" name="Text 51"/>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فِي العِيدِ المَاضِي ___ ، وَكَانَ يَوْمًا ___ .</a:t>
            </a:r>
            <a:endParaRPr lang="ar-SA" sz="1400" dirty="0"/>
          </a:p>
        </p:txBody>
      </p:sp>
      <p:sp>
        <p:nvSpPr>
          <p:cNvPr id="55" name="Shape 52"/>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7" name="Shape 54"/>
          <p:cNvSpPr/>
          <p:nvPr/>
        </p:nvSpPr>
        <p:spPr>
          <a:xfrm>
            <a:off x="11274552" y="5559552"/>
            <a:ext cx="292608" cy="292608"/>
          </a:xfrm>
          <a:prstGeom prst="ellipse">
            <a:avLst/>
          </a:prstGeom>
          <a:solidFill>
            <a:srgbClr val="1E6B52"/>
          </a:solidFill>
          <a:ln w="12700">
            <a:solidFill>
              <a:srgbClr val="1E6B52"/>
            </a:solidFill>
            <a:prstDash val="solid"/>
          </a:ln>
        </p:spPr>
      </p:sp>
      <p:sp>
        <p:nvSpPr>
          <p:cNvPr id="58" name="Text 55"/>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9" name="Text 56"/>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صِفْ مَا يَحْدُثُ عَادَةً فِي رَمَضَانَ.</a:t>
            </a:r>
            <a:endParaRPr lang="ar-SA" sz="1550" dirty="0"/>
          </a:p>
        </p:txBody>
      </p:sp>
      <p:sp>
        <p:nvSpPr>
          <p:cNvPr id="60" name="Text 57"/>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what usually happens in Ramadan.</a:t>
            </a:r>
            <a:endParaRPr lang="en-US" sz="950" dirty="0"/>
          </a:p>
        </p:txBody>
      </p:sp>
      <p:sp>
        <p:nvSpPr>
          <p:cNvPr id="61" name="Shape 58"/>
          <p:cNvSpPr/>
          <p:nvPr/>
        </p:nvSpPr>
        <p:spPr>
          <a:xfrm>
            <a:off x="11274552" y="5925312"/>
            <a:ext cx="292608" cy="292608"/>
          </a:xfrm>
          <a:prstGeom prst="ellipse">
            <a:avLst/>
          </a:prstGeom>
          <a:solidFill>
            <a:srgbClr val="1E6B52"/>
          </a:solidFill>
          <a:ln w="12700">
            <a:solidFill>
              <a:srgbClr val="1E6B52"/>
            </a:solidFill>
            <a:prstDash val="solid"/>
          </a:ln>
        </p:spPr>
      </p:sp>
      <p:sp>
        <p:nvSpPr>
          <p:cNvPr id="62" name="Text 59"/>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3" name="Text 60"/>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يَصُومُ المُسْلِمُونَ مِنَ الفَجْرِ إِلَى المَغْرِبِ، وَفِي بَعْضِ البُلْدَانِ تُزَيَّنُ الشَّوَارِعُ بِالفَوَانِيسِ.</a:t>
            </a:r>
            <a:endParaRPr lang="ar-SA" sz="1550" dirty="0"/>
          </a:p>
        </p:txBody>
      </p:sp>
      <p:sp>
        <p:nvSpPr>
          <p:cNvPr id="64" name="Text 61"/>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Muslims fast from dawn to sunset, and in some countries the streets are decorated with lanterns.</a:t>
            </a:r>
            <a:endParaRPr lang="en-US" sz="7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52</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YOU DO · INDEPENDENT PRACTICE · 9 MINUTES · FLEX (TAUGHT IN FULL IN TE-L06)</a:t>
            </a:r>
            <a:endParaRPr lang="en-US" sz="93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20" name="Text 17"/>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21" name="Text 18"/>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2" name="Text 19"/>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six sentences naming Ramadan and Eid customs in the present tense.</a:t>
            </a:r>
            <a:endParaRPr lang="en-US" sz="1400" dirty="0"/>
          </a:p>
        </p:txBody>
      </p:sp>
      <p:sp>
        <p:nvSpPr>
          <p:cNvPr id="23" name="Shape 20"/>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4" name="Text 21"/>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Ramadan and Eid customs in the present tense.</a:t>
            </a:r>
            <a:endParaRPr lang="en-US" sz="900" dirty="0"/>
          </a:p>
        </p:txBody>
      </p:sp>
      <p:sp>
        <p:nvSpPr>
          <p:cNvPr id="25" name="Shape 22"/>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7" name="Text 24"/>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8" name="Text 25"/>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9" name="Text 26"/>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30" name="Text 27"/>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passive verbs with accurate nominative subjects.</a:t>
            </a:r>
            <a:endParaRPr lang="en-US" sz="1400" dirty="0"/>
          </a:p>
        </p:txBody>
      </p:sp>
      <p:sp>
        <p:nvSpPr>
          <p:cNvPr id="31" name="Shape 28"/>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2" name="Text 29"/>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two passive verbs with a nominative subject.</a:t>
            </a:r>
            <a:endParaRPr lang="en-US" sz="900" dirty="0"/>
          </a:p>
        </p:txBody>
      </p:sp>
      <p:sp>
        <p:nvSpPr>
          <p:cNvPr id="33" name="Shape 30"/>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5" name="Text 32"/>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6" name="Text 33"/>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7" name="Text 34"/>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8" name="Text 35"/>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past-tense personal memory and a hedge that acknowledges regional difference.</a:t>
            </a:r>
            <a:endParaRPr lang="en-US" sz="1400" dirty="0"/>
          </a:p>
        </p:txBody>
      </p:sp>
      <p:sp>
        <p:nvSpPr>
          <p:cNvPr id="39" name="Shape 36"/>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40" name="Text 37"/>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present custom · 2 passives · a past memory · a hedge.</a:t>
            </a:r>
            <a:endParaRPr lang="en-US" sz="90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52</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E6B52"/>
                </a:solidFill>
                <a:latin typeface="Calibri" pitchFamily="34" charset="0"/>
                <a:cs typeface="Amiri" pitchFamily="2" charset="-78"/>
              </a:rPr>
              <a:t>YOU DO · SUPPORT · CORE AND DEVELOP FRAMES · FLEX (TAUGHT IN FULL IN TE-L06)</a:t>
            </a:r>
            <a:endParaRPr lang="en-US" sz="918"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9" name="Text 16"/>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20" name="Text 17"/>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تُعَدُّ ______ قَبْلَ المَغْرِبِ.</a:t>
            </a:r>
            <a:endParaRPr lang="ar-SA" sz="1800" dirty="0"/>
          </a:p>
        </p:txBody>
      </p:sp>
      <p:sp>
        <p:nvSpPr>
          <p:cNvPr id="21" name="Text 18"/>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prepared before sunset.</a:t>
            </a:r>
            <a:endParaRPr lang="en-US" sz="1050" dirty="0"/>
          </a:p>
        </p:txBody>
      </p:sp>
      <p:sp>
        <p:nvSpPr>
          <p:cNvPr id="22" name="Text 19"/>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تُتَبَادَلُ ______ .</a:t>
            </a:r>
            <a:endParaRPr lang="ar-SA" sz="1800" dirty="0"/>
          </a:p>
        </p:txBody>
      </p:sp>
      <p:sp>
        <p:nvSpPr>
          <p:cNvPr id="23" name="Text 20"/>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are exchanged.</a:t>
            </a:r>
            <a:endParaRPr lang="en-US" sz="1050" dirty="0"/>
          </a:p>
        </p:txBody>
      </p:sp>
      <p:sp>
        <p:nvSpPr>
          <p:cNvPr id="24" name="Text 21"/>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بَعْضِ البُلْدَانِ تُزَيَّنُ ______ بِـ ______ .</a:t>
            </a:r>
            <a:endParaRPr lang="ar-SA" sz="1800" dirty="0"/>
          </a:p>
        </p:txBody>
      </p:sp>
      <p:sp>
        <p:nvSpPr>
          <p:cNvPr id="25" name="Text 22"/>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some countries … are decorated with …</a:t>
            </a:r>
            <a:endParaRPr lang="en-US" sz="1050" dirty="0"/>
          </a:p>
        </p:txBody>
      </p:sp>
      <p:sp>
        <p:nvSpPr>
          <p:cNvPr id="26" name="Text 23"/>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صُمْتُ لِأَوَّلِ مَرَّةٍ عِنْدَمَا ______ .</a:t>
            </a:r>
            <a:endParaRPr lang="ar-SA" sz="1800" dirty="0"/>
          </a:p>
        </p:txBody>
      </p:sp>
      <p:sp>
        <p:nvSpPr>
          <p:cNvPr id="27" name="Text 24"/>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fasted for the first time when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فِي رَمَضَانَ يَصُومُ المُسْلِمُونَ مِنَ ______ إِلَى ______ .</a:t>
            </a:r>
            <a:endParaRPr lang="ar-SA" sz="145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Ramadan Muslims fast from … to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المَسَاءِ نُفْطِرُ مَعَ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evening we break our fast with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صَبَاحِ العِيدِ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Eid morning we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يَأْخُذُ الأَطْفَالُ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Children receive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يَصُومُ  ·  صُمْتُ · صُمْنَا  ·  يُفْطِرُ  ·  الإِفْطَارُ  ·  السَّحُورُ  ·  تُعَدُّ  ·  تُزَيَّنُ  ·  تُتَبَادَلُ  ·  تُوَزَّعُ  ·  تُقَامُ  ·  صَلَاةُ العِيدِ  ·  فِي بَعْضِ البُلْدَانِ</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52</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E6B52"/>
                </a:solidFill>
                <a:latin typeface="Calibri" pitchFamily="34" charset="0"/>
                <a:cs typeface="Amiri" pitchFamily="2" charset="-78"/>
              </a:rPr>
              <a:t>YOU DO · STRETCH · THE WEBSITE WRITING TASK · FLEX (TAUGHT IN FULL IN TE-L06)</a:t>
            </a:r>
            <a:endParaRPr lang="en-US" sz="903"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9" name="Text 16"/>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20" name="Text 17"/>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eighty to ninety words describing Ramadan and Eid. Use the present tense for the general customs, at least two passive verbs, one past-tense sentence about a personal or observed experience, and one hedge acknowledging that customs differ.</a:t>
            </a:r>
            <a:endParaRPr lang="en-US" sz="1300" dirty="0"/>
          </a:p>
        </p:txBody>
      </p:sp>
      <p:sp>
        <p:nvSpPr>
          <p:cNvPr id="21" name="Text 18"/>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passive verbs, each with a nominative subject.</a:t>
            </a:r>
            <a:endParaRPr lang="en-US" sz="1200" dirty="0"/>
          </a:p>
        </p:txBody>
      </p:sp>
      <p:sp>
        <p:nvSpPr>
          <p:cNvPr id="22" name="Text 19"/>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present-tense sentence describing a general custom.</a:t>
            </a:r>
            <a:endParaRPr lang="en-US" sz="1200" dirty="0"/>
          </a:p>
        </p:txBody>
      </p:sp>
      <p:sp>
        <p:nvSpPr>
          <p:cNvPr id="23" name="Text 20"/>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past-tense sentence, with a correctly shortened hollow verb if you use </a:t>
            </a:r>
            <a:pPr algn="l" indent="0" marL="0">
              <a:buNone/>
            </a:pPr>
            <a:r>
              <a:rPr lang="ar-SA" altLang="en-US" sz="1550" dirty="0">
                <a:solidFill>
                  <a:srgbClr val="1F2A37"/>
                </a:solidFill>
                <a:latin typeface="Amiri" pitchFamily="2" charset="-78"/>
                <a:cs typeface="Amiri" pitchFamily="2" charset="-78"/>
              </a:rPr>
              <a:t>صَامَ</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4" name="Text 21"/>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hedge such as </a:t>
            </a:r>
            <a:pPr algn="l" indent="0" marL="0">
              <a:buNone/>
            </a:pPr>
            <a:r>
              <a:rPr lang="ar-SA" altLang="en-US" sz="1550" dirty="0">
                <a:solidFill>
                  <a:srgbClr val="1F2A37"/>
                </a:solidFill>
                <a:latin typeface="Amiri" pitchFamily="2" charset="-78"/>
                <a:cs typeface="Amiri" pitchFamily="2" charset="-78"/>
              </a:rPr>
              <a:t>فِي بَعْضِ البُلْدَانِ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لَيْسَ دَائِمًا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5" name="Shape 22"/>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7" name="Text 24"/>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يَبْدَأُ الشَّهْرُ عِنْدَ رُؤْيَةِ الهِلَالِ</a:t>
            </a:r>
            <a:endParaRPr lang="ar-SA" sz="1800" dirty="0"/>
          </a:p>
        </p:txBody>
      </p:sp>
      <p:sp>
        <p:nvSpPr>
          <p:cNvPr id="28" name="Text 25"/>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month begins when the crescent is sighted</a:t>
            </a:r>
            <a:endParaRPr lang="en-US" sz="1050" dirty="0"/>
          </a:p>
        </p:txBody>
      </p:sp>
      <p:sp>
        <p:nvSpPr>
          <p:cNvPr id="29" name="Text 26"/>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يَزْدَادُ التَّضَامُنُ المُجْتَمَعِيُّ</a:t>
            </a:r>
            <a:endParaRPr lang="ar-SA" sz="1800" dirty="0"/>
          </a:p>
        </p:txBody>
      </p:sp>
      <p:sp>
        <p:nvSpPr>
          <p:cNvPr id="30" name="Text 27"/>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community solidarity increases</a:t>
            </a:r>
            <a:endParaRPr lang="en-US" sz="1050" dirty="0"/>
          </a:p>
        </p:txBody>
      </p:sp>
      <p:sp>
        <p:nvSpPr>
          <p:cNvPr id="31" name="Text 28"/>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تُوَزَّعُ الوَجَبَاتُ عَلَى المُحْتَاجِينَ</a:t>
            </a:r>
            <a:endParaRPr lang="ar-SA" sz="1800" dirty="0"/>
          </a:p>
        </p:txBody>
      </p:sp>
      <p:sp>
        <p:nvSpPr>
          <p:cNvPr id="32" name="Text 29"/>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meals are distributed to those in need</a:t>
            </a:r>
            <a:endParaRPr lang="en-US" sz="1050" dirty="0"/>
          </a:p>
        </p:txBody>
      </p:sp>
      <p:sp>
        <p:nvSpPr>
          <p:cNvPr id="33" name="Text 30"/>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فَلِكُلِّ مُجْتَمَعٍ طَرِيقَتُهُ</a:t>
            </a:r>
            <a:endParaRPr lang="ar-SA" sz="1800" dirty="0"/>
          </a:p>
        </p:txBody>
      </p:sp>
      <p:sp>
        <p:nvSpPr>
          <p:cNvPr id="34" name="Text 31"/>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each community has its own way</a:t>
            </a:r>
            <a:endParaRPr lang="en-US" sz="1050" dirty="0"/>
          </a:p>
        </p:txBody>
      </p:sp>
      <p:sp>
        <p:nvSpPr>
          <p:cNvPr id="35" name="Text 32"/>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وَكَانَ يَوْمًا جَمِيلًا</a:t>
            </a:r>
            <a:endParaRPr lang="ar-SA" sz="1800" dirty="0"/>
          </a:p>
        </p:txBody>
      </p:sp>
      <p:sp>
        <p:nvSpPr>
          <p:cNvPr id="36" name="Text 33"/>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it was a beautiful day</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52</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8A6D1E"/>
                </a:solidFill>
                <a:latin typeface="Calibri" pitchFamily="34" charset="0"/>
                <a:cs typeface="Amiri" pitchFamily="2" charset="-78"/>
              </a:rPr>
              <a:t>FEEDBACK · COMPARE WITH THE MODEL · FLEX (TAUGHT IN FULL IN TE-L06)</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يَصُومُ المُسْلِمُونَ شَهْرَ رَمَضَانَ مِنَ الفَجْرِ إِلَى المَغْرِبِ، وَيَبْدَأُ الشَّهْرُ عِنْدَ رُؤْيَةِ الهِلَالِ. وَفِي المَسَاءِ تُعَدُّ المَائِدَةُ وَيَجْتَمِعُ الأَقَارِبُ عَلَى الإِفْطَارِ. وَيَزْدَادُ التَّضَامُنُ المُجْتَمَعِيُّ، فَيَتَصَدَّقُ النَّاسُ وَتُوَزَّعُ الوَجَبَاتُ عَلَى المُحْتَاجِينَ. وَفِي بَعْضِ البُلْدَانِ تُزَيَّنُ الشَّوَارِعُ بِالفَوَانِيسِ، وَلٰكِنْ لَيْسَ دَائِمًا؛ فَالعَادَاتُ تَخْتَلِفُ مِنْ مَكَانٍ إِلَى مَكَانٍ. وَفِي عِيدِ الفِطْرِ تُقَامُ صَلَاةُ العِيدِ صَبَاحًا، وَتُتَبَادَلُ التَّهَانِي، وَيَأْخُذُ الأَطْفَالُ العِيدِيَّةَ. وَقَدْ زُرْنَا الأَقَارِبَ فِي أَوَّلِ أَيَّامِ العِيدِ، وَكَانَ يَوْمًا جَمِيلًا.</a:t>
            </a:r>
            <a:endParaRPr lang="ar-SA" sz="2300" dirty="0"/>
          </a:p>
        </p:txBody>
      </p:sp>
      <p:sp>
        <p:nvSpPr>
          <p:cNvPr id="19" name="Shape 16"/>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20" name="Text 17"/>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Muslims fast the month of Ramadan from dawn to sunset, and the month begins when the crescent is sighted. In the evening the table is prepared and relatives gather for iftar. Community solidarity increases: people give charity and meals are distributed to those in need. In some countries the streets are decorated with lanterns, but not always — customs differ from place to place. On Eid al-Fitr the Eid prayer is held in the morning, greetings are exchanged and children receive Eid money. We visited our relatives on the first day of Eid, and it was a beautiful day.</a:t>
            </a:r>
            <a:endParaRPr lang="en-US" sz="1150" dirty="0"/>
          </a:p>
        </p:txBody>
      </p:sp>
      <p:sp>
        <p:nvSpPr>
          <p:cNvPr id="21" name="Text 18"/>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2" name="Shape 19"/>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3" name="Text 20"/>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present general custom</a:t>
            </a:r>
            <a:endParaRPr lang="en-US" sz="950" dirty="0"/>
          </a:p>
        </p:txBody>
      </p:sp>
      <p:sp>
        <p:nvSpPr>
          <p:cNvPr id="24" name="Shape 21"/>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5" name="Text 22"/>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passive verbs</a:t>
            </a:r>
            <a:endParaRPr lang="en-US" sz="950" dirty="0"/>
          </a:p>
        </p:txBody>
      </p:sp>
      <p:sp>
        <p:nvSpPr>
          <p:cNvPr id="26" name="Shape 23"/>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7" name="Text 24"/>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past memory</a:t>
            </a:r>
            <a:endParaRPr lang="en-US" sz="950" dirty="0"/>
          </a:p>
        </p:txBody>
      </p:sp>
      <p:sp>
        <p:nvSpPr>
          <p:cNvPr id="28" name="Shape 25"/>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9" name="Text 26"/>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hedge</a:t>
            </a:r>
            <a:endParaRPr lang="en-US" sz="9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52</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103120"/>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four places of worship and who prays there.</a:t>
            </a:r>
            <a:endParaRPr lang="en-US" sz="1300" dirty="0"/>
          </a:p>
        </p:txBody>
      </p:sp>
      <p:sp>
        <p:nvSpPr>
          <p:cNvPr id="18" name="Shape 15"/>
          <p:cNvSpPr/>
          <p:nvPr/>
        </p:nvSpPr>
        <p:spPr>
          <a:xfrm>
            <a:off x="6583680" y="2084832"/>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8483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43200"/>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3035808"/>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43200"/>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 / f. / pl. forms for people (muslim – muslima – muslimūn).</a:t>
            </a:r>
            <a:endParaRPr lang="en-US" sz="1300" dirty="0"/>
          </a:p>
        </p:txBody>
      </p:sp>
      <p:sp>
        <p:nvSpPr>
          <p:cNvPr id="23" name="Shape 20"/>
          <p:cNvSpPr/>
          <p:nvPr/>
        </p:nvSpPr>
        <p:spPr>
          <a:xfrm>
            <a:off x="6583680" y="3017520"/>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3017520"/>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75888"/>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968496"/>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75888"/>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relative clause with fīhi / fīhā.</a:t>
            </a:r>
            <a:endParaRPr lang="en-US" sz="1300" dirty="0"/>
          </a:p>
        </p:txBody>
      </p:sp>
      <p:sp>
        <p:nvSpPr>
          <p:cNvPr id="28" name="Shape 25"/>
          <p:cNvSpPr/>
          <p:nvPr/>
        </p:nvSpPr>
        <p:spPr>
          <a:xfrm>
            <a:off x="6583680" y="3950208"/>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950208"/>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608576"/>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901184"/>
            <a:ext cx="219456" cy="219456"/>
          </a:xfrm>
          <a:prstGeom prst="rect">
            <a:avLst/>
          </a:prstGeom>
          <a:solidFill>
            <a:srgbClr val="FFFFFF"/>
          </a:solidFill>
          <a:ln w="19050">
            <a:solidFill>
              <a:srgbClr val="B83227"/>
            </a:solidFill>
            <a:prstDash val="solid"/>
          </a:ln>
        </p:spPr>
      </p:sp>
      <p:sp>
        <p:nvSpPr>
          <p:cNvPr id="32" name="Text 29"/>
          <p:cNvSpPr txBox="1"/>
          <p:nvPr/>
        </p:nvSpPr>
        <p:spPr>
          <a:xfrm>
            <a:off x="1097280" y="4608576"/>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two practices with baynamā and a hedge, without judging.</a:t>
            </a:r>
            <a:endParaRPr lang="en-US" sz="1300" dirty="0"/>
          </a:p>
        </p:txBody>
      </p:sp>
      <p:sp>
        <p:nvSpPr>
          <p:cNvPr id="33" name="Shape 30"/>
          <p:cNvSpPr/>
          <p:nvPr/>
        </p:nvSpPr>
        <p:spPr>
          <a:xfrm>
            <a:off x="6583680" y="4882896"/>
            <a:ext cx="1097280" cy="256032"/>
          </a:xfrm>
          <a:prstGeom prst="roundRect">
            <a:avLst>
              <a:gd name="adj" fmla="val 50000"/>
            </a:avLst>
          </a:prstGeom>
          <a:solidFill>
            <a:srgbClr val="B83227"/>
          </a:solidFill>
          <a:ln w="12700">
            <a:solidFill>
              <a:srgbClr val="B83227"/>
            </a:solidFill>
            <a:prstDash val="solid"/>
          </a:ln>
        </p:spPr>
      </p:sp>
      <p:sp>
        <p:nvSpPr>
          <p:cNvPr id="34" name="Text 31"/>
          <p:cNvSpPr txBox="1"/>
          <p:nvPr/>
        </p:nvSpPr>
        <p:spPr>
          <a:xfrm>
            <a:off x="6583680" y="4882896"/>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35" name="Shape 32"/>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37" name="Shape 34"/>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52</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تُوَزَّعُ الحَلْوَى عَلَى الجِيرَانِ.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تُوَزَّعُ الحَلْوَى الجِيرَانَ.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تُوَزِّعُ الحَلْوَى عَلَى الجِيرَانِ.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يَصُومُ النَّاسُ فِي</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رَمَضَانٍ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رَمَضَانَ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رَمَضَانًا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form of </a:t>
            </a:r>
            <a:pPr algn="l" indent="0" marL="0">
              <a:buNone/>
            </a:pPr>
            <a:r>
              <a:rPr lang="ar-SA" altLang="en-US" sz="1650" b="1" dirty="0">
                <a:solidFill>
                  <a:srgbClr val="1B3B6F"/>
                </a:solidFill>
                <a:latin typeface="Amiri" pitchFamily="2" charset="-78"/>
                <a:cs typeface="Amiri" pitchFamily="2" charset="-78"/>
              </a:rPr>
              <a:t>صَامَ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صُمْنَا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صَامْنَا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صِمْنَا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52</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تُوَزَّعُ الحَلْوَى عَلَى الجِيرَانِ.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تُوَزَّعُ الحَلْوَى الجِيرَانَ.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تُوَزِّعُ الحَلْوَى عَلَى الجِيرَانِ.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verb takes a nominative subject and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for the recipients.</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يَصُومُ النَّاسُ فِي</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رَمَضَانٍ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رَمَضَانَ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رَمَضَانًا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رَمَضَان</a:t>
            </a:r>
            <a:pPr algn="l" indent="0" marL="0">
              <a:buNone/>
            </a:pPr>
            <a:r>
              <a:rPr lang="en-US" sz="1050" i="1" dirty="0">
                <a:solidFill>
                  <a:srgbClr val="8A6D1E"/>
                </a:solidFill>
                <a:latin typeface="Calibri" pitchFamily="34" charset="0"/>
                <a:cs typeface="Amiri" pitchFamily="2" charset="-78"/>
              </a:rPr>
              <a:t> is a diptote, so the genitive is a bare fatḥa.</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form of </a:t>
            </a:r>
            <a:pPr algn="l" indent="0" marL="0">
              <a:buNone/>
            </a:pPr>
            <a:r>
              <a:rPr lang="ar-SA" altLang="en-US" sz="1650" b="1" dirty="0">
                <a:solidFill>
                  <a:srgbClr val="1B3B6F"/>
                </a:solidFill>
                <a:latin typeface="Amiri" pitchFamily="2" charset="-78"/>
                <a:cs typeface="Amiri" pitchFamily="2" charset="-78"/>
              </a:rPr>
              <a:t>صَامَ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صُمْنَا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صَامْنَا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صِمْنَا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hollow stem shortens to </a:t>
            </a:r>
            <a:pPr algn="l" indent="0" marL="0">
              <a:buNone/>
            </a:pPr>
            <a:r>
              <a:rPr lang="ar-SA" altLang="en-US" sz="1350" dirty="0">
                <a:solidFill>
                  <a:srgbClr val="8A6D1E"/>
                </a:solidFill>
                <a:latin typeface="Amiri" pitchFamily="2" charset="-78"/>
                <a:cs typeface="Amiri" pitchFamily="2" charset="-78"/>
              </a:rPr>
              <a:t>صُمْـ</a:t>
            </a:r>
            <a:pPr algn="l" indent="0" marL="0">
              <a:buNone/>
            </a:pPr>
            <a:r>
              <a:rPr lang="en-US" sz="1050" i="1" dirty="0">
                <a:solidFill>
                  <a:srgbClr val="8A6D1E"/>
                </a:solidFill>
                <a:latin typeface="Calibri" pitchFamily="34" charset="0"/>
                <a:cs typeface="Amiri" pitchFamily="2" charset="-78"/>
              </a:rPr>
              <a:t> before a consonant suffix.</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52</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Reading: one month, many customs</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2" charset="-78"/>
                <a:cs typeface="Amiri" pitchFamily="2" charset="-78"/>
              </a:rPr>
              <a:t>يَصُومُ المُسْلِمُونَ شَهْرَ رَمَضَانَ كُلَّ سَنَةٍ، وَيَبْدَأُ الشَّهْرُ عِنْدَ رُؤْيَةِ الهِلَالِ. وَإِلَى جَانِبِ الصِّيَامِ يَزْدَادُ التَّضَامُنُ المُجْتَمَعِيُّ: يَتَصَدَّقُ النَّاسُ، وَتُوَزَّعُ وَجَبَاتُ الإِفْطَارِ عَلَى المُحْتَاجِينَ. وَتَخْتَلِفُ العَادَاتُ مِنْ بَلَدٍ إِلَى بَلَدٍ؛ فَفِي بَعْضِ المُدُنِ تُزَيَّنُ الشَّوَارِعُ بِالفَوَانِيسِ، وَفِي مُدُنٍ أُخْرَى يَكُونُ الاحْتِفَالُ أَبْسَطَ وَأَهْدَأَ. وَفِي عِيدِ الفِطْرِ تُقَامُ صَلَاةُ العِيدِ فِي الصَّبَاحِ، ثُمَّ تُتَبَادَلُ التَّهَانِي وَتُزَارُ الأَقَارِبُ. وَمِنَ الخَطَأِ أَنْ نَتَصَوَّرَ أَنَّ الاحْتِفَالَ وَاحِدٌ فِي كُلِّ مَكَانٍ؛ فَلِكُلِّ مُجْتَمَعٍ طَرِيقَتُهُ.</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رُؤْيَةِ الهِلَالِ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sighting of the crescent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التَّضَامُنُ المُجْتَمَعِيُّ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community solidarity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يَتَصَدَّقُ</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gives charity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وَجَبَاتُ الإِفْطَارِ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iftar meals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المُحْتَاجِينَ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those in need</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أَبْسَطَ وَأَهْدَأَ</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simpler and calmer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تُقَامُ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held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تُتَبَادَلُ التَّهَانِي</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greetings are exchanged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تُزَارُ الأَقَارِبُ</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relatives are visited</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نَتَصَوَّرَ</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imagine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52</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marks the start of the month?</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Friday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sighting of the crescent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public holiday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increases alongside fasting?</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Working hours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Community solidarity</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distributed to those in need?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Iftar meals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Lanterns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celebrations differ between cities?</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identical everywhere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decorate the streets; in others it is simpler and quieter</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capitals celebrate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warn against?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Imagining the celebration is the same everywhere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Visiting relatives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Giving to charity</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52</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marks the start of the month?</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first Friday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sighting of the crescent</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public holiday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يَبْدَأُ الشَّهْرُ عِنْدَ رُؤْيَةِ الهِلَالِ.</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increases alongside fasting?</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Working hours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Community solidarity</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يَزْدَادُ التَّضَامُنُ المُجْتَمَعِيُّ.</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distributed to those in need?</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Iftar meals</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Lanterns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Books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تُوَزَّعُ وَجَبَاتُ الإِفْطَارِ عَلَى المُحْتَاجِينَ.</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celebrations differ between cities?</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identical everywhere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Some decorate the streets; in others it is simpler and quieter</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capitals celebrate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cs typeface="Amiri" pitchFamily="2" charset="-78"/>
              </a:rPr>
              <a:t>فَفِي بَعْضِ المُدُنِ تُزَيَّنُ الشَّوَارِعُ … وَفِي مُدُنٍ أُخْرَى يَكُونُ الاحْتِفَالُ أَبْسَطَ.</a:t>
            </a:r>
            <a:endParaRPr lang="ar-SA"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warn against?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Imagining the celebration is the same everywhere</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Visiting relatives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Giving to charity</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وَمِنَ الخَطَأِ أَنْ نَتَصَوَّرَ أَنَّ الاحْتِفَالَ وَاحِدٌ فِي كُلِّ مَكَانٍ.</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52</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Celebration Mission — Passive, Tense and Accuracy</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the passive of </a:t>
            </a:r>
            <a:pPr algn="l" indent="0" marL="0">
              <a:buNone/>
            </a:pPr>
            <a:r>
              <a:rPr lang="ar-SA" altLang="en-US" sz="1650" b="1" dirty="0">
                <a:solidFill>
                  <a:srgbClr val="1B3B6F"/>
                </a:solidFill>
                <a:latin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يَزِينُ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يُزَيَّنُ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زَيَّنَ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بِالفَوَانِيسِ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الشَّارِعُ</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الشَّارِعَ</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الشَّارِعِ</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Diptote: complete — </a:t>
            </a:r>
            <a:pPr algn="l" indent="0" marL="0">
              <a:buNone/>
            </a:pPr>
            <a:r>
              <a:rPr lang="ar-SA" altLang="en-US" sz="1650" b="1" dirty="0">
                <a:solidFill>
                  <a:srgbClr val="1B3B6F"/>
                </a:solidFill>
                <a:latin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يَصُومُ النَّاسُ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رَمَضَانٍ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رَمَضَانُ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رَمَضَانَ</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the pre-dawn meal?</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الإِفْطَارُ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الحَلْوَى</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السَّحُورُ</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money given to children at Eid?</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عِيدِيَّةٌ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زَكَاةُ الفِطْرِ</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تَكْبِيرَاتُ العِيدِ</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cs typeface="Amiri" pitchFamily="2" charset="-78"/>
              </a:rPr>
              <a:t>صَامَ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صَامْنَا</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صُمْنَا</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صِمْنَا</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49 / 52</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the passive of </a:t>
            </a:r>
            <a:pPr algn="l" indent="0" marL="0">
              <a:buNone/>
            </a:pPr>
            <a:r>
              <a:rPr lang="ar-SA" altLang="en-US" sz="1650" b="1" dirty="0">
                <a:solidFill>
                  <a:srgbClr val="1B3B6F"/>
                </a:solidFill>
                <a:latin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يَزِينُ</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يُزَيَّنُ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زَيَّنَ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ḍamma on the prefix and a fatḥa before the ending.</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بِالفَوَانِيسِ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الشَّارِعُ</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الشَّارِعَ</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الشَّارِعِ</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affected noun becomes the nominative subject.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Diptote: complete — </a:t>
            </a:r>
            <a:pPr algn="l" indent="0" marL="0">
              <a:buNone/>
            </a:pPr>
            <a:r>
              <a:rPr lang="ar-SA" altLang="en-US" sz="1650" b="1" dirty="0">
                <a:solidFill>
                  <a:srgbClr val="1B3B6F"/>
                </a:solidFill>
                <a:latin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يَصُومُ النَّاسُ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رَمَضَانٍ</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رَمَضَانُ</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رَمَضَانَ</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رَمَضَان</a:t>
            </a:r>
            <a:pPr algn="l" indent="0" marL="0">
              <a:buNone/>
            </a:pPr>
            <a:r>
              <a:rPr lang="en-US" sz="1050" i="1" dirty="0">
                <a:solidFill>
                  <a:srgbClr val="8A6D1E"/>
                </a:solidFill>
                <a:latin typeface="Calibri" pitchFamily="34" charset="0"/>
                <a:cs typeface="Amiri" pitchFamily="2" charset="-78"/>
              </a:rPr>
              <a:t> takes no tanwīn.</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the pre-dawn meal?</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الإِفْطَارُ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الحَلْوَى</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السَّحُورُ</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السَّحُور</a:t>
            </a:r>
            <a:pPr algn="l" indent="0" marL="0">
              <a:buNone/>
            </a:pPr>
            <a:r>
              <a:rPr lang="en-US" sz="1050" i="1" dirty="0">
                <a:solidFill>
                  <a:srgbClr val="8A6D1E"/>
                </a:solidFill>
                <a:latin typeface="Calibri" pitchFamily="34" charset="0"/>
                <a:cs typeface="Amiri" pitchFamily="2" charset="-78"/>
              </a:rPr>
              <a:t> is eaten before dawn.</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money given to children at Eid?</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عِيدِيَّةٌ</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زَكَاةُ الفِطْرِ</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تَكْبِيرَاتُ العِيدِ</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العِيدِيَّة</a:t>
            </a:r>
            <a:pPr algn="l" indent="0" marL="0">
              <a:buNone/>
            </a:pPr>
            <a:r>
              <a:rPr lang="en-US" sz="1050" i="1" dirty="0">
                <a:solidFill>
                  <a:srgbClr val="8A6D1E"/>
                </a:solidFill>
                <a:latin typeface="Calibri" pitchFamily="34" charset="0"/>
                <a:cs typeface="Amiri" pitchFamily="2" charset="-78"/>
              </a:rPr>
              <a:t> is the Eid gift of money.</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cs typeface="Amiri" pitchFamily="2" charset="-78"/>
              </a:rPr>
              <a:t>صَامَ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صَامْنَا</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صُمْنَا</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صِمْنَا</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hollow verb shortens before a consonant suffix.</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50 / 52</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TE-L05 · Faiths and Beliefs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TE-L06: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TE-L06 · Faith Celebrations and Special Occasions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مَكَانُ عِبَادَةٍ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place of worship</a:t>
            </a:r>
            <a:pPr indent="0" marL="0">
              <a:buNone/>
            </a:pPr>
            <a:r>
              <a:rPr lang="en-US" sz="1000" i="1" dirty="0">
                <a:solidFill>
                  <a:srgbClr val="5A6472"/>
                </a:solidFill>
                <a:latin typeface="Calibri" pitchFamily="34" charset="0"/>
                <a:cs typeface="Amiri" pitchFamily="2" charset="-78"/>
              </a:rPr>
              <a:t>  pl. أَمَاكِنُ عِبَادَةٍ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مُعْتَقَدٌ</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belief</a:t>
            </a:r>
            <a:pPr indent="0" marL="0">
              <a:buNone/>
            </a:pPr>
            <a:r>
              <a:rPr lang="en-US" sz="1000" i="1" dirty="0">
                <a:solidFill>
                  <a:srgbClr val="5A6472"/>
                </a:solidFill>
                <a:latin typeface="Calibri" pitchFamily="34" charset="0"/>
                <a:cs typeface="Amiri" pitchFamily="2" charset="-78"/>
              </a:rPr>
              <a:t>  pl. مُعْتَقَدَاتٌ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مُنَاسَبَةٌ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occasion</a:t>
            </a:r>
            <a:pPr indent="0" marL="0">
              <a:buNone/>
            </a:pPr>
            <a:r>
              <a:rPr lang="en-US" sz="1000" i="1" dirty="0">
                <a:solidFill>
                  <a:srgbClr val="5A6472"/>
                </a:solidFill>
                <a:latin typeface="Calibri" pitchFamily="34" charset="0"/>
                <a:cs typeface="Amiri" pitchFamily="2" charset="-78"/>
              </a:rPr>
              <a:t>  pl. مُنَاسَبَاتٌ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احْتِفَالٌ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celebration</a:t>
            </a:r>
            <a:pPr indent="0" marL="0">
              <a:buNone/>
            </a:pPr>
            <a:r>
              <a:rPr lang="en-US" sz="1000" i="1" dirty="0">
                <a:solidFill>
                  <a:srgbClr val="5A6472"/>
                </a:solidFill>
                <a:latin typeface="Calibri" pitchFamily="34" charset="0"/>
                <a:cs typeface="Amiri" pitchFamily="2" charset="-78"/>
              </a:rPr>
              <a:t>  pl. احْتِفَالَاتٌ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هَدِيَّةٌ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gift</a:t>
            </a:r>
            <a:pPr indent="0" marL="0">
              <a:buNone/>
            </a:pPr>
            <a:r>
              <a:rPr lang="en-US" sz="1000" i="1" dirty="0">
                <a:solidFill>
                  <a:srgbClr val="5A6472"/>
                </a:solidFill>
                <a:latin typeface="Calibri" pitchFamily="34" charset="0"/>
                <a:cs typeface="Amiri" pitchFamily="2" charset="-78"/>
              </a:rPr>
              <a:t>  pl. هَدَايَا</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Name one special occasion your family celebrates and one thing you do on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فِي ______ نَجْتَمِعُ مَعَ الأُسْرَةِ وَ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TE game “Belief &amp; Place Match”; learn the 12 faith words (m. / f. / pl.).</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four factual sentences about places of worship, two with a relative clause.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respectful 60-word comparison of two practices, with baynamā and a hedge.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51 / 52</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TE-L06 · Faith Celebrations and Special Occasions</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الِاحْتِفَالَاتُ الدِّينِيَّةُ وَالمُنَاسَبَاتُ الخَاصَّةُ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describe, do not judge — and 5 words for TE-L06.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TE-L05 · Faiths, Beliefs and Places of Worship</dc:title>
  <dc:subject>PptxGenJS Presentation</dc:subject>
  <dc:creator>Al Madina Online School · Arabic Department</dc:creator>
  <cp:lastModifiedBy>Al Madina Online School · Arabic Department</cp:lastModifiedBy>
  <cp:revision>1</cp:revision>
  <dcterms:created xsi:type="dcterms:W3CDTF">2026-10-11T06:44:17Z</dcterms:created>
  <dcterms:modified xsi:type="dcterms:W3CDTF">2026-10-11T06:44:17Z</dcterms:modified>
</cp:coreProperties>
</file>