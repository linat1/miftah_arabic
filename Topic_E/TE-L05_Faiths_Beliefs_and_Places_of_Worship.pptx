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TE-L05 — Faiths, Beliefs and Places of Worship. Website: Advanced Topics › Topic E (The International World) › Lesson 5.
The website builds this lesson on the D6-L03 lesson engine, with the Topic focus “Use respectful factual language to understand and describe familiar faith contexts.” (grammar: Relative clauses; nominal sentences; prepositions; skills: Reading · Speaking) and the application challenge “Belief and place vocabulary match”.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TE-L05.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(earlier work: صَامَ → صُمْتُ like زَارَ → زُرْتُ), diptotes (TE-L01: فِي رَمَضَانَ), passive (D4-L03 (website)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TE-L04. Questions 4–5 retrieve TE-L04 (يَحْتَفِلُ بِـ) and the earlier work hollow-verb rule (صُمْتُ like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TE-L05 objectives (teacher-made from the website Topic E focus and grammar for this lesson).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KEY WORDS (teacher-made, neutral and factual — the website Topic E focus: “respectful factual language to understand and describe familiar faith contexts”). Say each word, students repeat; for people say m. → f. → pl. (مُسْلِمٌ – مُسْلِمَةٌ – مُسْلِمُونَ). Broken plurals as a chant: masjid – masājid, kanīsa – kanāʾis.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KEY WORDS (teacher-made, neutral and factual — the website Topic E focus: “respectful factual language to understand and describe familiar faith contexts”). Say each word, students repeat; for people say m. → f. → pl. (مُسْلِمٌ – مُسْلِمَةٌ – مُسْلِمُونَ). Broken plurals as a chant: masjid – masājid, kanīsa – kanāʾis.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teacher layer for the Topic E grammar (relative clauses; nominal sentences; prepositions). Many students are Muslim and will know the Islamic vocabulary well — invite them to explain, but never require personal disclosure. Other faiths are described in the same neutral, factual way the website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TE-L01).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(“Belief &amp; 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“Belief &amp; Place Match” — a main task today: the mosque, the church, and respectful discussion of beliefs.
Website feedback lines: The building is a mosque. · The building is a church. · The visual emphasises respectful discussion.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(“Belief &amp; 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“Belief &amp; Place Match” — a main task today: the mosque, the church, and respectful discussion of beliefs.
Website feedback lines: The building is a mosque. · The building is a church. · The visual emphasises respectful discussion.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in TE-L05 — the engine’s Ramadan and Eid listening / writing are the main tasks of TE-L06. Use here only as an extension.
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(8 min — it takes the speaking-rehearsal slot; the website speaking slide after it is FLEX) — from the website Topic page: “Match neutral vocabulary for faith, belief, community and places of worship to short factual descriptions, then compare two statements respectfully without making value judgements.”
Website Topic E challenge “Belief and place vocabulary match”: match neutral vocabulary for faith, belief, community and places of worship to short factual descriptions, then compare two statements respectfully without value judgements. Descriptions: يُصَلِّي فِيهِ المُسْلِمُونَ (مَسْجِدٌ) · يُصَلِّي فِيهَا المَسِيحِيُّونَ (كَنِيسَةٌ) · يُصَلِّي فِيهِ اليَهُودُ (كَنِيسٌ) · مَكَانُ عِبَادَةٍ عِنْدَ الهِنْدُوسِ وَالبُوذِيِّينَ (مَعْبَدٌ) · مَا يُؤْمِنُ بِهِ الإِنْسَانُ (مُعْتَقَدٌ) · مَجْمُوعَةٌ مِنَ النَّاسِ تَعِيشُ مَعًا (مُجْتَمَعٌ) · الصَّلَاةُ وَالصِّيَامُ مِنْهَا (عِبَادَةٌ) · نُعَامِلُ الآخَرِينَ بِأَدَبٍ (احْتِرَامٌ). Statements to compare: يُصَلِّي المُسْلِمُونَ خَمْسَ مَرَّاتٍ فِي اليَوْمِ · يَذْهَبُ كَثِيرٌ مِنَ المَسِيحِيِّينَ إِلَى الكَنِيسَةِ يَوْمَ الأَحَدِ.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in TE-L05 — the engine’s Ramadan and Eid listening / writing are the main tasks of TE-L06. Use here only as an extension.
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(TE-L06 · Faith Celebrations and Special Occasions) will spend class time USING this language, so students prepare it tonight — short, simple, easy to access (school guidance: “Simple, Short, Interesting, Relevant, Easy to access”). TE-L06 uses the same website engine; its Do Now tests these five words (teacher-chosen bridge from faiths to celebrations).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Faiths, Beliefs and Places of Worship</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الأَدْيَانُ وَالمُعْتَقَدَاتُ وَدُورُ العِبَادَةِ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Use respectful factual language to understand and describe familiar faith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TE-L05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السَّحُورُ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evening meal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pre-dawn meal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crescent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money for children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prayer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sweets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night prayer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iftar, the evening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تَحْتَفِلُ العَائِلَةُ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السَّحُورُ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evening meal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pre-dawn meal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crescent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Eid money for children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prayer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sweets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night prayer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iftar, the evening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تَحْتَفِلُ العَائِلَةُ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TE-L04: yaḥtafilu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earlier work: hollow verbs (</a:t>
            </a:r>
            <a:pPr algn="l" indent="0" marL="0">
              <a:buNone/>
            </a:pPr>
            <a:r>
              <a:rPr lang="ar-SA" altLang="en-US" sz="1350" dirty="0">
                <a:solidFill>
                  <a:srgbClr val="8A6D1E"/>
                </a:solidFill>
                <a:latin typeface="Amiri" pitchFamily="2" charset="-78"/>
                <a:ea typeface="Amiri" pitchFamily="2" charset="-78"/>
                <a:cs typeface="Amiri" pitchFamily="2" charset="-78"/>
              </a:rPr>
              <a:t>صَامَ</a:t>
            </a:r>
            <a:pPr algn="l" indent="0" marL="0">
              <a:buNone/>
            </a:pPr>
            <a:r>
              <a:rPr lang="en-US" sz="1050" i="1" dirty="0">
                <a:solidFill>
                  <a:srgbClr val="8A6D1E"/>
                </a:solidFill>
                <a:latin typeface="Calibri" pitchFamily="34" charset="0"/>
                <a:cs typeface="Amiri" pitchFamily="2" charset="-78"/>
              </a:rPr>
              <a:t> works the same way).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يُزَيِّنُ النَّاسُ الشَّوَارِعَ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تُزَيَّنُ</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places of worship and the people who use them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place of worship with a nominal sentence and a relative clause (makān yuṣallī fīhi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statements about faith practices respectfully, without value judgements.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Preview how a faith marks its celebrations (Ramadan and Eid — the full lesson is TE-L06).</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four places of worship.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who prays there.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relative clause with fīhi / fīhā.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m. / f. / pl. forms for people.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practices with baynamā.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(baʿḍ / kathīr min) and avoid judgements.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‎رمضان · روزہ‎ </a:t>
            </a:r>
            <a:pPr indent="0" marL="0">
              <a:buNone/>
            </a:pPr>
            <a:r>
              <a:rPr lang="en-US" sz="950" b="1" dirty="0">
                <a:solidFill>
                  <a:srgbClr val="2E8B57"/>
                </a:solidFill>
                <a:latin typeface="Calibri" pitchFamily="34" charset="0"/>
                <a:cs typeface="Amiri" pitchFamily="2" charset="-78"/>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‎افطار · سحری‎ </a:t>
            </a:r>
            <a:pPr indent="0" marL="0">
              <a:buNone/>
            </a:pPr>
            <a:r>
              <a:rPr lang="en-US" sz="950" b="1" dirty="0">
                <a:solidFill>
                  <a:srgbClr val="2E8B57"/>
                </a:solidFill>
                <a:latin typeface="Calibri" pitchFamily="34" charset="0"/>
                <a:cs typeface="Amiri" pitchFamily="2" charset="-78"/>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‎عیدی‎ </a:t>
            </a:r>
            <a:pPr indent="0" marL="0">
              <a:buNone/>
            </a:pPr>
            <a:r>
              <a:rPr lang="en-US" sz="950" b="1" dirty="0">
                <a:solidFill>
                  <a:srgbClr val="2E8B57"/>
                </a:solidFill>
                <a:latin typeface="Calibri" pitchFamily="34" charset="0"/>
                <a:cs typeface="Amiri" pitchFamily="2" charset="-78"/>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‎صدقہ · فطرانہ‎ </a:t>
            </a:r>
            <a:pPr indent="0" marL="0">
              <a:buNone/>
            </a:pPr>
            <a:r>
              <a:rPr lang="en-US" sz="950" b="1" dirty="0">
                <a:solidFill>
                  <a:srgbClr val="2E8B57"/>
                </a:solidFill>
                <a:latin typeface="Calibri" pitchFamily="34" charset="0"/>
                <a:cs typeface="Amiri" pitchFamily="2" charset="-78"/>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‎تراویح · شبِ قدر‎ </a:t>
            </a:r>
            <a:pPr indent="0" marL="0">
              <a:buNone/>
            </a:pPr>
            <a:r>
              <a:rPr lang="en-US" sz="950" b="1" dirty="0">
                <a:solidFill>
                  <a:srgbClr val="2E8B57"/>
                </a:solidFill>
                <a:latin typeface="Calibri" pitchFamily="34" charset="0"/>
                <a:cs typeface="Amiri" pitchFamily="2" charset="-78"/>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Ramadan</a:t>
            </a:r>
            <a:endParaRPr lang="en-US" sz="1350" dirty="0"/>
          </a:p>
          <a:p>
            <a:pPr indent="0" marL="0">
              <a:buNone/>
            </a:pPr>
            <a:r>
              <a:rPr lang="en-US" sz="1100" i="1" dirty="0">
                <a:solidFill>
                  <a:srgbClr val="5A6472"/>
                </a:solidFill>
                <a:latin typeface="Calibri" pitchFamily="34" charset="0"/>
                <a:cs typeface="Amiri" pitchFamily="2" charset="-78"/>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diptote: </a:t>
            </a:r>
            <a:pPr algn="l" indent="0" marL="0">
              <a:buNone/>
            </a:pPr>
            <a:r>
              <a:rPr lang="ar-SA" altLang="en-US" sz="1300" dirty="0">
                <a:solidFill>
                  <a:srgbClr val="8A6D1E"/>
                </a:solidFill>
                <a:latin typeface="Amiri" pitchFamily="2" charset="-78"/>
                <a:ea typeface="Amiri" pitchFamily="2" charset="-78"/>
                <a:cs typeface="Amiri" pitchFamily="2" charset="-78"/>
              </a:rPr>
              <a:t>فِي رَمَضَانَ</a:t>
            </a:r>
            <a:pPr algn="l" indent="0" marL="0">
              <a:buNone/>
            </a:pPr>
            <a:r>
              <a:rPr lang="en-US" sz="1000" i="1" dirty="0">
                <a:solidFill>
                  <a:srgbClr val="8A6D1E"/>
                </a:solidFill>
                <a:latin typeface="Calibri" pitchFamily="34" charset="0"/>
                <a:cs typeface="Amiri" pitchFamily="2" charset="-78"/>
              </a:rPr>
              <a:t>, never </a:t>
            </a:r>
            <a:pPr algn="l" indent="0" marL="0">
              <a:buNone/>
            </a:pPr>
            <a:r>
              <a:rPr lang="ar-SA" altLang="en-US" sz="1300" dirty="0">
                <a:solidFill>
                  <a:srgbClr val="8A6D1E"/>
                </a:solidFill>
                <a:latin typeface="Amiri" pitchFamily="2" charset="-78"/>
                <a:ea typeface="Amiri" pitchFamily="2" charset="-78"/>
                <a:cs typeface="Amiri" pitchFamily="2" charset="-78"/>
              </a:rPr>
              <a:t>رَمَضَانٍ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fasting</a:t>
            </a:r>
            <a:endParaRPr lang="en-US" sz="1350" dirty="0"/>
          </a:p>
          <a:p>
            <a:pPr indent="0" marL="0">
              <a:buNone/>
            </a:pPr>
            <a:r>
              <a:rPr lang="en-US" sz="1100" i="1" dirty="0">
                <a:solidFill>
                  <a:srgbClr val="5A6472"/>
                </a:solidFill>
                <a:latin typeface="Calibri" pitchFamily="34" charset="0"/>
                <a:cs typeface="Amiri" pitchFamily="2" charset="-78"/>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fasts / fasted</a:t>
            </a:r>
            <a:endParaRPr lang="en-US" sz="1350" dirty="0"/>
          </a:p>
          <a:p>
            <a:pPr indent="0" marL="0">
              <a:buNone/>
            </a:pPr>
            <a:r>
              <a:rPr lang="en-US" sz="1100" i="1" dirty="0">
                <a:solidFill>
                  <a:srgbClr val="5A6472"/>
                </a:solidFill>
                <a:latin typeface="Calibri" pitchFamily="34" charset="0"/>
                <a:cs typeface="Amiri" pitchFamily="2" charset="-78"/>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breaks the fast</a:t>
            </a:r>
            <a:endParaRPr lang="en-US" sz="1350" dirty="0"/>
          </a:p>
          <a:p>
            <a:pPr indent="0" marL="0">
              <a:buNone/>
            </a:pPr>
            <a:r>
              <a:rPr lang="en-US" sz="1100" i="1" dirty="0">
                <a:solidFill>
                  <a:srgbClr val="5A6472"/>
                </a:solidFill>
                <a:latin typeface="Calibri" pitchFamily="34" charset="0"/>
                <a:cs typeface="Amiri" pitchFamily="2" charset="-78"/>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iftar, the evening meal</a:t>
            </a:r>
            <a:endParaRPr lang="en-US" sz="1350" dirty="0"/>
          </a:p>
          <a:p>
            <a:pPr indent="0" marL="0">
              <a:buNone/>
            </a:pPr>
            <a:r>
              <a:rPr lang="en-US" sz="1100" i="1" dirty="0">
                <a:solidFill>
                  <a:srgbClr val="5A6472"/>
                </a:solidFill>
                <a:latin typeface="Calibri" pitchFamily="34" charset="0"/>
                <a:cs typeface="Amiri" pitchFamily="2" charset="-78"/>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suhoor, the pre-dawn meal</a:t>
            </a:r>
            <a:endParaRPr lang="en-US" sz="1350" dirty="0"/>
          </a:p>
          <a:p>
            <a:pPr indent="0" marL="0">
              <a:buNone/>
            </a:pPr>
            <a:r>
              <a:rPr lang="en-US" sz="1100" i="1" dirty="0">
                <a:solidFill>
                  <a:srgbClr val="5A6472"/>
                </a:solidFill>
                <a:latin typeface="Calibri" pitchFamily="34" charset="0"/>
                <a:cs typeface="Amiri" pitchFamily="2" charset="-78"/>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crescent moon</a:t>
            </a:r>
            <a:endParaRPr lang="en-US" sz="1350" dirty="0"/>
          </a:p>
          <a:p>
            <a:pPr indent="0" marL="0">
              <a:buNone/>
            </a:pPr>
            <a:r>
              <a:rPr lang="en-US" sz="1100" i="1" dirty="0">
                <a:solidFill>
                  <a:srgbClr val="5A6472"/>
                </a:solidFill>
                <a:latin typeface="Calibri" pitchFamily="34" charset="0"/>
                <a:cs typeface="Amiri" pitchFamily="2" charset="-78"/>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lanterns</a:t>
            </a:r>
            <a:endParaRPr lang="en-US" sz="1350" dirty="0"/>
          </a:p>
          <a:p>
            <a:pPr indent="0" marL="0">
              <a:buNone/>
            </a:pPr>
            <a:r>
              <a:rPr lang="en-US" sz="1100" i="1" dirty="0">
                <a:solidFill>
                  <a:srgbClr val="5A6472"/>
                </a:solidFill>
                <a:latin typeface="Calibri" pitchFamily="34" charset="0"/>
                <a:cs typeface="Amiri" pitchFamily="2" charset="-78"/>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of </a:t>
            </a:r>
            <a:pPr algn="l" indent="0" marL="0">
              <a:buNone/>
            </a:pPr>
            <a:r>
              <a:rPr lang="ar-SA" altLang="en-US" sz="1300" dirty="0">
                <a:solidFill>
                  <a:srgbClr val="8A6D1E"/>
                </a:solidFill>
                <a:latin typeface="Amiri" pitchFamily="2" charset="-78"/>
                <a:ea typeface="Amiri" pitchFamily="2" charset="-78"/>
                <a:cs typeface="Amiri" pitchFamily="2" charset="-78"/>
              </a:rPr>
              <a:t>فَانُوسٌ</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Laylat al-Qadr</a:t>
            </a:r>
            <a:endParaRPr lang="en-US" sz="1350" dirty="0"/>
          </a:p>
          <a:p>
            <a:pPr indent="0" marL="0">
              <a:buNone/>
            </a:pPr>
            <a:r>
              <a:rPr lang="en-US" sz="1100" i="1" dirty="0">
                <a:solidFill>
                  <a:srgbClr val="5A6472"/>
                </a:solidFill>
                <a:latin typeface="Calibri" pitchFamily="34" charset="0"/>
                <a:cs typeface="Amiri" pitchFamily="2" charset="-78"/>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prays Tarawih</a:t>
            </a:r>
            <a:endParaRPr lang="en-US" sz="1350" dirty="0"/>
          </a:p>
          <a:p>
            <a:pPr indent="0" marL="0">
              <a:buNone/>
            </a:pPr>
            <a:r>
              <a:rPr lang="en-US" sz="1100" i="1" dirty="0">
                <a:solidFill>
                  <a:srgbClr val="5A6472"/>
                </a:solidFill>
                <a:latin typeface="Calibri" pitchFamily="34" charset="0"/>
                <a:cs typeface="Amiri" pitchFamily="2" charset="-78"/>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spirit of Ramadan</a:t>
            </a:r>
            <a:endParaRPr lang="en-US" sz="1350" dirty="0"/>
          </a:p>
          <a:p>
            <a:pPr indent="0" marL="0">
              <a:buNone/>
            </a:pPr>
            <a:r>
              <a:rPr lang="en-US" sz="1100" i="1" dirty="0">
                <a:solidFill>
                  <a:srgbClr val="5A6472"/>
                </a:solidFill>
                <a:latin typeface="Calibri" pitchFamily="34" charset="0"/>
                <a:cs typeface="Amiri" pitchFamily="2" charset="-78"/>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al-Fitr</a:t>
            </a:r>
            <a:endParaRPr lang="en-US" sz="1350" dirty="0"/>
          </a:p>
          <a:p>
            <a:pPr indent="0" marL="0">
              <a:buNone/>
            </a:pPr>
            <a:r>
              <a:rPr lang="en-US" sz="1100" i="1" dirty="0">
                <a:solidFill>
                  <a:srgbClr val="5A6472"/>
                </a:solidFill>
                <a:latin typeface="Calibri" pitchFamily="34" charset="0"/>
                <a:cs typeface="Amiri" pitchFamily="2" charset="-78"/>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al-Adha</a:t>
            </a:r>
            <a:endParaRPr lang="en-US" sz="1350" dirty="0"/>
          </a:p>
          <a:p>
            <a:pPr indent="0" marL="0">
              <a:buNone/>
            </a:pPr>
            <a:r>
              <a:rPr lang="en-US" sz="1100" i="1" dirty="0">
                <a:solidFill>
                  <a:srgbClr val="5A6472"/>
                </a:solidFill>
                <a:latin typeface="Calibri" pitchFamily="34" charset="0"/>
                <a:cs typeface="Amiri" pitchFamily="2" charset="-78"/>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prayer</a:t>
            </a:r>
            <a:endParaRPr lang="en-US" sz="1350" dirty="0"/>
          </a:p>
          <a:p>
            <a:pPr indent="0" marL="0">
              <a:buNone/>
            </a:pPr>
            <a:r>
              <a:rPr lang="en-US" sz="1100" i="1" dirty="0">
                <a:solidFill>
                  <a:srgbClr val="5A6472"/>
                </a:solidFill>
                <a:latin typeface="Calibri" pitchFamily="34" charset="0"/>
                <a:cs typeface="Amiri" pitchFamily="2" charset="-78"/>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takbirs</a:t>
            </a:r>
            <a:endParaRPr lang="en-US" sz="1350" dirty="0"/>
          </a:p>
          <a:p>
            <a:pPr indent="0" marL="0">
              <a:buNone/>
            </a:pPr>
            <a:r>
              <a:rPr lang="en-US" sz="1100" i="1" dirty="0">
                <a:solidFill>
                  <a:srgbClr val="5A6472"/>
                </a:solidFill>
                <a:latin typeface="Calibri" pitchFamily="34" charset="0"/>
                <a:cs typeface="Amiri" pitchFamily="2" charset="-78"/>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zakat al-Fitr</a:t>
            </a:r>
            <a:endParaRPr lang="en-US" sz="1350" dirty="0"/>
          </a:p>
          <a:p>
            <a:pPr indent="0" marL="0">
              <a:buNone/>
            </a:pPr>
            <a:r>
              <a:rPr lang="en-US" sz="1100" i="1" dirty="0">
                <a:solidFill>
                  <a:srgbClr val="5A6472"/>
                </a:solidFill>
                <a:latin typeface="Calibri" pitchFamily="34" charset="0"/>
                <a:cs typeface="Amiri" pitchFamily="2" charset="-78"/>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money given to children</a:t>
            </a:r>
            <a:endParaRPr lang="en-US" sz="1350" dirty="0"/>
          </a:p>
          <a:p>
            <a:pPr indent="0" marL="0">
              <a:buNone/>
            </a:pPr>
            <a:r>
              <a:rPr lang="en-US" sz="1100" i="1" dirty="0">
                <a:solidFill>
                  <a:srgbClr val="5A6472"/>
                </a:solidFill>
                <a:latin typeface="Calibri" pitchFamily="34" charset="0"/>
                <a:cs typeface="Amiri" pitchFamily="2" charset="-78"/>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gives charity</a:t>
            </a:r>
            <a:endParaRPr lang="en-US" sz="1350" dirty="0"/>
          </a:p>
          <a:p>
            <a:pPr indent="0" marL="0">
              <a:buNone/>
            </a:pPr>
            <a:r>
              <a:rPr lang="en-US" sz="1100" i="1" dirty="0">
                <a:solidFill>
                  <a:srgbClr val="5A6472"/>
                </a:solidFill>
                <a:latin typeface="Calibri" pitchFamily="34" charset="0"/>
                <a:cs typeface="Amiri" pitchFamily="2" charset="-78"/>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congratulations</a:t>
            </a:r>
            <a:endParaRPr lang="en-US" sz="1350" dirty="0"/>
          </a:p>
          <a:p>
            <a:pPr indent="0" marL="0">
              <a:buNone/>
            </a:pPr>
            <a:r>
              <a:rPr lang="en-US" sz="1100" i="1" dirty="0">
                <a:solidFill>
                  <a:srgbClr val="5A6472"/>
                </a:solidFill>
                <a:latin typeface="Calibri" pitchFamily="34" charset="0"/>
                <a:cs typeface="Amiri" pitchFamily="2" charset="-78"/>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sweets</a:t>
            </a:r>
            <a:endParaRPr lang="en-US" sz="1350" dirty="0"/>
          </a:p>
          <a:p>
            <a:pPr indent="0" marL="0">
              <a:buNone/>
            </a:pPr>
            <a:r>
              <a:rPr lang="en-US" sz="1100" i="1" dirty="0">
                <a:solidFill>
                  <a:srgbClr val="5A6472"/>
                </a:solidFill>
                <a:latin typeface="Calibri" pitchFamily="34" charset="0"/>
                <a:cs typeface="Amiri" pitchFamily="2" charset="-78"/>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visiting relatives</a:t>
            </a:r>
            <a:endParaRPr lang="en-US" sz="1350" dirty="0"/>
          </a:p>
          <a:p>
            <a:pPr indent="0" marL="0">
              <a:buNone/>
            </a:pPr>
            <a:r>
              <a:rPr lang="en-US" sz="1100" i="1" dirty="0">
                <a:solidFill>
                  <a:srgbClr val="5A6472"/>
                </a:solidFill>
                <a:latin typeface="Calibri" pitchFamily="34" charset="0"/>
                <a:cs typeface="Amiri" pitchFamily="2" charset="-78"/>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a:t>
            </a:r>
            <a:endParaRPr lang="en-US" sz="1350" dirty="0"/>
          </a:p>
          <a:p>
            <a:pPr indent="0" marL="0">
              <a:buNone/>
            </a:pPr>
            <a:r>
              <a:rPr lang="en-US" sz="1100" i="1" dirty="0">
                <a:solidFill>
                  <a:srgbClr val="5A6472"/>
                </a:solidFill>
                <a:latin typeface="Calibri" pitchFamily="34" charset="0"/>
                <a:cs typeface="Amiri" pitchFamily="2" charset="-78"/>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exchanged</a:t>
            </a:r>
            <a:endParaRPr lang="en-US" sz="1350" dirty="0"/>
          </a:p>
          <a:p>
            <a:pPr indent="0" marL="0">
              <a:buNone/>
            </a:pPr>
            <a:r>
              <a:rPr lang="en-US" sz="1100" i="1" dirty="0">
                <a:solidFill>
                  <a:srgbClr val="5A6472"/>
                </a:solidFill>
                <a:latin typeface="Calibri" pitchFamily="34" charset="0"/>
                <a:cs typeface="Amiri" pitchFamily="2" charset="-78"/>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distributed</a:t>
            </a:r>
            <a:endParaRPr lang="en-US" sz="1350" dirty="0"/>
          </a:p>
          <a:p>
            <a:pPr indent="0" marL="0">
              <a:buNone/>
            </a:pPr>
            <a:r>
              <a:rPr lang="en-US" sz="1100" i="1" dirty="0">
                <a:solidFill>
                  <a:srgbClr val="5A6472"/>
                </a:solidFill>
                <a:latin typeface="Calibri" pitchFamily="34" charset="0"/>
                <a:cs typeface="Amiri" pitchFamily="2" charset="-78"/>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held (of events)</a:t>
            </a:r>
            <a:endParaRPr lang="en-US" sz="1350" dirty="0"/>
          </a:p>
          <a:p>
            <a:pPr indent="0" marL="0">
              <a:buNone/>
            </a:pPr>
            <a:r>
              <a:rPr lang="en-US" sz="1100" i="1" dirty="0">
                <a:solidFill>
                  <a:srgbClr val="5A6472"/>
                </a:solidFill>
                <a:latin typeface="Calibri" pitchFamily="34" charset="0"/>
                <a:cs typeface="Amiri" pitchFamily="2" charset="-78"/>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prepared, is considered</a:t>
            </a:r>
            <a:endParaRPr lang="en-US" sz="1350" dirty="0"/>
          </a:p>
          <a:p>
            <a:pPr indent="0" marL="0">
              <a:buNone/>
            </a:pPr>
            <a:r>
              <a:rPr lang="en-US" sz="1100" i="1" dirty="0">
                <a:solidFill>
                  <a:srgbClr val="5A6472"/>
                </a:solidFill>
                <a:latin typeface="Calibri" pitchFamily="34" charset="0"/>
                <a:cs typeface="Amiri" pitchFamily="2" charset="-78"/>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 solidarity</a:t>
            </a:r>
            <a:endParaRPr lang="en-US" sz="1350" dirty="0"/>
          </a:p>
          <a:p>
            <a:pPr indent="0" marL="0">
              <a:buNone/>
            </a:pPr>
            <a:r>
              <a:rPr lang="en-US" sz="1100" i="1" dirty="0">
                <a:solidFill>
                  <a:srgbClr val="5A6472"/>
                </a:solidFill>
                <a:latin typeface="Calibri" pitchFamily="34" charset="0"/>
                <a:cs typeface="Amiri" pitchFamily="2" charset="-78"/>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table, spread</a:t>
            </a:r>
            <a:endParaRPr lang="en-US" sz="1350" dirty="0"/>
          </a:p>
          <a:p>
            <a:pPr indent="0" marL="0">
              <a:buNone/>
            </a:pPr>
            <a:r>
              <a:rPr lang="en-US" sz="1100" i="1" dirty="0">
                <a:solidFill>
                  <a:srgbClr val="5A6472"/>
                </a:solidFill>
                <a:latin typeface="Calibri" pitchFamily="34" charset="0"/>
                <a:cs typeface="Amiri" pitchFamily="2" charset="-78"/>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ea typeface="Amiri" pitchFamily="2" charset="-78"/>
                <a:cs typeface="Amiri" pitchFamily="2" charset="-78"/>
              </a:rPr>
              <a:t>مَوَائِدُ</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TOPIC E · FAITHS AND PLACES OF WORSHIP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Faith, belief and worship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الأَدْيَانُ وَأَمَاكِنُ العِبَادَةِ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دِينٌ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religion, a faith</a:t>
            </a:r>
            <a:endParaRPr lang="en-US" sz="1350" dirty="0"/>
          </a:p>
          <a:p>
            <a:pPr indent="0" marL="0">
              <a:buNone/>
            </a:pPr>
            <a:r>
              <a:rPr lang="en-US" sz="1100" i="1" dirty="0">
                <a:solidFill>
                  <a:srgbClr val="5A6472"/>
                </a:solidFill>
                <a:latin typeface="Calibri" pitchFamily="34" charset="0"/>
                <a:cs typeface="Amiri" pitchFamily="2" charset="-78"/>
              </a:rPr>
              <a:t>dī-nun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أَدْيَانٌ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دِينٌ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مُعْتَقَدٌ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belief</a:t>
            </a:r>
            <a:endParaRPr lang="en-US" sz="1350" dirty="0"/>
          </a:p>
          <a:p>
            <a:pPr indent="0" marL="0">
              <a:buNone/>
            </a:pPr>
            <a:r>
              <a:rPr lang="en-US" sz="1100" i="1" dirty="0">
                <a:solidFill>
                  <a:srgbClr val="5A6472"/>
                </a:solidFill>
                <a:latin typeface="Calibri" pitchFamily="34" charset="0"/>
                <a:cs typeface="Amiri" pitchFamily="2" charset="-78"/>
              </a:rPr>
              <a:t>muʿ-ta-qa-dun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مُعْتَقَدَاتٌ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مُعْتَقَدٌ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عِبَادَةٌ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worship</a:t>
            </a:r>
            <a:endParaRPr lang="en-US" sz="1350" dirty="0"/>
          </a:p>
          <a:p>
            <a:pPr indent="0" marL="0">
              <a:buNone/>
            </a:pPr>
            <a:r>
              <a:rPr lang="en-US" sz="1100" i="1" dirty="0">
                <a:solidFill>
                  <a:srgbClr val="5A6472"/>
                </a:solidFill>
                <a:latin typeface="Calibri" pitchFamily="34" charset="0"/>
                <a:cs typeface="Amiri" pitchFamily="2" charset="-78"/>
              </a:rPr>
              <a:t>ʿi-bā-da-tun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عِبَادَاتٌ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عِبَادَةٌ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مَكَانُ عِبَادَةٍ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place of worship</a:t>
            </a:r>
            <a:endParaRPr lang="en-US" sz="1350" dirty="0"/>
          </a:p>
          <a:p>
            <a:pPr indent="0" marL="0">
              <a:buNone/>
            </a:pPr>
            <a:r>
              <a:rPr lang="en-US" sz="1100" i="1" dirty="0">
                <a:solidFill>
                  <a:srgbClr val="5A6472"/>
                </a:solidFill>
                <a:latin typeface="Calibri" pitchFamily="34" charset="0"/>
                <a:cs typeface="Amiri" pitchFamily="2" charset="-78"/>
              </a:rPr>
              <a:t>ma-kā-nu ʿi-bā-da-tin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أَمَاكِنُ عِبَادَةٍ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مَكَانُ عِبَادَةٍ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مَسْجِدٌ</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mosque</a:t>
            </a:r>
            <a:endParaRPr lang="en-US" sz="1350" dirty="0"/>
          </a:p>
          <a:p>
            <a:pPr indent="0" marL="0">
              <a:buNone/>
            </a:pPr>
            <a:r>
              <a:rPr lang="en-US" sz="1100" i="1" dirty="0">
                <a:solidFill>
                  <a:srgbClr val="5A6472"/>
                </a:solidFill>
                <a:latin typeface="Calibri" pitchFamily="34" charset="0"/>
                <a:cs typeface="Amiri" pitchFamily="2" charset="-78"/>
              </a:rPr>
              <a:t>mas-ji-dun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مَسَاجِدُ</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مَسْجِدٌ</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كَنِيسَةٌ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church</a:t>
            </a:r>
            <a:endParaRPr lang="en-US" sz="1350" dirty="0"/>
          </a:p>
          <a:p>
            <a:pPr indent="0" marL="0">
              <a:buNone/>
            </a:pPr>
            <a:r>
              <a:rPr lang="en-US" sz="1100" i="1" dirty="0">
                <a:solidFill>
                  <a:srgbClr val="5A6472"/>
                </a:solidFill>
                <a:latin typeface="Calibri" pitchFamily="34" charset="0"/>
                <a:cs typeface="Amiri" pitchFamily="2" charset="-78"/>
              </a:rPr>
              <a:t>ka-nī-sa-tun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كَنَائِسُ</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كَنِيسَةٌ</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TOPIC E · FAITHS AND PLACES OF WORSHIP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people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الأَدْيَانُ وَأَمَاكِنُ العِبَادَةِ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كَنِيسٌ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synagogue</a:t>
            </a:r>
            <a:endParaRPr lang="en-US" sz="1350" dirty="0"/>
          </a:p>
          <a:p>
            <a:pPr indent="0" marL="0">
              <a:buNone/>
            </a:pPr>
            <a:r>
              <a:rPr lang="en-US" sz="1100" i="1" dirty="0">
                <a:solidFill>
                  <a:srgbClr val="5A6472"/>
                </a:solidFill>
                <a:latin typeface="Calibri" pitchFamily="34" charset="0"/>
                <a:cs typeface="Amiri" pitchFamily="2" charset="-78"/>
              </a:rPr>
              <a:t>ka-nī-sun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كُنُسٌ</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كَنِيسٌ</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مَعْبَدٌ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temple</a:t>
            </a:r>
            <a:endParaRPr lang="en-US" sz="1350" dirty="0"/>
          </a:p>
          <a:p>
            <a:pPr indent="0" marL="0">
              <a:buNone/>
            </a:pPr>
            <a:r>
              <a:rPr lang="en-US" sz="1100" i="1" dirty="0">
                <a:solidFill>
                  <a:srgbClr val="5A6472"/>
                </a:solidFill>
                <a:latin typeface="Calibri" pitchFamily="34" charset="0"/>
                <a:cs typeface="Amiri" pitchFamily="2" charset="-78"/>
              </a:rPr>
              <a:t>maʿ-ba-dun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مَعَابِدُ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مَعْبَدٌ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مُسْلِمٌ</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Muslim</a:t>
            </a:r>
            <a:endParaRPr lang="en-US" sz="1350" dirty="0"/>
          </a:p>
          <a:p>
            <a:pPr indent="0" marL="0">
              <a:buNone/>
            </a:pPr>
            <a:r>
              <a:rPr lang="en-US" sz="1100" i="1" dirty="0">
                <a:solidFill>
                  <a:srgbClr val="5A6472"/>
                </a:solidFill>
                <a:latin typeface="Calibri" pitchFamily="34" charset="0"/>
                <a:cs typeface="Amiri" pitchFamily="2" charset="-78"/>
              </a:rPr>
              <a:t>mus-li-mun</a:t>
            </a:r>
            <a:endParaRPr lang="en-US" sz="1350" dirty="0"/>
          </a:p>
        </p:txBody>
      </p:sp>
      <p:sp>
        <p:nvSpPr>
          <p:cNvPr id="52" name="Shape 4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مُسْلِمُونَ</a:t>
            </a:r>
            <a:endParaRPr lang="ar-SA" sz="1500" dirty="0"/>
          </a:p>
        </p:txBody>
      </p:sp>
      <p:sp>
        <p:nvSpPr>
          <p:cNvPr id="55" name="Shape 5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7" name="Text 5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مُسْلِمَةٌ</a:t>
            </a:r>
            <a:endParaRPr lang="ar-SA" sz="1500" dirty="0"/>
          </a:p>
        </p:txBody>
      </p:sp>
      <p:sp>
        <p:nvSpPr>
          <p:cNvPr id="58" name="Shape 5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مُسْلِمٌ</a:t>
            </a:r>
            <a:endParaRPr lang="ar-SA" sz="15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4" name="Shape 6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6" name="Text 6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مَسِيحِيٌّ</a:t>
            </a:r>
            <a:endParaRPr lang="ar-SA" sz="3000" dirty="0"/>
          </a:p>
        </p:txBody>
      </p:sp>
      <p:sp>
        <p:nvSpPr>
          <p:cNvPr id="67" name="Text 6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Christian</a:t>
            </a:r>
            <a:endParaRPr lang="en-US" sz="1350" dirty="0"/>
          </a:p>
          <a:p>
            <a:pPr indent="0" marL="0">
              <a:buNone/>
            </a:pPr>
            <a:r>
              <a:rPr lang="en-US" sz="1100" i="1" dirty="0">
                <a:solidFill>
                  <a:srgbClr val="5A6472"/>
                </a:solidFill>
                <a:latin typeface="Calibri" pitchFamily="34" charset="0"/>
                <a:cs typeface="Amiri" pitchFamily="2" charset="-78"/>
              </a:rPr>
              <a:t>ma-sī-ḥiy-yun</a:t>
            </a:r>
            <a:endParaRPr lang="en-US" sz="1350" dirty="0"/>
          </a:p>
        </p:txBody>
      </p:sp>
      <p:sp>
        <p:nvSpPr>
          <p:cNvPr id="68" name="Shape 6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مَسِيحِيُّونَ</a:t>
            </a:r>
            <a:endParaRPr lang="ar-SA" sz="1500" dirty="0"/>
          </a:p>
        </p:txBody>
      </p:sp>
      <p:sp>
        <p:nvSpPr>
          <p:cNvPr id="71" name="Shape 6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مَسِيحِيَّةٌ</a:t>
            </a:r>
            <a:endParaRPr lang="ar-SA" sz="1500" dirty="0"/>
          </a:p>
        </p:txBody>
      </p:sp>
      <p:sp>
        <p:nvSpPr>
          <p:cNvPr id="74" name="Shape 7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6" name="Text 7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مَسِيحِيٌّ</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0" name="Shape 7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community, society</a:t>
            </a:r>
            <a:endParaRPr lang="en-US" sz="1350" dirty="0"/>
          </a:p>
          <a:p>
            <a:pPr indent="0" marL="0">
              <a:buNone/>
            </a:pPr>
            <a:r>
              <a:rPr lang="en-US" sz="1100" i="1" dirty="0">
                <a:solidFill>
                  <a:srgbClr val="5A6472"/>
                </a:solidFill>
                <a:latin typeface="Calibri" pitchFamily="34" charset="0"/>
                <a:cs typeface="Amiri" pitchFamily="2" charset="-78"/>
              </a:rPr>
              <a:t>muj-ta-ma-ʿun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مُجْتَمَعَاتٌ</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مُجْتَمَعٌ</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احْتِرَامٌ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aḥ-ti-rā-mun</a:t>
            </a:r>
            <a:endParaRPr lang="en-US" sz="1350" dirty="0"/>
          </a:p>
        </p:txBody>
      </p:sp>
      <p:sp>
        <p:nvSpPr>
          <p:cNvPr id="97" name="Shape 94"/>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verb</a:t>
            </a:r>
            <a:endParaRPr lang="en-US" sz="700" dirty="0"/>
          </a:p>
        </p:txBody>
      </p:sp>
      <p:sp>
        <p:nvSpPr>
          <p:cNvPr id="99" name="Text 96"/>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يَحْتَرِمُ</a:t>
            </a:r>
            <a:endParaRPr lang="ar-SA" sz="135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TOPIC E · DESCRIBING FAITH CONTEXTS RESPECTFULLY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Facts, not judgements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WE TALK ABOUT FAITHS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Use a nominal sentence for a fact: the place + what it is (al-masjid makān ʿibāda).</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Use a relative clause to say who prays there: makān yuṣallī fīhi … (fīhi / fīhā points back to the place).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Say “some people” or “many”, not “all” — beliefs and practices vary.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Compare without value judgements: describe, never rank.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المَسْجِدُ مَكَانُ عِبَادَةٍ لِلْمُسْلِمِينَ.</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mosque is a place of worship for Muslims.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الكَنِيسَةُ مَكَانٌ يُصَلِّي فِيهِ المَسِيحِيُّونَ.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church is a place where Christians pray.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يَحْتَرِمُ المُجْتَمَعُ أَمَاكِنَ العِبَادَةِ كُلَّهَا.</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community respects all places of worship.</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يُزَيَّنُ</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الشَّارِعُ</a:t>
            </a:r>
            <a:pPr rtl="1" algn="ctr" indent="0" marL="0">
              <a:buNone/>
            </a:pPr>
            <a:r>
              <a:rPr lang="ar-SA" altLang="en-US" sz="1950" b="1" dirty="0">
                <a:solidFill>
                  <a:srgbClr val="1B3B6F"/>
                </a:solidFill>
                <a:latin typeface="Amiri" pitchFamily="2" charset="-78"/>
                <a:ea typeface="Amiri" pitchFamily="2" charset="-78"/>
                <a:cs typeface="Amiri" pitchFamily="2" charset="-78"/>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تُوَزَّعُ</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الحَلْوَى</a:t>
            </a:r>
            <a:pPr rtl="1" algn="ctr" indent="0" marL="0">
              <a:buNone/>
            </a:pPr>
            <a:r>
              <a:rPr lang="ar-SA" altLang="en-US" sz="1950" b="1" dirty="0">
                <a:solidFill>
                  <a:srgbClr val="1B3B6F"/>
                </a:solidFill>
                <a:latin typeface="Amiri" pitchFamily="2" charset="-78"/>
                <a:ea typeface="Amiri" pitchFamily="2" charset="-78"/>
                <a:cs typeface="Amiri" pitchFamily="2" charset="-78"/>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تُتَبَادَلُ</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التَّهَانِي</a:t>
            </a:r>
            <a:pPr rtl="1" algn="ctr" indent="0" marL="0">
              <a:buNone/>
            </a:pPr>
            <a:r>
              <a:rPr lang="ar-SA" altLang="en-US" sz="1950" b="1" dirty="0">
                <a:solidFill>
                  <a:srgbClr val="1B3B6F"/>
                </a:solidFill>
                <a:latin typeface="Amiri" pitchFamily="2" charset="-78"/>
                <a:ea typeface="Amiri" pitchFamily="2" charset="-78"/>
                <a:cs typeface="Amiri" pitchFamily="2" charset="-78"/>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تُقَامُ</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صَلَاةُ</a:t>
            </a:r>
            <a:pPr rtl="1" algn="ctr" indent="0" marL="0">
              <a:buNone/>
            </a:pPr>
            <a:r>
              <a:rPr lang="ar-SA" altLang="en-US" sz="1950" b="1" dirty="0">
                <a:solidFill>
                  <a:srgbClr val="1B3B6F"/>
                </a:solidFill>
                <a:latin typeface="Amiri" pitchFamily="2" charset="-78"/>
                <a:ea typeface="Amiri" pitchFamily="2" charset="-78"/>
                <a:cs typeface="Amiri" pitchFamily="2" charset="-78"/>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تُعَدُّ</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المَائِدَةُ</a:t>
            </a:r>
            <a:pPr rtl="1" algn="ctr" indent="0" marL="0">
              <a:buNone/>
            </a:pPr>
            <a:r>
              <a:rPr lang="ar-SA" altLang="en-US" sz="1950" b="1" dirty="0">
                <a:solidFill>
                  <a:srgbClr val="1B3B6F"/>
                </a:solidFill>
                <a:latin typeface="Amiri" pitchFamily="2" charset="-78"/>
                <a:ea typeface="Amiri" pitchFamily="2" charset="-78"/>
                <a:cs typeface="Amiri" pitchFamily="2" charset="-78"/>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thing affected becomes the nominative subject, and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صَامَ</a:t>
            </a:r>
            <a:pPr algn="l" indent="0" marL="0">
              <a:buNone/>
            </a:pPr>
            <a:r>
              <a:rPr lang="en-US" sz="1050" i="1" dirty="0">
                <a:solidFill>
                  <a:srgbClr val="8A6D1E"/>
                </a:solidFill>
                <a:latin typeface="Calibri" pitchFamily="34" charset="0"/>
                <a:cs typeface="Amiri" pitchFamily="2" charset="-78"/>
              </a:rPr>
              <a:t> is hollow, so the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يَصُومُ</a:t>
            </a:r>
            <a:pPr rtl="1" algn="ctr" indent="0" marL="0">
              <a:buNone/>
            </a:pPr>
            <a:r>
              <a:rPr lang="ar-SA" altLang="en-US" sz="2200" b="1" dirty="0">
                <a:solidFill>
                  <a:srgbClr val="1B3B6F"/>
                </a:solidFill>
                <a:latin typeface="Amiri" pitchFamily="2" charset="-78"/>
                <a:ea typeface="Amiri" pitchFamily="2" charset="-78"/>
                <a:cs typeface="Amiri" pitchFamily="2" charset="-78"/>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تُعَدُّ</a:t>
            </a:r>
            <a:pPr rtl="1" algn="ctr" indent="0" marL="0">
              <a:buNone/>
            </a:pPr>
            <a:r>
              <a:rPr lang="ar-SA" altLang="en-US" sz="2800" b="1" dirty="0">
                <a:solidFill>
                  <a:srgbClr val="1B3B6F"/>
                </a:solidFill>
                <a:latin typeface="Amiri" pitchFamily="2" charset="-78"/>
                <a:ea typeface="Amiri" pitchFamily="2" charset="-78"/>
                <a:cs typeface="Amiri" pitchFamily="2" charset="-78"/>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فِي بَعْضِ البُلْدَانِ</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ea typeface="Amiri" pitchFamily="2" charset="-78"/>
                <a:cs typeface="Amiri" pitchFamily="2" charset="-78"/>
              </a:rPr>
              <a:t>زُرْنَا</a:t>
            </a:r>
            <a:pPr rtl="1" algn="ctr" indent="0" marL="0">
              <a:buNone/>
            </a:pPr>
            <a:r>
              <a:rPr lang="ar-SA" altLang="en-US" sz="2300" b="1" dirty="0">
                <a:solidFill>
                  <a:srgbClr val="1B3B6F"/>
                </a:solidFill>
                <a:latin typeface="Amiri" pitchFamily="2" charset="-78"/>
                <a:ea typeface="Amiri" pitchFamily="2" charset="-78"/>
                <a:cs typeface="Amiri" pitchFamily="2" charset="-78"/>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يَصُومُ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المَائِدَةُ وَيَجْتَمِعُ الأَقَارِبُ عَلَى الإِفْطَارِ.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وَفِي بَعْضِ البُلْدَانِ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تُزَيَّنُ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الشَّوَارِعُ بِالفَوَانِيسِ. وَفِي عِيدِ الفِطْرِ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تُقَامُ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صَلَاةُ العِيدِ صَبَاحًا، وَقَدْ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زُرْنَا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street is decorated with lanterns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Muslims fast in Ramadan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fasted for the first time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PICTURE MATCH · WEBSITE GAME “BELIEF &amp; PLACE MATCH (TOPIC GAME)”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place to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الْمُعْتَقَدَ وَالْمَكَانَ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mosque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church</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respect</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كَنِيسَةٌ وَهِيَ مَكَانٌ لِلْعِبَادَةِ.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نَتَحَدَّثَ عَنِ الْمُعْتَقَدَاتِ بِاحْتِرَامٍ.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مَسْجِدٌ وَهُوَ مَكَانٌ لِلْعِبَادَةِ.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الْمُعْتَقَدَ وَالْمَكَانَ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mosque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مَسْجِدٌ وَهُوَ مَكَانٌ لِلْعِبَادَةِ.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mosque; it is a place of worship.</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church</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كَنِيسَةٌ وَهِيَ مَكَانٌ لِلْعِبَادَةِ.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church; it is a place of worship.</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respect</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يَجِبُ أَنْ نَتَحَدَّثَ عَنِ الْمُعْتَقَدَاتِ بِاحْتِرَامٍ.</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talk about beliefs respectfully.</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ISLAMIC CELEBRATIONS — EID, RAMADAN AND RELIGIOUS OCCASIONS” · FLEX (TE-L06)</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occasion? Match the picture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المُنَاسَبَاتُ وَالاحْتِفَالَاتُ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 الأَضْحَى مُنَاسَبَةٌ إِسْلَامِيَّةٌ.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تَجْتَمِعُ العَائِلَةُ لِلاحْتِفَالِ.</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يَحْتَفِلُ المُسْلِمُونَ بِعِيدِ الفِطْرِ بَعْدَ رَمَضَانَ.</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المُنَاسَبَاتُ وَالاحْتِفَالَاتُ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يَحْتَفِلُ المُسْلِمُونَ بِعِيدِ الفِطْرِ بَعْدَ رَمَضَانَ.</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Muslims celebrate Eid al-Fitr after Ramadan.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عِيدُ الأَضْحَى مُنَاسَبَةٌ إِسْلَامِيَّةٌ.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Eid al-Adha is an Islamic occasion.</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تَجْتَمِعُ العَائِلَةُ لِلاحْتِفَالِ.</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to celebrate.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agrees with the nominative subject </a:t>
            </a:r>
            <a:pPr algn="l" indent="0" marL="0">
              <a:buNone/>
            </a:pPr>
            <a:r>
              <a:rPr lang="ar-SA" altLang="en-US" sz="1350" dirty="0">
                <a:solidFill>
                  <a:srgbClr val="8A6D1E"/>
                </a:solidFill>
                <a:latin typeface="Amiri" pitchFamily="2" charset="-78"/>
                <a:ea typeface="Amiri" pitchFamily="2" charset="-78"/>
                <a:cs typeface="Amiri" pitchFamily="2" charset="-78"/>
              </a:rPr>
              <a:t>التَّهَانِي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الحَلْوَى</a:t>
            </a:r>
            <a:pPr algn="l" indent="0" marL="0">
              <a:buNone/>
            </a:pPr>
            <a:r>
              <a:rPr lang="en-US" sz="1050" i="1" dirty="0">
                <a:solidFill>
                  <a:srgbClr val="8A6D1E"/>
                </a:solidFill>
                <a:latin typeface="Calibri" pitchFamily="34" charset="0"/>
                <a:cs typeface="Amiri" pitchFamily="2" charset="-78"/>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صَامَ</a:t>
            </a:r>
            <a:pPr algn="l" indent="0" marL="0">
              <a:buNone/>
            </a:pPr>
            <a:r>
              <a:rPr lang="en-US" sz="1150" b="1" dirty="0">
                <a:solidFill>
                  <a:srgbClr val="1B3B6F"/>
                </a:solidFill>
                <a:latin typeface="Calibri" pitchFamily="34" charset="0"/>
                <a:cs typeface="Amiri" pitchFamily="2" charset="-78"/>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رَمَضَان</a:t>
            </a:r>
            <a:pPr algn="l" indent="0" marL="0">
              <a:buNone/>
            </a:pPr>
            <a:r>
              <a:rPr lang="en-US" sz="1150" b="1" dirty="0">
                <a:solidFill>
                  <a:srgbClr val="1B3B6F"/>
                </a:solidFill>
                <a:latin typeface="Calibri" pitchFamily="34" charset="0"/>
                <a:cs typeface="Amiri" pitchFamily="2" charset="-78"/>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LISTENING · TEACHER READS ALOUD TWICE · FLEX (TAUGHT IN FULL IN TE-L06)</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 family describes Ramadan and Eid</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sunset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dawn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midday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lanterns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prayer mats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everywhere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happens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in some countries, but not always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lanterns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money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prayer book</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21" name="Shape 18"/>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2" name="Shape 19"/>
          <p:cNvSpPr/>
          <p:nvPr/>
        </p:nvSpPr>
        <p:spPr>
          <a:xfrm>
            <a:off x="640080" y="2490216"/>
            <a:ext cx="256032" cy="256032"/>
          </a:xfrm>
          <a:prstGeom prst="ellipse">
            <a:avLst/>
          </a:prstGeom>
          <a:solidFill>
            <a:srgbClr val="2E8B57"/>
          </a:solidFill>
          <a:ln w="12700">
            <a:solidFill>
              <a:srgbClr val="2E8B57"/>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sunset</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dawn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midday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يَصُومُ … مِنَ الفَجْرِ إِلَى المَغْرِبِ، ثُمَّ يُفْطِرُونَ.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lanterns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prayer mats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table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المَائِدَةُ قَبْلَ المَغْرِبِ بِقَلِيلٍ.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happens everywhere</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happens</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happens in some countries, but not always</a:t>
            </a:r>
            <a:endParaRPr lang="en-US"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بَعْضِ البُلْدَانِ تُزَيَّنُ الشَّوَارِعُ … وَلٰكِنْ لَيْسَ دَائِمًا.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Seven</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صُمْتُ لِأَوَّلِ مَرَّةٍ عِنْدَمَا كُنْتُ فِي السَّابِعَةِ.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lanterns</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Eid money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prayer book</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وَيَأْخُذُ الأَطْفَالُ العِيدِيَّةَ.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Belief and place vocabulary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Belief and place vocabulary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neutral vocabulary for faith, belief, community and places of worship to short factual descriptions, then compare two statements respectfully without making value judgements.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8 words (faith · belief · community · places of worship) to 8 short factual descriptions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with a partner: read each match aloud as a full sentence.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two statements about practices and compare them respectfully (baynamā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Rule: describe, do not judge — no “better / worse”.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the cards; one fact: “al-masjid makān ʿibāda”.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facts, one with a relative clause (makān yuṣallī fīhi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respectful comparison of two statements with “baynamā” and a hedge (baʿḍ / kathīr min).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المَسْجِدُ مَكَانُ عِبَادَةٍ لِلْمُسْلِمِينَ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the mosque is a place of worship for Muslims</a:t>
            </a:r>
            <a:endParaRPr lang="en-US" sz="85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مَكَانٌ يُصَلِّي فِيهِ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place where … pray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بَيْنَمَا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يَعْتَقِدُ كَثِيرٌ مِنَ النَّاسِ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many people believe that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describe a celebration accurately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مَا يَحْدُثُ عَادَةً فِي رَمَضَانَ. اِسْتَعْمِلْ فِعْلًا مَبْنِيًّا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تَخْتَلِفُ العَادَاتُ مِنْ بَلَدٍ إِلَى بَلَدٍ؟ أَعْطِ مِثَالًا.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مُنَاسَبَةً حَضَرْتَهَا بِنَفْسِكَ، مُسْتَعْمِلًا الفِعْلَ المَاضِيَ.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فِي رَمَضَانَ يَصُومُ المُسْلِمُونَ ، وَتُعَدُّ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البُلْدَانِ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فِي العِيدِ المَاضِي ___ ، وَكَانَ يَوْمًا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مَا يَحْدُثُ عَادَةً فِي رَمَضَانَ.</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what usually happens in Ramadan.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يَصُومُ المُسْلِمُونَ مِنَ الفَجْرِ إِلَى المَغْرِبِ، وَفِي بَعْضِ البُلْدَانِ تُزَيَّنُ الشَّوَارِعُ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Muslims fast from dawn to sunset, and in some countries the streets are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INDEPENDENT PRACTICE · 9 MINUTES · FLEX (TAUGHT IN FULL IN TE-L06)</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20" name="Text 17"/>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21" name="Text 18"/>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2" name="Text 19"/>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naming Ramadan and Eid customs in the present tense.</a:t>
            </a:r>
            <a:endParaRPr lang="en-US" sz="1400" dirty="0"/>
          </a:p>
        </p:txBody>
      </p:sp>
      <p:sp>
        <p:nvSpPr>
          <p:cNvPr id="23" name="Shape 20"/>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4" name="Text 21"/>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Ramadan and Eid customs in the present tense.</a:t>
            </a:r>
            <a:endParaRPr lang="en-US" sz="900" dirty="0"/>
          </a:p>
        </p:txBody>
      </p:sp>
      <p:sp>
        <p:nvSpPr>
          <p:cNvPr id="25" name="Shape 22"/>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7" name="Text 24"/>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8" name="Text 25"/>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9" name="Text 26"/>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30" name="Text 27"/>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passive verbs with accurate nominative subjects.</a:t>
            </a:r>
            <a:endParaRPr lang="en-US" sz="1400" dirty="0"/>
          </a:p>
        </p:txBody>
      </p:sp>
      <p:sp>
        <p:nvSpPr>
          <p:cNvPr id="31" name="Shape 28"/>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2" name="Text 29"/>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two passive verbs with a nominative subject.</a:t>
            </a:r>
            <a:endParaRPr lang="en-US" sz="900" dirty="0"/>
          </a:p>
        </p:txBody>
      </p:sp>
      <p:sp>
        <p:nvSpPr>
          <p:cNvPr id="33" name="Shape 30"/>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6" name="Text 33"/>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7" name="Text 34"/>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8" name="Text 35"/>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past-tense personal memory and a hedge that acknowledges regional difference.</a:t>
            </a:r>
            <a:endParaRPr lang="en-US" sz="1400" dirty="0"/>
          </a:p>
        </p:txBody>
      </p:sp>
      <p:sp>
        <p:nvSpPr>
          <p:cNvPr id="39" name="Shape 36"/>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40" name="Text 37"/>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present custom · 2 passives · a past memory · a hedge.</a:t>
            </a:r>
            <a:endParaRPr lang="en-US" sz="9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SUPPORT · CORE AND DEVELOP FRAMES · FLEX (TAUGHT IN FULL IN TE-L06)</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9" name="Text 16"/>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20" name="Text 17"/>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______ قَبْلَ المَغْرِبِ.</a:t>
            </a:r>
            <a:endParaRPr lang="ar-SA" sz="1800" dirty="0"/>
          </a:p>
        </p:txBody>
      </p:sp>
      <p:sp>
        <p:nvSpPr>
          <p:cNvPr id="21" name="Text 18"/>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prepared before sunset.</a:t>
            </a:r>
            <a:endParaRPr lang="en-US" sz="1050" dirty="0"/>
          </a:p>
        </p:txBody>
      </p:sp>
      <p:sp>
        <p:nvSpPr>
          <p:cNvPr id="22" name="Text 19"/>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تُتَبَادَلُ ______ .</a:t>
            </a:r>
            <a:endParaRPr lang="ar-SA" sz="1800" dirty="0"/>
          </a:p>
        </p:txBody>
      </p:sp>
      <p:sp>
        <p:nvSpPr>
          <p:cNvPr id="23" name="Text 20"/>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exchanged.</a:t>
            </a:r>
            <a:endParaRPr lang="en-US" sz="1050" dirty="0"/>
          </a:p>
        </p:txBody>
      </p:sp>
      <p:sp>
        <p:nvSpPr>
          <p:cNvPr id="24" name="Text 21"/>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البُلْدَانِ تُزَيَّنُ ______ بِـ ______ .</a:t>
            </a:r>
            <a:endParaRPr lang="ar-SA" sz="1800" dirty="0"/>
          </a:p>
        </p:txBody>
      </p:sp>
      <p:sp>
        <p:nvSpPr>
          <p:cNvPr id="25" name="Text 22"/>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countries … are decorated with …</a:t>
            </a:r>
            <a:endParaRPr lang="en-US" sz="1050" dirty="0"/>
          </a:p>
        </p:txBody>
      </p:sp>
      <p:sp>
        <p:nvSpPr>
          <p:cNvPr id="26" name="Text 23"/>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صُمْتُ لِأَوَّلِ مَرَّةٍ عِنْدَمَا ______ .</a:t>
            </a:r>
            <a:endParaRPr lang="ar-SA" sz="1800" dirty="0"/>
          </a:p>
        </p:txBody>
      </p:sp>
      <p:sp>
        <p:nvSpPr>
          <p:cNvPr id="27" name="Text 24"/>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fasted for the first time when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فِي رَمَضَانَ يَصُومُ المُسْلِمُونَ مِنَ ______ إِلَى ______ .</a:t>
            </a:r>
            <a:endParaRPr lang="ar-SA" sz="145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Muslims fast from …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 نُفْطِرُ مَعَ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we break our fast with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صَبَاحِ العِيدِ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Eid morning we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يَأْخُذُ الأَطْفَالُ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Children receive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يَصُومُ  ·  صُمْتُ · صُمْنَا  ·  يُفْطِرُ  ·  الإِفْطَارُ  ·  السَّحُورُ  ·  تُعَدُّ  ·  تُزَيَّنُ  ·  تُتَبَادَلُ  ·  تُوَزَّعُ  ·  تُقَامُ  ·  صَلَاةُ العِيدِ  ·  فِي بَعْضِ البُلْدَانِ</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STRETCH · THE WEBSITE WRITING TASK · FLEX (TAUGHT IN FULL IN TE-L06)</a:t>
            </a:r>
            <a:endParaRPr lang="en-US" sz="90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9" name="Text 16"/>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20" name="Text 17"/>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21" name="Text 18"/>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passive verbs, each with a nominative subject.</a:t>
            </a:r>
            <a:endParaRPr lang="en-US" sz="1200" dirty="0"/>
          </a:p>
        </p:txBody>
      </p:sp>
      <p:sp>
        <p:nvSpPr>
          <p:cNvPr id="22" name="Text 19"/>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present-tense sentence describing a general custom.</a:t>
            </a:r>
            <a:endParaRPr lang="en-US" sz="1200" dirty="0"/>
          </a:p>
        </p:txBody>
      </p:sp>
      <p:sp>
        <p:nvSpPr>
          <p:cNvPr id="23" name="Text 20"/>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past-tense sentence, with a correctly shortened hollow verb if you use </a:t>
            </a:r>
            <a:pPr algn="l" indent="0" marL="0">
              <a:buNone/>
            </a:pPr>
            <a:r>
              <a:rPr lang="ar-SA" altLang="en-US" sz="1550" dirty="0">
                <a:solidFill>
                  <a:srgbClr val="1F2A37"/>
                </a:solidFill>
                <a:latin typeface="Amiri" pitchFamily="2" charset="-78"/>
                <a:ea typeface="Amiri" pitchFamily="2" charset="-78"/>
                <a:cs typeface="Amiri" pitchFamily="2" charset="-78"/>
              </a:rPr>
              <a:t>صَامَ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4" name="Text 21"/>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hedge such as </a:t>
            </a:r>
            <a:pPr algn="l" indent="0" marL="0">
              <a:buNone/>
            </a:pPr>
            <a:r>
              <a:rPr lang="ar-SA" altLang="en-US" sz="1550" dirty="0">
                <a:solidFill>
                  <a:srgbClr val="1F2A37"/>
                </a:solidFill>
                <a:latin typeface="Amiri" pitchFamily="2" charset="-78"/>
                <a:ea typeface="Amiri" pitchFamily="2" charset="-78"/>
                <a:cs typeface="Amiri" pitchFamily="2" charset="-78"/>
              </a:rPr>
              <a:t>فِي بَعْضِ البُلْدَانِ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5" name="Shape 22"/>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7" name="Text 24"/>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الشَّهْرُ عِنْدَ رُؤْيَةِ الهِلَالِ</a:t>
            </a:r>
            <a:endParaRPr lang="ar-SA" sz="1800" dirty="0"/>
          </a:p>
        </p:txBody>
      </p:sp>
      <p:sp>
        <p:nvSpPr>
          <p:cNvPr id="28" name="Text 25"/>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month begins when the crescent is sighted</a:t>
            </a:r>
            <a:endParaRPr lang="en-US" sz="1050" dirty="0"/>
          </a:p>
        </p:txBody>
      </p:sp>
      <p:sp>
        <p:nvSpPr>
          <p:cNvPr id="29" name="Text 26"/>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يَزْدَادُ التَّضَامُنُ المُجْتَمَعِيُّ</a:t>
            </a:r>
            <a:endParaRPr lang="ar-SA" sz="1800" dirty="0"/>
          </a:p>
        </p:txBody>
      </p:sp>
      <p:sp>
        <p:nvSpPr>
          <p:cNvPr id="30" name="Text 27"/>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community solidarity increases</a:t>
            </a:r>
            <a:endParaRPr lang="en-US" sz="1050" dirty="0"/>
          </a:p>
        </p:txBody>
      </p:sp>
      <p:sp>
        <p:nvSpPr>
          <p:cNvPr id="31" name="Text 28"/>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تُوَزَّعُ الوَجَبَاتُ عَلَى المُحْتَاجِينَ</a:t>
            </a:r>
            <a:endParaRPr lang="ar-SA" sz="1800" dirty="0"/>
          </a:p>
        </p:txBody>
      </p:sp>
      <p:sp>
        <p:nvSpPr>
          <p:cNvPr id="32" name="Text 29"/>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meals are distributed to those in need</a:t>
            </a:r>
            <a:endParaRPr lang="en-US" sz="1050" dirty="0"/>
          </a:p>
        </p:txBody>
      </p:sp>
      <p:sp>
        <p:nvSpPr>
          <p:cNvPr id="33" name="Text 30"/>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فَلِكُلِّ مُجْتَمَعٍ طَرِيقَتُهُ</a:t>
            </a:r>
            <a:endParaRPr lang="ar-SA" sz="1800" dirty="0"/>
          </a:p>
        </p:txBody>
      </p:sp>
      <p:sp>
        <p:nvSpPr>
          <p:cNvPr id="34" name="Text 31"/>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community has its own way</a:t>
            </a:r>
            <a:endParaRPr lang="en-US" sz="1050" dirty="0"/>
          </a:p>
        </p:txBody>
      </p:sp>
      <p:sp>
        <p:nvSpPr>
          <p:cNvPr id="35" name="Text 32"/>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وَكَانَ يَوْمًا جَمِيلًا</a:t>
            </a:r>
            <a:endParaRPr lang="ar-SA" sz="1800" dirty="0"/>
          </a:p>
        </p:txBody>
      </p:sp>
      <p:sp>
        <p:nvSpPr>
          <p:cNvPr id="36" name="Text 33"/>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was a beautiful day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FEEDBACK · COMPARE WITH THE MODEL · FLEX (TAUGHT IN FULL IN TE-L06)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9" name="Shape 16"/>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20" name="Text 17"/>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21" name="Text 18"/>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2" name="Shape 19"/>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3" name="Text 20"/>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present general custom</a:t>
            </a:r>
            <a:endParaRPr lang="en-US" sz="950" dirty="0"/>
          </a:p>
        </p:txBody>
      </p:sp>
      <p:sp>
        <p:nvSpPr>
          <p:cNvPr id="24" name="Shape 21"/>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5" name="Text 22"/>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passive verbs</a:t>
            </a:r>
            <a:endParaRPr lang="en-US" sz="950" dirty="0"/>
          </a:p>
        </p:txBody>
      </p:sp>
      <p:sp>
        <p:nvSpPr>
          <p:cNvPr id="26" name="Shape 23"/>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7" name="Text 24"/>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memory</a:t>
            </a:r>
            <a:endParaRPr lang="en-US" sz="950" dirty="0"/>
          </a:p>
        </p:txBody>
      </p:sp>
      <p:sp>
        <p:nvSpPr>
          <p:cNvPr id="28" name="Shape 25"/>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9" name="Text 26"/>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four places of worship and who prays there.</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 / f. / pl. forms for people (muslim – muslima – muslimūn).</a:t>
            </a:r>
            <a:endParaRPr lang="en-US" sz="1300" dirty="0"/>
          </a:p>
        </p:txBody>
      </p:sp>
      <p:sp>
        <p:nvSpPr>
          <p:cNvPr id="23" name="Shape 20"/>
          <p:cNvSpPr/>
          <p:nvPr/>
        </p:nvSpPr>
        <p:spPr>
          <a:xfrm>
            <a:off x="6583680" y="3017520"/>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relative clause with fīhi / fīhā.</a:t>
            </a:r>
            <a:endParaRPr lang="en-US" sz="1300" dirty="0"/>
          </a:p>
        </p:txBody>
      </p:sp>
      <p:sp>
        <p:nvSpPr>
          <p:cNvPr id="28" name="Shape 25"/>
          <p:cNvSpPr/>
          <p:nvPr/>
        </p:nvSpPr>
        <p:spPr>
          <a:xfrm>
            <a:off x="6583680" y="3950208"/>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practices with baynamā and a hedge, without judging.</a:t>
            </a:r>
            <a:endParaRPr lang="en-US" sz="1300" dirty="0"/>
          </a:p>
        </p:txBody>
      </p:sp>
      <p:sp>
        <p:nvSpPr>
          <p:cNvPr id="33" name="Shape 30"/>
          <p:cNvSpPr/>
          <p:nvPr/>
        </p:nvSpPr>
        <p:spPr>
          <a:xfrm>
            <a:off x="6583680" y="4882896"/>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verb takes a nominative subject and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السَّحُور</a:t>
            </a:r>
            <a:pPr algn="l" indent="0" marL="0">
              <a:buNone/>
            </a:pPr>
            <a:r>
              <a:rPr lang="en-US" sz="1050" i="1" dirty="0">
                <a:solidFill>
                  <a:srgbClr val="8A6D1E"/>
                </a:solidFill>
                <a:latin typeface="Calibri" pitchFamily="34" charset="0"/>
                <a:cs typeface="Amiri" pitchFamily="2" charset="-78"/>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Faiths and Beliefs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TE-L06 · Faith Celebrations and Special Occasions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مَكَانُ عِبَادَةٍ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place of worship</a:t>
            </a:r>
            <a:pPr indent="0" marL="0">
              <a:buNone/>
            </a:pPr>
            <a:r>
              <a:rPr lang="ar-SA" sz="1000" i="1" dirty="0">
                <a:solidFill>
                  <a:srgbClr val="5A6472"/>
                </a:solidFill>
                <a:latin typeface="Calibri" pitchFamily="34" charset="0"/>
                <a:ea typeface="Amiri" pitchFamily="2" charset="-78"/>
                <a:cs typeface="Amiri" pitchFamily="2" charset="-78"/>
              </a:rPr>
              <a:t>  pl. أَمَاكِنُ عِبَادَةٍ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مُعْتَقَدٌ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belief</a:t>
            </a:r>
            <a:pPr indent="0" marL="0">
              <a:buNone/>
            </a:pPr>
            <a:r>
              <a:rPr lang="ar-SA" sz="1000" i="1" dirty="0">
                <a:solidFill>
                  <a:srgbClr val="5A6472"/>
                </a:solidFill>
                <a:latin typeface="Calibri" pitchFamily="34" charset="0"/>
                <a:ea typeface="Amiri" pitchFamily="2" charset="-78"/>
                <a:cs typeface="Amiri" pitchFamily="2" charset="-78"/>
              </a:rPr>
              <a:t>  pl. مُعْتَقَدَاتٌ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مُنَاسَبَةٌ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occasion</a:t>
            </a:r>
            <a:pPr indent="0" marL="0">
              <a:buNone/>
            </a:pPr>
            <a:r>
              <a:rPr lang="ar-SA" sz="1000" i="1" dirty="0">
                <a:solidFill>
                  <a:srgbClr val="5A6472"/>
                </a:solidFill>
                <a:latin typeface="Calibri" pitchFamily="34" charset="0"/>
                <a:ea typeface="Amiri" pitchFamily="2" charset="-78"/>
                <a:cs typeface="Amiri" pitchFamily="2" charset="-78"/>
              </a:rPr>
              <a:t>  pl. مُنَاسَبَاتٌ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احْتِفَالٌ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celebration</a:t>
            </a:r>
            <a:pPr indent="0" marL="0">
              <a:buNone/>
            </a:pPr>
            <a:r>
              <a:rPr lang="ar-SA" sz="1000" i="1" dirty="0">
                <a:solidFill>
                  <a:srgbClr val="5A6472"/>
                </a:solidFill>
                <a:latin typeface="Calibri" pitchFamily="34" charset="0"/>
                <a:ea typeface="Amiri" pitchFamily="2" charset="-78"/>
                <a:cs typeface="Amiri" pitchFamily="2" charset="-78"/>
              </a:rPr>
              <a:t>  pl. احْتِفَالَاتٌ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gift</a:t>
            </a:r>
            <a:pPr indent="0" marL="0">
              <a:buNone/>
            </a:pPr>
            <a:r>
              <a:rPr lang="ar-SA" sz="1000" i="1" dirty="0">
                <a:solidFill>
                  <a:srgbClr val="5A6472"/>
                </a:solidFill>
                <a:latin typeface="Calibri" pitchFamily="34" charset="0"/>
                <a:ea typeface="Amiri" pitchFamily="2" charset="-78"/>
                <a:cs typeface="Amiri" pitchFamily="2" charset="-78"/>
              </a:rPr>
              <a:t>  pl. هَدَايَا</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special occasion your family celebrates and one thing you do on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______ نَجْتَمِعُ مَعَ الأُسْرَةِ 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TE game “Belief &amp; Place Match”; learn the 12 faith words (m. / f. / pl.).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factual sentences about places of worship, two with a relative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respectful 60-word comparison of two practices, with baynamā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TE-L06 · Faith Celebrations and Special Occasions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الِاحْتِفَالَاتُ الدِّينِيَّةُ وَالمُنَاسَبَاتُ الخَاصَّةُ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describe, do not judge — and 5 words for TE-L06.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TE-L05 · Faiths, Beliefs and Places of Worship</dc:title>
  <dc:subject>PptxGenJS Presentation</dc:subject>
  <dc:creator>Al Madina Online School · Arabic Department</dc:creator>
  <cp:lastModifiedBy>Al Madina Online School · Arabic Department</cp:lastModifiedBy>
  <cp:revision>1</cp:revision>
  <dcterms:created xsi:type="dcterms:W3CDTF">2026-10-11T06:44:17Z</dcterms:created>
  <dcterms:modified xsi:type="dcterms:W3CDTF">2026-10-11T06:44:17Z</dcterms:modified>
</cp:coreProperties>
</file>