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TE-L07 — National Festivals and Traditions. Website: Advanced Topics › Topic E (The International World) › Lesson 7.
The website builds this lesson on the D6-L04 lesson engine, with the Topic focus “Interpret reports and compare how communities mark important events.” (grammar: Passive voice; time frames; comparatives; skills: Listening · Reading) and the application challenge “Festival comparison”.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TE-L07. The website lesson “Cultural Celebrations Beyond Islam in the Arab World”: vocabulary, grammar rules and quiz, patterns, common mistakes, sorter, listening, reading, speaking prompts and model, writing task and model, differentiation, final check and the lesson mission. Picture match: website visual game “Cultural Celebrations Beyond Islam in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name five celebrations and three places of worship accurately. Develop: a past-tense account of a cultural festival with accusative objects (شَاهَدْتُ عُرُوضًا رَائِعَةً). Stretch: the website 80–90-word balanced paragraph closing with يُشَارُ إِلَى أَنَّ.
• FRAMING (teacher): this is a lesson about DESCRIBING the region accurately and respectfully — knowing our neighbours (لِتَعَارَفُوا, al-Ḥujurāt 49:13). Students describe what other communities do; they are not asked to take part in anything. The Stretch focus is the skill of balance and precision.
• Builds on TE-L01 (no generalising), TE-L05 (passive: يُقَامُ القُدَّاسُ), D4 (عَلَاوَةً عَلَى ذٰلِكَ · يُشَارُ إِلَى أَنَّ).
• TEACHER-WRITTEN ITEMS: the connector عِلَاوَةً (website spelling) shown as عَلَاوَةً, and English added to the patterns and speaking model; the website visual game repeats TE-L05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TE-L05. Questions 4–5 retrieve TE-L05 (passive) and TE-L04 (hedging).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Arab world is multi-faith: describe each community precisely — and balance your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اقلیت (minority) is shared; اکثریت = Arabic أَغْلَبِيَّةٌ / أَكْثَرِيَّةٌ (majority). CAREFUL: Urdu طائفہ can mean a sect or group; in this lesson Arabic طَائِفَةٌ means a religious community (طَوَائِفُ مَسِيحِيَّةٌ).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Celebrations and communities (website vocabulary (1 of 2)). Hear → Say → See → Use. Transliteration is printed for Core students (cover it for Develop/Stretch).
Celebrations and communities. Look-alikes: كَنِيسَةٌ (church) ≠ كَنِيسٌ (synagogue) · قُدَّاسٌ (mass) ≠ قِدِّيسٌ (saint). Plurals كَنَائِسُ · مَعَابِدُ · طَوَائِفُ are diptotes.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Celebrations and communities (website vocabulary (2 of 2)). Hear → Say → See → Use. Transliteration is printed for Core students (cover it for Develop/Stretch).
Celebrations and communities. Look-alikes: كَنِيسَةٌ (church) ≠ كَنِيسٌ (synagogue) · قُدَّاسٌ (mass) ≠ قِدِّيسٌ (saint). Plurals كَنَائِسُ · مَعَابِدُ · طَوَائِفُ are diptotes.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festivals (website vocabulary (1 of 2)). Hear → Say → See → Use. Transliteration is printed for Core students (cover it for Develop/Stretch).
Cultural festivals: words for performances, music, dress and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festivals (website vocabulary (2 of 2)). Hear → Say → See → Use. Transliteration is printed for Core students (cover it for Develop/Stretch).
Cultural festivals: words for performances, music, dress and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Diversity and coexistence (website vocabulary (1 of 2)). Hear → Say → See → Use. Transliteration is printed for Core students (cover it for Develop/Stretch).
Diversity and coexistence: the verbs and connectors for a balanced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Diversity and coexistence (website vocabulary (2 of 2)). Hear → Say → See → Use. Transliteration is printed for Core students (cover it for Develop/Stretch).
Diversity and coexistence: the verbs and connectors for a balanced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“يَتَسَامَحُ مَعَ” (Form VI, a reciprocal attitude; مَعَ fixed) and “يُنَوِّعُ with a direct object” (Form II, no preposition), with the website teaching point “The Arab world is not religiously uniform … naming places of worship precisely is part of describing the region accurately.”
Website common error: confusing قُدَّاسٌ / قِدِّيسٌ and كَنِيسَةٌ / كَنِيسٌ يَهُودِيٌّ. Islamic link: the Qur’an names these places too (صَوَامِعُ وَبِيَعٌ وَصَلَوَاتٌ وَمَسَاجِدُ, al-Ḥajj 22:40) — useful context for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“Past tense for a festival you attended” (keep the objects accusative) and “Building a balanced paragraph” (two balanced sides plus an added point; يُشَارُ إِلَى أَنَّ introduces a fact impersonally). Website teaching point: “A balanced paragraph needs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“Two verbs with different complements, one past-tense narrative use, and the connector set that builds a balanced paragraph.”
• يَتَسَامَحُ مَعَ: Form VI, describing a reciprocal or mutual attitude. The preposition مَعَ is fixed.
• يُنَوِّعُ with a direct object: Form II takes a direct object with no preposition.
• Past tense for a festival you attended: Use the past for your own attendance, and keep the objects accusative.
• Building a balanced paragraph: Two balanced sides plus an added point. يُشَارُ إِلَى أَنَّ introduces a fact impersonally.
Website common error: Confusing قُدَّاسٌ (the mass) with قِدِّيسٌ (a saint), and كَنِيسَةٌ (church) with كَنِيسٌ يَهُودِيٌّ (synagogue). These pairs look similar and mean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skeleton of the website writing model. Think aloud on structure: “Fact → add → balance → report + qualify.” This four-move paragraph is reusable for ANY balanced topic (TE-L09, L09,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(“Festival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“Festival Match”: public shows, music and dance, special clothes and traditional food.
Website feedback lines: The visual shows a public celebration. · Music and dance are shown. · Clothing and traditional food match.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(“Festival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“Festival Match”: public shows, music and dance, special clothes and traditional food.
Website feedback lines: The visual shows a public celebration. · Music and dance are shown. · Clothing and traditional food match.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precise sentence for each column (e.g. يُقَامُ القُدَّاسُ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precise sentence for each column (e.g. يُقَامُ القُدَّاسُ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note the qualification at the end.
Listen 1: just listen. Listen 2: note answers. Then chat the letters.
Support: after the second listening, show the read-along slide (Arabic + English, line by line) for Core students.
SCRIPT (read aloud):
فِي الصَّيْفِ المَاضِي حَضَرْتُ مِهْرَجَانًا ثَقَافِيًّا فِي مَسْرَحٍ أَثَرِيٍّ. شَاهَدْنَا عُرُوضًا رَائِعَةً مِنْ رَقْصٍ شَعْبِيٍّ وَمُوسِيقَى تَقْلِيدِيَّةٍ، وَلَبِسَ المُمَثِّلُونَ أَزْيَاءً تَقْلِيدِيَّةً جَمِيلَةً. وَفِي المَدِينَةِ نَفْسِهَا تُوجَدُ كَنِيسَةٌ قَدِيمَةٌ وَمَسْجِدٌ كَبِيرٌ فِي الشَّارِعِ نَفْسِهِ. وَفِي عِيدِ المِيلَادِ يَحْتَفِلُ الجِيرَانُ المَسِيحِيُّونَ، وَيُقَامُ القُدَّاسُ فِي الكَنِيسَةِ، وَيُشَارِكُهُمْ بَعْضُ الأَصْدِقَاءِ فِي التَّهْنِئَةِ. يُشَارُ إِلَى أَنَّ التَّنَوُّعَ الدِّينِيَّ قَدِيمٌ فِي المِنْطَقَةِ، وَلٰكِنَّ الأَمْرَ يَخْتَلِفُ مِنْ بَلَدٍ إِلَى بَلَدٍ.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“Compare two national or cultural festivals by purpose, customs and activities, then identify one similarity and one difference using respectful language.”
Website Topic E challenge “Festival comparison”. Examples: اليَوْمُ الوَطَنِيُّ السُّعُودِيُّ · مِهْرَجَانُ جَرَشَ فِي الأُرْدُنِّ · مِهْرَجَانُ الزُّهُورِ · يَوْمُ اللُّغَةِ العَرَبِيَّةِ (18 دِيسَمْبِر). Respectful language: describe, do not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عَنِ الأَعْيَادِ الأُخْرَى؟ (And what about other festivals?)
B: تَحْتَفِلُ طَوَائِفُ مَسِيحِيَّةٌ بِعِيدِ المِيلَادِ، وَيُشَارُ إِلَى أَنَّ التَّنَوُّعَ قَدِيمٌ، وَلٰكِنَّ الأَمْرَ يَخْتَلِفُ مِنْ بَلَدٍ إِلَى بَلَدٍ. (Christian communities celebrate Christmas; diversity is said to be long-standing, but it differs from country to country.)
Website prompts and model. The Core prompt can be ANY festival or occasion (a school Eid fair, a heritage day, a calligraphy exhibition). To a girl: صِفِي · حَضَرْتِهَا · شَاهَدْتِ · تَصِفِينَ.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Name five celebrations and three places of worship with accurate spelling and agreement. · Develop — Add a past-tense account of a festival with accusative objects. · Stretch — Build a balanced paragraph with both halves of مِنْ نَاحِيَةٍ and close with يُشَارُ إِلَى أَنَّ.
Website writing task (Stretch): Write eighty to ninety words on celebration and diversity in the Arab world. Name at least two non-Islamic celebrations, describe one festival you attended in the past tense, and build a balanced paragraph with مِنْ نَاحِيَةٍ and عَلَاوَةً عَلَى ذٰلِكَ.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عِيدُ المِيلَادِ وَعِيدُ القِيَامَةِ · يُقَامُ القُدَّاسُ · عَلَاوَةً عَلَى ذٰلِكَ تُنَوِّعُ … الحَيَاةَ · حَضَرْتُ مِهْرَجَانًا … شَاهَدْتُ عُرُوضًا · مِنْ نَاحِيَةٍ … وَمِنْ نَاحِيَةٍ أُخْرَى · يُشَارُ إِلَى أَنَّ … وَإِنْ كَانَ يَخْتَلِفُ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(TE-L08 · Travel, Cultural Exchange and Understanding) will spend class time USING this language, so students prepare it tonight — short, simple, easy to access (school guidance: “Simple, Short, Interesting, Relevant, Easy to access”). The five words come from the website TE-L09 vocabulary (the Arab diaspora and identity).
Follow-up: the next Do Now tests two of these words (Flipped Learning: keep it short AND follow up).
Homework by route (website tasks). No internet? Students copy the five words from this slide into their book now.
TOPIC E: the five words are the ones the TE-L08 Do Now tests (preparation list of the website P3-L06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E  ·  TE-L07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TE-L07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50" b="1" dirty="0">
                <a:solidFill>
                  <a:srgbClr val="FFFFFF"/>
                </a:solidFill>
                <a:latin typeface="Cambria" pitchFamily="34" charset="0"/>
                <a:ea typeface="Cambria" pitchFamily="34" charset="-122"/>
                <a:cs typeface="Cambria" pitchFamily="34" charset="-120"/>
              </a:rPr>
              <a:t>National Festivals and Traditions</a:t>
            </a:r>
            <a:endParaRPr lang="en-US" sz="33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الأَعْيَادُ الوَطَنِيَّةُ وَالتَّقَالِيدُ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Interpret reports and compare how communities mark important events.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TE-L07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E › TE-L07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Precise names, two verbs, a past festival, a balanced paragraph.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Sort places / celebrations / festival words, fix slips, then a summer of festivals.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TE-L08.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مِهْرَجَانٌ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church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festival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minority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العَيْشُ المُشْتَرَكُ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coexistence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religious diversity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public holiday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كَنِيسَةٌ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synagogue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temple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church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تُقَامُ صَلَاةَ العِيدِ صَبَاحًا.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تُقِيمُ صَلَاةُ العِيدِ صَبَاحًا.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تُقَامُ صَلَاةُ العِيدِ صَبَاحًا.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avoids a generalisation?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تَخْتَلِفُ العَادَاتُ مِنْ بَلَدٍ إِلَى بَلَدٍ.</a:t>
            </a:r>
            <a:endParaRPr lang="ar-SA" sz="18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 العَرَبِ يَحْتَفِلُونَ بِالطَّرِيقَةِ نَفْسِهَا.</a:t>
            </a:r>
            <a:endParaRPr lang="ar-SA" sz="18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العَادَاتُ وَاحِدَةٌ فِي كُلِّ مَكَانٍ.</a:t>
            </a:r>
            <a:endParaRPr lang="ar-SA" sz="18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مِهْرَجَانٌ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church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festival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minority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العَيْشُ المُشْتَرَكُ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coexistence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religious diversity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public holiday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كَنِيسَةٌ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synagogue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temple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church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تُقَامُ صَلَاةَ العِيدِ صَبَاحًا.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تُقِيمُ صَلَاةُ العِيدِ صَبَاحًا.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تُقَامُ صَلَاةُ العِيدِ صَبَاحًا.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TE-L05: passive + nominative.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avoids a generalisation?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تَخْتَلِفُ العَادَاتُ مِنْ بَلَدٍ إِلَى بَلَدٍ.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كُلُّ العَرَبِ يَحْتَفِلُونَ بِالطَّرِيقَةِ نَفْسِهَا.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العَادَاتُ وَاحِدَةٌ فِي كُلِّ مَكَانٍ.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TE-L04: hedging.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Arab world is multi-faith: describe each community precisely — and balance your paragraph.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مِنْ نَاحِيَةٍ</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وَمِنْ نَاحِيَةٍ أُخْرَى</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عَلَاوَةً عَلَى ذٰلِكَ</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places of worship and celebrations of different communities precisely.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يَتَسَامَحُ مَعَ</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يُنَوِّعُ</a:t>
            </a:r>
            <a:pPr algn="l" indent="0" marL="0">
              <a:buNone/>
            </a:pPr>
            <a:r>
              <a:rPr lang="en-US" sz="1300" dirty="0">
                <a:solidFill>
                  <a:srgbClr val="1F2A37"/>
                </a:solidFill>
                <a:latin typeface="Calibri" pitchFamily="34" charset="0"/>
                <a:ea typeface="Calibri" pitchFamily="34" charset="-122"/>
                <a:cs typeface="Calibri" pitchFamily="34" charset="-120"/>
              </a:rPr>
              <a:t> + direct object.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Narrate a cultural festival in the past with accusative objects.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Build a balanced paragraph with </a:t>
            </a:r>
            <a:pPr algn="l" indent="0" marL="0">
              <a:buNone/>
            </a:pPr>
            <a:r>
              <a:rPr lang="ar-SA" altLang="en-US" sz="170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five celebrations and three places of worship.</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tell church, synagogue and mosque apart in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narrate a festival I attended.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يَتَسَامَحُ مَعَ / يُنَوِّعُ</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balanced paragraph.</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close with </a:t>
            </a:r>
            <a:pPr algn="l" indent="0" marL="0">
              <a:buNone/>
            </a:pPr>
            <a:r>
              <a:rPr lang="ar-SA" altLang="en-US" sz="1700" b="1" dirty="0">
                <a:solidFill>
                  <a:srgbClr val="B83227"/>
                </a:solidFill>
                <a:latin typeface="Amiri" pitchFamily="34" charset="0"/>
                <a:ea typeface="Amiri" pitchFamily="34" charset="-122"/>
                <a:cs typeface="Amiri" pitchFamily="34" charset="-120"/>
              </a:rPr>
              <a:t>يُشَارُ إِلَى أَنَّ</a:t>
            </a:r>
            <a:pPr algn="l" indent="0" marL="0">
              <a:buNone/>
            </a:pPr>
            <a:r>
              <a:rPr lang="en-US" sz="1300" b="1" dirty="0">
                <a:solidFill>
                  <a:srgbClr val="B83227"/>
                </a:solidFill>
                <a:latin typeface="Calibri" pitchFamily="34" charset="0"/>
                <a:ea typeface="Calibri" pitchFamily="34" charset="-122"/>
                <a:cs typeface="Calibri" pitchFamily="34" charset="-120"/>
              </a:rPr>
              <a:t> and a qualification.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Celebrations and communities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Cultural festivals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Diversity and coexistence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كَنِيسَةٌ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‎کلیسا / گرجا‎ </a:t>
            </a:r>
            <a:pPr indent="0" marL="0">
              <a:buNone/>
            </a:pPr>
            <a:r>
              <a:rPr lang="en-US" sz="950" b="1" dirty="0">
                <a:solidFill>
                  <a:srgbClr val="2E8B57"/>
                </a:solidFill>
                <a:latin typeface="Calibri" pitchFamily="34" charset="0"/>
                <a:ea typeface="Calibri" pitchFamily="34" charset="-122"/>
                <a:cs typeface="Calibri" pitchFamily="34" charset="-120"/>
              </a:rPr>
              <a:t> kalīsā · a church (Urdu girjā)</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مِهْرَجَانٌ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‎میلہ / جشن‎ </a:t>
            </a:r>
            <a:pPr indent="0" marL="0">
              <a:buNone/>
            </a:pPr>
            <a:r>
              <a:rPr lang="en-US" sz="950" b="1" dirty="0">
                <a:solidFill>
                  <a:srgbClr val="2E8B57"/>
                </a:solidFill>
                <a:latin typeface="Calibri" pitchFamily="34" charset="0"/>
                <a:ea typeface="Calibri" pitchFamily="34" charset="-122"/>
                <a:cs typeface="Calibri" pitchFamily="34" charset="-120"/>
              </a:rPr>
              <a:t> mela · a festival (Arabic from Persian mihragān)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أَقَلِّيَّةٌ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‎اقلیت‎ </a:t>
            </a:r>
            <a:pPr indent="0" marL="0">
              <a:buNone/>
            </a:pPr>
            <a:r>
              <a:rPr lang="en-US" sz="950" b="1" dirty="0">
                <a:solidFill>
                  <a:srgbClr val="2E8B57"/>
                </a:solidFill>
                <a:latin typeface="Calibri" pitchFamily="34" charset="0"/>
                <a:ea typeface="Calibri" pitchFamily="34" charset="-122"/>
                <a:cs typeface="Calibri" pitchFamily="34" charset="-120"/>
              </a:rPr>
              <a:t> aqalliyat · a minority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تَسَامُحٌ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‎رواداری‎ </a:t>
            </a:r>
            <a:pPr indent="0" marL="0">
              <a:buNone/>
            </a:pPr>
            <a:r>
              <a:rPr lang="en-US" sz="950" b="1" dirty="0">
                <a:solidFill>
                  <a:srgbClr val="2E8B57"/>
                </a:solidFill>
                <a:latin typeface="Calibri" pitchFamily="34" charset="0"/>
                <a:ea typeface="Calibri" pitchFamily="34" charset="-122"/>
                <a:cs typeface="Calibri" pitchFamily="34" charset="-120"/>
              </a:rPr>
              <a:t> rawādārī · tolerance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طَائِفَةٌ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‎طائفہ / فرقہ‎ </a:t>
            </a:r>
            <a:pPr indent="0" marL="0">
              <a:buNone/>
            </a:pPr>
            <a:r>
              <a:rPr lang="en-US" sz="950" b="1" dirty="0">
                <a:solidFill>
                  <a:srgbClr val="2E8B57"/>
                </a:solidFill>
                <a:latin typeface="Calibri" pitchFamily="34" charset="0"/>
                <a:ea typeface="Calibri" pitchFamily="34" charset="-122"/>
                <a:cs typeface="Calibri" pitchFamily="34" charset="-120"/>
              </a:rPr>
              <a:t> ṭāʾifa · a community, denomination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Celebrations and communities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عِيدُ المِيلَادِ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Christmas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ʿī-du al-mī-lā-di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Celebrated by Arab Christian communities.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6" name="Shape 23"/>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Both names are used.</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34" charset="0"/>
                <a:ea typeface="Amiri" pitchFamily="34" charset="-122"/>
                <a:cs typeface="Amiri" pitchFamily="34" charset="-120"/>
              </a:rPr>
              <a:t>عِيدُ القِيَامَةِ / عِيدُ الفِصْحِ</a:t>
            </a:r>
            <a:endParaRPr lang="ar-SA" sz="29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Easter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ʿī-du al-qi-yā-ma-ti / ʿī-du al-fiṣ-ḥi</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رَأْسُ السَّنَةِ الجَدِيدَةِ</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New Year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raʾ-su as-sa-na-ti al-ja-dī-da-ti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38" name="Shape 3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كَنِيسَةٌ</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church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ka-nī-sa-tun</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6" name="Text 4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كَنَائِسُ</a:t>
            </a:r>
            <a:endParaRPr lang="ar-SA" sz="15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0" name="Shape 4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52" name="Text 4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مَعْبَدٌ</a:t>
            </a:r>
            <a:endParaRPr lang="ar-SA" sz="3000" dirty="0"/>
          </a:p>
        </p:txBody>
      </p:sp>
      <p:sp>
        <p:nvSpPr>
          <p:cNvPr id="53" name="Text 5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temple, place of worship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maʿ-ba-dun</a:t>
            </a:r>
            <a:endParaRPr lang="en-US" sz="1350" dirty="0"/>
          </a:p>
        </p:txBody>
      </p:sp>
      <p:sp>
        <p:nvSpPr>
          <p:cNvPr id="54" name="Shape 51"/>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6" name="Text 53"/>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مَعَابِدُ</a:t>
            </a:r>
            <a:endParaRPr lang="ar-SA" sz="15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كَنِيسٌ يَهُودِيٌّ</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synagogue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ka-nī-sun ya-hū-diy-yun</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Celebrations and communities (2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قُدَّاسٌ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mass, liturgy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qud-dā-sun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قِدِّيسٌ</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saint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qid-dī-sun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أَقَلِّيَّةٌ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minority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a-qal-liy-ya-tun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أَقَلِّيَّاتٌ</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طَائِفَةٌ</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community, denomination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ṭā-ʾi-fa-tun</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طَوَائِفُ</a:t>
            </a:r>
            <a:endParaRPr lang="ar-SA" sz="15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عُطْلَةٌ رَسْمِيَّةٌ</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public holiday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ʿuṭ-la-tun ras-miy-ya-tun</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Cultural festivals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مِهْرَجَانٌ / مَهْرَجَانَاتٌ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festival / festivals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mih-ra-jā-nun / mah-ra-jā-nā-tun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مِهْرَجَانٌ ثَقَافِيٌّ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cultural festival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mih-ra-jā-nun tha-qā-fiy-yun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30" name="Shape 27"/>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Plural of عَرْضٌ.</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عُرُوضٌ</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performances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ʿu-rū-ḍun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رَقْصٌ شَعْبِيٌّ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folk dance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raq-ṣun shaʿ-biy-yun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مُوسِيقَى تَقْلِيدِيَّةٌ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traditional music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mū-sī-qā taq-lī-diy-ya-tun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Cultural festivals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زِيٌّ تَقْلِيدِيٌّ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traditional dress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ziy-yun taq-lī-diy-yun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أَزْيَاءٌ تَقْلِيدِيَّةٌ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تُرَاثٌ ثَقَافِيٌّ غَيْرُ مَادِّيٍّ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intangible cultural heritage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tu-rā-thun tha-qā-fiy-yun ghay-ru mād-diy-yin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الأَلْعَابُ النَّارِيَّةُ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fireworks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al-al-ʿā-bu an-nā-riy-ya-tu</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جُمْهُورٌ</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audience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jum-hū-run</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مَسْرَحٌ أَثَرِيٌّ</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 ancient theatre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mas-ra-ḥun a-tha-riy-yun</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Several festivals are held in such venues.</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Diversity and coexistence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التَّنَوُّعُ الدِّينِيُّ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religious diversity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at-ta-naw-wu-ʿu ad-dī-niy-yu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العَيْشُ المُشْتَرَكُ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coexistence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al-ʿay-shu al-mush-ta-ra-ku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مُجْتَمَعٌ مُتَعَدِّدُ الأَدْيَانِ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multi-faith society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muj-ta-ma-ʿun mu-ta-ʿad-di-du al-ad-yā-ni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25</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يَتَسَامَحُ مَعَ</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 tolerant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ya-ta-sā-ma-ḥu ma-ʿa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VI, fixed with </a:t>
            </a:r>
            <a:pPr algn="l" indent="0" marL="0">
              <a:buNone/>
            </a:pPr>
            <a:r>
              <a:rPr lang="ar-SA" altLang="en-US" sz="1300" dirty="0">
                <a:solidFill>
                  <a:srgbClr val="8A6D1E"/>
                </a:solidFill>
                <a:latin typeface="Amiri" pitchFamily="34" charset="0"/>
                <a:ea typeface="Amiri" pitchFamily="34" charset="-122"/>
                <a:cs typeface="Amiri" pitchFamily="34" charset="-120"/>
              </a:rPr>
              <a:t>مَعَ</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26</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يُنَوِّعُ</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diversifies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yu-naw-wi-ʿu</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takes a direct object.</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Diversity and coexistence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يَحْتَرِمُ الاخْتِلَافَ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respects difference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yaḥ-ta-ri-mu alkh-ti-lā-fa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عَلَاوَةً عَلَى ذٰلِكَ</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moreover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ʿa-lā-wa-tan ʿa-lā dhā-li-ka</a:t>
            </a:r>
            <a:endParaRPr lang="en-US" sz="1350" dirty="0"/>
          </a:p>
        </p:txBody>
      </p:sp>
      <p:sp>
        <p:nvSpPr>
          <p:cNvPr id="25" name="Text 22"/>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formal connector from D4.</a:t>
            </a:r>
            <a:endParaRPr lang="en-US" sz="100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29</a:t>
            </a:r>
            <a:endParaRPr lang="en-US" sz="1000" dirty="0"/>
          </a:p>
        </p:txBody>
      </p:sp>
      <p:sp>
        <p:nvSpPr>
          <p:cNvPr id="29" name="Text 2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نَاحِيَةٍ أُخْرَى</a:t>
            </a:r>
            <a:endParaRPr lang="ar-SA" sz="3000" dirty="0"/>
          </a:p>
        </p:txBody>
      </p:sp>
      <p:sp>
        <p:nvSpPr>
          <p:cNvPr id="30" name="Text 2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the other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nā-ḥi-ya-tin ukh-rā</a:t>
            </a:r>
            <a:endParaRPr lang="en-US" sz="135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30</a:t>
            </a:r>
            <a:endParaRPr lang="en-US" sz="1000" dirty="0"/>
          </a:p>
        </p:txBody>
      </p:sp>
      <p:sp>
        <p:nvSpPr>
          <p:cNvPr id="34" name="Text 3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يُشَارُ إِلَى أَنَّ</a:t>
            </a:r>
            <a:endParaRPr lang="ar-SA" sz="3000" dirty="0"/>
          </a:p>
        </p:txBody>
      </p:sp>
      <p:sp>
        <p:nvSpPr>
          <p:cNvPr id="35" name="Text 3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noted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yu-shā-ru i-lā an-na</a:t>
            </a:r>
            <a:endParaRPr lang="en-US" sz="1350" dirty="0"/>
          </a:p>
        </p:txBody>
      </p:sp>
      <p:sp>
        <p:nvSpPr>
          <p:cNvPr id="36" name="Text 3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An impersonal passive from D4.</a:t>
            </a:r>
            <a:endParaRPr lang="en-US" sz="10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1 · PRECISE WORDS AND TWO VERBS (WEBSITE RULES 1–2 + TEACHING POINT)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Name it precisely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التَّسْمِيَةُ الدَّقِيقَةُ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Means</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church</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يُقَامُ القُدَّاسُ فِي </a:t>
            </a:r>
            <a:pPr rtl="1" algn="ctr" indent="0" marL="0">
              <a:buNone/>
            </a:pPr>
            <a:r>
              <a:rPr lang="ar-SA" altLang="en-US" sz="1950" b="1" dirty="0">
                <a:solidFill>
                  <a:srgbClr val="0E7C86"/>
                </a:solidFill>
                <a:latin typeface="Amiri" pitchFamily="34" charset="0"/>
                <a:ea typeface="Amiri" pitchFamily="34" charset="-122"/>
                <a:cs typeface="Amiri" pitchFamily="34" charset="-120"/>
              </a:rPr>
              <a:t>الكَنِيسَةِ</a:t>
            </a:r>
            <a:pPr rtl="1" algn="ctr" indent="0" marL="0">
              <a:buNone/>
            </a:pPr>
            <a:r>
              <a:rPr lang="ar-SA" altLang="en-US" sz="1950" b="1" dirty="0">
                <a:solidFill>
                  <a:srgbClr val="1B3B6F"/>
                </a:solidFill>
                <a:latin typeface="Amiri" pitchFamily="34" charset="0"/>
                <a:ea typeface="Amiri" pitchFamily="34" charset="-122"/>
                <a:cs typeface="Amiri" pitchFamily="34" charset="-120"/>
              </a:rPr>
              <a:t>.</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Mass is held in the church.</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كَنِيسَةٌ</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synagogue</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فِي المَغْرِبِ وَتُونُسَ </a:t>
            </a:r>
            <a:pPr rtl="1" algn="ctr" indent="0" marL="0">
              <a:buNone/>
            </a:pPr>
            <a:r>
              <a:rPr lang="ar-SA" altLang="en-US" sz="1950" b="1" dirty="0">
                <a:solidFill>
                  <a:srgbClr val="D6336C"/>
                </a:solidFill>
                <a:latin typeface="Amiri" pitchFamily="34" charset="0"/>
                <a:ea typeface="Amiri" pitchFamily="34" charset="-122"/>
                <a:cs typeface="Amiri" pitchFamily="34" charset="-120"/>
              </a:rPr>
              <a:t>مَعَابِدُ يَهُودِيَّةٌ</a:t>
            </a:r>
            <a:pPr rtl="1" algn="ctr" indent="0" marL="0">
              <a:buNone/>
            </a:pPr>
            <a:r>
              <a:rPr lang="ar-SA" altLang="en-US" sz="1950" b="1" dirty="0">
                <a:solidFill>
                  <a:srgbClr val="1B3B6F"/>
                </a:solidFill>
                <a:latin typeface="Amiri" pitchFamily="34" charset="0"/>
                <a:ea typeface="Amiri" pitchFamily="34" charset="-122"/>
                <a:cs typeface="Amiri" pitchFamily="34" charset="-120"/>
              </a:rPr>
              <a:t> قَدِيمَةٌ.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Morocco and Tunisia there are old synagogues.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كَنِيسٌ يَهُودِيٌّ</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mass ≠ saint</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ذَهَبُوا إِلَى الكَنِيسَةِ لِحُضُورِ </a:t>
            </a:r>
            <a:pPr rtl="1" algn="ctr" indent="0" marL="0">
              <a:buNone/>
            </a:pPr>
            <a:r>
              <a:rPr lang="ar-SA" altLang="en-US" sz="1950" b="1" dirty="0">
                <a:solidFill>
                  <a:srgbClr val="0E7C86"/>
                </a:solidFill>
                <a:latin typeface="Amiri" pitchFamily="34" charset="0"/>
                <a:ea typeface="Amiri" pitchFamily="34" charset="-122"/>
                <a:cs typeface="Amiri" pitchFamily="34" charset="-120"/>
              </a:rPr>
              <a:t>القُدَّاسِ</a:t>
            </a:r>
            <a:pPr rtl="1" algn="ctr" indent="0" marL="0">
              <a:buNone/>
            </a:pPr>
            <a:r>
              <a:rPr lang="ar-SA" altLang="en-US" sz="1950" b="1" dirty="0">
                <a:solidFill>
                  <a:srgbClr val="1B3B6F"/>
                </a:solidFill>
                <a:latin typeface="Amiri" pitchFamily="34" charset="0"/>
                <a:ea typeface="Amiri" pitchFamily="34" charset="-122"/>
                <a:cs typeface="Amiri" pitchFamily="34" charset="-120"/>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They went to church to attend mass.</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قُدَّاسٌ ≠ قِدِّيسٌ</a:t>
            </a:r>
            <a:endParaRPr lang="ar-SA" sz="22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tolerant of</a:t>
            </a:r>
            <a:endParaRPr lang="en-US" sz="1100" dirty="0"/>
          </a:p>
        </p:txBody>
      </p:sp>
      <p:sp>
        <p:nvSpPr>
          <p:cNvPr id="40" name="Text 37"/>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يَتَسَامَحُ المُجْتَمَعُ </a:t>
            </a:r>
            <a:pPr rtl="1" algn="ctr" indent="0" marL="0">
              <a:buNone/>
            </a:pPr>
            <a:r>
              <a:rPr lang="ar-SA" altLang="en-US" sz="1950" b="1" dirty="0">
                <a:solidFill>
                  <a:srgbClr val="1D5FBF"/>
                </a:solidFill>
                <a:latin typeface="Amiri" pitchFamily="34" charset="0"/>
                <a:ea typeface="Amiri" pitchFamily="34" charset="-122"/>
                <a:cs typeface="Amiri" pitchFamily="34" charset="-120"/>
              </a:rPr>
              <a:t>مَعَ</a:t>
            </a:r>
            <a:pPr rtl="1" algn="ctr" indent="0" marL="0">
              <a:buNone/>
            </a:pPr>
            <a:r>
              <a:rPr lang="ar-SA" altLang="en-US" sz="1950" b="1" dirty="0">
                <a:solidFill>
                  <a:srgbClr val="1B3B6F"/>
                </a:solidFill>
                <a:latin typeface="Amiri" pitchFamily="34" charset="0"/>
                <a:ea typeface="Amiri" pitchFamily="34" charset="-122"/>
                <a:cs typeface="Amiri" pitchFamily="34" charset="-120"/>
              </a:rPr>
              <a:t> الاخْتِلَافِ.</a:t>
            </a:r>
            <a:endParaRPr lang="ar-SA" sz="1950" dirty="0"/>
          </a:p>
        </p:txBody>
      </p:sp>
      <p:sp>
        <p:nvSpPr>
          <p:cNvPr id="41" name="Text 38"/>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Society is tolerant of difference.</a:t>
            </a:r>
            <a:endParaRPr lang="en-US" sz="950" dirty="0"/>
          </a:p>
        </p:txBody>
      </p:sp>
      <p:sp>
        <p:nvSpPr>
          <p:cNvPr id="42" name="Text 39"/>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يَتَسَامَحُ </a:t>
            </a:r>
            <a:pPr rtl="1" algn="ctr" indent="0" marL="0">
              <a:buNone/>
            </a:pPr>
            <a:r>
              <a:rPr lang="ar-SA" altLang="en-US" sz="2200" b="1" dirty="0">
                <a:solidFill>
                  <a:srgbClr val="1D5FBF"/>
                </a:solidFill>
                <a:latin typeface="Amiri" pitchFamily="34" charset="0"/>
                <a:ea typeface="Amiri" pitchFamily="34" charset="-122"/>
                <a:cs typeface="Amiri" pitchFamily="34" charset="-120"/>
              </a:rPr>
              <a:t>مَعَ</a:t>
            </a:r>
            <a:endParaRPr lang="ar-SA" sz="2200" dirty="0"/>
          </a:p>
        </p:txBody>
      </p:sp>
      <p:sp>
        <p:nvSpPr>
          <p:cNvPr id="43" name="Shape 40"/>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diversifies</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تُنَوِّعُ المَهْرَجَانَاتُ </a:t>
            </a:r>
            <a:pPr rtl="1" algn="ctr" indent="0" marL="0">
              <a:buNone/>
            </a:pPr>
            <a:r>
              <a:rPr lang="ar-SA" altLang="en-US" sz="1950" b="1" dirty="0">
                <a:solidFill>
                  <a:srgbClr val="1D5FBF"/>
                </a:solidFill>
                <a:latin typeface="Amiri" pitchFamily="34" charset="0"/>
                <a:ea typeface="Amiri" pitchFamily="34" charset="-122"/>
                <a:cs typeface="Amiri" pitchFamily="34" charset="-120"/>
              </a:rPr>
              <a:t>الحَيَاةَ</a:t>
            </a:r>
            <a:pPr rtl="1" algn="ctr" indent="0" marL="0">
              <a:buNone/>
            </a:pPr>
            <a:r>
              <a:rPr lang="ar-SA" altLang="en-US" sz="1950" b="1" dirty="0">
                <a:solidFill>
                  <a:srgbClr val="1B3B6F"/>
                </a:solidFill>
                <a:latin typeface="Amiri" pitchFamily="34" charset="0"/>
                <a:ea typeface="Amiri" pitchFamily="34" charset="-122"/>
                <a:cs typeface="Amiri" pitchFamily="34" charset="-120"/>
              </a:rPr>
              <a:t> الثَّقَافِيَّةَ.</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Festivals diversify cultural life.</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يُنَوِّعُ</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Christian communities: Egypt, Lebanon, Syria, Jordan, Palestine, Iraq · old Jewish communities: Morocco, Tunisia (website).</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NARRATE, BALANCE, REPORT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Hold two ideas at once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الفِقْرَةُ المُتَوَازِنَةُ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PAST · DEVELOP</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حَضَرْتُ · شَاهَدْنَا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حَضَرْتُ مِهْرَجَانًا وَشَاهَدْتُ عُرُوضًا رَائِعَةً.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attended a festival and watched wonderful performances.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Objects in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BALANCE · STRETCH</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34" charset="0"/>
                <a:ea typeface="Amiri" pitchFamily="34" charset="-122"/>
                <a:cs typeface="Amiri" pitchFamily="34" charset="-120"/>
              </a:rPr>
              <a:t>مِنْ نَاحِيَةٍ … وَمِنْ نَاحِيَةٍ أُخْرَى</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مِنْ نَاحِيَةٍ تَتَنَوَّعُ الأَعْيَادُ، وَمِنْ نَاحِيَةٍ أُخْرَى تَجْمَعُ النَّاسَ.</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 one hand festivals vary; on the other, they bring people together.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Both halves.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REPORT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34" charset="0"/>
                <a:ea typeface="Amiri" pitchFamily="34" charset="-122"/>
                <a:cs typeface="Amiri" pitchFamily="34" charset="-120"/>
              </a:rPr>
              <a:t>عَلَاوَةً عَلَى ذٰلِكَ · يُشَارُ إِلَى أَنَّ</a:t>
            </a:r>
            <a:endParaRPr lang="ar-SA" sz="14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يُشَارُ إِلَى أَنَّ التَّنَوُّعَ قَدِيمٌ فِي المِنْطَقَةِ.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It is noted that diversity is long-standing in the region.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anna +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mistake: yatasāmaḥu takes maʿa.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يَتَسَامَحُ مَعَ الاخْتِلَافِ</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34" charset="0"/>
                <a:ea typeface="Amiri" pitchFamily="34" charset="-122"/>
                <a:cs typeface="Amiri" pitchFamily="34" charset="-120"/>
              </a:rPr>
              <a:t>يَتَسَامَحُ بِالاخْتِلَافِ</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Describing diversity precisely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وَصْفُ التَّنَوُّعِ بِدِقَّةٍ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t>
            </a:r>
            <a:pPr algn="l" indent="0" marL="0">
              <a:buNone/>
            </a:pPr>
            <a:r>
              <a:rPr lang="ar-SA" altLang="en-US" sz="1650" b="1" dirty="0">
                <a:solidFill>
                  <a:srgbClr val="1B3B6F"/>
                </a:solidFill>
                <a:latin typeface="Amiri" pitchFamily="34" charset="0"/>
                <a:ea typeface="Amiri" pitchFamily="34" charset="-122"/>
                <a:cs typeface="Amiri" pitchFamily="34" charset="-120"/>
              </a:rPr>
              <a:t>يَتَسَامَحُ مَعَ</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يَتَسَامَحُ مَعَ</a:t>
            </a:r>
            <a:pPr algn="l" indent="0" marL="0">
              <a:buNone/>
            </a:pPr>
            <a:r>
              <a:rPr lang="en-US" sz="1050" dirty="0">
                <a:solidFill>
                  <a:srgbClr val="5A6472"/>
                </a:solidFill>
                <a:latin typeface="Calibri" pitchFamily="34" charset="0"/>
                <a:ea typeface="Calibri" pitchFamily="34" charset="-122"/>
                <a:cs typeface="Calibri" pitchFamily="34" charset="-120"/>
              </a:rPr>
              <a:t>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يَتَسَامَحُ المُجْتَمَعُ مَعَ الاخْتِلَافِ   ·   تَتَسَامَحُ الطَّوَائِفُ مَعَ بَعْضِهَا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a:t>
            </a:r>
            <a:pPr algn="l" indent="0" marL="0">
              <a:buNone/>
            </a:pPr>
            <a:r>
              <a:rPr lang="ar-SA" altLang="en-US" sz="1650" b="1" dirty="0">
                <a:solidFill>
                  <a:srgbClr val="1B3B6F"/>
                </a:solidFill>
                <a:latin typeface="Amiri" pitchFamily="34" charset="0"/>
                <a:ea typeface="Amiri" pitchFamily="34" charset="-122"/>
                <a:cs typeface="Amiri" pitchFamily="34" charset="-120"/>
              </a:rPr>
              <a:t>يُنَوِّعُ</a:t>
            </a:r>
            <a:pPr algn="l" indent="0" marL="0">
              <a:buNone/>
            </a:pPr>
            <a:r>
              <a:rPr lang="en-US" sz="1250" b="1" dirty="0">
                <a:solidFill>
                  <a:srgbClr val="1B3B6F"/>
                </a:solidFill>
                <a:latin typeface="Calibri" pitchFamily="34" charset="0"/>
                <a:ea typeface="Calibri" pitchFamily="34" charset="-122"/>
                <a:cs typeface="Calibri" pitchFamily="34" charset="-120"/>
              </a:rPr>
              <a:t> with a direct object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يُنَوِّعُ</a:t>
            </a:r>
            <a:pPr algn="l" indent="0" marL="0">
              <a:buNone/>
            </a:pPr>
            <a:r>
              <a:rPr lang="en-US" sz="1050" dirty="0">
                <a:solidFill>
                  <a:srgbClr val="5A6472"/>
                </a:solidFill>
                <a:latin typeface="Calibri" pitchFamily="34" charset="0"/>
                <a:ea typeface="Calibri" pitchFamily="34" charset="-122"/>
                <a:cs typeface="Calibri" pitchFamily="34" charset="-120"/>
              </a:rPr>
              <a:t> + accusative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تُنَوِّعُ المَهْرَجَانَاتُ الحَيَاةَ الثَّقَافِيَّةَ   ·   يُنَوِّعُ التُّرَاثُ المَشْهَدَ الفَنِّيَّ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Past tense for a festival you attended</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حَضَرْتُ / شَاهَدْنَا / اسْتَمْتَعْنَا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حَضَرْتُ مِهْرَجَانًا ثَقَافِيًّا فِي الصَّيْفِ   ·   شَاهَدْنَا عُرُوضًا رَائِعَةً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Building a balanced paragraph</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مِنْ نَاحِيَةٍ … وَمِنْ نَاحِيَةٍ أُخْرَى … عَلَاوَةً عَلَى ذٰلِكَ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مِنْ نَاحِيَةٍ تَتَنَوَّعُ الأَعْيَادُ، وَمِنْ نَاحِيَةٍ أُخْرَى تَجْمَعُ النَّاسَ   ·   يُشَارُ إِلَى أَنَّ التَّنَوُّعَ قَدِيمٌ فِي المِنْطَقَةِ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يَتَسَامَحُ المُجْتَمَعُ ___ الاخْتِلَافِ.</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names a synagogue?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 يَهُودِيٌّ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مَعْبَدٌ</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names the Christian liturgy?</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قِدِّيسٌ</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قُدَّاسٌ</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طَائِفَةٌ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the region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تُوجَدُ فِي المِنْطَقَةِ طَوَائِفُ مَسِيحِيَّةٌ قَدِيمَةٌ إِلَى جَانِبِ الأَغْلَبِيَّةِ المُسْلِمَةِ.</a:t>
            </a:r>
            <a:endParaRPr lang="ar-SA" sz="15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كُلُّ سُكَّانِ المِنْطَقَةِ يَنْتَمُونَ إِلَى دِينٍ وَاحِدٍ.</a:t>
            </a:r>
            <a:endParaRPr lang="ar-SA" sz="15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لَا تُوجَدُ أَعْيَادٌ غَيْرُ إِسْلَامِيَّةٍ فِي المِنْطَقَةِ.</a:t>
            </a:r>
            <a:endParaRPr lang="ar-SA" sz="15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يَتَسَامَحُ المُجْتَمَعُ ___ الاخْتِلَافِ.</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يَتَسَامَحُ</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names a synagogue?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كَنِيسٌ يَهُودِيٌّ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كَنِيسَةٌ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مَعْبَدٌ</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كَنِيسٌ يَهُودِيٌّ</a:t>
            </a:r>
            <a:pPr algn="l" indent="0" marL="0">
              <a:buNone/>
            </a:pPr>
            <a:r>
              <a:rPr lang="en-US" sz="1050" i="1" dirty="0">
                <a:solidFill>
                  <a:srgbClr val="8A6D1E"/>
                </a:solidFill>
                <a:latin typeface="Calibri" pitchFamily="34" charset="0"/>
                <a:ea typeface="Calibri" pitchFamily="34" charset="-122"/>
                <a:cs typeface="Calibri" pitchFamily="34" charset="-120"/>
              </a:rPr>
              <a:t> is a synagogue; </a:t>
            </a:r>
            <a:pPr algn="l" indent="0" marL="0">
              <a:buNone/>
            </a:pPr>
            <a:r>
              <a:rPr lang="ar-SA" altLang="en-US" sz="1350" dirty="0">
                <a:solidFill>
                  <a:srgbClr val="8A6D1E"/>
                </a:solidFill>
                <a:latin typeface="Amiri" pitchFamily="34" charset="0"/>
                <a:ea typeface="Amiri" pitchFamily="34" charset="-122"/>
                <a:cs typeface="Amiri" pitchFamily="34" charset="-120"/>
              </a:rPr>
              <a:t>كَنِيسَةٌ</a:t>
            </a:r>
            <a:pPr algn="l" indent="0" marL="0">
              <a:buNone/>
            </a:pPr>
            <a:r>
              <a:rPr lang="en-US" sz="1050" i="1" dirty="0">
                <a:solidFill>
                  <a:srgbClr val="8A6D1E"/>
                </a:solidFill>
                <a:latin typeface="Calibri" pitchFamily="34" charset="0"/>
                <a:ea typeface="Calibri" pitchFamily="34" charset="-122"/>
                <a:cs typeface="Calibri" pitchFamily="34" charset="-120"/>
              </a:rPr>
              <a:t> is a church.</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names the Christian liturgy?</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قِدِّيسٌ</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قُدَّاسٌ</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طَائِفَةٌ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قُدَّاسٌ</a:t>
            </a:r>
            <a:pPr algn="l" indent="0" marL="0">
              <a:buNone/>
            </a:pPr>
            <a:r>
              <a:rPr lang="en-US" sz="1050" i="1" dirty="0">
                <a:solidFill>
                  <a:srgbClr val="8A6D1E"/>
                </a:solidFill>
                <a:latin typeface="Calibri" pitchFamily="34" charset="0"/>
                <a:ea typeface="Calibri" pitchFamily="34" charset="-122"/>
                <a:cs typeface="Calibri" pitchFamily="34" charset="-120"/>
              </a:rPr>
              <a:t> is the mass; </a:t>
            </a:r>
            <a:pPr algn="l" indent="0" marL="0">
              <a:buNone/>
            </a:pPr>
            <a:r>
              <a:rPr lang="ar-SA" altLang="en-US" sz="1350" dirty="0">
                <a:solidFill>
                  <a:srgbClr val="8A6D1E"/>
                </a:solidFill>
                <a:latin typeface="Amiri" pitchFamily="34" charset="0"/>
                <a:ea typeface="Amiri" pitchFamily="34" charset="-122"/>
                <a:cs typeface="Amiri" pitchFamily="34" charset="-120"/>
              </a:rPr>
              <a:t>قِدِّيسٌ</a:t>
            </a:r>
            <a:pPr algn="l" indent="0" marL="0">
              <a:buNone/>
            </a:pPr>
            <a:r>
              <a:rPr lang="en-US" sz="1050" i="1" dirty="0">
                <a:solidFill>
                  <a:srgbClr val="8A6D1E"/>
                </a:solidFill>
                <a:latin typeface="Calibri" pitchFamily="34" charset="0"/>
                <a:ea typeface="Calibri" pitchFamily="34" charset="-122"/>
                <a:cs typeface="Calibri" pitchFamily="34" charset="-120"/>
              </a:rPr>
              <a:t> is a saint.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the region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تُوجَدُ فِي المِنْطَقَةِ طَوَائِفُ مَسِيحِيَّةٌ قَدِيمَةٌ إِلَى جَانِبِ الأَغْلَبِيَّةِ المُسْلِمَةِ.</a:t>
            </a:r>
            <a:endParaRPr lang="ar-SA" sz="15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34" charset="0"/>
                <a:ea typeface="Amiri" pitchFamily="34" charset="-122"/>
                <a:cs typeface="Amiri" pitchFamily="34" charset="-120"/>
              </a:rPr>
              <a:t>كُلُّ سُكَّانِ المِنْطَقَةِ يَنْتَمُونَ إِلَى دِينٍ وَاحِدٍ.</a:t>
            </a:r>
            <a:endParaRPr lang="ar-SA" sz="15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34" charset="0"/>
                <a:ea typeface="Amiri" pitchFamily="34" charset="-122"/>
                <a:cs typeface="Amiri" pitchFamily="34" charset="-120"/>
              </a:rPr>
              <a:t>لَا تُوجَدُ أَعْيَادٌ غَيْرُ إِسْلَامِيَّةٍ فِي المِنْطَقَةِ.</a:t>
            </a:r>
            <a:endParaRPr lang="ar-SA" sz="15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Long-established Christian communities exist alongside Muslim majorities.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Watch me build a balanced paragraph</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Fact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لَا يَقْتَصِرُ الاحْتِفَالُ عَلَى …</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Open accurately.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عَلَاوَةً عَلَى ذٰلِكَ</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تُنَوِّعُ المَهْرَجَانَاتُ …</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One more point.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34" charset="0"/>
                <a:ea typeface="Amiri" pitchFamily="34" charset="-122"/>
                <a:cs typeface="Amiri" pitchFamily="34" charset="-120"/>
              </a:rPr>
              <a:t>مِنْ نَاحِيَةٍ</a:t>
            </a:r>
            <a:pPr rtl="1" algn="ct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800" b="1" dirty="0">
                <a:solidFill>
                  <a:srgbClr val="0E7C86"/>
                </a:solidFill>
                <a:latin typeface="Amiri" pitchFamily="34" charset="0"/>
                <a:ea typeface="Amiri" pitchFamily="34" charset="-122"/>
                <a:cs typeface="Amiri" pitchFamily="34" charset="-120"/>
              </a:rPr>
              <a:t>وَمِنْ نَاحِيَةٍ أُخْرَى</a:t>
            </a:r>
            <a:pPr rtl="1" algn="ct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 …</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Both halves.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Report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34" charset="0"/>
                <a:ea typeface="Amiri" pitchFamily="34" charset="-122"/>
                <a:cs typeface="Amiri" pitchFamily="34" charset="-120"/>
              </a:rPr>
              <a:t>يُشَارُ إِلَى أَنَّ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العَيْشَ المُشْتَرَكَ قَدِيمٌ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anna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ADD</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BALANCE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لَا يَقْتَصِرُ الاحْتِفَالُ فِي العَالَمِ العَرَبِيِّ عَلَى الأَعْيَادِ الإِسْلَامِيَّةِ.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عَلَاوَةً عَلَى ذٰلِكَ</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تُنَوِّعُ المَهْرَجَانَاتُ الثَّقَافِيَّةُ الحَيَاةَ الفَنِّيَّةَ.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مِنْ نَاحِيَةٍ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تَخْتَلِفُ الأَعْيَادُ بِاخْتِلَافِ الطَّوَائِفِ،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وَمِنْ نَاحِيَةٍ أُخْرَى</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تَجْمَعُ النَّاسَ حَوْلَ المَائِدَةِ نَفْسِهَا. وَ</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يُشَارُ إِلَى أَنَّ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العَيْشَ المُشْتَرَكَ قَدِيمٌ.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Celebration in the Arab world is not limited to Islamic festivals. Moreover, cultural festivals diversify artistic life. On one hand festivals differ between communities; on the other, they gather people around the same table. It is noted that coexistence is long-standing.</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يَتَسَامَحُ المُجْتَمَعُ مَعَ الاخْتِلَافِ</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society is tolerant of difference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مَعَ is fixed with يَتَسَامَحُ.</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تُنَوِّعُ المَهْرَجَانَاتُ الحَيَاةَ الثَّقَافِيَّةَ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festivals diversify cultural life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يُنَوِّعُ takes a direct accusative object.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يُشَارُ إِلَى أَنَّ التَّنَوُّعَ قَدِيمٌ</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it is noted that diversity is long-standing</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An impersonal passive; the noun after أَنَّ is accusative.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“FESTIVAL MATCH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الْمِهْرَجَانَ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public celebration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music + dance</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clothes + food</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الْمِهْرَجَانِ مُوسِيقَى وَرَقْصٌ وَأَنْشِطَةٌ ثَقَافِيَّةٌ.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يَلْبَسُ النَّاسُ مَلَابِسَ خَاصَّةً وَيَأْكُلُونَ أَطْعِمَةً تَقْلِيدِيَّةً.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تَشْمَلُ الِاحْتِفَالَاتُ عُرُوضًا وَأَنْشِطَةً عَامَّةً.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الْمِهْرَجَانَ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public celebration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تَشْمَلُ الِاحْتِفَالَاتُ عُرُوضًا وَأَنْشِطَةً عَامَّةً.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celebrations include shows and public activities.</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music + dance</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فِي الْمِهْرَجَانِ مُوسِيقَى وَرَقْصٌ وَأَنْشِطَةٌ ثَقَافِيَّةٌ.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At the festival there is music, dance and cultural activities.</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clothes + food</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يَلْبَسُ النَّاسُ مَلَابِسَ خَاصَّةً وَيَأْكُلُونَ أَطْعِمَةً تَقْلِيدِيَّةً.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People wear special clothes and eat traditional food.</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كَنِيسَةٌ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مَعْبَدٌ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كَنِيسٌ يَهُودِيٌّ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عِيدُ المِيلَادِ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عِيدُ القِيَامَةِ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رَأْسُ السَّنَةِ الجَدِيدَةِ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عُرُوضٌ</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رَقْصٌ شَعْبِيٌّ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زِيٌّ تَقْلِيدِيٌّ</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Place of worship</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Celebration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Festival language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Place of worship</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كَنِيسَةٌ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مَعْبَدٌ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كَنِيسٌ يَهُودِيٌّ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Celebration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عِيدُ المِيلَادِ</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عِيدُ القِيَامَةِ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رَأْسُ السَّنَةِ الجَدِيدَةِ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Festival language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عُرُوضٌ</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رَقْصٌ شَعْبِيٌّ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زِيٌّ تَقْلِيدِيٌّ</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2,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يُنَوِّعُ</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تُنَوِّعُ المَهْرَجَانَاتُ فِي الحَيَاةِ الثَّقَافِيَّةِ.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تُنَوِّعُ المَهْرَجَانَاتُ بِالحَيَاةِ الثَّقَافِيَّةِ.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تُنَوِّعُ المَهْرَجَانَاتُ الحَيَاةَ الثَّقَافِيَّةَ.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past narrative.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حَضَرْتُ مِهْرَجَانٌ ثَقَافِيٌّ وَشَاهَدْتُ عُرُوضٌ رَائِعَةٌ.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حَضَرْتُ مِهْرَجَانًا ثَقَافِيًّا وَشَاهَدْتُ عُرُوضًا رَائِعَةً.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أَحْضُرُ مِهْرَجَانًا ثَقَافِيًّا أَمْسِ.</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balanced paragraph opening.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34" charset="0"/>
                <a:ea typeface="Amiri" pitchFamily="34" charset="-122"/>
                <a:cs typeface="Amiri" pitchFamily="34" charset="-120"/>
              </a:rPr>
              <a:t>مِنْ نَاحِيَةٍ تَتَنَوَّعُ الأَعْيَادُ وَتَجْمَعُ النَّاسَ.</a:t>
            </a:r>
            <a:endParaRPr lang="ar-SA" sz="190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34" charset="0"/>
                <a:ea typeface="Amiri" pitchFamily="34" charset="-122"/>
                <a:cs typeface="Amiri" pitchFamily="34" charset="-120"/>
              </a:rPr>
              <a:t>مِنْ نَاحِيَةٍ تَتَنَوَّعُ الأَعْيَادُ، وَمِنْ نَاحِيَةٍ أُخْرَى تَجْمَعُ النَّاسَ.</a:t>
            </a:r>
            <a:endParaRPr lang="ar-SA" sz="190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34" charset="0"/>
                <a:ea typeface="Amiri" pitchFamily="34" charset="-122"/>
                <a:cs typeface="Amiri" pitchFamily="34" charset="-120"/>
              </a:rPr>
              <a:t>مِنْ نَاحِيَةٍ أُخْرَى تَتَنَوَّعُ الأَعْيَادُ فَقَطْ.</a:t>
            </a:r>
            <a:endParaRPr lang="ar-SA" sz="190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التَّنَوُّعَ الدِّينِيَّ قَدِيمٌ فِي المِنْطَقَةِ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يُشِيرُ إِلَى</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 عَنْ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 إِلَى</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يُنَوِّعُ</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تُنَوِّعُ المَهْرَجَانَاتُ فِي الحَيَاةِ الثَّقَافِيَّةِ.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تُنَوِّعُ المَهْرَجَانَاتُ بِالحَيَاةِ الثَّقَافِيَّةِ.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تُنَوِّعُ المَهْرَجَانَاتُ الحَيَاةَ الثَّقَافِيَّةَ.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يُنَوِّعُ</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 in the accusative.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past narrative.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حَضَرْتُ مِهْرَجَانٌ ثَقَافِيٌّ وَشَاهَدْتُ عُرُوضٌ رَائِعَةٌ.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حَضَرْتُ مِهْرَجَانًا ثَقَافِيًّا وَشَاهَدْتُ عُرُوضًا رَائِعَةً.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أَحْضُرُ مِهْرَجَانًا ثَقَافِيًّا أَمْسِ.</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objects are accusative and the verbs are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balanced paragraph opening.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نَاحِيَةٍ تَتَنَوَّعُ الأَعْيَادُ وَتَجْمَعُ النَّاسَ.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نَاحِيَةٍ تَتَنَوَّعُ الأَعْيَادُ، وَمِنْ نَاحِيَةٍ أُخْرَى تَجْمَعُ النَّاسَ.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نَاحِيَةٍ أُخْرَى تَتَنَوَّعُ الأَعْيَادُ فَقَطْ.</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structure needs both halves to balance.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التَّنَوُّعَ الدِّينِيَّ قَدِيمٌ فِي المِنْطَقَةِ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يُشِيرُ إِلَى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يُشَارُ عَنْ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يُشَارُ إِلَى</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يُشَارُ إِلَى أَنَّ</a:t>
            </a:r>
            <a:pPr algn="l" indent="0" marL="0">
              <a:buNone/>
            </a:pPr>
            <a:r>
              <a:rPr lang="en-US" sz="1050" i="1" dirty="0">
                <a:solidFill>
                  <a:srgbClr val="8A6D1E"/>
                </a:solidFill>
                <a:latin typeface="Calibri" pitchFamily="34" charset="0"/>
                <a:ea typeface="Calibri" pitchFamily="34" charset="-122"/>
                <a:cs typeface="Calibri" pitchFamily="34" charset="-120"/>
              </a:rPr>
              <a:t> is the impersonal passive form.</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يَتَسَامَحُ المُجْتَمَعُ بِالاخْتِلَافِ.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yatasāmaḥu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ذَهَبْنَا إِلَى الكَنِيسِ لِحُضُورِ القُدَّاسِ.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Church or synagogue?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كُلُّ سُكَّانِ المِنْطَقَةِ يَحْتَفِلُونَ بِالأَعْيَادِ نَفْسِهَا.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All residents? Qualify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يَتَسَامَحُ المُجْتَمَعُ بِالاخْتِلَافِ.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يَتَسَامَحُ المُجْتَمَعُ مَعَ الاخْتِلَافِ.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يَتَسَامَحُ</a:t>
            </a:r>
            <a:pPr algn="l" indent="0" marL="0">
              <a:buNone/>
            </a:pPr>
            <a:r>
              <a:rPr lang="en-US" sz="1150" b="1" dirty="0">
                <a:solidFill>
                  <a:srgbClr val="1B3B6F"/>
                </a:solidFill>
                <a:latin typeface="Calibri" pitchFamily="34" charset="0"/>
                <a:ea typeface="Calibri" pitchFamily="34" charset="-122"/>
                <a:cs typeface="Calibri" pitchFamily="34" charset="-120"/>
              </a:rPr>
              <a:t> requires </a:t>
            </a:r>
            <a:pPr algn="l" indent="0" marL="0">
              <a:buNone/>
            </a:pPr>
            <a:r>
              <a:rPr lang="ar-SA" altLang="en-US" sz="1500" b="1" dirty="0">
                <a:solidFill>
                  <a:srgbClr val="1B3B6F"/>
                </a:solidFill>
                <a:latin typeface="Amiri" pitchFamily="34" charset="0"/>
                <a:ea typeface="Amiri" pitchFamily="34" charset="-122"/>
                <a:cs typeface="Amiri" pitchFamily="34" charset="-120"/>
              </a:rPr>
              <a:t>مَعَ</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ذَهَبْنَا إِلَى الكَنِيسِ لِحُضُورِ القُدَّاسِ.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ذَهَبْنَا إِلَى الكَنِيسَةِ لِحُضُورِ القُدَّاسِ.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mass is held in a church; </a:t>
            </a:r>
            <a:pPr algn="l" indent="0" marL="0">
              <a:buNone/>
            </a:pPr>
            <a:r>
              <a:rPr lang="ar-SA" altLang="en-US" sz="1500" b="1" dirty="0">
                <a:solidFill>
                  <a:srgbClr val="1B3B6F"/>
                </a:solidFill>
                <a:latin typeface="Amiri" pitchFamily="34" charset="0"/>
                <a:ea typeface="Amiri" pitchFamily="34" charset="-122"/>
                <a:cs typeface="Amiri" pitchFamily="34" charset="-120"/>
              </a:rPr>
              <a:t>كَنِيسٌ يَهُودِيٌّ</a:t>
            </a:r>
            <a:pPr algn="l" indent="0" marL="0">
              <a:buNone/>
            </a:pPr>
            <a:r>
              <a:rPr lang="en-US" sz="1150" b="1" dirty="0">
                <a:solidFill>
                  <a:srgbClr val="1B3B6F"/>
                </a:solidFill>
                <a:latin typeface="Calibri" pitchFamily="34" charset="0"/>
                <a:ea typeface="Calibri" pitchFamily="34" charset="-122"/>
                <a:cs typeface="Calibri" pitchFamily="34" charset="-120"/>
              </a:rPr>
              <a:t> is a synagogue.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كُلُّ سُكَّانِ المِنْطَقَةِ يَحْتَفِلُونَ بِالأَعْيَادِ نَفْسِهَا.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34" charset="0"/>
                <a:ea typeface="Amiri" pitchFamily="34" charset="-122"/>
                <a:cs typeface="Amiri" pitchFamily="34" charset="-120"/>
              </a:rPr>
              <a:t>تَخْتَلِفُ الأَعْيَادُ بِاخْتِلَافِ الطَّوَائِفِ وَالبُلْدَانِ.</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region is multi-faith, so a claim that everyone celebrates the same festivals is inaccurate.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a summer of festivals and feasts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was the festival held?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an ancient theatre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stadium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school hall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they watch?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football match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film screening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Folk dance and traditional music</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stands on the same street?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mosques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synagogue and a school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old church and a large mosque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at Christmas?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Mass is held in the church and friends join in the greetings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closes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is organised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speaker qualify the final point?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identical everywhere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situation differs from country to country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recent development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Places: a theatre · a church · a mosque.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الصَّيْفِ المَاضِي حَضَرْتُ مِهْرَجَانًا ثَقَافِيًّا فِي مَسْرَحٍ أَثَرِيٍّ.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Last summer I attended a cultural festival in an ancient theatre.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34" charset="0"/>
                <a:ea typeface="Amiri" pitchFamily="34" charset="-122"/>
                <a:cs typeface="Amiri" pitchFamily="34" charset="-120"/>
              </a:rPr>
              <a:t>شَاهَدْنَا عُرُوضًا رَائِعَةً مِنْ رَقْصٍ شَعْبِيٍّ وَمُوسِيقَى تَقْلِيدِيَّةٍ، وَلَبِسَ المُمَثِّلُونَ أَزْيَاءً تَقْلِيدِيَّةً جَمِيلَةً.</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watched wonderful performances of folk dance and traditional music, and the performers wore beautiful traditional dress.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وَفِي المَدِينَةِ نَفْسِهَا تُوجَدُ كَنِيسَةٌ قَدِيمَةٌ وَمَسْجِدٌ كَبِيرٌ فِي الشَّارِعِ نَفْسِهِ.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same city there is an old church and a large mosque on the same street.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وَفِي عِيدِ المِيلَادِ يَحْتَفِلُ الجِيرَانُ المَسِيحِيُّونَ، وَيُقَامُ القُدَّاسُ فِي الكَنِيسَةِ، وَيُشَارِكُهُمْ بَعْضُ الأَصْدِقَاءِ فِي التَّهْنِئَةِ.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Christmas the Christian neighbours celebrate, mass is held in the church, and some friends join them in offering greetings.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يُشَارُ إِلَى أَنَّ التَّنَوُّعَ الدِّينِيَّ قَدِيمٌ فِي المِنْطَقَةِ، وَلٰكِنَّ الأَمْرَ يَخْتَلِفُ مِنْ بَلَدٍ إِلَى بَلَدٍ.</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noted that religious diversity is long-standing in the region, but it differs from country to country.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was the festival held?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an ancient theatre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stadium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school hall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حَضَرْتُ مِهْرَجَانًا ثَقَافِيًّا فِي مَسْرَحٍ أَثَرِيٍّ.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they watch?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football match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film screening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Folk dance and traditional music</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عُرُوضًا رَائِعَةً مِنْ رَقْصٍ شَعْبِيٍّ وَمُوسِيقَى تَقْلِيدِيَّةٍ.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stands on the same street?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Two mosques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synagogue and a school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old church and a large mosque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تُوجَدُ كَنِيسَةٌ قَدِيمَةٌ وَمَسْجِدٌ كَبِيرٌ فِي الشَّارِعِ نَفْسِهِ.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at Christmas?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Mass is held in the church and friends join in the greetings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closes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is organised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يُقَامُ القُدَّاسُ فِي الكَنِيسَةِ، وَيُشَارِكُهُمْ بَعْضُ الأَصْدِقَاءِ فِي التَّهْنِئَةِ.</a:t>
            </a:r>
            <a:endParaRPr lang="ar-SA" sz="11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speaker qualify the final point?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identical everywhere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situation differs from country to country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 recent development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وَلٰكِنَّ الأَمْرَ يَخْتَلِفُ مِنْ بَلَدٍ إِلَى بَلَدٍ.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Places: a theatre · a church · a mosque.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Festival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Festival comparison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Compare two national or cultural festivals by purpose, customs and activities, then identify one similarity and one difference using respectful language.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Choose two national or cultural festivals (examples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Compare them: purpose, customs, activities.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Use the passive for what is done (tuqām, tuzayyan).</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Give one similarity and one difference, respectfully.</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One fact per festival in the present.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Two passive verbs + a comparison (akthar min / mithla).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balanced comparison with time frames (past origin, present custom).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يُحْتَفَلُ بِالعِيدِ الوَطَنِيِّ فِي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 national day is celebrated in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تُقَامُ عُرُوضٌ وَحَفَلَاتٌ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shows and parties are held</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يَتَشَابَهُ المِهْرَجَانَانِ فِي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 two festivals are similar in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يَخْتَلِفَانِ فِي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they differ in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Speaking: describe a festival and the diversity around it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مِهْرَجَانًا أَوْ مُنَاسَبَةً حَضَرْتَهَا. مَاذَا شَاهَدْتَ؟</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الأَعْيَادُ غَيْرُ الإِسْلَامِيَّةِ الَّتِي تُحْتَفَلُ بِهَا فِي العَالَمِ العَرَبِيِّ؟</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تَصِفُ التَّنَوُّعَ الدِّينِيَّ دُونَ تَعْمِيمٍ؟</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حَضَرْتُ ___ ، وَشَاهَدْتُ ___ .</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تَحْتَفِلُ طَوَائِفُ مَسِيحِيَّةٌ بِـ ___ وَ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نَاحِيَةٍ ___ ، وَمِنْ نَاحِيَةٍ أُخْرَى ___ .</a:t>
            </a:r>
            <a:endParaRPr lang="ar-SA" sz="15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مِهْرَجَانًا حَضَرْتَهُ.</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a festival you attended.</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حَضَرْتُ مِهْرَجَانًا ثَقَافِيًّا فِي مَسْرَحٍ أَثَرِيٍّ، وَشَاهَدْتُ عُرُوضًا رَائِعَةً.</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ea typeface="Calibri" pitchFamily="34" charset="-122"/>
                <a:cs typeface="Calibri" pitchFamily="34" charset="-120"/>
              </a:rPr>
              <a:t>I attended a cultural festival in an ancient theatre, and I watched wonderful performances.</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Name five celebrations and three places of worship with accurate spelling and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Five celebrations / places of worship, named and spelled accurately.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past-tense account of a festival with accusative objects.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past account of a festival with accusative objects.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Build a balanced paragraph with both halves of </a:t>
            </a:r>
            <a:pPr algn="l" indent="0" marL="0">
              <a:buNone/>
            </a:pPr>
            <a:r>
              <a:rPr lang="ar-SA" altLang="en-US" sz="1800" b="1" dirty="0">
                <a:solidFill>
                  <a:srgbClr val="1F2A37"/>
                </a:solidFill>
                <a:latin typeface="Amiri" pitchFamily="34" charset="0"/>
                <a:ea typeface="Amiri" pitchFamily="34" charset="-122"/>
                <a:cs typeface="Amiri" pitchFamily="34" charset="-120"/>
              </a:rPr>
              <a:t>مِنْ نَاحِيَةٍ</a:t>
            </a:r>
            <a:pPr algn="l" indent="0" marL="0">
              <a:buNone/>
            </a:pPr>
            <a:r>
              <a:rPr lang="en-US" sz="1400" b="1" dirty="0">
                <a:solidFill>
                  <a:srgbClr val="1F2A37"/>
                </a:solidFill>
                <a:latin typeface="Calibri" pitchFamily="34" charset="0"/>
                <a:ea typeface="Calibri" pitchFamily="34" charset="-122"/>
                <a:cs typeface="Calibri" pitchFamily="34" charset="-120"/>
              </a:rPr>
              <a:t> and close with </a:t>
            </a:r>
            <a:pPr algn="l" indent="0" marL="0">
              <a:buNone/>
            </a:pPr>
            <a:r>
              <a:rPr lang="ar-SA" altLang="en-US" sz="1800" b="1" dirty="0">
                <a:solidFill>
                  <a:srgbClr val="1F2A37"/>
                </a:solidFill>
                <a:latin typeface="Amiri" pitchFamily="34" charset="0"/>
                <a:ea typeface="Amiri" pitchFamily="34" charset="-122"/>
                <a:cs typeface="Amiri" pitchFamily="34" charset="-120"/>
              </a:rPr>
              <a:t>يُشَارُ إِلَى أَنَّ</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two celebrations · a festival · balanced pair · a qualification.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الصَّيْفِ المَاضِي حَضَرْتُ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Last summer I attended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شَاهَدْنَا ______ رَائِعَةً.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watched wonderful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عَلَاوَةً عَلَى 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Moreover,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يُشَارُ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noted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تَحْتَفِلُ طَوَائِفُ مَسِيحِيَّةٌ بِـ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Christian communities celebrate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يُقَامُ القُدَّاسُ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Mass is held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المَغْرِبِ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Morocco there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شَارِعِنَا مَسْجِدٌ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our street there is a mosque and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عِيدُ المِيلَادِ  ·  عِيدُ القِيَامَةِ  ·  كَنِيسَةٌ  ·  كَنِيسٌ يَهُودِيٌّ  ·  قُدَّاسٌ  ·  طَوَائِفُ  ·  مِهْرَجَانٌ ثَقَافِيٌّ  ·  عُرُوضٌ  ·  يَتَسَامَحُ مَعَ  ·  تُنَوِّعُ  ·  مِنْ نَاحِيَةٍ  ·  عَلَاوَةً عَلَى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eighty to ninety words on celebration and diversity in the Arab world. Name at least two non-Islamic celebrations, describe one festival you attended in the past tense, and build a balanced paragraph with </a:t>
            </a:r>
            <a:pPr algn="l" indent="0" marL="0">
              <a:buNone/>
            </a:pPr>
            <a:r>
              <a:rPr lang="ar-SA" altLang="en-US" sz="1750" b="1" dirty="0">
                <a:solidFill>
                  <a:srgbClr val="1F2A37"/>
                </a:solidFill>
                <a:latin typeface="Amiri" pitchFamily="34" charset="0"/>
                <a:ea typeface="Amiri" pitchFamily="34" charset="-122"/>
                <a:cs typeface="Amiri" pitchFamily="34" charset="-120"/>
              </a:rPr>
              <a:t>مِنْ نَاحِيَةٍ</a:t>
            </a:r>
            <a:pPr algn="l" indent="0" marL="0">
              <a:buNone/>
            </a:pPr>
            <a:r>
              <a:rPr lang="en-US" sz="1350" b="1" dirty="0">
                <a:solidFill>
                  <a:srgbClr val="1F2A37"/>
                </a:solidFill>
                <a:latin typeface="Calibri" pitchFamily="34" charset="0"/>
                <a:ea typeface="Calibri" pitchFamily="34" charset="-122"/>
                <a:cs typeface="Calibri" pitchFamily="34" charset="-120"/>
              </a:rPr>
              <a:t> and </a:t>
            </a:r>
            <a:pPr algn="l" indent="0" marL="0">
              <a:buNone/>
            </a:pPr>
            <a:r>
              <a:rPr lang="ar-SA" altLang="en-US" sz="1750" b="1" dirty="0">
                <a:solidFill>
                  <a:srgbClr val="1F2A37"/>
                </a:solidFill>
                <a:latin typeface="Amiri" pitchFamily="34" charset="0"/>
                <a:ea typeface="Amiri" pitchFamily="34" charset="-122"/>
                <a:cs typeface="Amiri" pitchFamily="34" charset="-120"/>
              </a:rPr>
              <a:t>عَلَاوَةً عَلَى ذٰلِكَ</a:t>
            </a:r>
            <a:pPr algn="l" indent="0" marL="0">
              <a:buNone/>
            </a:pPr>
            <a:r>
              <a:rPr lang="en-US" sz="1350" b="1" dirty="0">
                <a:solidFill>
                  <a:srgbClr val="1F2A37"/>
                </a:solidFill>
                <a:latin typeface="Calibri" pitchFamily="34" charset="0"/>
                <a:ea typeface="Calibri" pitchFamily="34" charset="-122"/>
                <a:cs typeface="Calibri" pitchFamily="34" charset="-120"/>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Two non-Islamic celebrations named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past-tense sentence about attending a festival, with accusative objects.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balanced pair using </a:t>
            </a:r>
            <a:pPr algn="l" indent="0" marL="0">
              <a:buNone/>
            </a:pPr>
            <a:r>
              <a:rPr lang="ar-SA" altLang="en-US" sz="155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qualification acknowledging that the picture differs by country.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يَقْتَصِرُ … عَلَى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not limited to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زَالَتْ قَائِمَةً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still standing</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تَجْمَعُ النَّاسَ حَوْلَ المَائِدَةِ نَفْسِهَا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gather people around the same table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وَإِنْ كَانَ يَخْتَلِفُ مِنْ بَلَدٍ إِلَى بَلَدٍ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even if it differs from country to country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يَحْتَرِمُ الاخْتِلَافَ</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respects difference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لَا يَقْتَصِرُ الاحْتِفَالُ فِي العَالَمِ العَرَبِيِّ عَلَى الأَعْيَادِ الإِسْلَامِيَّةِ. فَتَحْتَفِلُ طَوَائِفُ مَسِيحِيَّةٌ قَدِيمَةٌ بِعِيدِ المِيلَادِ وَعِيدِ القِيَامَةِ، وَيُقَامُ القُدَّاسُ فِي الكَنَائِسِ. عَلَاوَةً عَلَى ذٰلِكَ تُنَوِّعُ المَهْرَجَانَاتُ الثَّقَافِيَّةُ الحَيَاةَ الفَنِّيَّةَ. وَفِي الصَّيْفِ المَاضِي حَضَرْتُ مِهْرَجَانًا فِي مَسْرَحٍ أَثَرِيٍّ، وَشَاهَدْتُ عُرُوضًا رَائِعَةً مِنْ رَقْصٍ شَعْبِيٍّ. مِنْ نَاحِيَةٍ تَخْتَلِفُ الأَعْيَادُ بِاخْتِلَافِ الطَّوَائِفِ، وَمِنْ نَاحِيَةٍ أُخْرَى تَجْمَعُ النَّاسَ حَوْلَ المَائِدَةِ نَفْسِهَا. وَيُشَارُ إِلَى أَنَّ العَيْشَ المُشْتَرَكَ قَدِيمٌ، وَإِنْ كَانَ يَخْتَلِفُ مِنْ بَلَدٍ إِلَى بَلَدٍ.</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Celebration in the Arab world is not limited to Islamic festivals. Long-established Christian communities celebrate Christmas and Easter, and mass is held in churches. Moreover, cultural festivals diversify artistic life. Last summer I attended a festival in an ancient theatre and watched wonderful performances of folk dance. On one hand festivals differ between communities; on the other, they gather people around the same table. It is noted that coexistence is long-standing, even if it differs from country to country.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non-Islamic celebrations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past festival with objects in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both halves of مِنْ نَاحِيَةٍ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qualification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named places of worship precisely.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celebration names are spelled accurately.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past objects end in -an (</a:t>
            </a:r>
            <a:pPr algn="l" indent="0" marL="0">
              <a:buNone/>
            </a:pPr>
            <a:r>
              <a:rPr lang="ar-SA" altLang="en-US" sz="1700" dirty="0">
                <a:solidFill>
                  <a:srgbClr val="1F2A37"/>
                </a:solidFill>
                <a:latin typeface="Amiri" pitchFamily="34" charset="0"/>
                <a:ea typeface="Amiri" pitchFamily="34" charset="-122"/>
                <a:cs typeface="Amiri" pitchFamily="34" charset="-120"/>
              </a:rPr>
              <a:t>عُرُوضًا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مَعَ</a:t>
            </a:r>
            <a:pPr algn="l" indent="0" marL="0">
              <a:buNone/>
            </a:pPr>
            <a:r>
              <a:rPr lang="en-US" sz="1300" dirty="0">
                <a:solidFill>
                  <a:srgbClr val="1F2A37"/>
                </a:solidFill>
                <a:latin typeface="Calibri" pitchFamily="34" charset="0"/>
                <a:ea typeface="Calibri" pitchFamily="34" charset="-122"/>
                <a:cs typeface="Calibri" pitchFamily="34" charset="-120"/>
              </a:rPr>
              <a:t> after </a:t>
            </a:r>
            <a:pPr algn="l" indent="0" marL="0">
              <a:buNone/>
            </a:pPr>
            <a:r>
              <a:rPr lang="ar-SA" altLang="en-US" sz="1700" dirty="0">
                <a:solidFill>
                  <a:srgbClr val="1F2A37"/>
                </a:solidFill>
                <a:latin typeface="Amiri" pitchFamily="34" charset="0"/>
                <a:ea typeface="Amiri" pitchFamily="34" charset="-122"/>
                <a:cs typeface="Amiri" pitchFamily="34" charset="-120"/>
              </a:rPr>
              <a:t>يَتَسَامَحُ</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paragraph has both halves and a qualification.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يَتَسَامَحُ النَّاسُ</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الاخْتِلَافِ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“synagogue”?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 يَهُودِيٌّ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قُدَّاسٌ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past narrative.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شَاهَدْنَا عُرُوضًا رَائِعَةً فِي المِهْرَجَانِ.</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شَاهَدْنَا عُرُوضٌ رَائِعَةٌ فِي المِهْرَجَانِ.</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نُشَاهِدُ عُرُوضًا رَائِعَةً أَمْسِ.</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يَتَسَامَحُ النَّاسُ</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الاخْتِلَافِ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يَتَسَامَحُ</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“synagogue”?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كَنِيسَةٌ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كَنِيسٌ يَهُودِيٌّ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قُدَّاسٌ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كَنِيسَةٌ</a:t>
            </a:r>
            <a:pPr algn="l" indent="0" marL="0">
              <a:buNone/>
            </a:pPr>
            <a:r>
              <a:rPr lang="en-US" sz="1050" i="1" dirty="0">
                <a:solidFill>
                  <a:srgbClr val="8A6D1E"/>
                </a:solidFill>
                <a:latin typeface="Calibri" pitchFamily="34" charset="0"/>
                <a:ea typeface="Calibri" pitchFamily="34" charset="-122"/>
                <a:cs typeface="Calibri" pitchFamily="34" charset="-120"/>
              </a:rPr>
              <a:t> is a church; </a:t>
            </a:r>
            <a:pPr algn="l" indent="0" marL="0">
              <a:buNone/>
            </a:pPr>
            <a:r>
              <a:rPr lang="ar-SA" altLang="en-US" sz="1350" dirty="0">
                <a:solidFill>
                  <a:srgbClr val="8A6D1E"/>
                </a:solidFill>
                <a:latin typeface="Amiri" pitchFamily="34" charset="0"/>
                <a:ea typeface="Amiri" pitchFamily="34" charset="-122"/>
                <a:cs typeface="Amiri" pitchFamily="34" charset="-120"/>
              </a:rPr>
              <a:t>قُدَّاسٌ</a:t>
            </a:r>
            <a:pPr algn="l" indent="0" marL="0">
              <a:buNone/>
            </a:pPr>
            <a:r>
              <a:rPr lang="en-US" sz="1050" i="1" dirty="0">
                <a:solidFill>
                  <a:srgbClr val="8A6D1E"/>
                </a:solidFill>
                <a:latin typeface="Calibri" pitchFamily="34" charset="0"/>
                <a:ea typeface="Calibri" pitchFamily="34" charset="-122"/>
                <a:cs typeface="Calibri" pitchFamily="34" charset="-120"/>
              </a:rPr>
              <a:t> is the mass.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past narrative.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34" charset="0"/>
                <a:ea typeface="Amiri" pitchFamily="34" charset="-122"/>
                <a:cs typeface="Amiri" pitchFamily="34" charset="-120"/>
              </a:rPr>
              <a:t>شَاهَدْنَا عُرُوضًا رَائِعَةً فِي المِهْرَجَانِ.</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شَاهَدْنَا عُرُوضٌ رَائِعَةٌ فِي المِهْرَجَانِ.</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نُشَاهِدُ عُرُوضًا رَائِعَةً أَمْسِ.</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object is accusative and the verb is past.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Reading: a region of many celebrations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50" dirty="0">
                <a:solidFill>
                  <a:srgbClr val="1F2A37"/>
                </a:solidFill>
                <a:latin typeface="Amiri" pitchFamily="34" charset="0"/>
                <a:ea typeface="Amiri" pitchFamily="34" charset="-122"/>
                <a:cs typeface="Amiri" pitchFamily="34" charset="-120"/>
              </a:rPr>
              <a:t>لَا يَقْتَصِرُ الاحْتِفَالُ فِي العَالَمِ العَرَبِيِّ عَلَى الأَعْيَادِ الإِسْلَامِيَّةِ. فَفِي مِصْرَ وَلُبْنَانَ وَسُورِيَا وَالأُرْدُنِّ وَفِلَسْطِينَ وَالعِرَاقِ طَوَائِفُ مَسِيحِيَّةٌ قَدِيمَةٌ تَحْتَفِلُ بِعِيدِ المِيلَادِ وَعِيدِ القِيَامَةِ، وَيُقَامُ القُدَّاسُ فِي الكَنَائِسِ. وَفِي المَغْرِبِ وَتُونُسَ مَعَابِدُ يَهُودِيَّةٌ قَدِيمَةٌ مَا زَالَتْ قَائِمَةً. عَلَاوَةً عَلَى ذٰلِكَ تُنَوِّعُ المَهْرَجَانَاتُ الثَّقَافِيَّةُ الحَيَاةَ الفَنِّيَّةَ، فَتُقَامُ عُرُوضُ الرَّقْصِ الشَّعْبِيِّ وَالمُوسِيقَى التَّقْلِيدِيَّةِ فِي مَسَارِحَ أَثَرِيَّةٍ. مِنْ نَاحِيَةٍ تَخْتَلِفُ الأَعْيَادُ بِاخْتِلَافِ الطَّوَائِفِ، وَمِنْ نَاحِيَةٍ أُخْرَى تَجْمَعُ النَّاسَ حَوْلَ المَائِدَةِ نَفْسِهَا. وَيُشَارُ إِلَى أَنَّ العَيْشَ المُشْتَرَكَ قَدِيمٌ، وَإِنْ كَانَ يَخْتَلِفُ مِنْ بَلَدٍ إِلَى بَلَدٍ.</a:t>
            </a:r>
            <a:endParaRPr lang="ar-SA" sz="22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يَقْتَصِرُ …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is not limited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طَوَائِفُ مَسِيحِيَّةٌ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Christian communities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عِيدِ القِيَامَةِ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Easter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الكَنَائِسِ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churches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مَعَابِدُ يَهُودِيَّةٌ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synagogues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مَا زَالَتْ قَائِمَةً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still stand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الحَيَاةَ الفَنِّيَّةَ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artistic life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مَسَارِحَ أَثَرِيَّةٍ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ancient theatres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بِاخْتِلَافِ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according to the difference of</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وَإِنْ كَانَ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even if it is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celebration in the region?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consists only of Islamic festivals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not limited to Islamic festivals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has disappeared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celebrations do Christian communities mark?</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New Year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Eid al-Fitr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Christmas and Easter</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still stands in Morocco and Tunisia?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Old Jewish places of worship</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Roman temples only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historic buildings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cultural festivals do?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replace religious festivals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diversify artistic life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held only in capitals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balanced point expressed?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Festivals differ by community, yet they gather people around the same table</a:t>
            </a:r>
            <a:endParaRPr lang="en-US" sz="12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Festivals are all identical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Festivals divide people entirely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celebration in the region?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consists only of Islamic festivals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not limited to Islamic festivals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has disappeared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يَقْتَصِرُ الاحْتِفَالُ … عَلَى الأَعْيَادِ الإِسْلَامِيَّةِ.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celebrations do Christian communities mark?</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New Year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Eid al-Fitr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Christmas and Easter</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تَحْتَفِلُ بِعِيدِ المِيلَادِ وَعِيدِ القِيَامَةِ.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still stands in Morocco and Tunisia?</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Old Jewish places of worship</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Roman temples only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historic buildings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وَفِي المَغْرِبِ وَتُونُسَ مَعَابِدُ يَهُودِيَّةٌ قَدِيمَةٌ مَا زَالَتْ قَائِمَةً.</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cultural festivals do?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replace religious festivals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diversify artistic life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held only in capitals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تُنَوِّعُ المَهْرَجَانَاتُ الثَّقَافِيَّةُ الحَيَاةَ الفَنِّيَّةَ.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balanced point expressed?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Festivals differ by community, yet they gather people around the same table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Festivals are all identical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Festivals divide people entirely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مِنْ نَاحِيَةٍ تَخْتَلِفُ الأَعْيَادُ … وَمِنْ نَاحِيَةٍ أُخْرَى تَجْمَعُ النَّاسَ.</a:t>
            </a:r>
            <a:endParaRPr lang="ar-SA" sz="13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Diversity Mission — Precision, Balance and Respect</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is a church?</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 يَهُودِيٌّ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كَنِيسَةٌ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مَعْبَدٌ</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is the mass?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قُدَّاسٌ</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قِدِّيسٌ</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طَائِفَةٌ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يَتَسَامَحُ</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الاخْتِلَافِ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which sentence uses </a:t>
            </a:r>
            <a:pPr algn="l" indent="0" marL="0">
              <a:buNone/>
            </a:pPr>
            <a:r>
              <a:rPr lang="ar-SA" altLang="en-US" sz="1650" b="1" dirty="0">
                <a:solidFill>
                  <a:srgbClr val="1B3B6F"/>
                </a:solidFill>
                <a:latin typeface="Amiri" pitchFamily="34" charset="0"/>
                <a:ea typeface="Amiri" pitchFamily="34" charset="-122"/>
                <a:cs typeface="Amiri" pitchFamily="34" charset="-120"/>
              </a:rPr>
              <a:t>يُنَوِّعُ</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34" charset="0"/>
                <a:ea typeface="Amiri" pitchFamily="34" charset="-122"/>
                <a:cs typeface="Amiri" pitchFamily="34" charset="-120"/>
              </a:rPr>
              <a:t>تُنَوِّعُ المَهْرَجَانَاتُ فِي الحَيَاةِ الثَّقَافِيَّةِ.</a:t>
            </a:r>
            <a:endParaRPr lang="ar-SA" sz="16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34" charset="0"/>
                <a:ea typeface="Amiri" pitchFamily="34" charset="-122"/>
                <a:cs typeface="Amiri" pitchFamily="34" charset="-120"/>
              </a:rPr>
              <a:t>تُنَوِّعُ المَهْرَجَانَاتُ بِالحَيَاةِ.</a:t>
            </a:r>
            <a:endParaRPr lang="ar-SA" sz="16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34" charset="0"/>
                <a:ea typeface="Amiri" pitchFamily="34" charset="-122"/>
                <a:cs typeface="Amiri" pitchFamily="34" charset="-120"/>
              </a:rPr>
              <a:t>تُنَوِّعُ المَهْرَجَانَاتُ الحَيَاةَ الثَّقَافِيَّةَ.</a:t>
            </a:r>
            <a:endParaRPr lang="ar-SA" sz="16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means “coexistence”?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العَيْشُ المُشْتَرَكُ</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التَّنَوُّعُ الدِّينِيُّ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أَقَلِّيَّةٌ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celebration is marked by Arab Christian communities?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عِيدُ الأَضْحَى</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عِيدُ القِيَامَةِ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لَيْلَةُ القَدْرِ</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is a church?</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كَنِيسٌ يَهُودِيٌّ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كَنِيسَةٌ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مَعْبَدٌ</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كَنِيسَةٌ</a:t>
            </a:r>
            <a:pPr algn="l" indent="0" marL="0">
              <a:buNone/>
            </a:pPr>
            <a:r>
              <a:rPr lang="en-US" sz="1050" i="1" dirty="0">
                <a:solidFill>
                  <a:srgbClr val="8A6D1E"/>
                </a:solidFill>
                <a:latin typeface="Calibri" pitchFamily="34" charset="0"/>
                <a:ea typeface="Calibri" pitchFamily="34" charset="-122"/>
                <a:cs typeface="Calibri" pitchFamily="34" charset="-120"/>
              </a:rPr>
              <a:t> is a church.</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is the mass?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قُدَّاسٌ</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قِدِّيسٌ</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طَائِفَةٌ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قُدَّاسٌ</a:t>
            </a:r>
            <a:pPr algn="l" indent="0" marL="0">
              <a:buNone/>
            </a:pPr>
            <a:r>
              <a:rPr lang="en-US" sz="1050" i="1" dirty="0">
                <a:solidFill>
                  <a:srgbClr val="8A6D1E"/>
                </a:solidFill>
                <a:latin typeface="Calibri" pitchFamily="34" charset="0"/>
                <a:ea typeface="Calibri" pitchFamily="34" charset="-122"/>
                <a:cs typeface="Calibri" pitchFamily="34" charset="-120"/>
              </a:rPr>
              <a:t> is the liturgy; </a:t>
            </a:r>
            <a:pPr algn="l" indent="0" marL="0">
              <a:buNone/>
            </a:pPr>
            <a:r>
              <a:rPr lang="ar-SA" altLang="en-US" sz="1350" dirty="0">
                <a:solidFill>
                  <a:srgbClr val="8A6D1E"/>
                </a:solidFill>
                <a:latin typeface="Amiri" pitchFamily="34" charset="0"/>
                <a:ea typeface="Amiri" pitchFamily="34" charset="-122"/>
                <a:cs typeface="Amiri" pitchFamily="34" charset="-120"/>
              </a:rPr>
              <a:t>قِدِّيسٌ</a:t>
            </a:r>
            <a:pPr algn="l" indent="0" marL="0">
              <a:buNone/>
            </a:pPr>
            <a:r>
              <a:rPr lang="en-US" sz="1050" i="1" dirty="0">
                <a:solidFill>
                  <a:srgbClr val="8A6D1E"/>
                </a:solidFill>
                <a:latin typeface="Calibri" pitchFamily="34" charset="0"/>
                <a:ea typeface="Calibri" pitchFamily="34" charset="-122"/>
                <a:cs typeface="Calibri" pitchFamily="34" charset="-120"/>
              </a:rPr>
              <a:t> is a saint.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يَتَسَامَحُ</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الاخْتِلَافِ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يَتَسَامَحُ</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which sentence uses </a:t>
            </a:r>
            <a:pPr algn="l" indent="0" marL="0">
              <a:buNone/>
            </a:pPr>
            <a:r>
              <a:rPr lang="ar-SA" altLang="en-US" sz="1650" b="1" dirty="0">
                <a:solidFill>
                  <a:srgbClr val="1B3B6F"/>
                </a:solidFill>
                <a:latin typeface="Amiri" pitchFamily="34" charset="0"/>
                <a:ea typeface="Amiri" pitchFamily="34" charset="-122"/>
                <a:cs typeface="Amiri" pitchFamily="34" charset="-120"/>
              </a:rPr>
              <a:t>يُنَوِّعُ</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34" charset="0"/>
                <a:ea typeface="Amiri" pitchFamily="34" charset="-122"/>
                <a:cs typeface="Amiri" pitchFamily="34" charset="-120"/>
              </a:rPr>
              <a:t>تُنَوِّعُ المَهْرَجَانَاتُ فِي الحَيَاةِ الثَّقَافِيَّةِ.</a:t>
            </a:r>
            <a:endParaRPr lang="ar-SA" sz="16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34" charset="0"/>
                <a:ea typeface="Amiri" pitchFamily="34" charset="-122"/>
                <a:cs typeface="Amiri" pitchFamily="34" charset="-120"/>
              </a:rPr>
              <a:t>تُنَوِّعُ المَهْرَجَانَاتُ بِالحَيَاةِ.</a:t>
            </a:r>
            <a:endParaRPr lang="ar-SA" sz="16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34" charset="0"/>
                <a:ea typeface="Amiri" pitchFamily="34" charset="-122"/>
                <a:cs typeface="Amiri" pitchFamily="34" charset="-120"/>
              </a:rPr>
              <a:t>تُنَوِّعُ المَهْرَجَانَاتُ الحَيَاةَ الثَّقَافِيَّةَ.</a:t>
            </a:r>
            <a:endParaRPr lang="ar-SA" sz="16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يُنَوِّعُ</a:t>
            </a:r>
            <a:pPr algn="l" indent="0" marL="0">
              <a:buNone/>
            </a:pPr>
            <a:r>
              <a:rPr lang="en-US" sz="1050" i="1" dirty="0">
                <a:solidFill>
                  <a:srgbClr val="8A6D1E"/>
                </a:solidFill>
                <a:latin typeface="Calibri" pitchFamily="34" charset="0"/>
                <a:ea typeface="Calibri" pitchFamily="34" charset="-122"/>
                <a:cs typeface="Calibri" pitchFamily="34" charset="-120"/>
              </a:rPr>
              <a:t> takes a direct accusative object.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means “coexistence”?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العَيْشُ المُشْتَرَكُ</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التَّنَوُّعُ الدِّينِيُّ</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أَقَلِّيَّةٌ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العَيْشُ المُشْتَرَكُ</a:t>
            </a:r>
            <a:pPr algn="l" indent="0" marL="0">
              <a:buNone/>
            </a:pPr>
            <a:r>
              <a:rPr lang="en-US" sz="1050" i="1" dirty="0">
                <a:solidFill>
                  <a:srgbClr val="8A6D1E"/>
                </a:solidFill>
                <a:latin typeface="Calibri" pitchFamily="34" charset="0"/>
                <a:ea typeface="Calibri" pitchFamily="34" charset="-122"/>
                <a:cs typeface="Calibri" pitchFamily="34" charset="-120"/>
              </a:rPr>
              <a:t> is coexistence.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celebration is marked by Arab Christian communities?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عِيدُ الأَضْحَى</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عِيدُ القِيَامَةِ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لَيْلَةُ القَدْرِ</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عِيدُ القِيَامَةِ</a:t>
            </a:r>
            <a:pPr algn="l" indent="0" marL="0">
              <a:buNone/>
            </a:pPr>
            <a:r>
              <a:rPr lang="en-US" sz="1050" i="1" dirty="0">
                <a:solidFill>
                  <a:srgbClr val="8A6D1E"/>
                </a:solidFill>
                <a:latin typeface="Calibri" pitchFamily="34" charset="0"/>
                <a:ea typeface="Calibri" pitchFamily="34" charset="-122"/>
                <a:cs typeface="Calibri" pitchFamily="34" charset="-120"/>
              </a:rPr>
              <a:t> is Easter.</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TE-L07 · Festivals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TE-L08: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TE-L08 · Travel, Cultural Exchange and Understanding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حَسَاسِيَّةٌ ثَقَافِيَّةٌ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cultural sensitivity</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تَقَالِيدُ مَحَلِّيَّةٌ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local customs</a:t>
            </a:r>
            <a:pPr indent="0" marL="0">
              <a:buNone/>
            </a:pPr>
            <a:r>
              <a:rPr lang="en-US" sz="1000" i="1" dirty="0">
                <a:solidFill>
                  <a:srgbClr val="5A6472"/>
                </a:solidFill>
                <a:latin typeface="Calibri" pitchFamily="34" charset="0"/>
                <a:ea typeface="Calibri" pitchFamily="34" charset="-122"/>
                <a:cs typeface="Calibri" pitchFamily="34" charset="-120"/>
              </a:rPr>
              <a:t>  sg. تَقْلِيدٌ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قَوَاعِدُ اللِّبَاسِ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dress code</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مَلَابِسُ مُحْتَشِمَةٌ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modest clothing</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يُسْتَحْسَنُ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it is preferable that</a:t>
            </a:r>
            <a:pPr indent="0" marL="0">
              <a:buNone/>
            </a:pPr>
            <a:r>
              <a:rPr lang="en-US" sz="1000" i="1" dirty="0">
                <a:solidFill>
                  <a:srgbClr val="5A6472"/>
                </a:solidFill>
                <a:latin typeface="Calibri" pitchFamily="34" charset="0"/>
                <a:ea typeface="Calibri" pitchFamily="34" charset="-122"/>
                <a:cs typeface="Calibri" pitchFamily="34" charset="-120"/>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What should a visitor do to respect local customs?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يُسْتَحْسَنُ أَنْ يَحْتَرِمَ الزَّائِرُ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Learn 12 diversity words (church / synagogue / mass …); write five accurate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 60–70-word account of a festival or occasion you attended.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80–90 words with a balanced paragraph.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TE-L07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TE-L08 · Travel, Cultural Exchange and Understanding</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السَّفَرُ وَالتَّبَادُلُ الثَّقَافِيُّ وَالتَّفَاهُمُ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TE-L08.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TE-L07 · National Festivals and Traditions</dc:title>
  <dc:subject>PptxGenJS Presentation</dc:subject>
  <dc:creator>Al Madina Online School · Arabic Department</dc:creator>
  <cp:lastModifiedBy>Al Madina Online School · Arabic Department</cp:lastModifiedBy>
  <cp:revision>1</cp:revision>
  <dcterms:created xsi:type="dcterms:W3CDTF">2026-10-11T04:23:25Z</dcterms:created>
  <dcterms:modified xsi:type="dcterms:W3CDTF">2026-10-11T04:23:25Z</dcterms:modified>
</cp:coreProperties>
</file>