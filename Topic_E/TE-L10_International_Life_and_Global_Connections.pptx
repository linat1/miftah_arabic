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E · TE-L10 — International Life and Global Connections. Website: Advanced Topics › Topic E (The International World) › Lesson 10.
The website builds this lesson on the P5-L05 lesson engine, with the Topic focus “Connect language, culture, education, work, travel and global responsibility.” (grammar: Conditionals; passive; balanced opinion; skills: Reading · Writing) and the application challenge “Global headline classification”. This deck follows the same engine, re-sequenced for Topic E: lesson references now point to Topic E codes (lessons outside Topic E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Topic E Social Issues and Opinions › TE-L10. The website lesson “Global Justice — International Responsibility and the Arab World”: vocabulary, grammar rules and quiz, patterns, common mistakes, sorter, listening, reading, speaking prompts and model, writing task and model, differentiation, final check and the lesson mission. Picture match: website visual game “Global Justice — International Responsibility and the Arab World”.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one conclusion with wa-bināʾan ʿalā mā sabaqa and one refusal with yarfuḍu an (website Core). Develop: add a law passive and a Type 2 counterfactual (110 words). Stretch: 120 words with both conditionals, the past perfect and two conclusion connectors.
• Sensitivity: this lesson touches conflict zones, civilian suffering and massacres. Some students may have family affected by current conflicts. Keep the discussion on PRINCIPLES (law, accountability, equal standards), let students voice strong feelings respectfully, avoid graphic detail, and follow the school’s policy on contested political topics and safeguarding.
• Faith link (optional): «يَا أَيُّهَا الَّذِينَ آمَنُوا كُونُوا قَوَّامِينَ لِلَّهِ شُهَدَاءَ بِالقِسْطِ، وَلَا يَجْرِمَنَّكُمْ شَنَآنُ قَوْمٍ عَلَى أَلَّا تَعْدِلُوا» (al-Māʾida 5:8) — justice even towards those you dislike: the Qur’anic answer to double standards. Also «إِنَّ اللهَ يَأْمُرُ بِالعَدْلِ وَالإِحْسَانِ» (al-Naḥl 16:90).
• Grammar links: wa-bināʾan ʿalā mā sabaqa (P5-L01, website) · an + -a triggers (P5-L03 (website), P5-L04 (website)) · passives (P5-L02, website) · past perfect kānat … qad and Type 1 / Type 2 (Topic E, earlier work).
• TEACHER-WRITTEN ITEMS: waṣl alif shown without a kasra; لِكَيْ always written with its sukūn; عَلَاوَةً → عِلَاوَةً in one quiz option; rule formulas, pattern tips, writing prompt and checklist in transliteration; sorter headings in transliteration; game cards 0, 3 and 5 not used; the conclusion, refusal, passive and toolkit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P5-L04 (website). Questions 4–5 retrieve prohibition / permission + -a (P5-L04, website) — today refusal joins the same family: yarfuḍu an + -a.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strong essay ends by drawing everything together — and refusal is one more an + -a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قانون, خلاصہ and مسئولیت are shared — and Urdu خلاصہ gives you the conclusion connector وَخُلَاصَةُ القَوْلِ for free. Careful: Urdu عدالت = a court, but Arabic العَدَالَةُ = JUSTICE (a court = مَحْكَمَةٌ). Urdu حمایت = support; Arabic الحِمَايَةُ = PROTECTION (مَسْؤُولِيَّةُ الحِمَايَةِ = the responsibility to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Formal conclusion connectors (website vocabulary (1 of 2)). Hear → Say → See → Use. Transliteration is printed for Core students (cover it for Develop/Stretch).
Conclusion connectors open the LAST sentence and draw the argument together — never a new point. وَمِنَ المُنْطَلَقِ ذَاتِهِ (from the same starting point) links two related points. المُسَبِّبُ المُوَسَّعُ and التَّرْكِيبُ المَقَالِيُّ are the website’s grammar labels (extended trigger, essay construction), not essay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Formal conclusion connectors (website vocabulary (2 of 2)). Hear → Say → See → Use. Transliteration is printed for Core students (cover it for Develop/Stretch).
Conclusion connectors open the LAST sentence and draw the argument together — never a new point. وَمِنَ المُنْطَلَقِ ذَاتِهِ (from the same starting point) links two related points. المُسَبِّبُ المُوَسَّعُ and التَّرْكِيبُ المَقَالِيُّ are the website’s grammar labels (extended trigger, essay construction), not essay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Global justice (website vocabulary (1 of 2)). Hear → Say → See → Use. Transliteration is printed for Core students (cover it for Develop/Stretch).
Global justice: سِيَادَةُ الدَّوْلَةِ (state sovereignty) vs مَسْؤُولِيَّةُ الحِمَايَةِ (responsibility to protect) — the central tension of the topic. ازْدِوَاجِيَّةُ المَعَايِيرِ (double standards) and الإِفْلَاتُ مِنَ العِقَابِ (impunity) are the key criticisms.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Global justice (website vocabulary (2 of 2)). Hear → Say → See → Use. Transliteration is printed for Core students (cover it for Develop/Stretch).
FLEX: teach if time allows; otherwise these are on the website vocabulary tab for homework.
Global justice: سِيَادَةُ الدَّوْلَةِ (state sovereignty) vs مَسْؤُولِيَّةُ الحِمَايَةِ (responsibility to protect) — the central tension of the topic. ازْدِوَاجِيَّةُ المَعَايِيرِ (double standards) and الإِفْلَاتُ مِنَ العِقَابِ (impunity) are the key criticisms.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Law verbs and register (website vocabulary (1 of 2)). Hear → Say → See → Use. Transliteration is printed for Core students (cover it for Develop/Stretch).
FLEX: teach if time allows; otherwise these are on the website vocabulary tab for homework.
Active and passive pairs: يَنْتَهِكُ (violates) → يُنْتَهَكُ (is violated) · يُلْزِمُ بِـ (obliges to) → يُلْزَمُ بِـ (is obliged to). Same letters — only the vowels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Law verbs and register (website vocabulary (2 of 2)). Hear → Say → See → Use. Transliteration is printed for Core students (cover it for Develop/Stretch).
FLEX: teach if time allows; otherwise these are on the website vocabulary tab for homework.
Active and passive pairs: يَنْتَهِكُ (violates) → يُنْتَهَكُ (is violated) · يُلْزِمُ بِـ (obliges to) → يُلْزَمُ بِـ (is obliged to). Same letters — only the vowels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“Conclusion connectors”, teaching point 1 and builder task 3 (“Formalise the conclusion”).
Three closing shapes to copy: يُعَدُّ … ضَرُورَةً (is considered a necessity) · مِنَ الضَّرُورِيِّ أَنْ + -a (necessity subjunctive) · لَا + noun + دُونَ (no X without Y: لَا عَدَالَةَ دُونَ مُحَاسَبَةٍ).
Row 5: the website mission contrasts the formal conclusion with وَأَيْضًا and ثُمَّ — fine in speech, too weak to close an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“Refusal trigger”, teaching point 2 (“Refusal joins insistence, demand, prohibition and permission”), mistake 1 and the mission error spot.
The family so far: يُصِرُّ عَلَى أَنْ · يُطَالِبُ بِأَنْ · يَدْعُو إِلَى أَنْ (P5-L03, website) · يَمْنَعُ أَنْ · يُبِيحُ أَنْ (P5-L04, website) · يَرْفُضُ أَنْ (today). One rule for all six: an + -a.
Card 2: يَخْضَعُونَ → أَنْ يَخْضَعُوا — the plural -ūna loses its nūn (and gains a silent alif) after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“International-law passives” (“The passive centres the law or the obligation”), the table, mistake 2, the sorter and the reading.
Pattern: passive present = yu- … -a- (yuntahaku · yulzamu · yuḥāsabu); passive past = u … i (ṭubbiqa). Row 4: لَمْ يُطَبَّقْ — the jussive after lam (sukūn).
Why passive? The report focuses on the LAW being violated, not on naming who did it — the neutral register of international bodies.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 “Counterfactual analysis” (“A Type 2 exposes double standards”), mistake 3 and the writing model.
Row 3 vs row 4: Type 1 = a REAL possibility (idhā … sa-) · Type 2 = what SHOULD have happened (law … la-). The Type 2 is the sharpest tool against double standards: “had the law been applied equally …”.
Stretch students use all five rows in order — that IS the website writing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“Close with وَبِنَاءً عَلَى مَا سَبَقَ or وَخُلَاصَةُ القَوْلِ, use يَرْفُضُ أَنْ, form يُنْتَهَكُ and يُلْزَمُ بِـ, and analyse with a Type 2 counterfactual.”
• Conclusion connectors: Open the synthesising final sentence.
• Refusal trigger: States a refusal that a situation continue.
• International-law passives: The passive centres the law or the obligation.
• Counterfactual analysis: A Type 2 exposes double standards.
Website common error: Using a conclusion connector to add a new point rather than synthesise, or an indicative verb after يَرْفُضُ أَنْ. The connector closes the argument; the refusal trigger takes the subjunctive.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reading and writing model. Think aloud: “Report first: yuʾakkidu … anna + the passive yuntahaku. Background: kānat … qad aqarrat. Now the refusal: yarfuḍu … an tastamirrA. The sharpest point: law ṭubbiqa … LA-kāna. And close — not a new point, a synthesis: wa-bināʾan ʿalā mā sabaqa + min al-ḍarūrī an yuṣlaḥA.”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(“Global Connections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“Global Connections”: technology connects, study abroad, international cooperation.
Website feedback lines: Technology connects people globally. · The plane and study symbol show international education. · The globe and handshake show cooperation.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(“Global Connections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“Global Connections”: technology connects, study abroad, international cooperation.
Website feedback lines: Technology connects people globally. · The plane and study symbol show international education. · The globe and handshake show cooperation.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Global Justice — International Responsibility and the Arab World”)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3 not used — waṣl kasra). Card 1 already has an + -a: يَجِبُ أَنْ تَتَعَاوَنَ. Upgrade each card into a Topic E sentence: تَرْفُضُ الشُّعُوبُ أَنْ تُتْرَكَ الدُّوَلُ الفَقِيرَةُ وَحْدَهَا · تُلْزَمُ الدُّوَلُ بِحِمَايَةِ البِيئَةِ.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Global Justice — International Responsibility and the Arab World”)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3 not used — waṣl kasra). Card 1 already has an + -a: يَجِبُ أَنْ تَتَعَاوَنَ. Upgrade each card into a Topic E sentence: تَرْفُضُ الشُّعُوبُ أَنْ تُتْرَكَ الدُّوَلُ الفَقِيرَةُ وَحْدَهَا · تُلْزَمُ الدُّوَلُ بِحِمَايَةِ البِيئَةِ.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live builder: “Build a justice line from a law passive, a refusal and a formal conclusion.” Website feedback: any three different combinations work.
Core: read row 1 across. Develop: column 2 row 2 (يُفْلِتَ — refusal + a verb in -a). Stretch: add a Type 2 between columns 2 and 3: وَلَوْ طُبِّقَ القَانُونُ بِالتَّسَاوِي، لَكَانَ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turn one law passive into a refusal: يُنْتَهَكُ القَانُونُ → يَرْفُضُ النَّاشِطُونَ أَنْ يُنْتَهَكَ القَانُونُ. What happened to the final vowel?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turn one law passive into a refusal: يُنْتَهَكُ القَانُونُ → يَرْفُضُ النَّاشِطُونَ أَنْ يُنْتَهَكَ القَانُونُ. What happened to the final vowel?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5. Develop / Stretch: all 5 — and note the two conclusion connectors at the end.
Listen 1: just listen. Listen 2: note answers. Then chat the letters.
Support: after the second listening, show the read-along slide (Arabic + English, line by line) for Core students.
SCRIPT (read aloud):
يَقُولُ الخَبِيرُ القَانُونِيُّ: يُؤَكِّدُ المُخْتَصُّونَ أَنَّ القَانُونَ الدَّوْلِيَّ الإِنْسَانِيَّ يُنْتَهَكُ بِشَكْلٍ مَنْهَجِيٍّ فِي مَنَاطِقِ النِّزَاعِ. وَيَكْمُنُ جَوْهَرُ الأَزْمَةِ فِي ازْدِوَاجِيَّةِ المَعَايِيرِ الَّتِي تُمَارِسُهَا بَعْضُ الدُّوَلِ الكُبْرَى. تُلْزَمُ الدُّوَلُ المُوَقِّعَةُ بِالامْتِثَالِ لِلْمُعَاهَدَاتِ، غَيْرَ أَنَّ التَّطْبِيقَ يَظَلُّ رَهِينًا بِالمَصَالِحِ السِّيَاسِيَّةِ. يَرْفُضُ كَثِيرٌ مِنَ النَّاشِطِينَ أَنْ تَسْتَمِرَّ هٰذِهِ الازْدِوَاجِيَّةُ. وَلَوْ طُبِّقَ القَانُونُ بِلَا ازْدِوَاجِيَّةٍ، لَكَانَتِ المَجَازِرُ أَقَلَّ حِدَّةً. وَبِنَاءً عَلَى مَا سَبَقَ، يُعَدُّ إِصْلَاحُ مَجْلِسِ الأَمْنِ خُطْوَةً لَا غِنَى عَنْهَا. وَخُلَاصَةُ القَوْلِ، لَا عَدَالَةَ عَالَمِيَّةً دُونَ مُحَاسَبَةٍ مُتَسَاوِيَةٍ.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APPLICATION CHALLENGE (5 min — it takes the speaking-rehearsal slot; the website speaking slide after it is FLEX) — from the website Topic page: “Sort international headlines by theme, identify the likely issue or viewpoint and connect one story to culture, society, environment or technology.”
Website Topic E challenge “Global headline classification”. Headlines: قِمَّةٌ دَوْلِيَّةٌ لِلْمُنَاخِ · طُلَّابٌ عَرَبٌ يَدْرُسُونَ فِي الخَارِجِ · مِهْرَجَانٌ لِلثَّقَافَاتِ فِي لَنْدَنَ · تَطْبِيقٌ جَدِيدٌ لِلتَّرْجَمَةِ · حَمْلَةٌ لِمُسَاعَدَةِ اللَّاجِئِينَ · يَوْمُ اللُّغَةِ العَرَبِيَّةِ العَالَمِيُّ. NB: the engine is a P5 lesson on global justice; Core works from the headlines, Stretch from the engine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E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تَخْتِمُ؟ (Conclusion)
B: وَبِنَاءً عَلَى مَا سَبَقَ، مِنَ الضَّرُورِيِّ أَنْ يُصْلَحَ النِّظَامُ الدَّوْلِيُّ. (Conclusion + subjunctive)
Website prompts and model. Pair task: “UN press conference” — A states the problem with a law passive; B refuses with yarfuḍu an …; together they close with wa-bināʾan ʿalā mā sabaqa. To a girl: صِفِيهَا · تَخْتِمِينَ حُجَّتَكِ.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one conclusion with وَبِنَاءً عَلَى مَا سَبَقَ and one refusal with يَرْفُضُ أَنْ. · Develop — Add a law passive and a Type 2 counterfactual; reach 110 words. · Stretch — Reach 120 words with both conditionals, the past perfect and two conclusion connectors.
Website writing task (Stretch): Write a 110–120-word global-justice analysis. Open with reported speech and a law passive (yuntahaku), use the past perfect for what the UN had adopted, add both conditional types and the refusal trigger yarfuḍu an, and close with wa-bināʾan ʿalā mā sabaqa / wa-khulāṣatu l-qawl + a verb in -a.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يُؤَكِّدُ … أَنَّ … يُنْتَهَكُ · يُشَارُ إِلَى أَنَّ … لَمْ يُطَبَّقْ · كَانَتْ … قَدْ أَقَرَّتْ … لِكَيْ يُحْمَى · يَرْفُضُ … أَنْ تَسْتَمِرَّ · إِذَا الْتَزَمَتْ … سَيُحْدِثُ · لَوْ طُبِّقَ … لَكَانَتْ · وَبِنَاءً عَلَى مَا سَبَقَ … أَنْ يُصْلَحَ … لِكَيْ تَنْعَمَ.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(TE-L11 · Topic E Integrated Communication Workshop) · Youth and Society — The Arab Generation’s Challenges and Power) will spend class time USING this language, so students prepare it tonight — short, simple, easy to access (school guidance: “Simple, Short, Interesting, Relevant, Easy to access”). The five words come from the website P5-L06 (website) vocabulary (youth and society).
Follow-up: the next Do Now tests two of these words (Flipped Learning: keep it short AND follow up).
Homework by route (website tasks). No internet? Students copy the five words from this slide into their book now.
TOPIC E: the five words are the ones the TE-L11 Do Now tests (preparation list of the website D6-L10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E  ·  TE-L10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TE-L10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International Life and Global Connections</a:t>
            </a:r>
            <a:endParaRPr lang="en-US" sz="27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الحَيَاةُ الدُّوَلِيَّةُ وَالرَّوَابِطُ العَالَمِيَّةُ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Connect language, culture, education, work, travel and global responsibility.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TE-L10 · Advanced Topic E · The International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Topic E › TE-L10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52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ea typeface="Calibri" pitchFamily="34" charset="-122"/>
                <a:cs typeface="Calibri" pitchFamily="34" charset="-120"/>
              </a:rPr>
              <a:t>Formal conclusion connectors, yarfuḍu an + -a, the law passives yuntahaku / yulzamu bi-, Type 2 on double standards.</a:t>
            </a:r>
            <a:endParaRPr lang="en-US" sz="10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Match the justice pictures, build a justice line, sort conclusion / refusal / law passive.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TE-L11.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52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العَدَالَةُ الدَّوْلِيَّةُ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national court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international justice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state border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ازْدِوَاجِيَّةُ المَعَايِيرِ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double standards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two languages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high standards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الإِفْلَاتُ مِنَ العِقَابِ</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fair punishment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prison escape film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impunity (escaping punishment)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يَمْنَعُ القَانُونُ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البَيَانَاتُ الشَّخْصِيَّةُ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تُبَاعُ</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بِيعَتْ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تُبَاعَ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لَا يَنْبَغِي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القَانُونُ أَنْ تُرَاقَبَ المُحَادَثَاتُ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يُبِيحَ</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يُبِيحُ</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أَبَاحَ</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52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العَدَالَةُ الدَّوْلِيَّةُ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national court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international justice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state border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(P5-L04,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ازْدِوَاجِيَّةُ المَعَايِيرِ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double standards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two languages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high standards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(P5-L04,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الإِفْلَاتُ مِنَ العِقَابِ</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fair punishment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prison escape film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impunity (escaping punishment)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(P5-L04, website).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يَمْنَعُ القَانُونُ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البَيَانَاتُ الشَّخْصِيَّةُ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تُبَاعُ</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بِيعَتْ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تُبَاعَ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P5-L04 (website): yamnaʿu an + a passive in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لَا يَنْبَغِي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القَانُونُ أَنْ تُرَاقَبَ المُحَادَثَاتُ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يُبِيحَ</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يُبِيحُ</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أَبَاحَ</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P5-L04 (website): two an — two verbs in -a.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 strong essay ends by drawing everything together — and refusal is one more an + -a trigger.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34" charset="0"/>
                <a:ea typeface="Amiri" pitchFamily="34" charset="-122"/>
                <a:cs typeface="Amiri" pitchFamily="34" charset="-120"/>
              </a:rPr>
              <a:t>وَبِنَاءً عَلَى مَا سَبَقَ</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 يَرْفُضُ أَنْ </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تَسْتَمِرَّ</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52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Analyse global-justice issues with international-law and diplomacy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Close an argument with wa-bināʾan ʿalā mā sabaqa and wa-khulāṣatu l-qawl.</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 refusal trigger yarfuḍu an + a verb in -a.</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Form the international-law passives yuntahaku and yulzamu bi-.</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8 global-justice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close with wa-bināʾan ʿalā mā sabaqa.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yarfuḍu an + a verb in -a.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yuntahaku and yulzamu bi-.</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expose double standards with a Type 2.</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 120-word global-justice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52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Formal conclusion connectors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Global justice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Law verbs and register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عَدَالَةٌ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‎عدالت‎ </a:t>
            </a:r>
            <a:pPr indent="0" marL="0">
              <a:buNone/>
            </a:pPr>
            <a:r>
              <a:rPr lang="en-US" sz="950" b="1" dirty="0">
                <a:solidFill>
                  <a:srgbClr val="2E8B57"/>
                </a:solidFill>
                <a:latin typeface="Calibri" pitchFamily="34" charset="0"/>
                <a:ea typeface="Calibri" pitchFamily="34" charset="-122"/>
                <a:cs typeface="Calibri" pitchFamily="34" charset="-120"/>
              </a:rPr>
              <a:t> adālat · Arabic: justice · Urdu: a court of law</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قَانُونٌ</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‎قانون‎ </a:t>
            </a:r>
            <a:pPr indent="0" marL="0">
              <a:buNone/>
            </a:pPr>
            <a:r>
              <a:rPr lang="en-US" sz="950" b="1" dirty="0">
                <a:solidFill>
                  <a:srgbClr val="2E8B57"/>
                </a:solidFill>
                <a:latin typeface="Calibri" pitchFamily="34" charset="0"/>
                <a:ea typeface="Calibri" pitchFamily="34" charset="-122"/>
                <a:cs typeface="Calibri" pitchFamily="34" charset="-120"/>
              </a:rPr>
              <a:t> qānūn · a law</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خُلَاصَةٌ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‎خلاصہ‎ </a:t>
            </a:r>
            <a:pPr indent="0" marL="0">
              <a:buNone/>
            </a:pPr>
            <a:r>
              <a:rPr lang="en-US" sz="950" b="1" dirty="0">
                <a:solidFill>
                  <a:srgbClr val="2E8B57"/>
                </a:solidFill>
                <a:latin typeface="Calibri" pitchFamily="34" charset="0"/>
                <a:ea typeface="Calibri" pitchFamily="34" charset="-122"/>
                <a:cs typeface="Calibri" pitchFamily="34" charset="-120"/>
              </a:rPr>
              <a:t> khulāsa · a summary (وَخُلَاصَةُ القَوْلِ = in summary)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مَسْؤُولِيَّةٌ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‎مسئولیت‎ </a:t>
            </a:r>
            <a:pPr indent="0" marL="0">
              <a:buNone/>
            </a:pPr>
            <a:r>
              <a:rPr lang="en-US" sz="950" b="1" dirty="0">
                <a:solidFill>
                  <a:srgbClr val="2E8B57"/>
                </a:solidFill>
                <a:latin typeface="Calibri" pitchFamily="34" charset="0"/>
                <a:ea typeface="Calibri" pitchFamily="34" charset="-122"/>
                <a:cs typeface="Calibri" pitchFamily="34" charset="-120"/>
              </a:rPr>
              <a:t> masʾūliyat · responsibility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حِمَايَةٌ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‎حمایت‎ </a:t>
            </a:r>
            <a:pPr indent="0" marL="0">
              <a:buNone/>
            </a:pPr>
            <a:r>
              <a:rPr lang="en-US" sz="950" b="1" dirty="0">
                <a:solidFill>
                  <a:srgbClr val="2E8B57"/>
                </a:solidFill>
                <a:latin typeface="Calibri" pitchFamily="34" charset="0"/>
                <a:ea typeface="Calibri" pitchFamily="34" charset="-122"/>
                <a:cs typeface="Calibri" pitchFamily="34" charset="-120"/>
              </a:rPr>
              <a:t> himāyat · Arabic: protection · Urdu: support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52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Formal conclusion connectors (1 of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176662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76662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Synthesising conclusion.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وَبِنَاءً عَلَى مَا سَبَقَ</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based on the above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wa-bi-nā-ʾan ʿa-lā mā sa-ba-qa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7" name="Shape 24"/>
          <p:cNvSpPr/>
          <p:nvPr/>
        </p:nvSpPr>
        <p:spPr>
          <a:xfrm>
            <a:off x="4782312" y="1938528"/>
            <a:ext cx="1766621"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76662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Synthesising conclusion.</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وَخُلَاصَةُ القَوْلِ</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summary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wa-khu-lā-ṣa-tu al-qaw-li</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6" name="Shape 33"/>
          <p:cNvSpPr/>
          <p:nvPr/>
        </p:nvSpPr>
        <p:spPr>
          <a:xfrm>
            <a:off x="960120" y="1938528"/>
            <a:ext cx="1393546"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Linking connector.</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وَمِنَ المُنْطَلَقِ ذَاتِهِ</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from the same starting point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wa-mi-na al-mun-ṭa-la-qi dhā-ti-hi</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3" name="Shape 40"/>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he · she · they</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7" name="Text 4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يَرْفُضُ أَنْ</a:t>
            </a:r>
            <a:endParaRPr lang="ar-SA" sz="3000" dirty="0"/>
          </a:p>
        </p:txBody>
      </p:sp>
      <p:sp>
        <p:nvSpPr>
          <p:cNvPr id="48" name="Text 4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refuses that /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yar-fu-ḍu an</a:t>
            </a:r>
            <a:endParaRPr lang="en-US" sz="1350" dirty="0"/>
          </a:p>
        </p:txBody>
      </p:sp>
      <p:sp>
        <p:nvSpPr>
          <p:cNvPr id="49" name="Shape 4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she / it (f.)</a:t>
            </a:r>
            <a:endParaRPr lang="en-US" sz="700" dirty="0"/>
          </a:p>
        </p:txBody>
      </p:sp>
      <p:sp>
        <p:nvSpPr>
          <p:cNvPr id="51" name="Text 4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تَرْفُضُ أَنْ</a:t>
            </a:r>
            <a:endParaRPr lang="ar-SA" sz="1350" dirty="0"/>
          </a:p>
        </p:txBody>
      </p:sp>
      <p:sp>
        <p:nvSpPr>
          <p:cNvPr id="52" name="Shape 4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they</a:t>
            </a:r>
            <a:endParaRPr lang="en-US" sz="700" dirty="0"/>
          </a:p>
        </p:txBody>
      </p:sp>
      <p:sp>
        <p:nvSpPr>
          <p:cNvPr id="54" name="Text 5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يَرْفُضُونَ أَنْ</a:t>
            </a:r>
            <a:endParaRPr lang="ar-SA"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52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Formal conclusion connectors (2 of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المُسَبِّبُ المُوَسَّعُ</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extended trigger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al-mu-sab-bi-bu al-mu-was-sa-ʿu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التَّرْكِيبُ المَقَالِيُّ</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essay construction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at-tar-kī-bu al-ma-qā-liy-yu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28" name="Shape 25"/>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he · she (it)</a:t>
            </a:r>
            <a:endParaRPr lang="en-US" sz="8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يُنْتَهَكُ</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is violated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yun-ta-ha-ku</a:t>
            </a:r>
            <a:endParaRPr lang="en-US" sz="1350" dirty="0"/>
          </a:p>
        </p:txBody>
      </p:sp>
      <p:sp>
        <p:nvSpPr>
          <p:cNvPr id="34" name="Shape 3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she / it (f.)</a:t>
            </a:r>
            <a:endParaRPr lang="en-US" sz="700" dirty="0"/>
          </a:p>
        </p:txBody>
      </p:sp>
      <p:sp>
        <p:nvSpPr>
          <p:cNvPr id="36" name="Text 33"/>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تُنْتَهَكُ</a:t>
            </a:r>
            <a:endParaRPr lang="ar-SA"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40" name="Shape 37"/>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he · she · they</a:t>
            </a:r>
            <a:endParaRPr lang="en-US" sz="8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4" name="Text 4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يُلْزَمُ بِـ</a:t>
            </a:r>
            <a:endParaRPr lang="ar-SA" sz="3000" dirty="0"/>
          </a:p>
        </p:txBody>
      </p:sp>
      <p:sp>
        <p:nvSpPr>
          <p:cNvPr id="45" name="Text 4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is obliged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yul-za-mu bi</a:t>
            </a:r>
            <a:endParaRPr lang="en-US" sz="1350" dirty="0"/>
          </a:p>
        </p:txBody>
      </p:sp>
      <p:sp>
        <p:nvSpPr>
          <p:cNvPr id="46" name="Shape 43"/>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she / it (f.)</a:t>
            </a:r>
            <a:endParaRPr lang="en-US" sz="700" dirty="0"/>
          </a:p>
        </p:txBody>
      </p:sp>
      <p:sp>
        <p:nvSpPr>
          <p:cNvPr id="48" name="Text 45"/>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تُلْزَمُ بِـ</a:t>
            </a:r>
            <a:endParaRPr lang="ar-SA" sz="1350" dirty="0"/>
          </a:p>
        </p:txBody>
      </p:sp>
      <p:sp>
        <p:nvSpPr>
          <p:cNvPr id="49" name="Shape 46"/>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they</a:t>
            </a:r>
            <a:endParaRPr lang="en-US" sz="700" dirty="0"/>
          </a:p>
        </p:txBody>
      </p:sp>
      <p:sp>
        <p:nvSpPr>
          <p:cNvPr id="51" name="Text 48"/>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يُلْزَمُونَ بِـ</a:t>
            </a:r>
            <a:endParaRPr lang="ar-SA"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52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Global justice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العَدَالَةُ الدَّوْلِيَّةُ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international justice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al-ʿa-dā-la-tu ad-daw-liy-ya-tu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34" charset="0"/>
                <a:ea typeface="Amiri" pitchFamily="34" charset="-122"/>
                <a:cs typeface="Amiri" pitchFamily="34" charset="-120"/>
              </a:rPr>
              <a:t>القَانُونُ الدَّوْلِيُّ الإِنْسَانِيُّ</a:t>
            </a:r>
            <a:endParaRPr lang="ar-SA" sz="29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international humanitarian law</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al-qā-nū-nu ad-daw-liy-yu al-in-sā-niy-yu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مَسْؤُولِيَّةُ الحِمَايَةِ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responsibility to protect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mas-ʾū-liy-ya-tu al-ḥi-mā-ya-ti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سِيَادَةُ الدَّوْلَةِ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state sovereignty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si-yā-da-tu ad-daw-la-ti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52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Global justice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مِيثَاقُ الأُمَمِ المُتَّحِدَةِ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UN Charter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mī-thā-qu al-u-ma-mi al-mut-ta-ḥi-da-ti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ازْدِوَاجِيَّةُ المَعَايِيرِ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double standards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az-di-wā-jiy-ya-tu al-ma-ʿā-yī-ri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15</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الإِفْلَاتُ مِنَ العِقَابِ</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impunity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al-if-lā-tu mi-na al-ʿi-qā-bi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16</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التَّضَامُنُ الدَّوْلِيُّ</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international solidarity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at-ta-ḍā-mu-nu ad-daw-liy-yu</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52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Law verbs and register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17</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he · she (it)</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يَنْتَهِكُ</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violates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yan-ta-hi-ku</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she / it (f.)</a:t>
            </a:r>
            <a:endParaRPr lang="en-US" sz="700" dirty="0"/>
          </a:p>
        </p:txBody>
      </p:sp>
      <p:sp>
        <p:nvSpPr>
          <p:cNvPr id="28" name="Text 25"/>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تَنْتَهِكُ</a:t>
            </a:r>
            <a:endParaRPr lang="ar-SA" sz="135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18</a:t>
            </a:r>
            <a:endParaRPr lang="en-US" sz="1000" dirty="0"/>
          </a:p>
        </p:txBody>
      </p:sp>
      <p:sp>
        <p:nvSpPr>
          <p:cNvPr id="32" name="Shape 29"/>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he · she (it)</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يَتَحَمَّلُ المَسْؤُولِيَّةَ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bears responsibility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ya-ta-ḥam-ma-lu al-mas-ʾū-liy-ya-ta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تَتَحَمَّلُ المَسْؤُولِيَّةَ</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19</a:t>
            </a:r>
            <a:endParaRPr lang="en-US" sz="10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يَرْفُضُ الامْتِثَالَ لِـ</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refuses to comply with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yar-fu-ḍu alm-ti-thā-la li</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20</a:t>
            </a:r>
            <a:endParaRPr lang="en-US" sz="1000" dirty="0"/>
          </a:p>
        </p:txBody>
      </p:sp>
      <p:sp>
        <p:nvSpPr>
          <p:cNvPr id="47" name="Shape 44"/>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he · she (it)</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يُلْزِمُ بِـ</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obliges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yul-zi-mu bi</a:t>
            </a:r>
            <a:endParaRPr lang="en-US" sz="1350" dirty="0"/>
          </a:p>
        </p:txBody>
      </p:sp>
      <p:sp>
        <p:nvSpPr>
          <p:cNvPr id="51" name="Shape 4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she / it (f.)</a:t>
            </a:r>
            <a:endParaRPr lang="en-US" sz="700" dirty="0"/>
          </a:p>
        </p:txBody>
      </p:sp>
      <p:sp>
        <p:nvSpPr>
          <p:cNvPr id="53" name="Text 50"/>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تُلْزِمُ بِـ</a:t>
            </a:r>
            <a:endParaRPr lang="ar-SA"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52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Law verbs and register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21</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قَرَارُ مَجْلِسِ الأَمْنِ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Security Council resolution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qa-rā-ru maj-li-si al-am-ni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قَرَارَاتُ مَجْلِسِ الأَمْنِ</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22</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تَعْوِيضَاتُ الحَرْبِ</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war reparations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taʿ-wī-ḍā-tu al-ḥar-bi</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23</a:t>
            </a:r>
            <a:endParaRPr lang="en-US" sz="1000" dirty="0"/>
          </a:p>
        </p:txBody>
      </p:sp>
      <p:sp>
        <p:nvSpPr>
          <p:cNvPr id="35" name="Shape 3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37" name="Text 3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مَبْدَأٌ</a:t>
            </a:r>
            <a:endParaRPr lang="ar-SA" sz="3000" dirty="0"/>
          </a:p>
        </p:txBody>
      </p:sp>
      <p:sp>
        <p:nvSpPr>
          <p:cNvPr id="38" name="Text 3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principle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mab-da-ʾun</a:t>
            </a:r>
            <a:endParaRPr lang="en-US" sz="1350" dirty="0"/>
          </a:p>
        </p:txBody>
      </p:sp>
      <p:sp>
        <p:nvSpPr>
          <p:cNvPr id="39" name="Shape 36"/>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1" name="Text 38"/>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مَبَادِئُ</a:t>
            </a:r>
            <a:endParaRPr lang="ar-SA" sz="150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24</a:t>
            </a:r>
            <a:endParaRPr lang="en-US" sz="10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المُحَاسَبَةُ الدَّوْلِيَّةُ</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international accountability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al-mu-ḥā-sa-ba-tu ad-daw-liy-ya-tu</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52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1 · FORMAL CONCLUSION CONNECTORS (WEBSITE RULE 1, TEACHING POINT 1, BUILDER TASK 3)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Close it like a UN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الخَاتِمَةُ الرَّسْمِيَّةُ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46811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follows (website texts)</a:t>
            </a:r>
            <a:endParaRPr lang="en-US" sz="1100" dirty="0"/>
          </a:p>
        </p:txBody>
      </p:sp>
      <p:sp>
        <p:nvSpPr>
          <p:cNvPr id="17" name="Text 14"/>
          <p:cNvSpPr txBox="1"/>
          <p:nvPr/>
        </p:nvSpPr>
        <p:spPr>
          <a:xfrm>
            <a:off x="354787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8" name="Text 15"/>
          <p:cNvSpPr txBox="1"/>
          <p:nvPr/>
        </p:nvSpPr>
        <p:spPr>
          <a:xfrm>
            <a:off x="53035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Connector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486400" y="2267712"/>
            <a:ext cx="6153912"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34" charset="0"/>
                <a:ea typeface="Amiri" pitchFamily="34" charset="-122"/>
                <a:cs typeface="Amiri" pitchFamily="34" charset="-120"/>
              </a:rPr>
              <a:t>وَبِنَاءً عَلَى مَا سَبَقَ</a:t>
            </a:r>
            <a:pPr rtl="1" algn="ctr" indent="0" marL="0">
              <a:buNone/>
            </a:pPr>
            <a:r>
              <a:rPr lang="ar-SA" altLang="en-US" sz="1700" b="1" dirty="0">
                <a:solidFill>
                  <a:srgbClr val="1B3B6F"/>
                </a:solidFill>
                <a:latin typeface="Amiri" pitchFamily="34" charset="0"/>
                <a:ea typeface="Amiri" pitchFamily="34" charset="-122"/>
                <a:cs typeface="Amiri" pitchFamily="34" charset="-120"/>
              </a:rPr>
              <a:t>، يُعَدُّ إِصْلَاحُ مَجْلِسِ الأَمْنِ ضَرُورَةً.</a:t>
            </a:r>
            <a:endParaRPr lang="ar-SA" sz="1700" dirty="0"/>
          </a:p>
        </p:txBody>
      </p:sp>
      <p:sp>
        <p:nvSpPr>
          <p:cNvPr id="21" name="Text 18"/>
          <p:cNvSpPr txBox="1"/>
          <p:nvPr/>
        </p:nvSpPr>
        <p:spPr>
          <a:xfrm>
            <a:off x="3584448" y="2267712"/>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based on the above</a:t>
            </a:r>
            <a:endParaRPr lang="en-US" sz="1100" dirty="0"/>
          </a:p>
        </p:txBody>
      </p:sp>
      <p:sp>
        <p:nvSpPr>
          <p:cNvPr id="22" name="Text 19"/>
          <p:cNvSpPr txBox="1"/>
          <p:nvPr/>
        </p:nvSpPr>
        <p:spPr>
          <a:xfrm>
            <a:off x="548640" y="2267712"/>
            <a:ext cx="283464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34" charset="0"/>
                <a:ea typeface="Amiri" pitchFamily="34" charset="-122"/>
                <a:cs typeface="Amiri" pitchFamily="34" charset="-120"/>
              </a:rPr>
              <a:t>وَبِنَاءً عَلَى مَا سَبَقَ</a:t>
            </a:r>
            <a:endParaRPr lang="ar-SA" sz="19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5486400" y="3004718"/>
            <a:ext cx="6153912"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34" charset="0"/>
                <a:ea typeface="Amiri" pitchFamily="34" charset="-122"/>
                <a:cs typeface="Amiri" pitchFamily="34" charset="-120"/>
              </a:rPr>
              <a:t>وَبِنَاءً عَلَى مَا سَبَقَ</a:t>
            </a:r>
            <a:pPr rtl="1" algn="ctr" indent="0" marL="0">
              <a:buNone/>
            </a:pPr>
            <a:r>
              <a:rPr lang="ar-SA" altLang="en-US" sz="1700" b="1" dirty="0">
                <a:solidFill>
                  <a:srgbClr val="1B3B6F"/>
                </a:solidFill>
                <a:latin typeface="Amiri" pitchFamily="34" charset="0"/>
                <a:ea typeface="Amiri" pitchFamily="34" charset="-122"/>
                <a:cs typeface="Amiri" pitchFamily="34" charset="-120"/>
              </a:rPr>
              <a:t>، مِنَ الضَّرُورِيِّ أَنْ </a:t>
            </a:r>
            <a:pPr rtl="1" algn="ctr" indent="0" marL="0">
              <a:buNone/>
            </a:pPr>
            <a:r>
              <a:rPr lang="ar-SA" altLang="en-US" sz="1700" b="1" dirty="0">
                <a:solidFill>
                  <a:srgbClr val="D6336C"/>
                </a:solidFill>
                <a:latin typeface="Amiri" pitchFamily="34" charset="0"/>
                <a:ea typeface="Amiri" pitchFamily="34" charset="-122"/>
                <a:cs typeface="Amiri" pitchFamily="34" charset="-120"/>
              </a:rPr>
              <a:t>يُصْلَحَ</a:t>
            </a:r>
            <a:pPr rtl="1" algn="ctr" indent="0" marL="0">
              <a:buNone/>
            </a:pPr>
            <a:r>
              <a:rPr lang="ar-SA" altLang="en-US" sz="1700" b="1" dirty="0">
                <a:solidFill>
                  <a:srgbClr val="1B3B6F"/>
                </a:solidFill>
                <a:latin typeface="Amiri" pitchFamily="34" charset="0"/>
                <a:ea typeface="Amiri" pitchFamily="34" charset="-122"/>
                <a:cs typeface="Amiri" pitchFamily="34" charset="-120"/>
              </a:rPr>
              <a:t> النِّظَامُ الدَّوْلِيُّ.</a:t>
            </a:r>
            <a:endParaRPr lang="ar-SA" sz="1700" dirty="0"/>
          </a:p>
        </p:txBody>
      </p:sp>
      <p:sp>
        <p:nvSpPr>
          <p:cNvPr id="27" name="Text 24"/>
          <p:cNvSpPr txBox="1"/>
          <p:nvPr/>
        </p:nvSpPr>
        <p:spPr>
          <a:xfrm>
            <a:off x="3584448" y="300471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necessity -a</a:t>
            </a:r>
            <a:endParaRPr lang="en-US" sz="1100" dirty="0"/>
          </a:p>
        </p:txBody>
      </p:sp>
      <p:sp>
        <p:nvSpPr>
          <p:cNvPr id="28" name="Text 25"/>
          <p:cNvSpPr txBox="1"/>
          <p:nvPr/>
        </p:nvSpPr>
        <p:spPr>
          <a:xfrm>
            <a:off x="548640" y="3004718"/>
            <a:ext cx="283464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34" charset="0"/>
                <a:ea typeface="Amiri" pitchFamily="34" charset="-122"/>
                <a:cs typeface="Amiri" pitchFamily="34" charset="-120"/>
              </a:rPr>
              <a:t>وَبِنَاءً عَلَى مَا سَبَقَ</a:t>
            </a:r>
            <a:endParaRPr lang="ar-SA" sz="19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5486400" y="3741725"/>
            <a:ext cx="6153912" cy="682142"/>
          </a:xfrm>
          <a:prstGeom prst="rect">
            <a:avLst/>
          </a:prstGeom>
          <a:noFill/>
          <a:ln/>
        </p:spPr>
        <p:txBody>
          <a:bodyPr wrap="square" lIns="0" tIns="0" rIns="0" bIns="0" rtlCol="0" anchor="ctr"/>
          <a:lstStyle/>
          <a:p>
            <a:pPr rtl="1" algn="ctr" indent="0" marL="0">
              <a:buNone/>
            </a:pPr>
            <a:r>
              <a:rPr lang="ar-SA" altLang="en-US" sz="1700" b="1" dirty="0">
                <a:solidFill>
                  <a:srgbClr val="0E7C86"/>
                </a:solidFill>
                <a:latin typeface="Amiri" pitchFamily="34" charset="0"/>
                <a:ea typeface="Amiri" pitchFamily="34" charset="-122"/>
                <a:cs typeface="Amiri" pitchFamily="34" charset="-120"/>
              </a:rPr>
              <a:t>وَخُلَاصَةُ القَوْلِ</a:t>
            </a:r>
            <a:pPr rtl="1" algn="ctr" indent="0" marL="0">
              <a:buNone/>
            </a:pPr>
            <a:r>
              <a:rPr lang="ar-SA" altLang="en-US" sz="1700" b="1" dirty="0">
                <a:solidFill>
                  <a:srgbClr val="1B3B6F"/>
                </a:solidFill>
                <a:latin typeface="Amiri" pitchFamily="34" charset="0"/>
                <a:ea typeface="Amiri" pitchFamily="34" charset="-122"/>
                <a:cs typeface="Amiri" pitchFamily="34" charset="-120"/>
              </a:rPr>
              <a:t>، لَا عَدَالَةَ دُونَ مُحَاسَبَةٍ.</a:t>
            </a:r>
            <a:endParaRPr lang="ar-SA" sz="1700" dirty="0"/>
          </a:p>
        </p:txBody>
      </p:sp>
      <p:sp>
        <p:nvSpPr>
          <p:cNvPr id="33" name="Text 30"/>
          <p:cNvSpPr txBox="1"/>
          <p:nvPr/>
        </p:nvSpPr>
        <p:spPr>
          <a:xfrm>
            <a:off x="3584448" y="3741725"/>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 summary</a:t>
            </a:r>
            <a:endParaRPr lang="en-US" sz="1100" dirty="0"/>
          </a:p>
        </p:txBody>
      </p:sp>
      <p:sp>
        <p:nvSpPr>
          <p:cNvPr id="34" name="Text 31"/>
          <p:cNvSpPr txBox="1"/>
          <p:nvPr/>
        </p:nvSpPr>
        <p:spPr>
          <a:xfrm>
            <a:off x="548640" y="3741725"/>
            <a:ext cx="283464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34" charset="0"/>
                <a:ea typeface="Amiri" pitchFamily="34" charset="-122"/>
                <a:cs typeface="Amiri" pitchFamily="34" charset="-120"/>
              </a:rPr>
              <a:t>وَخُلَاصَةُ القَوْلِ</a:t>
            </a:r>
            <a:endParaRPr lang="ar-SA" sz="19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5486400" y="4478731"/>
            <a:ext cx="6153912"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34" charset="0"/>
                <a:ea typeface="Amiri" pitchFamily="34" charset="-122"/>
                <a:cs typeface="Amiri" pitchFamily="34" charset="-120"/>
              </a:rPr>
              <a:t>وَمِنَ المُنْطَلَقِ ذَاتِهِ</a:t>
            </a:r>
            <a:pPr rtl="1" algn="ctr" indent="0" marL="0">
              <a:buNone/>
            </a:pPr>
            <a:r>
              <a:rPr lang="ar-SA" altLang="en-US" sz="1700" b="1" dirty="0">
                <a:solidFill>
                  <a:srgbClr val="1B3B6F"/>
                </a:solidFill>
                <a:latin typeface="Amiri" pitchFamily="34" charset="0"/>
                <a:ea typeface="Amiri" pitchFamily="34" charset="-122"/>
                <a:cs typeface="Amiri" pitchFamily="34" charset="-120"/>
              </a:rPr>
              <a:t>، تَجِبُ المُسَاوَاةُ فِي التَّطْبِيقِ.</a:t>
            </a:r>
            <a:endParaRPr lang="ar-SA" sz="1700" dirty="0"/>
          </a:p>
        </p:txBody>
      </p:sp>
      <p:sp>
        <p:nvSpPr>
          <p:cNvPr id="37" name="Text 34"/>
          <p:cNvSpPr txBox="1"/>
          <p:nvPr/>
        </p:nvSpPr>
        <p:spPr>
          <a:xfrm>
            <a:off x="3584448" y="4478731"/>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from the same point</a:t>
            </a:r>
            <a:endParaRPr lang="en-US" sz="1100" dirty="0"/>
          </a:p>
        </p:txBody>
      </p:sp>
      <p:sp>
        <p:nvSpPr>
          <p:cNvPr id="38" name="Text 35"/>
          <p:cNvSpPr txBox="1"/>
          <p:nvPr/>
        </p:nvSpPr>
        <p:spPr>
          <a:xfrm>
            <a:off x="548640" y="4478731"/>
            <a:ext cx="2834640" cy="682142"/>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34" charset="0"/>
                <a:ea typeface="Amiri" pitchFamily="34" charset="-122"/>
                <a:cs typeface="Amiri" pitchFamily="34" charset="-120"/>
              </a:rPr>
              <a:t>وَمِنَ المُنْطَلَقِ ذَاتِهِ</a:t>
            </a:r>
            <a:endParaRPr lang="ar-SA" sz="19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5486400" y="5215738"/>
            <a:ext cx="61539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 وَأَيْضًا، مِنَ الضَّرُورِيِّ … → ✓ </a:t>
            </a:r>
            <a:pPr rtl="1" algn="ctr" indent="0" marL="0">
              <a:buNone/>
            </a:pPr>
            <a:r>
              <a:rPr lang="ar-SA" altLang="en-US" sz="1700" b="1" dirty="0">
                <a:solidFill>
                  <a:srgbClr val="1D5FBF"/>
                </a:solidFill>
                <a:latin typeface="Amiri" pitchFamily="34" charset="0"/>
                <a:ea typeface="Amiri" pitchFamily="34" charset="-122"/>
                <a:cs typeface="Amiri" pitchFamily="34" charset="-120"/>
              </a:rPr>
              <a:t>وَبِنَاءً عَلَى مَا سَبَقَ</a:t>
            </a:r>
            <a:pPr rtl="1" algn="ctr" indent="0" marL="0">
              <a:buNone/>
            </a:pPr>
            <a:r>
              <a:rPr lang="ar-SA" altLang="en-US" sz="1700" b="1" dirty="0">
                <a:solidFill>
                  <a:srgbClr val="1B3B6F"/>
                </a:solidFill>
                <a:latin typeface="Amiri" pitchFamily="34" charset="0"/>
                <a:ea typeface="Amiri" pitchFamily="34" charset="-122"/>
                <a:cs typeface="Amiri" pitchFamily="34" charset="-120"/>
              </a:rPr>
              <a:t>، …</a:t>
            </a:r>
            <a:endParaRPr lang="ar-SA" sz="1700" dirty="0"/>
          </a:p>
        </p:txBody>
      </p:sp>
      <p:sp>
        <p:nvSpPr>
          <p:cNvPr id="41" name="Text 38"/>
          <p:cNvSpPr txBox="1"/>
          <p:nvPr/>
        </p:nvSpPr>
        <p:spPr>
          <a:xfrm>
            <a:off x="3584448" y="521573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weak opener</a:t>
            </a:r>
            <a:endParaRPr lang="en-US" sz="1100" dirty="0"/>
          </a:p>
        </p:txBody>
      </p:sp>
      <p:sp>
        <p:nvSpPr>
          <p:cNvPr id="42" name="Text 39"/>
          <p:cNvSpPr txBox="1"/>
          <p:nvPr/>
        </p:nvSpPr>
        <p:spPr>
          <a:xfrm>
            <a:off x="548640" y="5215738"/>
            <a:ext cx="283464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34" charset="0"/>
                <a:ea typeface="Amiri" pitchFamily="34" charset="-122"/>
                <a:cs typeface="Amiri" pitchFamily="34" charset="-120"/>
              </a:rPr>
              <a:t>✗ وَأَيْضًا · ثُمَّ</a:t>
            </a:r>
            <a:endParaRPr lang="ar-SA" sz="19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Website common error: using a conclusion connector to add a NEW point. It closes the argument — it never opens a new one.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52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2 · THE REFUSAL TRIGGER (WEBSITE RULE 2, TEACHING POINT 2, MISTAKE 1 AND MISSION)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Refuse it — then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يَرْفُضُ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ACTIVE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أَنْ تَسْتَمِرَّ</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يَرْفُضُ النَّاشِطُونَ أَنْ تَسْتَمِرَّ ازْدِوَاجِيَّةُ المَعَايِيرِ.</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Activists refuse to let double standards continue.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tastamirr-A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THEY · DEVELOP</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أَنْ يَخْضَعُوا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يَرْفُضُ القَادَةُ أَنْ يَخْضَعُوا لِلْمُحَاسَبَةِ.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leaders refuse to be held to account.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they: the -na drops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PASSIVE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أَنْ يُفْلِتَ</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تَرْفُضُ الشُّعُوبُ أَنْ يُفْلِتَ المُجْرِمُونَ مِنَ العِقَابِ.</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Peoples refuse to let criminals escape punishment.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yuflit-A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Website mistake 1 and the mission error spot: after an the verb ends in -a; with “they” the final -na drops.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أَنْ تَسْتَمِرَّ الازْدِوَاجِيَّةُ</a:t>
            </a:r>
            <a:endParaRPr lang="ar-SA" sz="17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B83227"/>
                </a:solidFill>
                <a:latin typeface="Amiri" pitchFamily="34" charset="0"/>
                <a:ea typeface="Amiri" pitchFamily="34" charset="-122"/>
                <a:cs typeface="Amiri" pitchFamily="34" charset="-120"/>
              </a:rPr>
              <a:t>أَنْ تَسْتَمِرُّ الازْدِوَاجِيَّةُ</a:t>
            </a:r>
            <a:endParaRPr lang="ar-SA" sz="17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أَنْ يَخْضَعُوا</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أَنْ يَخْضَعُونَ</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52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3 · INTERNATIONAL-LAW PASSIVES (WEBSITE RULE 3, TABLE, MISTAKE 2 AND SORTER)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Centre the law: active → passive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المَبْنِيُّ لِلْمَجْهُولِ فِي القَانُونِ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382512" y="1810512"/>
            <a:ext cx="5276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 (website texts)</a:t>
            </a:r>
            <a:endParaRPr lang="en-US" sz="1100" dirty="0"/>
          </a:p>
        </p:txBody>
      </p:sp>
      <p:sp>
        <p:nvSpPr>
          <p:cNvPr id="17" name="Text 14"/>
          <p:cNvSpPr txBox="1"/>
          <p:nvPr/>
        </p:nvSpPr>
        <p:spPr>
          <a:xfrm>
            <a:off x="437083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8" name="Text 15"/>
          <p:cNvSpPr txBox="1"/>
          <p:nvPr/>
        </p:nvSpPr>
        <p:spPr>
          <a:xfrm>
            <a:off x="24505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Passive</a:t>
            </a:r>
            <a:endParaRPr lang="en-US" sz="1100" dirty="0"/>
          </a:p>
        </p:txBody>
      </p:sp>
      <p:sp>
        <p:nvSpPr>
          <p:cNvPr id="19" name="Text 16"/>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Active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400800" y="2267712"/>
            <a:ext cx="5239512"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34" charset="0"/>
                <a:ea typeface="Amiri" pitchFamily="34" charset="-122"/>
                <a:cs typeface="Amiri" pitchFamily="34" charset="-120"/>
              </a:rPr>
              <a:t>يُنْتَهَكُ</a:t>
            </a:r>
            <a:pPr rtl="1" algn="ctr" indent="0" marL="0">
              <a:buNone/>
            </a:pPr>
            <a:r>
              <a:rPr lang="ar-SA" altLang="en-US" sz="1700" b="1" dirty="0">
                <a:solidFill>
                  <a:srgbClr val="1B3B6F"/>
                </a:solidFill>
                <a:latin typeface="Amiri" pitchFamily="34" charset="0"/>
                <a:ea typeface="Amiri" pitchFamily="34" charset="-122"/>
                <a:cs typeface="Amiri" pitchFamily="34" charset="-120"/>
              </a:rPr>
              <a:t> القَانُونُ الدَّوْلِيُّ فِي مَنَاطِقِ النِّزَاعِ</a:t>
            </a:r>
            <a:endParaRPr lang="ar-SA" sz="1700" dirty="0"/>
          </a:p>
        </p:txBody>
      </p:sp>
      <p:sp>
        <p:nvSpPr>
          <p:cNvPr id="22" name="Text 19"/>
          <p:cNvSpPr txBox="1"/>
          <p:nvPr/>
        </p:nvSpPr>
        <p:spPr>
          <a:xfrm>
            <a:off x="440740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is violated</a:t>
            </a:r>
            <a:endParaRPr lang="en-US" sz="1100" dirty="0"/>
          </a:p>
        </p:txBody>
      </p:sp>
      <p:sp>
        <p:nvSpPr>
          <p:cNvPr id="23" name="Text 20"/>
          <p:cNvSpPr txBox="1"/>
          <p:nvPr/>
        </p:nvSpPr>
        <p:spPr>
          <a:xfrm>
            <a:off x="2468880" y="2267712"/>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34" charset="0"/>
                <a:ea typeface="Amiri" pitchFamily="34" charset="-122"/>
                <a:cs typeface="Amiri" pitchFamily="34" charset="-120"/>
              </a:rPr>
              <a:t>يُنْتَهَكُ</a:t>
            </a:r>
            <a:endParaRPr lang="ar-SA" sz="2000" dirty="0"/>
          </a:p>
        </p:txBody>
      </p:sp>
      <p:sp>
        <p:nvSpPr>
          <p:cNvPr id="24" name="Text 21"/>
          <p:cNvSpPr txBox="1"/>
          <p:nvPr/>
        </p:nvSpPr>
        <p:spPr>
          <a:xfrm>
            <a:off x="548640" y="2267712"/>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يَنْتَهِكُ</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400800" y="3004718"/>
            <a:ext cx="5239512" cy="682142"/>
          </a:xfrm>
          <a:prstGeom prst="rect">
            <a:avLst/>
          </a:prstGeom>
          <a:noFill/>
          <a:ln/>
        </p:spPr>
        <p:txBody>
          <a:bodyPr wrap="square" lIns="0" tIns="0" rIns="0" bIns="0" rtlCol="0" anchor="ctr"/>
          <a:lstStyle/>
          <a:p>
            <a:pPr rtl="1" algn="ctr" indent="0" marL="0">
              <a:buNone/>
            </a:pPr>
            <a:r>
              <a:rPr lang="ar-SA" altLang="en-US" sz="1700" b="1" dirty="0">
                <a:solidFill>
                  <a:srgbClr val="0E7C86"/>
                </a:solidFill>
                <a:latin typeface="Amiri" pitchFamily="34" charset="0"/>
                <a:ea typeface="Amiri" pitchFamily="34" charset="-122"/>
                <a:cs typeface="Amiri" pitchFamily="34" charset="-120"/>
              </a:rPr>
              <a:t>تُلْزَمُ</a:t>
            </a:r>
            <a:pPr rtl="1" algn="ctr" indent="0" marL="0">
              <a:buNone/>
            </a:pPr>
            <a:r>
              <a:rPr lang="ar-SA" altLang="en-US" sz="1700" b="1" dirty="0">
                <a:solidFill>
                  <a:srgbClr val="1B3B6F"/>
                </a:solidFill>
                <a:latin typeface="Amiri" pitchFamily="34" charset="0"/>
                <a:ea typeface="Amiri" pitchFamily="34" charset="-122"/>
                <a:cs typeface="Amiri" pitchFamily="34" charset="-120"/>
              </a:rPr>
              <a:t> الدُّوَلُ </a:t>
            </a:r>
            <a:pPr rtl="1" algn="ctr" indent="0" marL="0">
              <a:buNone/>
            </a:pPr>
            <a:r>
              <a:rPr lang="ar-SA" altLang="en-US" sz="1700" b="1" dirty="0">
                <a:solidFill>
                  <a:srgbClr val="0E7C86"/>
                </a:solidFill>
                <a:latin typeface="Amiri" pitchFamily="34" charset="0"/>
                <a:ea typeface="Amiri" pitchFamily="34" charset="-122"/>
                <a:cs typeface="Amiri" pitchFamily="34" charset="-120"/>
              </a:rPr>
              <a:t>بِالامْتِثَالِ</a:t>
            </a:r>
            <a:pPr rtl="1" algn="ctr" indent="0" marL="0">
              <a:buNone/>
            </a:pPr>
            <a:r>
              <a:rPr lang="ar-SA" altLang="en-US" sz="1700" b="1" dirty="0">
                <a:solidFill>
                  <a:srgbClr val="1B3B6F"/>
                </a:solidFill>
                <a:latin typeface="Amiri" pitchFamily="34" charset="0"/>
                <a:ea typeface="Amiri" pitchFamily="34" charset="-122"/>
                <a:cs typeface="Amiri" pitchFamily="34" charset="-120"/>
              </a:rPr>
              <a:t> لِلْمُعَاهَدَاتِ</a:t>
            </a:r>
            <a:endParaRPr lang="ar-SA" sz="1700" dirty="0"/>
          </a:p>
        </p:txBody>
      </p:sp>
      <p:sp>
        <p:nvSpPr>
          <p:cNvPr id="29" name="Text 26"/>
          <p:cNvSpPr txBox="1"/>
          <p:nvPr/>
        </p:nvSpPr>
        <p:spPr>
          <a:xfrm>
            <a:off x="440740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is obliged to</a:t>
            </a:r>
            <a:endParaRPr lang="en-US" sz="1100" dirty="0"/>
          </a:p>
        </p:txBody>
      </p:sp>
      <p:sp>
        <p:nvSpPr>
          <p:cNvPr id="30" name="Text 27"/>
          <p:cNvSpPr txBox="1"/>
          <p:nvPr/>
        </p:nvSpPr>
        <p:spPr>
          <a:xfrm>
            <a:off x="2468880" y="300471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يُلْزَمُ بِـ</a:t>
            </a:r>
            <a:endParaRPr lang="ar-SA" sz="2000" dirty="0"/>
          </a:p>
        </p:txBody>
      </p:sp>
      <p:sp>
        <p:nvSpPr>
          <p:cNvPr id="31" name="Text 28"/>
          <p:cNvSpPr txBox="1"/>
          <p:nvPr/>
        </p:nvSpPr>
        <p:spPr>
          <a:xfrm>
            <a:off x="548640" y="300471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يُلْزِمُ بِـ</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400800" y="3741725"/>
            <a:ext cx="5239512"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34" charset="0"/>
                <a:ea typeface="Amiri" pitchFamily="34" charset="-122"/>
                <a:cs typeface="Amiri" pitchFamily="34" charset="-120"/>
              </a:rPr>
              <a:t>يُحَاسَبُ</a:t>
            </a:r>
            <a:pPr rtl="1" algn="ctr" indent="0" marL="0">
              <a:buNone/>
            </a:pPr>
            <a:r>
              <a:rPr lang="ar-SA" altLang="en-US" sz="1700" b="1" dirty="0">
                <a:solidFill>
                  <a:srgbClr val="1B3B6F"/>
                </a:solidFill>
                <a:latin typeface="Amiri" pitchFamily="34" charset="0"/>
                <a:ea typeface="Amiri" pitchFamily="34" charset="-122"/>
                <a:cs typeface="Amiri" pitchFamily="34" charset="-120"/>
              </a:rPr>
              <a:t> المُنْتَهِكُونَ أَمَامَ القَضَاءِ الدَّوْلِيِّ</a:t>
            </a:r>
            <a:endParaRPr lang="ar-SA" sz="1700" dirty="0"/>
          </a:p>
        </p:txBody>
      </p:sp>
      <p:sp>
        <p:nvSpPr>
          <p:cNvPr id="36" name="Text 33"/>
          <p:cNvSpPr txBox="1"/>
          <p:nvPr/>
        </p:nvSpPr>
        <p:spPr>
          <a:xfrm>
            <a:off x="440740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is held to account</a:t>
            </a:r>
            <a:endParaRPr lang="en-US" sz="1100" dirty="0"/>
          </a:p>
        </p:txBody>
      </p:sp>
      <p:sp>
        <p:nvSpPr>
          <p:cNvPr id="37" name="Text 34"/>
          <p:cNvSpPr txBox="1"/>
          <p:nvPr/>
        </p:nvSpPr>
        <p:spPr>
          <a:xfrm>
            <a:off x="2468880" y="3741725"/>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34" charset="0"/>
                <a:ea typeface="Amiri" pitchFamily="34" charset="-122"/>
                <a:cs typeface="Amiri" pitchFamily="34" charset="-120"/>
              </a:rPr>
              <a:t>يُحَاسَبُ</a:t>
            </a:r>
            <a:endParaRPr lang="ar-SA" sz="2000" dirty="0"/>
          </a:p>
        </p:txBody>
      </p:sp>
      <p:sp>
        <p:nvSpPr>
          <p:cNvPr id="38" name="Text 35"/>
          <p:cNvSpPr txBox="1"/>
          <p:nvPr/>
        </p:nvSpPr>
        <p:spPr>
          <a:xfrm>
            <a:off x="548640" y="3741725"/>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يُحَاسِبُ</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400800" y="4478731"/>
            <a:ext cx="52395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لَمْ </a:t>
            </a:r>
            <a:pPr rtl="1" algn="ctr" indent="0" marL="0">
              <a:buNone/>
            </a:pPr>
            <a:r>
              <a:rPr lang="ar-SA" altLang="en-US" sz="1700" b="1" dirty="0">
                <a:solidFill>
                  <a:srgbClr val="7B3FA0"/>
                </a:solidFill>
                <a:latin typeface="Amiri" pitchFamily="34" charset="0"/>
                <a:ea typeface="Amiri" pitchFamily="34" charset="-122"/>
                <a:cs typeface="Amiri" pitchFamily="34" charset="-120"/>
              </a:rPr>
              <a:t>يُطَبَّقْ</a:t>
            </a:r>
            <a:pPr rtl="1" algn="ctr" indent="0" marL="0">
              <a:buNone/>
            </a:pPr>
            <a:r>
              <a:rPr lang="ar-SA" altLang="en-US" sz="1700" b="1" dirty="0">
                <a:solidFill>
                  <a:srgbClr val="1B3B6F"/>
                </a:solidFill>
                <a:latin typeface="Amiri" pitchFamily="34" charset="0"/>
                <a:ea typeface="Amiri" pitchFamily="34" charset="-122"/>
                <a:cs typeface="Amiri" pitchFamily="34" charset="-120"/>
              </a:rPr>
              <a:t> مَبْدَأُ المَسْؤُولِيَّةِ عَنِ الحِمَايَةِ بِالتَّسَاوِي</a:t>
            </a:r>
            <a:endParaRPr lang="ar-SA" sz="1700" dirty="0"/>
          </a:p>
        </p:txBody>
      </p:sp>
      <p:sp>
        <p:nvSpPr>
          <p:cNvPr id="41" name="Text 38"/>
          <p:cNvSpPr txBox="1"/>
          <p:nvPr/>
        </p:nvSpPr>
        <p:spPr>
          <a:xfrm>
            <a:off x="440740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was applied</a:t>
            </a:r>
            <a:endParaRPr lang="en-US" sz="1100" dirty="0"/>
          </a:p>
        </p:txBody>
      </p:sp>
      <p:sp>
        <p:nvSpPr>
          <p:cNvPr id="42" name="Text 39"/>
          <p:cNvSpPr txBox="1"/>
          <p:nvPr/>
        </p:nvSpPr>
        <p:spPr>
          <a:xfrm>
            <a:off x="2468880" y="4478731"/>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طُبِّقَ</a:t>
            </a:r>
            <a:endParaRPr lang="ar-SA" sz="2000" dirty="0"/>
          </a:p>
        </p:txBody>
      </p:sp>
      <p:sp>
        <p:nvSpPr>
          <p:cNvPr id="43" name="Text 40"/>
          <p:cNvSpPr txBox="1"/>
          <p:nvPr/>
        </p:nvSpPr>
        <p:spPr>
          <a:xfrm>
            <a:off x="548640" y="4478731"/>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طَبَّقَ</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400800" y="5215738"/>
            <a:ext cx="5239512" cy="682142"/>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34" charset="0"/>
                <a:ea typeface="Amiri" pitchFamily="34" charset="-122"/>
                <a:cs typeface="Amiri" pitchFamily="34" charset="-120"/>
              </a:rPr>
              <a:t>يُشَارُ إِلَى</a:t>
            </a:r>
            <a:pPr rtl="1" algn="ctr" indent="0" marL="0">
              <a:buNone/>
            </a:pPr>
            <a:r>
              <a:rPr lang="ar-SA" altLang="en-US" sz="1700" b="1" dirty="0">
                <a:solidFill>
                  <a:srgbClr val="1B3B6F"/>
                </a:solidFill>
                <a:latin typeface="Amiri" pitchFamily="34" charset="0"/>
                <a:ea typeface="Amiri" pitchFamily="34" charset="-122"/>
                <a:cs typeface="Amiri" pitchFamily="34" charset="-120"/>
              </a:rPr>
              <a:t> أَنَّ المَبْدَأَ لَمْ يُطَبَّقْ بِالتَّسَاوِي</a:t>
            </a:r>
            <a:endParaRPr lang="ar-SA" sz="1700" dirty="0"/>
          </a:p>
        </p:txBody>
      </p:sp>
      <p:sp>
        <p:nvSpPr>
          <p:cNvPr id="46" name="Text 43"/>
          <p:cNvSpPr txBox="1"/>
          <p:nvPr/>
        </p:nvSpPr>
        <p:spPr>
          <a:xfrm>
            <a:off x="440740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it is noted</a:t>
            </a:r>
            <a:endParaRPr lang="en-US" sz="1100" dirty="0"/>
          </a:p>
        </p:txBody>
      </p:sp>
      <p:sp>
        <p:nvSpPr>
          <p:cNvPr id="47" name="Text 44"/>
          <p:cNvSpPr txBox="1"/>
          <p:nvPr/>
        </p:nvSpPr>
        <p:spPr>
          <a:xfrm>
            <a:off x="2468880" y="521573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34" charset="0"/>
                <a:ea typeface="Amiri" pitchFamily="34" charset="-122"/>
                <a:cs typeface="Amiri" pitchFamily="34" charset="-120"/>
              </a:rPr>
              <a:t>يُشَارُ إِلَى</a:t>
            </a:r>
            <a:endParaRPr lang="ar-SA" sz="2000" dirty="0"/>
          </a:p>
        </p:txBody>
      </p:sp>
      <p:sp>
        <p:nvSpPr>
          <p:cNvPr id="48" name="Text 45"/>
          <p:cNvSpPr txBox="1"/>
          <p:nvPr/>
        </p:nvSpPr>
        <p:spPr>
          <a:xfrm>
            <a:off x="548640" y="521573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يُشِيرُ إِلَى</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Website mistake 2: tulzamu … ʿalā ✗ → tulzamu bi- ✓ — yulzamu is fixed with bi-.</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52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4 · THE FULL ANALYSIS TOOLKIT (WEBSITE RULE 4, MISTAKE 3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From report to conclusion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أَدَوَاتُ التَّحْلِيلِ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82912" y="1810512"/>
            <a:ext cx="2075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Range</a:t>
            </a:r>
            <a:endParaRPr lang="en-US" sz="1100" dirty="0"/>
          </a:p>
        </p:txBody>
      </p:sp>
      <p:sp>
        <p:nvSpPr>
          <p:cNvPr id="17" name="Text 14"/>
          <p:cNvSpPr txBox="1"/>
          <p:nvPr/>
        </p:nvSpPr>
        <p:spPr>
          <a:xfrm>
            <a:off x="263347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 (website texts)</a:t>
            </a:r>
            <a:endParaRPr lang="en-US" sz="1100" dirty="0"/>
          </a:p>
        </p:txBody>
      </p:sp>
      <p:sp>
        <p:nvSpPr>
          <p:cNvPr id="18" name="Text 15"/>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619488" y="2267712"/>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yuʾakkidu anna</a:t>
            </a:r>
            <a:endParaRPr lang="en-US" sz="1100" dirty="0"/>
          </a:p>
        </p:txBody>
      </p:sp>
      <p:sp>
        <p:nvSpPr>
          <p:cNvPr id="21" name="Text 18"/>
          <p:cNvSpPr txBox="1"/>
          <p:nvPr/>
        </p:nvSpPr>
        <p:spPr>
          <a:xfrm>
            <a:off x="2651760" y="2267712"/>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34" charset="0"/>
                <a:ea typeface="Amiri" pitchFamily="34" charset="-122"/>
                <a:cs typeface="Amiri" pitchFamily="34" charset="-120"/>
              </a:rPr>
              <a:t>يُؤَكِّدُ</a:t>
            </a:r>
            <a:pPr rtl="1" algn="ctr" indent="0" marL="0">
              <a:buNone/>
            </a:pPr>
            <a:r>
              <a:rPr lang="ar-SA" altLang="en-US" sz="1700" b="1" dirty="0">
                <a:solidFill>
                  <a:srgbClr val="1B3B6F"/>
                </a:solidFill>
                <a:latin typeface="Amiri" pitchFamily="34" charset="0"/>
                <a:ea typeface="Amiri" pitchFamily="34" charset="-122"/>
                <a:cs typeface="Amiri" pitchFamily="34" charset="-120"/>
              </a:rPr>
              <a:t> الخُبَرَاءُ </a:t>
            </a:r>
            <a:pPr rtl="1" algn="ctr" indent="0" marL="0">
              <a:buNone/>
            </a:pPr>
            <a:r>
              <a:rPr lang="ar-SA" altLang="en-US" sz="1700" b="1" dirty="0">
                <a:solidFill>
                  <a:srgbClr val="C77700"/>
                </a:solidFill>
                <a:latin typeface="Amiri" pitchFamily="34" charset="0"/>
                <a:ea typeface="Amiri" pitchFamily="34" charset="-122"/>
                <a:cs typeface="Amiri" pitchFamily="34" charset="-120"/>
              </a:rPr>
              <a:t>أَنَّ</a:t>
            </a:r>
            <a:pPr rtl="1" algn="ctr" indent="0" marL="0">
              <a:buNone/>
            </a:pPr>
            <a:r>
              <a:rPr lang="ar-SA" altLang="en-US" sz="1700" b="1" dirty="0">
                <a:solidFill>
                  <a:srgbClr val="1B3B6F"/>
                </a:solidFill>
                <a:latin typeface="Amiri" pitchFamily="34" charset="0"/>
                <a:ea typeface="Amiri" pitchFamily="34" charset="-122"/>
                <a:cs typeface="Amiri" pitchFamily="34" charset="-120"/>
              </a:rPr>
              <a:t> القَانُونَ الدَّوْلِيَّ الإِنْسَانِيَّ يُنْتَهَكُ</a:t>
            </a:r>
            <a:endParaRPr lang="ar-SA" sz="1700" dirty="0"/>
          </a:p>
        </p:txBody>
      </p:sp>
      <p:sp>
        <p:nvSpPr>
          <p:cNvPr id="22" name="Text 19"/>
          <p:cNvSpPr txBox="1"/>
          <p:nvPr/>
        </p:nvSpPr>
        <p:spPr>
          <a:xfrm>
            <a:off x="5669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reported speech</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619488" y="3004718"/>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kānat … qad</a:t>
            </a:r>
            <a:endParaRPr lang="en-US" sz="1100" dirty="0"/>
          </a:p>
        </p:txBody>
      </p:sp>
      <p:sp>
        <p:nvSpPr>
          <p:cNvPr id="27" name="Text 24"/>
          <p:cNvSpPr txBox="1"/>
          <p:nvPr/>
        </p:nvSpPr>
        <p:spPr>
          <a:xfrm>
            <a:off x="2651760" y="3004718"/>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34" charset="0"/>
                <a:ea typeface="Amiri" pitchFamily="34" charset="-122"/>
                <a:cs typeface="Amiri" pitchFamily="34" charset="-120"/>
              </a:rPr>
              <a:t>كَانَتِ</a:t>
            </a:r>
            <a:pPr rtl="1" algn="ctr" indent="0" marL="0">
              <a:buNone/>
            </a:pPr>
            <a:r>
              <a:rPr lang="ar-SA" altLang="en-US" sz="1700" b="1" dirty="0">
                <a:solidFill>
                  <a:srgbClr val="1B3B6F"/>
                </a:solidFill>
                <a:latin typeface="Amiri" pitchFamily="34" charset="0"/>
                <a:ea typeface="Amiri" pitchFamily="34" charset="-122"/>
                <a:cs typeface="Amiri" pitchFamily="34" charset="-120"/>
              </a:rPr>
              <a:t> الأُمَمُ المُتَّحِدَةُ </a:t>
            </a:r>
            <a:pPr rtl="1" algn="ctr" indent="0" marL="0">
              <a:buNone/>
            </a:pPr>
            <a:r>
              <a:rPr lang="ar-SA" altLang="en-US" sz="1700" b="1" dirty="0">
                <a:solidFill>
                  <a:srgbClr val="1D5FBF"/>
                </a:solidFill>
                <a:latin typeface="Amiri" pitchFamily="34" charset="0"/>
                <a:ea typeface="Amiri" pitchFamily="34" charset="-122"/>
                <a:cs typeface="Amiri" pitchFamily="34" charset="-120"/>
              </a:rPr>
              <a:t>قَدْ</a:t>
            </a:r>
            <a:pPr rtl="1" algn="ctr" indent="0" marL="0">
              <a:buNone/>
            </a:pPr>
            <a:r>
              <a:rPr lang="ar-SA" altLang="en-US" sz="1700" b="1" dirty="0">
                <a:solidFill>
                  <a:srgbClr val="1B3B6F"/>
                </a:solidFill>
                <a:latin typeface="Amiri" pitchFamily="34" charset="0"/>
                <a:ea typeface="Amiri" pitchFamily="34" charset="-122"/>
                <a:cs typeface="Amiri" pitchFamily="34" charset="-120"/>
              </a:rPr>
              <a:t> أَقَرَّتْ هٰذِهِ المَبَادِئَ لِكَيْ يُحْمَى المَدَنِيُّونَ</a:t>
            </a:r>
            <a:endParaRPr lang="ar-SA" sz="1700" dirty="0"/>
          </a:p>
        </p:txBody>
      </p:sp>
      <p:sp>
        <p:nvSpPr>
          <p:cNvPr id="28" name="Text 25"/>
          <p:cNvSpPr txBox="1"/>
          <p:nvPr/>
        </p:nvSpPr>
        <p:spPr>
          <a:xfrm>
            <a:off x="5669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past perfect</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619488" y="3741725"/>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idhā … sa-</a:t>
            </a:r>
            <a:endParaRPr lang="en-US" sz="1100" dirty="0"/>
          </a:p>
        </p:txBody>
      </p:sp>
      <p:sp>
        <p:nvSpPr>
          <p:cNvPr id="31" name="Text 28"/>
          <p:cNvSpPr txBox="1"/>
          <p:nvPr/>
        </p:nvSpPr>
        <p:spPr>
          <a:xfrm>
            <a:off x="2651760" y="3741725"/>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0E7C86"/>
                </a:solidFill>
                <a:latin typeface="Amiri" pitchFamily="34" charset="0"/>
                <a:ea typeface="Amiri" pitchFamily="34" charset="-122"/>
                <a:cs typeface="Amiri" pitchFamily="34" charset="-120"/>
              </a:rPr>
              <a:t>إِذَا</a:t>
            </a:r>
            <a:pPr rtl="1" algn="ctr" indent="0" marL="0">
              <a:buNone/>
            </a:pPr>
            <a:r>
              <a:rPr lang="ar-SA" altLang="en-US" sz="1700" b="1" dirty="0">
                <a:solidFill>
                  <a:srgbClr val="1B3B6F"/>
                </a:solidFill>
                <a:latin typeface="Amiri" pitchFamily="34" charset="0"/>
                <a:ea typeface="Amiri" pitchFamily="34" charset="-122"/>
                <a:cs typeface="Amiri" pitchFamily="34" charset="-120"/>
              </a:rPr>
              <a:t> الْتَزَمَتِ الدُّوَلُ بِالمِيثَاقِ بِالتَّسَاوِي، </a:t>
            </a:r>
            <a:pPr rtl="1" algn="ctr" indent="0" marL="0">
              <a:buNone/>
            </a:pPr>
            <a:r>
              <a:rPr lang="ar-SA" altLang="en-US" sz="1700" b="1" dirty="0">
                <a:solidFill>
                  <a:srgbClr val="0E7C86"/>
                </a:solidFill>
                <a:latin typeface="Amiri" pitchFamily="34" charset="0"/>
                <a:ea typeface="Amiri" pitchFamily="34" charset="-122"/>
                <a:cs typeface="Amiri" pitchFamily="34" charset="-120"/>
              </a:rPr>
              <a:t>سَيُحْدِثُ</a:t>
            </a:r>
            <a:pPr rtl="1" algn="ctr" indent="0" marL="0">
              <a:buNone/>
            </a:pPr>
            <a:r>
              <a:rPr lang="ar-SA" altLang="en-US" sz="1700" b="1" dirty="0">
                <a:solidFill>
                  <a:srgbClr val="1B3B6F"/>
                </a:solidFill>
                <a:latin typeface="Amiri" pitchFamily="34" charset="0"/>
                <a:ea typeface="Amiri" pitchFamily="34" charset="-122"/>
                <a:cs typeface="Amiri" pitchFamily="34" charset="-120"/>
              </a:rPr>
              <a:t> ذٰلِكَ تَحَوُّلًا جَذْرِيًّا</a:t>
            </a:r>
            <a:endParaRPr lang="ar-SA" sz="1700" dirty="0"/>
          </a:p>
        </p:txBody>
      </p:sp>
      <p:sp>
        <p:nvSpPr>
          <p:cNvPr id="32" name="Text 29"/>
          <p:cNvSpPr txBox="1"/>
          <p:nvPr/>
        </p:nvSpPr>
        <p:spPr>
          <a:xfrm>
            <a:off x="5669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Type 1</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619488" y="4478731"/>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law … la-</a:t>
            </a:r>
            <a:endParaRPr lang="en-US" sz="1100" dirty="0"/>
          </a:p>
        </p:txBody>
      </p:sp>
      <p:sp>
        <p:nvSpPr>
          <p:cNvPr id="35" name="Text 32"/>
          <p:cNvSpPr txBox="1"/>
          <p:nvPr/>
        </p:nvSpPr>
        <p:spPr>
          <a:xfrm>
            <a:off x="2651760" y="4478731"/>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34" charset="0"/>
                <a:ea typeface="Amiri" pitchFamily="34" charset="-122"/>
                <a:cs typeface="Amiri" pitchFamily="34" charset="-120"/>
              </a:rPr>
              <a:t>لَوْ</a:t>
            </a:r>
            <a:pPr rtl="1" algn="ctr" indent="0" marL="0">
              <a:buNone/>
            </a:pPr>
            <a:r>
              <a:rPr lang="ar-SA" altLang="en-US" sz="1700" b="1" dirty="0">
                <a:solidFill>
                  <a:srgbClr val="1B3B6F"/>
                </a:solidFill>
                <a:latin typeface="Amiri" pitchFamily="34" charset="0"/>
                <a:ea typeface="Amiri" pitchFamily="34" charset="-122"/>
                <a:cs typeface="Amiri" pitchFamily="34" charset="-120"/>
              </a:rPr>
              <a:t> طُبِّقَ القَانُونُ بِالتَّسَاوِي، </a:t>
            </a:r>
            <a:pPr rtl="1" algn="ctr" indent="0" marL="0">
              <a:buNone/>
            </a:pPr>
            <a:r>
              <a:rPr lang="ar-SA" altLang="en-US" sz="1700" b="1" dirty="0">
                <a:solidFill>
                  <a:srgbClr val="7B3FA0"/>
                </a:solidFill>
                <a:latin typeface="Amiri" pitchFamily="34" charset="0"/>
                <a:ea typeface="Amiri" pitchFamily="34" charset="-122"/>
                <a:cs typeface="Amiri" pitchFamily="34" charset="-120"/>
              </a:rPr>
              <a:t>لَكَانَ</a:t>
            </a:r>
            <a:pPr rtl="1" algn="ctr" indent="0" marL="0">
              <a:buNone/>
            </a:pPr>
            <a:r>
              <a:rPr lang="ar-SA" altLang="en-US" sz="1700" b="1" dirty="0">
                <a:solidFill>
                  <a:srgbClr val="1B3B6F"/>
                </a:solidFill>
                <a:latin typeface="Amiri" pitchFamily="34" charset="0"/>
                <a:ea typeface="Amiri" pitchFamily="34" charset="-122"/>
                <a:cs typeface="Amiri" pitchFamily="34" charset="-120"/>
              </a:rPr>
              <a:t> العَالَمُ أَعْدَلَ</a:t>
            </a:r>
            <a:endParaRPr lang="ar-SA" sz="1700" dirty="0"/>
          </a:p>
        </p:txBody>
      </p:sp>
      <p:sp>
        <p:nvSpPr>
          <p:cNvPr id="36" name="Text 33"/>
          <p:cNvSpPr txBox="1"/>
          <p:nvPr/>
        </p:nvSpPr>
        <p:spPr>
          <a:xfrm>
            <a:off x="5669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Type 2</a:t>
            </a:r>
            <a:endParaRPr lang="en-US" sz="1100" dirty="0"/>
          </a:p>
        </p:txBody>
      </p:sp>
      <p:sp>
        <p:nvSpPr>
          <p:cNvPr id="37" name="Shape 34"/>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619488" y="5215738"/>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synthesis + -a</a:t>
            </a:r>
            <a:endParaRPr lang="en-US" sz="1100" dirty="0"/>
          </a:p>
        </p:txBody>
      </p:sp>
      <p:sp>
        <p:nvSpPr>
          <p:cNvPr id="41" name="Text 38"/>
          <p:cNvSpPr txBox="1"/>
          <p:nvPr/>
        </p:nvSpPr>
        <p:spPr>
          <a:xfrm>
            <a:off x="2651760" y="5215738"/>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34" charset="0"/>
                <a:ea typeface="Amiri" pitchFamily="34" charset="-122"/>
                <a:cs typeface="Amiri" pitchFamily="34" charset="-120"/>
              </a:rPr>
              <a:t>وَبِنَاءً عَلَى مَا سَبَقَ</a:t>
            </a:r>
            <a:pPr rtl="1" algn="ctr" indent="0" marL="0">
              <a:buNone/>
            </a:pPr>
            <a:r>
              <a:rPr lang="ar-SA" altLang="en-US" sz="1700" b="1" dirty="0">
                <a:solidFill>
                  <a:srgbClr val="1B3B6F"/>
                </a:solidFill>
                <a:latin typeface="Amiri" pitchFamily="34" charset="0"/>
                <a:ea typeface="Amiri" pitchFamily="34" charset="-122"/>
                <a:cs typeface="Amiri" pitchFamily="34" charset="-120"/>
              </a:rPr>
              <a:t>، مِنَ الضَّرُورِيِّ أَنْ يُصْلَحَ النِّظَامُ الدَّوْلِيُّ</a:t>
            </a:r>
            <a:endParaRPr lang="ar-SA" sz="1700" dirty="0"/>
          </a:p>
        </p:txBody>
      </p:sp>
      <p:sp>
        <p:nvSpPr>
          <p:cNvPr id="42" name="Text 39"/>
          <p:cNvSpPr txBox="1"/>
          <p:nvPr/>
        </p:nvSpPr>
        <p:spPr>
          <a:xfrm>
            <a:off x="5669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conclusion</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Website mistake 3: law … sa-yakūnu ✗ → law … la-kāna ✓ — a Type 2 result takes la-, not sa-.</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52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ea typeface="Cambria" pitchFamily="34" charset="-122"/>
                <a:cs typeface="Cambria" pitchFamily="34" charset="-120"/>
              </a:rPr>
              <a:t>Formal conclusions, refusal and international-law passives</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00" b="1" dirty="0">
                <a:solidFill>
                  <a:srgbClr val="8A6D1E"/>
                </a:solidFill>
                <a:latin typeface="Amiri" pitchFamily="34" charset="0"/>
                <a:ea typeface="Amiri" pitchFamily="34" charset="-122"/>
                <a:cs typeface="Amiri" pitchFamily="34" charset="-120"/>
              </a:rPr>
              <a:t>الخَوَاتِمُ الرَّسْمِيَّةُ وَالرَّفْضُ وَالمَبْنِيُّ لِلْمَجْهُولِ</a:t>
            </a:r>
            <a:endParaRPr lang="ar-SA" sz="22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Conclusion connectors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wa-bināʾan ʿalā mā sabaqa · wa-khulāṣatu l-qawl</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وَبِنَاءً عَلَى مَا سَبَقَ، يُعَدُّ إِصْلَاحُ النِّظَامِ الدَّوْلِيِّ ضَرُورَةً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Refusal trigger</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yarfuḍu an + verb in -a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يَرْفُضُ النَّاشِطُونَ أَنْ تَسْتَمِرَّ ازْدِوَاجِيَّةُ المَعَايِيرِ</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International-law passives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yuntahaku · yulzamu bi-</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يُنْتَهَكُ القَانُونُ الدَّوْلِيُّ فِي مَنَاطِقِ النِّزَاعِ</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Counterfactual analysis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law + past → la-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لَوْ طُبِّقَ القَانُونُ الدَّوْلِيُّ بِالتَّسَاوِي، لَكَانَ العَالَمُ أَكْثَرَ عَدْلًا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52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opens a synthesising conclusion?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وَبِنَاءً عَلَى مَا سَبَقَ</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also means “in summary”?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وَخُلَاصَةُ القَوْلِ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عِلَاوَةً عَلَى ذٰلِكَ</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نَاحِيَةٍ أُخْرَى</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trigger expresses refusal?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صَحِيحٌ أَنَّ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يَرْفُضُ أَنْ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لِكَيْ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follows </a:t>
            </a:r>
            <a:pPr algn="l" indent="0" marL="0">
              <a:buNone/>
            </a:pPr>
            <a:r>
              <a:rPr lang="ar-SA" altLang="en-US" sz="1650" b="1" dirty="0">
                <a:solidFill>
                  <a:srgbClr val="1B3B6F"/>
                </a:solidFill>
                <a:latin typeface="Amiri" pitchFamily="34" charset="0"/>
                <a:ea typeface="Amiri" pitchFamily="34" charset="-122"/>
                <a:cs typeface="Amiri" pitchFamily="34" charset="-120"/>
              </a:rPr>
              <a:t>يَرْفُضُ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subjunctive verb</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indicative verb</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past verb</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52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opens a synthesising conclusion?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إِذَا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وَبِنَاءً عَلَى مَا سَبَقَ</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وَبِنَاءً عَلَى مَا سَبَقَ</a:t>
            </a:r>
            <a:pPr algn="l" indent="0" marL="0">
              <a:buNone/>
            </a:pPr>
            <a:r>
              <a:rPr lang="en-US" sz="1050" i="1" dirty="0">
                <a:solidFill>
                  <a:srgbClr val="8A6D1E"/>
                </a:solidFill>
                <a:latin typeface="Calibri" pitchFamily="34" charset="0"/>
                <a:ea typeface="Calibri" pitchFamily="34" charset="-122"/>
                <a:cs typeface="Calibri" pitchFamily="34" charset="-120"/>
              </a:rPr>
              <a:t> opens the synthesising conclusion.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also means “in summary”?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وَخُلَاصَةُ القَوْلِ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عِلَاوَةً عَلَى ذٰلِكَ</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نَاحِيَةٍ أُخْرَى</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وَخُلَاصَةُ القَوْلِ</a:t>
            </a:r>
            <a:pPr algn="l" indent="0" marL="0">
              <a:buNone/>
            </a:pPr>
            <a:r>
              <a:rPr lang="en-US" sz="1050" i="1" dirty="0">
                <a:solidFill>
                  <a:srgbClr val="8A6D1E"/>
                </a:solidFill>
                <a:latin typeface="Calibri" pitchFamily="34" charset="0"/>
                <a:ea typeface="Calibri" pitchFamily="34" charset="-122"/>
                <a:cs typeface="Calibri" pitchFamily="34" charset="-120"/>
              </a:rPr>
              <a:t> means in summary.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trigger expresses refusal?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صَحِيحٌ أَنَّ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يَرْفُضُ أَنْ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لِكَيْ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يَرْفُضُ أَنْ</a:t>
            </a:r>
            <a:pPr algn="l" indent="0" marL="0">
              <a:buNone/>
            </a:pPr>
            <a:r>
              <a:rPr lang="en-US" sz="1050" i="1" dirty="0">
                <a:solidFill>
                  <a:srgbClr val="8A6D1E"/>
                </a:solidFill>
                <a:latin typeface="Calibri" pitchFamily="34" charset="0"/>
                <a:ea typeface="Calibri" pitchFamily="34" charset="-122"/>
                <a:cs typeface="Calibri" pitchFamily="34" charset="-120"/>
              </a:rPr>
              <a:t> expresses refusal.</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follows </a:t>
            </a:r>
            <a:pPr algn="l" indent="0" marL="0">
              <a:buNone/>
            </a:pPr>
            <a:r>
              <a:rPr lang="ar-SA" altLang="en-US" sz="1650" b="1" dirty="0">
                <a:solidFill>
                  <a:srgbClr val="1B3B6F"/>
                </a:solidFill>
                <a:latin typeface="Amiri" pitchFamily="34" charset="0"/>
                <a:ea typeface="Amiri" pitchFamily="34" charset="-122"/>
                <a:cs typeface="Amiri" pitchFamily="34" charset="-120"/>
              </a:rPr>
              <a:t>يَرْفُضُ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subjunctive verb</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An indicative verb</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past verb</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يَرْفُضُ أَنْ</a:t>
            </a:r>
            <a:pPr algn="l" indent="0" marL="0">
              <a:buNone/>
            </a:pPr>
            <a:r>
              <a:rPr lang="en-US" sz="1050" i="1" dirty="0">
                <a:solidFill>
                  <a:srgbClr val="8A6D1E"/>
                </a:solidFill>
                <a:latin typeface="Calibri" pitchFamily="34" charset="0"/>
                <a:ea typeface="Calibri" pitchFamily="34" charset="-122"/>
                <a:cs typeface="Calibri" pitchFamily="34" charset="-120"/>
              </a:rPr>
              <a:t> takes a subjunctive verb.</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52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Watch me write a global-justice analysis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Report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C77700"/>
                </a:solidFill>
                <a:latin typeface="Amiri" pitchFamily="34" charset="0"/>
                <a:ea typeface="Amiri" pitchFamily="34" charset="-122"/>
                <a:cs typeface="Amiri" pitchFamily="34" charset="-120"/>
              </a:rPr>
              <a:t>يُؤَكِّدُ</a:t>
            </a:r>
            <a:pPr rtl="1" algn="ctr" indent="0" marL="0">
              <a:buNone/>
            </a:pPr>
            <a:r>
              <a:rPr lang="ar-SA" altLang="en-US" sz="2800" b="1" dirty="0">
                <a:solidFill>
                  <a:srgbClr val="1B3B6F"/>
                </a:solidFill>
                <a:latin typeface="Amiri" pitchFamily="34" charset="0"/>
                <a:ea typeface="Amiri" pitchFamily="34" charset="-122"/>
                <a:cs typeface="Amiri" pitchFamily="34" charset="-120"/>
              </a:rPr>
              <a:t> … </a:t>
            </a:r>
            <a:pPr rtl="1" algn="ctr" indent="0" marL="0">
              <a:buNone/>
            </a:pPr>
            <a:r>
              <a:rPr lang="ar-SA" altLang="en-US" sz="2800" b="1" dirty="0">
                <a:solidFill>
                  <a:srgbClr val="C77700"/>
                </a:solidFill>
                <a:latin typeface="Amiri" pitchFamily="34" charset="0"/>
                <a:ea typeface="Amiri" pitchFamily="34" charset="-122"/>
                <a:cs typeface="Amiri" pitchFamily="34" charset="-120"/>
              </a:rPr>
              <a:t>أَنَّ</a:t>
            </a:r>
            <a:pPr rtl="1" algn="ctr" indent="0" marL="0">
              <a:buNone/>
            </a:pPr>
            <a:r>
              <a:rPr lang="ar-SA" altLang="en-US" sz="2800" b="1" dirty="0">
                <a:solidFill>
                  <a:srgbClr val="1B3B6F"/>
                </a:solidFill>
                <a:latin typeface="Amiri" pitchFamily="34" charset="0"/>
                <a:ea typeface="Amiri" pitchFamily="34" charset="-122"/>
                <a:cs typeface="Amiri" pitchFamily="34" charset="-120"/>
              </a:rPr>
              <a:t> … </a:t>
            </a:r>
            <a:pPr rtl="1" algn="ctr" indent="0" marL="0">
              <a:buNone/>
            </a:pPr>
            <a:r>
              <a:rPr lang="ar-SA" altLang="en-US" sz="2800" b="1" dirty="0">
                <a:solidFill>
                  <a:srgbClr val="D6336C"/>
                </a:solidFill>
                <a:latin typeface="Amiri" pitchFamily="34" charset="0"/>
                <a:ea typeface="Amiri" pitchFamily="34" charset="-122"/>
                <a:cs typeface="Amiri" pitchFamily="34" charset="-120"/>
              </a:rPr>
              <a:t>يُنْتَهَكُ</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Passive.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Background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34" charset="0"/>
                <a:ea typeface="Amiri" pitchFamily="34" charset="-122"/>
                <a:cs typeface="Amiri" pitchFamily="34" charset="-120"/>
              </a:rPr>
              <a:t>كَانَتْ</a:t>
            </a:r>
            <a:pPr rtl="1" algn="ctr" indent="0" marL="0">
              <a:buNone/>
            </a:pPr>
            <a:r>
              <a:rPr lang="ar-SA" altLang="en-US" sz="2800" b="1" dirty="0">
                <a:solidFill>
                  <a:srgbClr val="1B3B6F"/>
                </a:solidFill>
                <a:latin typeface="Amiri" pitchFamily="34" charset="0"/>
                <a:ea typeface="Amiri" pitchFamily="34" charset="-122"/>
                <a:cs typeface="Amiri" pitchFamily="34" charset="-120"/>
              </a:rPr>
              <a:t> … </a:t>
            </a:r>
            <a:pPr rtl="1" algn="ctr" indent="0" marL="0">
              <a:buNone/>
            </a:pPr>
            <a:r>
              <a:rPr lang="ar-SA" altLang="en-US" sz="2800" b="1" dirty="0">
                <a:solidFill>
                  <a:srgbClr val="1D5FBF"/>
                </a:solidFill>
                <a:latin typeface="Amiri" pitchFamily="34" charset="0"/>
                <a:ea typeface="Amiri" pitchFamily="34" charset="-122"/>
                <a:cs typeface="Amiri" pitchFamily="34" charset="-120"/>
              </a:rPr>
              <a:t>قَدْ</a:t>
            </a:r>
            <a:pPr rtl="1" algn="ctr" indent="0" marL="0">
              <a:buNone/>
            </a:pPr>
            <a:r>
              <a:rPr lang="ar-SA" altLang="en-US" sz="2800" b="1" dirty="0">
                <a:solidFill>
                  <a:srgbClr val="1B3B6F"/>
                </a:solidFill>
                <a:latin typeface="Amiri" pitchFamily="34" charset="0"/>
                <a:ea typeface="Amiri" pitchFamily="34" charset="-122"/>
                <a:cs typeface="Amiri" pitchFamily="34" charset="-120"/>
              </a:rPr>
              <a:t> أَقَرَّتْ …</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Past perfect.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Refuse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يَرْفُضُ … أَنْ </a:t>
            </a:r>
            <a:pPr rtl="1" algn="ctr" indent="0" marL="0">
              <a:buNone/>
            </a:pPr>
            <a:r>
              <a:rPr lang="ar-SA" altLang="en-US" sz="2800" b="1" dirty="0">
                <a:solidFill>
                  <a:srgbClr val="0E7C86"/>
                </a:solidFill>
                <a:latin typeface="Amiri" pitchFamily="34" charset="0"/>
                <a:ea typeface="Amiri" pitchFamily="34" charset="-122"/>
                <a:cs typeface="Amiri" pitchFamily="34" charset="-120"/>
              </a:rPr>
              <a:t>تَسْتَمِرَّ</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an +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Conclude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7B3FA0"/>
                </a:solidFill>
                <a:latin typeface="Amiri" pitchFamily="34" charset="0"/>
                <a:ea typeface="Amiri" pitchFamily="34" charset="-122"/>
                <a:cs typeface="Amiri" pitchFamily="34" charset="-120"/>
              </a:rPr>
              <a:t>لَوْ</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 </a:t>
            </a:r>
            <a:pPr rtl="1" algn="ctr" indent="0" marL="0">
              <a:lnSpc>
                <a:spcPct val="120000"/>
              </a:lnSpc>
              <a:buNone/>
            </a:pPr>
            <a:r>
              <a:rPr lang="ar-SA" altLang="en-US" sz="1750" b="1" dirty="0">
                <a:solidFill>
                  <a:srgbClr val="7B3FA0"/>
                </a:solidFill>
                <a:latin typeface="Amiri" pitchFamily="34" charset="0"/>
                <a:ea typeface="Amiri" pitchFamily="34" charset="-122"/>
                <a:cs typeface="Amiri" pitchFamily="34" charset="-120"/>
              </a:rPr>
              <a:t>لَكَانَتْ</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 </a:t>
            </a:r>
            <a:pPr rtl="1" algn="ctr" indent="0" marL="0">
              <a:lnSpc>
                <a:spcPct val="120000"/>
              </a:lnSpc>
              <a:buNone/>
            </a:pPr>
            <a:r>
              <a:rPr lang="ar-SA" altLang="en-US" sz="1750" b="1" dirty="0">
                <a:solidFill>
                  <a:srgbClr val="D6336C"/>
                </a:solidFill>
                <a:latin typeface="Amiri" pitchFamily="34" charset="0"/>
                <a:ea typeface="Amiri" pitchFamily="34" charset="-122"/>
                <a:cs typeface="Amiri" pitchFamily="34" charset="-120"/>
              </a:rPr>
              <a:t>وَبِنَاءً عَلَى مَا سَبَقَ</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Synthesise.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REPORT</a:t>
            </a:r>
            <a:endParaRPr lang="en-US" sz="800" dirty="0"/>
          </a:p>
        </p:txBody>
      </p:sp>
      <p:sp>
        <p:nvSpPr>
          <p:cNvPr id="47" name="Shape 43"/>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LAW / CLOSE</a:t>
            </a:r>
            <a:endParaRPr lang="en-US" sz="800" dirty="0"/>
          </a:p>
        </p:txBody>
      </p:sp>
      <p:sp>
        <p:nvSpPr>
          <p:cNvPr id="49" name="Shape 45"/>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PAST PERFECT</a:t>
            </a:r>
            <a:endParaRPr lang="en-US" sz="800" dirty="0"/>
          </a:p>
        </p:txBody>
      </p:sp>
      <p:sp>
        <p:nvSpPr>
          <p:cNvPr id="51" name="Shape 47"/>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REFUSAL</a:t>
            </a:r>
            <a:endParaRPr lang="en-US" sz="800" dirty="0"/>
          </a:p>
        </p:txBody>
      </p:sp>
      <p:sp>
        <p:nvSpPr>
          <p:cNvPr id="53" name="Shape 49"/>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TYPE 2</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34" charset="0"/>
                <a:ea typeface="Amiri" pitchFamily="34" charset="-122"/>
                <a:cs typeface="Amiri" pitchFamily="34" charset="-120"/>
              </a:rPr>
              <a:t>يُؤَكِّدُ</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الخُبَرَاءُ </a:t>
            </a:r>
            <a:pPr rtl="1" algn="r" indent="0" marL="0">
              <a:lnSpc>
                <a:spcPct val="120000"/>
              </a:lnSpc>
              <a:buNone/>
            </a:pPr>
            <a:r>
              <a:rPr lang="ar-SA" altLang="en-US" sz="1400" b="1" dirty="0">
                <a:solidFill>
                  <a:srgbClr val="C77700"/>
                </a:solidFill>
                <a:latin typeface="Amiri" pitchFamily="34" charset="0"/>
                <a:ea typeface="Amiri" pitchFamily="34" charset="-122"/>
                <a:cs typeface="Amiri" pitchFamily="34" charset="-120"/>
              </a:rPr>
              <a:t>أَنَّ</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القَانُونَ الدَّوْلِيَّ الإِنْسَانِيَّ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يُنْتَهَكُ</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فِي مَنَاطِقِ النِّزَاعِ. </a:t>
            </a:r>
            <a:pPr rtl="1" algn="r" indent="0" marL="0">
              <a:lnSpc>
                <a:spcPct val="120000"/>
              </a:lnSpc>
              <a:buNone/>
            </a:pPr>
            <a:r>
              <a:rPr lang="ar-SA" altLang="en-US" sz="1400" b="1" dirty="0">
                <a:solidFill>
                  <a:srgbClr val="1D5FBF"/>
                </a:solidFill>
                <a:latin typeface="Amiri" pitchFamily="34" charset="0"/>
                <a:ea typeface="Amiri" pitchFamily="34" charset="-122"/>
                <a:cs typeface="Amiri" pitchFamily="34" charset="-120"/>
              </a:rPr>
              <a:t>كَانَتِ</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الأُمَمُ المُتَّحِدَةُ </a:t>
            </a:r>
            <a:pPr rtl="1" algn="r" indent="0" marL="0">
              <a:lnSpc>
                <a:spcPct val="120000"/>
              </a:lnSpc>
              <a:buNone/>
            </a:pPr>
            <a:r>
              <a:rPr lang="ar-SA" altLang="en-US" sz="1400" b="1" dirty="0">
                <a:solidFill>
                  <a:srgbClr val="1D5FBF"/>
                </a:solidFill>
                <a:latin typeface="Amiri" pitchFamily="34" charset="0"/>
                <a:ea typeface="Amiri" pitchFamily="34" charset="-122"/>
                <a:cs typeface="Amiri" pitchFamily="34" charset="-120"/>
              </a:rPr>
              <a:t>قَدْ</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أَقَرَّتْ هٰذِهِ المَبَادِئَ لِكَيْ يُحْمَى المَدَنِيُّونَ، غَيْرَ أَنَّ التَّطْبِيقَ يَظَلُّ رَهِينًا بِالمَصَالِحِ.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وَيَرْفُضُ</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النَّاشِطُونَ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أَنْ تَسْتَمِرَّ</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ازْدِوَاجِيَّةُ المَعَايِيرِ. </a:t>
            </a:r>
            <a:pPr rtl="1" algn="r" indent="0" marL="0">
              <a:lnSpc>
                <a:spcPct val="120000"/>
              </a:lnSpc>
              <a:buNone/>
            </a:pPr>
            <a:r>
              <a:rPr lang="ar-SA" altLang="en-US" sz="1400" b="1" dirty="0">
                <a:solidFill>
                  <a:srgbClr val="7B3FA0"/>
                </a:solidFill>
                <a:latin typeface="Amiri" pitchFamily="34" charset="0"/>
                <a:ea typeface="Amiri" pitchFamily="34" charset="-122"/>
                <a:cs typeface="Amiri" pitchFamily="34" charset="-120"/>
              </a:rPr>
              <a:t>وَلَوْ</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طُبِّقَ القَانُونُ بِالتَّسَاوِي، </a:t>
            </a:r>
            <a:pPr rtl="1" algn="r" indent="0" marL="0">
              <a:lnSpc>
                <a:spcPct val="120000"/>
              </a:lnSpc>
              <a:buNone/>
            </a:pPr>
            <a:r>
              <a:rPr lang="ar-SA" altLang="en-US" sz="1400" b="1" dirty="0">
                <a:solidFill>
                  <a:srgbClr val="7B3FA0"/>
                </a:solidFill>
                <a:latin typeface="Amiri" pitchFamily="34" charset="0"/>
                <a:ea typeface="Amiri" pitchFamily="34" charset="-122"/>
                <a:cs typeface="Amiri" pitchFamily="34" charset="-120"/>
              </a:rPr>
              <a:t>لَكَانَ</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العَالَمُ أَكْثَرَ عَدْلًا.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وَبِنَاءً عَلَى مَا سَبَقَ</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مِنَ الضَّرُورِيِّ أَنْ يُصْلَحَ النِّظَامُ الدَّوْلِيُّ.</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ea typeface="Calibri" pitchFamily="34" charset="-122"/>
                <a:cs typeface="Calibri" pitchFamily="34" charset="-120"/>
              </a:rPr>
              <a:t>Experts confirm that international humanitarian law is violated in conflict zones. The United Nations had adopted these principles so that civilians would be protected; however, application remains hostage to interests. Activists refuse to let double standards continue. Had the law been applied equally, the world would be more just. Based on the above, it is essential that the international system be reformed.</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52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34" charset="0"/>
                <a:ea typeface="Amiri" pitchFamily="34" charset="-122"/>
                <a:cs typeface="Amiri" pitchFamily="34" charset="-120"/>
              </a:rPr>
              <a:t>يُنْتَهَكُ القَانُونُ الدَّوْلِيُّ الإِنْسَانِيُّ بِشَكْلٍ مَنْهَجِيٍّ فِي مَنَاطِقِ النِّزَاعِ</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international humanitarian law is systematically violated in conflict zones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Passive: yuntahaku.</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يَرْفُضُ كَثِيرٌ مِنَ النَّاشِطِينَ أَنْ تَسْتَمِرَّ ازْدِوَاجِيَّةُ المَعَايِيرِ</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many activists refuse to let double standards continue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Refusal: yarfuḍu an.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34" charset="0"/>
                <a:ea typeface="Amiri" pitchFamily="34" charset="-122"/>
                <a:cs typeface="Amiri" pitchFamily="34" charset="-120"/>
              </a:rPr>
              <a:t>وَبِنَاءً عَلَى مَا سَبَقَ، يُعَدُّ إِصْلَاحُ مَجْلِسِ الأَمْنِ خُطْوَةً لَا غِنَى عَنْهَا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based on the above, reforming the Security Council is an indispensable step</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Conclusion connector.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52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PICTURE MATCH · WEBSITE GAME “GLOBAL CONNECTIONS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رَوَابِطُ عَالَمِيَّةٌ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technology connects</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study abroad</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cooperation</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يُمْكِنُ لِلطُّلَّابِ الدِّرَاسَةُ فِي بِلَادٍ أُخْرَى.</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تَتَعَاوَنُ الدُّوَلُ فِي بَعْضِ الْقَضَايَا الدَّوْلِيَّةِ.</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تُسَاعِدُنَا التِّكْنُولُوجِيَا عَلَى التَّوَاصُلِ مَعَ النَّاسِ فِي دُوَلٍ مُخْتَلِفَةٍ.</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5"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52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رَوَابِطُ عَالَمِيَّةٌ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technology connects</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تُسَاعِدُنَا التِّكْنُولُوجِيَا عَلَى التَّوَاصُلِ مَعَ النَّاسِ فِي دُوَلٍ مُخْتَلِفَةٍ.</a:t>
            </a:r>
            <a:endParaRPr lang="ar-SA" sz="21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Technology helps us communicate with people in different countries.</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study abroad</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يُمْكِنُ لِلطُّلَّابِ الدِّرَاسَةُ فِي بِلَادٍ أُخْرَى.</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Students can study in other countries.</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cooperation</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تَتَعَاوَنُ الدُّوَلُ فِي بَعْضِ الْقَضَايَا الدَّوْلِيَّةِ.</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Countries cooperate on some international issues.</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52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ea typeface="Calibri" pitchFamily="34" charset="-122"/>
                <a:cs typeface="Calibri" pitchFamily="34" charset="-120"/>
              </a:rPr>
              <a:t>WE DO · PICTURE MATCH · WEBSITE GAME “VISUAL GAME — GLOBAL JUSTICE — INTERNATIONAL RESPONSIBILITY AND THE ARAB WORLD”</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ea typeface="Cambria" pitchFamily="34" charset="-122"/>
                <a:cs typeface="Cambria" pitchFamily="34" charset="-120"/>
              </a:rPr>
              <a:t>Shared responsibility: match the picture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المَسْؤُولِيَّةُ وَالعَدَالَةُ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cooperation</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humanitarian aid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the environment</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لِلدُّوَلِ مَسْؤُولِيَّةٌ فِي حِمَايَةِ البِيئَةِ.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يَجِبُ أَنْ تَتَعَاوَنَ الدُّوَلُ لِحَلِّ المُشْكِلَاتِ.</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المُسَاعَدَاتُ الإِنْسَانِيَّةُ ضَرُورِيَّةٌ فِي الأَزَمَاتِ.</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52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المَسْؤُولِيَّةُ وَالعَدَالَةُ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cooperation</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يَجِبُ أَنْ تَتَعَاوَنَ الدُّوَلُ لِحَلِّ المُشْكِلَاتِ.</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Countries should cooperate to solve problems.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humanitarian aid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المُسَاعَدَاتُ الإِنْسَانِيَّةُ ضَرُورِيَّةٌ فِي الأَزَمَاتِ.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Humanitarian aid is essential in crises.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the environment</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لِلدُّوَلِ مَسْؤُولِيَّةٌ فِي حِمَايَةِ البِيئَةِ.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Countries share a responsibility to protect the environment.</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52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BUILD A JUSTICE LINE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Law passive + refusal + conclusion</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سَطْرًا عَنِ العَدَالَةِ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 Law passive</a:t>
            </a:r>
            <a:endParaRPr lang="en-US" sz="1100" dirty="0"/>
          </a:p>
        </p:txBody>
      </p:sp>
      <p:sp>
        <p:nvSpPr>
          <p:cNvPr id="17" name="Text 14"/>
          <p:cNvSpPr txBox="1"/>
          <p:nvPr/>
        </p:nvSpPr>
        <p:spPr>
          <a:xfrm>
            <a:off x="430682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 Refusal (yarfuḍu an)</a:t>
            </a:r>
            <a:endParaRPr lang="en-US" sz="1100" dirty="0"/>
          </a:p>
        </p:txBody>
      </p:sp>
      <p:sp>
        <p:nvSpPr>
          <p:cNvPr id="18" name="Text 15"/>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 · Formal conclusion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07415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يُنْتَهَكُ القَانُونُ الدَّوْلِيُّ الإِنْسَانِيُّ فِي مَنَاطِقِ النِّزَاعِ</a:t>
            </a:r>
            <a:endParaRPr lang="ar-SA" sz="1550" dirty="0"/>
          </a:p>
        </p:txBody>
      </p:sp>
      <p:sp>
        <p:nvSpPr>
          <p:cNvPr id="21" name="Text 18"/>
          <p:cNvSpPr txBox="1"/>
          <p:nvPr/>
        </p:nvSpPr>
        <p:spPr>
          <a:xfrm>
            <a:off x="432511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وَيَرْفُضُ النَّاشِطُونَ أَنْ تَسْتَمِرَّ ازْدِوَاجِيَّةُ المَعَايِيرِ</a:t>
            </a:r>
            <a:endParaRPr lang="ar-SA" sz="1600" dirty="0"/>
          </a:p>
        </p:txBody>
      </p:sp>
      <p:sp>
        <p:nvSpPr>
          <p:cNvPr id="22" name="Text 19"/>
          <p:cNvSpPr txBox="1"/>
          <p:nvPr/>
        </p:nvSpPr>
        <p:spPr>
          <a:xfrm>
            <a:off x="548640" y="2267712"/>
            <a:ext cx="359359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وَبِنَاءً عَلَى مَا سَبَقَ، مِنَ الضَّرُورِيِّ أَنْ يُصْلَحَ النِّظَامُ الدَّوْلِيُّ</a:t>
            </a:r>
            <a:endParaRPr lang="ar-SA" sz="1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0741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تُلْزَمُ الدُّوَلُ المُوَقِّعَةُ بِالامْتِثَالِ لِلْمُعَاهَدَاتِ</a:t>
            </a:r>
            <a:endParaRPr lang="ar-SA" sz="1600" dirty="0"/>
          </a:p>
        </p:txBody>
      </p:sp>
      <p:sp>
        <p:nvSpPr>
          <p:cNvPr id="27" name="Text 24"/>
          <p:cNvSpPr txBox="1"/>
          <p:nvPr/>
        </p:nvSpPr>
        <p:spPr>
          <a:xfrm>
            <a:off x="432511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وَتَرْفُضُ الشُّعُوبُ أَنْ يُفْلِتَ المُجْرِمُونَ مِنَ العِقَابِ</a:t>
            </a:r>
            <a:endParaRPr lang="ar-SA" sz="1600" dirty="0"/>
          </a:p>
        </p:txBody>
      </p:sp>
      <p:sp>
        <p:nvSpPr>
          <p:cNvPr id="28" name="Text 25"/>
          <p:cNvSpPr txBox="1"/>
          <p:nvPr/>
        </p:nvSpPr>
        <p:spPr>
          <a:xfrm>
            <a:off x="548640" y="3054096"/>
            <a:ext cx="3593592"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34" charset="0"/>
                <a:ea typeface="Amiri" pitchFamily="34" charset="-122"/>
                <a:cs typeface="Amiri" pitchFamily="34" charset="-120"/>
              </a:rPr>
              <a:t>وَخُلَاصَةُ القَوْلِ، لَا عَدَالَةَ عَالَمِيَّةً دُونَ مُحَاسَبَةٍ مُتَسَاوِيَةٍ</a:t>
            </a:r>
            <a:endParaRPr lang="ar-SA" sz="145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0741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يُحَاسَبُ المُنْتَهِكُونَ نَظَرِيًّا فَقَطْ أَمَامَ القَضَاءِ</a:t>
            </a:r>
            <a:endParaRPr lang="ar-SA" sz="1600" dirty="0"/>
          </a:p>
        </p:txBody>
      </p:sp>
      <p:sp>
        <p:nvSpPr>
          <p:cNvPr id="31" name="Text 28"/>
          <p:cNvSpPr txBox="1"/>
          <p:nvPr/>
        </p:nvSpPr>
        <p:spPr>
          <a:xfrm>
            <a:off x="432511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وَيَرْفُضُ الحُقُوقِيُّونَ أَنْ يَبْقَى النِّظَامُ عَلَى حَالِهِ</a:t>
            </a:r>
            <a:endParaRPr lang="ar-SA" sz="1600" dirty="0"/>
          </a:p>
        </p:txBody>
      </p:sp>
      <p:sp>
        <p:nvSpPr>
          <p:cNvPr id="32" name="Text 29"/>
          <p:cNvSpPr txBox="1"/>
          <p:nvPr/>
        </p:nvSpPr>
        <p:spPr>
          <a:xfrm>
            <a:off x="548640" y="3840480"/>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وَبِنَاءً عَلَى مَا سَبَقَ، يُعَدُّ إِصْلَاحُ مَجْلِسِ الأَمْنِ ضَرُورَةً</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Pick one from each column — any combination is accurate. Then underline the passive, circle the verb in -a and box the connector.</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52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Conclusion, refusal — or law passive?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34" charset="0"/>
                <a:ea typeface="Amiri" pitchFamily="34" charset="-122"/>
                <a:cs typeface="Amiri" pitchFamily="34" charset="-120"/>
              </a:rPr>
              <a:t>وَبِنَاءً عَلَى مَا سَبَقَ، يُعَدُّ الإِصْلَاحُ ضَرُورَةً</a:t>
            </a:r>
            <a:endParaRPr lang="ar-SA" sz="14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وَخُلَاصَةُ القَوْلِ، لَا عَدَالَةَ دُونَ مُحَاسَبَةٍ</a:t>
            </a:r>
            <a:endParaRPr lang="ar-SA" sz="15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34" charset="0"/>
                <a:ea typeface="Amiri" pitchFamily="34" charset="-122"/>
                <a:cs typeface="Amiri" pitchFamily="34" charset="-120"/>
              </a:rPr>
              <a:t>وَمِنَ المُنْطَلَقِ ذَاتِهِ، تَجِبُ المُسَاوَاةُ فِي التَّطْبِيقِ</a:t>
            </a:r>
            <a:endParaRPr lang="ar-SA" sz="12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يَرْفُضُ النَّاشِطُونَ أَنْ تَسْتَمِرَّ الازْدِوَاجِيَّةُ</a:t>
            </a:r>
            <a:endParaRPr lang="ar-SA" sz="15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يَرْفُضُ القَادَةُ أَنْ يَخْضَعُوا لِلْمُحَاسَبَةِ</a:t>
            </a:r>
            <a:endParaRPr lang="ar-SA" sz="16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تَرْفُضُ الشُّعُوبُ أَنْ يُفْلِتَ المُجْرِمُونَ مِنَ العِقَابِ</a:t>
            </a:r>
            <a:endParaRPr lang="ar-SA" sz="13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يُنْتَهَكُ القَانُونُ الدَّوْلِيُّ فِي مَنَاطِقِ النِّزَاعِ</a:t>
            </a:r>
            <a:endParaRPr lang="ar-SA" sz="13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تُلْزَمُ الدُّوَلُ بِالامْتِثَالِ لِلْمُعَاهَدَاتِ</a:t>
            </a:r>
            <a:endParaRPr lang="ar-SA" sz="165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34" charset="0"/>
                <a:ea typeface="Amiri" pitchFamily="34" charset="-122"/>
                <a:cs typeface="Amiri" pitchFamily="34" charset="-120"/>
              </a:rPr>
              <a:t>يُحَاسَبُ المُنْتَهِكُونَ أَمَامَ القَضَاءِ الدَّوْلِيِّ</a:t>
            </a:r>
            <a:endParaRPr lang="ar-SA" sz="14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conclusion connector</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refusal (yarfuḍu an)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law passive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52</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conclusion connector</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34" charset="0"/>
                <a:ea typeface="Amiri" pitchFamily="34" charset="-122"/>
                <a:cs typeface="Amiri" pitchFamily="34" charset="-120"/>
              </a:rPr>
              <a:t>وَبِنَاءً عَلَى مَا سَبَقَ، يُعَدُّ الإِصْلَاحُ ضَرُورَةً</a:t>
            </a:r>
            <a:endParaRPr lang="ar-SA" sz="175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وَخُلَاصَةُ القَوْلِ، لَا عَدَالَةَ دُونَ مُحَاسَبَةٍ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وَمِنَ المُنْطَلَقِ ذَاتِهِ، تَجِبُ المُسَاوَاةُ فِي التَّطْبِيقِ</a:t>
            </a:r>
            <a:endParaRPr lang="ar-SA" sz="15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refusal (yarfuḍu an)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يَرْفُضُ النَّاشِطُونَ أَنْ تَسْتَمِرَّ الازْدِوَاجِيَّةُ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يَرْفُضُ القَادَةُ أَنْ يَخْضَعُوا لِلْمُحَاسَبَةِ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تَرْفُضُ الشُّعُوبُ أَنْ يُفْلِتَ المُجْرِمُونَ مِنَ العِقَابِ</a:t>
            </a:r>
            <a:endParaRPr lang="ar-SA" sz="165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law passive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يُنْتَهَكُ القَانُونُ الدَّوْلِيُّ فِي مَنَاطِقِ النِّزَاعِ</a:t>
            </a:r>
            <a:endParaRPr lang="ar-SA" sz="17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تُلْزَمُ الدُّوَلُ بِالامْتِثَالِ لِلْمُعَاهَدَاتِ</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يُحَاسَبُ المُنْتَهِكُونَ أَمَامَ القَضَاءِ الدَّوْلِيِّ</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52</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passive “is violated”?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يَنْتَهِكُ</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انْتَهَكَ</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يُنْتَهَكُ</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passive: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تُلْزَمُ الدُّوَلُ ___ الامْتِثَالِ لِلْمُعَاهَدَاتِ.</a:t>
            </a:r>
            <a:endParaRPr lang="ar-SA" sz="14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refusal:</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يَرْفُضُ النَّاشِطُونَ أَنْ ___ الازْدِوَاجِيَّةُ.</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تَسْتَمِرُّ</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تَسْتَمِرَّ</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تَسْتَمِرْ</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1" name="Text 58"/>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2:</a:t>
            </a:r>
            <a:endParaRPr lang="en-US" sz="1200" dirty="0"/>
          </a:p>
        </p:txBody>
      </p:sp>
      <p:sp>
        <p:nvSpPr>
          <p:cNvPr id="62" name="Text 59"/>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لَوْ طُبِّقَ القَانُونُ بِالتَّسَاوِي، ___ العَالَمُ أَعْدَلَ.</a:t>
            </a:r>
            <a:endParaRPr lang="ar-SA" sz="1200" dirty="0"/>
          </a:p>
        </p:txBody>
      </p:sp>
      <p:sp>
        <p:nvSpPr>
          <p:cNvPr id="63" name="Shape 60"/>
          <p:cNvSpPr/>
          <p:nvPr/>
        </p:nvSpPr>
        <p:spPr>
          <a:xfrm>
            <a:off x="6368796"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5" name="Text 62"/>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سَيَكُونُ</a:t>
            </a:r>
            <a:endParaRPr lang="ar-SA" sz="2050" dirty="0"/>
          </a:p>
        </p:txBody>
      </p:sp>
      <p:sp>
        <p:nvSpPr>
          <p:cNvPr id="66" name="Shape 63"/>
          <p:cNvSpPr/>
          <p:nvPr/>
        </p:nvSpPr>
        <p:spPr>
          <a:xfrm>
            <a:off x="6368796"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8" name="Text 65"/>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يَكُونُ</a:t>
            </a:r>
            <a:endParaRPr lang="ar-SA" sz="2050" dirty="0"/>
          </a:p>
        </p:txBody>
      </p:sp>
      <p:sp>
        <p:nvSpPr>
          <p:cNvPr id="69" name="Shape 66"/>
          <p:cNvSpPr/>
          <p:nvPr/>
        </p:nvSpPr>
        <p:spPr>
          <a:xfrm>
            <a:off x="6368796"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1" name="Text 68"/>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لَكَانَ</a:t>
            </a:r>
            <a:endParaRPr lang="ar-SA" sz="2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52</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passive “is violated”?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يَنْتَهِكُ</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انْتَهَكَ</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يُنْتَهَكُ</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يُنْتَهَكُ</a:t>
            </a:r>
            <a:pPr algn="l" indent="0" marL="0">
              <a:buNone/>
            </a:pPr>
            <a:r>
              <a:rPr lang="en-US" sz="1050" i="1" dirty="0">
                <a:solidFill>
                  <a:srgbClr val="8A6D1E"/>
                </a:solidFill>
                <a:latin typeface="Calibri" pitchFamily="34" charset="0"/>
                <a:ea typeface="Calibri" pitchFamily="34" charset="-122"/>
                <a:cs typeface="Calibri" pitchFamily="34" charset="-120"/>
              </a:rPr>
              <a:t> is the Form VIII passive.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passive: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تُلْزَمُ الدُّوَلُ ___ الامْتِثَالِ لِلْمُعَاهَدَاتِ.</a:t>
            </a:r>
            <a:endParaRPr lang="ar-SA" sz="14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بِـ</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يُلْزَمُ</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بِـ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refusal:</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يَرْفُضُ النَّاشِطُونَ أَنْ ___ الازْدِوَاجِيَّةُ.</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تَسْتَمِرُّ</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تَسْتَمِرَّ</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تَسْتَمِرْ</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the verb is subjunctive: </a:t>
            </a:r>
            <a:pPr algn="l" indent="0" marL="0">
              <a:buNone/>
            </a:pPr>
            <a:r>
              <a:rPr lang="ar-SA" altLang="en-US" sz="1350" dirty="0">
                <a:solidFill>
                  <a:srgbClr val="8A6D1E"/>
                </a:solidFill>
                <a:latin typeface="Amiri" pitchFamily="34" charset="0"/>
                <a:ea typeface="Amiri" pitchFamily="34" charset="-122"/>
                <a:cs typeface="Amiri" pitchFamily="34" charset="-120"/>
              </a:rPr>
              <a:t>تَسْتَمِرَّ</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7" name="Text 6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2:</a:t>
            </a:r>
            <a:endParaRPr lang="en-US" sz="1200" dirty="0"/>
          </a:p>
        </p:txBody>
      </p:sp>
      <p:sp>
        <p:nvSpPr>
          <p:cNvPr id="68" name="Text 6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لَوْ طُبِّقَ القَانُونُ بِالتَّسَاوِي، ___ العَالَمُ أَعْدَلَ.</a:t>
            </a:r>
            <a:endParaRPr lang="ar-SA" sz="1200" dirty="0"/>
          </a:p>
        </p:txBody>
      </p:sp>
      <p:sp>
        <p:nvSpPr>
          <p:cNvPr id="69" name="Shape 66"/>
          <p:cNvSpPr/>
          <p:nvPr/>
        </p:nvSpPr>
        <p:spPr>
          <a:xfrm>
            <a:off x="6368796" y="4831080"/>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سَيَكُونُ</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يَكُونُ</a:t>
            </a:r>
            <a:endParaRPr lang="ar-SA" sz="1700" dirty="0"/>
          </a:p>
        </p:txBody>
      </p:sp>
      <p:sp>
        <p:nvSpPr>
          <p:cNvPr id="75" name="Shape 72"/>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6" name="Shape 73"/>
          <p:cNvSpPr/>
          <p:nvPr/>
        </p:nvSpPr>
        <p:spPr>
          <a:xfrm>
            <a:off x="6368796" y="5574792"/>
            <a:ext cx="256032" cy="256032"/>
          </a:xfrm>
          <a:prstGeom prst="ellipse">
            <a:avLst/>
          </a:prstGeom>
          <a:solidFill>
            <a:srgbClr val="2E8B57"/>
          </a:solidFill>
          <a:ln w="12700">
            <a:solidFill>
              <a:srgbClr val="2E8B57"/>
            </a:solidFill>
            <a:prstDash val="solid"/>
          </a:ln>
        </p:spPr>
      </p:sp>
      <p:sp>
        <p:nvSpPr>
          <p:cNvPr id="77" name="Text 7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8" name="Text 75"/>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لَكَانَ</a:t>
            </a:r>
            <a:endParaRPr lang="ar-SA" sz="1700" dirty="0"/>
          </a:p>
        </p:txBody>
      </p:sp>
      <p:sp>
        <p:nvSpPr>
          <p:cNvPr id="79" name="Text 76"/>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Type 2 result takes the </a:t>
            </a:r>
            <a:pPr algn="l" indent="0" marL="0">
              <a:buNone/>
            </a:pPr>
            <a:r>
              <a:rPr lang="ar-SA" altLang="en-US" sz="1350" dirty="0">
                <a:solidFill>
                  <a:srgbClr val="8A6D1E"/>
                </a:solidFill>
                <a:latin typeface="Amiri" pitchFamily="34" charset="0"/>
                <a:ea typeface="Amiri" pitchFamily="34" charset="-122"/>
                <a:cs typeface="Amiri" pitchFamily="34" charset="-120"/>
              </a:rPr>
              <a:t>لَـ</a:t>
            </a:r>
            <a:pPr algn="l" indent="0" marL="0">
              <a:buNone/>
            </a:pPr>
            <a:r>
              <a:rPr lang="en-US" sz="1050" i="1" dirty="0">
                <a:solidFill>
                  <a:srgbClr val="8A6D1E"/>
                </a:solidFill>
                <a:latin typeface="Calibri" pitchFamily="34" charset="0"/>
                <a:ea typeface="Calibri" pitchFamily="34" charset="-122"/>
                <a:cs typeface="Calibri" pitchFamily="34" charset="-120"/>
              </a:rPr>
              <a:t> prefix.</a:t>
            </a:r>
            <a:endParaRPr lang="en-US" sz="1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52</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يَرْفُضُ النَّاشِطُونَ أَنْ تَسْتَمِرُّ الازْدِوَاجِيَّةُ.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an tastamirru?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تُلْزَمُ الدُّوَلُ عَلَى الامْتِثَالِ لِلْمُعَاهَدَاتِ.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tulzamu ʿalā?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لَوْ طُبِّقَ القَانُونُ بِالتَّسَاوِي، سَيَكُونُ العَالَمُ أَعْدَلَ.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law … sa-yakūnu?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52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يَرْفُضُ النَّاشِطُونَ أَنْ تَسْتَمِرُّ الازْدِوَاجِيَّةُ.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يَرْفُضُ النَّاشِطُونَ أَنْ تَسْتَمِرَّ الازْدِوَاجِيَّةُ.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After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 the verb is subjunctive: </a:t>
            </a:r>
            <a:pPr algn="l" indent="0" marL="0">
              <a:buNone/>
            </a:pPr>
            <a:r>
              <a:rPr lang="ar-SA" altLang="en-US" sz="1500" b="1" dirty="0">
                <a:solidFill>
                  <a:srgbClr val="1B3B6F"/>
                </a:solidFill>
                <a:latin typeface="Amiri" pitchFamily="34" charset="0"/>
                <a:ea typeface="Amiri" pitchFamily="34" charset="-122"/>
                <a:cs typeface="Amiri" pitchFamily="34" charset="-120"/>
              </a:rPr>
              <a:t>تَسْتَمِرَّ</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تُلْزَمُ الدُّوَلُ عَلَى الامْتِثَالِ لِلْمُعَاهَدَاتِ.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تُلْزَمُ الدُّوَلُ بِالامْتِثَالِ لِلْمُعَاهَدَاتِ.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يُلْزَمُ</a:t>
            </a:r>
            <a:pPr algn="l" indent="0" marL="0">
              <a:buNone/>
            </a:pPr>
            <a:r>
              <a:rPr lang="en-US" sz="1150" b="1" dirty="0">
                <a:solidFill>
                  <a:srgbClr val="1B3B6F"/>
                </a:solidFill>
                <a:latin typeface="Calibri" pitchFamily="34" charset="0"/>
                <a:ea typeface="Calibri" pitchFamily="34" charset="-122"/>
                <a:cs typeface="Calibri" pitchFamily="34" charset="-120"/>
              </a:rPr>
              <a:t> is fixed with </a:t>
            </a:r>
            <a:pPr algn="l" indent="0" marL="0">
              <a:buNone/>
            </a:pPr>
            <a:r>
              <a:rPr lang="ar-SA" altLang="en-US" sz="1500" b="1" dirty="0">
                <a:solidFill>
                  <a:srgbClr val="1B3B6F"/>
                </a:solidFill>
                <a:latin typeface="Amiri" pitchFamily="34" charset="0"/>
                <a:ea typeface="Amiri" pitchFamily="34" charset="-122"/>
                <a:cs typeface="Amiri" pitchFamily="34" charset="-120"/>
              </a:rPr>
              <a:t>بِـ</a:t>
            </a:r>
            <a:pPr algn="l" indent="0" marL="0">
              <a:buNone/>
            </a:pPr>
            <a:r>
              <a:rPr lang="en-US" sz="1150" b="1" dirty="0">
                <a:solidFill>
                  <a:srgbClr val="1B3B6F"/>
                </a:solidFill>
                <a:latin typeface="Calibri" pitchFamily="34" charset="0"/>
                <a:ea typeface="Calibri" pitchFamily="34" charset="-122"/>
                <a:cs typeface="Calibri" pitchFamily="34" charset="-120"/>
              </a:rPr>
              <a:t>, not </a:t>
            </a:r>
            <a:pPr algn="l" indent="0" marL="0">
              <a:buNone/>
            </a:pPr>
            <a:r>
              <a:rPr lang="ar-SA" altLang="en-US" sz="1500" b="1" dirty="0">
                <a:solidFill>
                  <a:srgbClr val="1B3B6F"/>
                </a:solidFill>
                <a:latin typeface="Amiri" pitchFamily="34" charset="0"/>
                <a:ea typeface="Amiri" pitchFamily="34" charset="-122"/>
                <a:cs typeface="Amiri" pitchFamily="34" charset="-120"/>
              </a:rPr>
              <a:t>عَلَى</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لَوْ طُبِّقَ القَانُونُ بِالتَّسَاوِي، سَيَكُونُ العَالَمُ أَعْدَلَ.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34" charset="0"/>
                <a:ea typeface="Amiri" pitchFamily="34" charset="-122"/>
                <a:cs typeface="Amiri" pitchFamily="34" charset="-120"/>
              </a:rPr>
              <a:t>لَوْ طُبِّقَ القَانُونُ بِالتَّسَاوِي، لَكَانَ العَالَمُ أَعْدَلَ.</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Type 2 result takes the </a:t>
            </a:r>
            <a:pPr algn="l" indent="0" marL="0">
              <a:buNone/>
            </a:pPr>
            <a:r>
              <a:rPr lang="ar-SA" altLang="en-US" sz="1500" b="1" dirty="0">
                <a:solidFill>
                  <a:srgbClr val="1B3B6F"/>
                </a:solidFill>
                <a:latin typeface="Amiri" pitchFamily="34" charset="0"/>
                <a:ea typeface="Amiri" pitchFamily="34" charset="-122"/>
                <a:cs typeface="Amiri" pitchFamily="34" charset="-120"/>
              </a:rPr>
              <a:t>لَـ</a:t>
            </a:r>
            <a:pPr algn="l" indent="0" marL="0">
              <a:buNone/>
            </a:pPr>
            <a:r>
              <a:rPr lang="en-US" sz="1150" b="1" dirty="0">
                <a:solidFill>
                  <a:srgbClr val="1B3B6F"/>
                </a:solidFill>
                <a:latin typeface="Calibri" pitchFamily="34" charset="0"/>
                <a:ea typeface="Calibri" pitchFamily="34" charset="-122"/>
                <a:cs typeface="Calibri" pitchFamily="34" charset="-120"/>
              </a:rPr>
              <a:t> prefix, not </a:t>
            </a:r>
            <a:pPr algn="l" indent="0" marL="0">
              <a:buNone/>
            </a:pPr>
            <a:r>
              <a:rPr lang="ar-SA" altLang="en-US" sz="1500" b="1" dirty="0">
                <a:solidFill>
                  <a:srgbClr val="1B3B6F"/>
                </a:solidFill>
                <a:latin typeface="Amiri" pitchFamily="34" charset="0"/>
                <a:ea typeface="Amiri" pitchFamily="34" charset="-122"/>
                <a:cs typeface="Amiri" pitchFamily="34" charset="-120"/>
              </a:rPr>
              <a:t>سَـ</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52</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Listening: a legal expert on double standards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specialists confirm about international law?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systematically violated in conflict zones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always upheld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does not exist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the expert locate the core of the crisis?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small states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treaties themselves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double standards practised by some major powers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many activists refuse (</a:t>
            </a:r>
            <a:pPr algn="l" indent="0" marL="0">
              <a:buNone/>
            </a:pPr>
            <a:r>
              <a:rPr lang="ar-SA" altLang="en-US" sz="1650" b="1" dirty="0">
                <a:solidFill>
                  <a:srgbClr val="1B3B6F"/>
                </a:solidFill>
                <a:latin typeface="Amiri" pitchFamily="34" charset="0"/>
                <a:ea typeface="Amiri" pitchFamily="34" charset="-122"/>
                <a:cs typeface="Amiri" pitchFamily="34" charset="-120"/>
              </a:rPr>
              <a:t>يَرْفُضُ</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treaties be signed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law be applied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these double standards continue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2 counterfactual?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950" dirty="0">
                <a:solidFill>
                  <a:srgbClr val="1F2A37"/>
                </a:solidFill>
                <a:latin typeface="Calibri" pitchFamily="34" charset="0"/>
                <a:ea typeface="Calibri" pitchFamily="34" charset="-122"/>
                <a:cs typeface="Calibri" pitchFamily="34" charset="-120"/>
              </a:rPr>
              <a:t>Had the law been applied without double standards, the massacres would have been less severe</a:t>
            </a:r>
            <a:endParaRPr lang="en-US" sz="9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Applying the law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massacres cannot be reduced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the expert conclude (</a:t>
            </a:r>
            <a:pPr algn="l" indent="0" marL="0">
              <a:buNone/>
            </a:pPr>
            <a:r>
              <a:rPr lang="ar-SA" altLang="en-US" sz="1650" b="1" dirty="0">
                <a:solidFill>
                  <a:srgbClr val="1B3B6F"/>
                </a:solidFill>
                <a:latin typeface="Amiri" pitchFamily="34" charset="0"/>
                <a:ea typeface="Amiri" pitchFamily="34" charset="-122"/>
                <a:cs typeface="Amiri" pitchFamily="34" charset="-120"/>
              </a:rPr>
              <a:t>وَبِنَاءً عَلَى مَا سَبَقَ</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reform is needed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Reforming the Security Council is an indispensable step</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Council should be abolished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3 and 5.</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for: yuntahaku · yarfuḍu … an · wa-bināʾan ʿalā mā sabaqa.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52</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يَقُولُ الخَبِيرُ القَانُونِيُّ: يُؤَكِّدُ المُخْتَصُّونَ أَنَّ القَانُونَ الدَّوْلِيَّ الإِنْسَانِيَّ يُنْتَهَكُ بِشَكْلٍ مَنْهَجِيٍّ فِي مَنَاطِقِ النِّزَاعِ.</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legal expert says: specialists confirm that international humanitarian law is systematically violated in conflict zones.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وَيَكْمُنُ جَوْهَرُ الأَزْمَةِ فِي ازْدِوَاجِيَّةِ المَعَايِيرِ الَّتِي تُمَارِسُهَا بَعْضُ الدُّوَلِ الكُبْرَى.</a:t>
            </a:r>
            <a:endParaRPr lang="ar-SA" sz="19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core of the crisis lies in the double standards practised by some major powers.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تُلْزَمُ الدُّوَلُ المُوَقِّعَةُ بِالامْتِثَالِ لِلْمُعَاهَدَاتِ، غَيْرَ أَنَّ التَّطْبِيقَ يَظَلُّ رَهِينًا بِالمَصَالِحِ السِّيَاسِيَّةِ.</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Signatory states are obliged to comply with the treaties; however, application remains hostage to political interests.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يَرْفُضُ كَثِيرٌ مِنَ النَّاشِطِينَ أَنْ تَسْتَمِرَّ هٰذِهِ الازْدِوَاجِيَّةُ. وَلَوْ طُبِّقَ القَانُونُ بِلَا ازْدِوَاجِيَّةٍ، لَكَانَتِ المَجَازِرُ أَقَلَّ حِدَّةً.</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Many activists refuse to let these double standards continue. Had the law been applied without double standards, the massacres would have been less severe.</a:t>
            </a:r>
            <a:endParaRPr lang="en-US" sz="120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وَبِنَاءً عَلَى مَا سَبَقَ، يُعَدُّ إِصْلَاحُ مَجْلِسِ الأَمْنِ خُطْوَةً لَا غِنَى عَنْهَا. وَخُلَاصَةُ القَوْلِ، لَا عَدَالَةَ عَالَمِيَّةً دُونَ مُحَاسَبَةٍ مُتَسَاوِيَةٍ.</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Based on the above, reforming the Security Council is an indispensable step. In summary, there is no global justice without equal accountability.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52</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specialists confirm about international law?</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It is systematically violated in conflict zones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always upheld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does not exist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يُؤَكِّدُ المُخْتَصُّونَ أَنَّ القَانُونَ الدَّوْلِيَّ الإِنْسَانِيَّ يُنْتَهَكُ بِشَكْلٍ مَنْهَجِيٍّ.</a:t>
            </a:r>
            <a:endParaRPr lang="ar-SA" sz="11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the expert locate the core of the crisis?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small states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the treaties themselves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In the double standards practised by some major powers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950" dirty="0">
                <a:solidFill>
                  <a:srgbClr val="8A6D1E"/>
                </a:solidFill>
                <a:latin typeface="Amiri" pitchFamily="34" charset="0"/>
                <a:ea typeface="Amiri" pitchFamily="34" charset="-122"/>
                <a:cs typeface="Amiri" pitchFamily="34" charset="-120"/>
              </a:rPr>
              <a:t>يَكْمُنُ جَوْهَرُ الأَزْمَةِ فِي ازْدِوَاجِيَّةِ المَعَايِيرِ الَّتِي تُمَارِسُهَا بَعْضُ الدُّوَلِ الكُبْرَى.</a:t>
            </a:r>
            <a:endParaRPr lang="ar-SA" sz="9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many activists refuse (</a:t>
            </a:r>
            <a:pPr algn="l" indent="0" marL="0">
              <a:buNone/>
            </a:pPr>
            <a:r>
              <a:rPr lang="ar-SA" altLang="en-US" sz="1650" b="1" dirty="0">
                <a:solidFill>
                  <a:srgbClr val="1B3B6F"/>
                </a:solidFill>
                <a:latin typeface="Amiri" pitchFamily="34" charset="0"/>
                <a:ea typeface="Amiri" pitchFamily="34" charset="-122"/>
                <a:cs typeface="Amiri" pitchFamily="34" charset="-120"/>
              </a:rPr>
              <a:t>يَرْفُضُ</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That treaties be signed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That law be applied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That these double standards continue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يَرْفُضُ كَثِيرٌ مِنَ النَّاشِطِينَ أَنْ تَسْتَمِرَّ هٰذِهِ الازْدِوَاجِيَّةُ.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2 counterfactual?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950" b="1" dirty="0">
                <a:solidFill>
                  <a:srgbClr val="1F2A37"/>
                </a:solidFill>
                <a:latin typeface="Calibri" pitchFamily="34" charset="0"/>
                <a:ea typeface="Calibri" pitchFamily="34" charset="-122"/>
                <a:cs typeface="Calibri" pitchFamily="34" charset="-120"/>
              </a:rPr>
              <a:t>Had the law been applied without double standards, the massacres would have been less severe</a:t>
            </a:r>
            <a:endParaRPr lang="en-US" sz="9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Applying the law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massacres cannot be reduced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34" charset="0"/>
                <a:ea typeface="Amiri" pitchFamily="34" charset="-122"/>
                <a:cs typeface="Amiri" pitchFamily="34" charset="-120"/>
              </a:rPr>
              <a:t>لَوْ طُبِّقَ القَانُونُ بِلَا ازْدِوَاجِيَّةٍ، لَكَانَتِ المَجَازِرُ أَقَلَّ حِدَّةً.</a:t>
            </a:r>
            <a:endParaRPr lang="ar-SA" sz="13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the expert conclude (</a:t>
            </a:r>
            <a:pPr algn="l" indent="0" marL="0">
              <a:buNone/>
            </a:pPr>
            <a:r>
              <a:rPr lang="ar-SA" altLang="en-US" sz="1650" b="1" dirty="0">
                <a:solidFill>
                  <a:srgbClr val="1B3B6F"/>
                </a:solidFill>
                <a:latin typeface="Amiri" pitchFamily="34" charset="0"/>
                <a:ea typeface="Amiri" pitchFamily="34" charset="-122"/>
                <a:cs typeface="Amiri" pitchFamily="34" charset="-120"/>
              </a:rPr>
              <a:t>وَبِنَاءً عَلَى مَا سَبَقَ</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 reform is needed</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Reforming the Security Council is an indispensable step</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Council should be abolished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وَبِنَاءً عَلَى مَا سَبَقَ، يُعَدُّ إِصْلَاحُ مَجْلِسِ الأَمْنِ خُطْوَةً لَا غِنَى عَنْهَا.</a:t>
            </a:r>
            <a:endParaRPr lang="ar-SA" sz="11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3 and 5.</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for: yuntahaku · yarfuḍu … an · wa-bināʾan ʿalā mā sabaqa.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52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TOPIC E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Global headline classification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TOPIC E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ea typeface="Calibri" pitchFamily="34" charset="-122"/>
                <a:cs typeface="Calibri" pitchFamily="34" charset="-120"/>
              </a:rPr>
              <a:t>📰  Global headline classification</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Sort international headlines by theme, identify the likely issue or viewpoint and connect one story to culture, society, environment or technology.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Sort 6 headlines by theme: culture · society · environment · technology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For each, name the likely issue or viewpoint.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Choose one story and connect it to your own life.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Give a balanced opinion with a conditional.</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Sort the headlines; one sentence: “hādhā al-khabar ʿan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Name the issue with a passive verb (tuʿqadu, yuṭlaqu).</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 balanced opinion with a conditional (law / idhā) and a concession.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هٰذَا الخَبَرُ عَنْ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this news is about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تُعْقَدُ قِمَّةٌ دَوْلِيَّةٌ</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an international summit is held</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إِذَا تَعَاوَنَتِ الدُّوَلُ،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if countries cooperate,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صَحِيحٌ أَنَّ … غَيْرَ أَنَّ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it is true that … but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52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Speaking: argue and conclude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المُشْكِلَةُ؟ صِفْهَا بِفِعْلٍ مَبْنِيٍّ لِلْمَجْهُولِ.</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الَّذِي يَرْفُضُهُ النَّاشِطُونَ؟</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تَخْتِمُ حُجَّتَكَ بِرَابِطٍ خِتَامِيٍّ؟</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يُنْتَهَكُ ___ فِي مَنَاطِقِ النِّزَاعِ.</a:t>
            </a:r>
            <a:endParaRPr lang="ar-SA" sz="160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يَرْفُضُ النَّاشِطُونَ أَنْ ___ .</a:t>
            </a:r>
            <a:endParaRPr lang="ar-SA" sz="160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34" charset="0"/>
                <a:ea typeface="Amiri" pitchFamily="34" charset="-122"/>
                <a:cs typeface="Amiri" pitchFamily="34" charset="-120"/>
              </a:rPr>
              <a:t>وَبِنَاءً عَلَى مَا سَبَقَ، مِنَ الضَّرُورِيِّ أَنْ ___ .</a:t>
            </a:r>
            <a:endParaRPr lang="ar-SA" sz="140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المُشْكِلَةُ؟</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is the problem?</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يُنْتَهَكُ القَانُونُ الدَّوْلِيُّ، وَتُلْزَمُ الدُّوَلُ بِالامْتِثَالِ نَظَرِيًّا فَقَطْ.</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ea typeface="Calibri" pitchFamily="34" charset="-122"/>
                <a:cs typeface="Calibri" pitchFamily="34" charset="-120"/>
              </a:rPr>
              <a:t>International law is violated, and states are obliged to comply in theory only.</a:t>
            </a:r>
            <a:endParaRPr lang="en-US" sz="8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52</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2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one conclusion with </a:t>
            </a:r>
            <a:pPr algn="l" indent="0" marL="0">
              <a:buNone/>
            </a:pPr>
            <a:r>
              <a:rPr lang="ar-SA" altLang="en-US" sz="1800" b="1" dirty="0">
                <a:solidFill>
                  <a:srgbClr val="1F2A37"/>
                </a:solidFill>
                <a:latin typeface="Amiri" pitchFamily="34" charset="0"/>
                <a:ea typeface="Amiri" pitchFamily="34" charset="-122"/>
                <a:cs typeface="Amiri" pitchFamily="34" charset="-120"/>
              </a:rPr>
              <a:t>وَبِنَاءً عَلَى مَا سَبَقَ</a:t>
            </a:r>
            <a:pPr algn="l" indent="0" marL="0">
              <a:buNone/>
            </a:pPr>
            <a:r>
              <a:rPr lang="en-US" sz="1400" b="1" dirty="0">
                <a:solidFill>
                  <a:srgbClr val="1F2A37"/>
                </a:solidFill>
                <a:latin typeface="Calibri" pitchFamily="34" charset="0"/>
                <a:ea typeface="Calibri" pitchFamily="34" charset="-122"/>
                <a:cs typeface="Calibri" pitchFamily="34" charset="-120"/>
              </a:rPr>
              <a:t> and one refusal with </a:t>
            </a:r>
            <a:pPr algn="l" indent="0" marL="0">
              <a:buNone/>
            </a:pPr>
            <a:r>
              <a:rPr lang="ar-SA" altLang="en-US" sz="1800" b="1" dirty="0">
                <a:solidFill>
                  <a:srgbClr val="1F2A37"/>
                </a:solidFill>
                <a:latin typeface="Amiri" pitchFamily="34" charset="0"/>
                <a:ea typeface="Amiri" pitchFamily="34" charset="-122"/>
                <a:cs typeface="Amiri" pitchFamily="34" charset="-120"/>
              </a:rPr>
              <a:t>يَرْفُضُ أَنْ</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Core: one conclusion with wa-bināʾan ʿalā mā sabaqa and one refusal with yarfuḍu an.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110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a law passive and a Type 2 counterfactual; reach 110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Develop: add a law passive and a Type 2 counterfactual.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110–120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Reach 120 words with both conditionals, the past perfect and two conclusion connectors.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Stretch: both conditionals, the past perfect and two conclusion connectors.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52</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يُؤَكِّدُ الخُبَرَاءُ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Experts confirm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34" charset="0"/>
                <a:ea typeface="Amiri" pitchFamily="34" charset="-122"/>
                <a:cs typeface="Amiri" pitchFamily="34" charset="-120"/>
              </a:rPr>
              <a:t>كَانَتِ الأُمَمُ المُتَّحِدَةُ قَدْ أَقَرَّتْ ______ لِكَيْ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UN had adopted … so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34" charset="0"/>
                <a:ea typeface="Amiri" pitchFamily="34" charset="-122"/>
                <a:cs typeface="Amiri" pitchFamily="34" charset="-120"/>
              </a:rPr>
              <a:t>لَوْ طُبِّقَ القَانُونُ بِالتَّسَاوِي، لَكَانَ ______ .</a:t>
            </a:r>
            <a:endParaRPr lang="ar-SA" sz="17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Had the law been applied equally,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وَخُلَاصَةُ القَوْلِ، لَا ______ دُونَ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summary, there is no … without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يُنْتَهَكُ القَانُونُ الدَّوْلِيُّ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International law is violated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تُلْزَمُ الدُّوَلُ بِاحْتِرَامِ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States are obliged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يَرْفُضُ النَّاشِطُونَ أَنْ تَسْتَمِرَّ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Activists refuse to let … continue.</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34" charset="0"/>
                <a:ea typeface="Amiri" pitchFamily="34" charset="-122"/>
                <a:cs typeface="Amiri" pitchFamily="34" charset="-120"/>
              </a:rPr>
              <a:t>وَبِنَاءً عَلَى مَا سَبَقَ، مِنَ الضَّرُورِيِّ أَنْ ______ .</a:t>
            </a:r>
            <a:endParaRPr lang="ar-SA" sz="16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Based on the above, it is essential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34" charset="0"/>
                <a:ea typeface="Amiri" pitchFamily="34" charset="-122"/>
                <a:cs typeface="Amiri" pitchFamily="34" charset="-120"/>
              </a:rPr>
              <a:t>مَنَاطِقِ النِّزَاعِ  ·  المُعَاهَدَاتِ  ·  ازْدِوَاجِيَّةُ المَعَايِيرِ  ·  يُصْلَحَ النِّظَامُ الدَّوْلِيُّ  ·  يُفْلِتَ المُنْتَهِكُونَ مِنَ العِقَابِ  ·  هٰذِهِ المَبَادِئَ  ·  يُحْمَى المَدَنِيُّونَ  ·  العَالَمُ أَكْثَرَ عَدْلًا  ·  عَدَالَةَ  ·  مُحَاسَبَةٍ  ·  حِمَايَةَ حَقِيقِيَّةً  ·  مَجْلِسِ الأَمْنِ</a:t>
            </a:r>
            <a:endParaRPr lang="ar-SA"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52</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ea typeface="Calibri" pitchFamily="34" charset="-122"/>
                <a:cs typeface="Calibri" pitchFamily="34" charset="-120"/>
              </a:rPr>
              <a:t>Write a 110–120-word global-justice analysis. Open with reported speech and a law passive (yuntahaku), use the past perfect for what the UN had adopted, add both conditional types and the refusal trigger yarfuḍu an, and close with wa-bināʾan ʿalā mā sabaqa / wa-khulāṣatu l-qawl + a verb in -a.</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law passive (yuntahaku / yulzamu bi-) and reported speech.</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The past perfect (kānat … qad) and both conditional types.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The refusal trigger yarfuḍu an + a verb in -a.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formal conclusion connector + a verb in -a.</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بِشَكْلٍ مَنْهَجِيٍّ</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systematically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يَكْمُنُ جَوْهَرُ الأَزْمَةِ فِي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core of the crisis lies in</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رَهِينًا بِالمَصَالِحِ السِّيَاسِيَّةِ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hostage to political interests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تَحَوُّلًا جَذْرِيًّا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 radical transformation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أَقَلَّ حِدَّةً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less severe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52</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050" dirty="0">
                <a:solidFill>
                  <a:srgbClr val="1F2A37"/>
                </a:solidFill>
                <a:latin typeface="Amiri" pitchFamily="34" charset="0"/>
                <a:ea typeface="Amiri" pitchFamily="34" charset="-122"/>
                <a:cs typeface="Amiri" pitchFamily="34" charset="-120"/>
              </a:rPr>
              <a:t>يُؤَكِّدُ الخُبَرَاءُ القَانُونِيُّونَ أَنَّ القَانُونَ الدَّوْلِيَّ الإِنْسَانِيَّ يُنْتَهَكُ بِشَكْلٍ مَنْهَجِيٍّ فِي مَنَاطِقِ النِّزَاعِ، وَيُشَارُ إِلَى أَنَّ مَبْدَأَ المَسْؤُولِيَّةِ عَنِ الحِمَايَةِ لَمْ يُطَبَّقْ بِالتَّسَاوِي. يَكْمُنُ جَوْهَرُ الأَزْمَةِ فِي ازْدِوَاجِيَّةِ المَعَايِيرِ الَّتِي تُمَارِسُهَا الدُّوَلُ الكُبْرَى. كَانَتِ الأُمَمُ المُتَّحِدَةُ قَدْ أَقَرَّتْ هٰذِهِ المَبَادِئَ لِكَيْ يُحْمَى المَدَنِيُّونَ، غَيْرَ أَنَّ التَّطْبِيقَ يَظَلُّ رَهِينًا بِالمَصَالِحِ السِّيَاسِيَّةِ. وَيَرْفُضُ كَثِيرٌ مِنَ النَّاشِطِينَ أَنْ تَسْتَمِرَّ هٰذِهِ الازْدِوَاجِيَّةُ. إِذَا الْتَزَمَتِ الدُّوَلُ بِالمِيثَاقِ بِالتَّسَاوِي، سَيُحْدِثُ ذٰلِكَ تَحَوُّلًا جَذْرِيًّا. وَلَوْ طُبِّقَ القَانُونُ بِلَا ازْدِوَاجِيَّةٍ، لَكَانَتِ المَجَازِرُ أَقَلَّ حِدَّةً. وَبِنَاءً عَلَى مَا سَبَقَ، مِنَ الضَّرُورِيِّ أَنْ يُصْلَحَ النِّظَامُ الدَّوْلِيُّ لِكَيْ تَنْعَمَ الشُّعُوبُ بِحِمَايَةٍ مُتَسَاوِيَةٍ.</a:t>
            </a:r>
            <a:endParaRPr lang="ar-SA" sz="20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00" i="1" dirty="0">
                <a:solidFill>
                  <a:srgbClr val="5A6472"/>
                </a:solidFill>
                <a:latin typeface="Calibri" pitchFamily="34" charset="0"/>
                <a:ea typeface="Calibri" pitchFamily="34" charset="-122"/>
                <a:cs typeface="Calibri" pitchFamily="34" charset="-120"/>
              </a:rPr>
              <a:t>Legal experts confirm that international humanitarian law is systematically violated in conflict zones, and it is noted that the principle of the responsibility to protect has not been applied equally. The core of the crisis lies in the double standards practised by the major powers. The United Nations had adopted these principles so that civilians would be protected; however, application remains hostage to political interests. Many activists refuse to let these double standards continue. If states committed to the Charter equally, this would bring about a radical transformation. Had the law been applied without double standards, the massacres would have been less severe. Based on the above, it is essential that the international system be reformed so that peoples enjoy equal protection.</a:t>
            </a:r>
            <a:endParaRPr lang="en-US" sz="110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yuntahaku · yushāru ilā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kānat … qad aqarrat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yarfuḍu … an tastamirra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wa-bināʾan ʿalā mā sabaqa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52</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last sentence opens with wa-bināʾan ʿalā mā sabaqa — and adds no new point.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After yarfuḍu an my verb ends in -a (they: the -na drops).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 law passive: yuntahaku or yulzamu bi- (not ʿalā).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Type 2 result starts with la- (not sa-).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the past perfect, both conditionals and two connectors.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52</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opens a synthesising conclusion?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وَبِنَاءً عَلَى مَا سَبَقَ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trigger expresses refusal?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صَحِيحٌ 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يَرْفُضُ 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لِكَيْ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passive “is violated”?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يُنْتَهَكُ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يَنْتَهِكُ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انْتَهَكَ</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52</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opens a synthesising conclusion?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وَبِنَاءً عَلَى مَا سَبَقَ</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لِأَنَّ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إِذَا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وَبِنَاءً عَلَى مَا سَبَقَ</a:t>
            </a:r>
            <a:pPr algn="l" indent="0" marL="0">
              <a:buNone/>
            </a:pPr>
            <a:r>
              <a:rPr lang="en-US" sz="1050" i="1" dirty="0">
                <a:solidFill>
                  <a:srgbClr val="8A6D1E"/>
                </a:solidFill>
                <a:latin typeface="Calibri" pitchFamily="34" charset="0"/>
                <a:ea typeface="Calibri" pitchFamily="34" charset="-122"/>
                <a:cs typeface="Calibri" pitchFamily="34" charset="-120"/>
              </a:rPr>
              <a:t> opens the conclusion.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trigger expresses refusal?</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صَحِيحٌ أَنَّ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يَرْفُضُ 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لِكَيْ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يَرْفُضُ أَنْ</a:t>
            </a:r>
            <a:pPr algn="l" indent="0" marL="0">
              <a:buNone/>
            </a:pPr>
            <a:r>
              <a:rPr lang="en-US" sz="1050" i="1" dirty="0">
                <a:solidFill>
                  <a:srgbClr val="8A6D1E"/>
                </a:solidFill>
                <a:latin typeface="Calibri" pitchFamily="34" charset="0"/>
                <a:ea typeface="Calibri" pitchFamily="34" charset="-122"/>
                <a:cs typeface="Calibri" pitchFamily="34" charset="-120"/>
              </a:rPr>
              <a:t> expresses refusal.</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passive “is violated”?</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يُنْتَهَكُ</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يَنْتَهِكُ</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انْتَهَكَ</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يُنْتَهَكُ</a:t>
            </a:r>
            <a:pPr algn="l" indent="0" marL="0">
              <a:buNone/>
            </a:pPr>
            <a:r>
              <a:rPr lang="en-US" sz="1050" i="1" dirty="0">
                <a:solidFill>
                  <a:srgbClr val="8A6D1E"/>
                </a:solidFill>
                <a:latin typeface="Calibri" pitchFamily="34" charset="0"/>
                <a:ea typeface="Calibri" pitchFamily="34" charset="-122"/>
                <a:cs typeface="Calibri" pitchFamily="34" charset="-120"/>
              </a:rPr>
              <a:t> is the Form VIII passive.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52</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Reading: a global-justice analysis (extract)</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تُعَدُّ العَدَالَةُ العَالَمِيَّةُ مِنْ أَعْقَدِ قَضَايَا عَصْرِنَا. يُشَارُ إِلَى أَنَّ مَبْدَأَ المَسْؤُولِيَّةِ عَنِ الحِمَايَةِ لَمْ يُطَبَّقْ بِالتَّسَاوِي فِي جَمِيعِ الحَالَاتِ. يُنْتَهَكُ القَانُونُ الدَّوْلِيُّ الإِنْسَانِيُّ، وَتُلْزَمُ الدُّوَلُ بِالامْتِثَالِ نَظَرِيًّا فَقَطْ. كَانَتِ الأُمَمُ المُتَّحِدَةُ قَدْ أَقَرَّتْ هٰذِهِ المَبَادِئَ لِكَيْ يُحْمَى المَدَنِيُّونَ، غَيْرَ أَنَّ التَّطْبِيقَ يَظَلُّ رَهِينًا بِالمَصَالِحِ. يَرْفُضُ النَّاشِطُونَ أَنْ يُفْلِتَ المُنْتَهِكُونَ مِنَ العِقَابِ. وَلَوْ طُبِّقَ القَانُونُ بِالتَّسَاوِي، لَكَانَ العَالَمُ أَكْثَرَ عَدْلًا. وَبِنَاءً عَلَى مَا سَبَقَ، مِنَ الضَّرُورِيِّ أَنْ يُصْلَحَ النِّظَامُ الدَّوْلِيُّ. وَخُلَاصَةُ القَوْلِ، لَا حِمَايَةَ حَقِيقِيَّةً دُونَ مُحَاسَبَةٍ.</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بِشَكْلٍ مَنْهَجِيٍّ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systematically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جَوْهَرُ</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core, essence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تُمَارِسُهَا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(which) they practise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المُوَقِّعَةُ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signatory</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الامْتِثَالِ</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compliance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رَهِينًا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hostage, dependent</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المَجَازِرُ</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massacres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أَقَرَّتْ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adopted, approved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المَدَنِيُّونَ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civilians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لَا غِنَى عَنْهَا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indispensable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52</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said about the responsibility to protect?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has always been applied equally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has not been applied equally in all cases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was never adopted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had the UN adopted these principles (past perfect + purpose)?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increase conflict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For no stated reason</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that civilians would be protected</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activists refuse (</a:t>
            </a:r>
            <a:pPr algn="l" indent="0" marL="0">
              <a:buNone/>
            </a:pPr>
            <a:r>
              <a:rPr lang="ar-SA" altLang="en-US" sz="1650" b="1" dirty="0">
                <a:solidFill>
                  <a:srgbClr val="1B3B6F"/>
                </a:solidFill>
                <a:latin typeface="Amiri" pitchFamily="34" charset="0"/>
                <a:ea typeface="Amiri" pitchFamily="34" charset="-122"/>
                <a:cs typeface="Amiri" pitchFamily="34" charset="-120"/>
              </a:rPr>
              <a:t>يَرْفُضُ</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violators escape punishment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laws be written</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protection be offered</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2 counterfactual?</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Equal application makes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Had the law been applied equally, the world would be more just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world cannot be more just</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the extract close (</a:t>
            </a:r>
            <a:pPr algn="l" indent="0" marL="0">
              <a:buNone/>
            </a:pPr>
            <a:r>
              <a:rPr lang="ar-SA" altLang="en-US" sz="1650" b="1" dirty="0">
                <a:solidFill>
                  <a:srgbClr val="1B3B6F"/>
                </a:solidFill>
                <a:latin typeface="Amiri" pitchFamily="34" charset="0"/>
                <a:ea typeface="Amiri" pitchFamily="34" charset="-122"/>
                <a:cs typeface="Amiri" pitchFamily="34" charset="-120"/>
              </a:rPr>
              <a:t>وَخُلَاصَةُ القَوْلِ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There is no real protection without accountability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Accountability is unnecessary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Protection already exists everywhere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52</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said about the responsibility to protect?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has always been applied equally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It has not been applied equally in all cases</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was never adopted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34" charset="0"/>
                <a:ea typeface="Amiri" pitchFamily="34" charset="-122"/>
                <a:cs typeface="Amiri" pitchFamily="34" charset="-120"/>
              </a:rPr>
              <a:t>يُشَارُ إِلَى أَنَّ مَبْدَأَ المَسْؤُولِيَّةِ عَنِ الحِمَايَةِ لَمْ يُطَبَّقْ بِالتَّسَاوِي.</a:t>
            </a:r>
            <a:endParaRPr lang="ar-SA" sz="120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had the UN adopted these principles (past perfect + purpose)?</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increase conflict</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For no stated reason</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So that civilians would be protected</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كَانَتِ الأُمَمُ المُتَّحِدَةُ قَدْ أَقَرَّتْ هٰذِهِ المَبَادِئَ لِكَيْ يُحْمَى المَدَنِيُّونَ.</a:t>
            </a:r>
            <a:endParaRPr lang="ar-SA" sz="11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activists refuse (</a:t>
            </a:r>
            <a:pPr algn="l" indent="0" marL="0">
              <a:buNone/>
            </a:pPr>
            <a:r>
              <a:rPr lang="ar-SA" altLang="en-US" sz="1650" b="1" dirty="0">
                <a:solidFill>
                  <a:srgbClr val="1B3B6F"/>
                </a:solidFill>
                <a:latin typeface="Amiri" pitchFamily="34" charset="0"/>
                <a:ea typeface="Amiri" pitchFamily="34" charset="-122"/>
                <a:cs typeface="Amiri" pitchFamily="34" charset="-120"/>
              </a:rPr>
              <a:t>يَرْفُضُ</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That violators escape punishment</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That laws be written</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That protection be offered</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يَرْفُضُ النَّاشِطُونَ أَنْ يُفْلِتَ المُنْتَهِكُونَ مِنَ العِقَابِ.</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2 counterfactual?</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Equal application makes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Had the law been applied equally, the world would be more just</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world cannot be more just</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لَوْ طُبِّقَ القَانُونُ بِالتَّسَاوِي، لَكَانَ العَالَمُ أَكْثَرَ عَدْلًا.</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the extract close (</a:t>
            </a:r>
            <a:pPr algn="l" indent="0" marL="0">
              <a:buNone/>
            </a:pPr>
            <a:r>
              <a:rPr lang="ar-SA" altLang="en-US" sz="1650" b="1" dirty="0">
                <a:solidFill>
                  <a:srgbClr val="1B3B6F"/>
                </a:solidFill>
                <a:latin typeface="Amiri" pitchFamily="34" charset="0"/>
                <a:ea typeface="Amiri" pitchFamily="34" charset="-122"/>
                <a:cs typeface="Amiri" pitchFamily="34" charset="-120"/>
              </a:rPr>
              <a:t>وَخُلَاصَةُ القَوْلِ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There is no real protection without accountability</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Accountability is unnecessary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Protection already exists everywhere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وَخُلَاصَةُ القَوْلِ، لَا حِمَايَةَ حَقِيقِيَّةً دُونَ مُحَاسَبَةٍ.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48 / 52</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ea typeface="Cambria" pitchFamily="34" charset="-122"/>
                <a:cs typeface="Cambria" pitchFamily="34" charset="-120"/>
              </a:rPr>
              <a:t>Justice Mission — Conclude, Refuse, Hold to Account</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Connector:</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34" charset="0"/>
                <a:ea typeface="Amiri" pitchFamily="34" charset="-122"/>
                <a:cs typeface="Amiri" pitchFamily="34" charset="-120"/>
              </a:rPr>
              <a:t>وَبِنَاءً عَلَى مَا سَبَقَ</a:t>
            </a:r>
            <a:pPr algn="l" indent="0" marL="0">
              <a:buNone/>
            </a:pPr>
            <a:r>
              <a:rPr lang="en-US" sz="1450" b="1" dirty="0">
                <a:solidFill>
                  <a:srgbClr val="1F2A37"/>
                </a:solidFill>
                <a:latin typeface="Calibri" pitchFamily="34" charset="0"/>
                <a:ea typeface="Calibri" pitchFamily="34" charset="-122"/>
                <a:cs typeface="Calibri" pitchFamily="34" charset="-120"/>
              </a:rPr>
              <a:t> signals …</a:t>
            </a:r>
            <a:endParaRPr lang="en-US" sz="14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new point</a:t>
            </a:r>
            <a:endParaRPr lang="en-US"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synthesising conclusion</a:t>
            </a:r>
            <a:endParaRPr lang="en-US"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condition</a:t>
            </a:r>
            <a:endParaRPr lang="en-US" sz="12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Connector:</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34" charset="0"/>
                <a:ea typeface="Amiri" pitchFamily="34" charset="-122"/>
                <a:cs typeface="Amiri" pitchFamily="34" charset="-120"/>
              </a:rPr>
              <a:t>وَخُلَاصَةُ القَوْلِ</a:t>
            </a:r>
            <a:pPr algn="l" indent="0" marL="0">
              <a:buNone/>
            </a:pPr>
            <a:r>
              <a:rPr lang="en-US" sz="1450" b="1" dirty="0">
                <a:solidFill>
                  <a:srgbClr val="1F2A37"/>
                </a:solidFill>
                <a:latin typeface="Calibri" pitchFamily="34" charset="0"/>
                <a:ea typeface="Calibri" pitchFamily="34" charset="-122"/>
                <a:cs typeface="Calibri" pitchFamily="34" charset="-120"/>
              </a:rPr>
              <a:t> means …</a:t>
            </a:r>
            <a:endParaRPr lang="en-US" sz="1450" dirty="0"/>
          </a:p>
        </p:txBody>
      </p:sp>
      <p:sp>
        <p:nvSpPr>
          <p:cNvPr id="36" name="Shape 33"/>
          <p:cNvSpPr/>
          <p:nvPr/>
        </p:nvSpPr>
        <p:spPr>
          <a:xfrm>
            <a:off x="4459224"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summary</a:t>
            </a:r>
            <a:endParaRPr lang="en-US" sz="1250" dirty="0"/>
          </a:p>
        </p:txBody>
      </p:sp>
      <p:sp>
        <p:nvSpPr>
          <p:cNvPr id="39" name="Shape 36"/>
          <p:cNvSpPr/>
          <p:nvPr/>
        </p:nvSpPr>
        <p:spPr>
          <a:xfrm>
            <a:off x="4459224"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for example</a:t>
            </a:r>
            <a:endParaRPr lang="en-US" sz="1250" dirty="0"/>
          </a:p>
        </p:txBody>
      </p:sp>
      <p:sp>
        <p:nvSpPr>
          <p:cNvPr id="42" name="Shape 39"/>
          <p:cNvSpPr/>
          <p:nvPr/>
        </p:nvSpPr>
        <p:spPr>
          <a:xfrm>
            <a:off x="4459224"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despite</a:t>
            </a:r>
            <a:endParaRPr lang="en-US"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Trigger:</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34" charset="0"/>
                <a:ea typeface="Amiri" pitchFamily="34" charset="-122"/>
                <a:cs typeface="Amiri" pitchFamily="34" charset="-120"/>
              </a:rPr>
              <a:t>يَرْفُضُ أَنْ</a:t>
            </a:r>
            <a:pPr algn="l" indent="0" marL="0">
              <a:buNone/>
            </a:pPr>
            <a:r>
              <a:rPr lang="en-US" sz="1450" b="1" dirty="0">
                <a:solidFill>
                  <a:srgbClr val="1F2A37"/>
                </a:solidFill>
                <a:latin typeface="Calibri" pitchFamily="34" charset="0"/>
                <a:ea typeface="Calibri" pitchFamily="34" charset="-122"/>
                <a:cs typeface="Calibri" pitchFamily="34" charset="-120"/>
              </a:rPr>
              <a:t> signals …</a:t>
            </a:r>
            <a:endParaRPr lang="en-US" sz="1450" dirty="0"/>
          </a:p>
        </p:txBody>
      </p:sp>
      <p:sp>
        <p:nvSpPr>
          <p:cNvPr id="50" name="Shape 47"/>
          <p:cNvSpPr/>
          <p:nvPr/>
        </p:nvSpPr>
        <p:spPr>
          <a:xfrm>
            <a:off x="8278368" y="25328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concession</a:t>
            </a:r>
            <a:endParaRPr lang="en-US" sz="1250" dirty="0"/>
          </a:p>
        </p:txBody>
      </p:sp>
      <p:sp>
        <p:nvSpPr>
          <p:cNvPr id="53" name="Shape 50"/>
          <p:cNvSpPr/>
          <p:nvPr/>
        </p:nvSpPr>
        <p:spPr>
          <a:xfrm>
            <a:off x="8278368" y="29900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purpose</a:t>
            </a:r>
            <a:endParaRPr lang="en-US" sz="1250" dirty="0"/>
          </a:p>
        </p:txBody>
      </p:sp>
      <p:sp>
        <p:nvSpPr>
          <p:cNvPr id="56" name="Shape 53"/>
          <p:cNvSpPr/>
          <p:nvPr/>
        </p:nvSpPr>
        <p:spPr>
          <a:xfrm>
            <a:off x="8278368" y="3447288"/>
            <a:ext cx="256032" cy="256032"/>
          </a:xfrm>
          <a:prstGeom prst="ellipse">
            <a:avLst/>
          </a:prstGeom>
          <a:solidFill>
            <a:srgbClr val="F4F1EA"/>
          </a:solidFill>
          <a:ln w="12700">
            <a:solidFill>
              <a:srgbClr val="F4F1EA"/>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refusal</a:t>
            </a:r>
            <a:endParaRPr lang="en-US" sz="1250" dirty="0"/>
          </a:p>
        </p:txBody>
      </p:sp>
      <p:sp>
        <p:nvSpPr>
          <p:cNvPr id="59" name="Shape 56"/>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85216"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2" name="Text 59"/>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Refusal: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يَرْفُضُ النَّاشِطُونَ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الازْدِوَاجِيَّةُ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3" name="Shape 60"/>
          <p:cNvSpPr/>
          <p:nvPr/>
        </p:nvSpPr>
        <p:spPr>
          <a:xfrm>
            <a:off x="640080"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5" name="Text 62"/>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تَسْتَمِرُّ</a:t>
            </a:r>
            <a:endParaRPr lang="ar-SA" sz="2050" dirty="0"/>
          </a:p>
        </p:txBody>
      </p:sp>
      <p:sp>
        <p:nvSpPr>
          <p:cNvPr id="66" name="Shape 63"/>
          <p:cNvSpPr/>
          <p:nvPr/>
        </p:nvSpPr>
        <p:spPr>
          <a:xfrm>
            <a:off x="640080"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8" name="Text 65"/>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تَسْتَمِرْ</a:t>
            </a:r>
            <a:endParaRPr lang="ar-SA" sz="2050" dirty="0"/>
          </a:p>
        </p:txBody>
      </p:sp>
      <p:sp>
        <p:nvSpPr>
          <p:cNvPr id="69" name="Shape 66"/>
          <p:cNvSpPr/>
          <p:nvPr/>
        </p:nvSpPr>
        <p:spPr>
          <a:xfrm>
            <a:off x="640080"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1" name="Text 68"/>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تَسْتَمِرَّ</a:t>
            </a:r>
            <a:endParaRPr lang="ar-SA" sz="2050" dirty="0"/>
          </a:p>
        </p:txBody>
      </p:sp>
      <p:sp>
        <p:nvSpPr>
          <p:cNvPr id="72" name="Shape 69"/>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4404360" y="4288536"/>
            <a:ext cx="310896" cy="310896"/>
          </a:xfrm>
          <a:prstGeom prst="ellipse">
            <a:avLst/>
          </a:prstGeom>
          <a:solidFill>
            <a:srgbClr val="1B3B6F"/>
          </a:solidFill>
          <a:ln w="12700">
            <a:solidFill>
              <a:srgbClr val="1B3B6F"/>
            </a:solidFill>
            <a:prstDash val="solid"/>
          </a:ln>
        </p:spPr>
      </p:sp>
      <p:sp>
        <p:nvSpPr>
          <p:cNvPr id="74" name="Text 71"/>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5" name="Text 72"/>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Passive: which is “is violated”?</a:t>
            </a:r>
            <a:endParaRPr lang="en-US" sz="125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يُنْتَهَكُ</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يَنْتَهِكُ</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انْتَهَكَ</a:t>
            </a:r>
            <a:endParaRPr lang="ar-SA" sz="2050" dirty="0"/>
          </a:p>
        </p:txBody>
      </p:sp>
      <p:sp>
        <p:nvSpPr>
          <p:cNvPr id="85" name="Shape 82"/>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223504" y="4288536"/>
            <a:ext cx="310896" cy="310896"/>
          </a:xfrm>
          <a:prstGeom prst="ellipse">
            <a:avLst/>
          </a:prstGeom>
          <a:solidFill>
            <a:srgbClr val="1B3B6F"/>
          </a:solidFill>
          <a:ln w="12700">
            <a:solidFill>
              <a:srgbClr val="1B3B6F"/>
            </a:solidFill>
            <a:prstDash val="solid"/>
          </a:ln>
        </p:spPr>
      </p:sp>
      <p:sp>
        <p:nvSpPr>
          <p:cNvPr id="87" name="Text 84"/>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8" name="Text 85"/>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Passive: complete the preposition — </a:t>
            </a:r>
            <a:pPr algn="l" indent="0" marL="0">
              <a:buNone/>
            </a:pPr>
            <a:r>
              <a:rPr lang="ar-SA" altLang="en-US" sz="1650" b="1" dirty="0">
                <a:solidFill>
                  <a:srgbClr val="1B3B6F"/>
                </a:solidFill>
                <a:latin typeface="Amiri" pitchFamily="34" charset="0"/>
                <a:ea typeface="Amiri" pitchFamily="34" charset="-122"/>
                <a:cs typeface="Amiri" pitchFamily="34" charset="-120"/>
              </a:rPr>
              <a:t>تُلْزَمُ الدُّوَلُ</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الامْتِثَالِ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89" name="Shape 86"/>
          <p:cNvSpPr/>
          <p:nvPr/>
        </p:nvSpPr>
        <p:spPr>
          <a:xfrm>
            <a:off x="8278368" y="48737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1" name="Text 88"/>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92" name="Shape 89"/>
          <p:cNvSpPr/>
          <p:nvPr/>
        </p:nvSpPr>
        <p:spPr>
          <a:xfrm>
            <a:off x="8278368" y="53309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4" name="Text 91"/>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95" name="Shape 92"/>
          <p:cNvSpPr/>
          <p:nvPr/>
        </p:nvSpPr>
        <p:spPr>
          <a:xfrm>
            <a:off x="8278368" y="5788152"/>
            <a:ext cx="256032" cy="256032"/>
          </a:xfrm>
          <a:prstGeom prst="ellipse">
            <a:avLst/>
          </a:prstGeom>
          <a:solidFill>
            <a:srgbClr val="F4F1EA"/>
          </a:solidFill>
          <a:ln w="12700">
            <a:solidFill>
              <a:srgbClr val="F4F1EA"/>
            </a:solidFill>
            <a:prstDash val="solid"/>
          </a:ln>
        </p:spPr>
      </p:sp>
      <p:sp>
        <p:nvSpPr>
          <p:cNvPr id="96" name="Text 93"/>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7" name="Text 94"/>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49 / 52</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Connector:</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34" charset="0"/>
                <a:ea typeface="Amiri" pitchFamily="34" charset="-122"/>
                <a:cs typeface="Amiri" pitchFamily="34" charset="-120"/>
              </a:rPr>
              <a:t>وَبِنَاءً عَلَى مَا سَبَقَ</a:t>
            </a:r>
            <a:pPr algn="l" indent="0" marL="0">
              <a:buNone/>
            </a:pPr>
            <a:r>
              <a:rPr lang="en-US" sz="1450" b="1" dirty="0">
                <a:solidFill>
                  <a:srgbClr val="1F2A37"/>
                </a:solidFill>
                <a:latin typeface="Calibri" pitchFamily="34" charset="0"/>
                <a:ea typeface="Calibri" pitchFamily="34" charset="-122"/>
                <a:cs typeface="Calibri" pitchFamily="34" charset="-120"/>
              </a:rPr>
              <a:t> signals …</a:t>
            </a:r>
            <a:endParaRPr lang="en-US" sz="145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new point</a:t>
            </a:r>
            <a:endParaRPr lang="en-US" sz="125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synthesising conclusion</a:t>
            </a:r>
            <a:endParaRPr lang="en-US" sz="125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condition</a:t>
            </a:r>
            <a:endParaRPr lang="en-US" sz="125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It opens the synthesising conclusion.</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3"/>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Connector:</a:t>
            </a:r>
            <a:endParaRPr lang="en-US" sz="1200" dirty="0"/>
          </a:p>
        </p:txBody>
      </p:sp>
      <p:sp>
        <p:nvSpPr>
          <p:cNvPr id="36" name="Text 34"/>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34" charset="0"/>
                <a:ea typeface="Amiri" pitchFamily="34" charset="-122"/>
                <a:cs typeface="Amiri" pitchFamily="34" charset="-120"/>
              </a:rPr>
              <a:t>وَخُلَاصَةُ القَوْلِ</a:t>
            </a:r>
            <a:pPr algn="l" indent="0" marL="0">
              <a:buNone/>
            </a:pPr>
            <a:r>
              <a:rPr lang="en-US" sz="1450" b="1" dirty="0">
                <a:solidFill>
                  <a:srgbClr val="1F2A37"/>
                </a:solidFill>
                <a:latin typeface="Calibri" pitchFamily="34" charset="0"/>
                <a:ea typeface="Calibri" pitchFamily="34" charset="-122"/>
                <a:cs typeface="Calibri" pitchFamily="34" charset="-120"/>
              </a:rPr>
              <a:t> means …</a:t>
            </a:r>
            <a:endParaRPr lang="en-US" sz="1450" dirty="0"/>
          </a:p>
        </p:txBody>
      </p:sp>
      <p:sp>
        <p:nvSpPr>
          <p:cNvPr id="37" name="Shape 35"/>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8" name="Shape 36"/>
          <p:cNvSpPr/>
          <p:nvPr/>
        </p:nvSpPr>
        <p:spPr>
          <a:xfrm>
            <a:off x="4459224" y="2490216"/>
            <a:ext cx="256032" cy="256032"/>
          </a:xfrm>
          <a:prstGeom prst="ellipse">
            <a:avLst/>
          </a:prstGeom>
          <a:solidFill>
            <a:srgbClr val="2E8B57"/>
          </a:solidFill>
          <a:ln w="12700">
            <a:solidFill>
              <a:srgbClr val="2E8B57"/>
            </a:solidFill>
            <a:prstDash val="solid"/>
          </a:ln>
        </p:spPr>
      </p:sp>
      <p:sp>
        <p:nvSpPr>
          <p:cNvPr id="39" name="Text 37"/>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0" name="Text 38"/>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summary</a:t>
            </a:r>
            <a:endParaRPr lang="en-US" sz="1250" dirty="0"/>
          </a:p>
        </p:txBody>
      </p:sp>
      <p:sp>
        <p:nvSpPr>
          <p:cNvPr id="41" name="Shape 39"/>
          <p:cNvSpPr/>
          <p:nvPr/>
        </p:nvSpPr>
        <p:spPr>
          <a:xfrm>
            <a:off x="4459224" y="2862072"/>
            <a:ext cx="256032" cy="256032"/>
          </a:xfrm>
          <a:prstGeom prst="ellipse">
            <a:avLst/>
          </a:prstGeom>
          <a:solidFill>
            <a:srgbClr val="C9CED6"/>
          </a:solidFill>
          <a:ln w="12700">
            <a:solidFill>
              <a:srgbClr val="C9CED6"/>
            </a:solidFill>
            <a:prstDash val="solid"/>
          </a:ln>
        </p:spPr>
      </p:sp>
      <p:sp>
        <p:nvSpPr>
          <p:cNvPr id="42" name="Text 40"/>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3" name="Text 41"/>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for example</a:t>
            </a:r>
            <a:endParaRPr lang="en-US" sz="1250" dirty="0"/>
          </a:p>
        </p:txBody>
      </p:sp>
      <p:sp>
        <p:nvSpPr>
          <p:cNvPr id="44" name="Shape 42"/>
          <p:cNvSpPr/>
          <p:nvPr/>
        </p:nvSpPr>
        <p:spPr>
          <a:xfrm>
            <a:off x="4459224" y="323392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6" name="Text 44"/>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despite</a:t>
            </a:r>
            <a:endParaRPr lang="en-US" sz="1250" dirty="0"/>
          </a:p>
        </p:txBody>
      </p:sp>
      <p:sp>
        <p:nvSpPr>
          <p:cNvPr id="47" name="Text 4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وَخُلَاصَةُ القَوْلِ</a:t>
            </a:r>
            <a:pPr algn="l" indent="0" marL="0">
              <a:buNone/>
            </a:pPr>
            <a:r>
              <a:rPr lang="en-US" sz="1050" i="1" dirty="0">
                <a:solidFill>
                  <a:srgbClr val="8A6D1E"/>
                </a:solidFill>
                <a:latin typeface="Calibri" pitchFamily="34" charset="0"/>
                <a:ea typeface="Calibri" pitchFamily="34" charset="-122"/>
                <a:cs typeface="Calibri" pitchFamily="34" charset="-120"/>
              </a:rPr>
              <a:t> means in summary.</a:t>
            </a:r>
            <a:endParaRPr lang="en-US" sz="1050" dirty="0"/>
          </a:p>
        </p:txBody>
      </p:sp>
      <p:sp>
        <p:nvSpPr>
          <p:cNvPr id="48" name="Shape 4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1" name="Text 49"/>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Trigger:</a:t>
            </a:r>
            <a:endParaRPr lang="en-US" sz="1200" dirty="0"/>
          </a:p>
        </p:txBody>
      </p:sp>
      <p:sp>
        <p:nvSpPr>
          <p:cNvPr id="52" name="Text 50"/>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34" charset="0"/>
                <a:ea typeface="Amiri" pitchFamily="34" charset="-122"/>
                <a:cs typeface="Amiri" pitchFamily="34" charset="-120"/>
              </a:rPr>
              <a:t>يَرْفُضُ أَنْ</a:t>
            </a:r>
            <a:pPr algn="l" indent="0" marL="0">
              <a:buNone/>
            </a:pPr>
            <a:r>
              <a:rPr lang="en-US" sz="1450" b="1" dirty="0">
                <a:solidFill>
                  <a:srgbClr val="1F2A37"/>
                </a:solidFill>
                <a:latin typeface="Calibri" pitchFamily="34" charset="0"/>
                <a:ea typeface="Calibri" pitchFamily="34" charset="-122"/>
                <a:cs typeface="Calibri" pitchFamily="34" charset="-120"/>
              </a:rPr>
              <a:t> signals …</a:t>
            </a:r>
            <a:endParaRPr lang="en-US" sz="1450" dirty="0"/>
          </a:p>
        </p:txBody>
      </p:sp>
      <p:sp>
        <p:nvSpPr>
          <p:cNvPr id="53" name="Shape 51"/>
          <p:cNvSpPr/>
          <p:nvPr/>
        </p:nvSpPr>
        <p:spPr>
          <a:xfrm>
            <a:off x="8278368" y="2490216"/>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5" name="Text 53"/>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concession</a:t>
            </a:r>
            <a:endParaRPr lang="en-US" sz="1250" dirty="0"/>
          </a:p>
        </p:txBody>
      </p:sp>
      <p:sp>
        <p:nvSpPr>
          <p:cNvPr id="56" name="Shape 54"/>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5"/>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8" name="Text 56"/>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purpose</a:t>
            </a:r>
            <a:endParaRPr lang="en-US" sz="1250" dirty="0"/>
          </a:p>
        </p:txBody>
      </p:sp>
      <p:sp>
        <p:nvSpPr>
          <p:cNvPr id="59" name="Shape 57"/>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60" name="Shape 58"/>
          <p:cNvSpPr/>
          <p:nvPr/>
        </p:nvSpPr>
        <p:spPr>
          <a:xfrm>
            <a:off x="8278368" y="3233928"/>
            <a:ext cx="256032" cy="256032"/>
          </a:xfrm>
          <a:prstGeom prst="ellipse">
            <a:avLst/>
          </a:prstGeom>
          <a:solidFill>
            <a:srgbClr val="2E8B57"/>
          </a:solidFill>
          <a:ln w="12700">
            <a:solidFill>
              <a:srgbClr val="2E8B57"/>
            </a:solidFill>
            <a:prstDash val="solid"/>
          </a:ln>
        </p:spPr>
      </p:sp>
      <p:sp>
        <p:nvSpPr>
          <p:cNvPr id="61" name="Text 59"/>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2" name="Text 60"/>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refusal</a:t>
            </a:r>
            <a:endParaRPr lang="en-US" sz="1250" dirty="0"/>
          </a:p>
        </p:txBody>
      </p:sp>
      <p:sp>
        <p:nvSpPr>
          <p:cNvPr id="63" name="Text 61"/>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يَرْفُضُ أَنْ</a:t>
            </a:r>
            <a:pPr algn="l" indent="0" marL="0">
              <a:buNone/>
            </a:pPr>
            <a:r>
              <a:rPr lang="en-US" sz="1050" i="1" dirty="0">
                <a:solidFill>
                  <a:srgbClr val="8A6D1E"/>
                </a:solidFill>
                <a:latin typeface="Calibri" pitchFamily="34" charset="0"/>
                <a:ea typeface="Calibri" pitchFamily="34" charset="-122"/>
                <a:cs typeface="Calibri" pitchFamily="34" charset="-120"/>
              </a:rPr>
              <a:t> signals a refusal.</a:t>
            </a:r>
            <a:endParaRPr lang="en-US" sz="1050" dirty="0"/>
          </a:p>
        </p:txBody>
      </p:sp>
      <p:sp>
        <p:nvSpPr>
          <p:cNvPr id="64" name="Shape 6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3"/>
          <p:cNvSpPr/>
          <p:nvPr/>
        </p:nvSpPr>
        <p:spPr>
          <a:xfrm>
            <a:off x="585216" y="4288536"/>
            <a:ext cx="310896" cy="310896"/>
          </a:xfrm>
          <a:prstGeom prst="ellipse">
            <a:avLst/>
          </a:prstGeom>
          <a:solidFill>
            <a:srgbClr val="1B3B6F"/>
          </a:solidFill>
          <a:ln w="12700">
            <a:solidFill>
              <a:srgbClr val="1B3B6F"/>
            </a:solidFill>
            <a:prstDash val="solid"/>
          </a:ln>
        </p:spPr>
      </p:sp>
      <p:sp>
        <p:nvSpPr>
          <p:cNvPr id="66" name="Text 6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7" name="Text 6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Refusal: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يَرْفُضُ النَّاشِطُونَ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الازْدِوَاجِيَّةُ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8" name="Shape 66"/>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8"/>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تَسْتَمِرُّ</a:t>
            </a:r>
            <a:endParaRPr lang="ar-SA" sz="1700" dirty="0"/>
          </a:p>
        </p:txBody>
      </p:sp>
      <p:sp>
        <p:nvSpPr>
          <p:cNvPr id="71" name="Shape 69"/>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تَسْتَمِرْ</a:t>
            </a:r>
            <a:endParaRPr lang="ar-SA" sz="1700" dirty="0"/>
          </a:p>
        </p:txBody>
      </p:sp>
      <p:sp>
        <p:nvSpPr>
          <p:cNvPr id="74" name="Shape 72"/>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3"/>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7" name="Text 75"/>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تَسْتَمِرَّ</a:t>
            </a:r>
            <a:endParaRPr lang="ar-SA" sz="1700" dirty="0"/>
          </a:p>
        </p:txBody>
      </p:sp>
      <p:sp>
        <p:nvSpPr>
          <p:cNvPr id="78" name="Text 76"/>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the verb is subjunctive: </a:t>
            </a:r>
            <a:pPr algn="l" indent="0" marL="0">
              <a:buNone/>
            </a:pPr>
            <a:r>
              <a:rPr lang="ar-SA" altLang="en-US" sz="1350" dirty="0">
                <a:solidFill>
                  <a:srgbClr val="8A6D1E"/>
                </a:solidFill>
                <a:latin typeface="Amiri" pitchFamily="34" charset="0"/>
                <a:ea typeface="Amiri" pitchFamily="34" charset="-122"/>
                <a:cs typeface="Amiri" pitchFamily="34" charset="-120"/>
              </a:rPr>
              <a:t>تَسْتَمِرَّ</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9" name="Shape 7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8"/>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2" name="Text 8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Passive: which is “is violated”?</a:t>
            </a:r>
            <a:endParaRPr lang="en-US" sz="1250" dirty="0"/>
          </a:p>
        </p:txBody>
      </p:sp>
      <p:sp>
        <p:nvSpPr>
          <p:cNvPr id="83"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4"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5"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6"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يُنْتَهَكُ</a:t>
            </a:r>
            <a:endParaRPr lang="ar-SA" sz="1700" dirty="0"/>
          </a:p>
        </p:txBody>
      </p:sp>
      <p:sp>
        <p:nvSpPr>
          <p:cNvPr id="87"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يَنْتَهِكُ</a:t>
            </a:r>
            <a:endParaRPr lang="ar-SA" sz="1700" dirty="0"/>
          </a:p>
        </p:txBody>
      </p:sp>
      <p:sp>
        <p:nvSpPr>
          <p:cNvPr id="90"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1"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انْتَهَكَ</a:t>
            </a:r>
            <a:endParaRPr lang="ar-SA" sz="1700" dirty="0"/>
          </a:p>
        </p:txBody>
      </p:sp>
      <p:sp>
        <p:nvSpPr>
          <p:cNvPr id="93"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يُنْتَهَكُ</a:t>
            </a:r>
            <a:pPr algn="l" indent="0" marL="0">
              <a:buNone/>
            </a:pPr>
            <a:r>
              <a:rPr lang="en-US" sz="1050" i="1" dirty="0">
                <a:solidFill>
                  <a:srgbClr val="8A6D1E"/>
                </a:solidFill>
                <a:latin typeface="Calibri" pitchFamily="34" charset="0"/>
                <a:ea typeface="Calibri" pitchFamily="34" charset="-122"/>
                <a:cs typeface="Calibri" pitchFamily="34" charset="-120"/>
              </a:rPr>
              <a:t> is the Form VIII passive.</a:t>
            </a:r>
            <a:endParaRPr lang="en-US" sz="1050" dirty="0"/>
          </a:p>
        </p:txBody>
      </p:sp>
      <p:sp>
        <p:nvSpPr>
          <p:cNvPr id="94" name="Shape 92"/>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5" name="Shape 93"/>
          <p:cNvSpPr/>
          <p:nvPr/>
        </p:nvSpPr>
        <p:spPr>
          <a:xfrm>
            <a:off x="8223504" y="4288536"/>
            <a:ext cx="310896" cy="310896"/>
          </a:xfrm>
          <a:prstGeom prst="ellipse">
            <a:avLst/>
          </a:prstGeom>
          <a:solidFill>
            <a:srgbClr val="1B3B6F"/>
          </a:solidFill>
          <a:ln w="12700">
            <a:solidFill>
              <a:srgbClr val="1B3B6F"/>
            </a:solidFill>
            <a:prstDash val="solid"/>
          </a:ln>
        </p:spPr>
      </p:sp>
      <p:sp>
        <p:nvSpPr>
          <p:cNvPr id="96" name="Text 94"/>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7" name="Text 95"/>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Passive: complete the preposition — </a:t>
            </a:r>
            <a:pPr algn="l" indent="0" marL="0">
              <a:buNone/>
            </a:pPr>
            <a:r>
              <a:rPr lang="ar-SA" altLang="en-US" sz="1650" b="1" dirty="0">
                <a:solidFill>
                  <a:srgbClr val="1B3B6F"/>
                </a:solidFill>
                <a:latin typeface="Amiri" pitchFamily="34" charset="0"/>
                <a:ea typeface="Amiri" pitchFamily="34" charset="-122"/>
                <a:cs typeface="Amiri" pitchFamily="34" charset="-120"/>
              </a:rPr>
              <a:t>تُلْزَمُ الدُّوَلُ</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الامْتِثَالِ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98" name="Shape 96"/>
          <p:cNvSpPr/>
          <p:nvPr/>
        </p:nvSpPr>
        <p:spPr>
          <a:xfrm>
            <a:off x="8278368" y="4831080"/>
            <a:ext cx="256032" cy="256032"/>
          </a:xfrm>
          <a:prstGeom prst="ellipse">
            <a:avLst/>
          </a:prstGeom>
          <a:solidFill>
            <a:srgbClr val="C9CED6"/>
          </a:solidFill>
          <a:ln w="12700">
            <a:solidFill>
              <a:srgbClr val="C9CED6"/>
            </a:solidFill>
            <a:prstDash val="solid"/>
          </a:ln>
        </p:spPr>
      </p:sp>
      <p:sp>
        <p:nvSpPr>
          <p:cNvPr id="99" name="Text 97"/>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100" name="Text 98"/>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101" name="Shape 99"/>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2" name="Shape 100"/>
          <p:cNvSpPr/>
          <p:nvPr/>
        </p:nvSpPr>
        <p:spPr>
          <a:xfrm>
            <a:off x="8278368" y="5202936"/>
            <a:ext cx="256032" cy="256032"/>
          </a:xfrm>
          <a:prstGeom prst="ellipse">
            <a:avLst/>
          </a:prstGeom>
          <a:solidFill>
            <a:srgbClr val="2E8B57"/>
          </a:solidFill>
          <a:ln w="12700">
            <a:solidFill>
              <a:srgbClr val="2E8B57"/>
            </a:solidFill>
            <a:prstDash val="solid"/>
          </a:ln>
        </p:spPr>
      </p:sp>
      <p:sp>
        <p:nvSpPr>
          <p:cNvPr id="103" name="Text 101"/>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04" name="Text 102"/>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بِـ</a:t>
            </a:r>
            <a:endParaRPr lang="ar-SA" sz="1700" dirty="0"/>
          </a:p>
        </p:txBody>
      </p:sp>
      <p:sp>
        <p:nvSpPr>
          <p:cNvPr id="105" name="Shape 103"/>
          <p:cNvSpPr/>
          <p:nvPr/>
        </p:nvSpPr>
        <p:spPr>
          <a:xfrm>
            <a:off x="8278368" y="5574792"/>
            <a:ext cx="256032" cy="256032"/>
          </a:xfrm>
          <a:prstGeom prst="ellipse">
            <a:avLst/>
          </a:prstGeom>
          <a:solidFill>
            <a:srgbClr val="C9CED6"/>
          </a:solidFill>
          <a:ln w="12700">
            <a:solidFill>
              <a:srgbClr val="C9CED6"/>
            </a:solidFill>
            <a:prstDash val="solid"/>
          </a:ln>
        </p:spPr>
      </p:sp>
      <p:sp>
        <p:nvSpPr>
          <p:cNvPr id="106" name="Text 104"/>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7" name="Text 105"/>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a:t>
            </a:r>
            <a:endParaRPr lang="ar-SA" sz="1700" dirty="0"/>
          </a:p>
        </p:txBody>
      </p:sp>
      <p:sp>
        <p:nvSpPr>
          <p:cNvPr id="108" name="Text 106"/>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يُلْزَمُ</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بِـ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109"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50 / 52</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TE-L10 · Global Connections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TE-L11: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TE-L11 · Topic E Integrated Communication Workshop</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الطَّلَاقَةُ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fluency</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دَعْنِي أُفَكِّرُ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let me think</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عَفْوًا، أَقْصِدُ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sorry, I mean</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عَلَى حَدِّ عِلْمِي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as far as I know</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لَا أُعَمِّمُ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 do not generalise</a:t>
            </a:r>
            <a:pPr indent="0" marL="0">
              <a:buNone/>
            </a:pPr>
            <a:r>
              <a:rPr lang="en-US" sz="1000" i="1" dirty="0">
                <a:solidFill>
                  <a:srgbClr val="5A6472"/>
                </a:solidFill>
                <a:latin typeface="Calibri" pitchFamily="34" charset="0"/>
                <a:ea typeface="Calibri" pitchFamily="34" charset="-122"/>
                <a:cs typeface="Calibri" pitchFamily="34" charset="-120"/>
              </a:rPr>
              <a:t>  يُعَمِّمُ 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Prepare a 30-second answer: “How does your family celebrate Eid?” — one past verb, one present verb and one hedge.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فِي الطُّفُولَةِ كُنَّا … · الآنَ نَحْتَفِلُ … · وَفِي بَعْضِ العَائِلَاتِ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one refusal (yarfuḍu an) and one conclusion (wa-bināʾan ʿalā mā sabaqa) about global justice.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Add a law passive and a Type 2 counterfactual (110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writing task: a 110–120-word global-justice analysis.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51 / 52</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TE-L10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TE-L11 · Topic E Integrated Communication Workshop</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وَرْشَةُ التَّوَاصُلِ المُتَكَامِلِ لِلْمِحْوَرِ هـ</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learn the 5 words for TE-L11.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TE-L10 · International Life and Global Connections</dc:title>
  <dc:subject>PptxGenJS Presentation</dc:subject>
  <dc:creator>Al Madina Online School · Arabic Department</dc:creator>
  <cp:lastModifiedBy>Al Madina Online School · Arabic Department</cp:lastModifiedBy>
  <cp:revision>1</cp:revision>
  <dcterms:created xsi:type="dcterms:W3CDTF">2026-10-11T04:23:26Z</dcterms:created>
  <dcterms:modified xsi:type="dcterms:W3CDTF">2026-10-11T04:23:26Z</dcterms:modified>
</cp:coreProperties>
</file>