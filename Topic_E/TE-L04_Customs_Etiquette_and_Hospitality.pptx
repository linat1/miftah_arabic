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Lst>
  <p:notesMasterIdLst>
    <p:notesMasterId r:id="rId51"/>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notesMaster" Target="notesMasters/notes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ADVANCED TOPIC E · TE-L04 — Customs, Etiquette and Hospitality. Website: Advanced Topics › Topic E (The International World) › Lesson 4.
The website builds this lesson on the D6-L02 lesson engine, with the Topic focus “Understand and compare courteous behaviour and hospitality traditions.” (grammar: Imperatives; advice; comparison and contrast; skills: Listening · Reading) and the application challenge “Customs and etiquette sort”. This deck follows the same engine, re-sequenced for Topic E: lesson references now point to Topic E codes (lessons outside Topic E keep their website code), and the challenge is added before the speaking task.
No year group: Topic lessons are taught to any class following the Advanced Topics route.
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Topic E Countries, Cultures and Celebrations › TE-L04. The website lesson “Cultural Customs — Traditions, Greetings and Social Norms”: vocabulary, grammar rules and quiz, patterns, common mistakes, sorter, listening, reading, speaking prompts and model, writing task and model, differentiation, final check and the lesson mission. Picture match: website visual game “Cultural Customs — Traditions, Greetings and Social Norms”.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10 customs words + five sentences, each cultural verb with its preposition (يَعْتَادُ النَّاسُ عَلَى الضِّيَافَةِ). Develop: a contrast with بَيْنَمَا and one hedge. Stretch: the website 80–90-word comparison with مِنْ نَاحِيَةٍ … وَمِنْ نَاحِيَةٍ أُخْرَى and an explicit rejection of the stereotype.
• This lesson connects directly to adab: hospitality (الضِّيَافَةُ), respect for elders and صِلَةُ الرَّحِمِ are values students know from home and from Islamic Studies — invite their own family examples.
• Website accuracy rule: describe what you observed (فِي بَعْضِ العَائِلَاتِ), not what “all Arabs” do. Note: two website texts say تُقَدَّمُ الشَّايُ — الشَّايُ is masculine, so the decks show يُقَدَّمُ الشَّايُ.
• TEACHER-WRITTEN ITEMS: gender-agreement slips corrected throughout (يُقَدَّمُ الشَّايُ · تُقَدَّمُ القَهْوَةُ), and English added to the patterns and speaking model.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home at the end of TE-L01. Questions 4–5 retrieve TE-L01 (diptotes) and the hedging language from D5-L06 (website) / TE-L01.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Customs differ by country, region and family — so describe what you saw, and hedge.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ضیافت، کرم، صلہ رحمی are shared — and صلہ رحمی is taught in Islamic Studies. CAREFUL: Urdu تقلید = imitation / following (a madhhab); Arabic تَقْلِيدٌ also means a tradition (تَقَالِيدُ = traditions).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Customs and values (website vocabulary (1 of 2)). Hear → Say → See → Use. Transliteration is printed for Core students (cover it for Develop/Stretch).
Customs and values. Plurals with -āt or broken plurals (تَقَالِيدُ · مَعَايِيرُ are diptotes: no tanwīn).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Customs and values (website vocabulary (2 of 2)). Hear → Say → See → Use. Transliteration is printed for Core students (cover it for Develop/Stretch).
Customs and values. Plurals with -āt or broken plurals (تَقَالِيدُ · مَعَايِيرُ are diptotes: no tanwīn).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Cultural verbs (website vocabulary (1 of 2)). Hear → Say → See → Use. Transliteration is printed for Core students (cover it for Develop/Stretch).
Cultural verbs: each card shows she / past. Learn verb + preposition as ONE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Cultural verbs (website vocabulary (2 of 2)). Hear → Say → See → Use. Transliteration is printed for Core students (cover it for Develop/Stretch).
Cultural verbs: each card shows she / past. Learn verb + preposition as ONE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Comparing and qualifying (website vocabulary (1 of 2)). Hear → Say → See → Use. Transliteration is printed for Core students (cover it for Develop/Stretch).
Comparing and qualifying: the language that keeps a cultural comparison accurate and fair.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Comparing and qualifying (website vocabulary (2 of 2)). Hear → Say → See → Use. Transliteration is printed for Core students (cover it for Develop/Stretch).
Comparing and qualifying: the language that keeps a cultural comparison accurate and fair.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 “Cultural verbs and their prepositions” (each preposition is fixed, and the noun after it is genitive). Website teaching point: “Each cultural verb keeps its own preposition … swapping them is the most common error in this topic.”
Website mistakes: يَعْتَادُ النَّاسُ بِالضِّيَافَةِ ✗ · تَحْتَفِلُ العَائِلَةُ المُنَاسَبَةَ ✗. Many students “belong to two cultures” — يَنْتَمِي إِلَى ثَقَافَتَيْنِ is a lovely personal sentence for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rules “Contrast with بَيْنَمَا” (joins two full clauses that genuinely differ), “Two-sided comparison” and “Hedging a cultural claim” (a hedge turns a false universal into an accurate observation). Website teaching point: “Describe what you observed, not what everyone does.”
Agreement check in card 1: القَهْوَةُ is feminine → تُقَدَّمُ; الشَّايُ is masculine → يُقَدَّمُ.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“Three things to control: the preposition on each cultural verb, the structure of a contrast, and the hedge that keeps your claim honest.”
• Cultural verbs and their prepositions: Each preposition is fixed, and the noun after it is genitive.
• Contrast with بَيْنَمَا: بَيْنَمَا joins two full clauses that genuinely differ. It is not used for a simple list.
• Two-sided comparison: This pair balances two aspects of the same topic and is valued in the Range criterion.
• Hedging a cultural claim: A hedge turns a false universal into an accurate observation.
Website common error: Beginning a sentence with كُلُّ العَرَبِ. Customs differ by country, by region and by family, so a universal claim is almost always wrong. Use فِي بَعْضِ … or أَحْيَانًا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5, 7.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from the website writing model. Think aloud: “Which preposition does this verb take? Am I describing everyone, or what I saw? Is this a contrast of two full clauses?” Then ask students for their own family’s guest custom.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(“Hospitality &amp; Etiquette (Topic game)”)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TOPIC E GAME “Hospitality &amp; Etiquette”: greeting at a visit, thanking the host, asking respectfully about a custom.
Website feedback lines: The scene shows greeting at a visit. · The tea and food show hospitality. · The safest response is to ask respectfully.
FLEX: use it after the model sentences if the class is secure, or as the next lesson’s warm-up.
This is the website TOPIC game for this lesson (Advanced Topics page), not the pathway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(“Hospitality &amp; Etiquette (Topic game)”)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TOPIC E GAME “Hospitality &amp; Etiquette”: greeting at a visit, thanking the host, asking respectfully about a custom.
Website feedback lines: The scene shows greeting at a visit. · The tea and food show hospitality. · The safest response is to ask respectfully.
FLEX: use it after the model sentences if the class is secure, or as the next lesson’s warm-up.
This is the website TOPIC game for this lesson (Advanced Topics page), not the pathway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Cultural Customs — Traditions, Greetings and Social Norms”)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Then add a hedge to each: فِي بَعْضِ البُلْدَانِ … Other website cards: architecture, traditional clothes, traditional dishes.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Cultural Customs — Traditions, Greetings and Social Norms”)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Then add a hedge to each: فِي بَعْضِ البُلْدَانِ … Other website cards: architecture, traditional clothes, traditional dishes.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say one sentence for each column with a custom from YOUR family.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say one sentence for each column with a custom from YOUR family.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3, 4, 6,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5. Develop / Stretch: all 5 — and note every hedge you hear.
Listen 1: just listen. Listen 2: note answers. Then chat the letters.
Support: after the second listening, show the read-along slide (Arabic + English, line by line) for Core students.
SCRIPT (read aloud):
نُورُ: فِي بَعْضِ العَائِلَاتِ عِنْدَنَا يَعْتَادُ النَّاسُ عَلَى تَقْدِيمِ القَهْوَةِ لِلضَّيْفِ أَوَّلًا، بَيْنَمَا يُقَدَّمُ الشَّايُ فِي بُلْدَانٍ أُخْرَى. سَامِي: وَعِنْدَنَا يَتَمَسَّكُ الكِبَارُ بِصِلَةِ الرَّحِمِ، فَنَزُورُ الأَقَارِبَ كُلَّ أُسْبُوعٍ تَقْرِيبًا. نُورُ: وَهَلْ تَحْتَفِلُونَ بِالمُنَاسَبَاتِ فِي البَيْتِ؟ سَامِي: أَحْيَانًا، وَلَيْسَ دَائِمًا؛ فَالأَمْرُ يَخْتَلِفُ مِنْ أُسْرَةٍ إِلَى أُسْرَةٍ. نُورُ: هٰذَا صَحِيحٌ. لَا يَجُوزُ أَنْ نَقُولَ إِنَّ كُلَّ العَرَبِ يَفْعَلُونَ الشَّيْءَ نَفْسَهُ.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TOPIC E APPLICATION CHALLENGE (5 min — it takes the speaking-rehearsal slot; the website speaking slide after it is FLEX) — from the website Topic page: “Classify greetings, hospitality and social behaviours by situation, then advise a respectful visitor what to do, avoid or ask about.”
Website Topic E challenge “Customs and etiquette sort”. Behaviours: خَلْعُ الحِذَاءِ عِنْدَ البَابِ · المُصَافَحَةُ · تَقْدِيمُ القَهْوَةِ لِلضَّيْفِ · الأَكْلُ بِاليَدِ اليُمْنَى · رَفْضُ الطَّعَامِ · إِحْضَارُ هَدِيَّةٍ · الحَدِيثُ بِصَوْتٍ عَالٍ · الانْصِرَافُ بَعْدَ القَهْوَةِ. Hedge: customs differ between families and countries — avoid “all Arabs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FLEX — the Topic E challenge before this slide is the main speaking task; use these website prompts if time allows or as homework rehearsal.
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وَهَلِ الأَمْرُ نَفْسُهُ فِي كُلِّ مَكَانٍ؟ (And is it the same everywhere?)
B: لَيْسَ دَائِمًا؛ بَيْنَمَا يُقَدَّمُ الشَّايُ فِي بُلْدَانٍ أُخْرَى، وَالأَمْرُ يَخْتَلِفُ مِنْ أُسْرَةٍ إِلَى أُسْرَةٍ. (Not always — tea is served in other countries, and it differs from family to family.)
Website prompts and model. Students describe a REAL custom from their own family (guests, Eid visits, greeting elders). To a girl: صِفِي · قَارِنِي · تَتَجَنَّبِينَ.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(9 min writing). Steer routes using the Do Now and quick-check results.
Website differentiation tasks: Core — Write five sentences naming customs, each with the correct preposition on its verb. · Develop — Add a contrast with بَيْنَمَا and one hedge. · Stretch — Balance the comparison with مِنْ نَاحِيَةٍ … وَمِنْ نَاحِيَةٍ أُخْرَى and close by naming the stereotype trap explicitly.
Website writing task (Stretch): Write eighty to ninety words comparing a custom you know with one from an Arab country. Use بَيْنَمَا for the contrast, at least two cultural verbs with their correct prepositions, and one hedge so the comparison does not become a generalisation.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writing model. Evidence: يَعْتَادُ … عَلَى · بَيْنَمَا نُقَدِّمُ … · يَتَمَسَّكُ … بِصِلَةِ الرَّحِمِ · مِنْ نَاحِيَةٍ … وَمِنْ نَاحِيَةٍ أُخْرَى · فِي بَعْضِ العَائِلَاتِ · لَيْسَ دَائِمًا.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(TE-L05 · Faiths, Beliefs and Places of Worship) will spend class time USING this language, so students prepare it tonight — short, simple, easy to access (school guidance: “Simple, Short, Interesting, Relevant, Easy to access”). The five words come from the website TE-L05 vocabulary (Ramadan and the two Eids).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image" Target="../media/image-21-7.png"/><Relationship Id="rId8" Type="http://schemas.openxmlformats.org/officeDocument/2006/relationships/slideLayout" Target="../slideLayouts/slideLayout1.xml"/><Relationship Id="rId9"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slideLayout" Target="../slideLayouts/slideLayout1.xml"/><Relationship Id="rId9"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1.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slideLayout" Target="../slideLayouts/slideLayout1.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E  ·  TE-L04</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TE-L04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100" b="1" dirty="0">
                <a:solidFill>
                  <a:srgbClr val="FFFFFF"/>
                </a:solidFill>
                <a:latin typeface="Cambria" pitchFamily="34" charset="0"/>
                <a:cs typeface="Amiri" pitchFamily="2" charset="-78"/>
              </a:rPr>
              <a:t>Customs, Etiquette and Hospitality</a:t>
            </a:r>
            <a:endParaRPr lang="en-US" sz="31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العَادَاتُ وَآدَابُ السُّلُوكِ وَالضِّيَافَةُ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Understand and compare courteous behaviour and hospitality traditions.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TE-L04 · Advanced Topic E · The International World</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E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E › TE-L04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TE-L04 · Customs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TE-L04</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49</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TE-L04 · Customs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TE-L04</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Cultural verbs + prepositions, </a:t>
            </a:r>
            <a:pPr algn="ctr" indent="0" marL="0">
              <a:buNone/>
            </a:pPr>
            <a:r>
              <a:rPr lang="ar-SA" altLang="en-US" sz="1550" dirty="0">
                <a:solidFill>
                  <a:srgbClr val="1F2A37"/>
                </a:solidFill>
                <a:latin typeface="Amiri" pitchFamily="2" charset="-78"/>
                <a:ea typeface="Amiri" pitchFamily="2" charset="-78"/>
                <a:cs typeface="Amiri" pitchFamily="2" charset="-78"/>
              </a:rPr>
              <a:t>بَيْنَمَا</a:t>
            </a:r>
            <a:pPr algn="ctr" indent="0" marL="0">
              <a:buNone/>
            </a:pPr>
            <a:r>
              <a:rPr lang="en-US" sz="1200" dirty="0">
                <a:solidFill>
                  <a:srgbClr val="1F2A37"/>
                </a:solidFill>
                <a:latin typeface="Calibri" pitchFamily="34" charset="0"/>
                <a:cs typeface="Amiri" pitchFamily="2" charset="-78"/>
              </a:rPr>
              <a:t>, and the honest hedge.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verbs by preposition, fix slips, then two students compare customs.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TE-L05.</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49</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TE-L04 · Customs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ضِيَافَةٌ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tradition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hospitality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custom</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احْتِرَامُ الكِبَارِ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respect for elders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family ties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generosity</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يَحْتَفِلُ بِـ</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holds on to</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belongs to</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celebrates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أَنَا مِنْ</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لُبْنَانٍ</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لُبْنَانِيٌّ</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لُبْنَانَ</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avoids a generalisation?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1750" dirty="0">
                <a:solidFill>
                  <a:srgbClr val="1F2A37"/>
                </a:solidFill>
                <a:latin typeface="Amiri" pitchFamily="2" charset="-78"/>
                <a:ea typeface="Amiri" pitchFamily="2" charset="-78"/>
                <a:cs typeface="Amiri" pitchFamily="2" charset="-78"/>
              </a:rPr>
              <a:t>فِي بَعْضِ البُلْدَانِ يُفَضِّلُ النَّاسُ التُّرَاثَ.</a:t>
            </a:r>
            <a:endParaRPr lang="ar-SA" sz="17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1750" dirty="0">
                <a:solidFill>
                  <a:srgbClr val="1F2A37"/>
                </a:solidFill>
                <a:latin typeface="Amiri" pitchFamily="2" charset="-78"/>
                <a:ea typeface="Amiri" pitchFamily="2" charset="-78"/>
                <a:cs typeface="Amiri" pitchFamily="2" charset="-78"/>
              </a:rPr>
              <a:t>كُلُّ العَرَبِ يُفَضِّلُونَ التُّرَاثَ.</a:t>
            </a:r>
            <a:endParaRPr lang="ar-SA" sz="17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1750" dirty="0">
                <a:solidFill>
                  <a:srgbClr val="1F2A37"/>
                </a:solidFill>
                <a:latin typeface="Amiri" pitchFamily="2" charset="-78"/>
                <a:ea typeface="Amiri" pitchFamily="2" charset="-78"/>
                <a:cs typeface="Amiri" pitchFamily="2" charset="-78"/>
              </a:rPr>
              <a:t>العَرَبُ دَائِمًا يُفَضِّلُونَ التُّرَاثَ.</a:t>
            </a:r>
            <a:endParaRPr lang="ar-SA" sz="17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49</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TE-L04 · Customs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ضِيَافَةٌ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tradition</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hospitality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custom</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(TE-L01).</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احْتِرَامُ الكِبَارِ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respect for elders</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family ties</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generosity</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(TE-L01).</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يَحْتَفِلُ بِـ</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holds on to</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belongs to</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 celebrates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(TE-L01).</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أَنَا مِنْ</a:t>
            </a:r>
            <a:pPr algn="l" indent="0" marL="0">
              <a:buNone/>
            </a:pPr>
            <a:r>
              <a:rPr lang="en-US" sz="1250" b="1" dirty="0">
                <a:solidFill>
                  <a:srgbClr val="1B3B6F"/>
                </a:solidFill>
                <a:latin typeface="Calibri" pitchFamily="34" charset="0"/>
                <a:cs typeface="Amiri" pitchFamily="2" charset="-78"/>
              </a:rPr>
              <a:t> ___.</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لُبْنَانٍ</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لُبْنَانِيٌّ</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لُبْنَانَ</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TE-L01: diptotes.</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statement avoids a generalisation?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فِي بَعْضِ البُلْدَانِ يُفَضِّلُ النَّاسُ التُّرَاثَ.</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كُلُّ العَرَبِ يُفَضِّلُونَ التُّرَاثَ.</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العَرَبُ دَائِمًا يُفَضِّلُونَ التُّرَاثَ.</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D5-L06 (website) / TE-L01: hedging.</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Customs differ by country, region and family — so describe what you saw, and hedge.</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فِي بَعْضِ العَائِلَاتِ</a:t>
            </a:r>
            <a:pPr rtl="1" algn="ctr" indent="0" marL="0">
              <a:lnSpc>
                <a:spcPct val="120000"/>
              </a:lnSpc>
              <a:buNone/>
            </a:pPr>
            <a:r>
              <a:rPr lang="ar-SA" altLang="en-US" sz="1950" b="1" dirty="0">
                <a:solidFill>
                  <a:srgbClr val="1B3B6F"/>
                </a:solidFill>
                <a:latin typeface="Amiri" pitchFamily="2" charset="-78"/>
                <a:cs typeface="Amiri" pitchFamily="2" charset="-78"/>
              </a:rPr>
              <a:t>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يَعْتَادُ</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النَّاسُ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عَلَى</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الضِّيَافَةِ</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49</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TE-L04 · Customs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TE-L04</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customs and values (</a:t>
            </a:r>
            <a:pPr algn="l" indent="0" marL="0">
              <a:buNone/>
            </a:pPr>
            <a:r>
              <a:rPr lang="ar-SA" altLang="en-US" sz="1700" dirty="0">
                <a:solidFill>
                  <a:srgbClr val="1F2A37"/>
                </a:solidFill>
                <a:latin typeface="Amiri" pitchFamily="2" charset="-78"/>
                <a:ea typeface="Amiri" pitchFamily="2" charset="-78"/>
                <a:cs typeface="Amiri" pitchFamily="2" charset="-78"/>
              </a:rPr>
              <a:t>ضِيَافَةٌ</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ea typeface="Amiri" pitchFamily="2" charset="-78"/>
                <a:cs typeface="Amiri" pitchFamily="2" charset="-78"/>
              </a:rPr>
              <a:t>كَرَمٌ</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ea typeface="Amiri" pitchFamily="2" charset="-78"/>
                <a:cs typeface="Amiri" pitchFamily="2" charset="-78"/>
              </a:rPr>
              <a:t>صِلَةُ الرَّحِمِ</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ea typeface="Amiri" pitchFamily="2" charset="-78"/>
                <a:cs typeface="Amiri" pitchFamily="2" charset="-78"/>
              </a:rPr>
              <a:t>احْتِرَامُ الكِبَارِ</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cultural verbs with their fixed prepositions.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Contrast two customs with </a:t>
            </a:r>
            <a:pPr algn="l" indent="0" marL="0">
              <a:buNone/>
            </a:pPr>
            <a:r>
              <a:rPr lang="ar-SA" altLang="en-US" sz="1700" dirty="0">
                <a:solidFill>
                  <a:srgbClr val="1F2A37"/>
                </a:solidFill>
                <a:latin typeface="Amiri" pitchFamily="2" charset="-78"/>
                <a:ea typeface="Amiri" pitchFamily="2" charset="-78"/>
                <a:cs typeface="Amiri" pitchFamily="2" charset="-78"/>
              </a:rPr>
              <a:t>بَيْنَمَا</a:t>
            </a:r>
            <a:pPr algn="l" indent="0" marL="0">
              <a:buNone/>
            </a:pPr>
            <a:r>
              <a:rPr lang="en-US" sz="1300" dirty="0">
                <a:solidFill>
                  <a:srgbClr val="1F2A37"/>
                </a:solidFill>
                <a:latin typeface="Calibri" pitchFamily="34" charset="0"/>
                <a:cs typeface="Amiri" pitchFamily="2" charset="-78"/>
              </a:rPr>
              <a:t> and balance two sides.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Hedge cultural claims (</a:t>
            </a:r>
            <a:pPr algn="l" indent="0" marL="0">
              <a:buNone/>
            </a:pPr>
            <a:r>
              <a:rPr lang="ar-SA" altLang="en-US" sz="1700" dirty="0">
                <a:solidFill>
                  <a:srgbClr val="1F2A37"/>
                </a:solidFill>
                <a:latin typeface="Amiri" pitchFamily="2" charset="-78"/>
                <a:ea typeface="Amiri" pitchFamily="2" charset="-78"/>
                <a:cs typeface="Amiri" pitchFamily="2" charset="-78"/>
              </a:rPr>
              <a:t>فِي بَعْضِ العَائِلَاتِ</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ea typeface="Amiri" pitchFamily="2" charset="-78"/>
                <a:cs typeface="Amiri" pitchFamily="2" charset="-78"/>
              </a:rPr>
              <a:t>لَيْسَ دَائِمًا</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10 customs and values.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use one cultural verb with its preposition.</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contrast two customs with </a:t>
            </a:r>
            <a:pPr algn="l" indent="0" marL="0">
              <a:buNone/>
            </a:pPr>
            <a:r>
              <a:rPr lang="ar-SA" altLang="en-US" sz="1700" b="1" dirty="0">
                <a:solidFill>
                  <a:srgbClr val="C9780A"/>
                </a:solidFill>
                <a:latin typeface="Amiri" pitchFamily="2" charset="-78"/>
                <a:ea typeface="Amiri" pitchFamily="2" charset="-78"/>
                <a:cs typeface="Amiri" pitchFamily="2" charset="-78"/>
              </a:rPr>
              <a:t>بَيْنَمَا</a:t>
            </a:r>
            <a:pPr algn="l" indent="0" marL="0">
              <a:buNone/>
            </a:pPr>
            <a:r>
              <a:rPr lang="en-US" sz="1300" b="1" dirty="0">
                <a:solidFill>
                  <a:srgbClr val="C9780A"/>
                </a:solidFill>
                <a:latin typeface="Calibri" pitchFamily="34" charset="0"/>
                <a:cs typeface="Amiri" pitchFamily="2" charset="-78"/>
              </a:rPr>
              <a: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hedge a cultural claim.</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balance two sides (</a:t>
            </a:r>
            <a:pPr algn="l" indent="0" marL="0">
              <a:buNone/>
            </a:pPr>
            <a:r>
              <a:rPr lang="ar-SA" altLang="en-US" sz="1700" b="1" dirty="0">
                <a:solidFill>
                  <a:srgbClr val="B83227"/>
                </a:solidFill>
                <a:latin typeface="Amiri" pitchFamily="2" charset="-78"/>
                <a:ea typeface="Amiri" pitchFamily="2" charset="-78"/>
                <a:cs typeface="Amiri" pitchFamily="2" charset="-78"/>
              </a:rPr>
              <a:t>مِنْ نَاحِيَةٍ</a:t>
            </a:r>
            <a:pPr algn="l" indent="0" marL="0">
              <a:buNone/>
            </a:pPr>
            <a:r>
              <a:rPr lang="en-US" sz="1300" b="1" dirty="0">
                <a:solidFill>
                  <a:srgbClr val="B83227"/>
                </a:solidFill>
                <a:latin typeface="Calibri" pitchFamily="34" charset="0"/>
                <a:cs typeface="Amiri" pitchFamily="2" charset="-78"/>
              </a:rPr>
              <a:t> …).</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name and avoid a stereotype.</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49</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28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Customs and values · 11</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Cultural verbs · 9</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Comparing and qualifying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عَادَةٌ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‎عادت‎ </a:t>
            </a:r>
            <a:pPr indent="0" marL="0">
              <a:buNone/>
            </a:pPr>
            <a:r>
              <a:rPr lang="en-US" sz="950" b="1" dirty="0">
                <a:solidFill>
                  <a:srgbClr val="2E8B57"/>
                </a:solidFill>
                <a:latin typeface="Calibri" pitchFamily="34" charset="0"/>
                <a:cs typeface="Amiri" pitchFamily="2" charset="-78"/>
              </a:rPr>
              <a:t> ʿādat · Urdu: a habit · Arabic: a custom (also a habit)</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تَقْلِيدٌ</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‎تقلید‎ </a:t>
            </a:r>
            <a:pPr indent="0" marL="0">
              <a:buNone/>
            </a:pPr>
            <a:r>
              <a:rPr lang="en-US" sz="950" b="1" dirty="0">
                <a:solidFill>
                  <a:srgbClr val="2E8B57"/>
                </a:solidFill>
                <a:latin typeface="Calibri" pitchFamily="34" charset="0"/>
                <a:cs typeface="Amiri" pitchFamily="2" charset="-78"/>
              </a:rPr>
              <a:t> taqlīd · Urdu: imitation, following · Arabic: a tradition</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ضِيَافَةٌ / ضَيْفٌ</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‎ضیافت / مہمان‎ </a:t>
            </a:r>
            <a:pPr indent="0" marL="0">
              <a:buNone/>
            </a:pPr>
            <a:r>
              <a:rPr lang="en-US" sz="950" b="1" dirty="0">
                <a:solidFill>
                  <a:srgbClr val="2E8B57"/>
                </a:solidFill>
                <a:latin typeface="Calibri" pitchFamily="34" charset="0"/>
                <a:cs typeface="Amiri" pitchFamily="2" charset="-78"/>
              </a:rPr>
              <a:t> ẓiyāfat · hospitality / a guest</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كَرَمٌ</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‎کرم‎ </a:t>
            </a:r>
            <a:pPr indent="0" marL="0">
              <a:buNone/>
            </a:pPr>
            <a:r>
              <a:rPr lang="en-US" sz="950" b="1" dirty="0">
                <a:solidFill>
                  <a:srgbClr val="2E8B57"/>
                </a:solidFill>
                <a:latin typeface="Calibri" pitchFamily="34" charset="0"/>
                <a:cs typeface="Amiri" pitchFamily="2" charset="-78"/>
              </a:rPr>
              <a:t> karam · generosity, kindness</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صِلَةُ الرَّحِمِ</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‎صلہ رحمی‎ </a:t>
            </a:r>
            <a:pPr indent="0" marL="0">
              <a:buNone/>
            </a:pPr>
            <a:r>
              <a:rPr lang="en-US" sz="950" b="1" dirty="0">
                <a:solidFill>
                  <a:srgbClr val="2E8B57"/>
                </a:solidFill>
                <a:latin typeface="Calibri" pitchFamily="34" charset="0"/>
                <a:cs typeface="Amiri" pitchFamily="2" charset="-78"/>
              </a:rPr>
              <a:t> ṣila-e-raḥmī · keeping family ties</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49</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TE-L04 · Customs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Customs and values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Feminine.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عَادَةٌ / عَادَاتٌ</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custom / customs</a:t>
            </a:r>
            <a:endParaRPr lang="en-US" sz="1350" dirty="0"/>
          </a:p>
          <a:p>
            <a:pPr indent="0" marL="0">
              <a:buNone/>
            </a:pPr>
            <a:r>
              <a:rPr lang="en-US" sz="1100" i="1" dirty="0">
                <a:solidFill>
                  <a:srgbClr val="5A6472"/>
                </a:solidFill>
                <a:latin typeface="Calibri" pitchFamily="34" charset="0"/>
                <a:cs typeface="Amiri" pitchFamily="2" charset="-78"/>
              </a:rPr>
              <a:t>ʿā-da-tun / ʿā-dā-tun</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تَقْلِيدٌ / تَقَالِيدُ</a:t>
            </a:r>
            <a:endParaRPr lang="ar-SA" sz="3000" dirty="0"/>
          </a:p>
        </p:txBody>
      </p:sp>
      <p:sp>
        <p:nvSpPr>
          <p:cNvPr id="30" name="Text 27"/>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tradition / traditions</a:t>
            </a:r>
            <a:endParaRPr lang="en-US" sz="1350" dirty="0"/>
          </a:p>
          <a:p>
            <a:pPr indent="0" marL="0">
              <a:buNone/>
            </a:pPr>
            <a:r>
              <a:rPr lang="en-US" sz="1100" i="1" dirty="0">
                <a:solidFill>
                  <a:srgbClr val="5A6472"/>
                </a:solidFill>
                <a:latin typeface="Calibri" pitchFamily="34" charset="0"/>
                <a:cs typeface="Amiri" pitchFamily="2" charset="-78"/>
              </a:rPr>
              <a:t>taq-lī-dun / ta-qā-lī-du</a:t>
            </a:r>
            <a:endParaRPr lang="en-US" sz="1350" dirty="0"/>
          </a:p>
        </p:txBody>
      </p:sp>
      <p:sp>
        <p:nvSpPr>
          <p:cNvPr id="31" name="Text 28"/>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plural </a:t>
            </a:r>
            <a:pPr algn="l" indent="0" marL="0">
              <a:buNone/>
            </a:pPr>
            <a:r>
              <a:rPr lang="ar-SA" altLang="en-US" sz="1300" dirty="0">
                <a:solidFill>
                  <a:srgbClr val="8A6D1E"/>
                </a:solidFill>
                <a:latin typeface="Amiri" pitchFamily="2" charset="-78"/>
                <a:ea typeface="Amiri" pitchFamily="2" charset="-78"/>
                <a:cs typeface="Amiri" pitchFamily="2" charset="-78"/>
              </a:rPr>
              <a:t>تَقَالِيدُ</a:t>
            </a:r>
            <a:pPr algn="l" indent="0" marL="0">
              <a:buNone/>
            </a:pPr>
            <a:r>
              <a:rPr lang="en-US" sz="1000" i="1" dirty="0">
                <a:solidFill>
                  <a:srgbClr val="8A6D1E"/>
                </a:solidFill>
                <a:latin typeface="Calibri" pitchFamily="34" charset="0"/>
                <a:cs typeface="Amiri" pitchFamily="2" charset="-78"/>
              </a:rPr>
              <a:t> is a diptote.</a:t>
            </a:r>
            <a:endParaRPr lang="en-US" sz="1000" dirty="0"/>
          </a:p>
        </p:txBody>
      </p:sp>
      <p:sp>
        <p:nvSpPr>
          <p:cNvPr id="32" name="Shape 2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566928"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5" name="Shape 32"/>
          <p:cNvSpPr/>
          <p:nvPr/>
        </p:nvSpPr>
        <p:spPr>
          <a:xfrm>
            <a:off x="960120" y="1938528"/>
            <a:ext cx="1766621"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960120" y="1938528"/>
            <a:ext cx="176662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The plural is a diptote.</a:t>
            </a:r>
            <a:endParaRPr lang="en-US" sz="800" dirty="0"/>
          </a:p>
        </p:txBody>
      </p:sp>
      <p:sp>
        <p:nvSpPr>
          <p:cNvPr id="37" name="Text 34"/>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مِعْيَارٌ / مَعَايِيرُ</a:t>
            </a:r>
            <a:endParaRPr lang="ar-SA" sz="3000" dirty="0"/>
          </a:p>
        </p:txBody>
      </p:sp>
      <p:sp>
        <p:nvSpPr>
          <p:cNvPr id="38" name="Text 35"/>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norm / norms</a:t>
            </a:r>
            <a:endParaRPr lang="en-US" sz="1350" dirty="0"/>
          </a:p>
          <a:p>
            <a:pPr indent="0" marL="0">
              <a:buNone/>
            </a:pPr>
            <a:r>
              <a:rPr lang="en-US" sz="1100" i="1" dirty="0">
                <a:solidFill>
                  <a:srgbClr val="5A6472"/>
                </a:solidFill>
                <a:latin typeface="Calibri" pitchFamily="34" charset="0"/>
                <a:cs typeface="Amiri" pitchFamily="2" charset="-78"/>
              </a:rPr>
              <a:t>miʿ-yā-run / ma-ʿā-yī-ru</a:t>
            </a:r>
            <a:endParaRPr lang="en-US" sz="135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Feminine.</a:t>
            </a:r>
            <a:endParaRPr lang="en-US" sz="800" dirty="0"/>
          </a:p>
        </p:txBody>
      </p:sp>
      <p:sp>
        <p:nvSpPr>
          <p:cNvPr id="44" name="Shape 4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ضِيَافَةٌ</a:t>
            </a:r>
            <a:endParaRPr lang="ar-SA" sz="3000" dirty="0"/>
          </a:p>
        </p:txBody>
      </p:sp>
      <p:sp>
        <p:nvSpPr>
          <p:cNvPr id="47" name="Text 44"/>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hospitality</a:t>
            </a:r>
            <a:endParaRPr lang="en-US" sz="1350" dirty="0"/>
          </a:p>
          <a:p>
            <a:pPr indent="0" marL="0">
              <a:buNone/>
            </a:pPr>
            <a:r>
              <a:rPr lang="en-US" sz="1100" i="1" dirty="0">
                <a:solidFill>
                  <a:srgbClr val="5A6472"/>
                </a:solidFill>
                <a:latin typeface="Calibri" pitchFamily="34" charset="0"/>
                <a:cs typeface="Amiri" pitchFamily="2" charset="-78"/>
              </a:rPr>
              <a:t>ḍi-yā-fa-tun</a:t>
            </a:r>
            <a:endParaRPr lang="en-US" sz="1350" dirty="0"/>
          </a:p>
        </p:txBody>
      </p:sp>
      <p:sp>
        <p:nvSpPr>
          <p:cNvPr id="48" name="Shape 45"/>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4389120" y="4261104"/>
            <a:ext cx="310896" cy="310896"/>
          </a:xfrm>
          <a:prstGeom prst="ellipse">
            <a:avLst/>
          </a:prstGeom>
          <a:solidFill>
            <a:srgbClr val="F4F1EA"/>
          </a:solidFill>
          <a:ln w="12700">
            <a:solidFill>
              <a:srgbClr val="F4F1EA"/>
            </a:solidFill>
            <a:prstDash val="solid"/>
          </a:ln>
        </p:spPr>
      </p:sp>
      <p:sp>
        <p:nvSpPr>
          <p:cNvPr id="50" name="Text 47"/>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1" name="Shape 48"/>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52" name="Text 49"/>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Masculine.</a:t>
            </a:r>
            <a:endParaRPr lang="en-US" sz="800" dirty="0"/>
          </a:p>
        </p:txBody>
      </p:sp>
      <p:sp>
        <p:nvSpPr>
          <p:cNvPr id="53" name="Shape 50"/>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كَرَمٌ</a:t>
            </a:r>
            <a:endParaRPr lang="ar-SA" sz="3000" dirty="0"/>
          </a:p>
        </p:txBody>
      </p:sp>
      <p:sp>
        <p:nvSpPr>
          <p:cNvPr id="56" name="Text 53"/>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generosity</a:t>
            </a:r>
            <a:endParaRPr lang="en-US" sz="1350" dirty="0"/>
          </a:p>
          <a:p>
            <a:pPr indent="0" marL="0">
              <a:buNone/>
            </a:pPr>
            <a:r>
              <a:rPr lang="en-US" sz="1100" i="1" dirty="0">
                <a:solidFill>
                  <a:srgbClr val="5A6472"/>
                </a:solidFill>
                <a:latin typeface="Calibri" pitchFamily="34" charset="0"/>
                <a:cs typeface="Amiri" pitchFamily="2" charset="-78"/>
              </a:rPr>
              <a:t>ka-ra-mun</a:t>
            </a:r>
            <a:endParaRPr lang="en-US" sz="1350" dirty="0"/>
          </a:p>
        </p:txBody>
      </p:sp>
      <p:sp>
        <p:nvSpPr>
          <p:cNvPr id="57" name="Shape 54"/>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66928" y="4261104"/>
            <a:ext cx="310896" cy="310896"/>
          </a:xfrm>
          <a:prstGeom prst="ellipse">
            <a:avLst/>
          </a:prstGeom>
          <a:solidFill>
            <a:srgbClr val="F4F1EA"/>
          </a:solidFill>
          <a:ln w="12700">
            <a:solidFill>
              <a:srgbClr val="F4F1EA"/>
            </a:solidFill>
            <a:prstDash val="solid"/>
          </a:ln>
        </p:spPr>
      </p:sp>
      <p:sp>
        <p:nvSpPr>
          <p:cNvPr id="59" name="Text 56"/>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0" name="Shape 57"/>
          <p:cNvSpPr/>
          <p:nvPr/>
        </p:nvSpPr>
        <p:spPr>
          <a:xfrm>
            <a:off x="960120" y="4279392"/>
            <a:ext cx="833933" cy="256032"/>
          </a:xfrm>
          <a:prstGeom prst="roundRect">
            <a:avLst>
              <a:gd name="adj" fmla="val 50000"/>
            </a:avLst>
          </a:prstGeom>
          <a:solidFill>
            <a:srgbClr val="EFE7D2"/>
          </a:solidFill>
          <a:ln w="12700">
            <a:solidFill>
              <a:srgbClr val="EFE7D2"/>
            </a:solidFill>
            <a:prstDash val="solid"/>
          </a:ln>
        </p:spPr>
      </p:sp>
      <p:sp>
        <p:nvSpPr>
          <p:cNvPr id="61" name="Text 58"/>
          <p:cNvSpPr txBox="1"/>
          <p:nvPr/>
        </p:nvSpPr>
        <p:spPr>
          <a:xfrm>
            <a:off x="960120"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An iḍāfa.</a:t>
            </a:r>
            <a:endParaRPr lang="en-US" sz="800" dirty="0"/>
          </a:p>
        </p:txBody>
      </p:sp>
      <p:sp>
        <p:nvSpPr>
          <p:cNvPr id="62" name="Shape 59"/>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3" name="Text 60"/>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4" name="Text 61"/>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احْتِرَامُ الكِبَارِ</a:t>
            </a:r>
            <a:endParaRPr lang="ar-SA" sz="3000" dirty="0"/>
          </a:p>
        </p:txBody>
      </p:sp>
      <p:sp>
        <p:nvSpPr>
          <p:cNvPr id="65" name="Text 62"/>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respect for elders</a:t>
            </a:r>
            <a:endParaRPr lang="en-US" sz="1350" dirty="0"/>
          </a:p>
          <a:p>
            <a:pPr indent="0" marL="0">
              <a:buNone/>
            </a:pPr>
            <a:r>
              <a:rPr lang="en-US" sz="1100" i="1" dirty="0">
                <a:solidFill>
                  <a:srgbClr val="5A6472"/>
                </a:solidFill>
                <a:latin typeface="Calibri" pitchFamily="34" charset="0"/>
                <a:cs typeface="Amiri" pitchFamily="2" charset="-78"/>
              </a:rPr>
              <a:t>aḥ-ti-rā-mu al-ki-bā-ri</a:t>
            </a:r>
            <a:endParaRPr lang="en-US" sz="13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49</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TE-L04 · Customs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Customs and values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أَهَمِّيَّةُ العَائِلَةِ</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importance of family</a:t>
            </a:r>
            <a:endParaRPr lang="en-US" sz="1350" dirty="0"/>
          </a:p>
          <a:p>
            <a:pPr indent="0" marL="0">
              <a:buNone/>
            </a:pPr>
            <a:r>
              <a:rPr lang="en-US" sz="1100" i="1" dirty="0">
                <a:solidFill>
                  <a:srgbClr val="5A6472"/>
                </a:solidFill>
                <a:latin typeface="Calibri" pitchFamily="34" charset="0"/>
                <a:cs typeface="Amiri" pitchFamily="2" charset="-78"/>
              </a:rPr>
              <a:t>a-ham-miy-ya-tu al-ʿā-ʾi-la-ti</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3" name="Shape 20"/>
          <p:cNvSpPr/>
          <p:nvPr/>
        </p:nvSpPr>
        <p:spPr>
          <a:xfrm>
            <a:off x="4782312" y="1938528"/>
            <a:ext cx="1517904" cy="256032"/>
          </a:xfrm>
          <a:prstGeom prst="roundRect">
            <a:avLst>
              <a:gd name="adj" fmla="val 50000"/>
            </a:avLst>
          </a:prstGeom>
          <a:solidFill>
            <a:srgbClr val="EFE7D2"/>
          </a:solidFill>
          <a:ln w="12700">
            <a:solidFill>
              <a:srgbClr val="EFE7D2"/>
            </a:solidFill>
            <a:prstDash val="solid"/>
          </a:ln>
        </p:spPr>
      </p:sp>
      <p:sp>
        <p:nvSpPr>
          <p:cNvPr id="24" name="Text 21"/>
          <p:cNvSpPr txBox="1"/>
          <p:nvPr/>
        </p:nvSpPr>
        <p:spPr>
          <a:xfrm>
            <a:off x="4782312" y="1938528"/>
            <a:ext cx="151790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Form VI verbal noun.</a:t>
            </a:r>
            <a:endParaRPr lang="en-US" sz="8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التَّضَامُنُ</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solidarity</a:t>
            </a:r>
            <a:endParaRPr lang="en-US" sz="1350" dirty="0"/>
          </a:p>
          <a:p>
            <a:pPr indent="0" marL="0">
              <a:buNone/>
            </a:pPr>
            <a:r>
              <a:rPr lang="en-US" sz="1100" i="1" dirty="0">
                <a:solidFill>
                  <a:srgbClr val="5A6472"/>
                </a:solidFill>
                <a:latin typeface="Calibri" pitchFamily="34" charset="0"/>
                <a:cs typeface="Amiri" pitchFamily="2" charset="-78"/>
              </a:rPr>
              <a:t>at-ta-ḍā-mu-nu</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صِلَةُ الرَّحِمِ</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keeping family ties</a:t>
            </a:r>
            <a:endParaRPr lang="en-US" sz="1350" dirty="0"/>
          </a:p>
          <a:p>
            <a:pPr indent="0" marL="0">
              <a:buNone/>
            </a:pPr>
            <a:r>
              <a:rPr lang="en-US" sz="1100" i="1" dirty="0">
                <a:solidFill>
                  <a:srgbClr val="5A6472"/>
                </a:solidFill>
                <a:latin typeface="Calibri" pitchFamily="34" charset="0"/>
                <a:cs typeface="Amiri" pitchFamily="2" charset="-78"/>
              </a:rPr>
              <a:t>ṣi-la-tu ar-ra-ḥi-mi</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حُسْنُ الجِوَارِ</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good neighbourliness</a:t>
            </a:r>
            <a:endParaRPr lang="en-US" sz="1350" dirty="0"/>
          </a:p>
          <a:p>
            <a:pPr indent="0" marL="0">
              <a:buNone/>
            </a:pPr>
            <a:r>
              <a:rPr lang="en-US" sz="1100" i="1" dirty="0">
                <a:solidFill>
                  <a:srgbClr val="5A6472"/>
                </a:solidFill>
                <a:latin typeface="Calibri" pitchFamily="34" charset="0"/>
                <a:cs typeface="Amiri" pitchFamily="2" charset="-78"/>
              </a:rPr>
              <a:t>ḥus-nu al-ji-wā-ri</a:t>
            </a:r>
            <a:endParaRPr lang="en-US" sz="1350" dirty="0"/>
          </a:p>
        </p:txBody>
      </p:sp>
      <p:sp>
        <p:nvSpPr>
          <p:cNvPr id="39" name="Shape 3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4389120"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2" name="Shape 39"/>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43" name="Text 40"/>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Masculine.</a:t>
            </a:r>
            <a:endParaRPr lang="en-US" sz="800" dirty="0"/>
          </a:p>
        </p:txBody>
      </p:sp>
      <p:sp>
        <p:nvSpPr>
          <p:cNvPr id="44" name="Text 4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التَّآزُرُ</a:t>
            </a:r>
            <a:endParaRPr lang="ar-SA" sz="3000" dirty="0"/>
          </a:p>
        </p:txBody>
      </p:sp>
      <p:sp>
        <p:nvSpPr>
          <p:cNvPr id="45" name="Text 4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mutual support</a:t>
            </a:r>
            <a:endParaRPr lang="en-US" sz="1350" dirty="0"/>
          </a:p>
          <a:p>
            <a:pPr indent="0" marL="0">
              <a:buNone/>
            </a:pPr>
            <a:r>
              <a:rPr lang="en-US" sz="1100" i="1" dirty="0">
                <a:solidFill>
                  <a:srgbClr val="5A6472"/>
                </a:solidFill>
                <a:latin typeface="Calibri" pitchFamily="34" charset="0"/>
                <a:cs typeface="Amiri" pitchFamily="2" charset="-78"/>
              </a:rPr>
              <a:t>at-ta-ʾā-zu-ru</a:t>
            </a:r>
            <a:endParaRPr lang="en-US" sz="13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TE-L04 · Customs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Cultural verbs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she · past</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يَعْتَادُ عَلَى</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is accustomed to</a:t>
            </a:r>
            <a:endParaRPr lang="en-US" sz="1350" dirty="0"/>
          </a:p>
          <a:p>
            <a:pPr indent="0" marL="0">
              <a:buNone/>
            </a:pPr>
            <a:r>
              <a:rPr lang="en-US" sz="1100" i="1" dirty="0">
                <a:solidFill>
                  <a:srgbClr val="5A6472"/>
                </a:solidFill>
                <a:latin typeface="Calibri" pitchFamily="34" charset="0"/>
                <a:cs typeface="Amiri" pitchFamily="2" charset="-78"/>
              </a:rPr>
              <a:t>yaʿ-tā-du ʿa-lā</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26" name="Text 23"/>
          <p:cNvSpPr txBox="1"/>
          <p:nvPr/>
        </p:nvSpPr>
        <p:spPr>
          <a:xfrm>
            <a:off x="100126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اِعْتَادَ</a:t>
            </a:r>
            <a:endParaRPr lang="ar-SA" sz="135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تَعْتَادُ</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33" name="Shape 30"/>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she · past</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يَتَمَسَّكُ بِـ</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holds on to, adheres to</a:t>
            </a:r>
            <a:endParaRPr lang="en-US" sz="1350" dirty="0"/>
          </a:p>
          <a:p>
            <a:pPr indent="0" marL="0">
              <a:buNone/>
            </a:pPr>
            <a:r>
              <a:rPr lang="en-US" sz="1100" i="1" dirty="0">
                <a:solidFill>
                  <a:srgbClr val="5A6472"/>
                </a:solidFill>
                <a:latin typeface="Calibri" pitchFamily="34" charset="0"/>
                <a:cs typeface="Amiri" pitchFamily="2" charset="-78"/>
              </a:rPr>
              <a:t>ya-ta-mas-sa-ku bi</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41" name="Text 38"/>
          <p:cNvSpPr txBox="1"/>
          <p:nvPr/>
        </p:nvSpPr>
        <p:spPr>
          <a:xfrm>
            <a:off x="6190488"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تَمَسَّكَ</a:t>
            </a:r>
            <a:endParaRPr lang="ar-SA" sz="135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تَتَمَسَّكُ</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48" name="Shape 45"/>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she · past</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يَحْتَفِلُ بِـ</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celebrates</a:t>
            </a:r>
            <a:endParaRPr lang="en-US" sz="1350" dirty="0"/>
          </a:p>
          <a:p>
            <a:pPr indent="0" marL="0">
              <a:buNone/>
            </a:pPr>
            <a:r>
              <a:rPr lang="en-US" sz="1100" i="1" dirty="0">
                <a:solidFill>
                  <a:srgbClr val="5A6472"/>
                </a:solidFill>
                <a:latin typeface="Calibri" pitchFamily="34" charset="0"/>
                <a:cs typeface="Amiri" pitchFamily="2" charset="-78"/>
              </a:rPr>
              <a:t>yaḥ-ta-fi-lu bi</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56" name="Text 53"/>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اِحْتَفَلَ</a:t>
            </a:r>
            <a:endParaRPr lang="ar-SA" sz="135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تَحْتَفِلُ</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63" name="Shape 60"/>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she · past</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يَنْتَمِي إِلَى</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belongs to</a:t>
            </a:r>
            <a:endParaRPr lang="en-US" sz="1350" dirty="0"/>
          </a:p>
          <a:p>
            <a:pPr indent="0" marL="0">
              <a:buNone/>
            </a:pPr>
            <a:r>
              <a:rPr lang="en-US" sz="1100" i="1" dirty="0">
                <a:solidFill>
                  <a:srgbClr val="5A6472"/>
                </a:solidFill>
                <a:latin typeface="Calibri" pitchFamily="34" charset="0"/>
                <a:cs typeface="Amiri" pitchFamily="2" charset="-78"/>
              </a:rPr>
              <a:t>yan-ta-mī i-lā</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71" name="Text 68"/>
          <p:cNvSpPr txBox="1"/>
          <p:nvPr/>
        </p:nvSpPr>
        <p:spPr>
          <a:xfrm>
            <a:off x="100126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اِنْتَمَى</a:t>
            </a:r>
            <a:endParaRPr lang="ar-SA" sz="135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74" name="Text 71"/>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تَنْتَمِي</a:t>
            </a:r>
            <a:endParaRPr lang="ar-SA" sz="150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78" name="Shape 75"/>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she · past</a:t>
            </a:r>
            <a:endParaRPr lang="en-US" sz="800" dirty="0"/>
          </a:p>
        </p:txBody>
      </p:sp>
      <p:sp>
        <p:nvSpPr>
          <p:cNvPr id="80" name="Text 7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يَتَكَيَّفُ مَعَ</a:t>
            </a:r>
            <a:endParaRPr lang="ar-SA" sz="3000" dirty="0"/>
          </a:p>
        </p:txBody>
      </p:sp>
      <p:sp>
        <p:nvSpPr>
          <p:cNvPr id="81" name="Text 7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adapts to</a:t>
            </a:r>
            <a:endParaRPr lang="en-US" sz="1350" dirty="0"/>
          </a:p>
          <a:p>
            <a:pPr indent="0" marL="0">
              <a:buNone/>
            </a:pPr>
            <a:r>
              <a:rPr lang="en-US" sz="1100" i="1" dirty="0">
                <a:solidFill>
                  <a:srgbClr val="5A6472"/>
                </a:solidFill>
                <a:latin typeface="Calibri" pitchFamily="34" charset="0"/>
                <a:cs typeface="Amiri" pitchFamily="2" charset="-78"/>
              </a:rPr>
              <a:t>ya-ta-kay-ya-fu ma-ʿa</a:t>
            </a:r>
            <a:endParaRPr lang="en-US" sz="1350" dirty="0"/>
          </a:p>
        </p:txBody>
      </p:sp>
      <p:sp>
        <p:nvSpPr>
          <p:cNvPr id="82" name="Shape 79"/>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3" name="Text 80"/>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84" name="Text 81"/>
          <p:cNvSpPr txBox="1"/>
          <p:nvPr/>
        </p:nvSpPr>
        <p:spPr>
          <a:xfrm>
            <a:off x="6190488"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تَكَيَّفَ</a:t>
            </a:r>
            <a:endParaRPr lang="ar-SA" sz="1350" dirty="0"/>
          </a:p>
        </p:txBody>
      </p:sp>
      <p:sp>
        <p:nvSpPr>
          <p:cNvPr id="85" name="Shape 82"/>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6" name="Text 83"/>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87" name="Text 84"/>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تَتَكَيَّفُ</a:t>
            </a:r>
            <a:endParaRPr lang="ar-SA" sz="1500" dirty="0"/>
          </a:p>
        </p:txBody>
      </p:sp>
      <p:sp>
        <p:nvSpPr>
          <p:cNvPr id="88" name="Text 8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49</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TE-L04 · Customs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Cultural verbs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she · past</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يَحْتَفِظُ بِـ</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keeps, preserves</a:t>
            </a:r>
            <a:endParaRPr lang="en-US" sz="1350" dirty="0"/>
          </a:p>
          <a:p>
            <a:pPr indent="0" marL="0">
              <a:buNone/>
            </a:pPr>
            <a:r>
              <a:rPr lang="en-US" sz="1100" i="1" dirty="0">
                <a:solidFill>
                  <a:srgbClr val="5A6472"/>
                </a:solidFill>
                <a:latin typeface="Calibri" pitchFamily="34" charset="0"/>
                <a:cs typeface="Amiri" pitchFamily="2" charset="-78"/>
              </a:rPr>
              <a:t>yaḥ-ta-fi-ẓu bi</a:t>
            </a:r>
            <a:endParaRPr lang="en-US" sz="1350" dirty="0"/>
          </a:p>
        </p:txBody>
      </p:sp>
      <p:sp>
        <p:nvSpPr>
          <p:cNvPr id="22" name="Shape 19"/>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past</a:t>
            </a:r>
            <a:endParaRPr lang="en-US" sz="700" dirty="0"/>
          </a:p>
        </p:txBody>
      </p:sp>
      <p:sp>
        <p:nvSpPr>
          <p:cNvPr id="24" name="Text 21"/>
          <p:cNvSpPr txBox="1"/>
          <p:nvPr/>
        </p:nvSpPr>
        <p:spPr>
          <a:xfrm>
            <a:off x="100126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اِحْتَفَظَ</a:t>
            </a:r>
            <a:endParaRPr lang="ar-SA" sz="1350" dirty="0"/>
          </a:p>
        </p:txBody>
      </p:sp>
      <p:sp>
        <p:nvSpPr>
          <p:cNvPr id="25" name="Shape 22"/>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6" name="Text 23"/>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7" name="Text 24"/>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تَحْتَفِظُ</a:t>
            </a:r>
            <a:endParaRPr lang="ar-SA" sz="1500" dirty="0"/>
          </a:p>
        </p:txBody>
      </p:sp>
      <p:sp>
        <p:nvSpPr>
          <p:cNvPr id="28" name="Shape 25"/>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389120" y="1920240"/>
            <a:ext cx="310896" cy="310896"/>
          </a:xfrm>
          <a:prstGeom prst="ellipse">
            <a:avLst/>
          </a:prstGeom>
          <a:solidFill>
            <a:srgbClr val="F4F1EA"/>
          </a:solidFill>
          <a:ln w="12700">
            <a:solidFill>
              <a:srgbClr val="F4F1EA"/>
            </a:solidFill>
            <a:prstDash val="solid"/>
          </a:ln>
        </p:spPr>
      </p:sp>
      <p:sp>
        <p:nvSpPr>
          <p:cNvPr id="30" name="Text 27"/>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31" name="Text 28"/>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يَتَبَادَلُ</a:t>
            </a:r>
            <a:endParaRPr lang="ar-SA" sz="3000" dirty="0"/>
          </a:p>
        </p:txBody>
      </p:sp>
      <p:sp>
        <p:nvSpPr>
          <p:cNvPr id="32" name="Text 29"/>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exchanges</a:t>
            </a:r>
            <a:endParaRPr lang="en-US" sz="1350" dirty="0"/>
          </a:p>
          <a:p>
            <a:pPr indent="0" marL="0">
              <a:buNone/>
            </a:pPr>
            <a:r>
              <a:rPr lang="en-US" sz="1100" i="1" dirty="0">
                <a:solidFill>
                  <a:srgbClr val="5A6472"/>
                </a:solidFill>
                <a:latin typeface="Calibri" pitchFamily="34" charset="0"/>
                <a:cs typeface="Amiri" pitchFamily="2" charset="-78"/>
              </a:rPr>
              <a:t>ya-ta-bā-da-lu</a:t>
            </a:r>
            <a:endParaRPr lang="en-US" sz="1350" dirty="0"/>
          </a:p>
        </p:txBody>
      </p:sp>
      <p:sp>
        <p:nvSpPr>
          <p:cNvPr id="33" name="Text 30"/>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Form VI, reciprocal; takes a direct object.</a:t>
            </a:r>
            <a:endParaRPr lang="en-US" sz="1000" dirty="0"/>
          </a:p>
        </p:txBody>
      </p:sp>
      <p:sp>
        <p:nvSpPr>
          <p:cNvPr id="34" name="Shape 3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566928" y="1920240"/>
            <a:ext cx="310896" cy="310896"/>
          </a:xfrm>
          <a:prstGeom prst="ellipse">
            <a:avLst/>
          </a:prstGeom>
          <a:solidFill>
            <a:srgbClr val="F4F1EA"/>
          </a:solidFill>
          <a:ln w="12700">
            <a:solidFill>
              <a:srgbClr val="F4F1EA"/>
            </a:solidFill>
            <a:prstDash val="solid"/>
          </a:ln>
        </p:spPr>
      </p:sp>
      <p:sp>
        <p:nvSpPr>
          <p:cNvPr id="36" name="Text 3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7" name="Text 34"/>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يُقَدِّمُ</a:t>
            </a:r>
            <a:endParaRPr lang="ar-SA" sz="3000" dirty="0"/>
          </a:p>
        </p:txBody>
      </p:sp>
      <p:sp>
        <p:nvSpPr>
          <p:cNvPr id="38" name="Text 35"/>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presents, offers</a:t>
            </a:r>
            <a:endParaRPr lang="en-US" sz="1350" dirty="0"/>
          </a:p>
          <a:p>
            <a:pPr indent="0" marL="0">
              <a:buNone/>
            </a:pPr>
            <a:r>
              <a:rPr lang="en-US" sz="1100" i="1" dirty="0">
                <a:solidFill>
                  <a:srgbClr val="5A6472"/>
                </a:solidFill>
                <a:latin typeface="Calibri" pitchFamily="34" charset="0"/>
                <a:cs typeface="Amiri" pitchFamily="2" charset="-78"/>
              </a:rPr>
              <a:t>yu-qad-di-mu</a:t>
            </a:r>
            <a:endParaRPr lang="en-US" sz="1350" dirty="0"/>
          </a:p>
        </p:txBody>
      </p:sp>
      <p:sp>
        <p:nvSpPr>
          <p:cNvPr id="39" name="Text 36"/>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Form II; takes a direct object.</a:t>
            </a:r>
            <a:endParaRPr lang="en-US" sz="1000" dirty="0"/>
          </a:p>
        </p:txBody>
      </p:sp>
      <p:sp>
        <p:nvSpPr>
          <p:cNvPr id="40" name="Shape 3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8211312" y="4261104"/>
            <a:ext cx="310896" cy="310896"/>
          </a:xfrm>
          <a:prstGeom prst="ellipse">
            <a:avLst/>
          </a:prstGeom>
          <a:solidFill>
            <a:srgbClr val="F4F1EA"/>
          </a:solidFill>
          <a:ln w="12700">
            <a:solidFill>
              <a:srgbClr val="F4F1EA"/>
            </a:solidFill>
            <a:prstDash val="solid"/>
          </a:ln>
        </p:spPr>
      </p:sp>
      <p:sp>
        <p:nvSpPr>
          <p:cNvPr id="42" name="Text 3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43" name="Shape 40"/>
          <p:cNvSpPr/>
          <p:nvPr/>
        </p:nvSpPr>
        <p:spPr>
          <a:xfrm>
            <a:off x="8604504" y="4279392"/>
            <a:ext cx="1642262" cy="256032"/>
          </a:xfrm>
          <a:prstGeom prst="roundRect">
            <a:avLst>
              <a:gd name="adj" fmla="val 50000"/>
            </a:avLst>
          </a:prstGeom>
          <a:solidFill>
            <a:srgbClr val="EFE7D2"/>
          </a:solidFill>
          <a:ln w="12700">
            <a:solidFill>
              <a:srgbClr val="EFE7D2"/>
            </a:solidFill>
            <a:prstDash val="solid"/>
          </a:ln>
        </p:spPr>
      </p:sp>
      <p:sp>
        <p:nvSpPr>
          <p:cNvPr id="44" name="Text 41"/>
          <p:cNvSpPr txBox="1"/>
          <p:nvPr/>
        </p:nvSpPr>
        <p:spPr>
          <a:xfrm>
            <a:off x="8604504" y="4279392"/>
            <a:ext cx="164226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Takes a direct object.</a:t>
            </a:r>
            <a:endParaRPr lang="en-US" sz="800" dirty="0"/>
          </a:p>
        </p:txBody>
      </p:sp>
      <p:sp>
        <p:nvSpPr>
          <p:cNvPr id="45" name="Text 4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يَحْتَرِمُ</a:t>
            </a:r>
            <a:endParaRPr lang="ar-SA" sz="3000" dirty="0"/>
          </a:p>
        </p:txBody>
      </p:sp>
      <p:sp>
        <p:nvSpPr>
          <p:cNvPr id="46" name="Text 4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respects</a:t>
            </a:r>
            <a:endParaRPr lang="en-US" sz="1350" dirty="0"/>
          </a:p>
          <a:p>
            <a:pPr indent="0" marL="0">
              <a:buNone/>
            </a:pPr>
            <a:r>
              <a:rPr lang="en-US" sz="1100" i="1" dirty="0">
                <a:solidFill>
                  <a:srgbClr val="5A6472"/>
                </a:solidFill>
                <a:latin typeface="Calibri" pitchFamily="34" charset="0"/>
                <a:cs typeface="Amiri" pitchFamily="2" charset="-78"/>
              </a:rPr>
              <a:t>yaḥ-ta-ri-mu</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49</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TE-L04 · Customs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Comparing and qualifying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بَيْنَمَا</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whereas, while</a:t>
            </a:r>
            <a:endParaRPr lang="en-US" sz="1350" dirty="0"/>
          </a:p>
          <a:p>
            <a:pPr indent="0" marL="0">
              <a:buNone/>
            </a:pPr>
            <a:r>
              <a:rPr lang="en-US" sz="1100" i="1" dirty="0">
                <a:solidFill>
                  <a:srgbClr val="5A6472"/>
                </a:solidFill>
                <a:latin typeface="Calibri" pitchFamily="34" charset="0"/>
                <a:cs typeface="Amiri" pitchFamily="2" charset="-78"/>
              </a:rPr>
              <a:t>bay-na-mā</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Joins two contrasting clauses.</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6" name="Text 23"/>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2650" b="1" dirty="0">
                <a:solidFill>
                  <a:srgbClr val="1B3B6F"/>
                </a:solidFill>
                <a:latin typeface="Amiri" pitchFamily="2" charset="-78"/>
                <a:ea typeface="Amiri" pitchFamily="2" charset="-78"/>
                <a:cs typeface="Amiri" pitchFamily="2" charset="-78"/>
              </a:rPr>
              <a:t>مِنْ نَاحِيَةٍ … وَمِنْ نَاحِيَةٍ أُخْرَى</a:t>
            </a:r>
            <a:endParaRPr lang="ar-SA" sz="2650" dirty="0"/>
          </a:p>
        </p:txBody>
      </p:sp>
      <p:sp>
        <p:nvSpPr>
          <p:cNvPr id="27" name="Text 24"/>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one hand … on the other</a:t>
            </a:r>
            <a:endParaRPr lang="en-US" sz="1350" dirty="0"/>
          </a:p>
          <a:p>
            <a:pPr indent="0" marL="0">
              <a:buNone/>
            </a:pPr>
            <a:r>
              <a:rPr lang="en-US" sz="1100" i="1" dirty="0">
                <a:solidFill>
                  <a:srgbClr val="5A6472"/>
                </a:solidFill>
                <a:latin typeface="Calibri" pitchFamily="34" charset="0"/>
                <a:cs typeface="Amiri" pitchFamily="2" charset="-78"/>
              </a:rPr>
              <a:t>min nā-ḥi-ya-tin … wa-min nā-ḥi-ya-tin ukh-rā</a:t>
            </a:r>
            <a:endParaRPr lang="en-US" sz="1350" dirty="0"/>
          </a:p>
        </p:txBody>
      </p:sp>
      <p:sp>
        <p:nvSpPr>
          <p:cNvPr id="28" name="Shape 25"/>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566928" y="1920240"/>
            <a:ext cx="310896" cy="310896"/>
          </a:xfrm>
          <a:prstGeom prst="ellipse">
            <a:avLst/>
          </a:prstGeom>
          <a:solidFill>
            <a:srgbClr val="F4F1EA"/>
          </a:solidFill>
          <a:ln w="12700">
            <a:solidFill>
              <a:srgbClr val="F4F1EA"/>
            </a:solidFill>
            <a:prstDash val="solid"/>
          </a:ln>
        </p:spPr>
      </p:sp>
      <p:sp>
        <p:nvSpPr>
          <p:cNvPr id="30" name="Text 27"/>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1" name="Shape 28"/>
          <p:cNvSpPr/>
          <p:nvPr/>
        </p:nvSpPr>
        <p:spPr>
          <a:xfrm>
            <a:off x="960120" y="1938528"/>
            <a:ext cx="1331366" cy="256032"/>
          </a:xfrm>
          <a:prstGeom prst="roundRect">
            <a:avLst>
              <a:gd name="adj" fmla="val 50000"/>
            </a:avLst>
          </a:prstGeom>
          <a:solidFill>
            <a:srgbClr val="EFE7D2"/>
          </a:solidFill>
          <a:ln w="12700">
            <a:solidFill>
              <a:srgbClr val="EFE7D2"/>
            </a:solidFill>
            <a:prstDash val="solid"/>
          </a:ln>
        </p:spPr>
      </p:sp>
      <p:sp>
        <p:nvSpPr>
          <p:cNvPr id="32" name="Text 29"/>
          <p:cNvSpPr txBox="1"/>
          <p:nvPr/>
        </p:nvSpPr>
        <p:spPr>
          <a:xfrm>
            <a:off x="960120" y="1938528"/>
            <a:ext cx="133136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Hedging language.</a:t>
            </a:r>
            <a:endParaRPr lang="en-US" sz="800" dirty="0"/>
          </a:p>
        </p:txBody>
      </p:sp>
      <p:sp>
        <p:nvSpPr>
          <p:cNvPr id="33" name="Text 30"/>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بَعْضِ البُلْدَانِ</a:t>
            </a:r>
            <a:endParaRPr lang="ar-SA" sz="3000" dirty="0"/>
          </a:p>
        </p:txBody>
      </p:sp>
      <p:sp>
        <p:nvSpPr>
          <p:cNvPr id="34" name="Text 31"/>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some countries</a:t>
            </a:r>
            <a:endParaRPr lang="en-US" sz="1350" dirty="0"/>
          </a:p>
          <a:p>
            <a:pPr indent="0" marL="0">
              <a:buNone/>
            </a:pPr>
            <a:r>
              <a:rPr lang="en-US" sz="1100" i="1" dirty="0">
                <a:solidFill>
                  <a:srgbClr val="5A6472"/>
                </a:solidFill>
                <a:latin typeface="Calibri" pitchFamily="34" charset="0"/>
                <a:cs typeface="Amiri" pitchFamily="2" charset="-78"/>
              </a:rPr>
              <a:t>fī baʿ-ḍi al-bul-dā-ni</a:t>
            </a:r>
            <a:endParaRPr lang="en-US" sz="1350" dirty="0"/>
          </a:p>
        </p:txBody>
      </p:sp>
      <p:sp>
        <p:nvSpPr>
          <p:cNvPr id="35" name="Shape 3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8211312" y="4261104"/>
            <a:ext cx="310896" cy="310896"/>
          </a:xfrm>
          <a:prstGeom prst="ellipse">
            <a:avLst/>
          </a:prstGeom>
          <a:solidFill>
            <a:srgbClr val="F4F1EA"/>
          </a:solidFill>
          <a:ln w="12700">
            <a:solidFill>
              <a:srgbClr val="F4F1EA"/>
            </a:solidFill>
            <a:prstDash val="solid"/>
          </a:ln>
        </p:spPr>
      </p:sp>
      <p:sp>
        <p:nvSpPr>
          <p:cNvPr id="37" name="Text 3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38" name="Shape 35"/>
          <p:cNvSpPr/>
          <p:nvPr/>
        </p:nvSpPr>
        <p:spPr>
          <a:xfrm>
            <a:off x="8604504" y="4279392"/>
            <a:ext cx="1331366" cy="256032"/>
          </a:xfrm>
          <a:prstGeom prst="roundRect">
            <a:avLst>
              <a:gd name="adj" fmla="val 50000"/>
            </a:avLst>
          </a:prstGeom>
          <a:solidFill>
            <a:srgbClr val="EFE7D2"/>
          </a:solidFill>
          <a:ln w="12700">
            <a:solidFill>
              <a:srgbClr val="EFE7D2"/>
            </a:solidFill>
            <a:prstDash val="solid"/>
          </a:ln>
        </p:spPr>
      </p:sp>
      <p:sp>
        <p:nvSpPr>
          <p:cNvPr id="39" name="Text 36"/>
          <p:cNvSpPr txBox="1"/>
          <p:nvPr/>
        </p:nvSpPr>
        <p:spPr>
          <a:xfrm>
            <a:off x="8604504" y="4279392"/>
            <a:ext cx="133136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Hedging language.</a:t>
            </a:r>
            <a:endParaRPr lang="en-US" sz="800" dirty="0"/>
          </a:p>
        </p:txBody>
      </p:sp>
      <p:sp>
        <p:nvSpPr>
          <p:cNvPr id="40" name="Shape 3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1" name="Text 3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2" name="Text 3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بَعْضِ العَائِلَاتِ</a:t>
            </a:r>
            <a:endParaRPr lang="ar-SA" sz="3000" dirty="0"/>
          </a:p>
        </p:txBody>
      </p:sp>
      <p:sp>
        <p:nvSpPr>
          <p:cNvPr id="43" name="Text 4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some families</a:t>
            </a:r>
            <a:endParaRPr lang="en-US" sz="1350" dirty="0"/>
          </a:p>
          <a:p>
            <a:pPr indent="0" marL="0">
              <a:buNone/>
            </a:pPr>
            <a:r>
              <a:rPr lang="en-US" sz="1100" i="1" dirty="0">
                <a:solidFill>
                  <a:srgbClr val="5A6472"/>
                </a:solidFill>
                <a:latin typeface="Calibri" pitchFamily="34" charset="0"/>
                <a:cs typeface="Amiri" pitchFamily="2" charset="-78"/>
              </a:rPr>
              <a:t>fī baʿ-ḍi al-ʿā-ʾi-lā-ti</a:t>
            </a:r>
            <a:endParaRPr lang="en-US" sz="13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49</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TE-L04 · Customs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Comparing and qualifying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أَحْيَانًا</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sometimes</a:t>
            </a:r>
            <a:endParaRPr lang="en-US" sz="1350" dirty="0"/>
          </a:p>
          <a:p>
            <a:pPr indent="0" marL="0">
              <a:buNone/>
            </a:pPr>
            <a:r>
              <a:rPr lang="en-US" sz="1100" i="1" dirty="0">
                <a:solidFill>
                  <a:srgbClr val="5A6472"/>
                </a:solidFill>
                <a:latin typeface="Calibri" pitchFamily="34" charset="0"/>
                <a:cs typeface="Amiri" pitchFamily="2" charset="-78"/>
              </a:rPr>
              <a:t>aḥ-yā-nan</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23" name="Text 2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لَيْسَ دَائِمًا</a:t>
            </a:r>
            <a:endParaRPr lang="ar-SA" sz="3000" dirty="0"/>
          </a:p>
        </p:txBody>
      </p:sp>
      <p:sp>
        <p:nvSpPr>
          <p:cNvPr id="24" name="Text 2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not always</a:t>
            </a:r>
            <a:endParaRPr lang="en-US" sz="1350" dirty="0"/>
          </a:p>
          <a:p>
            <a:pPr indent="0" marL="0">
              <a:buNone/>
            </a:pPr>
            <a:r>
              <a:rPr lang="en-US" sz="1100" i="1" dirty="0">
                <a:solidFill>
                  <a:srgbClr val="5A6472"/>
                </a:solidFill>
                <a:latin typeface="Calibri" pitchFamily="34" charset="0"/>
                <a:cs typeface="Amiri" pitchFamily="2" charset="-78"/>
              </a:rPr>
              <a:t>lay-sa dā-ʾi-man</a:t>
            </a:r>
            <a:endParaRPr lang="en-US" sz="1350" dirty="0"/>
          </a:p>
        </p:txBody>
      </p:sp>
      <p:sp>
        <p:nvSpPr>
          <p:cNvPr id="25" name="Shape 2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566928"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28" name="Text 2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يَخْتَلِفُ مِنْ … إِلَى …</a:t>
            </a:r>
            <a:endParaRPr lang="ar-SA" sz="3000" dirty="0"/>
          </a:p>
        </p:txBody>
      </p:sp>
      <p:sp>
        <p:nvSpPr>
          <p:cNvPr id="29" name="Text 2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differs from … to …</a:t>
            </a:r>
            <a:endParaRPr lang="en-US" sz="1350" dirty="0"/>
          </a:p>
          <a:p>
            <a:pPr indent="0" marL="0">
              <a:buNone/>
            </a:pPr>
            <a:r>
              <a:rPr lang="en-US" sz="1100" i="1" dirty="0">
                <a:solidFill>
                  <a:srgbClr val="5A6472"/>
                </a:solidFill>
                <a:latin typeface="Calibri" pitchFamily="34" charset="0"/>
                <a:cs typeface="Amiri" pitchFamily="2" charset="-78"/>
              </a:rPr>
              <a:t>yakh-ta-li-fu min … i-lā …</a:t>
            </a:r>
            <a:endParaRPr lang="en-US" sz="1350" dirty="0"/>
          </a:p>
        </p:txBody>
      </p:sp>
      <p:sp>
        <p:nvSpPr>
          <p:cNvPr id="30" name="Shape 2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8211312" y="4261104"/>
            <a:ext cx="310896" cy="310896"/>
          </a:xfrm>
          <a:prstGeom prst="ellipse">
            <a:avLst/>
          </a:prstGeom>
          <a:solidFill>
            <a:srgbClr val="F4F1EA"/>
          </a:solidFill>
          <a:ln w="12700">
            <a:solidFill>
              <a:srgbClr val="F4F1EA"/>
            </a:solidFill>
            <a:prstDash val="solid"/>
          </a:ln>
        </p:spPr>
      </p:sp>
      <p:sp>
        <p:nvSpPr>
          <p:cNvPr id="32" name="Text 2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33" name="Shape 30"/>
          <p:cNvSpPr/>
          <p:nvPr/>
        </p:nvSpPr>
        <p:spPr>
          <a:xfrm>
            <a:off x="8604504" y="4279392"/>
            <a:ext cx="1144829"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8604504" y="4279392"/>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What to avoid.</a:t>
            </a:r>
            <a:endParaRPr lang="en-US" sz="8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تَعْمِيمٌ</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generalisation</a:t>
            </a:r>
            <a:endParaRPr lang="en-US" sz="1350" dirty="0"/>
          </a:p>
          <a:p>
            <a:pPr indent="0" marL="0">
              <a:buNone/>
            </a:pPr>
            <a:r>
              <a:rPr lang="en-US" sz="1100" i="1" dirty="0">
                <a:solidFill>
                  <a:srgbClr val="5A6472"/>
                </a:solidFill>
                <a:latin typeface="Calibri" pitchFamily="34" charset="0"/>
                <a:cs typeface="Amiri" pitchFamily="2" charset="-78"/>
              </a:rPr>
              <a:t>taʿ-mī-mun</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49</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TE-L04 · Customs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74" b="1" spc="150" kern="0" dirty="0">
                <a:solidFill>
                  <a:srgbClr val="1B3B6F"/>
                </a:solidFill>
                <a:latin typeface="Calibri" pitchFamily="34" charset="0"/>
                <a:cs typeface="Amiri" pitchFamily="2" charset="-78"/>
              </a:rPr>
              <a:t>GRAMMAR FOCUS · PART 1 · CULTURAL VERBS AND THEIR PREPOSITIONS (WEBSITE RULE 1)</a:t>
            </a:r>
            <a:endParaRPr lang="en-US" sz="87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verb, one preposition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الفِعْلُ وَحَرْفُ الجَرِّ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08592" y="1810512"/>
            <a:ext cx="2350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32735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a:t>
            </a:r>
            <a:endParaRPr lang="en-US" sz="1100" dirty="0"/>
          </a:p>
        </p:txBody>
      </p:sp>
      <p:sp>
        <p:nvSpPr>
          <p:cNvPr id="18" name="Text 15"/>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 + preposition</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345168" y="2267712"/>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used to</a:t>
            </a:r>
            <a:endParaRPr lang="en-US" sz="1100" dirty="0"/>
          </a:p>
        </p:txBody>
      </p:sp>
      <p:sp>
        <p:nvSpPr>
          <p:cNvPr id="21" name="Text 18"/>
          <p:cNvSpPr txBox="1"/>
          <p:nvPr/>
        </p:nvSpPr>
        <p:spPr>
          <a:xfrm>
            <a:off x="3291840" y="2286000"/>
            <a:ext cx="58521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يَعْتَادُ النَّاسُ </a:t>
            </a:r>
            <a:pPr rtl="1" algn="ctr" indent="0" marL="0">
              <a:buNone/>
            </a:pPr>
            <a:r>
              <a:rPr lang="ar-SA" altLang="en-US" sz="1950" b="1" dirty="0">
                <a:solidFill>
                  <a:srgbClr val="0E7C86"/>
                </a:solidFill>
                <a:latin typeface="Amiri" pitchFamily="2" charset="-78"/>
                <a:ea typeface="Amiri" pitchFamily="2" charset="-78"/>
                <a:cs typeface="Amiri" pitchFamily="2" charset="-78"/>
              </a:rPr>
              <a:t>عَلَى</a:t>
            </a:r>
            <a:pPr rtl="1" algn="ctr" indent="0" marL="0">
              <a:buNone/>
            </a:pPr>
            <a:r>
              <a:rPr lang="ar-SA" altLang="en-US" sz="1950" b="1" dirty="0">
                <a:solidFill>
                  <a:srgbClr val="1B3B6F"/>
                </a:solidFill>
                <a:latin typeface="Amiri" pitchFamily="2" charset="-78"/>
                <a:ea typeface="Amiri" pitchFamily="2" charset="-78"/>
                <a:cs typeface="Amiri" pitchFamily="2" charset="-78"/>
              </a:rPr>
              <a:t> الضِّيَافَةِ.</a:t>
            </a:r>
            <a:endParaRPr lang="ar-SA" sz="1950" dirty="0"/>
          </a:p>
        </p:txBody>
      </p:sp>
      <p:sp>
        <p:nvSpPr>
          <p:cNvPr id="22" name="Text 19"/>
          <p:cNvSpPr txBox="1"/>
          <p:nvPr/>
        </p:nvSpPr>
        <p:spPr>
          <a:xfrm>
            <a:off x="3246120" y="2676997"/>
            <a:ext cx="59436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People are used to hospitality.</a:t>
            </a:r>
            <a:endParaRPr lang="en-US" sz="950" dirty="0"/>
          </a:p>
        </p:txBody>
      </p:sp>
      <p:sp>
        <p:nvSpPr>
          <p:cNvPr id="23" name="Text 20"/>
          <p:cNvSpPr txBox="1"/>
          <p:nvPr/>
        </p:nvSpPr>
        <p:spPr>
          <a:xfrm>
            <a:off x="548640" y="2267712"/>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يَعْتَادُ </a:t>
            </a:r>
            <a:pPr rtl="1" algn="ctr" indent="0" marL="0">
              <a:buNone/>
            </a:pPr>
            <a:r>
              <a:rPr lang="ar-SA" altLang="en-US" sz="2200" b="1" dirty="0">
                <a:solidFill>
                  <a:srgbClr val="0E7C86"/>
                </a:solidFill>
                <a:latin typeface="Amiri" pitchFamily="2" charset="-78"/>
                <a:ea typeface="Amiri" pitchFamily="2" charset="-78"/>
                <a:cs typeface="Amiri" pitchFamily="2" charset="-78"/>
              </a:rPr>
              <a:t>عَلَى</a:t>
            </a:r>
            <a:endParaRPr lang="ar-SA" sz="220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6" name="Shape 23"/>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7" name="Text 24"/>
          <p:cNvSpPr txBox="1"/>
          <p:nvPr/>
        </p:nvSpPr>
        <p:spPr>
          <a:xfrm>
            <a:off x="9345168" y="300471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holds on to</a:t>
            </a:r>
            <a:endParaRPr lang="en-US" sz="1100" dirty="0"/>
          </a:p>
        </p:txBody>
      </p:sp>
      <p:sp>
        <p:nvSpPr>
          <p:cNvPr id="28" name="Text 25"/>
          <p:cNvSpPr txBox="1"/>
          <p:nvPr/>
        </p:nvSpPr>
        <p:spPr>
          <a:xfrm>
            <a:off x="3291840" y="3023006"/>
            <a:ext cx="58521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تَتَمَسَّكُ الأُسْرَةُ </a:t>
            </a:r>
            <a:pPr rtl="1" algn="ctr" indent="0" marL="0">
              <a:buNone/>
            </a:pPr>
            <a:r>
              <a:rPr lang="ar-SA" altLang="en-US" sz="1950" b="1" dirty="0">
                <a:solidFill>
                  <a:srgbClr val="D6336C"/>
                </a:solidFill>
                <a:latin typeface="Amiri" pitchFamily="2" charset="-78"/>
                <a:ea typeface="Amiri" pitchFamily="2" charset="-78"/>
                <a:cs typeface="Amiri" pitchFamily="2" charset="-78"/>
              </a:rPr>
              <a:t>بِتَقَالِيدِهَا</a:t>
            </a:r>
            <a:pPr rtl="1" algn="ctr" indent="0" marL="0">
              <a:buNone/>
            </a:pPr>
            <a:r>
              <a:rPr lang="ar-SA" altLang="en-US" sz="1950" b="1" dirty="0">
                <a:solidFill>
                  <a:srgbClr val="1B3B6F"/>
                </a:solidFill>
                <a:latin typeface="Amiri" pitchFamily="2" charset="-78"/>
                <a:cs typeface="Amiri" pitchFamily="2" charset="-78"/>
              </a:rPr>
              <a:t>.</a:t>
            </a:r>
            <a:endParaRPr lang="ar-SA" sz="1950" dirty="0"/>
          </a:p>
        </p:txBody>
      </p:sp>
      <p:sp>
        <p:nvSpPr>
          <p:cNvPr id="29" name="Text 26"/>
          <p:cNvSpPr txBox="1"/>
          <p:nvPr/>
        </p:nvSpPr>
        <p:spPr>
          <a:xfrm>
            <a:off x="3246120" y="3414004"/>
            <a:ext cx="59436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family holds on to its traditions.</a:t>
            </a:r>
            <a:endParaRPr lang="en-US" sz="950" dirty="0"/>
          </a:p>
        </p:txBody>
      </p:sp>
      <p:sp>
        <p:nvSpPr>
          <p:cNvPr id="30" name="Text 27"/>
          <p:cNvSpPr txBox="1"/>
          <p:nvPr/>
        </p:nvSpPr>
        <p:spPr>
          <a:xfrm>
            <a:off x="548640" y="3004718"/>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يَتَمَسَّكُ </a:t>
            </a:r>
            <a:pPr rtl="1" algn="ctr" indent="0" marL="0">
              <a:buNone/>
            </a:pPr>
            <a:r>
              <a:rPr lang="ar-SA" altLang="en-US" sz="2200" b="1" dirty="0">
                <a:solidFill>
                  <a:srgbClr val="D6336C"/>
                </a:solidFill>
                <a:latin typeface="Amiri" pitchFamily="2" charset="-78"/>
                <a:ea typeface="Amiri" pitchFamily="2" charset="-78"/>
                <a:cs typeface="Amiri" pitchFamily="2" charset="-78"/>
              </a:rPr>
              <a:t>بِـ</a:t>
            </a:r>
            <a:endParaRPr lang="ar-SA" sz="2200" dirty="0"/>
          </a:p>
        </p:txBody>
      </p:sp>
      <p:sp>
        <p:nvSpPr>
          <p:cNvPr id="31" name="Shape 28"/>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3" name="Shape 30"/>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4" name="Text 31"/>
          <p:cNvSpPr txBox="1"/>
          <p:nvPr/>
        </p:nvSpPr>
        <p:spPr>
          <a:xfrm>
            <a:off x="9345168" y="3741725"/>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celebrates</a:t>
            </a:r>
            <a:endParaRPr lang="en-US" sz="1100" dirty="0"/>
          </a:p>
        </p:txBody>
      </p:sp>
      <p:sp>
        <p:nvSpPr>
          <p:cNvPr id="35" name="Text 32"/>
          <p:cNvSpPr txBox="1"/>
          <p:nvPr/>
        </p:nvSpPr>
        <p:spPr>
          <a:xfrm>
            <a:off x="3291840" y="3760013"/>
            <a:ext cx="58521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تَحْتَفِلُ العَائِلَةُ </a:t>
            </a:r>
            <a:pPr rtl="1" algn="ctr" indent="0" marL="0">
              <a:buNone/>
            </a:pPr>
            <a:r>
              <a:rPr lang="ar-SA" altLang="en-US" sz="1950" b="1" dirty="0">
                <a:solidFill>
                  <a:srgbClr val="D6336C"/>
                </a:solidFill>
                <a:latin typeface="Amiri" pitchFamily="2" charset="-78"/>
                <a:ea typeface="Amiri" pitchFamily="2" charset="-78"/>
                <a:cs typeface="Amiri" pitchFamily="2" charset="-78"/>
              </a:rPr>
              <a:t>بِالمُنَاسَبَةِ</a:t>
            </a:r>
            <a:pPr rtl="1" algn="ctr" indent="0" marL="0">
              <a:buNone/>
            </a:pPr>
            <a:r>
              <a:rPr lang="ar-SA" altLang="en-US" sz="1950" b="1" dirty="0">
                <a:solidFill>
                  <a:srgbClr val="1B3B6F"/>
                </a:solidFill>
                <a:latin typeface="Amiri" pitchFamily="2" charset="-78"/>
                <a:cs typeface="Amiri" pitchFamily="2" charset="-78"/>
              </a:rPr>
              <a:t>.</a:t>
            </a:r>
            <a:endParaRPr lang="ar-SA" sz="1950" dirty="0"/>
          </a:p>
        </p:txBody>
      </p:sp>
      <p:sp>
        <p:nvSpPr>
          <p:cNvPr id="36" name="Text 33"/>
          <p:cNvSpPr txBox="1"/>
          <p:nvPr/>
        </p:nvSpPr>
        <p:spPr>
          <a:xfrm>
            <a:off x="3246120" y="4151010"/>
            <a:ext cx="59436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family celebrates the occasion.</a:t>
            </a:r>
            <a:endParaRPr lang="en-US" sz="950" dirty="0"/>
          </a:p>
        </p:txBody>
      </p:sp>
      <p:sp>
        <p:nvSpPr>
          <p:cNvPr id="37" name="Text 34"/>
          <p:cNvSpPr txBox="1"/>
          <p:nvPr/>
        </p:nvSpPr>
        <p:spPr>
          <a:xfrm>
            <a:off x="548640" y="3741725"/>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يَحْتَفِلُ </a:t>
            </a:r>
            <a:pPr rtl="1" algn="ctr" indent="0" marL="0">
              <a:buNone/>
            </a:pPr>
            <a:r>
              <a:rPr lang="ar-SA" altLang="en-US" sz="2200" b="1" dirty="0">
                <a:solidFill>
                  <a:srgbClr val="D6336C"/>
                </a:solidFill>
                <a:latin typeface="Amiri" pitchFamily="2" charset="-78"/>
                <a:ea typeface="Amiri" pitchFamily="2" charset="-78"/>
                <a:cs typeface="Amiri" pitchFamily="2" charset="-78"/>
              </a:rPr>
              <a:t>بِـ</a:t>
            </a:r>
            <a:endParaRPr lang="ar-SA" sz="2200" dirty="0"/>
          </a:p>
        </p:txBody>
      </p:sp>
      <p:sp>
        <p:nvSpPr>
          <p:cNvPr id="38" name="Shape 35"/>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0" name="Shape 37"/>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1" name="Text 38"/>
          <p:cNvSpPr txBox="1"/>
          <p:nvPr/>
        </p:nvSpPr>
        <p:spPr>
          <a:xfrm>
            <a:off x="9345168" y="4478731"/>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belongs to</a:t>
            </a:r>
            <a:endParaRPr lang="en-US" sz="1100" dirty="0"/>
          </a:p>
        </p:txBody>
      </p:sp>
      <p:sp>
        <p:nvSpPr>
          <p:cNvPr id="42" name="Text 39"/>
          <p:cNvSpPr txBox="1"/>
          <p:nvPr/>
        </p:nvSpPr>
        <p:spPr>
          <a:xfrm>
            <a:off x="3291840" y="4497019"/>
            <a:ext cx="58521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يَنْتَمِي </a:t>
            </a:r>
            <a:pPr rtl="1" algn="ctr" indent="0" marL="0">
              <a:buNone/>
            </a:pPr>
            <a:r>
              <a:rPr lang="ar-SA" altLang="en-US" sz="1950" b="1" dirty="0">
                <a:solidFill>
                  <a:srgbClr val="1D5FBF"/>
                </a:solidFill>
                <a:latin typeface="Amiri" pitchFamily="2" charset="-78"/>
                <a:ea typeface="Amiri" pitchFamily="2" charset="-78"/>
                <a:cs typeface="Amiri" pitchFamily="2" charset="-78"/>
              </a:rPr>
              <a:t>إِلَى</a:t>
            </a:r>
            <a:pPr rtl="1" algn="ctr" indent="0" marL="0">
              <a:buNone/>
            </a:pPr>
            <a:r>
              <a:rPr lang="ar-SA" altLang="en-US" sz="1950" b="1" dirty="0">
                <a:solidFill>
                  <a:srgbClr val="1B3B6F"/>
                </a:solidFill>
                <a:latin typeface="Amiri" pitchFamily="2" charset="-78"/>
                <a:ea typeface="Amiri" pitchFamily="2" charset="-78"/>
                <a:cs typeface="Amiri" pitchFamily="2" charset="-78"/>
              </a:rPr>
              <a:t> ثَقَافَتَيْنِ.</a:t>
            </a:r>
            <a:endParaRPr lang="ar-SA" sz="1950" dirty="0"/>
          </a:p>
        </p:txBody>
      </p:sp>
      <p:sp>
        <p:nvSpPr>
          <p:cNvPr id="43" name="Text 40"/>
          <p:cNvSpPr txBox="1"/>
          <p:nvPr/>
        </p:nvSpPr>
        <p:spPr>
          <a:xfrm>
            <a:off x="3246120" y="4888017"/>
            <a:ext cx="59436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He belongs to two cultures.</a:t>
            </a:r>
            <a:endParaRPr lang="en-US" sz="950" dirty="0"/>
          </a:p>
        </p:txBody>
      </p:sp>
      <p:sp>
        <p:nvSpPr>
          <p:cNvPr id="44" name="Text 41"/>
          <p:cNvSpPr txBox="1"/>
          <p:nvPr/>
        </p:nvSpPr>
        <p:spPr>
          <a:xfrm>
            <a:off x="548640" y="4478731"/>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يَنْتَمِي </a:t>
            </a:r>
            <a:pPr rtl="1" algn="ctr" indent="0" marL="0">
              <a:buNone/>
            </a:pPr>
            <a:r>
              <a:rPr lang="ar-SA" altLang="en-US" sz="2200" b="1" dirty="0">
                <a:solidFill>
                  <a:srgbClr val="1D5FBF"/>
                </a:solidFill>
                <a:latin typeface="Amiri" pitchFamily="2" charset="-78"/>
                <a:ea typeface="Amiri" pitchFamily="2" charset="-78"/>
                <a:cs typeface="Amiri" pitchFamily="2" charset="-78"/>
              </a:rPr>
              <a:t>إِلَى</a:t>
            </a:r>
            <a:endParaRPr lang="ar-SA" sz="2200" dirty="0"/>
          </a:p>
        </p:txBody>
      </p:sp>
      <p:sp>
        <p:nvSpPr>
          <p:cNvPr id="45" name="Shape 4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6" name="Text 43"/>
          <p:cNvSpPr txBox="1"/>
          <p:nvPr/>
        </p:nvSpPr>
        <p:spPr>
          <a:xfrm>
            <a:off x="9345168" y="521573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adapts to</a:t>
            </a:r>
            <a:endParaRPr lang="en-US" sz="1100" dirty="0"/>
          </a:p>
        </p:txBody>
      </p:sp>
      <p:sp>
        <p:nvSpPr>
          <p:cNvPr id="47" name="Text 44"/>
          <p:cNvSpPr txBox="1"/>
          <p:nvPr/>
        </p:nvSpPr>
        <p:spPr>
          <a:xfrm>
            <a:off x="3291840" y="5234026"/>
            <a:ext cx="585216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يَتَكَيَّفُ المُهَاجِرُ </a:t>
            </a:r>
            <a:pPr rtl="1" algn="ctr" indent="0" marL="0">
              <a:buNone/>
            </a:pPr>
            <a:r>
              <a:rPr lang="ar-SA" altLang="en-US" sz="1950" b="1" dirty="0">
                <a:solidFill>
                  <a:srgbClr val="1D5FBF"/>
                </a:solidFill>
                <a:latin typeface="Amiri" pitchFamily="2" charset="-78"/>
                <a:ea typeface="Amiri" pitchFamily="2" charset="-78"/>
                <a:cs typeface="Amiri" pitchFamily="2" charset="-78"/>
              </a:rPr>
              <a:t>مَعَ</a:t>
            </a:r>
            <a:pPr rtl="1" algn="ctr" indent="0" marL="0">
              <a:buNone/>
            </a:pPr>
            <a:r>
              <a:rPr lang="ar-SA" altLang="en-US" sz="1950" b="1" dirty="0">
                <a:solidFill>
                  <a:srgbClr val="1B3B6F"/>
                </a:solidFill>
                <a:latin typeface="Amiri" pitchFamily="2" charset="-78"/>
                <a:ea typeface="Amiri" pitchFamily="2" charset="-78"/>
                <a:cs typeface="Amiri" pitchFamily="2" charset="-78"/>
              </a:rPr>
              <a:t> الحَيَاةِ الجَدِيدَةِ.</a:t>
            </a:r>
            <a:endParaRPr lang="ar-SA" sz="1950" dirty="0"/>
          </a:p>
        </p:txBody>
      </p:sp>
      <p:sp>
        <p:nvSpPr>
          <p:cNvPr id="48" name="Text 45"/>
          <p:cNvSpPr txBox="1"/>
          <p:nvPr/>
        </p:nvSpPr>
        <p:spPr>
          <a:xfrm>
            <a:off x="3246120" y="5625023"/>
            <a:ext cx="594360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migrant adapts to the new life.</a:t>
            </a:r>
            <a:endParaRPr lang="en-US" sz="950" dirty="0"/>
          </a:p>
        </p:txBody>
      </p:sp>
      <p:sp>
        <p:nvSpPr>
          <p:cNvPr id="49" name="Text 46"/>
          <p:cNvSpPr txBox="1"/>
          <p:nvPr/>
        </p:nvSpPr>
        <p:spPr>
          <a:xfrm>
            <a:off x="548640" y="5215738"/>
            <a:ext cx="256032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يَتَكَيَّفُ </a:t>
            </a:r>
            <a:pPr rtl="1" algn="ctr" indent="0" marL="0">
              <a:buNone/>
            </a:pPr>
            <a:r>
              <a:rPr lang="ar-SA" altLang="en-US" sz="2200" b="1" dirty="0">
                <a:solidFill>
                  <a:srgbClr val="1D5FBF"/>
                </a:solidFill>
                <a:latin typeface="Amiri" pitchFamily="2" charset="-78"/>
                <a:ea typeface="Amiri" pitchFamily="2" charset="-78"/>
                <a:cs typeface="Amiri" pitchFamily="2" charset="-78"/>
              </a:rPr>
              <a:t>مَعَ</a:t>
            </a:r>
            <a:endParaRPr lang="ar-SA" sz="2200" dirty="0"/>
          </a:p>
        </p:txBody>
      </p:sp>
      <p:sp>
        <p:nvSpPr>
          <p:cNvPr id="50" name="Text 4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the preposition the noun is genitive (-i): </a:t>
            </a:r>
            <a:pPr algn="l" indent="0" marL="0">
              <a:buNone/>
            </a:pPr>
            <a:r>
              <a:rPr lang="ar-SA" altLang="en-US" sz="1500" b="1" dirty="0">
                <a:solidFill>
                  <a:srgbClr val="1B3B6F"/>
                </a:solidFill>
                <a:latin typeface="Amiri" pitchFamily="2" charset="-78"/>
                <a:ea typeface="Amiri" pitchFamily="2" charset="-78"/>
                <a:cs typeface="Amiri" pitchFamily="2" charset="-78"/>
              </a:rPr>
              <a:t>عَلَى الضِّيَافَةِ</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بِالمُنَاسَبَةِ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TE-L04 · Customs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CONTRAST, BALANCE, HEDGE (WEBSITE RULES 2–4)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Compare fairly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بِدِقَّةٍ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TE-L04</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50876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CONTRAST · DEVELOP</a:t>
            </a:r>
            <a:endParaRPr lang="en-US" sz="850" dirty="0"/>
          </a:p>
        </p:txBody>
      </p:sp>
      <p:sp>
        <p:nvSpPr>
          <p:cNvPr id="18" name="Text 15"/>
          <p:cNvSpPr txBox="1"/>
          <p:nvPr/>
        </p:nvSpPr>
        <p:spPr>
          <a:xfrm>
            <a:off x="9787128"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بَيْنَمَا</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050" b="1" dirty="0">
                <a:solidFill>
                  <a:srgbClr val="1B3B6F"/>
                </a:solidFill>
                <a:latin typeface="Amiri" pitchFamily="2" charset="-78"/>
                <a:ea typeface="Amiri" pitchFamily="2" charset="-78"/>
                <a:cs typeface="Amiri" pitchFamily="2" charset="-78"/>
              </a:rPr>
              <a:t>تُقَدَّمُ القَهْوَةُ أَوَّلًا فِي بَعْضِ البُلْدَانِ، بَيْنَمَا يُقَدَّمُ الشَّايُ فِي غَيْرِهَا.</a:t>
            </a:r>
            <a:endParaRPr lang="ar-SA" sz="20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In some countries coffee is served first, whereas tea is served in others.</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Two full clauses.</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440180" cy="274320"/>
          </a:xfrm>
          <a:prstGeom prst="roundRect">
            <a:avLst>
              <a:gd name="adj" fmla="val 50000"/>
            </a:avLst>
          </a:prstGeom>
          <a:solidFill>
            <a:srgbClr val="6B4C9A"/>
          </a:solidFill>
          <a:ln w="12700">
            <a:solidFill>
              <a:srgbClr val="6B4C9A"/>
            </a:solidFill>
            <a:prstDash val="solid"/>
          </a:ln>
        </p:spPr>
      </p:sp>
      <p:sp>
        <p:nvSpPr>
          <p:cNvPr id="25" name="Text 22"/>
          <p:cNvSpPr txBox="1"/>
          <p:nvPr/>
        </p:nvSpPr>
        <p:spPr>
          <a:xfrm>
            <a:off x="4413504" y="1920240"/>
            <a:ext cx="14401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BALANCE · STRETCH</a:t>
            </a:r>
            <a:endParaRPr lang="en-US" sz="850" dirty="0"/>
          </a:p>
        </p:txBody>
      </p:sp>
      <p:sp>
        <p:nvSpPr>
          <p:cNvPr id="26" name="Text 23"/>
          <p:cNvSpPr txBox="1"/>
          <p:nvPr/>
        </p:nvSpPr>
        <p:spPr>
          <a:xfrm>
            <a:off x="5899404" y="1874520"/>
            <a:ext cx="1876044" cy="365760"/>
          </a:xfrm>
          <a:prstGeom prst="rect">
            <a:avLst/>
          </a:prstGeom>
          <a:noFill/>
          <a:ln/>
        </p:spPr>
        <p:txBody>
          <a:bodyPr wrap="square" lIns="0" tIns="0" rIns="0" bIns="0" rtlCol="0" anchor="ctr"/>
          <a:lstStyle/>
          <a:p>
            <a:pPr rtl="1" algn="r" indent="0" marL="0">
              <a:buNone/>
            </a:pPr>
            <a:r>
              <a:rPr lang="ar-SA" altLang="en-US" sz="1450" b="1" dirty="0">
                <a:solidFill>
                  <a:srgbClr val="8A6D1E"/>
                </a:solidFill>
                <a:latin typeface="Amiri" pitchFamily="2" charset="-78"/>
                <a:ea typeface="Amiri" pitchFamily="2" charset="-78"/>
                <a:cs typeface="Amiri" pitchFamily="2" charset="-78"/>
              </a:rPr>
              <a:t>مِنْ نَاحِيَةٍ … وَمِنْ نَاحِيَةٍ أُخْرَى</a:t>
            </a:r>
            <a:endParaRPr lang="ar-SA" sz="145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مِنْ نَاحِيَةٍ تَتَغَيَّرُ العَادَاتُ، وَمِنْ نَاحِيَةٍ أُخْرَى تَبْقَى القِيَمُ.</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On one hand customs change; on the other, values remain.</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Two sides.</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097280" cy="274320"/>
          </a:xfrm>
          <a:prstGeom prst="roundRect">
            <a:avLst>
              <a:gd name="adj" fmla="val 50000"/>
            </a:avLst>
          </a:prstGeom>
          <a:solidFill>
            <a:srgbClr val="1E6B52"/>
          </a:solidFill>
          <a:ln w="12700">
            <a:solidFill>
              <a:srgbClr val="1E6B52"/>
            </a:solidFill>
            <a:prstDash val="solid"/>
          </a:ln>
        </p:spPr>
      </p:sp>
      <p:sp>
        <p:nvSpPr>
          <p:cNvPr id="33" name="Text 30"/>
          <p:cNvSpPr txBox="1"/>
          <p:nvPr/>
        </p:nvSpPr>
        <p:spPr>
          <a:xfrm>
            <a:off x="594360" y="1920240"/>
            <a:ext cx="10972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HEDGE · CORE</a:t>
            </a:r>
            <a:endParaRPr lang="en-US" sz="850" dirty="0"/>
          </a:p>
        </p:txBody>
      </p:sp>
      <p:sp>
        <p:nvSpPr>
          <p:cNvPr id="34" name="Text 31"/>
          <p:cNvSpPr txBox="1"/>
          <p:nvPr/>
        </p:nvSpPr>
        <p:spPr>
          <a:xfrm>
            <a:off x="1737360" y="1874520"/>
            <a:ext cx="22189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فِي بَعْضِ العَائِلَاتِ</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فِي بَعْضِ العَائِلَاتِ يُقَبِّلُ الأَبْنَاءُ رَأْسَ الجَدِّ.</a:t>
            </a:r>
            <a:endParaRPr lang="ar-SA" sz="21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In some families children kiss their grandfather’s head.</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Not “all Arabs”.</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a universal claim is a generalisation.</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150" b="1" dirty="0">
                <a:solidFill>
                  <a:srgbClr val="1B3B6F"/>
                </a:solidFill>
                <a:latin typeface="Amiri" pitchFamily="2" charset="-78"/>
                <a:ea typeface="Amiri" pitchFamily="2" charset="-78"/>
                <a:cs typeface="Amiri" pitchFamily="2" charset="-78"/>
              </a:rPr>
              <a:t>فِي بَعْضِ العَائِلَاتِ</a:t>
            </a:r>
            <a:endParaRPr lang="ar-SA" sz="21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2" charset="-78"/>
                <a:ea typeface="Amiri" pitchFamily="2" charset="-78"/>
                <a:cs typeface="Amiri" pitchFamily="2" charset="-78"/>
              </a:rPr>
              <a:t>كُلُّ العَرَبِ</a:t>
            </a:r>
            <a:endParaRPr lang="ar-SA" sz="2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49</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TE-L04 · Customs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Cultural verbs, contrast and qualification</a:t>
            </a:r>
            <a:endParaRPr lang="en-US" sz="22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650" b="1" dirty="0">
                <a:solidFill>
                  <a:srgbClr val="8A6D1E"/>
                </a:solidFill>
                <a:latin typeface="Amiri" pitchFamily="2" charset="-78"/>
                <a:ea typeface="Amiri" pitchFamily="2" charset="-78"/>
                <a:cs typeface="Amiri" pitchFamily="2" charset="-78"/>
              </a:rPr>
              <a:t>أَفْعَالُ الثَّقَافَةِ وَالمُقَارَنَةُ وَالتَّحَفُّظُ</a:t>
            </a:r>
            <a:endParaRPr lang="ar-SA" sz="265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TE-L04</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Cultural verbs and their prepositions</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يَعْتَادُ عَلَى · يَتَمَسَّكُ بِـ · يَنْتَمِي إِلَى · يَتَكَيَّفُ مَعَ</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يَعْتَادُ النَّاسُ عَلَى الضِّيَافَةِ   ·   تَتَمَسَّكُ الأُسْرَةُ بِتَقَالِيدِهَا</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Contrast with </a:t>
            </a:r>
            <a:pPr algn="l" indent="0" marL="0">
              <a:buNone/>
            </a:pPr>
            <a:r>
              <a:rPr lang="ar-SA" altLang="en-US" sz="1650" b="1" dirty="0">
                <a:solidFill>
                  <a:srgbClr val="1B3B6F"/>
                </a:solidFill>
                <a:latin typeface="Amiri" pitchFamily="2" charset="-78"/>
                <a:ea typeface="Amiri" pitchFamily="2" charset="-78"/>
                <a:cs typeface="Amiri" pitchFamily="2" charset="-78"/>
              </a:rPr>
              <a:t>بَيْنَمَا</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clause + </a:t>
            </a:r>
            <a:pPr algn="l" indent="0" marL="0">
              <a:buNone/>
            </a:pPr>
            <a:r>
              <a:rPr lang="ar-SA" altLang="en-US" sz="1350" dirty="0">
                <a:solidFill>
                  <a:srgbClr val="5A6472"/>
                </a:solidFill>
                <a:latin typeface="Amiri" pitchFamily="2" charset="-78"/>
                <a:ea typeface="Amiri" pitchFamily="2" charset="-78"/>
                <a:cs typeface="Amiri" pitchFamily="2" charset="-78"/>
              </a:rPr>
              <a:t>بَيْنَمَا</a:t>
            </a:r>
            <a:pPr algn="l" indent="0" marL="0">
              <a:buNone/>
            </a:pPr>
            <a:r>
              <a:rPr lang="en-US" sz="1050" dirty="0">
                <a:solidFill>
                  <a:srgbClr val="5A6472"/>
                </a:solidFill>
                <a:latin typeface="Calibri" pitchFamily="34" charset="0"/>
                <a:cs typeface="Amiri" pitchFamily="2" charset="-78"/>
              </a:rPr>
              <a:t> + clause</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تُقَدَّمُ القَهْوَةُ أَوَّلًا فِي بَعْضِ البُلْدَانِ، بَيْنَمَا يُقَدَّمُ الشَّايُ فِي غَيْرِهَا</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Two-sided comparison</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مِنْ نَاحِيَةٍ … وَمِنْ نَاحِيَةٍ أُخْرَى …</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مِنْ نَاحِيَةٍ تَتَغَيَّرُ العَادَاتُ، وَمِنْ نَاحِيَةٍ أُخْرَى تَبْقَى القِيَمُ</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Hedging a cultural claim</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فِي بَعْضِ … / أَحْيَانًا / لَيْسَ دَائِمًا</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فِي بَعْضِ العَائِلَاتِ يُقَبِّلُ الأَبْنَاءُ رَأْسَ الجَدِّ   ·   لَيْسَ دَائِمًا تَتَشَابَهُ العَادَاتُ</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49</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TE-L04 · Customs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يَعْتَادُ النَّاسُ ___ الضِّيَافَةِ.</a:t>
            </a:r>
            <a:endParaRPr lang="ar-SA" sz="15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29" name="Shape 26"/>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313932"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2" name="Text 29"/>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3" name="Text 30"/>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تَتَمَسَّكُ الأُسْرَةُ ___ تَقَالِيدِهَا.</a:t>
            </a:r>
            <a:endParaRPr lang="ar-SA" sz="150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celebration sentence.</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تَحْتَفِلُ العَائِلَةُ المُنَاسَبَةَ.</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تَحْتَفِلُ العَائِلَةُ بِالمُنَاسَبَةِ.</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تَحْتَفِلُ العَائِلَةُ عَلَى المُنَاسَبَةِ.</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avoids a generalisation?</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بَعْضِ العَائِلَاتِ يُقَبِّلُ الأَبْنَاءُ رَأْسَ الجَدِّ.</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كُلُّ العَرَبِ يُقَبِّلُونَ رَأْسَ الجَدِّ.</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العَرَبُ دَائِمًا يَفْعَلُونَ ذٰلِكَ.</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49</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TE-L04 · Customs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19" name="Text 16"/>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يَعْتَادُ النَّاسُ ___ الضِّيَافَةِ.</a:t>
            </a:r>
            <a:endParaRPr lang="ar-SA" sz="15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a:t>
            </a:r>
            <a:endParaRPr lang="ar-SA" sz="1700" dirty="0"/>
          </a:p>
        </p:txBody>
      </p:sp>
      <p:sp>
        <p:nvSpPr>
          <p:cNvPr id="26" name="Shape 23"/>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7" name="Shape 24"/>
          <p:cNvSpPr/>
          <p:nvPr/>
        </p:nvSpPr>
        <p:spPr>
          <a:xfrm>
            <a:off x="640080" y="3233928"/>
            <a:ext cx="256032" cy="256032"/>
          </a:xfrm>
          <a:prstGeom prst="ellipse">
            <a:avLst/>
          </a:prstGeom>
          <a:solidFill>
            <a:srgbClr val="2E8B57"/>
          </a:solidFill>
          <a:ln w="12700">
            <a:solidFill>
              <a:srgbClr val="2E8B57"/>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9" name="Text 26"/>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عَلَى</a:t>
            </a:r>
            <a:endParaRPr lang="ar-SA" sz="1700" dirty="0"/>
          </a:p>
        </p:txBody>
      </p:sp>
      <p:sp>
        <p:nvSpPr>
          <p:cNvPr id="30" name="Text 27"/>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يَعْتَادُ</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عَلَى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5" name="Text 32"/>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تَتَمَسَّكُ الأُسْرَةُ ___ تَقَالِيدِهَا.</a:t>
            </a:r>
            <a:endParaRPr lang="ar-SA" sz="1500" dirty="0"/>
          </a:p>
        </p:txBody>
      </p:sp>
      <p:sp>
        <p:nvSpPr>
          <p:cNvPr id="36" name="Shape 33"/>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7" name="Shape 34"/>
          <p:cNvSpPr/>
          <p:nvPr/>
        </p:nvSpPr>
        <p:spPr>
          <a:xfrm>
            <a:off x="6368796" y="2490216"/>
            <a:ext cx="256032" cy="256032"/>
          </a:xfrm>
          <a:prstGeom prst="ellipse">
            <a:avLst/>
          </a:prstGeom>
          <a:solidFill>
            <a:srgbClr val="2E8B57"/>
          </a:solidFill>
          <a:ln w="12700">
            <a:solidFill>
              <a:srgbClr val="2E8B57"/>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بِـ</a:t>
            </a:r>
            <a:endParaRPr lang="ar-SA" sz="1700" dirty="0"/>
          </a:p>
        </p:txBody>
      </p:sp>
      <p:sp>
        <p:nvSpPr>
          <p:cNvPr id="40" name="Shape 37"/>
          <p:cNvSpPr/>
          <p:nvPr/>
        </p:nvSpPr>
        <p:spPr>
          <a:xfrm>
            <a:off x="6368796" y="2862072"/>
            <a:ext cx="256032" cy="256032"/>
          </a:xfrm>
          <a:prstGeom prst="ellipse">
            <a:avLst/>
          </a:prstGeom>
          <a:solidFill>
            <a:srgbClr val="C9CED6"/>
          </a:solidFill>
          <a:ln w="12700">
            <a:solidFill>
              <a:srgbClr val="C9CED6"/>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مَعَ</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يَتَمَسَّكُ</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celebration sentence.</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تَحْتَفِلُ العَائِلَةُ المُنَاسَبَةَ.</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تَحْتَفِلُ العَائِلَةُ بِالمُنَاسَبَةِ.</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تَحْتَفِلُ العَائِلَةُ عَلَى المُنَاسَبَةِ.</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يَحْتَفِلُ</a:t>
            </a:r>
            <a:pPr algn="l" indent="0" marL="0">
              <a:buNone/>
            </a:pPr>
            <a:r>
              <a:rPr lang="en-US" sz="1050" i="1" dirty="0">
                <a:solidFill>
                  <a:srgbClr val="8A6D1E"/>
                </a:solidFill>
                <a:latin typeface="Calibri" pitchFamily="34" charset="0"/>
                <a:cs typeface="Amiri" pitchFamily="2" charset="-78"/>
              </a:rPr>
              <a:t> requires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 and a genitive noun.</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avoids a generalisation?</a:t>
            </a:r>
            <a:endParaRPr lang="en-US" sz="1250" dirty="0"/>
          </a:p>
        </p:txBody>
      </p:sp>
      <p:sp>
        <p:nvSpPr>
          <p:cNvPr id="66" name="Shape 63"/>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7" name="Shape 64"/>
          <p:cNvSpPr/>
          <p:nvPr/>
        </p:nvSpPr>
        <p:spPr>
          <a:xfrm>
            <a:off x="6368796" y="4831080"/>
            <a:ext cx="256032" cy="256032"/>
          </a:xfrm>
          <a:prstGeom prst="ellipse">
            <a:avLst/>
          </a:prstGeom>
          <a:solidFill>
            <a:srgbClr val="2E8B57"/>
          </a:solidFill>
          <a:ln w="12700">
            <a:solidFill>
              <a:srgbClr val="2E8B57"/>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فِي بَعْضِ العَائِلَاتِ يُقَبِّلُ الأَبْنَاءُ رَأْسَ الجَدِّ.</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كُلُّ العَرَبِ يُقَبِّلُونَ رَأْسَ الجَدِّ.</a:t>
            </a:r>
            <a:endParaRPr lang="ar-SA" sz="1700" dirty="0"/>
          </a:p>
        </p:txBody>
      </p:sp>
      <p:sp>
        <p:nvSpPr>
          <p:cNvPr id="73" name="Shape 70"/>
          <p:cNvSpPr/>
          <p:nvPr/>
        </p:nvSpPr>
        <p:spPr>
          <a:xfrm>
            <a:off x="6368796"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العَرَبُ دَائِمًا يَفْعَلُونَ ذٰلِكَ.</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فِي بَعْضِ العَائِلَاتِ</a:t>
            </a:r>
            <a:pPr algn="l" indent="0" marL="0">
              <a:buNone/>
            </a:pPr>
            <a:r>
              <a:rPr lang="en-US" sz="1050" i="1" dirty="0">
                <a:solidFill>
                  <a:srgbClr val="8A6D1E"/>
                </a:solidFill>
                <a:latin typeface="Calibri" pitchFamily="34" charset="0"/>
                <a:cs typeface="Amiri" pitchFamily="2" charset="-78"/>
              </a:rPr>
              <a:t> reports what some families do, which is accurate.</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49</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TE-L04 · Customs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Watch me compare two customs fairly</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TE-L04</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Hedge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D6336C"/>
                </a:solidFill>
                <a:latin typeface="Amiri" pitchFamily="2" charset="-78"/>
                <a:ea typeface="Amiri" pitchFamily="2" charset="-78"/>
                <a:cs typeface="Amiri" pitchFamily="2" charset="-78"/>
              </a:rPr>
              <a:t>فِي بَعْضِ العَائِلَاتِ</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Not everyone.</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Verb + prep</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ea typeface="Amiri" pitchFamily="2" charset="-78"/>
                <a:cs typeface="Amiri" pitchFamily="2" charset="-78"/>
              </a:rPr>
              <a:t>يَعْتَادُ</a:t>
            </a:r>
            <a:pPr rtl="1" algn="ctr" indent="0" marL="0">
              <a:buNone/>
            </a:pPr>
            <a:r>
              <a:rPr lang="ar-SA" altLang="en-US" sz="2100" b="1" dirty="0">
                <a:solidFill>
                  <a:srgbClr val="1B3B6F"/>
                </a:solidFill>
                <a:latin typeface="Amiri" pitchFamily="2" charset="-78"/>
                <a:ea typeface="Amiri" pitchFamily="2" charset="-78"/>
                <a:cs typeface="Amiri" pitchFamily="2" charset="-78"/>
              </a:rPr>
              <a:t> النَّاسُ </a:t>
            </a:r>
            <a:pPr rtl="1" algn="ctr" indent="0" marL="0">
              <a:buNone/>
            </a:pPr>
            <a:r>
              <a:rPr lang="ar-SA" altLang="en-US" sz="2100" b="1" dirty="0">
                <a:solidFill>
                  <a:srgbClr val="0E7C86"/>
                </a:solidFill>
                <a:latin typeface="Amiri" pitchFamily="2" charset="-78"/>
                <a:ea typeface="Amiri" pitchFamily="2" charset="-78"/>
                <a:cs typeface="Amiri" pitchFamily="2" charset="-78"/>
              </a:rPr>
              <a:t>عَلَى</a:t>
            </a:r>
            <a:pPr rtl="1" algn="ctr" indent="0" marL="0">
              <a:buNone/>
            </a:pPr>
            <a:r>
              <a:rPr lang="ar-SA" altLang="en-US" sz="2100" b="1" dirty="0">
                <a:solidFill>
                  <a:srgbClr val="1B3B6F"/>
                </a:solidFill>
                <a:latin typeface="Amiri" pitchFamily="2" charset="-78"/>
                <a:ea typeface="Amiri" pitchFamily="2" charset="-78"/>
                <a:cs typeface="Amiri" pitchFamily="2" charset="-78"/>
              </a:rPr>
              <a:t> الضِّيَافَةِ</a:t>
            </a:r>
            <a:endParaRPr lang="ar-SA" sz="21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iʿtāda + ʿalā.</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Contrast</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بَيْنَمَا</a:t>
            </a:r>
            <a:pPr rtl="1" algn="ctr" indent="0" marL="0">
              <a:buNone/>
            </a:pPr>
            <a:r>
              <a:rPr lang="ar-SA" altLang="en-US" sz="2400" b="1" dirty="0">
                <a:solidFill>
                  <a:srgbClr val="1B3B6F"/>
                </a:solidFill>
                <a:latin typeface="Amiri" pitchFamily="2" charset="-78"/>
                <a:ea typeface="Amiri" pitchFamily="2" charset="-78"/>
                <a:cs typeface="Amiri" pitchFamily="2" charset="-78"/>
              </a:rPr>
              <a:t> نُقَدِّمُ نَحْنُ الشَّايَ</a:t>
            </a:r>
            <a:endParaRPr lang="ar-SA" sz="24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clauses.</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Balance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00" b="1" dirty="0">
                <a:solidFill>
                  <a:srgbClr val="1B3B6F"/>
                </a:solidFill>
                <a:latin typeface="Amiri" pitchFamily="2" charset="-78"/>
                <a:ea typeface="Amiri" pitchFamily="2" charset="-78"/>
                <a:cs typeface="Amiri" pitchFamily="2" charset="-78"/>
              </a:rPr>
              <a:t>مِنْ نَاحِيَةٍ … وَمِنْ نَاحِيَةٍ أُخْرَى …</a:t>
            </a:r>
            <a:endParaRPr lang="ar-SA" sz="1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sides.</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D6336C"/>
          </a:solidFill>
          <a:ln w="12700">
            <a:solidFill>
              <a:srgbClr val="D6336C"/>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HEDGE</a:t>
            </a:r>
            <a:endParaRPr lang="en-US" sz="800" dirty="0"/>
          </a:p>
        </p:txBody>
      </p:sp>
      <p:sp>
        <p:nvSpPr>
          <p:cNvPr id="47" name="Shape 43"/>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VERB + PREPOSITION</a:t>
            </a:r>
            <a:endParaRPr lang="en-US" sz="800" dirty="0"/>
          </a:p>
        </p:txBody>
      </p:sp>
      <p:sp>
        <p:nvSpPr>
          <p:cNvPr id="49" name="Shape 45"/>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CONTRAST</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تَخْتَلِفُ العَادَاتُ بَيْنَ البُلْدَانِ اخْتِلَافًا وَاضِحًا.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فِي بَعْضِ العَائِلَاتِ</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العَرَبِيَّةِ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يَعْتَادُ</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النَّاسُ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عَلَى</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اسْتِقْبَالِ الضَّيْفِ بِالقَهْوَةِ وَالتَّمْرِ،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بَيْنَمَا</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نُقَدِّمُ نَحْنُ الشَّايَ عَادَةً. وَ</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يَتَمَسَّكُ</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كَثِيرٌ مِنَ الأُسَرِ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بِصِلَةِ</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الرَّحِمِ.</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Customs clearly differ between countries. In some Arab families people are used to receiving a guest with coffee and dates, whereas we usually serve tea. Many families hold on to family ties.</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TE-L04 · Customs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TE-L04</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يَعْتَادُ عَلَى الضِّيَافَةِ</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he is used to hospitality</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عَلَى is fixed with يَعْتَادُ.</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تَتَمَسَّكُ بِتَقَالِيدِهَا</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she holds on to her traditions</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بِـ is fixed with يَتَمَسَّكُ.</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فِي بَعْضِ العَائِلَاتِ …</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in some families …</a:t>
            </a:r>
            <a:endParaRPr lang="en-US" sz="1250" dirty="0"/>
          </a:p>
          <a:p>
            <a:pPr indent="0" marL="0">
              <a:buNone/>
            </a:pPr>
            <a:r>
              <a:rPr lang="en-US" sz="1050" i="1" dirty="0">
                <a:solidFill>
                  <a:srgbClr val="8A6D1E"/>
                </a:solidFill>
                <a:latin typeface="Calibri" pitchFamily="34" charset="0"/>
                <a:cs typeface="Amiri" pitchFamily="2" charset="-78"/>
              </a:rPr>
              <a:t>The hedge keeps the claim honest.</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49</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TE-L04 · Customs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WE DO · PICTURE MATCH · WEBSITE GAME “HOSPITALITY &amp; ETIQUETTE (TOPIC GAME)”</a:t>
            </a:r>
            <a:endParaRPr lang="en-US" sz="934"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Match the picture to the sentence</a:t>
            </a:r>
            <a:endParaRPr lang="en-US" sz="27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الضِّيَافَةُ وَالآدَابُ</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TE-L04</a:t>
            </a:r>
            <a:endParaRPr lang="en-US" sz="850" dirty="0"/>
          </a:p>
        </p:txBody>
      </p:sp>
      <p:sp>
        <p:nvSpPr>
          <p:cNvPr id="17" name="Shape 14"/>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23504" y="19385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0" name="Shape 17"/>
          <p:cNvSpPr/>
          <p:nvPr/>
        </p:nvSpPr>
        <p:spPr>
          <a:xfrm>
            <a:off x="8811768" y="2066544"/>
            <a:ext cx="1014984" cy="1014984"/>
          </a:xfrm>
          <a:prstGeom prst="ellipse">
            <a:avLst/>
          </a:prstGeom>
          <a:solidFill>
            <a:srgbClr val="F4F1EA"/>
          </a:solidFill>
          <a:ln w="12700">
            <a:solidFill>
              <a:srgbClr val="F4F1EA"/>
            </a:solidFill>
            <a:prstDash val="solid"/>
          </a:ln>
        </p:spPr>
      </p:sp>
      <p:pic>
        <p:nvPicPr>
          <p:cNvPr id="21"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2" name="Shape 18"/>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3"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4" name="Text 19"/>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visit</a:t>
            </a:r>
            <a:endParaRPr lang="en-US" sz="1100" dirty="0"/>
          </a:p>
        </p:txBody>
      </p:sp>
      <p:sp>
        <p:nvSpPr>
          <p:cNvPr id="25" name="Shape 20"/>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1"/>
          <p:cNvSpPr/>
          <p:nvPr/>
        </p:nvSpPr>
        <p:spPr>
          <a:xfrm>
            <a:off x="4404360" y="1938528"/>
            <a:ext cx="365760" cy="365760"/>
          </a:xfrm>
          <a:prstGeom prst="ellipse">
            <a:avLst/>
          </a:prstGeom>
          <a:solidFill>
            <a:srgbClr val="1B3B6F"/>
          </a:solidFill>
          <a:ln w="12700">
            <a:solidFill>
              <a:srgbClr val="1B3B6F"/>
            </a:solidFill>
            <a:prstDash val="solid"/>
          </a:ln>
        </p:spPr>
      </p:sp>
      <p:sp>
        <p:nvSpPr>
          <p:cNvPr id="27" name="Text 22"/>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8" name="Shape 23"/>
          <p:cNvSpPr/>
          <p:nvPr/>
        </p:nvSpPr>
        <p:spPr>
          <a:xfrm>
            <a:off x="4398264" y="2066544"/>
            <a:ext cx="1014984" cy="1014984"/>
          </a:xfrm>
          <a:prstGeom prst="ellipse">
            <a:avLst/>
          </a:prstGeom>
          <a:solidFill>
            <a:srgbClr val="F4F1EA"/>
          </a:solidFill>
          <a:ln w="12700">
            <a:solidFill>
              <a:srgbClr val="F4F1EA"/>
            </a:solidFill>
            <a:prstDash val="solid"/>
          </a:ln>
        </p:spPr>
      </p:sp>
      <p:pic>
        <p:nvPicPr>
          <p:cNvPr id="29" name="Image 2" descr="preencoded.png">    </p:cNvPr>
          <p:cNvPicPr>
            <a:picLocks noChangeAspect="1"/>
          </p:cNvPicPr>
          <p:nvPr/>
        </p:nvPicPr>
        <p:blipFill>
          <a:blip r:embed="rId3"/>
          <a:stretch>
            <a:fillRect/>
          </a:stretch>
        </p:blipFill>
        <p:spPr>
          <a:xfrm>
            <a:off x="4581144" y="2249424"/>
            <a:ext cx="649224" cy="649224"/>
          </a:xfrm>
          <a:prstGeom prst="rect">
            <a:avLst/>
          </a:prstGeom>
        </p:spPr>
      </p:pic>
      <p:sp>
        <p:nvSpPr>
          <p:cNvPr id="30" name="Shape 24"/>
          <p:cNvSpPr/>
          <p:nvPr/>
        </p:nvSpPr>
        <p:spPr>
          <a:xfrm>
            <a:off x="5586984" y="2066544"/>
            <a:ext cx="1014984" cy="1014984"/>
          </a:xfrm>
          <a:prstGeom prst="ellipse">
            <a:avLst/>
          </a:prstGeom>
          <a:solidFill>
            <a:srgbClr val="F4F1EA"/>
          </a:solidFill>
          <a:ln w="12700">
            <a:solidFill>
              <a:srgbClr val="F4F1EA"/>
            </a:solidFill>
            <a:prstDash val="solid"/>
          </a:ln>
        </p:spPr>
      </p:sp>
      <p:pic>
        <p:nvPicPr>
          <p:cNvPr id="31" name="Image 3" descr="preencoded.png">    </p:cNvPr>
          <p:cNvPicPr>
            <a:picLocks noChangeAspect="1"/>
          </p:cNvPicPr>
          <p:nvPr/>
        </p:nvPicPr>
        <p:blipFill>
          <a:blip r:embed="rId4"/>
          <a:stretch>
            <a:fillRect/>
          </a:stretch>
        </p:blipFill>
        <p:spPr>
          <a:xfrm>
            <a:off x="5769864" y="2249424"/>
            <a:ext cx="649224" cy="649224"/>
          </a:xfrm>
          <a:prstGeom prst="rect">
            <a:avLst/>
          </a:prstGeom>
        </p:spPr>
      </p:pic>
      <p:sp>
        <p:nvSpPr>
          <p:cNvPr id="32" name="Shape 25"/>
          <p:cNvSpPr/>
          <p:nvPr/>
        </p:nvSpPr>
        <p:spPr>
          <a:xfrm>
            <a:off x="6775704" y="2066544"/>
            <a:ext cx="1014984" cy="1014984"/>
          </a:xfrm>
          <a:prstGeom prst="ellipse">
            <a:avLst/>
          </a:prstGeom>
          <a:solidFill>
            <a:srgbClr val="F4F1EA"/>
          </a:solidFill>
          <a:ln w="12700">
            <a:solidFill>
              <a:srgbClr val="F4F1EA"/>
            </a:solidFill>
            <a:prstDash val="solid"/>
          </a:ln>
        </p:spPr>
      </p:sp>
      <p:pic>
        <p:nvPicPr>
          <p:cNvPr id="33" name="Image 4" descr="preencoded.png">    </p:cNvPr>
          <p:cNvPicPr>
            <a:picLocks noChangeAspect="1"/>
          </p:cNvPicPr>
          <p:nvPr/>
        </p:nvPicPr>
        <p:blipFill>
          <a:blip r:embed="rId5"/>
          <a:stretch>
            <a:fillRect/>
          </a:stretch>
        </p:blipFill>
        <p:spPr>
          <a:xfrm>
            <a:off x="6958584" y="2249424"/>
            <a:ext cx="649224" cy="649224"/>
          </a:xfrm>
          <a:prstGeom prst="rect">
            <a:avLst/>
          </a:prstGeom>
        </p:spPr>
      </p:pic>
      <p:sp>
        <p:nvSpPr>
          <p:cNvPr id="34" name="Text 26"/>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hospitality</a:t>
            </a:r>
            <a:endParaRPr lang="en-US" sz="1100" dirty="0"/>
          </a:p>
        </p:txBody>
      </p:sp>
      <p:sp>
        <p:nvSpPr>
          <p:cNvPr id="35" name="Shape 27"/>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28"/>
          <p:cNvSpPr/>
          <p:nvPr/>
        </p:nvSpPr>
        <p:spPr>
          <a:xfrm>
            <a:off x="585216" y="1938528"/>
            <a:ext cx="365760" cy="365760"/>
          </a:xfrm>
          <a:prstGeom prst="ellipse">
            <a:avLst/>
          </a:prstGeom>
          <a:solidFill>
            <a:srgbClr val="1B3B6F"/>
          </a:solidFill>
          <a:ln w="12700">
            <a:solidFill>
              <a:srgbClr val="1B3B6F"/>
            </a:solidFill>
            <a:prstDash val="solid"/>
          </a:ln>
        </p:spPr>
      </p:sp>
      <p:sp>
        <p:nvSpPr>
          <p:cNvPr id="37" name="Text 29"/>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8" name="Shape 30"/>
          <p:cNvSpPr/>
          <p:nvPr/>
        </p:nvSpPr>
        <p:spPr>
          <a:xfrm>
            <a:off x="1173480" y="2066544"/>
            <a:ext cx="1014984" cy="1014984"/>
          </a:xfrm>
          <a:prstGeom prst="ellipse">
            <a:avLst/>
          </a:prstGeom>
          <a:solidFill>
            <a:srgbClr val="F4F1EA"/>
          </a:solidFill>
          <a:ln w="12700">
            <a:solidFill>
              <a:srgbClr val="F4F1EA"/>
            </a:solidFill>
            <a:prstDash val="solid"/>
          </a:ln>
        </p:spPr>
      </p:sp>
      <p:pic>
        <p:nvPicPr>
          <p:cNvPr id="39" name="Image 5" descr="preencoded.png">    </p:cNvPr>
          <p:cNvPicPr>
            <a:picLocks noChangeAspect="1"/>
          </p:cNvPicPr>
          <p:nvPr/>
        </p:nvPicPr>
        <p:blipFill>
          <a:blip r:embed="rId6"/>
          <a:stretch>
            <a:fillRect/>
          </a:stretch>
        </p:blipFill>
        <p:spPr>
          <a:xfrm>
            <a:off x="1356360" y="2249424"/>
            <a:ext cx="649224" cy="649224"/>
          </a:xfrm>
          <a:prstGeom prst="rect">
            <a:avLst/>
          </a:prstGeom>
        </p:spPr>
      </p:pic>
      <p:sp>
        <p:nvSpPr>
          <p:cNvPr id="40" name="Shape 31"/>
          <p:cNvSpPr/>
          <p:nvPr/>
        </p:nvSpPr>
        <p:spPr>
          <a:xfrm>
            <a:off x="2362200" y="2066544"/>
            <a:ext cx="1014984" cy="1014984"/>
          </a:xfrm>
          <a:prstGeom prst="ellipse">
            <a:avLst/>
          </a:prstGeom>
          <a:solidFill>
            <a:srgbClr val="F4F1EA"/>
          </a:solidFill>
          <a:ln w="12700">
            <a:solidFill>
              <a:srgbClr val="F4F1EA"/>
            </a:solidFill>
            <a:prstDash val="solid"/>
          </a:ln>
        </p:spPr>
      </p:sp>
      <p:pic>
        <p:nvPicPr>
          <p:cNvPr id="41" name="Image 6" descr="preencoded.png">    </p:cNvPr>
          <p:cNvPicPr>
            <a:picLocks noChangeAspect="1"/>
          </p:cNvPicPr>
          <p:nvPr/>
        </p:nvPicPr>
        <p:blipFill>
          <a:blip r:embed="rId7"/>
          <a:stretch>
            <a:fillRect/>
          </a:stretch>
        </p:blipFill>
        <p:spPr>
          <a:xfrm>
            <a:off x="2545080" y="2249424"/>
            <a:ext cx="649224" cy="649224"/>
          </a:xfrm>
          <a:prstGeom prst="rect">
            <a:avLst/>
          </a:prstGeom>
        </p:spPr>
      </p:pic>
      <p:sp>
        <p:nvSpPr>
          <p:cNvPr id="42" name="Text 32"/>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new culture</a:t>
            </a:r>
            <a:endParaRPr lang="en-US" sz="1100" dirty="0"/>
          </a:p>
        </p:txBody>
      </p:sp>
      <p:sp>
        <p:nvSpPr>
          <p:cNvPr id="43" name="Shape 33"/>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4" name="Shape 34"/>
          <p:cNvSpPr/>
          <p:nvPr/>
        </p:nvSpPr>
        <p:spPr>
          <a:xfrm>
            <a:off x="11247120" y="3831336"/>
            <a:ext cx="292608" cy="292608"/>
          </a:xfrm>
          <a:prstGeom prst="ellipse">
            <a:avLst/>
          </a:prstGeom>
          <a:solidFill>
            <a:srgbClr val="2F6FB0"/>
          </a:solidFill>
          <a:ln w="12700">
            <a:solidFill>
              <a:srgbClr val="2F6FB0"/>
            </a:solidFill>
            <a:prstDash val="solid"/>
          </a:ln>
        </p:spPr>
      </p:sp>
      <p:sp>
        <p:nvSpPr>
          <p:cNvPr id="45" name="Text 35"/>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6" name="Text 36"/>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مِنَ الْمُهَذَّبِ أَنْ أَشْكُرَ الْمُضِيفَ عَلَى الضِّيَافَةِ.</a:t>
            </a:r>
            <a:endParaRPr lang="ar-SA" sz="2000" dirty="0"/>
          </a:p>
        </p:txBody>
      </p:sp>
      <p:sp>
        <p:nvSpPr>
          <p:cNvPr id="47" name="Shape 37"/>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8" name="Shape 38"/>
          <p:cNvSpPr/>
          <p:nvPr/>
        </p:nvSpPr>
        <p:spPr>
          <a:xfrm>
            <a:off x="11247120" y="4398264"/>
            <a:ext cx="292608" cy="292608"/>
          </a:xfrm>
          <a:prstGeom prst="ellipse">
            <a:avLst/>
          </a:prstGeom>
          <a:solidFill>
            <a:srgbClr val="2F6FB0"/>
          </a:solidFill>
          <a:ln w="12700">
            <a:solidFill>
              <a:srgbClr val="2F6FB0"/>
            </a:solidFill>
            <a:prstDash val="solid"/>
          </a:ln>
        </p:spPr>
      </p:sp>
      <p:sp>
        <p:nvSpPr>
          <p:cNvPr id="49" name="Text 39"/>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50" name="Text 40"/>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إِذَا لَمْ أَعْرِفِ الْعَادَةَ فَمِنَ الأَفْضَلِ أَنْ أَسْأَلَ بِاحْتِرَامٍ.</a:t>
            </a:r>
            <a:endParaRPr lang="ar-SA" sz="2000" dirty="0"/>
          </a:p>
        </p:txBody>
      </p:sp>
      <p:sp>
        <p:nvSpPr>
          <p:cNvPr id="51" name="Shape 41"/>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52" name="Shape 42"/>
          <p:cNvSpPr/>
          <p:nvPr/>
        </p:nvSpPr>
        <p:spPr>
          <a:xfrm>
            <a:off x="11247120" y="4965192"/>
            <a:ext cx="292608" cy="292608"/>
          </a:xfrm>
          <a:prstGeom prst="ellipse">
            <a:avLst/>
          </a:prstGeom>
          <a:solidFill>
            <a:srgbClr val="2F6FB0"/>
          </a:solidFill>
          <a:ln w="12700">
            <a:solidFill>
              <a:srgbClr val="2F6FB0"/>
            </a:solidFill>
            <a:prstDash val="solid"/>
          </a:ln>
        </p:spPr>
      </p:sp>
      <p:sp>
        <p:nvSpPr>
          <p:cNvPr id="53" name="Text 43"/>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4" name="Text 44"/>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عِنْدَمَا أَزُورُ أَحَدًا أُحَيِّيهِ بِأَدَبٍ.</a:t>
            </a:r>
            <a:endParaRPr lang="ar-SA" sz="2000" dirty="0"/>
          </a:p>
        </p:txBody>
      </p:sp>
      <p:sp>
        <p:nvSpPr>
          <p:cNvPr id="55" name="Text 45"/>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6" name="Text 46"/>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7"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49</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TE-L04 · Customs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الضِّيَافَةُ وَالآدَابُ</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TE-L04</a:t>
            </a:r>
            <a:endParaRPr lang="en-US" sz="850" dirty="0"/>
          </a:p>
        </p:txBody>
      </p:sp>
      <p:sp>
        <p:nvSpPr>
          <p:cNvPr id="17" name="Shape 14"/>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23504" y="19385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0" name="Shape 17"/>
          <p:cNvSpPr/>
          <p:nvPr/>
        </p:nvSpPr>
        <p:spPr>
          <a:xfrm>
            <a:off x="8811768" y="2066544"/>
            <a:ext cx="1014984" cy="1014984"/>
          </a:xfrm>
          <a:prstGeom prst="ellipse">
            <a:avLst/>
          </a:prstGeom>
          <a:solidFill>
            <a:srgbClr val="F4F1EA"/>
          </a:solidFill>
          <a:ln w="12700">
            <a:solidFill>
              <a:srgbClr val="F4F1EA"/>
            </a:solidFill>
            <a:prstDash val="solid"/>
          </a:ln>
        </p:spPr>
      </p:sp>
      <p:pic>
        <p:nvPicPr>
          <p:cNvPr id="21"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2" name="Shape 18"/>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3"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4" name="Text 19"/>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visit</a:t>
            </a:r>
            <a:endParaRPr lang="en-US" sz="1100" dirty="0"/>
          </a:p>
        </p:txBody>
      </p:sp>
      <p:sp>
        <p:nvSpPr>
          <p:cNvPr id="25" name="Shape 20"/>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6" name="Shape 21"/>
          <p:cNvSpPr/>
          <p:nvPr/>
        </p:nvSpPr>
        <p:spPr>
          <a:xfrm>
            <a:off x="11256264" y="3785616"/>
            <a:ext cx="329184" cy="329184"/>
          </a:xfrm>
          <a:prstGeom prst="ellipse">
            <a:avLst/>
          </a:prstGeom>
          <a:solidFill>
            <a:srgbClr val="2E8B57"/>
          </a:solidFill>
          <a:ln w="12700">
            <a:solidFill>
              <a:srgbClr val="2E8B57"/>
            </a:solidFill>
            <a:prstDash val="solid"/>
          </a:ln>
        </p:spPr>
      </p:sp>
      <p:sp>
        <p:nvSpPr>
          <p:cNvPr id="27" name="Text 22"/>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8" name="Text 23"/>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عِنْدَمَا أَزُورُ أَحَدًا أُحَيِّيهِ بِأَدَبٍ.</a:t>
            </a:r>
            <a:endParaRPr lang="ar-SA" sz="2200" dirty="0"/>
          </a:p>
        </p:txBody>
      </p:sp>
      <p:sp>
        <p:nvSpPr>
          <p:cNvPr id="29" name="Text 24"/>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When I visit someone, I greet them politely.</a:t>
            </a:r>
            <a:endParaRPr lang="en-US" sz="1200" dirty="0"/>
          </a:p>
        </p:txBody>
      </p:sp>
      <p:sp>
        <p:nvSpPr>
          <p:cNvPr id="30" name="Shape 25"/>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6"/>
          <p:cNvSpPr/>
          <p:nvPr/>
        </p:nvSpPr>
        <p:spPr>
          <a:xfrm>
            <a:off x="4404360" y="1938528"/>
            <a:ext cx="365760" cy="365760"/>
          </a:xfrm>
          <a:prstGeom prst="ellipse">
            <a:avLst/>
          </a:prstGeom>
          <a:solidFill>
            <a:srgbClr val="1B3B6F"/>
          </a:solidFill>
          <a:ln w="12700">
            <a:solidFill>
              <a:srgbClr val="1B3B6F"/>
            </a:solidFill>
            <a:prstDash val="solid"/>
          </a:ln>
        </p:spPr>
      </p:sp>
      <p:sp>
        <p:nvSpPr>
          <p:cNvPr id="32" name="Text 27"/>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3" name="Shape 28"/>
          <p:cNvSpPr/>
          <p:nvPr/>
        </p:nvSpPr>
        <p:spPr>
          <a:xfrm>
            <a:off x="4398264" y="2066544"/>
            <a:ext cx="1014984" cy="1014984"/>
          </a:xfrm>
          <a:prstGeom prst="ellipse">
            <a:avLst/>
          </a:prstGeom>
          <a:solidFill>
            <a:srgbClr val="F4F1EA"/>
          </a:solidFill>
          <a:ln w="12700">
            <a:solidFill>
              <a:srgbClr val="F4F1EA"/>
            </a:solidFill>
            <a:prstDash val="solid"/>
          </a:ln>
        </p:spPr>
      </p:sp>
      <p:pic>
        <p:nvPicPr>
          <p:cNvPr id="34" name="Image 2" descr="preencoded.png">    </p:cNvPr>
          <p:cNvPicPr>
            <a:picLocks noChangeAspect="1"/>
          </p:cNvPicPr>
          <p:nvPr/>
        </p:nvPicPr>
        <p:blipFill>
          <a:blip r:embed="rId3"/>
          <a:stretch>
            <a:fillRect/>
          </a:stretch>
        </p:blipFill>
        <p:spPr>
          <a:xfrm>
            <a:off x="4581144" y="2249424"/>
            <a:ext cx="649224" cy="649224"/>
          </a:xfrm>
          <a:prstGeom prst="rect">
            <a:avLst/>
          </a:prstGeom>
        </p:spPr>
      </p:pic>
      <p:sp>
        <p:nvSpPr>
          <p:cNvPr id="35" name="Shape 29"/>
          <p:cNvSpPr/>
          <p:nvPr/>
        </p:nvSpPr>
        <p:spPr>
          <a:xfrm>
            <a:off x="5586984" y="2066544"/>
            <a:ext cx="1014984" cy="1014984"/>
          </a:xfrm>
          <a:prstGeom prst="ellipse">
            <a:avLst/>
          </a:prstGeom>
          <a:solidFill>
            <a:srgbClr val="F4F1EA"/>
          </a:solidFill>
          <a:ln w="12700">
            <a:solidFill>
              <a:srgbClr val="F4F1EA"/>
            </a:solidFill>
            <a:prstDash val="solid"/>
          </a:ln>
        </p:spPr>
      </p:sp>
      <p:pic>
        <p:nvPicPr>
          <p:cNvPr id="36" name="Image 3" descr="preencoded.png">    </p:cNvPr>
          <p:cNvPicPr>
            <a:picLocks noChangeAspect="1"/>
          </p:cNvPicPr>
          <p:nvPr/>
        </p:nvPicPr>
        <p:blipFill>
          <a:blip r:embed="rId4"/>
          <a:stretch>
            <a:fillRect/>
          </a:stretch>
        </p:blipFill>
        <p:spPr>
          <a:xfrm>
            <a:off x="5769864" y="2249424"/>
            <a:ext cx="649224" cy="649224"/>
          </a:xfrm>
          <a:prstGeom prst="rect">
            <a:avLst/>
          </a:prstGeom>
        </p:spPr>
      </p:pic>
      <p:sp>
        <p:nvSpPr>
          <p:cNvPr id="37" name="Shape 30"/>
          <p:cNvSpPr/>
          <p:nvPr/>
        </p:nvSpPr>
        <p:spPr>
          <a:xfrm>
            <a:off x="6775704" y="2066544"/>
            <a:ext cx="1014984" cy="1014984"/>
          </a:xfrm>
          <a:prstGeom prst="ellipse">
            <a:avLst/>
          </a:prstGeom>
          <a:solidFill>
            <a:srgbClr val="F4F1EA"/>
          </a:solidFill>
          <a:ln w="12700">
            <a:solidFill>
              <a:srgbClr val="F4F1EA"/>
            </a:solidFill>
            <a:prstDash val="solid"/>
          </a:ln>
        </p:spPr>
      </p:sp>
      <p:pic>
        <p:nvPicPr>
          <p:cNvPr id="38" name="Image 4" descr="preencoded.png">    </p:cNvPr>
          <p:cNvPicPr>
            <a:picLocks noChangeAspect="1"/>
          </p:cNvPicPr>
          <p:nvPr/>
        </p:nvPicPr>
        <p:blipFill>
          <a:blip r:embed="rId5"/>
          <a:stretch>
            <a:fillRect/>
          </a:stretch>
        </p:blipFill>
        <p:spPr>
          <a:xfrm>
            <a:off x="6958584" y="2249424"/>
            <a:ext cx="649224" cy="649224"/>
          </a:xfrm>
          <a:prstGeom prst="rect">
            <a:avLst/>
          </a:prstGeom>
        </p:spPr>
      </p:pic>
      <p:sp>
        <p:nvSpPr>
          <p:cNvPr id="39" name="Text 31"/>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hospitality</a:t>
            </a:r>
            <a:endParaRPr lang="en-US" sz="1100" dirty="0"/>
          </a:p>
        </p:txBody>
      </p:sp>
      <p:sp>
        <p:nvSpPr>
          <p:cNvPr id="40" name="Shape 32"/>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Shape 33"/>
          <p:cNvSpPr/>
          <p:nvPr/>
        </p:nvSpPr>
        <p:spPr>
          <a:xfrm>
            <a:off x="7437120" y="3785616"/>
            <a:ext cx="329184" cy="329184"/>
          </a:xfrm>
          <a:prstGeom prst="ellipse">
            <a:avLst/>
          </a:prstGeom>
          <a:solidFill>
            <a:srgbClr val="2E8B57"/>
          </a:solidFill>
          <a:ln w="12700">
            <a:solidFill>
              <a:srgbClr val="2E8B57"/>
            </a:solidFill>
            <a:prstDash val="solid"/>
          </a:ln>
        </p:spPr>
      </p:sp>
      <p:sp>
        <p:nvSpPr>
          <p:cNvPr id="42" name="Text 34"/>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43" name="Text 35"/>
          <p:cNvSpPr txBox="1"/>
          <p:nvPr/>
        </p:nvSpPr>
        <p:spPr>
          <a:xfrm>
            <a:off x="4413504"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مِنَ الْمُهَذَّبِ أَنْ أَشْكُرَ الْمُضِيفَ عَلَى الضِّيَافَةِ.</a:t>
            </a:r>
            <a:endParaRPr lang="ar-SA" sz="2200" dirty="0"/>
          </a:p>
        </p:txBody>
      </p:sp>
      <p:sp>
        <p:nvSpPr>
          <p:cNvPr id="44" name="Text 36"/>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It is polite to thank the host for the hospitality.</a:t>
            </a:r>
            <a:endParaRPr lang="en-US" sz="1200" dirty="0"/>
          </a:p>
        </p:txBody>
      </p:sp>
      <p:sp>
        <p:nvSpPr>
          <p:cNvPr id="45" name="Shape 37"/>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38"/>
          <p:cNvSpPr/>
          <p:nvPr/>
        </p:nvSpPr>
        <p:spPr>
          <a:xfrm>
            <a:off x="585216" y="1938528"/>
            <a:ext cx="365760" cy="365760"/>
          </a:xfrm>
          <a:prstGeom prst="ellipse">
            <a:avLst/>
          </a:prstGeom>
          <a:solidFill>
            <a:srgbClr val="1B3B6F"/>
          </a:solidFill>
          <a:ln w="12700">
            <a:solidFill>
              <a:srgbClr val="1B3B6F"/>
            </a:solidFill>
            <a:prstDash val="solid"/>
          </a:ln>
        </p:spPr>
      </p:sp>
      <p:sp>
        <p:nvSpPr>
          <p:cNvPr id="47" name="Text 39"/>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8" name="Shape 40"/>
          <p:cNvSpPr/>
          <p:nvPr/>
        </p:nvSpPr>
        <p:spPr>
          <a:xfrm>
            <a:off x="1173480" y="2066544"/>
            <a:ext cx="1014984" cy="1014984"/>
          </a:xfrm>
          <a:prstGeom prst="ellipse">
            <a:avLst/>
          </a:prstGeom>
          <a:solidFill>
            <a:srgbClr val="F4F1EA"/>
          </a:solidFill>
          <a:ln w="12700">
            <a:solidFill>
              <a:srgbClr val="F4F1EA"/>
            </a:solidFill>
            <a:prstDash val="solid"/>
          </a:ln>
        </p:spPr>
      </p:sp>
      <p:pic>
        <p:nvPicPr>
          <p:cNvPr id="49" name="Image 5" descr="preencoded.png">    </p:cNvPr>
          <p:cNvPicPr>
            <a:picLocks noChangeAspect="1"/>
          </p:cNvPicPr>
          <p:nvPr/>
        </p:nvPicPr>
        <p:blipFill>
          <a:blip r:embed="rId6"/>
          <a:stretch>
            <a:fillRect/>
          </a:stretch>
        </p:blipFill>
        <p:spPr>
          <a:xfrm>
            <a:off x="1356360" y="2249424"/>
            <a:ext cx="649224" cy="649224"/>
          </a:xfrm>
          <a:prstGeom prst="rect">
            <a:avLst/>
          </a:prstGeom>
        </p:spPr>
      </p:pic>
      <p:sp>
        <p:nvSpPr>
          <p:cNvPr id="50" name="Shape 41"/>
          <p:cNvSpPr/>
          <p:nvPr/>
        </p:nvSpPr>
        <p:spPr>
          <a:xfrm>
            <a:off x="2362200" y="2066544"/>
            <a:ext cx="1014984" cy="1014984"/>
          </a:xfrm>
          <a:prstGeom prst="ellipse">
            <a:avLst/>
          </a:prstGeom>
          <a:solidFill>
            <a:srgbClr val="F4F1EA"/>
          </a:solidFill>
          <a:ln w="12700">
            <a:solidFill>
              <a:srgbClr val="F4F1EA"/>
            </a:solidFill>
            <a:prstDash val="solid"/>
          </a:ln>
        </p:spPr>
      </p:sp>
      <p:pic>
        <p:nvPicPr>
          <p:cNvPr id="51" name="Image 6" descr="preencoded.png">    </p:cNvPr>
          <p:cNvPicPr>
            <a:picLocks noChangeAspect="1"/>
          </p:cNvPicPr>
          <p:nvPr/>
        </p:nvPicPr>
        <p:blipFill>
          <a:blip r:embed="rId7"/>
          <a:stretch>
            <a:fillRect/>
          </a:stretch>
        </p:blipFill>
        <p:spPr>
          <a:xfrm>
            <a:off x="2545080" y="2249424"/>
            <a:ext cx="649224" cy="649224"/>
          </a:xfrm>
          <a:prstGeom prst="rect">
            <a:avLst/>
          </a:prstGeom>
        </p:spPr>
      </p:pic>
      <p:sp>
        <p:nvSpPr>
          <p:cNvPr id="52" name="Text 42"/>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new culture</a:t>
            </a:r>
            <a:endParaRPr lang="en-US" sz="1100" dirty="0"/>
          </a:p>
        </p:txBody>
      </p:sp>
      <p:sp>
        <p:nvSpPr>
          <p:cNvPr id="53" name="Shape 43"/>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4" name="Shape 44"/>
          <p:cNvSpPr/>
          <p:nvPr/>
        </p:nvSpPr>
        <p:spPr>
          <a:xfrm>
            <a:off x="3617976" y="3785616"/>
            <a:ext cx="329184" cy="329184"/>
          </a:xfrm>
          <a:prstGeom prst="ellipse">
            <a:avLst/>
          </a:prstGeom>
          <a:solidFill>
            <a:srgbClr val="2E8B57"/>
          </a:solidFill>
          <a:ln w="12700">
            <a:solidFill>
              <a:srgbClr val="2E8B57"/>
            </a:solidFill>
            <a:prstDash val="solid"/>
          </a:ln>
        </p:spPr>
      </p:sp>
      <p:sp>
        <p:nvSpPr>
          <p:cNvPr id="55" name="Text 45"/>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6" name="Text 46"/>
          <p:cNvSpPr txBox="1"/>
          <p:nvPr/>
        </p:nvSpPr>
        <p:spPr>
          <a:xfrm>
            <a:off x="594360"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إِذَا لَمْ أَعْرِفِ الْعَادَةَ فَمِنَ الأَفْضَلِ أَنْ أَسْأَلَ بِاحْتِرَامٍ.</a:t>
            </a:r>
            <a:endParaRPr lang="ar-SA" sz="2200" dirty="0"/>
          </a:p>
        </p:txBody>
      </p:sp>
      <p:sp>
        <p:nvSpPr>
          <p:cNvPr id="57" name="Text 47"/>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If I do not know the custom, it is best to ask respectfully.</a:t>
            </a:r>
            <a:endParaRPr lang="en-US" sz="1200" dirty="0"/>
          </a:p>
        </p:txBody>
      </p:sp>
      <p:sp>
        <p:nvSpPr>
          <p:cNvPr id="58"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49</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TE-L04 · Customs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CULTURAL CUSTOMS — TRADITIONS, GREETINGS AND SOCIAL NORMS”</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custom? Match the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الثَّقَافَةُ وَالعَادَاتُ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TE-L04</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coffee and handshake</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558698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769864" y="2249424"/>
            <a:ext cx="649224" cy="649224"/>
          </a:xfrm>
          <a:prstGeom prst="rect">
            <a:avLst/>
          </a:prstGeom>
        </p:spPr>
      </p:pic>
      <p:sp>
        <p:nvSpPr>
          <p:cNvPr id="28" name="Text 22"/>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greeting wave</a:t>
            </a:r>
            <a:endParaRPr lang="en-US" sz="1100" dirty="0"/>
          </a:p>
        </p:txBody>
      </p:sp>
      <p:sp>
        <p:nvSpPr>
          <p:cNvPr id="29" name="Shape 23"/>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4"/>
          <p:cNvSpPr/>
          <p:nvPr/>
        </p:nvSpPr>
        <p:spPr>
          <a:xfrm>
            <a:off x="585216" y="1938528"/>
            <a:ext cx="365760" cy="365760"/>
          </a:xfrm>
          <a:prstGeom prst="ellipse">
            <a:avLst/>
          </a:prstGeom>
          <a:solidFill>
            <a:srgbClr val="1B3B6F"/>
          </a:solidFill>
          <a:ln w="12700">
            <a:solidFill>
              <a:srgbClr val="1B3B6F"/>
            </a:solidFill>
            <a:prstDash val="solid"/>
          </a:ln>
        </p:spPr>
      </p:sp>
      <p:sp>
        <p:nvSpPr>
          <p:cNvPr id="31" name="Text 25"/>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Shape 26"/>
          <p:cNvSpPr/>
          <p:nvPr/>
        </p:nvSpPr>
        <p:spPr>
          <a:xfrm>
            <a:off x="1173480" y="2066544"/>
            <a:ext cx="1014984" cy="1014984"/>
          </a:xfrm>
          <a:prstGeom prst="ellipse">
            <a:avLst/>
          </a:prstGeom>
          <a:solidFill>
            <a:srgbClr val="F4F1EA"/>
          </a:solidFill>
          <a:ln w="12700">
            <a:solidFill>
              <a:srgbClr val="F4F1EA"/>
            </a:solidFill>
            <a:prstDash val="solid"/>
          </a:ln>
        </p:spPr>
      </p:sp>
      <p:pic>
        <p:nvPicPr>
          <p:cNvPr id="33" name="Image 3" descr="preencoded.png">    </p:cNvPr>
          <p:cNvPicPr>
            <a:picLocks noChangeAspect="1"/>
          </p:cNvPicPr>
          <p:nvPr/>
        </p:nvPicPr>
        <p:blipFill>
          <a:blip r:embed="rId4"/>
          <a:stretch>
            <a:fillRect/>
          </a:stretch>
        </p:blipFill>
        <p:spPr>
          <a:xfrm>
            <a:off x="1356360" y="2249424"/>
            <a:ext cx="649224" cy="649224"/>
          </a:xfrm>
          <a:prstGeom prst="rect">
            <a:avLst/>
          </a:prstGeom>
        </p:spPr>
      </p:pic>
      <p:sp>
        <p:nvSpPr>
          <p:cNvPr id="34" name="Shape 27"/>
          <p:cNvSpPr/>
          <p:nvPr/>
        </p:nvSpPr>
        <p:spPr>
          <a:xfrm>
            <a:off x="236220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2545080" y="2249424"/>
            <a:ext cx="649224" cy="649224"/>
          </a:xfrm>
          <a:prstGeom prst="rect">
            <a:avLst/>
          </a:prstGeom>
        </p:spPr>
      </p:pic>
      <p:sp>
        <p:nvSpPr>
          <p:cNvPr id="36" name="Text 28"/>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family meal</a:t>
            </a:r>
            <a:endParaRPr lang="en-US" sz="1100" dirty="0"/>
          </a:p>
        </p:txBody>
      </p:sp>
      <p:sp>
        <p:nvSpPr>
          <p:cNvPr id="37" name="Shape 29"/>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38" name="Shape 30"/>
          <p:cNvSpPr/>
          <p:nvPr/>
        </p:nvSpPr>
        <p:spPr>
          <a:xfrm>
            <a:off x="11247120" y="3831336"/>
            <a:ext cx="292608" cy="292608"/>
          </a:xfrm>
          <a:prstGeom prst="ellipse">
            <a:avLst/>
          </a:prstGeom>
          <a:solidFill>
            <a:srgbClr val="2F6FB0"/>
          </a:solidFill>
          <a:ln w="12700">
            <a:solidFill>
              <a:srgbClr val="2F6FB0"/>
            </a:solidFill>
            <a:prstDash val="solid"/>
          </a:ln>
        </p:spPr>
      </p:sp>
      <p:sp>
        <p:nvSpPr>
          <p:cNvPr id="39" name="Text 31"/>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0" name="Text 32"/>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تَخْتَلِفُ طُرُقُ التَّحِيَّةِ مِنْ مَكَانٍ إِلَى آخَرَ.</a:t>
            </a:r>
            <a:endParaRPr lang="ar-SA" sz="2000" dirty="0"/>
          </a:p>
        </p:txBody>
      </p:sp>
      <p:sp>
        <p:nvSpPr>
          <p:cNvPr id="41" name="Shape 33"/>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2" name="Shape 34"/>
          <p:cNvSpPr/>
          <p:nvPr/>
        </p:nvSpPr>
        <p:spPr>
          <a:xfrm>
            <a:off x="11247120" y="4398264"/>
            <a:ext cx="292608" cy="292608"/>
          </a:xfrm>
          <a:prstGeom prst="ellipse">
            <a:avLst/>
          </a:prstGeom>
          <a:solidFill>
            <a:srgbClr val="2F6FB0"/>
          </a:solidFill>
          <a:ln w="12700">
            <a:solidFill>
              <a:srgbClr val="2F6FB0"/>
            </a:solidFill>
            <a:prstDash val="solid"/>
          </a:ln>
        </p:spPr>
      </p:sp>
      <p:sp>
        <p:nvSpPr>
          <p:cNvPr id="43" name="Text 35"/>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4" name="Text 36"/>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تَجْتَمِعُ العَائِلَةُ فِي المُنَاسَبَاتِ.</a:t>
            </a:r>
            <a:endParaRPr lang="ar-SA" sz="2000" dirty="0"/>
          </a:p>
        </p:txBody>
      </p:sp>
      <p:sp>
        <p:nvSpPr>
          <p:cNvPr id="45" name="Shape 37"/>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6" name="Shape 38"/>
          <p:cNvSpPr/>
          <p:nvPr/>
        </p:nvSpPr>
        <p:spPr>
          <a:xfrm>
            <a:off x="11247120" y="4965192"/>
            <a:ext cx="292608" cy="292608"/>
          </a:xfrm>
          <a:prstGeom prst="ellipse">
            <a:avLst/>
          </a:prstGeom>
          <a:solidFill>
            <a:srgbClr val="2F6FB0"/>
          </a:solidFill>
          <a:ln w="12700">
            <a:solidFill>
              <a:srgbClr val="2F6FB0"/>
            </a:solidFill>
            <a:prstDash val="solid"/>
          </a:ln>
        </p:spPr>
      </p:sp>
      <p:sp>
        <p:nvSpPr>
          <p:cNvPr id="47" name="Text 39"/>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48" name="Text 40"/>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مِنَ المُهِمِّ اِحْتِرَامُ عَادَاتِ الضِّيَافَةِ.</a:t>
            </a:r>
            <a:endParaRPr lang="ar-SA" sz="2000" dirty="0"/>
          </a:p>
        </p:txBody>
      </p:sp>
      <p:sp>
        <p:nvSpPr>
          <p:cNvPr id="49" name="Text 41"/>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0" name="Text 42"/>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1"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49</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TE-L04 · Customs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الثَّقَافَةُ وَالعَادَاتُ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TE-L04</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coffee and handshake</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مِنَ المُهِمِّ اِحْتِرَامُ عَادَاتِ الضِّيَافَةِ.</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It is important to respect customs of hospitality.</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558698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769864" y="2249424"/>
            <a:ext cx="649224" cy="649224"/>
          </a:xfrm>
          <a:prstGeom prst="rect">
            <a:avLst/>
          </a:prstGeom>
        </p:spPr>
      </p:pic>
      <p:sp>
        <p:nvSpPr>
          <p:cNvPr id="33" name="Text 27"/>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greeting wave</a:t>
            </a:r>
            <a:endParaRPr lang="en-US" sz="1100" dirty="0"/>
          </a:p>
        </p:txBody>
      </p:sp>
      <p:sp>
        <p:nvSpPr>
          <p:cNvPr id="34" name="Shape 28"/>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5" name="Shape 29"/>
          <p:cNvSpPr/>
          <p:nvPr/>
        </p:nvSpPr>
        <p:spPr>
          <a:xfrm>
            <a:off x="7437120" y="3785616"/>
            <a:ext cx="329184" cy="329184"/>
          </a:xfrm>
          <a:prstGeom prst="ellipse">
            <a:avLst/>
          </a:prstGeom>
          <a:solidFill>
            <a:srgbClr val="2E8B57"/>
          </a:solidFill>
          <a:ln w="12700">
            <a:solidFill>
              <a:srgbClr val="2E8B57"/>
            </a:solidFill>
            <a:prstDash val="solid"/>
          </a:ln>
        </p:spPr>
      </p:sp>
      <p:sp>
        <p:nvSpPr>
          <p:cNvPr id="36" name="Text 30"/>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7" name="Text 31"/>
          <p:cNvSpPr txBox="1"/>
          <p:nvPr/>
        </p:nvSpPr>
        <p:spPr>
          <a:xfrm>
            <a:off x="4413504"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تَخْتَلِفُ طُرُقُ التَّحِيَّةِ مِنْ مَكَانٍ إِلَى آخَرَ.</a:t>
            </a:r>
            <a:endParaRPr lang="ar-SA" sz="2200" dirty="0"/>
          </a:p>
        </p:txBody>
      </p:sp>
      <p:sp>
        <p:nvSpPr>
          <p:cNvPr id="38" name="Text 32"/>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Ways of greeting differ from place to place.</a:t>
            </a:r>
            <a:endParaRPr lang="en-US" sz="1200" dirty="0"/>
          </a:p>
        </p:txBody>
      </p:sp>
      <p:sp>
        <p:nvSpPr>
          <p:cNvPr id="39" name="Shape 33"/>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4"/>
          <p:cNvSpPr/>
          <p:nvPr/>
        </p:nvSpPr>
        <p:spPr>
          <a:xfrm>
            <a:off x="585216" y="1938528"/>
            <a:ext cx="365760" cy="365760"/>
          </a:xfrm>
          <a:prstGeom prst="ellipse">
            <a:avLst/>
          </a:prstGeom>
          <a:solidFill>
            <a:srgbClr val="1B3B6F"/>
          </a:solidFill>
          <a:ln w="12700">
            <a:solidFill>
              <a:srgbClr val="1B3B6F"/>
            </a:solidFill>
            <a:prstDash val="solid"/>
          </a:ln>
        </p:spPr>
      </p:sp>
      <p:sp>
        <p:nvSpPr>
          <p:cNvPr id="41" name="Text 35"/>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2" name="Shape 36"/>
          <p:cNvSpPr/>
          <p:nvPr/>
        </p:nvSpPr>
        <p:spPr>
          <a:xfrm>
            <a:off x="1173480" y="2066544"/>
            <a:ext cx="1014984" cy="1014984"/>
          </a:xfrm>
          <a:prstGeom prst="ellipse">
            <a:avLst/>
          </a:prstGeom>
          <a:solidFill>
            <a:srgbClr val="F4F1EA"/>
          </a:solidFill>
          <a:ln w="12700">
            <a:solidFill>
              <a:srgbClr val="F4F1EA"/>
            </a:solidFill>
            <a:prstDash val="solid"/>
          </a:ln>
        </p:spPr>
      </p:sp>
      <p:pic>
        <p:nvPicPr>
          <p:cNvPr id="43" name="Image 3" descr="preencoded.png">    </p:cNvPr>
          <p:cNvPicPr>
            <a:picLocks noChangeAspect="1"/>
          </p:cNvPicPr>
          <p:nvPr/>
        </p:nvPicPr>
        <p:blipFill>
          <a:blip r:embed="rId4"/>
          <a:stretch>
            <a:fillRect/>
          </a:stretch>
        </p:blipFill>
        <p:spPr>
          <a:xfrm>
            <a:off x="1356360" y="2249424"/>
            <a:ext cx="649224" cy="649224"/>
          </a:xfrm>
          <a:prstGeom prst="rect">
            <a:avLst/>
          </a:prstGeom>
        </p:spPr>
      </p:pic>
      <p:sp>
        <p:nvSpPr>
          <p:cNvPr id="44" name="Shape 37"/>
          <p:cNvSpPr/>
          <p:nvPr/>
        </p:nvSpPr>
        <p:spPr>
          <a:xfrm>
            <a:off x="236220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2545080" y="2249424"/>
            <a:ext cx="649224" cy="649224"/>
          </a:xfrm>
          <a:prstGeom prst="rect">
            <a:avLst/>
          </a:prstGeom>
        </p:spPr>
      </p:pic>
      <p:sp>
        <p:nvSpPr>
          <p:cNvPr id="46" name="Text 38"/>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family meal</a:t>
            </a:r>
            <a:endParaRPr lang="en-US" sz="1100" dirty="0"/>
          </a:p>
        </p:txBody>
      </p:sp>
      <p:sp>
        <p:nvSpPr>
          <p:cNvPr id="47" name="Shape 39"/>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8" name="Shape 40"/>
          <p:cNvSpPr/>
          <p:nvPr/>
        </p:nvSpPr>
        <p:spPr>
          <a:xfrm>
            <a:off x="3617976" y="3785616"/>
            <a:ext cx="329184" cy="329184"/>
          </a:xfrm>
          <a:prstGeom prst="ellipse">
            <a:avLst/>
          </a:prstGeom>
          <a:solidFill>
            <a:srgbClr val="2E8B57"/>
          </a:solidFill>
          <a:ln w="12700">
            <a:solidFill>
              <a:srgbClr val="2E8B57"/>
            </a:solidFill>
            <a:prstDash val="solid"/>
          </a:ln>
        </p:spPr>
      </p:sp>
      <p:sp>
        <p:nvSpPr>
          <p:cNvPr id="49" name="Text 41"/>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0" name="Text 42"/>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تَجْتَمِعُ العَائِلَةُ فِي المُنَاسَبَاتِ.</a:t>
            </a:r>
            <a:endParaRPr lang="ar-SA" sz="2200" dirty="0"/>
          </a:p>
        </p:txBody>
      </p:sp>
      <p:sp>
        <p:nvSpPr>
          <p:cNvPr id="51" name="Text 43"/>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family gathers on special occasions.</a:t>
            </a:r>
            <a:endParaRPr lang="en-US" sz="1200" dirty="0"/>
          </a:p>
        </p:txBody>
      </p:sp>
      <p:sp>
        <p:nvSpPr>
          <p:cNvPr id="52"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49</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TE-L04 · Customs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TE-L04</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يَعْتَادُ</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اِعْتَادَ</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يَتَعَوَّدُ</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يَتَمَسَّكُ</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يَحْتَفِلُ</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يَحْتَفِظُ</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يَنْتَمِي</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يَتَكَيَّفُ</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يَتَعَامَلُ</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1 · عَلَى</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2 · بِـ</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3 · إِلَى / مَعَ</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49</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TE-L04 · Customs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TE-L04</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1 · عَلَى</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يَعْتَادُ</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اِعْتَادَ</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يَتَعَوَّدُ</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2 · بِـ</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يَتَمَسَّكُ</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يَحْتَفِلُ</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يَحْتَفِظُ</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3 · إِلَى / مَعَ</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يَنْتَمِي</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يَتَكَيَّفُ</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يَتَعَامَلُ</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49</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TE-L04 · Customs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3, 4, 6,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TE-L04</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يَنْتَمِي ___ ثَقَافَتَيْنِ.</a:t>
            </a:r>
            <a:endParaRPr lang="ar-SA" sz="150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31" name="Shape 28"/>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6313932"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4" name="Text 31"/>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5" name="Text 32"/>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يَتَكَيَّفُ المُهَاجِرُ ___ الحَيَاةِ الجَدِيدَةِ.</a:t>
            </a:r>
            <a:endParaRPr lang="ar-SA" sz="1500" dirty="0"/>
          </a:p>
        </p:txBody>
      </p:sp>
      <p:sp>
        <p:nvSpPr>
          <p:cNvPr id="36" name="Shape 33"/>
          <p:cNvSpPr/>
          <p:nvPr/>
        </p:nvSpPr>
        <p:spPr>
          <a:xfrm>
            <a:off x="6368796" y="25328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39" name="Shape 36"/>
          <p:cNvSpPr/>
          <p:nvPr/>
        </p:nvSpPr>
        <p:spPr>
          <a:xfrm>
            <a:off x="6368796" y="29900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a:t>
            </a:r>
            <a:endParaRPr lang="ar-SA" sz="2050" dirty="0"/>
          </a:p>
        </p:txBody>
      </p:sp>
      <p:sp>
        <p:nvSpPr>
          <p:cNvPr id="42" name="Shape 39"/>
          <p:cNvSpPr/>
          <p:nvPr/>
        </p:nvSpPr>
        <p:spPr>
          <a:xfrm>
            <a:off x="6368796" y="34472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contrast.</a:t>
            </a:r>
            <a:endParaRPr lang="en-US" sz="1250" dirty="0"/>
          </a:p>
        </p:txBody>
      </p:sp>
      <p:sp>
        <p:nvSpPr>
          <p:cNvPr id="49" name="Shape 46"/>
          <p:cNvSpPr/>
          <p:nvPr/>
        </p:nvSpPr>
        <p:spPr>
          <a:xfrm>
            <a:off x="640080" y="48737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1750" dirty="0">
                <a:solidFill>
                  <a:srgbClr val="1F2A37"/>
                </a:solidFill>
                <a:latin typeface="Amiri" pitchFamily="2" charset="-78"/>
                <a:ea typeface="Amiri" pitchFamily="2" charset="-78"/>
                <a:cs typeface="Amiri" pitchFamily="2" charset="-78"/>
              </a:rPr>
              <a:t>يُقَدَّمُ الشَّايُ بَيْنَمَا.</a:t>
            </a:r>
            <a:endParaRPr lang="ar-SA" sz="1750" dirty="0"/>
          </a:p>
        </p:txBody>
      </p:sp>
      <p:sp>
        <p:nvSpPr>
          <p:cNvPr id="52" name="Shape 49"/>
          <p:cNvSpPr/>
          <p:nvPr/>
        </p:nvSpPr>
        <p:spPr>
          <a:xfrm>
            <a:off x="640080" y="53309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1750" dirty="0">
                <a:solidFill>
                  <a:srgbClr val="1F2A37"/>
                </a:solidFill>
                <a:latin typeface="Amiri" pitchFamily="2" charset="-78"/>
                <a:ea typeface="Amiri" pitchFamily="2" charset="-78"/>
                <a:cs typeface="Amiri" pitchFamily="2" charset="-78"/>
              </a:rPr>
              <a:t>يُقَدَّمُ الشَّايُ فِي بَعْضِ البُلْدَانِ، بَيْنَمَا تُقَدَّمُ القَهْوَةُ فِي غَيْرِهَا.</a:t>
            </a:r>
            <a:endParaRPr lang="ar-SA" sz="1750" dirty="0"/>
          </a:p>
        </p:txBody>
      </p:sp>
      <p:sp>
        <p:nvSpPr>
          <p:cNvPr id="55" name="Shape 52"/>
          <p:cNvSpPr/>
          <p:nvPr/>
        </p:nvSpPr>
        <p:spPr>
          <a:xfrm>
            <a:off x="640080" y="5788152"/>
            <a:ext cx="256032" cy="256032"/>
          </a:xfrm>
          <a:prstGeom prst="ellipse">
            <a:avLst/>
          </a:prstGeom>
          <a:solidFill>
            <a:srgbClr val="F4F1EA"/>
          </a:solidFill>
          <a:ln w="12700">
            <a:solidFill>
              <a:srgbClr val="F4F1EA"/>
            </a:solidFill>
            <a:prstDash val="solid"/>
          </a:ln>
        </p:spPr>
      </p:sp>
      <p:sp>
        <p:nvSpPr>
          <p:cNvPr id="56" name="Text 5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7" name="Text 54"/>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1750" dirty="0">
                <a:solidFill>
                  <a:srgbClr val="1F2A37"/>
                </a:solidFill>
                <a:latin typeface="Amiri" pitchFamily="2" charset="-78"/>
                <a:ea typeface="Amiri" pitchFamily="2" charset="-78"/>
                <a:cs typeface="Amiri" pitchFamily="2" charset="-78"/>
              </a:rPr>
              <a:t>بَيْنَمَا الشَّايُ وَالقَهْوَةُ.</a:t>
            </a:r>
            <a:endParaRPr lang="ar-SA" sz="1750" dirty="0"/>
          </a:p>
        </p:txBody>
      </p:sp>
      <p:sp>
        <p:nvSpPr>
          <p:cNvPr id="58" name="Shape 55"/>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6313932" y="4288536"/>
            <a:ext cx="310896" cy="310896"/>
          </a:xfrm>
          <a:prstGeom prst="ellipse">
            <a:avLst/>
          </a:prstGeom>
          <a:solidFill>
            <a:srgbClr val="1B3B6F"/>
          </a:solidFill>
          <a:ln w="12700">
            <a:solidFill>
              <a:srgbClr val="1B3B6F"/>
            </a:solidFill>
            <a:prstDash val="solid"/>
          </a:ln>
        </p:spPr>
      </p:sp>
      <p:sp>
        <p:nvSpPr>
          <p:cNvPr id="60" name="Text 57"/>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1" name="Text 58"/>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two-sided comparison.</a:t>
            </a:r>
            <a:endParaRPr lang="en-US" sz="1250" dirty="0"/>
          </a:p>
        </p:txBody>
      </p:sp>
      <p:sp>
        <p:nvSpPr>
          <p:cNvPr id="62" name="Shape 59"/>
          <p:cNvSpPr/>
          <p:nvPr/>
        </p:nvSpPr>
        <p:spPr>
          <a:xfrm>
            <a:off x="6368796"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1900" dirty="0">
                <a:solidFill>
                  <a:srgbClr val="1F2A37"/>
                </a:solidFill>
                <a:latin typeface="Amiri" pitchFamily="2" charset="-78"/>
                <a:ea typeface="Amiri" pitchFamily="2" charset="-78"/>
                <a:cs typeface="Amiri" pitchFamily="2" charset="-78"/>
              </a:rPr>
              <a:t>مِنْ نَاحِيَةٍ تَتَغَيَّرُ العَادَاتُ وَتَبْقَى القِيَمُ.</a:t>
            </a:r>
            <a:endParaRPr lang="ar-SA" sz="1900" dirty="0"/>
          </a:p>
        </p:txBody>
      </p:sp>
      <p:sp>
        <p:nvSpPr>
          <p:cNvPr id="65" name="Shape 62"/>
          <p:cNvSpPr/>
          <p:nvPr/>
        </p:nvSpPr>
        <p:spPr>
          <a:xfrm>
            <a:off x="6368796"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1900" dirty="0">
                <a:solidFill>
                  <a:srgbClr val="1F2A37"/>
                </a:solidFill>
                <a:latin typeface="Amiri" pitchFamily="2" charset="-78"/>
                <a:ea typeface="Amiri" pitchFamily="2" charset="-78"/>
                <a:cs typeface="Amiri" pitchFamily="2" charset="-78"/>
              </a:rPr>
              <a:t>مِنْ نَاحِيَةٍ أُخْرَى تَتَغَيَّرُ العَادَاتُ فَقَطْ.</a:t>
            </a:r>
            <a:endParaRPr lang="ar-SA" sz="1900" dirty="0"/>
          </a:p>
        </p:txBody>
      </p:sp>
      <p:sp>
        <p:nvSpPr>
          <p:cNvPr id="68" name="Shape 65"/>
          <p:cNvSpPr/>
          <p:nvPr/>
        </p:nvSpPr>
        <p:spPr>
          <a:xfrm>
            <a:off x="6368796"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1900" dirty="0">
                <a:solidFill>
                  <a:srgbClr val="1F2A37"/>
                </a:solidFill>
                <a:latin typeface="Amiri" pitchFamily="2" charset="-78"/>
                <a:ea typeface="Amiri" pitchFamily="2" charset="-78"/>
                <a:cs typeface="Amiri" pitchFamily="2" charset="-78"/>
              </a:rPr>
              <a:t>مِنْ نَاحِيَةٍ تَتَغَيَّرُ العَادَاتُ، وَمِنْ نَاحِيَةٍ أُخْرَى تَبْقَى القِيَمُ.</a:t>
            </a:r>
            <a:endParaRPr lang="ar-SA" sz="1900" dirty="0"/>
          </a:p>
        </p:txBody>
      </p:sp>
      <p:sp>
        <p:nvSpPr>
          <p:cNvPr id="71" name="Text 6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49</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TE-L04 · Customs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TE-L04</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21" name="Text 18"/>
          <p:cNvSpPr txBox="1"/>
          <p:nvPr/>
        </p:nvSpPr>
        <p:spPr>
          <a:xfrm>
            <a:off x="3323295"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يَنْتَمِي ___ ثَقَافَتَيْنِ.</a:t>
            </a:r>
            <a:endParaRPr lang="ar-SA" sz="1500" dirty="0"/>
          </a:p>
        </p:txBody>
      </p:sp>
      <p:sp>
        <p:nvSpPr>
          <p:cNvPr id="22"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25" name="Shape 22"/>
          <p:cNvSpPr/>
          <p:nvPr/>
        </p:nvSpPr>
        <p:spPr>
          <a:xfrm>
            <a:off x="640080" y="2862072"/>
            <a:ext cx="256032" cy="256032"/>
          </a:xfrm>
          <a:prstGeom prst="ellipse">
            <a:avLst/>
          </a:prstGeom>
          <a:solidFill>
            <a:srgbClr val="C9CED6"/>
          </a:solidFill>
          <a:ln w="12700">
            <a:solidFill>
              <a:srgbClr val="C9CED6"/>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28" name="Shape 25"/>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9" name="Shape 26"/>
          <p:cNvSpPr/>
          <p:nvPr/>
        </p:nvSpPr>
        <p:spPr>
          <a:xfrm>
            <a:off x="640080" y="3233928"/>
            <a:ext cx="256032" cy="256032"/>
          </a:xfrm>
          <a:prstGeom prst="ellipse">
            <a:avLst/>
          </a:prstGeom>
          <a:solidFill>
            <a:srgbClr val="2E8B57"/>
          </a:solidFill>
          <a:ln w="12700">
            <a:solidFill>
              <a:srgbClr val="2E8B57"/>
            </a:solidFill>
            <a:prstDash val="solid"/>
          </a:ln>
        </p:spPr>
      </p:sp>
      <p:sp>
        <p:nvSpPr>
          <p:cNvPr id="30"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1" name="Text 28"/>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إِلَى</a:t>
            </a:r>
            <a:endParaRPr lang="ar-SA" sz="1700" dirty="0"/>
          </a:p>
        </p:txBody>
      </p:sp>
      <p:sp>
        <p:nvSpPr>
          <p:cNvPr id="32" name="Text 29"/>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يَنْتَمِي</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3" name="Shape 30"/>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313932" y="1947672"/>
            <a:ext cx="310896" cy="310896"/>
          </a:xfrm>
          <a:prstGeom prst="ellipse">
            <a:avLst/>
          </a:prstGeom>
          <a:solidFill>
            <a:srgbClr val="1B3B6F"/>
          </a:solidFill>
          <a:ln w="12700">
            <a:solidFill>
              <a:srgbClr val="1B3B6F"/>
            </a:solidFill>
            <a:prstDash val="solid"/>
          </a:ln>
        </p:spPr>
      </p:sp>
      <p:sp>
        <p:nvSpPr>
          <p:cNvPr id="35" name="Text 3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6" name="Text 33"/>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7" name="Text 34"/>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يَتَكَيَّفُ المُهَاجِرُ ___ الحَيَاةِ الجَدِيدَةِ.</a:t>
            </a:r>
            <a:endParaRPr lang="ar-SA" sz="1500" dirty="0"/>
          </a:p>
        </p:txBody>
      </p:sp>
      <p:sp>
        <p:nvSpPr>
          <p:cNvPr id="38" name="Shape 35"/>
          <p:cNvSpPr/>
          <p:nvPr/>
        </p:nvSpPr>
        <p:spPr>
          <a:xfrm>
            <a:off x="6368796" y="2490216"/>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0" name="Text 37"/>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41" name="Shape 38"/>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2" name="Shape 39"/>
          <p:cNvSpPr/>
          <p:nvPr/>
        </p:nvSpPr>
        <p:spPr>
          <a:xfrm>
            <a:off x="6368796" y="2862072"/>
            <a:ext cx="256032" cy="256032"/>
          </a:xfrm>
          <a:prstGeom prst="ellipse">
            <a:avLst/>
          </a:prstGeom>
          <a:solidFill>
            <a:srgbClr val="2E8B57"/>
          </a:solidFill>
          <a:ln w="12700">
            <a:solidFill>
              <a:srgbClr val="2E8B57"/>
            </a:solidFill>
            <a:prstDash val="solid"/>
          </a:ln>
        </p:spPr>
      </p:sp>
      <p:sp>
        <p:nvSpPr>
          <p:cNvPr id="43" name="Text 4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4" name="Text 41"/>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مَعَ</a:t>
            </a:r>
            <a:endParaRPr lang="ar-SA" sz="1700" dirty="0"/>
          </a:p>
        </p:txBody>
      </p:sp>
      <p:sp>
        <p:nvSpPr>
          <p:cNvPr id="45" name="Shape 42"/>
          <p:cNvSpPr/>
          <p:nvPr/>
        </p:nvSpPr>
        <p:spPr>
          <a:xfrm>
            <a:off x="6368796" y="3233928"/>
            <a:ext cx="256032" cy="256032"/>
          </a:xfrm>
          <a:prstGeom prst="ellipse">
            <a:avLst/>
          </a:prstGeom>
          <a:solidFill>
            <a:srgbClr val="C9CED6"/>
          </a:solidFill>
          <a:ln w="12700">
            <a:solidFill>
              <a:srgbClr val="C9CED6"/>
            </a:solidFill>
            <a:prstDash val="solid"/>
          </a:ln>
        </p:spPr>
      </p:sp>
      <p:sp>
        <p:nvSpPr>
          <p:cNvPr id="46" name="Text 43"/>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7" name="Text 44"/>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a:t>
            </a:r>
            <a:endParaRPr lang="ar-SA" sz="1700" dirty="0"/>
          </a:p>
        </p:txBody>
      </p:sp>
      <p:sp>
        <p:nvSpPr>
          <p:cNvPr id="48" name="Text 45"/>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يَتَكَيَّفُ</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مَعَ</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9" name="Shape 46"/>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585216" y="4288536"/>
            <a:ext cx="310896" cy="310896"/>
          </a:xfrm>
          <a:prstGeom prst="ellipse">
            <a:avLst/>
          </a:prstGeom>
          <a:solidFill>
            <a:srgbClr val="1B3B6F"/>
          </a:solidFill>
          <a:ln w="12700">
            <a:solidFill>
              <a:srgbClr val="1B3B6F"/>
            </a:solidFill>
            <a:prstDash val="solid"/>
          </a:ln>
        </p:spPr>
      </p:sp>
      <p:sp>
        <p:nvSpPr>
          <p:cNvPr id="51" name="Text 4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2" name="Text 49"/>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contrast.</a:t>
            </a:r>
            <a:endParaRPr lang="en-US" sz="1250" dirty="0"/>
          </a:p>
        </p:txBody>
      </p:sp>
      <p:sp>
        <p:nvSpPr>
          <p:cNvPr id="53" name="Shape 50"/>
          <p:cNvSpPr/>
          <p:nvPr/>
        </p:nvSpPr>
        <p:spPr>
          <a:xfrm>
            <a:off x="640080" y="4831080"/>
            <a:ext cx="256032" cy="256032"/>
          </a:xfrm>
          <a:prstGeom prst="ellipse">
            <a:avLst/>
          </a:prstGeom>
          <a:solidFill>
            <a:srgbClr val="C9CED6"/>
          </a:solidFill>
          <a:ln w="12700">
            <a:solidFill>
              <a:srgbClr val="C9CED6"/>
            </a:solidFill>
            <a:prstDash val="solid"/>
          </a:ln>
        </p:spPr>
      </p:sp>
      <p:sp>
        <p:nvSpPr>
          <p:cNvPr id="54" name="Text 51"/>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5" name="Text 52"/>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يُقَدَّمُ الشَّايُ بَيْنَمَا.</a:t>
            </a:r>
            <a:endParaRPr lang="ar-SA" sz="1700" dirty="0"/>
          </a:p>
        </p:txBody>
      </p:sp>
      <p:sp>
        <p:nvSpPr>
          <p:cNvPr id="56" name="Shape 53"/>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7" name="Shape 54"/>
          <p:cNvSpPr/>
          <p:nvPr/>
        </p:nvSpPr>
        <p:spPr>
          <a:xfrm>
            <a:off x="640080" y="5202936"/>
            <a:ext cx="256032" cy="256032"/>
          </a:xfrm>
          <a:prstGeom prst="ellipse">
            <a:avLst/>
          </a:prstGeom>
          <a:solidFill>
            <a:srgbClr val="2E8B57"/>
          </a:solidFill>
          <a:ln w="12700">
            <a:solidFill>
              <a:srgbClr val="2E8B57"/>
            </a:solidFill>
            <a:prstDash val="solid"/>
          </a:ln>
        </p:spPr>
      </p:sp>
      <p:sp>
        <p:nvSpPr>
          <p:cNvPr id="58" name="Text 5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9" name="Text 56"/>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يُقَدَّمُ الشَّايُ فِي بَعْضِ البُلْدَانِ، بَيْنَمَا تُقَدَّمُ القَهْوَةُ فِي غَيْرِهَا.</a:t>
            </a:r>
            <a:endParaRPr lang="ar-SA" sz="1700" dirty="0"/>
          </a:p>
        </p:txBody>
      </p:sp>
      <p:sp>
        <p:nvSpPr>
          <p:cNvPr id="60" name="Shape 57"/>
          <p:cNvSpPr/>
          <p:nvPr/>
        </p:nvSpPr>
        <p:spPr>
          <a:xfrm>
            <a:off x="640080" y="5574792"/>
            <a:ext cx="256032" cy="256032"/>
          </a:xfrm>
          <a:prstGeom prst="ellipse">
            <a:avLst/>
          </a:prstGeom>
          <a:solidFill>
            <a:srgbClr val="C9CED6"/>
          </a:solidFill>
          <a:ln w="12700">
            <a:solidFill>
              <a:srgbClr val="C9CED6"/>
            </a:solidFill>
            <a:prstDash val="solid"/>
          </a:ln>
        </p:spPr>
      </p:sp>
      <p:sp>
        <p:nvSpPr>
          <p:cNvPr id="61" name="Text 58"/>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2" name="Text 59"/>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بَيْنَمَا الشَّايُ وَالقَهْوَةُ.</a:t>
            </a:r>
            <a:endParaRPr lang="ar-SA" sz="1700" dirty="0"/>
          </a:p>
        </p:txBody>
      </p:sp>
      <p:sp>
        <p:nvSpPr>
          <p:cNvPr id="63" name="Text 60"/>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بَيْنَمَا</a:t>
            </a:r>
            <a:pPr algn="l" indent="0" marL="0">
              <a:buNone/>
            </a:pPr>
            <a:r>
              <a:rPr lang="en-US" sz="1050" i="1" dirty="0">
                <a:solidFill>
                  <a:srgbClr val="8A6D1E"/>
                </a:solidFill>
                <a:latin typeface="Calibri" pitchFamily="34" charset="0"/>
                <a:cs typeface="Amiri" pitchFamily="2" charset="-78"/>
              </a:rPr>
              <a:t> joins two complete contrasting clauses.</a:t>
            </a:r>
            <a:endParaRPr lang="en-US" sz="1050" dirty="0"/>
          </a:p>
        </p:txBody>
      </p:sp>
      <p:sp>
        <p:nvSpPr>
          <p:cNvPr id="64" name="Shape 6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5" name="Shape 62"/>
          <p:cNvSpPr/>
          <p:nvPr/>
        </p:nvSpPr>
        <p:spPr>
          <a:xfrm>
            <a:off x="6313932" y="4288536"/>
            <a:ext cx="310896" cy="310896"/>
          </a:xfrm>
          <a:prstGeom prst="ellipse">
            <a:avLst/>
          </a:prstGeom>
          <a:solidFill>
            <a:srgbClr val="1B3B6F"/>
          </a:solidFill>
          <a:ln w="12700">
            <a:solidFill>
              <a:srgbClr val="1B3B6F"/>
            </a:solidFill>
            <a:prstDash val="solid"/>
          </a:ln>
        </p:spPr>
      </p:sp>
      <p:sp>
        <p:nvSpPr>
          <p:cNvPr id="66" name="Text 6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7" name="Text 6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two-sided comparison.</a:t>
            </a:r>
            <a:endParaRPr lang="en-US" sz="1250" dirty="0"/>
          </a:p>
        </p:txBody>
      </p:sp>
      <p:sp>
        <p:nvSpPr>
          <p:cNvPr id="68" name="Shape 65"/>
          <p:cNvSpPr/>
          <p:nvPr/>
        </p:nvSpPr>
        <p:spPr>
          <a:xfrm>
            <a:off x="6368796" y="4831080"/>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0" name="Text 67"/>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 نَاحِيَةٍ تَتَغَيَّرُ العَادَاتُ وَتَبْقَى القِيَمُ.</a:t>
            </a:r>
            <a:endParaRPr lang="ar-SA" sz="1700" dirty="0"/>
          </a:p>
        </p:txBody>
      </p:sp>
      <p:sp>
        <p:nvSpPr>
          <p:cNvPr id="71" name="Shape 68"/>
          <p:cNvSpPr/>
          <p:nvPr/>
        </p:nvSpPr>
        <p:spPr>
          <a:xfrm>
            <a:off x="6368796"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3" name="Text 70"/>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مِنْ نَاحِيَةٍ أُخْرَى تَتَغَيَّرُ العَادَاتُ فَقَطْ.</a:t>
            </a:r>
            <a:endParaRPr lang="ar-SA" sz="1700" dirty="0"/>
          </a:p>
        </p:txBody>
      </p:sp>
      <p:sp>
        <p:nvSpPr>
          <p:cNvPr id="74" name="Shape 71"/>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5" name="Shape 72"/>
          <p:cNvSpPr/>
          <p:nvPr/>
        </p:nvSpPr>
        <p:spPr>
          <a:xfrm>
            <a:off x="6368796" y="5574792"/>
            <a:ext cx="256032" cy="256032"/>
          </a:xfrm>
          <a:prstGeom prst="ellipse">
            <a:avLst/>
          </a:prstGeom>
          <a:solidFill>
            <a:srgbClr val="2E8B57"/>
          </a:solidFill>
          <a:ln w="12700">
            <a:solidFill>
              <a:srgbClr val="2E8B57"/>
            </a:solidFill>
            <a:prstDash val="solid"/>
          </a:ln>
        </p:spPr>
      </p:sp>
      <p:sp>
        <p:nvSpPr>
          <p:cNvPr id="76" name="Text 73"/>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7" name="Text 74"/>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مِنْ نَاحِيَةٍ تَتَغَيَّرُ العَادَاتُ، وَمِنْ نَاحِيَةٍ أُخْرَى تَبْقَى القِيَمُ.</a:t>
            </a:r>
            <a:endParaRPr lang="ar-SA" sz="1700" dirty="0"/>
          </a:p>
        </p:txBody>
      </p:sp>
      <p:sp>
        <p:nvSpPr>
          <p:cNvPr id="78" name="Text 75"/>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pair needs both halves to balance the two aspects.</a:t>
            </a:r>
            <a:endParaRPr lang="en-US" sz="1050" dirty="0"/>
          </a:p>
        </p:txBody>
      </p:sp>
      <p:sp>
        <p:nvSpPr>
          <p:cNvPr id="79" name="Text 7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49</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TE-L04 · Customs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يَعْتَادُ النَّاسُ بِالضِّيَافَةِ.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iʿtāda + which preposition?</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تَحْتَفِلُ العَائِلَةُ المُنَاسَبَةَ.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iḥtafala + which preposition?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كُلُّ العَرَبِ يَحْتَفِلُونَ بِالطَّرِيقَةِ نَفْسِهَا.</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All Arabs? Hedge it!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49</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TE-L04 · Customs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يَعْتَادُ النَّاسُ بِالضِّيَافَةِ.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يَعْتَادُ النَّاسُ عَلَى الضِّيَافَةِ.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يَعْتَادُ</a:t>
            </a:r>
            <a:pPr algn="l" indent="0" marL="0">
              <a:buNone/>
            </a:pPr>
            <a:r>
              <a:rPr lang="en-US" sz="1150" b="1" dirty="0">
                <a:solidFill>
                  <a:srgbClr val="1B3B6F"/>
                </a:solidFill>
                <a:latin typeface="Calibri" pitchFamily="34" charset="0"/>
                <a:cs typeface="Amiri" pitchFamily="2" charset="-78"/>
              </a:rPr>
              <a:t> requires </a:t>
            </a:r>
            <a:pPr algn="l" indent="0" marL="0">
              <a:buNone/>
            </a:pPr>
            <a:r>
              <a:rPr lang="ar-SA" altLang="en-US" sz="1500" b="1" dirty="0">
                <a:solidFill>
                  <a:srgbClr val="1B3B6F"/>
                </a:solidFill>
                <a:latin typeface="Amiri" pitchFamily="2" charset="-78"/>
                <a:ea typeface="Amiri" pitchFamily="2" charset="-78"/>
                <a:cs typeface="Amiri" pitchFamily="2" charset="-78"/>
              </a:rPr>
              <a:t>عَلَى</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تَحْتَفِلُ العَائِلَةُ المُنَاسَبَةَ.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تَحْتَفِلُ العَائِلَةُ بِالمُنَاسَبَةِ.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يَحْتَفِلُ</a:t>
            </a:r>
            <a:pPr algn="l" indent="0" marL="0">
              <a:buNone/>
            </a:pPr>
            <a:r>
              <a:rPr lang="en-US" sz="1150" b="1" dirty="0">
                <a:solidFill>
                  <a:srgbClr val="1B3B6F"/>
                </a:solidFill>
                <a:latin typeface="Calibri" pitchFamily="34" charset="0"/>
                <a:cs typeface="Amiri" pitchFamily="2" charset="-78"/>
              </a:rPr>
              <a:t> requires </a:t>
            </a:r>
            <a:pPr algn="l" indent="0" marL="0">
              <a:buNone/>
            </a:pPr>
            <a:r>
              <a:rPr lang="ar-SA" altLang="en-US" sz="1500" b="1" dirty="0">
                <a:solidFill>
                  <a:srgbClr val="1B3B6F"/>
                </a:solidFill>
                <a:latin typeface="Amiri" pitchFamily="2" charset="-78"/>
                <a:ea typeface="Amiri" pitchFamily="2" charset="-78"/>
                <a:cs typeface="Amiri" pitchFamily="2" charset="-78"/>
              </a:rPr>
              <a:t>بِـ</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كُلُّ العَرَبِ يَحْتَفِلُونَ بِالطَّرِيقَةِ نَفْسِهَا.</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تَخْتَلِفُ طَرِيقَةُ الاحْتِفَالِ مِنْ بَلَدٍ إِلَى بَلَدٍ.</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universal claim about a whole population is a generalisation, and it is inaccurate.</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49</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TE-L04 · Customs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Listening: two students compare customs</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offered first in some families?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Coffee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Tea</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Juice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the elders hold on to?</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Formal dress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Old recipes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Keeping family ties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do they visit relatives?</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Once a year</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at Eid</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About every week</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Sami answer about celebrating at home?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Sometimes, and not always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Always</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Never</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Nūr conclude?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All Arabs do the same thing</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 cannot say all Arabs do the same thing</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Customs never change</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5.</a:t>
            </a:r>
            <a:endParaRPr lang="en-US" sz="1250" dirty="0"/>
          </a:p>
          <a:p>
            <a:pPr algn="l" indent="0" marL="0">
              <a:buNone/>
            </a:pPr>
            <a:r>
              <a:rPr lang="en-US" sz="1250" dirty="0">
                <a:solidFill>
                  <a:srgbClr val="1E6B52"/>
                </a:solidFill>
                <a:latin typeface="Calibri" pitchFamily="34" charset="0"/>
                <a:cs typeface="Amiri" pitchFamily="2" charset="-78"/>
              </a:rPr>
              <a:t>Two speakers: Nur · Sami.</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49</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TE-L04 · Customs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TE-L04</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نُورُ: فِي بَعْضِ العَائِلَاتِ عِنْدَنَا يَعْتَادُ النَّاسُ عَلَى تَقْدِيمِ القَهْوَةِ لِلضَّيْفِ أَوَّلًا، بَيْنَمَا يُقَدَّمُ الشَّايُ فِي بُلْدَانٍ أُخْرَى.</a:t>
            </a:r>
            <a:endParaRPr lang="ar-SA" sz="155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Nur: In some families here people are used to serving the guest coffee first, whereas tea is served in other countries.</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سَامِي: وَعِنْدَنَا يَتَمَسَّكُ الكِبَارُ بِصِلَةِ الرَّحِمِ، فَنَزُورُ الأَقَارِبَ كُلَّ أُسْبُوعٍ تَقْرِيبًا.</a:t>
            </a:r>
            <a:endParaRPr lang="ar-SA" sz="19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Sami: With us, the elders hold on to family ties, so we visit relatives almost every week.</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نُورُ: وَهَلْ تَحْتَفِلُونَ بِالمُنَاسَبَاتِ فِي البَيْتِ؟</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Nur: And do you celebrate occasions at home?</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سَامِي: أَحْيَانًا، وَلَيْسَ دَائِمًا؛ فَالأَمْرُ يَخْتَلِفُ مِنْ أُسْرَةٍ إِلَى أُسْرَةٍ.</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Sami: Sometimes, not always — it differs from family to family.</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نُورُ: هٰذَا صَحِيحٌ. لَا يَجُوزُ أَنْ نَقُولَ إِنَّ كُلَّ العَرَبِ يَفْعَلُونَ الشَّيْءَ نَفْسَهُ.</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Nur: That’s right. We can’t say that all Arabs do the same thing.</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49</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TE-L04 · Customs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offered first in some families?</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Coffee</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Tea</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Juice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يَعْتَادُ النَّاسُ عَلَى تَقْدِيمِ القَهْوَةِ لِلضَّيْفِ أَوَّلًا.</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the elders hold on to?</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Formal dress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Old recipes</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Keeping family ties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يَتَمَسَّكُ الكِبَارُ بِصِلَةِ الرَّحِمِ.</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often do they visit relatives?</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Once a year</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at Eid</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About every week</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فَنَزُورُ الأَقَارِبَ كُلَّ أُسْبُوعٍ تَقْرِيبًا.</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Sami answer about celebrating at home?</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Sometimes, and not always</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Always</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Never</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أَحْيَانًا، وَلَيْسَ دَائِمًا؛ فَالأَمْرُ يَخْتَلِفُ مِنْ أُسْرَةٍ إِلَى أُسْرَةٍ.</a:t>
            </a:r>
            <a:endParaRPr lang="ar-SA" sz="130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Nūr conclude?</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All Arabs do the same thing</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We cannot say all Arabs do the same thing</a:t>
            </a:r>
            <a:endParaRPr lang="en-US" sz="11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Customs never change</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لَا يَجُوزُ أَنْ نَقُولَ إِنَّ كُلَّ العَرَبِ يَفْعَلُونَ الشَّيْءَ نَفْسَهُ.</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5.</a:t>
            </a:r>
            <a:endParaRPr lang="en-US" sz="1250" dirty="0"/>
          </a:p>
          <a:p>
            <a:pPr algn="l" indent="0" marL="0">
              <a:buNone/>
            </a:pPr>
            <a:r>
              <a:rPr lang="en-US" sz="1250" dirty="0">
                <a:solidFill>
                  <a:srgbClr val="1E6B52"/>
                </a:solidFill>
                <a:latin typeface="Calibri" pitchFamily="34" charset="0"/>
                <a:cs typeface="Amiri" pitchFamily="2" charset="-78"/>
              </a:rPr>
              <a:t>Two speakers: Nur · Sami.</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49</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TE-L04 · Customs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TOPIC E APPLICATION CHALLENGE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Customs and etiquette sort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تَحَدِّي التَّطْبِيقِ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TE-L04</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TOPIC E CHALLENGE · WEBSITE</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Customs and etiquette sort</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Classify greetings, hospitality and social behaviours by situation, then advise a respectful visitor what to do, avoid or ask about.</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Sort 8 behaviours by situation: greeting · visiting · eating · leaving (in the notes).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Mark each: do / avoid / ask about.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Write advice for a respectful visitor (imperatives).</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Compare one custom with your own family custom.</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Sort the cards; two imperatives: “sallim! / ishkur!”.</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Advice with “yanbaghī an” and “lā + jussive”.</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Advice + a respectful comparison (fī baʿḍ al-buldān … ammā fī …).</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سَلِّمْ عَلَى الكِبَارِ أَوَّلًا</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greet the elders first</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اشْكُرِ المُضِيفَ</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thank the host</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لَا تَرْفُضِ الضِّيَافَةَ مُبَاشَرَةً</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900" i="1" dirty="0">
                <a:solidFill>
                  <a:srgbClr val="5A6472"/>
                </a:solidFill>
                <a:latin typeface="Calibri" pitchFamily="34" charset="0"/>
                <a:cs typeface="Amiri" pitchFamily="2" charset="-78"/>
              </a:rPr>
              <a:t>do not refuse hospitality straight away</a:t>
            </a:r>
            <a:endParaRPr lang="en-US" sz="9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إِذَا لَمْ تَعْرِفْ، اسْأَلْ بِأَدَبٍ</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if you do not know, ask politely</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49</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TE-L04 · Customs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Speaking: compare a custom accurately</a:t>
            </a:r>
            <a:endParaRPr lang="en-US" sz="24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TE-L04</a:t>
            </a:r>
            <a:endParaRPr lang="en-US" sz="850" dirty="0"/>
          </a:p>
        </p:txBody>
      </p:sp>
      <p:sp>
        <p:nvSpPr>
          <p:cNvPr id="17" name="Shape 14"/>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8" name="Text 15"/>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9" name="Text 16"/>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20" name="Shape 17"/>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21" name="Text 18"/>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2" name="Text 19"/>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3" name="Shape 20"/>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4" name="Text 21"/>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5" name="Text 22"/>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6" name="Shape 23"/>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7" name="Text 24"/>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8" name="Text 25"/>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9" name="Shape 26"/>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30" name="Text 27"/>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31" name="Text 28"/>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2" name="Shape 29"/>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عَادَةً تَعْرِفُهَا. مَنْ يَعْتَادُ عَلَيْهَا؟</a:t>
            </a:r>
            <a:endParaRPr lang="ar-SA" sz="1800" dirty="0"/>
          </a:p>
        </p:txBody>
      </p:sp>
      <p:sp>
        <p:nvSpPr>
          <p:cNvPr id="36" name="Shape 33"/>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9" name="Text 36"/>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قَارِنْ بَيْنَ عَادَتَيْنِ مُسْتَعْمِلًا بَيْنَمَا.</a:t>
            </a:r>
            <a:endParaRPr lang="ar-SA" sz="1800" dirty="0"/>
          </a:p>
        </p:txBody>
      </p:sp>
      <p:sp>
        <p:nvSpPr>
          <p:cNvPr id="40" name="Shape 37"/>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2" name="Text 39"/>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3" name="Text 40"/>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تَتَجَنَّبُ التَّعْمِيمَ عِنْدَ الحَدِيثِ عَنِ الثَّقَافَاتِ؟</a:t>
            </a:r>
            <a:endParaRPr lang="ar-SA" sz="1800" dirty="0"/>
          </a:p>
        </p:txBody>
      </p:sp>
      <p:sp>
        <p:nvSpPr>
          <p:cNvPr id="44" name="Shape 41"/>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5" name="Text 42"/>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6" name="Shape 43"/>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فِي عَائِلَتِي نَعْتَادُ عَلَى ___ .</a:t>
            </a:r>
            <a:endParaRPr lang="ar-SA" sz="1600" dirty="0"/>
          </a:p>
        </p:txBody>
      </p:sp>
      <p:sp>
        <p:nvSpPr>
          <p:cNvPr id="49" name="Shape 46"/>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0" name="Text 47"/>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1" name="Text 48"/>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فِي بَعْضِ العَائِلَاتِ ___ ، بَيْنَمَا ___ .</a:t>
            </a:r>
            <a:endParaRPr lang="ar-SA" sz="1600" dirty="0"/>
          </a:p>
        </p:txBody>
      </p:sp>
      <p:sp>
        <p:nvSpPr>
          <p:cNvPr id="52" name="Shape 49"/>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3" name="Text 50"/>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4" name="Text 51"/>
          <p:cNvSpPr txBox="1"/>
          <p:nvPr/>
        </p:nvSpPr>
        <p:spPr>
          <a:xfrm>
            <a:off x="1783080" y="3968496"/>
            <a:ext cx="2697480" cy="557784"/>
          </a:xfrm>
          <a:prstGeom prst="rect">
            <a:avLst/>
          </a:prstGeom>
          <a:noFill/>
          <a:ln/>
        </p:spPr>
        <p:txBody>
          <a:bodyPr wrap="square" lIns="0" tIns="0" rIns="0" bIns="0" rtlCol="0" anchor="ctr"/>
          <a:lstStyle/>
          <a:p>
            <a:pPr rtl="1" algn="r" indent="0" marL="0">
              <a:lnSpc>
                <a:spcPct val="120000"/>
              </a:lnSpc>
              <a:buNone/>
            </a:pPr>
            <a:r>
              <a:rPr lang="ar-SA" altLang="en-US" sz="1050" b="1" dirty="0">
                <a:solidFill>
                  <a:srgbClr val="1F2A37"/>
                </a:solidFill>
                <a:latin typeface="Amiri" pitchFamily="2" charset="-78"/>
                <a:ea typeface="Amiri" pitchFamily="2" charset="-78"/>
                <a:cs typeface="Amiri" pitchFamily="2" charset="-78"/>
              </a:rPr>
              <a:t>لَا أَقُولُ « كُلُّ … » ، بَلْ أَقُولُ « فِي بَعْضِ … » لِأَنَّ ___ .</a:t>
            </a:r>
            <a:endParaRPr lang="ar-SA" sz="1050" dirty="0"/>
          </a:p>
        </p:txBody>
      </p:sp>
      <p:sp>
        <p:nvSpPr>
          <p:cNvPr id="55" name="Shape 52"/>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7" name="Shape 54"/>
          <p:cNvSpPr/>
          <p:nvPr/>
        </p:nvSpPr>
        <p:spPr>
          <a:xfrm>
            <a:off x="11274552" y="5559552"/>
            <a:ext cx="292608" cy="292608"/>
          </a:xfrm>
          <a:prstGeom prst="ellipse">
            <a:avLst/>
          </a:prstGeom>
          <a:solidFill>
            <a:srgbClr val="1E6B52"/>
          </a:solidFill>
          <a:ln w="12700">
            <a:solidFill>
              <a:srgbClr val="1E6B52"/>
            </a:solidFill>
            <a:prstDash val="solid"/>
          </a:ln>
        </p:spPr>
      </p:sp>
      <p:sp>
        <p:nvSpPr>
          <p:cNvPr id="58" name="Text 55"/>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9" name="Text 56"/>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صِفْ عَادَةً تَعْرِفُهَا.</a:t>
            </a:r>
            <a:endParaRPr lang="ar-SA" sz="1550" dirty="0"/>
          </a:p>
        </p:txBody>
      </p:sp>
      <p:sp>
        <p:nvSpPr>
          <p:cNvPr id="60" name="Text 57"/>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Describe a custom you know.</a:t>
            </a:r>
            <a:endParaRPr lang="en-US" sz="950" dirty="0"/>
          </a:p>
        </p:txBody>
      </p:sp>
      <p:sp>
        <p:nvSpPr>
          <p:cNvPr id="61" name="Shape 58"/>
          <p:cNvSpPr/>
          <p:nvPr/>
        </p:nvSpPr>
        <p:spPr>
          <a:xfrm>
            <a:off x="11274552" y="5925312"/>
            <a:ext cx="292608" cy="292608"/>
          </a:xfrm>
          <a:prstGeom prst="ellipse">
            <a:avLst/>
          </a:prstGeom>
          <a:solidFill>
            <a:srgbClr val="1E6B52"/>
          </a:solidFill>
          <a:ln w="12700">
            <a:solidFill>
              <a:srgbClr val="1E6B52"/>
            </a:solidFill>
            <a:prstDash val="solid"/>
          </a:ln>
        </p:spPr>
      </p:sp>
      <p:sp>
        <p:nvSpPr>
          <p:cNvPr id="62" name="Text 59"/>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3" name="Text 60"/>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فِي بَعْضِ العَائِلَاتِ يَعْتَادُ النَّاسُ عَلَى تَقْدِيمِ القَهْوَةِ لِلضَّيْفِ أَوَّلًا.</a:t>
            </a:r>
            <a:endParaRPr lang="ar-SA" sz="1550" dirty="0"/>
          </a:p>
        </p:txBody>
      </p:sp>
      <p:sp>
        <p:nvSpPr>
          <p:cNvPr id="64" name="Text 61"/>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In some families people are used to serving the guest coffee first.</a:t>
            </a:r>
            <a:endParaRPr lang="en-US" sz="95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49</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TE-L04 · Customs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TE-L04</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five sentences naming customs, each with the correct preposition on its verb.</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Five customs, each cultural verb with its preposition.</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60–70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contrast with </a:t>
            </a:r>
            <a:pPr algn="l" indent="0" marL="0">
              <a:buNone/>
            </a:pPr>
            <a:r>
              <a:rPr lang="ar-SA" altLang="en-US" sz="1800" b="1" dirty="0">
                <a:solidFill>
                  <a:srgbClr val="1F2A37"/>
                </a:solidFill>
                <a:latin typeface="Amiri" pitchFamily="2" charset="-78"/>
                <a:ea typeface="Amiri" pitchFamily="2" charset="-78"/>
                <a:cs typeface="Amiri" pitchFamily="2" charset="-78"/>
              </a:rPr>
              <a:t>بَيْنَمَا</a:t>
            </a:r>
            <a:pPr algn="l" indent="0" marL="0">
              <a:buNone/>
            </a:pPr>
            <a:r>
              <a:rPr lang="en-US" sz="1400" b="1" dirty="0">
                <a:solidFill>
                  <a:srgbClr val="1F2A37"/>
                </a:solidFill>
                <a:latin typeface="Calibri" pitchFamily="34" charset="0"/>
                <a:cs typeface="Amiri" pitchFamily="2" charset="-78"/>
              </a:rPr>
              <a:t> and one hedge.</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A comparison with بَيْنَمَا and one hedge.</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80–90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Balance the comparison with </a:t>
            </a:r>
            <a:pPr algn="l" indent="0" marL="0">
              <a:buNone/>
            </a:pPr>
            <a:r>
              <a:rPr lang="ar-SA" altLang="en-US" sz="1800" b="1" dirty="0">
                <a:solidFill>
                  <a:srgbClr val="1F2A37"/>
                </a:solidFill>
                <a:latin typeface="Amiri" pitchFamily="2" charset="-78"/>
                <a:ea typeface="Amiri" pitchFamily="2" charset="-78"/>
                <a:cs typeface="Amiri" pitchFamily="2" charset="-78"/>
              </a:rPr>
              <a:t>مِنْ نَاحِيَةٍ … وَمِنْ نَاحِيَةٍ أُخْرَى</a:t>
            </a:r>
            <a:pPr algn="l" indent="0" marL="0">
              <a:buNone/>
            </a:pPr>
            <a:r>
              <a:rPr lang="en-US" sz="1400" b="1" dirty="0">
                <a:solidFill>
                  <a:srgbClr val="1F2A37"/>
                </a:solidFill>
                <a:latin typeface="Calibri" pitchFamily="34" charset="0"/>
                <a:cs typeface="Amiri" pitchFamily="2" charset="-78"/>
              </a:rPr>
              <a:t> and close by naming the stereotype trap explicitly.</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Website task: two cultural verbs, بَيْنَمَا, مِنْ نَاحِيَةٍ … وَمِنْ نَاحِيَةٍ أُخْرَى and a hedge.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49</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TE-L04 · Customs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TE-L04</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400" b="1" dirty="0">
                <a:solidFill>
                  <a:srgbClr val="1B3B6F"/>
                </a:solidFill>
                <a:latin typeface="Amiri" pitchFamily="2" charset="-78"/>
                <a:ea typeface="Amiri" pitchFamily="2" charset="-78"/>
                <a:cs typeface="Amiri" pitchFamily="2" charset="-78"/>
              </a:rPr>
              <a:t>فِي بَعْضِ العَائِلَاتِ العَرَبِيَّةِ ______ ، بَيْنَمَا ______ .</a:t>
            </a:r>
            <a:endParaRPr lang="ar-SA" sz="14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some Arab families …, whereas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مِنْ نَاحِيَةٍ ______ ، وَمِنْ نَاحِيَةٍ أُخْرَى ______ .</a:t>
            </a:r>
            <a:endParaRPr lang="ar-SA" sz="16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 one hand …, on the other hand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يَخْتَلِفُ الأَمْرُ مِنْ أُسْرَةٍ إِلَى أُسْرَةٍ.</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differs from family to family.</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لَيْسَ دَائِمًا يَتَصَرَّفُ الجَمِيعُ بِالطَّرِيقَةِ نَفْسِهَا.</a:t>
            </a:r>
            <a:endParaRPr lang="ar-SA" sz="175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Not everyone behaves the same way.</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عَائِلَتِي نَعْتَادُ عَلَى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family we are used to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نَتَمَسَّكُ بِـ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hold on to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نَحْتَفِلُ بِـ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celebrate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نَحْتَرِمُ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respect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يَعْتَادُ عَلَى  ·  يَتَمَسَّكُ بِـ  ·  يَحْتَفِلُ بِـ  ·  يَنْتَمِي إِلَى  ·  يَتَكَيَّفُ مَعَ  ·  الضِّيَافَةُ  ·  صِلَةُ الرَّحِمِ  ·  احْتِرَامُ الكِبَارِ  ·  بَيْنَمَا  ·  مِنْ نَاحِيَةٍ  ·  فِي بَعْضِ العَائِلَاتِ  ·  لَيْسَ دَائِمًا</a:t>
            </a:r>
            <a:endParaRPr lang="ar-SA" sz="15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49</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TE-L04 · Customs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TE-L04</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00" b="1" dirty="0">
                <a:solidFill>
                  <a:srgbClr val="1F2A37"/>
                </a:solidFill>
                <a:latin typeface="Calibri" pitchFamily="34" charset="0"/>
                <a:cs typeface="Amiri" pitchFamily="2" charset="-78"/>
              </a:rPr>
              <a:t>Write eighty to ninety words comparing a custom you know with one from an Arab country. Use </a:t>
            </a:r>
            <a:pPr algn="l" indent="0" marL="0">
              <a:buNone/>
            </a:pPr>
            <a:r>
              <a:rPr lang="ar-SA" altLang="en-US" sz="1700" b="1" dirty="0">
                <a:solidFill>
                  <a:srgbClr val="1F2A37"/>
                </a:solidFill>
                <a:latin typeface="Amiri" pitchFamily="2" charset="-78"/>
                <a:ea typeface="Amiri" pitchFamily="2" charset="-78"/>
                <a:cs typeface="Amiri" pitchFamily="2" charset="-78"/>
              </a:rPr>
              <a:t>بَيْنَمَا</a:t>
            </a:r>
            <a:pPr algn="l" indent="0" marL="0">
              <a:buNone/>
            </a:pPr>
            <a:r>
              <a:rPr lang="en-US" sz="1300" b="1" dirty="0">
                <a:solidFill>
                  <a:srgbClr val="1F2A37"/>
                </a:solidFill>
                <a:latin typeface="Calibri" pitchFamily="34" charset="0"/>
                <a:cs typeface="Amiri" pitchFamily="2" charset="-78"/>
              </a:rPr>
              <a:t> for the contrast, at least two cultural verbs with their correct prepositions, and one hedge so the comparison does not become a generalisation.</a:t>
            </a:r>
            <a:endParaRPr lang="en-US" sz="13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cultural verbs, each with its fixed preposition.</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contrast joined with </a:t>
            </a:r>
            <a:pPr algn="l" indent="0" marL="0">
              <a:buNone/>
            </a:pPr>
            <a:r>
              <a:rPr lang="ar-SA" altLang="en-US" sz="1550" dirty="0">
                <a:solidFill>
                  <a:srgbClr val="1F2A37"/>
                </a:solidFill>
                <a:latin typeface="Amiri" pitchFamily="2" charset="-78"/>
                <a:ea typeface="Amiri" pitchFamily="2" charset="-78"/>
                <a:cs typeface="Amiri" pitchFamily="2" charset="-78"/>
              </a:rPr>
              <a:t>بَيْنَمَا</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two-sided comparison with </a:t>
            </a:r>
            <a:pPr algn="l" indent="0" marL="0">
              <a:buNone/>
            </a:pPr>
            <a:r>
              <a:rPr lang="ar-SA" altLang="en-US" sz="1550" dirty="0">
                <a:solidFill>
                  <a:srgbClr val="1F2A37"/>
                </a:solidFill>
                <a:latin typeface="Amiri" pitchFamily="2" charset="-78"/>
                <a:ea typeface="Amiri" pitchFamily="2" charset="-78"/>
                <a:cs typeface="Amiri" pitchFamily="2" charset="-78"/>
              </a:rPr>
              <a:t>مِنْ نَاحِيَةٍ … وَمِنْ نَاحِيَةٍ أُخْرَى</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hedge such as </a:t>
            </a:r>
            <a:pPr algn="l" indent="0" marL="0">
              <a:buNone/>
            </a:pPr>
            <a:r>
              <a:rPr lang="ar-SA" altLang="en-US" sz="1550" dirty="0">
                <a:solidFill>
                  <a:srgbClr val="1F2A37"/>
                </a:solidFill>
                <a:latin typeface="Amiri" pitchFamily="2" charset="-78"/>
                <a:ea typeface="Amiri" pitchFamily="2" charset="-78"/>
                <a:cs typeface="Amiri" pitchFamily="2" charset="-78"/>
              </a:rPr>
              <a:t>فِي بَعْضِ العَائِلَاتِ</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لَيْسَ دَائِمًا</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اسْتِقْبَالُ الضَّيْفِ بِالقَهْوَةِ وَالتَّمْرِ</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receiving a guest with coffee and dates</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يَزُورُونَ الأَقَارِبَ بِانْتِظَامٍ</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they visit relatives regularly</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تَبْقَى قِيَمُ الكَرَمِ حَاضِرَةً</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values of generosity remain present</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الأَفْضَلُ أَنْ نَصِفَ مَا رَأَيْنَاهُ بِدِقَّةٍ</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is better to describe what we saw accurately</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الخَطَأِ أَنْ نَقُولَ إِنَّ …</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is wrong to say that …</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49</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TE-L04 · Customs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تَخْتَلِفُ العَادَاتُ بَيْنَ البُلْدَانِ اخْتِلَافًا وَاضِحًا. فِي بَعْضِ العَائِلَاتِ العَرَبِيَّةِ يَعْتَادُ النَّاسُ عَلَى اسْتِقْبَالِ الضَّيْفِ بِالقَهْوَةِ وَالتَّمْرِ، بَيْنَمَا نُقَدِّمُ نَحْنُ الشَّايَ عَادَةً. وَيَتَمَسَّكُ كَثِيرٌ مِنَ الأُسَرِ بِصِلَةِ الرَّحِمِ، فَيَزُورُونَ الأَقَارِبَ بِانْتِظَامٍ. مِنْ نَاحِيَةٍ تَتَغَيَّرُ بَعْضُ التَّقَالِيدِ مَعَ الأَجْيَالِ الجَدِيدَةِ، وَمِنْ نَاحِيَةٍ أُخْرَى تَبْقَى قِيَمُ الكَرَمِ حَاضِرَةً. وَلَيْسَ دَائِمًا يَتَصَرَّفُ الجَمِيعُ بِالطَّرِيقَةِ نَفْسِهَا؛ فَالأَفْضَلُ أَنْ نَصِفَ مَا رَأَيْنَاهُ بِدِقَّةٍ.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Customs clearly differ between countries. In some Arab families people are used to receiving a guest with coffee and dates, whereas we usually serve tea. Many families hold on to family ties, so they visit relatives regularly. On one hand some traditions change with new generations; on the other, the values of generosity remain present. Not everyone always behaves the same way — it is better to describe what we saw accurately.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two verbs with their prepositions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a contrast with بَيْنَمَا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مِنْ نَاحِيَةٍ … وَمِنْ نَاحِيَةٍ أُخْرَى</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hedge</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49</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TE-L04 · Customs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TE-L04</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Each cultural verb has its preposition.</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The noun after the preposition ends in -i.</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a:t>
            </a:r>
            <a:pPr algn="l" indent="0" marL="0">
              <a:buNone/>
            </a:pPr>
            <a:r>
              <a:rPr lang="ar-SA" altLang="en-US" sz="1700" dirty="0">
                <a:solidFill>
                  <a:srgbClr val="1F2A37"/>
                </a:solidFill>
                <a:latin typeface="Amiri" pitchFamily="2" charset="-78"/>
                <a:ea typeface="Amiri" pitchFamily="2" charset="-78"/>
                <a:cs typeface="Amiri" pitchFamily="2" charset="-78"/>
              </a:rPr>
              <a:t>بَيْنَمَا</a:t>
            </a:r>
            <a:pPr algn="l" indent="0" marL="0">
              <a:buNone/>
            </a:pPr>
            <a:r>
              <a:rPr lang="en-US" sz="1300" dirty="0">
                <a:solidFill>
                  <a:srgbClr val="1F2A37"/>
                </a:solidFill>
                <a:latin typeface="Calibri" pitchFamily="34" charset="0"/>
                <a:cs typeface="Amiri" pitchFamily="2" charset="-78"/>
              </a:rPr>
              <a:t> joins two full clauses.</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hedged at least one claim.</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balanced two sides and avoided “all Arabs”.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49</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TE-L04 · Customs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يَحْتَفِظُ الجِيلُ الجَدِيدُ</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بَعْضِ التَّقَالِيدِ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يَنْتَمِي هٰذَا الشَّابُّ</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ثَقَافَتَيْنِ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accurate rather than a generalisation?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تَخْتَلِفُ العَادَاتُ مِنْ بَلَدٍ إِلَى بَلَدٍ.</a:t>
            </a:r>
            <a:endParaRPr lang="ar-SA" sz="180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كُلُّ العَرَبِ يَحْتَفِلُونَ بِالطَّرِيقَةِ نَفْسِهَا.</a:t>
            </a:r>
            <a:endParaRPr lang="ar-SA" sz="180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العَرَبُ دَائِمًا يُقَدِّمُونَ القَهْوَةَ.</a:t>
            </a:r>
            <a:endParaRPr lang="ar-SA" sz="180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49</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TE-L04 · Customs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يَحْتَفِظُ الجِيلُ الجَدِيدُ</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بَعْضِ التَّقَالِيدِ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بِـ</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عَلَى</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إِلَى</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يَحْتَفِظُ</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يَنْتَمِي هٰذَا الشَّابُّ</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ثَقَافَتَيْنِ</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بِـ</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إِلَى</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مَعَ</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يَنْتَمِي</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accurate rather than a generalisation?</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1800" b="1" dirty="0">
                <a:solidFill>
                  <a:srgbClr val="1F2A37"/>
                </a:solidFill>
                <a:latin typeface="Amiri" pitchFamily="2" charset="-78"/>
                <a:ea typeface="Amiri" pitchFamily="2" charset="-78"/>
                <a:cs typeface="Amiri" pitchFamily="2" charset="-78"/>
              </a:rPr>
              <a:t>تَخْتَلِفُ العَادَاتُ مِنْ بَلَدٍ إِلَى بَلَدٍ.</a:t>
            </a:r>
            <a:endParaRPr lang="ar-SA" sz="180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1800" dirty="0">
                <a:solidFill>
                  <a:srgbClr val="9AA1AB"/>
                </a:solidFill>
                <a:latin typeface="Amiri" pitchFamily="2" charset="-78"/>
                <a:ea typeface="Amiri" pitchFamily="2" charset="-78"/>
                <a:cs typeface="Amiri" pitchFamily="2" charset="-78"/>
              </a:rPr>
              <a:t>كُلُّ العَرَبِ يَحْتَفِلُونَ بِالطَّرِيقَةِ نَفْسِهَا.</a:t>
            </a:r>
            <a:endParaRPr lang="ar-SA" sz="180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1800" dirty="0">
                <a:solidFill>
                  <a:srgbClr val="9AA1AB"/>
                </a:solidFill>
                <a:latin typeface="Amiri" pitchFamily="2" charset="-78"/>
                <a:ea typeface="Amiri" pitchFamily="2" charset="-78"/>
                <a:cs typeface="Amiri" pitchFamily="2" charset="-78"/>
              </a:rPr>
              <a:t>العَرَبُ دَائِمًا يُقَدِّمُونَ القَهْوَةَ.</a:t>
            </a:r>
            <a:endParaRPr lang="ar-SA" sz="180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accurate sentence reports variation.</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49</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TE-L04 · Customs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Reading: customs are not one thing</a:t>
            </a:r>
            <a:endParaRPr lang="en-US" sz="27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TE-L04</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تَتَنَوَّعُ العَادَاتُ فِي العَالَمِ العَرَبِيِّ تَنَوُّعًا كَبِيرًا. فِي بَعْضِ البُلْدَانِ يَعْتَادُ النَّاسُ عَلَى اسْتِقْبَالِ الضَّيْفِ بِالقَهْوَةِ وَالتَّمْرِ، بَيْنَمَا يُقَدَّمُ الشَّايُ بِالنَّعْنَاعِ فِي بُلْدَانٍ أُخْرَى. وَيَتَمَسَّكُ كَثِيرٌ مِنَ الأُسَرِ بِصِلَةِ الرَّحِمِ وَاحْتِرَامِ الكِبَارِ، وَلٰكِنَّ طَرِيقَةَ التَّعْبِيرِ عَنْ ذٰلِكَ تَخْتَلِفُ مِنْ مَكَانٍ إِلَى مَكَانٍ. مِنْ نَاحِيَةٍ تَتَغَيَّرُ بَعْضُ التَّقَالِيدِ مَعَ الأَجْيَالِ الجَدِيدَةِ، وَمِنْ نَاحِيَةٍ أُخْرَى تَبْقَى قِيَمُ الكَرَمِ وَالتَّضَامُنِ حَاضِرَةً. وَمِنَ الخَطَأِ أَنْ نَقُولَ إِنَّ العَرَبَ جَمِيعًا يَتَصَرَّفُونَ بِالطَّرِيقَةِ نَفْسِهَا؛ فَالأَفْضَلُ أَنْ نَصِفَ مَا رَأَيْنَاهُ بِدِقَّةٍ.</a:t>
            </a:r>
            <a:endParaRPr lang="ar-SA" sz="23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تَتَنَوَّعُ</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vary</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اسْتِقْبَالِ الضَّيْفِ</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receiving the guest</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التَّمْرِ</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dates</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الشَّايُ بِالنَّعْنَاعِ</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mint tea</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طَرِيقَةَ التَّعْبِيرِ</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way of expressing</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الأَجْيَالِ الجَدِيدَةِ</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new generations</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قِيَمُ الكَرَمِ</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values of generosity</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التَّضَامُنِ</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solidarity</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يَتَصَرَّفُونَ</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behave</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بِدِقَّةٍ</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accurately</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49</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TE-L04 · Customs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TE-L04</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are guests received in some countries?</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mint tea only</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coffee and dates</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a formal letter</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many families hold on to?</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formal ceremonies</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religious study</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Family ties and respect for elders</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text say changes?</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Some traditions change with new generations</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All traditions disappear</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 ever changes</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stays present?</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old clothing styles</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values of generosity and solidarity</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the dialects</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text warn against?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Saying all Arabs behave the same way</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Describing what you saw</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Learning about customs</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49</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TE-L04 · Customs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TE-L04</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are guests received in some countries?</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With mint tea only</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With coffee and dates</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With a formal letter</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اسْتِقْبَالِ الضَّيْفِ بِالقَهْوَةِ وَالتَّمْرِ.</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 many families hold on to?</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formal ceremonies</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religious study</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Family ties and respect for elders</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يَتَمَسَّكُ كَثِيرٌ مِنَ الأُسَرِ بِصِلَةِ الرَّحِمِ وَاحْتِرَامِ الكِبَارِ.</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text say changes?</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Some traditions change with new generations</a:t>
            </a:r>
            <a:endParaRPr lang="en-US" sz="11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All traditions disappear</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 ever changes</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تَتَغَيَّرُ بَعْضُ التَّقَالِيدِ مَعَ الأَجْيَالِ الجَدِيدَةِ.</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stays present?</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old clothing styles</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values of generosity and solidarity</a:t>
            </a:r>
            <a:endParaRPr lang="en-US" sz="12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the dialects</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تَبْقَى قِيَمُ الكَرَمِ وَالتَّضَامُنِ حَاضِرَةً.</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text warn against?</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Saying all Arabs behave the same way</a:t>
            </a:r>
            <a:endParaRPr lang="en-US" sz="12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Describing what you saw</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Learning about customs</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150" dirty="0">
                <a:solidFill>
                  <a:srgbClr val="8A6D1E"/>
                </a:solidFill>
                <a:latin typeface="Amiri" pitchFamily="2" charset="-78"/>
                <a:ea typeface="Amiri" pitchFamily="2" charset="-78"/>
                <a:cs typeface="Amiri" pitchFamily="2" charset="-78"/>
              </a:rPr>
              <a:t>وَمِنَ الخَطَأِ أَنْ نَقُولَ إِنَّ العَرَبَ جَمِيعًا يَتَصَرَّفُونَ بِالطَّرِيقَةِ نَفْسِهَا.</a:t>
            </a:r>
            <a:endParaRPr lang="ar-SA" sz="11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49</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TE-L04 · Customs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Customs Mission — Prepositions, Contrast and Accuracy</a:t>
            </a:r>
            <a:endParaRPr lang="en-US" sz="1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TE-L04</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يَعْتَادُ</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الضِّيَافَةِ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يَتَمَسَّكُ</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التَّقَالِيدِ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يَتَكَيَّفُ</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الحَيَاةِ الجَدِيدَةِ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عَلَى</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“hospitality”?</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تَضَامُنٌ</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مِعْيَارٌ</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ضِيَافَةٌ</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“keeping family ties”?</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صِلَةُ الرَّحِمِ</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حُسْنُ الجِوَارِ</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احْتِرَامُ الكِبَارِ</a:t>
            </a:r>
            <a:endParaRPr lang="ar-SA" sz="205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Contrast: which uses </a:t>
            </a:r>
            <a:pPr algn="l" indent="0" marL="0">
              <a:buNone/>
            </a:pPr>
            <a:r>
              <a:rPr lang="ar-SA" altLang="en-US" sz="1650" b="1" dirty="0">
                <a:solidFill>
                  <a:srgbClr val="1B3B6F"/>
                </a:solidFill>
                <a:latin typeface="Amiri" pitchFamily="2" charset="-78"/>
                <a:ea typeface="Amiri" pitchFamily="2" charset="-78"/>
                <a:cs typeface="Amiri" pitchFamily="2" charset="-78"/>
              </a:rPr>
              <a:t>بَيْنَمَا</a:t>
            </a:r>
            <a:pPr algn="l" indent="0" marL="0">
              <a:buNone/>
            </a:pPr>
            <a:r>
              <a:rPr lang="en-US" sz="1250" b="1" dirty="0">
                <a:solidFill>
                  <a:srgbClr val="1B3B6F"/>
                </a:solidFill>
                <a:latin typeface="Calibri" pitchFamily="34" charset="0"/>
                <a:cs typeface="Amiri" pitchFamily="2" charset="-78"/>
              </a:rPr>
              <a:t> correctly?</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1500" dirty="0">
                <a:solidFill>
                  <a:srgbClr val="1F2A37"/>
                </a:solidFill>
                <a:latin typeface="Amiri" pitchFamily="2" charset="-78"/>
                <a:ea typeface="Amiri" pitchFamily="2" charset="-78"/>
                <a:cs typeface="Amiri" pitchFamily="2" charset="-78"/>
              </a:rPr>
              <a:t>تُقَدَّمُ القَهْوَةُ بَيْنَمَا.</a:t>
            </a:r>
            <a:endParaRPr lang="ar-SA" sz="150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1500" dirty="0">
                <a:solidFill>
                  <a:srgbClr val="1F2A37"/>
                </a:solidFill>
                <a:latin typeface="Amiri" pitchFamily="2" charset="-78"/>
                <a:ea typeface="Amiri" pitchFamily="2" charset="-78"/>
                <a:cs typeface="Amiri" pitchFamily="2" charset="-78"/>
              </a:rPr>
              <a:t>تُقَدَّمُ القَهْوَةُ هُنَا، بَيْنَمَا يُقَدَّمُ الشَّايُ هُنَاكَ.</a:t>
            </a:r>
            <a:endParaRPr lang="ar-SA" sz="150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1500" dirty="0">
                <a:solidFill>
                  <a:srgbClr val="1F2A37"/>
                </a:solidFill>
                <a:latin typeface="Amiri" pitchFamily="2" charset="-78"/>
                <a:ea typeface="Amiri" pitchFamily="2" charset="-78"/>
                <a:cs typeface="Amiri" pitchFamily="2" charset="-78"/>
              </a:rPr>
              <a:t>بَيْنَمَا القَهْوَةُ وَالشَّايُ.</a:t>
            </a:r>
            <a:endParaRPr lang="ar-SA" sz="150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49</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TE-L04 · Customs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TE-L04</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يَعْتَادُ</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الضِّيَافَةِ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بِـ</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عَلَى</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يَعْتَادُ</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عَلَى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يَتَمَسَّكُ</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التَّقَالِيدِ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بِـ</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مَعَ</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يَتَمَسَّكُ</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بِـ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يَتَكَيَّفُ</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الحَيَاةِ الجَدِيدَةِ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عَلَى</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مَعَ</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يَتَكَيَّفُ</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مَعَ</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“hospitality”?</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تَضَامُنٌ</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مِعْيَارٌ</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ضِيَافَةٌ</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ضِيَافَةٌ</a:t>
            </a:r>
            <a:pPr algn="l" indent="0" marL="0">
              <a:buNone/>
            </a:pPr>
            <a:r>
              <a:rPr lang="en-US" sz="1050" i="1" dirty="0">
                <a:solidFill>
                  <a:srgbClr val="8A6D1E"/>
                </a:solidFill>
                <a:latin typeface="Calibri" pitchFamily="34" charset="0"/>
                <a:cs typeface="Amiri" pitchFamily="2" charset="-78"/>
              </a:rPr>
              <a:t> is hospitality.</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“keeping family ties”?</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صِلَةُ الرَّحِمِ</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حُسْنُ الجِوَارِ</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احْتِرَامُ الكِبَارِ</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صِلَةُ الرَّحِمِ</a:t>
            </a:r>
            <a:pPr algn="l" indent="0" marL="0">
              <a:buNone/>
            </a:pPr>
            <a:r>
              <a:rPr lang="en-US" sz="1050" i="1" dirty="0">
                <a:solidFill>
                  <a:srgbClr val="8A6D1E"/>
                </a:solidFill>
                <a:latin typeface="Calibri" pitchFamily="34" charset="0"/>
                <a:cs typeface="Amiri" pitchFamily="2" charset="-78"/>
              </a:rPr>
              <a:t> is maintaining family ties.</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Contrast: which uses </a:t>
            </a:r>
            <a:pPr algn="l" indent="0" marL="0">
              <a:buNone/>
            </a:pPr>
            <a:r>
              <a:rPr lang="ar-SA" altLang="en-US" sz="1650" b="1" dirty="0">
                <a:solidFill>
                  <a:srgbClr val="1B3B6F"/>
                </a:solidFill>
                <a:latin typeface="Amiri" pitchFamily="2" charset="-78"/>
                <a:ea typeface="Amiri" pitchFamily="2" charset="-78"/>
                <a:cs typeface="Amiri" pitchFamily="2" charset="-78"/>
              </a:rPr>
              <a:t>بَيْنَمَا</a:t>
            </a:r>
            <a:pPr algn="l" indent="0" marL="0">
              <a:buNone/>
            </a:pPr>
            <a:r>
              <a:rPr lang="en-US" sz="1250" b="1" dirty="0">
                <a:solidFill>
                  <a:srgbClr val="1B3B6F"/>
                </a:solidFill>
                <a:latin typeface="Calibri" pitchFamily="34" charset="0"/>
                <a:cs typeface="Amiri" pitchFamily="2" charset="-78"/>
              </a:rPr>
              <a:t> correctly?</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500" dirty="0">
                <a:solidFill>
                  <a:srgbClr val="9AA1AB"/>
                </a:solidFill>
                <a:latin typeface="Amiri" pitchFamily="2" charset="-78"/>
                <a:ea typeface="Amiri" pitchFamily="2" charset="-78"/>
                <a:cs typeface="Amiri" pitchFamily="2" charset="-78"/>
              </a:rPr>
              <a:t>تُقَدَّمُ القَهْوَةُ بَيْنَمَا.</a:t>
            </a:r>
            <a:endParaRPr lang="ar-SA" sz="15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تُقَدَّمُ القَهْوَةُ هُنَا، بَيْنَمَا يُقَدَّمُ الشَّايُ هُنَاكَ.</a:t>
            </a:r>
            <a:endParaRPr lang="ar-SA" sz="15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500" dirty="0">
                <a:solidFill>
                  <a:srgbClr val="9AA1AB"/>
                </a:solidFill>
                <a:latin typeface="Amiri" pitchFamily="2" charset="-78"/>
                <a:ea typeface="Amiri" pitchFamily="2" charset="-78"/>
                <a:cs typeface="Amiri" pitchFamily="2" charset="-78"/>
              </a:rPr>
              <a:t>بَيْنَمَا القَهْوَةُ وَالشَّايُ.</a:t>
            </a:r>
            <a:endParaRPr lang="ar-SA" sz="15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بَيْنَمَا</a:t>
            </a:r>
            <a:pPr algn="l" indent="0" marL="0">
              <a:buNone/>
            </a:pPr>
            <a:r>
              <a:rPr lang="en-US" sz="1050" i="1" dirty="0">
                <a:solidFill>
                  <a:srgbClr val="8A6D1E"/>
                </a:solidFill>
                <a:latin typeface="Calibri" pitchFamily="34" charset="0"/>
                <a:cs typeface="Amiri" pitchFamily="2" charset="-78"/>
              </a:rPr>
              <a:t> joins two complete clauses.</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49</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TE-L04 · Customs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TE-L05: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E · The International World · TE-L04</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TE-L05 · Faiths, Beliefs and Places of Worship</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رَمَضَانُ</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Ramadan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الصِّيَامُ</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fasting</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الإِفْطَارُ</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iftar</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عِيدُ الفِطْرِ</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Eid al-Fitr</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عِيدِيَّةٌ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Eid money</a:t>
            </a:r>
            <a:pPr indent="0" marL="0">
              <a:buNone/>
            </a:pPr>
            <a:r>
              <a:rPr lang="ar-SA" sz="1000" i="1" dirty="0">
                <a:solidFill>
                  <a:srgbClr val="5A6472"/>
                </a:solidFill>
                <a:latin typeface="Calibri" pitchFamily="34" charset="0"/>
                <a:ea typeface="Amiri" pitchFamily="2" charset="-78"/>
                <a:cs typeface="Amiri" pitchFamily="2" charset="-78"/>
              </a:rPr>
              <a:t>  pl. عِيدِيَّاتٌ</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What does your family do on the morning of Eid? Note two things.</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فِي صَبَاحِ العِيدِ نَذْهَبُ إِلَى … ثُمَّ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12 customs words with their prepositions; write five sentences.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 60–70-word comparison with </a:t>
            </a:r>
            <a:pPr algn="l" indent="0" marL="0">
              <a:buNone/>
            </a:pPr>
            <a:r>
              <a:rPr lang="ar-SA" altLang="en-US" sz="1550" dirty="0">
                <a:solidFill>
                  <a:srgbClr val="1F2A37"/>
                </a:solidFill>
                <a:latin typeface="Amiri" pitchFamily="2" charset="-78"/>
                <a:ea typeface="Amiri" pitchFamily="2" charset="-78"/>
                <a:cs typeface="Amiri" pitchFamily="2" charset="-78"/>
              </a:rPr>
              <a:t>بَيْنَمَا</a:t>
            </a:r>
            <a:pPr algn="l" indent="0" marL="0">
              <a:buNone/>
            </a:pPr>
            <a:r>
              <a:rPr lang="en-US" sz="1200" dirty="0">
                <a:solidFill>
                  <a:srgbClr val="1F2A37"/>
                </a:solidFill>
                <a:latin typeface="Calibri" pitchFamily="34" charset="0"/>
                <a:cs typeface="Amiri" pitchFamily="2" charset="-78"/>
              </a:rPr>
              <a:t> and a hedge.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80–90 words with a balanced, hedged comparison.</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48 / 49</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TE-L04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100" b="1" dirty="0">
                <a:solidFill>
                  <a:srgbClr val="FFFFFF"/>
                </a:solidFill>
                <a:latin typeface="Cambria" pitchFamily="34" charset="0"/>
                <a:cs typeface="Amiri" pitchFamily="2" charset="-78"/>
              </a:rPr>
              <a:t>TE-L05 · Faiths, Beliefs and Places of Worship</a:t>
            </a:r>
            <a:endParaRPr lang="en-US" sz="21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الأَدْيَانُ وَالمُعْتَقَدَاتُ وَدُورُ العِبَادَةِ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learn the 5 words for TE-L05.</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49</Slides>
  <Notes>49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49</vt:i4>
      </vt:variant>
    </vt:vector>
  </HeadingPairs>
  <TitlesOfParts>
    <vt:vector size="5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TE-L04 · Customs, Etiquette and Hospitality</dc:title>
  <dc:subject>PptxGenJS Presentation</dc:subject>
  <dc:creator>Al Madina Online School · Arabic Department</dc:creator>
  <cp:lastModifiedBy>Al Madina Online School · Arabic Department</cp:lastModifiedBy>
  <cp:revision>1</cp:revision>
  <dcterms:created xsi:type="dcterms:W3CDTF">2026-10-11T06:44:16Z</dcterms:created>
  <dcterms:modified xsi:type="dcterms:W3CDTF">2026-10-11T06:44:16Z</dcterms:modified>
</cp:coreProperties>
</file>