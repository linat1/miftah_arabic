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TE-L04 — Customs, Etiquette and Hospitality. Website: Advanced Topics › Topic E (The International World) › Lesson 4.
The website builds this lesson on the D6-L02 lesson engine, with the Topic focus “Understand and compare courteous behaviour and hospitality traditions.” (grammar: Imperatives; advice; comparison and contrast; skills: Listening · Reading) and the application challenge “Customs and etiquette sort”.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TE-L04. The website lesson “Cultural Customs — Traditions, Greetings and Social Norms”: vocabulary, grammar rules and quiz, patterns, common mistakes, sorter, listening, reading, speaking prompts and model, writing task and model, differentiation, final check and the lesson mission. Picture match: website visual game “Cultural Customs — Traditions, Greetings and Social Norms”.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customs words + five sentences, each cultural verb with its preposition (يَعْتَادُ النَّاسُ عَلَى الضِّيَافَةِ). Develop: a contrast with بَيْنَمَا and one hedge. Stretch: the website 80–90-word comparison with مِنْ نَاحِيَةٍ … وَمِنْ نَاحِيَةٍ أُخْرَى and an explicit rejection of the stereotype.
• This lesson connects directly to adab: hospitality (الضِّيَافَةُ), respect for elders and صِلَةُ الرَّحِمِ are values students know from home and from Islamic Studies — invite their own family examples.
• Website accuracy rule: describe what you observed (فِي بَعْضِ العَائِلَاتِ), not what “all Arabs” do. Note: two website texts say تُقَدَّمُ الشَّايُ — الشَّايُ is masculine, so the decks show يُقَدَّمُ الشَّايُ.
• TEACHER-WRITTEN ITEMS: gender-agreement slips corrected throughout (يُقَدَّمُ الشَّايُ · تُقَدَّمُ القَهْوَةُ), and English added to the patterns and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TE-L01. Questions 4–5 retrieve TE-L01 (diptotes) and the hedging language from D5-L06 (website) / TE-L01.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Customs differ by country, region and family — so describe what you saw, and hedge.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ضیافت، کرم، صلہ رحمی are shared — and صلہ رحمی is taught in Islamic Studies. CAREFUL: Urdu تقلید = imitation / following (a madhhab); Arabic تَقْلِيدٌ also means a tradition (تَقَالِيدُ = traditions).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Customs and values (website vocabulary (1 of 2)). Hear → Say → See → Use. Transliteration is printed for Core students (cover it for Develop/Stretch).
Customs and values. Plurals with -āt or broken plurals (تَقَالِيدُ · مَعَايِيرُ are diptotes: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Customs and values (website vocabulary (2 of 2)). Hear → Say → See → Use. Transliteration is printed for Core students (cover it for Develop/Stretch).
Customs and values. Plurals with -āt or broken plurals (تَقَالِيدُ · مَعَايِيرُ are diptotes: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verbs (website vocabulary (1 of 2)). Hear → Say → See → Use. Transliteration is printed for Core students (cover it for Develop/Stretch).
Cultural verbs: each card shows she / past. Learn verb + preposition as ONE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verbs (website vocabulary (2 of 2)). Hear → Say → See → Use. Transliteration is printed for Core students (cover it for Develop/Stretch).
Cultural verbs: each card shows she / past. Learn verb + preposition as ONE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Comparing and qualifying (website vocabulary (1 of 2)). Hear → Say → See → Use. Transliteration is printed for Core students (cover it for Develop/Stretch).
Comparing and qualifying: the language that keeps a cultural comparison accurate and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Comparing and qualifying (website vocabulary (2 of 2)). Hear → Say → See → Use. Transliteration is printed for Core students (cover it for Develop/Stretch).
Comparing and qualifying: the language that keeps a cultural comparison accurate and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“Cultural verbs and their prepositions” (each preposition is fixed, and the noun after it is genitive). Website teaching point: “Each cultural verb keeps its own preposition … swapping them is the most common error in this topic.”
Website mistakes: يَعْتَادُ النَّاسُ بِالضِّيَافَةِ ✗ · تَحْتَفِلُ العَائِلَةُ المُنَاسَبَةَ ✗. Many students “belong to two cultures” — يَنْتَمِي إِلَى ثَقَافَتَيْنِ is a lovely personal sentence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“Contrast with بَيْنَمَا” (joins two full clauses that genuinely differ), “Two-sided comparison” and “Hedging a cultural claim” (a hedge turns a false universal into an accurate observation). Website teaching point: “Describe what you observed, not what everyone does.”
Agreement check in card 1: القَهْوَةُ is feminine → تُقَدَّمُ; الشَّايُ is masculine → يُقَدَّمُ.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things to control: the preposition on each cultural verb, the structure of a contrast, and the hedge that keeps your claim honest.”
• Cultural verbs and their prepositions: Each preposition is fixed, and the noun after it is genitive.
• Contrast with بَيْنَمَا: بَيْنَمَا joins two full clauses that genuinely differ. It is not used for a simple list.
• Two-sided comparison: This pair balances two aspects of the same topic and is valued in the Range criterion.
• Hedging a cultural claim: A hedge turns a false universal into an accurate observation.
Website common error: Beginning a sentence with كُلُّ العَرَبِ. Customs differ by country, by region and by family, so a universal claim is almost always wrong. Use فِي بَعْضِ … or أَحْيَانًا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5,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“Which preposition does this verb take? Am I describing everyone, or what I saw? Is this a contrast of two full clauses?” Then ask students for their own family’s guest custom.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(“Hospitality &amp; Etiquette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“Hospitality &amp; Etiquette”: greeting at a visit, thanking the host, asking respectfully about a custom.
Website feedback lines: The scene shows greeting at a visit. · The tea and food show hospitality. · The safest response is to ask respectfully.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(“Hospitality &amp; Etiquette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“Hospitality &amp; Etiquette”: greeting at a visit, thanking the host, asking respectfully about a custom.
Website feedback lines: The scene shows greeting at a visit. · The tea and food show hospitality. · The safest response is to ask respectfully.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Cultural Customs — Traditions, Greetings and Social Norms”)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add a hedge to each: فِي بَعْضِ البُلْدَانِ … Other website cards: architecture, traditional clothes, traditional dishes.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Cultural Customs — Traditions, Greetings and Social Norms”)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add a hedge to each: فِي بَعْضِ البُلْدَانِ … Other website cards: architecture, traditional clothes, traditional dishes.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one sentence for each column with a custom from YOUR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one sentence for each column with a custom from YOUR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4,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 and note every hedge you hear.
Listen 1: just listen. Listen 2: note answers. Then chat the letters.
Support: after the second listening, show the read-along slide (Arabic + English, line by line) for Core students.
SCRIPT (read aloud):
نُورُ: فِي بَعْضِ العَائِلَاتِ عِنْدَنَا يَعْتَادُ النَّاسُ عَلَى تَقْدِيمِ القَهْوَةِ لِلضَّيْفِ أَوَّلًا، بَيْنَمَا يُقَدَّمُ الشَّايُ فِي بُلْدَانٍ أُخْرَى. سَامِي: وَعِنْدَنَا يَتَمَسَّكُ الكِبَارُ بِصِلَةِ الرَّحِمِ، فَنَزُورُ الأَقَارِبَ كُلَّ أُسْبُوعٍ تَقْرِيبًا. نُورُ: وَهَلْ تَحْتَفِلُونَ بِالمُنَاسَبَاتِ فِي البَيْتِ؟ سَامِي: أَحْيَانًا، وَلَيْسَ دَائِمًا؛ فَالأَمْرُ يَخْتَلِفُ مِنْ أُسْرَةٍ إِلَى أُسْرَةٍ. نُورُ: هٰذَا صَحِيحٌ. لَا يَجُوزُ أَنْ نَقُولَ إِنَّ كُلَّ العَرَبِ يَفْعَلُونَ الشَّيْءَ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(5 min — it takes the speaking-rehearsal slot; the website speaking slide after it is FLEX) — from the website Topic page: “Classify greetings, hospitality and social behaviours by situation, then advise a respectful visitor what to do, avoid or ask about.”
Website Topic E challenge “Customs and etiquette sort”. Behaviours: خَلْعُ الحِذَاءِ عِنْدَ البَابِ · المُصَافَحَةُ · تَقْدِيمُ القَهْوَةِ لِلضَّيْفِ · الأَكْلُ بِاليَدِ اليُمْنَى · رَفْضُ الطَّعَامِ · إِحْضَارُ هَدِيَّةٍ · الحَدِيثُ بِصَوْتٍ عَالٍ · الانْصِرَافُ بَعْدَ القَهْوَةِ. Hedge: customs differ between families and countries — avoid “all Arabs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الأَمْرُ نَفْسُهُ فِي كُلِّ مَكَانٍ؟ (And is it the same everywhere?)
B: لَيْسَ دَائِمًا؛ بَيْنَمَا يُقَدَّمُ الشَّايُ فِي بُلْدَانٍ أُخْرَى، وَالأَمْرُ يَخْتَلِفُ مِنْ أُسْرَةٍ إِلَى أُسْرَةٍ. (Not always — tea is served in other countries, and it differs from family to family.)
Website prompts and model. Students describe a REAL custom from their own family (guests, Eid visits, greeting elders). To a girl: صِفِي · قَارِنِي · تَتَجَنَّبِينَ.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naming customs, each with the correct preposition on its verb. · Develop — Add a contrast with بَيْنَمَا and one hedge. · Stretch — Balance the comparison with مِنْ نَاحِيَةٍ … وَمِنْ نَاحِيَةٍ أُخْرَى and close by naming the stereotype trap explicitly.
Website writing task (Stretch): Write eighty to ninety words comparing a custom you know with one from an Arab country. Use بَيْنَمَا for the contrast, at least two cultural verbs with their correct prepositions, and one hedge so the comparison does not become a generalisation.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يَعْتَادُ … عَلَى · بَيْنَمَا نُقَدِّمُ … · يَتَمَسَّكُ … بِصِلَةِ الرَّحِمِ · مِنْ نَاحِيَةٍ … وَمِنْ نَاحِيَةٍ أُخْرَى · فِي بَعْضِ العَائِلَاتِ · لَيْسَ دَائِمًا.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(TE-L05 · Faiths, Beliefs and Places of Worship) will spend class time USING this language, so students prepare it tonight — short, simple, easy to access (school guidance: “Simple, Short, Interesting, Relevant, Easy to access”). The five words come from the website TE-L05 vocabulary (Ramadan and the two Eids).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E  ·  TE-L04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TE-L04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00" b="1" dirty="0">
                <a:solidFill>
                  <a:srgbClr val="FFFFFF"/>
                </a:solidFill>
                <a:latin typeface="Cambria" pitchFamily="34" charset="0"/>
                <a:ea typeface="Cambria" pitchFamily="34" charset="-122"/>
                <a:cs typeface="Cambria" pitchFamily="34" charset="-120"/>
              </a:rPr>
              <a:t>Customs, Etiquette and Hospitality</a:t>
            </a:r>
            <a:endParaRPr lang="en-US" sz="31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العَادَاتُ وَآدَابُ السُّلُوكِ وَالضِّيَافَةُ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Understand and compare courteous behaviour and hospitality traditions.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TE-L04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E › TE-L04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Cultural verbs + prepositions, </a:t>
            </a:r>
            <a:pPr algn="ctr" indent="0" marL="0">
              <a:buNone/>
            </a:pPr>
            <a:r>
              <a:rPr lang="ar-SA" altLang="en-US" sz="1550" dirty="0">
                <a:solidFill>
                  <a:srgbClr val="1F2A37"/>
                </a:solidFill>
                <a:latin typeface="Amiri" pitchFamily="34" charset="0"/>
                <a:ea typeface="Amiri" pitchFamily="34" charset="-122"/>
                <a:cs typeface="Amiri" pitchFamily="34" charset="-120"/>
              </a:rPr>
              <a:t>بَيْنَمَا</a:t>
            </a:r>
            <a:pPr algn="ctr" indent="0" marL="0">
              <a:buNone/>
            </a:pPr>
            <a:r>
              <a:rPr lang="en-US" sz="1200" dirty="0">
                <a:solidFill>
                  <a:srgbClr val="1F2A37"/>
                </a:solidFill>
                <a:latin typeface="Calibri" pitchFamily="34" charset="0"/>
                <a:ea typeface="Calibri" pitchFamily="34" charset="-122"/>
                <a:cs typeface="Calibri" pitchFamily="34" charset="-120"/>
              </a:rPr>
              <a:t>, and the honest hedge.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verbs by preposition, fix slips, then two students compare customs.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TE-L05.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ضِيَافَةٌ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tradition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hospitality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custom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احْتِرَامُ الكِبَارِ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respect for elders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family ties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generosity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يَحْتَفِلُ بِـ</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holds on to</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belongs to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celebrates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أَنَا مِنْ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avoids a generalisation?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فِي بَعْضِ البُلْدَانِ يُفَضِّلُ النَّاسُ التُّرَاثَ.</a:t>
            </a:r>
            <a:endParaRPr lang="ar-SA" sz="17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كُلُّ العَرَبِ يُفَضِّلُونَ التُّرَاثَ.</a:t>
            </a:r>
            <a:endParaRPr lang="ar-SA" sz="17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العَرَبُ دَائِمًا يُفَضِّلُونَ التُّرَاثَ.</a:t>
            </a:r>
            <a:endParaRPr lang="ar-SA" sz="17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ضِيَافَةٌ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tradition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hospitality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custom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احْتِرَامُ الكِبَارِ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respect for elders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family ties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generosity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يَحْتَفِلُ بِـ</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holds on to</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belongs to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celebrates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أَنَا مِنْ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لُبْنَانٍ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لُبْنَانِيٌّ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لُبْنَانَ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TE-L01: diptotes.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avoids a generalisation?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بَعْضِ البُلْدَانِ يُفَضِّلُ النَّاسُ التُّرَاثَ.</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 العَرَبِ يُفَضِّلُونَ التُّرَاثَ.</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العَرَبُ دَائِمًا يُفَضِّلُونَ التُّرَاثَ.</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D5-L06 (website) / TE-L01: hedging.</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Customs differ by country, region and family — so describe what you saw, and hedge.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فِي بَعْضِ العَائِلَاتِ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يَعْتَادُ</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النَّاسُ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عَلَى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الضِّيَافَةِ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customs and values (</a:t>
            </a:r>
            <a:pPr algn="l" indent="0" marL="0">
              <a:buNone/>
            </a:pPr>
            <a:r>
              <a:rPr lang="ar-SA" altLang="en-US" sz="1700" dirty="0">
                <a:solidFill>
                  <a:srgbClr val="1F2A37"/>
                </a:solidFill>
                <a:latin typeface="Amiri" pitchFamily="34" charset="0"/>
                <a:ea typeface="Amiri" pitchFamily="34" charset="-122"/>
                <a:cs typeface="Amiri" pitchFamily="34" charset="-120"/>
              </a:rPr>
              <a:t>ضِيَافَةٌ</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كَرَمٌ</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صِلَةُ الرَّحِمِ</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احْتِرَامُ الكِبَارِ</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cultural verbs with their fixed prepositions.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Contrast two customs with </a:t>
            </a:r>
            <a:pPr algn="l" indent="0" marL="0">
              <a:buNone/>
            </a:pPr>
            <a:r>
              <a:rPr lang="ar-SA" altLang="en-US" sz="1700" dirty="0">
                <a:solidFill>
                  <a:srgbClr val="1F2A37"/>
                </a:solidFill>
                <a:latin typeface="Amiri" pitchFamily="34" charset="0"/>
                <a:ea typeface="Amiri" pitchFamily="34" charset="-122"/>
                <a:cs typeface="Amiri" pitchFamily="34" charset="-120"/>
              </a:rPr>
              <a:t>بَيْنَمَا</a:t>
            </a:r>
            <a:pPr algn="l" indent="0" marL="0">
              <a:buNone/>
            </a:pPr>
            <a:r>
              <a:rPr lang="en-US" sz="1300" dirty="0">
                <a:solidFill>
                  <a:srgbClr val="1F2A37"/>
                </a:solidFill>
                <a:latin typeface="Calibri" pitchFamily="34" charset="0"/>
                <a:ea typeface="Calibri" pitchFamily="34" charset="-122"/>
                <a:cs typeface="Calibri" pitchFamily="34" charset="-120"/>
              </a:rPr>
              <a:t> and balance two sides.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Hedge cultural claims (</a:t>
            </a:r>
            <a:pPr algn="l" indent="0" marL="0">
              <a:buNone/>
            </a:pPr>
            <a:r>
              <a:rPr lang="ar-SA" altLang="en-US" sz="1700" dirty="0">
                <a:solidFill>
                  <a:srgbClr val="1F2A37"/>
                </a:solidFill>
                <a:latin typeface="Amiri" pitchFamily="34" charset="0"/>
                <a:ea typeface="Amiri" pitchFamily="34" charset="-122"/>
                <a:cs typeface="Amiri" pitchFamily="34" charset="-120"/>
              </a:rPr>
              <a:t>فِي بَعْضِ العَائِلَاتِ</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لَيْسَ دَائِمًا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10 customs and values.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one cultural verb with its preposition.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contrast two customs with </a:t>
            </a:r>
            <a:pPr algn="l" indent="0" marL="0">
              <a:buNone/>
            </a:pPr>
            <a:r>
              <a:rPr lang="ar-SA" altLang="en-US" sz="1700" b="1" dirty="0">
                <a:solidFill>
                  <a:srgbClr val="C9780A"/>
                </a:solidFill>
                <a:latin typeface="Amiri" pitchFamily="34" charset="0"/>
                <a:ea typeface="Amiri" pitchFamily="34" charset="-122"/>
                <a:cs typeface="Amiri" pitchFamily="34" charset="-120"/>
              </a:rPr>
              <a:t>بَيْنَمَا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hedge a cultural claim.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balance two sides (</a:t>
            </a:r>
            <a:pPr algn="l" indent="0" marL="0">
              <a:buNone/>
            </a:pPr>
            <a:r>
              <a:rPr lang="ar-SA" altLang="en-US" sz="1700" b="1" dirty="0">
                <a:solidFill>
                  <a:srgbClr val="B83227"/>
                </a:solidFill>
                <a:latin typeface="Amiri" pitchFamily="34" charset="0"/>
                <a:ea typeface="Amiri" pitchFamily="34" charset="-122"/>
                <a:cs typeface="Amiri" pitchFamily="34" charset="-120"/>
              </a:rPr>
              <a:t>مِنْ نَاحِيَةٍ</a:t>
            </a:r>
            <a:pPr algn="l" indent="0" marL="0">
              <a:buNone/>
            </a:pPr>
            <a:r>
              <a:rPr lang="en-US" sz="1300" b="1" dirty="0">
                <a:solidFill>
                  <a:srgbClr val="B83227"/>
                </a:solidFill>
                <a:latin typeface="Calibri" pitchFamily="34" charset="0"/>
                <a:ea typeface="Calibri" pitchFamily="34" charset="-122"/>
                <a:cs typeface="Calibri" pitchFamily="34" charset="-120"/>
              </a:rPr>
              <a:t>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name and avoid a stereotype.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Customs and values · 11</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Cultural verbs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Comparing and qualifying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‎عادت‎ </a:t>
            </a:r>
            <a:pPr indent="0" marL="0">
              <a:buNone/>
            </a:pPr>
            <a:r>
              <a:rPr lang="en-US" sz="950" b="1" dirty="0">
                <a:solidFill>
                  <a:srgbClr val="2E8B57"/>
                </a:solidFill>
                <a:latin typeface="Calibri" pitchFamily="34" charset="0"/>
                <a:ea typeface="Calibri" pitchFamily="34" charset="-122"/>
                <a:cs typeface="Calibri" pitchFamily="34" charset="-120"/>
              </a:rPr>
              <a:t> ʿādat · Urdu: a habit · Arabic: a custom (also a habit)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تَقْلِيدٌ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‎تقلید‎ </a:t>
            </a:r>
            <a:pPr indent="0" marL="0">
              <a:buNone/>
            </a:pPr>
            <a:r>
              <a:rPr lang="en-US" sz="950" b="1" dirty="0">
                <a:solidFill>
                  <a:srgbClr val="2E8B57"/>
                </a:solidFill>
                <a:latin typeface="Calibri" pitchFamily="34" charset="0"/>
                <a:ea typeface="Calibri" pitchFamily="34" charset="-122"/>
                <a:cs typeface="Calibri" pitchFamily="34" charset="-120"/>
              </a:rPr>
              <a:t> taqlīd · Urdu: imitation, following · Arabic: a tradition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ضِيَافَةٌ / ضَيْفٌ</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‎ضیافت / مہمان‎ </a:t>
            </a:r>
            <a:pPr indent="0" marL="0">
              <a:buNone/>
            </a:pPr>
            <a:r>
              <a:rPr lang="en-US" sz="950" b="1" dirty="0">
                <a:solidFill>
                  <a:srgbClr val="2E8B57"/>
                </a:solidFill>
                <a:latin typeface="Calibri" pitchFamily="34" charset="0"/>
                <a:ea typeface="Calibri" pitchFamily="34" charset="-122"/>
                <a:cs typeface="Calibri" pitchFamily="34" charset="-120"/>
              </a:rPr>
              <a:t> ẓiyāfat · hospitality / a guest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كَرَمٌ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‎کرم‎ </a:t>
            </a:r>
            <a:pPr indent="0" marL="0">
              <a:buNone/>
            </a:pPr>
            <a:r>
              <a:rPr lang="en-US" sz="950" b="1" dirty="0">
                <a:solidFill>
                  <a:srgbClr val="2E8B57"/>
                </a:solidFill>
                <a:latin typeface="Calibri" pitchFamily="34" charset="0"/>
                <a:ea typeface="Calibri" pitchFamily="34" charset="-122"/>
                <a:cs typeface="Calibri" pitchFamily="34" charset="-120"/>
              </a:rPr>
              <a:t> karam · generosity, kindness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صِلَةُ الرَّحِمِ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‎صلہ رحمی‎ </a:t>
            </a:r>
            <a:pPr indent="0" marL="0">
              <a:buNone/>
            </a:pPr>
            <a:r>
              <a:rPr lang="en-US" sz="950" b="1" dirty="0">
                <a:solidFill>
                  <a:srgbClr val="2E8B57"/>
                </a:solidFill>
                <a:latin typeface="Calibri" pitchFamily="34" charset="0"/>
                <a:ea typeface="Calibri" pitchFamily="34" charset="-122"/>
                <a:cs typeface="Calibri" pitchFamily="34" charset="-120"/>
              </a:rPr>
              <a:t> ṣila-e-raḥmī · keeping family ties</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Customs and values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عَادَةٌ / عَادَاتٌ</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custom / customs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ʿā-da-tun / ʿā-dā-tun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تَقْلِيدٌ / تَقَالِيدُ</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tradition / traditions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taq-lī-dun / ta-qā-lī-du</a:t>
            </a:r>
            <a:endParaRPr lang="en-US" sz="1350" dirty="0"/>
          </a:p>
        </p:txBody>
      </p:sp>
      <p:sp>
        <p:nvSpPr>
          <p:cNvPr id="31" name="Text 28"/>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plural </a:t>
            </a:r>
            <a:pPr algn="l" indent="0" marL="0">
              <a:buNone/>
            </a:pPr>
            <a:r>
              <a:rPr lang="ar-SA" altLang="en-US" sz="1300" dirty="0">
                <a:solidFill>
                  <a:srgbClr val="8A6D1E"/>
                </a:solidFill>
                <a:latin typeface="Amiri" pitchFamily="34" charset="0"/>
                <a:ea typeface="Amiri" pitchFamily="34" charset="-122"/>
                <a:cs typeface="Amiri" pitchFamily="34" charset="-120"/>
              </a:rPr>
              <a:t>تَقَالِيدُ</a:t>
            </a:r>
            <a:pPr algn="l" indent="0" marL="0">
              <a:buNone/>
            </a:pPr>
            <a:r>
              <a:rPr lang="en-US" sz="1000" i="1" dirty="0">
                <a:solidFill>
                  <a:srgbClr val="8A6D1E"/>
                </a:solidFill>
                <a:latin typeface="Calibri" pitchFamily="34" charset="0"/>
                <a:ea typeface="Calibri" pitchFamily="34" charset="-122"/>
                <a:cs typeface="Calibri" pitchFamily="34" charset="-120"/>
              </a:rPr>
              <a:t> is a diptote.</a:t>
            </a:r>
            <a:endParaRPr lang="en-US" sz="10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5" name="Shape 32"/>
          <p:cNvSpPr/>
          <p:nvPr/>
        </p:nvSpPr>
        <p:spPr>
          <a:xfrm>
            <a:off x="960120" y="1938528"/>
            <a:ext cx="1766621"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76662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The plural is a diptote.</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مِعْيَارٌ / مَعَايِيرُ</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norm / norms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miʿ-yā-run / ma-ʿā-yī-ru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ضِيَافَةٌ</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hospitality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ḍi-yā-fa-tun</a:t>
            </a:r>
            <a:endParaRPr lang="en-US" sz="1350" dirty="0"/>
          </a:p>
        </p:txBody>
      </p:sp>
      <p:sp>
        <p:nvSpPr>
          <p:cNvPr id="48" name="Shape 4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4389120"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1" name="Shape 48"/>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Masculine.</a:t>
            </a:r>
            <a:endParaRPr lang="en-US" sz="800" dirty="0"/>
          </a:p>
        </p:txBody>
      </p:sp>
      <p:sp>
        <p:nvSpPr>
          <p:cNvPr id="53" name="Shape 5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كَرَمٌ</a:t>
            </a:r>
            <a:endParaRPr lang="ar-SA" sz="3000" dirty="0"/>
          </a:p>
        </p:txBody>
      </p:sp>
      <p:sp>
        <p:nvSpPr>
          <p:cNvPr id="56" name="Text 5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generosity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ka-ra-mun</a:t>
            </a:r>
            <a:endParaRPr lang="en-US" sz="135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0" name="Shape 57"/>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 iḍāfa.</a:t>
            </a:r>
            <a:endParaRPr lang="en-US" sz="800" dirty="0"/>
          </a:p>
        </p:txBody>
      </p:sp>
      <p:sp>
        <p:nvSpPr>
          <p:cNvPr id="62" name="Shape 59"/>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4" name="Text 6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احْتِرَامُ الكِبَارِ</a:t>
            </a:r>
            <a:endParaRPr lang="ar-SA" sz="3000" dirty="0"/>
          </a:p>
        </p:txBody>
      </p:sp>
      <p:sp>
        <p:nvSpPr>
          <p:cNvPr id="65" name="Text 6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respect for elders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aḥ-ti-rā-mu al-ki-bā-ri</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Customs and values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أَهَمِّيَّةُ العَائِلَةِ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importance of family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a-ham-miy-ya-tu al-ʿā-ʾi-la-ti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3" name="Shape 20"/>
          <p:cNvSpPr/>
          <p:nvPr/>
        </p:nvSpPr>
        <p:spPr>
          <a:xfrm>
            <a:off x="4782312" y="1938528"/>
            <a:ext cx="151790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VI verbal noun.</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التَّضَامُنُ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solidarity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at-ta-ḍā-mu-nu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صِلَةُ الرَّحِمِ</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keeping family ties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ṣi-la-tu ar-ra-ḥi-mi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حُسْنُ الجِوَارِ</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good neighbourliness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ḥus-nu al-ji-wā-ri</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2" name="Shape 3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Masculine.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التَّآزُرُ</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mutual support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at-ta-ʾā-zu-ru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Cultural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she · past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يَعْتَادُ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accustomed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yaʿ-tā-du ʿa-lā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اِعْتَادَ</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تَعْتَادُ</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she · past</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يَتَمَسَّكُ بِـ</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holds on to, adheres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ya-ta-mas-sa-ku bi</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تَمَسَّكَ</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تَتَمَسَّكُ</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48" name="Shape 4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she · past</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يَحْتَفِلُ بِـ</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celebrates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yaḥ-ta-fi-lu bi</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اِحْتَفَلَ</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تَحْتَفِلُ</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63" name="Shape 60"/>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she · past</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يَنْتَمِي إِلَى</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belongs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yan-ta-mī i-lā</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اِنْتَمَى</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تَنْتَمِي</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78" name="Shape 7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she · past</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يَتَكَيَّفُ مَعَ</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adapts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ya-ta-kay-ya-fu ma-ʿa</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84" name="Text 81"/>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تَكَيَّفَ</a:t>
            </a:r>
            <a:endParaRPr lang="ar-SA" sz="135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تَتَكَيَّفُ</a:t>
            </a:r>
            <a:endParaRPr lang="ar-SA" sz="15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Cultural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she · past</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يَحْتَفِظُ بِـ</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keeps, preserves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yaḥ-ta-fi-ẓu bi</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24" name="Text 21"/>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اِحْتَفَظَ</a:t>
            </a:r>
            <a:endParaRPr lang="ar-SA" sz="135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تَحْتَفِظُ</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يَتَبَادَلُ</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exchanges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ya-ta-bā-da-lu</a:t>
            </a:r>
            <a:endParaRPr lang="en-US" sz="1350" dirty="0"/>
          </a:p>
        </p:txBody>
      </p:sp>
      <p:sp>
        <p:nvSpPr>
          <p:cNvPr id="33" name="Text 30"/>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VI, reciprocal; takes a direct object.</a:t>
            </a:r>
            <a:endParaRPr lang="en-US" sz="10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يُقَدِّمُ</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presents, offers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yu-qad-di-mu</a:t>
            </a:r>
            <a:endParaRPr lang="en-US" sz="1350" dirty="0"/>
          </a:p>
        </p:txBody>
      </p:sp>
      <p:sp>
        <p:nvSpPr>
          <p:cNvPr id="39" name="Text 36"/>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II; takes a direct object.</a:t>
            </a:r>
            <a:endParaRPr lang="en-US" sz="10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3" name="Shape 40"/>
          <p:cNvSpPr/>
          <p:nvPr/>
        </p:nvSpPr>
        <p:spPr>
          <a:xfrm>
            <a:off x="8604504" y="4279392"/>
            <a:ext cx="1642262"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Takes a direct object.</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يَحْتَرِمُ</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respects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yaḥ-ta-ri-mu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Comparing and qualifying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 while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Joins two contrasting clauses.</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650" b="1" dirty="0">
                <a:solidFill>
                  <a:srgbClr val="1B3B6F"/>
                </a:solidFill>
                <a:latin typeface="Amiri" pitchFamily="34" charset="0"/>
                <a:ea typeface="Amiri" pitchFamily="34" charset="-122"/>
                <a:cs typeface="Amiri" pitchFamily="34" charset="-120"/>
              </a:rPr>
              <a:t>مِنْ نَاحِيَةٍ … وَمِنْ نَاحِيَةٍ أُخْرَى</a:t>
            </a:r>
            <a:endParaRPr lang="ar-SA" sz="265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 … on the other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nā-ḥi-ya-tin … wa-min nā-ḥi-ya-tin ukh-rā</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1" name="Shape 28"/>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Hedging language.</a:t>
            </a:r>
            <a:endParaRPr lang="en-US" sz="8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بَعْضِ البُلْدَانِ</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some countries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baʿ-ḍi al-bul-dā-ni</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8" name="Shape 35"/>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Hedging language.</a:t>
            </a:r>
            <a:endParaRPr lang="en-US" sz="800" dirty="0"/>
          </a:p>
        </p:txBody>
      </p:sp>
      <p:sp>
        <p:nvSpPr>
          <p:cNvPr id="40" name="Shape 3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بَعْضِ العَائِلَاتِ</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some families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baʿ-ḍi al-ʿā-ʾi-lā-ti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Comparing and qualifying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أَحْيَانًا</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sometimes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aḥ-yā-nan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لَيْسَ دَائِمًا</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not always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lay-sa dā-ʾi-man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يَخْتَلِفُ مِنْ … إِلَى …</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differs from … to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yakh-ta-li-fu min … i-lā …</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3" name="Shape 30"/>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What to avoid.</a:t>
            </a:r>
            <a:endParaRPr lang="en-US" sz="8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تَعْمِيمٌ</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generalisation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taʿ-mī-mun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ea typeface="Calibri" pitchFamily="34" charset="-122"/>
                <a:cs typeface="Calibri" pitchFamily="34" charset="-120"/>
              </a:rPr>
              <a:t>GRAMMAR FOCUS · PART 1 · CULTURAL VERBS AND THEIR PREPOSITIONS (WEBSITE RULE 1)</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verb, one preposition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الفِعْلُ وَحَرْفُ 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 preposition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used to</a:t>
            </a:r>
            <a:endParaRPr lang="en-US" sz="11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يَعْتَادُ النَّاسُ </a:t>
            </a:r>
            <a:pPr rtl="1" algn="ctr" indent="0" marL="0">
              <a:buNone/>
            </a:pPr>
            <a:r>
              <a:rPr lang="ar-SA" altLang="en-US" sz="1950" b="1" dirty="0">
                <a:solidFill>
                  <a:srgbClr val="0E7C86"/>
                </a:solidFill>
                <a:latin typeface="Amiri" pitchFamily="34" charset="0"/>
                <a:ea typeface="Amiri" pitchFamily="34" charset="-122"/>
                <a:cs typeface="Amiri" pitchFamily="34" charset="-120"/>
              </a:rPr>
              <a:t>عَلَى</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الضِّيَافَةِ.</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People are used to hospitality.</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يَعْتَادُ </a:t>
            </a:r>
            <a:pPr rtl="1" algn="ctr" indent="0" marL="0">
              <a:buNone/>
            </a:pPr>
            <a:r>
              <a:rPr lang="ar-SA" altLang="en-US" sz="2200" b="1" dirty="0">
                <a:solidFill>
                  <a:srgbClr val="0E7C86"/>
                </a:solidFill>
                <a:latin typeface="Amiri" pitchFamily="34" charset="0"/>
                <a:ea typeface="Amiri" pitchFamily="34" charset="-122"/>
                <a:cs typeface="Amiri" pitchFamily="34" charset="-120"/>
              </a:rPr>
              <a:t>عَلَى</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holds on to</a:t>
            </a:r>
            <a:endParaRPr lang="en-US" sz="11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تَتَمَسَّكُ الأُسْرَةُ </a:t>
            </a:r>
            <a:pPr rtl="1" algn="ctr" indent="0" marL="0">
              <a:buNone/>
            </a:pPr>
            <a:r>
              <a:rPr lang="ar-SA" altLang="en-US" sz="1950" b="1" dirty="0">
                <a:solidFill>
                  <a:srgbClr val="D6336C"/>
                </a:solidFill>
                <a:latin typeface="Amiri" pitchFamily="34" charset="0"/>
                <a:ea typeface="Amiri" pitchFamily="34" charset="-122"/>
                <a:cs typeface="Amiri" pitchFamily="34" charset="-120"/>
              </a:rPr>
              <a:t>بِتَقَالِيدِهَا</a:t>
            </a:r>
            <a:pPr rtl="1" algn="ctr" indent="0" marL="0">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family holds on to its traditions.</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يَتَمَسَّكُ </a:t>
            </a:r>
            <a:pPr rtl="1" algn="ctr" indent="0" marL="0">
              <a:buNone/>
            </a:pPr>
            <a:r>
              <a:rPr lang="ar-SA" altLang="en-US" sz="2200" b="1" dirty="0">
                <a:solidFill>
                  <a:srgbClr val="D6336C"/>
                </a:solidFill>
                <a:latin typeface="Amiri" pitchFamily="34" charset="0"/>
                <a:ea typeface="Amiri" pitchFamily="34" charset="-122"/>
                <a:cs typeface="Amiri" pitchFamily="34" charset="-120"/>
              </a:rPr>
              <a:t>بِـ</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celebrates</a:t>
            </a:r>
            <a:endParaRPr lang="en-US" sz="11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تَحْتَفِلُ العَائِلَةُ </a:t>
            </a:r>
            <a:pPr rtl="1" algn="ctr" indent="0" marL="0">
              <a:buNone/>
            </a:pPr>
            <a:r>
              <a:rPr lang="ar-SA" altLang="en-US" sz="1950" b="1" dirty="0">
                <a:solidFill>
                  <a:srgbClr val="D6336C"/>
                </a:solidFill>
                <a:latin typeface="Amiri" pitchFamily="34" charset="0"/>
                <a:ea typeface="Amiri" pitchFamily="34" charset="-122"/>
                <a:cs typeface="Amiri" pitchFamily="34" charset="-120"/>
              </a:rPr>
              <a:t>بِالمُنَاسَبَةِ</a:t>
            </a:r>
            <a:pPr rtl="1" algn="ctr" indent="0" marL="0">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family celebrates the occasion.</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يَحْتَفِلُ </a:t>
            </a:r>
            <a:pPr rtl="1" algn="ctr" indent="0" marL="0">
              <a:buNone/>
            </a:pPr>
            <a:r>
              <a:rPr lang="ar-SA" altLang="en-US" sz="2200" b="1" dirty="0">
                <a:solidFill>
                  <a:srgbClr val="D6336C"/>
                </a:solidFill>
                <a:latin typeface="Amiri" pitchFamily="34" charset="0"/>
                <a:ea typeface="Amiri" pitchFamily="34" charset="-122"/>
                <a:cs typeface="Amiri" pitchFamily="34" charset="-120"/>
              </a:rPr>
              <a:t>بِـ</a:t>
            </a:r>
            <a:endParaRPr lang="ar-SA" sz="22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belongs to</a:t>
            </a:r>
            <a:endParaRPr lang="en-US" sz="1100" dirty="0"/>
          </a:p>
        </p:txBody>
      </p:sp>
      <p:sp>
        <p:nvSpPr>
          <p:cNvPr id="42" name="Text 39"/>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يَنْتَمِي </a:t>
            </a:r>
            <a:pPr rtl="1" algn="ctr" indent="0" marL="0">
              <a:buNone/>
            </a:pPr>
            <a:r>
              <a:rPr lang="ar-SA" altLang="en-US" sz="1950" b="1" dirty="0">
                <a:solidFill>
                  <a:srgbClr val="1D5FBF"/>
                </a:solidFill>
                <a:latin typeface="Amiri" pitchFamily="34" charset="0"/>
                <a:ea typeface="Amiri" pitchFamily="34" charset="-122"/>
                <a:cs typeface="Amiri" pitchFamily="34" charset="-120"/>
              </a:rPr>
              <a:t>إِلَى</a:t>
            </a:r>
            <a:pPr rtl="1" algn="ctr" indent="0" marL="0">
              <a:buNone/>
            </a:pPr>
            <a:r>
              <a:rPr lang="ar-SA" altLang="en-US" sz="1950" b="1" dirty="0">
                <a:solidFill>
                  <a:srgbClr val="1B3B6F"/>
                </a:solidFill>
                <a:latin typeface="Amiri" pitchFamily="34" charset="0"/>
                <a:ea typeface="Amiri" pitchFamily="34" charset="-122"/>
                <a:cs typeface="Amiri" pitchFamily="34" charset="-120"/>
              </a:rPr>
              <a:t> ثَقَافَتَيْنِ.</a:t>
            </a:r>
            <a:endParaRPr lang="ar-SA" sz="1950" dirty="0"/>
          </a:p>
        </p:txBody>
      </p:sp>
      <p:sp>
        <p:nvSpPr>
          <p:cNvPr id="43" name="Text 40"/>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 belongs to two cultures.</a:t>
            </a:r>
            <a:endParaRPr lang="en-US" sz="950" dirty="0"/>
          </a:p>
        </p:txBody>
      </p:sp>
      <p:sp>
        <p:nvSpPr>
          <p:cNvPr id="44" name="Text 41"/>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يَنْتَمِي </a:t>
            </a:r>
            <a:pPr rtl="1" algn="ctr" indent="0" marL="0">
              <a:buNone/>
            </a:pPr>
            <a:r>
              <a:rPr lang="ar-SA" altLang="en-US" sz="2200" b="1" dirty="0">
                <a:solidFill>
                  <a:srgbClr val="1D5FBF"/>
                </a:solidFill>
                <a:latin typeface="Amiri" pitchFamily="34" charset="0"/>
                <a:ea typeface="Amiri" pitchFamily="34" charset="-122"/>
                <a:cs typeface="Amiri" pitchFamily="34" charset="-120"/>
              </a:rPr>
              <a:t>إِلَى</a:t>
            </a:r>
            <a:endParaRPr lang="ar-SA" sz="22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adapts to</a:t>
            </a:r>
            <a:endParaRPr lang="en-US" sz="1100" dirty="0"/>
          </a:p>
        </p:txBody>
      </p:sp>
      <p:sp>
        <p:nvSpPr>
          <p:cNvPr id="47" name="Text 44"/>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يَتَكَيَّفُ المُهَاجِرُ </a:t>
            </a:r>
            <a:pPr rtl="1" algn="ctr" indent="0" marL="0">
              <a:buNone/>
            </a:pPr>
            <a:r>
              <a:rPr lang="ar-SA" altLang="en-US" sz="1950" b="1" dirty="0">
                <a:solidFill>
                  <a:srgbClr val="1D5FBF"/>
                </a:solidFill>
                <a:latin typeface="Amiri" pitchFamily="34" charset="0"/>
                <a:ea typeface="Amiri" pitchFamily="34" charset="-122"/>
                <a:cs typeface="Amiri" pitchFamily="34" charset="-120"/>
              </a:rPr>
              <a:t>مَعَ</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الحَيَاةِ الجَدِيدَةِ.</a:t>
            </a:r>
            <a:endParaRPr lang="ar-SA" sz="1950" dirty="0"/>
          </a:p>
        </p:txBody>
      </p:sp>
      <p:sp>
        <p:nvSpPr>
          <p:cNvPr id="48" name="Text 45"/>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migrant adapts to the new life.</a:t>
            </a:r>
            <a:endParaRPr lang="en-US" sz="950" dirty="0"/>
          </a:p>
        </p:txBody>
      </p:sp>
      <p:sp>
        <p:nvSpPr>
          <p:cNvPr id="49" name="Text 46"/>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يَتَكَيَّفُ </a:t>
            </a:r>
            <a:pPr rtl="1" algn="ctr" indent="0" marL="0">
              <a:buNone/>
            </a:pPr>
            <a:r>
              <a:rPr lang="ar-SA" altLang="en-US" sz="2200" b="1" dirty="0">
                <a:solidFill>
                  <a:srgbClr val="1D5FBF"/>
                </a:solidFill>
                <a:latin typeface="Amiri" pitchFamily="34" charset="0"/>
                <a:ea typeface="Amiri" pitchFamily="34" charset="-122"/>
                <a:cs typeface="Amiri" pitchFamily="34" charset="-120"/>
              </a:rPr>
              <a:t>مَعَ</a:t>
            </a:r>
            <a:endParaRPr lang="ar-SA" sz="22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the preposition the noun is genitive (-i): </a:t>
            </a:r>
            <a:pPr algn="l" indent="0" marL="0">
              <a:buNone/>
            </a:pPr>
            <a:r>
              <a:rPr lang="ar-SA" altLang="en-US" sz="1500" b="1" dirty="0">
                <a:solidFill>
                  <a:srgbClr val="1B3B6F"/>
                </a:solidFill>
                <a:latin typeface="Amiri" pitchFamily="34" charset="0"/>
                <a:ea typeface="Amiri" pitchFamily="34" charset="-122"/>
                <a:cs typeface="Amiri" pitchFamily="34" charset="-120"/>
              </a:rPr>
              <a:t>عَلَى الضِّيَافَةِ</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بِالمُنَاسَبَةِ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CONTRAST, BALANCE, HEDGE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Compare fairly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قَارِنْ بِدِقَّةٍ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CONTRAST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بَيْنَمَا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تُقَدَّمُ القَهْوَةُ أَوَّلًا فِي بَعْضِ البُلْدَانِ، بَيْنَمَا يُقَدَّمُ الشَّايُ فِي غَيْرِهَا.</a:t>
            </a:r>
            <a:endParaRPr lang="ar-SA" sz="20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some countries coffee is served first, whereas tea is served in others.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Two full clauses.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BALANCE · STRETCH</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34" charset="0"/>
                <a:ea typeface="Amiri" pitchFamily="34" charset="-122"/>
                <a:cs typeface="Amiri" pitchFamily="34" charset="-120"/>
              </a:rPr>
              <a:t>مِنْ نَاحِيَةٍ … وَمِنْ نَاحِيَةٍ أُخْرَى</a:t>
            </a:r>
            <a:endParaRPr lang="ar-SA" sz="14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نَاحِيَةٍ تَتَغَيَّرُ العَادَاتُ، وَمِنْ نَاحِيَةٍ أُخْرَى تَبْقَى القِيَمُ.</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 one hand customs change; on the other, values remain.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Two sides.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HEDGE · CORE</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بَعْضِ العَائِلَاتِ</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فِي بَعْضِ العَائِلَاتِ يُقَبِّلُ الأَبْنَاءُ رَأْسَ الجَدِّ.</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some families children kiss their grandfather’s head.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Not “all Arabs”.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a universal claim is a generalisation.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34" charset="0"/>
                <a:ea typeface="Amiri" pitchFamily="34" charset="-122"/>
                <a:cs typeface="Amiri" pitchFamily="34" charset="-120"/>
              </a:rPr>
              <a:t>فِي بَعْضِ العَائِلَاتِ</a:t>
            </a:r>
            <a:endParaRPr lang="ar-SA" sz="21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كُلُّ العَرَبِ</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Cultural verbs, contrast and qualification</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أَفْعَالُ الثَّقَافَةِ وَالمُقَارَنَةُ وَالتَّحَفُّظُ</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Cultural verbs and their prepositions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يَعْتَادُ عَلَى · يَتَمَسَّكُ بِـ · يَنْتَمِي إِلَى · يَتَكَيَّفُ مَعَ</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يَعْتَادُ النَّاسُ عَلَى الضِّيَافَةِ   ·   تَتَمَسَّكُ الأُسْرَةُ بِتَقَالِيدِهَا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Contrast with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clause + </a:t>
            </a:r>
            <a:pPr algn="l" indent="0" marL="0">
              <a:buNone/>
            </a:pPr>
            <a:r>
              <a:rPr lang="ar-SA" altLang="en-US" sz="1350" dirty="0">
                <a:solidFill>
                  <a:srgbClr val="5A6472"/>
                </a:solidFill>
                <a:latin typeface="Amiri" pitchFamily="34" charset="0"/>
                <a:ea typeface="Amiri" pitchFamily="34" charset="-122"/>
                <a:cs typeface="Amiri" pitchFamily="34" charset="-120"/>
              </a:rPr>
              <a:t>بَيْنَمَا</a:t>
            </a:r>
            <a:pPr algn="l" indent="0" marL="0">
              <a:buNone/>
            </a:pPr>
            <a:r>
              <a:rPr lang="en-US" sz="1050" dirty="0">
                <a:solidFill>
                  <a:srgbClr val="5A6472"/>
                </a:solidFill>
                <a:latin typeface="Calibri" pitchFamily="34" charset="0"/>
                <a:ea typeface="Calibri" pitchFamily="34" charset="-122"/>
                <a:cs typeface="Calibri" pitchFamily="34" charset="-120"/>
              </a:rPr>
              <a:t> + clause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تُقَدَّمُ القَهْوَةُ أَوَّلًا فِي بَعْضِ البُلْدَانِ، بَيْنَمَا يُقَدَّمُ الشَّايُ فِي غَيْرِهَا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Two-sided comparison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نَاحِيَةٍ … وَمِنْ نَاحِيَةٍ أُخْرَى …</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مِنْ نَاحِيَةٍ تَتَغَيَّرُ العَادَاتُ، وَمِنْ نَاحِيَةٍ أُخْرَى تَبْقَى القِيَمُ</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Hedging a cultural claim</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فِي بَعْضِ … / أَحْيَانًا / لَيْسَ دَائِمًا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فِي بَعْضِ العَائِلَاتِ يُقَبِّلُ الأَبْنَاءُ رَأْسَ الجَدِّ   ·   لَيْسَ دَائِمًا تَتَشَابَهُ العَادَاتُ</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يَعْتَادُ النَّاسُ ___ الضِّيَافَةِ.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تَتَمَسَّكُ الأُسْرَةُ ___ تَقَالِيدِهَا.</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celebration sentence.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تَحْتَفِلُ العَائِلَةُ المُنَاسَبَةَ.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تَحْتَفِلُ العَائِلَةُ بِالمُنَاسَبَةِ.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تَحْتَفِلُ العَائِلَةُ عَلَى المُنَاسَبَةِ.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avoids a generalisation?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بَعْضِ العَائِلَاتِ يُقَبِّلُ الأَبْنَاءُ رَأْسَ الجَدِّ.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 العَرَبِ يُقَبِّلُونَ رَأْسَ الجَدِّ.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العَرَبُ دَائِمًا يَفْعَلُونَ ذٰلِكَ.</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يَعْتَادُ النَّاسُ ___ الضِّيَافَةِ.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يَعْتَادُ</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تَتَمَسَّكُ الأُسْرَةُ ___ تَقَالِيدِهَا.</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يَتَمَسَّكُ</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celebration sentence.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تَحْتَفِلُ العَائِلَةُ المُنَاسَبَةَ.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تَحْتَفِلُ العَائِلَةُ بِالمُنَاسَبَةِ.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تَحْتَفِلُ العَائِلَةُ عَلَى المُنَاسَبَةِ.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يَحْتَفِلُ</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and a genitive noun.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avoids a generalisation?</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بَعْضِ العَائِلَاتِ يُقَبِّلُ الأَبْنَاءُ رَأْسَ الجَدِّ.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 العَرَبِ يُقَبِّلُونَ رَأْسَ الجَدِّ.</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العَرَبُ دَائِمًا يَفْعَلُونَ ذٰلِكَ.</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بَعْضِ العَائِلَاتِ</a:t>
            </a:r>
            <a:pPr algn="l" indent="0" marL="0">
              <a:buNone/>
            </a:pPr>
            <a:r>
              <a:rPr lang="en-US" sz="1050" i="1" dirty="0">
                <a:solidFill>
                  <a:srgbClr val="8A6D1E"/>
                </a:solidFill>
                <a:latin typeface="Calibri" pitchFamily="34" charset="0"/>
                <a:ea typeface="Calibri" pitchFamily="34" charset="-122"/>
                <a:cs typeface="Calibri" pitchFamily="34" charset="-120"/>
              </a:rPr>
              <a:t> reports what some families do, which is accurate.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Watch me compare two customs fairly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Hedge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فِي بَعْضِ العَائِلَاتِ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Not everyone.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Verb + prep</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يَعْتَادُ</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النَّاسُ </a:t>
            </a:r>
            <a:pPr rtl="1" algn="ctr" indent="0" marL="0">
              <a:buNone/>
            </a:pPr>
            <a:r>
              <a:rPr lang="ar-SA" altLang="en-US" sz="2100" b="1" dirty="0">
                <a:solidFill>
                  <a:srgbClr val="0E7C86"/>
                </a:solidFill>
                <a:latin typeface="Amiri" pitchFamily="34" charset="0"/>
                <a:ea typeface="Amiri" pitchFamily="34" charset="-122"/>
                <a:cs typeface="Amiri" pitchFamily="34" charset="-120"/>
              </a:rPr>
              <a:t>عَلَى</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الضِّيَافَةِ</a:t>
            </a:r>
            <a:endParaRPr lang="ar-SA" sz="21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iʿtāda + ʿalā.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بَيْنَمَا</a:t>
            </a:r>
            <a:pPr rtl="1" algn="ctr" indent="0" marL="0">
              <a:buNone/>
            </a:pPr>
            <a:r>
              <a:rPr lang="ar-SA" altLang="en-US" sz="2400" b="1" dirty="0">
                <a:solidFill>
                  <a:srgbClr val="1B3B6F"/>
                </a:solidFill>
                <a:latin typeface="Amiri" pitchFamily="34" charset="0"/>
                <a:ea typeface="Amiri" pitchFamily="34" charset="-122"/>
                <a:cs typeface="Amiri" pitchFamily="34" charset="-120"/>
              </a:rPr>
              <a:t> نُقَدِّمُ نَحْنُ الشَّايَ</a:t>
            </a:r>
            <a:endParaRPr lang="ar-SA" sz="2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clauses.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Balance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مِنْ نَاحِيَةٍ … وَمِنْ نَاحِيَةٍ أُخْرَى …</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sides.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HEDGE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VERB + PREPOSITION</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CONTRAST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تَخْتَلِفُ العَادَاتُ بَيْنَ البُلْدَانِ اخْتِلَافًا وَاضِحًا.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فِي بَعْضِ العَائِلَاتِ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العَرَبِيَّةِ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يَعْتَادُ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النَّاسُ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عَلَى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اسْتِقْبَالِ الضَّيْفِ بِالقَهْوَةِ وَالتَّمْرِ،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بَيْنَمَا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نُقَدِّمُ نَحْنُ الشَّايَ عَادَةً. وَ</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يَتَمَسَّكُ</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كَثِيرٌ مِنَ الأُسَرِ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بِصِلَةِ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الرَّحِمِ.</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Customs clearly differ between countries. In some Arab families people are used to receiving a guest with coffee and dates, whereas we usually serve tea. Many families hold on to family ties.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يَعْتَادُ عَلَى الضِّيَافَةِ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is used to hospitality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عَلَى is fixed with يَعْتَادُ.</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تَتَمَسَّكُ بِتَقَالِيدِهَا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holds on to her traditions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بِـ is fixed with يَتَمَسَّكُ.</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بَعْضِ العَائِلَاتِ …</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in some families …</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hedge keeps the claim honest.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ea typeface="Calibri" pitchFamily="34" charset="-122"/>
                <a:cs typeface="Calibri" pitchFamily="34" charset="-120"/>
              </a:rPr>
              <a:t>WE DO · PICTURE MATCH · WEBSITE GAME “HOSPITALITY &amp; ETIQUETTE (TOPIC GAME)”</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الضِّيَافَةُ وَالآدَابُ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visit</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439826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4581144" y="2249424"/>
            <a:ext cx="649224" cy="649224"/>
          </a:xfrm>
          <a:prstGeom prst="rect">
            <a:avLst/>
          </a:prstGeom>
        </p:spPr>
      </p:pic>
      <p:sp>
        <p:nvSpPr>
          <p:cNvPr id="30" name="Shape 24"/>
          <p:cNvSpPr/>
          <p:nvPr/>
        </p:nvSpPr>
        <p:spPr>
          <a:xfrm>
            <a:off x="558698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5769864" y="2249424"/>
            <a:ext cx="649224" cy="649224"/>
          </a:xfrm>
          <a:prstGeom prst="rect">
            <a:avLst/>
          </a:prstGeom>
        </p:spPr>
      </p:pic>
      <p:sp>
        <p:nvSpPr>
          <p:cNvPr id="32" name="Shape 25"/>
          <p:cNvSpPr/>
          <p:nvPr/>
        </p:nvSpPr>
        <p:spPr>
          <a:xfrm>
            <a:off x="6775704"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6958584" y="2249424"/>
            <a:ext cx="649224" cy="649224"/>
          </a:xfrm>
          <a:prstGeom prst="rect">
            <a:avLst/>
          </a:prstGeom>
        </p:spPr>
      </p:pic>
      <p:sp>
        <p:nvSpPr>
          <p:cNvPr id="34"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hospitality</a:t>
            </a:r>
            <a:endParaRPr lang="en-US" sz="1100" dirty="0"/>
          </a:p>
        </p:txBody>
      </p:sp>
      <p:sp>
        <p:nvSpPr>
          <p:cNvPr id="35" name="Shape 27"/>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28"/>
          <p:cNvSpPr/>
          <p:nvPr/>
        </p:nvSpPr>
        <p:spPr>
          <a:xfrm>
            <a:off x="585216" y="1938528"/>
            <a:ext cx="365760" cy="365760"/>
          </a:xfrm>
          <a:prstGeom prst="ellipse">
            <a:avLst/>
          </a:prstGeom>
          <a:solidFill>
            <a:srgbClr val="1B3B6F"/>
          </a:solidFill>
          <a:ln w="12700">
            <a:solidFill>
              <a:srgbClr val="1B3B6F"/>
            </a:solidFill>
            <a:prstDash val="solid"/>
          </a:ln>
        </p:spPr>
      </p:sp>
      <p:sp>
        <p:nvSpPr>
          <p:cNvPr id="37" name="Text 29"/>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Shape 30"/>
          <p:cNvSpPr/>
          <p:nvPr/>
        </p:nvSpPr>
        <p:spPr>
          <a:xfrm>
            <a:off x="117348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0" name="Shape 31"/>
          <p:cNvSpPr/>
          <p:nvPr/>
        </p:nvSpPr>
        <p:spPr>
          <a:xfrm>
            <a:off x="236220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2" name="Text 3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new culture</a:t>
            </a:r>
            <a:endParaRPr lang="en-US" sz="1100" dirty="0"/>
          </a:p>
        </p:txBody>
      </p:sp>
      <p:sp>
        <p:nvSpPr>
          <p:cNvPr id="43" name="Shape 33"/>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4" name="Shape 34"/>
          <p:cNvSpPr/>
          <p:nvPr/>
        </p:nvSpPr>
        <p:spPr>
          <a:xfrm>
            <a:off x="11247120" y="3831336"/>
            <a:ext cx="292608" cy="292608"/>
          </a:xfrm>
          <a:prstGeom prst="ellipse">
            <a:avLst/>
          </a:prstGeom>
          <a:solidFill>
            <a:srgbClr val="2F6FB0"/>
          </a:solidFill>
          <a:ln w="12700">
            <a:solidFill>
              <a:srgbClr val="2F6FB0"/>
            </a:solidFill>
            <a:prstDash val="solid"/>
          </a:ln>
        </p:spPr>
      </p:sp>
      <p:sp>
        <p:nvSpPr>
          <p:cNvPr id="45" name="Text 35"/>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6" name="Text 36"/>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الْمُهَذَّبِ أَنْ أَشْكُرَ الْمُضِيفَ عَلَى الضِّيَافَةِ.</a:t>
            </a:r>
            <a:endParaRPr lang="ar-SA" sz="2000" dirty="0"/>
          </a:p>
        </p:txBody>
      </p:sp>
      <p:sp>
        <p:nvSpPr>
          <p:cNvPr id="47" name="Shape 37"/>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8" name="Shape 38"/>
          <p:cNvSpPr/>
          <p:nvPr/>
        </p:nvSpPr>
        <p:spPr>
          <a:xfrm>
            <a:off x="11247120" y="4398264"/>
            <a:ext cx="292608" cy="292608"/>
          </a:xfrm>
          <a:prstGeom prst="ellipse">
            <a:avLst/>
          </a:prstGeom>
          <a:solidFill>
            <a:srgbClr val="2F6FB0"/>
          </a:solidFill>
          <a:ln w="12700">
            <a:solidFill>
              <a:srgbClr val="2F6FB0"/>
            </a:solidFill>
            <a:prstDash val="solid"/>
          </a:ln>
        </p:spPr>
      </p:sp>
      <p:sp>
        <p:nvSpPr>
          <p:cNvPr id="49" name="Text 39"/>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50" name="Text 40"/>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إِذَا لَمْ أَعْرِفِ الْعَادَةَ فَمِنَ الأَفْضَلِ أَنْ أَسْأَلَ بِاحْتِرَامٍ.</a:t>
            </a:r>
            <a:endParaRPr lang="ar-SA" sz="2000" dirty="0"/>
          </a:p>
        </p:txBody>
      </p:sp>
      <p:sp>
        <p:nvSpPr>
          <p:cNvPr id="51" name="Shape 41"/>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2" name="Shape 42"/>
          <p:cNvSpPr/>
          <p:nvPr/>
        </p:nvSpPr>
        <p:spPr>
          <a:xfrm>
            <a:off x="11247120" y="4965192"/>
            <a:ext cx="292608" cy="292608"/>
          </a:xfrm>
          <a:prstGeom prst="ellipse">
            <a:avLst/>
          </a:prstGeom>
          <a:solidFill>
            <a:srgbClr val="2F6FB0"/>
          </a:solidFill>
          <a:ln w="12700">
            <a:solidFill>
              <a:srgbClr val="2F6FB0"/>
            </a:solidFill>
            <a:prstDash val="solid"/>
          </a:ln>
        </p:spPr>
      </p:sp>
      <p:sp>
        <p:nvSpPr>
          <p:cNvPr id="53" name="Text 43"/>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4" name="Text 44"/>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عِنْدَمَا أَزُورُ أَحَدًا أُحَيِّيهِ بِأَدَبٍ.</a:t>
            </a:r>
            <a:endParaRPr lang="ar-SA" sz="2000" dirty="0"/>
          </a:p>
        </p:txBody>
      </p:sp>
      <p:sp>
        <p:nvSpPr>
          <p:cNvPr id="55" name="Text 45"/>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6" name="Text 46"/>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7"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الضِّيَافَةُ وَالآدَابُ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visit</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عِنْدَمَا أَزُورُ أَحَدًا أُحَيِّيهِ بِأَدَبٍ.</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When I visit someone, I greet them politely.</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439826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4581144" y="2249424"/>
            <a:ext cx="649224" cy="649224"/>
          </a:xfrm>
          <a:prstGeom prst="rect">
            <a:avLst/>
          </a:prstGeom>
        </p:spPr>
      </p:pic>
      <p:sp>
        <p:nvSpPr>
          <p:cNvPr id="35" name="Shape 29"/>
          <p:cNvSpPr/>
          <p:nvPr/>
        </p:nvSpPr>
        <p:spPr>
          <a:xfrm>
            <a:off x="558698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5769864" y="2249424"/>
            <a:ext cx="649224" cy="649224"/>
          </a:xfrm>
          <a:prstGeom prst="rect">
            <a:avLst/>
          </a:prstGeom>
        </p:spPr>
      </p:pic>
      <p:sp>
        <p:nvSpPr>
          <p:cNvPr id="37" name="Shape 30"/>
          <p:cNvSpPr/>
          <p:nvPr/>
        </p:nvSpPr>
        <p:spPr>
          <a:xfrm>
            <a:off x="6775704" y="2066544"/>
            <a:ext cx="1014984" cy="1014984"/>
          </a:xfrm>
          <a:prstGeom prst="ellipse">
            <a:avLst/>
          </a:prstGeom>
          <a:solidFill>
            <a:srgbClr val="F4F1EA"/>
          </a:solidFill>
          <a:ln w="12700">
            <a:solidFill>
              <a:srgbClr val="F4F1EA"/>
            </a:solidFill>
            <a:prstDash val="solid"/>
          </a:ln>
        </p:spPr>
      </p:sp>
      <p:pic>
        <p:nvPicPr>
          <p:cNvPr id="38" name="Image 4" descr="preencoded.png">    </p:cNvPr>
          <p:cNvPicPr>
            <a:picLocks noChangeAspect="1"/>
          </p:cNvPicPr>
          <p:nvPr/>
        </p:nvPicPr>
        <p:blipFill>
          <a:blip r:embed="rId5"/>
          <a:stretch>
            <a:fillRect/>
          </a:stretch>
        </p:blipFill>
        <p:spPr>
          <a:xfrm>
            <a:off x="6958584" y="2249424"/>
            <a:ext cx="649224" cy="649224"/>
          </a:xfrm>
          <a:prstGeom prst="rect">
            <a:avLst/>
          </a:prstGeom>
        </p:spPr>
      </p:pic>
      <p:sp>
        <p:nvSpPr>
          <p:cNvPr id="39" name="Text 3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hospitality</a:t>
            </a:r>
            <a:endParaRPr lang="en-US" sz="1100" dirty="0"/>
          </a:p>
        </p:txBody>
      </p:sp>
      <p:sp>
        <p:nvSpPr>
          <p:cNvPr id="40" name="Shape 32"/>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Shape 33"/>
          <p:cNvSpPr/>
          <p:nvPr/>
        </p:nvSpPr>
        <p:spPr>
          <a:xfrm>
            <a:off x="7437120" y="3785616"/>
            <a:ext cx="329184" cy="329184"/>
          </a:xfrm>
          <a:prstGeom prst="ellipse">
            <a:avLst/>
          </a:prstGeom>
          <a:solidFill>
            <a:srgbClr val="2E8B57"/>
          </a:solidFill>
          <a:ln w="12700">
            <a:solidFill>
              <a:srgbClr val="2E8B57"/>
            </a:solidFill>
            <a:prstDash val="solid"/>
          </a:ln>
        </p:spPr>
      </p:sp>
      <p:sp>
        <p:nvSpPr>
          <p:cNvPr id="42" name="Text 34"/>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3" name="Text 35"/>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مِنَ الْمُهَذَّبِ أَنْ أَشْكُرَ الْمُضِيفَ عَلَى الضِّيَافَةِ.</a:t>
            </a:r>
            <a:endParaRPr lang="ar-SA" sz="2200" dirty="0"/>
          </a:p>
        </p:txBody>
      </p:sp>
      <p:sp>
        <p:nvSpPr>
          <p:cNvPr id="44" name="Text 36"/>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It is polite to thank the host for the hospitality.</a:t>
            </a:r>
            <a:endParaRPr lang="en-US" sz="1200" dirty="0"/>
          </a:p>
        </p:txBody>
      </p:sp>
      <p:sp>
        <p:nvSpPr>
          <p:cNvPr id="45" name="Shape 37"/>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38"/>
          <p:cNvSpPr/>
          <p:nvPr/>
        </p:nvSpPr>
        <p:spPr>
          <a:xfrm>
            <a:off x="585216" y="1938528"/>
            <a:ext cx="365760" cy="365760"/>
          </a:xfrm>
          <a:prstGeom prst="ellipse">
            <a:avLst/>
          </a:prstGeom>
          <a:solidFill>
            <a:srgbClr val="1B3B6F"/>
          </a:solidFill>
          <a:ln w="12700">
            <a:solidFill>
              <a:srgbClr val="1B3B6F"/>
            </a:solidFill>
            <a:prstDash val="solid"/>
          </a:ln>
        </p:spPr>
      </p:sp>
      <p:sp>
        <p:nvSpPr>
          <p:cNvPr id="47" name="Text 39"/>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8" name="Shape 40"/>
          <p:cNvSpPr/>
          <p:nvPr/>
        </p:nvSpPr>
        <p:spPr>
          <a:xfrm>
            <a:off x="117348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50" name="Shape 41"/>
          <p:cNvSpPr/>
          <p:nvPr/>
        </p:nvSpPr>
        <p:spPr>
          <a:xfrm>
            <a:off x="236220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2" name="Text 4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new culture</a:t>
            </a:r>
            <a:endParaRPr lang="en-US" sz="1100" dirty="0"/>
          </a:p>
        </p:txBody>
      </p:sp>
      <p:sp>
        <p:nvSpPr>
          <p:cNvPr id="53" name="Shape 43"/>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4" name="Shape 44"/>
          <p:cNvSpPr/>
          <p:nvPr/>
        </p:nvSpPr>
        <p:spPr>
          <a:xfrm>
            <a:off x="3617976" y="3785616"/>
            <a:ext cx="329184" cy="329184"/>
          </a:xfrm>
          <a:prstGeom prst="ellipse">
            <a:avLst/>
          </a:prstGeom>
          <a:solidFill>
            <a:srgbClr val="2E8B57"/>
          </a:solidFill>
          <a:ln w="12700">
            <a:solidFill>
              <a:srgbClr val="2E8B57"/>
            </a:solidFill>
            <a:prstDash val="solid"/>
          </a:ln>
        </p:spPr>
      </p:sp>
      <p:sp>
        <p:nvSpPr>
          <p:cNvPr id="55" name="Text 45"/>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6" name="Text 46"/>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إِذَا لَمْ أَعْرِفِ الْعَادَةَ فَمِنَ الأَفْضَلِ أَنْ أَسْأَلَ بِاحْتِرَامٍ.</a:t>
            </a:r>
            <a:endParaRPr lang="ar-SA" sz="2200" dirty="0"/>
          </a:p>
        </p:txBody>
      </p:sp>
      <p:sp>
        <p:nvSpPr>
          <p:cNvPr id="57" name="Text 47"/>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If I do not know the custom, it is best to ask respectfully.</a:t>
            </a:r>
            <a:endParaRPr lang="en-US" sz="1200" dirty="0"/>
          </a:p>
        </p:txBody>
      </p:sp>
      <p:sp>
        <p:nvSpPr>
          <p:cNvPr id="58"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CULTURAL CUSTOMS — TRADITIONS, GREETINGS AND SOCIAL NORMS”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custom?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coffee and handshake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558698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greeting wave</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6"/>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4" name="Shape 27"/>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family meal</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تَخْتَلِفُ طُرُقُ التَّحِيَّةِ مِنْ مَكَانٍ إِلَى آخَرَ.</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تَجْتَمِعُ العَائِلَةُ فِي المُنَاسَبَاتِ.</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المُهِمِّ اِحْتِرَامُ عَادَاتِ الضِّيَافَةِ.</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coffee and handshake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 المُهِمِّ اِحْتِرَامُ عَادَاتِ الضِّيَافَةِ.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It is important to respect customs of hospitality.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558698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greeting wave</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تَخْتَلِفُ طُرُقُ التَّحِيَّةِ مِنْ مَكَانٍ إِلَى آخَرَ.</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Ways of greeting differ from place to place.</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6"/>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4" name="Shape 37"/>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family meal</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تَجْتَمِعُ العَائِلَةُ فِي المُنَاسَبَاتِ.</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family gathers on special occasions.</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يَعْتَادُ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اِعْتَادَ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يَتَعَوَّدُ</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يَتَمَسَّكُ</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يَحْتَفِلُ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يَحْتَفِظُ</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يَنْتَمِي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يَتَكَيَّفُ</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يَتَعَامَلُ</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عَلَى</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بِـ</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إِلَى / مَعَ</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عَلَى</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يَعْتَادُ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اِعْتَادَ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يَتَعَوَّدُ</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بِـ</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يَتَمَسَّكُ</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يَحْتَفِلُ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يَحْتَفِظُ</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إِلَى / مَعَ</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يَنْتَمِي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يَتَكَيَّفُ</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يَتَعَامَلُ</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4,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يَنْتَمِي ___ ثَقَافَتَيْنِ.</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يَتَكَيَّفُ المُهَاجِرُ ___ الحَيَاةِ الجَدِيدَةِ.</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يُقَدَّمُ الشَّايُ بَيْنَمَا.</a:t>
            </a:r>
            <a:endParaRPr lang="ar-SA" sz="17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يُقَدَّمُ الشَّايُ فِي بَعْضِ البُلْدَانِ، بَيْنَمَا تُقَدَّمُ القَهْوَةُ فِي غَيْرِهَا.</a:t>
            </a:r>
            <a:endParaRPr lang="ar-SA" sz="17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بَيْنَمَا الشَّايُ وَالقَهْوَةُ.</a:t>
            </a:r>
            <a:endParaRPr lang="ar-SA" sz="17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two-sided comparison.</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34" charset="0"/>
                <a:ea typeface="Amiri" pitchFamily="34" charset="-122"/>
                <a:cs typeface="Amiri" pitchFamily="34" charset="-120"/>
              </a:rPr>
              <a:t>مِنْ نَاحِيَةٍ تَتَغَيَّرُ العَادَاتُ وَتَبْقَى القِيَمُ.</a:t>
            </a:r>
            <a:endParaRPr lang="ar-SA" sz="190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34" charset="0"/>
                <a:ea typeface="Amiri" pitchFamily="34" charset="-122"/>
                <a:cs typeface="Amiri" pitchFamily="34" charset="-120"/>
              </a:rPr>
              <a:t>مِنْ نَاحِيَةٍ أُخْرَى تَتَغَيَّرُ العَادَاتُ فَقَطْ.</a:t>
            </a:r>
            <a:endParaRPr lang="ar-SA" sz="190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34" charset="0"/>
                <a:ea typeface="Amiri" pitchFamily="34" charset="-122"/>
                <a:cs typeface="Amiri" pitchFamily="34" charset="-120"/>
              </a:rPr>
              <a:t>مِنْ نَاحِيَةٍ تَتَغَيَّرُ العَادَاتُ، وَمِنْ نَاحِيَةٍ أُخْرَى تَبْقَى القِيَمُ.</a:t>
            </a:r>
            <a:endParaRPr lang="ar-SA" sz="19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يَنْتَمِي ___ ثَقَافَتَيْنِ.</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يَنْتَمِي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يَتَكَيَّفُ المُهَاجِرُ ___ الحَيَاةِ الجَدِيدَةِ.</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يَتَكَيَّفُ</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يُقَدَّمُ الشَّايُ بَيْنَمَا.</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يُقَدَّمُ الشَّايُ فِي بَعْضِ البُلْدَانِ، بَيْنَمَا تُقَدَّمُ القَهْوَةُ فِي غَيْرِهَا.</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 الشَّايُ وَالقَهْوَةُ.</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joins two complete contrasting clauses.</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two-sided comparison.</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نَاحِيَةٍ تَتَغَيَّرُ العَادَاتُ وَتَبْقَى القِيَمُ.</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نَاحِيَةٍ أُخْرَى تَتَغَيَّرُ العَادَاتُ فَقَطْ.</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نَاحِيَةٍ تَتَغَيَّرُ العَادَاتُ، وَمِنْ نَاحِيَةٍ أُخْرَى تَبْقَى القِيَمُ.</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pair needs both halves to balance the two aspects.</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يَعْتَادُ النَّاسُ بِالضِّيَافَةِ.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iʿtāda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تَحْتَفِلُ العَائِلَةُ المُنَاسَبَةَ.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iḥtafala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كُلُّ العَرَبِ يَحْتَفِلُونَ بِالطَّرِيقَةِ نَفْسِهَا.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All Arabs? Hedge it!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يَعْتَادُ النَّاسُ بِالضِّيَافَةِ.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يَعْتَادُ النَّاسُ عَلَى الضِّيَافَةِ.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يَعْتَادُ</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عَلَى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تَحْتَفِلُ العَائِلَةُ المُنَاسَبَةَ.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تَحْتَفِلُ العَائِلَةُ بِالمُنَاسَبَةِ.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يَحْتَفِلُ</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كُلُّ العَرَبِ يَحْتَفِلُونَ بِالطَّرِيقَةِ نَفْسِهَا.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تَخْتَلِفُ طَرِيقَةُ الاحْتِفَالِ مِنْ بَلَدٍ إِلَى بَلَدٍ.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universal claim about a whole population is a generalisation, and it is inaccurate.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Listening: two students compare customs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offered first in some families?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Coffee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Juice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 elders hold on to?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Formal dress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Old recipes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Keeping family ties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 they visit relatives?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year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at Eid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every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Sami answer about celebrating at home?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Sometimes, and not always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Always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Nūr conclude?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Arabs do the same thing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cannot say all Arabs do the same thing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Customs never change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speakers: Nur · Sami.</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نُورُ: فِي بَعْضِ العَائِلَاتِ عِنْدَنَا يَعْتَادُ النَّاسُ عَلَى تَقْدِيمِ القَهْوَةِ لِلضَّيْفِ أَوَّلًا، بَيْنَمَا يُقَدَّمُ الشَّايُ فِي بُلْدَانٍ أُخْرَى.</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Nur: In some families here people are used to serving the guest coffee first, whereas tea is served in other countries.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سَامِي: وَعِنْدَنَا يَتَمَسَّكُ الكِبَارُ بِصِلَةِ الرَّحِمِ، فَنَزُورُ الأَقَارِبَ كُلَّ أُسْبُوعٍ تَقْرِيبًا.</a:t>
            </a:r>
            <a:endParaRPr lang="ar-SA" sz="19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 With us, the elders hold on to family ties, so we visit relatives almost every week.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نُورُ: وَهَلْ تَحْتَفِلُونَ بِالمُنَاسَبَاتِ فِي البَيْتِ؟</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Nur: And do you celebrate occasions at home?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سَامِي: أَحْيَانًا، وَلَيْسَ دَائِمًا؛ فَالأَمْرُ يَخْتَلِفُ مِنْ أُسْرَةٍ إِلَى أُسْرَةٍ.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 Sometimes, not always — it differs from family to family.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نُورُ: هٰذَا صَحِيحٌ. لَا يَجُوزُ أَنْ نَقُولَ إِنَّ كُلَّ العَرَبِ يَفْعَلُونَ الشَّيْءَ نَفْسَهُ.</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Nur: That’s right. We can’t say that all Arabs do the same thing.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offered first in some families?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Coffee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Juice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يَعْتَادُ النَّاسُ عَلَى تَقْدِيمِ القَهْوَةِ لِلضَّيْفِ أَوَّلًا.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 elders hold on to?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Formal dress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Old recipes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Keeping family ties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يَتَمَسَّكُ الكِبَارُ بِصِلَةِ الرَّحِمِ.</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 they visit relatives?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year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at Eid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About every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فَنَزُورُ الأَقَارِبَ كُلَّ أُسْبُوعٍ تَقْرِيبًا.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Sami answer about celebrating at home?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Sometimes, and not always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Always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أَحْيَانًا، وَلَيْسَ دَائِمًا؛ فَالأَمْرُ يَخْتَلِفُ مِنْ أُسْرَةٍ إِلَى أُسْرَةٍ.</a:t>
            </a:r>
            <a:endParaRPr lang="ar-SA" sz="13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Nūr conclude?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Arabs do the same thing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We cannot say all Arabs do the same thing</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Customs never change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يَجُوزُ أَنْ نَقُولَ إِنَّ كُلَّ العَرَبِ يَفْعَلُونَ الشَّيْءَ نَفْسَهُ.</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speakers: Nur · Sami.</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Customs and etiquette sort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Customs and etiquette sort</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Classify greetings, hospitality and social behaviours by situation, then advise a respectful visitor what to do, avoid or ask about.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Sort 8 behaviours by situation: greeting · visiting · eating · leaving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Mark each: do / avoid / ask about.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Write advice for a respectful visitor (imperatives).</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Compare one custom with your own family custom.</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Sort the cards; two imperatives: “sallim! / ishkur!”.</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Advice with “yanbaghī an” and “lā + jussive”.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Advice + a respectful comparison (fī baʿḍ al-buldān … ammā fī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سَلِّمْ عَلَى الكِبَارِ أَوَّلًا</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greet the elders first</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اشْكُرِ المُضِيفَ</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thank the host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لَا تَرْفُضِ الضِّيَافَةَ مُبَاشَرَةً</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do not refuse hospitality straight away</a:t>
            </a:r>
            <a:endParaRPr lang="en-US" sz="9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إِذَا لَمْ تَعْرِفْ، اسْأَلْ بِأَدَبٍ</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if you do not know, ask politely</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Speaking: compare a custom accurately</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عَادَةً تَعْرِفُهَا. مَنْ يَعْتَادُ عَلَيْهَا؟</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عَادَتَيْنِ مُسْتَعْمِلًا بَيْنَمَا.</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تَتَجَنَّبُ التَّعْمِيمَ عِنْدَ الحَدِيثِ عَنِ الثَّقَافَاتِ؟</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عَائِلَتِي نَعْتَادُ عَلَى ___ .</a:t>
            </a:r>
            <a:endParaRPr lang="ar-SA" sz="16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بَعْضِ العَائِلَاتِ ___ ، بَيْنَمَا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لَا أَقُولُ « كُلُّ … » ، بَلْ أَقُولُ « فِي بَعْضِ … » لِأَنَّ ___ .</a:t>
            </a:r>
            <a:endParaRPr lang="ar-SA" sz="105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عَادَةً تَعْرِفُهَا.</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a custom you know.</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فِي بَعْضِ العَائِلَاتِ يَعْتَادُ النَّاسُ عَلَى تَقْدِيمِ القَهْوَةِ لِلضَّيْفِ أَوَّلًا.</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In some families people are used to serving the guest coffee first.</a:t>
            </a:r>
            <a:endParaRPr lang="en-US" sz="9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sentences naming customs, each with the correct preposition on its verb.</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Five customs, each cultural verb with its preposition.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contrast with </a:t>
            </a:r>
            <a:pPr algn="l" indent="0" marL="0">
              <a:buNone/>
            </a:pPr>
            <a:r>
              <a:rPr lang="ar-SA" altLang="en-US" sz="1800" b="1" dirty="0">
                <a:solidFill>
                  <a:srgbClr val="1F2A37"/>
                </a:solidFill>
                <a:latin typeface="Amiri" pitchFamily="34" charset="0"/>
                <a:ea typeface="Amiri" pitchFamily="34" charset="-122"/>
                <a:cs typeface="Amiri" pitchFamily="34" charset="-120"/>
              </a:rPr>
              <a:t>بَيْنَمَا</a:t>
            </a:r>
            <a:pPr algn="l" indent="0" marL="0">
              <a:buNone/>
            </a:pPr>
            <a:r>
              <a:rPr lang="en-US" sz="1400" b="1" dirty="0">
                <a:solidFill>
                  <a:srgbClr val="1F2A37"/>
                </a:solidFill>
                <a:latin typeface="Calibri" pitchFamily="34" charset="0"/>
                <a:ea typeface="Calibri" pitchFamily="34" charset="-122"/>
                <a:cs typeface="Calibri" pitchFamily="34" charset="-120"/>
              </a:rPr>
              <a:t> and one hedge.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comparison with بَيْنَمَا and one hedge.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Balance the comparison with </a:t>
            </a:r>
            <a:pPr algn="l" indent="0" marL="0">
              <a:buNone/>
            </a:pPr>
            <a:r>
              <a:rPr lang="ar-SA" altLang="en-US" sz="1800" b="1" dirty="0">
                <a:solidFill>
                  <a:srgbClr val="1F2A37"/>
                </a:solidFill>
                <a:latin typeface="Amiri" pitchFamily="34" charset="0"/>
                <a:ea typeface="Amiri" pitchFamily="34" charset="-122"/>
                <a:cs typeface="Amiri" pitchFamily="34" charset="-120"/>
              </a:rPr>
              <a:t>مِنْ نَاحِيَةٍ … وَمِنْ نَاحِيَةٍ أُخْرَى</a:t>
            </a:r>
            <a:pPr algn="l" indent="0" marL="0">
              <a:buNone/>
            </a:pPr>
            <a:r>
              <a:rPr lang="en-US" sz="1400" b="1" dirty="0">
                <a:solidFill>
                  <a:srgbClr val="1F2A37"/>
                </a:solidFill>
                <a:latin typeface="Calibri" pitchFamily="34" charset="0"/>
                <a:ea typeface="Calibri" pitchFamily="34" charset="-122"/>
                <a:cs typeface="Calibri" pitchFamily="34" charset="-120"/>
              </a:rPr>
              <a:t> and close by naming the stereotype trap explicitly.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two cultural verbs, بَيْنَمَا, مِنْ نَاحِيَةٍ … وَمِنْ نَاحِيَةٍ أُخْرَى and a hedge.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فِي بَعْضِ العَائِلَاتِ العَرَبِيَّةِ ______ ، بَيْنَمَا ______ .</a:t>
            </a:r>
            <a:endParaRPr lang="ar-SA" sz="14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some Arab families …, whereas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 نَاحِيَةٍ ______ ، وَمِنْ نَاحِيَةٍ أُخْرَى ______ .</a:t>
            </a:r>
            <a:endParaRPr lang="ar-SA" sz="16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one hand …, on the other hand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يَخْتَلِفُ الأَمْرُ مِنْ أُسْرَةٍ إِلَى أُسْرَةٍ.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differs from family to family.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لَيْسَ دَائِمًا يَتَصَرَّفُ الجَمِيعُ بِالطَّرِيقَةِ نَفْسِهَا.</a:t>
            </a:r>
            <a:endParaRPr lang="ar-SA" sz="17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Not everyone behaves the same way.</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عَائِلَتِي نَعْتَادُ عَلَى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family we are used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نَتَمَسَّكُ بِـ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hold on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نَحْتَفِلُ بِـ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celebrate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نَحْتَرِمُ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respect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يَعْتَادُ عَلَى  ·  يَتَمَسَّكُ بِـ  ·  يَحْتَفِلُ بِـ  ·  يَنْتَمِي إِلَى  ·  يَتَكَيَّفُ مَعَ  ·  الضِّيَافَةُ  ·  صِلَةُ الرَّحِمِ  ·  احْتِرَامُ الكِبَارِ  ·  بَيْنَمَا  ·  مِنْ نَاحِيَةٍ  ·  فِي بَعْضِ العَائِلَاتِ  ·  لَيْسَ دَائِمًا</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ea typeface="Calibri" pitchFamily="34" charset="-122"/>
                <a:cs typeface="Calibri" pitchFamily="34" charset="-120"/>
              </a:rPr>
              <a:t>Write eighty to ninety words comparing a custom you know with one from an Arab country. Use </a:t>
            </a:r>
            <a:pPr algn="l" indent="0" marL="0">
              <a:buNone/>
            </a:pPr>
            <a:r>
              <a:rPr lang="ar-SA" altLang="en-US" sz="1700" b="1" dirty="0">
                <a:solidFill>
                  <a:srgbClr val="1F2A37"/>
                </a:solidFill>
                <a:latin typeface="Amiri" pitchFamily="34" charset="0"/>
                <a:ea typeface="Amiri" pitchFamily="34" charset="-122"/>
                <a:cs typeface="Amiri" pitchFamily="34" charset="-120"/>
              </a:rPr>
              <a:t>بَيْنَمَا</a:t>
            </a:r>
            <a:pPr algn="l" indent="0" marL="0">
              <a:buNone/>
            </a:pPr>
            <a:r>
              <a:rPr lang="en-US" sz="1300" b="1" dirty="0">
                <a:solidFill>
                  <a:srgbClr val="1F2A37"/>
                </a:solidFill>
                <a:latin typeface="Calibri" pitchFamily="34" charset="0"/>
                <a:ea typeface="Calibri" pitchFamily="34" charset="-122"/>
                <a:cs typeface="Calibri" pitchFamily="34" charset="-120"/>
              </a:rPr>
              <a:t> for the contrast, at least two cultural verbs with their correct prepositions, and one hedge so the comparison does not become a generalisation.</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cultural verbs, each with its fixed preposition.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contrast joined with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two-sided comparison with </a:t>
            </a:r>
            <a:pPr algn="l" indent="0" marL="0">
              <a:buNone/>
            </a:pPr>
            <a:r>
              <a:rPr lang="ar-SA" altLang="en-US" sz="1550" dirty="0">
                <a:solidFill>
                  <a:srgbClr val="1F2A37"/>
                </a:solidFill>
                <a:latin typeface="Amiri" pitchFamily="34" charset="0"/>
                <a:ea typeface="Amiri" pitchFamily="34" charset="-122"/>
                <a:cs typeface="Amiri" pitchFamily="34" charset="-120"/>
              </a:rPr>
              <a:t>مِنْ نَاحِيَةٍ … وَمِنْ نَاحِيَةٍ أُخْرَى</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one hedge such as </a:t>
            </a:r>
            <a:pPr algn="l" indent="0" marL="0">
              <a:buNone/>
            </a:pPr>
            <a:r>
              <a:rPr lang="ar-SA" altLang="en-US" sz="1550" dirty="0">
                <a:solidFill>
                  <a:srgbClr val="1F2A37"/>
                </a:solidFill>
                <a:latin typeface="Amiri" pitchFamily="34" charset="0"/>
                <a:ea typeface="Amiri" pitchFamily="34" charset="-122"/>
                <a:cs typeface="Amiri" pitchFamily="34" charset="-120"/>
              </a:rPr>
              <a:t>فِي بَعْضِ العَائِلَاتِ</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لَيْسَ دَائِمًا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اسْتِقْبَالُ الضَّيْفِ بِالقَهْوَةِ وَالتَّمْرِ</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receiving a guest with coffee and dates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يَزُورُونَ الأَقَارِبَ بِانْتِظَامٍ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they visit relatives regularly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تَبْقَى قِيَمُ الكَرَمِ حَاضِرَةً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values of generosity remain present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الأَفْضَلُ أَنْ نَصِفَ مَا رَأَيْنَاهُ بِدِقَّةٍ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better to describe what we saw accurately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الخَطَأِ أَنْ نَقُولَ إِنَّ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wrong to say that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تَخْتَلِفُ العَادَاتُ بَيْنَ البُلْدَانِ اخْتِلَافًا وَاضِحًا. فِي بَعْضِ العَائِلَاتِ العَرَبِيَّةِ يَعْتَادُ النَّاسُ عَلَى اسْتِقْبَالِ الضَّيْفِ بِالقَهْوَةِ وَالتَّمْرِ، بَيْنَمَا نُقَدِّمُ نَحْنُ الشَّايَ عَادَةً. وَيَتَمَسَّكُ كَثِيرٌ مِنَ الأُسَرِ بِصِلَةِ الرَّحِمِ، فَيَزُورُونَ الأَقَارِبَ بِانْتِظَامٍ. مِنْ نَاحِيَةٍ تَتَغَيَّرُ بَعْضُ التَّقَالِيدِ مَعَ الأَجْيَالِ الجَدِيدَةِ، وَمِنْ نَاحِيَةٍ أُخْرَى تَبْقَى قِيَمُ الكَرَمِ حَاضِرَةً. وَلَيْسَ دَائِمًا يَتَصَرَّفُ الجَمِيعُ بِالطَّرِيقَةِ نَفْسِهَا؛ فَالأَفْضَلُ أَنْ نَصِفَ مَا رَأَيْنَاهُ بِدِقَّةٍ.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Customs clearly differ between countries. In some Arab families people are used to receiving a guest with coffee and dates, whereas we usually serve tea. Many families hold on to family ties, so they visit relatives regularly. On one hand some traditions change with new generations; on the other, the values of generosity remain present. Not everyone always behaves the same way — it is better to describe what we saw accurately.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verbs with their prepositions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contrast with بَيْنَمَا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مِنْ نَاحِيَةٍ … وَمِنْ نَاحِيَةٍ أُخْرَى</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hedge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cultural verb has its preposition.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noun after the preposition ends in -i.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t>
            </a:r>
            <a:pPr algn="l" indent="0" marL="0">
              <a:buNone/>
            </a:pPr>
            <a:r>
              <a:rPr lang="ar-SA" altLang="en-US" sz="1700" dirty="0">
                <a:solidFill>
                  <a:srgbClr val="1F2A37"/>
                </a:solidFill>
                <a:latin typeface="Amiri" pitchFamily="34" charset="0"/>
                <a:ea typeface="Amiri" pitchFamily="34" charset="-122"/>
                <a:cs typeface="Amiri" pitchFamily="34" charset="-120"/>
              </a:rPr>
              <a:t>بَيْنَمَا</a:t>
            </a:r>
            <a:pPr algn="l" indent="0" marL="0">
              <a:buNone/>
            </a:pPr>
            <a:r>
              <a:rPr lang="en-US" sz="1300" dirty="0">
                <a:solidFill>
                  <a:srgbClr val="1F2A37"/>
                </a:solidFill>
                <a:latin typeface="Calibri" pitchFamily="34" charset="0"/>
                <a:ea typeface="Calibri" pitchFamily="34" charset="-122"/>
                <a:cs typeface="Calibri" pitchFamily="34" charset="-120"/>
              </a:rPr>
              <a:t> joins two full clauses.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hedged at least one claim.</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balanced two sides and avoided “all Arabs”.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يَحْتَفِظُ الجِيلُ الجَدِيدُ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بَعْضِ التَّقَالِيدِ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يَنْتَمِي هٰذَا الشَّابُّ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ثَقَافَتَيْنِ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accurate rather than a generalisation?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تَخْتَلِفُ العَادَاتُ مِنْ بَلَدٍ إِلَى بَلَدٍ.</a:t>
            </a:r>
            <a:endParaRPr lang="ar-SA" sz="18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كُلُّ العَرَبِ يَحْتَفِلُونَ بِالطَّرِيقَةِ نَفْسِهَا.</a:t>
            </a:r>
            <a:endParaRPr lang="ar-SA" sz="18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العَرَبُ دَائِمًا يُقَدِّمُونَ القَهْوَةَ.</a:t>
            </a:r>
            <a:endParaRPr lang="ar-SA" sz="18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يَحْتَفِظُ الجِيلُ الجَدِيدُ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بَعْضِ التَّقَالِيدِ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يَحْتَفِظُ</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يَنْتَمِي هٰذَا الشَّابُّ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ثَقَافَتَيْنِ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يَنْتَمِي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accurate rather than a generalisation?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34" charset="0"/>
                <a:ea typeface="Amiri" pitchFamily="34" charset="-122"/>
                <a:cs typeface="Amiri" pitchFamily="34" charset="-120"/>
              </a:rPr>
              <a:t>تَخْتَلِفُ العَادَاتُ مِنْ بَلَدٍ إِلَى بَلَدٍ.</a:t>
            </a:r>
            <a:endParaRPr lang="ar-SA" sz="18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34" charset="0"/>
                <a:ea typeface="Amiri" pitchFamily="34" charset="-122"/>
                <a:cs typeface="Amiri" pitchFamily="34" charset="-120"/>
              </a:rPr>
              <a:t>كُلُّ العَرَبِ يَحْتَفِلُونَ بِالطَّرِيقَةِ نَفْسِهَا.</a:t>
            </a:r>
            <a:endParaRPr lang="ar-SA" sz="18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34" charset="0"/>
                <a:ea typeface="Amiri" pitchFamily="34" charset="-122"/>
                <a:cs typeface="Amiri" pitchFamily="34" charset="-120"/>
              </a:rPr>
              <a:t>العَرَبُ دَائِمًا يُقَدِّمُونَ القَهْوَةَ.</a:t>
            </a:r>
            <a:endParaRPr lang="ar-SA" sz="18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accurate sentence reports variation.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Reading: customs are not one thing</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تَتَنَوَّعُ العَادَاتُ فِي العَالَمِ العَرَبِيِّ تَنَوُّعًا كَبِيرًا. فِي بَعْضِ البُلْدَانِ يَعْتَادُ النَّاسُ عَلَى اسْتِقْبَالِ الضَّيْفِ بِالقَهْوَةِ وَالتَّمْرِ، بَيْنَمَا يُقَدَّمُ الشَّايُ بِالنَّعْنَاعِ فِي بُلْدَانٍ أُخْرَى. وَيَتَمَسَّكُ كَثِيرٌ مِنَ الأُسَرِ بِصِلَةِ الرَّحِمِ وَاحْتِرَامِ الكِبَارِ، وَلٰكِنَّ طَرِيقَةَ التَّعْبِيرِ عَنْ ذٰلِكَ تَخْتَلِفُ مِنْ مَكَانٍ إِلَى مَكَانٍ. مِنْ نَاحِيَةٍ تَتَغَيَّرُ بَعْضُ التَّقَالِيدِ مَعَ الأَجْيَالِ الجَدِيدَةِ، وَمِنْ نَاحِيَةٍ أُخْرَى تَبْقَى قِيَمُ الكَرَمِ وَالتَّضَامُنِ حَاضِرَةً. وَمِنَ الخَطَأِ أَنْ نَقُولَ إِنَّ العَرَبَ جَمِيعًا يَتَصَرَّفُونَ بِالطَّرِيقَةِ نَفْسِهَا؛ فَالأَفْضَلُ أَنْ نَصِفَ مَا رَأَيْنَاهُ بِدِقَّةٍ.</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تَتَنَوَّعُ</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vary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اسْتِقْبَالِ الضَّيْفِ</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receiving the guest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التَّمْرِ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dates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الشَّايُ بِالنَّعْنَاعِ</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mint tea</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طَرِيقَةَ التَّعْبِيرِ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way of expressing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الأَجْيَالِ الجَدِيدَةِ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new generations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قِيَمُ الكَرَمِ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values of generosity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التَّضَامُنِ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solidarity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يَتَصَرَّفُونَ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behave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بِدِقَّةٍ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accurately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guests received in some countries?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mint tea only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coffee and dates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formal letter</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many families hold on to?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formal ceremonies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religious study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Family ties and respect for elders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changes?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 traditions change with new generations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traditions disappear</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ever changes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stays present?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old clothing styles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values of generosity and solidarity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dialects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warn against?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Saying all Arabs behave the same way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Describing what you saw</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Learning about customs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guests received in some countries?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mint tea only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With coffee and dates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formal letter</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اسْتِقْبَالِ الضَّيْفِ بِالقَهْوَةِ وَالتَّمْرِ.</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many families hold on to?</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formal ceremonies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religious study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Family ties and respect for elders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يَتَمَسَّكُ كَثِيرٌ مِنَ الأُسَرِ بِصِلَةِ الرَّحِمِ وَاحْتِرَامِ الكِبَارِ.</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changes?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Some traditions change with new generations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traditions disappear</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ever changes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تَتَغَيَّرُ بَعْضُ التَّقَالِيدِ مَعَ الأَجْيَالِ الجَدِيدَةِ.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stays present?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old clothing styles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values of generosity and solidarity</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dialects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تَبْقَى قِيَمُ الكَرَمِ وَالتَّضَامُنِ حَاضِرَةً.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warn against?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Saying all Arabs behave the same way</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Describing what you saw</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Learning about customs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وَمِنَ الخَطَأِ أَنْ نَقُولَ إِنَّ العَرَبَ جَمِيعًا يَتَصَرَّفُونَ بِالطَّرِيقَةِ نَفْسِهَا.</a:t>
            </a:r>
            <a:endParaRPr lang="ar-SA" sz="11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Customs Mission — Prepositions, Contrast and Accuracy</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يَعْتَادُ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الضِّيَافَةِ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يَتَمَسَّكُ</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التَّقَالِيدِ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يَتَكَيَّفُ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الحَيَاةِ الجَدِيدَةِ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“hospitality”?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تَضَامُنٌ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مِعْيَارٌ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ضِيَافَةٌ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“keeping family ties”?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صِلَةُ الرَّحِمِ</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حُسْنُ الجِوَارِ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احْتِرَامُ الكِبَارِ</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Contrast: which uses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تُقَدَّمُ القَهْوَةُ بَيْنَمَا.</a:t>
            </a:r>
            <a:endParaRPr lang="ar-SA" sz="150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تُقَدَّمُ القَهْوَةُ هُنَا، بَيْنَمَا يُقَدَّمُ الشَّايُ هُنَاكَ.</a:t>
            </a:r>
            <a:endParaRPr lang="ar-SA" sz="150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بَيْنَمَا القَهْوَةُ وَالشَّايُ.</a:t>
            </a:r>
            <a:endParaRPr lang="ar-SA" sz="15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يَعْتَادُ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الضِّيَافَةِ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يَعْتَادُ</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يَتَمَسَّكُ</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التَّقَالِيدِ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يَتَمَسَّكُ</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يَتَكَيَّفُ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الحَيَاةِ الجَدِيدَةِ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يَتَكَيَّفُ</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“hospitality”?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تَضَامُنٌ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مِعْيَارٌ</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ضِيَافَةٌ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ضِيَافَةٌ</a:t>
            </a:r>
            <a:pPr algn="l" indent="0" marL="0">
              <a:buNone/>
            </a:pPr>
            <a:r>
              <a:rPr lang="en-US" sz="1050" i="1" dirty="0">
                <a:solidFill>
                  <a:srgbClr val="8A6D1E"/>
                </a:solidFill>
                <a:latin typeface="Calibri" pitchFamily="34" charset="0"/>
                <a:ea typeface="Calibri" pitchFamily="34" charset="-122"/>
                <a:cs typeface="Calibri" pitchFamily="34" charset="-120"/>
              </a:rPr>
              <a:t> is hospitality.</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“keeping family ties”?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صِلَةُ الرَّحِمِ</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حُسْنُ الجِوَارِ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احْتِرَامُ الكِبَارِ</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صِلَةُ الرَّحِمِ</a:t>
            </a:r>
            <a:pPr algn="l" indent="0" marL="0">
              <a:buNone/>
            </a:pPr>
            <a:r>
              <a:rPr lang="en-US" sz="1050" i="1" dirty="0">
                <a:solidFill>
                  <a:srgbClr val="8A6D1E"/>
                </a:solidFill>
                <a:latin typeface="Calibri" pitchFamily="34" charset="0"/>
                <a:ea typeface="Calibri" pitchFamily="34" charset="-122"/>
                <a:cs typeface="Calibri" pitchFamily="34" charset="-120"/>
              </a:rPr>
              <a:t> is maintaining family ties.</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Contrast: which uses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تُقَدَّمُ القَهْوَةُ بَيْنَمَا.</a:t>
            </a:r>
            <a:endParaRPr lang="ar-SA" sz="15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تُقَدَّمُ القَهْوَةُ هُنَا، بَيْنَمَا يُقَدَّمُ الشَّايُ هُنَاكَ.</a:t>
            </a:r>
            <a:endParaRPr lang="ar-SA" sz="15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بَيْنَمَا القَهْوَةُ وَالشَّايُ.</a:t>
            </a:r>
            <a:endParaRPr lang="ar-SA" sz="15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joins two complete clauses.</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TE-L05: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TE-L05 · Faiths, Beliefs and Places of Worship</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رَمَضَانُ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Ramadan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الصِّيَامُ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fasting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الإِفْطَارُ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iftar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عِيدُ الفِطْرِ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Eid al-Fitr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عِيدِيَّةٌ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Eid money</a:t>
            </a:r>
            <a:pPr indent="0" marL="0">
              <a:buNone/>
            </a:pPr>
            <a:r>
              <a:rPr lang="en-US" sz="1000" i="1" dirty="0">
                <a:solidFill>
                  <a:srgbClr val="5A6472"/>
                </a:solidFill>
                <a:latin typeface="Calibri" pitchFamily="34" charset="0"/>
                <a:ea typeface="Calibri" pitchFamily="34" charset="-122"/>
                <a:cs typeface="Calibri" pitchFamily="34" charset="-120"/>
              </a:rPr>
              <a:t>  pl. عِيدِيَّاتٌ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does your family do on the morning of Eid? Note two things.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فِي صَبَاحِ العِيدِ نَذْهَبُ إِلَى … ثُمَّ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12 customs words with their prepositions; write five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60–70-word comparison with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 and a hedge.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80–90 words with a balanced, hedged comparison.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TE-L04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ea typeface="Cambria" pitchFamily="34" charset="-122"/>
                <a:cs typeface="Cambria" pitchFamily="34" charset="-120"/>
              </a:rPr>
              <a:t>TE-L05 · Faiths, Beliefs and Places of Worship</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الأَدْيَانُ وَالمُعْتَقَدَاتُ وَدُورُ العِبَادَةِ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words for TE-L05.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TE-L04 · Customs, Etiquette and Hospitality</dc:title>
  <dc:subject>PptxGenJS Presentation</dc:subject>
  <dc:creator>Al Madina Online School · Arabic Department</dc:creator>
  <cp:lastModifiedBy>Al Madina Online School · Arabic Department</cp:lastModifiedBy>
  <cp:revision>1</cp:revision>
  <dcterms:created xsi:type="dcterms:W3CDTF">2026-10-11T04:23:24Z</dcterms:created>
  <dcterms:modified xsi:type="dcterms:W3CDTF">2026-10-11T04:23:24Z</dcterms:modified>
</cp:coreProperties>
</file>