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TE-L04 — Customs, Etiquette and Hospitality. Website: Advanced Topics › Topic E (The International World) › Lesson 4.
The website builds this lesson on the D6-L02 lesson engine, with the Topic focus “Understand and compare courteous behaviour and hospitality traditions.” (grammar: Imperatives; advice; comparison and contrast; skills: Listening · Reading) and the application challenge “Customs and etiquette sort”.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TE-L04.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TE-L01. Questions 4–5 retrieve TE-L01 (diptotes) and the hedging language from D5-L06 (website) / TE-L01.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(“Hospitality &amp; Etiquette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“Hospitality &amp; Etiquette”: greeting at a visit, thanking the host, asking respectfully about a custom.
Website feedback lines: The scene shows greeting at a visit. · The tea and food show hospitality. · The safest response is to ask respectfully.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“Classify greetings, hospitality and social behaviours by situation, then advise a respectful visitor what to do, avoid or ask about.”
Website Topic E challenge “Customs and etiquette sort”. Behaviours: خَلْعُ الحِذَاءِ عِنْدَ البَابِ · المُصَافَحَةُ · تَقْدِيمُ القَهْوَةِ لِلضَّيْفِ · الأَكْلُ بِاليَدِ اليُمْنَى · رَفْضُ الطَّعَامِ · إِحْضَارُ هَدِيَّةٍ · الحَدِيثُ بِصَوْتٍ عَالٍ · الانْصِرَافُ بَعْدَ القَهْوَةِ. Hedge: customs differ between families and countries — avoid “all Arabs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(TE-L05 · Faiths, Beliefs and Places of Worship) will spend class time USING this language, so students prepare it tonight — short, simple, easy to access (school guidance: “Simple, Short, Interesting, Relevant, Easy to access”). The five words come from the website TE-L05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00" b="1" dirty="0">
                <a:solidFill>
                  <a:srgbClr val="FFFFFF"/>
                </a:solidFill>
                <a:latin typeface="Cambria" pitchFamily="34" charset="0"/>
                <a:ea typeface="Cambria" pitchFamily="34" charset="-122"/>
                <a:cs typeface="Cambria" pitchFamily="34" charset="-120"/>
              </a:rPr>
              <a:t>Customs, Etiquette and Hospitality</a:t>
            </a:r>
            <a:endParaRPr lang="en-US" sz="31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العَادَاتُ وَآدَابُ السُّلُوكِ وَالضِّيَافَةُ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Understand and compare courteous behaviour and hospitality traditions.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TE-L04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Cultural verbs + prepositions, </a:t>
            </a:r>
            <a:pPr algn="ctr" indent="0" marL="0">
              <a:buNone/>
            </a:pPr>
            <a:r>
              <a:rPr lang="ar-SA" altLang="en-US" sz="1550" dirty="0">
                <a:solidFill>
                  <a:srgbClr val="1F2A37"/>
                </a:solidFill>
                <a:latin typeface="Amiri" pitchFamily="34" charset="0"/>
                <a:ea typeface="Amiri" pitchFamily="34" charset="-122"/>
                <a:cs typeface="Amiri" pitchFamily="34" charset="-120"/>
              </a:rPr>
              <a:t>بَيْنَمَا</a:t>
            </a:r>
            <a:pPr algn="ctr" indent="0" marL="0">
              <a:buNone/>
            </a:pPr>
            <a:r>
              <a:rPr lang="en-US" sz="1200" dirty="0">
                <a:solidFill>
                  <a:srgbClr val="1F2A37"/>
                </a:solidFill>
                <a:latin typeface="Calibri" pitchFamily="34" charset="0"/>
                <a:ea typeface="Calibri" pitchFamily="34" charset="-122"/>
                <a:cs typeface="Calibri" pitchFamily="34" charset="-120"/>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ضِيَافَةٌ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احْتِرَامُ الكِبَارِ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يَحْتَفِلُ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ضِيَافَةٌ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احْتِرَامُ الكِبَارِ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يَحْتَفِلُ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D5-L06 (website) / TE-L01: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فِي بَعْضِ العَائِلَاتِ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يَعْتَادُ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النَّاسُ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customs and values (</a:t>
            </a:r>
            <a:pPr algn="l" indent="0" marL="0">
              <a:buNone/>
            </a:pPr>
            <a:r>
              <a:rPr lang="ar-SA" altLang="en-US" sz="1700" dirty="0">
                <a:solidFill>
                  <a:srgbClr val="1F2A37"/>
                </a:solidFill>
                <a:latin typeface="Amiri" pitchFamily="34" charset="0"/>
                <a:ea typeface="Amiri" pitchFamily="34" charset="-122"/>
                <a:cs typeface="Amiri" pitchFamily="34" charset="-120"/>
              </a:rPr>
              <a:t>ضِيَافَةٌ</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كَرَمٌ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صِلَةُ الرَّحِمِ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احْتِرَامُ الكِبَارِ</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customs with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Hedge cultural claims (</a:t>
            </a:r>
            <a:pPr algn="l" indent="0" marL="0">
              <a:buNone/>
            </a:pPr>
            <a:r>
              <a:rPr lang="ar-SA" altLang="en-US" sz="1700" dirty="0">
                <a:solidFill>
                  <a:srgbClr val="1F2A37"/>
                </a:solidFill>
                <a:latin typeface="Amiri" pitchFamily="34" charset="0"/>
                <a:ea typeface="Amiri" pitchFamily="34" charset="-122"/>
                <a:cs typeface="Amiri" pitchFamily="34" charset="-120"/>
              </a:rPr>
              <a:t>فِي بَعْضِ العَائِلَاتِ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لَيْسَ دَائِمًا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customs with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two sides (</a:t>
            </a:r>
            <a:pPr algn="l" indent="0" marL="0">
              <a:buNone/>
            </a:pPr>
            <a:r>
              <a:rPr lang="ar-SA" altLang="en-US" sz="1700" b="1" dirty="0">
                <a:solidFill>
                  <a:srgbClr val="B83227"/>
                </a:solidFill>
                <a:latin typeface="Amiri" pitchFamily="34" charset="0"/>
                <a:ea typeface="Amiri" pitchFamily="34" charset="-122"/>
                <a:cs typeface="Amiri" pitchFamily="34" charset="-120"/>
              </a:rPr>
              <a:t>مِنْ نَاحِيَةٍ</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‎عادت‎ </a:t>
            </a:r>
            <a:pPr indent="0" marL="0">
              <a:buNone/>
            </a:pPr>
            <a:r>
              <a:rPr lang="en-US" sz="950" b="1" dirty="0">
                <a:solidFill>
                  <a:srgbClr val="2E8B57"/>
                </a:solidFill>
                <a:latin typeface="Calibri" pitchFamily="34" charset="0"/>
                <a:ea typeface="Calibri" pitchFamily="34" charset="-122"/>
                <a:cs typeface="Calibri" pitchFamily="34" charset="-120"/>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‎تقلید‎ </a:t>
            </a:r>
            <a:pPr indent="0" marL="0">
              <a:buNone/>
            </a:pPr>
            <a:r>
              <a:rPr lang="en-US" sz="950" b="1" dirty="0">
                <a:solidFill>
                  <a:srgbClr val="2E8B57"/>
                </a:solidFill>
                <a:latin typeface="Calibri" pitchFamily="34" charset="0"/>
                <a:ea typeface="Calibri" pitchFamily="34" charset="-122"/>
                <a:cs typeface="Calibri" pitchFamily="34" charset="-120"/>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‎ضیافت / مہمان‎ </a:t>
            </a:r>
            <a:pPr indent="0" marL="0">
              <a:buNone/>
            </a:pPr>
            <a:r>
              <a:rPr lang="en-US" sz="950" b="1" dirty="0">
                <a:solidFill>
                  <a:srgbClr val="2E8B57"/>
                </a:solidFill>
                <a:latin typeface="Calibri" pitchFamily="34" charset="0"/>
                <a:ea typeface="Calibri" pitchFamily="34" charset="-122"/>
                <a:cs typeface="Calibri" pitchFamily="34" charset="-120"/>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‎کرم‎ </a:t>
            </a:r>
            <a:pPr indent="0" marL="0">
              <a:buNone/>
            </a:pPr>
            <a:r>
              <a:rPr lang="en-US" sz="950" b="1" dirty="0">
                <a:solidFill>
                  <a:srgbClr val="2E8B57"/>
                </a:solidFill>
                <a:latin typeface="Calibri" pitchFamily="34" charset="0"/>
                <a:ea typeface="Calibri" pitchFamily="34" charset="-122"/>
                <a:cs typeface="Calibri" pitchFamily="34" charset="-120"/>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‎صلہ رحمی‎ </a:t>
            </a:r>
            <a:pPr indent="0" marL="0">
              <a:buNone/>
            </a:pPr>
            <a:r>
              <a:rPr lang="en-US" sz="950" b="1" dirty="0">
                <a:solidFill>
                  <a:srgbClr val="2E8B57"/>
                </a:solidFill>
                <a:latin typeface="Calibri" pitchFamily="34" charset="0"/>
                <a:ea typeface="Calibri" pitchFamily="34" charset="-122"/>
                <a:cs typeface="Calibri" pitchFamily="34" charset="-120"/>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 / customs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 / traditions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plural </a:t>
            </a:r>
            <a:pPr algn="l" indent="0" marL="0">
              <a:buNone/>
            </a:pPr>
            <a:r>
              <a:rPr lang="ar-SA" altLang="en-US" sz="1300" dirty="0">
                <a:solidFill>
                  <a:srgbClr val="8A6D1E"/>
                </a:solidFill>
                <a:latin typeface="Amiri" pitchFamily="34" charset="0"/>
                <a:ea typeface="Amiri" pitchFamily="34" charset="-122"/>
                <a:cs typeface="Amiri" pitchFamily="34" charset="-120"/>
              </a:rPr>
              <a:t>تَقَالِيدُ</a:t>
            </a:r>
            <a:pPr algn="l" indent="0" marL="0">
              <a:buNone/>
            </a:pPr>
            <a:r>
              <a:rPr lang="en-US" sz="1000" i="1" dirty="0">
                <a:solidFill>
                  <a:srgbClr val="8A6D1E"/>
                </a:solidFill>
                <a:latin typeface="Calibri" pitchFamily="34" charset="0"/>
                <a:ea typeface="Calibri" pitchFamily="34" charset="-122"/>
                <a:cs typeface="Calibri" pitchFamily="34" charset="-120"/>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norm / norms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generosity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 for elders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importance of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keeping family 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good neighbourliness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mutual support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accustomed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holds on to, 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 preserves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exchanges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presents, offers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34" charset="0"/>
                <a:ea typeface="Amiri" pitchFamily="34" charset="-122"/>
                <a:cs typeface="Amiri" pitchFamily="34" charset="-120"/>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 … on the other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differs from …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generalisation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يَعْتَادُ النَّاسُ </a:t>
            </a:r>
            <a:pPr rtl="1" algn="ctr" indent="0" marL="0">
              <a:buNone/>
            </a:pPr>
            <a:r>
              <a:rPr lang="ar-SA" altLang="en-US" sz="1950" b="1" dirty="0">
                <a:solidFill>
                  <a:srgbClr val="0E7C86"/>
                </a:solidFill>
                <a:latin typeface="Amiri" pitchFamily="34" charset="0"/>
                <a:ea typeface="Amiri" pitchFamily="34" charset="-122"/>
                <a:cs typeface="Amiri" pitchFamily="34" charset="-120"/>
              </a:rPr>
              <a:t>عَلَى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يَعْتَادُ </a:t>
            </a:r>
            <a:pPr rtl="1" algn="ctr" indent="0" marL="0">
              <a:buNone/>
            </a:pPr>
            <a:r>
              <a:rPr lang="ar-SA" altLang="en-US" sz="2200" b="1" dirty="0">
                <a:solidFill>
                  <a:srgbClr val="0E7C86"/>
                </a:solidFill>
                <a:latin typeface="Amiri" pitchFamily="34" charset="0"/>
                <a:ea typeface="Amiri" pitchFamily="34" charset="-122"/>
                <a:cs typeface="Amiri" pitchFamily="34" charset="-120"/>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تَتَمَسَّكُ الأُسْرَةُ </a:t>
            </a:r>
            <a:pPr rtl="1" algn="ctr" indent="0" marL="0">
              <a:buNone/>
            </a:pPr>
            <a:r>
              <a:rPr lang="ar-SA" altLang="en-US" sz="1950" b="1" dirty="0">
                <a:solidFill>
                  <a:srgbClr val="D6336C"/>
                </a:solidFill>
                <a:latin typeface="Amiri" pitchFamily="34" charset="0"/>
                <a:ea typeface="Amiri" pitchFamily="34" charset="-122"/>
                <a:cs typeface="Amiri" pitchFamily="34" charset="-120"/>
              </a:rPr>
              <a:t>بِتَقَالِيدِهَا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يَتَمَسَّكُ </a:t>
            </a:r>
            <a:pPr rtl="1" algn="ctr" indent="0" marL="0">
              <a:buNone/>
            </a:pPr>
            <a:r>
              <a:rPr lang="ar-SA" altLang="en-US" sz="2200" b="1" dirty="0">
                <a:solidFill>
                  <a:srgbClr val="D6336C"/>
                </a:solidFill>
                <a:latin typeface="Amiri" pitchFamily="34" charset="0"/>
                <a:ea typeface="Amiri" pitchFamily="34" charset="-122"/>
                <a:cs typeface="Amiri" pitchFamily="34" charset="-120"/>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تَحْتَفِلُ العَائِلَةُ </a:t>
            </a:r>
            <a:pPr rtl="1" algn="ctr" indent="0" marL="0">
              <a:buNone/>
            </a:pPr>
            <a:r>
              <a:rPr lang="ar-SA" altLang="en-US" sz="1950" b="1" dirty="0">
                <a:solidFill>
                  <a:srgbClr val="D6336C"/>
                </a:solidFill>
                <a:latin typeface="Amiri" pitchFamily="34" charset="0"/>
                <a:ea typeface="Amiri" pitchFamily="34" charset="-122"/>
                <a:cs typeface="Amiri" pitchFamily="34" charset="-120"/>
              </a:rPr>
              <a:t>بِالمُنَاسَبَةِ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يَحْتَفِلُ </a:t>
            </a:r>
            <a:pPr rtl="1" algn="ctr" indent="0" marL="0">
              <a:buNone/>
            </a:pPr>
            <a:r>
              <a:rPr lang="ar-SA" altLang="en-US" sz="2200" b="1" dirty="0">
                <a:solidFill>
                  <a:srgbClr val="D6336C"/>
                </a:solidFill>
                <a:latin typeface="Amiri" pitchFamily="34" charset="0"/>
                <a:ea typeface="Amiri" pitchFamily="34" charset="-122"/>
                <a:cs typeface="Amiri" pitchFamily="34" charset="-120"/>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1950" b="1" dirty="0">
                <a:solidFill>
                  <a:srgbClr val="1D5FBF"/>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يَنْتَمِي </a:t>
            </a:r>
            <a:pPr rtl="1" algn="ctr" indent="0" marL="0">
              <a:buNone/>
            </a:pPr>
            <a:r>
              <a:rPr lang="ar-SA" altLang="en-US" sz="2200" b="1" dirty="0">
                <a:solidFill>
                  <a:srgbClr val="1D5FBF"/>
                </a:solidFill>
                <a:latin typeface="Amiri" pitchFamily="34" charset="0"/>
                <a:ea typeface="Amiri" pitchFamily="34" charset="-122"/>
                <a:cs typeface="Amiri" pitchFamily="34" charset="-120"/>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يَتَكَيَّفُ المُهَاجِرُ </a:t>
            </a:r>
            <a:pPr rtl="1" algn="ctr" indent="0" marL="0">
              <a:buNone/>
            </a:pPr>
            <a:r>
              <a:rPr lang="ar-SA" altLang="en-US" sz="1950" b="1" dirty="0">
                <a:solidFill>
                  <a:srgbClr val="1D5FBF"/>
                </a:solidFill>
                <a:latin typeface="Amiri" pitchFamily="34" charset="0"/>
                <a:ea typeface="Amiri" pitchFamily="34" charset="-122"/>
                <a:cs typeface="Amiri" pitchFamily="34" charset="-120"/>
              </a:rPr>
              <a:t>مَعَ</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يَتَكَيَّفُ </a:t>
            </a:r>
            <a:pPr rtl="1" algn="ctr" indent="0" marL="0">
              <a:buNone/>
            </a:pPr>
            <a:r>
              <a:rPr lang="ar-SA" altLang="en-US" sz="2200" b="1" dirty="0">
                <a:solidFill>
                  <a:srgbClr val="1D5FBF"/>
                </a:solidFill>
                <a:latin typeface="Amiri" pitchFamily="34" charset="0"/>
                <a:ea typeface="Amiri" pitchFamily="34" charset="-122"/>
                <a:cs typeface="Amiri" pitchFamily="34" charset="-120"/>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the preposition the noun is genitive (-i): </a:t>
            </a:r>
            <a:pPr algn="l" indent="0" marL="0">
              <a:buNone/>
            </a:pPr>
            <a:r>
              <a:rPr lang="ar-SA" altLang="en-US" sz="1500" b="1" dirty="0">
                <a:solidFill>
                  <a:srgbClr val="1B3B6F"/>
                </a:solidFill>
                <a:latin typeface="Amiri" pitchFamily="34" charset="0"/>
                <a:ea typeface="Amiri" pitchFamily="34" charset="-122"/>
                <a:cs typeface="Amiri" pitchFamily="34" charset="-120"/>
              </a:rPr>
              <a:t>عَلَى الضِّيَافَةِ</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بِالمُنَاسَبَةِ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34" charset="0"/>
                <a:ea typeface="Amiri" pitchFamily="34" charset="-122"/>
                <a:cs typeface="Amiri" pitchFamily="34" charset="-120"/>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with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 + </a:t>
            </a:r>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يَعْتَادُ</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يَتَمَسَّكُ</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بَعْضِ العَائِلَاتِ</a:t>
            </a:r>
            <a:pPr algn="l" indent="0" marL="0">
              <a:buNone/>
            </a:pPr>
            <a:r>
              <a:rPr lang="en-US" sz="1050" i="1" dirty="0">
                <a:solidFill>
                  <a:srgbClr val="8A6D1E"/>
                </a:solidFill>
                <a:latin typeface="Calibri" pitchFamily="34" charset="0"/>
                <a:ea typeface="Calibri" pitchFamily="34" charset="-122"/>
                <a:cs typeface="Calibri" pitchFamily="34" charset="-120"/>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يَعْتَادُ</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النَّاسُ </a:t>
            </a:r>
            <a:pPr rtl="1" algn="ctr" indent="0" marL="0">
              <a:buNone/>
            </a:pPr>
            <a:r>
              <a:rPr lang="ar-SA" altLang="en-US" sz="21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بَيْنَمَا</a:t>
            </a:r>
            <a:pPr rtl="1" algn="ctr" indent="0" marL="0">
              <a:buNone/>
            </a:pPr>
            <a:r>
              <a:rPr lang="ar-SA" altLang="en-US" sz="2400" b="1" dirty="0">
                <a:solidFill>
                  <a:srgbClr val="1B3B6F"/>
                </a:solidFill>
                <a:latin typeface="Amiri" pitchFamily="34" charset="0"/>
                <a:ea typeface="Amiri" pitchFamily="34" charset="-122"/>
                <a:cs typeface="Amiri" pitchFamily="34" charset="-120"/>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فِي بَعْضِ العَائِلَاتِ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يَعْتَادُ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النَّاسُ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اسْتِقْبَالِ الضَّيْفِ بِالقَهْوَةِ وَالتَّمْرِ،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نُقَدِّمُ نَحْنُ الشَّايَ عَادَةً.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يَتَمَسَّكُ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كَثِيرٌ مِنَ الأُسَرِ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بِصِلَةِ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used to hospitality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holds on to her traditions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 …</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“HOSPITALITY &amp; ETIQUETTE (TOPIC GAME)”</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visit</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0"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2" name="Shape 25"/>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4"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a:t>
            </a:r>
            <a:endParaRPr lang="en-US" sz="1100" dirty="0"/>
          </a:p>
        </p:txBody>
      </p:sp>
      <p:sp>
        <p:nvSpPr>
          <p:cNvPr id="35" name="Shape 2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8"/>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0"/>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0" name="Shape 31"/>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culture</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الْمُهَذَّبِ أَنْ أَشْكُرَ الْمُضِيفَ عَلَى الضِّيَافَةِ.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لَمْ أَعْرِفِ الْعَادَةَ فَمِنَ الأَفْضَلِ أَنْ أَسْأَلَ بِاحْتِرَامٍ.</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عِنْدَمَا أَزُورُ أَحَدًا أُحَيِّيهِ بِأَدَبٍ.</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الضِّيَافَةُ وَالآدَابُ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visit</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عِنْدَمَا أَزُورُ أَحَدًا أُحَيِّيهِ بِأَدَبٍ.</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When I visit someone, I greet them politely.</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4581144" y="2249424"/>
            <a:ext cx="649224" cy="649224"/>
          </a:xfrm>
          <a:prstGeom prst="rect">
            <a:avLst/>
          </a:prstGeom>
        </p:spPr>
      </p:pic>
      <p:sp>
        <p:nvSpPr>
          <p:cNvPr id="35" name="Shape 29"/>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5769864" y="2249424"/>
            <a:ext cx="649224" cy="649224"/>
          </a:xfrm>
          <a:prstGeom prst="rect">
            <a:avLst/>
          </a:prstGeom>
        </p:spPr>
      </p:pic>
      <p:sp>
        <p:nvSpPr>
          <p:cNvPr id="37" name="Shape 30"/>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6958584" y="2249424"/>
            <a:ext cx="649224" cy="649224"/>
          </a:xfrm>
          <a:prstGeom prst="rect">
            <a:avLst/>
          </a:prstGeom>
        </p:spPr>
      </p:pic>
      <p:sp>
        <p:nvSpPr>
          <p:cNvPr id="39" name="Text 3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hospitality</a:t>
            </a:r>
            <a:endParaRPr lang="en-US" sz="1100" dirty="0"/>
          </a:p>
        </p:txBody>
      </p:sp>
      <p:sp>
        <p:nvSpPr>
          <p:cNvPr id="40" name="Shape 32"/>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3"/>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4"/>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5"/>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الْمُهَذَّبِ أَنْ أَشْكُرَ الْمُضِيفَ عَلَى الضِّيَافَةِ.</a:t>
            </a:r>
            <a:endParaRPr lang="ar-SA" sz="2200" dirty="0"/>
          </a:p>
        </p:txBody>
      </p:sp>
      <p:sp>
        <p:nvSpPr>
          <p:cNvPr id="44" name="Text 36"/>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polite to thank the host for the hospitality.</a:t>
            </a:r>
            <a:endParaRPr lang="en-US" sz="1200" dirty="0"/>
          </a:p>
        </p:txBody>
      </p:sp>
      <p:sp>
        <p:nvSpPr>
          <p:cNvPr id="45" name="Shape 37"/>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8"/>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9"/>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40"/>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50" name="Shape 41"/>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new culture</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إِذَا لَمْ أَعْرِفِ الْعَادَةَ فَمِنَ الأَفْضَلِ أَنْ أَسْأَلَ بِاحْتِرَامٍ.</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If I do not know the custom, it is best to ask respectfully.</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يَعْتَادُ</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Customs and etiquette sort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Customs and etiquette sort</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Classify greetings, hospitality and social behaviours by situation, then advise a respectful visitor what to do, avoid or ask about.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8 behaviours by situation: greeting · visiting · eating · leaving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Mark each: do / avoid / ask about.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advice for a respectful visitor (imperatives).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one custom with your own family custom.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the cards; two imperatives: “sallim! / ishkur!”.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with “yanbaghī an” and “lā + jussive”.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Advice + a respectful comparison (fī baʿḍ al-buldān … ammā fī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سَلِّمْ عَلَى الكِبَارِ أَوَّلًا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greet the elders first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اشْكُرِ المُضِيفَ</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thank the host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لَا تَرْفُضِ الضِّيَافَةَ مُبَاشَرَةً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do not refuse hospitality straight away</a:t>
            </a:r>
            <a:endParaRPr lang="en-US" sz="9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إِذَا لَمْ تَعْرِفْ، اسْأَلْ بِأَدَبٍ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if you do not know, ask politely</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compare a custom accurately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عَادَةً تَعْرِفُهَا. مَنْ يَعْتَادُ عَلَيْهَا؟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عَادَتَيْنِ مُسْتَعْمِلًا بَيْنَمَا.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تَتَجَنَّبُ التَّعْمِيمَ عِنْدَ الحَدِيثِ عَنِ الثَّقَافَاتِ؟</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عَائِلَتِي نَعْتَادُ عَلَى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العَائِلَاتِ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لَا أَقُولُ « كُلُّ … » ، بَلْ أَقُولُ « فِي بَعْضِ … » لِأَنَّ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عَادَةً تَعْرِفُهَا.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custom you know.</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بَعْضِ العَائِلَاتِ يَعْتَادُ النَّاسُ عَلَى تَقْدِيمِ القَهْوَةِ لِلضَّيْفِ أَوَّلًا.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In some families people are used to serving the guest coffee first.</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contrast with </a:t>
            </a:r>
            <a:pPr algn="l" indent="0" marL="0">
              <a:buNone/>
            </a:pPr>
            <a:r>
              <a:rPr lang="ar-SA" altLang="en-US" sz="1800" b="1" dirty="0">
                <a:solidFill>
                  <a:srgbClr val="1F2A37"/>
                </a:solidFill>
                <a:latin typeface="Amiri" pitchFamily="34" charset="0"/>
                <a:ea typeface="Amiri" pitchFamily="34" charset="-122"/>
                <a:cs typeface="Amiri" pitchFamily="34" charset="-120"/>
              </a:rPr>
              <a:t>بَيْنَمَا</a:t>
            </a:r>
            <a:pPr algn="l" indent="0" marL="0">
              <a:buNone/>
            </a:pPr>
            <a:r>
              <a:rPr lang="en-US" sz="1400" b="1" dirty="0">
                <a:solidFill>
                  <a:srgbClr val="1F2A37"/>
                </a:solidFill>
                <a:latin typeface="Calibri" pitchFamily="34" charset="0"/>
                <a:ea typeface="Calibri" pitchFamily="34" charset="-122"/>
                <a:cs typeface="Calibri" pitchFamily="34" charset="-120"/>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Balance the comparison with </a:t>
            </a:r>
            <a:pPr algn="l" indent="0" marL="0">
              <a:buNone/>
            </a:pPr>
            <a:r>
              <a:rPr lang="ar-SA" altLang="en-US" sz="1800" b="1"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400" b="1" dirty="0">
                <a:solidFill>
                  <a:srgbClr val="1F2A37"/>
                </a:solidFill>
                <a:latin typeface="Calibri" pitchFamily="34" charset="0"/>
                <a:ea typeface="Calibri" pitchFamily="34" charset="-122"/>
                <a:cs typeface="Calibri" pitchFamily="34" charset="-120"/>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comparing a custom you know with one from an Arab country. Use </a:t>
            </a:r>
            <a:pPr algn="l" indent="0" marL="0">
              <a:buNone/>
            </a:pPr>
            <a:r>
              <a:rPr lang="ar-SA" altLang="en-US" sz="1700" b="1" dirty="0">
                <a:solidFill>
                  <a:srgbClr val="1F2A37"/>
                </a:solidFill>
                <a:latin typeface="Amiri" pitchFamily="34" charset="0"/>
                <a:ea typeface="Amiri" pitchFamily="34" charset="-122"/>
                <a:cs typeface="Amiri" pitchFamily="34" charset="-120"/>
              </a:rPr>
              <a:t>بَيْنَمَا</a:t>
            </a:r>
            <a:pPr algn="l" indent="0" marL="0">
              <a:buNone/>
            </a:pPr>
            <a:r>
              <a:rPr lang="en-US" sz="1300" b="1" dirty="0">
                <a:solidFill>
                  <a:srgbClr val="1F2A37"/>
                </a:solidFill>
                <a:latin typeface="Calibri" pitchFamily="34" charset="0"/>
                <a:ea typeface="Calibri" pitchFamily="34" charset="-122"/>
                <a:cs typeface="Calibri" pitchFamily="34" charset="-120"/>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contrast joined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two-sided comparison with </a:t>
            </a:r>
            <a:pPr algn="l" indent="0" marL="0">
              <a:buNone/>
            </a:pPr>
            <a:r>
              <a:rPr lang="ar-SA" altLang="en-US" sz="1550" dirty="0">
                <a:solidFill>
                  <a:srgbClr val="1F2A37"/>
                </a:solidFill>
                <a:latin typeface="Amiri" pitchFamily="34" charset="0"/>
                <a:ea typeface="Amiri" pitchFamily="34" charset="-122"/>
                <a:cs typeface="Amiri" pitchFamily="34" charset="-120"/>
              </a:rPr>
              <a:t>مِنْ نَاحِيَةٍ … وَمِنْ نَاحِيَةٍ أُخْرَى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العَائِلَاتِ</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الجِيلُ الجَدِيدُ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بَعْضِ 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يَنْتَمِي هٰذَا الشَّابُّ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يَحْتَفِظُ الجِيلُ الجَدِيدُ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بَعْضِ 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يَحْتَفِظُ</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يَنْتَمِي هٰذَا الشَّابُّ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34" charset="0"/>
                <a:ea typeface="Amiri" pitchFamily="34" charset="-122"/>
                <a:cs typeface="Amiri" pitchFamily="34" charset="-120"/>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يَعْتَادُ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الضِّيَافَةِ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يَتَمَسَّكُ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يَعْتَادُ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الضِّيَافَةِ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يَعْتَادُ</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يَتَمَسَّكُ</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التَّقَالِيدِ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يَتَمَسَّكُ</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ضِيَافَةٌ</a:t>
            </a:r>
            <a:pPr algn="l" indent="0" marL="0">
              <a:buNone/>
            </a:pPr>
            <a:r>
              <a:rPr lang="en-US" sz="1050" i="1" dirty="0">
                <a:solidFill>
                  <a:srgbClr val="8A6D1E"/>
                </a:solidFill>
                <a:latin typeface="Calibri" pitchFamily="34" charset="0"/>
                <a:ea typeface="Calibri" pitchFamily="34" charset="-122"/>
                <a:cs typeface="Calibri" pitchFamily="34" charset="-120"/>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صِلَةُ الرَّحِمِ</a:t>
            </a:r>
            <a:pPr algn="l" indent="0" marL="0">
              <a:buNone/>
            </a:pPr>
            <a:r>
              <a:rPr lang="en-US" sz="1050" i="1" dirty="0">
                <a:solidFill>
                  <a:srgbClr val="8A6D1E"/>
                </a:solidFill>
                <a:latin typeface="Calibri" pitchFamily="34" charset="0"/>
                <a:ea typeface="Calibri" pitchFamily="34" charset="-122"/>
                <a:cs typeface="Calibri" pitchFamily="34" charset="-120"/>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Contrast: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TE-L04 · Customs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TE-L05 · Faiths, Beliefs and Places of Worship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Ramadan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fasting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iftar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Eid al-Fitr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Eid money</a:t>
            </a:r>
            <a:pPr indent="0" marL="0">
              <a:buNone/>
            </a:pPr>
            <a:r>
              <a:rPr lang="en-US" sz="1000" i="1" dirty="0">
                <a:solidFill>
                  <a:srgbClr val="5A6472"/>
                </a:solidFill>
                <a:latin typeface="Calibri" pitchFamily="34" charset="0"/>
                <a:ea typeface="Calibri" pitchFamily="34" charset="-122"/>
                <a:cs typeface="Calibri" pitchFamily="34" charset="-120"/>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comparison with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ea typeface="Cambria" pitchFamily="34" charset="-122"/>
                <a:cs typeface="Cambria" pitchFamily="34" charset="-120"/>
              </a:rPr>
              <a:t>TE-L05 · Faiths, Beliefs and Places of Worship</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الأَدْيَانُ وَالمُعْتَقَدَاتُ وَدُورُ العِبَادَةِ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TE-L04 · Customs, Etiquette and Hospitality</dc:title>
  <dc:subject>PptxGenJS Presentation</dc:subject>
  <dc:creator>Al Madina Online School · Arabic Department</dc:creator>
  <cp:lastModifiedBy>Al Madina Online School · Arabic Department</cp:lastModifiedBy>
  <cp:revision>1</cp:revision>
  <dcterms:created xsi:type="dcterms:W3CDTF">2026-10-11T04:25:10Z</dcterms:created>
  <dcterms:modified xsi:type="dcterms:W3CDTF">2026-10-11T04:25:10Z</dcterms:modified>
</cp:coreProperties>
</file>