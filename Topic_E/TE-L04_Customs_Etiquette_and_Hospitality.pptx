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TE-L04 — Customs, Etiquette and Hospitality. Website: Advanced Topics › Topic E (The International World) › Lesson 4.
The website builds this lesson on the D6-L02 lesson engine, with the Topic focus “Understand and compare courteous behaviour and hospitality traditions.” (grammar: Imperatives; advice; comparison and contrast; skills: Listening · Reading) and the application challenge “Customs and etiquette sort”.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TE-L04. The website lesson “Cultural Customs — Traditions, Greetings and Social Norms”: vocabulary, grammar rules and quiz, patterns, common mistakes, sorter, listening, reading, speaking prompts and model, writing task and model, differentiation, final check and the lesson mission. Picture match: website visual game “Cultural Customs — Traditions, Greetings and Social Norms”.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customs words + five sentences, each cultural verb with its preposition (يَعْتَادُ النَّاسُ عَلَى الضِّيَافَةِ). Develop: a contrast with بَيْنَمَا and one hedge. Stretch: the website 80–90-word comparison with مِنْ نَاحِيَةٍ … وَمِنْ نَاحِيَةٍ أُخْرَى and an explicit rejection of the stereotype.
• This lesson connects directly to adab: hospitality (الضِّيَافَةُ), respect for elders and صِلَةُ الرَّحِمِ are values students know from home and from Islamic Studies — invite their own family examples.
• Website accuracy rule: describe what you observed (فِي بَعْضِ العَائِلَاتِ), not what “all Arabs” do. Note: two website texts say تُقَدَّمُ الشَّايُ — الشَّايُ is masculine, so the decks show يُقَدَّمُ الشَّايُ.
• TEACHER-WRITTEN ITEMS: gender-agreement slips corrected throughout (يُقَدَّمُ الشَّايُ · تُقَدَّمُ القَهْوَةُ),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TE-L01. Questions 4–5 retrieve TE-L01 (diptotes) and the hedging language from D5-L06 (website) / TE-L01.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Customs differ by country, region and family — so describe what you saw, and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ضیافت، کرم، صلہ رحمی are shared — and صلہ رحمی is taught in Islamic Studies. CAREFUL: Urdu تقلید = imitation / following (a madhhab); Arabic تَقْلِيدٌ also means a tradition (تَقَالِيدُ =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(1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(2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(1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(2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(1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(2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“Cultural verbs and their prepositions” (each preposition is fixed, and the noun after it is genitive). Website teaching point: “Each cultural verb keeps its own preposition … swapping them is the most common error in this topic.”
Website mistakes: يَعْتَادُ النَّاسُ بِالضِّيَافَةِ ✗ · تَحْتَفِلُ العَائِلَةُ المُنَاسَبَةَ ✗. Many students “belong to two cultures” — يَنْتَمِي إِلَى ثَقَافَتَيْنِ is a lovely personal sentence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“Contrast with بَيْنَمَا” (joins two full clauses that genuinely differ), “Two-sided comparison” and “Hedging a cultural claim” (a hedge turns a false universal into an accurate observation). Website teaching point: “Describe what you observed, not what everyone does.”
Agreement check in card 1: القَهْوَةُ is feminine → تُقَدَّمُ; الشَّايُ is masculine → يُقَدَّمُ.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things to control: the preposition on each cultural verb, the structure of a contrast, and the hedge that keeps your claim honest.”
• Cultural verbs and their prepositions: Each preposition is fixed, and the noun after it is genitive.
• Contrast with بَيْنَمَا: بَيْنَمَا joins two full clauses that genuinely differ. It is not used for a simple list.
• Two-sided comparison: This pair balances two aspects of the same topic and is valued in the Range criterion.
• Hedging a cultural claim: A hedge turns a false universal into an accurate observation.
Website common error: Beginning a sentence with كُلُّ العَرَبِ. Customs differ by country, by region and by family, so a universal claim is almost always wrong. Use فِي بَعْضِ … or أَحْيَانًا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does this verb take? Am I describing everyone, or what I saw? Is this a contrast of two full clauses?” Then ask students for their own family’s guest custom.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note every hedge you hear.
Listen 1: just listen. Listen 2: note answers. Then chat the letters.
Support: after the second listening, show the read-along slide (Arabic + English, line by line) for Core students.
SCRIPT (read aloud):
نُورُ: فِي بَعْضِ العَائِلَاتِ عِنْدَنَا يَعْتَادُ النَّاسُ عَلَى تَقْدِيمِ القَهْوَةِ لِلضَّيْفِ أَوَّلًا، بَيْنَمَا يُقَدَّمُ الشَّايُ فِي بُلْدَانٍ أُخْرَى. سَامِي: وَعِنْدَنَا يَتَمَسَّكُ الكِبَارُ بِصِلَةِ الرَّحِمِ، فَنَزُورُ الأَقَارِبَ كُلَّ أُسْبُوعٍ تَقْرِيبًا. نُورُ: وَهَلْ تَحْتَفِلُونَ بِالمُنَاسَبَاتِ فِي البَيْتِ؟ سَامِي: أَحْيَانًا، وَلَيْسَ دَائِمًا؛ فَالأَمْرُ يَخْتَلِفُ مِنْ أُسْرَةٍ إِلَى أُسْرَةٍ. نُورُ: هٰذَا صَحِيحٌ. لَا يَجُوزُ أَنْ نَقُولَ إِنَّ كُلَّ العَرَبِ يَفْعَلُونَ الشَّيْءَ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“Classify greetings, hospitality and social behaviours by situation, then advise a respectful visitor what to do, avoid or ask about.”
Website Topic E challenge “Customs and etiquette sort”. Behaviours: خَلْعُ الحِذَاءِ عِنْدَ البَابِ · المُصَافَحَةُ · تَقْدِيمُ القَهْوَةِ لِلضَّيْفِ · الأَكْلُ بِاليَدِ اليُمْنَى · رَفْضُ الطَّعَامِ · إِحْضَارُ هَدِيَّةٍ · الحَدِيثُ بِصَوْتٍ عَالٍ · الانْصِرَافُ بَعْدَ القَهْوَةِ. Hedge: customs differ between families and countries — avoid “all Arabs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الأَمْرُ نَفْسُهُ فِي كُلِّ مَكَانٍ؟ (And is it the same everywhere?)
B: لَيْسَ دَائِمًا؛ بَيْنَمَا يُقَدَّمُ الشَّايُ فِي بُلْدَانٍ أُخْرَى، وَالأَمْرُ يَخْتَلِفُ مِنْ أُسْرَةٍ إِلَى أُسْرَةٍ. (Not always — tea is served in other countries, and it differs from family to family.)
Website prompts and model. Students describe a REAL custom from their own family (guests, Eid visits, greeting elders). To a girl: صِفِي · قَارِنِي · تَتَجَنَّبِينَ.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customs, each with the correct preposition on its verb. · Develop — Add a contrast with بَيْنَمَا and one hedge. · Stretch — Balance the comparison with مِنْ نَاحِيَةٍ … وَمِنْ نَاحِيَةٍ أُخْرَى and close by naming the stereotype trap explicitly.
Website writing task (Stretch): Write eighty to ninety words comparing a custom you know with one from an Arab country. Use بَيْنَمَا for the contrast, at least two cultural verbs with their correct prepositions, and one hedge so the comparison does not become a generalisation.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يَعْتَادُ … عَلَى · بَيْنَمَا نُقَدِّمُ … · يَتَمَسَّكُ … بِصِلَةِ الرَّحِمِ · مِنْ نَاحِيَةٍ … وَمِنْ نَاحِيَةٍ أُخْرَى · فِي بَعْضِ العَائِلَاتِ · لَيْسَ دَائِمًا.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(TE-L05 · Faiths, Beliefs and Places of Worship) will spend class time USING this language, so students prepare it tonight — short, simple, easy to access (school guidance: “Simple, Short, Interesting, Relevant, Easy to access”). The five words come from the website TE-L05 vocabulary (Ramadan and the two Eids).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Customs, Etiquette and Hospitality</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العَادَاتُ وَآدَابُ السُّلُوكِ وَالضِّيَافَةُ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Understand and compare courteous behaviour and hospitality traditions.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TE-L04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verbs + prepositions, </a:t>
            </a:r>
            <a:pPr algn="ctr" indent="0" marL="0">
              <a:buNone/>
            </a:pPr>
            <a:r>
              <a:rPr lang="ar-SA" altLang="en-US" sz="1550" dirty="0">
                <a:solidFill>
                  <a:srgbClr val="1F2A37"/>
                </a:solidFill>
                <a:latin typeface="Amiri" pitchFamily="2" charset="-78"/>
                <a:cs typeface="Amiri" pitchFamily="2" charset="-78"/>
              </a:rPr>
              <a:t>بَيْنَمَا</a:t>
            </a:r>
            <a:pPr algn="ctr" indent="0" marL="0">
              <a:buNone/>
            </a:pPr>
            <a:r>
              <a:rPr lang="en-US" sz="1200" dirty="0">
                <a:solidFill>
                  <a:srgbClr val="1F2A37"/>
                </a:solidFill>
                <a:latin typeface="Calibri" pitchFamily="34" charset="0"/>
                <a:cs typeface="Amiri" pitchFamily="2" charset="-78"/>
              </a:rPr>
              <a:t>, and the honest hedge.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slips, then two students compare customs.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custom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for elders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holds on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belongs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celebrates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فِي بَعْضِ البُلْدَانِ يُفَضِّلُ النَّاسُ التُّرَاثَ.</a:t>
            </a:r>
            <a:endParaRPr lang="ar-SA" sz="17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كُلُّ العَرَبِ يُفَضِّلُونَ التُّرَاثَ.</a:t>
            </a:r>
            <a:endParaRPr lang="ar-SA" sz="17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العَرَبُ دَائِمًا يُفَضِّلُونَ التُّرَاثَ.</a:t>
            </a:r>
            <a:endParaRPr lang="ar-SA" sz="17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tradition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hospitality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custom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 for elders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ties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generosity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holds on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belongs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celebrates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لُبْنَانَ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TE-L01: diptotes.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البُلْدَانِ يُفَضِّلُ النَّاسُ التُّرَاثَ.</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العَرَبِ يُفَضِّلُونَ التُّرَاثَ.</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 دَائِمًا يُفَضِّلُونَ التُّرَاثَ.</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D5-L06 (website) / TE-L01: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Customs differ by country, region and family — so describe what you saw, and hedge.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فِي بَعْضِ العَائِلَاتِ</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0E7C86"/>
                </a:solidFill>
                <a:latin typeface="Amiri" pitchFamily="2" charset="-78"/>
                <a:cs typeface="Amiri" pitchFamily="2" charset="-78"/>
              </a:rPr>
              <a:t>يَعْتَادُ</a:t>
            </a:r>
            <a:pPr rtl="1" algn="ctr" indent="0" marL="0">
              <a:lnSpc>
                <a:spcPct val="120000"/>
              </a:lnSpc>
              <a:buNone/>
            </a:pPr>
            <a:r>
              <a:rPr lang="ar-SA" altLang="en-US" sz="1950" b="1" dirty="0">
                <a:solidFill>
                  <a:srgbClr val="1B3B6F"/>
                </a:solidFill>
                <a:latin typeface="Amiri" pitchFamily="2" charset="-78"/>
                <a:cs typeface="Amiri" pitchFamily="2" charset="-78"/>
              </a:rPr>
              <a:t> النَّاسُ </a:t>
            </a:r>
            <a:pPr rtl="1" algn="ctr" indent="0" marL="0">
              <a:lnSpc>
                <a:spcPct val="120000"/>
              </a:lnSpc>
              <a:buNone/>
            </a:pPr>
            <a:r>
              <a:rPr lang="ar-SA" altLang="en-US" sz="1950" b="1" dirty="0">
                <a:solidFill>
                  <a:srgbClr val="0E7C86"/>
                </a:solidFill>
                <a:latin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cs typeface="Amiri" pitchFamily="2" charset="-78"/>
              </a:rPr>
              <a:t> الضِّيَافَةِ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customs and values (</a:t>
            </a:r>
            <a:pPr algn="l" indent="0" marL="0">
              <a:buNone/>
            </a:pPr>
            <a:r>
              <a:rPr lang="ar-SA" altLang="en-US" sz="1700" dirty="0">
                <a:solidFill>
                  <a:srgbClr val="1F2A37"/>
                </a:solidFill>
                <a:latin typeface="Amiri" pitchFamily="2" charset="-78"/>
                <a:cs typeface="Amiri" pitchFamily="2" charset="-78"/>
              </a:rPr>
              <a:t>ضِيَافَةٌ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كَرَمٌ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صِلَةُ الرَّحِمِ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احْتِرَامُ الكِبَارِ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customs with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and balance two sides.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cultural claims (</a:t>
            </a:r>
            <a:pPr algn="l" indent="0" marL="0">
              <a:buNone/>
            </a:pPr>
            <a:r>
              <a:rPr lang="ar-SA" altLang="en-US" sz="1700" dirty="0">
                <a:solidFill>
                  <a:srgbClr val="1F2A37"/>
                </a:solidFill>
                <a:latin typeface="Amiri" pitchFamily="2" charset="-78"/>
                <a:cs typeface="Amiri" pitchFamily="2" charset="-78"/>
              </a:rPr>
              <a:t>فِي بَعْضِ العَائِلَاتِ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لَيْسَ دَائِمًا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customs and values.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customs with </a:t>
            </a:r>
            <a:pPr algn="l" indent="0" marL="0">
              <a:buNone/>
            </a:pPr>
            <a:r>
              <a:rPr lang="ar-SA" altLang="en-US" sz="1700" b="1" dirty="0">
                <a:solidFill>
                  <a:srgbClr val="C9780A"/>
                </a:solidFill>
                <a:latin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hedge a cultural claim.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two sides (</a:t>
            </a:r>
            <a:pPr algn="l" indent="0" marL="0">
              <a:buNone/>
            </a:pPr>
            <a:r>
              <a:rPr lang="ar-SA" altLang="en-US" sz="1700" b="1" dirty="0">
                <a:solidFill>
                  <a:srgbClr val="B83227"/>
                </a:solidFill>
                <a:latin typeface="Amiri" pitchFamily="2" charset="-78"/>
                <a:cs typeface="Amiri" pitchFamily="2" charset="-78"/>
              </a:rPr>
              <a:t>مِنْ نَاحِيَةٍ</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and avoid a stereotype.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Customs and values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Cultural verbs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Comparing and qualifying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ʿādat · Urdu: a habit · Arabic: a custom (also a habit)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Urdu: imitation, following · Arabic: a tradition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ضِيَافَةٌ / ضَيْفٌ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‎ضیافت / مہمان‎ </a:t>
            </a:r>
            <a:pPr indent="0" marL="0">
              <a:buNone/>
            </a:pPr>
            <a:r>
              <a:rPr lang="en-US" sz="950" b="1" dirty="0">
                <a:solidFill>
                  <a:srgbClr val="2E8B57"/>
                </a:solidFill>
                <a:latin typeface="Calibri" pitchFamily="34" charset="0"/>
                <a:cs typeface="Amiri" pitchFamily="2" charset="-78"/>
              </a:rPr>
              <a:t> ẓiyāfat · hospitality / a guest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‎کرم‎ </a:t>
            </a:r>
            <a:pPr indent="0" marL="0">
              <a:buNone/>
            </a:pPr>
            <a:r>
              <a:rPr lang="en-US" sz="950" b="1" dirty="0">
                <a:solidFill>
                  <a:srgbClr val="2E8B57"/>
                </a:solidFill>
                <a:latin typeface="Calibri" pitchFamily="34" charset="0"/>
                <a:cs typeface="Amiri" pitchFamily="2" charset="-78"/>
              </a:rPr>
              <a:t> karam · generosity, kindness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صِلَةُ الرَّحِمِ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‎صلہ رحمی‎ </a:t>
            </a:r>
            <a:pPr indent="0" marL="0">
              <a:buNone/>
            </a:pPr>
            <a:r>
              <a:rPr lang="en-US" sz="950" b="1" dirty="0">
                <a:solidFill>
                  <a:srgbClr val="2E8B57"/>
                </a:solidFill>
                <a:latin typeface="Calibri" pitchFamily="34" charset="0"/>
                <a:cs typeface="Amiri" pitchFamily="2" charset="-78"/>
              </a:rPr>
              <a:t> ṣila-e-raḥmī · keeping family ties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 / عَادَاتٌ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 / customs</a:t>
            </a:r>
            <a:endParaRPr lang="en-US" sz="1350" dirty="0"/>
          </a:p>
          <a:p>
            <a:pPr indent="0" marL="0">
              <a:buNone/>
            </a:pPr>
            <a:r>
              <a:rPr lang="en-US" sz="1100" i="1" dirty="0">
                <a:solidFill>
                  <a:srgbClr val="5A6472"/>
                </a:solidFill>
                <a:latin typeface="Calibri" pitchFamily="34" charset="0"/>
                <a:cs typeface="Amiri" pitchFamily="2" charset="-78"/>
              </a:rPr>
              <a:t>ʿā-da-tun / ʿā-dā-tun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 / تَقَالِيدُ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 / traditions</a:t>
            </a:r>
            <a:endParaRPr lang="en-US" sz="1350" dirty="0"/>
          </a:p>
          <a:p>
            <a:pPr indent="0" marL="0">
              <a:buNone/>
            </a:pPr>
            <a:r>
              <a:rPr lang="en-US" sz="1100" i="1" dirty="0">
                <a:solidFill>
                  <a:srgbClr val="5A6472"/>
                </a:solidFill>
                <a:latin typeface="Calibri" pitchFamily="34" charset="0"/>
                <a:cs typeface="Amiri" pitchFamily="2" charset="-78"/>
              </a:rPr>
              <a:t>taq-lī-dun / ta-qā-lī-du</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plural </a:t>
            </a:r>
            <a:pPr algn="l" indent="0" marL="0">
              <a:buNone/>
            </a:pPr>
            <a:r>
              <a:rPr lang="ar-SA" altLang="en-US" sz="1300" dirty="0">
                <a:solidFill>
                  <a:srgbClr val="8A6D1E"/>
                </a:solidFill>
                <a:latin typeface="Amiri" pitchFamily="2" charset="-78"/>
                <a:cs typeface="Amiri" pitchFamily="2" charset="-78"/>
              </a:rPr>
              <a:t>تَقَالِيدُ</a:t>
            </a:r>
            <a:pPr algn="l" indent="0" marL="0">
              <a:buNone/>
            </a:pPr>
            <a:r>
              <a:rPr lang="en-US" sz="1000" i="1" dirty="0">
                <a:solidFill>
                  <a:srgbClr val="8A6D1E"/>
                </a:solidFill>
                <a:latin typeface="Calibri" pitchFamily="34" charset="0"/>
                <a:cs typeface="Amiri" pitchFamily="2" charset="-78"/>
              </a:rPr>
              <a:t> is a diptote.</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The plural is a diptote.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مِعْيَارٌ / مَعَايِيرُ</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norm / norms</a:t>
            </a:r>
            <a:endParaRPr lang="en-US" sz="1350" dirty="0"/>
          </a:p>
          <a:p>
            <a:pPr indent="0" marL="0">
              <a:buNone/>
            </a:pPr>
            <a:r>
              <a:rPr lang="en-US" sz="1100" i="1" dirty="0">
                <a:solidFill>
                  <a:srgbClr val="5A6472"/>
                </a:solidFill>
                <a:latin typeface="Calibri" pitchFamily="34" charset="0"/>
                <a:cs typeface="Amiri" pitchFamily="2" charset="-78"/>
              </a:rPr>
              <a:t>miʿ-yā-run / ma-ʿā-yī-ru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ضِيَافَةٌ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ḍi-yā-fa-tun</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كَرَمٌ</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generosity</a:t>
            </a:r>
            <a:endParaRPr lang="en-US" sz="1350" dirty="0"/>
          </a:p>
          <a:p>
            <a:pPr indent="0" marL="0">
              <a:buNone/>
            </a:pPr>
            <a:r>
              <a:rPr lang="en-US" sz="1100" i="1" dirty="0">
                <a:solidFill>
                  <a:srgbClr val="5A6472"/>
                </a:solidFill>
                <a:latin typeface="Calibri" pitchFamily="34" charset="0"/>
                <a:cs typeface="Amiri" pitchFamily="2" charset="-78"/>
              </a:rPr>
              <a:t>ka-ra-mun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احْتِرَامُ الكِبَارِ</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elders</a:t>
            </a:r>
            <a:endParaRPr lang="en-US" sz="1350" dirty="0"/>
          </a:p>
          <a:p>
            <a:pPr indent="0" marL="0">
              <a:buNone/>
            </a:pPr>
            <a:r>
              <a:rPr lang="en-US" sz="1100" i="1" dirty="0">
                <a:solidFill>
                  <a:srgbClr val="5A6472"/>
                </a:solidFill>
                <a:latin typeface="Calibri" pitchFamily="34" charset="0"/>
                <a:cs typeface="Amiri" pitchFamily="2" charset="-78"/>
              </a:rPr>
              <a:t>aḥ-ti-rā-mu al-ki-bā-ri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أَهَمِّيَّةُ العَائِلَةِ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importance of family</a:t>
            </a:r>
            <a:endParaRPr lang="en-US" sz="1350" dirty="0"/>
          </a:p>
          <a:p>
            <a:pPr indent="0" marL="0">
              <a:buNone/>
            </a:pPr>
            <a:r>
              <a:rPr lang="en-US" sz="1100" i="1" dirty="0">
                <a:solidFill>
                  <a:srgbClr val="5A6472"/>
                </a:solidFill>
                <a:latin typeface="Calibri" pitchFamily="34" charset="0"/>
                <a:cs typeface="Amiri" pitchFamily="2" charset="-78"/>
              </a:rPr>
              <a:t>a-ham-miy-ya-tu al-ʿā-ʾi-la-ti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Shape 20"/>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 verbal noun.</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التَّضَامُنُ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solidarity</a:t>
            </a:r>
            <a:endParaRPr lang="en-US" sz="1350" dirty="0"/>
          </a:p>
          <a:p>
            <a:pPr indent="0" marL="0">
              <a:buNone/>
            </a:pPr>
            <a:r>
              <a:rPr lang="en-US" sz="1100" i="1" dirty="0">
                <a:solidFill>
                  <a:srgbClr val="5A6472"/>
                </a:solidFill>
                <a:latin typeface="Calibri" pitchFamily="34" charset="0"/>
                <a:cs typeface="Amiri" pitchFamily="2" charset="-78"/>
              </a:rPr>
              <a:t>at-ta-ḍā-mu-nu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صِلَةُ الرَّحِمِ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keeping family ties</a:t>
            </a:r>
            <a:endParaRPr lang="en-US" sz="1350" dirty="0"/>
          </a:p>
          <a:p>
            <a:pPr indent="0" marL="0">
              <a:buNone/>
            </a:pPr>
            <a:r>
              <a:rPr lang="en-US" sz="1100" i="1" dirty="0">
                <a:solidFill>
                  <a:srgbClr val="5A6472"/>
                </a:solidFill>
                <a:latin typeface="Calibri" pitchFamily="34" charset="0"/>
                <a:cs typeface="Amiri" pitchFamily="2" charset="-78"/>
              </a:rPr>
              <a:t>ṣi-la-tu ar-ra-ḥi-mi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حُسْنُ الجِوَارِ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neighbourliness</a:t>
            </a:r>
            <a:endParaRPr lang="en-US" sz="1350" dirty="0"/>
          </a:p>
          <a:p>
            <a:pPr indent="0" marL="0">
              <a:buNone/>
            </a:pPr>
            <a:r>
              <a:rPr lang="en-US" sz="1100" i="1" dirty="0">
                <a:solidFill>
                  <a:srgbClr val="5A6472"/>
                </a:solidFill>
                <a:latin typeface="Calibri" pitchFamily="34" charset="0"/>
                <a:cs typeface="Amiri" pitchFamily="2" charset="-78"/>
              </a:rPr>
              <a:t>ḥus-nu al-ji-wā-ri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التَّآزُرُ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mutual support</a:t>
            </a:r>
            <a:endParaRPr lang="en-US" sz="1350" dirty="0"/>
          </a:p>
          <a:p>
            <a:pPr indent="0" marL="0">
              <a:buNone/>
            </a:pPr>
            <a:r>
              <a:rPr lang="en-US" sz="1100" i="1" dirty="0">
                <a:solidFill>
                  <a:srgbClr val="5A6472"/>
                </a:solidFill>
                <a:latin typeface="Calibri" pitchFamily="34" charset="0"/>
                <a:cs typeface="Amiri" pitchFamily="2" charset="-78"/>
              </a:rPr>
              <a:t>at-ta-ʾā-zu-ru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يَعْتَادُ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accustomed to</a:t>
            </a:r>
            <a:endParaRPr lang="en-US" sz="1350" dirty="0"/>
          </a:p>
          <a:p>
            <a:pPr indent="0" marL="0">
              <a:buNone/>
            </a:pPr>
            <a:r>
              <a:rPr lang="en-US" sz="1100" i="1" dirty="0">
                <a:solidFill>
                  <a:srgbClr val="5A6472"/>
                </a:solidFill>
                <a:latin typeface="Calibri" pitchFamily="34" charset="0"/>
                <a:cs typeface="Amiri" pitchFamily="2" charset="-78"/>
              </a:rPr>
              <a:t>yaʿ-tā-du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اِعْتَادَ</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تَعْتَادُ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يَتَمَسَّكُ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holds on to, 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تَمَسَّكَ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تَتَمَسَّكُ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يَحْتَفِلُ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تَحْتَفِلُ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3" name="Shape 60"/>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يَنْتَمِي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اِنْتَمَى</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تَنْتَمِي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يَتَكَيَّفُ مَعَ</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تَكَيَّفَ</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تَتَكَيَّفُ</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يَحْتَفِظُ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preserves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اِحْتَفَظَ</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تَحْتَفِظُ</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يَتَبَادَلُ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exchanges</a:t>
            </a:r>
            <a:endParaRPr lang="en-US" sz="1350" dirty="0"/>
          </a:p>
          <a:p>
            <a:pPr indent="0" marL="0">
              <a:buNone/>
            </a:pPr>
            <a:r>
              <a:rPr lang="en-US" sz="1100" i="1" dirty="0">
                <a:solidFill>
                  <a:srgbClr val="5A6472"/>
                </a:solidFill>
                <a:latin typeface="Calibri" pitchFamily="34" charset="0"/>
                <a:cs typeface="Amiri" pitchFamily="2" charset="-78"/>
              </a:rPr>
              <a:t>ya-ta-bā-da-lu</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reciprocal; takes a direct object.</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يُقَدِّمُ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presents, offers</a:t>
            </a:r>
            <a:endParaRPr lang="en-US" sz="1350" dirty="0"/>
          </a:p>
          <a:p>
            <a:pPr indent="0" marL="0">
              <a:buNone/>
            </a:pPr>
            <a:r>
              <a:rPr lang="en-US" sz="1100" i="1" dirty="0">
                <a:solidFill>
                  <a:srgbClr val="5A6472"/>
                </a:solidFill>
                <a:latin typeface="Calibri" pitchFamily="34" charset="0"/>
                <a:cs typeface="Amiri" pitchFamily="2" charset="-78"/>
              </a:rPr>
              <a:t>yu-qad-di-mu</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Takes a direct object.</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يَحْتَرِمُ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a:t>
            </a:r>
            <a:endParaRPr lang="en-US" sz="1350" dirty="0"/>
          </a:p>
          <a:p>
            <a:pPr indent="0" marL="0">
              <a:buNone/>
            </a:pPr>
            <a:r>
              <a:rPr lang="en-US" sz="1100" i="1" dirty="0">
                <a:solidFill>
                  <a:srgbClr val="5A6472"/>
                </a:solidFill>
                <a:latin typeface="Calibri" pitchFamily="34" charset="0"/>
                <a:cs typeface="Amiri" pitchFamily="2" charset="-78"/>
              </a:rPr>
              <a:t>yaḥ-ta-ri-mu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cs typeface="Amiri" pitchFamily="2" charset="-78"/>
              </a:rPr>
              <a:t>مِنْ نَاحِيَةٍ … وَمِنْ نَاحِيَةٍ أُخْرَى</a:t>
            </a:r>
            <a:endParaRPr lang="ar-SA" sz="265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البُلْدَانِ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Shape 35"/>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العَائِلَاتِ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لَيْسَ دَائِمًا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يَخْتَلِفُ مِنْ … إِلَى …</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differs from … to …</a:t>
            </a:r>
            <a:endParaRPr lang="en-US" sz="1350" dirty="0"/>
          </a:p>
          <a:p>
            <a:pPr indent="0" marL="0">
              <a:buNone/>
            </a:pPr>
            <a:r>
              <a:rPr lang="en-US" sz="1100" i="1" dirty="0">
                <a:solidFill>
                  <a:srgbClr val="5A6472"/>
                </a:solidFill>
                <a:latin typeface="Calibri" pitchFamily="34" charset="0"/>
                <a:cs typeface="Amiri" pitchFamily="2" charset="-78"/>
              </a:rPr>
              <a:t>yakh-ta-li-fu min … i-lā …</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What to avoid.</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تَعْمِيمٌ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generalisation</a:t>
            </a:r>
            <a:endParaRPr lang="en-US" sz="1350" dirty="0"/>
          </a:p>
          <a:p>
            <a:pPr indent="0" marL="0">
              <a:buNone/>
            </a:pPr>
            <a:r>
              <a:rPr lang="en-US" sz="1100" i="1" dirty="0">
                <a:solidFill>
                  <a:srgbClr val="5A6472"/>
                </a:solidFill>
                <a:latin typeface="Calibri" pitchFamily="34" charset="0"/>
                <a:cs typeface="Amiri" pitchFamily="2" charset="-78"/>
              </a:rPr>
              <a:t>taʿ-mī-mun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CULTURAL VERBS AND THEIR PREPOSITIONS (WEBSITE RULE 1)</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used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يَعْتَادُ النَّاسُ </a:t>
            </a:r>
            <a:pPr rtl="1" algn="ctr" indent="0" marL="0">
              <a:buNone/>
            </a:pPr>
            <a:r>
              <a:rPr lang="ar-SA" altLang="en-US" sz="1950" b="1" dirty="0">
                <a:solidFill>
                  <a:srgbClr val="0E7C86"/>
                </a:solidFill>
                <a:latin typeface="Amiri" pitchFamily="2" charset="-78"/>
                <a:cs typeface="Amiri" pitchFamily="2" charset="-78"/>
              </a:rPr>
              <a:t>عَلَى</a:t>
            </a:r>
            <a:pPr rtl="1" algn="ctr" indent="0" marL="0">
              <a:buNone/>
            </a:pPr>
            <a:r>
              <a:rPr lang="ar-SA" altLang="en-US" sz="1950" b="1" dirty="0">
                <a:solidFill>
                  <a:srgbClr val="1B3B6F"/>
                </a:solidFill>
                <a:latin typeface="Amiri" pitchFamily="2" charset="-78"/>
                <a:cs typeface="Amiri" pitchFamily="2" charset="-78"/>
              </a:rPr>
              <a:t> الضِّيَافَةِ.</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are used to hospitality.</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يَعْتَادُ </a:t>
            </a:r>
            <a:pPr rtl="1" algn="ctr" indent="0" marL="0">
              <a:buNone/>
            </a:pPr>
            <a:r>
              <a:rPr lang="ar-SA" altLang="en-US" sz="2200" b="1" dirty="0">
                <a:solidFill>
                  <a:srgbClr val="0E7C86"/>
                </a:solidFill>
                <a:latin typeface="Amiri" pitchFamily="2" charset="-78"/>
                <a:cs typeface="Amiri" pitchFamily="2" charset="-78"/>
              </a:rPr>
              <a:t>عَلَى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holds on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تَتَمَسَّكُ الأُسْرَةُ </a:t>
            </a:r>
            <a:pPr rtl="1" algn="ctr" indent="0" marL="0">
              <a:buNone/>
            </a:pPr>
            <a:r>
              <a:rPr lang="ar-SA" altLang="en-US" sz="1950" b="1" dirty="0">
                <a:solidFill>
                  <a:srgbClr val="D6336C"/>
                </a:solidFill>
                <a:latin typeface="Amiri" pitchFamily="2" charset="-78"/>
                <a:cs typeface="Amiri" pitchFamily="2" charset="-78"/>
              </a:rPr>
              <a:t>بِتَقَالِيدِهَا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holds on to its traditions.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يَتَمَسَّكُ </a:t>
            </a:r>
            <a:pPr rtl="1" algn="ctr" indent="0" marL="0">
              <a:buNone/>
            </a:pPr>
            <a:r>
              <a:rPr lang="ar-SA" altLang="en-US" sz="2200" b="1" dirty="0">
                <a:solidFill>
                  <a:srgbClr val="D6336C"/>
                </a:solidFill>
                <a:latin typeface="Amiri" pitchFamily="2" charset="-78"/>
                <a:cs typeface="Amiri" pitchFamily="2" charset="-78"/>
              </a:rPr>
              <a:t>بِـ</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celebrates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تَحْتَفِلُ العَائِلَةُ </a:t>
            </a:r>
            <a:pPr rtl="1" algn="ctr" indent="0" marL="0">
              <a:buNone/>
            </a:pPr>
            <a:r>
              <a:rPr lang="ar-SA" altLang="en-US" sz="1950" b="1" dirty="0">
                <a:solidFill>
                  <a:srgbClr val="D6336C"/>
                </a:solidFill>
                <a:latin typeface="Amiri" pitchFamily="2" charset="-78"/>
                <a:cs typeface="Amiri" pitchFamily="2" charset="-78"/>
              </a:rPr>
              <a:t>بِالمُنَاسَبَةِ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celebrates the occasion.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يَحْتَفِلُ </a:t>
            </a:r>
            <a:pPr rtl="1" algn="ctr" indent="0" marL="0">
              <a:buNone/>
            </a:pPr>
            <a:r>
              <a:rPr lang="ar-SA" altLang="en-US" sz="2200" b="1" dirty="0">
                <a:solidFill>
                  <a:srgbClr val="D6336C"/>
                </a:solidFill>
                <a:latin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يَنْتَمِي </a:t>
            </a:r>
            <a:pPr rtl="1" algn="ctr" indent="0" marL="0">
              <a:buNone/>
            </a:pPr>
            <a:r>
              <a:rPr lang="ar-SA" altLang="en-US" sz="1950" b="1" dirty="0">
                <a:solidFill>
                  <a:srgbClr val="1D5FBF"/>
                </a:solidFill>
                <a:latin typeface="Amiri" pitchFamily="2" charset="-78"/>
                <a:cs typeface="Amiri" pitchFamily="2" charset="-78"/>
              </a:rPr>
              <a:t>إِلَى</a:t>
            </a:r>
            <a:pPr rtl="1" algn="ctr" indent="0" marL="0">
              <a:buNone/>
            </a:pPr>
            <a:r>
              <a:rPr lang="ar-SA" altLang="en-US" sz="1950" b="1" dirty="0">
                <a:solidFill>
                  <a:srgbClr val="1B3B6F"/>
                </a:solidFill>
                <a:latin typeface="Amiri" pitchFamily="2" charset="-78"/>
                <a:cs typeface="Amiri" pitchFamily="2" charset="-78"/>
              </a:rPr>
              <a:t> ثَقَافَتَيْنِ.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belongs to two cultures.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يَنْتَمِي </a:t>
            </a:r>
            <a:pPr rtl="1" algn="ctr" indent="0" marL="0">
              <a:buNone/>
            </a:pPr>
            <a:r>
              <a:rPr lang="ar-SA" altLang="en-US" sz="2200" b="1" dirty="0">
                <a:solidFill>
                  <a:srgbClr val="1D5FBF"/>
                </a:solidFill>
                <a:latin typeface="Amiri" pitchFamily="2" charset="-78"/>
                <a:cs typeface="Amiri" pitchFamily="2" charset="-78"/>
              </a:rPr>
              <a:t>إِلَى</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يَتَكَيَّفُ المُهَاجِرُ </a:t>
            </a:r>
            <a:pPr rtl="1" algn="ctr" indent="0" marL="0">
              <a:buNone/>
            </a:pPr>
            <a:r>
              <a:rPr lang="ar-SA" altLang="en-US" sz="1950" b="1" dirty="0">
                <a:solidFill>
                  <a:srgbClr val="1D5FBF"/>
                </a:solidFill>
                <a:latin typeface="Amiri" pitchFamily="2" charset="-78"/>
                <a:cs typeface="Amiri" pitchFamily="2" charset="-78"/>
              </a:rPr>
              <a:t>مَعَ</a:t>
            </a:r>
            <a:pPr rtl="1" algn="ctr" indent="0" marL="0">
              <a:buNone/>
            </a:pPr>
            <a:r>
              <a:rPr lang="ar-SA" altLang="en-US" sz="1950" b="1" dirty="0">
                <a:solidFill>
                  <a:srgbClr val="1B3B6F"/>
                </a:solidFill>
                <a:latin typeface="Amiri" pitchFamily="2" charset="-78"/>
                <a:cs typeface="Amiri" pitchFamily="2" charset="-78"/>
              </a:rPr>
              <a:t> الحَيَاةِ الجَدِيدَةِ.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migrant adapts to the new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يَتَكَيَّفُ </a:t>
            </a:r>
            <a:pPr rtl="1" algn="ctr" indent="0" marL="0">
              <a:buNone/>
            </a:pPr>
            <a:r>
              <a:rPr lang="ar-SA" altLang="en-US" sz="2200" b="1" dirty="0">
                <a:solidFill>
                  <a:srgbClr val="1D5FBF"/>
                </a:solidFill>
                <a:latin typeface="Amiri" pitchFamily="2" charset="-78"/>
                <a:cs typeface="Amiri" pitchFamily="2" charset="-78"/>
              </a:rPr>
              <a:t>مَعَ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(-i): </a:t>
            </a:r>
            <a:pPr algn="l" indent="0" marL="0">
              <a:buNone/>
            </a:pPr>
            <a:r>
              <a:rPr lang="ar-SA" altLang="en-US" sz="1500" b="1" dirty="0">
                <a:solidFill>
                  <a:srgbClr val="1B3B6F"/>
                </a:solidFill>
                <a:latin typeface="Amiri" pitchFamily="2" charset="-78"/>
                <a:cs typeface="Amiri" pitchFamily="2" charset="-78"/>
              </a:rPr>
              <a:t>عَلَى الضِّيَافَةِ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بِالمُنَاسَبَةِ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CONTRAST, BALANCE, HEDGE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fairly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قَارِنْ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تُقَدَّمُ القَهْوَةُ أَوَّلًا فِي بَعْضِ البُلْدَانِ، بَيْنَمَا يُقَدَّمُ الشَّايُ فِي غَيْرِهَا.</a:t>
            </a:r>
            <a:endParaRPr lang="ar-SA" sz="20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coffee is served first, whereas tea is served in others.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full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نَاحِيَةٍ تَتَغَيَّرُ العَادَاتُ، وَمِنْ نَاحِيَةٍ أُخْرَى تَبْقَى القِيَمُ.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customs change; on the other, values remain.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sides.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HEDGE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بَعْضِ العَائِلَاتِ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بَعْضِ العَائِلَاتِ يُقَبِّلُ الأَبْنَاءُ رَأْسَ الجَدِّ.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families children kiss their grandfather’s head.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“all Arabs”.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universal claim is a generalisation.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Cultural verbs, contrast and qualification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أَفْعَالُ الثَّقَافَةِ وَالمُقَارَنَةُ وَالتَّحَفُّظُ</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Cultural verbs and their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يَعْتَادُ عَلَى · يَتَمَسَّكُ بِـ · يَنْتَمِي إِلَى · يَتَكَيَّفُ مَعَ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يَعْتَادُ النَّاسُ عَلَى الضِّيَافَةِ   ·   تَتَمَسَّكُ الأُسْرَةُ بِتَقَالِيدِهَا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with </a:t>
            </a:r>
            <a:pPr algn="l" indent="0" marL="0">
              <a:buNone/>
            </a:pPr>
            <a:r>
              <a:rPr lang="ar-SA" altLang="en-US" sz="1650" b="1" dirty="0">
                <a:solidFill>
                  <a:srgbClr val="1B3B6F"/>
                </a:solidFill>
                <a:latin typeface="Amiri" pitchFamily="2" charset="-78"/>
                <a:cs typeface="Amiri" pitchFamily="2" charset="-78"/>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 + </a:t>
            </a:r>
            <a:pPr algn="l" indent="0" marL="0">
              <a:buNone/>
            </a:pPr>
            <a:r>
              <a:rPr lang="ar-SA" altLang="en-US" sz="1350" dirty="0">
                <a:solidFill>
                  <a:srgbClr val="5A6472"/>
                </a:solidFill>
                <a:latin typeface="Amiri" pitchFamily="2" charset="-78"/>
                <a:cs typeface="Amiri" pitchFamily="2" charset="-78"/>
              </a:rPr>
              <a:t>بَيْنَمَا</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تُقَدَّمُ القَهْوَةُ أَوَّلًا فِي بَعْضِ البُلْدَانِ، بَيْنَمَا يُقَدَّمُ الشَّايُ فِي غَيْرِهَا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Two-sided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نَاحِيَةٍ … وَمِنْ نَاحِيَةٍ أُخْرَى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نَاحِيَةٍ تَتَغَيَّرُ العَادَاتُ، وَمِنْ نَاحِيَةٍ أُخْرَى تَبْقَى القِيَمُ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Hedging a cultural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بَعْضِ …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فِي بَعْضِ العَائِلَاتِ يُقَبِّلُ الأَبْنَاءُ رَأْسَ الجَدِّ   ·   لَيْسَ دَائِمًا تَتَشَابَهُ العَادَاتُ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يَعْتَادُ النَّاسُ ___ الضِّيَافَةِ.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تَتَمَسَّكُ الأُسْرَةُ ___ تَقَالِيدِهَا.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تَحْتَفِلُ العَائِلَةُ المُنَاسَبَةَ.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تَحْتَفِلُ العَائِلَةُ بِالمُنَاسَبَةِ.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تَحْتَفِلُ العَائِلَةُ عَلَى المُنَاسَبَةِ.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العَائِلَاتِ يُقَبِّلُ الأَبْنَاءُ رَأْسَ الجَدِّ.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العَرَبِ يُقَبِّلُونَ رَأْسَ الجَدِّ.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 دَائِمًا يَفْعَلُونَ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يَعْتَادُ النَّاسُ ___ الضِّيَافَةِ.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تَتَمَسَّكُ الأُسْرَةُ ___ تَقَالِيدِهَا.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تَحْتَفِلُ العَائِلَةُ المُنَاسَبَةَ.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تَحْتَفِلُ العَائِلَةُ بِالمُنَاسَبَةِ.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تَحْتَفِلُ العَائِلَةُ عَلَى المُنَاسَبَةِ.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a genitive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العَائِلَاتِ يُقَبِّلُ الأَبْنَاءُ رَأْسَ الجَدِّ.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العَرَبِ يُقَبِّلُونَ رَأْسَ الجَدِّ.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 دَائِمًا يَفْعَلُونَ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reports what some families do, which is accurate.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compare two customs fairly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فِي بَعْضِ العَائِلَاتِ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everyone.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 prep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يَعْتَادُ</a:t>
            </a:r>
            <a:pPr rtl="1" algn="ctr" indent="0" marL="0">
              <a:buNone/>
            </a:pPr>
            <a:r>
              <a:rPr lang="ar-SA" altLang="en-US" sz="2100" b="1" dirty="0">
                <a:solidFill>
                  <a:srgbClr val="1B3B6F"/>
                </a:solidFill>
                <a:latin typeface="Amiri" pitchFamily="2" charset="-78"/>
                <a:cs typeface="Amiri" pitchFamily="2" charset="-78"/>
              </a:rPr>
              <a:t> النَّاسُ </a:t>
            </a:r>
            <a:pPr rtl="1" algn="ctr" indent="0" marL="0">
              <a:buNone/>
            </a:pPr>
            <a:r>
              <a:rPr lang="ar-SA" altLang="en-US" sz="2100" b="1" dirty="0">
                <a:solidFill>
                  <a:srgbClr val="0E7C86"/>
                </a:solidFill>
                <a:latin typeface="Amiri" pitchFamily="2" charset="-78"/>
                <a:cs typeface="Amiri" pitchFamily="2" charset="-78"/>
              </a:rPr>
              <a:t>عَلَى</a:t>
            </a:r>
            <a:pPr rtl="1" algn="ctr" indent="0" marL="0">
              <a:buNone/>
            </a:pPr>
            <a:r>
              <a:rPr lang="ar-SA" altLang="en-US" sz="2100" b="1" dirty="0">
                <a:solidFill>
                  <a:srgbClr val="1B3B6F"/>
                </a:solidFill>
                <a:latin typeface="Amiri" pitchFamily="2" charset="-78"/>
                <a:cs typeface="Amiri" pitchFamily="2" charset="-78"/>
              </a:rPr>
              <a:t> الضِّيَافَةِ</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iʿtāda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بَيْنَمَا</a:t>
            </a:r>
            <a:pPr rtl="1" algn="ctr" indent="0" marL="0">
              <a:buNone/>
            </a:pPr>
            <a:r>
              <a:rPr lang="ar-SA" altLang="en-US" sz="2400" b="1" dirty="0">
                <a:solidFill>
                  <a:srgbClr val="1B3B6F"/>
                </a:solidFill>
                <a:latin typeface="Amiri" pitchFamily="2" charset="-78"/>
                <a:cs typeface="Amiri" pitchFamily="2" charset="-78"/>
              </a:rPr>
              <a:t> نُقَدِّمُ نَحْنُ الشَّايَ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clauses.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sides.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 PREPOSITION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تَخْتَلِفُ العَادَاتُ بَيْنَ البُلْدَانِ اخْتِلَافًا وَاضِحًا. </a:t>
            </a:r>
            <a:pPr rtl="1" algn="r" indent="0" marL="0">
              <a:lnSpc>
                <a:spcPct val="120000"/>
              </a:lnSpc>
              <a:buNone/>
            </a:pPr>
            <a:r>
              <a:rPr lang="ar-SA" altLang="en-US" sz="1400" b="1" dirty="0">
                <a:solidFill>
                  <a:srgbClr val="D6336C"/>
                </a:solidFill>
                <a:latin typeface="Amiri" pitchFamily="2" charset="-78"/>
                <a:cs typeface="Amiri" pitchFamily="2" charset="-78"/>
              </a:rPr>
              <a:t>فِي بَعْضِ العَائِلَاتِ</a:t>
            </a:r>
            <a:pPr rtl="1" algn="r" indent="0" marL="0">
              <a:lnSpc>
                <a:spcPct val="120000"/>
              </a:lnSpc>
              <a:buNone/>
            </a:pPr>
            <a:r>
              <a:rPr lang="ar-SA" altLang="en-US" sz="1400" b="1" dirty="0">
                <a:solidFill>
                  <a:srgbClr val="1B3B6F"/>
                </a:solidFill>
                <a:latin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cs typeface="Amiri" pitchFamily="2" charset="-78"/>
              </a:rPr>
              <a:t>يَعْتَادُ</a:t>
            </a:r>
            <a:pPr rtl="1" algn="r" indent="0" marL="0">
              <a:lnSpc>
                <a:spcPct val="120000"/>
              </a:lnSpc>
              <a:buNone/>
            </a:pPr>
            <a:r>
              <a:rPr lang="ar-SA" altLang="en-US" sz="1400" b="1" dirty="0">
                <a:solidFill>
                  <a:srgbClr val="1B3B6F"/>
                </a:solidFill>
                <a:latin typeface="Amiri" pitchFamily="2" charset="-78"/>
                <a:cs typeface="Amiri" pitchFamily="2" charset="-78"/>
              </a:rPr>
              <a:t> النَّاسُ </a:t>
            </a:r>
            <a:pPr rtl="1" algn="r" indent="0" marL="0">
              <a:lnSpc>
                <a:spcPct val="120000"/>
              </a:lnSpc>
              <a:buNone/>
            </a:pPr>
            <a:r>
              <a:rPr lang="ar-SA" altLang="en-US" sz="1400" b="1" dirty="0">
                <a:solidFill>
                  <a:srgbClr val="0E7C86"/>
                </a:solidFill>
                <a:latin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cs typeface="Amiri" pitchFamily="2" charset="-78"/>
              </a:rPr>
              <a:t> اسْتِقْبَالِ الضَّيْفِ بِالقَهْوَةِ وَالتَّمْرِ، </a:t>
            </a:r>
            <a:pPr rtl="1" algn="r" indent="0" marL="0">
              <a:lnSpc>
                <a:spcPct val="120000"/>
              </a:lnSpc>
              <a:buNone/>
            </a:pPr>
            <a:r>
              <a:rPr lang="ar-SA" altLang="en-US" sz="1400" b="1" dirty="0">
                <a:solidFill>
                  <a:srgbClr val="1D5FBF"/>
                </a:solidFill>
                <a:latin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cs typeface="Amiri" pitchFamily="2" charset="-78"/>
              </a:rPr>
              <a:t> نُقَدِّمُ نَحْنُ الشَّايَ عَادَةً. وَ</a:t>
            </a:r>
            <a:pPr rtl="1" algn="r" indent="0" marL="0">
              <a:lnSpc>
                <a:spcPct val="120000"/>
              </a:lnSpc>
              <a:buNone/>
            </a:pPr>
            <a:r>
              <a:rPr lang="ar-SA" altLang="en-US" sz="1400" b="1" dirty="0">
                <a:solidFill>
                  <a:srgbClr val="0E7C86"/>
                </a:solidFill>
                <a:latin typeface="Amiri" pitchFamily="2" charset="-78"/>
                <a:cs typeface="Amiri" pitchFamily="2" charset="-78"/>
              </a:rPr>
              <a:t>يَتَمَسَّكُ</a:t>
            </a:r>
            <a:pPr rtl="1" algn="r" indent="0" marL="0">
              <a:lnSpc>
                <a:spcPct val="120000"/>
              </a:lnSpc>
              <a:buNone/>
            </a:pPr>
            <a:r>
              <a:rPr lang="ar-SA" altLang="en-US" sz="1400" b="1" dirty="0">
                <a:solidFill>
                  <a:srgbClr val="1B3B6F"/>
                </a:solidFill>
                <a:latin typeface="Amiri" pitchFamily="2" charset="-78"/>
                <a:cs typeface="Amiri" pitchFamily="2" charset="-78"/>
              </a:rPr>
              <a:t> كَثِيرٌ مِنَ الأُسَرِ </a:t>
            </a:r>
            <a:pPr rtl="1" algn="r" indent="0" marL="0">
              <a:lnSpc>
                <a:spcPct val="120000"/>
              </a:lnSpc>
              <a:buNone/>
            </a:pPr>
            <a:r>
              <a:rPr lang="ar-SA" altLang="en-US" sz="1400" b="1" dirty="0">
                <a:solidFill>
                  <a:srgbClr val="0E7C86"/>
                </a:solidFill>
                <a:latin typeface="Amiri" pitchFamily="2" charset="-78"/>
                <a:cs typeface="Amiri" pitchFamily="2" charset="-78"/>
              </a:rPr>
              <a:t>بِصِلَةِ</a:t>
            </a:r>
            <a:pPr rtl="1" algn="r" indent="0" marL="0">
              <a:lnSpc>
                <a:spcPct val="120000"/>
              </a:lnSpc>
              <a:buNone/>
            </a:pPr>
            <a:r>
              <a:rPr lang="ar-SA" altLang="en-US" sz="1400" b="1" dirty="0">
                <a:solidFill>
                  <a:srgbClr val="1B3B6F"/>
                </a:solidFill>
                <a:latin typeface="Amiri" pitchFamily="2" charset="-78"/>
                <a:cs typeface="Amiri" pitchFamily="2" charset="-78"/>
              </a:rPr>
              <a:t> الرَّحِمِ.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يَعْتَادُ عَلَى الضِّيَافَةِ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used to hospitality</a:t>
            </a:r>
            <a:endParaRPr lang="en-US" sz="1250" dirty="0"/>
          </a:p>
          <a:p>
            <a:pPr indent="0" marL="0">
              <a:buNone/>
            </a:pPr>
            <a:r>
              <a:rPr lang="en-US" sz="1050" i="1" dirty="0">
                <a:solidFill>
                  <a:srgbClr val="8A6D1E"/>
                </a:solidFill>
                <a:latin typeface="Calibri" pitchFamily="34" charset="0"/>
                <a:cs typeface="Amiri" pitchFamily="2" charset="-78"/>
              </a:rPr>
              <a:t>عَلَى is fixed with يَعْتَادُ.</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تَتَمَسَّكُ بِتَقَالِيدِهَا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holds on to her traditions</a:t>
            </a:r>
            <a:endParaRPr lang="en-US" sz="1250" dirty="0"/>
          </a:p>
          <a:p>
            <a:pPr indent="0" marL="0">
              <a:buNone/>
            </a:pPr>
            <a:r>
              <a:rPr lang="en-US" sz="1050" i="1" dirty="0">
                <a:solidFill>
                  <a:srgbClr val="8A6D1E"/>
                </a:solidFill>
                <a:latin typeface="Calibri" pitchFamily="34" charset="0"/>
                <a:cs typeface="Amiri" pitchFamily="2" charset="-78"/>
              </a:rPr>
              <a:t>بِـ is fixed with يَتَمَسَّكُ.</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بَعْضِ العَائِلَاتِ …</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 …</a:t>
            </a:r>
            <a:endParaRPr lang="en-US" sz="1250" dirty="0"/>
          </a:p>
          <a:p>
            <a:pPr indent="0" marL="0">
              <a:buNone/>
            </a:pPr>
            <a:r>
              <a:rPr lang="en-US" sz="1050" i="1" dirty="0">
                <a:solidFill>
                  <a:srgbClr val="8A6D1E"/>
                </a:solidFill>
                <a:latin typeface="Calibri" pitchFamily="34" charset="0"/>
                <a:cs typeface="Amiri" pitchFamily="2" charset="-78"/>
              </a:rPr>
              <a:t>The hedge keeps the claim honest.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“HOSPITALITY &amp; ETIQUETTE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visit</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culture</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الْمُهَذَّبِ أَنْ أَشْكُرَ الْمُضِيفَ عَلَى الضِّيَافَةِ.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لَمْ أَعْرِفِ الْعَادَةَ فَمِنَ الأَفْضَلِ أَنْ أَسْأَلَ بِاحْتِرَامٍ.</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عِنْدَمَا أَزُورُ أَحَدًا أُحَيِّيهِ بِأَدَبٍ.</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visit</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عِنْدَمَا أَزُورُ أَحَدًا أُحَيِّيهِ بِأَدَبٍ.</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When I visit someone, I greet them politely.</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مِنَ الْمُهَذَّبِ أَنْ أَشْكُرَ الْمُضِيفَ عَلَى الضِّيَافَةِ.</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polite to thank the host for the hospitality.</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culture</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إِذَا لَمْ أَعْرِفِ الْعَادَةَ فَمِنَ الأَفْضَلِ أَنْ أَسْأَلَ بِاحْتِرَامٍ.</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If I do not know the custom, it is best to ask respectfully.</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CUSTOMS — TRADITIONS, GREETINGS AND SOCIAL NORMS”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custom?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طُرُقُ التَّحِيَّةِ مِنْ مَكَانٍ إِلَى آخَرَ.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تَجْتَمِعُ العَائِلَةُ فِي المُنَاسَبَاتِ.</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المُهِمِّ اِحْتِرَامُ عَادَاتِ الضِّيَافَةِ.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customs of hospitality.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طُرُقُ التَّحِيَّةِ مِنْ مَكَانٍ إِلَى آخَرَ.</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تَجْتَمِعُ العَائِلَةُ فِي المُنَاسَبَاتِ.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يَعْتَادُ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اِعْتَادَ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 / مَعَ</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يَعْتَادُ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اِعْتَادَ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يَتَعَوَّدُ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 / مَعَ</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يَنْتَمِي ___ ثَقَافَتَيْنِ.</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يَتَكَيَّفُ المُهَاجِرُ ___ الحَيَاةِ الجَدِيدَةِ.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يُقَدَّمُ الشَّايُ بَيْنَمَا.</a:t>
            </a:r>
            <a:endParaRPr lang="ar-SA" sz="17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يُقَدَّمُ الشَّايُ فِي بَعْضِ البُلْدَانِ، بَيْنَمَا تُقَدَّمُ القَهْوَةُ فِي غَيْرِهَا.</a:t>
            </a:r>
            <a:endParaRPr lang="ar-SA" sz="17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بَيْنَمَا الشَّايُ وَالقَهْوَةُ.</a:t>
            </a:r>
            <a:endParaRPr lang="ar-SA" sz="17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تَتَغَيَّرُ العَادَاتُ وَتَبْقَى القِيَمُ.</a:t>
            </a:r>
            <a:endParaRPr lang="ar-SA" sz="19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أُخْرَى تَتَغَيَّرُ العَادَاتُ فَقَطْ.</a:t>
            </a:r>
            <a:endParaRPr lang="ar-SA" sz="19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تَتَغَيَّرُ العَادَاتُ، وَمِنْ نَاحِيَةٍ أُخْرَى تَبْقَى القِيَمُ.</a:t>
            </a:r>
            <a:endParaRPr lang="ar-SA" sz="19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يَنْتَمِي ___ ثَقَافَتَيْنِ.</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يَتَكَيَّفُ المُهَاجِرُ ___ الحَيَاةِ الجَدِيدَةِ.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يُقَدَّمُ الشَّايُ بَيْنَمَا.</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يُقَدَّمُ الشَّايُ فِي بَعْضِ البُلْدَانِ، بَيْنَمَا تُقَدَّمُ القَهْوَةُ فِي غَيْرِهَا.</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 الشَّايُ وَالقَهْوَةُ.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contrasting clauses.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تَتَغَيَّرُ العَادَاتُ وَتَبْقَى القِيَمُ.</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 تَتَغَيَّرُ العَادَاتُ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نَاحِيَةٍ تَتَغَيَّرُ العَادَاتُ، وَمِنْ نَاحِيَةٍ أُخْرَى تَبْقَى القِيَمُ.</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needs both halves to balance the two aspects.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يَعْتَادُ النَّاسُ بِالضِّيَافَةِ.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iʿtāda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تَحْتَفِلُ العَائِلَةُ المُنَاسَبَةَ.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كُلُّ العَرَبِ يَحْتَفِلُونَ بِالطَّرِيقَةِ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Arabs? Hedge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يَعْتَادُ النَّاسُ بِالضِّيَافَةِ.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يَعْتَادُ النَّاسُ عَلَى الضِّيَافَةِ.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يَعْتَادُ</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تَحْتَفِلُ العَائِلَةُ المُنَاسَبَةَ.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تَحْتَفِلُ العَائِلَةُ بِالمُنَاسَبَةِ.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يَحْتَفِلُ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كُلُّ العَرَبِ يَحْتَفِلُونَ بِالطَّرِيقَةِ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تَخْتَلِفُ طَرِيقَةُ الاحْتِفَالِ مِنْ بَلَدٍ إِلَى بَلَدٍ.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universal claim about a whole population is a generalisation, and it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two students compare customs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dress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recipes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family 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year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every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and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Arabs do the same thing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cannot say all Arabs do the same thing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never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نُورُ: فِي بَعْضِ العَائِلَاتِ عِنْدَنَا يَعْتَادُ النَّاسُ عَلَى تَقْدِيمِ القَهْوَةِ لِلضَّيْفِ أَوَّلًا، بَيْنَمَا يُقَدَّمُ الشَّايُ فِي بُلْدَانٍ أُخْرَى.</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In some families here people are used to serving the guest coffee first, whereas tea is served in other countries.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سَامِي: وَعِنْدَنَا يَتَمَسَّكُ الكِبَارُ بِصِلَةِ الرَّحِمِ، فَنَزُورُ الأَقَارِبَ كُلَّ أُسْبُوعٍ تَقْرِيبًا.</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With us, the elders hold on to family ties, so we visit relatives almost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نُورُ: وَهَلْ تَحْتَفِلُونَ بِالمُنَاسَبَاتِ فِي البَيْتِ؟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And do you celebrate occasions at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سَامِي: أَحْيَانًا، وَلَيْسَ دَائِمًا؛ فَالأَمْرُ يَخْتَلِفُ مِنْ أُسْرَةٍ إِلَى أُسْرَةٍ.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Sometimes, not always — it differs from family to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نُورُ: هٰذَا صَحِيحٌ. لَا يَجُوزُ أَنْ نَقُولَ إِنَّ كُلَّ العَرَبِ يَفْعَلُونَ الشَّيْءَ نَفْسَهُ.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That’s right. We can’t say that all Arabs do the same thing.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يَعْتَادُ النَّاسُ عَلَى تَقْدِيمِ القَهْوَةِ لِلضَّيْفِ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dress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recipes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Keeping family ties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يَتَمَسَّكُ الكِبَارُ بِصِلَةِ الرَّحِمِ.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year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Eid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every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فَنَزُورُ الأَقَارِبَ كُلَّ أُسْبُوعٍ تَقْرِيبًا.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Sometimes, and not always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أَحْيَانًا، وَلَيْسَ دَائِمًا؛ فَالأَمْرُ يَخْتَلِفُ مِنْ أُسْرَةٍ إِلَى أُسْرَةٍ.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Arabs do the same thing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We cannot say all Arabs do the same thing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never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يَجُوزُ أَنْ نَقُولَ إِنَّ كُلَّ العَرَبِ يَفْعَلُونَ الشَّيْءَ نَفْسَهُ.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etiquette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Customs and etiquette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Classify greetings, hospitality and social behaviours by situation, then advise a respectful visitor what to do, avoid or ask about.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8 behaviours by situation: greeting · visiting · eating · leaving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Mark each: do / avoid / ask about.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advice for a respectful visitor (imperatives).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one custom with your own family custom.</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the cards; two imperatives: “sallim! / ishkur!”.</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with “yanbaghī an” and “lā + jussive”.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 a respectful comparison (fī baʿḍ al-buldān … ammā fī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سَلِّمْ عَلَى الكِبَارِ أَوَّلًا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greet the elders first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اشْكُرِ المُضِيفَ</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thank the host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لَا تَرْفُضِ الضِّيَافَةَ مُبَاشَرَةً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do not refuse hospitality straight away</a:t>
            </a:r>
            <a:endParaRPr lang="en-US" sz="9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إِذَا لَمْ تَعْرِفْ، اسْأَلْ بِأَدَبٍ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if you do not know, ask politely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compare a custom accurately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عَادَةً تَعْرِفُهَا. مَنْ يَعْتَادُ عَلَيْهَا؟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عَادَتَيْنِ مُسْتَعْمِلًا بَيْنَمَا.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تَتَجَنَّبُ التَّعْمِيمَ عِنْدَ الحَدِيثِ عَنِ الثَّقَافَاتِ؟</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عَائِلَتِي نَعْتَادُ عَلَى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بَعْضِ العَائِلَاتِ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لَا أَقُولُ « كُلُّ … » ، بَلْ أَقُولُ « فِي بَعْضِ … » لِأَنَّ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عَادَةً تَعْرِفُهَا.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custom you know.</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بَعْضِ العَائِلَاتِ يَعْتَادُ النَّاسُ عَلَى تَقْدِيمِ القَهْوَةِ لِلضَّيْفِ أَوَّلًا.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some families people are used to serving the guest coffee first.</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customs, each with the correct preposition on its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customs, each cultural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contrast with </a:t>
            </a:r>
            <a:pPr algn="l" indent="0" marL="0">
              <a:buNone/>
            </a:pPr>
            <a:r>
              <a:rPr lang="ar-SA" altLang="en-US" sz="1800" b="1" dirty="0">
                <a:solidFill>
                  <a:srgbClr val="1F2A37"/>
                </a:solidFill>
                <a:latin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one hedge.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comparison with بَيْنَمَا and one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Balance the comparison with </a:t>
            </a:r>
            <a:pPr algn="l" indent="0" marL="0">
              <a:buNone/>
            </a:pPr>
            <a:r>
              <a:rPr lang="ar-SA" altLang="en-US" sz="1800" b="1" dirty="0">
                <a:solidFill>
                  <a:srgbClr val="1F2A37"/>
                </a:solidFill>
                <a:latin typeface="Amiri" pitchFamily="2" charset="-78"/>
                <a:cs typeface="Amiri" pitchFamily="2" charset="-78"/>
              </a:rPr>
              <a:t>مِنْ نَاحِيَةٍ … وَمِنْ نَاحِيَةٍ أُخْرَى</a:t>
            </a:r>
            <a:pPr algn="l" indent="0" marL="0">
              <a:buNone/>
            </a:pPr>
            <a:r>
              <a:rPr lang="en-US" sz="1400" b="1" dirty="0">
                <a:solidFill>
                  <a:srgbClr val="1F2A37"/>
                </a:solidFill>
                <a:latin typeface="Calibri" pitchFamily="34" charset="0"/>
                <a:cs typeface="Amiri" pitchFamily="2" charset="-78"/>
              </a:rPr>
              <a:t> and close by naming the stereotype trap explicitly.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cultural verbs, بَيْنَمَا, مِنْ نَاحِيَةٍ … وَمِنْ نَاحِيَةٍ أُخْرَى and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فِي بَعْضِ العَائِلَاتِ العَرَبِيَّةِ ______ ، بَيْنَمَا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Arab families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نَاحِيَةٍ ______ ، وَمِنْ نَاحِيَةٍ أُخْرَى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يَخْتَلِفُ الأَمْرُ مِنْ أُسْرَةٍ إِلَى أُسْرَةٍ.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differs from family to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لَيْسَ دَائِمًا يَتَصَرَّفُ الجَمِيعُ بِالطَّرِيقَةِ نَفْسِهَا.</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 everyone behaves the same way.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عَائِلَتِي نَعْتَادُ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we are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نَتَمَسَّكُ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hold on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نَحْتَفِلُ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نَحْتَرِمُ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respect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يَعْتَادُ عَلَى  ·  يَتَمَسَّكُ بِـ  ·  يَحْتَفِلُ بِـ  ·  يَنْتَمِي إِلَى  ·  يَتَكَيَّفُ مَعَ  ·  الضِّيَافَةُ  ·  صِلَةُ الرَّحِمِ  ·  احْتِرَامُ الكِبَارِ  ·  بَيْنَمَا  ·  مِنْ نَاحِيَةٍ  ·  فِي بَعْضِ العَائِلَاتِ  ·  لَيْسَ دَائِمًا</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comparing a custom you know with one from an Arab country. Use </a:t>
            </a:r>
            <a:pPr algn="l" indent="0" marL="0">
              <a:buNone/>
            </a:pPr>
            <a:r>
              <a:rPr lang="ar-SA" altLang="en-US" sz="1700" b="1" dirty="0">
                <a:solidFill>
                  <a:srgbClr val="1F2A37"/>
                </a:solidFill>
                <a:latin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for the contrast, at least two cultural verbs with their correct prepositions, and one hedge so the comparison does not become a generalisation.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cultural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joined with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two-sided comparison with </a:t>
            </a:r>
            <a:pPr algn="l" indent="0" marL="0">
              <a:buNone/>
            </a:pPr>
            <a:r>
              <a:rPr lang="ar-SA" altLang="en-US" sz="1550" dirty="0">
                <a:solidFill>
                  <a:srgbClr val="1F2A37"/>
                </a:solidFill>
                <a:latin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hedge such as </a:t>
            </a:r>
            <a:pPr algn="l" indent="0" marL="0">
              <a:buNone/>
            </a:pPr>
            <a:r>
              <a:rPr lang="ar-SA" altLang="en-US" sz="1550" dirty="0">
                <a:solidFill>
                  <a:srgbClr val="1F2A37"/>
                </a:solidFill>
                <a:latin typeface="Amiri" pitchFamily="2" charset="-78"/>
                <a:cs typeface="Amiri" pitchFamily="2" charset="-78"/>
              </a:rPr>
              <a:t>فِي بَعْضِ العَائِلَاتِ</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اسْتِقْبَالُ الضَّيْفِ بِالقَهْوَةِ وَالتَّمْرِ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receiving a guest with coffee and dates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يَزُورُونَ الأَقَارِبَ بِانْتِظَامٍ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visit relatives regularly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تَبْقَى قِيَمُ الكَرَمِ حَاضِرَةً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values of generosity remain present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الأَفْضَلُ أَنْ نَصِفَ مَا رَأَيْنَاهُ بِدِقَّةٍ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to describe what we saw accurately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الخَطَأِ أَنْ نَقُولَ 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wrong to say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تَخْتَلِفُ العَادَاتُ بَيْنَ البُلْدَانِ اخْتِلَافًا وَاضِحًا. فِي بَعْضِ العَائِلَاتِ العَرَبِيَّةِ يَعْتَادُ النَّاسُ عَلَى اسْتِقْبَالِ الضَّيْفِ بِالقَهْوَةِ وَالتَّمْرِ، بَيْنَمَا نُقَدِّمُ نَحْنُ الشَّايَ عَادَةً. وَيَتَمَسَّكُ كَثِيرٌ مِنَ الأُسَرِ بِصِلَةِ الرَّحِمِ، فَيَزُورُونَ الأَقَارِبَ بِانْتِظَامٍ. مِنْ نَاحِيَةٍ تَتَغَيَّرُ بَعْضُ التَّقَالِيدِ مَعَ الأَجْيَالِ الجَدِيدَةِ، وَمِنْ نَاحِيَةٍ أُخْرَى تَبْقَى قِيَمُ الكَرَمِ حَاضِرَةً. وَلَيْسَ دَائِمًا يَتَصَرَّفُ الجَمِيعُ بِالطَّرِيقَةِ نَفْسِهَا؛ فَالأَفْضَلُ أَنْ نَصِفَ مَا رَأَيْنَاهُ بِدِقَّةٍ.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 so they visit relatives regularly. On one hand some traditions change with new generations; on the other, the values of generosity remain present. Not everyone always behaves the same way — it is better to describe what we saw accurately.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verbs with their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with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 … وَمِنْ نَاحِيَةٍ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cultural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joins two full clauses.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two sides and avoided “all Arabs”.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تَخْتَلِفُ العَادَاتُ مِنْ بَلَدٍ إِلَى بَلَدٍ.</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 العَرَبِ يَحْتَفِلُونَ بِالطَّرِيقَةِ نَفْسِهَا.</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العَرَبُ دَائِمًا يُقَدِّمُونَ القَهْوَةَ.</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تَخْتَلِفُ العَادَاتُ مِنْ بَلَدٍ إِلَى بَلَدٍ.</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كُلُّ العَرَبِ يَحْتَفِلُونَ بِالطَّرِيقَةِ نَفْسِهَا.</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العَرَبُ دَائِمًا يُقَدِّمُونَ القَهْوَةَ.</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sentence reports variation.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customs are not one thing</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تَتَنَوَّعُ العَادَاتُ فِي العَالَمِ العَرَبِيِّ تَنَوُّعًا كَبِيرًا. فِي بَعْضِ البُلْدَانِ يَعْتَادُ النَّاسُ عَلَى اسْتِقْبَالِ الضَّيْفِ بِالقَهْوَةِ وَالتَّمْرِ، بَيْنَمَا يُقَدَّمُ الشَّايُ بِالنَّعْنَاعِ فِي بُلْدَانٍ أُخْرَى. وَيَتَمَسَّكُ كَثِيرٌ مِنَ الأُسَرِ بِصِلَةِ الرَّحِمِ وَاحْتِرَامِ الكِبَارِ، وَلٰكِنَّ طَرِيقَةَ التَّعْبِيرِ عَنْ ذٰلِكَ تَخْتَلِفُ مِنْ مَكَانٍ إِلَى مَكَانٍ. مِنْ نَاحِيَةٍ تَتَغَيَّرُ بَعْضُ التَّقَالِيدِ مَعَ الأَجْيَالِ الجَدِيدَةِ، وَمِنْ نَاحِيَةٍ أُخْرَى تَبْقَى قِيَمُ الكَرَمِ وَالتَّضَامُنِ حَاضِرَةً. وَمِنَ الخَطَأِ أَنْ نَقُولَ إِنَّ العَرَبَ جَمِيعًا يَتَصَرَّفُونَ بِالطَّرِيقَةِ نَفْسِهَا؛ فَالأَفْضَلُ أَنْ نَصِفَ مَا رَأَيْنَاهُ بِدِقَّةٍ.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تَتَنَوَّعُ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اسْتِقْبَالِ الضَّيْفِ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receiving the guest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التَّمْرِ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الشَّايُ بِالنَّعْنَاعِ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mint tea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طَرِيقَةَ التَّعْبِيرِ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way of expressing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الأَجْيَالِ الجَدِيدَةِ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new generations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قِيَمُ الكَرَمِ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values of generosity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التَّضَامُنِ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solidarity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يَتَصَرَّفُونَ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بِدِقَّةٍ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accurately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mint tea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coffee and dates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formal letter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ceremonies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religious study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 and respect for elders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traditions change with new generations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traditions disappear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ever changes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clothing styles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values of generosity and solidarity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dialects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all Arabs behave the same way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what you saw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about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mint tea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coffee and dates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formal letter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اسْتِقْبَالِ الضَّيْفِ بِالقَهْوَةِ وَالتَّمْرِ.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ceremonies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religious study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Family ties and respect for elders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يَتَمَسَّكُ كَثِيرٌ مِنَ الأُسَرِ بِصِلَةِ الرَّحِمِ وَاحْتِرَامِ الكِبَارِ.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traditions change with new generations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traditions disappear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ever changes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تَتَغَيَّرُ بَعْضُ التَّقَالِيدِ مَعَ الأَجْيَالِ الجَدِيدَةِ.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clothing styles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values of generosity and solidarity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dialects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تَبْقَى قِيَمُ الكَرَمِ وَالتَّضَامُنِ حَاضِرَةً.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Saying all Arabs behave the same way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what you saw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about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وَمِنَ الخَطَأِ أَنْ نَقُولَ إِنَّ العَرَبَ جَمِيعًا يَتَصَرَّفُونَ بِالطَّرِيقَةِ نَفْسِهَا.</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Customs Mission — Prepositions, Contrast and Accuracy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تَضَامُنٌ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مِعْيَارٌ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ضِيَافَةٌ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صِلَةُ الرَّحِمِ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حُسْنُ الجِوَارِ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احْتِرَامُ الكِبَارِ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تُقَدَّمُ القَهْوَةُ بَيْنَمَا.</a:t>
            </a:r>
            <a:endParaRPr lang="ar-SA" sz="15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تُقَدَّمُ القَهْوَةُ هُنَا، بَيْنَمَا يُقَدَّمُ الشَّايُ هُنَاكَ.</a:t>
            </a:r>
            <a:endParaRPr lang="ar-SA" sz="15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بَيْنَمَا القَهْوَةُ وَالشَّايُ.</a:t>
            </a:r>
            <a:endParaRPr lang="ar-SA" sz="15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تَضَامُنٌ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مِعْيَارٌ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ضِيَافَةٌ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is hospitality.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صِلَةُ الرَّحِمِ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حُسْنُ الجِوَارِ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احْتِرَامُ الكِبَارِ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صِلَةُ الرَّحِمِ</a:t>
            </a:r>
            <a:pPr algn="l" indent="0" marL="0">
              <a:buNone/>
            </a:pPr>
            <a:r>
              <a:rPr lang="en-US" sz="1050" i="1" dirty="0">
                <a:solidFill>
                  <a:srgbClr val="8A6D1E"/>
                </a:solidFill>
                <a:latin typeface="Calibri" pitchFamily="34" charset="0"/>
                <a:cs typeface="Amiri" pitchFamily="2" charset="-78"/>
              </a:rPr>
              <a:t> is maintaining family ties.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تُقَدَّمُ القَهْوَةُ بَيْنَمَا.</a:t>
            </a:r>
            <a:endParaRPr lang="ar-SA" sz="15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تُقَدَّمُ القَهْوَةُ هُنَا، بَيْنَمَا يُقَدَّمُ الشَّايُ هُنَاكَ.</a:t>
            </a:r>
            <a:endParaRPr lang="ar-SA" sz="15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بَيْنَمَا القَهْوَةُ وَالشَّايُ.</a:t>
            </a:r>
            <a:endParaRPr lang="ar-SA" sz="15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clauses.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TE-L05 · Faiths, Beliefs and Places of Worship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رَمَضَانُ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Ramadan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الصِّيَامُ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fasting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الإِفْطَارُ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iftar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 الفِطْرِ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al-Fitr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money</a:t>
            </a:r>
            <a:pPr indent="0" marL="0">
              <a:buNone/>
            </a:pPr>
            <a:r>
              <a:rPr lang="en-US" sz="1000" i="1" dirty="0">
                <a:solidFill>
                  <a:srgbClr val="5A6472"/>
                </a:solidFill>
                <a:latin typeface="Calibri" pitchFamily="34" charset="0"/>
                <a:cs typeface="Amiri" pitchFamily="2" charset="-78"/>
              </a:rPr>
              <a:t>  pl. عِيدِيَّاتٌ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does your family do on the morning of Eid? Note two things.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صَبَاحِ العِيدِ نَذْهَبُ إِلَى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customs words with their prepositions;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with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 hedge.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hedged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TE-L05 · Faiths, Beliefs and Places of Worship</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الأَدْيَانُ وَالمُعْتَقَدَاتُ وَدُورُ العِبَادَةِ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TE-L04 · Customs, Etiquette and Hospitality</dc:title>
  <dc:subject>PptxGenJS Presentation</dc:subject>
  <dc:creator>Al Madina Online School · Arabic Department</dc:creator>
  <cp:lastModifiedBy>Al Madina Online School · Arabic Department</cp:lastModifiedBy>
  <cp:revision>1</cp:revision>
  <dcterms:created xsi:type="dcterms:W3CDTF">2026-10-11T06:44:16Z</dcterms:created>
  <dcterms:modified xsi:type="dcterms:W3CDTF">2026-10-11T06:44:16Z</dcterms:modified>
</cp:coreProperties>
</file>