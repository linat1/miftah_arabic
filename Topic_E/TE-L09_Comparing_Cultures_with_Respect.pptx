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TE-L09 — Comparing Cultures with Respect. Website: Advanced Topics › Topic E (The International World) › Lesson 9.
The website builds this lesson on the D6-L05 lesson engine, with the Topic focus “Compare similarities and differences without stereotypes or overgeneralisation.” (grammar: Comparative structures; بينما; أمّا...فـ; skills: Reading · Speaking) and the application challenge “Culture comparison Venn”.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TE-L09.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TE-L07. Questions 4–5 retrieve the Topic E verb + preposition habit (TE-L07 · TE-L04).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“Organise shared and different practices in a Venn diagram, then turn the notes into a balanced comparison with similarity and contrast connectors.”
Website Topic E challenge “Culture comparison Venn”. Frame reminder: أَمَّا … فَـ is ONE structure (as for … then …) — write the فَـ on the next word, e.g. أَمَّا فِي بَاكِسْتَانَ فَيُقَدَّمُ الشَّايُ.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(TE-L10 · International Life and Global Connections) will spend class time USING this language, so students prepare it tonight — short, simple, easy to access (school guidance: “Simple, Short, Interesting, Relevant, Easy to access”). The five words come from the website TE-L02 vocabulary (Arabic’s global reach).
Follow-up: the next Do Now tests two of these words (Flipped Learning: keep it short AND follow up).
Homework by route (website tasks). No internet? Students copy the five words from this slide into their book now.
TOPIC E: the five words are the ones the TE-L10 Do Now tests (preparation list of the website P5-L04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ea typeface="Cambria" pitchFamily="34" charset="-122"/>
                <a:cs typeface="Cambria" pitchFamily="34" charset="-120"/>
              </a:rPr>
              <a:t>Comparing Cultures with Respect</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مُقَارَنَةُ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Compare similarities and differences without stereotypes or overgeneralisation.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TE-L09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أَتَكَيَّفُ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أَحْتَفِظُ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أُوَازِنُ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يَنْتَمِي إِلَى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يَتَكَيَّفُ مَعَ</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يَحْتَفِظُ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يُوَازِنُ بَيْنَ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أَفْعَلُ مِنْ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أَكْبَرُ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 / أَقَلُّ</a:t>
            </a:r>
            <a:pPr algn="l" indent="0" marL="0">
              <a:buNone/>
            </a:pPr>
            <a:r>
              <a:rPr lang="en-US" sz="1300" dirty="0">
                <a:solidFill>
                  <a:srgbClr val="1F2A37"/>
                </a:solidFill>
                <a:latin typeface="Calibri" pitchFamily="34" charset="0"/>
                <a:ea typeface="Calibri" pitchFamily="34" charset="-122"/>
                <a:cs typeface="Calibri" pitchFamily="34" charset="-120"/>
              </a:rPr>
              <a:t> + accusative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cities with </a:t>
            </a:r>
            <a:pPr algn="l" indent="0" marL="0">
              <a:buNone/>
            </a:pPr>
            <a:r>
              <a:rPr lang="ar-SA" altLang="en-US" sz="1700" b="1" dirty="0">
                <a:solidFill>
                  <a:srgbClr val="C9780A"/>
                </a:solidFill>
                <a:latin typeface="Amiri" pitchFamily="34" charset="0"/>
                <a:ea typeface="Amiri" pitchFamily="34" charset="-122"/>
                <a:cs typeface="Amiri" pitchFamily="34" charset="-120"/>
              </a:rPr>
              <a:t>أَكْبَرُ مِنْ / أَكْثَرُ …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home and school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مُهَاجِرٌ</a:t>
            </a:r>
            <a:pPr algn="l" indent="0" marL="0">
              <a:buNone/>
            </a:pPr>
            <a:r>
              <a:rPr lang="en-US" sz="1300" b="1" dirty="0">
                <a:solidFill>
                  <a:srgbClr val="B83227"/>
                </a:solidFill>
                <a:latin typeface="Calibri" pitchFamily="34" charset="0"/>
                <a:ea typeface="Calibri" pitchFamily="34" charset="-122"/>
                <a:cs typeface="Calibri" pitchFamily="34" charset="-120"/>
              </a:rPr>
              <a:t> vs </a:t>
            </a:r>
            <a:pPr algn="l" indent="0" marL="0">
              <a:buNone/>
            </a:pPr>
            <a:r>
              <a:rPr lang="ar-SA" altLang="en-US" sz="1700" b="1" dirty="0">
                <a:solidFill>
                  <a:srgbClr val="B83227"/>
                </a:solidFill>
                <a:latin typeface="Amiri" pitchFamily="34" charset="0"/>
                <a:ea typeface="Amiri" pitchFamily="34" charset="-122"/>
                <a:cs typeface="Amiri" pitchFamily="34" charset="-120"/>
              </a:rPr>
              <a:t>لَاجِئٌ</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‎مہاجر / ہجرت‎ </a:t>
            </a:r>
            <a:pPr indent="0" marL="0">
              <a:buNone/>
            </a:pPr>
            <a:r>
              <a:rPr lang="en-US" sz="950" b="1" dirty="0">
                <a:solidFill>
                  <a:srgbClr val="2E8B57"/>
                </a:solidFill>
                <a:latin typeface="Calibri" pitchFamily="34" charset="0"/>
                <a:ea typeface="Calibri" pitchFamily="34" charset="-122"/>
                <a:cs typeface="Calibri" pitchFamily="34" charset="-120"/>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‎وطن‎ </a:t>
            </a:r>
            <a:pPr indent="0" marL="0">
              <a:buNone/>
            </a:pPr>
            <a:r>
              <a:rPr lang="en-US" sz="950" b="1" dirty="0">
                <a:solidFill>
                  <a:srgbClr val="2E8B57"/>
                </a:solidFill>
                <a:latin typeface="Calibri" pitchFamily="34" charset="0"/>
                <a:ea typeface="Calibri" pitchFamily="34" charset="-122"/>
                <a:cs typeface="Calibri" pitchFamily="34" charset="-120"/>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‎غربت / پردیس‎ </a:t>
            </a:r>
            <a:pPr indent="0" marL="0">
              <a:buNone/>
            </a:pPr>
            <a:r>
              <a:rPr lang="en-US" sz="950" b="1" dirty="0">
                <a:solidFill>
                  <a:srgbClr val="2E8B57"/>
                </a:solidFill>
                <a:latin typeface="Calibri" pitchFamily="34" charset="0"/>
                <a:ea typeface="Calibri" pitchFamily="34" charset="-122"/>
                <a:cs typeface="Calibri" pitchFamily="34" charset="-120"/>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‎یاد / تڑپ‎ </a:t>
            </a:r>
            <a:pPr indent="0" marL="0">
              <a:buNone/>
            </a:pPr>
            <a:r>
              <a:rPr lang="en-US" sz="950" b="1" dirty="0">
                <a:solidFill>
                  <a:srgbClr val="2E8B57"/>
                </a:solidFill>
                <a:latin typeface="Calibri" pitchFamily="34" charset="0"/>
                <a:ea typeface="Calibri" pitchFamily="34" charset="-122"/>
                <a:cs typeface="Calibri" pitchFamily="34" charset="-120"/>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‎دوہری شہریت‎ </a:t>
            </a:r>
            <a:pPr indent="0" marL="0">
              <a:buNone/>
            </a:pPr>
            <a:r>
              <a:rPr lang="en-US" sz="950" b="1" dirty="0">
                <a:solidFill>
                  <a:srgbClr val="2E8B57"/>
                </a:solidFill>
                <a:latin typeface="Calibri" pitchFamily="34" charset="0"/>
                <a:ea typeface="Calibri" pitchFamily="34" charset="-122"/>
                <a:cs typeface="Calibri" pitchFamily="34" charset="-120"/>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Arab community abroad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migrant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refugee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citizen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diaspora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فِي الشَّتَاتِ</a:t>
            </a:r>
            <a:pPr algn="l" indent="0" marL="0">
              <a:buNone/>
            </a:pPr>
            <a:r>
              <a:rPr lang="en-US" sz="1000" i="1" dirty="0">
                <a:solidFill>
                  <a:srgbClr val="8A6D1E"/>
                </a:solidFill>
                <a:latin typeface="Calibri" pitchFamily="34" charset="0"/>
                <a:ea typeface="Calibri" pitchFamily="34" charset="-122"/>
                <a:cs typeface="Calibri" pitchFamily="34" charset="-120"/>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 generation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multicultural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 dual 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nostalgia, 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Masculine; </a:t>
            </a:r>
            <a:pPr algn="l" indent="0" marL="0">
              <a:buNone/>
            </a:pPr>
            <a:r>
              <a:rPr lang="ar-SA" altLang="en-US" sz="1300" dirty="0">
                <a:solidFill>
                  <a:srgbClr val="8A6D1E"/>
                </a:solidFill>
                <a:latin typeface="Amiri" pitchFamily="34" charset="0"/>
                <a:ea typeface="Amiri" pitchFamily="34" charset="-122"/>
                <a:cs typeface="Amiri" pitchFamily="34" charset="-120"/>
              </a:rPr>
              <a:t>حَنِينٌ إِلَى الوَطَنِ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being far from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preserving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assimilation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less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bigger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synthetic </a:t>
            </a:r>
            <a:pPr algn="l" indent="0" marL="0">
              <a:buNone/>
            </a:pPr>
            <a:r>
              <a:rPr lang="ar-SA" altLang="en-US" sz="1300" dirty="0">
                <a:solidFill>
                  <a:srgbClr val="8A6D1E"/>
                </a:solidFill>
                <a:latin typeface="Amiri" pitchFamily="34" charset="0"/>
                <a:ea typeface="Amiri" pitchFamily="34" charset="-122"/>
                <a:cs typeface="Amiri" pitchFamily="34" charset="-120"/>
              </a:rPr>
              <a:t>أَفْعَل</a:t>
            </a:r>
            <a:pPr algn="l" indent="0" marL="0">
              <a:buNone/>
            </a:pPr>
            <a:r>
              <a:rPr lang="en-US" sz="1000" i="1" dirty="0">
                <a:solidFill>
                  <a:srgbClr val="8A6D1E"/>
                </a:solidFill>
                <a:latin typeface="Calibri" pitchFamily="34" charset="0"/>
                <a:ea typeface="Calibri" pitchFamily="34" charset="-122"/>
                <a:cs typeface="Calibri" pitchFamily="34" charset="-120"/>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تَكَيَّفَتْ أُمِّي </a:t>
            </a:r>
            <a:pPr rtl="1" algn="ctr" indent="0" marL="0">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D6336C"/>
                </a:solidFill>
                <a:latin typeface="Amiri" pitchFamily="34" charset="0"/>
                <a:ea typeface="Amiri" pitchFamily="34" charset="-122"/>
                <a:cs typeface="Amiri" pitchFamily="34" charset="-120"/>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تَحْتَفِظُ الأُسَرُ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بِلُغَتِهَا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أُوَازِنُ </a:t>
            </a:r>
            <a:pPr rtl="1" algn="ctr" indent="0" marL="0">
              <a:buNone/>
            </a:pPr>
            <a:r>
              <a:rPr lang="ar-SA" altLang="en-US" sz="1950" b="1" dirty="0">
                <a:solidFill>
                  <a:srgbClr val="0E7C86"/>
                </a:solidFill>
                <a:latin typeface="Amiri" pitchFamily="34" charset="0"/>
                <a:ea typeface="Amiri" pitchFamily="34" charset="-122"/>
                <a:cs typeface="Amiri" pitchFamily="34" charset="-120"/>
              </a:rPr>
              <a:t>بَيْنَ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يُوَازِنُ </a:t>
            </a:r>
            <a:pPr rtl="1" algn="ctr" indent="0" marL="0">
              <a:buNone/>
            </a:pPr>
            <a:r>
              <a:rPr lang="ar-SA" altLang="en-US" sz="2200" b="1" dirty="0">
                <a:solidFill>
                  <a:srgbClr val="0E7C86"/>
                </a:solidFill>
                <a:latin typeface="Amiri" pitchFamily="34" charset="0"/>
                <a:ea typeface="Amiri" pitchFamily="34" charset="-122"/>
                <a:cs typeface="Amiri" pitchFamily="34" charset="-120"/>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أَشْعُرُ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بِالحَنِينِ</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يَشْعُرُ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a:t>
            </a:r>
            <a:pPr algn="l" indent="0" marL="0">
              <a:buNone/>
            </a:pPr>
            <a:r>
              <a:rPr lang="ar-SA" altLang="en-US" sz="1500" b="1" dirty="0">
                <a:solidFill>
                  <a:srgbClr val="1B3B6F"/>
                </a:solidFill>
                <a:latin typeface="Amiri" pitchFamily="34" charset="0"/>
                <a:ea typeface="Amiri" pitchFamily="34" charset="-122"/>
                <a:cs typeface="Amiri" pitchFamily="34" charset="-120"/>
              </a:rPr>
              <a:t>إِلَى ثَقَافَتَيْنِ</a:t>
            </a:r>
            <a:pPr algn="l" indent="0" marL="0">
              <a:buNone/>
            </a:pPr>
            <a:r>
              <a:rPr lang="en-US" sz="1150" b="1" dirty="0">
                <a:solidFill>
                  <a:srgbClr val="1B3B6F"/>
                </a:solidFill>
                <a:latin typeface="Calibri" pitchFamily="34" charset="0"/>
                <a:ea typeface="Calibri" pitchFamily="34" charset="-122"/>
                <a:cs typeface="Calibri" pitchFamily="34" charset="-120"/>
              </a:rPr>
              <a:t> (dual) · </a:t>
            </a:r>
            <a:pPr algn="l" indent="0" marL="0">
              <a:buNone/>
            </a:pPr>
            <a:r>
              <a:rPr lang="ar-SA" altLang="en-US" sz="1500" b="1" dirty="0">
                <a:solidFill>
                  <a:srgbClr val="1B3B6F"/>
                </a:solidFill>
                <a:latin typeface="Amiri" pitchFamily="34" charset="0"/>
                <a:ea typeface="Amiri" pitchFamily="34" charset="-122"/>
                <a:cs typeface="Amiri" pitchFamily="34" charset="-120"/>
              </a:rPr>
              <a:t>بِلُغَتِهَا</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مَعَ الحَيَاةِ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أَفْعَل</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accusative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between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28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نَتَحَدَّثُ العَرَبِيَّةَ،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أَصْغَرُ مِنْ · </a:t>
            </a:r>
            <a:pPr rtl="1" algn="ctr" indent="0" marL="0">
              <a:buNone/>
            </a:pPr>
            <a:r>
              <a:rPr lang="ar-SA" altLang="en-US" sz="2100" b="1" dirty="0">
                <a:solidFill>
                  <a:srgbClr val="D6336C"/>
                </a:solidFill>
                <a:latin typeface="Amiri" pitchFamily="34" charset="0"/>
                <a:ea typeface="Amiri" pitchFamily="34" charset="-122"/>
                <a:cs typeface="Amiri" pitchFamily="34" charset="-120"/>
              </a:rPr>
              <a:t>أَكْثَرُ هُدُوءًا</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ثَقَافَتَيْنِ، وَأُوَازِنُ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بَيْنَهُمَا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يَوْمٍ. فِي البَيْتِ نَتَحَدَّثُ العَرَبِيَّةَ،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أَدْرُسُ بِالإِنْجِلِيزِيَّةِ. مَدِينَتُنَا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أَصْغَرُ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القَاهِرَةِ، وَلٰكِنَّهَا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أَكْثَرُ هُدُوءًا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belong to two cultures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London is bigger than my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more diverse than 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“COMPARE CULTURES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 B: hospitality</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8"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coffee · B tea</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balanced comparison</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الْعَادَاتُ فِي نَوْعِ الْمَشْرُوبِ الَّذِي يُقَدَّمُ لِلضُّيُوفِ.</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نُقَارِنَ مِنْ دُونِ الْحُكْمِ عَلَى أَيِّ ثَقَافَةٍ بِأَنَّهَا أَفْضَلُ.</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تَتَشَابَهُ الثَّقَافَتَانِ فِي أَهَمِّيَّةِ الضِّيَافَةِ.</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 B: hospitality</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تَتَشَابَهُ الثَّقَافَتَانِ فِي أَهَمِّيَّةِ الضِّيَافَةِ.</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two cultures are similar in the importance of hospitality.</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3"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coffee · B tea</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الْعَادَاتُ فِي نَوْعِ الْمَشْرُوبِ الَّذِي يُقَدَّمُ لِلضُّيُوفِ.</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customs differ in the kind of drink served to guests.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balanced comparison</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نُقَارِنَ مِنْ دُونِ الْحُكْمِ عَلَى أَيِّ ثَقَافَةٍ بِأَنَّهَا أَفْضَلُ.</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compare without judging any culture as better.</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يَنْتَمِي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comparison Venn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Culture comparison Venn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Organise shared and different practices in a Venn diagram, then turn the notes into a balanced comparison with similarity and contrast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Draw a Venn diagram: culture A · culture B · shared.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6 practices (food, greetings, family, celebrations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the notes into a balanced comparison: one similarity, two differences.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no stereotype,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Fill the Venn; one sentence with “kilāhumā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comparison with “baynamā” and “ammā … fa-”.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paragraph with a hedge (fī baʿḍ al-usar) and a conclusion.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تَتَشَابَهُ الثَّقَافَتَانِ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two cultures are similar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أَمَّا فِي بَاكِسْتَانَ فَيُقَدَّمُ الشَّايُ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as for Pakistan, tea is served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بَعْضِ الأُسَرِ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some families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comparing two places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مَدِينَتِكَ وَمَدِينَةٍ عَرَبِيَّةٍ. اِسْتَعْمِلْ أَفْعَل وَأَكْثَرُ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تَحْتَفِظُ بِهِ الأُسَرُ عِنْدَمَا تَنْتَقِلُ إِلَى بَلَدٍ جَدِيدٍ؟</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تَصِفُ الهُوِيَّةَ المُزْدَوَجَةَ دُونَ تَبْسِيطٍ؟</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مَدِينَتِي ___ مِنْ ___ ، وَلٰكِنَّهَا أَكْثَرُ ___ مِنْهَا.</a:t>
            </a:r>
            <a:endParaRPr lang="ar-SA" sz="13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بِـ ___ ، وَتَتَكَيَّفُ مَعَ ___ .</a:t>
            </a:r>
            <a:endParaRPr lang="ar-SA" sz="15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مَدِينَتِكَ وَمَدِينَةٍ عَرَبِيَّةٍ.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your city with an Arab city.</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أَصْغَرُ مِنَ القَاهِرَةِ، وَلٰكِنَّهَا أَكْثَرُ هُدُوءًا مِنْهَا.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city is smaller than Cairo, but it is calmer.</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comparative of each type and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statement using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my noun ends in -an (</a:t>
            </a:r>
            <a:pPr algn="l" indent="0" marL="0">
              <a:buNone/>
            </a:pPr>
            <a:r>
              <a:rPr lang="ar-SA" altLang="en-US" sz="1700" dirty="0">
                <a:solidFill>
                  <a:srgbClr val="1F2A37"/>
                </a:solidFill>
                <a:latin typeface="Amiri" pitchFamily="34" charset="0"/>
                <a:ea typeface="Amiri" pitchFamily="34" charset="-122"/>
                <a:cs typeface="Amiri" pitchFamily="34" charset="-120"/>
              </a:rPr>
              <a:t>هُدُوءًا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مُهَاجِرٌ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وَطَنٌ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جُذُورٌ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مُهَاجِرٌ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وَطَنٌ</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جُذُورٌ</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حَنِينٌ</a:t>
            </a:r>
            <a:pPr algn="l" indent="0" marL="0">
              <a:buNone/>
            </a:pPr>
            <a:r>
              <a:rPr lang="en-US" sz="1050" i="1" dirty="0">
                <a:solidFill>
                  <a:srgbClr val="8A6D1E"/>
                </a:solidFill>
                <a:latin typeface="Calibri" pitchFamily="34" charset="0"/>
                <a:ea typeface="Calibri" pitchFamily="34" charset="-122"/>
                <a:cs typeface="Calibri" pitchFamily="34" charset="-120"/>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جُذُورٌ</a:t>
            </a:r>
            <a:pPr algn="l" indent="0" marL="0">
              <a:buNone/>
            </a:pPr>
            <a:r>
              <a:rPr lang="en-US" sz="1050" i="1" dirty="0">
                <a:solidFill>
                  <a:srgbClr val="8A6D1E"/>
                </a:solidFill>
                <a:latin typeface="Calibri" pitchFamily="34" charset="0"/>
                <a:ea typeface="Calibri" pitchFamily="34" charset="-122"/>
                <a:cs typeface="Calibri" pitchFamily="34" charset="-120"/>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TE-L10 · International Life and Global Connections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justice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humanitarian law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double standards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impunity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refuses to</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TE-L10 · International Life and Global Connections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الحَيَاةُ الدُّوَلِيَّةُ وَالرَّوَابِطُ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2026-10-11T04:25:12Z</dcterms:created>
  <dcterms:modified xsi:type="dcterms:W3CDTF">2026-10-11T04:25:12Z</dcterms:modified>
</cp:coreProperties>
</file>