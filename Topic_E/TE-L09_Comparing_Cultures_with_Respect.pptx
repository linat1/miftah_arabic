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notesMasterIdLst>
    <p:notesMasterId r:id="rId49"/>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ADVANCED TOPIC E · TE-L09 — Comparing Cultures with Respect. Website: Advanced Topics › Topic E (The International World) › Lesson 9.
The website builds this lesson on the D6-L05 lesson engine, with the Topic focus “Compare similarities and differences without stereotypes or overgeneralisation.” (grammar: Comparative structures; بينما; أمّا...فـ; skills: Reading · Speaking) and the application challenge “Culture comparison Venn”. This deck follows the same engine, re-sequenced for Topic E: lesson references now point to Topic E codes (lessons outside Topic E keep their website code), and the challenge is added before the speaking task.
No year group: Topic lessons are taught to any class following the Advanced Topics route.
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Development › Topic E Countries, Cultures and Celebrations › TE-L09. The website lesson “Comparing Countries — Global Connections and the Arab Diaspora”: vocabulary, grammar rules and quiz, patterns, common mistakes, sorter, listening, reading, speaking prompts and model, writing task and model, differentiation, final check and the lesson mission. Picture match: website visual game “Comparing Countries — Global Connections and the Arab Diaspora”.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the four diaspora verbs with their prepositions in six sentences about yourself / your family. Develop: one comparative of each type (أَصْغَرُ مِنْ · أَكْثَرُ هُدُوءًا مِنْ) and a contrast with بَيْنَمَا. Stretch: the website 80–90-word comparison closing with a balanced statement on dual identity.
• This topic IS many of our students’ lives (second generation in the UK, families from Pakistan, Somalia, Morocco, Egypt, Iraq …). Invite real examples, but never require anyone to share family history; a fictional family is always acceptable.
• Sensitivity: مُهَاجِرٌ (migrant) and لَاجِئٌ (refugee) are NOT synonyms (website). Speak about refugees with care — some students or families may have this experience.
• TEACHER-WRITTEN ITEMS: English added to the patterns and speaking model; the website flag-based visual game repeats TE-L01 and is skipped.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1–3 test three of the five words prepared at home at the end of TE-L07. Questions 4–5 retrieve the Topic E verb + preposition habit (TE-L07 · TE-L04).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Four verbs tell a diaspora story: belong · adapt · keep · balance.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مہاجر، ہجرت، وطن are shared (and الهِجْرَةُ النَّبَوِيَّةُ is the first Muslim migration). CAREFUL: Urdu غربت = poverty; Arabic غُرْبَةٌ = being a stranger far from home (the poor are فُقَرَاءُ).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People and communities (website vocabulary (1 of 2)). Hear → Say → See → Use. Transliteration is printed for Core students (cover it for Develop/Stretch).
People and communities. Cards show the plural. مُهَاجِرٌ (moved to live elsewhere) ≠ لَاجِئٌ (left because of danger).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People and communities (website vocabulary (2 of 2)). Hear → Say → See → Use. Transliteration is printed for Core students (cover it for Develop/Stretch).
People and communities. Cards show the plural. مُهَاجِرٌ (moved to live elsewhere) ≠ لَاجِئٌ (left because of danger).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Belonging and identity (website vocabulary (1 of 2)). Hear → Say → See → Use. Transliteration is printed for Core students (cover it for Develop/Stretch).
Belonging and identity: words for feelings and heritage — حَنِينٌ إِلَى الوَطَنِ (longing for the homeland).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Belonging and identity (website vocabulary (2 of 2)). Hear → Say → See → Use. Transliteration is printed for Core students (cover it for Develop/Stretch).
Belonging and identity: words for feelings and heritage — حَنِينٌ إِلَى الوَطَنِ (longing for the homeland).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Verbs and comparison (website vocabulary (1 of 2)). Hear → Say → See → Use. Transliteration is printed for Core students (cover it for Develop/Stretch).
Verbs and comparison: cards show I / past. The comparatives: أَكْبَرُ مِنْ OR أَكْثَرُ + noun + مِنْ.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Verbs and comparison (website vocabulary (2 of 2)). Hear → Say → See → Use. Transliteration is printed for Core students (cover it for Develop/Stretch).
Verbs and comparison: cards show I / past. The comparatives: أَكْبَرُ مِنْ OR أَكْثَرُ + noun + مِنْ.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1 — website rule “The four diaspora verbs” (each preposition is fixed and takes the genitive; يُوَازِنُ بَيْنَ is followed by two things joined with وَ). Website teaching point: “Four verbs, four prepositions … the whole arc of diaspora experience: where you belong, how you adjust, what you keep and how you hold both sides at once.”
Website mistakes: أَنْتَمِي مَعَ ✗ · تَحْتَفِظُ الأُسَرُ عَلَى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website rules “The synthetic comparative” (أَفْعَل + مِنْ + genitive; invariable, no article), “The analytical comparative” (أَكْثَرُ / أَقَلُّ + accusative noun + مِنْ, when there is no أَفْعَل form) and “Contrast and balance”. Website teaching point: “Do not double the comparative.”
Useful pairs: أَكْبَرُ / أَصْغَرُ · أَحَرُّ / أَبْرَدُ · أَكْثَرُ تَنَوُّعًا · أَقَلُّ ازْدِحَامًا.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WEBSITE GRAMMAR RULES AND EXAMPLES (FLEX — revision or homework). Website overview: “Four verbs each with a fixed preposition, and two comparison systems that must not be mixed. Choose one comparative form and keep the noun after مِنْ genitive.”
• The four diaspora verbs: Each preposition is fixed and takes the genitive. يُوَازِنُ بَيْنَ is followed by two things joined with وَ.
• The synthetic comparative: The أَفْعَل form is invariable and never takes the article in this structure.
• The analytical comparative: Use this when there is no أَفْعَل form available. The noun between is accusative.
• Contrast and balance: بَيْنَمَا joins two contrasting clauses; the balanced pair holds two sides of one idea together.
Website common error: Combining both comparative systems — أَكْثَرُ أَكْبَرُ مِنْ. Choose either the أَفْعَل form or أَكْثَرُ with an accusative noun, never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3, 5, 6.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from the website writing model. Think aloud: “Which preposition? Do I have an aFʿAL word (akbar, aṣghar)? If not, aktharu + noun in -an.” Offer students their own family’s cities (Lahore, Mogadishu, Casablanca, Cairo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(“Compare Cultures (Topic game)”)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TOPIC E GAME “Compare Cultures”: a shared value (hospitality), a difference (the drink), comparing without judging.
Website feedback lines: The overlap shows a similarity. · The two customs differ in the drink. · The scale symbolises balanced comparison.
FLEX: use it after the model sentences if the class is secure, or as the next lesson’s warm-up.
This is the website TOPIC game for this lesson (Advanced Topics page), not the pathway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(“Compare Cultures (Topic game)”)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TOPIC E GAME “Compare Cultures”: a shared value (hospitality), a difference (the drink), comparing without judging.
Website feedback lines: The overlap shows a similarity. · The two customs differ in the drink. · The scale symbolises balanced comparison.
FLEX: use it after the model sentences if the class is secure, or as the next lesson’s warm-up.
This is the website TOPIC game for this lesson (Advanced Topics page), not the pathway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make one sentence about yourself for each column.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make one sentence about yourself for each column.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2, 4,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3 and 5. Develop / Stretch: all 5 — and note each diaspora verb with its preposition.
Listen 1: just listen. Listen 2: note answers. Then chat the letters.
Support: after the second listening, show the read-along slide (Arabic + English, line by line) for Core students.
SCRIPT (read aloud):
أَنَا مِنَ الجِيلِ الثَّانِي فِي الجَالِيَةِ العَرَبِيَّةِ هُنَا. وُلِدْتُ فِي هٰذِهِ المَدِينَةِ، وَلٰكِنَّ أُسْرَتِي جَاءَتْ مِنَ المَغْرِبِ قَبْلَ ثَلَاثِينَ سَنَةً. أَنْتَمِي إِلَى ثَقَافَتَيْنِ، وَأُوَازِنُ بَيْنَهُمَا كُلَّ يَوْمٍ. فِي البَيْتِ نَتَحَدَّثُ العَرَبِيَّةَ، بَيْنَمَا أَدْرُسُ وَأَعْمَلُ بِالإِنْجِلِيزِيَّةِ. تَحْتَفِظُ أُمِّي بِعَادَاتِهَا وَبِمَطْبَخِهَا، وَقَدْ تَكَيَّفَتْ مَعَ الحَيَاةِ هُنَا بِسُرْعَةٍ. أَحْيَانًا أَشْعُرُ بِالحَنِينِ إِلَى بَلَدِ أُسْرَتِي، وَمِنْ نَاحِيَةٍ أُخْرَى أُحِبُّ حَيَاتِي هُنَا كَثِيرًا. لَيْسَتِ الهُوِيَّةُ المُزْدَوَجَةُ مُشْكِلَةً؛ هِيَ ثَرْوَةٌ فِي رَأْيِي.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TOPIC E APPLICATION CHALLENGE (5 min — it takes the speaking-rehearsal slot; the website speaking slide after it is FLEX) — from the website Topic page: “Organise shared and different practices in a Venn diagram, then turn the notes into a balanced comparison with similarity and contrast connectors.”
Website Topic E challenge “Culture comparison Venn”. Frame reminder: أَمَّا … فَـ is ONE structure (as for … then …) — write the فَـ on the next word, e.g. أَمَّا فِي بَاكِسْتَانَ فَيُقَدَّمُ الشَّايُ.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FLEX — the Topic E challenge before this slide is the main speaking task; use these website prompts if time allows or as homework rehearsal.
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وَكَيْفَ تَصِفُ الهُوِيَّةَ المُزْدَوَجَةَ؟ (And how do you describe dual identity?)
B: أَنْتَمِي إِلَى ثَقَافَتَيْنِ وَأُوَازِنُ بَيْنَهُمَا. مِنْ نَاحِيَةٍ أَشْعُرُ بِالحَنِينِ، وَمِنْ نَاحِيَةٍ أُخْرَى أُحِبُّ حَيَاتِي هُنَا. (I belong to two cultures and balance between them. On one hand I feel nostalgia; on the other, I love my life here.)
Website prompts and model. Students may compare their UK city with their family’s city (Arab or not). To a girl: قَارِنِي · تَصِفِينَ.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YOU DO (9 min writing). Steer routes using the Do Now and quick-check results.
Website differentiation tasks: Core — Write six sentences using the four verbs with their correct prepositions. · Develop — Add one comparative of each type and a contrast with بَيْنَمَا. · Stretch — Close with a balanced statement on dual identity that avoids reducing it to a single story.
Website writing task (Stretch): Write eighty to ninety words comparing life in two countries, drawing on the diaspora vocabulary. Use at least three of the four verbs with their prepositions, both comparative systems, and a balanced statement about dual identity.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Website writing model. Evidence: أَنْتَمِي إِلَى · أُوَازِنُ بَيْنَهُمَا · تَحْتَفِظُ … بِعَادَاتِهَا · تَكَيَّفَتْ مَعَ · بَيْنَمَا · أَصْغَرُ مِنَ القَاهِرَةِ · أَكْثَرُ هُدُوءًا مِنْهَا · مِنْ نَاحِيَةٍ … وَمِنْ نَاحِيَةٍ أُخْرَى · لَا تُوجَدُ قِصَّةٌ وَاحِدَةٌ …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(TE-L10 · International Life and Global Connections) will spend class time USING this language, so students prepare it tonight — short, simple, easy to access (school guidance: “Simple, Short, Interesting, Relevant, Easy to access”). The five words come from the website TE-L02 vocabulary (Arabic’s global reach).
Follow-up: the next Do Now tests two of these words (Flipped Learning: keep it short AND follow up).
Homework by route (website tasks). No internet? Students copy the five words from this slide into their book now.
TOPIC E: the five words are the ones the TE-L10 Do Now tests (preparation list of the website P5-L04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1.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E  ·  TE-L09</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TE-L09</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3250" b="1" dirty="0">
                <a:solidFill>
                  <a:srgbClr val="FFFFFF"/>
                </a:solidFill>
                <a:latin typeface="Cambria" pitchFamily="34" charset="0"/>
                <a:cs typeface="Amiri" pitchFamily="2" charset="-78"/>
              </a:rPr>
              <a:t>Comparing Cultures with Respect</a:t>
            </a:r>
            <a:endParaRPr lang="en-US" sz="32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مُقَارَنَةُ الثَّقَافَاتِ بِاحْتِرَامٍ</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Compare similarities and differences without stereotypes or overgeneralisation.</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TE-L09 · Advanced Topic E · The International World</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E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E › TE-L09</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TE-L09 · Comparing Cultures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TE-L09</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47</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TE-L09 · Comparing Cultures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TE-L09</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Four verbs + prepositions; two comparatives, never mixed.</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Sort verbs by preposition, fix the double comparative, then a second-generation voice.</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TE-L10.</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47</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TE-L09 · Comparing Cultures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TE-L09</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جَالِيَةٌ عَرَبِيَّةٌ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Arab country</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Arab community abroad</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Arab identity</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الجِيلُ الثَّانِي</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second generation</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second country</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second language</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جُذُورٌ</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branches</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borders</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roots</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يَتَسَامَحُ المُجْتَمَعُ</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الاخْتِلَافِ</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مَعَ</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تَتَمَسَّكُ الأُسْرَةُ بِتَقَالِيدِهَا.</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تَتَمَسَّكُ الأُسْرَةُ عَلَى تَقَالِيدِهَا.</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تَتَمَسَّكُ الأُسْرَةُ تَقَالِيدَهَا.</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47</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TE-L09 · Comparing Cultures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TE-L09</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جَالِيَةٌ عَرَبِيَّةٌ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an Arab country</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an Arab community abroad</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Arab identity</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(TE-L07).</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الجِيلُ الثَّانِي</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second generation</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second country</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second language</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(TE-L07).</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جُذُورٌ</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branches</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borders</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roots</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(TE-L07).</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يَتَسَامَحُ المُجْتَمَعُ</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الاخْتِلَافِ</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بِـ</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مَعَ</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TE-L07.</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تَتَمَسَّكُ الأُسْرَةُ بِتَقَالِيدِهَا.</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تَتَمَسَّكُ الأُسْرَةُ عَلَى تَقَالِيدِهَا.</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تَتَمَسَّكُ الأُسْرَةُ تَقَالِيدَهَا.</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TE-L04.</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Four verbs tell a diaspora story: belong · adapt · keep · balance.</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أَنْتَمِي </a:t>
            </a:r>
            <a:pPr rtl="1" algn="ctr" indent="0" marL="0">
              <a:lnSpc>
                <a:spcPct val="120000"/>
              </a:lnSpc>
              <a:buNone/>
            </a:pPr>
            <a:r>
              <a:rPr lang="ar-SA" altLang="en-US" sz="1950" b="1" dirty="0">
                <a:solidFill>
                  <a:srgbClr val="0E7C86"/>
                </a:solidFill>
                <a:latin typeface="Amiri" pitchFamily="2" charset="-78"/>
                <a:ea typeface="Amiri" pitchFamily="2" charset="-78"/>
                <a:cs typeface="Amiri" pitchFamily="2" charset="-78"/>
              </a:rPr>
              <a:t>إِلَى</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 أَتَكَيَّفُ </a:t>
            </a:r>
            <a:pPr rtl="1" algn="ctr" indent="0" marL="0">
              <a:lnSpc>
                <a:spcPct val="120000"/>
              </a:lnSpc>
              <a:buNone/>
            </a:pPr>
            <a:r>
              <a:rPr lang="ar-SA" altLang="en-US" sz="1950" b="1" dirty="0">
                <a:solidFill>
                  <a:srgbClr val="D6336C"/>
                </a:solidFill>
                <a:latin typeface="Amiri" pitchFamily="2" charset="-78"/>
                <a:ea typeface="Amiri" pitchFamily="2" charset="-78"/>
                <a:cs typeface="Amiri" pitchFamily="2" charset="-78"/>
              </a:rPr>
              <a:t>مَعَ</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 أَحْتَفِظُ </a:t>
            </a:r>
            <a:pPr rtl="1" algn="ctr" indent="0" marL="0">
              <a:lnSpc>
                <a:spcPct val="120000"/>
              </a:lnSpc>
              <a:buNone/>
            </a:pPr>
            <a:r>
              <a:rPr lang="ar-SA" altLang="en-US" sz="1950" b="1" dirty="0">
                <a:solidFill>
                  <a:srgbClr val="1D5FBF"/>
                </a:solidFill>
                <a:latin typeface="Amiri" pitchFamily="2" charset="-78"/>
                <a:ea typeface="Amiri" pitchFamily="2" charset="-78"/>
                <a:cs typeface="Amiri" pitchFamily="2" charset="-78"/>
              </a:rPr>
              <a:t>بِـ</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 أُوَازِنُ </a:t>
            </a:r>
            <a:pPr rtl="1" algn="ctr" indent="0" marL="0">
              <a:lnSpc>
                <a:spcPct val="120000"/>
              </a:lnSpc>
              <a:buNone/>
            </a:pPr>
            <a:r>
              <a:rPr lang="ar-SA" altLang="en-US" sz="1950" b="1" dirty="0">
                <a:solidFill>
                  <a:srgbClr val="0E7C86"/>
                </a:solidFill>
                <a:latin typeface="Amiri" pitchFamily="2" charset="-78"/>
                <a:ea typeface="Amiri" pitchFamily="2" charset="-78"/>
                <a:cs typeface="Amiri" pitchFamily="2" charset="-78"/>
              </a:rPr>
              <a:t>بَيْنَ</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47</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TE-L09 · Comparing Cultures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TE-L09</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a:t>
            </a:r>
            <a:pPr algn="l" indent="0" marL="0">
              <a:buNone/>
            </a:pPr>
            <a:r>
              <a:rPr lang="ar-SA" altLang="en-US" sz="1700" dirty="0">
                <a:solidFill>
                  <a:srgbClr val="1F2A37"/>
                </a:solidFill>
                <a:latin typeface="Amiri" pitchFamily="2" charset="-78"/>
                <a:ea typeface="Amiri" pitchFamily="2" charset="-78"/>
                <a:cs typeface="Amiri" pitchFamily="2" charset="-78"/>
              </a:rPr>
              <a:t>يَنْتَمِي إِلَى</a:t>
            </a:r>
            <a:pPr algn="l" indent="0" marL="0">
              <a:buNone/>
            </a:pPr>
            <a:r>
              <a:rPr lang="en-US" sz="1300" dirty="0">
                <a:solidFill>
                  <a:srgbClr val="1F2A37"/>
                </a:solidFill>
                <a:latin typeface="Calibri" pitchFamily="34" charset="0"/>
                <a:cs typeface="Amiri" pitchFamily="2" charset="-78"/>
              </a:rPr>
              <a:t> · </a:t>
            </a:r>
            <a:pPr algn="l" indent="0" marL="0">
              <a:buNone/>
            </a:pPr>
            <a:r>
              <a:rPr lang="ar-SA" altLang="en-US" sz="1700" dirty="0">
                <a:solidFill>
                  <a:srgbClr val="1F2A37"/>
                </a:solidFill>
                <a:latin typeface="Amiri" pitchFamily="2" charset="-78"/>
                <a:ea typeface="Amiri" pitchFamily="2" charset="-78"/>
                <a:cs typeface="Amiri" pitchFamily="2" charset="-78"/>
              </a:rPr>
              <a:t>يَتَكَيَّفُ مَعَ</a:t>
            </a:r>
            <a:pPr algn="l" indent="0" marL="0">
              <a:buNone/>
            </a:pPr>
            <a:r>
              <a:rPr lang="en-US" sz="1300" dirty="0">
                <a:solidFill>
                  <a:srgbClr val="1F2A37"/>
                </a:solidFill>
                <a:latin typeface="Calibri" pitchFamily="34" charset="0"/>
                <a:cs typeface="Amiri" pitchFamily="2" charset="-78"/>
              </a:rPr>
              <a:t> · </a:t>
            </a:r>
            <a:pPr algn="l" indent="0" marL="0">
              <a:buNone/>
            </a:pPr>
            <a:r>
              <a:rPr lang="ar-SA" altLang="en-US" sz="1700" dirty="0">
                <a:solidFill>
                  <a:srgbClr val="1F2A37"/>
                </a:solidFill>
                <a:latin typeface="Amiri" pitchFamily="2" charset="-78"/>
                <a:ea typeface="Amiri" pitchFamily="2" charset="-78"/>
                <a:cs typeface="Amiri" pitchFamily="2" charset="-78"/>
              </a:rPr>
              <a:t>يَحْتَفِظُ بِـ</a:t>
            </a:r>
            <a:pPr algn="l" indent="0" marL="0">
              <a:buNone/>
            </a:pPr>
            <a:r>
              <a:rPr lang="en-US" sz="1300" dirty="0">
                <a:solidFill>
                  <a:srgbClr val="1F2A37"/>
                </a:solidFill>
                <a:latin typeface="Calibri" pitchFamily="34" charset="0"/>
                <a:cs typeface="Amiri" pitchFamily="2" charset="-78"/>
              </a:rPr>
              <a:t> · </a:t>
            </a:r>
            <a:pPr algn="l" indent="0" marL="0">
              <a:buNone/>
            </a:pPr>
            <a:r>
              <a:rPr lang="ar-SA" altLang="en-US" sz="1700" dirty="0">
                <a:solidFill>
                  <a:srgbClr val="1F2A37"/>
                </a:solidFill>
                <a:latin typeface="Amiri" pitchFamily="2" charset="-78"/>
                <a:ea typeface="Amiri" pitchFamily="2" charset="-78"/>
                <a:cs typeface="Amiri" pitchFamily="2" charset="-78"/>
              </a:rPr>
              <a:t>يُوَازِنُ بَيْنَ</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Compare with </a:t>
            </a:r>
            <a:pPr algn="l" indent="0" marL="0">
              <a:buNone/>
            </a:pPr>
            <a:r>
              <a:rPr lang="ar-SA" altLang="en-US" sz="1700" dirty="0">
                <a:solidFill>
                  <a:srgbClr val="1F2A37"/>
                </a:solidFill>
                <a:latin typeface="Amiri" pitchFamily="2" charset="-78"/>
                <a:ea typeface="Amiri" pitchFamily="2" charset="-78"/>
                <a:cs typeface="Amiri" pitchFamily="2" charset="-78"/>
              </a:rPr>
              <a:t>أَفْعَلُ مِنْ</a:t>
            </a:r>
            <a:pPr algn="l" indent="0" marL="0">
              <a:buNone/>
            </a:pPr>
            <a:r>
              <a:rPr lang="en-US" sz="1300" dirty="0">
                <a:solidFill>
                  <a:srgbClr val="1F2A37"/>
                </a:solidFill>
                <a:latin typeface="Calibri" pitchFamily="34" charset="0"/>
                <a:cs typeface="Amiri" pitchFamily="2" charset="-78"/>
              </a:rPr>
              <a:t> (</a:t>
            </a:r>
            <a:pPr algn="l" indent="0" marL="0">
              <a:buNone/>
            </a:pPr>
            <a:r>
              <a:rPr lang="ar-SA" altLang="en-US" sz="1700" dirty="0">
                <a:solidFill>
                  <a:srgbClr val="1F2A37"/>
                </a:solidFill>
                <a:latin typeface="Amiri" pitchFamily="2" charset="-78"/>
                <a:ea typeface="Amiri" pitchFamily="2" charset="-78"/>
                <a:cs typeface="Amiri" pitchFamily="2" charset="-78"/>
              </a:rPr>
              <a:t>أَكْبَرُ مِنْ</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Compare with </a:t>
            </a:r>
            <a:pPr algn="l" indent="0" marL="0">
              <a:buNone/>
            </a:pPr>
            <a:r>
              <a:rPr lang="ar-SA" altLang="en-US" sz="1700" dirty="0">
                <a:solidFill>
                  <a:srgbClr val="1F2A37"/>
                </a:solidFill>
                <a:latin typeface="Amiri" pitchFamily="2" charset="-78"/>
                <a:ea typeface="Amiri" pitchFamily="2" charset="-78"/>
                <a:cs typeface="Amiri" pitchFamily="2" charset="-78"/>
              </a:rPr>
              <a:t>أَكْثَرُ / أَقَلُّ</a:t>
            </a:r>
            <a:pPr algn="l" indent="0" marL="0">
              <a:buNone/>
            </a:pPr>
            <a:r>
              <a:rPr lang="en-US" sz="1300" dirty="0">
                <a:solidFill>
                  <a:srgbClr val="1F2A37"/>
                </a:solidFill>
                <a:latin typeface="Calibri" pitchFamily="34" charset="0"/>
                <a:cs typeface="Amiri" pitchFamily="2" charset="-78"/>
              </a:rPr>
              <a:t> + accusative noun + </a:t>
            </a:r>
            <a:pPr algn="l" indent="0" marL="0">
              <a:buNone/>
            </a:pPr>
            <a:r>
              <a:rPr lang="ar-SA" altLang="en-US" sz="1700" dirty="0">
                <a:solidFill>
                  <a:srgbClr val="1F2A37"/>
                </a:solidFill>
                <a:latin typeface="Amiri" pitchFamily="2" charset="-78"/>
                <a:ea typeface="Amiri" pitchFamily="2" charset="-78"/>
                <a:cs typeface="Amiri" pitchFamily="2" charset="-78"/>
              </a:rPr>
              <a:t>مِنْ</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Describe dual identity in a balanced, non-simplified way.</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say where I and my family belong.</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use the four verbs with their prepositions.</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compare two cities with </a:t>
            </a:r>
            <a:pPr algn="l" indent="0" marL="0">
              <a:buNone/>
            </a:pPr>
            <a:r>
              <a:rPr lang="ar-SA" altLang="en-US" sz="1700" b="1" dirty="0">
                <a:solidFill>
                  <a:srgbClr val="C9780A"/>
                </a:solidFill>
                <a:latin typeface="Amiri" pitchFamily="2" charset="-78"/>
                <a:ea typeface="Amiri" pitchFamily="2" charset="-78"/>
                <a:cs typeface="Amiri" pitchFamily="2" charset="-78"/>
              </a:rPr>
              <a:t>أَكْبَرُ مِنْ / أَكْثَرُ … مِنْ</a:t>
            </a:r>
            <a:pPr algn="l" indent="0" marL="0">
              <a:buNone/>
            </a:pPr>
            <a:r>
              <a:rPr lang="en-US" sz="1300" b="1" dirty="0">
                <a:solidFill>
                  <a:srgbClr val="C9780A"/>
                </a:solidFill>
                <a:latin typeface="Calibri" pitchFamily="34" charset="0"/>
                <a:cs typeface="Amiri" pitchFamily="2" charset="-78"/>
              </a:rPr>
              <a:t>.</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contrast home and school with </a:t>
            </a:r>
            <a:pPr algn="l" indent="0" marL="0">
              <a:buNone/>
            </a:pPr>
            <a:r>
              <a:rPr lang="ar-SA" altLang="en-US" sz="1700" b="1" dirty="0">
                <a:solidFill>
                  <a:srgbClr val="C9780A"/>
                </a:solidFill>
                <a:latin typeface="Amiri" pitchFamily="2" charset="-78"/>
                <a:ea typeface="Amiri" pitchFamily="2" charset="-78"/>
                <a:cs typeface="Amiri" pitchFamily="2" charset="-78"/>
              </a:rPr>
              <a:t>بَيْنَمَا</a:t>
            </a:r>
            <a:pPr algn="l" indent="0" marL="0">
              <a:buNone/>
            </a:pPr>
            <a:r>
              <a:rPr lang="en-US" sz="1300" b="1" dirty="0">
                <a:solidFill>
                  <a:srgbClr val="C9780A"/>
                </a:solidFill>
                <a:latin typeface="Calibri" pitchFamily="34" charset="0"/>
                <a:cs typeface="Amiri" pitchFamily="2" charset="-78"/>
              </a:rPr>
              <a:t>.</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describe dual identity in a balanced way.</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explain </a:t>
            </a:r>
            <a:pPr algn="l" indent="0" marL="0">
              <a:buNone/>
            </a:pPr>
            <a:r>
              <a:rPr lang="ar-SA" altLang="en-US" sz="1700" b="1" dirty="0">
                <a:solidFill>
                  <a:srgbClr val="B83227"/>
                </a:solidFill>
                <a:latin typeface="Amiri" pitchFamily="2" charset="-78"/>
                <a:ea typeface="Amiri" pitchFamily="2" charset="-78"/>
                <a:cs typeface="Amiri" pitchFamily="2" charset="-78"/>
              </a:rPr>
              <a:t>مُهَاجِرٌ</a:t>
            </a:r>
            <a:pPr algn="l" indent="0" marL="0">
              <a:buNone/>
            </a:pPr>
            <a:r>
              <a:rPr lang="en-US" sz="1300" b="1" dirty="0">
                <a:solidFill>
                  <a:srgbClr val="B83227"/>
                </a:solidFill>
                <a:latin typeface="Calibri" pitchFamily="34" charset="0"/>
                <a:cs typeface="Amiri" pitchFamily="2" charset="-78"/>
              </a:rPr>
              <a:t> vs </a:t>
            </a:r>
            <a:pPr algn="l" indent="0" marL="0">
              <a:buNone/>
            </a:pPr>
            <a:r>
              <a:rPr lang="ar-SA" altLang="en-US" sz="1700" b="1" dirty="0">
                <a:solidFill>
                  <a:srgbClr val="B83227"/>
                </a:solidFill>
                <a:latin typeface="Amiri" pitchFamily="2" charset="-78"/>
                <a:ea typeface="Amiri" pitchFamily="2" charset="-78"/>
                <a:cs typeface="Amiri" pitchFamily="2" charset="-78"/>
              </a:rPr>
              <a:t>لَاجِئٌ</a:t>
            </a:r>
            <a:pPr algn="l" indent="0" marL="0">
              <a:buNone/>
            </a:pPr>
            <a:r>
              <a:rPr lang="en-US" sz="1300" b="1" dirty="0">
                <a:solidFill>
                  <a:srgbClr val="B83227"/>
                </a:solidFill>
                <a:latin typeface="Calibri" pitchFamily="34" charset="0"/>
                <a:cs typeface="Amiri" pitchFamily="2" charset="-78"/>
              </a:rPr>
              <a:t>.</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47</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26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People and communities · 8</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Belonging and identity · 9</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Verbs and comparison · 9</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مُهَاجِرٌ / هِجْرَةٌ</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‎مہاجر / ہجرت‎ </a:t>
            </a:r>
            <a:pPr indent="0" marL="0">
              <a:buNone/>
            </a:pPr>
            <a:r>
              <a:rPr lang="en-US" sz="950" b="1" dirty="0">
                <a:solidFill>
                  <a:srgbClr val="2E8B57"/>
                </a:solidFill>
                <a:latin typeface="Calibri" pitchFamily="34" charset="0"/>
                <a:cs typeface="Amiri" pitchFamily="2" charset="-78"/>
              </a:rPr>
              <a:t> muhājir / hijrat · migrant / migration (also the Prophet’s Hijra)</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وَطَنٌ</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‎وطن‎ </a:t>
            </a:r>
            <a:pPr indent="0" marL="0">
              <a:buNone/>
            </a:pPr>
            <a:r>
              <a:rPr lang="en-US" sz="950" b="1" dirty="0">
                <a:solidFill>
                  <a:srgbClr val="2E8B57"/>
                </a:solidFill>
                <a:latin typeface="Calibri" pitchFamily="34" charset="0"/>
                <a:cs typeface="Amiri" pitchFamily="2" charset="-78"/>
              </a:rPr>
              <a:t> waṭan · homeland</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غُرْبَةٌ</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‎غربت / پردیس‎ </a:t>
            </a:r>
            <a:pPr indent="0" marL="0">
              <a:buNone/>
            </a:pPr>
            <a:r>
              <a:rPr lang="ar-SA" sz="950" b="1" dirty="0">
                <a:solidFill>
                  <a:srgbClr val="2E8B57"/>
                </a:solidFill>
                <a:latin typeface="Calibri" pitchFamily="34" charset="0"/>
                <a:ea typeface="Amiri" pitchFamily="2" charset="-78"/>
                <a:cs typeface="Amiri" pitchFamily="2" charset="-78"/>
              </a:rPr>
              <a:t> pardēs · Urdu غربت: poverty · Arabic غُرْبَةٌ: being far from home</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حَنِينٌ</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‎یاد / تڑپ‎ </a:t>
            </a:r>
            <a:pPr indent="0" marL="0">
              <a:buNone/>
            </a:pPr>
            <a:r>
              <a:rPr lang="en-US" sz="950" b="1" dirty="0">
                <a:solidFill>
                  <a:srgbClr val="2E8B57"/>
                </a:solidFill>
                <a:latin typeface="Calibri" pitchFamily="34" charset="0"/>
                <a:cs typeface="Amiri" pitchFamily="2" charset="-78"/>
              </a:rPr>
              <a:t> yād · longing, nostalgia</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جِنْسِيَّةٌ مُزْدَوَجَةٌ</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‎دوہری شہریت‎ </a:t>
            </a:r>
            <a:pPr indent="0" marL="0">
              <a:buNone/>
            </a:pPr>
            <a:r>
              <a:rPr lang="en-US" sz="950" b="1" dirty="0">
                <a:solidFill>
                  <a:srgbClr val="2E8B57"/>
                </a:solidFill>
                <a:latin typeface="Calibri" pitchFamily="34" charset="0"/>
                <a:cs typeface="Amiri" pitchFamily="2" charset="-78"/>
              </a:rPr>
              <a:t> dohrī shahriyat · dual nationality</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TE-L09 · Comparing Cultures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People and communities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TE-L09</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جَالِيَةٌ عَرَبِيَّةٌ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an Arab community abroad</a:t>
            </a:r>
            <a:endParaRPr lang="en-US" sz="1350" dirty="0"/>
          </a:p>
          <a:p>
            <a:pPr indent="0" marL="0">
              <a:buNone/>
            </a:pPr>
            <a:r>
              <a:rPr lang="en-US" sz="1100" i="1" dirty="0">
                <a:solidFill>
                  <a:srgbClr val="5A6472"/>
                </a:solidFill>
                <a:latin typeface="Calibri" pitchFamily="34" charset="0"/>
                <a:cs typeface="Amiri" pitchFamily="2" charset="-78"/>
              </a:rPr>
              <a:t>jā-li-ya-tun ʿa-ra-biy-ya-tun</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8284464"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جَالِيَاتٌ عَرَبِيَّةٌ</a:t>
            </a:r>
            <a:endParaRPr lang="ar-SA" sz="150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0" name="Shape 27"/>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32" name="Shape 29"/>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مُهَاجِرٌ / مُهَاجِرَةٌ</a:t>
            </a:r>
            <a:endParaRPr lang="ar-SA" sz="3000" dirty="0"/>
          </a:p>
        </p:txBody>
      </p:sp>
      <p:sp>
        <p:nvSpPr>
          <p:cNvPr id="35" name="Text 32"/>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migrant (m. / f.)</a:t>
            </a:r>
            <a:endParaRPr lang="en-US" sz="1350" dirty="0"/>
          </a:p>
          <a:p>
            <a:pPr indent="0" marL="0">
              <a:buNone/>
            </a:pPr>
            <a:r>
              <a:rPr lang="en-US" sz="1100" i="1" dirty="0">
                <a:solidFill>
                  <a:srgbClr val="5A6472"/>
                </a:solidFill>
                <a:latin typeface="Calibri" pitchFamily="34" charset="0"/>
                <a:cs typeface="Amiri" pitchFamily="2" charset="-78"/>
              </a:rPr>
              <a:t>mu-hā-ji-run / mu-hā-ji-ra-tun</a:t>
            </a:r>
            <a:endParaRPr lang="en-US" sz="1350" dirty="0"/>
          </a:p>
        </p:txBody>
      </p:sp>
      <p:sp>
        <p:nvSpPr>
          <p:cNvPr id="36" name="Shape 33"/>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7" name="Text 34"/>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8" name="Text 35"/>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مُهَاجِرُونَ</a:t>
            </a:r>
            <a:endParaRPr lang="ar-SA" sz="1500" dirty="0"/>
          </a:p>
        </p:txBody>
      </p:sp>
      <p:sp>
        <p:nvSpPr>
          <p:cNvPr id="39" name="Shape 3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66928" y="1920240"/>
            <a:ext cx="310896" cy="310896"/>
          </a:xfrm>
          <a:prstGeom prst="ellipse">
            <a:avLst/>
          </a:prstGeom>
          <a:solidFill>
            <a:srgbClr val="F4F1EA"/>
          </a:solidFill>
          <a:ln w="12700">
            <a:solidFill>
              <a:srgbClr val="F4F1EA"/>
            </a:solidFill>
            <a:prstDash val="solid"/>
          </a:ln>
        </p:spPr>
      </p:sp>
      <p:sp>
        <p:nvSpPr>
          <p:cNvPr id="41" name="Text 3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2" name="Shape 39"/>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43" name="Text 40"/>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44" name="Shape 4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لَاجِئٌ / لَاجِئَةٌ</a:t>
            </a:r>
            <a:endParaRPr lang="ar-SA" sz="3000" dirty="0"/>
          </a:p>
        </p:txBody>
      </p:sp>
      <p:sp>
        <p:nvSpPr>
          <p:cNvPr id="47" name="Text 44"/>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refugee (m. / f.)</a:t>
            </a:r>
            <a:endParaRPr lang="en-US" sz="1350" dirty="0"/>
          </a:p>
          <a:p>
            <a:pPr indent="0" marL="0">
              <a:buNone/>
            </a:pPr>
            <a:r>
              <a:rPr lang="en-US" sz="1100" i="1" dirty="0">
                <a:solidFill>
                  <a:srgbClr val="5A6472"/>
                </a:solidFill>
                <a:latin typeface="Calibri" pitchFamily="34" charset="0"/>
                <a:cs typeface="Amiri" pitchFamily="2" charset="-78"/>
              </a:rPr>
              <a:t>lā-ji-ʾun / lā-ji-ʾa-tun</a:t>
            </a:r>
            <a:endParaRPr lang="en-US" sz="1350" dirty="0"/>
          </a:p>
        </p:txBody>
      </p:sp>
      <p:sp>
        <p:nvSpPr>
          <p:cNvPr id="48" name="Shape 45"/>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0" name="Text 47"/>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لَاجِئُونَ</a:t>
            </a:r>
            <a:endParaRPr lang="ar-SA" sz="1500" dirty="0"/>
          </a:p>
        </p:txBody>
      </p:sp>
      <p:sp>
        <p:nvSpPr>
          <p:cNvPr id="51" name="Shape 4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8211312" y="4261104"/>
            <a:ext cx="310896" cy="310896"/>
          </a:xfrm>
          <a:prstGeom prst="ellipse">
            <a:avLst/>
          </a:prstGeom>
          <a:solidFill>
            <a:srgbClr val="F4F1EA"/>
          </a:solidFill>
          <a:ln w="12700">
            <a:solidFill>
              <a:srgbClr val="F4F1EA"/>
            </a:solidFill>
            <a:prstDash val="solid"/>
          </a:ln>
        </p:spPr>
      </p:sp>
      <p:sp>
        <p:nvSpPr>
          <p:cNvPr id="53" name="Text 5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54" name="Shape 51"/>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56" name="Text 53"/>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مُوَاطِنٌ / مُوَاطِنَةٌ</a:t>
            </a:r>
            <a:endParaRPr lang="ar-SA" sz="3000" dirty="0"/>
          </a:p>
        </p:txBody>
      </p:sp>
      <p:sp>
        <p:nvSpPr>
          <p:cNvPr id="57" name="Text 54"/>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citizen (m. / f.)</a:t>
            </a:r>
            <a:endParaRPr lang="en-US" sz="1350" dirty="0"/>
          </a:p>
          <a:p>
            <a:pPr indent="0" marL="0">
              <a:buNone/>
            </a:pPr>
            <a:r>
              <a:rPr lang="en-US" sz="1100" i="1" dirty="0">
                <a:solidFill>
                  <a:srgbClr val="5A6472"/>
                </a:solidFill>
                <a:latin typeface="Calibri" pitchFamily="34" charset="0"/>
                <a:cs typeface="Amiri" pitchFamily="2" charset="-78"/>
              </a:rPr>
              <a:t>mu-wā-ṭi-nun / mu-wā-ṭi-na-tun</a:t>
            </a:r>
            <a:endParaRPr lang="en-US" sz="1350" dirty="0"/>
          </a:p>
        </p:txBody>
      </p:sp>
      <p:sp>
        <p:nvSpPr>
          <p:cNvPr id="58" name="Shape 55"/>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59" name="Text 56"/>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0" name="Text 57"/>
          <p:cNvSpPr txBox="1"/>
          <p:nvPr/>
        </p:nvSpPr>
        <p:spPr>
          <a:xfrm>
            <a:off x="8284464"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مُوَاطِنُونَ</a:t>
            </a:r>
            <a:endParaRPr lang="ar-SA" sz="150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47</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TE-L09 · Comparing Cultures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People and communities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TE-L09</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الشَّتَاتُ</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diaspora</a:t>
            </a:r>
            <a:endParaRPr lang="en-US" sz="1350" dirty="0"/>
          </a:p>
          <a:p>
            <a:pPr indent="0" marL="0">
              <a:buNone/>
            </a:pPr>
            <a:r>
              <a:rPr lang="en-US" sz="1100" i="1" dirty="0">
                <a:solidFill>
                  <a:srgbClr val="5A6472"/>
                </a:solidFill>
                <a:latin typeface="Calibri" pitchFamily="34" charset="0"/>
                <a:cs typeface="Amiri" pitchFamily="2" charset="-78"/>
              </a:rPr>
              <a:t>ash-sha-tā-tu</a:t>
            </a:r>
            <a:endParaRPr lang="en-US" sz="1350" dirty="0"/>
          </a:p>
        </p:txBody>
      </p:sp>
      <p:sp>
        <p:nvSpPr>
          <p:cNvPr id="20" name="Text 17"/>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ar-SA" altLang="en-US" sz="1300" dirty="0">
                <a:solidFill>
                  <a:srgbClr val="8A6D1E"/>
                </a:solidFill>
                <a:latin typeface="Amiri" pitchFamily="2" charset="-78"/>
                <a:ea typeface="Amiri" pitchFamily="2" charset="-78"/>
                <a:cs typeface="Amiri" pitchFamily="2" charset="-78"/>
              </a:rPr>
              <a:t>فِي الشَّتَاتِ</a:t>
            </a:r>
            <a:pPr algn="l" indent="0" marL="0">
              <a:buNone/>
            </a:pPr>
            <a:r>
              <a:rPr lang="en-US" sz="1000" i="1" dirty="0">
                <a:solidFill>
                  <a:srgbClr val="8A6D1E"/>
                </a:solidFill>
                <a:latin typeface="Calibri" pitchFamily="34" charset="0"/>
                <a:cs typeface="Amiri" pitchFamily="2" charset="-78"/>
              </a:rPr>
              <a:t> — in the diaspora.</a:t>
            </a:r>
            <a:endParaRPr lang="en-US" sz="1000" dirty="0"/>
          </a:p>
        </p:txBody>
      </p:sp>
      <p:sp>
        <p:nvSpPr>
          <p:cNvPr id="21" name="Shape 18"/>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Shape 19"/>
          <p:cNvSpPr/>
          <p:nvPr/>
        </p:nvSpPr>
        <p:spPr>
          <a:xfrm>
            <a:off x="4389120" y="1920240"/>
            <a:ext cx="310896" cy="310896"/>
          </a:xfrm>
          <a:prstGeom prst="ellipse">
            <a:avLst/>
          </a:prstGeom>
          <a:solidFill>
            <a:srgbClr val="F4F1EA"/>
          </a:solidFill>
          <a:ln w="12700">
            <a:solidFill>
              <a:srgbClr val="F4F1EA"/>
            </a:solidFill>
            <a:prstDash val="solid"/>
          </a:ln>
        </p:spPr>
      </p:sp>
      <p:sp>
        <p:nvSpPr>
          <p:cNvPr id="23" name="Text 20"/>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24" name="Shape 21"/>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5" name="Text 22"/>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6" name="Text 23"/>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الجِيلُ الثَّانِي</a:t>
            </a:r>
            <a:endParaRPr lang="ar-SA" sz="3000" dirty="0"/>
          </a:p>
        </p:txBody>
      </p:sp>
      <p:sp>
        <p:nvSpPr>
          <p:cNvPr id="27" name="Text 24"/>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second generation</a:t>
            </a:r>
            <a:endParaRPr lang="en-US" sz="1350" dirty="0"/>
          </a:p>
          <a:p>
            <a:pPr indent="0" marL="0">
              <a:buNone/>
            </a:pPr>
            <a:r>
              <a:rPr lang="en-US" sz="1100" i="1" dirty="0">
                <a:solidFill>
                  <a:srgbClr val="5A6472"/>
                </a:solidFill>
                <a:latin typeface="Calibri" pitchFamily="34" charset="0"/>
                <a:cs typeface="Amiri" pitchFamily="2" charset="-78"/>
              </a:rPr>
              <a:t>al-jī-lu ath-thā-nī</a:t>
            </a:r>
            <a:endParaRPr lang="en-US" sz="1350" dirty="0"/>
          </a:p>
        </p:txBody>
      </p:sp>
      <p:sp>
        <p:nvSpPr>
          <p:cNvPr id="28" name="Shape 25"/>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566928" y="1920240"/>
            <a:ext cx="310896" cy="310896"/>
          </a:xfrm>
          <a:prstGeom prst="ellipse">
            <a:avLst/>
          </a:prstGeom>
          <a:solidFill>
            <a:srgbClr val="F4F1EA"/>
          </a:solidFill>
          <a:ln w="12700">
            <a:solidFill>
              <a:srgbClr val="F4F1EA"/>
            </a:solidFill>
            <a:prstDash val="solid"/>
          </a:ln>
        </p:spPr>
      </p:sp>
      <p:sp>
        <p:nvSpPr>
          <p:cNvPr id="30" name="Text 27"/>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31" name="Text 28"/>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مُجْتَمَعٌ مُتَعَدِّدُ الثَّقَافَاتِ</a:t>
            </a:r>
            <a:endParaRPr lang="ar-SA" sz="3000" dirty="0"/>
          </a:p>
        </p:txBody>
      </p:sp>
      <p:sp>
        <p:nvSpPr>
          <p:cNvPr id="32" name="Text 29"/>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multicultural society</a:t>
            </a:r>
            <a:endParaRPr lang="en-US" sz="1350" dirty="0"/>
          </a:p>
          <a:p>
            <a:pPr indent="0" marL="0">
              <a:buNone/>
            </a:pPr>
            <a:r>
              <a:rPr lang="en-US" sz="1100" i="1" dirty="0">
                <a:solidFill>
                  <a:srgbClr val="5A6472"/>
                </a:solidFill>
                <a:latin typeface="Calibri" pitchFamily="34" charset="0"/>
                <a:cs typeface="Amiri" pitchFamily="2" charset="-78"/>
              </a:rPr>
              <a:t>muj-ta-ma-ʿun mu-ta-ʿad-di-du ath-tha-qā-fā-ti</a:t>
            </a:r>
            <a:endParaRPr lang="en-US" sz="1350" dirty="0"/>
          </a:p>
        </p:txBody>
      </p:sp>
      <p:sp>
        <p:nvSpPr>
          <p:cNvPr id="33" name="Shape 30"/>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8211312" y="4261104"/>
            <a:ext cx="310896" cy="310896"/>
          </a:xfrm>
          <a:prstGeom prst="ellipse">
            <a:avLst/>
          </a:prstGeom>
          <a:solidFill>
            <a:srgbClr val="F4F1EA"/>
          </a:solidFill>
          <a:ln w="12700">
            <a:solidFill>
              <a:srgbClr val="F4F1EA"/>
            </a:solidFill>
            <a:prstDash val="solid"/>
          </a:ln>
        </p:spPr>
      </p:sp>
      <p:sp>
        <p:nvSpPr>
          <p:cNvPr id="35" name="Text 32"/>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6" name="Text 33"/>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مُزْدَوَجُ الجِنْسِيَّةِ</a:t>
            </a:r>
            <a:endParaRPr lang="ar-SA" sz="3000" dirty="0"/>
          </a:p>
        </p:txBody>
      </p:sp>
      <p:sp>
        <p:nvSpPr>
          <p:cNvPr id="37" name="Text 34"/>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of dual nationality</a:t>
            </a:r>
            <a:endParaRPr lang="en-US" sz="1350" dirty="0"/>
          </a:p>
          <a:p>
            <a:pPr indent="0" marL="0">
              <a:buNone/>
            </a:pPr>
            <a:r>
              <a:rPr lang="en-US" sz="1100" i="1" dirty="0">
                <a:solidFill>
                  <a:srgbClr val="5A6472"/>
                </a:solidFill>
                <a:latin typeface="Calibri" pitchFamily="34" charset="0"/>
                <a:cs typeface="Amiri" pitchFamily="2" charset="-78"/>
              </a:rPr>
              <a:t>muz-da-wa-ju al-jin-siy-ya-ti</a:t>
            </a:r>
            <a:endParaRPr lang="en-US" sz="135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47</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TE-L09 · Comparing Cultures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Belonging and identity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TE-L09</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18" name="Shape 15"/>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Masculine.</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الانْتِمَاءُ</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belonging</a:t>
            </a:r>
            <a:endParaRPr lang="en-US" sz="1350" dirty="0"/>
          </a:p>
          <a:p>
            <a:pPr indent="0" marL="0">
              <a:buNone/>
            </a:pPr>
            <a:r>
              <a:rPr lang="en-US" sz="1100" i="1" dirty="0">
                <a:solidFill>
                  <a:srgbClr val="5A6472"/>
                </a:solidFill>
                <a:latin typeface="Calibri" pitchFamily="34" charset="0"/>
                <a:cs typeface="Amiri" pitchFamily="2" charset="-78"/>
              </a:rPr>
              <a:t>aln-ti-mā-ʾu</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27" name="Shape 24"/>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9" name="Text 26"/>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هُوِيَّةٌ مُزْدَوَجَةٌ</a:t>
            </a:r>
            <a:endParaRPr lang="ar-SA" sz="3000" dirty="0"/>
          </a:p>
        </p:txBody>
      </p:sp>
      <p:sp>
        <p:nvSpPr>
          <p:cNvPr id="30" name="Text 27"/>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dual identity</a:t>
            </a:r>
            <a:endParaRPr lang="en-US" sz="1350" dirty="0"/>
          </a:p>
          <a:p>
            <a:pPr indent="0" marL="0">
              <a:buNone/>
            </a:pPr>
            <a:r>
              <a:rPr lang="en-US" sz="1100" i="1" dirty="0">
                <a:solidFill>
                  <a:srgbClr val="5A6472"/>
                </a:solidFill>
                <a:latin typeface="Calibri" pitchFamily="34" charset="0"/>
                <a:cs typeface="Amiri" pitchFamily="2" charset="-78"/>
              </a:rPr>
              <a:t>hu-wiy-ya-tun muz-da-wa-ja-tun</a:t>
            </a:r>
            <a:endParaRPr lang="en-US" sz="135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34" name="Shape 31"/>
          <p:cNvSpPr/>
          <p:nvPr/>
        </p:nvSpPr>
        <p:spPr>
          <a:xfrm>
            <a:off x="960120" y="1938528"/>
            <a:ext cx="1331366" cy="256032"/>
          </a:xfrm>
          <a:prstGeom prst="roundRect">
            <a:avLst>
              <a:gd name="adj" fmla="val 50000"/>
            </a:avLst>
          </a:prstGeom>
          <a:solidFill>
            <a:srgbClr val="EFE7D2"/>
          </a:solidFill>
          <a:ln w="12700">
            <a:solidFill>
              <a:srgbClr val="EFE7D2"/>
            </a:solidFill>
            <a:prstDash val="solid"/>
          </a:ln>
        </p:spPr>
      </p:sp>
      <p:sp>
        <p:nvSpPr>
          <p:cNvPr id="35" name="Text 32"/>
          <p:cNvSpPr txBox="1"/>
          <p:nvPr/>
        </p:nvSpPr>
        <p:spPr>
          <a:xfrm>
            <a:off x="960120" y="1938528"/>
            <a:ext cx="1331366" cy="256032"/>
          </a:xfrm>
          <a:prstGeom prst="rect">
            <a:avLst/>
          </a:prstGeom>
          <a:noFill/>
          <a:ln/>
        </p:spPr>
        <p:txBody>
          <a:bodyPr wrap="square" lIns="0" tIns="0" rIns="0" bIns="0" rtlCol="0" anchor="ctr"/>
          <a:lstStyle/>
          <a:p>
            <a:pPr algn="ctr" indent="0" marL="0">
              <a:buNone/>
            </a:pPr>
            <a:r>
              <a:rPr lang="ar-SA" sz="800" b="1" dirty="0">
                <a:solidFill>
                  <a:srgbClr val="8A6D1E"/>
                </a:solidFill>
                <a:latin typeface="Calibri" pitchFamily="34" charset="0"/>
                <a:ea typeface="Amiri" pitchFamily="2" charset="-78"/>
                <a:cs typeface="Amiri" pitchFamily="2" charset="-78"/>
              </a:rPr>
              <a:t>Plural of جِذْرٌ.</a:t>
            </a:r>
            <a:endParaRPr lang="en-US" sz="800" dirty="0"/>
          </a:p>
        </p:txBody>
      </p:sp>
      <p:sp>
        <p:nvSpPr>
          <p:cNvPr id="36" name="Text 3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جُذُورٌ</a:t>
            </a:r>
            <a:endParaRPr lang="ar-SA" sz="3000" dirty="0"/>
          </a:p>
        </p:txBody>
      </p:sp>
      <p:sp>
        <p:nvSpPr>
          <p:cNvPr id="37" name="Text 3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roots</a:t>
            </a:r>
            <a:endParaRPr lang="en-US" sz="1350" dirty="0"/>
          </a:p>
          <a:p>
            <a:pPr indent="0" marL="0">
              <a:buNone/>
            </a:pPr>
            <a:r>
              <a:rPr lang="en-US" sz="1100" i="1" dirty="0">
                <a:solidFill>
                  <a:srgbClr val="5A6472"/>
                </a:solidFill>
                <a:latin typeface="Calibri" pitchFamily="34" charset="0"/>
                <a:cs typeface="Amiri" pitchFamily="2" charset="-78"/>
              </a:rPr>
              <a:t>ju-dhū-run</a:t>
            </a:r>
            <a:endParaRPr lang="en-US" sz="1350" dirty="0"/>
          </a:p>
        </p:txBody>
      </p:sp>
      <p:sp>
        <p:nvSpPr>
          <p:cNvPr id="38" name="Shape 35"/>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8211312" y="4261104"/>
            <a:ext cx="310896" cy="310896"/>
          </a:xfrm>
          <a:prstGeom prst="ellipse">
            <a:avLst/>
          </a:prstGeom>
          <a:solidFill>
            <a:srgbClr val="F4F1EA"/>
          </a:solidFill>
          <a:ln w="12700">
            <a:solidFill>
              <a:srgbClr val="F4F1EA"/>
            </a:solidFill>
            <a:prstDash val="solid"/>
          </a:ln>
        </p:spPr>
      </p:sp>
      <p:sp>
        <p:nvSpPr>
          <p:cNvPr id="40" name="Text 37"/>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41" name="Shape 38"/>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42" name="Text 39"/>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Masculine.</a:t>
            </a:r>
            <a:endParaRPr lang="en-US" sz="800" dirty="0"/>
          </a:p>
        </p:txBody>
      </p:sp>
      <p:sp>
        <p:nvSpPr>
          <p:cNvPr id="43" name="Text 40"/>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إِرْثٌ ثَقَافِيٌّ</a:t>
            </a:r>
            <a:endParaRPr lang="ar-SA" sz="3000" dirty="0"/>
          </a:p>
        </p:txBody>
      </p:sp>
      <p:sp>
        <p:nvSpPr>
          <p:cNvPr id="44" name="Text 41"/>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cultural heritage</a:t>
            </a:r>
            <a:endParaRPr lang="en-US" sz="1350" dirty="0"/>
          </a:p>
          <a:p>
            <a:pPr indent="0" marL="0">
              <a:buNone/>
            </a:pPr>
            <a:r>
              <a:rPr lang="en-US" sz="1100" i="1" dirty="0">
                <a:solidFill>
                  <a:srgbClr val="5A6472"/>
                </a:solidFill>
                <a:latin typeface="Calibri" pitchFamily="34" charset="0"/>
                <a:cs typeface="Amiri" pitchFamily="2" charset="-78"/>
              </a:rPr>
              <a:t>ir-thun tha-qā-fiy-yun</a:t>
            </a:r>
            <a:endParaRPr lang="en-US" sz="1350" dirty="0"/>
          </a:p>
        </p:txBody>
      </p:sp>
      <p:sp>
        <p:nvSpPr>
          <p:cNvPr id="45" name="Shape 4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4389120" y="4261104"/>
            <a:ext cx="310896" cy="310896"/>
          </a:xfrm>
          <a:prstGeom prst="ellipse">
            <a:avLst/>
          </a:prstGeom>
          <a:solidFill>
            <a:srgbClr val="F4F1EA"/>
          </a:solidFill>
          <a:ln w="12700">
            <a:solidFill>
              <a:srgbClr val="F4F1EA"/>
            </a:solidFill>
            <a:prstDash val="solid"/>
          </a:ln>
        </p:spPr>
      </p:sp>
      <p:sp>
        <p:nvSpPr>
          <p:cNvPr id="47" name="Text 4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48" name="Shape 45"/>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حَنِينٌ</a:t>
            </a:r>
            <a:endParaRPr lang="ar-SA" sz="3000" dirty="0"/>
          </a:p>
        </p:txBody>
      </p:sp>
      <p:sp>
        <p:nvSpPr>
          <p:cNvPr id="51" name="Text 4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nostalgia, longing</a:t>
            </a:r>
            <a:endParaRPr lang="en-US" sz="1350" dirty="0"/>
          </a:p>
          <a:p>
            <a:pPr indent="0" marL="0">
              <a:buNone/>
            </a:pPr>
            <a:r>
              <a:rPr lang="en-US" sz="1100" i="1" dirty="0">
                <a:solidFill>
                  <a:srgbClr val="5A6472"/>
                </a:solidFill>
                <a:latin typeface="Calibri" pitchFamily="34" charset="0"/>
                <a:cs typeface="Amiri" pitchFamily="2" charset="-78"/>
              </a:rPr>
              <a:t>ḥa-nī-nun</a:t>
            </a:r>
            <a:endParaRPr lang="en-US" sz="1350" dirty="0"/>
          </a:p>
        </p:txBody>
      </p:sp>
      <p:sp>
        <p:nvSpPr>
          <p:cNvPr id="52" name="Text 49"/>
          <p:cNvSpPr txBox="1"/>
          <p:nvPr/>
        </p:nvSpPr>
        <p:spPr>
          <a:xfrm>
            <a:off x="4416552"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Masculine; </a:t>
            </a:r>
            <a:pPr algn="l" indent="0" marL="0">
              <a:buNone/>
            </a:pPr>
            <a:r>
              <a:rPr lang="ar-SA" altLang="en-US" sz="1300" dirty="0">
                <a:solidFill>
                  <a:srgbClr val="8A6D1E"/>
                </a:solidFill>
                <a:latin typeface="Amiri" pitchFamily="2" charset="-78"/>
                <a:ea typeface="Amiri" pitchFamily="2" charset="-78"/>
                <a:cs typeface="Amiri" pitchFamily="2" charset="-78"/>
              </a:rPr>
              <a:t>حَنِينٌ إِلَى الوَطَنِ</a:t>
            </a:r>
            <a:pPr algn="l" indent="0" marL="0">
              <a:buNone/>
            </a:pPr>
            <a:r>
              <a:rPr lang="en-US" sz="1000" i="1" dirty="0">
                <a:solidFill>
                  <a:srgbClr val="8A6D1E"/>
                </a:solidFill>
                <a:latin typeface="Calibri" pitchFamily="34" charset="0"/>
                <a:cs typeface="Amiri" pitchFamily="2" charset="-78"/>
              </a:rPr>
              <a:t>.</a:t>
            </a:r>
            <a:endParaRPr lang="en-US" sz="1000" dirty="0"/>
          </a:p>
        </p:txBody>
      </p:sp>
      <p:sp>
        <p:nvSpPr>
          <p:cNvPr id="53" name="Text 5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47</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TE-L09 · Comparing Cultures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Belonging and identity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TE-L09</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غُرْبَةٌ</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being far from home</a:t>
            </a:r>
            <a:endParaRPr lang="en-US" sz="1350" dirty="0"/>
          </a:p>
          <a:p>
            <a:pPr indent="0" marL="0">
              <a:buNone/>
            </a:pPr>
            <a:r>
              <a:rPr lang="en-US" sz="1100" i="1" dirty="0">
                <a:solidFill>
                  <a:srgbClr val="5A6472"/>
                </a:solidFill>
                <a:latin typeface="Calibri" pitchFamily="34" charset="0"/>
                <a:cs typeface="Amiri" pitchFamily="2" charset="-78"/>
              </a:rPr>
              <a:t>ghur-ba-tun</a:t>
            </a:r>
            <a:endParaRPr lang="en-US" sz="1350" dirty="0"/>
          </a:p>
        </p:txBody>
      </p:sp>
      <p:sp>
        <p:nvSpPr>
          <p:cNvPr id="20" name="Text 17"/>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Feminine; the feeling of living away.</a:t>
            </a:r>
            <a:endParaRPr lang="en-US" sz="1000" dirty="0"/>
          </a:p>
        </p:txBody>
      </p:sp>
      <p:sp>
        <p:nvSpPr>
          <p:cNvPr id="21" name="Shape 18"/>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Shape 19"/>
          <p:cNvSpPr/>
          <p:nvPr/>
        </p:nvSpPr>
        <p:spPr>
          <a:xfrm>
            <a:off x="4389120" y="1920240"/>
            <a:ext cx="310896" cy="310896"/>
          </a:xfrm>
          <a:prstGeom prst="ellipse">
            <a:avLst/>
          </a:prstGeom>
          <a:solidFill>
            <a:srgbClr val="F4F1EA"/>
          </a:solidFill>
          <a:ln w="12700">
            <a:solidFill>
              <a:srgbClr val="F4F1EA"/>
            </a:solidFill>
            <a:prstDash val="solid"/>
          </a:ln>
        </p:spPr>
      </p:sp>
      <p:sp>
        <p:nvSpPr>
          <p:cNvPr id="23" name="Text 20"/>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24" name="Text 21"/>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الحِفَاظُ عَلَى الهُوِيَّةِ</a:t>
            </a:r>
            <a:endParaRPr lang="ar-SA" sz="3000" dirty="0"/>
          </a:p>
        </p:txBody>
      </p:sp>
      <p:sp>
        <p:nvSpPr>
          <p:cNvPr id="25" name="Text 22"/>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preserving identity</a:t>
            </a:r>
            <a:endParaRPr lang="en-US" sz="1350" dirty="0"/>
          </a:p>
          <a:p>
            <a:pPr indent="0" marL="0">
              <a:buNone/>
            </a:pPr>
            <a:r>
              <a:rPr lang="en-US" sz="1100" i="1" dirty="0">
                <a:solidFill>
                  <a:srgbClr val="5A6472"/>
                </a:solidFill>
                <a:latin typeface="Calibri" pitchFamily="34" charset="0"/>
                <a:cs typeface="Amiri" pitchFamily="2" charset="-78"/>
              </a:rPr>
              <a:t>al-ḥi-fā-ẓu ʿa-lā al-hu-wiy-ya-ti</a:t>
            </a:r>
            <a:endParaRPr lang="en-US" sz="1350" dirty="0"/>
          </a:p>
        </p:txBody>
      </p:sp>
      <p:sp>
        <p:nvSpPr>
          <p:cNvPr id="26" name="Shape 23"/>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566928" y="1920240"/>
            <a:ext cx="310896" cy="310896"/>
          </a:xfrm>
          <a:prstGeom prst="ellipse">
            <a:avLst/>
          </a:prstGeom>
          <a:solidFill>
            <a:srgbClr val="F4F1EA"/>
          </a:solidFill>
          <a:ln w="12700">
            <a:solidFill>
              <a:srgbClr val="F4F1EA"/>
            </a:solidFill>
            <a:prstDash val="solid"/>
          </a:ln>
        </p:spPr>
      </p:sp>
      <p:sp>
        <p:nvSpPr>
          <p:cNvPr id="28" name="Text 25"/>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29" name="Text 26"/>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انْصِهَارٌ ثَقَافِيٌّ</a:t>
            </a:r>
            <a:endParaRPr lang="ar-SA" sz="3000" dirty="0"/>
          </a:p>
        </p:txBody>
      </p:sp>
      <p:sp>
        <p:nvSpPr>
          <p:cNvPr id="30" name="Text 27"/>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cultural assimilation</a:t>
            </a:r>
            <a:endParaRPr lang="en-US" sz="1350" dirty="0"/>
          </a:p>
          <a:p>
            <a:pPr indent="0" marL="0">
              <a:buNone/>
            </a:pPr>
            <a:r>
              <a:rPr lang="en-US" sz="1100" i="1" dirty="0">
                <a:solidFill>
                  <a:srgbClr val="5A6472"/>
                </a:solidFill>
                <a:latin typeface="Calibri" pitchFamily="34" charset="0"/>
                <a:cs typeface="Amiri" pitchFamily="2" charset="-78"/>
              </a:rPr>
              <a:t>an-ṣi-hā-run tha-qā-fiy-yun</a:t>
            </a:r>
            <a:endParaRPr lang="en-US" sz="1350" dirty="0"/>
          </a:p>
        </p:txBody>
      </p:sp>
      <p:sp>
        <p:nvSpPr>
          <p:cNvPr id="31" name="Shape 2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11312" y="4261104"/>
            <a:ext cx="310896" cy="310896"/>
          </a:xfrm>
          <a:prstGeom prst="ellipse">
            <a:avLst/>
          </a:prstGeom>
          <a:solidFill>
            <a:srgbClr val="F4F1EA"/>
          </a:solidFill>
          <a:ln w="12700">
            <a:solidFill>
              <a:srgbClr val="F4F1EA"/>
            </a:solidFill>
            <a:prstDash val="solid"/>
          </a:ln>
        </p:spPr>
      </p:sp>
      <p:sp>
        <p:nvSpPr>
          <p:cNvPr id="33" name="Text 3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34" name="Shape 31"/>
          <p:cNvSpPr/>
          <p:nvPr/>
        </p:nvSpPr>
        <p:spPr>
          <a:xfrm>
            <a:off x="8604504" y="4279392"/>
            <a:ext cx="1331366" cy="256032"/>
          </a:xfrm>
          <a:prstGeom prst="roundRect">
            <a:avLst>
              <a:gd name="adj" fmla="val 50000"/>
            </a:avLst>
          </a:prstGeom>
          <a:solidFill>
            <a:srgbClr val="EFE7D2"/>
          </a:solidFill>
          <a:ln w="12700">
            <a:solidFill>
              <a:srgbClr val="EFE7D2"/>
            </a:solidFill>
            <a:prstDash val="solid"/>
          </a:ln>
        </p:spPr>
      </p:sp>
      <p:sp>
        <p:nvSpPr>
          <p:cNvPr id="35" name="Text 32"/>
          <p:cNvSpPr txBox="1"/>
          <p:nvPr/>
        </p:nvSpPr>
        <p:spPr>
          <a:xfrm>
            <a:off x="8604504" y="4279392"/>
            <a:ext cx="1331366" cy="256032"/>
          </a:xfrm>
          <a:prstGeom prst="rect">
            <a:avLst/>
          </a:prstGeom>
          <a:noFill/>
          <a:ln/>
        </p:spPr>
        <p:txBody>
          <a:bodyPr wrap="square" lIns="0" tIns="0" rIns="0" bIns="0" rtlCol="0" anchor="ctr"/>
          <a:lstStyle/>
          <a:p>
            <a:pPr algn="ctr" indent="0" marL="0">
              <a:buNone/>
            </a:pPr>
            <a:r>
              <a:rPr lang="ar-SA" sz="800" b="1" dirty="0">
                <a:solidFill>
                  <a:srgbClr val="8A6D1E"/>
                </a:solidFill>
                <a:latin typeface="Calibri" pitchFamily="34" charset="0"/>
                <a:ea typeface="Amiri" pitchFamily="2" charset="-78"/>
                <a:cs typeface="Amiri" pitchFamily="2" charset="-78"/>
              </a:rPr>
              <a:t>Plural أَوْطَانٌ.</a:t>
            </a:r>
            <a:endParaRPr lang="en-US" sz="800" dirty="0"/>
          </a:p>
        </p:txBody>
      </p:sp>
      <p:sp>
        <p:nvSpPr>
          <p:cNvPr id="36" name="Text 33"/>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وَطَنٌ</a:t>
            </a:r>
            <a:endParaRPr lang="ar-SA" sz="3000" dirty="0"/>
          </a:p>
        </p:txBody>
      </p:sp>
      <p:sp>
        <p:nvSpPr>
          <p:cNvPr id="37" name="Text 34"/>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homeland</a:t>
            </a:r>
            <a:endParaRPr lang="en-US" sz="1350" dirty="0"/>
          </a:p>
          <a:p>
            <a:pPr indent="0" marL="0">
              <a:buNone/>
            </a:pPr>
            <a:r>
              <a:rPr lang="en-US" sz="1100" i="1" dirty="0">
                <a:solidFill>
                  <a:srgbClr val="5A6472"/>
                </a:solidFill>
                <a:latin typeface="Calibri" pitchFamily="34" charset="0"/>
                <a:cs typeface="Amiri" pitchFamily="2" charset="-78"/>
              </a:rPr>
              <a:t>wa-ṭa-nun</a:t>
            </a:r>
            <a:endParaRPr lang="en-US" sz="135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47</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TE-L09 · Comparing Cultures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Verbs and comparison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TE-L09</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18" name="Shape 15"/>
          <p:cNvSpPr/>
          <p:nvPr/>
        </p:nvSpPr>
        <p:spPr>
          <a:xfrm>
            <a:off x="8604504" y="1938528"/>
            <a:ext cx="77175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past</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يَنْتَمِي إِلَى</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belongs to</a:t>
            </a:r>
            <a:endParaRPr lang="en-US" sz="1350" dirty="0"/>
          </a:p>
          <a:p>
            <a:pPr indent="0" marL="0">
              <a:buNone/>
            </a:pPr>
            <a:r>
              <a:rPr lang="en-US" sz="1100" i="1" dirty="0">
                <a:solidFill>
                  <a:srgbClr val="5A6472"/>
                </a:solidFill>
                <a:latin typeface="Calibri" pitchFamily="34" charset="0"/>
                <a:cs typeface="Amiri" pitchFamily="2" charset="-78"/>
              </a:rPr>
              <a:t>yan-ta-mī i-lā</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past</a:t>
            </a:r>
            <a:endParaRPr lang="en-US" sz="700" dirty="0"/>
          </a:p>
        </p:txBody>
      </p:sp>
      <p:sp>
        <p:nvSpPr>
          <p:cNvPr id="26" name="Text 23"/>
          <p:cNvSpPr txBox="1"/>
          <p:nvPr/>
        </p:nvSpPr>
        <p:spPr>
          <a:xfrm>
            <a:off x="10012680"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اِنْتَمَى</a:t>
            </a:r>
            <a:endParaRPr lang="ar-SA" sz="135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أَنْتَمِي</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33" name="Shape 30"/>
          <p:cNvSpPr/>
          <p:nvPr/>
        </p:nvSpPr>
        <p:spPr>
          <a:xfrm>
            <a:off x="4782312" y="1938528"/>
            <a:ext cx="771754"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past</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يَتَكَيَّفُ مَعَ</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adapts to</a:t>
            </a:r>
            <a:endParaRPr lang="en-US" sz="1350" dirty="0"/>
          </a:p>
          <a:p>
            <a:pPr indent="0" marL="0">
              <a:buNone/>
            </a:pPr>
            <a:r>
              <a:rPr lang="en-US" sz="1100" i="1" dirty="0">
                <a:solidFill>
                  <a:srgbClr val="5A6472"/>
                </a:solidFill>
                <a:latin typeface="Calibri" pitchFamily="34" charset="0"/>
                <a:cs typeface="Amiri" pitchFamily="2" charset="-78"/>
              </a:rPr>
              <a:t>ya-ta-kay-ya-fu ma-ʿa</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past</a:t>
            </a:r>
            <a:endParaRPr lang="en-US" sz="700" dirty="0"/>
          </a:p>
        </p:txBody>
      </p:sp>
      <p:sp>
        <p:nvSpPr>
          <p:cNvPr id="41" name="Text 38"/>
          <p:cNvSpPr txBox="1"/>
          <p:nvPr/>
        </p:nvSpPr>
        <p:spPr>
          <a:xfrm>
            <a:off x="6190488"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تَكَيَّفَ</a:t>
            </a:r>
            <a:endParaRPr lang="ar-SA" sz="135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44" name="Text 41"/>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أَتَكَيَّفُ</a:t>
            </a:r>
            <a:endParaRPr lang="ar-SA" sz="150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48" name="Shape 45"/>
          <p:cNvSpPr/>
          <p:nvPr/>
        </p:nvSpPr>
        <p:spPr>
          <a:xfrm>
            <a:off x="960120" y="1938528"/>
            <a:ext cx="771754"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past</a:t>
            </a:r>
            <a:endParaRPr lang="en-US" sz="800" dirty="0"/>
          </a:p>
        </p:txBody>
      </p:sp>
      <p:sp>
        <p:nvSpPr>
          <p:cNvPr id="50" name="Shape 4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يَحْتَفِظُ بِـ</a:t>
            </a:r>
            <a:endParaRPr lang="ar-SA" sz="3000" dirty="0"/>
          </a:p>
        </p:txBody>
      </p:sp>
      <p:sp>
        <p:nvSpPr>
          <p:cNvPr id="53" name="Text 5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keeps, retains</a:t>
            </a:r>
            <a:endParaRPr lang="en-US" sz="1350" dirty="0"/>
          </a:p>
          <a:p>
            <a:pPr indent="0" marL="0">
              <a:buNone/>
            </a:pPr>
            <a:r>
              <a:rPr lang="en-US" sz="1100" i="1" dirty="0">
                <a:solidFill>
                  <a:srgbClr val="5A6472"/>
                </a:solidFill>
                <a:latin typeface="Calibri" pitchFamily="34" charset="0"/>
                <a:cs typeface="Amiri" pitchFamily="2" charset="-78"/>
              </a:rPr>
              <a:t>yaḥ-ta-fi-ẓu bi</a:t>
            </a:r>
            <a:endParaRPr lang="en-US" sz="1350" dirty="0"/>
          </a:p>
        </p:txBody>
      </p:sp>
      <p:sp>
        <p:nvSpPr>
          <p:cNvPr id="54" name="Shape 51"/>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past</a:t>
            </a:r>
            <a:endParaRPr lang="en-US" sz="700" dirty="0"/>
          </a:p>
        </p:txBody>
      </p:sp>
      <p:sp>
        <p:nvSpPr>
          <p:cNvPr id="56" name="Text 53"/>
          <p:cNvSpPr txBox="1"/>
          <p:nvPr/>
        </p:nvSpPr>
        <p:spPr>
          <a:xfrm>
            <a:off x="2368296"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اِحْتَفَظَ</a:t>
            </a:r>
            <a:endParaRPr lang="ar-SA" sz="1350" dirty="0"/>
          </a:p>
        </p:txBody>
      </p:sp>
      <p:sp>
        <p:nvSpPr>
          <p:cNvPr id="57" name="Shape 54"/>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59" name="Text 56"/>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أَحْتَفِظُ</a:t>
            </a:r>
            <a:endParaRPr lang="ar-SA" sz="1500" dirty="0"/>
          </a:p>
        </p:txBody>
      </p:sp>
      <p:sp>
        <p:nvSpPr>
          <p:cNvPr id="60" name="Shape 5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8211312" y="4261104"/>
            <a:ext cx="310896" cy="310896"/>
          </a:xfrm>
          <a:prstGeom prst="ellipse">
            <a:avLst/>
          </a:prstGeom>
          <a:solidFill>
            <a:srgbClr val="F4F1EA"/>
          </a:solidFill>
          <a:ln w="12700">
            <a:solidFill>
              <a:srgbClr val="F4F1EA"/>
            </a:solidFill>
            <a:prstDash val="solid"/>
          </a:ln>
        </p:spPr>
      </p:sp>
      <p:sp>
        <p:nvSpPr>
          <p:cNvPr id="62" name="Text 5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63" name="Shape 60"/>
          <p:cNvSpPr/>
          <p:nvPr/>
        </p:nvSpPr>
        <p:spPr>
          <a:xfrm>
            <a:off x="8604504" y="4279392"/>
            <a:ext cx="771754" cy="256032"/>
          </a:xfrm>
          <a:prstGeom prst="roundRect">
            <a:avLst>
              <a:gd name="adj" fmla="val 50000"/>
            </a:avLst>
          </a:prstGeom>
          <a:solidFill>
            <a:srgbClr val="EFE7D2"/>
          </a:solidFill>
          <a:ln w="12700">
            <a:solidFill>
              <a:srgbClr val="EFE7D2"/>
            </a:solidFill>
            <a:prstDash val="solid"/>
          </a:ln>
        </p:spPr>
      </p:sp>
      <p:sp>
        <p:nvSpPr>
          <p:cNvPr id="64" name="Text 61"/>
          <p:cNvSpPr txBox="1"/>
          <p:nvPr/>
        </p:nvSpPr>
        <p:spPr>
          <a:xfrm>
            <a:off x="8604504" y="4279392"/>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past</a:t>
            </a:r>
            <a:endParaRPr lang="en-US" sz="800" dirty="0"/>
          </a:p>
        </p:txBody>
      </p:sp>
      <p:sp>
        <p:nvSpPr>
          <p:cNvPr id="65" name="Shape 6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6" name="Text 6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7" name="Text 64"/>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يُوَازِنُ بَيْنَ</a:t>
            </a:r>
            <a:endParaRPr lang="ar-SA" sz="3000" dirty="0"/>
          </a:p>
        </p:txBody>
      </p:sp>
      <p:sp>
        <p:nvSpPr>
          <p:cNvPr id="68" name="Text 65"/>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balances between</a:t>
            </a:r>
            <a:endParaRPr lang="en-US" sz="1350" dirty="0"/>
          </a:p>
          <a:p>
            <a:pPr indent="0" marL="0">
              <a:buNone/>
            </a:pPr>
            <a:r>
              <a:rPr lang="en-US" sz="1100" i="1" dirty="0">
                <a:solidFill>
                  <a:srgbClr val="5A6472"/>
                </a:solidFill>
                <a:latin typeface="Calibri" pitchFamily="34" charset="0"/>
                <a:cs typeface="Amiri" pitchFamily="2" charset="-78"/>
              </a:rPr>
              <a:t>yu-wā-zi-nu bay-na</a:t>
            </a:r>
            <a:endParaRPr lang="en-US" sz="1350" dirty="0"/>
          </a:p>
        </p:txBody>
      </p:sp>
      <p:sp>
        <p:nvSpPr>
          <p:cNvPr id="69" name="Shape 66"/>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70" name="Text 67"/>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past</a:t>
            </a:r>
            <a:endParaRPr lang="en-US" sz="700" dirty="0"/>
          </a:p>
        </p:txBody>
      </p:sp>
      <p:sp>
        <p:nvSpPr>
          <p:cNvPr id="71" name="Text 68"/>
          <p:cNvSpPr txBox="1"/>
          <p:nvPr/>
        </p:nvSpPr>
        <p:spPr>
          <a:xfrm>
            <a:off x="10012680"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وَازَنَ</a:t>
            </a:r>
            <a:endParaRPr lang="ar-SA" sz="1350" dirty="0"/>
          </a:p>
        </p:txBody>
      </p:sp>
      <p:sp>
        <p:nvSpPr>
          <p:cNvPr id="72" name="Shape 69"/>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74" name="Text 71"/>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أُوَازِنُ</a:t>
            </a:r>
            <a:endParaRPr lang="ar-SA" sz="1500" dirty="0"/>
          </a:p>
        </p:txBody>
      </p:sp>
      <p:sp>
        <p:nvSpPr>
          <p:cNvPr id="75" name="Shape 7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389120" y="4261104"/>
            <a:ext cx="310896" cy="310896"/>
          </a:xfrm>
          <a:prstGeom prst="ellipse">
            <a:avLst/>
          </a:prstGeom>
          <a:solidFill>
            <a:srgbClr val="F4F1EA"/>
          </a:solidFill>
          <a:ln w="12700">
            <a:solidFill>
              <a:srgbClr val="F4F1EA"/>
            </a:solidFill>
            <a:prstDash val="solid"/>
          </a:ln>
        </p:spPr>
      </p:sp>
      <p:sp>
        <p:nvSpPr>
          <p:cNvPr id="77" name="Text 7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78" name="Shape 75"/>
          <p:cNvSpPr/>
          <p:nvPr/>
        </p:nvSpPr>
        <p:spPr>
          <a:xfrm>
            <a:off x="4782312" y="4279392"/>
            <a:ext cx="771754" cy="256032"/>
          </a:xfrm>
          <a:prstGeom prst="roundRect">
            <a:avLst>
              <a:gd name="adj" fmla="val 50000"/>
            </a:avLst>
          </a:prstGeom>
          <a:solidFill>
            <a:srgbClr val="EFE7D2"/>
          </a:solidFill>
          <a:ln w="12700">
            <a:solidFill>
              <a:srgbClr val="EFE7D2"/>
            </a:solidFill>
            <a:prstDash val="solid"/>
          </a:ln>
        </p:spPr>
      </p:sp>
      <p:sp>
        <p:nvSpPr>
          <p:cNvPr id="79" name="Text 76"/>
          <p:cNvSpPr txBox="1"/>
          <p:nvPr/>
        </p:nvSpPr>
        <p:spPr>
          <a:xfrm>
            <a:off x="4782312" y="4279392"/>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past</a:t>
            </a:r>
            <a:endParaRPr lang="en-US" sz="800" dirty="0"/>
          </a:p>
        </p:txBody>
      </p:sp>
      <p:sp>
        <p:nvSpPr>
          <p:cNvPr id="80" name="Text 77"/>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يَشْعُرُ بِـ</a:t>
            </a:r>
            <a:endParaRPr lang="ar-SA" sz="3000" dirty="0"/>
          </a:p>
        </p:txBody>
      </p:sp>
      <p:sp>
        <p:nvSpPr>
          <p:cNvPr id="81" name="Text 78"/>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feels</a:t>
            </a:r>
            <a:endParaRPr lang="en-US" sz="1350" dirty="0"/>
          </a:p>
          <a:p>
            <a:pPr indent="0" marL="0">
              <a:buNone/>
            </a:pPr>
            <a:r>
              <a:rPr lang="en-US" sz="1100" i="1" dirty="0">
                <a:solidFill>
                  <a:srgbClr val="5A6472"/>
                </a:solidFill>
                <a:latin typeface="Calibri" pitchFamily="34" charset="0"/>
                <a:cs typeface="Amiri" pitchFamily="2" charset="-78"/>
              </a:rPr>
              <a:t>yash-ʿu-ru bi</a:t>
            </a:r>
            <a:endParaRPr lang="en-US" sz="1350" dirty="0"/>
          </a:p>
        </p:txBody>
      </p:sp>
      <p:sp>
        <p:nvSpPr>
          <p:cNvPr id="82" name="Shape 79"/>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83" name="Text 80"/>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past</a:t>
            </a:r>
            <a:endParaRPr lang="en-US" sz="700" dirty="0"/>
          </a:p>
        </p:txBody>
      </p:sp>
      <p:sp>
        <p:nvSpPr>
          <p:cNvPr id="84" name="Text 81"/>
          <p:cNvSpPr txBox="1"/>
          <p:nvPr/>
        </p:nvSpPr>
        <p:spPr>
          <a:xfrm>
            <a:off x="6190488"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شَعَرَ</a:t>
            </a:r>
            <a:endParaRPr lang="ar-SA" sz="1350" dirty="0"/>
          </a:p>
        </p:txBody>
      </p:sp>
      <p:sp>
        <p:nvSpPr>
          <p:cNvPr id="85" name="Shape 82"/>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86" name="Text 83"/>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87" name="Text 84"/>
          <p:cNvSpPr txBox="1"/>
          <p:nvPr/>
        </p:nvSpPr>
        <p:spPr>
          <a:xfrm>
            <a:off x="4462272"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أَشْعُرُ</a:t>
            </a:r>
            <a:endParaRPr lang="ar-SA" sz="1500" dirty="0"/>
          </a:p>
        </p:txBody>
      </p:sp>
      <p:sp>
        <p:nvSpPr>
          <p:cNvPr id="88" name="Text 8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47</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TE-L09 · Comparing Cultures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Verbs and comparison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TE-L09</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أَكْثَرُ / أَقَلُّ مِنْ</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more / less than</a:t>
            </a:r>
            <a:endParaRPr lang="en-US" sz="1350" dirty="0"/>
          </a:p>
          <a:p>
            <a:pPr indent="0" marL="0">
              <a:buNone/>
            </a:pPr>
            <a:r>
              <a:rPr lang="en-US" sz="1100" i="1" dirty="0">
                <a:solidFill>
                  <a:srgbClr val="5A6472"/>
                </a:solidFill>
                <a:latin typeface="Calibri" pitchFamily="34" charset="0"/>
                <a:cs typeface="Amiri" pitchFamily="2" charset="-78"/>
              </a:rPr>
              <a:t>ak-tha-ru / a-qal-lu min</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The analytical comparative.</a:t>
            </a:r>
            <a:endParaRPr lang="en-US" sz="10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26" name="Text 23"/>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أَكْبَرُ مِنْ</a:t>
            </a:r>
            <a:endParaRPr lang="ar-SA" sz="3000" dirty="0"/>
          </a:p>
        </p:txBody>
      </p:sp>
      <p:sp>
        <p:nvSpPr>
          <p:cNvPr id="27" name="Text 24"/>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bigger than</a:t>
            </a:r>
            <a:endParaRPr lang="en-US" sz="1350" dirty="0"/>
          </a:p>
          <a:p>
            <a:pPr indent="0" marL="0">
              <a:buNone/>
            </a:pPr>
            <a:r>
              <a:rPr lang="en-US" sz="1100" i="1" dirty="0">
                <a:solidFill>
                  <a:srgbClr val="5A6472"/>
                </a:solidFill>
                <a:latin typeface="Calibri" pitchFamily="34" charset="0"/>
                <a:cs typeface="Amiri" pitchFamily="2" charset="-78"/>
              </a:rPr>
              <a:t>ak-ba-ru min</a:t>
            </a:r>
            <a:endParaRPr lang="en-US" sz="1350" dirty="0"/>
          </a:p>
        </p:txBody>
      </p:sp>
      <p:sp>
        <p:nvSpPr>
          <p:cNvPr id="28" name="Text 25"/>
          <p:cNvSpPr txBox="1"/>
          <p:nvPr/>
        </p:nvSpPr>
        <p:spPr>
          <a:xfrm>
            <a:off x="4416552"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The synthetic </a:t>
            </a:r>
            <a:pPr algn="l" indent="0" marL="0">
              <a:buNone/>
            </a:pPr>
            <a:r>
              <a:rPr lang="ar-SA" altLang="en-US" sz="1300" dirty="0">
                <a:solidFill>
                  <a:srgbClr val="8A6D1E"/>
                </a:solidFill>
                <a:latin typeface="Amiri" pitchFamily="2" charset="-78"/>
                <a:ea typeface="Amiri" pitchFamily="2" charset="-78"/>
                <a:cs typeface="Amiri" pitchFamily="2" charset="-78"/>
              </a:rPr>
              <a:t>أَفْعَل</a:t>
            </a:r>
            <a:pPr algn="l" indent="0" marL="0">
              <a:buNone/>
            </a:pPr>
            <a:r>
              <a:rPr lang="en-US" sz="1000" i="1" dirty="0">
                <a:solidFill>
                  <a:srgbClr val="8A6D1E"/>
                </a:solidFill>
                <a:latin typeface="Calibri" pitchFamily="34" charset="0"/>
                <a:cs typeface="Amiri" pitchFamily="2" charset="-78"/>
              </a:rPr>
              <a:t> form.</a:t>
            </a:r>
            <a:endParaRPr lang="en-US" sz="100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25</a:t>
            </a:r>
            <a:endParaRPr lang="en-US" sz="10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بَيْنَمَا</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whereas</a:t>
            </a:r>
            <a:endParaRPr lang="en-US" sz="1350" dirty="0"/>
          </a:p>
          <a:p>
            <a:pPr indent="0" marL="0">
              <a:buNone/>
            </a:pPr>
            <a:r>
              <a:rPr lang="en-US" sz="1100" i="1" dirty="0">
                <a:solidFill>
                  <a:srgbClr val="5A6472"/>
                </a:solidFill>
                <a:latin typeface="Calibri" pitchFamily="34" charset="0"/>
                <a:cs typeface="Amiri" pitchFamily="2" charset="-78"/>
              </a:rPr>
              <a:t>bay-na-mā</a:t>
            </a:r>
            <a:endParaRPr lang="en-US" sz="1350" dirty="0"/>
          </a:p>
        </p:txBody>
      </p:sp>
      <p:sp>
        <p:nvSpPr>
          <p:cNvPr id="34" name="Text 31"/>
          <p:cNvSpPr txBox="1"/>
          <p:nvPr/>
        </p:nvSpPr>
        <p:spPr>
          <a:xfrm>
            <a:off x="594360"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Joins two contrasting clauses.</a:t>
            </a:r>
            <a:endParaRPr lang="en-US" sz="1000" dirty="0"/>
          </a:p>
        </p:txBody>
      </p:sp>
      <p:sp>
        <p:nvSpPr>
          <p:cNvPr id="35" name="Shape 3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8211312" y="4261104"/>
            <a:ext cx="310896" cy="310896"/>
          </a:xfrm>
          <a:prstGeom prst="ellipse">
            <a:avLst/>
          </a:prstGeom>
          <a:solidFill>
            <a:srgbClr val="F4F1EA"/>
          </a:solidFill>
          <a:ln w="12700">
            <a:solidFill>
              <a:srgbClr val="F4F1EA"/>
            </a:solidFill>
            <a:prstDash val="solid"/>
          </a:ln>
        </p:spPr>
      </p:sp>
      <p:sp>
        <p:nvSpPr>
          <p:cNvPr id="37" name="Text 3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26</a:t>
            </a:r>
            <a:endParaRPr lang="en-US" sz="1000" dirty="0"/>
          </a:p>
        </p:txBody>
      </p:sp>
      <p:sp>
        <p:nvSpPr>
          <p:cNvPr id="38" name="Text 35"/>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 نَاحِيَةٍ أُخْرَى</a:t>
            </a:r>
            <a:endParaRPr lang="ar-SA" sz="3000" dirty="0"/>
          </a:p>
        </p:txBody>
      </p:sp>
      <p:sp>
        <p:nvSpPr>
          <p:cNvPr id="39" name="Text 36"/>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on the other hand</a:t>
            </a:r>
            <a:endParaRPr lang="en-US" sz="1350" dirty="0"/>
          </a:p>
          <a:p>
            <a:pPr indent="0" marL="0">
              <a:buNone/>
            </a:pPr>
            <a:r>
              <a:rPr lang="en-US" sz="1100" i="1" dirty="0">
                <a:solidFill>
                  <a:srgbClr val="5A6472"/>
                </a:solidFill>
                <a:latin typeface="Calibri" pitchFamily="34" charset="0"/>
                <a:cs typeface="Amiri" pitchFamily="2" charset="-78"/>
              </a:rPr>
              <a:t>min nā-ḥi-ya-tin ukh-rā</a:t>
            </a:r>
            <a:endParaRPr lang="en-US" sz="13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47</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TE-L09 · Comparing Cultures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FOCUS · PART 1 · THE FOUR DIASPORA VERBS (WEBSITE RULE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Belong, adapt, keep, balance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أَنْتَمِي · أَتَكَيَّفُ · أَحْتَفِظُ · أُوَازِنُ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TE-L09</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308592" y="1810512"/>
            <a:ext cx="23500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32735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 (website)</a:t>
            </a:r>
            <a:endParaRPr lang="en-US" sz="1100" dirty="0"/>
          </a:p>
        </p:txBody>
      </p:sp>
      <p:sp>
        <p:nvSpPr>
          <p:cNvPr id="18" name="Text 15"/>
          <p:cNvSpPr txBox="1"/>
          <p:nvPr/>
        </p:nvSpPr>
        <p:spPr>
          <a:xfrm>
            <a:off x="53035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Verb + preposition</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9345168" y="2267712"/>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belongs to</a:t>
            </a:r>
            <a:endParaRPr lang="en-US" sz="1100" dirty="0"/>
          </a:p>
        </p:txBody>
      </p:sp>
      <p:sp>
        <p:nvSpPr>
          <p:cNvPr id="21" name="Text 18"/>
          <p:cNvSpPr txBox="1"/>
          <p:nvPr/>
        </p:nvSpPr>
        <p:spPr>
          <a:xfrm>
            <a:off x="3291840" y="2286000"/>
            <a:ext cx="585216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أَنْتَمِي </a:t>
            </a:r>
            <a:pPr rtl="1" algn="ctr" indent="0" marL="0">
              <a:buNone/>
            </a:pPr>
            <a:r>
              <a:rPr lang="ar-SA" altLang="en-US" sz="1950" b="1" dirty="0">
                <a:solidFill>
                  <a:srgbClr val="0E7C86"/>
                </a:solidFill>
                <a:latin typeface="Amiri" pitchFamily="2" charset="-78"/>
                <a:ea typeface="Amiri" pitchFamily="2" charset="-78"/>
                <a:cs typeface="Amiri" pitchFamily="2" charset="-78"/>
              </a:rPr>
              <a:t>إِلَى</a:t>
            </a:r>
            <a:pPr rtl="1" algn="ctr" indent="0" marL="0">
              <a:buNone/>
            </a:pPr>
            <a:r>
              <a:rPr lang="ar-SA" altLang="en-US" sz="1950" b="1" dirty="0">
                <a:solidFill>
                  <a:srgbClr val="1B3B6F"/>
                </a:solidFill>
                <a:latin typeface="Amiri" pitchFamily="2" charset="-78"/>
                <a:ea typeface="Amiri" pitchFamily="2" charset="-78"/>
                <a:cs typeface="Amiri" pitchFamily="2" charset="-78"/>
              </a:rPr>
              <a:t> ثَقَافَتَيْنِ.</a:t>
            </a:r>
            <a:endParaRPr lang="ar-SA" sz="1950" dirty="0"/>
          </a:p>
        </p:txBody>
      </p:sp>
      <p:sp>
        <p:nvSpPr>
          <p:cNvPr id="22" name="Text 19"/>
          <p:cNvSpPr txBox="1"/>
          <p:nvPr/>
        </p:nvSpPr>
        <p:spPr>
          <a:xfrm>
            <a:off x="3246120" y="2676997"/>
            <a:ext cx="594360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belong to two cultures.</a:t>
            </a:r>
            <a:endParaRPr lang="en-US" sz="950" dirty="0"/>
          </a:p>
        </p:txBody>
      </p:sp>
      <p:sp>
        <p:nvSpPr>
          <p:cNvPr id="23" name="Text 20"/>
          <p:cNvSpPr txBox="1"/>
          <p:nvPr/>
        </p:nvSpPr>
        <p:spPr>
          <a:xfrm>
            <a:off x="548640" y="2267712"/>
            <a:ext cx="25603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يَنْتَمِي </a:t>
            </a:r>
            <a:pPr rtl="1" algn="ctr" indent="0" marL="0">
              <a:buNone/>
            </a:pPr>
            <a:r>
              <a:rPr lang="ar-SA" altLang="en-US" sz="2200" b="1" dirty="0">
                <a:solidFill>
                  <a:srgbClr val="0E7C86"/>
                </a:solidFill>
                <a:latin typeface="Amiri" pitchFamily="2" charset="-78"/>
                <a:ea typeface="Amiri" pitchFamily="2" charset="-78"/>
                <a:cs typeface="Amiri" pitchFamily="2" charset="-78"/>
              </a:rPr>
              <a:t>إِلَى</a:t>
            </a:r>
            <a:endParaRPr lang="ar-SA" sz="2200" dirty="0"/>
          </a:p>
        </p:txBody>
      </p:sp>
      <p:sp>
        <p:nvSpPr>
          <p:cNvPr id="24" name="Shape 21"/>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5" name="Text 22"/>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6" name="Shape 23"/>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7" name="Text 24"/>
          <p:cNvSpPr txBox="1"/>
          <p:nvPr/>
        </p:nvSpPr>
        <p:spPr>
          <a:xfrm>
            <a:off x="9345168" y="3004718"/>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adapts to</a:t>
            </a:r>
            <a:endParaRPr lang="en-US" sz="1100" dirty="0"/>
          </a:p>
        </p:txBody>
      </p:sp>
      <p:sp>
        <p:nvSpPr>
          <p:cNvPr id="28" name="Text 25"/>
          <p:cNvSpPr txBox="1"/>
          <p:nvPr/>
        </p:nvSpPr>
        <p:spPr>
          <a:xfrm>
            <a:off x="3291840" y="3023006"/>
            <a:ext cx="585216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تَكَيَّفَتْ أُمِّي </a:t>
            </a:r>
            <a:pPr rtl="1" algn="ctr" indent="0" marL="0">
              <a:buNone/>
            </a:pPr>
            <a:r>
              <a:rPr lang="ar-SA" altLang="en-US" sz="1950" b="1" dirty="0">
                <a:solidFill>
                  <a:srgbClr val="D6336C"/>
                </a:solidFill>
                <a:latin typeface="Amiri" pitchFamily="2" charset="-78"/>
                <a:ea typeface="Amiri" pitchFamily="2" charset="-78"/>
                <a:cs typeface="Amiri" pitchFamily="2" charset="-78"/>
              </a:rPr>
              <a:t>مَعَ</a:t>
            </a:r>
            <a:pPr rtl="1" algn="ctr" indent="0" marL="0">
              <a:buNone/>
            </a:pPr>
            <a:r>
              <a:rPr lang="ar-SA" altLang="en-US" sz="1950" b="1" dirty="0">
                <a:solidFill>
                  <a:srgbClr val="1B3B6F"/>
                </a:solidFill>
                <a:latin typeface="Amiri" pitchFamily="2" charset="-78"/>
                <a:ea typeface="Amiri" pitchFamily="2" charset="-78"/>
                <a:cs typeface="Amiri" pitchFamily="2" charset="-78"/>
              </a:rPr>
              <a:t> الحَيَاةِ هُنَا بِسُرْعَةٍ.</a:t>
            </a:r>
            <a:endParaRPr lang="ar-SA" sz="1950" dirty="0"/>
          </a:p>
        </p:txBody>
      </p:sp>
      <p:sp>
        <p:nvSpPr>
          <p:cNvPr id="29" name="Text 26"/>
          <p:cNvSpPr txBox="1"/>
          <p:nvPr/>
        </p:nvSpPr>
        <p:spPr>
          <a:xfrm>
            <a:off x="3246120" y="3414004"/>
            <a:ext cx="594360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My mother adapted to life here quickly.</a:t>
            </a:r>
            <a:endParaRPr lang="en-US" sz="950" dirty="0"/>
          </a:p>
        </p:txBody>
      </p:sp>
      <p:sp>
        <p:nvSpPr>
          <p:cNvPr id="30" name="Text 27"/>
          <p:cNvSpPr txBox="1"/>
          <p:nvPr/>
        </p:nvSpPr>
        <p:spPr>
          <a:xfrm>
            <a:off x="548640" y="3004718"/>
            <a:ext cx="25603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يَتَكَيَّفُ </a:t>
            </a:r>
            <a:pPr rtl="1" algn="ctr" indent="0" marL="0">
              <a:buNone/>
            </a:pPr>
            <a:r>
              <a:rPr lang="ar-SA" altLang="en-US" sz="2200" b="1" dirty="0">
                <a:solidFill>
                  <a:srgbClr val="D6336C"/>
                </a:solidFill>
                <a:latin typeface="Amiri" pitchFamily="2" charset="-78"/>
                <a:ea typeface="Amiri" pitchFamily="2" charset="-78"/>
                <a:cs typeface="Amiri" pitchFamily="2" charset="-78"/>
              </a:rPr>
              <a:t>مَعَ</a:t>
            </a:r>
            <a:endParaRPr lang="ar-SA" sz="2200" dirty="0"/>
          </a:p>
        </p:txBody>
      </p:sp>
      <p:sp>
        <p:nvSpPr>
          <p:cNvPr id="31" name="Shape 28"/>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3" name="Shape 30"/>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4" name="Text 31"/>
          <p:cNvSpPr txBox="1"/>
          <p:nvPr/>
        </p:nvSpPr>
        <p:spPr>
          <a:xfrm>
            <a:off x="9345168" y="3741725"/>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keeps</a:t>
            </a:r>
            <a:endParaRPr lang="en-US" sz="1100" dirty="0"/>
          </a:p>
        </p:txBody>
      </p:sp>
      <p:sp>
        <p:nvSpPr>
          <p:cNvPr id="35" name="Text 32"/>
          <p:cNvSpPr txBox="1"/>
          <p:nvPr/>
        </p:nvSpPr>
        <p:spPr>
          <a:xfrm>
            <a:off x="3291840" y="3760013"/>
            <a:ext cx="585216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تَحْتَفِظُ الأُسَرُ </a:t>
            </a:r>
            <a:pPr rtl="1" algn="ctr" indent="0" marL="0">
              <a:buNone/>
            </a:pPr>
            <a:r>
              <a:rPr lang="ar-SA" altLang="en-US" sz="1950" b="1" dirty="0">
                <a:solidFill>
                  <a:srgbClr val="1D5FBF"/>
                </a:solidFill>
                <a:latin typeface="Amiri" pitchFamily="2" charset="-78"/>
                <a:ea typeface="Amiri" pitchFamily="2" charset="-78"/>
                <a:cs typeface="Amiri" pitchFamily="2" charset="-78"/>
              </a:rPr>
              <a:t>بِلُغَتِهَا</a:t>
            </a:r>
            <a:pPr rtl="1" algn="ctr" indent="0" marL="0">
              <a:buNone/>
            </a:pPr>
            <a:r>
              <a:rPr lang="ar-SA" altLang="en-US" sz="1950" b="1" dirty="0">
                <a:solidFill>
                  <a:srgbClr val="1B3B6F"/>
                </a:solidFill>
                <a:latin typeface="Amiri" pitchFamily="2" charset="-78"/>
                <a:cs typeface="Amiri" pitchFamily="2" charset="-78"/>
              </a:rPr>
              <a:t>.</a:t>
            </a:r>
            <a:endParaRPr lang="ar-SA" sz="1950" dirty="0"/>
          </a:p>
        </p:txBody>
      </p:sp>
      <p:sp>
        <p:nvSpPr>
          <p:cNvPr id="36" name="Text 33"/>
          <p:cNvSpPr txBox="1"/>
          <p:nvPr/>
        </p:nvSpPr>
        <p:spPr>
          <a:xfrm>
            <a:off x="3246120" y="4151010"/>
            <a:ext cx="594360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Families keep their language.</a:t>
            </a:r>
            <a:endParaRPr lang="en-US" sz="950" dirty="0"/>
          </a:p>
        </p:txBody>
      </p:sp>
      <p:sp>
        <p:nvSpPr>
          <p:cNvPr id="37" name="Text 34"/>
          <p:cNvSpPr txBox="1"/>
          <p:nvPr/>
        </p:nvSpPr>
        <p:spPr>
          <a:xfrm>
            <a:off x="548640" y="3741725"/>
            <a:ext cx="25603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يَحْتَفِظُ </a:t>
            </a:r>
            <a:pPr rtl="1" algn="ctr" indent="0" marL="0">
              <a:buNone/>
            </a:pPr>
            <a:r>
              <a:rPr lang="ar-SA" altLang="en-US" sz="2200" b="1" dirty="0">
                <a:solidFill>
                  <a:srgbClr val="1D5FBF"/>
                </a:solidFill>
                <a:latin typeface="Amiri" pitchFamily="2" charset="-78"/>
                <a:ea typeface="Amiri" pitchFamily="2" charset="-78"/>
                <a:cs typeface="Amiri" pitchFamily="2" charset="-78"/>
              </a:rPr>
              <a:t>بِـ</a:t>
            </a:r>
            <a:endParaRPr lang="ar-SA" sz="2200" dirty="0"/>
          </a:p>
        </p:txBody>
      </p:sp>
      <p:sp>
        <p:nvSpPr>
          <p:cNvPr id="38" name="Shape 35"/>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0" name="Shape 37"/>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1" name="Text 38"/>
          <p:cNvSpPr txBox="1"/>
          <p:nvPr/>
        </p:nvSpPr>
        <p:spPr>
          <a:xfrm>
            <a:off x="9345168" y="4478731"/>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balances</a:t>
            </a:r>
            <a:endParaRPr lang="en-US" sz="1100" dirty="0"/>
          </a:p>
        </p:txBody>
      </p:sp>
      <p:sp>
        <p:nvSpPr>
          <p:cNvPr id="42" name="Text 39"/>
          <p:cNvSpPr txBox="1"/>
          <p:nvPr/>
        </p:nvSpPr>
        <p:spPr>
          <a:xfrm>
            <a:off x="3291840" y="4497019"/>
            <a:ext cx="585216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أُوَازِنُ </a:t>
            </a:r>
            <a:pPr rtl="1" algn="ctr" indent="0" marL="0">
              <a:buNone/>
            </a:pPr>
            <a:r>
              <a:rPr lang="ar-SA" altLang="en-US" sz="1950" b="1" dirty="0">
                <a:solidFill>
                  <a:srgbClr val="0E7C86"/>
                </a:solidFill>
                <a:latin typeface="Amiri" pitchFamily="2" charset="-78"/>
                <a:ea typeface="Amiri" pitchFamily="2" charset="-78"/>
                <a:cs typeface="Amiri" pitchFamily="2" charset="-78"/>
              </a:rPr>
              <a:t>بَيْنَ</a:t>
            </a:r>
            <a:pPr rtl="1" algn="ctr" indent="0" marL="0">
              <a:buNone/>
            </a:pPr>
            <a:r>
              <a:rPr lang="ar-SA" altLang="en-US" sz="1950" b="1" dirty="0">
                <a:solidFill>
                  <a:srgbClr val="1B3B6F"/>
                </a:solidFill>
                <a:latin typeface="Amiri" pitchFamily="2" charset="-78"/>
                <a:ea typeface="Amiri" pitchFamily="2" charset="-78"/>
                <a:cs typeface="Amiri" pitchFamily="2" charset="-78"/>
              </a:rPr>
              <a:t> اللُّغَتَيْنِ وَالعَادَتَيْنِ.</a:t>
            </a:r>
            <a:endParaRPr lang="ar-SA" sz="1950" dirty="0"/>
          </a:p>
        </p:txBody>
      </p:sp>
      <p:sp>
        <p:nvSpPr>
          <p:cNvPr id="43" name="Text 40"/>
          <p:cNvSpPr txBox="1"/>
          <p:nvPr/>
        </p:nvSpPr>
        <p:spPr>
          <a:xfrm>
            <a:off x="3246120" y="4888017"/>
            <a:ext cx="594360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balance between the two languages and customs.</a:t>
            </a:r>
            <a:endParaRPr lang="en-US" sz="950" dirty="0"/>
          </a:p>
        </p:txBody>
      </p:sp>
      <p:sp>
        <p:nvSpPr>
          <p:cNvPr id="44" name="Text 41"/>
          <p:cNvSpPr txBox="1"/>
          <p:nvPr/>
        </p:nvSpPr>
        <p:spPr>
          <a:xfrm>
            <a:off x="548640" y="4478731"/>
            <a:ext cx="25603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يُوَازِنُ </a:t>
            </a:r>
            <a:pPr rtl="1" algn="ctr" indent="0" marL="0">
              <a:buNone/>
            </a:pPr>
            <a:r>
              <a:rPr lang="ar-SA" altLang="en-US" sz="2200" b="1" dirty="0">
                <a:solidFill>
                  <a:srgbClr val="0E7C86"/>
                </a:solidFill>
                <a:latin typeface="Amiri" pitchFamily="2" charset="-78"/>
                <a:ea typeface="Amiri" pitchFamily="2" charset="-78"/>
                <a:cs typeface="Amiri" pitchFamily="2" charset="-78"/>
              </a:rPr>
              <a:t>بَيْنَ</a:t>
            </a:r>
            <a:endParaRPr lang="ar-SA" sz="2200" dirty="0"/>
          </a:p>
        </p:txBody>
      </p:sp>
      <p:sp>
        <p:nvSpPr>
          <p:cNvPr id="45" name="Shape 42"/>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6" name="Text 43"/>
          <p:cNvSpPr txBox="1"/>
          <p:nvPr/>
        </p:nvSpPr>
        <p:spPr>
          <a:xfrm>
            <a:off x="9345168" y="5215738"/>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feels</a:t>
            </a:r>
            <a:endParaRPr lang="en-US" sz="1100" dirty="0"/>
          </a:p>
        </p:txBody>
      </p:sp>
      <p:sp>
        <p:nvSpPr>
          <p:cNvPr id="47" name="Text 44"/>
          <p:cNvSpPr txBox="1"/>
          <p:nvPr/>
        </p:nvSpPr>
        <p:spPr>
          <a:xfrm>
            <a:off x="3291840" y="5234026"/>
            <a:ext cx="585216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أَحْيَانًا أَشْعُرُ </a:t>
            </a:r>
            <a:pPr rtl="1" algn="ctr" indent="0" marL="0">
              <a:buNone/>
            </a:pPr>
            <a:r>
              <a:rPr lang="ar-SA" altLang="en-US" sz="1950" b="1" dirty="0">
                <a:solidFill>
                  <a:srgbClr val="1D5FBF"/>
                </a:solidFill>
                <a:latin typeface="Amiri" pitchFamily="2" charset="-78"/>
                <a:ea typeface="Amiri" pitchFamily="2" charset="-78"/>
                <a:cs typeface="Amiri" pitchFamily="2" charset="-78"/>
              </a:rPr>
              <a:t>بِالحَنِينِ</a:t>
            </a:r>
            <a:pPr rtl="1" algn="ctr" indent="0" marL="0">
              <a:buNone/>
            </a:pPr>
            <a:r>
              <a:rPr lang="ar-SA" altLang="en-US" sz="1950" b="1" dirty="0">
                <a:solidFill>
                  <a:srgbClr val="1B3B6F"/>
                </a:solidFill>
                <a:latin typeface="Amiri" pitchFamily="2" charset="-78"/>
                <a:cs typeface="Amiri" pitchFamily="2" charset="-78"/>
              </a:rPr>
              <a:t>.</a:t>
            </a:r>
            <a:endParaRPr lang="ar-SA" sz="1950" dirty="0"/>
          </a:p>
        </p:txBody>
      </p:sp>
      <p:sp>
        <p:nvSpPr>
          <p:cNvPr id="48" name="Text 45"/>
          <p:cNvSpPr txBox="1"/>
          <p:nvPr/>
        </p:nvSpPr>
        <p:spPr>
          <a:xfrm>
            <a:off x="3246120" y="5625023"/>
            <a:ext cx="594360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Sometimes I feel nostalgia.</a:t>
            </a:r>
            <a:endParaRPr lang="en-US" sz="950" dirty="0"/>
          </a:p>
        </p:txBody>
      </p:sp>
      <p:sp>
        <p:nvSpPr>
          <p:cNvPr id="49" name="Text 46"/>
          <p:cNvSpPr txBox="1"/>
          <p:nvPr/>
        </p:nvSpPr>
        <p:spPr>
          <a:xfrm>
            <a:off x="548640" y="5215738"/>
            <a:ext cx="25603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يَشْعُرُ </a:t>
            </a:r>
            <a:pPr rtl="1" algn="ctr" indent="0" marL="0">
              <a:buNone/>
            </a:pPr>
            <a:r>
              <a:rPr lang="ar-SA" altLang="en-US" sz="2200" b="1" dirty="0">
                <a:solidFill>
                  <a:srgbClr val="1D5FBF"/>
                </a:solidFill>
                <a:latin typeface="Amiri" pitchFamily="2" charset="-78"/>
                <a:ea typeface="Amiri" pitchFamily="2" charset="-78"/>
                <a:cs typeface="Amiri" pitchFamily="2" charset="-78"/>
              </a:rPr>
              <a:t>بِـ</a:t>
            </a:r>
            <a:endParaRPr lang="ar-SA" sz="2200" dirty="0"/>
          </a:p>
        </p:txBody>
      </p:sp>
      <p:sp>
        <p:nvSpPr>
          <p:cNvPr id="50" name="Text 4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After the preposition the noun is genitive: </a:t>
            </a:r>
            <a:pPr algn="l" indent="0" marL="0">
              <a:buNone/>
            </a:pPr>
            <a:r>
              <a:rPr lang="ar-SA" altLang="en-US" sz="1500" b="1" dirty="0">
                <a:solidFill>
                  <a:srgbClr val="1B3B6F"/>
                </a:solidFill>
                <a:latin typeface="Amiri" pitchFamily="2" charset="-78"/>
                <a:ea typeface="Amiri" pitchFamily="2" charset="-78"/>
                <a:cs typeface="Amiri" pitchFamily="2" charset="-78"/>
              </a:rPr>
              <a:t>إِلَى ثَقَافَتَيْنِ</a:t>
            </a:r>
            <a:pPr algn="l" indent="0" marL="0">
              <a:buNone/>
            </a:pPr>
            <a:r>
              <a:rPr lang="en-US" sz="1150" b="1" dirty="0">
                <a:solidFill>
                  <a:srgbClr val="1B3B6F"/>
                </a:solidFill>
                <a:latin typeface="Calibri" pitchFamily="34" charset="0"/>
                <a:cs typeface="Amiri" pitchFamily="2" charset="-78"/>
              </a:rPr>
              <a:t> (dual) · </a:t>
            </a:r>
            <a:pPr algn="l" indent="0" marL="0">
              <a:buNone/>
            </a:pPr>
            <a:r>
              <a:rPr lang="ar-SA" altLang="en-US" sz="1500" b="1" dirty="0">
                <a:solidFill>
                  <a:srgbClr val="1B3B6F"/>
                </a:solidFill>
                <a:latin typeface="Amiri" pitchFamily="2" charset="-78"/>
                <a:ea typeface="Amiri" pitchFamily="2" charset="-78"/>
                <a:cs typeface="Amiri" pitchFamily="2" charset="-78"/>
              </a:rPr>
              <a:t>بِلُغَتِهَا</a:t>
            </a:r>
            <a:pPr algn="l" indent="0" marL="0">
              <a:buNone/>
            </a:pPr>
            <a:r>
              <a:rPr lang="en-US" sz="1150" b="1" dirty="0">
                <a:solidFill>
                  <a:srgbClr val="1B3B6F"/>
                </a:solidFill>
                <a:latin typeface="Calibri" pitchFamily="34" charset="0"/>
                <a:cs typeface="Amiri" pitchFamily="2" charset="-78"/>
              </a:rPr>
              <a:t> · </a:t>
            </a:r>
            <a:pPr algn="l" indent="0" marL="0">
              <a:buNone/>
            </a:pPr>
            <a:r>
              <a:rPr lang="ar-SA" altLang="en-US" sz="1500" b="1" dirty="0">
                <a:solidFill>
                  <a:srgbClr val="1B3B6F"/>
                </a:solidFill>
                <a:latin typeface="Amiri" pitchFamily="2" charset="-78"/>
                <a:ea typeface="Amiri" pitchFamily="2" charset="-78"/>
                <a:cs typeface="Amiri" pitchFamily="2" charset="-78"/>
              </a:rPr>
              <a:t>مَعَ الحَيَاةِ</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51" name="Text 4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47</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TE-L09 · Comparing Cultures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2 · TWO WAYS TO COMPARE — NEVER BOTH (WEBSITE RULES 2–4) · DEVELOP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Bigger than — or more peaceful than?</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المُقَارَنَةُ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TE-L09</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097280" cy="274320"/>
          </a:xfrm>
          <a:prstGeom prst="roundRect">
            <a:avLst>
              <a:gd name="adj" fmla="val 50000"/>
            </a:avLst>
          </a:prstGeom>
          <a:solidFill>
            <a:srgbClr val="1E6B52"/>
          </a:solidFill>
          <a:ln w="12700">
            <a:solidFill>
              <a:srgbClr val="1E6B52"/>
            </a:solidFill>
            <a:prstDash val="solid"/>
          </a:ln>
        </p:spPr>
      </p:sp>
      <p:sp>
        <p:nvSpPr>
          <p:cNvPr id="17" name="Text 14"/>
          <p:cNvSpPr txBox="1"/>
          <p:nvPr/>
        </p:nvSpPr>
        <p:spPr>
          <a:xfrm>
            <a:off x="8232648" y="1920240"/>
            <a:ext cx="10972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aFʿAL · CORE</a:t>
            </a:r>
            <a:endParaRPr lang="en-US" sz="850" dirty="0"/>
          </a:p>
        </p:txBody>
      </p:sp>
      <p:sp>
        <p:nvSpPr>
          <p:cNvPr id="18" name="Text 15"/>
          <p:cNvSpPr txBox="1"/>
          <p:nvPr/>
        </p:nvSpPr>
        <p:spPr>
          <a:xfrm>
            <a:off x="9375648" y="1874520"/>
            <a:ext cx="22189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أَكْبَرُ مِنْ · أَصْغَرُ مِنْ</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لَنْدَنُ أَكْبَرُ مِنْ مَدِينَتِي.</a:t>
            </a:r>
            <a:endParaRPr lang="ar-SA" sz="32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London is bigger than my city.</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One word: akbar.</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920240" cy="274320"/>
          </a:xfrm>
          <a:prstGeom prst="roundRect">
            <a:avLst>
              <a:gd name="adj" fmla="val 50000"/>
            </a:avLst>
          </a:prstGeom>
          <a:solidFill>
            <a:srgbClr val="1D5FBF"/>
          </a:solidFill>
          <a:ln w="12700">
            <a:solidFill>
              <a:srgbClr val="1D5FBF"/>
            </a:solidFill>
            <a:prstDash val="solid"/>
          </a:ln>
        </p:spPr>
      </p:sp>
      <p:sp>
        <p:nvSpPr>
          <p:cNvPr id="25" name="Text 22"/>
          <p:cNvSpPr txBox="1"/>
          <p:nvPr/>
        </p:nvSpPr>
        <p:spPr>
          <a:xfrm>
            <a:off x="4413504" y="1920240"/>
            <a:ext cx="19202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aktharu + NOUN · DEVELOP</a:t>
            </a:r>
            <a:endParaRPr lang="en-US" sz="850" dirty="0"/>
          </a:p>
        </p:txBody>
      </p:sp>
      <p:sp>
        <p:nvSpPr>
          <p:cNvPr id="26" name="Text 23"/>
          <p:cNvSpPr txBox="1"/>
          <p:nvPr/>
        </p:nvSpPr>
        <p:spPr>
          <a:xfrm>
            <a:off x="6379464" y="1874520"/>
            <a:ext cx="13959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أَكْثَرُ هُدُوءًا مِنْ</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ea typeface="Amiri" pitchFamily="2" charset="-78"/>
                <a:cs typeface="Amiri" pitchFamily="2" charset="-78"/>
              </a:rPr>
              <a:t>مَدِينَتُنَا أَكْثَرُ هُدُوءًا مِنَ القَاهِرَةِ.</a:t>
            </a:r>
            <a:endParaRPr lang="ar-SA" sz="22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Our city is calmer than Cairo.</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Noun in -an.</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440180" cy="274320"/>
          </a:xfrm>
          <a:prstGeom prst="roundRect">
            <a:avLst>
              <a:gd name="adj" fmla="val 50000"/>
            </a:avLst>
          </a:prstGeom>
          <a:solidFill>
            <a:srgbClr val="6B4C9A"/>
          </a:solidFill>
          <a:ln w="12700">
            <a:solidFill>
              <a:srgbClr val="6B4C9A"/>
            </a:solidFill>
            <a:prstDash val="solid"/>
          </a:ln>
        </p:spPr>
      </p:sp>
      <p:sp>
        <p:nvSpPr>
          <p:cNvPr id="33" name="Text 30"/>
          <p:cNvSpPr txBox="1"/>
          <p:nvPr/>
        </p:nvSpPr>
        <p:spPr>
          <a:xfrm>
            <a:off x="594360" y="1920240"/>
            <a:ext cx="14401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BALANCE · STRETCH</a:t>
            </a:r>
            <a:endParaRPr lang="en-US" sz="850" dirty="0"/>
          </a:p>
        </p:txBody>
      </p:sp>
      <p:sp>
        <p:nvSpPr>
          <p:cNvPr id="34" name="Text 31"/>
          <p:cNvSpPr txBox="1"/>
          <p:nvPr/>
        </p:nvSpPr>
        <p:spPr>
          <a:xfrm>
            <a:off x="2080260" y="1874520"/>
            <a:ext cx="1876044" cy="365760"/>
          </a:xfrm>
          <a:prstGeom prst="rect">
            <a:avLst/>
          </a:prstGeom>
          <a:noFill/>
          <a:ln/>
        </p:spPr>
        <p:txBody>
          <a:bodyPr wrap="square" lIns="0" tIns="0" rIns="0" bIns="0" rtlCol="0" anchor="ctr"/>
          <a:lstStyle/>
          <a:p>
            <a:pPr rtl="1" algn="r" indent="0" marL="0">
              <a:buNone/>
            </a:pPr>
            <a:r>
              <a:rPr lang="ar-SA" altLang="en-US" sz="1450" b="1" dirty="0">
                <a:solidFill>
                  <a:srgbClr val="8A6D1E"/>
                </a:solidFill>
                <a:latin typeface="Amiri" pitchFamily="2" charset="-78"/>
                <a:ea typeface="Amiri" pitchFamily="2" charset="-78"/>
                <a:cs typeface="Amiri" pitchFamily="2" charset="-78"/>
              </a:rPr>
              <a:t>مِنْ نَاحِيَةٍ … وَمِنْ نَاحِيَةٍ أُخْرَى</a:t>
            </a:r>
            <a:endParaRPr lang="ar-SA" sz="145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مِنْ نَاحِيَةٍ أَشْعُرُ بِالحَنِينِ، وَمِنْ نَاحِيَةٍ أُخْرَى أُحِبُّ حَيَاتِي هُنَا.</a:t>
            </a:r>
            <a:endParaRPr lang="ar-SA" sz="21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On one hand I feel nostalgia; on the other, I love my life here.</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Both sides.</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mistake: only one comparative at a time.</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أَكْبَرُ مِنْ غَيْرِهِ</a:t>
            </a:r>
            <a:endParaRPr lang="ar-SA" sz="26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900" b="1" dirty="0">
                <a:solidFill>
                  <a:srgbClr val="B83227"/>
                </a:solidFill>
                <a:latin typeface="Amiri" pitchFamily="2" charset="-78"/>
                <a:ea typeface="Amiri" pitchFamily="2" charset="-78"/>
                <a:cs typeface="Amiri" pitchFamily="2" charset="-78"/>
              </a:rPr>
              <a:t>أَكْثَرُ أَكْبَرُ مِنْ غَيْرِهِ</a:t>
            </a:r>
            <a:endParaRPr lang="ar-SA" sz="19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47</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TE-L09 · Comparing Cultures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Belonging, adaptation and comparison</a:t>
            </a:r>
            <a:endParaRPr lang="en-US" sz="25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الانْتِمَاءُ وَالتَّكَيُّفُ وَالمُقَارَنَةُ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TE-L09</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The four diaspora verbs</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يَنْتَمِي إِلَى · يَتَكَيَّفُ مَعَ · يَحْتَفِظُ بِـ · يُوَازِنُ بَيْنَ</a:t>
            </a:r>
            <a:endParaRPr lang="ar-SA" sz="13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أَنْتَمِي إِلَى ثَقَافَتَيْنِ   ·   تُوَازِنُ بَيْنَ اللُّغَتَيْنِ وَالعَادَتَيْنِ</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The synthetic comparative</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أَفْعَل</a:t>
            </a:r>
            <a:pPr algn="l" indent="0" marL="0">
              <a:buNone/>
            </a:pPr>
            <a:r>
              <a:rPr lang="en-US" sz="1050" dirty="0">
                <a:solidFill>
                  <a:srgbClr val="5A6472"/>
                </a:solidFill>
                <a:latin typeface="Calibri" pitchFamily="34" charset="0"/>
                <a:cs typeface="Amiri" pitchFamily="2" charset="-78"/>
              </a:rPr>
              <a:t> + </a:t>
            </a:r>
            <a:pPr algn="l" indent="0" marL="0">
              <a:buNone/>
            </a:pPr>
            <a:r>
              <a:rPr lang="ar-SA" altLang="en-US" sz="1350" dirty="0">
                <a:solidFill>
                  <a:srgbClr val="5A6472"/>
                </a:solidFill>
                <a:latin typeface="Amiri" pitchFamily="2" charset="-78"/>
                <a:ea typeface="Amiri" pitchFamily="2" charset="-78"/>
                <a:cs typeface="Amiri" pitchFamily="2" charset="-78"/>
              </a:rPr>
              <a:t>مِنْ</a:t>
            </a:r>
            <a:pPr algn="l" indent="0" marL="0">
              <a:buNone/>
            </a:pPr>
            <a:r>
              <a:rPr lang="en-US" sz="1050" dirty="0">
                <a:solidFill>
                  <a:srgbClr val="5A6472"/>
                </a:solidFill>
                <a:latin typeface="Calibri" pitchFamily="34" charset="0"/>
                <a:cs typeface="Amiri" pitchFamily="2" charset="-78"/>
              </a:rPr>
              <a:t> + genitive</a:t>
            </a:r>
            <a:endParaRPr lang="en-US" sz="10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لَنْدَنُ أَكْبَرُ مِنْ مَدِينَتِي   ·   الطَّقْسُ هُنَاكَ أَحَرُّ مِنْ هُنَا</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The analytical comparative</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أَكْثَرُ / أَقَلُّ</a:t>
            </a:r>
            <a:pPr algn="l" indent="0" marL="0">
              <a:buNone/>
            </a:pPr>
            <a:r>
              <a:rPr lang="en-US" sz="1050" dirty="0">
                <a:solidFill>
                  <a:srgbClr val="5A6472"/>
                </a:solidFill>
                <a:latin typeface="Calibri" pitchFamily="34" charset="0"/>
                <a:cs typeface="Amiri" pitchFamily="2" charset="-78"/>
              </a:rPr>
              <a:t> + accusative noun + </a:t>
            </a:r>
            <a:pPr algn="l" indent="0" marL="0">
              <a:buNone/>
            </a:pPr>
            <a:r>
              <a:rPr lang="ar-SA" altLang="en-US" sz="1350" dirty="0">
                <a:solidFill>
                  <a:srgbClr val="5A6472"/>
                </a:solidFill>
                <a:latin typeface="Amiri" pitchFamily="2" charset="-78"/>
                <a:ea typeface="Amiri" pitchFamily="2" charset="-78"/>
                <a:cs typeface="Amiri" pitchFamily="2" charset="-78"/>
              </a:rPr>
              <a:t>مِنْ</a:t>
            </a:r>
            <a:endParaRPr lang="en-US" sz="10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هٰذَا الحَيُّ أَكْثَرُ تَنَوُّعًا مِنْ غَيْرِهِ   ·   المَدِينَةُ أَقَلُّ هُدُوءًا مِنَ القَرْيَةِ</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Contrast and balance</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بَيْنَمَا · مِنْ نَاحِيَةٍ … وَمِنْ نَاحِيَةٍ أُخْرَى</a:t>
            </a:r>
            <a:endParaRPr lang="ar-SA" sz="13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lnSpc>
                <a:spcPct val="120000"/>
              </a:lnSpc>
              <a:buNone/>
            </a:pPr>
            <a:r>
              <a:rPr lang="ar-SA" altLang="en-US" sz="1850" b="1" dirty="0">
                <a:solidFill>
                  <a:srgbClr val="1F2A37"/>
                </a:solidFill>
                <a:latin typeface="Amiri" pitchFamily="2" charset="-78"/>
                <a:ea typeface="Amiri" pitchFamily="2" charset="-78"/>
                <a:cs typeface="Amiri" pitchFamily="2" charset="-78"/>
              </a:rPr>
              <a:t>أَتَحَدَّثُ العَرَبِيَّةَ فِي البَيْتِ، بَيْنَمَا أَدْرُسُ بِالإِنْجِلِيزِيَّةِ   ·   مِنْ نَاحِيَةٍ أَشْعُرُ بِالحَنِينِ، وَمِنْ نَاحِيَةٍ أُخْرَى أُحِبُّ حَيَاتِي هُنَا</a:t>
            </a:r>
            <a:endParaRPr lang="ar-SA" sz="18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47</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TE-L09 · Comparing Cultures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TE-L09</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أَنْتَمِي ___ ثَقَافَتَيْنِ.</a:t>
            </a:r>
            <a:endParaRPr lang="ar-SA" sz="15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مَعَ</a:t>
            </a:r>
            <a:endParaRPr lang="ar-SA" sz="20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a:t>
            </a:r>
            <a:endParaRPr lang="ar-SA" sz="2050" dirty="0"/>
          </a:p>
        </p:txBody>
      </p:sp>
      <p:sp>
        <p:nvSpPr>
          <p:cNvPr id="29" name="Shape 26"/>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313932"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2" name="Text 29"/>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3" name="Text 30"/>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تَحْتَفِظُ الأُسَرُ ___ لُغَتِهَا.</a:t>
            </a:r>
            <a:endParaRPr lang="ar-SA" sz="150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comparative.</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لَنْدَنُ أَكْثَرُ أَكْبَرُ مِنْ مَدِينَتِي.</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لَنْدَنُ أَكْبَرُ مِنْ مَدِينَتِي.</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لَنْدَنُ الأَكْبَرُ مِنْ مَدِينَتِي.</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analytical comparative.</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هٰذَا الحَيُّ أَكْثَرُ تَنَوُّعًا مِنْ غَيْرِهِ.</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هٰذَا الحَيُّ أَكْثَرُ تَنَوُّعٌ مِنْ غَيْرِهِ.</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هٰذَا الحَيُّ أَكْثَرُ مُتَنَوِّعٌ مِنْ غَيْرِهِ.</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47</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TE-L09 · Comparing Cultures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TE-L09</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أَنْتَمِي ___ ثَقَافَتَيْنِ.</a:t>
            </a:r>
            <a:endParaRPr lang="ar-SA" sz="1500" dirty="0"/>
          </a:p>
        </p:txBody>
      </p:sp>
      <p:sp>
        <p:nvSpPr>
          <p:cNvPr id="20" name="Shape 17"/>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بِـ</a:t>
            </a:r>
            <a:endParaRPr lang="ar-SA" sz="170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مَعَ</a:t>
            </a:r>
            <a:endParaRPr lang="ar-SA" sz="1700" dirty="0"/>
          </a:p>
        </p:txBody>
      </p:sp>
      <p:sp>
        <p:nvSpPr>
          <p:cNvPr id="26" name="Shape 23"/>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7" name="Shape 24"/>
          <p:cNvSpPr/>
          <p:nvPr/>
        </p:nvSpPr>
        <p:spPr>
          <a:xfrm>
            <a:off x="640080" y="3233928"/>
            <a:ext cx="256032" cy="256032"/>
          </a:xfrm>
          <a:prstGeom prst="ellipse">
            <a:avLst/>
          </a:prstGeom>
          <a:solidFill>
            <a:srgbClr val="2E8B57"/>
          </a:solidFill>
          <a:ln w="12700">
            <a:solidFill>
              <a:srgbClr val="2E8B57"/>
            </a:solidFill>
            <a:prstDash val="solid"/>
          </a:ln>
        </p:spPr>
      </p:sp>
      <p:sp>
        <p:nvSpPr>
          <p:cNvPr id="28" name="Text 25"/>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9" name="Text 26"/>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إِلَى</a:t>
            </a:r>
            <a:endParaRPr lang="ar-SA" sz="1700" dirty="0"/>
          </a:p>
        </p:txBody>
      </p:sp>
      <p:sp>
        <p:nvSpPr>
          <p:cNvPr id="30" name="Text 27"/>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يَنْتَمِي</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ea typeface="Amiri" pitchFamily="2" charset="-78"/>
                <a:cs typeface="Amiri" pitchFamily="2" charset="-78"/>
              </a:rPr>
              <a:t>إِلَى</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1" name="Shape 28"/>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6313932"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5" name="Text 32"/>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تَحْتَفِظُ الأُسَرُ ___ لُغَتِهَا.</a:t>
            </a:r>
            <a:endParaRPr lang="ar-SA" sz="1500" dirty="0"/>
          </a:p>
        </p:txBody>
      </p:sp>
      <p:sp>
        <p:nvSpPr>
          <p:cNvPr id="36" name="Shape 33"/>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7" name="Shape 34"/>
          <p:cNvSpPr/>
          <p:nvPr/>
        </p:nvSpPr>
        <p:spPr>
          <a:xfrm>
            <a:off x="6368796" y="2490216"/>
            <a:ext cx="256032" cy="256032"/>
          </a:xfrm>
          <a:prstGeom prst="ellipse">
            <a:avLst/>
          </a:prstGeom>
          <a:solidFill>
            <a:srgbClr val="2E8B57"/>
          </a:solidFill>
          <a:ln w="12700">
            <a:solidFill>
              <a:srgbClr val="2E8B57"/>
            </a:solidFill>
            <a:prstDash val="solid"/>
          </a:ln>
        </p:spPr>
      </p:sp>
      <p:sp>
        <p:nvSpPr>
          <p:cNvPr id="38" name="Text 35"/>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9" name="Text 36"/>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بِـ</a:t>
            </a:r>
            <a:endParaRPr lang="ar-SA" sz="1700" dirty="0"/>
          </a:p>
        </p:txBody>
      </p:sp>
      <p:sp>
        <p:nvSpPr>
          <p:cNvPr id="40" name="Shape 37"/>
          <p:cNvSpPr/>
          <p:nvPr/>
        </p:nvSpPr>
        <p:spPr>
          <a:xfrm>
            <a:off x="6368796" y="2862072"/>
            <a:ext cx="256032" cy="256032"/>
          </a:xfrm>
          <a:prstGeom prst="ellipse">
            <a:avLst/>
          </a:prstGeom>
          <a:solidFill>
            <a:srgbClr val="C9CED6"/>
          </a:solidFill>
          <a:ln w="12700">
            <a:solidFill>
              <a:srgbClr val="C9CED6"/>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مِنْ</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يَحْتَفِظُ</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ea typeface="Amiri" pitchFamily="2" charset="-78"/>
                <a:cs typeface="Amiri" pitchFamily="2" charset="-78"/>
              </a:rPr>
              <a:t>بِـ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comparative.</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لَنْدَنُ أَكْثَرُ أَكْبَرُ مِنْ مَدِينَتِي.</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لَنْدَنُ أَكْبَرُ مِنْ مَدِينَتِي.</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لَنْدَنُ الأَكْبَرُ مِنْ مَدِينَتِي.</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Use one comparative form; </a:t>
            </a:r>
            <a:pPr algn="l" indent="0" marL="0">
              <a:buNone/>
            </a:pPr>
            <a:r>
              <a:rPr lang="ar-SA" altLang="en-US" sz="1350" dirty="0">
                <a:solidFill>
                  <a:srgbClr val="8A6D1E"/>
                </a:solidFill>
                <a:latin typeface="Amiri" pitchFamily="2" charset="-78"/>
                <a:ea typeface="Amiri" pitchFamily="2" charset="-78"/>
                <a:cs typeface="Amiri" pitchFamily="2" charset="-78"/>
              </a:rPr>
              <a:t>أَفْعَل</a:t>
            </a:r>
            <a:pPr algn="l" indent="0" marL="0">
              <a:buNone/>
            </a:pPr>
            <a:r>
              <a:rPr lang="en-US" sz="1050" i="1" dirty="0">
                <a:solidFill>
                  <a:srgbClr val="8A6D1E"/>
                </a:solidFill>
                <a:latin typeface="Calibri" pitchFamily="34" charset="0"/>
                <a:cs typeface="Amiri" pitchFamily="2" charset="-78"/>
              </a:rPr>
              <a:t> takes no article in this structure.</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analytical comparative.</a:t>
            </a:r>
            <a:endParaRPr lang="en-US" sz="1250" dirty="0"/>
          </a:p>
        </p:txBody>
      </p:sp>
      <p:sp>
        <p:nvSpPr>
          <p:cNvPr id="66" name="Shape 63"/>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7" name="Shape 64"/>
          <p:cNvSpPr/>
          <p:nvPr/>
        </p:nvSpPr>
        <p:spPr>
          <a:xfrm>
            <a:off x="6368796" y="4831080"/>
            <a:ext cx="256032" cy="256032"/>
          </a:xfrm>
          <a:prstGeom prst="ellipse">
            <a:avLst/>
          </a:prstGeom>
          <a:solidFill>
            <a:srgbClr val="2E8B57"/>
          </a:solidFill>
          <a:ln w="12700">
            <a:solidFill>
              <a:srgbClr val="2E8B57"/>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هٰذَا الحَيُّ أَكْثَرُ تَنَوُّعًا مِنْ غَيْرِهِ.</a:t>
            </a:r>
            <a:endParaRPr lang="ar-SA" sz="170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هٰذَا الحَيُّ أَكْثَرُ تَنَوُّعٌ مِنْ غَيْرِهِ.</a:t>
            </a:r>
            <a:endParaRPr lang="ar-SA" sz="1700" dirty="0"/>
          </a:p>
        </p:txBody>
      </p:sp>
      <p:sp>
        <p:nvSpPr>
          <p:cNvPr id="73" name="Shape 70"/>
          <p:cNvSpPr/>
          <p:nvPr/>
        </p:nvSpPr>
        <p:spPr>
          <a:xfrm>
            <a:off x="6368796"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هٰذَا الحَيُّ أَكْثَرُ مُتَنَوِّعٌ مِنْ غَيْرِهِ.</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noun between </a:t>
            </a:r>
            <a:pPr algn="l" indent="0" marL="0">
              <a:buNone/>
            </a:pPr>
            <a:r>
              <a:rPr lang="ar-SA" altLang="en-US" sz="1350" dirty="0">
                <a:solidFill>
                  <a:srgbClr val="8A6D1E"/>
                </a:solidFill>
                <a:latin typeface="Amiri" pitchFamily="2" charset="-78"/>
                <a:ea typeface="Amiri" pitchFamily="2" charset="-78"/>
                <a:cs typeface="Amiri" pitchFamily="2" charset="-78"/>
              </a:rPr>
              <a:t>أَكْثَرُ</a:t>
            </a:r>
            <a:pPr algn="l" indent="0" marL="0">
              <a:buNone/>
            </a:pPr>
            <a:r>
              <a:rPr lang="en-US" sz="1050" i="1" dirty="0">
                <a:solidFill>
                  <a:srgbClr val="8A6D1E"/>
                </a:solidFill>
                <a:latin typeface="Calibri" pitchFamily="34" charset="0"/>
                <a:cs typeface="Amiri" pitchFamily="2" charset="-78"/>
              </a:rPr>
              <a:t> and </a:t>
            </a:r>
            <a:pPr algn="l" indent="0" marL="0">
              <a:buNone/>
            </a:pPr>
            <a:r>
              <a:rPr lang="ar-SA" altLang="en-US" sz="1350" dirty="0">
                <a:solidFill>
                  <a:srgbClr val="8A6D1E"/>
                </a:solidFill>
                <a:latin typeface="Amiri" pitchFamily="2" charset="-78"/>
                <a:ea typeface="Amiri" pitchFamily="2" charset="-78"/>
                <a:cs typeface="Amiri" pitchFamily="2" charset="-78"/>
              </a:rPr>
              <a:t>مِنْ</a:t>
            </a:r>
            <a:pPr algn="l" indent="0" marL="0">
              <a:buNone/>
            </a:pPr>
            <a:r>
              <a:rPr lang="en-US" sz="1050" i="1" dirty="0">
                <a:solidFill>
                  <a:srgbClr val="8A6D1E"/>
                </a:solidFill>
                <a:latin typeface="Calibri" pitchFamily="34" charset="0"/>
                <a:cs typeface="Amiri" pitchFamily="2" charset="-78"/>
              </a:rPr>
              <a:t> is accusative.</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47</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TE-L09 · Comparing Cultures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00" b="1" dirty="0">
                <a:solidFill>
                  <a:srgbClr val="1B3B6F"/>
                </a:solidFill>
                <a:latin typeface="Cambria" pitchFamily="34" charset="0"/>
                <a:cs typeface="Amiri" pitchFamily="2" charset="-78"/>
              </a:rPr>
              <a:t>Watch me describe living between two places</a:t>
            </a:r>
            <a:endParaRPr lang="en-US" sz="21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TE-L09</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Belong</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أَنْتَمِي </a:t>
            </a:r>
            <a:pPr rtl="1" algn="ctr" indent="0" marL="0">
              <a:buNone/>
            </a:pPr>
            <a:r>
              <a:rPr lang="ar-SA" altLang="en-US" sz="2800" b="1" dirty="0">
                <a:solidFill>
                  <a:srgbClr val="0E7C86"/>
                </a:solidFill>
                <a:latin typeface="Amiri" pitchFamily="2" charset="-78"/>
                <a:ea typeface="Amiri" pitchFamily="2" charset="-78"/>
                <a:cs typeface="Amiri" pitchFamily="2" charset="-78"/>
              </a:rPr>
              <a:t>إِلَى</a:t>
            </a:r>
            <a:pPr rtl="1" algn="ctr" indent="0" marL="0">
              <a:buNone/>
            </a:pPr>
            <a:r>
              <a:rPr lang="ar-SA" altLang="en-US" sz="2800" b="1" dirty="0">
                <a:solidFill>
                  <a:srgbClr val="1B3B6F"/>
                </a:solidFill>
                <a:latin typeface="Amiri" pitchFamily="2" charset="-78"/>
                <a:ea typeface="Amiri" pitchFamily="2" charset="-78"/>
                <a:cs typeface="Amiri" pitchFamily="2" charset="-78"/>
              </a:rPr>
              <a:t> ثَقَافَتَيْنِ</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intamā + ilā.</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Contrast</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نَتَحَدَّثُ العَرَبِيَّةَ، </a:t>
            </a:r>
            <a:pPr rtl="1" algn="ctr" indent="0" marL="0">
              <a:lnSpc>
                <a:spcPct val="120000"/>
              </a:lnSpc>
              <a:buNone/>
            </a:pPr>
            <a:r>
              <a:rPr lang="ar-SA" altLang="en-US" sz="1750" b="1" dirty="0">
                <a:solidFill>
                  <a:srgbClr val="1D5FBF"/>
                </a:solidFill>
                <a:latin typeface="Amiri" pitchFamily="2" charset="-78"/>
                <a:ea typeface="Amiri" pitchFamily="2" charset="-78"/>
                <a:cs typeface="Amiri" pitchFamily="2" charset="-78"/>
              </a:rPr>
              <a:t>بَيْنَمَا</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أَدْرُسُ بِالإِنْجِلِيزِيَّةِ</a:t>
            </a:r>
            <a:endParaRPr lang="ar-SA" sz="175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Home vs school.</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Compare</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أَصْغَرُ مِنْ · </a:t>
            </a:r>
            <a:pPr rtl="1" algn="ctr" indent="0" marL="0">
              <a:buNone/>
            </a:pPr>
            <a:r>
              <a:rPr lang="ar-SA" altLang="en-US" sz="2100" b="1" dirty="0">
                <a:solidFill>
                  <a:srgbClr val="D6336C"/>
                </a:solidFill>
                <a:latin typeface="Amiri" pitchFamily="2" charset="-78"/>
                <a:ea typeface="Amiri" pitchFamily="2" charset="-78"/>
                <a:cs typeface="Amiri" pitchFamily="2" charset="-78"/>
              </a:rPr>
              <a:t>أَكْثَرُ هُدُوءًا</a:t>
            </a:r>
            <a:pPr rtl="1" algn="ctr" indent="0" marL="0">
              <a:buNone/>
            </a:pPr>
            <a:r>
              <a:rPr lang="ar-SA" altLang="en-US" sz="2100" b="1" dirty="0">
                <a:solidFill>
                  <a:srgbClr val="1B3B6F"/>
                </a:solidFill>
                <a:latin typeface="Amiri" pitchFamily="2" charset="-78"/>
                <a:ea typeface="Amiri" pitchFamily="2" charset="-78"/>
                <a:cs typeface="Amiri" pitchFamily="2" charset="-78"/>
              </a:rPr>
              <a:t> مِنْ</a:t>
            </a:r>
            <a:endParaRPr lang="ar-SA" sz="21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One at a time.</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Balance</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800" b="1" dirty="0">
                <a:solidFill>
                  <a:srgbClr val="1B3B6F"/>
                </a:solidFill>
                <a:latin typeface="Amiri" pitchFamily="2" charset="-78"/>
                <a:ea typeface="Amiri" pitchFamily="2" charset="-78"/>
                <a:cs typeface="Amiri" pitchFamily="2" charset="-78"/>
              </a:rPr>
              <a:t>مِنْ نَاحِيَةٍ … وَمِنْ نَاحِيَةٍ أُخْرَى …</a:t>
            </a:r>
            <a:endParaRPr lang="ar-SA" sz="1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Both feelings.</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8540496"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PREPOSITION</a:t>
            </a:r>
            <a:endParaRPr lang="en-US" sz="800" dirty="0"/>
          </a:p>
        </p:txBody>
      </p:sp>
      <p:sp>
        <p:nvSpPr>
          <p:cNvPr id="47" name="Shape 43"/>
          <p:cNvSpPr/>
          <p:nvPr/>
        </p:nvSpPr>
        <p:spPr>
          <a:xfrm>
            <a:off x="9528048" y="4736592"/>
            <a:ext cx="914400" cy="237744"/>
          </a:xfrm>
          <a:prstGeom prst="roundRect">
            <a:avLst>
              <a:gd name="adj" fmla="val 50000"/>
            </a:avLst>
          </a:prstGeom>
          <a:solidFill>
            <a:srgbClr val="1D5FBF"/>
          </a:solidFill>
          <a:ln w="12700">
            <a:solidFill>
              <a:srgbClr val="1D5FBF"/>
            </a:solidFill>
            <a:prstDash val="solid"/>
          </a:ln>
        </p:spPr>
      </p:sp>
      <p:sp>
        <p:nvSpPr>
          <p:cNvPr id="48" name="Text 44"/>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CONTRAST</a:t>
            </a:r>
            <a:endParaRPr lang="en-US" sz="800" dirty="0"/>
          </a:p>
        </p:txBody>
      </p:sp>
      <p:sp>
        <p:nvSpPr>
          <p:cNvPr id="49" name="Shape 45"/>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50" name="Text 46"/>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COMPARATIVE</a:t>
            </a:r>
            <a:endParaRPr lang="en-US" sz="800" dirty="0"/>
          </a:p>
        </p:txBody>
      </p:sp>
      <p:sp>
        <p:nvSpPr>
          <p:cNvPr id="51" name="Text 47"/>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أَنَا مِنَ الجِيلِ الثَّانِي فِي الجَالِيَةِ العَرَبِيَّةِ. أَنْتَمِي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إِلَى</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ثَقَافَتَيْنِ، وَأُوَازِنُ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بَيْنَهُمَا</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كُلَّ يَوْمٍ. فِي البَيْتِ نَتَحَدَّثُ العَرَبِيَّةَ، </a:t>
            </a:r>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بَيْنَمَا</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أَدْرُسُ بِالإِنْجِلِيزِيَّةِ. مَدِينَتُنَا </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أَصْغَرُ مِنَ</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القَاهِرَةِ، وَلٰكِنَّهَا </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أَكْثَرُ هُدُوءًا</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مِنْهَا.</a:t>
            </a:r>
            <a:endParaRPr lang="ar-SA" sz="1400" dirty="0"/>
          </a:p>
        </p:txBody>
      </p:sp>
      <p:sp>
        <p:nvSpPr>
          <p:cNvPr id="52" name="Text 48"/>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I am from the second generation of the Arab community. I belong to two cultures and balance between them every day. At home we speak Arabic, whereas I study in English. Our city is smaller than Cairo, but it is calmer.</a:t>
            </a:r>
            <a:endParaRPr lang="en-US" sz="1100" dirty="0"/>
          </a:p>
        </p:txBody>
      </p:sp>
      <p:sp>
        <p:nvSpPr>
          <p:cNvPr id="53"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47</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TE-L09 · Comparing Cultures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TE-L09</a:t>
            </a:r>
            <a:endParaRPr lang="en-US" sz="850" dirty="0"/>
          </a:p>
        </p:txBody>
      </p:sp>
      <p:sp>
        <p:nvSpPr>
          <p:cNvPr id="15" name="Shape 12"/>
          <p:cNvSpPr/>
          <p:nvPr/>
        </p:nvSpPr>
        <p:spPr>
          <a:xfrm>
            <a:off x="457200" y="1810512"/>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316480"/>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3164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أَنْتَمِي إِلَى ثَقَافَتَيْنِ</a:t>
            </a:r>
            <a:endParaRPr lang="ar-SA" sz="2600" dirty="0"/>
          </a:p>
        </p:txBody>
      </p:sp>
      <p:sp>
        <p:nvSpPr>
          <p:cNvPr id="19" name="Text 16"/>
          <p:cNvSpPr txBox="1"/>
          <p:nvPr/>
        </p:nvSpPr>
        <p:spPr>
          <a:xfrm>
            <a:off x="685800" y="1856232"/>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belong to two cultures</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إِلَى is fixed with يَنْتَمِي; ثَقَافَتَيْنِ is the dual.</a:t>
            </a:r>
            <a:endParaRPr lang="en-US" sz="1250" dirty="0"/>
          </a:p>
        </p:txBody>
      </p:sp>
      <p:sp>
        <p:nvSpPr>
          <p:cNvPr id="20" name="Shape 17"/>
          <p:cNvSpPr/>
          <p:nvPr/>
        </p:nvSpPr>
        <p:spPr>
          <a:xfrm>
            <a:off x="457200" y="3352800"/>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858768"/>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858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389376"/>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لَنْدَنُ أَكْبَرُ مِنْ مَدِينَتِي</a:t>
            </a:r>
            <a:endParaRPr lang="ar-SA" sz="2600" dirty="0"/>
          </a:p>
        </p:txBody>
      </p:sp>
      <p:sp>
        <p:nvSpPr>
          <p:cNvPr id="24" name="Text 21"/>
          <p:cNvSpPr txBox="1"/>
          <p:nvPr/>
        </p:nvSpPr>
        <p:spPr>
          <a:xfrm>
            <a:off x="685800" y="3398520"/>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London is bigger than my city</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One comparative form, and a genitive after مِنْ.</a:t>
            </a:r>
            <a:endParaRPr lang="en-US" sz="1250" dirty="0"/>
          </a:p>
        </p:txBody>
      </p:sp>
      <p:sp>
        <p:nvSpPr>
          <p:cNvPr id="25" name="Shape 22"/>
          <p:cNvSpPr/>
          <p:nvPr/>
        </p:nvSpPr>
        <p:spPr>
          <a:xfrm>
            <a:off x="457200" y="4895088"/>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540105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54010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931664"/>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أَكْثَرُ تَنَوُّعًا مِنْ غَيْرِهِ</a:t>
            </a:r>
            <a:endParaRPr lang="ar-SA" sz="2600" dirty="0"/>
          </a:p>
        </p:txBody>
      </p:sp>
      <p:sp>
        <p:nvSpPr>
          <p:cNvPr id="29" name="Text 26"/>
          <p:cNvSpPr txBox="1"/>
          <p:nvPr/>
        </p:nvSpPr>
        <p:spPr>
          <a:xfrm>
            <a:off x="685800" y="4940808"/>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more diverse than others</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The noun between أَكْثَرُ and مِنْ is accusative.</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47</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TE-L09 · Comparing Cultures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WE DO · PICTURE MATCH · WEBSITE GAME “COMPARE CULTURES (TOPIC GAME)”</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Match the picture to the sentence</a:t>
            </a:r>
            <a:endParaRPr lang="en-US" sz="27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الثَّقَافَاتِ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TE-L09</a:t>
            </a:r>
            <a:endParaRPr lang="en-US" sz="850" dirty="0"/>
          </a:p>
        </p:txBody>
      </p:sp>
      <p:sp>
        <p:nvSpPr>
          <p:cNvPr id="17" name="Shape 14"/>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23504" y="19385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0" name="Shape 17"/>
          <p:cNvSpPr/>
          <p:nvPr/>
        </p:nvSpPr>
        <p:spPr>
          <a:xfrm>
            <a:off x="9406128" y="2066544"/>
            <a:ext cx="1014984" cy="1014984"/>
          </a:xfrm>
          <a:prstGeom prst="ellipse">
            <a:avLst/>
          </a:prstGeom>
          <a:solidFill>
            <a:srgbClr val="F4F1EA"/>
          </a:solidFill>
          <a:ln w="12700">
            <a:solidFill>
              <a:srgbClr val="F4F1EA"/>
            </a:solidFill>
            <a:prstDash val="solid"/>
          </a:ln>
        </p:spPr>
      </p:sp>
      <p:pic>
        <p:nvPicPr>
          <p:cNvPr id="21" name="Image 0" descr="preencoded.png">    </p:cNvPr>
          <p:cNvPicPr>
            <a:picLocks noChangeAspect="1"/>
          </p:cNvPicPr>
          <p:nvPr/>
        </p:nvPicPr>
        <p:blipFill>
          <a:blip r:embed="rId1"/>
          <a:stretch>
            <a:fillRect/>
          </a:stretch>
        </p:blipFill>
        <p:spPr>
          <a:xfrm>
            <a:off x="9589008" y="2249424"/>
            <a:ext cx="649224" cy="649224"/>
          </a:xfrm>
          <a:prstGeom prst="rect">
            <a:avLst/>
          </a:prstGeom>
        </p:spPr>
      </p:pic>
      <p:sp>
        <p:nvSpPr>
          <p:cNvPr id="22" name="Text 18"/>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 B: hospitality</a:t>
            </a:r>
            <a:endParaRPr lang="en-US" sz="1100" dirty="0"/>
          </a:p>
        </p:txBody>
      </p:sp>
      <p:sp>
        <p:nvSpPr>
          <p:cNvPr id="23" name="Shape 19"/>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0"/>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1"/>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6" name="Shape 22"/>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1" descr="preencoded.png">    </p:cNvPr>
          <p:cNvPicPr>
            <a:picLocks noChangeAspect="1"/>
          </p:cNvPicPr>
          <p:nvPr/>
        </p:nvPicPr>
        <p:blipFill>
          <a:blip r:embed="rId2"/>
          <a:stretch>
            <a:fillRect/>
          </a:stretch>
        </p:blipFill>
        <p:spPr>
          <a:xfrm>
            <a:off x="5175504" y="2249424"/>
            <a:ext cx="649224" cy="649224"/>
          </a:xfrm>
          <a:prstGeom prst="rect">
            <a:avLst/>
          </a:prstGeom>
        </p:spPr>
      </p:pic>
      <p:sp>
        <p:nvSpPr>
          <p:cNvPr id="28" name="Shape 23"/>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2" descr="preencoded.png">    </p:cNvPr>
          <p:cNvPicPr>
            <a:picLocks noChangeAspect="1"/>
          </p:cNvPicPr>
          <p:nvPr/>
        </p:nvPicPr>
        <p:blipFill>
          <a:blip r:embed="rId3"/>
          <a:stretch>
            <a:fillRect/>
          </a:stretch>
        </p:blipFill>
        <p:spPr>
          <a:xfrm>
            <a:off x="6364224" y="2249424"/>
            <a:ext cx="649224" cy="649224"/>
          </a:xfrm>
          <a:prstGeom prst="rect">
            <a:avLst/>
          </a:prstGeom>
        </p:spPr>
      </p:pic>
      <p:sp>
        <p:nvSpPr>
          <p:cNvPr id="30" name="Text 24"/>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coffee · B tea</a:t>
            </a:r>
            <a:endParaRPr lang="en-US" sz="1100" dirty="0"/>
          </a:p>
        </p:txBody>
      </p:sp>
      <p:sp>
        <p:nvSpPr>
          <p:cNvPr id="31" name="Shape 25"/>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6"/>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7"/>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4" name="Shape 28"/>
          <p:cNvSpPr/>
          <p:nvPr/>
        </p:nvSpPr>
        <p:spPr>
          <a:xfrm>
            <a:off x="1767840" y="2066544"/>
            <a:ext cx="1014984" cy="1014984"/>
          </a:xfrm>
          <a:prstGeom prst="ellipse">
            <a:avLst/>
          </a:prstGeom>
          <a:solidFill>
            <a:srgbClr val="F4F1EA"/>
          </a:solidFill>
          <a:ln w="12700">
            <a:solidFill>
              <a:srgbClr val="F4F1EA"/>
            </a:solidFill>
            <a:prstDash val="solid"/>
          </a:ln>
        </p:spPr>
      </p:sp>
      <p:pic>
        <p:nvPicPr>
          <p:cNvPr id="35" name="Image 3" descr="preencoded.png">    </p:cNvPr>
          <p:cNvPicPr>
            <a:picLocks noChangeAspect="1"/>
          </p:cNvPicPr>
          <p:nvPr/>
        </p:nvPicPr>
        <p:blipFill>
          <a:blip r:embed="rId4"/>
          <a:stretch>
            <a:fillRect/>
          </a:stretch>
        </p:blipFill>
        <p:spPr>
          <a:xfrm>
            <a:off x="1950720" y="2249424"/>
            <a:ext cx="649224" cy="649224"/>
          </a:xfrm>
          <a:prstGeom prst="rect">
            <a:avLst/>
          </a:prstGeom>
        </p:spPr>
      </p:pic>
      <p:sp>
        <p:nvSpPr>
          <p:cNvPr id="36" name="Text 2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balanced comparison</a:t>
            </a:r>
            <a:endParaRPr lang="en-US" sz="1100" dirty="0"/>
          </a:p>
        </p:txBody>
      </p:sp>
      <p:sp>
        <p:nvSpPr>
          <p:cNvPr id="37" name="Shape 30"/>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38" name="Shape 31"/>
          <p:cNvSpPr/>
          <p:nvPr/>
        </p:nvSpPr>
        <p:spPr>
          <a:xfrm>
            <a:off x="11247120" y="3831336"/>
            <a:ext cx="292608" cy="292608"/>
          </a:xfrm>
          <a:prstGeom prst="ellipse">
            <a:avLst/>
          </a:prstGeom>
          <a:solidFill>
            <a:srgbClr val="2F6FB0"/>
          </a:solidFill>
          <a:ln w="12700">
            <a:solidFill>
              <a:srgbClr val="2F6FB0"/>
            </a:solidFill>
            <a:prstDash val="solid"/>
          </a:ln>
        </p:spPr>
      </p:sp>
      <p:sp>
        <p:nvSpPr>
          <p:cNvPr id="39" name="Text 32"/>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0" name="Text 33"/>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تَخْتَلِفُ الْعَادَاتُ فِي نَوْعِ الْمَشْرُوبِ الَّذِي يُقَدَّمُ لِلضُّيُوفِ.</a:t>
            </a:r>
            <a:endParaRPr lang="ar-SA" sz="2000" dirty="0"/>
          </a:p>
        </p:txBody>
      </p:sp>
      <p:sp>
        <p:nvSpPr>
          <p:cNvPr id="41" name="Shape 34"/>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2" name="Shape 35"/>
          <p:cNvSpPr/>
          <p:nvPr/>
        </p:nvSpPr>
        <p:spPr>
          <a:xfrm>
            <a:off x="11247120" y="4398264"/>
            <a:ext cx="292608" cy="292608"/>
          </a:xfrm>
          <a:prstGeom prst="ellipse">
            <a:avLst/>
          </a:prstGeom>
          <a:solidFill>
            <a:srgbClr val="2F6FB0"/>
          </a:solidFill>
          <a:ln w="12700">
            <a:solidFill>
              <a:srgbClr val="2F6FB0"/>
            </a:solidFill>
            <a:prstDash val="solid"/>
          </a:ln>
        </p:spPr>
      </p:sp>
      <p:sp>
        <p:nvSpPr>
          <p:cNvPr id="43" name="Text 36"/>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4" name="Text 37"/>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يَنْبَغِي أَنْ نُقَارِنَ مِنْ دُونِ الْحُكْمِ عَلَى أَيِّ ثَقَافَةٍ بِأَنَّهَا أَفْضَلُ.</a:t>
            </a:r>
            <a:endParaRPr lang="ar-SA" sz="2000" dirty="0"/>
          </a:p>
        </p:txBody>
      </p:sp>
      <p:sp>
        <p:nvSpPr>
          <p:cNvPr id="45" name="Shape 38"/>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6" name="Shape 39"/>
          <p:cNvSpPr/>
          <p:nvPr/>
        </p:nvSpPr>
        <p:spPr>
          <a:xfrm>
            <a:off x="11247120" y="4965192"/>
            <a:ext cx="292608" cy="292608"/>
          </a:xfrm>
          <a:prstGeom prst="ellipse">
            <a:avLst/>
          </a:prstGeom>
          <a:solidFill>
            <a:srgbClr val="2F6FB0"/>
          </a:solidFill>
          <a:ln w="12700">
            <a:solidFill>
              <a:srgbClr val="2F6FB0"/>
            </a:solidFill>
            <a:prstDash val="solid"/>
          </a:ln>
        </p:spPr>
      </p:sp>
      <p:sp>
        <p:nvSpPr>
          <p:cNvPr id="47" name="Text 40"/>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48" name="Text 41"/>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تَتَشَابَهُ الثَّقَافَتَانِ فِي أَهَمِّيَّةِ الضِّيَافَةِ.</a:t>
            </a:r>
            <a:endParaRPr lang="ar-SA" sz="2000" dirty="0"/>
          </a:p>
        </p:txBody>
      </p:sp>
      <p:sp>
        <p:nvSpPr>
          <p:cNvPr id="49" name="Text 42"/>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0" name="Text 43"/>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1"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47</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TE-L09 · Comparing Cultures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الثَّقَافَاتِ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TE-L09</a:t>
            </a:r>
            <a:endParaRPr lang="en-US" sz="850" dirty="0"/>
          </a:p>
        </p:txBody>
      </p:sp>
      <p:sp>
        <p:nvSpPr>
          <p:cNvPr id="17" name="Shape 14"/>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23504" y="19385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0" name="Shape 17"/>
          <p:cNvSpPr/>
          <p:nvPr/>
        </p:nvSpPr>
        <p:spPr>
          <a:xfrm>
            <a:off x="9406128" y="2066544"/>
            <a:ext cx="1014984" cy="1014984"/>
          </a:xfrm>
          <a:prstGeom prst="ellipse">
            <a:avLst/>
          </a:prstGeom>
          <a:solidFill>
            <a:srgbClr val="F4F1EA"/>
          </a:solidFill>
          <a:ln w="12700">
            <a:solidFill>
              <a:srgbClr val="F4F1EA"/>
            </a:solidFill>
            <a:prstDash val="solid"/>
          </a:ln>
        </p:spPr>
      </p:sp>
      <p:pic>
        <p:nvPicPr>
          <p:cNvPr id="21" name="Image 0" descr="preencoded.png">    </p:cNvPr>
          <p:cNvPicPr>
            <a:picLocks noChangeAspect="1"/>
          </p:cNvPicPr>
          <p:nvPr/>
        </p:nvPicPr>
        <p:blipFill>
          <a:blip r:embed="rId1"/>
          <a:stretch>
            <a:fillRect/>
          </a:stretch>
        </p:blipFill>
        <p:spPr>
          <a:xfrm>
            <a:off x="9589008" y="2249424"/>
            <a:ext cx="649224" cy="649224"/>
          </a:xfrm>
          <a:prstGeom prst="rect">
            <a:avLst/>
          </a:prstGeom>
        </p:spPr>
      </p:pic>
      <p:sp>
        <p:nvSpPr>
          <p:cNvPr id="22" name="Text 18"/>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 B: hospitality</a:t>
            </a:r>
            <a:endParaRPr lang="en-US" sz="1100" dirty="0"/>
          </a:p>
        </p:txBody>
      </p:sp>
      <p:sp>
        <p:nvSpPr>
          <p:cNvPr id="23" name="Shape 19"/>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20"/>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1"/>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26" name="Text 22"/>
          <p:cNvSpPr txBox="1"/>
          <p:nvPr/>
        </p:nvSpPr>
        <p:spPr>
          <a:xfrm>
            <a:off x="8232648"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ea typeface="Amiri" pitchFamily="2" charset="-78"/>
                <a:cs typeface="Amiri" pitchFamily="2" charset="-78"/>
              </a:rPr>
              <a:t>تَتَشَابَهُ الثَّقَافَتَانِ فِي أَهَمِّيَّةِ الضِّيَافَةِ.</a:t>
            </a:r>
            <a:endParaRPr lang="ar-SA" sz="2200" dirty="0"/>
          </a:p>
        </p:txBody>
      </p:sp>
      <p:sp>
        <p:nvSpPr>
          <p:cNvPr id="27" name="Text 23"/>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The two cultures are similar in the importance of hospitality.</a:t>
            </a:r>
            <a:endParaRPr lang="en-US" sz="1200" dirty="0"/>
          </a:p>
        </p:txBody>
      </p:sp>
      <p:sp>
        <p:nvSpPr>
          <p:cNvPr id="28" name="Shape 24"/>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5"/>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6"/>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1" name="Shape 27"/>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1" descr="preencoded.png">    </p:cNvPr>
          <p:cNvPicPr>
            <a:picLocks noChangeAspect="1"/>
          </p:cNvPicPr>
          <p:nvPr/>
        </p:nvPicPr>
        <p:blipFill>
          <a:blip r:embed="rId2"/>
          <a:stretch>
            <a:fillRect/>
          </a:stretch>
        </p:blipFill>
        <p:spPr>
          <a:xfrm>
            <a:off x="5175504" y="2249424"/>
            <a:ext cx="649224" cy="649224"/>
          </a:xfrm>
          <a:prstGeom prst="rect">
            <a:avLst/>
          </a:prstGeom>
        </p:spPr>
      </p:pic>
      <p:sp>
        <p:nvSpPr>
          <p:cNvPr id="33" name="Shape 28"/>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2" descr="preencoded.png">    </p:cNvPr>
          <p:cNvPicPr>
            <a:picLocks noChangeAspect="1"/>
          </p:cNvPicPr>
          <p:nvPr/>
        </p:nvPicPr>
        <p:blipFill>
          <a:blip r:embed="rId3"/>
          <a:stretch>
            <a:fillRect/>
          </a:stretch>
        </p:blipFill>
        <p:spPr>
          <a:xfrm>
            <a:off x="6364224" y="2249424"/>
            <a:ext cx="649224" cy="649224"/>
          </a:xfrm>
          <a:prstGeom prst="rect">
            <a:avLst/>
          </a:prstGeom>
        </p:spPr>
      </p:pic>
      <p:sp>
        <p:nvSpPr>
          <p:cNvPr id="35" name="Text 29"/>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coffee · B tea</a:t>
            </a:r>
            <a:endParaRPr lang="en-US" sz="1100" dirty="0"/>
          </a:p>
        </p:txBody>
      </p:sp>
      <p:sp>
        <p:nvSpPr>
          <p:cNvPr id="36" name="Shape 30"/>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1"/>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2"/>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39" name="Text 33"/>
          <p:cNvSpPr txBox="1"/>
          <p:nvPr/>
        </p:nvSpPr>
        <p:spPr>
          <a:xfrm>
            <a:off x="4413504"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ea typeface="Amiri" pitchFamily="2" charset="-78"/>
                <a:cs typeface="Amiri" pitchFamily="2" charset="-78"/>
              </a:rPr>
              <a:t>تَخْتَلِفُ الْعَادَاتُ فِي نَوْعِ الْمَشْرُوبِ الَّذِي يُقَدَّمُ لِلضُّيُوفِ.</a:t>
            </a:r>
            <a:endParaRPr lang="ar-SA" sz="2200" dirty="0"/>
          </a:p>
        </p:txBody>
      </p:sp>
      <p:sp>
        <p:nvSpPr>
          <p:cNvPr id="40" name="Text 34"/>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The customs differ in the kind of drink served to guests.</a:t>
            </a:r>
            <a:endParaRPr lang="en-US" sz="1200" dirty="0"/>
          </a:p>
        </p:txBody>
      </p:sp>
      <p:sp>
        <p:nvSpPr>
          <p:cNvPr id="41" name="Shape 35"/>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6"/>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7"/>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4" name="Shape 38"/>
          <p:cNvSpPr/>
          <p:nvPr/>
        </p:nvSpPr>
        <p:spPr>
          <a:xfrm>
            <a:off x="1767840" y="2066544"/>
            <a:ext cx="1014984" cy="1014984"/>
          </a:xfrm>
          <a:prstGeom prst="ellipse">
            <a:avLst/>
          </a:prstGeom>
          <a:solidFill>
            <a:srgbClr val="F4F1EA"/>
          </a:solidFill>
          <a:ln w="12700">
            <a:solidFill>
              <a:srgbClr val="F4F1EA"/>
            </a:solidFill>
            <a:prstDash val="solid"/>
          </a:ln>
        </p:spPr>
      </p:sp>
      <p:pic>
        <p:nvPicPr>
          <p:cNvPr id="45" name="Image 3" descr="preencoded.png">    </p:cNvPr>
          <p:cNvPicPr>
            <a:picLocks noChangeAspect="1"/>
          </p:cNvPicPr>
          <p:nvPr/>
        </p:nvPicPr>
        <p:blipFill>
          <a:blip r:embed="rId4"/>
          <a:stretch>
            <a:fillRect/>
          </a:stretch>
        </p:blipFill>
        <p:spPr>
          <a:xfrm>
            <a:off x="1950720" y="2249424"/>
            <a:ext cx="649224" cy="649224"/>
          </a:xfrm>
          <a:prstGeom prst="rect">
            <a:avLst/>
          </a:prstGeom>
        </p:spPr>
      </p:pic>
      <p:sp>
        <p:nvSpPr>
          <p:cNvPr id="46" name="Text 3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balanced comparison</a:t>
            </a:r>
            <a:endParaRPr lang="en-US" sz="1100" dirty="0"/>
          </a:p>
        </p:txBody>
      </p:sp>
      <p:sp>
        <p:nvSpPr>
          <p:cNvPr id="47" name="Shape 40"/>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8" name="Shape 41"/>
          <p:cNvSpPr/>
          <p:nvPr/>
        </p:nvSpPr>
        <p:spPr>
          <a:xfrm>
            <a:off x="3617976" y="3785616"/>
            <a:ext cx="329184" cy="329184"/>
          </a:xfrm>
          <a:prstGeom prst="ellipse">
            <a:avLst/>
          </a:prstGeom>
          <a:solidFill>
            <a:srgbClr val="2E8B57"/>
          </a:solidFill>
          <a:ln w="12700">
            <a:solidFill>
              <a:srgbClr val="2E8B57"/>
            </a:solidFill>
            <a:prstDash val="solid"/>
          </a:ln>
        </p:spPr>
      </p:sp>
      <p:sp>
        <p:nvSpPr>
          <p:cNvPr id="49" name="Text 42"/>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50" name="Text 43"/>
          <p:cNvSpPr txBox="1"/>
          <p:nvPr/>
        </p:nvSpPr>
        <p:spPr>
          <a:xfrm>
            <a:off x="594360"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ea typeface="Amiri" pitchFamily="2" charset="-78"/>
                <a:cs typeface="Amiri" pitchFamily="2" charset="-78"/>
              </a:rPr>
              <a:t>يَنْبَغِي أَنْ نُقَارِنَ مِنْ دُونِ الْحُكْمِ عَلَى أَيِّ ثَقَافَةٍ بِأَنَّهَا أَفْضَلُ.</a:t>
            </a:r>
            <a:endParaRPr lang="ar-SA" sz="2200" dirty="0"/>
          </a:p>
        </p:txBody>
      </p:sp>
      <p:sp>
        <p:nvSpPr>
          <p:cNvPr id="51" name="Text 44"/>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We should compare without judging any culture as better.</a:t>
            </a:r>
            <a:endParaRPr lang="en-US" sz="120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47</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TE-L09 · Comparing Cultures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TE-L09</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يَنْتَمِي</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يُوَازِنُ</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يَحِنُّ</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يَتَكَيَّفُ</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يَتَعَامَلُ</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يَتَفَاعَلُ</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يَحْتَفِظُ</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يَشْعُرُ</a:t>
            </a:r>
            <a:endParaRPr lang="ar-SA" sz="180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يَتَمَسَّكُ</a:t>
            </a:r>
            <a:endParaRPr lang="ar-SA" sz="1800" dirty="0"/>
          </a:p>
        </p:txBody>
      </p:sp>
      <p:sp>
        <p:nvSpPr>
          <p:cNvPr id="33" name="Shape 30"/>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4" name="Shape 31"/>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1 · إِلَى / بَيْنَ</a:t>
            </a:r>
            <a:endParaRPr lang="en-US" sz="950" dirty="0"/>
          </a:p>
        </p:txBody>
      </p:sp>
      <p:sp>
        <p:nvSpPr>
          <p:cNvPr id="36" name="Shape 33"/>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7" name="Shape 34"/>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2 · مَعَ</a:t>
            </a:r>
            <a:endParaRPr lang="en-US" sz="950" dirty="0"/>
          </a:p>
        </p:txBody>
      </p:sp>
      <p:sp>
        <p:nvSpPr>
          <p:cNvPr id="39" name="Shape 36"/>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0" name="Shape 37"/>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1" name="Text 38"/>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3 · بِـ</a:t>
            </a:r>
            <a:endParaRPr lang="en-US" sz="9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47</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TE-L09 · Comparing Cultures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TE-L09</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1 · إِلَى / بَيْنَ</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يَنْتَمِي</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يُوَازِنُ</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يَحِنُّ</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2 · مَعَ</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يَتَكَيَّفُ</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يَتَعَامَلُ</a:t>
            </a:r>
            <a:endParaRPr lang="ar-SA" sz="180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يَتَفَاعَلُ</a:t>
            </a:r>
            <a:endParaRPr lang="ar-SA" sz="18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3 · بِـ</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يَحْتَفِظُ</a:t>
            </a:r>
            <a:endParaRPr lang="ar-SA" sz="18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يَشْعُرُ</a:t>
            </a:r>
            <a:endParaRPr lang="ar-SA" sz="1800" dirty="0"/>
          </a:p>
        </p:txBody>
      </p:sp>
      <p:sp>
        <p:nvSpPr>
          <p:cNvPr id="40" name="Shape 37"/>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يَتَمَسَّكُ</a:t>
            </a:r>
            <a:endParaRPr lang="ar-SA" sz="18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47</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TE-L09 · Comparing Cultures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2, 4,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TE-L09</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21" name="Text 18"/>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2" charset="-78"/>
                <a:ea typeface="Amiri" pitchFamily="2" charset="-78"/>
                <a:cs typeface="Amiri" pitchFamily="2" charset="-78"/>
              </a:rPr>
              <a:t>تَتَكَيَّفُ الجَالِيَاتُ ___ الحَيَاةِ الجَدِيدَةِ.</a:t>
            </a:r>
            <a:endParaRPr lang="ar-SA" sz="1450" dirty="0"/>
          </a:p>
        </p:txBody>
      </p:sp>
      <p:sp>
        <p:nvSpPr>
          <p:cNvPr id="22" name="Shape 19"/>
          <p:cNvSpPr/>
          <p:nvPr/>
        </p:nvSpPr>
        <p:spPr>
          <a:xfrm>
            <a:off x="640080" y="25328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4" name="Text 21"/>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a:t>
            </a:r>
            <a:endParaRPr lang="ar-SA" sz="2050" dirty="0"/>
          </a:p>
        </p:txBody>
      </p:sp>
      <p:sp>
        <p:nvSpPr>
          <p:cNvPr id="25" name="Shape 22"/>
          <p:cNvSpPr/>
          <p:nvPr/>
        </p:nvSpPr>
        <p:spPr>
          <a:xfrm>
            <a:off x="640080" y="29900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7" name="Text 24"/>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28" name="Shape 25"/>
          <p:cNvSpPr/>
          <p:nvPr/>
        </p:nvSpPr>
        <p:spPr>
          <a:xfrm>
            <a:off x="640080" y="3447288"/>
            <a:ext cx="256032" cy="256032"/>
          </a:xfrm>
          <a:prstGeom prst="ellipse">
            <a:avLst/>
          </a:prstGeom>
          <a:solidFill>
            <a:srgbClr val="F4F1EA"/>
          </a:solidFill>
          <a:ln w="12700">
            <a:solidFill>
              <a:srgbClr val="F4F1EA"/>
            </a:solidFill>
            <a:prstDash val="solid"/>
          </a:ln>
        </p:spPr>
      </p:sp>
      <p:sp>
        <p:nvSpPr>
          <p:cNvPr id="29" name="Text 26"/>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مَعَ</a:t>
            </a:r>
            <a:endParaRPr lang="ar-SA" sz="2050" dirty="0"/>
          </a:p>
        </p:txBody>
      </p:sp>
      <p:sp>
        <p:nvSpPr>
          <p:cNvPr id="31" name="Shape 28"/>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6313932"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4" name="Text 31"/>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5" name="Text 32"/>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يُوَازِنُ الشَّابُّ ___ ثَقَافَتَيْهِ.</a:t>
            </a:r>
            <a:endParaRPr lang="ar-SA" sz="1500" dirty="0"/>
          </a:p>
        </p:txBody>
      </p:sp>
      <p:sp>
        <p:nvSpPr>
          <p:cNvPr id="36" name="Shape 33"/>
          <p:cNvSpPr/>
          <p:nvPr/>
        </p:nvSpPr>
        <p:spPr>
          <a:xfrm>
            <a:off x="6368796" y="25328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مَعَ</a:t>
            </a:r>
            <a:endParaRPr lang="ar-SA" sz="2050" dirty="0"/>
          </a:p>
        </p:txBody>
      </p:sp>
      <p:sp>
        <p:nvSpPr>
          <p:cNvPr id="39" name="Shape 36"/>
          <p:cNvSpPr/>
          <p:nvPr/>
        </p:nvSpPr>
        <p:spPr>
          <a:xfrm>
            <a:off x="6368796" y="29900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بَيْنَ</a:t>
            </a:r>
            <a:endParaRPr lang="ar-SA" sz="2050" dirty="0"/>
          </a:p>
        </p:txBody>
      </p:sp>
      <p:sp>
        <p:nvSpPr>
          <p:cNvPr id="42" name="Shape 39"/>
          <p:cNvSpPr/>
          <p:nvPr/>
        </p:nvSpPr>
        <p:spPr>
          <a:xfrm>
            <a:off x="6368796" y="3447288"/>
            <a:ext cx="256032" cy="256032"/>
          </a:xfrm>
          <a:prstGeom prst="ellipse">
            <a:avLst/>
          </a:prstGeom>
          <a:solidFill>
            <a:srgbClr val="F4F1EA"/>
          </a:solidFill>
          <a:ln w="12700">
            <a:solidFill>
              <a:srgbClr val="F4F1EA"/>
            </a:solidFill>
            <a:prstDash val="solid"/>
          </a:ln>
        </p:spPr>
      </p:sp>
      <p:sp>
        <p:nvSpPr>
          <p:cNvPr id="43" name="Text 40"/>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1"/>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a:t>
            </a:r>
            <a:endParaRPr lang="ar-SA" sz="2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difference between </a:t>
            </a:r>
            <a:pPr algn="l" indent="0" marL="0">
              <a:buNone/>
            </a:pPr>
            <a:r>
              <a:rPr lang="ar-SA" altLang="en-US" sz="1650" b="1" dirty="0">
                <a:solidFill>
                  <a:srgbClr val="1B3B6F"/>
                </a:solidFill>
                <a:latin typeface="Amiri" pitchFamily="2" charset="-78"/>
                <a:ea typeface="Amiri" pitchFamily="2" charset="-78"/>
                <a:cs typeface="Amiri" pitchFamily="2" charset="-78"/>
              </a:rPr>
              <a:t>مُهَاجِرٌ</a:t>
            </a:r>
            <a:pPr algn="l" indent="0" marL="0">
              <a:buNone/>
            </a:pPr>
            <a:r>
              <a:rPr lang="en-US" sz="1250" b="1" dirty="0">
                <a:solidFill>
                  <a:srgbClr val="1B3B6F"/>
                </a:solidFill>
                <a:latin typeface="Calibri" pitchFamily="34" charset="0"/>
                <a:cs typeface="Amiri" pitchFamily="2" charset="-78"/>
              </a:rPr>
              <a:t> and </a:t>
            </a:r>
            <a:pPr algn="l" indent="0" marL="0">
              <a:buNone/>
            </a:pPr>
            <a:r>
              <a:rPr lang="ar-SA" altLang="en-US" sz="1650" b="1" dirty="0">
                <a:solidFill>
                  <a:srgbClr val="1B3B6F"/>
                </a:solidFill>
                <a:latin typeface="Amiri" pitchFamily="2" charset="-78"/>
                <a:ea typeface="Amiri" pitchFamily="2" charset="-78"/>
                <a:cs typeface="Amiri" pitchFamily="2" charset="-78"/>
              </a:rPr>
              <a:t>لَاجِئٌ</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640080" y="4873752"/>
            <a:ext cx="256032" cy="256032"/>
          </a:xfrm>
          <a:prstGeom prst="ellipse">
            <a:avLst/>
          </a:prstGeom>
          <a:solidFill>
            <a:srgbClr val="F4F1EA"/>
          </a:solidFill>
          <a:ln w="12700">
            <a:solidFill>
              <a:srgbClr val="F4F1EA"/>
            </a:solidFill>
            <a:prstDash val="solid"/>
          </a:ln>
        </p:spPr>
      </p:sp>
      <p:sp>
        <p:nvSpPr>
          <p:cNvPr id="50" name="Text 47"/>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mean exactly the same thing.</a:t>
            </a:r>
            <a:endParaRPr lang="en-US" sz="1250" dirty="0"/>
          </a:p>
        </p:txBody>
      </p:sp>
      <p:sp>
        <p:nvSpPr>
          <p:cNvPr id="52" name="Shape 49"/>
          <p:cNvSpPr/>
          <p:nvPr/>
        </p:nvSpPr>
        <p:spPr>
          <a:xfrm>
            <a:off x="640080" y="5330952"/>
            <a:ext cx="256032" cy="256032"/>
          </a:xfrm>
          <a:prstGeom prst="ellipse">
            <a:avLst/>
          </a:prstGeom>
          <a:solidFill>
            <a:srgbClr val="F4F1EA"/>
          </a:solidFill>
          <a:ln w="12700">
            <a:solidFill>
              <a:srgbClr val="F4F1EA"/>
            </a:solidFill>
            <a:prstDash val="solid"/>
          </a:ln>
        </p:spPr>
      </p:sp>
      <p:sp>
        <p:nvSpPr>
          <p:cNvPr id="53" name="Text 50"/>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969264"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migrant moved to live elsewhere; a refugee left because of danger.</a:t>
            </a:r>
            <a:endParaRPr lang="en-US" sz="1250" dirty="0"/>
          </a:p>
        </p:txBody>
      </p:sp>
      <p:sp>
        <p:nvSpPr>
          <p:cNvPr id="55" name="Shape 52"/>
          <p:cNvSpPr/>
          <p:nvPr/>
        </p:nvSpPr>
        <p:spPr>
          <a:xfrm>
            <a:off x="640080" y="5788152"/>
            <a:ext cx="256032" cy="256032"/>
          </a:xfrm>
          <a:prstGeom prst="ellipse">
            <a:avLst/>
          </a:prstGeom>
          <a:solidFill>
            <a:srgbClr val="F4F1EA"/>
          </a:solidFill>
          <a:ln w="12700">
            <a:solidFill>
              <a:srgbClr val="F4F1EA"/>
            </a:solidFill>
            <a:prstDash val="solid"/>
          </a:ln>
        </p:spPr>
      </p:sp>
      <p:sp>
        <p:nvSpPr>
          <p:cNvPr id="56" name="Text 53"/>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7" name="Text 54"/>
          <p:cNvSpPr txBox="1"/>
          <p:nvPr/>
        </p:nvSpPr>
        <p:spPr>
          <a:xfrm>
            <a:off x="969264"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refugee is someone on holiday.</a:t>
            </a:r>
            <a:endParaRPr lang="en-US" sz="1250" dirty="0"/>
          </a:p>
        </p:txBody>
      </p:sp>
      <p:sp>
        <p:nvSpPr>
          <p:cNvPr id="58" name="Shape 55"/>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9" name="Shape 56"/>
          <p:cNvSpPr/>
          <p:nvPr/>
        </p:nvSpPr>
        <p:spPr>
          <a:xfrm>
            <a:off x="6313932" y="4288536"/>
            <a:ext cx="310896" cy="310896"/>
          </a:xfrm>
          <a:prstGeom prst="ellipse">
            <a:avLst/>
          </a:prstGeom>
          <a:solidFill>
            <a:srgbClr val="1B3B6F"/>
          </a:solidFill>
          <a:ln w="12700">
            <a:solidFill>
              <a:srgbClr val="1B3B6F"/>
            </a:solidFill>
            <a:prstDash val="solid"/>
          </a:ln>
        </p:spPr>
      </p:sp>
      <p:sp>
        <p:nvSpPr>
          <p:cNvPr id="60" name="Text 57"/>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1" name="Text 58"/>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balanced description of dual identity.</a:t>
            </a:r>
            <a:endParaRPr lang="en-US" sz="1250" dirty="0"/>
          </a:p>
        </p:txBody>
      </p:sp>
      <p:sp>
        <p:nvSpPr>
          <p:cNvPr id="62" name="Shape 59"/>
          <p:cNvSpPr/>
          <p:nvPr/>
        </p:nvSpPr>
        <p:spPr>
          <a:xfrm>
            <a:off x="6368796" y="48737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4" name="Text 61"/>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1850" dirty="0">
                <a:solidFill>
                  <a:srgbClr val="1F2A37"/>
                </a:solidFill>
                <a:latin typeface="Amiri" pitchFamily="2" charset="-78"/>
                <a:ea typeface="Amiri" pitchFamily="2" charset="-78"/>
                <a:cs typeface="Amiri" pitchFamily="2" charset="-78"/>
              </a:rPr>
              <a:t>الهُوِيَّةُ المُزْدَوَجَةُ مُشْكِلَةٌ دَائِمًا.</a:t>
            </a:r>
            <a:endParaRPr lang="ar-SA" sz="1850" dirty="0"/>
          </a:p>
        </p:txBody>
      </p:sp>
      <p:sp>
        <p:nvSpPr>
          <p:cNvPr id="65" name="Shape 62"/>
          <p:cNvSpPr/>
          <p:nvPr/>
        </p:nvSpPr>
        <p:spPr>
          <a:xfrm>
            <a:off x="6368796" y="53309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7" name="Text 64"/>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1850" dirty="0">
                <a:solidFill>
                  <a:srgbClr val="1F2A37"/>
                </a:solidFill>
                <a:latin typeface="Amiri" pitchFamily="2" charset="-78"/>
                <a:ea typeface="Amiri" pitchFamily="2" charset="-78"/>
                <a:cs typeface="Amiri" pitchFamily="2" charset="-78"/>
              </a:rPr>
              <a:t>لَا يُمْكِنُ أَنْ يَنْتَمِيَ الإِنْسَانُ إِلَى ثَقَافَتَيْنِ.</a:t>
            </a:r>
            <a:endParaRPr lang="ar-SA" sz="1850" dirty="0"/>
          </a:p>
        </p:txBody>
      </p:sp>
      <p:sp>
        <p:nvSpPr>
          <p:cNvPr id="68" name="Shape 65"/>
          <p:cNvSpPr/>
          <p:nvPr/>
        </p:nvSpPr>
        <p:spPr>
          <a:xfrm>
            <a:off x="6368796" y="5788152"/>
            <a:ext cx="256032" cy="256032"/>
          </a:xfrm>
          <a:prstGeom prst="ellipse">
            <a:avLst/>
          </a:prstGeom>
          <a:solidFill>
            <a:srgbClr val="F4F1EA"/>
          </a:solidFill>
          <a:ln w="12700">
            <a:solidFill>
              <a:srgbClr val="F4F1EA"/>
            </a:solidFill>
            <a:prstDash val="solid"/>
          </a:ln>
        </p:spPr>
      </p:sp>
      <p:sp>
        <p:nvSpPr>
          <p:cNvPr id="69" name="Text 66"/>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0" name="Text 67"/>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1850" dirty="0">
                <a:solidFill>
                  <a:srgbClr val="1F2A37"/>
                </a:solidFill>
                <a:latin typeface="Amiri" pitchFamily="2" charset="-78"/>
                <a:ea typeface="Amiri" pitchFamily="2" charset="-78"/>
                <a:cs typeface="Amiri" pitchFamily="2" charset="-78"/>
              </a:rPr>
              <a:t>مِنْ نَاحِيَةٍ أَشْعُرُ بِالحَنِينِ، وَمِنْ نَاحِيَةٍ أُخْرَى أُحِبُّ حَيَاتِي هُنَا.</a:t>
            </a:r>
            <a:endParaRPr lang="ar-SA" sz="1850" dirty="0"/>
          </a:p>
        </p:txBody>
      </p:sp>
      <p:sp>
        <p:nvSpPr>
          <p:cNvPr id="71" name="Text 6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47</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TE-L09 · Comparing Cultures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TE-L09</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21" name="Text 18"/>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2" charset="-78"/>
                <a:ea typeface="Amiri" pitchFamily="2" charset="-78"/>
                <a:cs typeface="Amiri" pitchFamily="2" charset="-78"/>
              </a:rPr>
              <a:t>تَتَكَيَّفُ الجَالِيَاتُ ___ الحَيَاةِ الجَدِيدَةِ.</a:t>
            </a:r>
            <a:endParaRPr lang="ar-SA" sz="1450" dirty="0"/>
          </a:p>
        </p:txBody>
      </p:sp>
      <p:sp>
        <p:nvSpPr>
          <p:cNvPr id="22" name="Shape 19"/>
          <p:cNvSpPr/>
          <p:nvPr/>
        </p:nvSpPr>
        <p:spPr>
          <a:xfrm>
            <a:off x="640080" y="2490216"/>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4" name="Text 21"/>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إِلَى</a:t>
            </a:r>
            <a:endParaRPr lang="ar-SA" sz="1700" dirty="0"/>
          </a:p>
        </p:txBody>
      </p:sp>
      <p:sp>
        <p:nvSpPr>
          <p:cNvPr id="25" name="Shape 22"/>
          <p:cNvSpPr/>
          <p:nvPr/>
        </p:nvSpPr>
        <p:spPr>
          <a:xfrm>
            <a:off x="640080" y="2862072"/>
            <a:ext cx="256032" cy="256032"/>
          </a:xfrm>
          <a:prstGeom prst="ellipse">
            <a:avLst/>
          </a:prstGeom>
          <a:solidFill>
            <a:srgbClr val="C9CED6"/>
          </a:solidFill>
          <a:ln w="12700">
            <a:solidFill>
              <a:srgbClr val="C9CED6"/>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7" name="Text 24"/>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a:t>
            </a:r>
            <a:endParaRPr lang="ar-SA" sz="1700" dirty="0"/>
          </a:p>
        </p:txBody>
      </p:sp>
      <p:sp>
        <p:nvSpPr>
          <p:cNvPr id="28" name="Shape 25"/>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9" name="Shape 26"/>
          <p:cNvSpPr/>
          <p:nvPr/>
        </p:nvSpPr>
        <p:spPr>
          <a:xfrm>
            <a:off x="640080" y="3233928"/>
            <a:ext cx="256032" cy="256032"/>
          </a:xfrm>
          <a:prstGeom prst="ellipse">
            <a:avLst/>
          </a:prstGeom>
          <a:solidFill>
            <a:srgbClr val="2E8B57"/>
          </a:solidFill>
          <a:ln w="12700">
            <a:solidFill>
              <a:srgbClr val="2E8B57"/>
            </a:solidFill>
            <a:prstDash val="solid"/>
          </a:ln>
        </p:spPr>
      </p:sp>
      <p:sp>
        <p:nvSpPr>
          <p:cNvPr id="30" name="Text 27"/>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1" name="Text 28"/>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مَعَ</a:t>
            </a:r>
            <a:endParaRPr lang="ar-SA" sz="1700" dirty="0"/>
          </a:p>
        </p:txBody>
      </p:sp>
      <p:sp>
        <p:nvSpPr>
          <p:cNvPr id="32" name="Text 29"/>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يَتَكَيَّفُ</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ea typeface="Amiri" pitchFamily="2" charset="-78"/>
                <a:cs typeface="Amiri" pitchFamily="2" charset="-78"/>
              </a:rPr>
              <a:t>مَعَ</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3" name="Shape 30"/>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313932" y="1947672"/>
            <a:ext cx="310896" cy="310896"/>
          </a:xfrm>
          <a:prstGeom prst="ellipse">
            <a:avLst/>
          </a:prstGeom>
          <a:solidFill>
            <a:srgbClr val="1B3B6F"/>
          </a:solidFill>
          <a:ln w="12700">
            <a:solidFill>
              <a:srgbClr val="1B3B6F"/>
            </a:solidFill>
            <a:prstDash val="solid"/>
          </a:ln>
        </p:spPr>
      </p:sp>
      <p:sp>
        <p:nvSpPr>
          <p:cNvPr id="35" name="Text 3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6" name="Text 33"/>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7" name="Text 34"/>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يُوَازِنُ الشَّابُّ ___ ثَقَافَتَيْهِ.</a:t>
            </a:r>
            <a:endParaRPr lang="ar-SA" sz="1500" dirty="0"/>
          </a:p>
        </p:txBody>
      </p:sp>
      <p:sp>
        <p:nvSpPr>
          <p:cNvPr id="38" name="Shape 35"/>
          <p:cNvSpPr/>
          <p:nvPr/>
        </p:nvSpPr>
        <p:spPr>
          <a:xfrm>
            <a:off x="6368796" y="2490216"/>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0" name="Text 37"/>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مَعَ</a:t>
            </a:r>
            <a:endParaRPr lang="ar-SA" sz="1700" dirty="0"/>
          </a:p>
        </p:txBody>
      </p:sp>
      <p:sp>
        <p:nvSpPr>
          <p:cNvPr id="41" name="Shape 38"/>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2" name="Shape 39"/>
          <p:cNvSpPr/>
          <p:nvPr/>
        </p:nvSpPr>
        <p:spPr>
          <a:xfrm>
            <a:off x="6368796" y="2862072"/>
            <a:ext cx="256032" cy="256032"/>
          </a:xfrm>
          <a:prstGeom prst="ellipse">
            <a:avLst/>
          </a:prstGeom>
          <a:solidFill>
            <a:srgbClr val="2E8B57"/>
          </a:solidFill>
          <a:ln w="12700">
            <a:solidFill>
              <a:srgbClr val="2E8B57"/>
            </a:solidFill>
            <a:prstDash val="solid"/>
          </a:ln>
        </p:spPr>
      </p:sp>
      <p:sp>
        <p:nvSpPr>
          <p:cNvPr id="43" name="Text 40"/>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4" name="Text 41"/>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بَيْنَ</a:t>
            </a:r>
            <a:endParaRPr lang="ar-SA" sz="1700" dirty="0"/>
          </a:p>
        </p:txBody>
      </p:sp>
      <p:sp>
        <p:nvSpPr>
          <p:cNvPr id="45" name="Shape 42"/>
          <p:cNvSpPr/>
          <p:nvPr/>
        </p:nvSpPr>
        <p:spPr>
          <a:xfrm>
            <a:off x="6368796" y="3233928"/>
            <a:ext cx="256032" cy="256032"/>
          </a:xfrm>
          <a:prstGeom prst="ellipse">
            <a:avLst/>
          </a:prstGeom>
          <a:solidFill>
            <a:srgbClr val="C9CED6"/>
          </a:solidFill>
          <a:ln w="12700">
            <a:solidFill>
              <a:srgbClr val="C9CED6"/>
            </a:solidFill>
            <a:prstDash val="solid"/>
          </a:ln>
        </p:spPr>
      </p:sp>
      <p:sp>
        <p:nvSpPr>
          <p:cNvPr id="46" name="Text 43"/>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7" name="Text 44"/>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a:t>
            </a:r>
            <a:endParaRPr lang="ar-SA" sz="1700" dirty="0"/>
          </a:p>
        </p:txBody>
      </p:sp>
      <p:sp>
        <p:nvSpPr>
          <p:cNvPr id="48" name="Text 45"/>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يُوَازِنُ</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ea typeface="Amiri" pitchFamily="2" charset="-78"/>
                <a:cs typeface="Amiri" pitchFamily="2" charset="-78"/>
              </a:rPr>
              <a:t>بَيْنَ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9" name="Shape 46"/>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585216" y="4288536"/>
            <a:ext cx="310896" cy="310896"/>
          </a:xfrm>
          <a:prstGeom prst="ellipse">
            <a:avLst/>
          </a:prstGeom>
          <a:solidFill>
            <a:srgbClr val="1B3B6F"/>
          </a:solidFill>
          <a:ln w="12700">
            <a:solidFill>
              <a:srgbClr val="1B3B6F"/>
            </a:solidFill>
            <a:prstDash val="solid"/>
          </a:ln>
        </p:spPr>
      </p:sp>
      <p:sp>
        <p:nvSpPr>
          <p:cNvPr id="51" name="Text 48"/>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2" name="Text 49"/>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difference between </a:t>
            </a:r>
            <a:pPr algn="l" indent="0" marL="0">
              <a:buNone/>
            </a:pPr>
            <a:r>
              <a:rPr lang="ar-SA" altLang="en-US" sz="1650" b="1" dirty="0">
                <a:solidFill>
                  <a:srgbClr val="1B3B6F"/>
                </a:solidFill>
                <a:latin typeface="Amiri" pitchFamily="2" charset="-78"/>
                <a:ea typeface="Amiri" pitchFamily="2" charset="-78"/>
                <a:cs typeface="Amiri" pitchFamily="2" charset="-78"/>
              </a:rPr>
              <a:t>مُهَاجِرٌ</a:t>
            </a:r>
            <a:pPr algn="l" indent="0" marL="0">
              <a:buNone/>
            </a:pPr>
            <a:r>
              <a:rPr lang="en-US" sz="1250" b="1" dirty="0">
                <a:solidFill>
                  <a:srgbClr val="1B3B6F"/>
                </a:solidFill>
                <a:latin typeface="Calibri" pitchFamily="34" charset="0"/>
                <a:cs typeface="Amiri" pitchFamily="2" charset="-78"/>
              </a:rPr>
              <a:t> and </a:t>
            </a:r>
            <a:pPr algn="l" indent="0" marL="0">
              <a:buNone/>
            </a:pPr>
            <a:r>
              <a:rPr lang="ar-SA" altLang="en-US" sz="1650" b="1" dirty="0">
                <a:solidFill>
                  <a:srgbClr val="1B3B6F"/>
                </a:solidFill>
                <a:latin typeface="Amiri" pitchFamily="2" charset="-78"/>
                <a:ea typeface="Amiri" pitchFamily="2" charset="-78"/>
                <a:cs typeface="Amiri" pitchFamily="2" charset="-78"/>
              </a:rPr>
              <a:t>لَاجِئٌ</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3" name="Shape 50"/>
          <p:cNvSpPr/>
          <p:nvPr/>
        </p:nvSpPr>
        <p:spPr>
          <a:xfrm>
            <a:off x="640080" y="4831080"/>
            <a:ext cx="256032" cy="256032"/>
          </a:xfrm>
          <a:prstGeom prst="ellipse">
            <a:avLst/>
          </a:prstGeom>
          <a:solidFill>
            <a:srgbClr val="C9CED6"/>
          </a:solidFill>
          <a:ln w="12700">
            <a:solidFill>
              <a:srgbClr val="C9CED6"/>
            </a:solidFill>
            <a:prstDash val="solid"/>
          </a:ln>
        </p:spPr>
      </p:sp>
      <p:sp>
        <p:nvSpPr>
          <p:cNvPr id="54" name="Text 51"/>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5" name="Text 52"/>
          <p:cNvSpPr txBox="1"/>
          <p:nvPr/>
        </p:nvSpPr>
        <p:spPr>
          <a:xfrm>
            <a:off x="969264"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mean exactly the same thing.</a:t>
            </a:r>
            <a:endParaRPr lang="en-US" sz="1250" dirty="0"/>
          </a:p>
        </p:txBody>
      </p:sp>
      <p:sp>
        <p:nvSpPr>
          <p:cNvPr id="56" name="Shape 53"/>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7" name="Shape 54"/>
          <p:cNvSpPr/>
          <p:nvPr/>
        </p:nvSpPr>
        <p:spPr>
          <a:xfrm>
            <a:off x="640080" y="5202936"/>
            <a:ext cx="256032" cy="256032"/>
          </a:xfrm>
          <a:prstGeom prst="ellipse">
            <a:avLst/>
          </a:prstGeom>
          <a:solidFill>
            <a:srgbClr val="2E8B57"/>
          </a:solidFill>
          <a:ln w="12700">
            <a:solidFill>
              <a:srgbClr val="2E8B57"/>
            </a:solidFill>
            <a:prstDash val="solid"/>
          </a:ln>
        </p:spPr>
      </p:sp>
      <p:sp>
        <p:nvSpPr>
          <p:cNvPr id="58" name="Text 5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9" name="Text 56"/>
          <p:cNvSpPr txBox="1"/>
          <p:nvPr/>
        </p:nvSpPr>
        <p:spPr>
          <a:xfrm>
            <a:off x="969264" y="5145024"/>
            <a:ext cx="4887468"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A migrant moved to live elsewhere; a refugee left because of danger.</a:t>
            </a:r>
            <a:endParaRPr lang="en-US" sz="1150" dirty="0"/>
          </a:p>
        </p:txBody>
      </p:sp>
      <p:sp>
        <p:nvSpPr>
          <p:cNvPr id="60" name="Shape 57"/>
          <p:cNvSpPr/>
          <p:nvPr/>
        </p:nvSpPr>
        <p:spPr>
          <a:xfrm>
            <a:off x="640080" y="5574792"/>
            <a:ext cx="256032" cy="256032"/>
          </a:xfrm>
          <a:prstGeom prst="ellipse">
            <a:avLst/>
          </a:prstGeom>
          <a:solidFill>
            <a:srgbClr val="C9CED6"/>
          </a:solidFill>
          <a:ln w="12700">
            <a:solidFill>
              <a:srgbClr val="C9CED6"/>
            </a:solidFill>
            <a:prstDash val="solid"/>
          </a:ln>
        </p:spPr>
      </p:sp>
      <p:sp>
        <p:nvSpPr>
          <p:cNvPr id="61" name="Text 58"/>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2" name="Text 59"/>
          <p:cNvSpPr txBox="1"/>
          <p:nvPr/>
        </p:nvSpPr>
        <p:spPr>
          <a:xfrm>
            <a:off x="969264"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refugee is someone on holiday.</a:t>
            </a:r>
            <a:endParaRPr lang="en-US" sz="1250" dirty="0"/>
          </a:p>
        </p:txBody>
      </p:sp>
      <p:sp>
        <p:nvSpPr>
          <p:cNvPr id="63" name="Text 60"/>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two words describe different situations and should not be swapped.</a:t>
            </a:r>
            <a:endParaRPr lang="en-US" sz="1050" dirty="0"/>
          </a:p>
        </p:txBody>
      </p:sp>
      <p:sp>
        <p:nvSpPr>
          <p:cNvPr id="64" name="Shape 6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5" name="Shape 62"/>
          <p:cNvSpPr/>
          <p:nvPr/>
        </p:nvSpPr>
        <p:spPr>
          <a:xfrm>
            <a:off x="6313932" y="4288536"/>
            <a:ext cx="310896" cy="310896"/>
          </a:xfrm>
          <a:prstGeom prst="ellipse">
            <a:avLst/>
          </a:prstGeom>
          <a:solidFill>
            <a:srgbClr val="1B3B6F"/>
          </a:solidFill>
          <a:ln w="12700">
            <a:solidFill>
              <a:srgbClr val="1B3B6F"/>
            </a:solidFill>
            <a:prstDash val="solid"/>
          </a:ln>
        </p:spPr>
      </p:sp>
      <p:sp>
        <p:nvSpPr>
          <p:cNvPr id="66" name="Text 6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7" name="Text 6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balanced description of dual identity.</a:t>
            </a:r>
            <a:endParaRPr lang="en-US" sz="1250" dirty="0"/>
          </a:p>
        </p:txBody>
      </p:sp>
      <p:sp>
        <p:nvSpPr>
          <p:cNvPr id="68" name="Shape 65"/>
          <p:cNvSpPr/>
          <p:nvPr/>
        </p:nvSpPr>
        <p:spPr>
          <a:xfrm>
            <a:off x="6368796" y="4831080"/>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0" name="Text 67"/>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الهُوِيَّةُ المُزْدَوَجَةُ مُشْكِلَةٌ دَائِمًا.</a:t>
            </a:r>
            <a:endParaRPr lang="ar-SA" sz="1700" dirty="0"/>
          </a:p>
        </p:txBody>
      </p:sp>
      <p:sp>
        <p:nvSpPr>
          <p:cNvPr id="71" name="Shape 68"/>
          <p:cNvSpPr/>
          <p:nvPr/>
        </p:nvSpPr>
        <p:spPr>
          <a:xfrm>
            <a:off x="6368796" y="5202936"/>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3" name="Text 70"/>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لَا يُمْكِنُ أَنْ يَنْتَمِيَ الإِنْسَانُ إِلَى ثَقَافَتَيْنِ.</a:t>
            </a:r>
            <a:endParaRPr lang="ar-SA" sz="1700" dirty="0"/>
          </a:p>
        </p:txBody>
      </p:sp>
      <p:sp>
        <p:nvSpPr>
          <p:cNvPr id="74" name="Shape 71"/>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5" name="Shape 72"/>
          <p:cNvSpPr/>
          <p:nvPr/>
        </p:nvSpPr>
        <p:spPr>
          <a:xfrm>
            <a:off x="6368796" y="5574792"/>
            <a:ext cx="256032" cy="256032"/>
          </a:xfrm>
          <a:prstGeom prst="ellipse">
            <a:avLst/>
          </a:prstGeom>
          <a:solidFill>
            <a:srgbClr val="2E8B57"/>
          </a:solidFill>
          <a:ln w="12700">
            <a:solidFill>
              <a:srgbClr val="2E8B57"/>
            </a:solidFill>
            <a:prstDash val="solid"/>
          </a:ln>
        </p:spPr>
      </p:sp>
      <p:sp>
        <p:nvSpPr>
          <p:cNvPr id="76" name="Text 73"/>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7" name="Text 74"/>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مِنْ نَاحِيَةٍ أَشْعُرُ بِالحَنِينِ، وَمِنْ نَاحِيَةٍ أُخْرَى أُحِبُّ حَيَاتِي هُنَا.</a:t>
            </a:r>
            <a:endParaRPr lang="ar-SA" sz="1700" dirty="0"/>
          </a:p>
        </p:txBody>
      </p:sp>
      <p:sp>
        <p:nvSpPr>
          <p:cNvPr id="78" name="Text 75"/>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balanced pair holds both feelings together rather than treating one as a problem.</a:t>
            </a:r>
            <a:endParaRPr lang="en-US" sz="1050" dirty="0"/>
          </a:p>
        </p:txBody>
      </p:sp>
      <p:sp>
        <p:nvSpPr>
          <p:cNvPr id="79" name="Text 7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47</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TE-L09 · Comparing Cultures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TE-L09</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أَنْتَمِي مَعَ ثَقَافَتَيْنِ.</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intamā + which preposition?</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هٰذَا الحَيُّ أَكْثَرُ أَكْبَرُ مِنْ غَيْرِهِ.</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Two comparatives? Choose one!</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تَحْتَفِظُ الأُسَرُ عَلَى لُغَتِهَا.</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iḥtafaẓa + which preposition?</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47</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TE-L09 · Comparing Cultures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TE-L09</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أَنْتَمِي مَعَ ثَقَافَتَيْنِ.</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أَنْتَمِي إِلَى ثَقَافَتَيْنِ.</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يَنْتَمِي</a:t>
            </a:r>
            <a:pPr algn="l" indent="0" marL="0">
              <a:buNone/>
            </a:pPr>
            <a:r>
              <a:rPr lang="en-US" sz="1150" b="1" dirty="0">
                <a:solidFill>
                  <a:srgbClr val="1B3B6F"/>
                </a:solidFill>
                <a:latin typeface="Calibri" pitchFamily="34" charset="0"/>
                <a:cs typeface="Amiri" pitchFamily="2" charset="-78"/>
              </a:rPr>
              <a:t> requires </a:t>
            </a:r>
            <a:pPr algn="l" indent="0" marL="0">
              <a:buNone/>
            </a:pPr>
            <a:r>
              <a:rPr lang="ar-SA" altLang="en-US" sz="1500" b="1" dirty="0">
                <a:solidFill>
                  <a:srgbClr val="1B3B6F"/>
                </a:solidFill>
                <a:latin typeface="Amiri" pitchFamily="2" charset="-78"/>
                <a:ea typeface="Amiri" pitchFamily="2" charset="-78"/>
                <a:cs typeface="Amiri" pitchFamily="2" charset="-78"/>
              </a:rPr>
              <a:t>إِلَى</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هٰذَا الحَيُّ أَكْثَرُ أَكْبَرُ مِنْ غَيْرِهِ.</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هٰذَا الحَيُّ أَكْبَرُ مِنْ غَيْرِهِ.</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Only one comparative structure may be used at a time.</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تَحْتَفِظُ الأُسَرُ عَلَى لُغَتِهَا.</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تَحْتَفِظُ الأُسَرُ بِلُغَتِهَا.</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يَحْتَفِظُ</a:t>
            </a:r>
            <a:pPr algn="l" indent="0" marL="0">
              <a:buNone/>
            </a:pPr>
            <a:r>
              <a:rPr lang="en-US" sz="1150" b="1" dirty="0">
                <a:solidFill>
                  <a:srgbClr val="1B3B6F"/>
                </a:solidFill>
                <a:latin typeface="Calibri" pitchFamily="34" charset="0"/>
                <a:cs typeface="Amiri" pitchFamily="2" charset="-78"/>
              </a:rPr>
              <a:t> requires </a:t>
            </a:r>
            <a:pPr algn="l" indent="0" marL="0">
              <a:buNone/>
            </a:pPr>
            <a:r>
              <a:rPr lang="ar-SA" altLang="en-US" sz="1500" b="1" dirty="0">
                <a:solidFill>
                  <a:srgbClr val="1B3B6F"/>
                </a:solidFill>
                <a:latin typeface="Amiri" pitchFamily="2" charset="-78"/>
                <a:ea typeface="Amiri" pitchFamily="2" charset="-78"/>
                <a:cs typeface="Amiri" pitchFamily="2" charset="-78"/>
              </a:rPr>
              <a:t>بِـ</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47</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TE-L09 · Comparing Cultures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Listening: growing up between two places</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TE-L09</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generation does the speaker belong to?</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second generation</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first generation</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recent arrival</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did the family arrive?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Three years ago</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Last year</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Thirty years ago</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language is used at home?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English</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Both equally</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Arabic</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mother keep?</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Her customs and her cooking</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her language</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Nothing from before</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the speaker describe dual identity?</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permanent difficulty</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 a problem, but a richness</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Something to be chosen between</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3 and 5.</a:t>
            </a:r>
            <a:endParaRPr lang="en-US" sz="1250" dirty="0"/>
          </a:p>
          <a:p>
            <a:pPr algn="l" indent="0" marL="0">
              <a:buNone/>
            </a:pPr>
            <a:r>
              <a:rPr lang="en-US" sz="1250" dirty="0">
                <a:solidFill>
                  <a:srgbClr val="1E6B52"/>
                </a:solidFill>
                <a:latin typeface="Calibri" pitchFamily="34" charset="0"/>
                <a:cs typeface="Amiri" pitchFamily="2" charset="-78"/>
              </a:rPr>
              <a:t>One speaker, two places.</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47</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TE-L09 · Comparing Cultures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TE-L09</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أَنَا مِنَ الجِيلِ الثَّانِي فِي الجَالِيَةِ العَرَبِيَّةِ هُنَا. وُلِدْتُ فِي هٰذِهِ المَدِينَةِ، وَلٰكِنَّ أُسْرَتِي جَاءَتْ مِنَ المَغْرِبِ قَبْلَ ثَلَاثِينَ سَنَةً.</a:t>
            </a:r>
            <a:endParaRPr lang="ar-SA" sz="155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am from the second generation of the Arab community here. I was born in this city, but my family came from Morocco thirty years ago.</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أَنْتَمِي إِلَى ثَقَافَتَيْنِ، وَأُوَازِنُ بَيْنَهُمَا كُلَّ يَوْمٍ. فِي البَيْتِ نَتَحَدَّثُ العَرَبِيَّةَ، بَيْنَمَا أَدْرُسُ وَأَعْمَلُ بِالإِنْجِلِيزِيَّةِ.</a:t>
            </a:r>
            <a:endParaRPr lang="ar-SA" sz="155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belong to two cultures and balance between them every day. At home we speak Arabic, whereas I study and work in English.</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تَحْتَفِظُ أُمِّي بِعَادَاتِهَا وَبِمَطْبَخِهَا، وَقَدْ تَكَيَّفَتْ مَعَ الحَيَاةِ هُنَا بِسُرْعَةٍ.</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My mother keeps her customs and her cooking, and she adapted to life here quickly.</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1850" b="1" dirty="0">
                <a:solidFill>
                  <a:srgbClr val="1B3B6F"/>
                </a:solidFill>
                <a:latin typeface="Amiri" pitchFamily="2" charset="-78"/>
                <a:ea typeface="Amiri" pitchFamily="2" charset="-78"/>
                <a:cs typeface="Amiri" pitchFamily="2" charset="-78"/>
              </a:rPr>
              <a:t>أَحْيَانًا أَشْعُرُ بِالحَنِينِ إِلَى بَلَدِ أُسْرَتِي، وَمِنْ نَاحِيَةٍ أُخْرَى أُحِبُّ حَيَاتِي هُنَا كَثِيرًا.</a:t>
            </a:r>
            <a:endParaRPr lang="ar-SA" sz="185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Sometimes I feel longing for my family’s country, and on the other hand I love my life here very much.</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لَيْسَتِ الهُوِيَّةُ المُزْدَوَجَةُ مُشْكِلَةً؛ هِيَ ثَرْوَةٌ فِي رَأْيِي.</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Dual identity is not a problem — in my opinion it is a richness.</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47</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TE-L09 · Comparing Cultures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TE-L09</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generation does the speaker belong to?</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second generation</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first generation</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recent arrival</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أَنَا مِنَ الجِيلِ الثَّانِي فِي الجَالِيَةِ العَرَبِيَّةِ.</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did the family arrive?</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Three years ago</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Last year</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Thirty years ago</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جَاءَتْ مِنَ المَغْرِبِ قَبْلَ ثَلَاثِينَ سَنَةً.</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language is used at home?</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English</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Both equally</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Arabic</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فِي البَيْتِ نَتَحَدَّثُ العَرَبِيَّةَ، بَيْنَمَا أَدْرُسُ … بِالإِنْجِلِيزِيَّةِ.</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mother keep?</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Her customs and her cooking</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her language</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Nothing from before</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تَحْتَفِظُ أُمِّي بِعَادَاتِهَا وَبِمَطْبَخِهَا.</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the speaker describe dual identity?</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permanent difficulty</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Not a problem, but a richness</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Something to be chosen between</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لَيْسَتِ الهُوِيَّةُ المُزْدَوَجَةُ مُشْكِلَةً؛ هِيَ ثَرْوَةٌ فِي رَأْيِي.</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3 and 5.</a:t>
            </a:r>
            <a:endParaRPr lang="en-US" sz="1250" dirty="0"/>
          </a:p>
          <a:p>
            <a:pPr algn="l" indent="0" marL="0">
              <a:buNone/>
            </a:pPr>
            <a:r>
              <a:rPr lang="en-US" sz="1250" dirty="0">
                <a:solidFill>
                  <a:srgbClr val="1E6B52"/>
                </a:solidFill>
                <a:latin typeface="Calibri" pitchFamily="34" charset="0"/>
                <a:cs typeface="Amiri" pitchFamily="2" charset="-78"/>
              </a:rPr>
              <a:t>One speaker, two places.</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47</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TE-L09 · Comparing Cultures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TOPIC E APPLICATION CHALLENGE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Culture comparison Venn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تَحَدِّي التَّطْبِيقِ</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TE-L09</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TOPIC E CHALLENGE · WEBSITE</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Culture comparison Venn</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Organise shared and different practices in a Venn diagram, then turn the notes into a balanced comparison with similarity and contrast connectors.</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Draw a Venn diagram: culture A · culture B · shared.</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6 practices (food, greetings, family, celebrations …).</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Turn the notes into a balanced comparison: one similarity, two differences.</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Check: no stereotype, no “better / worse”.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Fill the Venn; one sentence with “kilāhumā …”.</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 comparison with “baynamā” and “ammā … fa-”.</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 balanced paragraph with a hedge (fī baʿḍ al-usar) and a conclusion.</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تَتَشَابَهُ الثَّقَافَتَانِ فِي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the two cultures are similar in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بَيْنَمَا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whereas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أَمَّا فِي بَاكِسْتَانَ فَيُقَدَّمُ الشَّايُ</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as for Pakistan, tea is served</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بَعْضِ الأُسَرِ</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some families</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47</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TE-L09 · Comparing Cultures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Speaking: comparing two places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TE-L09</a:t>
            </a:r>
            <a:endParaRPr lang="en-US" sz="850" dirty="0"/>
          </a:p>
        </p:txBody>
      </p:sp>
      <p:sp>
        <p:nvSpPr>
          <p:cNvPr id="17" name="Shape 14"/>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8" name="Text 15"/>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9" name="Text 16"/>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20" name="Shape 17"/>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21" name="Text 18"/>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2" name="Text 19"/>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3" name="Shape 20"/>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4" name="Text 21"/>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5" name="Text 22"/>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6" name="Shape 23"/>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7" name="Text 24"/>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8" name="Text 25"/>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9" name="Shape 26"/>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30" name="Text 27"/>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31" name="Text 28"/>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2" name="Shape 29"/>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4" name="Text 31"/>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5" name="Text 32"/>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قَارِنْ بَيْنَ مَدِينَتِكَ وَمَدِينَةٍ عَرَبِيَّةٍ. اِسْتَعْمِلْ أَفْعَل وَأَكْثَرُ مِنْ.</a:t>
            </a:r>
            <a:endParaRPr lang="ar-SA" sz="1800" dirty="0"/>
          </a:p>
        </p:txBody>
      </p:sp>
      <p:sp>
        <p:nvSpPr>
          <p:cNvPr id="36" name="Shape 33"/>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9" name="Text 36"/>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مَاذَا تَحْتَفِظُ بِهِ الأُسَرُ عِنْدَمَا تَنْتَقِلُ إِلَى بَلَدٍ جَدِيدٍ؟</a:t>
            </a:r>
            <a:endParaRPr lang="ar-SA" sz="1800" dirty="0"/>
          </a:p>
        </p:txBody>
      </p:sp>
      <p:sp>
        <p:nvSpPr>
          <p:cNvPr id="40" name="Shape 37"/>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2" name="Text 39"/>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3" name="Text 40"/>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كَيْفَ تَصِفُ الهُوِيَّةَ المُزْدَوَجَةَ دُونَ تَبْسِيطٍ؟</a:t>
            </a:r>
            <a:endParaRPr lang="ar-SA" sz="1800" dirty="0"/>
          </a:p>
        </p:txBody>
      </p:sp>
      <p:sp>
        <p:nvSpPr>
          <p:cNvPr id="44" name="Shape 41"/>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5" name="Text 42"/>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6" name="Shape 43"/>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300" b="1" dirty="0">
                <a:solidFill>
                  <a:srgbClr val="1D5FBF"/>
                </a:solidFill>
                <a:latin typeface="Amiri" pitchFamily="2" charset="-78"/>
                <a:ea typeface="Amiri" pitchFamily="2" charset="-78"/>
                <a:cs typeface="Amiri" pitchFamily="2" charset="-78"/>
              </a:rPr>
              <a:t>مَدِينَتِي ___ مِنْ ___ ، وَلٰكِنَّهَا أَكْثَرُ ___ مِنْهَا.</a:t>
            </a:r>
            <a:endParaRPr lang="ar-SA" sz="1300" dirty="0"/>
          </a:p>
        </p:txBody>
      </p:sp>
      <p:sp>
        <p:nvSpPr>
          <p:cNvPr id="49" name="Shape 46"/>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0" name="Text 47"/>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1" name="Text 48"/>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تَحْتَفِظُ الأُسَرُ بِـ ___ ، وَتَتَكَيَّفُ مَعَ ___ .</a:t>
            </a:r>
            <a:endParaRPr lang="ar-SA" sz="1500" dirty="0"/>
          </a:p>
        </p:txBody>
      </p:sp>
      <p:sp>
        <p:nvSpPr>
          <p:cNvPr id="52" name="Shape 49"/>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3" name="Text 50"/>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4" name="Text 51"/>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مِنْ نَاحِيَةٍ ___ ، وَمِنْ نَاحِيَةٍ أُخْرَى ___ .</a:t>
            </a:r>
            <a:endParaRPr lang="ar-SA" sz="1500" dirty="0"/>
          </a:p>
        </p:txBody>
      </p:sp>
      <p:sp>
        <p:nvSpPr>
          <p:cNvPr id="55" name="Shape 52"/>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7" name="Shape 54"/>
          <p:cNvSpPr/>
          <p:nvPr/>
        </p:nvSpPr>
        <p:spPr>
          <a:xfrm>
            <a:off x="11274552" y="5559552"/>
            <a:ext cx="292608" cy="292608"/>
          </a:xfrm>
          <a:prstGeom prst="ellipse">
            <a:avLst/>
          </a:prstGeom>
          <a:solidFill>
            <a:srgbClr val="1E6B52"/>
          </a:solidFill>
          <a:ln w="12700">
            <a:solidFill>
              <a:srgbClr val="1E6B52"/>
            </a:solidFill>
            <a:prstDash val="solid"/>
          </a:ln>
        </p:spPr>
      </p:sp>
      <p:sp>
        <p:nvSpPr>
          <p:cNvPr id="58" name="Text 55"/>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9" name="Text 56"/>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قَارِنْ بَيْنَ مَدِينَتِكَ وَمَدِينَةٍ عَرَبِيَّةٍ.</a:t>
            </a:r>
            <a:endParaRPr lang="ar-SA" sz="1550" dirty="0"/>
          </a:p>
        </p:txBody>
      </p:sp>
      <p:sp>
        <p:nvSpPr>
          <p:cNvPr id="60" name="Text 57"/>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Compare your city with an Arab city.</a:t>
            </a:r>
            <a:endParaRPr lang="en-US" sz="950" dirty="0"/>
          </a:p>
        </p:txBody>
      </p:sp>
      <p:sp>
        <p:nvSpPr>
          <p:cNvPr id="61" name="Shape 58"/>
          <p:cNvSpPr/>
          <p:nvPr/>
        </p:nvSpPr>
        <p:spPr>
          <a:xfrm>
            <a:off x="11274552" y="5925312"/>
            <a:ext cx="292608" cy="292608"/>
          </a:xfrm>
          <a:prstGeom prst="ellipse">
            <a:avLst/>
          </a:prstGeom>
          <a:solidFill>
            <a:srgbClr val="1E6B52"/>
          </a:solidFill>
          <a:ln w="12700">
            <a:solidFill>
              <a:srgbClr val="1E6B52"/>
            </a:solidFill>
            <a:prstDash val="solid"/>
          </a:ln>
        </p:spPr>
      </p:sp>
      <p:sp>
        <p:nvSpPr>
          <p:cNvPr id="62" name="Text 59"/>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3" name="Text 60"/>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مَدِينَتِي أَصْغَرُ مِنَ القَاهِرَةِ، وَلٰكِنَّهَا أَكْثَرُ هُدُوءًا مِنْهَا.</a:t>
            </a:r>
            <a:endParaRPr lang="ar-SA" sz="1550" dirty="0"/>
          </a:p>
        </p:txBody>
      </p:sp>
      <p:sp>
        <p:nvSpPr>
          <p:cNvPr id="64" name="Text 61"/>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My city is smaller than Cairo, but it is calmer.</a:t>
            </a:r>
            <a:endParaRPr lang="en-US" sz="950" dirty="0"/>
          </a:p>
        </p:txBody>
      </p:sp>
      <p:sp>
        <p:nvSpPr>
          <p:cNvPr id="65" name="Text 6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47</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TE-L09 · Comparing Cultures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TE-L09</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6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Write six sentences using the four verbs with their correct prepositions.</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The four diaspora verbs with their prepositions, about you or a family.</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60–70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one comparative of each type and a contrast with </a:t>
            </a:r>
            <a:pPr algn="l" indent="0" marL="0">
              <a:buNone/>
            </a:pPr>
            <a:r>
              <a:rPr lang="ar-SA" altLang="en-US" sz="1800" b="1" dirty="0">
                <a:solidFill>
                  <a:srgbClr val="1F2A37"/>
                </a:solidFill>
                <a:latin typeface="Amiri" pitchFamily="2" charset="-78"/>
                <a:ea typeface="Amiri" pitchFamily="2" charset="-78"/>
                <a:cs typeface="Amiri" pitchFamily="2" charset="-78"/>
              </a:rPr>
              <a:t>بَيْنَمَا</a:t>
            </a:r>
            <a:pPr algn="l" indent="0" marL="0">
              <a:buNone/>
            </a:pPr>
            <a:r>
              <a:rPr lang="en-US" sz="1400" b="1" dirty="0">
                <a:solidFill>
                  <a:srgbClr val="1F2A37"/>
                </a:solidFill>
                <a:latin typeface="Calibri" pitchFamily="34" charset="0"/>
                <a:cs typeface="Amiri" pitchFamily="2" charset="-78"/>
              </a:rPr>
              <a:t>.</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ar-SA" sz="1150" dirty="0">
                <a:solidFill>
                  <a:srgbClr val="1F2A37"/>
                </a:solidFill>
                <a:latin typeface="Calibri" pitchFamily="34" charset="0"/>
                <a:ea typeface="Amiri" pitchFamily="2" charset="-78"/>
                <a:cs typeface="Amiri" pitchFamily="2" charset="-78"/>
              </a:rPr>
              <a:t>Add one comparative of each type and a contrast with بَيْنَمَا.</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80–90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Close with a balanced statement on dual identity that avoids reducing it to a single story.</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ar-SA" sz="1150" dirty="0">
                <a:solidFill>
                  <a:srgbClr val="1F2A37"/>
                </a:solidFill>
                <a:latin typeface="Calibri" pitchFamily="34" charset="0"/>
                <a:ea typeface="Amiri" pitchFamily="2" charset="-78"/>
                <a:cs typeface="Amiri" pitchFamily="2" charset="-78"/>
              </a:rPr>
              <a:t>Website task: three verbs · two comparatives · بَيْنَمَا · a balanced statement on dual identity.</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47</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TE-L09 · Comparing Cultures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TE-L09</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750" b="1" dirty="0">
                <a:solidFill>
                  <a:srgbClr val="1B3B6F"/>
                </a:solidFill>
                <a:latin typeface="Amiri" pitchFamily="2" charset="-78"/>
                <a:ea typeface="Amiri" pitchFamily="2" charset="-78"/>
                <a:cs typeface="Amiri" pitchFamily="2" charset="-78"/>
              </a:rPr>
              <a:t>فِي البَيْتِ نَتَحَدَّثُ ______ ، بَيْنَمَا ______ .</a:t>
            </a:r>
            <a:endParaRPr lang="ar-SA" sz="175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At home we speak …, whereas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مَدِينَتِي أَكْبَرُ / أَصْغَرُ مِنْ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city is bigger / smaller than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أَكْثَرُ هُدُوءًا / تَنَوُّعًا مِنْ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is calmer / more diverse than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مِنْ نَاحِيَةٍ ______ ، وَمِنْ نَاحِيَةٍ أُخْرَى ______ .</a:t>
            </a:r>
            <a:endParaRPr lang="ar-SA" sz="16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On one hand …, on the other hand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جَاءَتْ أُسْرَتِي مِنْ ______ قَبْلَ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family came from … years ago.</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أَنْتَمِي إِلَى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belong to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نَحْتَفِظُ بِـ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keep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تَكَيَّفَتْ أُمِّي مَعَ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mother adapted to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ea typeface="Amiri" pitchFamily="2" charset="-78"/>
                <a:cs typeface="Amiri" pitchFamily="2" charset="-78"/>
              </a:rPr>
              <a:t>أَنْتَمِي إِلَى  ·  أَتَكَيَّفُ مَعَ  ·  أَحْتَفِظُ بِـ  ·  أُوَازِنُ بَيْنَ  ·  أَشْعُرُ بِالحَنِينِ  ·  الجِيلُ الثَّانِي  ·  هُوِيَّةٌ مُزْدَوَجَةٌ  ·  أَكْبَرُ مِنْ  ·  أَصْغَرُ مِنْ  ·  أَكْثَرُ … مِنْ  ·  بَيْنَمَا  ·  مِنْ نَاحِيَةٍ</a:t>
            </a:r>
            <a:endParaRPr lang="ar-SA" sz="15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47</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TE-L09 · Comparing Cultures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TE-L09</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eighty to ninety words comparing life in two countries, drawing on the diaspora vocabulary. Use at least three of the four verbs with their prepositions, both comparative systems, and a balanced statement about dual identity.</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Three diaspora verbs, each with its fixed preposition.</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synthetic comparative and one analytical comparative, kept separate.</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contrast with </a:t>
            </a:r>
            <a:pPr algn="l" indent="0" marL="0">
              <a:buNone/>
            </a:pPr>
            <a:r>
              <a:rPr lang="ar-SA" altLang="en-US" sz="1550" dirty="0">
                <a:solidFill>
                  <a:srgbClr val="1F2A37"/>
                </a:solidFill>
                <a:latin typeface="Amiri" pitchFamily="2" charset="-78"/>
                <a:ea typeface="Amiri" pitchFamily="2" charset="-78"/>
                <a:cs typeface="Amiri" pitchFamily="2" charset="-78"/>
              </a:rPr>
              <a:t>بَيْنَمَا</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balanced statement using </a:t>
            </a:r>
            <a:pPr algn="l" indent="0" marL="0">
              <a:buNone/>
            </a:pPr>
            <a:r>
              <a:rPr lang="ar-SA" altLang="en-US" sz="1550" dirty="0">
                <a:solidFill>
                  <a:srgbClr val="1F2A37"/>
                </a:solidFill>
                <a:latin typeface="Amiri" pitchFamily="2" charset="-78"/>
                <a:ea typeface="Amiri" pitchFamily="2" charset="-78"/>
                <a:cs typeface="Amiri" pitchFamily="2" charset="-78"/>
              </a:rPr>
              <a:t>مِنْ نَاحِيَةٍ … وَمِنْ نَاحِيَةٍ أُخْرَى</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وُلِدْتُ فِي هٰذِهِ المَدِينَةِ</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was born in this city</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750" b="1" dirty="0">
                <a:solidFill>
                  <a:srgbClr val="1B3B6F"/>
                </a:solidFill>
                <a:latin typeface="Amiri" pitchFamily="2" charset="-78"/>
                <a:ea typeface="Amiri" pitchFamily="2" charset="-78"/>
                <a:cs typeface="Amiri" pitchFamily="2" charset="-78"/>
              </a:rPr>
              <a:t>لَيْسَتِ الهُوِيَّةُ المُزْدَوَجَةُ مُشْكِلَةً؛ هِيَ ثَرْوَةٌ</a:t>
            </a:r>
            <a:endParaRPr lang="ar-SA" sz="175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dual identity is not a problem — it is a richness</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وَالكَلِمَتَانِ لَيْسَتَا مُتَرَادِفَتَيْنِ</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and the two words are not synonyms</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فَلَا تُوجَدُ قِصَّةٌ وَاحِدَةٌ تَصِفُ الجَمِيعَ</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so no single story describes everyone</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تَجَارِبُ النَّاسِ مُخْتَلِفَةٌ</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people’s experiences differ</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47</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TE-L09 · Comparing Cultures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TE-L09</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350" dirty="0">
                <a:solidFill>
                  <a:srgbClr val="1F2A37"/>
                </a:solidFill>
                <a:latin typeface="Amiri" pitchFamily="2" charset="-78"/>
                <a:ea typeface="Amiri" pitchFamily="2" charset="-78"/>
                <a:cs typeface="Amiri" pitchFamily="2" charset="-78"/>
              </a:rPr>
              <a:t>تَعِيشُ أُسْرَتِي هُنَا مُنْذُ سَنَوَاتٍ طَوِيلَةٍ، وَأَنَا مِنَ الجِيلِ الثَّانِي فِي الجَالِيَةِ العَرَبِيَّةِ. أَنْتَمِي إِلَى ثَقَافَتَيْنِ، وَأُوَازِنُ بَيْنَهُمَا كُلَّ يَوْمٍ. فِي البَيْتِ نَتَحَدَّثُ العَرَبِيَّةَ، بَيْنَمَا أَدْرُسُ بِالإِنْجِلِيزِيَّةِ. تَحْتَفِظُ أُمِّي بِعَادَاتِهَا، وَقَدْ تَكَيَّفَتْ مَعَ الحَيَاةِ هُنَا بِسُرْعَةٍ. مَدِينَتُنَا أَصْغَرُ مِنَ القَاهِرَةِ، وَلٰكِنَّهَا أَكْثَرُ هُدُوءًا مِنْهَا. مِنْ نَاحِيَةٍ أَشْعُرُ بِالحَنِينِ إِلَى بَلَدِ أُسْرَتِي، وَمِنْ نَاحِيَةٍ أُخْرَى أُحِبُّ حَيَاتِي هُنَا. وَتَجَارِبُ النَّاسِ مُخْتَلِفَةٌ، فَلَا تُوجَدُ قِصَّةٌ وَاحِدَةٌ تَصِفُ الجَمِيعَ.</a:t>
            </a:r>
            <a:endParaRPr lang="ar-SA" sz="23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My family has lived here for many years, and I am from the second generation of the Arab community. I belong to two cultures and balance between them every day. At home we speak Arabic, whereas I study in English. My mother keeps her customs, and she adapted to life here quickly. Our city is smaller than Cairo, but it is calmer. On one hand I feel longing for my family’s country; on the other, I love my life here. People’s experiences differ, so no single story describes everyone.</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three diaspora verbs + prepositions</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أَصْغَرُ مِنْ and أَكْثَرُ هُدُوءًا</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بَيْنَمَا</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balanced statement</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47</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TE-L09 · Comparing Cultures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TE-L09</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Each diaspora verb has its preposition.</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The noun after the preposition ends in -i.</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ONE comparative at a time.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After </a:t>
            </a:r>
            <a:pPr algn="l" indent="0" marL="0">
              <a:buNone/>
            </a:pPr>
            <a:r>
              <a:rPr lang="ar-SA" altLang="en-US" sz="1700" dirty="0">
                <a:solidFill>
                  <a:srgbClr val="1F2A37"/>
                </a:solidFill>
                <a:latin typeface="Amiri" pitchFamily="2" charset="-78"/>
                <a:ea typeface="Amiri" pitchFamily="2" charset="-78"/>
                <a:cs typeface="Amiri" pitchFamily="2" charset="-78"/>
              </a:rPr>
              <a:t>أَكْثَرُ</a:t>
            </a:r>
            <a:pPr algn="l" indent="0" marL="0">
              <a:buNone/>
            </a:pPr>
            <a:r>
              <a:rPr lang="en-US" sz="1300" dirty="0">
                <a:solidFill>
                  <a:srgbClr val="1F2A37"/>
                </a:solidFill>
                <a:latin typeface="Calibri" pitchFamily="34" charset="0"/>
                <a:cs typeface="Amiri" pitchFamily="2" charset="-78"/>
              </a:rPr>
              <a:t> my noun ends in -an (</a:t>
            </a:r>
            <a:pPr algn="l" indent="0" marL="0">
              <a:buNone/>
            </a:pPr>
            <a:r>
              <a:rPr lang="ar-SA" altLang="en-US" sz="1700" dirty="0">
                <a:solidFill>
                  <a:srgbClr val="1F2A37"/>
                </a:solidFill>
                <a:latin typeface="Amiri" pitchFamily="2" charset="-78"/>
                <a:ea typeface="Amiri" pitchFamily="2" charset="-78"/>
                <a:cs typeface="Amiri" pitchFamily="2" charset="-78"/>
              </a:rPr>
              <a:t>هُدُوءًا</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view of dual identity is balanced, not simplified.</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47</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TE-L09 · Comparing Cultures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TE-L09</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يَتَكَيَّفُ المُهَاجِرُ</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مُجْتَمَعِهِ الجَدِيدِ</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مَعَ</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comparative.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القَاهِرَةُ أَكْثَرُ أَكْبَرُ مِنْ مَدِينَتِي.</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القَاهِرَةُ أَكْبَرُ مِنْ مَدِينَتِي.</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القَاهِرَةُ أَكْبَرُ عَنْ مَدِينَتِي.</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pair of words means different things?</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ar-SA" altLang="en-US" sz="1650" dirty="0">
                <a:solidFill>
                  <a:srgbClr val="1F2A37"/>
                </a:solidFill>
                <a:latin typeface="Amiri" pitchFamily="2" charset="-78"/>
                <a:ea typeface="Amiri" pitchFamily="2" charset="-78"/>
                <a:cs typeface="Amiri" pitchFamily="2" charset="-78"/>
              </a:rPr>
              <a:t>مُهَاجِرٌ</a:t>
            </a:r>
            <a:pPr algn="l" indent="0" marL="0">
              <a:buNone/>
            </a:pPr>
            <a:r>
              <a:rPr lang="en-US" sz="1250" dirty="0">
                <a:solidFill>
                  <a:srgbClr val="1F2A37"/>
                </a:solidFill>
                <a:latin typeface="Calibri" pitchFamily="34" charset="0"/>
                <a:cs typeface="Amiri" pitchFamily="2" charset="-78"/>
              </a:rPr>
              <a:t> and </a:t>
            </a:r>
            <a:pPr algn="l" indent="0" marL="0">
              <a:buNone/>
            </a:pPr>
            <a:r>
              <a:rPr lang="ar-SA" altLang="en-US" sz="1650" dirty="0">
                <a:solidFill>
                  <a:srgbClr val="1F2A37"/>
                </a:solidFill>
                <a:latin typeface="Amiri" pitchFamily="2" charset="-78"/>
                <a:ea typeface="Amiri" pitchFamily="2" charset="-78"/>
                <a:cs typeface="Amiri" pitchFamily="2" charset="-78"/>
              </a:rPr>
              <a:t>لَاجِئٌ</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ar-SA" altLang="en-US" sz="1650" dirty="0">
                <a:solidFill>
                  <a:srgbClr val="1F2A37"/>
                </a:solidFill>
                <a:latin typeface="Amiri" pitchFamily="2" charset="-78"/>
                <a:ea typeface="Amiri" pitchFamily="2" charset="-78"/>
                <a:cs typeface="Amiri" pitchFamily="2" charset="-78"/>
              </a:rPr>
              <a:t>وَطَنٌ</a:t>
            </a:r>
            <a:pPr algn="l" indent="0" marL="0">
              <a:buNone/>
            </a:pPr>
            <a:r>
              <a:rPr lang="en-US" sz="1250" dirty="0">
                <a:solidFill>
                  <a:srgbClr val="1F2A37"/>
                </a:solidFill>
                <a:latin typeface="Calibri" pitchFamily="34" charset="0"/>
                <a:cs typeface="Amiri" pitchFamily="2" charset="-78"/>
              </a:rPr>
              <a:t> and </a:t>
            </a:r>
            <a:pPr algn="l" indent="0" marL="0">
              <a:buNone/>
            </a:pPr>
            <a:r>
              <a:rPr lang="ar-SA" altLang="en-US" sz="1650" dirty="0">
                <a:solidFill>
                  <a:srgbClr val="1F2A37"/>
                </a:solidFill>
                <a:latin typeface="Amiri" pitchFamily="2" charset="-78"/>
                <a:ea typeface="Amiri" pitchFamily="2" charset="-78"/>
                <a:cs typeface="Amiri" pitchFamily="2" charset="-78"/>
              </a:rPr>
              <a:t>بَلَدٌ</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ar-SA" altLang="en-US" sz="1650" dirty="0">
                <a:solidFill>
                  <a:srgbClr val="1F2A37"/>
                </a:solidFill>
                <a:latin typeface="Amiri" pitchFamily="2" charset="-78"/>
                <a:ea typeface="Amiri" pitchFamily="2" charset="-78"/>
                <a:cs typeface="Amiri" pitchFamily="2" charset="-78"/>
              </a:rPr>
              <a:t>جُذُورٌ</a:t>
            </a:r>
            <a:pPr algn="l" indent="0" marL="0">
              <a:buNone/>
            </a:pPr>
            <a:r>
              <a:rPr lang="en-US" sz="1250" dirty="0">
                <a:solidFill>
                  <a:srgbClr val="1F2A37"/>
                </a:solidFill>
                <a:latin typeface="Calibri" pitchFamily="34" charset="0"/>
                <a:cs typeface="Amiri" pitchFamily="2" charset="-78"/>
              </a:rPr>
              <a:t> and </a:t>
            </a:r>
            <a:pPr algn="l" indent="0" marL="0">
              <a:buNone/>
            </a:pPr>
            <a:r>
              <a:rPr lang="ar-SA" altLang="en-US" sz="1650" dirty="0">
                <a:solidFill>
                  <a:srgbClr val="1F2A37"/>
                </a:solidFill>
                <a:latin typeface="Amiri" pitchFamily="2" charset="-78"/>
                <a:ea typeface="Amiri" pitchFamily="2" charset="-78"/>
                <a:cs typeface="Amiri" pitchFamily="2" charset="-78"/>
              </a:rPr>
              <a:t>أُصُولٌ</a:t>
            </a:r>
            <a:endParaRPr lang="en-US" sz="12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47</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TE-L09 · Comparing Cultures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TE-L09</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يَتَكَيَّفُ المُهَاجِرُ</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مُجْتَمَعِهِ الجَدِيدِ</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مَعَ</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إِلَى</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بِـ</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يَتَكَيَّفُ</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ea typeface="Amiri" pitchFamily="2" charset="-78"/>
                <a:cs typeface="Amiri" pitchFamily="2" charset="-78"/>
              </a:rPr>
              <a:t>مَعَ</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comparative.</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القَاهِرَةُ أَكْثَرُ أَكْبَرُ مِنْ مَدِينَتِي.</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القَاهِرَةُ أَكْبَرُ مِنْ مَدِينَتِي.</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القَاهِرَةُ أَكْبَرُ عَنْ مَدِينَتِي.</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One comparative form, with </a:t>
            </a:r>
            <a:pPr algn="l" indent="0" marL="0">
              <a:buNone/>
            </a:pPr>
            <a:r>
              <a:rPr lang="ar-SA" altLang="en-US" sz="1350" dirty="0">
                <a:solidFill>
                  <a:srgbClr val="8A6D1E"/>
                </a:solidFill>
                <a:latin typeface="Amiri" pitchFamily="2" charset="-78"/>
                <a:ea typeface="Amiri" pitchFamily="2" charset="-78"/>
                <a:cs typeface="Amiri" pitchFamily="2" charset="-78"/>
              </a:rPr>
              <a:t>مِنْ</a:t>
            </a:r>
            <a:pPr algn="l" indent="0" marL="0">
              <a:buNone/>
            </a:pPr>
            <a:r>
              <a:rPr lang="en-US" sz="1050" i="1" dirty="0">
                <a:solidFill>
                  <a:srgbClr val="8A6D1E"/>
                </a:solidFill>
                <a:latin typeface="Calibri" pitchFamily="34" charset="0"/>
                <a:cs typeface="Amiri" pitchFamily="2" charset="-78"/>
              </a:rPr>
              <a:t> and the genitive.</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pair of words means different things?</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ar-SA" altLang="en-US" sz="1650" b="1" dirty="0">
                <a:solidFill>
                  <a:srgbClr val="1F2A37"/>
                </a:solidFill>
                <a:latin typeface="Amiri" pitchFamily="2" charset="-78"/>
                <a:ea typeface="Amiri" pitchFamily="2" charset="-78"/>
                <a:cs typeface="Amiri" pitchFamily="2" charset="-78"/>
              </a:rPr>
              <a:t>مُهَاجِرٌ</a:t>
            </a:r>
            <a:pPr algn="l" indent="0" marL="0">
              <a:buNone/>
            </a:pPr>
            <a:r>
              <a:rPr lang="en-US" sz="1250" b="1" dirty="0">
                <a:solidFill>
                  <a:srgbClr val="1F2A37"/>
                </a:solidFill>
                <a:latin typeface="Calibri" pitchFamily="34" charset="0"/>
                <a:cs typeface="Amiri" pitchFamily="2" charset="-78"/>
              </a:rPr>
              <a:t> and </a:t>
            </a:r>
            <a:pPr algn="l" indent="0" marL="0">
              <a:buNone/>
            </a:pPr>
            <a:r>
              <a:rPr lang="ar-SA" altLang="en-US" sz="1650" b="1" dirty="0">
                <a:solidFill>
                  <a:srgbClr val="1F2A37"/>
                </a:solidFill>
                <a:latin typeface="Amiri" pitchFamily="2" charset="-78"/>
                <a:ea typeface="Amiri" pitchFamily="2" charset="-78"/>
                <a:cs typeface="Amiri" pitchFamily="2" charset="-78"/>
              </a:rPr>
              <a:t>لَاجِئٌ</a:t>
            </a:r>
            <a:endParaRPr lang="en-US" sz="12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ar-SA" altLang="en-US" sz="1650" dirty="0">
                <a:solidFill>
                  <a:srgbClr val="9AA1AB"/>
                </a:solidFill>
                <a:latin typeface="Amiri" pitchFamily="2" charset="-78"/>
                <a:ea typeface="Amiri" pitchFamily="2" charset="-78"/>
                <a:cs typeface="Amiri" pitchFamily="2" charset="-78"/>
              </a:rPr>
              <a:t>وَطَنٌ</a:t>
            </a:r>
            <a:pPr algn="l" indent="0" marL="0">
              <a:buNone/>
            </a:pPr>
            <a:r>
              <a:rPr lang="en-US" sz="1250" dirty="0">
                <a:solidFill>
                  <a:srgbClr val="9AA1AB"/>
                </a:solidFill>
                <a:latin typeface="Calibri" pitchFamily="34" charset="0"/>
                <a:cs typeface="Amiri" pitchFamily="2" charset="-78"/>
              </a:rPr>
              <a:t> and </a:t>
            </a:r>
            <a:pPr algn="l" indent="0" marL="0">
              <a:buNone/>
            </a:pPr>
            <a:r>
              <a:rPr lang="ar-SA" altLang="en-US" sz="1650" dirty="0">
                <a:solidFill>
                  <a:srgbClr val="9AA1AB"/>
                </a:solidFill>
                <a:latin typeface="Amiri" pitchFamily="2" charset="-78"/>
                <a:ea typeface="Amiri" pitchFamily="2" charset="-78"/>
                <a:cs typeface="Amiri" pitchFamily="2" charset="-78"/>
              </a:rPr>
              <a:t>بَلَدٌ</a:t>
            </a:r>
            <a:endParaRPr lang="en-US" sz="12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ar-SA" altLang="en-US" sz="1650" dirty="0">
                <a:solidFill>
                  <a:srgbClr val="9AA1AB"/>
                </a:solidFill>
                <a:latin typeface="Amiri" pitchFamily="2" charset="-78"/>
                <a:ea typeface="Amiri" pitchFamily="2" charset="-78"/>
                <a:cs typeface="Amiri" pitchFamily="2" charset="-78"/>
              </a:rPr>
              <a:t>جُذُورٌ</a:t>
            </a:r>
            <a:pPr algn="l" indent="0" marL="0">
              <a:buNone/>
            </a:pPr>
            <a:r>
              <a:rPr lang="en-US" sz="1250" dirty="0">
                <a:solidFill>
                  <a:srgbClr val="9AA1AB"/>
                </a:solidFill>
                <a:latin typeface="Calibri" pitchFamily="34" charset="0"/>
                <a:cs typeface="Amiri" pitchFamily="2" charset="-78"/>
              </a:rPr>
              <a:t> and </a:t>
            </a:r>
            <a:pPr algn="l" indent="0" marL="0">
              <a:buNone/>
            </a:pPr>
            <a:r>
              <a:rPr lang="ar-SA" altLang="en-US" sz="1650" dirty="0">
                <a:solidFill>
                  <a:srgbClr val="9AA1AB"/>
                </a:solidFill>
                <a:latin typeface="Amiri" pitchFamily="2" charset="-78"/>
                <a:ea typeface="Amiri" pitchFamily="2" charset="-78"/>
                <a:cs typeface="Amiri" pitchFamily="2" charset="-78"/>
              </a:rPr>
              <a:t>أُصُولٌ</a:t>
            </a:r>
            <a:endParaRPr lang="en-US" sz="12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migrant and a refugee are in different situations.</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47</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TE-L09 · Comparing Cultures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Reading: communities, not one story</a:t>
            </a:r>
            <a:endParaRPr lang="en-US" sz="26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TE-L09</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تَعِيشُ جَالِيَاتٌ عَرَبِيَّةٌ فِي بُلْدَانٍ كَثِيرَةٍ حَوْلَ العَالَمِ. وَقَدْ وَصَلَ بَعْضُ النَّاسِ مُهَاجِرِينَ بَحْثًا عَنْ عَمَلٍ أَوْ دِرَاسَةٍ، بَيْنَمَا وَصَلَ آخَرُونَ لَاجِئِينَ هَرَبًا مِنَ الحَرْبِ؛ وَالكَلِمَتَانِ لَيْسَتَا مُتَرَادِفَتَيْنِ. يَحْتَفِظُ كَثِيرٌ مِنَ الأُسَرِ بِلُغَتِهِمْ وَإِرْثِهِمُ الثَّقَافِيِّ، وَفِي الوَقْتِ نَفْسِهِ يَتَكَيَّفُونَ مَعَ مُجْتَمَعَاتٍ جَدِيدَةٍ. أَمَّا الجِيلُ الثَّانِي فَيَنْتَمِي إِلَى ثَقَافَتَيْنِ، وَيُوَازِنُ بَيْنَهُمَا فِي حَيَاتِهِ اليَوْمِيَّةِ. مِنْ نَاحِيَةٍ يَشْعُرُ بَعْضُهُمْ بِالحَنِينِ وَالغُرْبَةِ، وَمِنْ نَاحِيَةٍ أُخْرَى يَرَوْنَ فِي الهُوِيَّةِ المُزْدَوَجَةِ ثَرْوَةً. وَتَجَارِبُ النَّاسِ مُخْتَلِفَةٌ، فَلَا تُوجَدُ قِصَّةٌ وَاحِدَةٌ تَصِفُ الجَمِيعَ.</a:t>
            </a:r>
            <a:endParaRPr lang="ar-SA" sz="23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تَعِيشُ</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live</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بَحْثًا عَنْ</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looking for</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هَرَبًا مِنَ الحَرْبِ</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fleeing war</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مُتَرَادِفَتَيْنِ</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synonyms (dual)</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إِرْثِهِمُ الثَّقَافِيِّ</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their cultural heritage</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فِي الوَقْتِ نَفْسِهِ</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at the same time</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مُجْتَمَعَاتٍ جَدِيدَةٍ</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new societies</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الغُرْبَةِ</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being far from home</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ثَرْوَةً</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richness</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تَصِفُ الجَمِيعَ</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describes everyone</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47</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TE-L09 · Comparing Cultures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TE-L09</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did some people arrive?</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for holidays</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Seeking work or study</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For sport</a:t>
            </a:r>
            <a:endParaRPr lang="en-US"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text say about the two words?</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mean the same</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Neither is used now</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are not synonyms</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many families keep?</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Their language and cultural heritage</a:t>
            </a:r>
            <a:endParaRPr lang="en-US" sz="12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their passports</a:t>
            </a:r>
            <a:endParaRPr lang="en-US" sz="12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Nothing</a:t>
            </a:r>
            <a:endParaRPr lang="en-US" sz="12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second generation do?</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Rejects one culture</a:t>
            </a:r>
            <a:endParaRPr lang="en-US" sz="12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Belongs to two cultures and balances between them</a:t>
            </a:r>
            <a:endParaRPr lang="en-US" sz="12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Lives entirely apart</a:t>
            </a:r>
            <a:endParaRPr lang="en-US" sz="12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closing point?</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Experiences differ; no single story describes everyone</a:t>
            </a:r>
            <a:endParaRPr lang="en-US" sz="12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Everyone has the same experience</a:t>
            </a:r>
            <a:endParaRPr lang="en-US" sz="12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one generation matters</a:t>
            </a:r>
            <a:endParaRPr lang="en-US" sz="1250" dirty="0"/>
          </a:p>
        </p:txBody>
      </p:sp>
      <p:sp>
        <p:nvSpPr>
          <p:cNvPr id="82" name="Shape 7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84" name="Text 8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47</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TE-L09 · Comparing Cultures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TE-L09</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did some people arrive?</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for holidays</a:t>
            </a:r>
            <a:endParaRPr lang="en-US" sz="1250" dirty="0"/>
          </a:p>
        </p:txBody>
      </p:sp>
      <p:sp>
        <p:nvSpPr>
          <p:cNvPr id="24"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Seeking work or study</a:t>
            </a:r>
            <a:endParaRPr lang="en-US" sz="12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For sport</a:t>
            </a:r>
            <a:endParaRPr lang="en-US" sz="1250" dirty="0"/>
          </a:p>
        </p:txBody>
      </p:sp>
      <p:sp>
        <p:nvSpPr>
          <p:cNvPr id="31" name="Text 28"/>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وَصَلَ بَعْضُ النَّاسِ مُهَاجِرِينَ بَحْثًا عَنْ عَمَلٍ أَوْ دِرَاسَةٍ.</a:t>
            </a:r>
            <a:endParaRPr lang="ar-SA" sz="1350" dirty="0"/>
          </a:p>
        </p:txBody>
      </p:sp>
      <p:sp>
        <p:nvSpPr>
          <p:cNvPr id="32"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text say about the two words?</a:t>
            </a:r>
            <a:endParaRPr lang="en-US" sz="125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mean the same</a:t>
            </a:r>
            <a:endParaRPr lang="en-US" sz="125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Neither is used now</a:t>
            </a:r>
            <a:endParaRPr lang="en-US" sz="125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They are not synonyms</a:t>
            </a:r>
            <a:endParaRPr lang="en-US" sz="125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وَالكَلِمَتَانِ لَيْسَتَا مُتَرَادِفَتَيْنِ.</a:t>
            </a:r>
            <a:endParaRPr lang="ar-SA" sz="13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many families keep?</a:t>
            </a:r>
            <a:endParaRPr lang="en-US" sz="1250" dirty="0"/>
          </a:p>
        </p:txBody>
      </p:sp>
      <p:sp>
        <p:nvSpPr>
          <p:cNvPr id="51" name="Shape 48"/>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8278368"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Their language and cultural heritage</a:t>
            </a:r>
            <a:endParaRPr lang="en-US" sz="1250" dirty="0"/>
          </a:p>
        </p:txBody>
      </p:sp>
      <p:sp>
        <p:nvSpPr>
          <p:cNvPr id="55"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their passports</a:t>
            </a:r>
            <a:endParaRPr lang="en-US" sz="1250" dirty="0"/>
          </a:p>
        </p:txBody>
      </p:sp>
      <p:sp>
        <p:nvSpPr>
          <p:cNvPr id="58" name="Shape 55"/>
          <p:cNvSpPr/>
          <p:nvPr/>
        </p:nvSpPr>
        <p:spPr>
          <a:xfrm>
            <a:off x="8278368"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Nothing</a:t>
            </a:r>
            <a:endParaRPr lang="en-US" sz="1250" dirty="0"/>
          </a:p>
        </p:txBody>
      </p:sp>
      <p:sp>
        <p:nvSpPr>
          <p:cNvPr id="61" name="Text 58"/>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يَحْتَفِظُ كَثِيرٌ مِنَ الأُسَرِ بِلُغَتِهِمْ وَإِرْثِهِمُ الثَّقَافِيِّ.</a:t>
            </a:r>
            <a:endParaRPr lang="ar-SA" sz="1350" dirty="0"/>
          </a:p>
        </p:txBody>
      </p:sp>
      <p:sp>
        <p:nvSpPr>
          <p:cNvPr id="62"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second generation do?</a:t>
            </a:r>
            <a:endParaRPr lang="en-US" sz="1250" dirty="0"/>
          </a:p>
        </p:txBody>
      </p:sp>
      <p:sp>
        <p:nvSpPr>
          <p:cNvPr id="66"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Rejects one culture</a:t>
            </a:r>
            <a:endParaRPr lang="en-US" sz="1250" dirty="0"/>
          </a:p>
        </p:txBody>
      </p:sp>
      <p:sp>
        <p:nvSpPr>
          <p:cNvPr id="69" name="Shape 66"/>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640080" y="5202936"/>
            <a:ext cx="256032" cy="256032"/>
          </a:xfrm>
          <a:prstGeom prst="ellipse">
            <a:avLst/>
          </a:prstGeom>
          <a:solidFill>
            <a:srgbClr val="2E8B57"/>
          </a:solidFill>
          <a:ln w="12700">
            <a:solidFill>
              <a:srgbClr val="2E8B57"/>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Belongs to two cultures and balances between them</a:t>
            </a:r>
            <a:endParaRPr lang="en-US" sz="1150" dirty="0"/>
          </a:p>
        </p:txBody>
      </p:sp>
      <p:sp>
        <p:nvSpPr>
          <p:cNvPr id="73" name="Shape 70"/>
          <p:cNvSpPr/>
          <p:nvPr/>
        </p:nvSpPr>
        <p:spPr>
          <a:xfrm>
            <a:off x="640080"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Lives entirely apart</a:t>
            </a:r>
            <a:endParaRPr lang="en-US" sz="125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يَنْتَمِي إِلَى ثَقَافَتَيْنِ، وَيُوَازِنُ بَيْنَهُمَا.</a:t>
            </a:r>
            <a:endParaRPr lang="ar-SA" sz="135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closing point?</a:t>
            </a:r>
            <a:endParaRPr lang="en-US" sz="125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Experiences differ; no single story describes everyone</a:t>
            </a:r>
            <a:endParaRPr lang="en-US" sz="115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Everyone has the same experience</a:t>
            </a:r>
            <a:endParaRPr lang="en-US" sz="125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one generation matters</a:t>
            </a:r>
            <a:endParaRPr lang="en-US" sz="125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فَلَا تُوجَدُ قِصَّةٌ وَاحِدَةٌ تَصِفُ الجَمِيعَ.</a:t>
            </a:r>
            <a:endParaRPr lang="ar-SA" sz="1350" dirty="0"/>
          </a:p>
        </p:txBody>
      </p:sp>
      <p:sp>
        <p:nvSpPr>
          <p:cNvPr id="92" name="Shape 8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4" name="Text 9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47</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TE-L09 · Comparing Cultures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Diaspora Mission — Prepositions, Comparison and Nuance</a:t>
            </a:r>
            <a:endParaRPr lang="en-US" sz="17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TE-L09</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Preposition: complete — </a:t>
            </a:r>
            <a:pPr algn="l" indent="0" marL="0">
              <a:buNone/>
            </a:pPr>
            <a:r>
              <a:rPr lang="ar-SA" altLang="en-US" sz="1650" b="1" dirty="0">
                <a:solidFill>
                  <a:srgbClr val="1B3B6F"/>
                </a:solidFill>
                <a:latin typeface="Amiri" pitchFamily="2" charset="-78"/>
                <a:ea typeface="Amiri" pitchFamily="2" charset="-78"/>
                <a:cs typeface="Amiri" pitchFamily="2" charset="-78"/>
              </a:rPr>
              <a:t>أَنْتَمِي</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ثَقَافَتَيْنِ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مَعَ</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Preposition: complete — </a:t>
            </a:r>
            <a:pPr algn="l" indent="0" marL="0">
              <a:buNone/>
            </a:pPr>
            <a:r>
              <a:rPr lang="ar-SA" altLang="en-US" sz="1650" b="1" dirty="0">
                <a:solidFill>
                  <a:srgbClr val="1B3B6F"/>
                </a:solidFill>
                <a:latin typeface="Amiri" pitchFamily="2" charset="-78"/>
                <a:ea typeface="Amiri" pitchFamily="2" charset="-78"/>
                <a:cs typeface="Amiri" pitchFamily="2" charset="-78"/>
              </a:rPr>
              <a:t>يُوَازِنُ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ثَقَافَتَيْهِ</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بَيْنَ</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مَعَ</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Preposition: complete — </a:t>
            </a:r>
            <a:pPr algn="l" indent="0" marL="0">
              <a:buNone/>
            </a:pPr>
            <a:r>
              <a:rPr lang="ar-SA" altLang="en-US" sz="1650" b="1" dirty="0">
                <a:solidFill>
                  <a:srgbClr val="1B3B6F"/>
                </a:solidFill>
                <a:latin typeface="Amiri" pitchFamily="2" charset="-78"/>
                <a:ea typeface="Amiri" pitchFamily="2" charset="-78"/>
                <a:cs typeface="Amiri" pitchFamily="2" charset="-78"/>
              </a:rPr>
              <a:t>تَحْتَفِظُ</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لُغَتِهَا</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Vocabulary: which means “nostalgia”?</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غُرْبَةٌ</a:t>
            </a:r>
            <a:endParaRPr lang="ar-SA" sz="20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انْتِمَاءٌ</a:t>
            </a:r>
            <a:endParaRPr lang="ar-SA" sz="20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حَنِينٌ</a:t>
            </a:r>
            <a:endParaRPr lang="ar-SA" sz="20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Vocabulary: which means “roots”?</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جُذُورٌ</a:t>
            </a:r>
            <a:endParaRPr lang="ar-SA" sz="20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أَوْطَانٌ</a:t>
            </a:r>
            <a:endParaRPr lang="ar-SA" sz="20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جَالِيَاتٌ</a:t>
            </a:r>
            <a:endParaRPr lang="ar-SA" sz="2050" dirty="0"/>
          </a:p>
        </p:txBody>
      </p:sp>
      <p:sp>
        <p:nvSpPr>
          <p:cNvPr id="82" name="Shape 7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822350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Comparative: which is accurate?</a:t>
            </a:r>
            <a:endParaRPr lang="en-US" sz="1250" dirty="0"/>
          </a:p>
        </p:txBody>
      </p:sp>
      <p:sp>
        <p:nvSpPr>
          <p:cNvPr id="86" name="Shape 83"/>
          <p:cNvSpPr/>
          <p:nvPr/>
        </p:nvSpPr>
        <p:spPr>
          <a:xfrm>
            <a:off x="827836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أَكْثَرُ أَكْبَرُ مِنْ مَدِينَتِي</a:t>
            </a:r>
            <a:endParaRPr lang="ar-SA" sz="2050" dirty="0"/>
          </a:p>
        </p:txBody>
      </p:sp>
      <p:sp>
        <p:nvSpPr>
          <p:cNvPr id="89" name="Shape 86"/>
          <p:cNvSpPr/>
          <p:nvPr/>
        </p:nvSpPr>
        <p:spPr>
          <a:xfrm>
            <a:off x="827836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أَكْبَرُ مِنْ مَدِينَتِي</a:t>
            </a:r>
            <a:endParaRPr lang="ar-SA" sz="2050" dirty="0"/>
          </a:p>
        </p:txBody>
      </p:sp>
      <p:sp>
        <p:nvSpPr>
          <p:cNvPr id="92" name="Shape 89"/>
          <p:cNvSpPr/>
          <p:nvPr/>
        </p:nvSpPr>
        <p:spPr>
          <a:xfrm>
            <a:off x="827836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الأَكْبَرُ مِنْ مَدِينَتِي</a:t>
            </a:r>
            <a:endParaRPr lang="ar-SA" sz="20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47</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TE-L09 · Comparing Cultures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TE-L09</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Preposition: complete — </a:t>
            </a:r>
            <a:pPr algn="l" indent="0" marL="0">
              <a:buNone/>
            </a:pPr>
            <a:r>
              <a:rPr lang="ar-SA" altLang="en-US" sz="1650" b="1" dirty="0">
                <a:solidFill>
                  <a:srgbClr val="1B3B6F"/>
                </a:solidFill>
                <a:latin typeface="Amiri" pitchFamily="2" charset="-78"/>
                <a:ea typeface="Amiri" pitchFamily="2" charset="-78"/>
                <a:cs typeface="Amiri" pitchFamily="2" charset="-78"/>
              </a:rPr>
              <a:t>أَنْتَمِي</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ثَقَافَتَيْنِ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مَعَ</a:t>
            </a:r>
            <a:endParaRPr lang="ar-SA" sz="170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إِلَى</a:t>
            </a:r>
            <a:endParaRPr lang="ar-SA" sz="170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بِـ</a:t>
            </a:r>
            <a:endParaRPr lang="ar-SA" sz="170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يَنْتَمِي</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ea typeface="Amiri" pitchFamily="2" charset="-78"/>
                <a:cs typeface="Amiri" pitchFamily="2" charset="-78"/>
              </a:rPr>
              <a:t>إِلَى</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Preposition: complete — </a:t>
            </a:r>
            <a:pPr algn="l" indent="0" marL="0">
              <a:buNone/>
            </a:pPr>
            <a:r>
              <a:rPr lang="ar-SA" altLang="en-US" sz="1650" b="1" dirty="0">
                <a:solidFill>
                  <a:srgbClr val="1B3B6F"/>
                </a:solidFill>
                <a:latin typeface="Amiri" pitchFamily="2" charset="-78"/>
                <a:ea typeface="Amiri" pitchFamily="2" charset="-78"/>
                <a:cs typeface="Amiri" pitchFamily="2" charset="-78"/>
              </a:rPr>
              <a:t>يُوَازِنُ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ثَقَافَتَيْهِ</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5"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6"/>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بَيْنَ</a:t>
            </a:r>
            <a:endParaRPr lang="ar-SA" sz="1700" dirty="0"/>
          </a:p>
        </p:txBody>
      </p:sp>
      <p:sp>
        <p:nvSpPr>
          <p:cNvPr id="39"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9"/>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مَعَ</a:t>
            </a:r>
            <a:endParaRPr lang="ar-SA" sz="1700" dirty="0"/>
          </a:p>
        </p:txBody>
      </p:sp>
      <p:sp>
        <p:nvSpPr>
          <p:cNvPr id="42"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a:t>
            </a:r>
            <a:endParaRPr lang="ar-SA" sz="1700" dirty="0"/>
          </a:p>
        </p:txBody>
      </p:sp>
      <p:sp>
        <p:nvSpPr>
          <p:cNvPr id="45"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يُوَازِنُ</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ea typeface="Amiri" pitchFamily="2" charset="-78"/>
                <a:cs typeface="Amiri" pitchFamily="2" charset="-78"/>
              </a:rPr>
              <a:t>بَيْنَ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6"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Preposition: complete — </a:t>
            </a:r>
            <a:pPr algn="l" indent="0" marL="0">
              <a:buNone/>
            </a:pPr>
            <a:r>
              <a:rPr lang="ar-SA" altLang="en-US" sz="1650" b="1" dirty="0">
                <a:solidFill>
                  <a:srgbClr val="1B3B6F"/>
                </a:solidFill>
                <a:latin typeface="Amiri" pitchFamily="2" charset="-78"/>
                <a:ea typeface="Amiri" pitchFamily="2" charset="-78"/>
                <a:cs typeface="Amiri" pitchFamily="2" charset="-78"/>
              </a:rPr>
              <a:t>تَحْتَفِظُ</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لُغَتِهَا</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0" name="Shape 48"/>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50"/>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a:t>
            </a:r>
            <a:endParaRPr lang="ar-SA" sz="1700" dirty="0"/>
          </a:p>
        </p:txBody>
      </p:sp>
      <p:sp>
        <p:nvSpPr>
          <p:cNvPr id="53"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3"/>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مِنْ</a:t>
            </a:r>
            <a:endParaRPr lang="ar-SA" sz="1700" dirty="0"/>
          </a:p>
        </p:txBody>
      </p:sp>
      <p:sp>
        <p:nvSpPr>
          <p:cNvPr id="56" name="Shape 54"/>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5"/>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7"/>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بِـ</a:t>
            </a:r>
            <a:endParaRPr lang="ar-SA" sz="1700" dirty="0"/>
          </a:p>
        </p:txBody>
      </p:sp>
      <p:sp>
        <p:nvSpPr>
          <p:cNvPr id="60"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يَحْتَفِظُ</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ea typeface="Amiri" pitchFamily="2" charset="-78"/>
                <a:cs typeface="Amiri" pitchFamily="2" charset="-78"/>
              </a:rPr>
              <a:t>بِـ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1"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Vocabulary: which means “nostalgia”?</a:t>
            </a:r>
            <a:endParaRPr lang="en-US" sz="1250" dirty="0"/>
          </a:p>
        </p:txBody>
      </p:sp>
      <p:sp>
        <p:nvSpPr>
          <p:cNvPr id="65"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5"/>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غُرْبَةٌ</a:t>
            </a:r>
            <a:endParaRPr lang="ar-SA" sz="1700" dirty="0"/>
          </a:p>
        </p:txBody>
      </p:sp>
      <p:sp>
        <p:nvSpPr>
          <p:cNvPr id="68" name="Shape 66"/>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7"/>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8"/>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انْتِمَاءٌ</a:t>
            </a:r>
            <a:endParaRPr lang="ar-SA" sz="1700" dirty="0"/>
          </a:p>
        </p:txBody>
      </p:sp>
      <p:sp>
        <p:nvSpPr>
          <p:cNvPr id="71" name="Shape 69"/>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70"/>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2"/>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حَنِينٌ</a:t>
            </a:r>
            <a:endParaRPr lang="ar-SA" sz="1700" dirty="0"/>
          </a:p>
        </p:txBody>
      </p:sp>
      <p:sp>
        <p:nvSpPr>
          <p:cNvPr id="75"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حَنِينٌ</a:t>
            </a:r>
            <a:pPr algn="l" indent="0" marL="0">
              <a:buNone/>
            </a:pPr>
            <a:r>
              <a:rPr lang="en-US" sz="1050" i="1" dirty="0">
                <a:solidFill>
                  <a:srgbClr val="8A6D1E"/>
                </a:solidFill>
                <a:latin typeface="Calibri" pitchFamily="34" charset="0"/>
                <a:cs typeface="Amiri" pitchFamily="2" charset="-78"/>
              </a:rPr>
              <a:t> is longing for a place or time.</a:t>
            </a:r>
            <a:endParaRPr lang="en-US" sz="1050" dirty="0"/>
          </a:p>
        </p:txBody>
      </p:sp>
      <p:sp>
        <p:nvSpPr>
          <p:cNvPr id="76"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Vocabulary: which means “roots”?</a:t>
            </a:r>
            <a:endParaRPr lang="en-US" sz="1250" dirty="0"/>
          </a:p>
        </p:txBody>
      </p:sp>
      <p:sp>
        <p:nvSpPr>
          <p:cNvPr id="80"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3" name="Text 81"/>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جُذُورٌ</a:t>
            </a:r>
            <a:endParaRPr lang="ar-SA" sz="1700" dirty="0"/>
          </a:p>
        </p:txBody>
      </p:sp>
      <p:sp>
        <p:nvSpPr>
          <p:cNvPr id="84"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4"/>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أَوْطَانٌ</a:t>
            </a:r>
            <a:endParaRPr lang="ar-SA" sz="1700" dirty="0"/>
          </a:p>
        </p:txBody>
      </p:sp>
      <p:sp>
        <p:nvSpPr>
          <p:cNvPr id="87"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7"/>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جَالِيَاتٌ</a:t>
            </a:r>
            <a:endParaRPr lang="ar-SA" sz="1700" dirty="0"/>
          </a:p>
        </p:txBody>
      </p:sp>
      <p:sp>
        <p:nvSpPr>
          <p:cNvPr id="90"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جُذُورٌ</a:t>
            </a:r>
            <a:pPr algn="l" indent="0" marL="0">
              <a:buNone/>
            </a:pPr>
            <a:r>
              <a:rPr lang="en-US" sz="1050" i="1" dirty="0">
                <a:solidFill>
                  <a:srgbClr val="8A6D1E"/>
                </a:solidFill>
                <a:latin typeface="Calibri" pitchFamily="34" charset="0"/>
                <a:cs typeface="Amiri" pitchFamily="2" charset="-78"/>
              </a:rPr>
              <a:t> are roots.</a:t>
            </a:r>
            <a:endParaRPr lang="en-US" sz="1050" dirty="0"/>
          </a:p>
        </p:txBody>
      </p:sp>
      <p:sp>
        <p:nvSpPr>
          <p:cNvPr id="91" name="Shape 8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2" name="Shape 90"/>
          <p:cNvSpPr/>
          <p:nvPr/>
        </p:nvSpPr>
        <p:spPr>
          <a:xfrm>
            <a:off x="8223504" y="4288536"/>
            <a:ext cx="310896" cy="310896"/>
          </a:xfrm>
          <a:prstGeom prst="ellipse">
            <a:avLst/>
          </a:prstGeom>
          <a:solidFill>
            <a:srgbClr val="1B3B6F"/>
          </a:solidFill>
          <a:ln w="12700">
            <a:solidFill>
              <a:srgbClr val="1B3B6F"/>
            </a:solidFill>
            <a:prstDash val="solid"/>
          </a:ln>
        </p:spPr>
      </p:sp>
      <p:sp>
        <p:nvSpPr>
          <p:cNvPr id="93" name="Text 9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4" name="Text 9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Comparative: which is accurate?</a:t>
            </a:r>
            <a:endParaRPr lang="en-US" sz="1250" dirty="0"/>
          </a:p>
        </p:txBody>
      </p:sp>
      <p:sp>
        <p:nvSpPr>
          <p:cNvPr id="95" name="Shape 93"/>
          <p:cNvSpPr/>
          <p:nvPr/>
        </p:nvSpPr>
        <p:spPr>
          <a:xfrm>
            <a:off x="8278368" y="4831080"/>
            <a:ext cx="256032" cy="256032"/>
          </a:xfrm>
          <a:prstGeom prst="ellipse">
            <a:avLst/>
          </a:prstGeom>
          <a:solidFill>
            <a:srgbClr val="C9CED6"/>
          </a:solidFill>
          <a:ln w="12700">
            <a:solidFill>
              <a:srgbClr val="C9CED6"/>
            </a:solidFill>
            <a:prstDash val="solid"/>
          </a:ln>
        </p:spPr>
      </p:sp>
      <p:sp>
        <p:nvSpPr>
          <p:cNvPr id="96" name="Text 94"/>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7" name="Text 95"/>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أَكْثَرُ أَكْبَرُ مِنْ مَدِينَتِي</a:t>
            </a:r>
            <a:endParaRPr lang="ar-SA" sz="1700" dirty="0"/>
          </a:p>
        </p:txBody>
      </p:sp>
      <p:sp>
        <p:nvSpPr>
          <p:cNvPr id="98" name="Shape 96"/>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99" name="Shape 97"/>
          <p:cNvSpPr/>
          <p:nvPr/>
        </p:nvSpPr>
        <p:spPr>
          <a:xfrm>
            <a:off x="8278368" y="5202936"/>
            <a:ext cx="256032" cy="256032"/>
          </a:xfrm>
          <a:prstGeom prst="ellipse">
            <a:avLst/>
          </a:prstGeom>
          <a:solidFill>
            <a:srgbClr val="2E8B57"/>
          </a:solidFill>
          <a:ln w="12700">
            <a:solidFill>
              <a:srgbClr val="2E8B57"/>
            </a:solidFill>
            <a:prstDash val="solid"/>
          </a:ln>
        </p:spPr>
      </p:sp>
      <p:sp>
        <p:nvSpPr>
          <p:cNvPr id="100" name="Text 98"/>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1" name="Text 99"/>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أَكْبَرُ مِنْ مَدِينَتِي</a:t>
            </a:r>
            <a:endParaRPr lang="ar-SA" sz="1700" dirty="0"/>
          </a:p>
        </p:txBody>
      </p:sp>
      <p:sp>
        <p:nvSpPr>
          <p:cNvPr id="102" name="Shape 100"/>
          <p:cNvSpPr/>
          <p:nvPr/>
        </p:nvSpPr>
        <p:spPr>
          <a:xfrm>
            <a:off x="8278368" y="5574792"/>
            <a:ext cx="256032" cy="256032"/>
          </a:xfrm>
          <a:prstGeom prst="ellipse">
            <a:avLst/>
          </a:prstGeom>
          <a:solidFill>
            <a:srgbClr val="C9CED6"/>
          </a:solidFill>
          <a:ln w="12700">
            <a:solidFill>
              <a:srgbClr val="C9CED6"/>
            </a:solidFill>
            <a:prstDash val="solid"/>
          </a:ln>
        </p:spPr>
      </p:sp>
      <p:sp>
        <p:nvSpPr>
          <p:cNvPr id="103" name="Text 101"/>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4" name="Text 102"/>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الأَكْبَرُ مِنْ مَدِينَتِي</a:t>
            </a:r>
            <a:endParaRPr lang="ar-SA" sz="1700" dirty="0"/>
          </a:p>
        </p:txBody>
      </p:sp>
      <p:sp>
        <p:nvSpPr>
          <p:cNvPr id="105" name="Text 103"/>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Use one comparative form with </a:t>
            </a:r>
            <a:pPr algn="l" indent="0" marL="0">
              <a:buNone/>
            </a:pPr>
            <a:r>
              <a:rPr lang="ar-SA" altLang="en-US" sz="1350" dirty="0">
                <a:solidFill>
                  <a:srgbClr val="8A6D1E"/>
                </a:solidFill>
                <a:latin typeface="Amiri" pitchFamily="2" charset="-78"/>
                <a:ea typeface="Amiri" pitchFamily="2" charset="-78"/>
                <a:cs typeface="Amiri" pitchFamily="2" charset="-78"/>
              </a:rPr>
              <a:t>مِنْ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106" name="Text 10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45 / 47</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TE-L09 · Comparing Cultures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TE-L10: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TE-L09</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TE-L10 · International Life and Global Connections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العَدَالَةُ الدَّوْلِيَّةُ</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international justice</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القَانُونُ الدَّوْلِيُّ الإِنْسَانِيُّ</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international humanitarian law</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ازْدِوَاجِيَّةُ المَعَايِيرِ</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double standards</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الإِفْلَاتُ مِنَ العِقَابِ</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impunity</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يَرْفُضُ أَنْ</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refuses to</a:t>
            </a:r>
            <a:pPr indent="0" marL="0">
              <a:buNone/>
            </a:pPr>
            <a:r>
              <a:rPr lang="en-US" sz="1000" i="1" dirty="0">
                <a:solidFill>
                  <a:srgbClr val="5A6472"/>
                </a:solidFill>
                <a:latin typeface="Calibri" pitchFamily="34" charset="0"/>
                <a:cs typeface="Amiri" pitchFamily="2" charset="-78"/>
              </a:rPr>
              <a:t>  + verb in -a</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Should every country follow the same international rules? Why?</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lnSpc>
                <a:spcPct val="120000"/>
              </a:lnSpc>
              <a:buNone/>
            </a:pPr>
            <a:r>
              <a:rPr lang="ar-SA" altLang="en-US" sz="1700" b="1" dirty="0">
                <a:solidFill>
                  <a:srgbClr val="1B3B6F"/>
                </a:solidFill>
                <a:latin typeface="Amiri" pitchFamily="2" charset="-78"/>
                <a:ea typeface="Amiri" pitchFamily="2" charset="-78"/>
                <a:cs typeface="Amiri" pitchFamily="2" charset="-78"/>
              </a:rPr>
              <a:t>صَحِيحٌ أَنَّ لِكُلِّ دَوْلَةٍ سِيَادَتَهَا، غَيْرَ أَنَّ ______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Learn the four verbs with their prepositions; write six sentences.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A 60–70-word comparison of two cities with both comparatives.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80–90 words with a balanced statement on dual identity.</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46 / 47</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TE-L09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950" b="1" dirty="0">
                <a:solidFill>
                  <a:srgbClr val="FFFFFF"/>
                </a:solidFill>
                <a:latin typeface="Cambria" pitchFamily="34" charset="0"/>
                <a:cs typeface="Amiri" pitchFamily="2" charset="-78"/>
              </a:rPr>
              <a:t>TE-L10 · International Life and Global Connections</a:t>
            </a:r>
            <a:endParaRPr lang="en-US" sz="19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الحَيَاةُ الدُّوَلِيَّةُ وَالرَّوَابِطُ العَالَمِيَّةُ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learn the 5 words for TE-L10.</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47</Slides>
  <Notes>47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TE-L09 · Comparing Cultures with Respect</dc:title>
  <dc:subject>PptxGenJS Presentation</dc:subject>
  <dc:creator>Al Madina Online School · Arabic Department</dc:creator>
  <cp:lastModifiedBy>Al Madina Online School · Arabic Department</cp:lastModifiedBy>
  <cp:revision>1</cp:revision>
  <dcterms:created xsi:type="dcterms:W3CDTF">2026-10-11T06:44:20Z</dcterms:created>
  <dcterms:modified xsi:type="dcterms:W3CDTF">2026-10-11T06:44:20Z</dcterms:modified>
</cp:coreProperties>
</file>