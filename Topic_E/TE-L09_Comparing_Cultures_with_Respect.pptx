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ADVANCED TOPIC E · TE-L09 — Comparing Cultures with Respect. Website: Advanced Topics › Topic E (The International World) › Lesson 9.
The website builds this lesson on the D6-L05 lesson engine, with the Topic focus “Compare similarities and differences without stereotypes or overgeneralisation.” (grammar: Comparative structures; بينما; أمّا...فـ; skills: Reading · Speaking) and the application challenge “Culture comparison Venn”.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TE-L09. The website lesson “Comparing Countries — Global Connections and the Arab Diaspora”: vocabulary, grammar rules and quiz, patterns, common mistakes, sorter, listening, reading, speaking prompts and model, writing task and model, differentiation, final check and the lesson mission. Picture match: website visual game “Comparing Countries — Global Connections and the Arab Diaspora”.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the four diaspora verbs with their prepositions in six sentences about yourself / your family. Develop: one comparative of each type (أَصْغَرُ مِنْ · أَكْثَرُ هُدُوءًا مِنْ) and a contrast with بَيْنَمَا. Stretch: the website 80–90-word comparison closing with a balanced statement on dual identity.
• This topic IS many of our students’ lives (second generation in the UK, families from Pakistan, Somalia, Morocco, Egypt, Iraq …). Invite real examples, but never require anyone to share family history; a fictional family is always acceptable.
• Sensitivity: مُهَاجِرٌ (migrant) and لَاجِئٌ (refugee) are NOT synonyms (website). Speak about refugees with care — some students or families may have this experience.
• TEACHER-WRITTEN ITEMS: English added to the patterns and speaking model; the website flag-based visual game repeats TE-L01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TE-L07. Questions 4–5 retrieve the Topic E verb + preposition habit (TE-L07 · TE-L04).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Four verbs tell a diaspora story: belong · adapt · keep ·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مہاجر، ہجرت، وطن are shared (and الهِجْرَةُ النَّبَوِيَّةُ is the first Muslim migration). CAREFUL: Urdu غربت = poverty; Arabic غُرْبَةٌ = being a stranger far from home (the poor are فُقَرَاءُ).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communities (website vocabulary (1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People and communities (website vocabulary (2 of 2)). Hear → Say → See → Use. Transliteration is printed for Core students (cover it for Develop/Stretch).
People and communities. Cards show the plural. مُهَاجِرٌ (moved to live elsewhere) ≠ لَاجِئٌ (left because of danger).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Belonging and identity (website vocabulary (1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Belonging and identity (website vocabulary (2 of 2)). Hear → Say → See → Use. Transliteration is printed for Core students (cover it for Develop/Stretch).
Belonging and identity: words for feelings and heritage — حَنِينٌ إِلَى الوَطَنِ (longing for the homeland).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Verbs and comparison (website vocabulary (1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Verbs and comparison (website vocabulary (2 of 2)). Hear → Say → See → Use. Transliteration is printed for Core students (cover it for Develop/Stretch).
Verbs and comparison: cards show I / past. The comparatives: أَكْبَرُ مِنْ OR أَكْثَرُ + noun + مِنْ.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 “The four diaspora verbs” (each preposition is fixed and takes the genitive; يُوَازِنُ بَيْنَ is followed by two things joined with وَ). Website teaching point: “Four verbs, four prepositions … the whole arc of diaspora experience: where you belong, how you adjust, what you keep and how you hold both sides at once.”
Website mistakes: أَنْتَمِي مَعَ ✗ · تَحْتَفِظُ الأُسَرُ عَلَى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“The synthetic comparative” (أَفْعَل + مِنْ + genitive; invariable, no article), “The analytical comparative” (أَكْثَرُ / أَقَلُّ + accusative noun + مِنْ, when there is no أَفْعَل form) and “Contrast and balance”. Website teaching point: “Do not double the comparative.”
Useful pairs: أَكْبَرُ / أَصْغَرُ · أَحَرُّ / أَبْرَدُ · أَكْثَرُ تَنَوُّعًا · أَقَلُّ ازْدِحَامًا.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“Four verbs each with a fixed preposition, and two comparison systems that must not be mixed. Choose one comparative form and keep the noun after مِنْ genitive.”
• The four diaspora verbs: Each preposition is fixed and takes the genitive. يُوَازِنُ بَيْنَ is followed by two things joined with وَ.
• The synthetic comparative: The أَفْعَل form is invariable and never takes the article in this structure.
• The analytical comparative: Use this when there is no أَفْعَل form available. The noun between is accusative.
• Contrast and balance: بَيْنَمَا joins two contrasting clauses; the balanced pair holds two sides of one idea together.
Website common error: Combining both comparative systems — أَكْثَرُ أَكْبَرُ مِنْ. Choose either the أَفْعَل form or أَكْثَرُ with an accusative noun, never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 I have an aFʿAL word (akbar, aṣghar)? If not, aktharu + noun in -an.” Offer students their own family’s cities (Lahore, Mogadishu, Casablanca, Cairo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(“Compare Cultures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“Compare Cultures”: a shared value (hospitality), a difference (the drink), comparing without judging.
Website feedback lines: The overlap shows a similarity. · The two customs differ in the drink. · The scale symbolises balanced comparison.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(“Compare Cultures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“Compare Cultures”: a shared value (hospitality), a difference (the drink), comparing without judging.
Website feedback lines: The overlap shows a similarity. · The two customs differ in the drink. · The scale symbolises balanced comparison.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sentence about yourself for each column.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5. Develop / Stretch: all 5 — and note each diaspora verb with its preposition.
Listen 1: just listen. Listen 2: note answers. Then chat the letters.
Support: after the second listening, show the read-along slide (Arabic + English, line by line) for Core students.
SCRIPT (read aloud):
أَنَا مِنَ الجِيلِ الثَّانِي فِي الجَالِيَةِ العَرَبِيَّةِ هُنَا. وُلِدْتُ فِي هٰذِهِ المَدِينَةِ، وَلٰكِنَّ أُسْرَتِي جَاءَتْ مِنَ المَغْرِبِ قَبْلَ ثَلَاثِينَ سَنَةً. أَنْتَمِي إِلَى ثَقَافَتَيْنِ، وَأُوَازِنُ بَيْنَهُمَا كُلَّ يَوْمٍ. فِي البَيْتِ نَتَحَدَّثُ العَرَبِيَّةَ، بَيْنَمَا أَدْرُسُ وَأَعْمَلُ بِالإِنْجِلِيزِيَّةِ. تَحْتَفِظُ أُمِّي بِعَادَاتِهَا وَبِمَطْبَخِهَا، وَقَدْ تَكَيَّفَتْ مَعَ الحَيَاةِ هُنَا بِسُرْعَةٍ. أَحْيَانًا أَشْعُرُ بِالحَنِينِ إِلَى بَلَدِ أُسْرَتِي، وَمِنْ نَاحِيَةٍ أُخْرَى أُحِبُّ حَيَاتِي هُنَا كَثِيرًا. لَيْسَتِ الهُوِيَّةُ المُزْدَوَجَةُ مُشْكِلَةً؛ هِيَ ثَرْوَةٌ فِي رَأْيِي.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TOPIC E APPLICATION CHALLENGE (5 min — it takes the speaking-rehearsal slot; the website speaking slide after it is FLEX) — from the website Topic page: “Organise shared and different practices in a Venn diagram, then turn the notes into a balanced comparison with similarity and contrast connectors.”
Website Topic E challenge “Culture comparison Venn”. Frame reminder: أَمَّا … فَـ is ONE structure (as for … then …) — write the فَـ on the next word, e.g. أَمَّا فِي بَاكِسْتَانَ فَيُقَدَّمُ الشَّايُ.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وَكَيْفَ تَصِفُ الهُوِيَّةَ المُزْدَوَجَةَ؟ (And how do you describe dual identity?)
B: أَنْتَمِي إِلَى ثَقَافَتَيْنِ وَأُوَازِنُ بَيْنَهُمَا. مِنْ نَاحِيَةٍ أَشْعُرُ بِالحَنِينِ، وَمِنْ نَاحِيَةٍ أُخْرَى أُحِبُّ حَيَاتِي هُنَا. (I belong to two cultures and balance between them. On one hand I feel nostalgia; on the other, I love my life here.)
Website prompts and model. Students may compare their UK city with their family’s city (Arab or not). To a girl: قَارِنِي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YOU DO (9 min writing). Steer routes using the Do Now and quick-check results.
Website differentiation tasks: Core — Write six sentences using the four verbs with their correct prepositions. · Develop — Add one comparative of each type and a contrast with بَيْنَمَا. · Stretch — Close with a balanced statement on dual identity that avoids reducing it to a single story.
Website writing task (Stretch): Write eighty to ninety words comparing life in two countries, drawing on the diaspora vocabulary. Use at least three of the four verbs with their prepositions, both comparative systems, and a balanced statement about dual identity.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أَنْتَمِي إِلَى · أُوَازِنُ بَيْنَهُمَا · تَحْتَفِظُ … بِعَادَاتِهَا · تَكَيَّفَتْ مَعَ · بَيْنَمَا · أَصْغَرُ مِنَ القَاهِرَةِ · أَكْثَرُ هُدُوءًا مِنْهَا · مِنْ نَاحِيَةٍ … وَمِنْ نَاحِيَةٍ أُخْرَى · لَا تُوجَدُ قِصَّةٌ وَاحِدَةٌ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(TE-L10 · International Life and Global Connections) will spend class time USING this language, so students prepare it tonight — short, simple, easy to access (school guidance: “Simple, Short, Interesting, Relevant, Easy to access”). The five words come from the website TE-L02 vocabulary (Arabic’s global reach).
Follow-up: the next Do Now tests two of these words (Flipped Learning: keep it short AND follow up).
Homework by route (website tasks). No internet? Students copy the five words from this slide into their book now.
TOPIC E: the five words are the ones the TE-L10 Do Now tests (preparation list of the website P5-L04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cs typeface="Amiri" pitchFamily="2" charset="-78"/>
              </a:rPr>
              <a:t>Comparing Cultures with Respect</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مُقَارَنَةُ الثَّقَافَاتِ بِاحْتِرَامٍ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Compare similarities and differences without stereotypes or overgeneralisation.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TE-L09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verbs + prepositions; two comparatives, never mixed.</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the double comparative, then a second-generation voice.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جَالِيَةٌ عَرَبِيَّةٌ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Arab country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Arab community abroad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 identity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الجِيلُ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generation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country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language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جُذُورٌ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branches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borders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roots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يَتَسَامَحُ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تَتَمَسَّكُ الأُسْرَةُ بِتَقَالِيدِهَا.</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تَتَمَسَّكُ الأُسْرَةُ عَلَى تَقَالِيدِهَا.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تَتَمَسَّكُ الأُسْرَةُ تَقَالِيدَهَا.</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جَالِيَةٌ عَرَبِيَّةٌ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Arab country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Arab community abroad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Arab identity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(TE-L07).</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الجِيلُ الثَّانِي</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generation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country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second language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جُذُورٌ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branches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borders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roots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(TE-L07).</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يَتَسَامَحُ المُجْتَمَعُ</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TE-L07.</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تَتَمَسَّكُ الأُسْرَةُ بِتَقَالِيدِهَا.</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تَتَمَسَّكُ الأُسْرَةُ عَلَى تَقَالِيدِهَا.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تَتَمَسَّكُ الأُسْرَةُ تَقَالِيدَهَا.</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Four verbs tell a diaspora story: belong · adapt · keep · balance.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أَنْتَمِي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إِلَى</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أَتَكَيَّفُ </a:t>
            </a:r>
            <a:pPr rtl="1" algn="ctr" indent="0" marL="0">
              <a:lnSpc>
                <a:spcPct val="120000"/>
              </a:lnSpc>
              <a:buNone/>
            </a:pPr>
            <a:r>
              <a:rPr lang="ar-SA" altLang="en-US" sz="1950" b="1" dirty="0">
                <a:solidFill>
                  <a:srgbClr val="D6336C"/>
                </a:solidFill>
                <a:latin typeface="Amiri" pitchFamily="2" charset="-78"/>
                <a:ea typeface="Amiri" pitchFamily="2" charset="-78"/>
                <a:cs typeface="Amiri" pitchFamily="2" charset="-78"/>
              </a:rPr>
              <a:t>مَعَ</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أَحْتَفِظُ </a:t>
            </a:r>
            <a:pPr rtl="1" algn="ctr" indent="0" marL="0">
              <a:lnSpc>
                <a:spcPct val="120000"/>
              </a:lnSpc>
              <a:buNone/>
            </a:pPr>
            <a:r>
              <a:rPr lang="ar-SA" altLang="en-US" sz="1950" b="1" dirty="0">
                <a:solidFill>
                  <a:srgbClr val="1D5FBF"/>
                </a:solidFill>
                <a:latin typeface="Amiri" pitchFamily="2" charset="-78"/>
                <a:ea typeface="Amiri" pitchFamily="2" charset="-78"/>
                <a:cs typeface="Amiri" pitchFamily="2" charset="-78"/>
              </a:rPr>
              <a:t>بِـ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أُوَازِنُ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بَيْنَ</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يَنْتَمِي إِلَى</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يَتَكَيَّفُ مَعَ</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يَحْتَفِظُ بِـ</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ea typeface="Amiri" pitchFamily="2" charset="-78"/>
                <a:cs typeface="Amiri" pitchFamily="2" charset="-78"/>
              </a:rPr>
              <a:t>يُوَازِنُ بَيْنَ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with </a:t>
            </a:r>
            <a:pPr algn="l" indent="0" marL="0">
              <a:buNone/>
            </a:pPr>
            <a:r>
              <a:rPr lang="ar-SA" altLang="en-US" sz="1700" dirty="0">
                <a:solidFill>
                  <a:srgbClr val="1F2A37"/>
                </a:solidFill>
                <a:latin typeface="Amiri" pitchFamily="2" charset="-78"/>
                <a:ea typeface="Amiri" pitchFamily="2" charset="-78"/>
                <a:cs typeface="Amiri" pitchFamily="2" charset="-78"/>
              </a:rPr>
              <a:t>أَفْعَلُ مِنْ</a:t>
            </a:r>
            <a:pPr algn="l" indent="0" marL="0">
              <a:buNone/>
            </a:pPr>
            <a:r>
              <a:rPr lang="en-US" sz="1300" dirty="0">
                <a:solidFill>
                  <a:srgbClr val="1F2A37"/>
                </a:solidFill>
                <a:latin typeface="Calibri" pitchFamily="34" charset="0"/>
                <a:cs typeface="Amiri" pitchFamily="2" charset="-78"/>
              </a:rPr>
              <a:t> (</a:t>
            </a:r>
            <a:pPr algn="l" indent="0" marL="0">
              <a:buNone/>
            </a:pPr>
            <a:r>
              <a:rPr lang="ar-SA" altLang="en-US" sz="1700" dirty="0">
                <a:solidFill>
                  <a:srgbClr val="1F2A37"/>
                </a:solidFill>
                <a:latin typeface="Amiri" pitchFamily="2" charset="-78"/>
                <a:ea typeface="Amiri" pitchFamily="2" charset="-78"/>
                <a:cs typeface="Amiri" pitchFamily="2" charset="-78"/>
              </a:rPr>
              <a:t>أَكْبَرُ 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Compare with </a:t>
            </a:r>
            <a:pPr algn="l" indent="0" marL="0">
              <a:buNone/>
            </a:pPr>
            <a:r>
              <a:rPr lang="ar-SA" altLang="en-US" sz="1700" dirty="0">
                <a:solidFill>
                  <a:srgbClr val="1F2A37"/>
                </a:solidFill>
                <a:latin typeface="Amiri" pitchFamily="2" charset="-78"/>
                <a:ea typeface="Amiri" pitchFamily="2" charset="-78"/>
                <a:cs typeface="Amiri" pitchFamily="2" charset="-78"/>
              </a:rPr>
              <a:t>أَكْثَرُ / أَقَلُّ</a:t>
            </a:r>
            <a:pPr algn="l" indent="0" marL="0">
              <a:buNone/>
            </a:pPr>
            <a:r>
              <a:rPr lang="en-US" sz="1300" dirty="0">
                <a:solidFill>
                  <a:srgbClr val="1F2A37"/>
                </a:solidFill>
                <a:latin typeface="Calibri" pitchFamily="34" charset="0"/>
                <a:cs typeface="Amiri" pitchFamily="2" charset="-78"/>
              </a:rPr>
              <a:t> + accusative noun + </a:t>
            </a:r>
            <a:pPr algn="l" indent="0" marL="0">
              <a:buNone/>
            </a:pPr>
            <a:r>
              <a:rPr lang="ar-SA" altLang="en-US" sz="1700" dirty="0">
                <a:solidFill>
                  <a:srgbClr val="1F2A37"/>
                </a:solidFill>
                <a:latin typeface="Amiri" pitchFamily="2" charset="-78"/>
                <a:ea typeface="Amiri" pitchFamily="2" charset="-78"/>
                <a:cs typeface="Amiri" pitchFamily="2" charset="-78"/>
              </a:rPr>
              <a:t>مِنْ</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dual identity in a balanced, non-simplified way.</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where I and my family belong.</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the four verbs with their prepositions.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compare two cities with </a:t>
            </a:r>
            <a:pPr algn="l" indent="0" marL="0">
              <a:buNone/>
            </a:pPr>
            <a:r>
              <a:rPr lang="ar-SA" altLang="en-US" sz="1700" b="1" dirty="0">
                <a:solidFill>
                  <a:srgbClr val="C9780A"/>
                </a:solidFill>
                <a:latin typeface="Amiri" pitchFamily="2" charset="-78"/>
                <a:ea typeface="Amiri" pitchFamily="2" charset="-78"/>
                <a:cs typeface="Amiri" pitchFamily="2" charset="-78"/>
              </a:rPr>
              <a:t>أَكْبَرُ مِنْ / أَكْثَرُ … مِنْ</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home and school with </a:t>
            </a:r>
            <a:pPr algn="l" indent="0" marL="0">
              <a:buNone/>
            </a:pPr>
            <a:r>
              <a:rPr lang="ar-SA" altLang="en-US" sz="1700" b="1" dirty="0">
                <a:solidFill>
                  <a:srgbClr val="C9780A"/>
                </a:solidFill>
                <a:latin typeface="Amiri" pitchFamily="2" charset="-78"/>
                <a:ea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describe dual identity in a balanced way.</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a:t>
            </a:r>
            <a:pPr algn="l" indent="0" marL="0">
              <a:buNone/>
            </a:pPr>
            <a:r>
              <a:rPr lang="ar-SA" altLang="en-US" sz="1700" b="1" dirty="0">
                <a:solidFill>
                  <a:srgbClr val="B83227"/>
                </a:solidFill>
                <a:latin typeface="Amiri" pitchFamily="2" charset="-78"/>
                <a:ea typeface="Amiri" pitchFamily="2" charset="-78"/>
                <a:cs typeface="Amiri" pitchFamily="2" charset="-78"/>
              </a:rPr>
              <a:t>مُهَاجِرٌ</a:t>
            </a:r>
            <a:pPr algn="l" indent="0" marL="0">
              <a:buNone/>
            </a:pPr>
            <a:r>
              <a:rPr lang="en-US" sz="1300" b="1" dirty="0">
                <a:solidFill>
                  <a:srgbClr val="B83227"/>
                </a:solidFill>
                <a:latin typeface="Calibri" pitchFamily="34" charset="0"/>
                <a:cs typeface="Amiri" pitchFamily="2" charset="-78"/>
              </a:rPr>
              <a:t> vs </a:t>
            </a:r>
            <a:pPr algn="l" indent="0" marL="0">
              <a:buNone/>
            </a:pPr>
            <a:r>
              <a:rPr lang="ar-SA" altLang="en-US" sz="1700" b="1" dirty="0">
                <a:solidFill>
                  <a:srgbClr val="B83227"/>
                </a:solidFill>
                <a:latin typeface="Amiri" pitchFamily="2" charset="-78"/>
                <a:ea typeface="Amiri" pitchFamily="2" charset="-78"/>
                <a:cs typeface="Amiri" pitchFamily="2" charset="-78"/>
              </a:rPr>
              <a:t>لَاجِئٌ</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People and communities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Belonging and identity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Verbs and comparison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مُهَاجِرٌ / هِجْرَةٌ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‎مہاجر / ہجرت‎ </a:t>
            </a:r>
            <a:pPr indent="0" marL="0">
              <a:buNone/>
            </a:pPr>
            <a:r>
              <a:rPr lang="en-US" sz="950" b="1" dirty="0">
                <a:solidFill>
                  <a:srgbClr val="2E8B57"/>
                </a:solidFill>
                <a:latin typeface="Calibri" pitchFamily="34" charset="0"/>
                <a:cs typeface="Amiri" pitchFamily="2" charset="-78"/>
              </a:rPr>
              <a:t> muhājir / hijrat · migrant / migration (also the Prophet’s Hijra)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وَطَنٌ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‎وطن‎ </a:t>
            </a:r>
            <a:pPr indent="0" marL="0">
              <a:buNone/>
            </a:pPr>
            <a:r>
              <a:rPr lang="en-US" sz="950" b="1" dirty="0">
                <a:solidFill>
                  <a:srgbClr val="2E8B57"/>
                </a:solidFill>
                <a:latin typeface="Calibri" pitchFamily="34" charset="0"/>
                <a:cs typeface="Amiri" pitchFamily="2" charset="-78"/>
              </a:rPr>
              <a:t> waṭan · homeland</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‎غربت / پردیس‎ </a:t>
            </a:r>
            <a:pPr indent="0" marL="0">
              <a:buNone/>
            </a:pPr>
            <a:r>
              <a:rPr lang="ar-SA" sz="950" b="1" dirty="0">
                <a:solidFill>
                  <a:srgbClr val="2E8B57"/>
                </a:solidFill>
                <a:latin typeface="Calibri" pitchFamily="34" charset="0"/>
                <a:ea typeface="Amiri" pitchFamily="2" charset="-78"/>
                <a:cs typeface="Amiri" pitchFamily="2" charset="-78"/>
              </a:rPr>
              <a:t> pardēs · Urdu غربت: poverty · Arabic غُرْبَةٌ: being far from home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حَنِينٌ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‎یاد / تڑپ‎ </a:t>
            </a:r>
            <a:pPr indent="0" marL="0">
              <a:buNone/>
            </a:pPr>
            <a:r>
              <a:rPr lang="en-US" sz="950" b="1" dirty="0">
                <a:solidFill>
                  <a:srgbClr val="2E8B57"/>
                </a:solidFill>
                <a:latin typeface="Calibri" pitchFamily="34" charset="0"/>
                <a:cs typeface="Amiri" pitchFamily="2" charset="-78"/>
              </a:rPr>
              <a:t> yād · longing, nostalgia</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جِنْسِيَّةٌ مُزْدَوَجَةٌ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‎دوہری شہریت‎ </a:t>
            </a:r>
            <a:pPr indent="0" marL="0">
              <a:buNone/>
            </a:pPr>
            <a:r>
              <a:rPr lang="en-US" sz="950" b="1" dirty="0">
                <a:solidFill>
                  <a:srgbClr val="2E8B57"/>
                </a:solidFill>
                <a:latin typeface="Calibri" pitchFamily="34" charset="0"/>
                <a:cs typeface="Amiri" pitchFamily="2" charset="-78"/>
              </a:rPr>
              <a:t> dohrī shahriyat · dual nationality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communities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جَالِيَةٌ 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Arab community abroad</a:t>
            </a:r>
            <a:endParaRPr lang="en-US" sz="1350" dirty="0"/>
          </a:p>
          <a:p>
            <a:pPr indent="0" marL="0">
              <a:buNone/>
            </a:pPr>
            <a:r>
              <a:rPr lang="en-US" sz="1100" i="1" dirty="0">
                <a:solidFill>
                  <a:srgbClr val="5A6472"/>
                </a:solidFill>
                <a:latin typeface="Calibri" pitchFamily="34" charset="0"/>
                <a:cs typeface="Amiri" pitchFamily="2" charset="-78"/>
              </a:rPr>
              <a:t>jā-li-ya-tun ʿa-ra-biy-ya-tun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جَالِيَاتٌ عَرَبِيَّةٌ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مُهَاجِرٌ / مُهَاجِرَةٌ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migrant (m. / f.)</a:t>
            </a:r>
            <a:endParaRPr lang="en-US" sz="1350" dirty="0"/>
          </a:p>
          <a:p>
            <a:pPr indent="0" marL="0">
              <a:buNone/>
            </a:pPr>
            <a:r>
              <a:rPr lang="en-US" sz="1100" i="1" dirty="0">
                <a:solidFill>
                  <a:srgbClr val="5A6472"/>
                </a:solidFill>
                <a:latin typeface="Calibri" pitchFamily="34" charset="0"/>
                <a:cs typeface="Amiri" pitchFamily="2" charset="-78"/>
              </a:rPr>
              <a:t>mu-hā-ji-run / mu-hā-ji-ra-tun</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مُهَاجِرُونَ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لَاجِئٌ / لَاجِئَةٌ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refugee (m. / f.)</a:t>
            </a:r>
            <a:endParaRPr lang="en-US" sz="1350" dirty="0"/>
          </a:p>
          <a:p>
            <a:pPr indent="0" marL="0">
              <a:buNone/>
            </a:pPr>
            <a:r>
              <a:rPr lang="en-US" sz="1100" i="1" dirty="0">
                <a:solidFill>
                  <a:srgbClr val="5A6472"/>
                </a:solidFill>
                <a:latin typeface="Calibri" pitchFamily="34" charset="0"/>
                <a:cs typeface="Amiri" pitchFamily="2" charset="-78"/>
              </a:rPr>
              <a:t>lā-ji-ʾun / lā-ji-ʾa-tun</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لَاجِئُونَ</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6" name="Text 5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مُوَاطِنٌ / مُوَاطِنَةٌ</a:t>
            </a:r>
            <a:endParaRPr lang="ar-SA" sz="3000" dirty="0"/>
          </a:p>
        </p:txBody>
      </p:sp>
      <p:sp>
        <p:nvSpPr>
          <p:cNvPr id="57" name="Text 5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citizen (m. / f.)</a:t>
            </a:r>
            <a:endParaRPr lang="en-US" sz="1350" dirty="0"/>
          </a:p>
          <a:p>
            <a:pPr indent="0" marL="0">
              <a:buNone/>
            </a:pPr>
            <a:r>
              <a:rPr lang="en-US" sz="1100" i="1" dirty="0">
                <a:solidFill>
                  <a:srgbClr val="5A6472"/>
                </a:solidFill>
                <a:latin typeface="Calibri" pitchFamily="34" charset="0"/>
                <a:cs typeface="Amiri" pitchFamily="2" charset="-78"/>
              </a:rPr>
              <a:t>mu-wā-ṭi-nun / mu-wā-ṭi-na-tun</a:t>
            </a:r>
            <a:endParaRPr lang="en-US" sz="1350" dirty="0"/>
          </a:p>
        </p:txBody>
      </p:sp>
      <p:sp>
        <p:nvSpPr>
          <p:cNvPr id="58" name="Shape 5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0" name="Text 5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مُوَاطِنُونَ</a:t>
            </a:r>
            <a:endParaRPr lang="ar-SA" sz="150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and communities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الشَّتَاتُ</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diaspora</a:t>
            </a:r>
            <a:endParaRPr lang="en-US" sz="1350" dirty="0"/>
          </a:p>
          <a:p>
            <a:pPr indent="0" marL="0">
              <a:buNone/>
            </a:pPr>
            <a:r>
              <a:rPr lang="en-US" sz="1100" i="1" dirty="0">
                <a:solidFill>
                  <a:srgbClr val="5A6472"/>
                </a:solidFill>
                <a:latin typeface="Calibri" pitchFamily="34" charset="0"/>
                <a:cs typeface="Amiri" pitchFamily="2" charset="-78"/>
              </a:rPr>
              <a:t>ash-sha-tā-tu</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فِي الشَّتَاتِ</a:t>
            </a:r>
            <a:pPr algn="l" indent="0" marL="0">
              <a:buNone/>
            </a:pPr>
            <a:r>
              <a:rPr lang="en-US" sz="1000" i="1" dirty="0">
                <a:solidFill>
                  <a:srgbClr val="8A6D1E"/>
                </a:solidFill>
                <a:latin typeface="Calibri" pitchFamily="34" charset="0"/>
                <a:cs typeface="Amiri" pitchFamily="2" charset="-78"/>
              </a:rPr>
              <a:t> — in the diaspora.</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4" name="Shape 21"/>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الجِيلُ الثَّانِي</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second generation</a:t>
            </a:r>
            <a:endParaRPr lang="en-US" sz="1350" dirty="0"/>
          </a:p>
          <a:p>
            <a:pPr indent="0" marL="0">
              <a:buNone/>
            </a:pPr>
            <a:r>
              <a:rPr lang="en-US" sz="1100" i="1" dirty="0">
                <a:solidFill>
                  <a:srgbClr val="5A6472"/>
                </a:solidFill>
                <a:latin typeface="Calibri" pitchFamily="34" charset="0"/>
                <a:cs typeface="Amiri" pitchFamily="2" charset="-78"/>
              </a:rPr>
              <a:t>al-jī-lu ath-thā-nī</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1" name="Text 28"/>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مُجْتَمَعٌ مُتَعَدِّدُ الثَّقَافَاتِ</a:t>
            </a:r>
            <a:endParaRPr lang="ar-SA" sz="3000" dirty="0"/>
          </a:p>
        </p:txBody>
      </p:sp>
      <p:sp>
        <p:nvSpPr>
          <p:cNvPr id="32" name="Text 29"/>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multicultural society</a:t>
            </a:r>
            <a:endParaRPr lang="en-US" sz="1350" dirty="0"/>
          </a:p>
          <a:p>
            <a:pPr indent="0" marL="0">
              <a:buNone/>
            </a:pPr>
            <a:r>
              <a:rPr lang="en-US" sz="1100" i="1" dirty="0">
                <a:solidFill>
                  <a:srgbClr val="5A6472"/>
                </a:solidFill>
                <a:latin typeface="Calibri" pitchFamily="34" charset="0"/>
                <a:cs typeface="Amiri" pitchFamily="2" charset="-78"/>
              </a:rPr>
              <a:t>muj-ta-ma-ʿun mu-ta-ʿad-di-du ath-tha-qā-fā-ti</a:t>
            </a:r>
            <a:endParaRPr lang="en-US" sz="1350" dirty="0"/>
          </a:p>
        </p:txBody>
      </p:sp>
      <p:sp>
        <p:nvSpPr>
          <p:cNvPr id="33" name="Shape 30"/>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8211312" y="4261104"/>
            <a:ext cx="310896" cy="310896"/>
          </a:xfrm>
          <a:prstGeom prst="ellipse">
            <a:avLst/>
          </a:prstGeom>
          <a:solidFill>
            <a:srgbClr val="F4F1EA"/>
          </a:solidFill>
          <a:ln w="12700">
            <a:solidFill>
              <a:srgbClr val="F4F1EA"/>
            </a:solidFill>
            <a:prstDash val="solid"/>
          </a:ln>
        </p:spPr>
      </p:sp>
      <p:sp>
        <p:nvSpPr>
          <p:cNvPr id="35" name="Text 32"/>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مُزْدَوَجُ الجِنْسِيَّةِ</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of dual nationality</a:t>
            </a:r>
            <a:endParaRPr lang="en-US" sz="1350" dirty="0"/>
          </a:p>
          <a:p>
            <a:pPr indent="0" marL="0">
              <a:buNone/>
            </a:pPr>
            <a:r>
              <a:rPr lang="en-US" sz="1100" i="1" dirty="0">
                <a:solidFill>
                  <a:srgbClr val="5A6472"/>
                </a:solidFill>
                <a:latin typeface="Calibri" pitchFamily="34" charset="0"/>
                <a:cs typeface="Amiri" pitchFamily="2" charset="-78"/>
              </a:rPr>
              <a:t>muz-da-wa-ju al-jin-siy-ya-ti</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Belonging and identity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الانْتِمَاءُ</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belonging</a:t>
            </a:r>
            <a:endParaRPr lang="en-US" sz="1350" dirty="0"/>
          </a:p>
          <a:p>
            <a:pPr indent="0" marL="0">
              <a:buNone/>
            </a:pPr>
            <a:r>
              <a:rPr lang="en-US" sz="1100" i="1" dirty="0">
                <a:solidFill>
                  <a:srgbClr val="5A6472"/>
                </a:solidFill>
                <a:latin typeface="Calibri" pitchFamily="34" charset="0"/>
                <a:cs typeface="Amiri" pitchFamily="2" charset="-78"/>
              </a:rPr>
              <a:t>aln-ti-mā-ʾu</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هُوِيَّةٌ مُزْدَوَجَةٌ</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dual identity</a:t>
            </a:r>
            <a:endParaRPr lang="en-US" sz="1350" dirty="0"/>
          </a:p>
          <a:p>
            <a:pPr indent="0" marL="0">
              <a:buNone/>
            </a:pPr>
            <a:r>
              <a:rPr lang="en-US" sz="1100" i="1" dirty="0">
                <a:solidFill>
                  <a:srgbClr val="5A6472"/>
                </a:solidFill>
                <a:latin typeface="Calibri" pitchFamily="34" charset="0"/>
                <a:cs typeface="Amiri" pitchFamily="2" charset="-78"/>
              </a:rPr>
              <a:t>hu-wiy-ya-tun muz-da-wa-ja-tun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4" name="Shape 3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of جِذْرٌ.</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جُذُورٌ</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roots</a:t>
            </a:r>
            <a:endParaRPr lang="en-US" sz="1350" dirty="0"/>
          </a:p>
          <a:p>
            <a:pPr indent="0" marL="0">
              <a:buNone/>
            </a:pPr>
            <a:r>
              <a:rPr lang="en-US" sz="1100" i="1" dirty="0">
                <a:solidFill>
                  <a:srgbClr val="5A6472"/>
                </a:solidFill>
                <a:latin typeface="Calibri" pitchFamily="34" charset="0"/>
                <a:cs typeface="Amiri" pitchFamily="2" charset="-78"/>
              </a:rPr>
              <a:t>ju-dhū-run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1" name="Shape 38"/>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إِرْثٌ ثَقَافِيٌّ</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heritage</a:t>
            </a:r>
            <a:endParaRPr lang="en-US" sz="1350" dirty="0"/>
          </a:p>
          <a:p>
            <a:pPr indent="0" marL="0">
              <a:buNone/>
            </a:pPr>
            <a:r>
              <a:rPr lang="en-US" sz="1100" i="1" dirty="0">
                <a:solidFill>
                  <a:srgbClr val="5A6472"/>
                </a:solidFill>
                <a:latin typeface="Calibri" pitchFamily="34" charset="0"/>
                <a:cs typeface="Amiri" pitchFamily="2" charset="-78"/>
              </a:rPr>
              <a:t>ir-thun tha-qā-fiy-yun</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48" name="Shape 4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حَنِينٌ</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nostalgia, longing</a:t>
            </a:r>
            <a:endParaRPr lang="en-US" sz="1350" dirty="0"/>
          </a:p>
          <a:p>
            <a:pPr indent="0" marL="0">
              <a:buNone/>
            </a:pPr>
            <a:r>
              <a:rPr lang="en-US" sz="1100" i="1" dirty="0">
                <a:solidFill>
                  <a:srgbClr val="5A6472"/>
                </a:solidFill>
                <a:latin typeface="Calibri" pitchFamily="34" charset="0"/>
                <a:cs typeface="Amiri" pitchFamily="2" charset="-78"/>
              </a:rPr>
              <a:t>ḥa-nī-nun</a:t>
            </a:r>
            <a:endParaRPr lang="en-US" sz="1350" dirty="0"/>
          </a:p>
        </p:txBody>
      </p:sp>
      <p:sp>
        <p:nvSpPr>
          <p:cNvPr id="52" name="Text 4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Masculine; </a:t>
            </a:r>
            <a:pPr algn="l" indent="0" marL="0">
              <a:buNone/>
            </a:pPr>
            <a:r>
              <a:rPr lang="ar-SA" altLang="en-US" sz="1300" dirty="0">
                <a:solidFill>
                  <a:srgbClr val="8A6D1E"/>
                </a:solidFill>
                <a:latin typeface="Amiri" pitchFamily="2" charset="-78"/>
                <a:ea typeface="Amiri" pitchFamily="2" charset="-78"/>
                <a:cs typeface="Amiri" pitchFamily="2" charset="-78"/>
              </a:rPr>
              <a:t>حَنِينٌ إِلَى الوَطَنِ</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Belonging and identity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غُرْبَةٌ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being far from home</a:t>
            </a:r>
            <a:endParaRPr lang="en-US" sz="1350" dirty="0"/>
          </a:p>
          <a:p>
            <a:pPr indent="0" marL="0">
              <a:buNone/>
            </a:pPr>
            <a:r>
              <a:rPr lang="en-US" sz="1100" i="1" dirty="0">
                <a:solidFill>
                  <a:srgbClr val="5A6472"/>
                </a:solidFill>
                <a:latin typeface="Calibri" pitchFamily="34" charset="0"/>
                <a:cs typeface="Amiri" pitchFamily="2" charset="-78"/>
              </a:rPr>
              <a:t>ghur-ba-tun</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Feminine; the feeling of living away.</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الحِفَاظُ عَلَى الهُوِيَّةِ</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preserving identity</a:t>
            </a:r>
            <a:endParaRPr lang="en-US" sz="1350" dirty="0"/>
          </a:p>
          <a:p>
            <a:pPr indent="0" marL="0">
              <a:buNone/>
            </a:pPr>
            <a:r>
              <a:rPr lang="en-US" sz="1100" i="1" dirty="0">
                <a:solidFill>
                  <a:srgbClr val="5A6472"/>
                </a:solidFill>
                <a:latin typeface="Calibri" pitchFamily="34" charset="0"/>
                <a:cs typeface="Amiri" pitchFamily="2" charset="-78"/>
              </a:rPr>
              <a:t>al-ḥi-fā-ẓu ʿa-lā al-hu-wiy-ya-ti</a:t>
            </a:r>
            <a:endParaRPr lang="en-US" sz="135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انْصِهَارٌ ثَقَافِيٌّ</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assimilation</a:t>
            </a:r>
            <a:endParaRPr lang="en-US" sz="1350" dirty="0"/>
          </a:p>
          <a:p>
            <a:pPr indent="0" marL="0">
              <a:buNone/>
            </a:pPr>
            <a:r>
              <a:rPr lang="en-US" sz="1100" i="1" dirty="0">
                <a:solidFill>
                  <a:srgbClr val="5A6472"/>
                </a:solidFill>
                <a:latin typeface="Calibri" pitchFamily="34" charset="0"/>
                <a:cs typeface="Amiri" pitchFamily="2" charset="-78"/>
              </a:rPr>
              <a:t>an-ṣi-hā-run tha-qā-fiy-yun</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34" name="Shape 31"/>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Calibri" pitchFamily="34" charset="0"/>
                <a:ea typeface="Amiri" pitchFamily="2" charset="-78"/>
                <a:cs typeface="Amiri" pitchFamily="2" charset="-78"/>
              </a:rPr>
              <a:t>Plural أَوْطَانٌ.</a:t>
            </a:r>
            <a:endParaRPr lang="en-US" sz="800" dirty="0"/>
          </a:p>
        </p:txBody>
      </p:sp>
      <p:sp>
        <p:nvSpPr>
          <p:cNvPr id="36" name="Text 3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وَطَنٌ</a:t>
            </a:r>
            <a:endParaRPr lang="ar-SA" sz="3000" dirty="0"/>
          </a:p>
        </p:txBody>
      </p:sp>
      <p:sp>
        <p:nvSpPr>
          <p:cNvPr id="37" name="Text 3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homeland</a:t>
            </a:r>
            <a:endParaRPr lang="en-US" sz="1350" dirty="0"/>
          </a:p>
          <a:p>
            <a:pPr indent="0" marL="0">
              <a:buNone/>
            </a:pPr>
            <a:r>
              <a:rPr lang="en-US" sz="1100" i="1" dirty="0">
                <a:solidFill>
                  <a:srgbClr val="5A6472"/>
                </a:solidFill>
                <a:latin typeface="Calibri" pitchFamily="34" charset="0"/>
                <a:cs typeface="Amiri" pitchFamily="2" charset="-78"/>
              </a:rPr>
              <a:t>wa-ṭa-nun</a:t>
            </a:r>
            <a:endParaRPr lang="en-US" sz="13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and comparison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8" name="Shape 15"/>
          <p:cNvSpPr/>
          <p:nvPr/>
        </p:nvSpPr>
        <p:spPr>
          <a:xfrm>
            <a:off x="8604504" y="1938528"/>
            <a:ext cx="77175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يَنْتَمِي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اِنْتَمَى</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أَنْتَمِي</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3" name="Shape 30"/>
          <p:cNvSpPr/>
          <p:nvPr/>
        </p:nvSpPr>
        <p:spPr>
          <a:xfrm>
            <a:off x="4782312" y="1938528"/>
            <a:ext cx="77175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يَتَكَيَّفُ مَعَ</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تَكَيَّفَ</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8" name="Shape 45"/>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يَحْتَفِظُ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retains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اِحْتَفَظَ</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أَحْتَفِظُ</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63" name="Shape 60"/>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يُوَازِنُ بَيْنَ</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balances between</a:t>
            </a:r>
            <a:endParaRPr lang="en-US" sz="1350" dirty="0"/>
          </a:p>
          <a:p>
            <a:pPr indent="0" marL="0">
              <a:buNone/>
            </a:pPr>
            <a:r>
              <a:rPr lang="en-US" sz="1100" i="1" dirty="0">
                <a:solidFill>
                  <a:srgbClr val="5A6472"/>
                </a:solidFill>
                <a:latin typeface="Calibri" pitchFamily="34" charset="0"/>
                <a:cs typeface="Amiri" pitchFamily="2" charset="-78"/>
              </a:rPr>
              <a:t>yu-wā-zi-nu bay-na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وَازَنَ</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أُوَازِنُ</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78" name="Shape 7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يَشْعُرُ بِـ</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feels</a:t>
            </a:r>
            <a:endParaRPr lang="en-US" sz="1350" dirty="0"/>
          </a:p>
          <a:p>
            <a:pPr indent="0" marL="0">
              <a:buNone/>
            </a:pPr>
            <a:r>
              <a:rPr lang="en-US" sz="1100" i="1" dirty="0">
                <a:solidFill>
                  <a:srgbClr val="5A6472"/>
                </a:solidFill>
                <a:latin typeface="Calibri" pitchFamily="34" charset="0"/>
                <a:cs typeface="Amiri" pitchFamily="2" charset="-78"/>
              </a:rPr>
              <a:t>yash-ʿu-ru bi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شَعَرَ</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أَشْعُرُ</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Verbs and comparison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أَقَلُّ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less than</a:t>
            </a:r>
            <a:endParaRPr lang="en-US" sz="1350" dirty="0"/>
          </a:p>
          <a:p>
            <a:pPr indent="0" marL="0">
              <a:buNone/>
            </a:pPr>
            <a:r>
              <a:rPr lang="en-US" sz="1100" i="1" dirty="0">
                <a:solidFill>
                  <a:srgbClr val="5A6472"/>
                </a:solidFill>
                <a:latin typeface="Calibri" pitchFamily="34" charset="0"/>
                <a:cs typeface="Amiri" pitchFamily="2" charset="-78"/>
              </a:rPr>
              <a:t>ak-tha-ru / a-qal-lu min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analytical comparative.</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أَكْبَرُ مِنْ</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bigger than</a:t>
            </a:r>
            <a:endParaRPr lang="en-US" sz="1350" dirty="0"/>
          </a:p>
          <a:p>
            <a:pPr indent="0" marL="0">
              <a:buNone/>
            </a:pPr>
            <a:r>
              <a:rPr lang="en-US" sz="1100" i="1" dirty="0">
                <a:solidFill>
                  <a:srgbClr val="5A6472"/>
                </a:solidFill>
                <a:latin typeface="Calibri" pitchFamily="34" charset="0"/>
                <a:cs typeface="Amiri" pitchFamily="2" charset="-78"/>
              </a:rPr>
              <a:t>ak-ba-ru min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synthetic </a:t>
            </a:r>
            <a:pPr algn="l" indent="0" marL="0">
              <a:buNone/>
            </a:pPr>
            <a:r>
              <a:rPr lang="ar-SA" altLang="en-US" sz="1300" dirty="0">
                <a:solidFill>
                  <a:srgbClr val="8A6D1E"/>
                </a:solidFill>
                <a:latin typeface="Amiri" pitchFamily="2" charset="-78"/>
                <a:ea typeface="Amiri" pitchFamily="2" charset="-78"/>
                <a:cs typeface="Amiri" pitchFamily="2" charset="-78"/>
              </a:rPr>
              <a:t>أَفْعَل</a:t>
            </a:r>
            <a:pPr algn="l" indent="0" marL="0">
              <a:buNone/>
            </a:pPr>
            <a:r>
              <a:rPr lang="en-US" sz="1000" i="1" dirty="0">
                <a:solidFill>
                  <a:srgbClr val="8A6D1E"/>
                </a:solidFill>
                <a:latin typeface="Calibri" pitchFamily="34" charset="0"/>
                <a:cs typeface="Amiri" pitchFamily="2" charset="-78"/>
              </a:rPr>
              <a:t> form.</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34" name="Text 3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Joins two contrasting clauses.</a:t>
            </a:r>
            <a:endParaRPr lang="en-US" sz="100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8" name="Text 3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نَاحِيَةٍ أُخْرَى</a:t>
            </a:r>
            <a:endParaRPr lang="ar-SA" sz="3000" dirty="0"/>
          </a:p>
        </p:txBody>
      </p:sp>
      <p:sp>
        <p:nvSpPr>
          <p:cNvPr id="39" name="Text 3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THE FOUR DIASPORA VERBS (WEBSITE RULE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Belong, adapt, keep, balance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أَنْتَمِي · أَتَكَيَّفُ · أَحْتَفِظُ · أُوَازِنُ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belongs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أَنْتَمِي </a:t>
            </a:r>
            <a:pPr rtl="1" algn="ctr" indent="0" marL="0">
              <a:buNone/>
            </a:pPr>
            <a:r>
              <a:rPr lang="ar-SA" altLang="en-US" sz="1950" b="1" dirty="0">
                <a:solidFill>
                  <a:srgbClr val="0E7C86"/>
                </a:solidFill>
                <a:latin typeface="Amiri" pitchFamily="2" charset="-78"/>
                <a:ea typeface="Amiri" pitchFamily="2" charset="-78"/>
                <a:cs typeface="Amiri" pitchFamily="2" charset="-78"/>
              </a:rPr>
              <a:t>إِلَى</a:t>
            </a:r>
            <a:pPr rtl="1" algn="ctr" indent="0" marL="0">
              <a:buNone/>
            </a:pPr>
            <a:r>
              <a:rPr lang="ar-SA" altLang="en-US" sz="1950" b="1" dirty="0">
                <a:solidFill>
                  <a:srgbClr val="1B3B6F"/>
                </a:solidFill>
                <a:latin typeface="Amiri" pitchFamily="2" charset="-78"/>
                <a:ea typeface="Amiri" pitchFamily="2" charset="-78"/>
                <a:cs typeface="Amiri" pitchFamily="2" charset="-78"/>
              </a:rPr>
              <a:t> ثَقَافَتَيْنِ.</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belong to two cultures.</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يَنْتَمِي </a:t>
            </a:r>
            <a:pPr rtl="1" algn="ctr" indent="0" marL="0">
              <a:buNone/>
            </a:pPr>
            <a:r>
              <a:rPr lang="ar-SA" altLang="en-US" sz="2200" b="1" dirty="0">
                <a:solidFill>
                  <a:srgbClr val="0E7C86"/>
                </a:solidFill>
                <a:latin typeface="Amiri" pitchFamily="2" charset="-78"/>
                <a:ea typeface="Amiri" pitchFamily="2" charset="-78"/>
                <a:cs typeface="Amiri" pitchFamily="2" charset="-78"/>
              </a:rPr>
              <a:t>إِلَى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adapts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تَكَيَّفَتْ أُمِّي </a:t>
            </a:r>
            <a:pPr rtl="1" algn="ctr" indent="0" marL="0">
              <a:buNone/>
            </a:pPr>
            <a:r>
              <a:rPr lang="ar-SA" altLang="en-US" sz="1950" b="1" dirty="0">
                <a:solidFill>
                  <a:srgbClr val="D6336C"/>
                </a:solidFill>
                <a:latin typeface="Amiri" pitchFamily="2" charset="-78"/>
                <a:ea typeface="Amiri" pitchFamily="2" charset="-78"/>
                <a:cs typeface="Amiri" pitchFamily="2" charset="-78"/>
              </a:rPr>
              <a:t>مَعَ</a:t>
            </a:r>
            <a:pPr rtl="1" algn="ctr" indent="0" marL="0">
              <a:buNone/>
            </a:pPr>
            <a:r>
              <a:rPr lang="ar-SA" altLang="en-US" sz="1950" b="1" dirty="0">
                <a:solidFill>
                  <a:srgbClr val="1B3B6F"/>
                </a:solidFill>
                <a:latin typeface="Amiri" pitchFamily="2" charset="-78"/>
                <a:ea typeface="Amiri" pitchFamily="2" charset="-78"/>
                <a:cs typeface="Amiri" pitchFamily="2" charset="-78"/>
              </a:rPr>
              <a:t> الحَيَاةِ هُنَا بِسُرْعَةٍ.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My mother adapted to life here quickly.</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يَتَكَيَّفُ </a:t>
            </a:r>
            <a:pPr rtl="1" algn="ctr" indent="0" marL="0">
              <a:buNone/>
            </a:pPr>
            <a:r>
              <a:rPr lang="ar-SA" altLang="en-US" sz="2200" b="1" dirty="0">
                <a:solidFill>
                  <a:srgbClr val="D6336C"/>
                </a:solidFill>
                <a:latin typeface="Amiri" pitchFamily="2" charset="-78"/>
                <a:ea typeface="Amiri" pitchFamily="2" charset="-78"/>
                <a:cs typeface="Amiri" pitchFamily="2" charset="-78"/>
              </a:rPr>
              <a:t>مَعَ</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keeps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تَحْتَفِظُ الأُسَرُ </a:t>
            </a:r>
            <a:pPr rtl="1" algn="ctr" indent="0" marL="0">
              <a:buNone/>
            </a:pPr>
            <a:r>
              <a:rPr lang="ar-SA" altLang="en-US" sz="1950" b="1" dirty="0">
                <a:solidFill>
                  <a:srgbClr val="1D5FBF"/>
                </a:solidFill>
                <a:latin typeface="Amiri" pitchFamily="2" charset="-78"/>
                <a:ea typeface="Amiri" pitchFamily="2" charset="-78"/>
                <a:cs typeface="Amiri" pitchFamily="2" charset="-78"/>
              </a:rPr>
              <a:t>بِلُغَتِهَا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Families keep their language.</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يَحْتَفِظُ </a:t>
            </a:r>
            <a:pPr rtl="1" algn="ctr" indent="0" marL="0">
              <a:buNone/>
            </a:pPr>
            <a:r>
              <a:rPr lang="ar-SA" altLang="en-US" sz="2200" b="1" dirty="0">
                <a:solidFill>
                  <a:srgbClr val="1D5FBF"/>
                </a:solidFill>
                <a:latin typeface="Amiri" pitchFamily="2" charset="-78"/>
                <a:ea typeface="Amiri" pitchFamily="2" charset="-78"/>
                <a:cs typeface="Amiri" pitchFamily="2" charset="-78"/>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balances</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أُوَازِنُ </a:t>
            </a:r>
            <a:pPr rtl="1" algn="ctr" indent="0" marL="0">
              <a:buNone/>
            </a:pPr>
            <a:r>
              <a:rPr lang="ar-SA" altLang="en-US" sz="1950" b="1" dirty="0">
                <a:solidFill>
                  <a:srgbClr val="0E7C86"/>
                </a:solidFill>
                <a:latin typeface="Amiri" pitchFamily="2" charset="-78"/>
                <a:ea typeface="Amiri" pitchFamily="2" charset="-78"/>
                <a:cs typeface="Amiri" pitchFamily="2" charset="-78"/>
              </a:rPr>
              <a:t>بَيْنَ</a:t>
            </a:r>
            <a:pPr rtl="1" algn="ctr" indent="0" marL="0">
              <a:buNone/>
            </a:pPr>
            <a:r>
              <a:rPr lang="ar-SA" altLang="en-US" sz="1950" b="1" dirty="0">
                <a:solidFill>
                  <a:srgbClr val="1B3B6F"/>
                </a:solidFill>
                <a:latin typeface="Amiri" pitchFamily="2" charset="-78"/>
                <a:ea typeface="Amiri" pitchFamily="2" charset="-78"/>
                <a:cs typeface="Amiri" pitchFamily="2" charset="-78"/>
              </a:rPr>
              <a:t> اللُّغَتَيْنِ وَالعَادَتَيْنِ.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balance between the two languages and customs.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يُوَازِنُ </a:t>
            </a:r>
            <a:pPr rtl="1" algn="ctr" indent="0" marL="0">
              <a:buNone/>
            </a:pPr>
            <a:r>
              <a:rPr lang="ar-SA" altLang="en-US" sz="2200" b="1" dirty="0">
                <a:solidFill>
                  <a:srgbClr val="0E7C86"/>
                </a:solidFill>
                <a:latin typeface="Amiri" pitchFamily="2" charset="-78"/>
                <a:ea typeface="Amiri" pitchFamily="2" charset="-78"/>
                <a:cs typeface="Amiri" pitchFamily="2" charset="-78"/>
              </a:rPr>
              <a:t>بَيْنَ</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feels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أَحْيَانًا أَشْعُرُ </a:t>
            </a:r>
            <a:pPr rtl="1" algn="ctr" indent="0" marL="0">
              <a:buNone/>
            </a:pPr>
            <a:r>
              <a:rPr lang="ar-SA" altLang="en-US" sz="1950" b="1" dirty="0">
                <a:solidFill>
                  <a:srgbClr val="1D5FBF"/>
                </a:solidFill>
                <a:latin typeface="Amiri" pitchFamily="2" charset="-78"/>
                <a:ea typeface="Amiri" pitchFamily="2" charset="-78"/>
                <a:cs typeface="Amiri" pitchFamily="2" charset="-78"/>
              </a:rPr>
              <a:t>بِالحَنِينِ</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Sometimes I feel nostalgia.</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يَشْعُرُ </a:t>
            </a:r>
            <a:pPr rtl="1" algn="ctr" indent="0" marL="0">
              <a:buNone/>
            </a:pPr>
            <a:r>
              <a:rPr lang="ar-SA" altLang="en-US" sz="2200" b="1" dirty="0">
                <a:solidFill>
                  <a:srgbClr val="1D5FBF"/>
                </a:solidFill>
                <a:latin typeface="Amiri" pitchFamily="2" charset="-78"/>
                <a:ea typeface="Amiri" pitchFamily="2" charset="-78"/>
                <a:cs typeface="Amiri" pitchFamily="2" charset="-78"/>
              </a:rPr>
              <a:t>بِـ</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preposition the noun is genitive: </a:t>
            </a:r>
            <a:pPr algn="l" indent="0" marL="0">
              <a:buNone/>
            </a:pPr>
            <a:r>
              <a:rPr lang="ar-SA" altLang="en-US" sz="1500" b="1" dirty="0">
                <a:solidFill>
                  <a:srgbClr val="1B3B6F"/>
                </a:solidFill>
                <a:latin typeface="Amiri" pitchFamily="2" charset="-78"/>
                <a:ea typeface="Amiri" pitchFamily="2" charset="-78"/>
                <a:cs typeface="Amiri" pitchFamily="2" charset="-78"/>
              </a:rPr>
              <a:t>إِلَى ثَقَافَتَيْنِ</a:t>
            </a:r>
            <a:pPr algn="l" indent="0" marL="0">
              <a:buNone/>
            </a:pPr>
            <a:r>
              <a:rPr lang="en-US" sz="1150" b="1" dirty="0">
                <a:solidFill>
                  <a:srgbClr val="1B3B6F"/>
                </a:solidFill>
                <a:latin typeface="Calibri" pitchFamily="34" charset="0"/>
                <a:cs typeface="Amiri" pitchFamily="2" charset="-78"/>
              </a:rPr>
              <a:t> (dual) · </a:t>
            </a:r>
            <a:pPr algn="l" indent="0" marL="0">
              <a:buNone/>
            </a:pPr>
            <a:r>
              <a:rPr lang="ar-SA" altLang="en-US" sz="1500" b="1" dirty="0">
                <a:solidFill>
                  <a:srgbClr val="1B3B6F"/>
                </a:solidFill>
                <a:latin typeface="Amiri" pitchFamily="2" charset="-78"/>
                <a:ea typeface="Amiri" pitchFamily="2" charset="-78"/>
                <a:cs typeface="Amiri" pitchFamily="2" charset="-78"/>
              </a:rPr>
              <a:t>بِلُغَتِهَا</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ea typeface="Amiri" pitchFamily="2" charset="-78"/>
                <a:cs typeface="Amiri" pitchFamily="2" charset="-78"/>
              </a:rPr>
              <a:t>مَعَ الحَيَاةِ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TWO WAYS TO COMPARE — NEVER BOTH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Bigger than — or more peaceful than?</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المُقَارَنَةُ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aFʿAL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أَكْبَرُ مِنْ · أَصْغَرُ مِنْ</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لَنْدَنُ أَكْبَرُ مِنْ مَدِينَتِي.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London is bigger than my city.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One word: akbar.</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9202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19202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aktharu + NOUN · DEVELOP</a:t>
            </a:r>
            <a:endParaRPr lang="en-US" sz="850" dirty="0"/>
          </a:p>
        </p:txBody>
      </p:sp>
      <p:sp>
        <p:nvSpPr>
          <p:cNvPr id="26" name="Text 23"/>
          <p:cNvSpPr txBox="1"/>
          <p:nvPr/>
        </p:nvSpPr>
        <p:spPr>
          <a:xfrm>
            <a:off x="6379464" y="1874520"/>
            <a:ext cx="13959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أَكْثَرُ هُدُوءًا مِنْ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مَدِينَتُنَا أَكْثَرُ هُدُوءًا مِنَ القَاهِرَةِ.</a:t>
            </a:r>
            <a:endParaRPr lang="ar-SA" sz="2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Our city is calmer than Cairo.</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Noun in -an.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4401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34" name="Text 31"/>
          <p:cNvSpPr txBox="1"/>
          <p:nvPr/>
        </p:nvSpPr>
        <p:spPr>
          <a:xfrm>
            <a:off x="2080260"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ea typeface="Amiri" pitchFamily="2" charset="-78"/>
                <a:cs typeface="Amiri" pitchFamily="2" charset="-78"/>
              </a:rPr>
              <a:t>مِنْ نَاحِيَةٍ … وَمِنْ نَاحِيَةٍ أُخْرَى</a:t>
            </a:r>
            <a:endParaRPr lang="ar-SA" sz="14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مِنْ نَاحِيَةٍ أَشْعُرُ بِالحَنِينِ، وَمِنْ نَاحِيَةٍ أُخْرَى أُحِبُّ حَيَاتِي هُنَا.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I feel nostalgia; on the other, I love my life here.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sides.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only one comparative at a time.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أَكْبَرُ مِنْ غَيْرِهِ</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أَكْثَرُ أَكْبَرُ مِنْ غَيْرِهِ</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Belonging, adaptation and comparison</a:t>
            </a:r>
            <a:endParaRPr lang="en-US" sz="25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الانْتِمَاءُ وَالتَّكَيُّفُ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The four diaspora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يَنْتَمِي إِلَى · يَتَكَيَّفُ مَعَ · يَحْتَفِظُ بِـ · يُوَازِنُ بَيْنَ</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أَنْتَمِي إِلَى ثَقَافَتَيْنِ   ·   تُوَازِنُ بَيْنَ اللُّغَتَيْنِ وَالعَادَتَيْنِ</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The synthetic comparative</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أَفْعَل</a:t>
            </a:r>
            <a:pPr algn="l" indent="0" marL="0">
              <a:buNone/>
            </a:pPr>
            <a:r>
              <a:rPr lang="en-US" sz="1050"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لَنْدَنُ أَكْبَرُ مِنْ مَدِينَتِي   ·   الطَّقْسُ هُنَاكَ أَحَرُّ مِنْ هُنَا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The analytical comparative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أَكْثَرُ / أَقَلُّ</a:t>
            </a:r>
            <a:pPr algn="l" indent="0" marL="0">
              <a:buNone/>
            </a:pPr>
            <a:r>
              <a:rPr lang="en-US" sz="1050" dirty="0">
                <a:solidFill>
                  <a:srgbClr val="5A6472"/>
                </a:solidFill>
                <a:latin typeface="Calibri" pitchFamily="34" charset="0"/>
                <a:cs typeface="Amiri" pitchFamily="2" charset="-78"/>
              </a:rPr>
              <a:t> + accusative noun + </a:t>
            </a:r>
            <a:pPr algn="l" indent="0" marL="0">
              <a:buNone/>
            </a:pPr>
            <a:r>
              <a:rPr lang="ar-SA" altLang="en-US" sz="1350" dirty="0">
                <a:solidFill>
                  <a:srgbClr val="5A6472"/>
                </a:solidFill>
                <a:latin typeface="Amiri" pitchFamily="2" charset="-78"/>
                <a:ea typeface="Amiri" pitchFamily="2" charset="-78"/>
                <a:cs typeface="Amiri" pitchFamily="2" charset="-78"/>
              </a:rPr>
              <a:t>مِنْ</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هٰذَا الحَيُّ أَكْثَرُ تَنَوُّعًا مِنْ غَيْرِهِ   ·   المَدِينَةُ أَقَلُّ هُدُوءًا مِنَ القَرْيَةِ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Contrast and balance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بَيْنَمَا · مِنْ نَاحِيَةٍ … وَمِنْ نَاحِيَةٍ أُخْرَى</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ea typeface="Amiri" pitchFamily="2" charset="-78"/>
                <a:cs typeface="Amiri" pitchFamily="2" charset="-78"/>
              </a:rPr>
              <a:t>أَتَحَدَّثُ العَرَبِيَّةَ فِي البَيْتِ، بَيْنَمَا أَدْرُسُ بِالإِنْجِلِيزِيَّةِ   ·   مِنْ نَاحِيَةٍ أَشْعُرُ بِالحَنِينِ، وَمِنْ نَاحِيَةٍ أُخْرَى أُحِبُّ حَيَاتِي هُنَا</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أَنْتَمِي ___ ثَقَافَتَيْنِ.</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تَحْتَفِظُ الأُسَرُ ___ لُغَتِهَا.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أَكْثَرُ أَكْبَرُ مِنْ مَدِينَتِي.</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أَكْبَرُ مِنْ مَدِينَتِي.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لَنْدَنُ الأَكْبَرُ مِنْ مَدِينَتِي.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analytical comparative.</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الحَيُّ أَكْثَرُ تَنَوُّعًا مِنْ غَيْرِهِ.</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الحَيُّ أَكْثَرُ تَنَوُّعٌ مِنْ غَيْرِهِ.</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هٰذَا الحَيُّ أَكْثَرُ مُتَنَوِّعٌ مِنْ غَيْرِهِ.</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أَنْتَمِي ___ ثَقَافَتَيْنِ.</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تَحْتَفِظُ الأُسَرُ ___ لُغَتِهَا.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 أَكْثَرُ أَكْبَرُ مِنْ مَدِينَتِي.</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لَنْدَنُ أَكْبَرُ مِنْ مَدِينَتِي.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لَنْدَنُ الأَكْبَرُ مِنْ مَدِينَتِي.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a:t>
            </a:r>
            <a:pPr algn="l" indent="0" marL="0">
              <a:buNone/>
            </a:pPr>
            <a:r>
              <a:rPr lang="ar-SA" altLang="en-US" sz="1350" dirty="0">
                <a:solidFill>
                  <a:srgbClr val="8A6D1E"/>
                </a:solidFill>
                <a:latin typeface="Amiri" pitchFamily="2" charset="-78"/>
                <a:ea typeface="Amiri" pitchFamily="2" charset="-78"/>
                <a:cs typeface="Amiri" pitchFamily="2" charset="-78"/>
              </a:rPr>
              <a:t>أَفْعَل</a:t>
            </a:r>
            <a:pPr algn="l" indent="0" marL="0">
              <a:buNone/>
            </a:pPr>
            <a:r>
              <a:rPr lang="en-US" sz="1050" i="1" dirty="0">
                <a:solidFill>
                  <a:srgbClr val="8A6D1E"/>
                </a:solidFill>
                <a:latin typeface="Calibri" pitchFamily="34" charset="0"/>
                <a:cs typeface="Amiri" pitchFamily="2" charset="-78"/>
              </a:rPr>
              <a:t> takes no article in this structure.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analytical comparative.</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هٰذَا الحَيُّ أَكْثَرُ تَنَوُّعًا مِنْ غَيْرِهِ.</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الحَيُّ أَكْثَرُ تَنَوُّعٌ مِنْ غَيْرِهِ.</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هٰذَا الحَيُّ أَكْثَرُ مُتَنَوِّعٌ مِنْ غَيْرِهِ.</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between </a:t>
            </a:r>
            <a:pPr algn="l" indent="0" marL="0">
              <a:buNone/>
            </a:pPr>
            <a:r>
              <a:rPr lang="ar-SA" altLang="en-US" sz="1350" dirty="0">
                <a:solidFill>
                  <a:srgbClr val="8A6D1E"/>
                </a:solidFill>
                <a:latin typeface="Amiri" pitchFamily="2" charset="-78"/>
                <a:ea typeface="Amiri" pitchFamily="2" charset="-78"/>
                <a:cs typeface="Amiri" pitchFamily="2" charset="-78"/>
              </a:rPr>
              <a:t>أَكْثَرُ</a:t>
            </a:r>
            <a:pPr algn="l" indent="0" marL="0">
              <a:buNone/>
            </a:pPr>
            <a:r>
              <a:rPr lang="en-US" sz="1050" i="1" dirty="0">
                <a:solidFill>
                  <a:srgbClr val="8A6D1E"/>
                </a:solidFill>
                <a:latin typeface="Calibri" pitchFamily="34" charset="0"/>
                <a:cs typeface="Amiri" pitchFamily="2" charset="-78"/>
              </a:rPr>
              <a:t> and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describe living between two places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Belong</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أَنْتَمِي </a:t>
            </a:r>
            <a:pPr rtl="1" algn="ctr" indent="0" marL="0">
              <a:buNone/>
            </a:pPr>
            <a:r>
              <a:rPr lang="ar-SA" altLang="en-US" sz="2800" b="1" dirty="0">
                <a:solidFill>
                  <a:srgbClr val="0E7C86"/>
                </a:solidFill>
                <a:latin typeface="Amiri" pitchFamily="2" charset="-78"/>
                <a:ea typeface="Amiri" pitchFamily="2" charset="-78"/>
                <a:cs typeface="Amiri" pitchFamily="2" charset="-78"/>
              </a:rPr>
              <a:t>إِلَى</a:t>
            </a:r>
            <a:pPr rtl="1" algn="ctr" indent="0" marL="0">
              <a:buNone/>
            </a:pPr>
            <a:r>
              <a:rPr lang="ar-SA" altLang="en-US" sz="2800" b="1" dirty="0">
                <a:solidFill>
                  <a:srgbClr val="1B3B6F"/>
                </a:solidFill>
                <a:latin typeface="Amiri" pitchFamily="2" charset="-78"/>
                <a:ea typeface="Amiri" pitchFamily="2" charset="-78"/>
                <a:cs typeface="Amiri" pitchFamily="2" charset="-78"/>
              </a:rPr>
              <a:t> ثَقَافَتَيْنِ</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intamā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نَتَحَدَّثُ العَرَبِيَّةَ،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بَيْنَمَا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أَدْرُسُ بِالإِنْجِلِيزِيَّةِ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Home vs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Compare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أَصْغَرُ مِنْ · </a:t>
            </a:r>
            <a:pPr rtl="1" algn="ctr" indent="0" marL="0">
              <a:buNone/>
            </a:pPr>
            <a:r>
              <a:rPr lang="ar-SA" altLang="en-US" sz="2100" b="1" dirty="0">
                <a:solidFill>
                  <a:srgbClr val="D6336C"/>
                </a:solidFill>
                <a:latin typeface="Amiri" pitchFamily="2" charset="-78"/>
                <a:ea typeface="Amiri" pitchFamily="2" charset="-78"/>
                <a:cs typeface="Amiri" pitchFamily="2" charset="-78"/>
              </a:rPr>
              <a:t>أَكْثَرُ هُدُوءًا</a:t>
            </a:r>
            <a:pPr rtl="1" algn="ctr" indent="0" marL="0">
              <a:buNone/>
            </a:pPr>
            <a:r>
              <a:rPr lang="ar-SA" altLang="en-US" sz="2100" b="1" dirty="0">
                <a:solidFill>
                  <a:srgbClr val="1B3B6F"/>
                </a:solidFill>
                <a:latin typeface="Amiri" pitchFamily="2" charset="-78"/>
                <a:ea typeface="Amiri" pitchFamily="2" charset="-78"/>
                <a:cs typeface="Amiri" pitchFamily="2" charset="-78"/>
              </a:rPr>
              <a:t> مِنْ</a:t>
            </a:r>
            <a:endParaRPr lang="ar-SA" sz="21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at a time.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feelings.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9" name="Shape 45"/>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COMPARATIVE</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أَنَا مِنَ الجِيلِ الثَّانِي فِي الجَالِيَةِ العَرَبِيَّةِ. أَنْتَمِي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إِلَى</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ثَقَافَتَيْنِ، وَأُوَازِنُ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بَيْنَهُمَا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كُلَّ يَوْمٍ. فِي البَيْتِ نَتَحَدَّثُ العَرَبِيَّةَ،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أَدْرُسُ بِالإِنْجِلِيزِيَّةِ. مَدِينَتُنَا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أَصْغَرُ مِنَ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القَاهِرَةِ، وَلٰكِنَّهَا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أَكْثَرُ هُدُوءًا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مِنْهَا.</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am from the second generation of the Arab community. I belong to two cultures and balance between them every day. At home we speak Arabic, whereas I study in English. Our city is smaller than Cairo, but it is calmer.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أَنْتَمِي إِلَى ثَقَافَتَيْنِ</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belong to two cultures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إِلَى is fixed with يَنْتَمِي; ثَقَافَتَيْنِ is the dual.</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لَنْدَنُ أَكْبَرُ مِنْ مَدِينَتِي</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London is bigger than my city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One comparative form, and a genitive after مِنْ.</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أَكْثَرُ تَنَوُّعًا مِنْ غَيْرِهِ</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more diverse than others</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The noun between أَكْثَرُ and مِنْ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“COMPARE CULTURES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الثَّقَافَاتِ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 B: hospitality</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2"/>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8" name="Shape 23"/>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0" name="Text 24"/>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coffee · B tea</a:t>
            </a:r>
            <a:endParaRPr lang="en-US" sz="1100" dirty="0"/>
          </a:p>
        </p:txBody>
      </p:sp>
      <p:sp>
        <p:nvSpPr>
          <p:cNvPr id="31" name="Shape 2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6"/>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8"/>
          <p:cNvSpPr/>
          <p:nvPr/>
        </p:nvSpPr>
        <p:spPr>
          <a:xfrm>
            <a:off x="1767840" y="2066544"/>
            <a:ext cx="1014984" cy="1014984"/>
          </a:xfrm>
          <a:prstGeom prst="ellipse">
            <a:avLst/>
          </a:prstGeom>
          <a:solidFill>
            <a:srgbClr val="F4F1EA"/>
          </a:solidFill>
          <a:ln w="12700">
            <a:solidFill>
              <a:srgbClr val="F4F1EA"/>
            </a:solidFill>
            <a:prstDash val="solid"/>
          </a:ln>
        </p:spPr>
      </p:sp>
      <p:pic>
        <p:nvPicPr>
          <p:cNvPr id="3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6"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balanced comparison</a:t>
            </a:r>
            <a:endParaRPr lang="en-US" sz="1100" dirty="0"/>
          </a:p>
        </p:txBody>
      </p:sp>
      <p:sp>
        <p:nvSpPr>
          <p:cNvPr id="37"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تَخْتَلِفُ الْعَادَاتُ فِي نَوْعِ الْمَشْرُوبِ الَّذِي يُقَدَّمُ لِلضُّيُوفِ.</a:t>
            </a:r>
            <a:endParaRPr lang="ar-SA" sz="2000" dirty="0"/>
          </a:p>
        </p:txBody>
      </p:sp>
      <p:sp>
        <p:nvSpPr>
          <p:cNvPr id="41"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يَنْبَغِي أَنْ نُقَارِنَ مِنْ دُونِ الْحُكْمِ عَلَى أَيِّ ثَقَافَةٍ بِأَنَّهَا أَفْضَلُ.</a:t>
            </a:r>
            <a:endParaRPr lang="ar-SA" sz="2000" dirty="0"/>
          </a:p>
        </p:txBody>
      </p:sp>
      <p:sp>
        <p:nvSpPr>
          <p:cNvPr id="45"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تَتَشَابَهُ الثَّقَافَتَانِ فِي أَهَمِّيَّةِ الضِّيَافَةِ.</a:t>
            </a:r>
            <a:endParaRPr lang="ar-SA" sz="2000" dirty="0"/>
          </a:p>
        </p:txBody>
      </p:sp>
      <p:sp>
        <p:nvSpPr>
          <p:cNvPr id="49"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الثَّقَافَاتِ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 B: hospitality</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تَتَشَابَهُ الثَّقَافَتَانِ فِي أَهَمِّيَّةِ الضِّيَافَةِ.</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two cultures are similar in the importance of hospitality.</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7"/>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3" name="Shape 28"/>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5" name="Text 29"/>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coffee · B tea</a:t>
            </a:r>
            <a:endParaRPr lang="en-US" sz="1100" dirty="0"/>
          </a:p>
        </p:txBody>
      </p:sp>
      <p:sp>
        <p:nvSpPr>
          <p:cNvPr id="36" name="Shape 30"/>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1"/>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2"/>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9" name="Text 33"/>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تَخْتَلِفُ الْعَادَاتُ فِي نَوْعِ الْمَشْرُوبِ الَّذِي يُقَدَّمُ لِلضُّيُوفِ.</a:t>
            </a:r>
            <a:endParaRPr lang="ar-SA" sz="2200" dirty="0"/>
          </a:p>
        </p:txBody>
      </p:sp>
      <p:sp>
        <p:nvSpPr>
          <p:cNvPr id="40" name="Text 34"/>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customs differ in the kind of drink served to guests.</a:t>
            </a:r>
            <a:endParaRPr lang="en-US" sz="1200" dirty="0"/>
          </a:p>
        </p:txBody>
      </p:sp>
      <p:sp>
        <p:nvSpPr>
          <p:cNvPr id="41" name="Shape 35"/>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6"/>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7"/>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8"/>
          <p:cNvSpPr/>
          <p:nvPr/>
        </p:nvSpPr>
        <p:spPr>
          <a:xfrm>
            <a:off x="1767840" y="2066544"/>
            <a:ext cx="1014984" cy="1014984"/>
          </a:xfrm>
          <a:prstGeom prst="ellipse">
            <a:avLst/>
          </a:prstGeom>
          <a:solidFill>
            <a:srgbClr val="F4F1EA"/>
          </a:solidFill>
          <a:ln w="12700">
            <a:solidFill>
              <a:srgbClr val="F4F1EA"/>
            </a:solidFill>
            <a:prstDash val="solid"/>
          </a:ln>
        </p:spPr>
      </p:sp>
      <p:pic>
        <p:nvPicPr>
          <p:cNvPr id="45"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6"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balanced comparison</a:t>
            </a:r>
            <a:endParaRPr lang="en-US" sz="1100" dirty="0"/>
          </a:p>
        </p:txBody>
      </p:sp>
      <p:sp>
        <p:nvSpPr>
          <p:cNvPr id="47"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3"/>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يَنْبَغِي أَنْ نُقَارِنَ مِنْ دُونِ الْحُكْمِ عَلَى أَيِّ ثَقَافَةٍ بِأَنَّهَا أَفْضَلُ.</a:t>
            </a:r>
            <a:endParaRPr lang="ar-SA" sz="2200" dirty="0"/>
          </a:p>
        </p:txBody>
      </p:sp>
      <p:sp>
        <p:nvSpPr>
          <p:cNvPr id="51"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We should compare without judging any culture as better.</a:t>
            </a:r>
            <a:endParaRPr lang="en-US" sz="120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يُوَازِنُ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يَتَكَيَّفُ</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يَتَفَاعَلُ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يَحْتَفِظُ</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يَشْعُرُ</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يَتَمَسَّكُ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إِلَى / بَيْنَ</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مَعَ</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بِـ</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1 · إِلَى / بَيْنَ</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يَنْتَمِي</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يُوَازِنُ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2 · مَعَ</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يَتَكَيَّفُ</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يَتَعَامَلُ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يَتَفَاعَلُ</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3 · بِـ</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يَحْتَفِظُ</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يَشْعُرُ</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يَتَمَسَّكُ</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4,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تَتَكَيَّفُ الجَالِيَاتُ ___ الحَيَاةِ الجَدِيدَةِ.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يُوَازِنُ الشَّابُّ ___ ثَقَافَتَيْهِ.</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مُهَاجِرٌ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لَاجِئٌ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exactly the same thing.</a:t>
            </a:r>
            <a:endParaRPr lang="en-US" sz="12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migrant moved to live elsewhere; a refugee left because of danger.</a:t>
            </a:r>
            <a:endParaRPr lang="en-US" sz="12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refugee is someone on holiday.</a:t>
            </a:r>
            <a:endParaRPr lang="en-US" sz="12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description of dual identity.</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الهُوِيَّةُ المُزْدَوَجَةُ مُشْكِلَةٌ دَائِمًا.</a:t>
            </a:r>
            <a:endParaRPr lang="ar-SA" sz="18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لَا يُمْكِنُ أَنْ يَنْتَمِيَ الإِنْسَانُ إِلَى ثَقَافَتَيْنِ.</a:t>
            </a:r>
            <a:endParaRPr lang="ar-SA" sz="18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ea typeface="Amiri" pitchFamily="2" charset="-78"/>
                <a:cs typeface="Amiri" pitchFamily="2" charset="-78"/>
              </a:rPr>
              <a:t>مِنْ نَاحِيَةٍ أَشْعُرُ بِالحَنِينِ، وَمِنْ نَاحِيَةٍ أُخْرَى أُحِبُّ حَيَاتِي هُنَا.</a:t>
            </a:r>
            <a:endParaRPr lang="ar-SA" sz="18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تَتَكَيَّفُ الجَالِيَاتُ ___ الحَيَاةِ الجَدِيدَةِ.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يُوَازِنُ الشَّابُّ ___ ثَقَافَتَيْهِ.</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يُوَازِنُ</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بَيْنَ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difference between </a:t>
            </a:r>
            <a:pPr algn="l" indent="0" marL="0">
              <a:buNone/>
            </a:pPr>
            <a:r>
              <a:rPr lang="ar-SA" altLang="en-US" sz="1650" b="1" dirty="0">
                <a:solidFill>
                  <a:srgbClr val="1B3B6F"/>
                </a:solidFill>
                <a:latin typeface="Amiri" pitchFamily="2" charset="-78"/>
                <a:ea typeface="Amiri" pitchFamily="2" charset="-78"/>
                <a:cs typeface="Amiri" pitchFamily="2" charset="-78"/>
              </a:rPr>
              <a:t>مُهَاجِرٌ</a:t>
            </a:r>
            <a:pPr algn="l" indent="0" marL="0">
              <a:buNone/>
            </a:pPr>
            <a:r>
              <a:rPr lang="en-US" sz="1250" b="1" dirty="0">
                <a:solidFill>
                  <a:srgbClr val="1B3B6F"/>
                </a:solidFill>
                <a:latin typeface="Calibri" pitchFamily="34" charset="0"/>
                <a:cs typeface="Amiri" pitchFamily="2" charset="-78"/>
              </a:rPr>
              <a:t> and </a:t>
            </a:r>
            <a:pPr algn="l" indent="0" marL="0">
              <a:buNone/>
            </a:pPr>
            <a:r>
              <a:rPr lang="ar-SA" altLang="en-US" sz="1650" b="1" dirty="0">
                <a:solidFill>
                  <a:srgbClr val="1B3B6F"/>
                </a:solidFill>
                <a:latin typeface="Amiri" pitchFamily="2" charset="-78"/>
                <a:ea typeface="Amiri" pitchFamily="2" charset="-78"/>
                <a:cs typeface="Amiri" pitchFamily="2" charset="-78"/>
              </a:rPr>
              <a:t>لَاجِئٌ</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exactly the same thing.</a:t>
            </a:r>
            <a:endParaRPr lang="en-US" sz="125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migrant moved to live elsewhere; a refugee left because of danger.</a:t>
            </a:r>
            <a:endParaRPr lang="en-US" sz="115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refugee is someone on holiday.</a:t>
            </a:r>
            <a:endParaRPr lang="en-US" sz="125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two words describe different situations and should not be swapped.</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description of dual identity.</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الهُوِيَّةُ المُزْدَوَجَةُ مُشْكِلَةٌ دَائِمًا.</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لَا يُمْكِنُ أَنْ يَنْتَمِيَ الإِنْسَانُ إِلَى ثَقَافَتَيْنِ.</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 نَاحِيَةٍ أَشْعُرُ بِالحَنِينِ، وَمِنْ نَاحِيَةٍ أُخْرَى أُحِبُّ حَيَاتِي هُنَا.</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balanced pair holds both feelings together rather than treating one as a problem.</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أَنْتَمِي مَعَ ثَقَافَتَيْنِ.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intamā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الحَيُّ أَكْثَرُ أَكْبَرُ مِنْ غَيْرِهِ.</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comparatives? Choose one!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تَحْتَفِظُ الأُسَرُ عَلَى لُغَتِهَا.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iḥtafaẓa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أَنْتَمِي مَعَ ثَقَافَتَيْنِ.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أَنْتَمِي إِلَى ثَقَافَتَيْنِ.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يَنْتَمِي</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إِلَى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الحَيُّ أَكْثَرُ أَكْبَرُ مِنْ غَيْرِهِ.</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الحَيُّ أَكْبَرُ مِنْ غَيْرِهِ.</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Only one comparative structure may be used at a time.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تَحْتَفِظُ الأُسَرُ عَلَى لُغَتِهَا.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تَحْتَفِظُ الأُسَرُ بِلُغَتِهَا.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يَحْتَفِظُ</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ea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Listening: growing up between two places</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generation does the speaker belong to?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second generation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first generation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recent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family arrive?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years ago</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year</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Thirty years ago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is used at home?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English</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Both equally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Arabic</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mother keep?</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customs and her cooking</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her language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from before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dual identity?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permanent difficulty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 a problem, but a richness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Something to be chosen between</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One speaker, two places.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أَنَا مِنَ الجِيلِ الثَّانِي فِي الجَالِيَةِ العَرَبِيَّةِ هُنَا. وُلِدْتُ فِي هٰذِهِ المَدِينَةِ، وَلٰكِنَّ أُسْرَتِي جَاءَتْ مِنَ المَغْرِبِ قَبْلَ ثَلَاثِينَ سَنَةً.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am from the second generation of the Arab community here. I was born in this city, but my family came from Morocco thirty years ago.</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أَنْتَمِي إِلَى ثَقَافَتَيْنِ، وَأُوَازِنُ بَيْنَهُمَا كُلَّ يَوْمٍ. فِي البَيْتِ نَتَحَدَّثُ العَرَبِيَّةَ، بَيْنَمَا أَدْرُسُ وَأَعْمَلُ بِالإِنْجِلِيزِيَّةِ.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belong to two cultures and balance between them every day. At home we speak Arabic, whereas I study and work in English.</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تَحْتَفِظُ أُمِّي بِعَادَاتِهَا وَبِمَطْبَخِهَا، وَقَدْ تَكَيَّفَتْ مَعَ الحَيَاةِ هُنَا بِسُرْعَةٍ.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mother keeps her customs and her cooking, and she adapted to life here quickly.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أَحْيَانًا أَشْعُرُ بِالحَنِينِ إِلَى بَلَدِ أُسْرَتِي، وَمِنْ نَاحِيَةٍ أُخْرَى أُحِبُّ حَيَاتِي هُنَا كَثِيرًا.</a:t>
            </a:r>
            <a:endParaRPr lang="ar-SA" sz="18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I feel longing for my family’s country, and on the other hand I love my life here very much.</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لَيْسَتِ الهُوِيَّةُ المُزْدَوَجَةُ مُشْكِلَةً؛ هِيَ ثَرْوَةٌ فِي رَأْيِي.</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Dual identity is not a problem — in my opinion it is a richness.</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generation does the speaker belong to?</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second generation</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first generation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recent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أَنَا مِنَ الجِيلِ الثَّانِي فِي الجَالِيَةِ العَرَبِيَّةِ.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When did the family arrive?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years ago</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Last year</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Thirty years ago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جَاءَتْ مِنَ المَغْرِبِ قَبْلَ ثَلَاثِينَ سَنَةً.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language is used at home?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English</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Both equally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Arabic</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فِي البَيْتِ نَتَحَدَّثُ العَرَبِيَّةَ، بَيْنَمَا أَدْرُسُ … بِالإِنْجِلِيزِيَّةِ.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mother keep?</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customs and her cooking</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her language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from before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تَحْتَفِظُ أُمِّي بِعَادَاتِهَا وَبِمَطْبَخِهَا.</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describe dual identity?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permanent difficulty</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Not a problem, but a richness</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Something to be chosen between</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لَيْسَتِ الهُوِيَّةُ المُزْدَوَجَةُ مُشْكِلَةً؛ هِيَ ثَرْوَةٌ فِي رَأْيِي.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3 and 5.</a:t>
            </a:r>
            <a:endParaRPr lang="en-US" sz="1250" dirty="0"/>
          </a:p>
          <a:p>
            <a:pPr algn="l" indent="0" marL="0">
              <a:buNone/>
            </a:pPr>
            <a:r>
              <a:rPr lang="en-US" sz="1250" dirty="0">
                <a:solidFill>
                  <a:srgbClr val="1E6B52"/>
                </a:solidFill>
                <a:latin typeface="Calibri" pitchFamily="34" charset="0"/>
                <a:cs typeface="Amiri" pitchFamily="2" charset="-78"/>
              </a:rPr>
              <a:t>One speaker, two places.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Culture comparison Venn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Culture comparison Venn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Organise shared and different practices in a Venn diagram, then turn the notes into a balanced comparison with similarity and contrast connectors.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Draw a Venn diagram: culture A · culture B · shared.</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6 practices (food, greetings, family, celebrations …).</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Turn the notes into a balanced comparison: one similarity, two differences.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Check: no stereotype, no “better / worse”.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Fill the Venn; one sentence with “kilāhumā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comparison with “baynamā” and “ammā … fa-”.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paragraph with a hedge (fī baʿḍ al-usar) and a conclusion.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تَتَشَابَهُ الثَّقَافَتَانِ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two cultures are similar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بَيْنَمَا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whereas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أَمَّا فِي بَاكِسْتَانَ فَيُقَدَّمُ الشَّايُ</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as for Pakistan, tea is served</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بَعْضِ الأُسَرِ</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some families</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comparing two places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قَارِنْ بَيْنَ مَدِينَتِكَ وَمَدِينَةٍ عَرَبِيَّةٍ. اِسْتَعْمِلْ أَفْعَل وَأَكْثَرُ مِنْ.</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تَحْتَفِظُ بِهِ الأُسَرُ عِنْدَمَا تَنْتَقِلُ إِلَى بَلَدٍ جَدِيدٍ؟</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تَصِفُ الهُوِيَّةَ المُزْدَوَجَةَ دُونَ تَبْسِيطٍ؟</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2" charset="-78"/>
                <a:ea typeface="Amiri" pitchFamily="2" charset="-78"/>
                <a:cs typeface="Amiri" pitchFamily="2" charset="-78"/>
              </a:rPr>
              <a:t>مَدِينَتِي ___ مِنْ ___ ، وَلٰكِنَّهَا أَكْثَرُ ___ مِنْهَا.</a:t>
            </a:r>
            <a:endParaRPr lang="ar-SA" sz="13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تَحْتَفِظُ الأُسَرُ بِـ ___ ، وَتَتَكَيَّفُ مَعَ ___ .</a:t>
            </a:r>
            <a:endParaRPr lang="ar-SA" sz="15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مِنْ نَاحِيَةٍ ___ ، وَمِنْ نَاحِيَةٍ أُخْرَى ___ .</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قَارِنْ بَيْنَ مَدِينَتِكَ وَمَدِينَةٍ عَرَبِيَّةٍ.</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Compare your city with an Arab city.</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مَدِينَتِي أَصْغَرُ مِنَ القَاهِرَةِ، وَلٰكِنَّهَا أَكْثَرُ هُدُوءًا مِنْهَا.</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My city is smaller than Cairo, but it is calmer.</a:t>
            </a:r>
            <a:endParaRPr lang="en-US" sz="9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six sentences using the four verbs with their correct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The four diaspora verbs with their prepositions, about you or a family.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comparative of each type and a contrast with </a:t>
            </a:r>
            <a:pPr algn="l" indent="0" marL="0">
              <a:buNone/>
            </a:pPr>
            <a:r>
              <a:rPr lang="ar-SA" altLang="en-US" sz="1800" b="1" dirty="0">
                <a:solidFill>
                  <a:srgbClr val="1F2A37"/>
                </a:solidFill>
                <a:latin typeface="Amiri" pitchFamily="2" charset="-78"/>
                <a:ea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Add one comparative of each type and a contrast with بَيْنَمَا.</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Close with a balanced statement on dual identity that avoids reducing it to a single story.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Website task: three verbs · two comparatives · بَيْنَمَا · a balanced statement on dual identity.</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البَيْتِ نَتَحَدَّثُ ______ ، بَيْنَمَا ______ .</a:t>
            </a:r>
            <a:endParaRPr lang="ar-SA" sz="17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home we speak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مَدِينَتِي أَكْبَرُ / أَصْغَرُ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city is bigger / smaller than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أَكْثَرُ هُدُوءًا / تَنَوُّعًا مِنْ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calmer / more diverse than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مِنْ نَاحِيَةٍ ______ ، وَمِنْ نَاحِيَةٍ أُخْرَى ______ .</a:t>
            </a:r>
            <a:endParaRPr lang="ar-SA" sz="16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hand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جَاءَتْ أُسْرَتِي مِنْ ______ قَبْلَ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family came from … years ago.</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أَنْتَمِي إِلَى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belong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نَحْتَفِظُ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keep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تَكَيَّفَتْ أُمِّي مَعَ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adapted to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أَنْتَمِي إِلَى  ·  أَتَكَيَّفُ مَعَ  ·  أَحْتَفِظُ بِـ  ·  أُوَازِنُ بَيْنَ  ·  أَشْعُرُ بِالحَنِينِ  ·  الجِيلُ الثَّانِي  ·  هُوِيَّةٌ مُزْدَوَجَةٌ  ·  أَكْبَرُ مِنْ  ·  أَصْغَرُ مِنْ  ·  أَكْثَرُ … مِنْ  ·  بَيْنَمَا  ·  مِنْ نَاحِيَةٍ</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comparing life in two countries, drawing on the diaspora vocabulary. Use at least three of the four verbs with their prepositions, both comparative systems, and a balanced statement about dual identity.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diaspora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synthetic comparative and one analytical comparative, kept separate.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with </a:t>
            </a:r>
            <a:pPr algn="l" indent="0" marL="0">
              <a:buNone/>
            </a:pPr>
            <a:r>
              <a:rPr lang="ar-SA" altLang="en-US" sz="1550" dirty="0">
                <a:solidFill>
                  <a:srgbClr val="1F2A37"/>
                </a:solidFill>
                <a:latin typeface="Amiri" pitchFamily="2" charset="-78"/>
                <a:ea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statement using </a:t>
            </a:r>
            <a:pPr algn="l" indent="0" marL="0">
              <a:buNone/>
            </a:pPr>
            <a:r>
              <a:rPr lang="ar-SA" altLang="en-US" sz="1550" dirty="0">
                <a:solidFill>
                  <a:srgbClr val="1F2A37"/>
                </a:solidFill>
                <a:latin typeface="Amiri" pitchFamily="2" charset="-78"/>
                <a:ea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وُلِدْتُ فِي هٰذِهِ المَدِينَةِ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was born in this city</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لَيْسَتِ الهُوِيَّةُ المُزْدَوَجَةُ مُشْكِلَةً؛ هِيَ ثَرْوَةٌ</a:t>
            </a:r>
            <a:endParaRPr lang="ar-SA" sz="175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dual identity is not a problem — it is a richness</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وَالكَلِمَتَانِ لَيْسَتَا مُتَرَادِفَتَيْنِ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the two words are not synonyms</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فَلَا تُوجَدُ قِصَّةٌ وَاحِدَةٌ تَصِفُ الجَمِيعَ</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so no single story describes everyone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تَجَارِبُ النَّاسِ مُخْتَلِفَةٌ</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people’s experiences differ</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50" dirty="0">
                <a:solidFill>
                  <a:srgbClr val="1F2A37"/>
                </a:solidFill>
                <a:latin typeface="Amiri" pitchFamily="2" charset="-78"/>
                <a:ea typeface="Amiri" pitchFamily="2" charset="-78"/>
                <a:cs typeface="Amiri" pitchFamily="2" charset="-78"/>
              </a:rPr>
              <a:t>تَعِيشُ أُسْرَتِي هُنَا مُنْذُ سَنَوَاتٍ طَوِيلَةٍ، وَأَنَا مِنَ الجِيلِ الثَّانِي فِي الجَالِيَةِ العَرَبِيَّةِ. أَنْتَمِي إِلَى ثَقَافَتَيْنِ، وَأُوَازِنُ بَيْنَهُمَا كُلَّ يَوْمٍ. فِي البَيْتِ نَتَحَدَّثُ العَرَبِيَّةَ، بَيْنَمَا أَدْرُسُ بِالإِنْجِلِيزِيَّةِ. تَحْتَفِظُ أُمِّي بِعَادَاتِهَا، وَقَدْ تَكَيَّفَتْ مَعَ الحَيَاةِ هُنَا بِسُرْعَةٍ. مَدِينَتُنَا أَصْغَرُ مِنَ القَاهِرَةِ، وَلٰكِنَّهَا أَكْثَرُ هُدُوءًا مِنْهَا. مِنْ نَاحِيَةٍ أَشْعُرُ بِالحَنِينِ إِلَى بَلَدِ أُسْرَتِي، وَمِنْ نَاحِيَةٍ أُخْرَى أُحِبُّ حَيَاتِي هُنَا. وَتَجَارِبُ النَّاسِ مُخْتَلِفَةٌ، فَلَا تُوجَدُ قِصَّةٌ وَاحِدَةٌ تَصِفُ الجَمِيعَ.</a:t>
            </a:r>
            <a:endParaRPr lang="ar-SA" sz="23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family has lived here for many years, and I am from the second generation of the Arab community. I belong to two cultures and balance between them every day. At home we speak Arabic, whereas I study in English. My mother keeps her customs, and she adapted to life here quickly. Our city is smaller than Cairo, but it is calmer. On one hand I feel longing for my family’s country; on the other, I love my life here. People’s experiences differ, so no single story describes everyone.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diaspora verbs +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أَصْغَرُ مِنْ and أَكْثَرُ هُدُوءًا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بَيْنَمَا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balanced statement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diaspora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comparative at a time.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أَكْثَرُ</a:t>
            </a:r>
            <a:pPr algn="l" indent="0" marL="0">
              <a:buNone/>
            </a:pPr>
            <a:r>
              <a:rPr lang="en-US" sz="1300" dirty="0">
                <a:solidFill>
                  <a:srgbClr val="1F2A37"/>
                </a:solidFill>
                <a:latin typeface="Calibri" pitchFamily="34" charset="0"/>
                <a:cs typeface="Amiri" pitchFamily="2" charset="-78"/>
              </a:rPr>
              <a:t> my noun ends in -an (</a:t>
            </a:r>
            <a:pPr algn="l" indent="0" marL="0">
              <a:buNone/>
            </a:pPr>
            <a:r>
              <a:rPr lang="ar-SA" altLang="en-US" sz="1700" dirty="0">
                <a:solidFill>
                  <a:srgbClr val="1F2A37"/>
                </a:solidFill>
                <a:latin typeface="Amiri" pitchFamily="2" charset="-78"/>
                <a:ea typeface="Amiri" pitchFamily="2" charset="-78"/>
                <a:cs typeface="Amiri" pitchFamily="2" charset="-78"/>
              </a:rPr>
              <a:t>هُدُوءًا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view of dual identity is balanced, not simplified.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يَتَكَيَّفُ المُهَاجِرُ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مُجْتَمَعِهِ الجَدِيدِ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 أَكْثَرُ أَكْبَرُ مِنْ مَدِينَتِي.</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 أَكْبَرُ مِنْ مَدِينَتِي.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القَاهِرَةُ أَكْبَرُ عَنْ مَدِينَتِي.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of words means different things?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مُهَاجِرٌ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لَاجِئٌ</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وَطَنٌ</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بَلَدٌ</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1F2A37"/>
                </a:solidFill>
                <a:latin typeface="Amiri" pitchFamily="2" charset="-78"/>
                <a:ea typeface="Amiri" pitchFamily="2" charset="-78"/>
                <a:cs typeface="Amiri" pitchFamily="2" charset="-78"/>
              </a:rPr>
              <a:t>جُذُورٌ</a:t>
            </a:r>
            <a:pPr algn="l" indent="0" marL="0">
              <a:buNone/>
            </a:pPr>
            <a:r>
              <a:rPr lang="en-US" sz="1250" dirty="0">
                <a:solidFill>
                  <a:srgbClr val="1F2A37"/>
                </a:solidFill>
                <a:latin typeface="Calibri" pitchFamily="34" charset="0"/>
                <a:cs typeface="Amiri" pitchFamily="2" charset="-78"/>
              </a:rPr>
              <a:t> and </a:t>
            </a:r>
            <a:pPr algn="l" indent="0" marL="0">
              <a:buNone/>
            </a:pPr>
            <a:r>
              <a:rPr lang="ar-SA" altLang="en-US" sz="1650" dirty="0">
                <a:solidFill>
                  <a:srgbClr val="1F2A37"/>
                </a:solidFill>
                <a:latin typeface="Amiri" pitchFamily="2" charset="-78"/>
                <a:ea typeface="Amiri" pitchFamily="2" charset="-78"/>
                <a:cs typeface="Amiri" pitchFamily="2" charset="-78"/>
              </a:rPr>
              <a:t>أُصُولٌ</a:t>
            </a:r>
            <a:endParaRPr lang="en-US" sz="12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ea typeface="Amiri" pitchFamily="2" charset="-78"/>
                <a:cs typeface="Amiri" pitchFamily="2" charset="-78"/>
              </a:rPr>
              <a:t>يَتَكَيَّفُ المُهَاجِرُ</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مُجْتَمَعِهِ الجَدِيدِ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بِـ</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ea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comparative.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القَاهِرَةُ أَكْثَرُ أَكْبَرُ مِنْ مَدِينَتِي.</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القَاهِرَةُ أَكْبَرُ مِنْ مَدِينَتِي.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القَاهِرَةُ أَكْبَرُ عَنْ مَدِينَتِي.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One comparative form,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 and the genitive.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pair of words means different things?</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ar-SA" altLang="en-US" sz="1650" b="1" dirty="0">
                <a:solidFill>
                  <a:srgbClr val="1F2A37"/>
                </a:solidFill>
                <a:latin typeface="Amiri" pitchFamily="2" charset="-78"/>
                <a:ea typeface="Amiri" pitchFamily="2" charset="-78"/>
                <a:cs typeface="Amiri" pitchFamily="2" charset="-78"/>
              </a:rPr>
              <a:t>مُهَاجِرٌ</a:t>
            </a:r>
            <a:pPr algn="l" indent="0" marL="0">
              <a:buNone/>
            </a:pPr>
            <a:r>
              <a:rPr lang="en-US" sz="1250" b="1" dirty="0">
                <a:solidFill>
                  <a:srgbClr val="1F2A37"/>
                </a:solidFill>
                <a:latin typeface="Calibri" pitchFamily="34" charset="0"/>
                <a:cs typeface="Amiri" pitchFamily="2" charset="-78"/>
              </a:rPr>
              <a:t> and </a:t>
            </a:r>
            <a:pPr algn="l" indent="0" marL="0">
              <a:buNone/>
            </a:pPr>
            <a:r>
              <a:rPr lang="ar-SA" altLang="en-US" sz="1650" b="1" dirty="0">
                <a:solidFill>
                  <a:srgbClr val="1F2A37"/>
                </a:solidFill>
                <a:latin typeface="Amiri" pitchFamily="2" charset="-78"/>
                <a:ea typeface="Amiri" pitchFamily="2" charset="-78"/>
                <a:cs typeface="Amiri" pitchFamily="2" charset="-78"/>
              </a:rPr>
              <a:t>لَاجِئٌ</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وَطَنٌ</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بَلَدٌ</a:t>
            </a:r>
            <a:endParaRPr lang="en-US" sz="12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ar-SA" altLang="en-US" sz="1650" dirty="0">
                <a:solidFill>
                  <a:srgbClr val="9AA1AB"/>
                </a:solidFill>
                <a:latin typeface="Amiri" pitchFamily="2" charset="-78"/>
                <a:ea typeface="Amiri" pitchFamily="2" charset="-78"/>
                <a:cs typeface="Amiri" pitchFamily="2" charset="-78"/>
              </a:rPr>
              <a:t>جُذُورٌ</a:t>
            </a:r>
            <a:pPr algn="l" indent="0" marL="0">
              <a:buNone/>
            </a:pPr>
            <a:r>
              <a:rPr lang="en-US" sz="1250" dirty="0">
                <a:solidFill>
                  <a:srgbClr val="9AA1AB"/>
                </a:solidFill>
                <a:latin typeface="Calibri" pitchFamily="34" charset="0"/>
                <a:cs typeface="Amiri" pitchFamily="2" charset="-78"/>
              </a:rPr>
              <a:t> and </a:t>
            </a:r>
            <a:pPr algn="l" indent="0" marL="0">
              <a:buNone/>
            </a:pPr>
            <a:r>
              <a:rPr lang="ar-SA" altLang="en-US" sz="1650" dirty="0">
                <a:solidFill>
                  <a:srgbClr val="9AA1AB"/>
                </a:solidFill>
                <a:latin typeface="Amiri" pitchFamily="2" charset="-78"/>
                <a:ea typeface="Amiri" pitchFamily="2" charset="-78"/>
                <a:cs typeface="Amiri" pitchFamily="2" charset="-78"/>
              </a:rPr>
              <a:t>أُصُولٌ</a:t>
            </a:r>
            <a:endParaRPr lang="en-US" sz="12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migrant and a refugee are in different situations.</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communities, not one story</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تَعِيشُ جَالِيَاتٌ عَرَبِيَّةٌ فِي بُلْدَانٍ كَثِيرَةٍ حَوْلَ العَالَمِ. وَقَدْ وَصَلَ بَعْضُ النَّاسِ مُهَاجِرِينَ بَحْثًا عَنْ عَمَلٍ أَوْ دِرَاسَةٍ، بَيْنَمَا وَصَلَ آخَرُونَ لَاجِئِينَ هَرَبًا مِنَ الحَرْبِ؛ وَالكَلِمَتَانِ لَيْسَتَا مُتَرَادِفَتَيْنِ. يَحْتَفِظُ كَثِيرٌ مِنَ الأُسَرِ بِلُغَتِهِمْ وَإِرْثِهِمُ الثَّقَافِيِّ، وَفِي الوَقْتِ نَفْسِهِ يَتَكَيَّفُونَ مَعَ مُجْتَمَعَاتٍ جَدِيدَةٍ. أَمَّا الجِيلُ الثَّانِي فَيَنْتَمِي إِلَى ثَقَافَتَيْنِ، وَيُوَازِنُ بَيْنَهُمَا فِي حَيَاتِهِ اليَوْمِيَّةِ. مِنْ نَاحِيَةٍ يَشْعُرُ بَعْضُهُمْ بِالحَنِينِ وَالغُرْبَةِ، وَمِنْ نَاحِيَةٍ أُخْرَى يَرَوْنَ فِي الهُوِيَّةِ المُزْدَوَجَةِ ثَرْوَةً. وَتَجَارِبُ النَّاسِ مُخْتَلِفَةٌ، فَلَا تُوجَدُ قِصَّةٌ وَاحِدَةٌ تَصِفُ الجَمِيعَ.</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تَعِيشُ</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live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بَحْثًا عَنْ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looking for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هَرَبًا مِنَ الحَرْبِ</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fleeing war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مُتَرَادِفَتَيْنِ</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synonyms (dual)</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إِرْثِهِمُ الثَّقَافِيِّ</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their cultural heritage</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الوَقْتِ نَفْسِهِ</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at the same time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مُجْتَمَعَاتٍ جَدِيدَةٍ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new societies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الغُرْبَةِ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being far from home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ثَرْوَةً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richness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تَصِفُ الجَمِيعَ</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describes everyone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some people arrive?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 holidays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Seeking work or study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 sport</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the two words?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mean the same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Neither is used now</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not synonyms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keep?</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Their language and cultural heritage</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their passports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second generation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Rejects one culture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Belongs to two cultures and balances between them</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Lives entirely apart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point?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Experiences differ; no single story describes everyone</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Everyone has the same experience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one generation matters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did some people arrive?</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 holidays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Seeking work or study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 sport</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وَصَلَ بَعْضُ النَّاسِ مُهَاجِرِينَ بَحْثًا عَنْ عَمَلٍ أَوْ دِرَاسَةٍ.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the two words?</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mean the same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Neither is used now</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are not synonyms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وَالكَلِمَتَانِ لَيْسَتَا مُتَرَادِفَتَيْنِ.</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keep?</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Their language and cultural heritage</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their passports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يَحْتَفِظُ كَثِيرٌ مِنَ الأُسَرِ بِلُغَتِهِمْ وَإِرْثِهِمُ الثَّقَافِيِّ.</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second generation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Rejects one culture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Belongs to two cultures and balances between them</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Lives entirely apart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يَنْتَمِي إِلَى ثَقَافَتَيْنِ، وَيُوَازِنُ بَيْنَهُمَا.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closing point?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Experiences differ; no single story describes everyone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Everyone has the same experience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one generation matters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فَلَا تُوجَدُ قِصَّةٌ وَاحِدَةٌ تَصِفُ الجَمِيعَ.</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Diaspora Mission — Prepositions, Comparison and Nuance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يُوَازِنُ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لُغَتِهَا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بِـ</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“nostalgia”?</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غُرْبَةٌ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انْتِمَاءٌ</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حَنِينٌ</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“roots”?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جُذُورٌ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أَوْطَانٌ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جَالِيَاتٌ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أَكْبَرُ مِنْ مَدِينَتِي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أَكْبَرُ مِنْ مَدِينَتِي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الأَكْبَرُ مِنْ مَدِينَتِي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أَنْتَمِي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بِـ</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يُوَازِنُ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ثَقَافَتَيْهِ</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يُوَازِنُ</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تَحْتَفِظُ</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لُغَتِهَا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بِـ</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“nostalgia”?</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غُرْبَةٌ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انْتِمَاءٌ</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حَنِينٌ</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حَنِينٌ</a:t>
            </a:r>
            <a:pPr algn="l" indent="0" marL="0">
              <a:buNone/>
            </a:pPr>
            <a:r>
              <a:rPr lang="en-US" sz="1050" i="1" dirty="0">
                <a:solidFill>
                  <a:srgbClr val="8A6D1E"/>
                </a:solidFill>
                <a:latin typeface="Calibri" pitchFamily="34" charset="0"/>
                <a:cs typeface="Amiri" pitchFamily="2" charset="-78"/>
              </a:rPr>
              <a:t> is longing for a place or time.</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“roots”?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جُذُورٌ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أَوْطَانٌ</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جَالِيَاتٌ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جُذُورٌ</a:t>
            </a:r>
            <a:pPr algn="l" indent="0" marL="0">
              <a:buNone/>
            </a:pPr>
            <a:r>
              <a:rPr lang="en-US" sz="1050" i="1" dirty="0">
                <a:solidFill>
                  <a:srgbClr val="8A6D1E"/>
                </a:solidFill>
                <a:latin typeface="Calibri" pitchFamily="34" charset="0"/>
                <a:cs typeface="Amiri" pitchFamily="2" charset="-78"/>
              </a:rPr>
              <a:t> are roots.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Comparative: which is accurate?</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أَكْبَرُ مِنْ مَدِينَتِي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أَكْبَرُ مِنْ مَدِينَتِي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الأَكْبَرُ مِنْ مَدِينَتِي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one comparative form with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TE-L09 · Comparing Cultures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TE-L10 · International Life and Global Connections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العَدَالَةُ الدَّوْلِيَّةُ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international justice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القَانُونُ الدَّوْلِيُّ الإِنْسَانِيُّ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international humanitarian law</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ازْدِوَاجِيَّةُ المَعَايِيرِ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double standards</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الإِفْلَاتُ مِنَ العِقَابِ</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impunity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يَرْفُضُ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refuses to</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Should every country follow the same international rules?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صَحِيحٌ أَنَّ لِكُلِّ دَوْلَةٍ سِيَادَتَهَا، غَيْرَ أَنَّ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four verbs with their prepositions; write six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comparison of two cities with both comparatives.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statement on dual identity.</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950" b="1" dirty="0">
                <a:solidFill>
                  <a:srgbClr val="FFFFFF"/>
                </a:solidFill>
                <a:latin typeface="Cambria" pitchFamily="34" charset="0"/>
                <a:cs typeface="Amiri" pitchFamily="2" charset="-78"/>
              </a:rPr>
              <a:t>TE-L10 · International Life and Global Connections</a:t>
            </a:r>
            <a:endParaRPr lang="en-US" sz="19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الحَيَاةُ الدُّوَلِيَّةُ وَالرَّوَابِطُ العَالَمِيَّةُ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TE-L10.</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TE-L09 · Comparing Cultures with Respect</dc:title>
  <dc:subject>PptxGenJS Presentation</dc:subject>
  <dc:creator>Al Madina Online School · Arabic Department</dc:creator>
  <cp:lastModifiedBy>Al Madina Online School · Arabic Department</cp:lastModifiedBy>
  <cp:revision>1</cp:revision>
  <dcterms:created xsi:type="dcterms:W3CDTF">2026-10-11T06:44:20Z</dcterms:created>
  <dcterms:modified xsi:type="dcterms:W3CDTF">2026-10-11T06:44:20Z</dcterms:modified>
</cp:coreProperties>
</file>