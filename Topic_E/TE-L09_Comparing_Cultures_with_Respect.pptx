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TE-L09 — Comparing Cultures with Respect. Website: Advanced Topics › Topic E (The International World) › Lesson 9.
The website builds this lesson on the D6-L05 lesson engine, with the Topic focus “Compare similarities and differences without stereotypes or overgeneralisation.” (grammar: Comparative structures; بينما; أمّا...فـ; skills: Reading · Speaking) and the application challenge “Culture comparison Venn”.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TE-L09. The website lesson “Comparing Countries — Global Connections and the Arab Diaspora”: vocabulary, grammar rules and quiz, patterns, common mistakes, sorter, listening, reading, speaking prompts and model, writing task and model, differentiation, final check and the lesson mission. Picture match: website visual game “Comparing Countries — Global Connections and the Arab Diaspora”.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four diaspora verbs with their prepositions in six sentences about yourself / your family. Develop: one comparative of each type (أَصْغَرُ مِنْ · أَكْثَرُ هُدُوءًا مِنْ) and a contrast with بَيْنَمَا. Stretch: the website 80–90-word comparison closing with a balanced statement on dual identity.
• This topic IS many of our students’ lives (second generation in the UK, families from Pakistan, Somalia, Morocco, Egypt, Iraq …). Invite real examples, but never require anyone to share family history; a fictional family is always acceptable.
• Sensitivity: مُهَاجِرٌ (migrant) and لَاجِئٌ (refugee) are NOT synonyms (website). Speak about refugees with care — some students or families may have this experience.
• TEACHER-WRITTEN ITEMS: English added to the patterns and speaking model; the website flag-based visual game repeats TE-L01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TE-L07. Questions 4–5 retrieve the Topic E verb + preposition habit (TE-L07 · TE-L04).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verbs tell a diaspora story: belong · adapt · keep ·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مہاجر، ہجرت، وطن are shared (and الهِجْرَةُ النَّبَوِيَّةُ is the first Muslim migration). CAREFUL: Urdu غربت = poverty; Arabic غُرْبَةٌ = being a stranger far from home (the poor are فُقَرَاءُ).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(1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(2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(1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(2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(1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(2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four diaspora verbs” (each preposition is fixed and takes the genitive; يُوَازِنُ بَيْنَ is followed by two things joined with وَ). Website teaching point: “Four verbs, four prepositions … the whole arc of diaspora experience: where you belong, how you adjust, what you keep and how you hold both sides at once.”
Website mistakes: أَنْتَمِي مَعَ ✗ · تَحْتَفِظُ الأُسَرُ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“The synthetic comparative” (أَفْعَل + مِنْ + genitive; invariable, no article), “The analytical comparative” (أَكْثَرُ / أَقَلُّ + accusative noun + مِنْ, when there is no أَفْعَل form) and “Contrast and balance”. Website teaching point: “Do not double the comparative.”
Useful pairs: أَكْبَرُ / أَصْغَرُ · أَحَرُّ / أَبْرَدُ · أَكْثَرُ تَنَوُّعًا · أَقَلُّ ازْدِحَامًا.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verbs each with a fixed preposition, and two comparison systems that must not be mixed. Choose one comparative form and keep the noun after مِنْ genitive.”
• The four diaspora verbs: Each preposition is fixed and takes the genitive. يُوَازِنُ بَيْنَ is followed by two things joined with وَ.
• The synthetic comparative: The أَفْعَل form is invariable and never takes the article in this structure.
• The analytical comparative: Use this when there is no أَفْعَل form available. The noun between is accusative.
• Contrast and balance: بَيْنَمَا joins two contrasting clauses; the balanced pair holds two sides of one idea together.
Website common error: Combining both comparative systems — أَكْثَرُ أَكْبَرُ مِنْ. Choose either the أَفْعَل form or أَكْثَرُ with an accusative noun, never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 I have an aFʿAL word (akbar, aṣghar)? If not, aktharu + noun in -an.” Offer students their own family’s cities (Lahore, Mogadishu, Casablanca, Cairo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each diaspora verb with its preposition.
Listen 1: just listen. Listen 2: note answers. Then chat the letters.
Support: after the second listening, show the read-along slide (Arabic + English, line by line) for Core students.
SCRIPT (read aloud):
أَنَا مِنَ الجِيلِ الثَّانِي فِي الجَالِيَةِ العَرَبِيَّةِ هُنَا. وُلِدْتُ فِي هٰذِهِ المَدِينَةِ، وَلٰكِنَّ أُسْرَتِي جَاءَتْ مِنَ المَغْرِبِ قَبْلَ ثَلَاثِينَ سَنَةً. أَنْتَمِي إِلَى ثَقَافَتَيْنِ، وَأُوَازِنُ بَيْنَهُمَا كُلَّ يَوْمٍ. فِي البَيْتِ نَتَحَدَّثُ العَرَبِيَّةَ، بَيْنَمَا أَدْرُسُ وَأَعْمَلُ بِالإِنْجِلِيزِيَّةِ. تَحْتَفِظُ أُمِّي بِعَادَاتِهَا وَبِمَطْبَخِهَا، وَقَدْ تَكَيَّفَتْ مَعَ الحَيَاةِ هُنَا بِسُرْعَةٍ. أَحْيَانًا أَشْعُرُ بِالحَنِينِ إِلَى بَلَدِ أُسْرَتِي، وَمِنْ نَاحِيَةٍ أُخْرَى أُحِبُّ حَيَاتِي هُنَا كَثِيرًا. لَيْسَتِ الهُوِيَّةُ المُزْدَوَجَةُ مُشْكِلَةً؛ هِيَ ثَرْوَةٌ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“Organise shared and different practices in a Venn diagram, then turn the notes into a balanced comparison with similarity and contrast connectors.”
Website Topic E challenge “Culture comparison Venn”. Frame reminder: أَمَّا … فَـ is ONE structure (as for … then …) — write the فَـ on the next word, e.g. أَمَّا فِي بَاكِسْتَانَ فَيُقَدَّمُ الشَّايُ.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تَصِفُ الهُوِيَّةَ المُزْدَوَجَةَ؟ (And how do you describe dual identity?)
B: أَنْتَمِي إِلَى ثَقَافَتَيْنِ وَأُوَازِنُ بَيْنَهُمَا. مِنْ نَاحِيَةٍ أَشْعُرُ بِالحَنِينِ، وَمِنْ نَاحِيَةٍ أُخْرَى أُحِبُّ حَيَاتِي هُنَا. (I belong to two cultures and balance between them. On one hand I feel nostalgia; on the other, I love my life here.)
Website prompts and model. Students may compare their UK city with their family’s city (Arab or not). To a girl: قَارِنِي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using the four verbs with their correct prepositions. · Develop — Add one comparative of each type and a contrast with بَيْنَمَا. · Stretch — Close with a balanced statement on dual identity that avoids reducing it to a single story.
Website writing task (Stretch): Write eighty to ninety words comparing life in two countries, drawing on the diaspora vocabulary. Use at least three of the four verbs with their prepositions, both comparative systems, and a balanced statement about dual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أَنْتَمِي إِلَى · أُوَازِنُ بَيْنَهُمَا · تَحْتَفِظُ … بِعَادَاتِهَا · تَكَيَّفَتْ مَعَ · بَيْنَمَا · أَصْغَرُ مِنَ القَاهِرَةِ · أَكْثَرُ هُدُوءًا مِنْهَا · مِنْ نَاحِيَةٍ … وَمِنْ نَاحِيَةٍ أُخْرَى · لَا تُوجَدُ قِصَّةٌ وَاحِدَةٌ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(TE-L10 · International Life and Global Connections) will spend class time USING this language, so students prepare it tonight — short, simple, easy to access (school guidance: “Simple, Short, Interesting, Relevant, Easy to access”). The five words come from the website TE-L02 vocabulary (Arabic’s global reach).
Follow-up: the next Do Now tests two of these words (Flipped Learning: keep it short AND follow up).
Homework by route (website tasks). No internet? Students copy the five words from this slide into their book now.
TOPIC E: the five words are the ones the TE-L10 Do Now tests (preparation list of the website P5-L04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ea typeface="Cambria" pitchFamily="34" charset="-122"/>
                <a:cs typeface="Cambria" pitchFamily="34" charset="-120"/>
              </a:rPr>
              <a:t>Comparing Cultures with Respect</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مُقَارَنَةُ الثَّقَافَاتِ بِاحْتِرَامٍ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Compare similarities and differences without stereotypes or overgeneralisation.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TE-L09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verbs + prepositions; two comparatives, never mixed.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preposition, fix the double comparative, then a second-generation voice.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جَالِيَةٌ عَرَبِيَّةٌ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Arab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Arab community abroad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الجِيلُ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country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language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جُذُورٌ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branches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borders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roots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بِتَقَالِيدِهَا.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عَلَى تَقَالِيدِهَا.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تَتَمَسَّكُ الأُسْرَةُ تَقَالِيدَهَا.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جَالِيَةٌ عَرَبِيَّةٌ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Arab country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Arab community abroad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 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الجِيلُ الثَّانِي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country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language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جُذُورٌ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branches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borders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roots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تَتَمَسَّكُ الأُسْرَةُ بِتَقَالِيدِهَا.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تَتَمَسَّكُ الأُسْرَةُ عَلَى تَقَالِيدِهَا.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تَتَمَسَّكُ الأُسْرَةُ تَقَالِيدَهَا.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Four verbs tell a diaspora story: belong · adapt · keep · balance.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أَنْتَمِي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أَتَكَيَّفُ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أَحْتَفِظُ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أُوَازِنُ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يَنْتَمِي إِلَى</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يَتَكَيَّفُ مَعَ</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يَحْتَفِظُ بِـ</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يُوَازِنُ بَيْنَ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أَفْعَلُ مِنْ</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أَكْبَرُ 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with </a:t>
            </a:r>
            <a:pPr algn="l" indent="0" marL="0">
              <a:buNone/>
            </a:pPr>
            <a:r>
              <a:rPr lang="ar-SA" altLang="en-US" sz="1700" dirty="0">
                <a:solidFill>
                  <a:srgbClr val="1F2A37"/>
                </a:solidFill>
                <a:latin typeface="Amiri" pitchFamily="34" charset="0"/>
                <a:ea typeface="Amiri" pitchFamily="34" charset="-122"/>
                <a:cs typeface="Amiri" pitchFamily="34" charset="-120"/>
              </a:rPr>
              <a:t>أَكْثَرُ / أَقَلُّ</a:t>
            </a:r>
            <a:pPr algn="l" indent="0" marL="0">
              <a:buNone/>
            </a:pPr>
            <a:r>
              <a:rPr lang="en-US" sz="1300" dirty="0">
                <a:solidFill>
                  <a:srgbClr val="1F2A37"/>
                </a:solidFill>
                <a:latin typeface="Calibri" pitchFamily="34" charset="0"/>
                <a:ea typeface="Calibri" pitchFamily="34" charset="-122"/>
                <a:cs typeface="Calibri" pitchFamily="34" charset="-120"/>
              </a:rPr>
              <a:t> + accusative noun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dual identity in a balanced, non-simplified way.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I and my family belong.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four verbs with their prepositions.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cities with </a:t>
            </a:r>
            <a:pPr algn="l" indent="0" marL="0">
              <a:buNone/>
            </a:pPr>
            <a:r>
              <a:rPr lang="ar-SA" altLang="en-US" sz="1700" b="1" dirty="0">
                <a:solidFill>
                  <a:srgbClr val="C9780A"/>
                </a:solidFill>
                <a:latin typeface="Amiri" pitchFamily="34" charset="0"/>
                <a:ea typeface="Amiri" pitchFamily="34" charset="-122"/>
                <a:cs typeface="Amiri" pitchFamily="34" charset="-120"/>
              </a:rPr>
              <a:t>أَكْبَرُ مِنْ / أَكْثَرُ … 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home and school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dual identity in a balanced way.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t>
            </a:r>
            <a:pPr algn="l" indent="0" marL="0">
              <a:buNone/>
            </a:pPr>
            <a:r>
              <a:rPr lang="ar-SA" altLang="en-US" sz="1700" b="1" dirty="0">
                <a:solidFill>
                  <a:srgbClr val="B83227"/>
                </a:solidFill>
                <a:latin typeface="Amiri" pitchFamily="34" charset="0"/>
                <a:ea typeface="Amiri" pitchFamily="34" charset="-122"/>
                <a:cs typeface="Amiri" pitchFamily="34" charset="-120"/>
              </a:rPr>
              <a:t>مُهَاجِرٌ</a:t>
            </a:r>
            <a:pPr algn="l" indent="0" marL="0">
              <a:buNone/>
            </a:pPr>
            <a:r>
              <a:rPr lang="en-US" sz="1300" b="1" dirty="0">
                <a:solidFill>
                  <a:srgbClr val="B83227"/>
                </a:solidFill>
                <a:latin typeface="Calibri" pitchFamily="34" charset="0"/>
                <a:ea typeface="Calibri" pitchFamily="34" charset="-122"/>
                <a:cs typeface="Calibri" pitchFamily="34" charset="-120"/>
              </a:rPr>
              <a:t> vs </a:t>
            </a:r>
            <a:pPr algn="l" indent="0" marL="0">
              <a:buNone/>
            </a:pPr>
            <a:r>
              <a:rPr lang="ar-SA" altLang="en-US" sz="1700" b="1" dirty="0">
                <a:solidFill>
                  <a:srgbClr val="B83227"/>
                </a:solidFill>
                <a:latin typeface="Amiri" pitchFamily="34" charset="0"/>
                <a:ea typeface="Amiri" pitchFamily="34" charset="-122"/>
                <a:cs typeface="Amiri" pitchFamily="34" charset="-120"/>
              </a:rPr>
              <a:t>لَاجِئٌ</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communities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Belonging and identity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Verbs and comparison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مُهَاجِرٌ / هِجْرَةٌ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‎مہاجر / ہجرت‎ </a:t>
            </a:r>
            <a:pPr indent="0" marL="0">
              <a:buNone/>
            </a:pPr>
            <a:r>
              <a:rPr lang="en-US" sz="950" b="1" dirty="0">
                <a:solidFill>
                  <a:srgbClr val="2E8B57"/>
                </a:solidFill>
                <a:latin typeface="Calibri" pitchFamily="34" charset="0"/>
                <a:ea typeface="Calibri" pitchFamily="34" charset="-122"/>
                <a:cs typeface="Calibri" pitchFamily="34" charset="-120"/>
              </a:rPr>
              <a:t> muhājir / hijrat · migrant / migration (also the Prophet’s Hijra)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وَطَنٌ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‎وطن‎ </a:t>
            </a:r>
            <a:pPr indent="0" marL="0">
              <a:buNone/>
            </a:pPr>
            <a:r>
              <a:rPr lang="en-US" sz="950" b="1" dirty="0">
                <a:solidFill>
                  <a:srgbClr val="2E8B57"/>
                </a:solidFill>
                <a:latin typeface="Calibri" pitchFamily="34" charset="0"/>
                <a:ea typeface="Calibri" pitchFamily="34" charset="-122"/>
                <a:cs typeface="Calibri" pitchFamily="34" charset="-120"/>
              </a:rPr>
              <a:t> waṭan · homeland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‎غربت / پردیس‎ </a:t>
            </a:r>
            <a:pPr indent="0" marL="0">
              <a:buNone/>
            </a:pPr>
            <a:r>
              <a:rPr lang="en-US" sz="950" b="1" dirty="0">
                <a:solidFill>
                  <a:srgbClr val="2E8B57"/>
                </a:solidFill>
                <a:latin typeface="Calibri" pitchFamily="34" charset="0"/>
                <a:ea typeface="Calibri" pitchFamily="34" charset="-122"/>
                <a:cs typeface="Calibri" pitchFamily="34" charset="-120"/>
              </a:rPr>
              <a:t> pardēs · Urdu غربت: poverty · Arabic غُرْبَةٌ: being far from home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حَنِينٌ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‎یاد / تڑپ‎ </a:t>
            </a:r>
            <a:pPr indent="0" marL="0">
              <a:buNone/>
            </a:pPr>
            <a:r>
              <a:rPr lang="en-US" sz="950" b="1" dirty="0">
                <a:solidFill>
                  <a:srgbClr val="2E8B57"/>
                </a:solidFill>
                <a:latin typeface="Calibri" pitchFamily="34" charset="0"/>
                <a:ea typeface="Calibri" pitchFamily="34" charset="-122"/>
                <a:cs typeface="Calibri" pitchFamily="34" charset="-120"/>
              </a:rPr>
              <a:t> yād · longing, nostalgia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جِنْسِيَّةٌ مُزْدَوَجَةٌ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‎دوہری شہریت‎ </a:t>
            </a:r>
            <a:pPr indent="0" marL="0">
              <a:buNone/>
            </a:pPr>
            <a:r>
              <a:rPr lang="en-US" sz="950" b="1" dirty="0">
                <a:solidFill>
                  <a:srgbClr val="2E8B57"/>
                </a:solidFill>
                <a:latin typeface="Calibri" pitchFamily="34" charset="0"/>
                <a:ea typeface="Calibri" pitchFamily="34" charset="-122"/>
                <a:cs typeface="Calibri" pitchFamily="34" charset="-120"/>
              </a:rPr>
              <a:t> dohrī shahriyat · dual nationality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communities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جَالِيَةٌ 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Arab community abroad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jā-li-ya-tun ʿa-ra-biy-ya-tun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جَالِيَاتٌ عَرَبِيَّةٌ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مُهَاجِرٌ / مُهَاجِرَةٌ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migrant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mu-hā-ji-run / mu-hā-ji-ra-tun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مُهَاجِرُونَ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لَاجِئٌ / لَاجِئَةٌ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refugee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lā-ji-ʾun / lā-ji-ʾa-tun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لَاجِئُونَ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مُوَاطِنٌ / مُوَاطِنَةٌ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citizen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mu-wā-ṭi-nun / mu-wā-ṭi-na-tun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مُوَاطِنُونَ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communities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الشَّتَاتُ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diaspora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ash-sha-tā-tu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فِي الشَّتَاتِ</a:t>
            </a:r>
            <a:pPr algn="l" indent="0" marL="0">
              <a:buNone/>
            </a:pPr>
            <a:r>
              <a:rPr lang="en-US" sz="1000" i="1" dirty="0">
                <a:solidFill>
                  <a:srgbClr val="8A6D1E"/>
                </a:solidFill>
                <a:latin typeface="Calibri" pitchFamily="34" charset="0"/>
                <a:ea typeface="Calibri" pitchFamily="34" charset="-122"/>
                <a:cs typeface="Calibri" pitchFamily="34" charset="-120"/>
              </a:rPr>
              <a:t> — in the diaspora.</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4" name="Shape 2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الجِيلُ الثَّانِي</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second generation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al-jī-lu ath-thā-nī</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مُتَعَدِّدُ الثَّقَافَاتِ</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multicultural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mu-ta-ʿad-di-du ath-tha-qā-fā-ti</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مُزْدَوَجُ الجِنْسِيَّةِ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 dual 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muz-da-wa-ju al-jin-siy-ya-ti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Belonging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الانْتِمَاءُ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aln-ti-mā-ʾu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هُوِيَّةٌ مُزْدَوَجَةٌ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dual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hu-wiy-ya-tun muz-da-wa-ja-tun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Shape 3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جِذْرٌ.</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جُذُورٌ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ju-dhū-run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إِرْثٌ ثَقَافِيٌّ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ir-thun tha-qā-fiy-yun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حَنِينٌ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nostalgia, longing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ḥa-nī-nun</a:t>
            </a:r>
            <a:endParaRPr lang="en-US" sz="1350" dirty="0"/>
          </a:p>
        </p:txBody>
      </p:sp>
      <p:sp>
        <p:nvSpPr>
          <p:cNvPr id="52" name="Text 4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Masculine; </a:t>
            </a:r>
            <a:pPr algn="l" indent="0" marL="0">
              <a:buNone/>
            </a:pPr>
            <a:r>
              <a:rPr lang="ar-SA" altLang="en-US" sz="1300" dirty="0">
                <a:solidFill>
                  <a:srgbClr val="8A6D1E"/>
                </a:solidFill>
                <a:latin typeface="Amiri" pitchFamily="34" charset="0"/>
                <a:ea typeface="Amiri" pitchFamily="34" charset="-122"/>
                <a:cs typeface="Amiri" pitchFamily="34" charset="-120"/>
              </a:rPr>
              <a:t>حَنِينٌ إِلَى الوَطَنِ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Belonging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being far from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ghur-ba-tun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Feminine; the feeling of living away.</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الحِفَاظُ عَلَى الهُوِيَّةِ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preserving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al-ḥi-fā-ẓu ʿa-lā al-hu-wiy-ya-ti</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انْصِهَارٌ ثَقَافِيٌّ</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assimilation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an-ṣi-hā-run tha-qā-fiy-yun</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أَوْطَانٌ.</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وَطَنٌ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wa-ṭa-nun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retains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اِحْتَفَظَ</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أَحْتَفِظُ</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يُوَازِنُ بَيْنَ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yu-wā-zi-nu bay-na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وَازَنَ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أُوَازِنُ</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يَشْعُرُ بِـ</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yash-ʿu-ru bi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شَعَرَ</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أَشْعُرُ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Verbs and comparison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أَقَلُّ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less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a-qal-lu min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analytical comparative.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أَكْبَرُ مِنْ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bigger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ak-ba-ru min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synthetic </a:t>
            </a:r>
            <a:pPr algn="l" indent="0" marL="0">
              <a:buNone/>
            </a:pPr>
            <a:r>
              <a:rPr lang="ar-SA" altLang="en-US" sz="1300" dirty="0">
                <a:solidFill>
                  <a:srgbClr val="8A6D1E"/>
                </a:solidFill>
                <a:latin typeface="Amiri" pitchFamily="34" charset="0"/>
                <a:ea typeface="Amiri" pitchFamily="34" charset="-122"/>
                <a:cs typeface="Amiri" pitchFamily="34" charset="-120"/>
              </a:rPr>
              <a:t>أَفْعَل</a:t>
            </a:r>
            <a:pPr algn="l" indent="0" marL="0">
              <a:buNone/>
            </a:pPr>
            <a:r>
              <a:rPr lang="en-US" sz="1000" i="1" dirty="0">
                <a:solidFill>
                  <a:srgbClr val="8A6D1E"/>
                </a:solidFill>
                <a:latin typeface="Calibri" pitchFamily="34" charset="0"/>
                <a:ea typeface="Calibri" pitchFamily="34" charset="-122"/>
                <a:cs typeface="Calibri" pitchFamily="34" charset="-120"/>
              </a:rPr>
              <a:t> form.</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Joins two contrasting clauses.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FOUR DIASPORA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Belong, adapt, keep,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أَنْتَمِي · أَتَكَيَّفُ · أَحْتَفِظُ · أُوَازِنُ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belongs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أَنْتَمِي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ثَقَافَتَيْنِ.</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belong to two cultures.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adapts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تَكَيَّفَتْ أُمِّي </a:t>
            </a:r>
            <a:pPr rtl="1" algn="ctr" indent="0" marL="0">
              <a:buNone/>
            </a:pPr>
            <a:r>
              <a:rPr lang="ar-SA" altLang="en-US" sz="1950" b="1" dirty="0">
                <a:solidFill>
                  <a:srgbClr val="D6336C"/>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الحَيَاةِ هُنَا بِسُرْعَةٍ.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mother adapted to life here quickly.</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يَتَكَيَّفُ </a:t>
            </a:r>
            <a:pPr rtl="1" algn="ctr" indent="0" marL="0">
              <a:buNone/>
            </a:pPr>
            <a:r>
              <a:rPr lang="ar-SA" altLang="en-US" sz="2200" b="1" dirty="0">
                <a:solidFill>
                  <a:srgbClr val="D6336C"/>
                </a:solidFill>
                <a:latin typeface="Amiri" pitchFamily="34" charset="0"/>
                <a:ea typeface="Amiri" pitchFamily="34" charset="-122"/>
                <a:cs typeface="Amiri" pitchFamily="34" charset="-120"/>
              </a:rPr>
              <a:t>مَعَ</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تَحْتَفِظُ الأُسَرُ </a:t>
            </a:r>
            <a:pPr rtl="1" algn="ctr" indent="0" marL="0">
              <a:buNone/>
            </a:pPr>
            <a:r>
              <a:rPr lang="ar-SA" altLang="en-US" sz="1950" b="1" dirty="0">
                <a:solidFill>
                  <a:srgbClr val="1D5FBF"/>
                </a:solidFill>
                <a:latin typeface="Amiri" pitchFamily="34" charset="0"/>
                <a:ea typeface="Amiri" pitchFamily="34" charset="-122"/>
                <a:cs typeface="Amiri" pitchFamily="34" charset="-120"/>
              </a:rPr>
              <a:t>بِلُغَتِهَا</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Families keep their language.</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يَحْتَفِظُ </a:t>
            </a:r>
            <a:pPr rtl="1" algn="ctr" indent="0" marL="0">
              <a:buNone/>
            </a:pPr>
            <a:r>
              <a:rPr lang="ar-SA" altLang="en-US" sz="2200" b="1" dirty="0">
                <a:solidFill>
                  <a:srgbClr val="1D5FBF"/>
                </a:solidFill>
                <a:latin typeface="Amiri" pitchFamily="34" charset="0"/>
                <a:ea typeface="Amiri" pitchFamily="34" charset="-122"/>
                <a:cs typeface="Amiri" pitchFamily="34" charset="-120"/>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balances</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أُوَازِنُ </a:t>
            </a:r>
            <a:pPr rtl="1" algn="ctr" indent="0" marL="0">
              <a:buNone/>
            </a:pPr>
            <a:r>
              <a:rPr lang="ar-SA" altLang="en-US" sz="1950" b="1" dirty="0">
                <a:solidFill>
                  <a:srgbClr val="0E7C86"/>
                </a:solidFill>
                <a:latin typeface="Amiri" pitchFamily="34" charset="0"/>
                <a:ea typeface="Amiri" pitchFamily="34" charset="-122"/>
                <a:cs typeface="Amiri" pitchFamily="34" charset="-120"/>
              </a:rPr>
              <a:t>بَيْنَ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اللُّغَتَيْنِ وَالعَادَتَيْنِ.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balance between the two languages and customs.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يُوَازِنُ </a:t>
            </a:r>
            <a:pPr rtl="1" algn="ctr" indent="0" marL="0">
              <a:buNone/>
            </a:pPr>
            <a:r>
              <a:rPr lang="ar-SA" altLang="en-US" sz="2200" b="1" dirty="0">
                <a:solidFill>
                  <a:srgbClr val="0E7C86"/>
                </a:solidFill>
                <a:latin typeface="Amiri" pitchFamily="34" charset="0"/>
                <a:ea typeface="Amiri" pitchFamily="34" charset="-122"/>
                <a:cs typeface="Amiri" pitchFamily="34" charset="-120"/>
              </a:rPr>
              <a:t>بَيْنَ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feels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أَشْعُرُ </a:t>
            </a:r>
            <a:pPr rtl="1" algn="ctr" indent="0" marL="0">
              <a:buNone/>
            </a:pPr>
            <a:r>
              <a:rPr lang="ar-SA" altLang="en-US" sz="1950" b="1" dirty="0">
                <a:solidFill>
                  <a:srgbClr val="1D5FBF"/>
                </a:solidFill>
                <a:latin typeface="Amiri" pitchFamily="34" charset="0"/>
                <a:ea typeface="Amiri" pitchFamily="34" charset="-122"/>
                <a:cs typeface="Amiri" pitchFamily="34" charset="-120"/>
              </a:rPr>
              <a:t>بِالحَنِينِ</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feel nostalgia.</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يَشْعُرُ </a:t>
            </a:r>
            <a:pPr rtl="1" algn="ctr" indent="0" marL="0">
              <a:buNone/>
            </a:pPr>
            <a:r>
              <a:rPr lang="ar-SA" altLang="en-US" sz="2200" b="1" dirty="0">
                <a:solidFill>
                  <a:srgbClr val="1D5FBF"/>
                </a:solidFill>
                <a:latin typeface="Amiri" pitchFamily="34" charset="0"/>
                <a:ea typeface="Amiri" pitchFamily="34" charset="-122"/>
                <a:cs typeface="Amiri" pitchFamily="34" charset="-120"/>
              </a:rPr>
              <a:t>بِـ</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preposition the noun is genitive: </a:t>
            </a:r>
            <a:pPr algn="l" indent="0" marL="0">
              <a:buNone/>
            </a:pPr>
            <a:r>
              <a:rPr lang="ar-SA" altLang="en-US" sz="1500" b="1" dirty="0">
                <a:solidFill>
                  <a:srgbClr val="1B3B6F"/>
                </a:solidFill>
                <a:latin typeface="Amiri" pitchFamily="34" charset="0"/>
                <a:ea typeface="Amiri" pitchFamily="34" charset="-122"/>
                <a:cs typeface="Amiri" pitchFamily="34" charset="-120"/>
              </a:rPr>
              <a:t>إِلَى ثَقَافَتَيْنِ</a:t>
            </a:r>
            <a:pPr algn="l" indent="0" marL="0">
              <a:buNone/>
            </a:pPr>
            <a:r>
              <a:rPr lang="en-US" sz="1150" b="1" dirty="0">
                <a:solidFill>
                  <a:srgbClr val="1B3B6F"/>
                </a:solidFill>
                <a:latin typeface="Calibri" pitchFamily="34" charset="0"/>
                <a:ea typeface="Calibri" pitchFamily="34" charset="-122"/>
                <a:cs typeface="Calibri" pitchFamily="34" charset="-120"/>
              </a:rPr>
              <a:t> (dual) · </a:t>
            </a:r>
            <a:pPr algn="l" indent="0" marL="0">
              <a:buNone/>
            </a:pPr>
            <a:r>
              <a:rPr lang="ar-SA" altLang="en-US" sz="1500" b="1" dirty="0">
                <a:solidFill>
                  <a:srgbClr val="1B3B6F"/>
                </a:solidFill>
                <a:latin typeface="Amiri" pitchFamily="34" charset="0"/>
                <a:ea typeface="Amiri" pitchFamily="34" charset="-122"/>
                <a:cs typeface="Amiri" pitchFamily="34" charset="-120"/>
              </a:rPr>
              <a:t>بِلُغَتِهَا</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مَعَ الحَيَاةِ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TWO WAYS TO COMPARE — NEVER BOTH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Bigger than — or more peaceful than?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aFʿAL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أَكْبَرُ مِنْ · أَصْغَرُ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لَنْدَنُ أَكْبَرُ مِنْ مَدِينَتِي.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London is bigger than my city.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word: akbar.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aktharu + NOUN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هُدُوءًا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مَدِينَتُنَا أَكْثَرُ هُدُوءًا مِنَ القَاهِرَةِ.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Our city is calmer than Cairo.</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Noun in -an.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أَشْعُرُ بِالحَنِينِ، وَمِنْ نَاحِيَةٍ أُخْرَى أُحِبُّ حَيَاتِي هُنَا.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I feel nostalgia; on the other, I love my life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sides.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only one comparative at a time.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أَكْبَرُ مِنْ غَيْرِهِ</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أَكْثَرُ أَكْبَرُ مِنْ غَيْرِهِ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Belonging, adaptation and comparison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الانْتِمَاءُ وَالتَّكَيُّفُ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 four diaspora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يَنْتَمِي إِلَى · يَتَكَيَّفُ مَعَ · يَحْتَفِظُ بِـ · يُوَازِنُ بَيْنَ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أَنْتَمِي إِلَى ثَقَافَتَيْنِ   ·   تُوَازِنُ بَيْنَ اللُّغَتَيْنِ وَالعَادَتَيْنِ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synthetic comparative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أَفْعَل</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مِنْ</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لَنْدَنُ أَكْبَرُ مِنْ مَدِينَتِي   ·   الطَّقْسُ هُنَاكَ أَحَرُّ مِنْ هُنَا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The analytical comparative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أَكْثَرُ / أَقَلُّ</a:t>
            </a:r>
            <a:pPr algn="l" indent="0" marL="0">
              <a:buNone/>
            </a:pPr>
            <a:r>
              <a:rPr lang="en-US" sz="1050" dirty="0">
                <a:solidFill>
                  <a:srgbClr val="5A6472"/>
                </a:solidFill>
                <a:latin typeface="Calibri" pitchFamily="34" charset="0"/>
                <a:ea typeface="Calibri" pitchFamily="34" charset="-122"/>
                <a:cs typeface="Calibri" pitchFamily="34" charset="-120"/>
              </a:rPr>
              <a:t> + accusative noun + </a:t>
            </a:r>
            <a:pPr algn="l" indent="0" marL="0">
              <a:buNone/>
            </a:pPr>
            <a:r>
              <a:rPr lang="ar-SA" altLang="en-US" sz="1350" dirty="0">
                <a:solidFill>
                  <a:srgbClr val="5A6472"/>
                </a:solidFill>
                <a:latin typeface="Amiri" pitchFamily="34" charset="0"/>
                <a:ea typeface="Amiri" pitchFamily="34" charset="-122"/>
                <a:cs typeface="Amiri" pitchFamily="34" charset="-120"/>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الحَيُّ أَكْثَرُ تَنَوُّعًا مِنْ غَيْرِهِ   ·   المَدِينَةُ أَقَلُّ هُدُوءًا مِنَ القَرْيَةِ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مِنْ نَاحِيَةٍ … وَمِنْ نَاحِيَةٍ أُخْرَى</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أَتَحَدَّثُ العَرَبِيَّةَ فِي البَيْتِ، بَيْنَمَا أَدْرُسُ بِالإِنْجِلِيزِيَّةِ   ·   مِنْ نَاحِيَةٍ أَشْعُرُ بِالحَنِينِ، وَمِنْ نَاحِيَةٍ أُخْرَى أُحِبُّ حَيَاتِي هُنَا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___ لُغَتِهَا.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أَكْثَرُ أَكْبَرُ مِنْ مَدِينَتِي.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أَكْبَرُ مِنْ مَدِينَتِي.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لَنْدَنُ الأَكْبَرُ مِنْ مَدِينَتِي.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analytical comparative.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تَنَوُّعًا مِنْ غَيْرِهِ.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تَنَوُّعٌ مِنْ غَيْرِهِ.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الحَيُّ أَكْثَرُ مُتَنَوِّعٌ مِنْ غَيْرِهِ.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___ لُغَتِهَا.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أَكْثَرُ أَكْبَرُ مِنْ مَدِينَتِي.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لَنْدَنُ أَكْبَرُ مِنْ مَدِينَتِي.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لَنْدَنُ الأَكْبَرُ مِنْ مَدِينَتِي.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one comparative form;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takes no article in this structure.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analytical comparative.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الحَيُّ أَكْثَرُ تَنَوُّعًا مِنْ غَيْرِهِ.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الحَيُّ أَكْثَرُ تَنَوُّعٌ مِنْ غَيْرِهِ.</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الحَيُّ أَكْثَرُ مُتَنَوِّعٌ مِنْ غَيْرِهِ.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between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describe living between two places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Belong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أَنْتَمِي </a:t>
            </a:r>
            <a:pPr rtl="1" algn="ctr" indent="0" marL="0">
              <a:buNone/>
            </a:pPr>
            <a:r>
              <a:rPr lang="ar-SA" altLang="en-US" sz="28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800" b="1" dirty="0">
                <a:solidFill>
                  <a:srgbClr val="1B3B6F"/>
                </a:solidFill>
                <a:latin typeface="Amiri" pitchFamily="34" charset="0"/>
                <a:ea typeface="Amiri" pitchFamily="34" charset="-122"/>
                <a:cs typeface="Amiri" pitchFamily="34" charset="-120"/>
              </a:rPr>
              <a:t> ثَقَافَتَيْنِ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intamā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نَتَحَدَّثُ العَرَبِيَّةَ،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أَدْرُسُ بِالإِنْجِلِيزِيَّةِ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Home vs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أَصْغَرُ مِنْ · </a:t>
            </a:r>
            <a:pPr rtl="1" algn="ctr" indent="0" marL="0">
              <a:buNone/>
            </a:pPr>
            <a:r>
              <a:rPr lang="ar-SA" altLang="en-US" sz="2100" b="1" dirty="0">
                <a:solidFill>
                  <a:srgbClr val="D6336C"/>
                </a:solidFill>
                <a:latin typeface="Amiri" pitchFamily="34" charset="0"/>
                <a:ea typeface="Amiri" pitchFamily="34" charset="-122"/>
                <a:cs typeface="Amiri" pitchFamily="34" charset="-120"/>
              </a:rPr>
              <a:t>أَكْثَرُ هُدُوءًا</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at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feelings.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أَنَا مِنَ الجِيلِ الثَّانِي فِي الجَالِيَةِ العَرَبِيَّةِ. أَنْتَمِي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ثَقَافَتَيْنِ، وَأُوَازِنُ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بَيْنَهُمَا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يَوْمٍ. فِي البَيْتِ نَتَحَدَّثُ العَرَبِيَّةَ،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أَدْرُسُ بِالإِنْجِلِيزِيَّةِ. مَدِينَتُنَا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أَصْغَرُ 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القَاهِرَةِ، وَلٰكِنَّهَا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أَكْثَرُ هُدُوءًا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am from the second generation of the Arab community. I belong to two cultures and balance between them every day. At home we speak Arabic, whereas I study in English. Our city is smaller than Cairo, but it is calmer.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أَنْتَمِي إِلَى ثَقَافَتَيْنِ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belong to two cultures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إِلَى is fixed with يَنْتَمِي; ثَقَافَتَيْنِ is the dual.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لَنْدَنُ أَكْبَرُ مِنْ مَدِينَتِي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London is bigger than my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One comparative form, and a genitive after مِنْ.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أَكْثَرُ تَنَوُّعًا مِنْ غَيْرِهِ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more diverse than others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noun between أَكْثَرُ and مِنْ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“COMPARE CULTURES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 B: hospitality</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8"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coffee · B tea</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balanced comparison</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الْعَادَاتُ فِي نَوْعِ الْمَشْرُوبِ الَّذِي يُقَدَّمُ لِلضُّيُوفِ.</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أَنْ نُقَارِنَ مِنْ دُونِ الْحُكْمِ عَلَى أَيِّ ثَقَافَةٍ بِأَنَّهَا أَفْضَلُ.</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تَتَشَابَهُ الثَّقَافَتَانِ فِي أَهَمِّيَّةِ الضِّيَافَةِ.</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 B: hospitality</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تَتَشَابَهُ الثَّقَافَتَانِ فِي أَهَمِّيَّةِ الضِّيَافَةِ.</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two cultures are similar in the importance of hospitality.</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3"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coffee · B tea</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الْعَادَاتُ فِي نَوْعِ الْمَشْرُوبِ الَّذِي يُقَدَّمُ لِلضُّيُوفِ.</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customs differ in the kind of drink served to guests.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balanced comparison</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أَنْ نُقَارِنَ مِنْ دُونِ الْحُكْمِ عَلَى أَيِّ ثَقَافَةٍ بِأَنَّهَا أَفْضَلُ.</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compare without judging any culture as better.</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يُوَازِنُ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يَتَفَاعَلُ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يَشْعُرُ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إِلَى / بَيْنَ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إِلَى / بَيْنَ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يُوَازِنُ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مَعَ</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يَتَفَاعَلُ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يَشْعُرُ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تَتَكَيَّفُ الجَالِيَاتُ ___ الحَيَاةِ الجَدِيدَةِ.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يُوَازِنُ الشَّابُّ ___ ثَقَافَتَيْهِ.</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مُهَاجِرٌ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لَاجِئٌ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exactly the same thing.</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migrant moved to live elsewhere; a refugee left because of danger.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refugee is someone on holiday.</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description of dual identity.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الهُوِيَّةُ المُزْدَوَجَةُ مُشْكِلَةٌ دَائِمًا.</a:t>
            </a:r>
            <a:endParaRPr lang="ar-SA" sz="18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يُمْكِنُ أَنْ يَنْتَمِيَ الإِنْسَانُ إِلَى ثَقَافَتَيْنِ.</a:t>
            </a:r>
            <a:endParaRPr lang="ar-SA" sz="18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مِنْ نَاحِيَةٍ أَشْعُرُ بِالحَنِينِ، وَمِنْ نَاحِيَةٍ أُخْرَى أُحِبُّ حَيَاتِي هُنَا.</a:t>
            </a:r>
            <a:endParaRPr lang="ar-SA" sz="18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تَتَكَيَّفُ الجَالِيَاتُ ___ الحَيَاةِ الجَدِيدَةِ.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يُوَازِنُ الشَّابُّ ___ ثَقَافَتَيْهِ.</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يُوَازِنُ</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مُهَاجِرٌ</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لَاجِئٌ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exactly the same thing.</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migrant moved to live elsewhere; a refugee left because of danger.</a:t>
            </a:r>
            <a:endParaRPr lang="en-US" sz="11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refugee is someone on holiday.</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words describe different situations and should not be swapped.</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description of dual identity.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الهُوِيَّةُ المُزْدَوَجَةُ مُشْكِلَةٌ دَائِمًا.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يُمْكِنُ أَنْ يَنْتَمِيَ الإِنْسَانُ إِلَى ثَقَافَتَيْنِ.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أَشْعُرُ بِالحَنِينِ، وَمِنْ نَاحِيَةٍ أُخْرَى أُحِبُّ حَيَاتِي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balanced pair holds both feelings together rather than treating one as a problem.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أَنْتَمِي مَعَ ثَقَافَتَيْنِ.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intamā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الحَيُّ أَكْثَرُ أَكْبَرُ مِنْ غَيْرِهِ.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comparatives? Choose one!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تَحْتَفِظُ الأُسَرُ عَلَى لُغَتِهَا.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iḥtafaẓa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أَنْتَمِي مَعَ ثَقَافَتَيْنِ.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أَنْتَمِي إِلَى ثَقَافَتَيْنِ.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يَنْتَمِي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الحَيُّ أَكْثَرُ أَكْبَرُ مِنْ غَيْرِهِ.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الحَيُّ أَكْبَرُ مِنْ غَيْرِهِ.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one comparative structure may be used at a time.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تَحْتَفِظُ الأُسَرُ عَلَى لُغَتِهَا.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تَحْتَفِظُ الأُسَرُ بِلُغَتِهَا.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يَحْتَفِظُ</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growing up between two places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generation does the speaker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recent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family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years ago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Thirty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is used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equally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mother keep?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customs and her cooking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her language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from before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dual identity?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permanent difficulty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 problem, but a richness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Something to be chosen 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speaker, two places.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أَنَا مِنَ الجِيلِ الثَّانِي فِي الجَالِيَةِ العَرَبِيَّةِ هُنَا. وُلِدْتُ فِي هٰذِهِ المَدِينَةِ، وَلٰكِنَّ أُسْرَتِي جَاءَتْ مِنَ المَغْرِبِ قَبْلَ ثَلَاثِينَ سَنَةً.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the second generation of the Arab community here. I was born in this city, but my family came from Morocco thirty years ago.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أَنْتَمِي إِلَى ثَقَافَتَيْنِ، وَأُوَازِنُ بَيْنَهُمَا كُلَّ يَوْمٍ. فِي البَيْتِ نَتَحَدَّثُ العَرَبِيَّةَ، بَيْنَمَا أَدْرُسُ وَأَعْمَلُ بِالإِنْجِلِيزِيَّةِ.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belong to two cultures and balance between them every day. At home we speak Arabic, whereas I study and work in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تَحْتَفِظُ أُمِّي بِعَادَاتِهَا وَبِمَطْبَخِهَا، وَقَدْ تَكَيَّفَتْ مَعَ الحَيَاةِ هُنَا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mother keeps her customs and her cooking, and she adapted to life here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أَحْيَانًا أَشْعُرُ بِالحَنِينِ إِلَى بَلَدِ أُسْرَتِي، وَمِنْ نَاحِيَةٍ أُخْرَى أُحِبُّ حَيَاتِي هُنَا كَثِيرًا.</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longing for my family’s country, and on the other hand I love my life here very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لَيْسَتِ الهُوِيَّةُ المُزْدَوَجَةُ مُشْكِلَةً؛ هِيَ ثَرْوَةٌ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Dual identity is not a problem — in my opinion it is a richness.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generation does the speaker belong to?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 generation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recent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مِنَ الجِيلِ الثَّانِي فِي الجَالِيَةِ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 family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years ago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Thirty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المَغْرِبِ قَبْلَ ثَلَاثِينَ سَنَةً.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language is used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equally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البَيْتِ نَتَحَدَّثُ العَرَبِيَّةَ، بَيْنَمَا أَدْرُسُ … بِالإِنْجِلِيزِيَّةِ.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mother keep?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customs and her cooking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her language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from before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تَحْتَفِظُ أُمِّي بِعَادَاتِهَا وَبِمَطْبَخِهَا.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dual identity?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permanent difficulty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a problem, but a richness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Something to be chosen 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لَيْسَتِ الهُوِيَّةُ المُزْدَوَجَةُ مُشْكِلَةً؛ هِيَ ثَرْوَةٌ فِي رَأْيِي.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One speaker, two places.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Culture comparison Venn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Culture comparison Venn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Organise shared and different practices in a Venn diagram, then turn the notes into a balanced comparison with similarity and contrast connectors.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Draw a Venn diagram: culture A · culture B · shared.</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6 practices (food, greetings, family, celebrations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 the notes into a balanced comparison: one similarity, two differences.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no stereotype, no “better / worse”.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Fill the Venn; one sentence with “kilāhumā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comparison with “baynamā” and “ammā … fa-”.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paragraph with a hedge (fī baʿḍ al-usar) and a conclusion.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تَتَشَابَهُ الثَّقَافَتَانِ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two cultures are similar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أَمَّا فِي بَاكِسْتَانَ فَيُقَدَّمُ الشَّايُ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as for Pakistan, tea is served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بَعْضِ الأُسَرِ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 some families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comparing two places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مَدِينَتِكَ وَمَدِينَةٍ عَرَبِيَّةٍ. اِسْتَعْمِلْ أَفْعَل وَأَكْثَرُ مِنْ.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تَحْتَفِظُ بِهِ الأُسَرُ عِنْدَمَا تَنْتَقِلُ إِلَى بَلَدٍ جَدِيدٍ؟</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تَصِفُ الهُوِيَّةَ المُزْدَوَجَةَ دُونَ تَبْسِيطٍ؟</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مَدِينَتِي ___ مِنْ ___ ، وَلٰكِنَّهَا أَكْثَرُ ___ مِنْهَا.</a:t>
            </a:r>
            <a:endParaRPr lang="ar-SA" sz="13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تَحْتَفِظُ الأُسَرُ بِـ ___ ، وَتَتَكَيَّفُ مَعَ ___ .</a:t>
            </a:r>
            <a:endParaRPr lang="ar-SA" sz="15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مَدِينَتِكَ وَمَدِينَةٍ عَرَبِيَّةٍ.</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your city with an Arab city.</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مَدِينَتِي أَصْغَرُ مِنَ القَاهِرَةِ، وَلٰكِنَّهَا أَكْثَرُ هُدُوءًا مِنْهَا.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city is smaller than Cairo, but it is calmer.</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using the four verbs with their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four diaspora verbs with their prepositions, about you or a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comparative of each type and a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comparative of each type and a contrast with بَيْنَمَا.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balanced statement on dual identity that avoids reducing it to a single story.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three verbs · two comparatives · بَيْنَمَا · a balanced statement on dual identity.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فِي البَيْتِ نَتَحَدَّثُ ______ ، بَيْنَمَا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home we speak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مَدِينَتِي أَكْبَرُ / أَصْغَرُ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city is bigger / smaller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هُدُوءًا / تَنَوُّعًا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calmer / more diverse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one hand …, on the other hand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جَاءَتْ أُسْرَتِي مِنْ ______ قَبْلَ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family came from … years ago.</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أَنْتَمِي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belong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نَحْتَفِظُ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keep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تَكَيَّفَتْ أُمِّي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adapted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أَنْتَمِي إِلَى  ·  أَتَكَيَّفُ مَعَ  ·  أَحْتَفِظُ بِـ  ·  أُوَازِنُ بَيْنَ  ·  أَشْعُرُ بِالحَنِينِ  ·  الجِيلُ الثَّانِي  ·  هُوِيَّةٌ مُزْدَوَجَةٌ  ·  أَكْبَرُ مِنْ  ·  أَصْغَرُ مِنْ  ·  أَكْثَرُ … مِنْ  ·  بَيْنَمَا  ·  مِنْ نَاحِيَةٍ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comparing life in two countries, drawing on the diaspora vocabulary. Use at least three of the four verbs with their prepositions, both comparative systems, and a balanced statement about dual identity.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diaspora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synthetic comparative and one analytical comparative, kept separate.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statement using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وُلِدْتُ فِي هٰذِهِ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was born in this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لَيْسَتِ الهُوِيَّةُ المُزْدَوَجَةُ مُشْكِلَةً؛ هِيَ ثَرْوَةٌ</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dual identity is not a problem — it is a richness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وَالكَلِمَتَانِ لَيْسَتَا مُتَرَادِفَتَيْنِ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 two words are not synonyms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فَلَا تُوجَدُ قِصَّةٌ وَاحِدَةٌ تَصِفُ الجَمِيعَ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no single story describes everyone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تَجَارِبُ النَّاسِ مُخْتَلِفَةٌ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people’s experiences differ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تَعِيشُ أُسْرَتِي هُنَا مُنْذُ سَنَوَاتٍ طَوِيلَةٍ، وَأَنَا مِنَ الجِيلِ الثَّانِي فِي الجَالِيَةِ العَرَبِيَّةِ. أَنْتَمِي إِلَى ثَقَافَتَيْنِ، وَأُوَازِنُ بَيْنَهُمَا كُلَّ يَوْمٍ. فِي البَيْتِ نَتَحَدَّثُ العَرَبِيَّةَ، بَيْنَمَا أَدْرُسُ بِالإِنْجِلِيزِيَّةِ. تَحْتَفِظُ أُمِّي بِعَادَاتِهَا، وَقَدْ تَكَيَّفَتْ مَعَ الحَيَاةِ هُنَا بِسُرْعَةٍ. مَدِينَتُنَا أَصْغَرُ مِنَ القَاهِرَةِ، وَلٰكِنَّهَا أَكْثَرُ هُدُوءًا مِنْهَا. مِنْ نَاحِيَةٍ أَشْعُرُ بِالحَنِينِ إِلَى بَلَدِ أُسْرَتِي، وَمِنْ نَاحِيَةٍ أُخْرَى أُحِبُّ حَيَاتِي هُنَا. وَتَجَارِبُ النَّاسِ مُخْتَلِفَةٌ، فَلَا تُوجَدُ قِصَّةٌ وَاحِدَةٌ تَصِفُ الجَمِيعَ.</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family has lived here for many years, and I am from the second generation of the Arab community. I belong to two cultures and balance between them every day. At home we speak Arabic, whereas I study in English. My mother keeps her customs, and she adapted to life here quickly. Our city is smaller than Cairo, but it is calmer. On one hand I feel longing for my family’s country; on the other, I love my life here. People’s experiences differ, so no single story describes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diaspora verbs +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أَصْغَرُ مِنْ and أَكْثَرُ هُدُوءًا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balanced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diaspora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comparative at a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أَكْثَرُ</a:t>
            </a:r>
            <a:pPr algn="l" indent="0" marL="0">
              <a:buNone/>
            </a:pPr>
            <a:r>
              <a:rPr lang="en-US" sz="1300" dirty="0">
                <a:solidFill>
                  <a:srgbClr val="1F2A37"/>
                </a:solidFill>
                <a:latin typeface="Calibri" pitchFamily="34" charset="0"/>
                <a:ea typeface="Calibri" pitchFamily="34" charset="-122"/>
                <a:cs typeface="Calibri" pitchFamily="34" charset="-120"/>
              </a:rPr>
              <a:t> my noun ends in -an (</a:t>
            </a:r>
            <a:pPr algn="l" indent="0" marL="0">
              <a:buNone/>
            </a:pPr>
            <a:r>
              <a:rPr lang="ar-SA" altLang="en-US" sz="1700" dirty="0">
                <a:solidFill>
                  <a:srgbClr val="1F2A37"/>
                </a:solidFill>
                <a:latin typeface="Amiri" pitchFamily="34" charset="0"/>
                <a:ea typeface="Amiri" pitchFamily="34" charset="-122"/>
                <a:cs typeface="Amiri" pitchFamily="34" charset="-120"/>
              </a:rPr>
              <a:t>هُدُوءًا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view of dual identity is balanced, not simplified.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 المُهَاجِرُ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مُجْتَمَعِهِ الجَدِيدِ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أَكْثَرُ أَكْبَرُ مِنْ مَدِينَتِي.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أَكْبَرُ مِنْ مَدِينَتِي.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القَاهِرَةُ أَكْبَرُ عَنْ مَدِينَتِي.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of words means different things?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مُهَاجِرٌ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لَاجِئٌ</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وَطَنٌ</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بَلَدٌ</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جُذُورٌ</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أُصُولٌ</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يَتَكَيَّفُ المُهَاجِرُ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مُجْتَمَعِهِ الجَدِيدِ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القَاهِرَةُ أَكْثَرُ أَكْبَرُ مِنْ مَدِينَتِي.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القَاهِرَةُ أَكْبَرُ مِنْ مَدِينَتِي.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القَاهِرَةُ أَكْبَرُ عَنْ مَدِينَتِي.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comparative form,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and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of words means different things?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مُهَاجِرٌ</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لَاجِئٌ</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وَطَنٌ</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بَلَدٌ</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جُذُورٌ</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أُصُولٌ</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migrant and a refugee are in different situations.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communities, not one story</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تَعِيشُ جَالِيَاتٌ عَرَبِيَّةٌ فِي بُلْدَانٍ كَثِيرَةٍ حَوْلَ العَالَمِ. وَقَدْ وَصَلَ بَعْضُ النَّاسِ مُهَاجِرِينَ بَحْثًا عَنْ عَمَلٍ أَوْ دِرَاسَةٍ، بَيْنَمَا وَصَلَ آخَرُونَ لَاجِئِينَ هَرَبًا مِنَ الحَرْبِ؛ وَالكَلِمَتَانِ لَيْسَتَا مُتَرَادِفَتَيْنِ. يَحْتَفِظُ كَثِيرٌ مِنَ الأُسَرِ بِلُغَتِهِمْ وَإِرْثِهِمُ الثَّقَافِيِّ، وَفِي الوَقْتِ نَفْسِهِ يَتَكَيَّفُونَ مَعَ مُجْتَمَعَاتٍ جَدِيدَةٍ. أَمَّا الجِيلُ الثَّانِي فَيَنْتَمِي إِلَى ثَقَافَتَيْنِ، وَيُوَازِنُ بَيْنَهُمَا فِي حَيَاتِهِ اليَوْمِيَّةِ. مِنْ نَاحِيَةٍ يَشْعُرُ بَعْضُهُمْ بِالحَنِينِ وَالغُرْبَةِ، وَمِنْ نَاحِيَةٍ أُخْرَى يَرَوْنَ فِي الهُوِيَّةِ المُزْدَوَجَةِ ثَرْوَةً. وَتَجَارِبُ النَّاسِ مُخْتَلِفَةٌ، فَلَا تُوجَدُ قِصَّةٌ وَاحِدَةٌ تَصِفُ الجَمِيعَ.</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تَعِيشُ</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بَحْثًا عَنْ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looking for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هَرَبًا مِنَ الحَرْبِ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fleeing war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مُتَرَادِفَتَيْنِ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synonyms (dual)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إِرْثِهِمُ الثَّقَافِيِّ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their cultural heritage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الوَقْتِ نَفْسِهِ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the same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مُجْتَمَعَاتٍ جَدِيدَةٍ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new societies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الغُرْبَةِ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being far 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ثَرْوَةً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richness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تَصِفُ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describes everyone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some people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 holidays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Seeking work or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sport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the two words?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the same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 is used now</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not synonyms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keep?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language and cultural heritage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their passports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second generation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Rejects one culture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Belongs to two cultures and balances between them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Lives entirely apart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Experiences differ; no single story describes everyone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has the same experience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generation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some people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 holidays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Seeking work or study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sport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وَصَلَ بَعْضُ النَّاسِ مُهَاجِرِينَ بَحْثًا عَنْ عَمَلٍ أَوْ دِرَاسَةٍ.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the two words?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the same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 is used now</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not synonyms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وَالكَلِمَتَانِ لَيْسَتَا مُتَرَادِفَتَيْنِ.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keep?</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Their language and cultural heritage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their passports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يَحْتَفِظُ كَثِيرٌ مِنَ الأُسَرِ بِلُغَتِهِمْ وَإِرْثِهِمُ الثَّقَافِيِّ.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second generation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Rejects one culture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Belongs to two cultures and balances between them</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Lives entirely apart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يَنْتَمِي إِلَى ثَقَافَتَيْنِ، وَيُوَازِنُ بَيْنَهُمَا.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Experiences differ; no single story describes everyone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Everyone has the same experience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generation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فَلَا تُوجَدُ قِصَّةٌ وَاحِدَةٌ تَصِفُ الجَمِيعَ.</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Diaspora Mission — Prepositions, Comparison and Nuance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يُوَازِنُ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“nostalgia”?</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حَنِينٌ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“roots”?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جُذُورٌ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أَوْطَانٌ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جَالِيَاتٌ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أَكْبَرُ مِنْ مَدِينَتِي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أَكْبَرُ مِنْ مَدِينَتِي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الأَكْبَرُ مِنْ مَدِينَتِي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يُوَازِنُ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يُوَازِنُ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“nostalgia”?</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حَنِينٌ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حَنِينٌ</a:t>
            </a:r>
            <a:pPr algn="l" indent="0" marL="0">
              <a:buNone/>
            </a:pPr>
            <a:r>
              <a:rPr lang="en-US" sz="1050" i="1" dirty="0">
                <a:solidFill>
                  <a:srgbClr val="8A6D1E"/>
                </a:solidFill>
                <a:latin typeface="Calibri" pitchFamily="34" charset="0"/>
                <a:ea typeface="Calibri" pitchFamily="34" charset="-122"/>
                <a:cs typeface="Calibri" pitchFamily="34" charset="-120"/>
              </a:rPr>
              <a:t> is longing for a place or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“roots”?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جُذُورٌ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أَوْطَانٌ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جَالِيَاتٌ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جُذُورٌ</a:t>
            </a:r>
            <a:pPr algn="l" indent="0" marL="0">
              <a:buNone/>
            </a:pPr>
            <a:r>
              <a:rPr lang="en-US" sz="1050" i="1" dirty="0">
                <a:solidFill>
                  <a:srgbClr val="8A6D1E"/>
                </a:solidFill>
                <a:latin typeface="Calibri" pitchFamily="34" charset="0"/>
                <a:ea typeface="Calibri" pitchFamily="34" charset="-122"/>
                <a:cs typeface="Calibri" pitchFamily="34" charset="-120"/>
              </a:rPr>
              <a:t> are roots.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أَكْبَرُ مِنْ مَدِينَتِي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أَكْبَرُ مِنْ مَدِينَتِي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الأَكْبَرُ مِنْ مَدِينَتِي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one comparative form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TE-L10 · International Life and Global Connections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العَدَالَةُ الدَّوْلِيَّةُ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international justice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القَانُونُ الدَّوْلِيُّ الإِنْسَانِيُّ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international humanitarian law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ازْدِوَاجِيَّةُ المَعَايِيرِ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double standards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الإِفْلَاتُ مِنَ العِقَابِ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impunity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يَرْفُضُ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refuses to</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Should every country follow the same international rules?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صَحِيحٌ أَنَّ لِكُلِّ دَوْلَةٍ سِيَادَتَهَا،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four verbs with their prepositions; write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comparison of two cities with both comparatives.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statement on dual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TE-L10 · International Life and Global Connections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الحَيَاةُ الدُّوَلِيَّةُ وَالرَّوَابِطُ العَالَمِيَّةُ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TE-L09 · Comparing Cultures with Respect</dc:title>
  <dc:subject>PptxGenJS Presentation</dc:subject>
  <dc:creator>Al Madina Online School · Arabic Department</dc:creator>
  <cp:lastModifiedBy>Al Madina Online School · Arabic Department</cp:lastModifiedBy>
  <cp:revision>1</cp:revision>
  <dcterms:created xsi:type="dcterms:W3CDTF">2026-10-11T04:23:26Z</dcterms:created>
  <dcterms:modified xsi:type="dcterms:W3CDTF">2026-10-11T04:23:26Z</dcterms:modified>
</cp:coreProperties>
</file>