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P2-L05.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P2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 reported speech qāla inna / anna (P2-L02) · Type 1 conditional (P1-L03) · lan + subjunctive (D units).
• TEACHER-WRITTEN ITEMS: waṣl alif shown without a kasra (الاصْطِنَاعِيُّ); rule headings in English and transliteration; sorter headings in transliteration; the website visual games for P2-L04 and P2-L05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Question 4 retrieves yaḥtafiẓ bi- (P2-L04) — today’s verbs are also fixed with a preposition. Question 5 retrieves qāla inna (P2-L02),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2–4 and teaching point “Integrate the P2 toolkit in one text”: a P2-standard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using the career verbs with correct complements. · Develop — Add a past perfect and a reported-speech clause. · Stretch — Integrate four P2 structures in one coherent paragraph on AI and work.
Website writing task (Stretch): Write one hundred and ten to one hundred and twenty words on your career aspirations and the future of work. Integrate all four P2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(P2-L06 · Education and Social Mobility) will spend class time USING this language, so students prepare it tonight — short, simple, easy to access (school guidance: “Simple, Short, Interesting, Relevant, Easy to access”). The five words come from the website P2-L06 vocabulary (education and social mobility).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Career Aspirations and the Future of Work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الطُّمُوحَاتُ المِهَنِيَّةُ وَمُسْتَقْبَلُ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career ambitions and AI: use the career verbs with the right complement (yuʾahhil li- · yuʿidd li- · yataḥawwal ilā · yaṭmaḥ ilā), weave four P2 structures into one paragraph, and discuss AI with balanced, hedged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P2-L05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Career verbs + complements, integrating four P2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P2-L04: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يُؤَهِّلُ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يُعِدُّ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يَتَحَوَّلُ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integrate four P2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‎تعاون‎ </a:t>
            </a:r>
            <a:pPr indent="0" marL="0">
              <a:buNone/>
            </a:pPr>
            <a:r>
              <a:rPr lang="en-US" sz="950" b="1" dirty="0">
                <a:solidFill>
                  <a:srgbClr val="2E8B57"/>
                </a:solidFill>
                <a:latin typeface="Calibri" pitchFamily="34" charset="0"/>
                <a:cs typeface="Amiri" pitchFamily="2" charset="-78"/>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 مشکل‎ </a:t>
            </a:r>
            <a:pPr indent="0" marL="0">
              <a:buNone/>
            </a:pPr>
            <a:r>
              <a:rPr lang="en-US" sz="950" b="1" dirty="0">
                <a:solidFill>
                  <a:srgbClr val="2E8B57"/>
                </a:solidFill>
                <a:latin typeface="Calibri" pitchFamily="34" charset="0"/>
                <a:cs typeface="Amiri" pitchFamily="2" charset="-78"/>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‎شریک‎ </a:t>
            </a:r>
            <a:pPr indent="0" marL="0">
              <a:buNone/>
            </a:pPr>
            <a:r>
              <a:rPr lang="en-US" sz="950" b="1" dirty="0">
                <a:solidFill>
                  <a:srgbClr val="2E8B57"/>
                </a:solidFill>
                <a:latin typeface="Calibri" pitchFamily="34" charset="0"/>
                <a:cs typeface="Amiri" pitchFamily="2" charset="-78"/>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ambition</a:t>
            </a:r>
            <a:endParaRPr lang="en-US" sz="1350" dirty="0"/>
          </a:p>
          <a:p>
            <a:pPr indent="0" marL="0">
              <a:buNone/>
            </a:pPr>
            <a:r>
              <a:rPr lang="en-US" sz="1100" i="1" dirty="0">
                <a:solidFill>
                  <a:srgbClr val="5A6472"/>
                </a:solidFill>
                <a:latin typeface="Calibri" pitchFamily="34" charset="0"/>
                <a:cs typeface="Amiri" pitchFamily="2" charset="-78"/>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path</a:t>
            </a:r>
            <a:endParaRPr lang="en-US" sz="1350" dirty="0"/>
          </a:p>
          <a:p>
            <a:pPr indent="0" marL="0">
              <a:buNone/>
            </a:pPr>
            <a:r>
              <a:rPr lang="en-US" sz="1100" i="1" dirty="0">
                <a:solidFill>
                  <a:srgbClr val="5A6472"/>
                </a:solidFill>
                <a:latin typeface="Calibri" pitchFamily="34" charset="0"/>
                <a:cs typeface="Amiri" pitchFamily="2" charset="-78"/>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change</a:t>
            </a:r>
            <a:endParaRPr lang="en-US" sz="1350" dirty="0"/>
          </a:p>
          <a:p>
            <a:pPr indent="0" marL="0">
              <a:buNone/>
            </a:pPr>
            <a:r>
              <a:rPr lang="en-US" sz="1100" i="1" dirty="0">
                <a:solidFill>
                  <a:srgbClr val="5A6472"/>
                </a:solidFill>
                <a:latin typeface="Calibri" pitchFamily="34" charset="0"/>
                <a:cs typeface="Amiri" pitchFamily="2" charset="-78"/>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future career</a:t>
            </a:r>
            <a:endParaRPr lang="en-US" sz="1350" dirty="0"/>
          </a:p>
          <a:p>
            <a:pPr indent="0" marL="0">
              <a:buNone/>
            </a:pPr>
            <a:r>
              <a:rPr lang="en-US" sz="1100" i="1" dirty="0">
                <a:solidFill>
                  <a:srgbClr val="5A6472"/>
                </a:solidFill>
                <a:latin typeface="Calibri" pitchFamily="34" charset="0"/>
                <a:cs typeface="Amiri" pitchFamily="2" charset="-78"/>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entrepreneurship</a:t>
            </a:r>
            <a:endParaRPr lang="en-US" sz="1350" dirty="0"/>
          </a:p>
          <a:p>
            <a:pPr indent="0" marL="0">
              <a:buNone/>
            </a:pPr>
            <a:r>
              <a:rPr lang="en-US" sz="1100" i="1" dirty="0">
                <a:solidFill>
                  <a:srgbClr val="5A6472"/>
                </a:solidFill>
                <a:latin typeface="Calibri" pitchFamily="34" charset="0"/>
                <a:cs typeface="Amiri" pitchFamily="2" charset="-78"/>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start-up company</a:t>
            </a:r>
            <a:endParaRPr lang="en-US" sz="1350" dirty="0"/>
          </a:p>
          <a:p>
            <a:pPr indent="0" marL="0">
              <a:buNone/>
            </a:pPr>
            <a:r>
              <a:rPr lang="en-US" sz="1100" i="1" dirty="0">
                <a:solidFill>
                  <a:srgbClr val="5A6472"/>
                </a:solidFill>
                <a:latin typeface="Calibri" pitchFamily="34" charset="0"/>
                <a:cs typeface="Amiri" pitchFamily="2" charset="-78"/>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freelance project</a:t>
            </a:r>
            <a:endParaRPr lang="en-US" sz="1350" dirty="0"/>
          </a:p>
          <a:p>
            <a:pPr indent="0" marL="0">
              <a:buNone/>
            </a:pPr>
            <a:r>
              <a:rPr lang="en-US" sz="1100" i="1" dirty="0">
                <a:solidFill>
                  <a:srgbClr val="5A6472"/>
                </a:solidFill>
                <a:latin typeface="Calibri" pitchFamily="34" charset="0"/>
                <a:cs typeface="Amiri" pitchFamily="2" charset="-78"/>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labour-market competition</a:t>
            </a:r>
            <a:endParaRPr lang="en-US" sz="1350" dirty="0"/>
          </a:p>
          <a:p>
            <a:pPr indent="0" marL="0">
              <a:buNone/>
            </a:pPr>
            <a:r>
              <a:rPr lang="en-US" sz="1100" i="1" dirty="0">
                <a:solidFill>
                  <a:srgbClr val="5A6472"/>
                </a:solidFill>
                <a:latin typeface="Calibri" pitchFamily="34" charset="0"/>
                <a:cs typeface="Amiri" pitchFamily="2" charset="-78"/>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21st-century skills</a:t>
            </a:r>
            <a:endParaRPr lang="en-US" sz="1350" dirty="0"/>
          </a:p>
          <a:p>
            <a:pPr indent="0" marL="0">
              <a:buNone/>
            </a:pPr>
            <a:r>
              <a:rPr lang="en-US" sz="1100" i="1" dirty="0">
                <a:solidFill>
                  <a:srgbClr val="5A6472"/>
                </a:solidFill>
                <a:latin typeface="Calibri" pitchFamily="34" charset="0"/>
                <a:cs typeface="Amiri" pitchFamily="2" charset="-78"/>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critical thinking</a:t>
            </a:r>
            <a:endParaRPr lang="en-US" sz="1350" dirty="0"/>
          </a:p>
          <a:p>
            <a:pPr indent="0" marL="0">
              <a:buNone/>
            </a:pPr>
            <a:r>
              <a:rPr lang="en-US" sz="1100" i="1" dirty="0">
                <a:solidFill>
                  <a:srgbClr val="5A6472"/>
                </a:solidFill>
                <a:latin typeface="Calibri" pitchFamily="34" charset="0"/>
                <a:cs typeface="Amiri" pitchFamily="2" charset="-78"/>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collaboration and communication</a:t>
            </a:r>
            <a:endParaRPr lang="en-US" sz="1350" dirty="0"/>
          </a:p>
          <a:p>
            <a:pPr indent="0" marL="0">
              <a:buNone/>
            </a:pPr>
            <a:r>
              <a:rPr lang="en-US" sz="1100" i="1" dirty="0">
                <a:solidFill>
                  <a:srgbClr val="5A6472"/>
                </a:solidFill>
                <a:latin typeface="Calibri" pitchFamily="34" charset="0"/>
                <a:cs typeface="Amiri" pitchFamily="2" charset="-78"/>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empathy</a:t>
            </a:r>
            <a:endParaRPr lang="en-US" sz="1350" dirty="0"/>
          </a:p>
          <a:p>
            <a:pPr indent="0" marL="0">
              <a:buNone/>
            </a:pPr>
            <a:r>
              <a:rPr lang="en-US" sz="1100" i="1" dirty="0">
                <a:solidFill>
                  <a:srgbClr val="5A6472"/>
                </a:solidFill>
                <a:latin typeface="Calibri" pitchFamily="34" charset="0"/>
                <a:cs typeface="Amiri" pitchFamily="2" charset="-78"/>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transforms into</a:t>
            </a:r>
            <a:endParaRPr lang="en-US" sz="1350" dirty="0"/>
          </a:p>
          <a:p>
            <a:pPr indent="0" marL="0">
              <a:buNone/>
            </a:pPr>
            <a:r>
              <a:rPr lang="en-US" sz="1100" i="1" dirty="0">
                <a:solidFill>
                  <a:srgbClr val="5A6472"/>
                </a:solidFill>
                <a:latin typeface="Calibri" pitchFamily="34" charset="0"/>
                <a:cs typeface="Amiri" pitchFamily="2" charset="-78"/>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a:t>
            </a:r>
            <a:endParaRPr lang="en-US" sz="1350" dirty="0"/>
          </a:p>
          <a:p>
            <a:pPr indent="0" marL="0">
              <a:buNone/>
            </a:pPr>
            <a:r>
              <a:rPr lang="en-US" sz="1100" i="1" dirty="0">
                <a:solidFill>
                  <a:srgbClr val="5A6472"/>
                </a:solidFill>
                <a:latin typeface="Calibri" pitchFamily="34" charset="0"/>
                <a:cs typeface="Amiri" pitchFamily="2" charset="-78"/>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aspires to</a:t>
            </a:r>
            <a:endParaRPr lang="en-US" sz="1350" dirty="0"/>
          </a:p>
          <a:p>
            <a:pPr indent="0" marL="0">
              <a:buNone/>
            </a:pPr>
            <a:r>
              <a:rPr lang="en-US" sz="1100" i="1" dirty="0">
                <a:solidFill>
                  <a:srgbClr val="5A6472"/>
                </a:solidFill>
                <a:latin typeface="Calibri" pitchFamily="34" charset="0"/>
                <a:cs typeface="Amiri" pitchFamily="2" charset="-78"/>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pace with</a:t>
            </a:r>
            <a:endParaRPr lang="en-US" sz="1350" dirty="0"/>
          </a:p>
          <a:p>
            <a:pPr indent="0" marL="0">
              <a:buNone/>
            </a:pPr>
            <a:r>
              <a:rPr lang="en-US" sz="1100" i="1" dirty="0">
                <a:solidFill>
                  <a:srgbClr val="5A6472"/>
                </a:solidFill>
                <a:latin typeface="Calibri" pitchFamily="34" charset="0"/>
                <a:cs typeface="Amiri" pitchFamily="2" charset="-78"/>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يُؤَهِّلُنِي </a:t>
            </a:r>
            <a:pPr rtl="1" algn="ctr" indent="0" marL="0">
              <a:buNone/>
            </a:pPr>
            <a:r>
              <a:rPr lang="ar-SA" altLang="en-US" sz="2000" b="1" dirty="0">
                <a:solidFill>
                  <a:srgbClr val="1D5FBF"/>
                </a:solidFill>
                <a:latin typeface="Amiri" pitchFamily="2" charset="-78"/>
                <a:ea typeface="Amiri" pitchFamily="2" charset="-78"/>
                <a:cs typeface="Amiri" pitchFamily="2" charset="-78"/>
              </a:rPr>
              <a:t>لِسُوقِ</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الجَامِعَةُ تُعِدُّنِي </a:t>
            </a:r>
            <a:pPr rtl="1" algn="ctr" indent="0" marL="0">
              <a:buNone/>
            </a:pPr>
            <a:r>
              <a:rPr lang="ar-SA" altLang="en-US" sz="2000" b="1" dirty="0">
                <a:solidFill>
                  <a:srgbClr val="1D5FBF"/>
                </a:solidFill>
                <a:latin typeface="Amiri" pitchFamily="2" charset="-78"/>
                <a:ea typeface="Amiri" pitchFamily="2" charset="-78"/>
                <a:cs typeface="Amiri" pitchFamily="2" charset="-78"/>
              </a:rPr>
              <a:t>لِلْمُنَافَسَةِ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يَتَحَوَّلُ الذَّكَاءُ الاصْطِنَاعِيُّ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يَطْمَحُ الطَّالِبُ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سَأُسْهِمُ </a:t>
            </a:r>
            <a:pPr rtl="1" algn="ctr" indent="0" marL="0">
              <a:buNone/>
            </a:pPr>
            <a:r>
              <a:rPr lang="ar-SA" altLang="en-US" sz="2000" b="1" dirty="0">
                <a:solidFill>
                  <a:srgbClr val="7B3FA0"/>
                </a:solidFill>
                <a:latin typeface="Amiri" pitchFamily="2" charset="-78"/>
                <a:ea typeface="Amiri" pitchFamily="2" charset="-78"/>
                <a:cs typeface="Amiri" pitchFamily="2" charset="-78"/>
              </a:rPr>
              <a:t>فِي</a:t>
            </a:r>
            <a:pPr rtl="1" algn="ctr" indent="0" marL="0">
              <a:buNone/>
            </a:pPr>
            <a:r>
              <a:rPr lang="ar-SA" altLang="en-US" sz="2000" b="1" dirty="0">
                <a:solidFill>
                  <a:srgbClr val="1B3B6F"/>
                </a:solidFill>
                <a:latin typeface="Amiri" pitchFamily="2" charset="-78"/>
                <a:ea typeface="Amiri" pitchFamily="2" charset="-78"/>
                <a:cs typeface="Amiri" pitchFamily="2" charset="-78"/>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يَسْتَبْدِلُ الذَّكَاءُ </a:t>
            </a:r>
            <a:pPr rtl="1" algn="ctr" indent="0" marL="0">
              <a:buNone/>
            </a:pPr>
            <a:r>
              <a:rPr lang="ar-SA" altLang="en-US" sz="2000" b="1" dirty="0">
                <a:solidFill>
                  <a:srgbClr val="C77700"/>
                </a:solidFill>
                <a:latin typeface="Amiri" pitchFamily="2" charset="-78"/>
                <a:ea typeface="Amiri" pitchFamily="2" charset="-78"/>
                <a:cs typeface="Amiri" pitchFamily="2" charset="-78"/>
              </a:rPr>
              <a:t>بَعْضَ</a:t>
            </a:r>
            <a:pPr rtl="1" algn="ctr" indent="0" marL="0">
              <a:buNone/>
            </a:pPr>
            <a:r>
              <a:rPr lang="ar-SA" altLang="en-US" sz="2000" b="1" dirty="0">
                <a:solidFill>
                  <a:srgbClr val="1B3B6F"/>
                </a:solidFill>
                <a:latin typeface="Amiri" pitchFamily="2" charset="-78"/>
                <a:ea typeface="Amiri" pitchFamily="2" charset="-78"/>
                <a:cs typeface="Amiri" pitchFamily="2" charset="-78"/>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يُؤَهِّلُهَا</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يُؤَهِّلُهُ</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ea typeface="Amiri" pitchFamily="2" charset="-78"/>
                <a:cs typeface="Amiri" pitchFamily="2" charset="-78"/>
              </a:rPr>
              <a:t>يُؤَهِّلُنِي</a:t>
            </a:r>
            <a:pPr rtl="1" algn="ctr" indent="0" marL="0">
              <a:buNone/>
            </a:pPr>
            <a:r>
              <a:rPr lang="ar-SA" altLang="en-US" sz="2000" b="1" dirty="0">
                <a:solidFill>
                  <a:srgbClr val="1B3B6F"/>
                </a:solidFill>
                <a:latin typeface="Amiri" pitchFamily="2" charset="-78"/>
                <a:ea typeface="Amiri" pitchFamily="2" charset="-78"/>
                <a:cs typeface="Amiri" pitchFamily="2" charset="-78"/>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أُسْهِمُ فِي </a:t>
            </a:r>
            <a:pPr rtl="1" algn="ctr" indent="0" marL="0">
              <a:buNone/>
            </a:pPr>
            <a:r>
              <a:rPr lang="ar-SA" altLang="en-US" sz="2000" b="1" dirty="0">
                <a:solidFill>
                  <a:srgbClr val="1D5FBF"/>
                </a:solidFill>
                <a:latin typeface="Amiri" pitchFamily="2" charset="-78"/>
                <a:ea typeface="Amiri" pitchFamily="2" charset="-78"/>
                <a:cs typeface="Amiri" pitchFamily="2" charset="-78"/>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P2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BACKGROUND · P2-L03</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CITATION · P2-L02</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إِنَّ · أَضَافَ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PLAN · P1-L03</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سَيَسْتَبْدِلُ بَعْضَ الوَظَائِفِ </a:t>
            </a:r>
            <a:pPr rtl="1" algn="ctr" indent="0" marL="0">
              <a:buNone/>
            </a:pPr>
            <a:r>
              <a:rPr lang="ar-SA" altLang="en-US" sz="1800" b="1" dirty="0">
                <a:solidFill>
                  <a:srgbClr val="0E7C86"/>
                </a:solidFill>
                <a:latin typeface="Amiri" pitchFamily="2" charset="-78"/>
                <a:ea typeface="Amiri" pitchFamily="2" charset="-78"/>
                <a:cs typeface="Amiri" pitchFamily="2" charset="-78"/>
              </a:rPr>
              <a:t>لَا كُلَّهَا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سَيَسْتَبْدِلُ الوَظَائِفَ الرُّوتِينِيَّةَ، </a:t>
            </a:r>
            <a:pPr rtl="1" algn="ctr" indent="0" marL="0">
              <a:buNone/>
            </a:pPr>
            <a:r>
              <a:rPr lang="ar-SA" altLang="en-US" sz="1800" b="1" dirty="0">
                <a:solidFill>
                  <a:srgbClr val="0E7C86"/>
                </a:solidFill>
                <a:latin typeface="Amiri" pitchFamily="2" charset="-78"/>
                <a:ea typeface="Amiri" pitchFamily="2" charset="-78"/>
                <a:cs typeface="Amiri" pitchFamily="2" charset="-78"/>
              </a:rPr>
              <a:t>لٰكِنَّهُ لَنْ يَسْتَبْدِلَ</a:t>
            </a:r>
            <a:pPr rtl="1" algn="ctr" indent="0" marL="0">
              <a:buNone/>
            </a:pPr>
            <a:r>
              <a:rPr lang="ar-SA" altLang="en-US" sz="1800" b="1" dirty="0">
                <a:solidFill>
                  <a:srgbClr val="1B3B6F"/>
                </a:solidFill>
                <a:latin typeface="Amiri" pitchFamily="2" charset="-78"/>
                <a:ea typeface="Amiri" pitchFamily="2" charset="-78"/>
                <a:cs typeface="Amiri" pitchFamily="2" charset="-78"/>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سَيُعِيدُ تَشْكِيلَ سُوقِ العَمَلِ </a:t>
            </a:r>
            <a:pPr rtl="1" algn="ctr" indent="0" marL="0">
              <a:buNone/>
            </a:pPr>
            <a:r>
              <a:rPr lang="ar-SA" altLang="en-US" sz="1800" b="1" dirty="0">
                <a:solidFill>
                  <a:srgbClr val="0E7C86"/>
                </a:solidFill>
                <a:latin typeface="Amiri" pitchFamily="2" charset="-78"/>
                <a:ea typeface="Amiri" pitchFamily="2" charset="-78"/>
                <a:cs typeface="Amiri" pitchFamily="2" charset="-78"/>
              </a:rPr>
              <a:t>لَا إِنْهَاءَهُ</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لَيْسَ</a:t>
            </a:r>
            <a:pPr rtl="1" algn="ctr" indent="0" marL="0">
              <a:buNone/>
            </a:pPr>
            <a:r>
              <a:rPr lang="ar-SA" altLang="en-US" sz="1800" b="1" dirty="0">
                <a:solidFill>
                  <a:srgbClr val="1B3B6F"/>
                </a:solidFill>
                <a:latin typeface="Amiri" pitchFamily="2" charset="-78"/>
                <a:ea typeface="Amiri" pitchFamily="2" charset="-78"/>
                <a:cs typeface="Amiri" pitchFamily="2" charset="-78"/>
              </a:rPr>
              <a:t> المُهِمُّ مُقَاوَمَةَ التَّغْيِيرِ، </a:t>
            </a:r>
            <a:pPr rtl="1" algn="ctr" indent="0" marL="0">
              <a:buNone/>
            </a:pPr>
            <a:r>
              <a:rPr lang="ar-SA" altLang="en-US" sz="1800" b="1" dirty="0">
                <a:solidFill>
                  <a:srgbClr val="0E7C86"/>
                </a:solidFill>
                <a:latin typeface="Amiri" pitchFamily="2" charset="-78"/>
                <a:ea typeface="Amiri" pitchFamily="2" charset="-78"/>
                <a:cs typeface="Amiri" pitchFamily="2" charset="-78"/>
              </a:rPr>
              <a:t>بَلْ</a:t>
            </a:r>
            <a:pPr rtl="1" algn="ctr" indent="0" marL="0">
              <a:buNone/>
            </a:pPr>
            <a:r>
              <a:rPr lang="ar-SA" altLang="en-US" sz="1800" b="1" dirty="0">
                <a:solidFill>
                  <a:srgbClr val="1B3B6F"/>
                </a:solidFill>
                <a:latin typeface="Amiri" pitchFamily="2" charset="-78"/>
                <a:ea typeface="Amiri" pitchFamily="2" charset="-78"/>
                <a:cs typeface="Amiri" pitchFamily="2" charset="-78"/>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Integrating the P2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P2-L03.</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ea typeface="Amiri" pitchFamily="2" charset="-78"/>
                <a:cs typeface="Amiri" pitchFamily="2" charset="-78"/>
              </a:rPr>
              <a:t>أَشَارَ</a:t>
            </a:r>
            <a:pPr rtl="1" algn="ctr" indent="0" marL="0">
              <a:buNone/>
            </a:pPr>
            <a:r>
              <a:rPr lang="ar-SA" altLang="en-US" sz="255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2550" b="1" dirty="0">
                <a:solidFill>
                  <a:srgbClr val="7B3FA0"/>
                </a:solidFill>
                <a:latin typeface="Amiri" pitchFamily="2" charset="-78"/>
                <a:ea typeface="Amiri" pitchFamily="2" charset="-78"/>
                <a:cs typeface="Amiri" pitchFamily="2" charset="-78"/>
              </a:rPr>
              <a:t>إِلَى أَنَّ</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إِذَا الْتَحَقْتُ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ea typeface="Amiri" pitchFamily="2" charset="-78"/>
                <a:cs typeface="Amiri" pitchFamily="2" charset="-78"/>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يُعِدُّنِي لِمُوَاكَبَةِ</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مَسِيرَتِي المِهَنِيَّةَ مُنْذُ صِغَرِي.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مُرْشِدِي الوَظِيفِيُّ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المَجَالَ مِنْ أَكْثَرِ المَجَالَاتِ طَلَبًا.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الْتَحَقْتُ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بِجَامِعَةٍ مُتَمَيِّزَةٍ،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سَأُطَوِّرُ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يُعِدُّنِي لِمُوَاكَبَةِ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good education qualifies me for the competitive labour market</a:t>
            </a:r>
            <a:endParaRPr lang="en-US" sz="1250" dirty="0"/>
          </a:p>
          <a:p>
            <a:pPr indent="0" marL="0">
              <a:buNone/>
            </a:pPr>
            <a:r>
              <a:rPr lang="en-US" sz="1050" i="1" dirty="0">
                <a:solidFill>
                  <a:srgbClr val="8A6D1E"/>
                </a:solidFill>
                <a:latin typeface="Calibri" pitchFamily="34" charset="0"/>
                <a:cs typeface="Amiri" pitchFamily="2" charset="-78"/>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 is turning into a partner, not a competitor</a:t>
            </a:r>
            <a:endParaRPr lang="en-US" sz="1250" dirty="0"/>
          </a:p>
          <a:p>
            <a:pPr indent="0" marL="0">
              <a:buNone/>
            </a:pPr>
            <a:r>
              <a:rPr lang="en-US" sz="1050" i="1" dirty="0">
                <a:solidFill>
                  <a:srgbClr val="8A6D1E"/>
                </a:solidFill>
                <a:latin typeface="Calibri" pitchFamily="34" charset="0"/>
                <a:cs typeface="Amiri" pitchFamily="2" charset="-78"/>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career, and if I work hard, I will achieve it</a:t>
            </a:r>
            <a:endParaRPr lang="en-US" sz="1250" dirty="0"/>
          </a:p>
          <a:p>
            <a:pPr indent="0" marL="0">
              <a:buNone/>
            </a:pPr>
            <a:r>
              <a:rPr lang="en-US" sz="1050" i="1" dirty="0">
                <a:solidFill>
                  <a:srgbClr val="8A6D1E"/>
                </a:solidFill>
                <a:latin typeface="Calibri" pitchFamily="34" charset="0"/>
                <a:cs typeface="Amiri" pitchFamily="2" charset="-78"/>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يُؤَهِّلُ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career and AI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طُمُوحُكَ المِهَنِيُّ؟ وَكَيْفَ يُؤَهِّلُكَ التَّعْلِيمُ لَهُ؟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قَدْ قَرَّرْتَ عَنْ مَسَارِكَ سَابِقًا؟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الوَظَائِفِ سَيَسْتَبْدِلُهَا الذَّكَاءُ الاصْطِنَاعِيُّ، وَأَيَّهَا لَنْ يَسْتَبْدِلَ؟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أَطْمَحُ إِلَى ___ ، وَالتَّعْلِيمُ يُؤَهِّلُنِي لِهٰذِهِ المِهْنَةِ.</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قَدْ قَرَّرْتُ ___ مُنْذُ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سَيَسْتَبْدِلُ ___ ، لٰكِنَّهُ لَنْ يَسْتَبْدِلَ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طُمُوحُكَ المِهَنِيُّ؟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career ambition?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أَطْمَحُ إِلَى الهَنْدَسَةِ، وَالتَّعْلِيمُ الجَيِّدُ يُؤَهِّلُنِي لِسُوقِ العَمَلِ وَيُعِدُّنِي لِلْمُنَافَسَةِ.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aspire to engineering, and good education qualifies me for the labour market and prepares me for competition.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Integrate four P2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integrate all four P2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one hundred and ten to one hundred and twenty words on your career aspirations and the future of work. Integrate all four P2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2" charset="-78"/>
                <a:ea typeface="Amiri" pitchFamily="2" charset="-78"/>
                <a:cs typeface="Amiri" pitchFamily="2" charset="-78"/>
              </a:rPr>
              <a:t>يُؤَهِّلُ لِـ</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يُعِدُّ لِـ</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a:t>
            </a:r>
            <a:pPr algn="l" indent="0" marL="0">
              <a:buNone/>
            </a:pPr>
            <a:r>
              <a:rPr lang="ar-SA" altLang="en-US" sz="1550" dirty="0">
                <a:solidFill>
                  <a:srgbClr val="1F2A37"/>
                </a:solidFill>
                <a:latin typeface="Amiri" pitchFamily="2" charset="-78"/>
                <a:ea typeface="Amiri" pitchFamily="2" charset="-78"/>
                <a:cs typeface="Amiri" pitchFamily="2" charset="-78"/>
              </a:rPr>
              <a:t>قَالَ إِنَّ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يُؤَهِّلُ لِـ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يُعِدُّ لِـ</a:t>
            </a:r>
            <a:pPr algn="l" indent="0" marL="0">
              <a:buNone/>
            </a:pPr>
            <a:r>
              <a:rPr lang="en-US" sz="1200" dirty="0">
                <a:solidFill>
                  <a:srgbClr val="1F2A37"/>
                </a:solidFill>
                <a:latin typeface="Calibri" pitchFamily="34" charset="0"/>
                <a:cs typeface="Amiri" pitchFamily="2" charset="-78"/>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ea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P2-L06 · Education and Social Mobility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حَرَاكٌ اجْتِمَاعِيٌّ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social mobility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فُرَصٌ مُتَكَافِئَةٌ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equal opportunities</a:t>
            </a:r>
            <a:pPr indent="0" marL="0">
              <a:buNone/>
            </a:pPr>
            <a:r>
              <a:rPr lang="ar-SA" sz="1000" i="1" dirty="0">
                <a:solidFill>
                  <a:srgbClr val="5A6472"/>
                </a:solidFill>
                <a:latin typeface="Calibri" pitchFamily="34" charset="0"/>
                <a:ea typeface="Amiri" pitchFamily="2" charset="-78"/>
                <a:cs typeface="Amiri" pitchFamily="2" charset="-78"/>
              </a:rPr>
              <a:t>  sg. فُرْصَةٌ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فَجْوَةٌ تَعْلِيمِيَّةٌ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education gap</a:t>
            </a:r>
            <a:pPr indent="0" marL="0">
              <a:buNone/>
            </a:pPr>
            <a:r>
              <a:rPr lang="ar-SA" sz="1000" i="1" dirty="0">
                <a:solidFill>
                  <a:srgbClr val="5A6472"/>
                </a:solidFill>
                <a:latin typeface="Calibri" pitchFamily="34" charset="0"/>
                <a:ea typeface="Amiri" pitchFamily="2" charset="-78"/>
                <a:cs typeface="Amiri" pitchFamily="2" charset="-78"/>
              </a:rPr>
              <a:t>  pl. فَجَوَاتٌ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مُسَاوَاةٌ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equality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(hypothetical)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Does education give everyone an equal chance?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أَعْتَقِدُ أَنَّ التَّعْلِيمَ ______ فُرَصًا مُتَكَافِئَةً،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110–120 words integrating all four P2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P2-L06 · Education and Social Mobility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التَّعْلِيمُ وَالحَرَاكُ الاجْتِمَاعِيُّ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every career verb has a partner — yuʾahhil li- · yuʿidd li- · yataḥawwal ilā · yaṭmaḥ ilā · yastabdil + object — and a P2-standard paragraph weaves together kāna qad, qāla inna, idhā … sa- and sawfa.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P2-L05 · Career Aspirations and the Future of Work</dc:title>
  <dc:subject>PptxGenJS Presentation</dc:subject>
  <dc:creator>Al Madina Online School · Arabic Department</dc:creator>
  <cp:lastModifiedBy>Al Madina Online School · Arabic Department</cp:lastModifiedBy>
  <cp:revision>1</cp:revision>
  <dcterms:created xsi:type="dcterms:W3CDTF">2026-10-11T06:43:02Z</dcterms:created>
  <dcterms:modified xsi:type="dcterms:W3CDTF">2026-10-11T06:43:02Z</dcterms:modified>
</cp:coreProperties>
</file>