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P2 Education and Future Plans › P2-L05. The website lesson “Career Aspirations and the Future of Work”: vocabulary, grammar rules and quiz, patterns, common mistakes, sorter, listening, reading, speaking prompts and model, writing task and model, differentiation, final check and the lesson mission. Picture match: website visual game “Career Aspirations and the Future of Work”.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with the career verbs and the right complement (li- / ilā / direct object). Develop: add a past-perfect background and a reported-speech clause. Stretch: the website 110–120-word paragraph integrating all four P2 structures.
• Be sensitive: some students may not have a career idea yet, or may face pressure about careers at home. “I don’t know yet” is a valid answer — offer لَمْ أُقَرِّرْ بَعْدُ، لٰكِنَّنِي أَطْمَحُ إِلَى … and let them write about a relative or an invented character.
• AI debate: keep it balanced (the website models hedging: some jobs, not all). Avoid fear-based framing.
• Grammar links: past perfect (P2-L03) · reported speech qāla inna / anna (P2-L02) · Type 1 conditional (P1-L03) · lan + subjunctive (D units).
• TEACHER-WRITTEN ITEMS: waṣl alif shown without a kasra (الاصْطِنَاعِيُّ); rule headings in English and transliteration; sorter headings in transliteration; the website visual games for P2-L04 and P2-L05 are swapped (future plans here).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P2-L04. Question 4 retrieves yaḥtafiẓ bi- (P2-L04) — today’s verbs are also fixed with a preposition. Question 5 retrieves qāla inna (P2-L02), which today’s writing integrates.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career verb has its own partner. Learn the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مہارت, تعاون, حل, مشکل and شریک are all shared. Urdu تنقید (criticism) comes from the same root as نَقْدِيٌّ in التَّفْكِيرُ النَّقْدِيُّ (critical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Ambitions and paths (website vocabulary (1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Ambitions and paths (website vocabulary (2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(1 of 2)). Hear → Say → See → Use. Transliteration is printed for Core students (cover it for Develop/Stretch).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(2 of 2)). Hear → Say → See → Use. Transliteration is printed for Core students (cover it for Develop/Stretch).
FLEX: teach if time allows; otherwise these are on the website vocabulary tab for homework.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(1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(2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“Career verbs” and the website table (يُؤَهِّلُ لِـ · يُعِدُّ لِـ · يَتَحَوَّلُ إِلَى · يَطْمَحُ إِلَى), plus يُسْهِمُ فِي and يَسْتَبْدِلُ + object from the vocabulary notes.
Website mistakes 1 and 2: يُؤَهِّلُنِي إِلَى ✗ → لِسُوقِ · يَتَحَوَّلُ … لِشَرِيكٍ ✗ → إِلَى شَرِيكٍ.
لِـ joins the next word: لِسُوقِ · لِلْمُنَافَسَةِ (li + al- → lil-). Drill: teacher says a verb, class calls out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“Integration verbs” for I / he / she, with the speaking model أَطْمَحُ إِلَى الهَنْدَسَةِ وَالتَّعْلِيمُ الجَيِّدُ يُؤَهِّلُنِي لِسُوقِ العَمَلِ.
Plural (they): يَطْمَحُونَ · يَسْعَوْنَ · يُسْهِمُونَ · يُؤَهِّلُهُمْ (website listening: يُؤَهِّلُ الشَّبَابَ · تُعِدُّهُمْ).
Note يَسْعَى (weak final): أَسْعَى · يَسْعَى · تَسْعَى — the ending never changes in the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2–4 and teaching point “Integrate the P2 toolkit in one text”: a P2-standard paragraph combines kāna qad (background), qāla / ashāra … anna (what others say), a conditional and the future.
Website pattern 3 does two at once: كُنْتُ قَدْ قَرَّرْتُ مَسِيرَتِي، وَإِذَا اجْتَهَدْتُ سَأُحَقِّقُهَا.
Website quiz 5: أَشَارَ takes إِلَى before أَنَّ (أَشَارَ مُرْشِدِي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success criterion “I discuss AI’s impact with balanced, hedged language”, quiz item 7 and the reading (سَيُعِيدُ تَشْكِيلَ سُوقِ العَمَلِ لَا إِنْهَاءَهُ · وَلَيْسَ المُهِمُّ مُقَاوَمَةَ التَّغْيِيرِ، بَلْ مُوَاكَبَتَهُ).
lan + subjunctive: لَنْ يَسْتَبْدِلَ (-a) — future negative.
Also useful: فِي حِينِ أَنَّ (whereas — website reading), يُمْكِنُ أَنْ (may), مِنَ المُحْتَمَلِ أَنَّ (it is likely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“New career verbs with their complements, and how to combine the past perfect, reported speech, the conditional and the future in a single argument.”
• Career verbs + complement: Two take لِـ; one takes إِلَى.
• Background: past perfect: Open with what had already happened.
• Cite others: reported speech: Report what a mentor or study says.
• Plan: conditional + future: State a plan and its condition.
Website common error: Using إِلَى after يُؤَهِّلُ / يُعِدُّ (they take لِـ) or لِـ after يَتَحَوَّلُ (it takes إِلَى). Keep each structure accurate even while integrating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“Background first: kuntu qad + past. Then what my adviser said: ashāra ilā anna. Then my plan: idhā + past, sa- + present. Finish with a career verb — yuʿidd needs li-: li-muwākabati.”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and the study-skills set under P2-L05,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and the study-skills set under P2-L05,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career argument from a past-perfect background, a reported-speech citation and a conditional plan.” Website feedback: each part is accurate on its own, so any three combinations work (the website asks for 3 different ones).
Core: read row 1 across. Develop: mix rows. Stretch: replace column 3 with your own plan using a career verb (… سَأُؤَهِّلُ نَفْسِي لِـ …).
Check the particles aloud: قَالَ إِنَّ · أَشَارَ إِلَى أَنَّ · أَكَّدَ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 and note every reporting verb you hear (four of them).
Listen 1: just listen. Listen 2: note answers. Then chat the letters.
Support: after the second listening, show the read-along slide (Arabic + English, line by line) for Core students.
SCRIPT (read aloud):
قَالَ المُرْشِدُ الوَظِيفِيُّ إِنَّ سُوقَ العَمَلِ يَتَغَيَّرُ بِسُرْعَةٍ. وَأَضَافَ أَنَّ الذَّكَاءَ الاصْطِنَاعِيَّ سَيَسْتَبْدِلُ بَعْضَ الوَظَائِفِ الرُّوتِينِيَّةِ، لٰكِنَّهُ لَنْ يَسْتَبْدِلَ الوَظَائِفَ الَّتِي تَحْتَاجُ إِلَى إِبْدَاعٍ وَتَعَاطُفٍ. وَأَشَارَ إِلَى أَنَّ التَّعْلِيمَ الجَيِّدَ يُؤَهِّلُ الشَّبَابَ لِسُوقٍ تَنَافُسِيٍّ، وَأَنَّ الجَامِعَةَ تُعِدُّهُمْ لِمُوَاكَبَةِ التَّغْيِيرِ. كَثِيرٌ مِنَ الطُّلَّابِ كَانُوا قَدْ حَدَّدُوا مَسَارَهُمْ مُبَكِّرًا، ثُمَّ غَيَّرُوهُ بَعْدَ اكْتِشَافِ مَهَارَاتٍ جَدِيدَةٍ. وَقَالَ إِنَّ مَهَارَةَ التَّكَيُّفِ هِيَ الأَهَمُّ. وَخَلَصَ إِلَى أَنَّهُ إِذَا طَوَّرَ الطَّالِبُ تَفْكِيرَهُ النَّقْدِيَّ، فَسَيَجِدُ مَكَانَهُ فِي أَيِّ سُوقٍ.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الذَّكَاءِ الاصْطِنَاعِيِّ؟ (AI)
B: أَشَارَ مُرْشِدِي إِلَى أَنَّهُ لَنْ يَسْتَبْدِلَ المُبْدِعِينَ، وَإِذَا طَوَّرْتُ تَفْكِيرِي النَّقْدِيَّ، سَيَتَحَوَّلُ إِلَى أَدَاةٍ فِي يَدِي. (Reported speech + conditional + يَتَحَوَّلُ إِلَى)
Website prompts and model. “Not decided yet” stem: لَمْ أُقَرِّرْ بَعْدُ، لٰكِنَّنِي أَطْمَحُ إِلَى … To a girl: طُمُوحُكِ · يُؤَهِّلُكِ · كُنْتِ قَدْ قَرَّرْتِ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career verbs with correct complements. · Develop — Add a past perfect and a reported-speech clause. · Stretch — Integrate four P2 structures in one coherent paragraph on AI and work.
Website writing task (Stretch): Write one hundred and ten to one hundred and twenty words on your career aspirations and the future of work. Integrate all four P2 structures: a past perfect for background, reported speech for what a mentor says, a Type 1 conditional and the future — and use يُؤَهِّلُ لِـ or يُعِدُّ لِـ.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قَرَّرْتُ · كُنْتُ قَدِ اهْتَمَمْتُ · أَشَارَ … إِلَى أَنَّ · وَأَضَافَ أَنَّ … لَنْ يَسْتَبْدِلَ · إِذَا الْتَحَقْتُ … سَأُطَوِّرُ · سَوْفَ أُسْهِمُ · أُؤَهِّلُ نَفْسِي لِمِهَنِ · أَسْعَى إِلَى · يُعِدُّنِي لِمُوَاكَبَةِ. Note قَدِ اهْتَمَمْتُ: qad takes a helping kasra before a waṣl alif.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(P2-L06 · Education and Social Mobility) will spend class time USING this language, so students prepare it tonight — short, simple, easy to access (school guidance: “Simple, Short, Interesting, Relevant, Easy to access”). The five words come from the website P2-L06 vocabulary (education and social mobility).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slideLayout" Target="../slideLayouts/slideLayout1.xml"/><Relationship Id="rId9"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slideLayout" Target="../slideLayouts/slideLayout1.xml"/><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P2  ·  P2-L05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Career Aspirations and the Future of Work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الطُّمُوحَاتُ المِهَنِيَّةُ وَمُسْتَقْبَلُ العَمَلِ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Talk about career ambitions and AI: use the career verbs with the right complement (yuʾahhil li- · yuʿidd li- · yataḥawwal ilā · yaṭmaḥ ilā), weave four P2 structures into one paragraph, and discuss AI with balanced, hedged language.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P2-L05 · Progression P2 · Education and Future Plans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P2 › P2-L05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Career verbs + complements, integrating four P2 structures, hedging about AI.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 career argument, sort the complements, hear a careers adviser.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P2-L06.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طُمُوحٌ مِهَنِيٌّ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change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ambition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start-up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رِيَادَةُ الأَعْمَالِ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entrepreneurship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labour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path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critical thinking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artificial intelligence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يَحْتَفِظُ الطَّالِبُ المَعْلُومَاتِ.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يَحْتَفِظُ الطَّالِبُ إِلَى المَعْلُومَاتِ.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يَحْتَفِظُ الطَّالِبُ بِالمَعْلُومَاتِ.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المُعَلِّمُ إِنَّ الامْتِحَانَ سَهْلٌ.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المُعَلِّمُ أَنَّ الامْتِحَانَ سَهْلٌ.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المُعَلِّمُ إِنَّ الامْتِحَانُ سَهْلٌ.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طُمُوحٌ مِهَنِيٌّ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career change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career ambition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start-up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رِيَادَةُ الأَعْمَالِ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entrepreneurship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labour market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career path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critical thinking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artificial intelligence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يَحْتَفِظُ الطَّالِبُ المَعْلُومَاتِ.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يَحْتَفِظُ الطَّالِبُ إِلَى المَعْلُومَاتِ.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يَحْتَفِظُ الطَّالِبُ بِالمَعْلُومَاتِ.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P2-L04: yaḥtafiẓ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المُعَلِّمُ إِنَّ الامْتِحَانَ سَهْلٌ.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المُعَلِّمُ أَنَّ الامْتِحَانَ سَهْلٌ.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المُعَلِّمُ إِنَّ الامْتِحَانُ سَهْلٌ.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qāla + inna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career verb has its own partner. Learn the verb WITH its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يُؤَهِّلُ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يُعِدُّ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يَتَحَوَّلُ 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career ambitions and the future of work, including AI.</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yuʾahhil li-, yuʿidd li- and yataḥawwal ilā with the correct complement.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past perfect, reported speech, conditional and future in one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Argue which jobs AI will and will not replace — with balance.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career and future-of-work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yuʾahhil li- and yaṭmaḥ ilā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past-perfect background and a reported clause.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AI will and will not replace.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integrate four P2 structures in one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(baʿḍ … lā kullahā · lākinnahu lan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Ambitions and paths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AI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Integration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the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a skill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تَعَاوُنٌ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‎تعاون‎ </a:t>
            </a:r>
            <a:pPr indent="0" marL="0">
              <a:buNone/>
            </a:pPr>
            <a:r>
              <a:rPr lang="en-US" sz="950" b="1" dirty="0">
                <a:solidFill>
                  <a:srgbClr val="2E8B57"/>
                </a:solidFill>
                <a:latin typeface="Calibri" pitchFamily="34" charset="0"/>
                <a:cs typeface="Amiri" pitchFamily="2" charset="-78"/>
              </a:rPr>
              <a:t> taʿāwun · cooperation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حَلٌّ · مُشْكِلَةٌ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‎حل · مشکل‎ </a:t>
            </a:r>
            <a:pPr indent="0" marL="0">
              <a:buNone/>
            </a:pPr>
            <a:r>
              <a:rPr lang="en-US" sz="950" b="1" dirty="0">
                <a:solidFill>
                  <a:srgbClr val="2E8B57"/>
                </a:solidFill>
                <a:latin typeface="Calibri" pitchFamily="34" charset="0"/>
                <a:cs typeface="Amiri" pitchFamily="2" charset="-78"/>
              </a:rPr>
              <a:t> hal · mushkil · a solution · a problem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شَرِيكٌ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‎شریک‎ </a:t>
            </a:r>
            <a:pPr indent="0" marL="0">
              <a:buNone/>
            </a:pPr>
            <a:r>
              <a:rPr lang="en-US" sz="950" b="1" dirty="0">
                <a:solidFill>
                  <a:srgbClr val="2E8B57"/>
                </a:solidFill>
                <a:latin typeface="Calibri" pitchFamily="34" charset="0"/>
                <a:cs typeface="Amiri" pitchFamily="2" charset="-78"/>
              </a:rPr>
              <a:t> sharīk · a partner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Ambitions and paths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طُمُوحٌ مِهَنِيٌّ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ambition</a:t>
            </a:r>
            <a:endParaRPr lang="en-US" sz="1350" dirty="0"/>
          </a:p>
          <a:p>
            <a:pPr indent="0" marL="0">
              <a:buNone/>
            </a:pPr>
            <a:r>
              <a:rPr lang="en-US" sz="1100" i="1" dirty="0">
                <a:solidFill>
                  <a:srgbClr val="5A6472"/>
                </a:solidFill>
                <a:latin typeface="Calibri" pitchFamily="34" charset="0"/>
                <a:cs typeface="Amiri" pitchFamily="2" charset="-78"/>
              </a:rPr>
              <a:t>ṭu-mū-ḥun mi-ha-niy-yun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طُمُوحَاتٌ مِهَنِيَّةٌ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مَسَارٌ مِهَنِيٌّ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path</a:t>
            </a:r>
            <a:endParaRPr lang="en-US" sz="1350" dirty="0"/>
          </a:p>
          <a:p>
            <a:pPr indent="0" marL="0">
              <a:buNone/>
            </a:pPr>
            <a:r>
              <a:rPr lang="en-US" sz="1100" i="1" dirty="0">
                <a:solidFill>
                  <a:srgbClr val="5A6472"/>
                </a:solidFill>
                <a:latin typeface="Calibri" pitchFamily="34" charset="0"/>
                <a:cs typeface="Amiri" pitchFamily="2" charset="-78"/>
              </a:rPr>
              <a:t>ma-sā-run mi-ha-niy-yun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مَسَارَاتٌ مِهَنِيَّةٌ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تَغْيِيرُ المَسَارِ</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change</a:t>
            </a:r>
            <a:endParaRPr lang="en-US" sz="1350" dirty="0"/>
          </a:p>
          <a:p>
            <a:pPr indent="0" marL="0">
              <a:buNone/>
            </a:pPr>
            <a:r>
              <a:rPr lang="en-US" sz="1100" i="1" dirty="0">
                <a:solidFill>
                  <a:srgbClr val="5A6472"/>
                </a:solidFill>
                <a:latin typeface="Calibri" pitchFamily="34" charset="0"/>
                <a:cs typeface="Amiri" pitchFamily="2" charset="-78"/>
              </a:rPr>
              <a:t>tagh-yī-ru al-ma-sā-ri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مِهْنَةُ المُسْتَقْبَلِ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future career</a:t>
            </a:r>
            <a:endParaRPr lang="en-US" sz="1350" dirty="0"/>
          </a:p>
          <a:p>
            <a:pPr indent="0" marL="0">
              <a:buNone/>
            </a:pPr>
            <a:r>
              <a:rPr lang="en-US" sz="1100" i="1" dirty="0">
                <a:solidFill>
                  <a:srgbClr val="5A6472"/>
                </a:solidFill>
                <a:latin typeface="Calibri" pitchFamily="34" charset="0"/>
                <a:cs typeface="Amiri" pitchFamily="2" charset="-78"/>
              </a:rPr>
              <a:t>mih-na-tu al-mus-taq-ba-li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 المُسْتَقْبَلِ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Ambitions and paths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رِيَادَةُ الأَعْمَالِ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entrepreneurship</a:t>
            </a:r>
            <a:endParaRPr lang="en-US" sz="1350" dirty="0"/>
          </a:p>
          <a:p>
            <a:pPr indent="0" marL="0">
              <a:buNone/>
            </a:pPr>
            <a:r>
              <a:rPr lang="en-US" sz="1100" i="1" dirty="0">
                <a:solidFill>
                  <a:srgbClr val="5A6472"/>
                </a:solidFill>
                <a:latin typeface="Calibri" pitchFamily="34" charset="0"/>
                <a:cs typeface="Amiri" pitchFamily="2" charset="-78"/>
              </a:rPr>
              <a:t>ri-yā-da-tu al-aʿ-mā-li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شَرِكَةٌ نَاشِئَةٌ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start-up company</a:t>
            </a:r>
            <a:endParaRPr lang="en-US" sz="1350" dirty="0"/>
          </a:p>
          <a:p>
            <a:pPr indent="0" marL="0">
              <a:buNone/>
            </a:pPr>
            <a:r>
              <a:rPr lang="en-US" sz="1100" i="1" dirty="0">
                <a:solidFill>
                  <a:srgbClr val="5A6472"/>
                </a:solidFill>
                <a:latin typeface="Calibri" pitchFamily="34" charset="0"/>
                <a:cs typeface="Amiri" pitchFamily="2" charset="-78"/>
              </a:rPr>
              <a:t>sha-ri-ka-tun nā-shi-ʾa-tun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شَرِكَاتٌ نَاشِئَةٌ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مَشْرُوعٌ مُسْتَقِلٌّ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freelance project</a:t>
            </a:r>
            <a:endParaRPr lang="en-US" sz="1350" dirty="0"/>
          </a:p>
          <a:p>
            <a:pPr indent="0" marL="0">
              <a:buNone/>
            </a:pPr>
            <a:r>
              <a:rPr lang="en-US" sz="1100" i="1" dirty="0">
                <a:solidFill>
                  <a:srgbClr val="5A6472"/>
                </a:solidFill>
                <a:latin typeface="Calibri" pitchFamily="34" charset="0"/>
                <a:cs typeface="Amiri" pitchFamily="2" charset="-78"/>
              </a:rPr>
              <a:t>mash-rū-ʿun mus-ta-qil-lun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مَشَارِيعُ مُسْتَقِلَّةٌ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مُنَافَسَةُ سُوقِ العَمَلِ</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labour-market competition</a:t>
            </a:r>
            <a:endParaRPr lang="en-US" sz="1350" dirty="0"/>
          </a:p>
          <a:p>
            <a:pPr indent="0" marL="0">
              <a:buNone/>
            </a:pPr>
            <a:r>
              <a:rPr lang="en-US" sz="1100" i="1" dirty="0">
                <a:solidFill>
                  <a:srgbClr val="5A6472"/>
                </a:solidFill>
                <a:latin typeface="Calibri" pitchFamily="34" charset="0"/>
                <a:cs typeface="Amiri" pitchFamily="2" charset="-78"/>
              </a:rPr>
              <a:t>mu-nā-fa-sa-tu sū-qi al-ʿa-ma-li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AI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مَهَارَاتُ القَرْنِ الوَاحِدِ وَالعِشْرِينَ</a:t>
            </a:r>
            <a:endParaRPr lang="ar-SA" sz="24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21st-century skills</a:t>
            </a:r>
            <a:endParaRPr lang="en-US" sz="1350" dirty="0"/>
          </a:p>
          <a:p>
            <a:pPr indent="0" marL="0">
              <a:buNone/>
            </a:pPr>
            <a:r>
              <a:rPr lang="en-US" sz="1100" i="1" dirty="0">
                <a:solidFill>
                  <a:srgbClr val="5A6472"/>
                </a:solidFill>
                <a:latin typeface="Calibri" pitchFamily="34" charset="0"/>
                <a:cs typeface="Amiri" pitchFamily="2" charset="-78"/>
              </a:rPr>
              <a:t>ma-hā-rā-tu al-qar-ni al-wā-ḥi-di wāl-ʿish-rī-na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التَّفْكِيرُ النَّقْدِيُّ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critical thinking</a:t>
            </a:r>
            <a:endParaRPr lang="en-US" sz="1350" dirty="0"/>
          </a:p>
          <a:p>
            <a:pPr indent="0" marL="0">
              <a:buNone/>
            </a:pPr>
            <a:r>
              <a:rPr lang="en-US" sz="1100" i="1" dirty="0">
                <a:solidFill>
                  <a:srgbClr val="5A6472"/>
                </a:solidFill>
                <a:latin typeface="Calibri" pitchFamily="34" charset="0"/>
                <a:cs typeface="Amiri" pitchFamily="2" charset="-78"/>
              </a:rPr>
              <a:t>at-taf-kī-ru an-naq-diy-yu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المَشْكِلَاتِ</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al-mash-ki-lā-ti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التَّعَاوُنُ وَالتَّوَاصُلُ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collaboration and communication</a:t>
            </a:r>
            <a:endParaRPr lang="en-US" sz="1350" dirty="0"/>
          </a:p>
          <a:p>
            <a:pPr indent="0" marL="0">
              <a:buNone/>
            </a:pPr>
            <a:r>
              <a:rPr lang="en-US" sz="1100" i="1" dirty="0">
                <a:solidFill>
                  <a:srgbClr val="5A6472"/>
                </a:solidFill>
                <a:latin typeface="Calibri" pitchFamily="34" charset="0"/>
                <a:cs typeface="Amiri" pitchFamily="2" charset="-78"/>
              </a:rPr>
              <a:t>at-ta-ʿā-wu-nu wālt-ta-wā-ṣu-lu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AI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الذَّكَاءُ الاصْطِنَاعِيُّ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adh-dha-kā-ʾu alṣ-ṭi-nā-ʿiy-yu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مَهَارَةُ التَّكَيُّفِ</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ma-hā-ra-tu at-ta-kay-yu-fi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الإِبْدَاعُ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التَّعَاطُفُ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empathy</a:t>
            </a:r>
            <a:endParaRPr lang="en-US" sz="1350" dirty="0"/>
          </a:p>
          <a:p>
            <a:pPr indent="0" marL="0">
              <a:buNone/>
            </a:pPr>
            <a:r>
              <a:rPr lang="en-US" sz="1100" i="1" dirty="0">
                <a:solidFill>
                  <a:srgbClr val="5A6472"/>
                </a:solidFill>
                <a:latin typeface="Calibri" pitchFamily="34" charset="0"/>
                <a:cs typeface="Amiri" pitchFamily="2" charset="-78"/>
              </a:rPr>
              <a:t>at-ta-ʿā-ṭu-fu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Integration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يُؤَهِّلُ لِـ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qualifies for</a:t>
            </a:r>
            <a:endParaRPr lang="en-US" sz="1350" dirty="0"/>
          </a:p>
          <a:p>
            <a:pPr indent="0" marL="0">
              <a:buNone/>
            </a:pPr>
            <a:r>
              <a:rPr lang="en-US" sz="1100" i="1" dirty="0">
                <a:solidFill>
                  <a:srgbClr val="5A6472"/>
                </a:solidFill>
                <a:latin typeface="Calibri" pitchFamily="34" charset="0"/>
                <a:cs typeface="Amiri" pitchFamily="2" charset="-78"/>
              </a:rPr>
              <a:t>yu-ʾah-hi-lu li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تُؤَهِّلُ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أُؤَهِّلُ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 لِـ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prepares for</a:t>
            </a:r>
            <a:endParaRPr lang="en-US" sz="1350" dirty="0"/>
          </a:p>
          <a:p>
            <a:pPr indent="0" marL="0">
              <a:buNone/>
            </a:pPr>
            <a:r>
              <a:rPr lang="en-US" sz="1100" i="1" dirty="0">
                <a:solidFill>
                  <a:srgbClr val="5A6472"/>
                </a:solidFill>
                <a:latin typeface="Calibri" pitchFamily="34" charset="0"/>
                <a:cs typeface="Amiri" pitchFamily="2" charset="-78"/>
              </a:rPr>
              <a:t>yu-ʿid-du li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تُعِدُّ</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أُعِدُّ</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يَتَحَوَّلُ إِلَى</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transforms into</a:t>
            </a:r>
            <a:endParaRPr lang="en-US" sz="1350" dirty="0"/>
          </a:p>
          <a:p>
            <a:pPr indent="0" marL="0">
              <a:buNone/>
            </a:pPr>
            <a:r>
              <a:rPr lang="en-US" sz="1100" i="1" dirty="0">
                <a:solidFill>
                  <a:srgbClr val="5A6472"/>
                </a:solidFill>
                <a:latin typeface="Calibri" pitchFamily="34" charset="0"/>
                <a:cs typeface="Amiri" pitchFamily="2" charset="-78"/>
              </a:rPr>
              <a:t>ya-ta-ḥaw-wa-lu i-lā</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تَتَحَوَّلُ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أَتَحَوَّلُ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يَسْتَبْدِلُ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replaces</a:t>
            </a:r>
            <a:endParaRPr lang="en-US" sz="1350" dirty="0"/>
          </a:p>
          <a:p>
            <a:pPr indent="0" marL="0">
              <a:buNone/>
            </a:pPr>
            <a:r>
              <a:rPr lang="en-US" sz="1100" i="1" dirty="0">
                <a:solidFill>
                  <a:srgbClr val="5A6472"/>
                </a:solidFill>
                <a:latin typeface="Calibri" pitchFamily="34" charset="0"/>
                <a:cs typeface="Amiri" pitchFamily="2" charset="-78"/>
              </a:rPr>
              <a:t>yas-tab-di-lu</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تَسْتَبْدِلُ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أَسْتَبْدِلُ</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يَطْمَحُ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aspires to</a:t>
            </a:r>
            <a:endParaRPr lang="en-US" sz="1350" dirty="0"/>
          </a:p>
          <a:p>
            <a:pPr indent="0" marL="0">
              <a:buNone/>
            </a:pPr>
            <a:r>
              <a:rPr lang="en-US" sz="1100" i="1" dirty="0">
                <a:solidFill>
                  <a:srgbClr val="5A6472"/>
                </a:solidFill>
                <a:latin typeface="Calibri" pitchFamily="34" charset="0"/>
                <a:cs typeface="Amiri" pitchFamily="2" charset="-78"/>
              </a:rPr>
              <a:t>yaṭ-ma-ḥu i-lā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تَطْمَحُ</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أَطْمَحُ</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يَسْعَى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strives for</a:t>
            </a:r>
            <a:endParaRPr lang="en-US" sz="1350" dirty="0"/>
          </a:p>
          <a:p>
            <a:pPr indent="0" marL="0">
              <a:buNone/>
            </a:pPr>
            <a:r>
              <a:rPr lang="en-US" sz="1100" i="1" dirty="0">
                <a:solidFill>
                  <a:srgbClr val="5A6472"/>
                </a:solidFill>
                <a:latin typeface="Calibri" pitchFamily="34" charset="0"/>
                <a:cs typeface="Amiri" pitchFamily="2" charset="-78"/>
              </a:rPr>
              <a:t>yas-ʿā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تَسْعَى</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أَسْعَى</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يُسْهِمُ فِي</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a:t>
            </a:r>
            <a:endParaRPr lang="en-US" sz="1350" dirty="0"/>
          </a:p>
          <a:p>
            <a:pPr indent="0" marL="0">
              <a:buNone/>
            </a:pPr>
            <a:r>
              <a:rPr lang="en-US" sz="1100" i="1" dirty="0">
                <a:solidFill>
                  <a:srgbClr val="5A6472"/>
                </a:solidFill>
                <a:latin typeface="Calibri" pitchFamily="34" charset="0"/>
                <a:cs typeface="Amiri" pitchFamily="2" charset="-78"/>
              </a:rPr>
              <a:t>yus-hi-mu fī</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تُسْهِمُ</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أُسْهِمُ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يُوَاكِبُ</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pace with</a:t>
            </a:r>
            <a:endParaRPr lang="en-US" sz="1350" dirty="0"/>
          </a:p>
          <a:p>
            <a:pPr indent="0" marL="0">
              <a:buNone/>
            </a:pPr>
            <a:r>
              <a:rPr lang="en-US" sz="1100" i="1" dirty="0">
                <a:solidFill>
                  <a:srgbClr val="5A6472"/>
                </a:solidFill>
                <a:latin typeface="Calibri" pitchFamily="34" charset="0"/>
                <a:cs typeface="Amiri" pitchFamily="2" charset="-78"/>
              </a:rPr>
              <a:t>yu-wā-ki-bu</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تُوَاكِبُ</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أُوَاكِبُ</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CAREER VERBS AND THEIR COMPLEMENTS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verb has its own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التَّعْلِيمُ يُؤَهِّلُنِي </a:t>
            </a:r>
            <a:pPr rtl="1" algn="ctr" indent="0" marL="0">
              <a:buNone/>
            </a:pPr>
            <a:r>
              <a:rPr lang="ar-SA" altLang="en-US" sz="2000" b="1" dirty="0">
                <a:solidFill>
                  <a:srgbClr val="1D5FBF"/>
                </a:solidFill>
                <a:latin typeface="Amiri" pitchFamily="2" charset="-78"/>
                <a:cs typeface="Amiri" pitchFamily="2" charset="-78"/>
              </a:rPr>
              <a:t>لِسُوقِ</a:t>
            </a:r>
            <a:pPr rtl="1" algn="ctr" indent="0" marL="0">
              <a:buNone/>
            </a:pPr>
            <a:r>
              <a:rPr lang="ar-SA" altLang="en-US" sz="2000" b="1" dirty="0">
                <a:solidFill>
                  <a:srgbClr val="1B3B6F"/>
                </a:solidFill>
                <a:latin typeface="Amiri" pitchFamily="2" charset="-78"/>
                <a:cs typeface="Amiri" pitchFamily="2" charset="-78"/>
              </a:rPr>
              <a:t> العَمَلِ.</a:t>
            </a:r>
            <a:endParaRPr lang="ar-SA" sz="2000" dirty="0"/>
          </a:p>
        </p:txBody>
      </p:sp>
      <p:sp>
        <p:nvSpPr>
          <p:cNvPr id="22" name="Text 19"/>
          <p:cNvSpPr txBox="1"/>
          <p:nvPr/>
        </p:nvSpPr>
        <p:spPr>
          <a:xfrm>
            <a:off x="4663440" y="2267712"/>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لِـ</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يُؤَهِّلُ</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qualifies for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الجَامِعَةُ تُعِدُّنِي </a:t>
            </a:r>
            <a:pPr rtl="1" algn="ctr" indent="0" marL="0">
              <a:buNone/>
            </a:pPr>
            <a:r>
              <a:rPr lang="ar-SA" altLang="en-US" sz="2000" b="1" dirty="0">
                <a:solidFill>
                  <a:srgbClr val="1D5FBF"/>
                </a:solidFill>
                <a:latin typeface="Amiri" pitchFamily="2" charset="-78"/>
                <a:cs typeface="Amiri" pitchFamily="2" charset="-78"/>
              </a:rPr>
              <a:t>لِلْمُنَافَسَةِ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9" name="Text 26"/>
          <p:cNvSpPr txBox="1"/>
          <p:nvPr/>
        </p:nvSpPr>
        <p:spPr>
          <a:xfrm>
            <a:off x="4663440" y="2881884"/>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لِـ</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يُعِدُّ</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prepares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يَتَحَوَّلُ الذَّكَاءُ الاصْطِنَاعِيُّ </a:t>
            </a:r>
            <a:pPr rtl="1" algn="ctr" indent="0" marL="0">
              <a:buNone/>
            </a:pPr>
            <a:r>
              <a:rPr lang="ar-SA" altLang="en-US" sz="2000" b="1" dirty="0">
                <a:solidFill>
                  <a:srgbClr val="0E7C86"/>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شَرِيكٍ.</a:t>
            </a:r>
            <a:endParaRPr lang="ar-SA" sz="2000" dirty="0"/>
          </a:p>
        </p:txBody>
      </p:sp>
      <p:sp>
        <p:nvSpPr>
          <p:cNvPr id="36" name="Text 33"/>
          <p:cNvSpPr txBox="1"/>
          <p:nvPr/>
        </p:nvSpPr>
        <p:spPr>
          <a:xfrm>
            <a:off x="4663440" y="3496056"/>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إِلَى</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يَتَحَوَّلُ</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transforms into</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يَطْمَحُ الطَّالِبُ </a:t>
            </a:r>
            <a:pPr rtl="1" algn="ctr" indent="0" marL="0">
              <a:buNone/>
            </a:pPr>
            <a:r>
              <a:rPr lang="ar-SA" altLang="en-US" sz="2000" b="1" dirty="0">
                <a:solidFill>
                  <a:srgbClr val="0E7C86"/>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النَّجَاحِ.</a:t>
            </a:r>
            <a:endParaRPr lang="ar-SA" sz="2000" dirty="0"/>
          </a:p>
        </p:txBody>
      </p:sp>
      <p:sp>
        <p:nvSpPr>
          <p:cNvPr id="43" name="Text 40"/>
          <p:cNvSpPr txBox="1"/>
          <p:nvPr/>
        </p:nvSpPr>
        <p:spPr>
          <a:xfrm>
            <a:off x="4663440" y="4110228"/>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إِلَى</a:t>
            </a:r>
            <a:endParaRPr lang="ar-SA" sz="2200" dirty="0"/>
          </a:p>
        </p:txBody>
      </p:sp>
      <p:sp>
        <p:nvSpPr>
          <p:cNvPr id="44" name="Text 41"/>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يَطْمَحُ</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aspires to</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سَأُسْهِمُ </a:t>
            </a:r>
            <a:pPr rtl="1" algn="ctr" indent="0" marL="0">
              <a:buNone/>
            </a:pPr>
            <a:r>
              <a:rPr lang="ar-SA" altLang="en-US" sz="2000" b="1" dirty="0">
                <a:solidFill>
                  <a:srgbClr val="7B3FA0"/>
                </a:solidFill>
                <a:latin typeface="Amiri" pitchFamily="2" charset="-78"/>
                <a:cs typeface="Amiri" pitchFamily="2" charset="-78"/>
              </a:rPr>
              <a:t>فِي</a:t>
            </a:r>
            <a:pPr rtl="1" algn="ctr" indent="0" marL="0">
              <a:buNone/>
            </a:pPr>
            <a:r>
              <a:rPr lang="ar-SA" altLang="en-US" sz="2000" b="1" dirty="0">
                <a:solidFill>
                  <a:srgbClr val="1B3B6F"/>
                </a:solidFill>
                <a:latin typeface="Amiri" pitchFamily="2" charset="-78"/>
                <a:cs typeface="Amiri" pitchFamily="2" charset="-78"/>
              </a:rPr>
              <a:t> مَجَالِي.</a:t>
            </a:r>
            <a:endParaRPr lang="ar-SA" sz="2000" dirty="0"/>
          </a:p>
        </p:txBody>
      </p:sp>
      <p:sp>
        <p:nvSpPr>
          <p:cNvPr id="50" name="Text 47"/>
          <p:cNvSpPr txBox="1"/>
          <p:nvPr/>
        </p:nvSpPr>
        <p:spPr>
          <a:xfrm>
            <a:off x="4663440" y="4724400"/>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فِي</a:t>
            </a:r>
            <a:endParaRPr lang="ar-SA" sz="2200" dirty="0"/>
          </a:p>
        </p:txBody>
      </p:sp>
      <p:sp>
        <p:nvSpPr>
          <p:cNvPr id="51" name="Text 48"/>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يُسْهِمُ</a:t>
            </a:r>
            <a:endParaRPr lang="ar-SA" sz="2200" dirty="0"/>
          </a:p>
        </p:txBody>
      </p:sp>
      <p:sp>
        <p:nvSpPr>
          <p:cNvPr id="52" name="Text 49"/>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contributes to</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يَسْتَبْدِلُ الذَّكَاءُ </a:t>
            </a:r>
            <a:pPr rtl="1" algn="ctr" indent="0" marL="0">
              <a:buNone/>
            </a:pPr>
            <a:r>
              <a:rPr lang="ar-SA" altLang="en-US" sz="2000" b="1" dirty="0">
                <a:solidFill>
                  <a:srgbClr val="C77700"/>
                </a:solidFill>
                <a:latin typeface="Amiri" pitchFamily="2" charset="-78"/>
                <a:cs typeface="Amiri" pitchFamily="2" charset="-78"/>
              </a:rPr>
              <a:t>بَعْضَ</a:t>
            </a:r>
            <a:pPr rtl="1" algn="ctr" indent="0" marL="0">
              <a:buNone/>
            </a:pPr>
            <a:r>
              <a:rPr lang="ar-SA" altLang="en-US" sz="2000" b="1" dirty="0">
                <a:solidFill>
                  <a:srgbClr val="1B3B6F"/>
                </a:solidFill>
                <a:latin typeface="Amiri" pitchFamily="2" charset="-78"/>
                <a:cs typeface="Amiri" pitchFamily="2" charset="-78"/>
              </a:rPr>
              <a:t> الوَظَائِفِ.</a:t>
            </a:r>
            <a:endParaRPr lang="ar-SA" sz="2000" dirty="0"/>
          </a:p>
        </p:txBody>
      </p:sp>
      <p:sp>
        <p:nvSpPr>
          <p:cNvPr id="55" name="Text 52"/>
          <p:cNvSpPr txBox="1"/>
          <p:nvPr/>
        </p:nvSpPr>
        <p:spPr>
          <a:xfrm>
            <a:off x="46817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يَسْتَبْدِلُ</a:t>
            </a:r>
            <a:endParaRPr lang="ar-SA" sz="2200" dirty="0"/>
          </a:p>
        </p:txBody>
      </p:sp>
      <p:sp>
        <p:nvSpPr>
          <p:cNvPr id="57" name="Text 54"/>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replaces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table and common error: never ilā after yuʾahhil / yuʿidd, never li- after yataḥawwal.</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CAREER VERBS FOR I, HE AND SHE (WEBSITE VOCABULARY)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aspire · he aspires · she aspires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أَطْمَحُ · يَطْمَحُ · تَطْمَحُ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7" name="Text 14"/>
          <p:cNvSpPr txBox="1"/>
          <p:nvPr/>
        </p:nvSpPr>
        <p:spPr>
          <a:xfrm>
            <a:off x="57424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8" name="Text 15"/>
          <p:cNvSpPr txBox="1"/>
          <p:nvPr/>
        </p:nvSpPr>
        <p:spPr>
          <a:xfrm>
            <a:off x="272491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تَطْمَحُ إِلَى الهَنْدَسَةِ</a:t>
            </a:r>
            <a:endParaRPr lang="ar-SA" sz="2000" dirty="0"/>
          </a:p>
        </p:txBody>
      </p:sp>
      <p:sp>
        <p:nvSpPr>
          <p:cNvPr id="22" name="Text 19"/>
          <p:cNvSpPr txBox="1"/>
          <p:nvPr/>
        </p:nvSpPr>
        <p:spPr>
          <a:xfrm>
            <a:off x="57607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يَطْمَحُ إِلَى الهَنْدَسَةِ</a:t>
            </a:r>
            <a:endParaRPr lang="ar-SA" sz="2000" dirty="0"/>
          </a:p>
        </p:txBody>
      </p:sp>
      <p:sp>
        <p:nvSpPr>
          <p:cNvPr id="23" name="Text 20"/>
          <p:cNvSpPr txBox="1"/>
          <p:nvPr/>
        </p:nvSpPr>
        <p:spPr>
          <a:xfrm>
            <a:off x="274320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أَطْمَحُ إِلَى الهَنْدَسَةِ</a:t>
            </a:r>
            <a:endParaRPr lang="ar-SA" sz="20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aspire to engineering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cs typeface="Amiri" pitchFamily="2" charset="-78"/>
              </a:rPr>
              <a:t>يُؤَهِّلُهَا</a:t>
            </a:r>
            <a:pPr rtl="1" algn="ctr" indent="0" marL="0">
              <a:buNone/>
            </a:pPr>
            <a:r>
              <a:rPr lang="ar-SA" altLang="en-US" sz="2000" b="1" dirty="0">
                <a:solidFill>
                  <a:srgbClr val="1B3B6F"/>
                </a:solidFill>
                <a:latin typeface="Amiri" pitchFamily="2" charset="-78"/>
                <a:cs typeface="Amiri" pitchFamily="2" charset="-78"/>
              </a:rPr>
              <a:t> لِلْعَمَلِ</a:t>
            </a:r>
            <a:endParaRPr lang="ar-SA" sz="2000" dirty="0"/>
          </a:p>
        </p:txBody>
      </p:sp>
      <p:sp>
        <p:nvSpPr>
          <p:cNvPr id="29" name="Text 26"/>
          <p:cNvSpPr txBox="1"/>
          <p:nvPr/>
        </p:nvSpPr>
        <p:spPr>
          <a:xfrm>
            <a:off x="57607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cs typeface="Amiri" pitchFamily="2" charset="-78"/>
              </a:rPr>
              <a:t>يُؤَهِّلُهُ</a:t>
            </a:r>
            <a:pPr rtl="1" algn="ctr" indent="0" marL="0">
              <a:buNone/>
            </a:pPr>
            <a:r>
              <a:rPr lang="ar-SA" altLang="en-US" sz="2000" b="1" dirty="0">
                <a:solidFill>
                  <a:srgbClr val="1B3B6F"/>
                </a:solidFill>
                <a:latin typeface="Amiri" pitchFamily="2" charset="-78"/>
                <a:cs typeface="Amiri" pitchFamily="2" charset="-78"/>
              </a:rPr>
              <a:t> لِلْعَمَلِ</a:t>
            </a:r>
            <a:endParaRPr lang="ar-SA" sz="2000" dirty="0"/>
          </a:p>
        </p:txBody>
      </p:sp>
      <p:sp>
        <p:nvSpPr>
          <p:cNvPr id="30" name="Text 27"/>
          <p:cNvSpPr txBox="1"/>
          <p:nvPr/>
        </p:nvSpPr>
        <p:spPr>
          <a:xfrm>
            <a:off x="274320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cs typeface="Amiri" pitchFamily="2" charset="-78"/>
              </a:rPr>
              <a:t>يُؤَهِّلُنِي</a:t>
            </a:r>
            <a:pPr rtl="1" algn="ctr" indent="0" marL="0">
              <a:buNone/>
            </a:pPr>
            <a:r>
              <a:rPr lang="ar-SA" altLang="en-US" sz="2000" b="1" dirty="0">
                <a:solidFill>
                  <a:srgbClr val="1B3B6F"/>
                </a:solidFill>
                <a:latin typeface="Amiri" pitchFamily="2" charset="-78"/>
                <a:cs typeface="Amiri" pitchFamily="2" charset="-78"/>
              </a:rPr>
              <a:t> لِلْعَمَلِ</a:t>
            </a:r>
            <a:endParaRPr lang="ar-SA" sz="20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qualifies me / him / her for work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تَسْعَى إِلَى التَّعَلُّمِ</a:t>
            </a:r>
            <a:endParaRPr lang="ar-SA" sz="2000" dirty="0"/>
          </a:p>
        </p:txBody>
      </p:sp>
      <p:sp>
        <p:nvSpPr>
          <p:cNvPr id="36" name="Text 33"/>
          <p:cNvSpPr txBox="1"/>
          <p:nvPr/>
        </p:nvSpPr>
        <p:spPr>
          <a:xfrm>
            <a:off x="57607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يَسْعَى إِلَى التَّعَلُّمِ</a:t>
            </a:r>
            <a:endParaRPr lang="ar-SA" sz="2000" dirty="0"/>
          </a:p>
        </p:txBody>
      </p:sp>
      <p:sp>
        <p:nvSpPr>
          <p:cNvPr id="37" name="Text 34"/>
          <p:cNvSpPr txBox="1"/>
          <p:nvPr/>
        </p:nvSpPr>
        <p:spPr>
          <a:xfrm>
            <a:off x="274320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أَسْعَى إِلَى التَّعَلُّمِ</a:t>
            </a:r>
            <a:endParaRPr lang="ar-SA" sz="20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strive to learn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تُسْهِمُ فِي </a:t>
            </a:r>
            <a:pPr rtl="1" algn="ctr" indent="0" marL="0">
              <a:buNone/>
            </a:pPr>
            <a:r>
              <a:rPr lang="ar-SA" altLang="en-US" sz="2000" b="1" dirty="0">
                <a:solidFill>
                  <a:srgbClr val="1D5FBF"/>
                </a:solidFill>
                <a:latin typeface="Amiri" pitchFamily="2" charset="-78"/>
                <a:cs typeface="Amiri" pitchFamily="2" charset="-78"/>
              </a:rPr>
              <a:t>مَجَالِهَا</a:t>
            </a:r>
            <a:endParaRPr lang="ar-SA" sz="2000" dirty="0"/>
          </a:p>
        </p:txBody>
      </p:sp>
      <p:sp>
        <p:nvSpPr>
          <p:cNvPr id="41" name="Text 38"/>
          <p:cNvSpPr txBox="1"/>
          <p:nvPr/>
        </p:nvSpPr>
        <p:spPr>
          <a:xfrm>
            <a:off x="57607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يُسْهِمُ فِي </a:t>
            </a:r>
            <a:pPr rtl="1" algn="ctr" indent="0" marL="0">
              <a:buNone/>
            </a:pPr>
            <a:r>
              <a:rPr lang="ar-SA" altLang="en-US" sz="2000" b="1" dirty="0">
                <a:solidFill>
                  <a:srgbClr val="1D5FBF"/>
                </a:solidFill>
                <a:latin typeface="Amiri" pitchFamily="2" charset="-78"/>
                <a:cs typeface="Amiri" pitchFamily="2" charset="-78"/>
              </a:rPr>
              <a:t>مَجَالِهِ</a:t>
            </a:r>
            <a:endParaRPr lang="ar-SA" sz="2000" dirty="0"/>
          </a:p>
        </p:txBody>
      </p:sp>
      <p:sp>
        <p:nvSpPr>
          <p:cNvPr id="42" name="Text 39"/>
          <p:cNvSpPr txBox="1"/>
          <p:nvPr/>
        </p:nvSpPr>
        <p:spPr>
          <a:xfrm>
            <a:off x="274320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أُسْهِمُ فِي </a:t>
            </a:r>
            <a:pPr rtl="1" algn="ctr" indent="0" marL="0">
              <a:buNone/>
            </a:pPr>
            <a:r>
              <a:rPr lang="ar-SA" altLang="en-US" sz="2000" b="1" dirty="0">
                <a:solidFill>
                  <a:srgbClr val="1D5FBF"/>
                </a:solidFill>
                <a:latin typeface="Amiri" pitchFamily="2" charset="-78"/>
                <a:cs typeface="Amiri" pitchFamily="2" charset="-78"/>
              </a:rPr>
              <a:t>مَجَالِي</a:t>
            </a:r>
            <a:endParaRPr lang="ar-SA" sz="20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 to my / his / her field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تُوَاكِبُ التَّغْيِيرَ</a:t>
            </a:r>
            <a:endParaRPr lang="ar-SA" sz="2000" dirty="0"/>
          </a:p>
        </p:txBody>
      </p:sp>
      <p:sp>
        <p:nvSpPr>
          <p:cNvPr id="46" name="Text 43"/>
          <p:cNvSpPr txBox="1"/>
          <p:nvPr/>
        </p:nvSpPr>
        <p:spPr>
          <a:xfrm>
            <a:off x="57607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يُوَاكِبُ التَّغْيِيرَ</a:t>
            </a:r>
            <a:endParaRPr lang="ar-SA" sz="2000" dirty="0"/>
          </a:p>
        </p:txBody>
      </p:sp>
      <p:sp>
        <p:nvSpPr>
          <p:cNvPr id="47" name="Text 44"/>
          <p:cNvSpPr txBox="1"/>
          <p:nvPr/>
        </p:nvSpPr>
        <p:spPr>
          <a:xfrm>
            <a:off x="274320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أُوَاكِبُ التَّغْيِيرَ</a:t>
            </a:r>
            <a:endParaRPr lang="ar-SA" sz="20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pace with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Row 2: the person is the OBJECT pronoun on the verb (-nī · -hu · -hā) — education does the qualifying.</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P2 TOOLKIT IN ONE TEXT (WEBSITE RULES 2–4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citation,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دَمْجُ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BACKGROUND · P2-L03</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كُنْتُ قَدْ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كُنْتُ قَدْ قَرَّرْتُ مَسِيرَتِي مُنْذُ صِغَرِي.</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had decided on my career since childhood.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kuntu qad + past.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CITATION · P2-L02</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قَالَ إِنَّ · أَضَافَ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قَالَ مُرْشِدِي إِنَّ المَجَالَ وَاعِدٌ، وَأَضَافَ أَنَّهُ مَطْلُوبٌ.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adviser said the field is promising, and added that it is in demand.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qāla → inna; others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PLAN · P1-L03</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 · سَوْفَ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طَوَّرْتُ مَهَارَاتِي، سَأَنْجَحُ فِي سُوقِ العَمَلِ.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develop my skills, I will succeed in the labour market.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qāla takes inna, not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قَالَ مُرْشِدِي إِنَّ المَجَالَ وَاعِدٌ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قَالَ مُرْشِدِي أَنَّ المَجَالَ وَاعِدٌ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TALKING ABOUT AI WITH BALANCE (WEBSITE QUIZ 7, READING AND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Not “AI is a disaster”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4096512"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Balanced ✓</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 strong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baʿḍ … lā kullahā</a:t>
            </a:r>
            <a:endParaRPr lang="en-US" sz="1100" dirty="0"/>
          </a:p>
        </p:txBody>
      </p:sp>
      <p:sp>
        <p:nvSpPr>
          <p:cNvPr id="21" name="Text 18"/>
          <p:cNvSpPr txBox="1"/>
          <p:nvPr/>
        </p:nvSpPr>
        <p:spPr>
          <a:xfrm>
            <a:off x="4114800" y="2267712"/>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سَيَسْتَبْدِلُ بَعْضَ الوَظَائِفِ </a:t>
            </a:r>
            <a:pPr rtl="1" algn="ctr" indent="0" marL="0">
              <a:buNone/>
            </a:pPr>
            <a:r>
              <a:rPr lang="ar-SA" altLang="en-US" sz="1800" b="1" dirty="0">
                <a:solidFill>
                  <a:srgbClr val="0E7C86"/>
                </a:solidFill>
                <a:latin typeface="Amiri" pitchFamily="2" charset="-78"/>
                <a:cs typeface="Amiri" pitchFamily="2" charset="-78"/>
              </a:rPr>
              <a:t>لَا كُلَّهَا</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2" name="Text 19"/>
          <p:cNvSpPr txBox="1"/>
          <p:nvPr/>
        </p:nvSpPr>
        <p:spPr>
          <a:xfrm>
            <a:off x="548640" y="2267712"/>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سَيُنْهِي الذَّكَاءُ كُلَّ العَمَلِ.</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lākinnahu lan + -a</a:t>
            </a:r>
            <a:endParaRPr lang="en-US" sz="1100" dirty="0"/>
          </a:p>
        </p:txBody>
      </p:sp>
      <p:sp>
        <p:nvSpPr>
          <p:cNvPr id="27" name="Text 24"/>
          <p:cNvSpPr txBox="1"/>
          <p:nvPr/>
        </p:nvSpPr>
        <p:spPr>
          <a:xfrm>
            <a:off x="4114800" y="3054096"/>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سَيَسْتَبْدِلُ الوَظَائِفَ الرُّوتِينِيَّةَ، </a:t>
            </a:r>
            <a:pPr rtl="1" algn="ctr" indent="0" marL="0">
              <a:buNone/>
            </a:pPr>
            <a:r>
              <a:rPr lang="ar-SA" altLang="en-US" sz="1800" b="1" dirty="0">
                <a:solidFill>
                  <a:srgbClr val="0E7C86"/>
                </a:solidFill>
                <a:latin typeface="Amiri" pitchFamily="2" charset="-78"/>
                <a:cs typeface="Amiri" pitchFamily="2" charset="-78"/>
              </a:rPr>
              <a:t>لٰكِنَّهُ لَنْ يَسْتَبْدِلَ</a:t>
            </a:r>
            <a:pPr rtl="1" algn="ctr" indent="0" marL="0">
              <a:buNone/>
            </a:pPr>
            <a:r>
              <a:rPr lang="ar-SA" altLang="en-US" sz="1800" b="1" dirty="0">
                <a:solidFill>
                  <a:srgbClr val="1B3B6F"/>
                </a:solidFill>
                <a:latin typeface="Amiri" pitchFamily="2" charset="-78"/>
                <a:cs typeface="Amiri" pitchFamily="2" charset="-78"/>
              </a:rPr>
              <a:t> المُبْدِعِينَ.</a:t>
            </a:r>
            <a:endParaRPr lang="ar-SA" sz="1800" dirty="0"/>
          </a:p>
        </p:txBody>
      </p:sp>
      <p:sp>
        <p:nvSpPr>
          <p:cNvPr id="28" name="Text 25"/>
          <p:cNvSpPr txBox="1"/>
          <p:nvPr/>
        </p:nvSpPr>
        <p:spPr>
          <a:xfrm>
            <a:off x="548640" y="3054096"/>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الذَّكَاءُ الاصْطِنَاعِيُّ كَارِثَةٌ.</a:t>
            </a:r>
            <a:endParaRPr lang="ar-SA" sz="18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noun</a:t>
            </a:r>
            <a:endParaRPr lang="en-US" sz="1100" dirty="0"/>
          </a:p>
        </p:txBody>
      </p:sp>
      <p:sp>
        <p:nvSpPr>
          <p:cNvPr id="31" name="Text 28"/>
          <p:cNvSpPr txBox="1"/>
          <p:nvPr/>
        </p:nvSpPr>
        <p:spPr>
          <a:xfrm>
            <a:off x="4114800" y="3840480"/>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سَيُعِيدُ تَشْكِيلَ سُوقِ العَمَلِ </a:t>
            </a:r>
            <a:pPr rtl="1" algn="ctr" indent="0" marL="0">
              <a:buNone/>
            </a:pPr>
            <a:r>
              <a:rPr lang="ar-SA" altLang="en-US" sz="1800" b="1" dirty="0">
                <a:solidFill>
                  <a:srgbClr val="0E7C86"/>
                </a:solidFill>
                <a:latin typeface="Amiri" pitchFamily="2" charset="-78"/>
                <a:cs typeface="Amiri" pitchFamily="2" charset="-78"/>
              </a:rPr>
              <a:t>لَا إِنْهَاءَهُ</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2" name="Text 29"/>
          <p:cNvSpPr txBox="1"/>
          <p:nvPr/>
        </p:nvSpPr>
        <p:spPr>
          <a:xfrm>
            <a:off x="548640" y="3840480"/>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سَيُنْهِي سُوقَ العَمَلِ.</a:t>
            </a:r>
            <a:endParaRPr lang="ar-SA" sz="18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 … bal</a:t>
            </a:r>
            <a:endParaRPr lang="en-US" sz="1100" dirty="0"/>
          </a:p>
        </p:txBody>
      </p:sp>
      <p:sp>
        <p:nvSpPr>
          <p:cNvPr id="35" name="Text 32"/>
          <p:cNvSpPr txBox="1"/>
          <p:nvPr/>
        </p:nvSpPr>
        <p:spPr>
          <a:xfrm>
            <a:off x="4114800" y="4626864"/>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لَيْسَ</a:t>
            </a:r>
            <a:pPr rtl="1" algn="ctr" indent="0" marL="0">
              <a:buNone/>
            </a:pPr>
            <a:r>
              <a:rPr lang="ar-SA" altLang="en-US" sz="1800" b="1" dirty="0">
                <a:solidFill>
                  <a:srgbClr val="1B3B6F"/>
                </a:solidFill>
                <a:latin typeface="Amiri" pitchFamily="2" charset="-78"/>
                <a:cs typeface="Amiri" pitchFamily="2" charset="-78"/>
              </a:rPr>
              <a:t> المُهِمُّ مُقَاوَمَةَ التَّغْيِيرِ، </a:t>
            </a:r>
            <a:pPr rtl="1" algn="ctr" indent="0" marL="0">
              <a:buNone/>
            </a:pPr>
            <a:r>
              <a:rPr lang="ar-SA" altLang="en-US" sz="1800" b="1" dirty="0">
                <a:solidFill>
                  <a:srgbClr val="0E7C86"/>
                </a:solidFill>
                <a:latin typeface="Amiri" pitchFamily="2" charset="-78"/>
                <a:cs typeface="Amiri" pitchFamily="2" charset="-78"/>
              </a:rPr>
              <a:t>بَلْ</a:t>
            </a:r>
            <a:pPr rtl="1" algn="ctr" indent="0" marL="0">
              <a:buNone/>
            </a:pPr>
            <a:r>
              <a:rPr lang="ar-SA" altLang="en-US" sz="1800" b="1" dirty="0">
                <a:solidFill>
                  <a:srgbClr val="1B3B6F"/>
                </a:solidFill>
                <a:latin typeface="Amiri" pitchFamily="2" charset="-78"/>
                <a:cs typeface="Amiri" pitchFamily="2" charset="-78"/>
              </a:rPr>
              <a:t> مُوَاكَبَتَهُ.</a:t>
            </a:r>
            <a:endParaRPr lang="ar-SA" sz="1800" dirty="0"/>
          </a:p>
        </p:txBody>
      </p:sp>
      <p:sp>
        <p:nvSpPr>
          <p:cNvPr id="36" name="Text 33"/>
          <p:cNvSpPr txBox="1"/>
          <p:nvPr/>
        </p:nvSpPr>
        <p:spPr>
          <a:xfrm>
            <a:off x="548640" y="4626864"/>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يَجِبُ أَنْ نُقَاوِمَ التَّغْيِيرَ.</a:t>
            </a:r>
            <a:endParaRPr lang="ar-SA" sz="18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Strong arguments hedge: some jobs, not all; routine work, not creative work.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Integrating the P2 grammar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المِهْنَةِ وَدَمْجُ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Career verbs + complement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yuʾahhil li- · yuʿidd li- · yataḥawwal ilā</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التَّعْلِيمُ يُؤَهِّلُنِي لِسُوقِ العَمَلِ   ·   يَتَحَوَّلُ الذَّكَاءُ الاصْطِنَاعِيُّ إِلَى شَرِيكٍ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Background: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قَرَّرْتُ مَسِيرَتِي مُنْذُ صِغَرِي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Cite others: reported speech</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ashāra ilā anna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أَشَارَ مُرْشِدِي إِلَى أَنَّ المَجَالَ وَاعِدٌ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Plan: conditional + future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sawfa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طَوَّرْتَ مَهَارَاتِكَ، سَتَنْجَحُ   ·   سَوْفَ يُعِيدُ الذَّكَاءُ الاصْطِنَاعِيُّ تَشْكِيلَ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التَّعْلِيمُ يُؤَهِّلُنِي ___ سُوقِ العَمَلِ.</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يَتَحَوَّلُ الذَّكَاءُ الاصْطِنَاعِيُّ ___ شَرِيكٍ.</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مُرْشِدِي أَنَّ المَجَالَ وَاعِدٌ.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مُرْشِدِي إِلَى أَنَّ المَجَالَ وَاعِدٌ.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مُرْشِدِي أَنَّ المَجَالَ وَاعِدٌ.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accurate conditional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طَوَّرْتَ مَهَارَاتِكَ، سَتَنْجَحُ.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تُطَوِّرُ مَهَارَاتِكَ، تَنْجَحُ.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سَتُطَوِّرُ مَهَارَاتِكَ، نَجَحْتَ.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التَّعْلِيمُ يُؤَهِّلُنِي ___ سُوقِ العَمَلِ.</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يَتَحَوَّلُ الذَّكَاءُ الاصْطِنَاعِيُّ ___ شَرِيكٍ.</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 مُرْشِدِي أَنَّ المَجَالَ وَاعِدٌ.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أَشَارَ مُرْشِدِي إِلَى أَنَّ المَجَالَ وَاعِدٌ.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مُرْشِدِي أَنَّ المَجَالَ وَاعِدٌ.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with an accusative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accurate conditional plan?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طَوَّرْتَ مَهَارَاتِكَ، سَتَنْجَحُ.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تُطَوِّرُ مَهَارَاتِكَ، تَنْجَحُ.</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سَتُطَوِّرُ مَهَارَاتِكَ، نَجَحْتَ.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about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كُنْتُ قَدْ قَرَّرْتُ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P2-L03.</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2" charset="-78"/>
                <a:cs typeface="Amiri" pitchFamily="2" charset="-78"/>
              </a:rPr>
              <a:t>أَشَارَ</a:t>
            </a:r>
            <a:pPr rtl="1" algn="ctr" indent="0" marL="0">
              <a:buNone/>
            </a:pPr>
            <a:r>
              <a:rPr lang="ar-SA" altLang="en-US" sz="2550" b="1" dirty="0">
                <a:solidFill>
                  <a:srgbClr val="1B3B6F"/>
                </a:solidFill>
                <a:latin typeface="Amiri" pitchFamily="2" charset="-78"/>
                <a:cs typeface="Amiri" pitchFamily="2" charset="-78"/>
              </a:rPr>
              <a:t> مُرْشِدِي </a:t>
            </a:r>
            <a:pPr rtl="1" algn="ctr" indent="0" marL="0">
              <a:buNone/>
            </a:pPr>
            <a:r>
              <a:rPr lang="ar-SA" altLang="en-US" sz="2550" b="1" dirty="0">
                <a:solidFill>
                  <a:srgbClr val="7B3FA0"/>
                </a:solidFill>
                <a:latin typeface="Amiri" pitchFamily="2" charset="-78"/>
                <a:cs typeface="Amiri" pitchFamily="2" charset="-78"/>
              </a:rPr>
              <a:t>إِلَى أَنَّ</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P2-L02.</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cs typeface="Amiri" pitchFamily="2" charset="-78"/>
              </a:rPr>
              <a:t>إِذَا الْتَحَقْتُ</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0E7C86"/>
                </a:solidFill>
                <a:latin typeface="Amiri" pitchFamily="2" charset="-78"/>
                <a:cs typeface="Amiri" pitchFamily="2" charset="-78"/>
              </a:rPr>
              <a:t>سَأُطَوِّرُ</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Career 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يُعِدُّنِي لِمُوَاكَبَةِ</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CONDITIONAL</a:t>
            </a:r>
            <a:endParaRPr lang="en-US" sz="800" dirty="0"/>
          </a:p>
        </p:txBody>
      </p:sp>
      <p:sp>
        <p:nvSpPr>
          <p:cNvPr id="51" name="Shape 47"/>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CAREER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cs typeface="Amiri" pitchFamily="2" charset="-78"/>
              </a:rPr>
              <a:t> مَسِيرَتِي المِهَنِيَّةَ مُنْذُ صِغَرِي. </a:t>
            </a:r>
            <a:pPr rtl="1" algn="r" indent="0" marL="0">
              <a:lnSpc>
                <a:spcPct val="120000"/>
              </a:lnSpc>
              <a:buNone/>
            </a:pPr>
            <a:r>
              <a:rPr lang="ar-SA" altLang="en-US" sz="1400" b="1" dirty="0">
                <a:solidFill>
                  <a:srgbClr val="7B3FA0"/>
                </a:solidFill>
                <a:latin typeface="Amiri" pitchFamily="2" charset="-78"/>
                <a:cs typeface="Amiri" pitchFamily="2" charset="-78"/>
              </a:rPr>
              <a:t>أَشَارَ</a:t>
            </a:r>
            <a:pPr rtl="1" algn="r" indent="0" marL="0">
              <a:lnSpc>
                <a:spcPct val="120000"/>
              </a:lnSpc>
              <a:buNone/>
            </a:pPr>
            <a:r>
              <a:rPr lang="ar-SA" altLang="en-US" sz="1400" b="1" dirty="0">
                <a:solidFill>
                  <a:srgbClr val="1B3B6F"/>
                </a:solidFill>
                <a:latin typeface="Amiri" pitchFamily="2" charset="-78"/>
                <a:cs typeface="Amiri" pitchFamily="2" charset="-78"/>
              </a:rPr>
              <a:t> مُرْشِدِي الوَظِيفِيُّ </a:t>
            </a:r>
            <a:pPr rtl="1" algn="r" indent="0" marL="0">
              <a:lnSpc>
                <a:spcPct val="120000"/>
              </a:lnSpc>
              <a:buNone/>
            </a:pPr>
            <a:r>
              <a:rPr lang="ar-SA" altLang="en-US" sz="1400" b="1" dirty="0">
                <a:solidFill>
                  <a:srgbClr val="7B3FA0"/>
                </a:solidFill>
                <a:latin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cs typeface="Amiri" pitchFamily="2" charset="-78"/>
              </a:rPr>
              <a:t> هٰذَا المَجَالَ مِنْ أَكْثَرِ المَجَالَاتِ طَلَبًا. </a:t>
            </a:r>
            <a:pPr rtl="1" algn="r" indent="0" marL="0">
              <a:lnSpc>
                <a:spcPct val="120000"/>
              </a:lnSpc>
              <a:buNone/>
            </a:pPr>
            <a:r>
              <a:rPr lang="ar-SA" altLang="en-US" sz="1400" b="1" dirty="0">
                <a:solidFill>
                  <a:srgbClr val="0E7C86"/>
                </a:solidFill>
                <a:latin typeface="Amiri" pitchFamily="2" charset="-78"/>
                <a:cs typeface="Amiri" pitchFamily="2" charset="-78"/>
              </a:rPr>
              <a:t>إِذَا الْتَحَقْتُ</a:t>
            </a:r>
            <a:pPr rtl="1" algn="r" indent="0" marL="0">
              <a:lnSpc>
                <a:spcPct val="120000"/>
              </a:lnSpc>
              <a:buNone/>
            </a:pPr>
            <a:r>
              <a:rPr lang="ar-SA" altLang="en-US" sz="1400" b="1" dirty="0">
                <a:solidFill>
                  <a:srgbClr val="1B3B6F"/>
                </a:solidFill>
                <a:latin typeface="Amiri" pitchFamily="2" charset="-78"/>
                <a:cs typeface="Amiri" pitchFamily="2" charset="-78"/>
              </a:rPr>
              <a:t> بِجَامِعَةٍ مُتَمَيِّزَةٍ، </a:t>
            </a:r>
            <a:pPr rtl="1" algn="r" indent="0" marL="0">
              <a:lnSpc>
                <a:spcPct val="120000"/>
              </a:lnSpc>
              <a:buNone/>
            </a:pPr>
            <a:r>
              <a:rPr lang="ar-SA" altLang="en-US" sz="1400" b="1" dirty="0">
                <a:solidFill>
                  <a:srgbClr val="0E7C86"/>
                </a:solidFill>
                <a:latin typeface="Amiri" pitchFamily="2" charset="-78"/>
                <a:cs typeface="Amiri" pitchFamily="2" charset="-78"/>
              </a:rPr>
              <a:t>سَأُطَوِّرُ</a:t>
            </a:r>
            <a:pPr rtl="1" algn="r" indent="0" marL="0">
              <a:lnSpc>
                <a:spcPct val="120000"/>
              </a:lnSpc>
              <a:buNone/>
            </a:pPr>
            <a:r>
              <a:rPr lang="ar-SA" altLang="en-US" sz="1400" b="1" dirty="0">
                <a:solidFill>
                  <a:srgbClr val="1B3B6F"/>
                </a:solidFill>
                <a:latin typeface="Amiri" pitchFamily="2" charset="-78"/>
                <a:cs typeface="Amiri" pitchFamily="2" charset="-78"/>
              </a:rPr>
              <a:t> مَهَارَاتِي فِي التَّفْكِيرِ النَّقْدِيِّ، فَالتَّعْلِيمُ الجَيِّدُ </a:t>
            </a:r>
            <a:pPr rtl="1" algn="r" indent="0" marL="0">
              <a:lnSpc>
                <a:spcPct val="120000"/>
              </a:lnSpc>
              <a:buNone/>
            </a:pPr>
            <a:r>
              <a:rPr lang="ar-SA" altLang="en-US" sz="1400" b="1" dirty="0">
                <a:solidFill>
                  <a:srgbClr val="1D5FBF"/>
                </a:solidFill>
                <a:latin typeface="Amiri" pitchFamily="2" charset="-78"/>
                <a:cs typeface="Amiri" pitchFamily="2" charset="-78"/>
              </a:rPr>
              <a:t>يُعِدُّنِي لِمُوَاكَبَةِ</a:t>
            </a:r>
            <a:pPr rtl="1" algn="r" indent="0" marL="0">
              <a:lnSpc>
                <a:spcPct val="120000"/>
              </a:lnSpc>
              <a:buNone/>
            </a:pPr>
            <a:r>
              <a:rPr lang="ar-SA" altLang="en-US" sz="1400" b="1" dirty="0">
                <a:solidFill>
                  <a:srgbClr val="1B3B6F"/>
                </a:solidFill>
                <a:latin typeface="Amiri" pitchFamily="2" charset="-78"/>
                <a:cs typeface="Amiri" pitchFamily="2" charset="-78"/>
              </a:rPr>
              <a:t> التَّغْيِيرِ.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had decided on my career since childhood. My careers adviser pointed out that this field is among the most in demand. If I join an excellent university, I will develop my critical-thinking skills, for good education prepares me to keep pace with change.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التَّعْلِيمُ الجَيِّدُ يُؤَهِّلُنِي لِسُوقِ العَمَلِ التَّنَافُسِيِّ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good education qualifies me for the competitive labour market</a:t>
            </a:r>
            <a:endParaRPr lang="en-US" sz="1250" dirty="0"/>
          </a:p>
          <a:p>
            <a:pPr indent="0" marL="0">
              <a:buNone/>
            </a:pPr>
            <a:r>
              <a:rPr lang="en-US" sz="1050" i="1" dirty="0">
                <a:solidFill>
                  <a:srgbClr val="8A6D1E"/>
                </a:solidFill>
                <a:latin typeface="Calibri" pitchFamily="34" charset="0"/>
                <a:cs typeface="Amiri" pitchFamily="2" charset="-78"/>
              </a:rPr>
              <a:t>yuʾahhil is fixed with li-.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يَتَحَوَّلُ الذَّكَاءُ الاصْطِنَاعِيُّ إِلَى شَرِيكٍ لَا مُنَافِسٍ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AI is turning into a partner, not a competitor</a:t>
            </a:r>
            <a:endParaRPr lang="en-US" sz="1250" dirty="0"/>
          </a:p>
          <a:p>
            <a:pPr indent="0" marL="0">
              <a:buNone/>
            </a:pPr>
            <a:r>
              <a:rPr lang="en-US" sz="1050" i="1" dirty="0">
                <a:solidFill>
                  <a:srgbClr val="8A6D1E"/>
                </a:solidFill>
                <a:latin typeface="Calibri" pitchFamily="34" charset="0"/>
                <a:cs typeface="Amiri" pitchFamily="2" charset="-78"/>
              </a:rPr>
              <a:t>yataḥawwal is fixed with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قَرَّرْتُ مَسِيرَتِي، وَإِذَا اجْتَهَدْتُ سَأُحَقِّقُهَا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decided on my career, and if I work hard, I will achieve it</a:t>
            </a:r>
            <a:endParaRPr lang="en-US" sz="1250" dirty="0"/>
          </a:p>
          <a:p>
            <a:pPr indent="0" marL="0">
              <a:buNone/>
            </a:pPr>
            <a:r>
              <a:rPr lang="en-US" sz="1050" i="1" dirty="0">
                <a:solidFill>
                  <a:srgbClr val="8A6D1E"/>
                </a:solidFill>
                <a:latin typeface="Calibri" pitchFamily="34" charset="0"/>
                <a:cs typeface="Amiri" pitchFamily="2" charset="-78"/>
              </a:rPr>
              <a:t>Past perfect integrated with a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CAREER ASPIRATIONS AND THE FUTURE OF WORK”</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plan?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study to medicine</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programmer</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career ambition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أَطْمَحُ إِلَى وَظِيفَةٍ نَاجِحَةٍ.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سَأَدْرُسُ الطِّبَّ فِي المُسْتَقْبَلِ.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سَأَعْمَلُ مُبَرْمِجًا.</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study to medicine</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سَأَدْرُسُ الطِّبَّ فِي المُسْتَقْبَلِ.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study medicine in the future.</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programmer</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سَأَعْمَلُ مُبَرْمِجًا.</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work as a programmer.</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career ambition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أَطْمَحُ إِلَى وَظِيفَةٍ نَاجِحَةٍ.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aspire to a successful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CAREER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citation +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حُجَّتَكَ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(kāna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Citation (reported)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Plan (idhā / sawfa)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كُنْتُ قَدْ قَرَّرْتُ مَسِيرَتِي مُنْذُ صِغَرِي</a:t>
            </a:r>
            <a:endParaRPr lang="ar-SA" sz="17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وَأَشَارَ مُرْشِدِي إِلَى أَنَّ المَجَالَ وَاعِدٌ</a:t>
            </a:r>
            <a:endParaRPr lang="ar-SA" sz="17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وَإِذَا اجْتَهَدْتُ سَأُؤَهِّلُ نَفْسِي لِسُوقِ العَمَلِ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كُنْتُ قَدِ اهْتَمَمْتُ بِالتِّقْنِيَّةِ مُبَكِّرًا</a:t>
            </a:r>
            <a:endParaRPr lang="ar-SA" sz="17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وَقَالَ إِنَّ الذَّكَاءَ لَنْ يَسْتَبْدِلَ المُبْدِعِينَ</a:t>
            </a:r>
            <a:endParaRPr lang="ar-SA" sz="17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وَسَوْفَ أُسْهِمُ فِي مَجَالِي وَأُوَاكِبُ التَّغْيِيرَ</a:t>
            </a:r>
            <a:endParaRPr lang="ar-SA" sz="17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 طُمُوحِي وَاضِحًا مُنْذُ الثَّانَوِيَّةِ</a:t>
            </a:r>
            <a:endParaRPr lang="ar-SA" sz="17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وَأَكَّدَ أَنَّ مَهَارَةَ التَّكَيُّفِ هِيَ الأَهَمُّ</a:t>
            </a:r>
            <a:endParaRPr lang="ar-SA" sz="17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وَإِذَا طَوَّرْتُ تَفْكِيرِي النَّقْدِيَّ سَيَتَحَوَّلُ الذَّكَاءُ إِلَى أَدَاةٍ فِي يَدِي</a:t>
            </a:r>
            <a:endParaRPr lang="ar-SA" sz="14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Which partner? li-, ilā — or a direct object / fī?</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يُؤَهِّلُ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يَسْتَعِدُّ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يَطْمَحُ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يَسْعَى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يَسْتَبْدِلُ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يُوَاكِبُ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يُسْهِمُ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ilā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 / fī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يُؤَهِّلُ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يَسْتَعِدُّ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يَطْمَحُ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يَسْعَى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 / fī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يَسْتَبْدِلُ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يُوَاكِبُ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يُسْهِمُ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الجَامِعَةُ تُعِدُّنِي ___ المُنَافَسَةِ.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with a past-perfect background?</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أُقَرِّرُ مَسِيرَتِي الآنَ.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قَرَّرْتُ مَسِيرَتِي مُنْذُ صِغَرِي.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سَأُقَرِّرُ مَسِيرَتِي.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discusses AI with balance?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الذَّكَاءُ الاصْطِنَاعِيُّ كَارِثَةٌ.</a:t>
            </a:r>
            <a:endParaRPr lang="ar-SA" sz="15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يَسْتَبْدِلُ الذَّكَاءُ الاصْطِنَاعِيُّ بَعْضَ الوَظَائِفِ، لٰكِنَّهُ لَنْ يَسْتَبْدِلَ المُبْدِعِينَ.</a:t>
            </a:r>
            <a:endParaRPr lang="ar-SA" sz="15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الذَّكَاءُ الاصْطِنَاعِيُّ سَيُنْهِي كُلَّ العَمَلِ.</a:t>
            </a:r>
            <a:endParaRPr lang="ar-SA" sz="15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integrates two structures at once?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العَمَلُ مُهِمٌّ.</a:t>
            </a:r>
            <a:endParaRPr lang="ar-SA" sz="17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أُحِبُّ التِّقْنِيَّةَ.</a:t>
            </a:r>
            <a:endParaRPr lang="ar-SA" sz="17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كُنْتُ قَدْ قَرَّرْتُ مَجَالِي، وَإِذَا الْتَحَقْتُ بِالجَامِعَةِ سَأُطَوِّرُ مَهَارَاتِي.</a:t>
            </a:r>
            <a:endParaRPr lang="ar-SA" sz="1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الجَامِعَةُ تُعِدُّنِي ___ المُنَافَسَةِ.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with a past-perfect background?</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أُقَرِّرُ مَسِيرَتِي الآنَ.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قَرَّرْتُ مَسِيرَتِي مُنْذُ صِغَرِي.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سَأُقَرِّرُ مَسِيرَتِي.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 + past states prior background.</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discusses AI with balance?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الذَّكَاءُ الاصْطِنَاعِيُّ كَارِثَةٌ.</a:t>
            </a:r>
            <a:endParaRPr lang="ar-SA" sz="15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يَسْتَبْدِلُ الذَّكَاءُ الاصْطِنَاعِيُّ بَعْضَ الوَظَائِفِ، لٰكِنَّهُ لَنْ يَسْتَبْدِلَ المُبْدِعِينَ.</a:t>
            </a:r>
            <a:endParaRPr lang="ar-SA" sz="15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الذَّكَاءُ الاصْطِنَاعِيُّ سَيُنْهِي كُلَّ العَمَلِ.</a:t>
            </a:r>
            <a:endParaRPr lang="ar-SA" sz="15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hedges: AI replaces some jobs but not creative ones.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integrates two structures at once?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العَمَلُ مُهِمٌّ.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التِّقْنِيَّةَ.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قَرَّرْتُ مَجَالِي، وَإِذَا الْتَحَقْتُ بِالجَامِعَةِ سَأُطَوِّرُ مَهَارَاتِي.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past perfect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التَّعْلِيمُ يُؤَهِّلُنِي إِلَى سُوقِ العَمَلِ.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yuʾahhil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يَتَحَوَّلُ الذَّكَاءُ الاصْطِنَاعِيُّ لِشَرِيكٍ.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yataḥawwal + li-?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مُرْشِدِي أَنَّ المَجَالَ وَاعِدٌ.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التَّعْلِيمُ يُؤَهِّلُنِي إِلَى سُوقِ العَمَلِ.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التَّعْلِيمُ يُؤَهِّلُنِي لِسُوقِ العَمَلِ.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يُؤَهِّلُ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يَتَحَوَّلُ الذَّكَاءُ الاصْطِنَاعِيُّ لِشَرِيكٍ.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يَتَحَوَّلُ الذَّكَاءُ الاصْطِنَاعِيُّ إِلَى شَرِيكٍ.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يَتَحَوَّلُ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مُرْشِدِي أَنَّ المَجَالَ وَاعِدٌ.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مُرْشِدِي إِنَّ المَجَالَ وَاعِدٌ.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Listening: a careers adviser on the future of work</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adviser say about the labour market?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changing quickly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changes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disappeared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add about AI?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all jobs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no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some routine jobs but not creative, empathetic 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do, per the adviser?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Guarantees a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Replaces skills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Qualifies young people for a competitive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students done, then changed?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Chosen a path early, then changed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chosen a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Refused university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conclude about critical thinking?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unimportant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Developing it means finding your place in any market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empathy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qāla inna · aḍāfa anna · kānū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قَالَ المُرْشِدُ الوَظِيفِيُّ إِنَّ سُوقَ العَمَلِ يَتَغَيَّرُ بِسُرْعَةٍ.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careers adviser said that the labour market is changing quickly.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وَأَضَافَ أَنَّ الذَّكَاءَ الاصْطِنَاعِيَّ سَيَسْتَبْدِلُ بَعْضَ الوَظَائِفِ الرُّوتِينِيَّةِ، لٰكِنَّهُ لَنْ يَسْتَبْدِلَ الوَظَائِفَ الَّتِي تَحْتَاجُ إِلَى إِبْدَاعٍ وَتَعَاطُفٍ.</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added that AI will replace some routine jobs, but it will not replace jobs that need creativity and empathy.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وَأَشَارَ إِلَى أَنَّ التَّعْلِيمَ الجَيِّدَ يُؤَهِّلُ الشَّبَابَ لِسُوقٍ تَنَافُسِيٍّ، وَأَنَّ الجَامِعَةَ تُعِدُّهُمْ لِمُوَاكَبَةِ التَّغْيِيرِ.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pointed out that good education qualifies young people for a competitive market, and that university prepares them to keep pace with change.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كَثِيرٌ مِنَ الطُّلَّابِ كَانُوا قَدْ حَدَّدُوا مَسَارَهُمْ مُبَكِّرًا، ثُمَّ غَيَّرُوهُ بَعْدَ اكْتِشَافِ مَهَارَاتٍ جَدِيدَةٍ.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students had chosen their path early, then changed it after discovering new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وَقَالَ إِنَّ مَهَارَةَ التَّكَيُّفِ هِيَ الأَهَمُّ. وَخَلَصَ إِلَى أَنَّهُ إِذَا طَوَّرَ الطَّالِبُ تَفْكِيرَهُ النَّقْدِيَّ، فَسَيَجِدُ مَكَانَهُ فِي أَيِّ سُوقٍ.</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said adaptability is the most important skill. He concluded that if a student develops his critical thinking, he will find his place in any market.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adviser say about the labour market?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changing quickly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changes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disappeared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 إِنَّ سُوقَ العَمَلِ يَتَغَيَّرُ بِسُرْعَةٍ.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add about AI?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replace all jobs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replace no jobs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will replace some routine jobs but not creative, empathetic ones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سَيَسْتَبْدِلُ بَعْضَ الوَظَائِفِ الرُّوتِينِيَّةِ، لٰكِنَّهُ لَنْ يَسْتَبْدِلَ … الإِبْدَاعِ وَالتَّعَاطُفِ.</a:t>
            </a:r>
            <a:endParaRPr lang="ar-SA" sz="10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do, per the adviser?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Guarantees a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Replaces skills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Qualifies young people for a competitive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التَّعْلِيمَ الجَيِّدَ يُؤَهِّلُ الشَّبَابَ لِسُوقٍ تَنَافُسِيٍّ.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students done, then changed?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Chosen a path early, then changed it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chosen a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Refused university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كَانُوا قَدْ حَدَّدُوا مَسَارَهُمْ مُبَكِّرًا، ثُمَّ غَيَّرُوهُ.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conclude about critical thinking?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unimportant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Developing it means finding your place in any market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empathy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إِذَا طَوَّرَ الطَّالِبُ تَفْكِيرَهُ النَّقْدِيَّ، فَسَيَجِدُ مَكَانَهُ فِي أَيِّ سُوقٍ.</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qāla inna · aḍāfa anna · kānū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your career and AI</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طُمُوحُكَ المِهَنِيُّ؟ وَكَيْفَ يُؤَهِّلُكَ التَّعْلِيمُ لَهُ؟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كُنْتَ قَدْ قَرَّرْتَ عَنْ مَسَارِكَ سَابِقًا؟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الوَظَائِفِ سَيَسْتَبْدِلُهَا الذَّكَاءُ الاصْطِنَاعِيُّ، وَأَيَّهَا لَنْ يَسْتَبْدِلَ؟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cs typeface="Amiri" pitchFamily="2" charset="-78"/>
              </a:rPr>
              <a:t>أَطْمَحُ إِلَى ___ ، وَالتَّعْلِيمُ يُؤَهِّلُنِي لِهٰذِهِ المِهْنَةِ.</a:t>
            </a:r>
            <a:endParaRPr lang="ar-SA" sz="12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كُنْتُ قَدْ قَرَّرْتُ ___ مُنْذُ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سَيَسْتَبْدِلُ ___ ، لٰكِنَّهُ لَنْ يَسْتَبْدِلَ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طُمُوحُكَ المِهَنِيُّ؟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career ambition?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أَطْمَحُ إِلَى الهَنْدَسَةِ، وَالتَّعْلِيمُ الجَيِّدُ يُؤَهِّلُنِي لِسُوقِ العَمَلِ وَيُعِدُّنِي لِلْمُنَافَسَةِ.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aspire to engineering, and good education qualifies me for the labour market and prepares me for competition.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using the career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with the career verbs and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and a reported-speech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past-perfect background and a reported-speech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Integrate four P2 structures in one coherent paragraph on AI and work.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integrate all four P2 structures and use yuʾahhil li- or yuʿidd li-.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قَدْ قَرَّرْتُ ______ مُنْذُ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 since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مُرْشِدِي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adviser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الْتَحَقْتُ بِالجَامِعَةِ،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join university,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سَيَسْتَبْدِلُ الذَّكَاءُ ______ ، لٰكِنَّهُ لَنْ يَسْتَبْدِلَ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 will replace …, but it will not replace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أَطْمَحُ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التَّعْلِيمُ يُؤَهِّلُنِي لِمِهْنَةِ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Education qualifies me for the job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الجَامِعَةُ تُعِدُّنِي لِلْعَمَلِ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University prepares me to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سَيَتَحَوَّلُ الذَّكَاءُ الاصْطِنَاعِيُّ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 will turn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الطِّبُّ  ·  الهَنْدَسَةُ  ·  البَرْمَجَةُ  ·  التَّعْلِيمُ  ·  رِيَادَةُ الأَعْمَالِ  ·  شَرِكَةٌ نَاشِئَةٌ  ·  سُوقُ العَمَلِ  ·  المُنَافَسَةُ  ·  التَّفْكِيرُ النَّقْدِيُّ  ·  مَهَارَةُ التَّكَيُّفِ  ·  الوَظَائِفُ الرُّوتِينِيَّةُ  ·  المُبْدِعِينَ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one hundred and ten to one hundred and twenty words on your career aspirations and the future of work. Integrate all four P2 structures: a past perfect for background, reported speech for what a mentor says, a Type 1 conditional and the future — and use </a:t>
            </a:r>
            <a:pPr algn="l" indent="0" marL="0">
              <a:buNone/>
            </a:pPr>
            <a:r>
              <a:rPr lang="ar-SA" altLang="en-US" sz="1450" b="1" dirty="0">
                <a:solidFill>
                  <a:srgbClr val="1F2A37"/>
                </a:solidFill>
                <a:latin typeface="Amiri" pitchFamily="2" charset="-78"/>
                <a:cs typeface="Amiri" pitchFamily="2" charset="-78"/>
              </a:rPr>
              <a:t>يُؤَهِّلُ لِـ</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cs typeface="Amiri" pitchFamily="2" charset="-78"/>
              </a:rPr>
              <a:t>يُعِدُّ لِـ</a:t>
            </a:r>
            <a:pPr algn="l" indent="0" marL="0">
              <a:buNone/>
            </a:pPr>
            <a:r>
              <a:rPr lang="en-US" sz="1100" b="1" dirty="0">
                <a:solidFill>
                  <a:srgbClr val="1F2A37"/>
                </a:solidFill>
                <a:latin typeface="Calibri" pitchFamily="34" charset="0"/>
                <a:cs typeface="Amiri" pitchFamily="2" charset="-78"/>
              </a:rPr>
              <a: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background sentence (</a:t>
            </a:r>
            <a:pPr algn="l" indent="0" marL="0">
              <a:buNone/>
            </a:pPr>
            <a:r>
              <a:rPr lang="ar-SA" altLang="en-US" sz="1550" dirty="0">
                <a:solidFill>
                  <a:srgbClr val="1F2A37"/>
                </a:solidFill>
                <a:latin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a:t>
            </a:r>
            <a:pPr algn="l" indent="0" marL="0">
              <a:buNone/>
            </a:pPr>
            <a:r>
              <a:rPr lang="ar-SA" altLang="en-US" sz="1550" dirty="0">
                <a:solidFill>
                  <a:srgbClr val="1F2A37"/>
                </a:solidFill>
                <a:latin typeface="Amiri" pitchFamily="2" charset="-78"/>
                <a:cs typeface="Amiri" pitchFamily="2" charset="-78"/>
              </a:rPr>
              <a:t>قَالَ إِنَّ / أَشَارَ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conditional and a future statement.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يُؤَهِّلُ لِـ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يُعِدُّ لِـ</a:t>
            </a:r>
            <a:pPr algn="l" indent="0" marL="0">
              <a:buNone/>
            </a:pPr>
            <a:r>
              <a:rPr lang="en-US" sz="1200" dirty="0">
                <a:solidFill>
                  <a:srgbClr val="1F2A37"/>
                </a:solidFill>
                <a:latin typeface="Calibri" pitchFamily="34" charset="0"/>
                <a:cs typeface="Amiri" pitchFamily="2" charset="-78"/>
              </a:rPr>
              <a:t> with the correct complement.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وَبِحُلُولِ نِهَايَةِ المَرْحَلَةِ الابْتِدَائِيَّةِ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by the end of primary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أَكْثَرِ المَجَالَاتِ طَلَبًا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most in-demand fields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يَسْتَبْدِلَ المُتَخَصِّصِينَ المُبْدِعِينَ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not replace creative specialists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وَأُؤَهِّلُ نَفْسِي لِمِهَنِ المُسْتَقْبَلِ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qualify myself for the careers of the future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أَسْعَى الآنَ إِلَى تَعَلُّمِ لُغَاتٍ وَمَهَارَاتٍ جَدِيدَةٍ</a:t>
            </a:r>
            <a:endParaRPr lang="ar-SA" sz="16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now strive to learn new languages and skills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كُنْتُ قَدْ قَرَّرْتُ مَسِيرَتِي المِهَنِيَّةَ مُنْذُ صِغَرِي، وَبِحُلُولِ نِهَايَةِ المَرْحَلَةِ الابْتِدَائِيَّةِ كُنْتُ قَدِ اهْتَمَمْتُ بِالتِّقْنِيَّةِ. أَشَارَ مُرْشِدِي الوَظِيفِيُّ إِلَى أَنَّ هٰذَا المَجَالَ مِنْ أَكْثَرِ المَجَالَاتِ طَلَبًا، وَأَضَافَ أَنَّ الذَّكَاءَ الاصْطِنَاعِيَّ لَنْ يَسْتَبْدِلَ المُتَخَصِّصِينَ المُبْدِعِينَ. إِذَا الْتَحَقْتُ بِجَامِعَةٍ مُتَمَيِّزَةٍ، سَأُطَوِّرُ مَهَارَاتِي فِي التَّفْكِيرِ النَّقْدِيِّ وَحَلِّ المَشْكِلَاتِ. سَوْفَ أُسْهِمُ فِي مَجَالِي وَأُؤَهِّلُ نَفْسِي لِمِهَنِ المُسْتَقْبَلِ. أُدْرِكُ أَنَّ سُوقَ العَمَلِ يَتَطَلَّبُ مَهَارَةَ التَّكَيُّفِ، وَلِذٰلِكَ أَسْعَى الآنَ إِلَى تَعَلُّمِ لُغَاتٍ وَمَهَارَاتٍ جَدِيدَةٍ، فَالتَّعْلِيمُ الجَيِّدُ يُعِدُّنِي لِمُوَاكَبَةِ التَّغْيِيرِ.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on my career since childhood, and by the end of primary school I had become interested in technology. My careers adviser pointed out that this field is among the most in demand, and added that AI will not replace creative specialists. If I join an excellent university, I will develop my skills in critical thinking and problem solving. I will contribute to my field and qualify myself for the careers of the future. I realise that the labour market requires adaptability, so I now strive to learn new languages and skills — good education prepares me to keep pace with change.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past-perfect backgrounds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reported clauses (ashāra ilā anna · aḍāfa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and a future (idhā … sa- · sawfa)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yuʾahhil li- and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yuʾahhil and yuʿidd have li-; yataḥawwal and yaṭmaḥ have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yastabdil and yuwākib have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background uses kuntu qad + past (both end in -tu).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qāla → inna; ashāra ilā / aḍāfa / akkada →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hedged about AI (some jobs, not all · lākinnahu lan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التَّعْلِيمُ يُؤَهِّلُنِي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سُوقِ 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يَتَحَوَّلُ الذَّكَاءُ الاصْطِنَاعِيُّ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مُرْشِدِي إِنَّ المَجَالَ وَاعِدٌ.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مُرْشِدِي أَنَّ المَجَالَ وَاعِدٌ.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مُرْشِدِي أَنَّ المَجَالَ وَاعِدٌ.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التَّعْلِيمُ يُؤَهِّلُنِي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سُوقِ 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يَتَحَوَّلُ الذَّكَاءُ الاصْطِنَاعِيُّ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قَالَ مُرْشِدِي إِنَّ المَجَالَ وَاعِدٌ.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 مُرْشِدِي أَنَّ المَجَالَ وَاعِدٌ.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أَشَارَ مُرْشِدِي أَنَّ المَجَالَ وَاعِدٌ.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which jobs will AI change?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يَرَى كَثِيرٌ مِنَ الخُبَرَاءِ أَنَّ الذَّكَاءَ الاصْطِنَاعِيَّ سَيُعِيدُ تَشْكِيلَ سُوقِ العَمَلِ لَا إِنْهَاءَهُ. فَبَعْضُ الوَظَائِفِ الرُّوتِينِيَّةِ سَيَتَوَلَّاهَا الحَاسُوبُ، فِي حِينِ أَنَّ الوَظَائِفَ الَّتِي تَعْتَمِدُ عَلَى الإِبْدَاعِ وَالتَّعَاطُفِ سَتَبْقَى لِلْبَشَرِ. وَأَشَارَتْ دِرَاسَةٌ حَدِيثَةٌ إِلَى أَنَّ مَهَارَةَ التَّكَيُّفِ سَتُصْبِحُ أَهَمَّ مِنَ الشَّهَادَةِ وَحْدَهَا. وَالتَّعْلِيمُ الجَيِّدُ يُؤَهِّلُ الطَّالِبَ لِهٰذَا التَّغْيِيرِ وَيُعِدُّهُ لِمِهَنٍ لَمْ تُوجَدْ بَعْدُ. وَإِذَا رَكَّزَ الشَّبَابُ عَلَى التَّفْكِيرِ النَّقْدِيِّ وَحَلِّ المَشْكِلَاتِ، فَسَيَتَحَوَّلُ الذَّكَاءُ الاصْطِنَاعِيُّ إِلَى أَدَاةٍ فِي أَيْدِيهِمْ لَا خَطَرٍ عَلَيْهِمْ. وَلَيْسَ المُهِمُّ مُقَاوَمَةَ التَّغْيِيرِ، بَلْ مُوَاكَبَتَهُ.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الخُبَرَاءِ</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سَيُعِيدُ تَشْكِيلَ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reshape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إِنْهَاءَهُ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ending it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سَيَتَوَلَّاهَا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take them over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حِينِ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لِلْبَشَرِ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humans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الشَّهَادَةِ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certificate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لَمْ تُوجَدْ بَعْدُ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exist yet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أَدَاةٍ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tool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مُقَاوَمَةَ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experts think AI will do to the labour market?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 it completely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Reshape it, not end it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it unchanged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jobs will remain human?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routine jobs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relying on creativity and empathy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become more important than a certificate alone?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Adaptability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prepare students for?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jobs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Careers that do not yet exist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jobs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is important?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Keeping pace with change, not resisting it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Resisting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experts think AI will do to the labour market?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 it completely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Reshape it, not end it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it unchanged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سَيُعِيدُ تَشْكِيلَ سُوقِ العَمَلِ لَا إِنْهَاءَهُ.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jobs will remain human?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routine jobs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Those relying on creativity and empathy</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الوَظَائِفَ الَّتِي تَعْتَمِدُ عَلَى الإِبْدَاعِ وَالتَّعَاطُفِ سَتَبْقَى لِلْبَشَرِ.</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become more important than a certificate alone?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Adaptability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مَهَارَةَ التَّكَيُّفِ سَتُصْبِحُ أَهَمَّ مِنَ الشَّهَادَةِ وَحْدَهَا.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prepare students for?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jobs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Careers that do not yet exist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jobs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يُعِدُّهُ لِمِهَنٍ لَمْ تُوجَدْ بَعْدُ.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is important?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Keeping pace with change, not resisting it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Resisting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وَلَيْسَ المُهِمُّ مُقَاوَمَةَ التَّغْيِيرِ، بَلْ مُوَاكَبَتَهُ.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Careers Mission — Complements and Integration</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يُؤَهِّلُنِي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تُعِدُّنِي الجَامِعَةُ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المُنَافَسَةِ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يَتَحَوَّلُ الذَّكَاءُ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يَطْمَحُ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النَّجَاحِ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cs typeface="Amiri" pitchFamily="2" charset="-78"/>
              </a:rPr>
              <a:t>قَالَ المُرْشِدُ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cs typeface="Amiri" pitchFamily="2" charset="-78"/>
              </a:rPr>
              <a:t>أَضَافَ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الذَّكَاءَ لَنْ يَسْتَبْدِلَ المُبْدِعِينَ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يُؤَهِّلُنِي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تُعِدُّنِي الجَامِعَةُ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المُنَافَسَةِ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يَتَحَوَّلُ الذَّكَاءُ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يَطْمَحُ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النَّجَاحِ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يَطْمَحُ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cs typeface="Amiri" pitchFamily="2" charset="-78"/>
              </a:rPr>
              <a:t>قَالَ المُرْشِدُ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cs typeface="Amiri" pitchFamily="2" charset="-78"/>
              </a:rPr>
              <a:t>أَضَافَ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الذَّكَاءَ لَنْ يَسْتَبْدِلَ المُبْدِعِينَ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other than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P2-L05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P2 · Education and Future Plans · P2-L05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P2-L06 · Education and Social Mobility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حَرَاكٌ اجْتِمَاعِيٌّ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social mobility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فُرَصٌ مُتَكَافِئَةٌ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equal opportunities</a:t>
            </a:r>
            <a:pPr indent="0" marL="0">
              <a:buNone/>
            </a:pPr>
            <a:r>
              <a:rPr lang="en-US" sz="1000" i="1" dirty="0">
                <a:solidFill>
                  <a:srgbClr val="5A6472"/>
                </a:solidFill>
                <a:latin typeface="Calibri" pitchFamily="34" charset="0"/>
                <a:cs typeface="Amiri" pitchFamily="2" charset="-78"/>
              </a:rPr>
              <a:t>  sg. فُرْصَةٌ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فَجْوَةٌ تَعْلِيمِيَّةٌ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education gap</a:t>
            </a:r>
            <a:pPr indent="0" marL="0">
              <a:buNone/>
            </a:pPr>
            <a:r>
              <a:rPr lang="en-US" sz="1000" i="1" dirty="0">
                <a:solidFill>
                  <a:srgbClr val="5A6472"/>
                </a:solidFill>
                <a:latin typeface="Calibri" pitchFamily="34" charset="0"/>
                <a:cs typeface="Amiri" pitchFamily="2" charset="-78"/>
              </a:rPr>
              <a:t>  pl. فَجَوَاتٌ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مُسَاوَاةٌ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equality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 (hypothetical)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Does education give everyone an equal chance?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أَعْتَقِدُ أَنَّ التَّعْلِيمَ ______ فُرَصًا مُتَكَافِئَةً، لِأَنَّ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six career verbs with their partners; write five sentences about your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70–90-word paragraph with a past-perfect background and a reported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110–120 words integrating all four P2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P2-L06 · Education and Social Mobility</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التَّعْلِيمُ وَالحَرَاكُ الاجْتِمَاعِيُّ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every career verb has a partner — yuʾahhil li- · yuʿidd li- · yataḥawwal ilā · yaṭmaḥ ilā · yastabdil + object — and a P2-standard paragraph weaves together kāna qad, qāla inna, idhā … sa- and sawfa.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P2-L05 · Career Aspirations and the Future of Work</dc:title>
  <dc:subject>PptxGenJS Presentation</dc:subject>
  <dc:creator>Al Madina Online School · Arabic Department</dc:creator>
  <cp:lastModifiedBy>Al Madina Online School · Arabic Department</cp:lastModifiedBy>
  <cp:revision>1</cp:revision>
  <dcterms:created xsi:type="dcterms:W3CDTF">2026-10-11T06:43:02Z</dcterms:created>
  <dcterms:modified xsi:type="dcterms:W3CDTF">2026-10-11T06:43:02Z</dcterms:modified>
</cp:coreProperties>
</file>