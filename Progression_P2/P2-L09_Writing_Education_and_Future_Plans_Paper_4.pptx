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P2-L09. The website lesson “Writing — Education and Future Plans (Paper 4 Extended Writing)”: vocabulary, grammar rules and quiz, patterns, common mistakes, sorter, listening, reading, speaking prompts and model, writing task and model, differentiation, final check and the lesson mission. Picture match: website visual game “Writing — Education and Future Plans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140–155-word article on education and future plans. It brings together P2-L01 to P2-L08 — the P2 writing assessment rehearsal.
• Core: the four-paragraph plan with one sentence per structure. Develop: 140 words with the five structures labelled. Stretch: 155 words, two connectors and ONE sentence that combines three structures.
• Marking (website listening): Paper 4 Q3 rewards CONTENT, RANGE and ACCURACY. At P2, Range means the five structures — and one law sentence beside one idhā sentence shows the examiner you can tell the possible from the hypothetical.
• Be sensitive: students who have not chosen a career can write as a persona (“a student who wants to study medicine / engineering”) — the grammar is what is being assessed.
• Timing: a strict 15 minutes of silent writing in You Do; collect drafts for the P2-L12 assessment feedback.
• TEACHER-WRITTEN ITEMS: the connector spelt عِلَاوَةً (website: عَلَاوَةً); waṣl alif shown without a kasra; one sorter card corrected (كَانَتْ قَدِ اهْتَمَمْتُ → كُنْتُ قَدِ اهْتَمَمْتُ); rule headings and formulas in English and transliteration; the upgrade drill and triple-sentence build are teacher-built from the website model and teaching points;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P2-L08. Question 4 retrieves the certainty of reporting verbs (P2-L08); question 5 the qāla inna rule (P2-L02) — website mistake 2 shows this is an Accuracy trap in extended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P2 Range = five structures in one text — and one idhā beside one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formal Urdu connectors come from Arabic — علاوہ ازیں، نتیجتاً، بنا بریں، شرط. CAREFUL with spelling: Urdu says ʿalāwa, but in Arabic it is عِلَاوَةً (ʿilāwatan, with a kasra) — some websites copy the Urdu-style vowel by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P2 Range criteria (website vocabulary (1 of 2)). Hear → Say → See → Use. Transliteration is printed for Core students (cover it for Develop/Stretch).
The nine P2 Range criteria — today’s checklist: past perfect · reported speech · Type 1 · Type 2 · formal connector · comparative · integration · analytical depth ·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P2 Range criteria (website vocabulary (2 of 2)). Hear → Say → See → Use. Transliteration is printed for Core students (cover it for Develop/Stretch).
The nine P2 Range criteria — today’s checklist: past perfect · reported speech · Type 1 · Type 2 · formal connector · comparative · integration · analytical depth ·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(1 of 2)). Hear → Say → See → Use. Transliteration is printed for Core students (cover it for Develop/Stretch).
Formal connectors: each sits at the START of a sentence, followed by a comma. شَرِيطَةَ أَنْ (provided that) is followed by a subjunctive verb (-a): شَرِيطَةَ أَنْ أَجْتَهِدَ.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(2 of 2)). Hear → Say → See → Use. Transliteration is printed for Core students (cover it for Develop/Stretch).
FLEX: teach if time allows; otherwise these are on the website vocabulary tab for homework.
Formal connectors: each sits at the START of a sentence, followed by a comma. شَرِيطَةَ أَنْ (provided that) is followed by a subjunctive verb (-a): شَرِيطَةَ أَنْ أَجْتَهِدَ.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Structuring the argument (website vocabulary (1 of 2)). Hear → Say → See → Use. Transliteration is printed for Core students (cover it for Develop/Stretch).
FLEX: teach if time allows; otherwise these are on the website vocabulary tab for homework.
Structuring the argument: خَلْفِيَّةٌ (background) → وَاقِعٌ حَالِيٌّ (current reality) → تَحْلِيلٌ (analysis) → اسْتِنْتَاجٌ (conclusion) — the four moves of today’s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Structuring the argument (website vocabulary (2 of 2)). Hear → Say → See → Use. Transliteration is printed for Core students (cover it for Develop/Stretch).
FLEX: teach if time allows; otherwise these are on the website vocabulary tab for homework.
Structuring the argument: خَلْفِيَّةٌ (background) → وَاقِعٌ حَالِيٌّ (current reality) → تَحْلِيلٌ (analysis) → اسْتِنْتَاجٌ (conclusion) — the four moves of today’s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teaching point “Map a structure to each paragraph” (P1 background with كَانَ قَدْ; P2 current reality in the present with reported speech; P3 analysis with a Type 1 and a Type 2 conditional; P4 a forward look with the future and a formal connector), the website table and the listening (افْتَحْ بِخَلْفِيَّةٍ فِي المَاضِي التَّامِّ، ثُمَّ اعْرِضِ الوَاقِعَ الحَالِيَّ بِالكَلَامِ المَنْقُولِ، ثُمَّ حَلِّلْ بِالشَّرْطَيْنِ، وَاخْتِمْ بِالمُسْتَقْبَلِ).
Each paragraph recycles an earlier P2 lesson: background (P2-L03) · reality (P2-L02) · analysis (P1-L03 + P2-L06) · conclusion (P2-L05 future + P2-L09 connectors).
Core students write ONLY the four model-style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“Lift register with connectors” (عِلَاوَةً عَلَى ذٰلِكَ · شَرِيطَةَ أَنْ) and the website vocabulary group “Formal connectors”.
Spelling: عِلَاوَةً (ʿilāwatan) — the website writes عَلَاوَةً; the kasra is correct (cf. Urdu علاوہ).
بِالإِضَافَةِ إِلَى + genitive noun (not a sentence): بِالإِضَافَةِ إِلَى الدِّرَاسَةِ، أَعْمَلُ مُتَطَوِّعًا.
Website quiz 4 and 7: a formal connector (عِلَاوَةً عَلَى ذٰلِكَ · وَخِتَامًا) rather than وَ / ثُمَّ / وَأَيْضًا.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“Both conditionals in analysis” and common error: “using two Type 1 conditionals instead of one of each type. Range rewards variety and the real / hypothetical contrast.”
Website mistake 1: إِذَا قُبِلْتُ سَأَدْرُسُ؛ وَإِذَا تَوَافَرَ الدَّعْمُ سَأَتَفَوَّقُ ✗ (two Type 1) → … وَلَوْ تَوَافَرَ الدَّعْمُ لَتَفَوَّقْتُ.
Card 3 is from the website model: لَكُنْتُ قَدْ تَقَدَّمْتُ = Type 2 result + past perfect (“I would have progressed”) — a two-marker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“One sentence can carry three structures” (كَانَ مُرْشِدِي قَدْ أَشَارَ إِلَى أَنَّنِي سَأَنْجَحُ، وَلَوْ تَوَافَرَتِ المَوَارِدُ، لَتَفَوَّقْتُ أَكْثَرَ) and the website challenge “Draft one sentence that combines a past perfect, reported speech and a Type 2 conditional”.
Build it live, adding one structure per step. Row 4 is teacher-built (connector + reported + Type 1, with idhā at the end — also correct).
Warn: accuracy first. A triple sentence with a wrong particle (qāla anna) loses more than it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synthesis rather than a new rule: how to place and combine the five P2 structures and lift register with connectors.”
• Background: past perfect: Open with what had already happened.
• Reality: reported speech: Cite a teacher or study in the present reality.
• Analysis: both conditionals: A real proposal and a counterfactual side by side.
• Register: formal connectors: Replace bare وَ with a formal connector.
Website common error: Writing 150 fluent words with only one structure, or using two Type 1 conditionals instead of one of each type. Range rewards variety and the real/hypothetical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structures aloud: past perfect (1) · reported speech (2) · Type 1 (3) · connector + Type 2 (4–5) · connector + future (6–7). “Five paragraphs’ worth of Range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an upgrade drill built from the website model. The left-hand sentences are accurate but show almost no Range — that is the point.
Core: rows 1–2. Develop: rows 1–4. Stretch: all five, then join rows 2 and 4 into one triple sentence (Part 4).
Row 2: «أَنْتَ مُؤَهَّلٌ» → إِلَى أَنَّنِي مُؤَهَّلٌ — the pronoun switches to “I”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background, an analysis and a conclusion.” Website feedback: any three different combinations work.
Ask: which combination has the MOST structures? (e.g. row 2 + row 2 + row 3: past perfect + reported + Type 2 + connector +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the order of the four moves.
Listen 1: just listen. Listen 2: note answers. Then chat the letters.
Support: after the second listening, show the read-along slide (Arabic + English, line by line) for Core students.
SCRIPT (read aloud):
فِي الوَرَقَةِ الرَّابِعَةِ، يُقَيِّمُ المُصَحِّحُ ثَلَاثَةَ أَشْيَاءَ: المُحْتَوَى، وَالنِّطَاقَ، وَالدِّقَّةَ. وَفِي السَّنَةِ العَاشِرَةِ، النِّطَاقُ يَعْنِي دَمْجَ خَمْسِ بُنًى: المَاضِي التَّامِّ، وَالكَلَامِ المَنْقُولِ، وَالشَّرْطِ بِنَوْعَيْهِ، وَالمُسْتَقْبَلِ. النَّصُّ الَّذِي يَحْمِلُ «إِذَا» وَ«لَوْ» مَعًا يُظْهِرُ أَنَّ الكَاتِبَ يُمَيِّزُ بَيْنَ المُمْكِنِ وَالافْتِرَاضِيِّ. افْتَحْ بِخَلْفِيَّةٍ فِي المَاضِي التَّامِّ، ثُمَّ اعْرِضِ الوَاقِعَ الحَالِيَّ بِالكَلَامِ المَنْقُولِ، ثُمَّ حَلِّلْ بِالشَّرْطَيْنِ، وَاخْتِمْ بِالمُسْتَقْبَلِ وَرَابِطٍ رَسْمِيٍّ. اُكْتُبْ مِئَةً وَأَرْبَعِينَ إِلَى مِئَةٍ وَخَمْسِينَ كَلِمَةً.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وَجُمْلَتُكَ مِنَ النَّوْعِ الثَّانِي؟ (Type 2)
B: لَوْ تَوَافَرَتْ لِي مَوَارِدُ أَفْضَلُ، لَتَفَوَّقْتُ أَكْثَرَ، لٰكِنْ إِذَا اجْتَهَدْتُ، سَأُحَقِّقُ طُمُوحِي. (Type 2 counterfactual plus a Type 1 proposal)
Website prompts and model: students TALK THROUGH their plan with a partner before writing (2 min each). The partner counts the five structures on their fingers. Stretch result needs la-: لَتَفَوَّقْتُ · لَكُنْتُ قَدْ تَقَدَّمْتُ. To a girl: خَلْفِيَّتُكِ · مُعَلِّمُوكِ · عَنْكِ · جُمْلَتُكِ.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structure. · Develop — Expand to 140 words with five structures labelled. · Stretch — Reach 155 words with two connectors and one sentence combining three structures.
Website writing task (Stretch): Write a 140-155 word article on education and future plans. Include all five P2 structures: a past-perfect background, reported speech, a Type 1 conditional, a Type 2 conditional and the future, joined with at least two formal connectors.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145 words). Range: كُنْتُ قَدْ قَرَّرْتُ · كُنْتُ قَدْ أَنْجَزْتُ (past perfect) · أَشَارَ … إِلَى أَنَّنِي · أَكَّدَ أَنَّ … سَيُثْمِرُ (reported + future) · إِذَا قُبِلْتُ … سَأُكَرِّسُ (Type 1) · لَوْ تَوَافَرَتْ … لَكُنْتُ قَدْ تَقَدَّمْتُ (Type 2 + past perfect) · عَلَى الرَّغْمِ مِنْ ذٰلِكَ · عِلَاوَةً عَلَى ذٰلِكَ · وَخِتَامًا (connectors) · أَقْوَى مِنَ (comparative) · سَوْفَ أَسْعَى (future).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(P2-L10 · Listening — Education and Future Plans Texts) will spend class time USING this language, so students prepare it tonight — short, simple, easy to access (school guidance: “Simple, Short, Interesting, Relevant, Easy to access”). The five words come from the website P2-L10 vocabulary (listening for structure).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Education and Future Plans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التَّعْلِيمُ وَخُطَطُ 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140–155-word article that carries all five P2 structures — a past-perfect background, reported speech, a Type 1 AND a Type 2 conditional, and the future — joined with formal connectors, then self-mark it against the nine Range criteria.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P2-L09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four-move plan, the five P2 structures, formal connectors, the triple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build an article line, sort by paragraph.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 that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moreover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شَرِيطَةَ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order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بِنَاءً عَلَى مَا سَبَقَ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addition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أَوْضَحَ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ادَّعَى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أُسْتَاذِي إِنَّنِي مُجْتَهِدٌ.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أُسْتَاذِي أَنَّنِي مُجْتَهِدٌ.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أُسْتَاذِي إِنَّ أَنَا مُجْتَهِدٌ.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 that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moreover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result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شَرِيطَةَ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provided that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order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بِنَاءً عَلَى مَا سَبَقَ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other hand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addition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based on the above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أَوْضَحَ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ادَّعَى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P2-L08: iddaʿā = doubt.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أُسْتَاذِي إِنَّنِي مُجْتَهِدٌ.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أُسْتَاذِي أَنَّنِي مُجْتَهِدٌ.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أُسْتَاذِي إِنَّ أَنَا مُجْتَهِدٌ.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qāla + inna + pronoun.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P2 Range = five structures in one text — and one idhā beside one law.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كُنْتُ قَدْ</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أَشَارَ … إِلَى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إِذَا … 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لَوْ …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سَوْفَ</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education article carrying every P2 structure.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past perfect, reported speech and both conditional types in one 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Raise the register with formal connectors and academic vocabulary.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Self-assess against the nine P2 Range criteria.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past perfect and a reported clause.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one idhā AND one law conditional.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join ideas with two formal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one sentence with three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the nine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nine P2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Formal connectors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Structuring the argument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عِلَاوَةً عَلَى</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‎علاوہ ازیں‎ </a:t>
            </a:r>
            <a:pPr indent="0" marL="0">
              <a:buNone/>
            </a:pPr>
            <a:r>
              <a:rPr lang="en-US" sz="950" b="1" dirty="0">
                <a:solidFill>
                  <a:srgbClr val="2E8B57"/>
                </a:solidFill>
                <a:latin typeface="Calibri" pitchFamily="34" charset="0"/>
                <a:cs typeface="Amiri" pitchFamily="2" charset="-78"/>
              </a:rPr>
              <a:t> ʿalāwa azīn · moreover, besides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a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شَرْطٌ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a condition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a summary, conclusion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بِنَاءً عَلَى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‎بنا بریں‎ </a:t>
            </a:r>
            <a:pPr indent="0" marL="0">
              <a:buNone/>
            </a:pPr>
            <a:r>
              <a:rPr lang="en-US" sz="950" b="1" dirty="0">
                <a:solidFill>
                  <a:srgbClr val="2E8B57"/>
                </a:solidFill>
                <a:latin typeface="Calibri" pitchFamily="34" charset="0"/>
                <a:cs typeface="Amiri" pitchFamily="2" charset="-78"/>
              </a:rPr>
              <a:t> binā barīn · based on, therefore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nine P2 Range criteria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النِّطَاقُ الكَامِلُ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full range</a:t>
            </a:r>
            <a:endParaRPr lang="en-US" sz="1350" dirty="0"/>
          </a:p>
          <a:p>
            <a:pPr indent="0" marL="0">
              <a:buNone/>
            </a:pPr>
            <a:r>
              <a:rPr lang="en-US" sz="1100" i="1" dirty="0">
                <a:solidFill>
                  <a:srgbClr val="5A6472"/>
                </a:solidFill>
                <a:latin typeface="Calibri" pitchFamily="34" charset="0"/>
                <a:cs typeface="Amiri" pitchFamily="2" charset="-78"/>
              </a:rPr>
              <a:t>an-ni-ṭā-qu al-kā-mi-lu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كَانَ قَدْ.</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إِذَا … سَـ.</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الأَوَّلِ</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8" name="Shape 45"/>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لَوْ … لَـ.</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الثَّانِي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nine P2 Range criteria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رَابِطٌ رَسْمِيٌّ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connector</a:t>
            </a:r>
            <a:endParaRPr lang="en-US" sz="1350" dirty="0"/>
          </a:p>
          <a:p>
            <a:pPr indent="0" marL="0">
              <a:buNone/>
            </a:pPr>
            <a:r>
              <a:rPr lang="en-US" sz="1100" i="1" dirty="0">
                <a:solidFill>
                  <a:srgbClr val="5A6472"/>
                </a:solidFill>
                <a:latin typeface="Calibri" pitchFamily="34" charset="0"/>
                <a:cs typeface="Amiri" pitchFamily="2" charset="-78"/>
              </a:rPr>
              <a:t>rā-bi-ṭun ras-miy-yun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رَوَابِطُ رَسْمِيَّةٌ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التَّفْضِيلِ</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التَّكَامُلُ النَّحْوِيُّ</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grammatical integration</a:t>
            </a:r>
            <a:endParaRPr lang="en-US" sz="1350" dirty="0"/>
          </a:p>
          <a:p>
            <a:pPr indent="0" marL="0">
              <a:buNone/>
            </a:pPr>
            <a:r>
              <a:rPr lang="en-US" sz="1100" i="1" dirty="0">
                <a:solidFill>
                  <a:srgbClr val="5A6472"/>
                </a:solidFill>
                <a:latin typeface="Calibri" pitchFamily="34" charset="0"/>
                <a:cs typeface="Amiri" pitchFamily="2" charset="-78"/>
              </a:rPr>
              <a:t>at-ta-kā-mu-lu an-naḥ-wiy-yu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العُمْقُ التَّحْلِيلِيُّ</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analytical depth</a:t>
            </a:r>
            <a:endParaRPr lang="en-US" sz="1350" dirty="0"/>
          </a:p>
          <a:p>
            <a:pPr indent="0" marL="0">
              <a:buNone/>
            </a:pPr>
            <a:r>
              <a:rPr lang="en-US" sz="1100" i="1" dirty="0">
                <a:solidFill>
                  <a:srgbClr val="5A6472"/>
                </a:solidFill>
                <a:latin typeface="Calibri" pitchFamily="34" charset="0"/>
                <a:cs typeface="Amiri" pitchFamily="2" charset="-78"/>
              </a:rPr>
              <a:t>al-ʿum-qu at-taḥ-lī-liy-yu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ʿa-lā ar-ragh-mi min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شَرِيطَةَ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provided that</a:t>
            </a:r>
            <a:endParaRPr lang="en-US" sz="1350" dirty="0"/>
          </a:p>
          <a:p>
            <a:pPr indent="0" marL="0">
              <a:buNone/>
            </a:pPr>
            <a:r>
              <a:rPr lang="en-US" sz="1100" i="1" dirty="0">
                <a:solidFill>
                  <a:srgbClr val="5A6472"/>
                </a:solidFill>
                <a:latin typeface="Calibri" pitchFamily="34" charset="0"/>
                <a:cs typeface="Amiri" pitchFamily="2" charset="-78"/>
              </a:rPr>
              <a:t>sha-rī-ṭa-ta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بِنَاءً عَلَى مَا سَبَقَ</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bi-nā-ʾan ʿa-lā mā sa-ba-qa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 to</a:t>
            </a:r>
            <a:endParaRPr lang="en-US" sz="1350" dirty="0"/>
          </a:p>
          <a:p>
            <a:pPr indent="0" marL="0">
              <a:buNone/>
            </a:pPr>
            <a:r>
              <a:rPr lang="en-US" sz="1100" i="1" dirty="0">
                <a:solidFill>
                  <a:srgbClr val="5A6472"/>
                </a:solidFill>
                <a:latin typeface="Calibri" pitchFamily="34" charset="0"/>
                <a:cs typeface="Amiri" pitchFamily="2" charset="-78"/>
              </a:rPr>
              <a:t>bil-ʾi-ḍā-fa-ti i-lā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وَخِتَامًا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wa-khi-tā-man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Structuring the argument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خَلْفِيَّةٌ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background</a:t>
            </a:r>
            <a:endParaRPr lang="en-US" sz="1350" dirty="0"/>
          </a:p>
          <a:p>
            <a:pPr indent="0" marL="0">
              <a:buNone/>
            </a:pPr>
            <a:r>
              <a:rPr lang="en-US" sz="1100" i="1" dirty="0">
                <a:solidFill>
                  <a:srgbClr val="5A6472"/>
                </a:solidFill>
                <a:latin typeface="Calibri" pitchFamily="34" charset="0"/>
                <a:cs typeface="Amiri" pitchFamily="2" charset="-78"/>
              </a:rPr>
              <a:t>khal-fiy-ya-tun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خَلْفِيَّاتٌ</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وَاقِعٌ حَالِيٌّ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current reality</a:t>
            </a:r>
            <a:endParaRPr lang="en-US" sz="1350" dirty="0"/>
          </a:p>
          <a:p>
            <a:pPr indent="0" marL="0">
              <a:buNone/>
            </a:pPr>
            <a:r>
              <a:rPr lang="en-US" sz="1100" i="1" dirty="0">
                <a:solidFill>
                  <a:srgbClr val="5A6472"/>
                </a:solidFill>
                <a:latin typeface="Calibri" pitchFamily="34" charset="0"/>
                <a:cs typeface="Amiri" pitchFamily="2" charset="-78"/>
              </a:rPr>
              <a:t>wā-qi-ʿun ḥā-liy-yun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تَحْلِيلٌ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analysis</a:t>
            </a:r>
            <a:endParaRPr lang="en-US" sz="1350" dirty="0"/>
          </a:p>
          <a:p>
            <a:pPr indent="0" marL="0">
              <a:buNone/>
            </a:pPr>
            <a:r>
              <a:rPr lang="en-US" sz="1100" i="1" dirty="0">
                <a:solidFill>
                  <a:srgbClr val="5A6472"/>
                </a:solidFill>
                <a:latin typeface="Calibri" pitchFamily="34" charset="0"/>
                <a:cs typeface="Amiri" pitchFamily="2" charset="-78"/>
              </a:rPr>
              <a:t>taḥ-lī-lun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تَحْلِيلَاتٌ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اسْتِنْتَاجٌ</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conclusion</a:t>
            </a:r>
            <a:endParaRPr lang="en-US" sz="1350" dirty="0"/>
          </a:p>
          <a:p>
            <a:pPr indent="0" marL="0">
              <a:buNone/>
            </a:pPr>
            <a:r>
              <a:rPr lang="en-US" sz="1100" i="1" dirty="0">
                <a:solidFill>
                  <a:srgbClr val="5A6472"/>
                </a:solidFill>
                <a:latin typeface="Calibri" pitchFamily="34" charset="0"/>
                <a:cs typeface="Amiri" pitchFamily="2" charset="-78"/>
              </a:rPr>
              <a:t>as-tin-tā-jun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اسْتِنْتَاجَاتٌ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Structuring the argument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مُتَدَرِّجَةٌ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graduated argument</a:t>
            </a:r>
            <a:endParaRPr lang="en-US" sz="1350" dirty="0"/>
          </a:p>
          <a:p>
            <a:pPr indent="0" marL="0">
              <a:buNone/>
            </a:pPr>
            <a:r>
              <a:rPr lang="en-US" sz="1100" i="1" dirty="0">
                <a:solidFill>
                  <a:srgbClr val="5A6472"/>
                </a:solidFill>
                <a:latin typeface="Calibri" pitchFamily="34" charset="0"/>
                <a:cs typeface="Amiri" pitchFamily="2" charset="-78"/>
              </a:rPr>
              <a:t>ḥuj-ja-tun mu-ta-dar-ri-ja-tun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صَوْتٌ 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academic voice</a:t>
            </a:r>
            <a:endParaRPr lang="en-US" sz="1350" dirty="0"/>
          </a:p>
          <a:p>
            <a:pPr indent="0" marL="0">
              <a:buNone/>
            </a:pPr>
            <a:r>
              <a:rPr lang="en-US" sz="1100" i="1" dirty="0">
                <a:solidFill>
                  <a:srgbClr val="5A6472"/>
                </a:solidFill>
                <a:latin typeface="Calibri" pitchFamily="34" charset="0"/>
                <a:cs typeface="Amiri" pitchFamily="2" charset="-78"/>
              </a:rPr>
              <a:t>ṣaw-tun a-kā-dī-miy-yun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يَدْمُجُ</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integrates</a:t>
            </a:r>
            <a:endParaRPr lang="en-US" sz="1350" dirty="0"/>
          </a:p>
          <a:p>
            <a:pPr indent="0" marL="0">
              <a:buNone/>
            </a:pPr>
            <a:r>
              <a:rPr lang="en-US" sz="1100" i="1" dirty="0">
                <a:solidFill>
                  <a:srgbClr val="5A6472"/>
                </a:solidFill>
                <a:latin typeface="Calibri" pitchFamily="34" charset="0"/>
                <a:cs typeface="Amiri" pitchFamily="2" charset="-78"/>
              </a:rPr>
              <a:t>yad-mu-ju</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تَدْمُجُ</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أَدْمُجُ</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3" name="Shape 4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يُوَازِنُ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a:t>
            </a:r>
            <a:endParaRPr lang="en-US" sz="1350" dirty="0"/>
          </a:p>
          <a:p>
            <a:pPr indent="0" marL="0">
              <a:buNone/>
            </a:pPr>
            <a:r>
              <a:rPr lang="en-US" sz="1100" i="1" dirty="0">
                <a:solidFill>
                  <a:srgbClr val="5A6472"/>
                </a:solidFill>
                <a:latin typeface="Calibri" pitchFamily="34" charset="0"/>
                <a:cs typeface="Amiri" pitchFamily="2" charset="-78"/>
              </a:rPr>
              <a:t>yu-wā-zi-nu</a:t>
            </a:r>
            <a:endParaRPr lang="en-US" sz="1350" dirty="0"/>
          </a:p>
        </p:txBody>
      </p:sp>
      <p:sp>
        <p:nvSpPr>
          <p:cNvPr id="47" name="Shape 4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تُوَازِنُ</a:t>
            </a:r>
            <a:endParaRPr lang="ar-SA" sz="1500" dirty="0"/>
          </a:p>
        </p:txBody>
      </p:sp>
      <p:sp>
        <p:nvSpPr>
          <p:cNvPr id="50" name="Shape 4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2" name="Text 4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أُوَازِنُ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FOUR-MOVE PLAN (WEBSITE TABLE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five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754880" y="2267712"/>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1900" b="1" dirty="0">
                <a:solidFill>
                  <a:srgbClr val="1B3B6F"/>
                </a:solidFill>
                <a:latin typeface="Amiri" pitchFamily="2" charset="-78"/>
                <a:ea typeface="Amiri" pitchFamily="2" charset="-78"/>
                <a:cs typeface="Amiri" pitchFamily="2" charset="-78"/>
              </a:rPr>
              <a:t> دِرَاسَةَ الطِّبِّ مُنْذُ المَرْحَلَةِ الإِعْدَادِيَّةِ.</a:t>
            </a:r>
            <a:endParaRPr lang="ar-SA" sz="1900" dirty="0"/>
          </a:p>
        </p:txBody>
      </p:sp>
      <p:sp>
        <p:nvSpPr>
          <p:cNvPr id="21" name="Text 18"/>
          <p:cNvSpPr txBox="1"/>
          <p:nvPr/>
        </p:nvSpPr>
        <p:spPr>
          <a:xfrm>
            <a:off x="2304288" y="2267712"/>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background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754880" y="3054096"/>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أَدْرُسُ الآنَ فِي السَّنَةِ الأَخِيرَةِ، وَ</a:t>
            </a:r>
            <a:pPr rtl="1" algn="ctr" indent="0" marL="0">
              <a:buNone/>
            </a:pPr>
            <a:r>
              <a:rPr lang="ar-SA" altLang="en-US" sz="1900" b="1" dirty="0">
                <a:solidFill>
                  <a:srgbClr val="7B3FA0"/>
                </a:solidFill>
                <a:latin typeface="Amiri" pitchFamily="2" charset="-78"/>
                <a:ea typeface="Amiri" pitchFamily="2" charset="-78"/>
                <a:cs typeface="Amiri" pitchFamily="2" charset="-78"/>
              </a:rPr>
              <a:t>قَدْ أَشَارَ</a:t>
            </a:r>
            <a:pPr rtl="1" algn="ctr" indent="0" marL="0">
              <a:buNone/>
            </a:pPr>
            <a:r>
              <a:rPr lang="ar-SA" altLang="en-US" sz="1900" b="1" dirty="0">
                <a:solidFill>
                  <a:srgbClr val="1B3B6F"/>
                </a:solidFill>
                <a:latin typeface="Amiri" pitchFamily="2" charset="-78"/>
                <a:ea typeface="Amiri" pitchFamily="2" charset="-78"/>
                <a:cs typeface="Amiri" pitchFamily="2" charset="-78"/>
              </a:rPr>
              <a:t> أُسْتَاذِي </a:t>
            </a:r>
            <a:pPr rtl="1" algn="ctr" indent="0" marL="0">
              <a:buNone/>
            </a:pPr>
            <a:r>
              <a:rPr lang="ar-SA" altLang="en-US" sz="1900" b="1" dirty="0">
                <a:solidFill>
                  <a:srgbClr val="7B3FA0"/>
                </a:solidFill>
                <a:latin typeface="Amiri" pitchFamily="2" charset="-78"/>
                <a:ea typeface="Amiri" pitchFamily="2" charset="-78"/>
                <a:cs typeface="Amiri" pitchFamily="2" charset="-78"/>
              </a:rPr>
              <a:t>إِلَى أَنَّنِي</a:t>
            </a:r>
            <a:pPr rtl="1" algn="ctr" indent="0" marL="0">
              <a:buNone/>
            </a:pPr>
            <a:r>
              <a:rPr lang="ar-SA" altLang="en-US" sz="1900" b="1" dirty="0">
                <a:solidFill>
                  <a:srgbClr val="1B3B6F"/>
                </a:solidFill>
                <a:latin typeface="Amiri" pitchFamily="2" charset="-78"/>
                <a:ea typeface="Amiri" pitchFamily="2" charset="-78"/>
                <a:cs typeface="Amiri" pitchFamily="2" charset="-78"/>
              </a:rPr>
              <a:t> مُؤَهَّلٌ لِلْمُنَافَسَةِ.</a:t>
            </a:r>
            <a:endParaRPr lang="ar-SA" sz="1900" dirty="0"/>
          </a:p>
        </p:txBody>
      </p:sp>
      <p:sp>
        <p:nvSpPr>
          <p:cNvPr id="27" name="Text 24"/>
          <p:cNvSpPr txBox="1"/>
          <p:nvPr/>
        </p:nvSpPr>
        <p:spPr>
          <a:xfrm>
            <a:off x="2304288" y="3054096"/>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reported speech</a:t>
            </a:r>
            <a:endParaRPr lang="en-US" sz="1100" dirty="0"/>
          </a:p>
        </p:txBody>
      </p:sp>
      <p:sp>
        <p:nvSpPr>
          <p:cNvPr id="28" name="Text 25"/>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reality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754880" y="3840480"/>
            <a:ext cx="6885432" cy="731520"/>
          </a:xfrm>
          <a:prstGeom prst="rect">
            <a:avLst/>
          </a:prstGeom>
          <a:noFill/>
          <a:ln/>
        </p:spPr>
        <p:txBody>
          <a:bodyPr wrap="square" lIns="0" tIns="0" rIns="0" bIns="0" rtlCol="0" anchor="ctr"/>
          <a:lstStyle/>
          <a:p>
            <a:pPr rtl="1" algn="ctr" indent="0" marL="0">
              <a:buNone/>
            </a:pPr>
            <a:r>
              <a:rPr lang="ar-SA" altLang="en-US" sz="1850" b="1" dirty="0">
                <a:solidFill>
                  <a:srgbClr val="0E7C86"/>
                </a:solidFill>
                <a:latin typeface="Amiri" pitchFamily="2" charset="-78"/>
                <a:ea typeface="Amiri" pitchFamily="2" charset="-78"/>
                <a:cs typeface="Amiri" pitchFamily="2" charset="-78"/>
              </a:rPr>
              <a:t>إِذَا قُبِلْتُ</a:t>
            </a:r>
            <a:pPr rtl="1" algn="ctr" indent="0" marL="0">
              <a:buNone/>
            </a:pPr>
            <a:r>
              <a:rPr lang="ar-SA" altLang="en-US" sz="1850" b="1" dirty="0">
                <a:solidFill>
                  <a:srgbClr val="1B3B6F"/>
                </a:solidFill>
                <a:latin typeface="Amiri" pitchFamily="2" charset="-78"/>
                <a:ea typeface="Amiri" pitchFamily="2" charset="-78"/>
                <a:cs typeface="Amiri" pitchFamily="2" charset="-78"/>
              </a:rPr>
              <a:t>، </a:t>
            </a:r>
            <a:pPr rtl="1" algn="ctr" indent="0" marL="0">
              <a:buNone/>
            </a:pPr>
            <a:r>
              <a:rPr lang="ar-SA" altLang="en-US" sz="1850" b="1" dirty="0">
                <a:solidFill>
                  <a:srgbClr val="0E7C86"/>
                </a:solidFill>
                <a:latin typeface="Amiri" pitchFamily="2" charset="-78"/>
                <a:ea typeface="Amiri" pitchFamily="2" charset="-78"/>
                <a:cs typeface="Amiri" pitchFamily="2" charset="-78"/>
              </a:rPr>
              <a:t>سَأُكَرِّسُ</a:t>
            </a:r>
            <a:pPr rtl="1" algn="ctr" indent="0" marL="0">
              <a:buNone/>
            </a:pPr>
            <a:r>
              <a:rPr lang="ar-SA" altLang="en-US" sz="1850" b="1" dirty="0">
                <a:solidFill>
                  <a:srgbClr val="1B3B6F"/>
                </a:solidFill>
                <a:latin typeface="Amiri" pitchFamily="2" charset="-78"/>
                <a:ea typeface="Amiri" pitchFamily="2" charset="-78"/>
                <a:cs typeface="Amiri" pitchFamily="2" charset="-78"/>
              </a:rPr>
              <a:t> جُهْدِي لِلْبَحْثِ … </a:t>
            </a:r>
            <a:pPr rtl="1" algn="ctr" indent="0" marL="0">
              <a:buNone/>
            </a:pPr>
            <a:r>
              <a:rPr lang="ar-SA" altLang="en-US" sz="1850" b="1" dirty="0">
                <a:solidFill>
                  <a:srgbClr val="C77700"/>
                </a:solidFill>
                <a:latin typeface="Amiri" pitchFamily="2" charset="-78"/>
                <a:ea typeface="Amiri" pitchFamily="2" charset="-78"/>
                <a:cs typeface="Amiri" pitchFamily="2" charset="-78"/>
              </a:rPr>
              <a:t>لَوْ تَوَافَرَتْ</a:t>
            </a:r>
            <a:pPr rtl="1" algn="ctr" indent="0" marL="0">
              <a:buNone/>
            </a:pPr>
            <a:r>
              <a:rPr lang="ar-SA" altLang="en-US" sz="1850" b="1" dirty="0">
                <a:solidFill>
                  <a:srgbClr val="1B3B6F"/>
                </a:solidFill>
                <a:latin typeface="Amiri" pitchFamily="2" charset="-78"/>
                <a:ea typeface="Amiri" pitchFamily="2" charset="-78"/>
                <a:cs typeface="Amiri" pitchFamily="2" charset="-78"/>
              </a:rPr>
              <a:t> لِي مَوَارِدُ أَفْضَلُ، </a:t>
            </a:r>
            <a:pPr rtl="1" algn="ctr" indent="0" marL="0">
              <a:buNone/>
            </a:pPr>
            <a:r>
              <a:rPr lang="ar-SA" altLang="en-US" sz="1850" b="1" dirty="0">
                <a:solidFill>
                  <a:srgbClr val="C77700"/>
                </a:solidFill>
                <a:latin typeface="Amiri" pitchFamily="2" charset="-78"/>
                <a:ea typeface="Amiri" pitchFamily="2" charset="-78"/>
                <a:cs typeface="Amiri" pitchFamily="2" charset="-78"/>
              </a:rPr>
              <a:t>لَكُنْتُ</a:t>
            </a:r>
            <a:pPr rtl="1" algn="ctr" indent="0" marL="0">
              <a:buNone/>
            </a:pPr>
            <a:r>
              <a:rPr lang="ar-SA" altLang="en-US" sz="1850" b="1" dirty="0">
                <a:solidFill>
                  <a:srgbClr val="1B3B6F"/>
                </a:solidFill>
                <a:latin typeface="Amiri" pitchFamily="2" charset="-78"/>
                <a:ea typeface="Amiri" pitchFamily="2" charset="-78"/>
                <a:cs typeface="Amiri" pitchFamily="2" charset="-78"/>
              </a:rPr>
              <a:t> قَدْ تَقَدَّمْتُ أَكْثَرَ.</a:t>
            </a:r>
            <a:endParaRPr lang="ar-SA" sz="1850" dirty="0"/>
          </a:p>
        </p:txBody>
      </p:sp>
      <p:sp>
        <p:nvSpPr>
          <p:cNvPr id="33" name="Text 30"/>
          <p:cNvSpPr txBox="1"/>
          <p:nvPr/>
        </p:nvSpPr>
        <p:spPr>
          <a:xfrm>
            <a:off x="2304288" y="3840480"/>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34" name="Text 31"/>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analysis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754880" y="4626864"/>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وَخِتَامًا، سَوْفَ</a:t>
            </a:r>
            <a:pPr rtl="1" algn="ctr" indent="0" marL="0">
              <a:buNone/>
            </a:pPr>
            <a:r>
              <a:rPr lang="ar-SA" altLang="en-US" sz="1900" b="1" dirty="0">
                <a:solidFill>
                  <a:srgbClr val="1B3B6F"/>
                </a:solidFill>
                <a:latin typeface="Amiri" pitchFamily="2" charset="-78"/>
                <a:ea typeface="Amiri" pitchFamily="2" charset="-78"/>
                <a:cs typeface="Amiri" pitchFamily="2" charset="-78"/>
              </a:rPr>
              <a:t> أَسْعَى إِلَى خِدْمَةِ مُجْتَمَعِي.</a:t>
            </a:r>
            <a:endParaRPr lang="ar-SA" sz="1900" dirty="0"/>
          </a:p>
        </p:txBody>
      </p:sp>
      <p:sp>
        <p:nvSpPr>
          <p:cNvPr id="39" name="Text 36"/>
          <p:cNvSpPr txBox="1"/>
          <p:nvPr/>
        </p:nvSpPr>
        <p:spPr>
          <a:xfrm>
            <a:off x="2304288" y="4626864"/>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connector</a:t>
            </a:r>
            <a:endParaRPr lang="en-US" sz="1100" dirty="0"/>
          </a:p>
        </p:txBody>
      </p:sp>
      <p:sp>
        <p:nvSpPr>
          <p:cNvPr id="40" name="Text 37"/>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plan is what turns five structures into a coherent article.”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LIFT THE REGISTER WITH CONNECTORS (WEBSITE RULE 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Replace the bare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الرَّوَابِطُ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0050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a:t>
            </a:r>
            <a:endParaRPr lang="en-US" sz="1100" dirty="0"/>
          </a:p>
        </p:txBody>
      </p:sp>
      <p:sp>
        <p:nvSpPr>
          <p:cNvPr id="18" name="Text 15"/>
          <p:cNvSpPr txBox="1"/>
          <p:nvPr/>
        </p:nvSpPr>
        <p:spPr>
          <a:xfrm>
            <a:off x="2176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 أَطْمَحُ إِلَى البَحْثِ العِلْمِيِّ.</a:t>
            </a:r>
            <a:endParaRPr lang="ar-SA" sz="1800" dirty="0"/>
          </a:p>
        </p:txBody>
      </p:sp>
      <p:sp>
        <p:nvSpPr>
          <p:cNvPr id="22" name="Text 19"/>
          <p:cNvSpPr txBox="1"/>
          <p:nvPr/>
        </p:nvSpPr>
        <p:spPr>
          <a:xfrm>
            <a:off x="4023360" y="226771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عِلَاوَةً عَلَى ذٰلِكَ</a:t>
            </a:r>
            <a:endParaRPr lang="ar-SA" sz="2100" dirty="0"/>
          </a:p>
        </p:txBody>
      </p:sp>
      <p:sp>
        <p:nvSpPr>
          <p:cNvPr id="23" name="Text 20"/>
          <p:cNvSpPr txBox="1"/>
          <p:nvPr/>
        </p:nvSpPr>
        <p:spPr>
          <a:xfrm>
            <a:off x="2194560" y="226771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 · أَيْضًا</a:t>
            </a:r>
            <a:endParaRPr lang="ar-SA" sz="2200" dirty="0"/>
          </a:p>
        </p:txBody>
      </p:sp>
      <p:sp>
        <p:nvSpPr>
          <p:cNvPr id="24" name="Text 21"/>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ذٰلِكَ، لَوْ بَدَأْتُ مُبَكِّرًا، لَكُنْتُ أَفْضَلَ.</a:t>
            </a:r>
            <a:endParaRPr lang="ar-SA" sz="1800" dirty="0"/>
          </a:p>
        </p:txBody>
      </p:sp>
      <p:sp>
        <p:nvSpPr>
          <p:cNvPr id="27" name="Text 24"/>
          <p:cNvSpPr txBox="1"/>
          <p:nvPr/>
        </p:nvSpPr>
        <p:spPr>
          <a:xfrm>
            <a:off x="4023360" y="2881884"/>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عَلَى الرَّغْمِ مِنْ ذٰلِكَ</a:t>
            </a:r>
            <a:endParaRPr lang="ar-SA" sz="2100" dirty="0"/>
          </a:p>
        </p:txBody>
      </p:sp>
      <p:sp>
        <p:nvSpPr>
          <p:cNvPr id="28" name="Text 25"/>
          <p:cNvSpPr txBox="1"/>
          <p:nvPr/>
        </p:nvSpPr>
        <p:spPr>
          <a:xfrm>
            <a:off x="2194560" y="2881884"/>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29" name="Text 26"/>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0" name="Shape 27"/>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1" name="Text 28"/>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جِهَةٍ أُخْرَى، تَبْقَى المُنَافَسَةُ شَدِيدَةً.</a:t>
            </a:r>
            <a:endParaRPr lang="ar-SA" sz="1800" dirty="0"/>
          </a:p>
        </p:txBody>
      </p:sp>
      <p:sp>
        <p:nvSpPr>
          <p:cNvPr id="32" name="Text 29"/>
          <p:cNvSpPr txBox="1"/>
          <p:nvPr/>
        </p:nvSpPr>
        <p:spPr>
          <a:xfrm>
            <a:off x="4023360" y="3496056"/>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مِنْ جِهَةٍ أُخْرَى</a:t>
            </a:r>
            <a:endParaRPr lang="ar-SA" sz="2100" dirty="0"/>
          </a:p>
        </p:txBody>
      </p:sp>
      <p:sp>
        <p:nvSpPr>
          <p:cNvPr id="33" name="Text 30"/>
          <p:cNvSpPr txBox="1"/>
          <p:nvPr/>
        </p:nvSpPr>
        <p:spPr>
          <a:xfrm>
            <a:off x="2194560" y="3496056"/>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other side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سَأَنْجَحُ شَرِيطَةَ أَنْ </a:t>
            </a:r>
            <a:pPr rtl="1" algn="ctr" indent="0" marL="0">
              <a:buNone/>
            </a:pPr>
            <a:r>
              <a:rPr lang="ar-SA" altLang="en-US" sz="1800" b="1" dirty="0">
                <a:solidFill>
                  <a:srgbClr val="0E7C86"/>
                </a:solidFill>
                <a:latin typeface="Amiri" pitchFamily="2" charset="-78"/>
                <a:ea typeface="Amiri" pitchFamily="2" charset="-78"/>
                <a:cs typeface="Amiri" pitchFamily="2" charset="-78"/>
              </a:rPr>
              <a:t>أَجْتَهِدَ</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7" name="Text 34"/>
          <p:cNvSpPr txBox="1"/>
          <p:nvPr/>
        </p:nvSpPr>
        <p:spPr>
          <a:xfrm>
            <a:off x="4023360" y="4110228"/>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شَرِيطَةَ أَنْ</a:t>
            </a:r>
            <a:endParaRPr lang="ar-SA" sz="2100" dirty="0"/>
          </a:p>
        </p:txBody>
      </p:sp>
      <p:sp>
        <p:nvSpPr>
          <p:cNvPr id="38" name="Text 35"/>
          <p:cNvSpPr txBox="1"/>
          <p:nvPr/>
        </p:nvSpPr>
        <p:spPr>
          <a:xfrm>
            <a:off x="2194560" y="4110228"/>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a:t>
            </a:r>
            <a:endParaRPr lang="ar-SA" sz="2200" dirty="0"/>
          </a:p>
        </p:txBody>
      </p:sp>
      <p:sp>
        <p:nvSpPr>
          <p:cNvPr id="39" name="Text 36"/>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t>
            </a:r>
            <a:endParaRPr lang="en-US" sz="1100" dirty="0"/>
          </a:p>
        </p:txBody>
      </p:sp>
      <p:sp>
        <p:nvSpPr>
          <p:cNvPr id="40" name="Shape 37"/>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1" name="Text 38"/>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 قُبِلْتُ فِي بَرْنَامَجٍ بَحْثِيٍّ.</a:t>
            </a:r>
            <a:endParaRPr lang="ar-SA" sz="1800" dirty="0"/>
          </a:p>
        </p:txBody>
      </p:sp>
      <p:sp>
        <p:nvSpPr>
          <p:cNvPr id="42" name="Text 39"/>
          <p:cNvSpPr txBox="1"/>
          <p:nvPr/>
        </p:nvSpPr>
        <p:spPr>
          <a:xfrm>
            <a:off x="4023360" y="4724400"/>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ea typeface="Amiri" pitchFamily="2" charset="-78"/>
                <a:cs typeface="Amiri" pitchFamily="2" charset="-78"/>
              </a:rPr>
              <a:t>نَتِيجَةً لِذٰلِكَ</a:t>
            </a:r>
            <a:endParaRPr lang="ar-SA" sz="2100" dirty="0"/>
          </a:p>
        </p:txBody>
      </p:sp>
      <p:sp>
        <p:nvSpPr>
          <p:cNvPr id="43" name="Text 40"/>
          <p:cNvSpPr txBox="1"/>
          <p:nvPr/>
        </p:nvSpPr>
        <p:spPr>
          <a:xfrm>
            <a:off x="2194560" y="4724400"/>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لِذٰلِكَ</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بِنَاءً عَلَى مَا سَبَقَ، التَّعْلِيمُ اسْتِثْمَارٌ فِي المُسْتَقْبَلِ.</a:t>
            </a:r>
            <a:endParaRPr lang="ar-SA" sz="1800" dirty="0"/>
          </a:p>
        </p:txBody>
      </p:sp>
      <p:sp>
        <p:nvSpPr>
          <p:cNvPr id="47" name="Text 44"/>
          <p:cNvSpPr txBox="1"/>
          <p:nvPr/>
        </p:nvSpPr>
        <p:spPr>
          <a:xfrm>
            <a:off x="4023360" y="533857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ea typeface="Amiri" pitchFamily="2" charset="-78"/>
                <a:cs typeface="Amiri" pitchFamily="2" charset="-78"/>
              </a:rPr>
              <a:t>بِنَاءً عَلَى مَا سَبَقَ</a:t>
            </a:r>
            <a:endParaRPr lang="ar-SA" sz="2100" dirty="0"/>
          </a:p>
        </p:txBody>
      </p:sp>
      <p:sp>
        <p:nvSpPr>
          <p:cNvPr id="48" name="Text 45"/>
          <p:cNvSpPr txBox="1"/>
          <p:nvPr/>
        </p:nvSpPr>
        <p:spPr>
          <a:xfrm>
            <a:off x="2194560" y="533857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النِّهَايَةِ</a:t>
            </a:r>
            <a:endParaRPr lang="ar-SA" sz="2200" dirty="0"/>
          </a:p>
        </p:txBody>
      </p:sp>
      <p:sp>
        <p:nvSpPr>
          <p:cNvPr id="49" name="Text 46"/>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sharīṭata an + subjunctive (-a): sharīṭata an ajtahida. Rule of thumb: at least TWO formal connectors in 140 words.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ONE IDHĀ AND ONE LAW (WEBSITE RULE 3 + COMMON ERROR)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 possible and the hypothetical, side by side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وَلَوْ مَعًا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REAL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قُبِلْتُ فِي كُلِّيَّةِ الطِّبِّ، سَأُكَرِّسُ جُهْدِي لِلْبَحْثِ.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am accepted into medical school, I will devote myself to research.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HYPOTHETICAL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تَوَافَرَتِ المَوَارِدُ، لَتَفَوَّقْتُ أَكْثَرَ.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 resources been available, I would have excelled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PAST PERFECT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لَكُنْتُ قَدْ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تَوَافَرَتْ لِي مَوَارِدُ أَفْضَلُ مُبَكِّرًا، لَكُنْتُ قَدْ تَقَدَّمْتُ أَكْثَرَ.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better resources had been available early, I would have progressed further.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structures.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kāna must agree with “I” — kuntu.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كُنْتُ قَدْ قَرَّرْتُ تَخَصُّصِي</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كَانَ قَدْ قَرَّرْتُ تَخَصُّصِي</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ONE SENTENCE, THREE STRUCTURES (WEBSITE TEACHING POINT 1 + CHALLENGE)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triple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جُمْلَةٌ وَاحِدَةٌ، ثَلَاثُ 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Structures</a:t>
            </a:r>
            <a:endParaRPr lang="en-US" sz="1100" dirty="0"/>
          </a:p>
        </p:txBody>
      </p:sp>
      <p:sp>
        <p:nvSpPr>
          <p:cNvPr id="17" name="Text 14"/>
          <p:cNvSpPr txBox="1"/>
          <p:nvPr/>
        </p:nvSpPr>
        <p:spPr>
          <a:xfrm>
            <a:off x="1993392" y="1810512"/>
            <a:ext cx="7443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1948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2011680" y="2267712"/>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كَانَ</a:t>
            </a:r>
            <a:pPr rtl="1" algn="ctr" indent="0" marL="0">
              <a:buNone/>
            </a:pPr>
            <a:r>
              <a:rPr lang="ar-SA" altLang="en-US" sz="180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1800" b="1" dirty="0">
                <a:solidFill>
                  <a:srgbClr val="D6336C"/>
                </a:solidFill>
                <a:latin typeface="Amiri" pitchFamily="2" charset="-78"/>
                <a:ea typeface="Amiri" pitchFamily="2" charset="-78"/>
                <a:cs typeface="Amiri" pitchFamily="2" charset="-78"/>
              </a:rPr>
              <a:t>قَدْ نَصَحَنِي</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2" name="Text 19"/>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61948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reported + future</a:t>
            </a:r>
            <a:endParaRPr lang="en-US" sz="1100" dirty="0"/>
          </a:p>
        </p:txBody>
      </p:sp>
      <p:sp>
        <p:nvSpPr>
          <p:cNvPr id="27" name="Text 24"/>
          <p:cNvSpPr txBox="1"/>
          <p:nvPr/>
        </p:nvSpPr>
        <p:spPr>
          <a:xfrm>
            <a:off x="2011680" y="3054096"/>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كَانَ</a:t>
            </a:r>
            <a:pPr rtl="1" algn="ctr" indent="0" marL="0">
              <a:buNone/>
            </a:pPr>
            <a:r>
              <a:rPr lang="ar-SA" altLang="en-US" sz="180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1800" b="1" dirty="0">
                <a:solidFill>
                  <a:srgbClr val="D6336C"/>
                </a:solidFill>
                <a:latin typeface="Amiri" pitchFamily="2" charset="-78"/>
                <a:ea typeface="Amiri" pitchFamily="2" charset="-78"/>
                <a:cs typeface="Amiri" pitchFamily="2" charset="-78"/>
              </a:rPr>
              <a:t>قَدْ</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7B3FA0"/>
                </a:solidFill>
                <a:latin typeface="Amiri" pitchFamily="2" charset="-78"/>
                <a:ea typeface="Amiri" pitchFamily="2" charset="-78"/>
                <a:cs typeface="Amiri" pitchFamily="2" charset="-78"/>
              </a:rPr>
              <a:t>أَشَارَ إِلَى أَنَّنِي</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1D5FBF"/>
                </a:solidFill>
                <a:latin typeface="Amiri" pitchFamily="2" charset="-78"/>
                <a:ea typeface="Amiri" pitchFamily="2" charset="-78"/>
                <a:cs typeface="Amiri" pitchFamily="2" charset="-78"/>
              </a:rPr>
              <a:t>سَأَنْجَحُ</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8" name="Text 25"/>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61948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Type 2 = 4</a:t>
            </a:r>
            <a:endParaRPr lang="en-US" sz="1100" dirty="0"/>
          </a:p>
        </p:txBody>
      </p:sp>
      <p:sp>
        <p:nvSpPr>
          <p:cNvPr id="33" name="Text 30"/>
          <p:cNvSpPr txBox="1"/>
          <p:nvPr/>
        </p:nvSpPr>
        <p:spPr>
          <a:xfrm>
            <a:off x="2011680" y="3840480"/>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كَانَ</a:t>
            </a:r>
            <a:pPr rtl="1" algn="ctr" indent="0" marL="0">
              <a:buNone/>
            </a:pPr>
            <a:r>
              <a:rPr lang="ar-SA" altLang="en-US" sz="1800" b="1" dirty="0">
                <a:solidFill>
                  <a:srgbClr val="1B3B6F"/>
                </a:solidFill>
                <a:latin typeface="Amiri" pitchFamily="2" charset="-78"/>
                <a:ea typeface="Amiri" pitchFamily="2" charset="-78"/>
                <a:cs typeface="Amiri" pitchFamily="2" charset="-78"/>
              </a:rPr>
              <a:t> مُرْشِدِي </a:t>
            </a:r>
            <a:pPr rtl="1" algn="ctr" indent="0" marL="0">
              <a:buNone/>
            </a:pPr>
            <a:r>
              <a:rPr lang="ar-SA" altLang="en-US" sz="1800" b="1" dirty="0">
                <a:solidFill>
                  <a:srgbClr val="D6336C"/>
                </a:solidFill>
                <a:latin typeface="Amiri" pitchFamily="2" charset="-78"/>
                <a:ea typeface="Amiri" pitchFamily="2" charset="-78"/>
                <a:cs typeface="Amiri" pitchFamily="2" charset="-78"/>
              </a:rPr>
              <a:t>قَدْ</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7B3FA0"/>
                </a:solidFill>
                <a:latin typeface="Amiri" pitchFamily="2" charset="-78"/>
                <a:ea typeface="Amiri" pitchFamily="2" charset="-78"/>
                <a:cs typeface="Amiri" pitchFamily="2" charset="-78"/>
              </a:rPr>
              <a:t>أَشَارَ إِلَى أَنَّنِي</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1D5FBF"/>
                </a:solidFill>
                <a:latin typeface="Amiri" pitchFamily="2" charset="-78"/>
                <a:ea typeface="Amiri" pitchFamily="2" charset="-78"/>
                <a:cs typeface="Amiri" pitchFamily="2" charset="-78"/>
              </a:rPr>
              <a:t>سَأَنْجَحُ</a:t>
            </a:r>
            <a:pPr rtl="1" algn="ctr" indent="0" marL="0">
              <a:buNone/>
            </a:pPr>
            <a:r>
              <a:rPr lang="ar-SA" altLang="en-US" sz="1800" b="1" dirty="0">
                <a:solidFill>
                  <a:srgbClr val="1B3B6F"/>
                </a:solidFill>
                <a:latin typeface="Amiri" pitchFamily="2" charset="-78"/>
                <a:ea typeface="Amiri" pitchFamily="2" charset="-78"/>
                <a:cs typeface="Amiri" pitchFamily="2" charset="-78"/>
              </a:rPr>
              <a:t>، </a:t>
            </a:r>
            <a:pPr rtl="1" algn="ctr" indent="0" marL="0">
              <a:buNone/>
            </a:pPr>
            <a:r>
              <a:rPr lang="ar-SA" altLang="en-US" sz="1800" b="1" dirty="0">
                <a:solidFill>
                  <a:srgbClr val="C77700"/>
                </a:solidFill>
                <a:latin typeface="Amiri" pitchFamily="2" charset="-78"/>
                <a:ea typeface="Amiri" pitchFamily="2" charset="-78"/>
                <a:cs typeface="Amiri" pitchFamily="2" charset="-78"/>
              </a:rPr>
              <a:t>وَلَوْ تَوَافَرَتِ</a:t>
            </a:r>
            <a:pPr rtl="1" algn="ctr" indent="0" marL="0">
              <a:buNone/>
            </a:pPr>
            <a:r>
              <a:rPr lang="ar-SA" altLang="en-US" sz="1800" b="1" dirty="0">
                <a:solidFill>
                  <a:srgbClr val="1B3B6F"/>
                </a:solidFill>
                <a:latin typeface="Amiri" pitchFamily="2" charset="-78"/>
                <a:ea typeface="Amiri" pitchFamily="2" charset="-78"/>
                <a:cs typeface="Amiri" pitchFamily="2" charset="-78"/>
              </a:rPr>
              <a:t> المَوَارِدُ، </a:t>
            </a:r>
            <a:pPr rtl="1" algn="ctr" indent="0" marL="0">
              <a:buNone/>
            </a:pPr>
            <a:r>
              <a:rPr lang="ar-SA" altLang="en-US" sz="1800" b="1" dirty="0">
                <a:solidFill>
                  <a:srgbClr val="C77700"/>
                </a:solidFill>
                <a:latin typeface="Amiri" pitchFamily="2" charset="-78"/>
                <a:ea typeface="Amiri" pitchFamily="2" charset="-78"/>
                <a:cs typeface="Amiri" pitchFamily="2" charset="-78"/>
              </a:rPr>
              <a:t>لَتَفَوَّقْتُ</a:t>
            </a:r>
            <a:pPr rtl="1" algn="ctr" indent="0" marL="0">
              <a:buNone/>
            </a:pPr>
            <a:r>
              <a:rPr lang="ar-SA" altLang="en-US" sz="1800" b="1" dirty="0">
                <a:solidFill>
                  <a:srgbClr val="1B3B6F"/>
                </a:solidFill>
                <a:latin typeface="Amiri" pitchFamily="2" charset="-78"/>
                <a:ea typeface="Amiri" pitchFamily="2" charset="-78"/>
                <a:cs typeface="Amiri" pitchFamily="2" charset="-78"/>
              </a:rPr>
              <a:t> أَكْثَرَ.</a:t>
            </a:r>
            <a:endParaRPr lang="ar-SA" sz="1800" dirty="0"/>
          </a:p>
        </p:txBody>
      </p:sp>
      <p:sp>
        <p:nvSpPr>
          <p:cNvPr id="34" name="Text 31"/>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61948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reported + Type 1</a:t>
            </a:r>
            <a:endParaRPr lang="en-US" sz="1100" dirty="0"/>
          </a:p>
        </p:txBody>
      </p:sp>
      <p:sp>
        <p:nvSpPr>
          <p:cNvPr id="37" name="Text 34"/>
          <p:cNvSpPr txBox="1"/>
          <p:nvPr/>
        </p:nvSpPr>
        <p:spPr>
          <a:xfrm>
            <a:off x="2011680" y="4626864"/>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عِلَاوَةً عَلَى ذٰلِكَ</a:t>
            </a:r>
            <a:pPr rtl="1" algn="ctr" indent="0" marL="0">
              <a:buNone/>
            </a:pPr>
            <a:r>
              <a:rPr lang="ar-SA" altLang="en-US" sz="1800" b="1" dirty="0">
                <a:solidFill>
                  <a:srgbClr val="1B3B6F"/>
                </a:solidFill>
                <a:latin typeface="Amiri" pitchFamily="2" charset="-78"/>
                <a:ea typeface="Amiri" pitchFamily="2" charset="-78"/>
                <a:cs typeface="Amiri" pitchFamily="2" charset="-78"/>
              </a:rPr>
              <a:t>، </a:t>
            </a:r>
            <a:pPr rtl="1" algn="ctr" indent="0" marL="0">
              <a:buNone/>
            </a:pPr>
            <a:r>
              <a:rPr lang="ar-SA" altLang="en-US" sz="1800" b="1" dirty="0">
                <a:solidFill>
                  <a:srgbClr val="7B3FA0"/>
                </a:solidFill>
                <a:latin typeface="Amiri" pitchFamily="2" charset="-78"/>
                <a:ea typeface="Amiri" pitchFamily="2" charset="-78"/>
                <a:cs typeface="Amiri" pitchFamily="2" charset="-78"/>
              </a:rPr>
              <a:t>أَكَّدَ أَنَّ</a:t>
            </a:r>
            <a:pPr rtl="1" algn="ctr" indent="0" marL="0">
              <a:buNone/>
            </a:pPr>
            <a:r>
              <a:rPr lang="ar-SA" altLang="en-US" sz="1800" b="1" dirty="0">
                <a:solidFill>
                  <a:srgbClr val="1B3B6F"/>
                </a:solidFill>
                <a:latin typeface="Amiri" pitchFamily="2" charset="-78"/>
                <a:ea typeface="Amiri" pitchFamily="2" charset="-78"/>
                <a:cs typeface="Amiri" pitchFamily="2" charset="-78"/>
              </a:rPr>
              <a:t> اجْتِهَادِي </a:t>
            </a:r>
            <a:pPr rtl="1" algn="ctr" indent="0" marL="0">
              <a:buNone/>
            </a:pPr>
            <a:r>
              <a:rPr lang="ar-SA" altLang="en-US" sz="1800" b="1" dirty="0">
                <a:solidFill>
                  <a:srgbClr val="1D5FBF"/>
                </a:solidFill>
                <a:latin typeface="Amiri" pitchFamily="2" charset="-78"/>
                <a:ea typeface="Amiri" pitchFamily="2" charset="-78"/>
                <a:cs typeface="Amiri" pitchFamily="2" charset="-78"/>
              </a:rPr>
              <a:t>سَيُثْمِرُ</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وَاصَلْتُ.</a:t>
            </a:r>
            <a:endParaRPr lang="ar-SA" sz="1800" dirty="0"/>
          </a:p>
        </p:txBody>
      </p:sp>
      <p:sp>
        <p:nvSpPr>
          <p:cNvPr id="38" name="Text 35"/>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“That density of range is what a top Paper 4 answer looks like.” One such sentence per article is enough.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Assembling the full P2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تَرْكِيبُ النِّطَاقِ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Background: past perfect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قَرَّرْتُ تَخَصُّصِي قَبْلَ الثَّانَوِيَّةِ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Reality: reported speech</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ashāra ilā anna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أَشَارَ أُسْتَاذِي إِلَى أَنَّنِي مُجْتَهِدٌ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Analysis: both conditionals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قُبِلْتُ، سَأُكَرِّسُ جُهْدِي   ·   لَوْ تَوَافَرَتِ المَوَارِدُ، لَتَفَوَّقْتُ أَكْثَرَ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Register: formal connectors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ʿilāwatan ʿalā dhālika · sharīṭata 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عِلَاوَةً عَلَى ذٰلِكَ، أَطْمَحُ إِلَى البَحْثِ العِلْمِيِّ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the most P2 structures?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التَّعْلِيمُ مُهِمٌّ وَالمُسْتَقْبَلُ مُهِمٌّ.</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أُحِبُّ الدِّرَاسَةَ.</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 مُرْشِدِي قَدْ أَشَارَ إِلَى أَنَّنِي سَأَنْجَحُ، وَلَوْ تَوَافَرَتِ المَوَارِدُ، لَتَفَوَّقْتُ.</a:t>
            </a:r>
            <a:endParaRPr lang="ar-SA" sz="15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belongs in the background paragraph?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كَانَ قَدْ</a:t>
            </a:r>
            <a:pPr algn="l" indent="0" marL="0">
              <a:buNone/>
            </a:pPr>
            <a:r>
              <a:rPr lang="en-US" sz="1250" dirty="0">
                <a:solidFill>
                  <a:srgbClr val="1F2A37"/>
                </a:solidFill>
                <a:latin typeface="Calibri" pitchFamily="34" charset="0"/>
                <a:cs typeface="Amiri" pitchFamily="2" charset="-78"/>
              </a:rPr>
              <a:t> + past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لَوْ … لَـ</a:t>
            </a:r>
            <a:endParaRPr lang="ar-SA" sz="220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قُبِلْتُ سَأَدْرُسُ؛ وَإِذَا تَوَافَرَ الدَّعْمُ سَأَتَفَوَّقُ.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قُبِلْتُ سَأَدْرُسُ؛ وَلَوْ تَوَافَرَ الدَّعْمُ لَتَفَوَّقْتُ.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قُبِلْتُ لَدَرَسْتُ؛ وَلَوْ تَوَافَرَ الدَّعْمُ لَتَفَوَّقْتُ.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أُسْتَاذِي إِلَى أَنَّنِي مُجْتَهِدٌ.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أُسْتَاذِي أَنَّنِي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أُسْتَاذِي أَنَّنِي 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the most P2 structures?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التَّعْلِيمُ مُهِمٌّ وَالمُسْتَقْبَلُ مُهِمٌّ.</a:t>
            </a:r>
            <a:endParaRPr lang="ar-SA" sz="15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أُحِبُّ الدِّرَاسَةَ.</a:t>
            </a:r>
            <a:endParaRPr lang="ar-SA" sz="15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كَانَ مُرْشِدِي قَدْ أَشَارَ إِلَى أَنَّنِي سَأَنْجَحُ، وَلَوْ تَوَافَرَتِ المَوَارِدُ، لَتَفَوَّقْتُ.</a:t>
            </a:r>
            <a:endParaRPr lang="ar-SA" sz="15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reported speech and a Type 2 conditional.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belongs in the background paragraph?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كَانَ قَدْ</a:t>
            </a:r>
            <a:pPr algn="l" indent="0" marL="0">
              <a:buNone/>
            </a:pPr>
            <a:r>
              <a:rPr lang="en-US" sz="1250" b="1" dirty="0">
                <a:solidFill>
                  <a:srgbClr val="1F2A37"/>
                </a:solidFill>
                <a:latin typeface="Calibri" pitchFamily="34" charset="0"/>
                <a:cs typeface="Amiri" pitchFamily="2" charset="-78"/>
              </a:rPr>
              <a:t> + past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لَوْ … لَـ</a:t>
            </a:r>
            <a:endParaRPr lang="ar-SA" sz="22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background.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قُبِلْتُ سَأَدْرُسُ؛ وَإِذَا تَوَافَرَ الدَّعْمُ سَأَتَفَوَّقُ.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قُبِلْتُ سَأَدْرُسُ؛ وَلَوْ تَوَافَرَ الدَّعْمُ لَتَفَوَّقْتُ.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قُبِلْتُ لَدَرَسْتُ؛ وَلَوْ تَوَافَرَ الدَّعْمُ لَتَفَوَّقْتُ.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Type 1 (</a:t>
            </a:r>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and one Type 2 (</a:t>
            </a:r>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أَشَارَ أُسْتَاذِي إِلَى أَنَّنِي مُجْتَهِدٌ.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أُسْتَاذِي أَنَّنِي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أُسْتَاذِي أَنَّنِي 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is the correct structure.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أَشَارَ</a:t>
            </a:r>
            <a:pPr rtl="1" algn="ctr" indent="0" marL="0">
              <a:buNone/>
            </a:pPr>
            <a:r>
              <a:rPr lang="ar-SA" altLang="en-US" sz="2200" b="1" dirty="0">
                <a:solidFill>
                  <a:srgbClr val="1B3B6F"/>
                </a:solidFill>
                <a:latin typeface="Amiri" pitchFamily="2" charset="-78"/>
                <a:ea typeface="Amiri" pitchFamily="2" charset="-78"/>
                <a:cs typeface="Amiri" pitchFamily="2" charset="-78"/>
              </a:rPr>
              <a:t> أُسْتَاذِي </a:t>
            </a:r>
            <a:pPr rtl="1" algn="ctr" indent="0" marL="0">
              <a:buNone/>
            </a:pPr>
            <a:r>
              <a:rPr lang="ar-SA" altLang="en-US" sz="2200" b="1" dirty="0">
                <a:solidFill>
                  <a:srgbClr val="7B3FA0"/>
                </a:solidFill>
                <a:latin typeface="Amiri" pitchFamily="2" charset="-78"/>
                <a:ea typeface="Amiri" pitchFamily="2" charset="-78"/>
                <a:cs typeface="Amiri" pitchFamily="2" charset="-78"/>
              </a:rPr>
              <a:t>إِلَى أَنَّنِي</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Analysis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إِذَا قُبِلْتُ</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C77700"/>
                </a:solidFill>
                <a:latin typeface="Amiri" pitchFamily="2" charset="-78"/>
                <a:ea typeface="Amiri" pitchFamily="2" charset="-78"/>
                <a:cs typeface="Amiri" pitchFamily="2" charset="-78"/>
              </a:rPr>
              <a:t>لَوْ تَوَافَرَتْ</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Conclusion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وَخِتَامًا، سَوْفَ</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Future + connector.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 + CONNECTOR</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دِرَاسَةَ الطِّبِّ مُنْذُ المَرْحَلَةِ الإِعْدَادِيَّةِ. أَدْرُسُ الآنَ فِي السَّنَةِ الأَخِيرَةِ، وَقَدْ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أَشَارَ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أُسْتَاذِي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إِلَى أَنَّنِي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مُؤَهَّلٌ لِلْمُنَافَسَةِ.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قُبِلْتُ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كُلِّيَّةِ الطِّبِّ،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سَأُكَرِّسُ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جُهْدِي لِلْبَحْثِ العِلْمِيِّ. عَلَى الرَّغْمِ مِنْ ذٰلِكَ،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لَوْ تَوَافَرَتْ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لِي مَوَارِدُ أَفْضَلُ مُبَكِّرًا،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لَكُنْتُ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قَدْ تَقَدَّمْتُ أَكْثَرَ.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وَخِتَامًا، سَوْفَ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أَسْعَى إِلَى خِدْمَةِ مُجْتَمَعِي.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had decided to study medicine since middle school. I am now in my final year, and my teacher has pointed out that I am qualified to compete. If I am accepted into medical school, I will devote my effort to scientific research. Despite that, if better resources had been available to me early, I would have progressed further. In conclusion, I will strive to serve my community.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قَرَّرْتُ تَخَصُّصِي قَبْلَ الثَّانَوِيَّةِ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decided on my specialism before secondary school</a:t>
            </a:r>
            <a:endParaRPr lang="en-US" sz="1250" dirty="0"/>
          </a:p>
          <a:p>
            <a:pPr indent="0" marL="0">
              <a:buNone/>
            </a:pPr>
            <a:r>
              <a:rPr lang="en-US" sz="1050" i="1" dirty="0">
                <a:solidFill>
                  <a:srgbClr val="8A6D1E"/>
                </a:solidFill>
                <a:latin typeface="Calibri" pitchFamily="34" charset="0"/>
                <a:cs typeface="Amiri" pitchFamily="2" charset="-78"/>
              </a:rPr>
              <a:t>Past perfect for the background.</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قُبِلْتُ سَأُكَرِّسُ جُهْدِي، وَلَوْ تَوَافَرَتِ المَوَارِدُ لَتَفَوَّقْتُ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am accepted I will devote my effort, and had the resources been available I would have excelled</a:t>
            </a:r>
            <a:endParaRPr lang="en-US" sz="1250" dirty="0"/>
          </a:p>
          <a:p>
            <a:pPr indent="0" marL="0">
              <a:buNone/>
            </a:pPr>
            <a:r>
              <a:rPr lang="en-US" sz="1050" i="1" dirty="0">
                <a:solidFill>
                  <a:srgbClr val="8A6D1E"/>
                </a:solidFill>
                <a:latin typeface="Calibri" pitchFamily="34" charset="0"/>
                <a:cs typeface="Amiri" pitchFamily="2" charset="-78"/>
              </a:rPr>
              <a:t>Type 1 and Type 2 side by side.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عِلَاوَةً عَلَى ذٰلِكَ، أَشَارَ مُرْشِدِي إِلَى أَنَّنِي مُؤَهَّلٌ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moreover, my adviser pointed out that I am qualified</a:t>
            </a:r>
            <a:endParaRPr lang="en-US" sz="1250" dirty="0"/>
          </a:p>
          <a:p>
            <a:pPr indent="0" marL="0">
              <a:buNone/>
            </a:pPr>
            <a:r>
              <a:rPr lang="en-US" sz="1050" i="1" dirty="0">
                <a:solidFill>
                  <a:srgbClr val="8A6D1E"/>
                </a:solidFill>
                <a:latin typeface="Calibri" pitchFamily="34" charset="0"/>
                <a:cs typeface="Amiri" pitchFamily="2" charset="-78"/>
              </a:rPr>
              <a:t>Connector plus reported speech.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63931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3657600" y="2267712"/>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قَرَّرْتُ دِرَاسَةَ الطِّبِّ مُنْذُ المَرْحَلَةِ الإِعْدَادِيَّةِ.</a:t>
            </a:r>
            <a:endParaRPr lang="ar-SA" sz="1800" dirty="0"/>
          </a:p>
        </p:txBody>
      </p:sp>
      <p:sp>
        <p:nvSpPr>
          <p:cNvPr id="22" name="Text 19"/>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قَرَّرْتُ دِرَاسَةَ الطِّبِّ.</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7" name="Text 24"/>
          <p:cNvSpPr txBox="1"/>
          <p:nvPr/>
        </p:nvSpPr>
        <p:spPr>
          <a:xfrm>
            <a:off x="3657600" y="300471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أُسْتَاذِي إِلَى أَنَّنِي مُؤَهَّلٌ لِلْمُنَافَسَةِ.</a:t>
            </a:r>
            <a:endParaRPr lang="ar-SA" sz="1800" dirty="0"/>
          </a:p>
        </p:txBody>
      </p:sp>
      <p:sp>
        <p:nvSpPr>
          <p:cNvPr id="28" name="Text 25"/>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أُسْتَاذِي يَقُولُ: أَنْتَ مُؤَهَّلٌ.</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3" name="Text 30"/>
          <p:cNvSpPr txBox="1"/>
          <p:nvPr/>
        </p:nvSpPr>
        <p:spPr>
          <a:xfrm>
            <a:off x="3657600" y="3741725"/>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قُبِلْتُ فِي كُلِّيَّةِ الطِّبِّ، سَأُكَرِّسُ جُهْدِي لِلْبَحْثِ.</a:t>
            </a:r>
            <a:endParaRPr lang="ar-SA" sz="1800" dirty="0"/>
          </a:p>
        </p:txBody>
      </p:sp>
      <p:sp>
        <p:nvSpPr>
          <p:cNvPr id="34" name="Text 31"/>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أُرِيدُ كُلِّيَّةَ الطِّبِّ.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Text 34"/>
          <p:cNvSpPr txBox="1"/>
          <p:nvPr/>
        </p:nvSpPr>
        <p:spPr>
          <a:xfrm>
            <a:off x="3657600" y="4478731"/>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تَوَافَرَتْ لِي مَوَارِدُ أَفْضَلُ، لَكُنْتُ قَدْ تَقَدَّمْتُ أَكْثَرَ.</a:t>
            </a:r>
            <a:endParaRPr lang="ar-SA" sz="1800" dirty="0"/>
          </a:p>
        </p:txBody>
      </p:sp>
      <p:sp>
        <p:nvSpPr>
          <p:cNvPr id="38" name="Text 35"/>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كَانَ عِنْدِي مَوَارِدُ.</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connector</a:t>
            </a:r>
            <a:endParaRPr lang="en-US" sz="1100" dirty="0"/>
          </a:p>
        </p:txBody>
      </p:sp>
      <p:sp>
        <p:nvSpPr>
          <p:cNvPr id="41" name="Text 38"/>
          <p:cNvSpPr txBox="1"/>
          <p:nvPr/>
        </p:nvSpPr>
        <p:spPr>
          <a:xfrm>
            <a:off x="3657600" y="521573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وَخِتَامًا، سَوْفَ أَسْعَى إِلَى خِدْمَةِ مُجْتَمَعِي.</a:t>
            </a:r>
            <a:endParaRPr lang="ar-SA" sz="1800" dirty="0"/>
          </a:p>
        </p:txBody>
      </p:sp>
      <p:sp>
        <p:nvSpPr>
          <p:cNvPr id="42" name="Text 39"/>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أُرِيدُ أَنْ أُسَاعِدَ النَّاسَ.</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Background + analysis + conclusion</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a:t>
            </a:r>
            <a:endParaRPr lang="en-US" sz="1100" dirty="0"/>
          </a:p>
        </p:txBody>
      </p:sp>
      <p:sp>
        <p:nvSpPr>
          <p:cNvPr id="19" name="Text 16"/>
          <p:cNvSpPr txBox="1"/>
          <p:nvPr/>
        </p:nvSpPr>
        <p:spPr>
          <a:xfrm>
            <a:off x="43982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Analysis (idhā · law)</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قَرَّرْتُ تَخَصُّصِي مُبَكِّرًا</a:t>
            </a:r>
            <a:endParaRPr lang="ar-SA" sz="1600" dirty="0"/>
          </a:p>
        </p:txBody>
      </p:sp>
      <p:sp>
        <p:nvSpPr>
          <p:cNvPr id="23" name="Text 20"/>
          <p:cNvSpPr txBox="1"/>
          <p:nvPr/>
        </p:nvSpPr>
        <p:spPr>
          <a:xfrm>
            <a:off x="441655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قُبِلْتُ سَأُكَرِّسُ جُهْدِي لِلْبَحْثِ</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وَخِتَامًا، سَوْفَ أَسْعَى إِلَى خِدْمَةِ مُجْتَمَعِي</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 أُسْتَاذِي قَدْ أَشَارَ إِلَى أَنَّنِي مُؤَهَّلٌ</a:t>
            </a:r>
            <a:endParaRPr lang="ar-SA" sz="1600" dirty="0"/>
          </a:p>
        </p:txBody>
      </p:sp>
      <p:sp>
        <p:nvSpPr>
          <p:cNvPr id="29" name="Text 26"/>
          <p:cNvSpPr txBox="1"/>
          <p:nvPr/>
        </p:nvSpPr>
        <p:spPr>
          <a:xfrm>
            <a:off x="441655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تَوَافَرَتِ المَوَارِدُ لَتَفَوَّقْتُ أَكْثَرَ</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وَعِلَاوَةً عَلَى ذٰلِكَ، التَّعْلِيمُ اسْتِثْمَارٌ فِي المُسْتَقْبَلِ</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بِحُلُولِ الثَّانَوِيَّةِ كُنْتُ قَدْ أَنْجَزْتُ مَشْرُوعًا</a:t>
            </a:r>
            <a:endParaRPr lang="ar-SA" sz="1600" dirty="0"/>
          </a:p>
        </p:txBody>
      </p:sp>
      <p:sp>
        <p:nvSpPr>
          <p:cNvPr id="33" name="Text 30"/>
          <p:cNvSpPr txBox="1"/>
          <p:nvPr/>
        </p:nvSpPr>
        <p:spPr>
          <a:xfrm>
            <a:off x="441655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وَعَلَى الرَّغْمِ مِنْ ذٰلِكَ، لَوْ بَدَأْتُ مُبَكِّرًا لَكُنْتُ أَفْضَلَ</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وَبِنَاءً عَلَى مَا سَبَقَ، أَرَى أَنَّ التَّعْلِيمَ أَقْوَى أَدَاةٍ لِلتَّغْيِيرِ</a:t>
            </a:r>
            <a:endParaRPr lang="ar-SA" sz="145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Background, analysis or conclusion?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قَرَّرْتُ تَخَصُّصِي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اهْتَمَمْتُ بِالعُلُومِ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بِحُلُولِ الثَّانَوِيَّةِ كُنْتُ قَدْ أَنْجَزْتُ مَشْرُوعًا</a:t>
            </a:r>
            <a:endParaRPr lang="ar-SA" sz="14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قُبِلْتُ سَأُكَرِّسُ جُهْدِي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تَوَافَرَتِ المَوَارِدُ لَتَفَوَّقْتُ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بَدَأْتُ مُبَكِّرًا لَكُنْتُ أَفْضَلَ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وَخِتَامًا، أَسْعَى إِلَى مُوَاكَبَةِ التَّغْيِيرِ</a:t>
            </a:r>
            <a:endParaRPr lang="ar-SA" sz="16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عِلَاوَةً عَلَى ذٰلِكَ، سَوْفَ أُسْهِمُ فِي مَجَالِي</a:t>
            </a:r>
            <a:endParaRPr lang="ar-SA" sz="15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بِنَاءً عَلَى مَا سَبَقَ، التَّعْلِيمُ اسْتِثْمَارٌ</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Background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Analysis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Background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قَرَّرْتُ تَخَصُّصِي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اهْتَمَمْتُ بِالعُلُومِ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بِحُلُولِ الثَّانَوِيَّةِ كُنْتُ قَدْ أَنْجَزْتُ مَشْرُوعًا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Analysis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قُبِلْتُ سَأُكَرِّسُ جُهْدِي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تَوَافَرَتِ المَوَارِدُ لَتَفَوَّقْتُ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بَدَأْتُ مُبَكِّرًا لَكُنْتُ أَفْضَلَ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وَخِتَامًا، أَسْعَى إِلَى مُوَاكَبَةِ التَّغْيِيرِ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 سَوْفَ أُسْهِمُ فِي مَجَالِي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بِنَاءً عَلَى مَا سَبَقَ، التَّعْلِيمُ اسْتِثْمَارٌ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past-perfect background: ___ </a:t>
            </a:r>
            <a:pPr algn="l" indent="0" marL="0">
              <a:buNone/>
            </a:pPr>
            <a:r>
              <a:rPr lang="ar-SA" altLang="en-US" sz="1650" b="1" dirty="0">
                <a:solidFill>
                  <a:srgbClr val="1B3B6F"/>
                </a:solidFill>
                <a:latin typeface="Amiri" pitchFamily="2" charset="-78"/>
                <a:ea typeface="Amiri" pitchFamily="2" charset="-78"/>
                <a:cs typeface="Amiri" pitchFamily="2" charset="-78"/>
              </a:rPr>
              <a:t>قَدْ قَرَّرْتُ تَخَصُّصِي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an article at academic register?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وَأَيْضًا التَّعْلِيمُ مُهِمٌّ.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وَخِتَامًا، أَسْعَى إِلَى مُوَاكَبَةِ التَّغْيِيرِ.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كُلُّ شَيْءٍ.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the writer distinguishing real from hypothetical?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اجْتَهَدْتُ سَأَنْجَحُ وَإِذَا بَدَأْتُ مُبَكِّرًا سَأَكُونُ أَفْضَلَ.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التَّعْلِيمُ ضَرُورِيٌّ لِلْجَمِيعِ.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اجْتَهَدْتُ سَأَنْجَحُ، لٰكِنْ لَوْ بَدَأْتُ مُبَكِّرًا لَكُنْتُ أَفْضَلَ.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raises the register.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past-perfect background: ___ </a:t>
            </a:r>
            <a:pPr algn="l" indent="0" marL="0">
              <a:buNone/>
            </a:pPr>
            <a:r>
              <a:rPr lang="ar-SA" altLang="en-US" sz="1650" b="1" dirty="0">
                <a:solidFill>
                  <a:srgbClr val="1B3B6F"/>
                </a:solidFill>
                <a:latin typeface="Amiri" pitchFamily="2" charset="-78"/>
                <a:ea typeface="Amiri" pitchFamily="2" charset="-78"/>
                <a:cs typeface="Amiri" pitchFamily="2" charset="-78"/>
              </a:rPr>
              <a:t>قَدْ قَرَّرْتُ تَخَصُّصِي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past-perfect form.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an article at academic register?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وَأَيْضًا التَّعْلِيمُ مُهِمٌّ.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وَخِتَامًا، أَسْعَى إِلَى مُوَاكَبَةِ التَّغْيِيرِ.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كُلُّ شَيْءٍ.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وَخِتَامًا</a:t>
            </a:r>
            <a:pPr algn="l" indent="0" marL="0">
              <a:buNone/>
            </a:pPr>
            <a:r>
              <a:rPr lang="en-US" sz="1050" i="1" dirty="0">
                <a:solidFill>
                  <a:srgbClr val="8A6D1E"/>
                </a:solidFill>
                <a:latin typeface="Calibri" pitchFamily="34" charset="0"/>
                <a:cs typeface="Amiri" pitchFamily="2" charset="-78"/>
              </a:rPr>
              <a:t> opens a formal conclusion.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the writer distinguishing real from hypothetical?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اجْتَهَدْتُ سَأَنْجَحُ وَإِذَا بَدَأْتُ مُبَكِّرًا سَأَكُونُ أَفْضَلَ.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التَّعْلِيمُ ضَرُورِيٌّ لِلْجَمِيعِ.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اجْتَهَدْتُ سَأَنْجَحُ، لٰكِنْ لَوْ بَدَأْتُ مُبَكِّرًا لَكُنْتُ أَفْضَلَ.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uses </a:t>
            </a:r>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for the real and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for the counterfactual.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قُبِلْتُ سَأَدْرُسُ؛ وَإِذَا تَوَافَرَ الدَّعْمُ سَأَتَفَوَّقُ.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idhā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أُسْتَاذِي أَنَّنِي مُجْتَهِدٌ.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قَدْ قَرَّرْتُ تَخَصُّصِي.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kāna qad + qarrartu?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قُبِلْتُ سَأَدْرُسُ؛ وَإِذَا تَوَافَرَ الدَّعْمُ سَأَتَفَوَّقُ.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إِذَا قُبِلْتُ سَأَدْرُسُ؛ وَلَوْ تَوَافَرَ الدَّعْمُ لَتَفَوَّقْتُ.</a:t>
            </a:r>
            <a:endParaRPr lang="ar-SA" sz="22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Range rewards one of each type: keep a Type 2 (</a:t>
            </a:r>
            <a:pPr algn="l" indent="0" marL="0">
              <a:buNone/>
            </a:pPr>
            <a:r>
              <a:rPr lang="ar-SA" altLang="en-US" sz="1500" b="1" dirty="0">
                <a:solidFill>
                  <a:srgbClr val="1B3B6F"/>
                </a:solidFill>
                <a:latin typeface="Amiri" pitchFamily="2" charset="-78"/>
                <a:ea typeface="Amiri" pitchFamily="2" charset="-78"/>
                <a:cs typeface="Amiri" pitchFamily="2" charset="-78"/>
              </a:rPr>
              <a:t>لَوْ … لَـ</a:t>
            </a:r>
            <a:pPr algn="l" indent="0" marL="0">
              <a:buNone/>
            </a:pPr>
            <a:r>
              <a:rPr lang="en-US" sz="1150" b="1" dirty="0">
                <a:solidFill>
                  <a:srgbClr val="1B3B6F"/>
                </a:solidFill>
                <a:latin typeface="Calibri" pitchFamily="34" charset="0"/>
                <a:cs typeface="Amiri" pitchFamily="2" charset="-78"/>
              </a:rPr>
              <a:t>) as well.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أُسْتَاذِي أَنَّنِي مُجْتَهِدٌ.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أُسْتَاذِي إِنَّنِي مُجْتَهِدٌ.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قَدْ قَرَّرْتُ تَخَصُّصِي.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كُنْتُ قَدْ قَرَّرْتُ تَخَصُّصِي.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must agree with the first-person subject: </a:t>
            </a:r>
            <a:pPr algn="l" indent="0" marL="0">
              <a:buNone/>
            </a:pPr>
            <a:r>
              <a:rPr lang="ar-SA" altLang="en-US" sz="1500" b="1" dirty="0">
                <a:solidFill>
                  <a:srgbClr val="1B3B6F"/>
                </a:solidFill>
                <a:latin typeface="Amiri" pitchFamily="2" charset="-78"/>
                <a:ea typeface="Amiri" pitchFamily="2" charset="-78"/>
                <a:cs typeface="Amiri" pitchFamily="2" charset="-78"/>
              </a:rPr>
              <a:t>كُنْتُ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an examiner on P2 range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Content, range and 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spelling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at P2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quickly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Integrating five structures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text with both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useful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is too long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distinguishes possible from hypothetical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past-perfect background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analysis with both conditionals go?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opening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third move, before the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الوَرَقَةِ الرَّابِعَةِ، يُقَيِّمُ المُصَحِّحُ ثَلَاثَةَ أَشْيَاءَ: المُحْتَوَى، وَالنِّطَاقَ، وَالدِّقَّةَ.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the examiner assesses three things: content, range and accuracy.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السَّنَةِ العَاشِرَةِ، النِّطَاقُ يَعْنِي دَمْجَ خَمْسِ بُنًى: المَاضِي التَّامِّ، وَالكَلَامِ المَنْقُولِ، وَالشَّرْطِ بِنَوْعَيْهِ، وَالمُسْتَقْبَلِ.</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this level, range means integrating five structures: the past perfect, reported speech, both types of conditional, and the future.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النَّصُّ الَّذِي يَحْمِلُ «إِذَا» وَ«لَوْ» مَعًا يُظْهِرُ أَنَّ الكَاتِبَ يُمَيِّزُ بَيْنَ المُمْكِنِ وَالافْتِرَاضِيِّ.</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that carries both idhā and law shows that the writer distinguishes the possible from the hypothetical.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افْتَحْ بِخَلْفِيَّةٍ فِي المَاضِي التَّامِّ، ثُمَّ اعْرِضِ الوَاقِعَ الحَالِيَّ بِالكَلَامِ المَنْقُولِ، ثُمَّ حَلِّلْ بِالشَّرْطَيْنِ،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background in the past perfect, then present the current reality with reported speech, then analyse with both conditionals,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وَاخْتِمْ بِالمُسْتَقْبَلِ وَرَابِطٍ رَسْمِيٍّ. اُكْتُبْ مِئَةً وَأَرْبَعِينَ إِلَى مِئَةٍ وَخَمْسِينَ كَلِمَةً.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close with the future and a formal connector. Write 140 to 150 words.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Content, range and accuracy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spelling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يُقَيِّمُ … المُحْتَوَى، وَالنِّطَاقَ، وَالدِّقَّةَ.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at P2 level?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 words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 quickly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Integrating five structures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النِّطَاقُ يَعْنِي دَمْجَ خَمْسِ بُنًى.</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text with both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useful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is too long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distinguishes possible from hypothetical</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يُظْهِرُ أَنَّ الكَاتِبَ يُمَيِّزُ بَيْنَ المُمْكِنِ وَالافْتِرَاضِيِّ.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past-perfect background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future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اِفْتَحْ بِخَلْفِيَّةٍ فِي المَاضِي التَّامِّ.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analysis with both conditionals go?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opening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In the third move, before the conclusion</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حَلِّلْ بِالشَّرْطَيْنِ، وَاخْتِمْ بِالمُسْتَقْبَلِ.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خَلْفِيَّتُكَ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قَالَ مُعَلِّمُوكَ عَنْكَ؟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جُمْلَتُكَ الشَّرْطِيَّةُ مِنَ النَّوْعِ الثَّانِي؟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كُنْتُ قَدْ قَرَّرْتُ ___ مُنْذُ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أَشَارَ أُسْتَاذِي إِلَى 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تَوَافَرَتْ لِي ___ ، ___ أَكْثَرَ.</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قَرَّرْتُ مَجَالِي مُبَكِّرًا، وَكُنْتُ قَدْ أَنْجَزْتُ مَشْرُوعًا بَحْثِيًّا.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decided on my field early, and I had completed a research project.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with one sentence per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with one sentence per structure.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140 words with five structures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140 words with the five structures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140–155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155 words with two connectors and one sentence combining three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all five P2 structures, two formal connectors and one sentence combining three structures.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تَوَافَرَتْ لِي مَوَارِدُ أَفْضَلُ،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better resources had been available to me,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 أَرَى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I believe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سَأَنْجَحُ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succeed, provided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قَدْ قَرَّرْتُ ______ مُنْذُ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أَشَارَ أُسْتَاذِي إِلَى أَنَّنِي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pointed out that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قُبِلْتُ فِي ______ ،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am accepted at …,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وَخِتَامًا، سَوْفَ أَسْعَى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will strive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لَكُنْتُ قَدْ تَقَدَّمْتُ أَكْثَرَ  ·  لَتَفَوَّقْتُ  ·  سَأُكَرِّسُ جُهْدِي  ·  مُؤَهَّلٌ لِلْمُنَافَسَةِ  ·  وَأَكَّدَ أَنَّ  ·  كُلِّيَّةُ الطِّبِّ  ·  مَشْرُوعًا بَحْثِيًّا  ·  خِدْمَةِ مُجْتَمَعِي  ·  التَّعْلِيمُ اسْتِثْمَارٌ  ·  أَقْوَى أَدَاةٍ لِلتَّغْيِيرِ  ·  أَجْتَهِدَ  ·  مُوَاكَبَةِ التَّغْيِيرِ</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140-155 word article on education and future plans. Include all five P2 structures: a past-perfect background, reported speech, a Type 1 conditional, a Type 2 conditional and the future, joined with at least two formal connectors.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sentence (</a:t>
            </a:r>
            <a:pPr algn="l" indent="0" marL="0">
              <a:buNone/>
            </a:pPr>
            <a:r>
              <a:rPr lang="ar-SA" altLang="en-US" sz="1550" dirty="0">
                <a:solidFill>
                  <a:srgbClr val="1F2A37"/>
                </a:solidFill>
                <a:latin typeface="Amiri" pitchFamily="2" charset="-78"/>
                <a:ea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with a verb other than </a:t>
            </a:r>
            <a:pPr algn="l" indent="0" marL="0">
              <a:buNone/>
            </a:pPr>
            <a:r>
              <a:rPr lang="ar-SA" altLang="en-US" sz="1550" dirty="0">
                <a:solidFill>
                  <a:srgbClr val="1F2A37"/>
                </a:solidFill>
                <a:latin typeface="Amiri" pitchFamily="2" charset="-78"/>
                <a:ea typeface="Amiri" pitchFamily="2" charset="-78"/>
                <a:cs typeface="Amiri" pitchFamily="2" charset="-78"/>
              </a:rPr>
              <a:t>قَالَ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a:t>
            </a:r>
            <a:pPr algn="l" indent="0" marL="0">
              <a:buNone/>
            </a:pPr>
            <a:r>
              <a:rPr lang="ar-SA" altLang="en-US" sz="1550" dirty="0">
                <a:solidFill>
                  <a:srgbClr val="1F2A37"/>
                </a:solidFill>
                <a:latin typeface="Amiri" pitchFamily="2" charset="-78"/>
                <a:ea typeface="Amiri" pitchFamily="2" charset="-78"/>
                <a:cs typeface="Amiri" pitchFamily="2" charset="-78"/>
              </a:rPr>
              <a:t>إِذَا … سَـ</a:t>
            </a:r>
            <a:pPr algn="l" indent="0" marL="0">
              <a:buNone/>
            </a:pPr>
            <a:r>
              <a:rPr lang="en-US" sz="1200" dirty="0">
                <a:solidFill>
                  <a:srgbClr val="1F2A37"/>
                </a:solidFill>
                <a:latin typeface="Calibri" pitchFamily="34" charset="0"/>
                <a:cs typeface="Amiri" pitchFamily="2" charset="-78"/>
              </a:rPr>
              <a:t>) and one Type 2 (</a:t>
            </a:r>
            <a:pPr algn="l" indent="0" marL="0">
              <a:buNone/>
            </a:pPr>
            <a:r>
              <a:rPr lang="ar-SA" altLang="en-US" sz="1550" dirty="0">
                <a:solidFill>
                  <a:srgbClr val="1F2A37"/>
                </a:solidFill>
                <a:latin typeface="Amiri" pitchFamily="2" charset="-78"/>
                <a:ea typeface="Amiri" pitchFamily="2" charset="-78"/>
                <a:cs typeface="Amiri" pitchFamily="2" charset="-78"/>
              </a:rPr>
              <a:t>لَوْ … لَـ</a:t>
            </a:r>
            <a:pPr algn="l" indent="0" marL="0">
              <a:buNone/>
            </a:pPr>
            <a:r>
              <a:rPr lang="en-US" sz="1200" dirty="0">
                <a:solidFill>
                  <a:srgbClr val="1F2A37"/>
                </a:solidFill>
                <a:latin typeface="Calibri" pitchFamily="34" charset="0"/>
                <a:cs typeface="Amiri" pitchFamily="2" charset="-78"/>
              </a:rPr>
              <a:t>)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connectors and a future conclusion; 140-155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وَحَصَلْتُ عَلَى خِبْرَةٍ فِي مُسْتَشْفًى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gained experience in a hospital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وَأَكَّدَ أَنَّ اجْتِهَادِي سَيُثْمِرُ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stressed that my hard work will pay off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لَكُنْتُ قَدْ تَقَدَّمْتُ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have progressed further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أَقْوَى مِنَ المَالِ فِي تَغْيِيرِ حَيَاةِ الفَرْدِ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stronger than money in changing a person’s life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فَالتَّعْلِيمُ اسْتِثْمَارٌ فِي المُسْتَقْبَلِ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education is an investment in the future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كُنْتُ قَدْ قَرَّرْتُ دِرَاسَةَ الطِّبِّ مُنْذُ المَرْحَلَةِ الإِعْدَادِيَّةِ، وَبِحُلُولِ الثَّانَوِيَّةِ كُنْتُ قَدْ أَنْجَزْتُ مَشْرُوعًا بَحْثِيًّا وَحَصَلْتُ عَلَى خِبْرَةٍ فِي مُسْتَشْفًى. أَدْرُسُ الآنَ فِي السَّنَةِ الأَخِيرَةِ، وَقَدْ أَشَارَ أُسْتَاذِي إِلَى أَنَّنِي مُؤَهَّلٌ لِلْمُنَافَسَةِ، وَأَكَّدَ أَنَّ اجْتِهَادِي سَيُثْمِرُ. إِذَا قُبِلْتُ فِي كُلِّيَّةِ الطِّبِّ، سَأُكَرِّسُ جُهْدِي لِلْبَحْثِ العِلْمِيِّ. عَلَى الرَّغْمِ مِنْ ذٰلِكَ، لَوْ تَوَافَرَتْ لِي مَوَارِدُ أَفْضَلُ مُبَكِّرًا، لَكُنْتُ قَدْ تَقَدَّمْتُ أَكْثَرَ. عِلَاوَةً عَلَى ذٰلِكَ، أَرَى أَنَّ التَّعْلِيمَ الجَيِّدَ أَقْوَى مِنَ المَالِ فِي تَغْيِيرِ حَيَاةِ الفَرْدِ. وَخِتَامًا، سَوْفَ أَسْعَى إِلَى خِدْمَةِ مُجْتَمَعِي، فَالتَّعْلِيمُ اسْتِثْمَارٌ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to study medicine since middle school, and by secondary school I had completed a research project and gained experience in a hospital. I am now in my final year, and my teacher has pointed out that I am qualified to compete, and stressed that my hard work will pay off. If I am accepted into medical school, I will devote my effort to scientific research. Despite that, if better resources had been available to me early, I would have progressed further. Moreover, I believe that good education is stronger than money in changing a person’s life. In conclusion, I will strive to serve my community, for education is an investment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(ashāra ilā anna · akkada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idhā AND one law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formal connectors + sawfa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Background: kuntu qad + past (kāna agrees with “I”).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Reported speech with a verb other than qāla (ashāra ilā anna · akkada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idhā … sa- AND one law … la- (not two idhā).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formal connectors and a sawfa conclusion; 140–155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sentence carries three structures — and it is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P2 range?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كَانَ مُرْشِدِي قَدْ أَشَارَ إِلَى أَنَّنِي سَأَنْجَحُ، وَلَوْ تَوَافَرَتِ المَوَارِدُ، لَتَفَوَّقْتُ.</a:t>
            </a:r>
            <a:endParaRPr lang="ar-SA" sz="1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التَّعْلِيمُ جَيِّدٌ وَالمُسْتَقْبَلُ جَيِّدٌ.</a:t>
            </a:r>
            <a:endParaRPr lang="ar-SA" sz="1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أُحِبُّ الدِّرَاسَةَ.</a:t>
            </a:r>
            <a:endParaRPr lang="ar-SA" sz="1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shows both conditional types?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قُبِلْتُ سَأَدْرُسُ؛ وَإِذَا تَوَافَرَ الدَّعْمُ سَأَتَفَوَّقُ.</a:t>
            </a:r>
            <a:endParaRPr lang="ar-SA" sz="14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قُبِلْتُ سَأَدْرُسُ؛ وَلَوْ تَوَافَرَ الدَّعْمُ لَتَفَوَّقْتُ.</a:t>
            </a:r>
            <a:endParaRPr lang="ar-SA" sz="14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لَوْ قُبِلْتُ لَدَرَسْتُ؛ وَلَوْ تَوَافَرَ الدَّعْمُ لَتَفَوَّقْتُ.</a:t>
            </a:r>
            <a:endParaRPr lang="ar-SA" sz="14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أُسْتَاذِي إِلَى أَنَّنِي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أُسْتَاذِي أَنَّنِي مُجْتَهِدٌ.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أُسْتَاذِي أَنَّنِي مُجْتَهِدٌ.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P2 range?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كَانَ مُرْشِدِي قَدْ أَشَارَ إِلَى أَنَّنِي سَأَنْجَحُ، وَلَوْ تَوَافَرَتِ المَوَارِدُ، لَتَفَوَّقْتُ.</a:t>
            </a:r>
            <a:endParaRPr lang="ar-SA" sz="1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التَّعْلِيمُ جَيِّدٌ وَالمُسْتَقْبَلُ جَيِّدٌ.</a:t>
            </a:r>
            <a:endParaRPr lang="ar-SA" sz="1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أُحِبُّ الدِّرَاسَةَ.</a:t>
            </a:r>
            <a:endParaRPr lang="ar-SA" sz="1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reported speech and a Type 2 conditional.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shows both conditional types?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إِذَا قُبِلْتُ سَأَدْرُسُ؛ وَإِذَا تَوَافَرَ الدَّعْمُ سَأَتَفَوَّقُ.</a:t>
            </a:r>
            <a:endParaRPr lang="ar-SA" sz="14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قُبِلْتُ سَأَدْرُسُ؛ وَلَوْ تَوَافَرَ الدَّعْمُ لَتَفَوَّقْتُ.</a:t>
            </a:r>
            <a:endParaRPr lang="ar-SA" sz="14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لَوْ قُبِلْتُ لَدَرَسْتُ؛ وَلَوْ تَوَافَرَ الدَّعْمُ لَتَفَوَّقْتُ.</a:t>
            </a:r>
            <a:endParaRPr lang="ar-SA" sz="14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Type 1 and one Type 2.</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أَشَارَ أُسْتَاذِي إِلَى أَنَّنِي مُجْتَهِدٌ.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أَشَارَ أُسْتَاذِي أَنَّنِي مُجْتَهِدٌ.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 أُسْتَاذِي أَنَّنِي مُجْتَهِدٌ.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is correct.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كُنْتُ قَدْ قَرَّرْتُ دِرَاسَةَ الطِّبِّ مُنْذُ المَرْحَلَةِ الإِعْدَادِيَّةِ، وَبِحُلُولِ الثَّانَوِيَّةِ كُنْتُ قَدْ أَنْجَزْتُ مَشْرُوعًا بَحْثِيًّا. أَدْرُسُ الآنَ فِي السَّنَةِ الأَخِيرَةِ، وَقَدْ أَشَارَ أُسْتَاذِي إِلَى أَنَّنِي مُؤَهَّلٌ لِلْمُنَافَسَةِ، وَأَكَّدَ أَنَّ اجْتِهَادِي سَيُثْمِرُ. إِذَا قُبِلْتُ فِي كُلِّيَّةِ الطِّبِّ، سَأُكَرِّسُ جُهْدِي لِلْبَحْثِ. عَلَى الرَّغْمِ مِنْ ذٰلِكَ، لَوْ تَوَافَرَتْ لِي مَوَارِدُ أَفْضَلُ مُبَكِّرًا، لَكُنْتُ قَدْ تَقَدَّمْتُ أَكْثَرَ. عِلَاوَةً عَلَى ذٰلِكَ، أَرَى أَنَّ التَّعْلِيمَ أَقْوَى أَدَاةٍ لِلتَّغْيِيرِ. وَخِتَامًا، سَوْفَ أَسْعَى إِلَى خِدْمَةِ مُجْتَمَعِي.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المَرْحَلَةِ الإِعْدَادِيَّةِ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middle school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أَنْجَزْتُ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completed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مَشْرُوعًا بَحْثِيًّا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research project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مُؤَهَّلٌ لِلْمُنَافَسَةِ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qualified to compete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سَيُثْمِرُ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bear fruit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كُلِّيَّةِ الطِّبِّ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medical school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سَأُكَرِّسُ جُهْدِي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devote my effort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تَوَافَرَتْ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were available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resources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خِدْمَةِ مُجْتَمَعِي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serving my community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perfect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teacher's view presented?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the writer's own view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Through reported speech (</a:t>
            </a:r>
            <a:pPr algn="l" indent="0" marL="0">
              <a:buNone/>
            </a:pPr>
            <a:r>
              <a:rPr lang="ar-SA" altLang="en-US" sz="1650" dirty="0">
                <a:solidFill>
                  <a:srgbClr val="1F2A37"/>
                </a:solidFill>
                <a:latin typeface="Amiri" pitchFamily="2" charset="-78"/>
                <a:ea typeface="Amiri" pitchFamily="2" charset="-78"/>
                <a:cs typeface="Amiri" pitchFamily="2" charset="-78"/>
              </a:rPr>
              <a:t>أَشَارَ … 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قُبِلْتُ … سَأُكَرِّسُ جُهْدِي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تَوَافَرَتْ … لَكُنْتُ تَقَدَّمْتُ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أَنْجَزْتُ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conditional?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إِذَا قُبِلْتُ سَأُكَرِّسُ جُهْدِي</a:t>
            </a:r>
            <a:endParaRPr lang="ar-SA" sz="15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لَوْ تَوَافَرَتْ لِي مَوَارِدُ أَفْضَلُ، لَكُنْتُ قَدْ تَقَدَّمْتُ</a:t>
            </a:r>
            <a:endParaRPr lang="ar-SA" sz="15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أَرَى أَنَّ التَّعْلِيمَ أَقْوَى أَدَاةٍ</a:t>
            </a:r>
            <a:endParaRPr lang="ar-SA" sz="15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 and a formal connector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 perfect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 قَرَّرْتُ</a:t>
            </a:r>
            <a:pPr algn="l" indent="0" marL="0">
              <a:buNone/>
            </a:pPr>
            <a:r>
              <a:rPr lang="en-US" sz="1050" i="1" dirty="0">
                <a:solidFill>
                  <a:srgbClr val="8A6D1E"/>
                </a:solidFill>
                <a:latin typeface="Calibri" pitchFamily="34" charset="0"/>
                <a:cs typeface="Amiri" pitchFamily="2" charset="-78"/>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teacher's view presented?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the writer's own view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Through reported speech (</a:t>
            </a:r>
            <a:pPr algn="l" indent="0" marL="0">
              <a:buNone/>
            </a:pPr>
            <a:r>
              <a:rPr lang="ar-SA" altLang="en-US" sz="1550" b="1" dirty="0">
                <a:solidFill>
                  <a:srgbClr val="1F2A37"/>
                </a:solidFill>
                <a:latin typeface="Amiri" pitchFamily="2" charset="-78"/>
                <a:ea typeface="Amiri" pitchFamily="2" charset="-78"/>
                <a:cs typeface="Amiri" pitchFamily="2" charset="-78"/>
              </a:rPr>
              <a:t>أَشَارَ … أَنَّ</a:t>
            </a:r>
            <a:pPr algn="l" indent="0" marL="0">
              <a:buNone/>
            </a:pPr>
            <a:r>
              <a:rPr lang="en-US" sz="1200" b="1" dirty="0">
                <a:solidFill>
                  <a:srgbClr val="1F2A37"/>
                </a:solidFill>
                <a:latin typeface="Calibri" pitchFamily="34" charset="0"/>
                <a:cs typeface="Amiri" pitchFamily="2" charset="-78"/>
              </a:rPr>
              <a:t>)</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أَشَارَ أُسْتَاذِي إِلَى أَنَّنِي مُؤَهَّلٌ.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قُبِلْتُ … سَأُكَرِّسُ جُهْدِي</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تَوَافَرَتْ … لَكُنْتُ تَقَدَّمْتُ</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 قَدْ أَنْجَزْتُ</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conditional?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إِذَا قُبِلْتُ سَأُكَرِّسُ جُهْدِي</a:t>
            </a:r>
            <a:endParaRPr lang="ar-SA" sz="15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تَوَافَرَتْ لِي مَوَارِدُ أَفْضَلُ، لَكُنْتُ قَدْ تَقَدَّمْتُ</a:t>
            </a:r>
            <a:endParaRPr lang="ar-SA" sz="15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أَرَى أَنَّ التَّعْلِيمَ أَقْوَى أَدَاةٍ</a:t>
            </a:r>
            <a:endParaRPr lang="ar-SA" sz="15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the future and a formal connector</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وَخِتَامًا، سَوْفَ أَسْعَى إِلَى خِدْمَةِ مُجْتَمَعِي.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Range Mission — Integrate the Five Structures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which belongs in the background?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تَوَافَرَ الدَّعْمُ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قَرَّرْتُ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أَسْعَى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أَشَارَ أُسْتَاذِي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مُرْشِدِي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قُبِلْتُ،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جُهْدِي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لَأُكَرِّسُ</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كَرَّسْتُ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سَأُكَرِّسُ</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تَوَافَرَتِ المَوَارِدُ،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لَتَفَوَّقْتُ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سَأَتَفَوَّقُ</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أَتَفَوَّقُ</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أَنْجَزْتُ مَشْرُوعًا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which belongs in the background?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تَوَافَرَ الدَّعْمُ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أَسْعَى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background.</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أَشَارَ أُسْتَاذِي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مُرْشِدِي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قُبِلْتُ،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جُهْدِي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لَأُكَرِّسُ</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كَرَّسْتُ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سَأُكَرِّسُ</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تَوَافَرَتِ المَوَارِدُ،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لَتَفَوَّقْتُ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سَأَتَفَوَّقُ</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أَتَفَوَّقُ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on a past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قَدْ أَنْجَزْتُ مَشْرُوعًا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past-perfect form.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P2-L10 · Listening — Education and Future Plans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 (in a test)</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ar-SA" sz="1000" i="1" dirty="0">
                <a:solidFill>
                  <a:srgbClr val="5A6472"/>
                </a:solidFill>
                <a:latin typeface="Calibri" pitchFamily="34" charset="0"/>
                <a:ea typeface="Amiri" pitchFamily="2" charset="-78"/>
                <a:cs typeface="Amiri" pitchFamily="2" charset="-78"/>
              </a:rPr>
              <a:t>  pl. كَلِمَاتٌ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مَنْحَةٌ دِرَاسِيَّةٌ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ar-SA" sz="1000" i="1" dirty="0">
                <a:solidFill>
                  <a:srgbClr val="5A6472"/>
                </a:solidFill>
                <a:latin typeface="Calibri" pitchFamily="34" charset="0"/>
                <a:ea typeface="Amiri" pitchFamily="2" charset="-78"/>
                <a:cs typeface="Amiri" pitchFamily="2" charset="-78"/>
              </a:rPr>
              <a:t>  pl. مِنَحٌ</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نِسْبَةُ القَبُولِ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acceptance rate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ضَغْطُ الامْتِحَانَاتِ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exam pressure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how can you tell a real condition from a hypothetical one?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ea typeface="Amiri" pitchFamily="2" charset="-78"/>
                <a:cs typeface="Amiri" pitchFamily="2" charset="-78"/>
              </a:rPr>
              <a:t>أَعْرِفُ أَنَّ الشَّرْطَ افْتِرَاضِيٌّ عِنْدَمَا أَسْمَعُ « ______ » فِي البِدَايَةِ وَ« ______ » فِي الجَوَابِ.</a:t>
            </a:r>
            <a:endParaRPr lang="ar-SA" sz="13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sentence per structure.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140-word version and label the five structures in colour.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140–155-word article, with one triple-structure sentence.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P2-L10 · Listening — Education and Future Plans Texts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moves — background (kuntu qad) · reality (ashāra ilā anna) · analysis (idhā … sa- AND law … la-) · conclusion (wa-khitāman, sawfa) — at least two formal connectors, and one sentence that does three jobs.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P2-L09 · Writing — Education and Future Plans (Paper 4 Extended Writing)</dc:title>
  <dc:subject>PptxGenJS Presentation</dc:subject>
  <dc:creator>Al Madina Online School · Arabic Department</dc:creator>
  <cp:lastModifiedBy>Al Madina Online School · Arabic Department</cp:lastModifiedBy>
  <cp:revision>1</cp:revision>
  <dcterms:created xsi:type="dcterms:W3CDTF">2026-10-11T06:43:04Z</dcterms:created>
  <dcterms:modified xsi:type="dcterms:W3CDTF">2026-10-11T06:43:04Z</dcterms:modified>
</cp:coreProperties>
</file>