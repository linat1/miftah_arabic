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P2 Education and Future Plans › P2-L09. The website lesson “Writing — Education and Future Plans (Paper 4 Extended Writing)”: vocabulary, grammar rules and quiz, patterns, common mistakes, sorter, listening, reading, speaking prompts and model, writing task and model, differentiation, final check and the lesson mission. Picture match: website visual game “Writing — Education and Future Plans (Paper 4 Extended Writing)”.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WRITING-SKILLS LESSON (IGCSE Paper 4, Q3 style): the website task is a 140–155-word article on education and future plans. It brings together P2-L01 to P2-L08 — the P2 writing assessment rehearsal.
• Core: the four-paragraph plan with one sentence per structure. Develop: 140 words with the five structures labelled. Stretch: 155 words, two connectors and ONE sentence that combines three structures.
• Marking (website listening): Paper 4 Q3 rewards CONTENT, RANGE and ACCURACY. At P2, Range means the five structures — and one law sentence beside one idhā sentence shows the examiner you can tell the possible from the hypothetical.
• Be sensitive: students who have not chosen a career can write as a persona (“a student who wants to study medicine / engineering”) — the grammar is what is being assessed.
• Timing: a strict 15 minutes of silent writing in You Do; collect drafts for the P2-L12 assessment feedback.
• TEACHER-WRITTEN ITEMS: the connector spelt عِلَاوَةً (website: عَلَاوَةً); waṣl alif shown without a kasra; one sorter card corrected (كَانَتْ قَدِ اهْتَمَمْتُ → كُنْتُ قَدِ اهْتَمَمْتُ); rule headings and formulas in English and transliteration; the upgrade drill and triple-sentence build are teacher-built from the website model and teaching points; the website visual game repeats the P2-L01 / P2-L03 cards and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P2-L08. Question 4 retrieves the certainty of reporting verbs (P2-L08); question 5 the qāla inna rule (P2-L02) — website mistake 2 shows this is an Accuracy trap in extended writing.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P2 Range = five structures in one text — and one idhā beside one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formal Urdu connectors come from Arabic — علاوہ ازیں، نتیجتاً، بنا بریں، شرط. CAREFUL with spelling: Urdu says ʿalāwa, but in Arabic it is عِلَاوَةً (ʿilāwatan, with a kasra) — some websites copy the Urdu-style vowel by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nine P2 Range criteria (website vocabulary (1 of 2)). Hear → Say → See → Use. Transliteration is printed for Core students (cover it for Develop/Stretch).
The nine P2 Range criteria — today’s checklist: past perfect · reported speech · Type 1 · Type 2 · formal connector · comparative · integration · analytical depth · the full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nine P2 Range criteria (website vocabulary (2 of 2)). Hear → Say → See → Use. Transliteration is printed for Core students (cover it for Develop/Stretch).
The nine P2 Range criteria — today’s checklist: past perfect · reported speech · Type 1 · Type 2 · formal connector · comparative · integration · analytical depth · the full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Formal connectors (website vocabulary (1 of 2)). Hear → Say → See → Use. Transliteration is printed for Core students (cover it for Develop/Stretch).
Formal connectors: each sits at the START of a sentence, followed by a comma. شَرِيطَةَ أَنْ (provided that) is followed by a subjunctive verb (-a): شَرِيطَةَ أَنْ أَجْتَهِدَ.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Formal connectors (website vocabulary (2 of 2)). Hear → Say → See → Use. Transliteration is printed for Core students (cover it for Develop/Stretch).
FLEX: teach if time allows; otherwise these are on the website vocabulary tab for homework.
Formal connectors: each sits at the START of a sentence, followed by a comma. شَرِيطَةَ أَنْ (provided that) is followed by a subjunctive verb (-a): شَرِيطَةَ أَنْ أَجْتَهِدَ.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Structuring the argument (website vocabulary (1 of 2)). Hear → Say → See → Use. Transliteration is printed for Core students (cover it for Develop/Stretch).
FLEX: teach if time allows; otherwise these are on the website vocabulary tab for homework.
Structuring the argument: خَلْفِيَّةٌ (background) → وَاقِعٌ حَالِيٌّ (current reality) → تَحْلِيلٌ (analysis) → اسْتِنْتَاجٌ (conclusion) — the four moves of today’s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Structuring the argument (website vocabulary (2 of 2)). Hear → Say → See → Use. Transliteration is printed for Core students (cover it for Develop/Stretch).
FLEX: teach if time allows; otherwise these are on the website vocabulary tab for homework.
Structuring the argument: خَلْفِيَّةٌ (background) → وَاقِعٌ حَالِيٌّ (current reality) → تَحْلِيلٌ (analysis) → اسْتِنْتَاجٌ (conclusion) — the four moves of today’s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teaching point “Map a structure to each paragraph” (P1 background with كَانَ قَدْ; P2 current reality in the present with reported speech; P3 analysis with a Type 1 and a Type 2 conditional; P4 a forward look with the future and a formal connector), the website table and the listening (افْتَحْ بِخَلْفِيَّةٍ فِي المَاضِي التَّامِّ، ثُمَّ اعْرِضِ الوَاقِعَ الحَالِيَّ بِالكَلَامِ المَنْقُولِ، ثُمَّ حَلِّلْ بِالشَّرْطَيْنِ، وَاخْتِمْ بِالمُسْتَقْبَلِ).
Each paragraph recycles an earlier P2 lesson: background (P2-L03) · reality (P2-L02) · analysis (P1-L03 + P2-L06) · conclusion (P2-L05 future + P2-L09 connectors).
Core students write ONLY the four model-style sentences — one per paragraph — and still have a complete, organised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“Lift register with connectors” (عِلَاوَةً عَلَى ذٰلِكَ · شَرِيطَةَ أَنْ) and the website vocabulary group “Formal connectors”.
Spelling: عِلَاوَةً (ʿilāwatan) — the website writes عَلَاوَةً; the kasra is correct (cf. Urdu علاوہ).
بِالإِضَافَةِ إِلَى + genitive noun (not a sentence): بِالإِضَافَةِ إِلَى الدِّرَاسَةِ، أَعْمَلُ مُتَطَوِّعًا.
Website quiz 4 and 7: a formal connector (عِلَاوَةً عَلَى ذٰلِكَ · وَخِتَامًا) rather than وَ / ثُمَّ / وَأَيْضًا.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“Both conditionals in analysis” and common error: “using two Type 1 conditionals instead of one of each type. Range rewards variety and the real / hypothetical contrast.”
Website mistake 1: إِذَا قُبِلْتُ سَأَدْرُسُ؛ وَإِذَا تَوَافَرَ الدَّعْمُ سَأَتَفَوَّقُ ✗ (two Type 1) → … وَلَوْ تَوَافَرَ الدَّعْمُ لَتَفَوَّقْتُ.
Card 3 is from the website model: لَكُنْتُ قَدْ تَقَدَّمْتُ = Type 2 result + past perfect (“I would have progressed”) — a two-marker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teaching point “One sentence can carry three structures” (كَانَ مُرْشِدِي قَدْ أَشَارَ إِلَى أَنَّنِي سَأَنْجَحُ، وَلَوْ تَوَافَرَتِ المَوَارِدُ، لَتَفَوَّقْتُ أَكْثَرَ) and the website challenge “Draft one sentence that combines a past perfect, reported speech and a Type 2 conditional”.
Build it live, adding one structure per step. Row 4 is teacher-built (connector + reported + Type 1, with idhā at the end — also correct).
Warn: accuracy first. A triple sentence with a wrong particle (qāla anna) loses more than it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 synthesis rather than a new rule: how to place and combine the five P2 structures and lift register with connectors.”
• Background: past perfect: Open with what had already happened.
• Reality: reported speech: Cite a teacher or study in the present reality.
• Analysis: both conditionals: A real proposal and a counterfactual side by side.
• Register: formal connectors: Replace bare وَ with a formal connector.
Website common error: Writing 150 fluent words with only one structure, or using two Type 1 conditionals instead of one of each type. Range rewards variety and the real/hypothetical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skeleton of the website model. Build it paragraph by paragraph, counting structures aloud: past perfect (1) · reported speech (2) · Type 1 (3) · connector + Type 2 (4–5) · connector + future (6–7). “Five paragraphs’ worth of Range in five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an upgrade drill built from the website model. The left-hand sentences are accurate but show almost no Range — that is the point.
Core: rows 1–2. Develop: rows 1–4. Stretch: all five, then join rows 2 and 4 into one triple sentence (Part 4).
Row 2: «أَنْتَ مُؤَهَّلٌ» → إِلَى أَنَّنِي مُؤَهَّلٌ — the pronoun switches to “I” (P2-L02).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 range-rich article line from a background, an analysis and a conclusion.” Website feedback: any three different combinations work.
Ask: which combination has the MOST structures? (e.g. row 2 + row 2 + row 3: past perfect + reported + Type 2 + connector +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card from each column and join them into a three-sentence mini-article with a connector between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card from each column and join them into a three-sentence mini-article with a connector between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 and write down the order of the four moves.
Listen 1: just listen. Listen 2: note answers. Then chat the letters.
Support: after the second listening, show the read-along slide (Arabic + English, line by line) for Core students.
SCRIPT (read aloud):
فِي الوَرَقَةِ الرَّابِعَةِ، يُقَيِّمُ المُصَحِّحُ ثَلَاثَةَ أَشْيَاءَ: المُحْتَوَى، وَالنِّطَاقَ، وَالدِّقَّةَ. وَفِي السَّنَةِ العَاشِرَةِ، النِّطَاقُ يَعْنِي دَمْجَ خَمْسِ بُنًى: المَاضِي التَّامِّ، وَالكَلَامِ المَنْقُولِ، وَالشَّرْطِ بِنَوْعَيْهِ، وَالمُسْتَقْبَلِ. النَّصُّ الَّذِي يَحْمِلُ «إِذَا» وَ«لَوْ» مَعًا يُظْهِرُ أَنَّ الكَاتِبَ يُمَيِّزُ بَيْنَ المُمْكِنِ وَالافْتِرَاضِيِّ. افْتَحْ بِخَلْفِيَّةٍ فِي المَاضِي التَّامِّ، ثُمَّ اعْرِضِ الوَاقِعَ الحَالِيَّ بِالكَلَامِ المَنْقُولِ، ثُمَّ حَلِّلْ بِالشَّرْطَيْنِ، وَاخْتِمْ بِالمُسْتَقْبَلِ وَرَابِطٍ رَسْمِيٍّ. اُكْتُبْ مِئَةً وَأَرْبَعِينَ إِلَى مِئَةٍ وَخَمْسِينَ كَلِمَةً.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وَجُمْلَتُكَ مِنَ النَّوْعِ الثَّانِي؟ (Type 2)
B: لَوْ تَوَافَرَتْ لِي مَوَارِدُ أَفْضَلُ، لَتَفَوَّقْتُ أَكْثَرَ، لٰكِنْ إِذَا اجْتَهَدْتُ، سَأُحَقِّقُ طُمُوحِي. (Type 2 counterfactual plus a Type 1 proposal)
Website prompts and model: students TALK THROUGH their plan with a partner before writing (2 min each). The partner counts the five structures on their fingers. Stretch result needs la-: لَتَفَوَّقْتُ · لَكُنْتُ قَدْ تَقَدَّمْتُ. To a girl: خَلْفِيَّتُكِ · مُعَلِّمُوكِ · عَنْكِ · جُمْلَتُكِ.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the four-paragraph plan with one sentence per structure. · Develop — Expand to 140 words with five structures labelled. · Stretch — Reach 155 words with two connectors and one sentence combining three structures.
Website writing task (Stretch): Write a 140-155 word article on education and future plans. Include all five P2 structures: a past-perfect background, reported speech, a Type 1 conditional, a Type 2 conditional and the future, joined with at least two formal connectors.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 145 words). Range: كُنْتُ قَدْ قَرَّرْتُ · كُنْتُ قَدْ أَنْجَزْتُ (past perfect) · أَشَارَ … إِلَى أَنَّنِي · أَكَّدَ أَنَّ … سَيُثْمِرُ (reported + future) · إِذَا قُبِلْتُ … سَأُكَرِّسُ (Type 1) · لَوْ تَوَافَرَتْ … لَكُنْتُ قَدْ تَقَدَّمْتُ (Type 2 + past perfect) · عَلَى الرَّغْمِ مِنْ ذٰلِكَ · عِلَاوَةً عَلَى ذٰلِكَ · وَخِتَامًا (connectors) · أَقْوَى مِنَ (comparative) · سَوْفَ أَسْعَى (future).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(P2-L10 · Listening — Education and Future Plans Texts) will spend class time USING this language, so students prepare it tonight — short, simple, easy to access (school guidance: “Simple, Short, Interesting, Relevant, Easy to access”). The five words come from the website P2-L10 vocabulary (listening for structure).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 Education and Future Plans (Paper 4 Extended Writing)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الكِتَابَةُ — التَّعْلِيمُ وَخُطَطُ المُسْتَقْبَلِ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and write a 140–155-word article that carries all five P2 structures — a past-perfect background, reported speech, a Type 1 AND a Type 2 conditional, and the future — joined with formal connectors, then self-mark it against the nine Range criteria.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P2-L09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four-move plan, the five P2 structures, formal connectors, the triple sentence.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Upgrade plain sentences, build an article line, sort by paragraph.</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P2-L10.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عِلَاوَةً عَلَى ذٰلِكَ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despite that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moreover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result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شَرِيطَةَ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provided that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order that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بِنَاءً عَلَى مَا سَبَقَ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other hand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addition to</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based on the above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reporting verb signals the writer’s doubt?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أَوْضَحَ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ادَّعَى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reported speech.</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أُسْتَاذِي إِنَّنِي مُجْتَهِدٌ.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أُسْتَاذِي أَنَّنِي مُجْتَهِدٌ.</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أُسْتَاذِي إِنَّ أَنَا مُجْتَهِدٌ.</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عِلَاوَةً عَلَى ذٰلِكَ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despite that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moreover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a result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شَرِيطَةَ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provided that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order that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بِنَاءً عَلَى مَا سَبَقَ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other hand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addition to</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based on the above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(P2-L08).</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reporting verb signals the writer’s doubt?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أَوْضَحَ</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ادَّعَى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P2-L08: iddaʿā = doubt.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reported speech.</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أُسْتَاذِي إِنَّنِي مُجْتَهِدٌ.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أُسْتَاذِي أَنَّنِي مُجْتَهِدٌ.</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أُسْتَاذِي إِنَّ أَنَا مُجْتَهِدٌ.</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P2-L02: qāla + inna + pronoun.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P2 Range = five structures in one text — and one idhā beside one law.</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كُنْتُ قَدْ</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أَشَارَ … إِلَى 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إِذَا … سَـ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C77700"/>
                </a:solidFill>
                <a:latin typeface="Amiri" pitchFamily="2" charset="-78"/>
                <a:ea typeface="Amiri" pitchFamily="2" charset="-78"/>
                <a:cs typeface="Amiri" pitchFamily="2" charset="-78"/>
              </a:rPr>
              <a:t>لَوْ … لَـ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سَوْفَ</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 four-paragraph education article carrying every P2 structure.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Combine past perfect, reported speech and both conditional types in one text.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Raise the register with formal connectors and academic vocabulary.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Self-assess against the nine P2 Range criteria.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plan four paragraphs, one structure each.</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a past perfect and a reported clause.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one idhā AND one law conditional.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join ideas with two formal connectors.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one sentence with three structures.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self-mark against the nine criteria.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nine P2 Range criteria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Formal connectors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Structuring the argument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عِلَاوَةً عَلَى</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‎علاوہ ازیں‎ </a:t>
            </a:r>
            <a:pPr indent="0" marL="0">
              <a:buNone/>
            </a:pPr>
            <a:r>
              <a:rPr lang="en-US" sz="950" b="1" dirty="0">
                <a:solidFill>
                  <a:srgbClr val="2E8B57"/>
                </a:solidFill>
                <a:latin typeface="Calibri" pitchFamily="34" charset="0"/>
                <a:cs typeface="Amiri" pitchFamily="2" charset="-78"/>
              </a:rPr>
              <a:t> ʿalāwa azīn · moreover, besides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نَتِيجَةٌ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‎نتیجہ‎ </a:t>
            </a:r>
            <a:pPr indent="0" marL="0">
              <a:buNone/>
            </a:pPr>
            <a:r>
              <a:rPr lang="en-US" sz="950" b="1" dirty="0">
                <a:solidFill>
                  <a:srgbClr val="2E8B57"/>
                </a:solidFill>
                <a:latin typeface="Calibri" pitchFamily="34" charset="0"/>
                <a:cs typeface="Amiri" pitchFamily="2" charset="-78"/>
              </a:rPr>
              <a:t> natīja · a result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شَرْطٌ</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‎شرط‎ </a:t>
            </a:r>
            <a:pPr indent="0" marL="0">
              <a:buNone/>
            </a:pPr>
            <a:r>
              <a:rPr lang="en-US" sz="950" b="1" dirty="0">
                <a:solidFill>
                  <a:srgbClr val="2E8B57"/>
                </a:solidFill>
                <a:latin typeface="Calibri" pitchFamily="34" charset="0"/>
                <a:cs typeface="Amiri" pitchFamily="2" charset="-78"/>
              </a:rPr>
              <a:t> shart · a condition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خُلَاصَةٌ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‎خلاصہ‎ </a:t>
            </a:r>
            <a:pPr indent="0" marL="0">
              <a:buNone/>
            </a:pPr>
            <a:r>
              <a:rPr lang="en-US" sz="950" b="1" dirty="0">
                <a:solidFill>
                  <a:srgbClr val="2E8B57"/>
                </a:solidFill>
                <a:latin typeface="Calibri" pitchFamily="34" charset="0"/>
                <a:cs typeface="Amiri" pitchFamily="2" charset="-78"/>
              </a:rPr>
              <a:t> khulāsa · a summary, conclusion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بِنَاءً عَلَى</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‎بنا بریں‎ </a:t>
            </a:r>
            <a:pPr indent="0" marL="0">
              <a:buNone/>
            </a:pPr>
            <a:r>
              <a:rPr lang="en-US" sz="950" b="1" dirty="0">
                <a:solidFill>
                  <a:srgbClr val="2E8B57"/>
                </a:solidFill>
                <a:latin typeface="Calibri" pitchFamily="34" charset="0"/>
                <a:cs typeface="Amiri" pitchFamily="2" charset="-78"/>
              </a:rPr>
              <a:t> binā barīn · based on, therefore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The nine P2 Range criteria (1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النِّطَاقُ الكَامِلُ</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full range</a:t>
            </a:r>
            <a:endParaRPr lang="en-US" sz="1350" dirty="0"/>
          </a:p>
          <a:p>
            <a:pPr indent="0" marL="0">
              <a:buNone/>
            </a:pPr>
            <a:r>
              <a:rPr lang="en-US" sz="1100" i="1" dirty="0">
                <a:solidFill>
                  <a:srgbClr val="5A6472"/>
                </a:solidFill>
                <a:latin typeface="Calibri" pitchFamily="34" charset="0"/>
                <a:cs typeface="Amiri" pitchFamily="2" charset="-78"/>
              </a:rPr>
              <a:t>an-ni-ṭā-qu al-kā-mi-lu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3" name="Shape 20"/>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Amiri" pitchFamily="2" charset="-78"/>
                <a:ea typeface="Amiri" pitchFamily="2" charset="-78"/>
                <a:cs typeface="Amiri" pitchFamily="2" charset="-78"/>
              </a:rPr>
              <a:t>كَانَ قَدْ.</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المَاضِي التَّامُّ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 perfect</a:t>
            </a:r>
            <a:endParaRPr lang="en-US" sz="1350" dirty="0"/>
          </a:p>
          <a:p>
            <a:pPr indent="0" marL="0">
              <a:buNone/>
            </a:pPr>
            <a:r>
              <a:rPr lang="en-US" sz="1100" i="1" dirty="0">
                <a:solidFill>
                  <a:srgbClr val="5A6472"/>
                </a:solidFill>
                <a:latin typeface="Calibri" pitchFamily="34" charset="0"/>
                <a:cs typeface="Amiri" pitchFamily="2" charset="-78"/>
              </a:rPr>
              <a:t>al-mā-ḍī at-tām-mu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الكَلَامُ المَنْقُولُ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reported speech</a:t>
            </a:r>
            <a:endParaRPr lang="en-US" sz="1350" dirty="0"/>
          </a:p>
          <a:p>
            <a:pPr indent="0" marL="0">
              <a:buNone/>
            </a:pPr>
            <a:r>
              <a:rPr lang="en-US" sz="1100" i="1" dirty="0">
                <a:solidFill>
                  <a:srgbClr val="5A6472"/>
                </a:solidFill>
                <a:latin typeface="Calibri" pitchFamily="34" charset="0"/>
                <a:cs typeface="Amiri" pitchFamily="2" charset="-78"/>
              </a:rPr>
              <a:t>al-ka-lā-mu al-man-qū-lu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Amiri" pitchFamily="2" charset="-78"/>
                <a:ea typeface="Amiri" pitchFamily="2" charset="-78"/>
                <a:cs typeface="Amiri" pitchFamily="2" charset="-78"/>
              </a:rPr>
              <a:t>إِذَا … سَـ.</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مِنَ النَّوْعِ الأَوَّلِ</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Type 1 conditional</a:t>
            </a:r>
            <a:endParaRPr lang="en-US" sz="1350" dirty="0"/>
          </a:p>
          <a:p>
            <a:pPr indent="0" marL="0">
              <a:buNone/>
            </a:pPr>
            <a:r>
              <a:rPr lang="en-US" sz="1100" i="1" dirty="0">
                <a:solidFill>
                  <a:srgbClr val="5A6472"/>
                </a:solidFill>
                <a:latin typeface="Calibri" pitchFamily="34" charset="0"/>
                <a:cs typeface="Amiri" pitchFamily="2" charset="-78"/>
              </a:rPr>
              <a:t>shar-ṭun mi-na an-naw-ʿi al-aw-wa-li</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8" name="Shape 45"/>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Amiri" pitchFamily="2" charset="-78"/>
                <a:ea typeface="Amiri" pitchFamily="2" charset="-78"/>
                <a:cs typeface="Amiri" pitchFamily="2" charset="-78"/>
              </a:rPr>
              <a:t>لَوْ … لَـ.</a:t>
            </a:r>
            <a:endParaRPr lang="en-US" sz="8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مِنَ النَّوْعِ الثَّانِي</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Type 2 conditional</a:t>
            </a:r>
            <a:endParaRPr lang="en-US" sz="1350" dirty="0"/>
          </a:p>
          <a:p>
            <a:pPr indent="0" marL="0">
              <a:buNone/>
            </a:pPr>
            <a:r>
              <a:rPr lang="en-US" sz="1100" i="1" dirty="0">
                <a:solidFill>
                  <a:srgbClr val="5A6472"/>
                </a:solidFill>
                <a:latin typeface="Calibri" pitchFamily="34" charset="0"/>
                <a:cs typeface="Amiri" pitchFamily="2" charset="-78"/>
              </a:rPr>
              <a:t>shar-ṭun mi-na an-naw-ʿi ath-thā-nī</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The nine P2 Range criteria (2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رَابِطٌ رَسْمِيٌّ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formal connector</a:t>
            </a:r>
            <a:endParaRPr lang="en-US" sz="1350" dirty="0"/>
          </a:p>
          <a:p>
            <a:pPr indent="0" marL="0">
              <a:buNone/>
            </a:pPr>
            <a:r>
              <a:rPr lang="en-US" sz="1100" i="1" dirty="0">
                <a:solidFill>
                  <a:srgbClr val="5A6472"/>
                </a:solidFill>
                <a:latin typeface="Calibri" pitchFamily="34" charset="0"/>
                <a:cs typeface="Amiri" pitchFamily="2" charset="-78"/>
              </a:rPr>
              <a:t>rā-bi-ṭun ras-miy-yun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رَوَابِطُ رَسْمِيَّةٌ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صِيغَةُ التَّفْضِيلِ</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comparative</a:t>
            </a:r>
            <a:endParaRPr lang="en-US" sz="1350" dirty="0"/>
          </a:p>
          <a:p>
            <a:pPr indent="0" marL="0">
              <a:buNone/>
            </a:pPr>
            <a:r>
              <a:rPr lang="en-US" sz="1100" i="1" dirty="0">
                <a:solidFill>
                  <a:srgbClr val="5A6472"/>
                </a:solidFill>
                <a:latin typeface="Calibri" pitchFamily="34" charset="0"/>
                <a:cs typeface="Amiri" pitchFamily="2" charset="-78"/>
              </a:rPr>
              <a:t>ṣī-gha-tu at-taf-ḍī-li</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التَّكَامُلُ النَّحْوِيُّ</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grammatical integration</a:t>
            </a:r>
            <a:endParaRPr lang="en-US" sz="1350" dirty="0"/>
          </a:p>
          <a:p>
            <a:pPr indent="0" marL="0">
              <a:buNone/>
            </a:pPr>
            <a:r>
              <a:rPr lang="en-US" sz="1100" i="1" dirty="0">
                <a:solidFill>
                  <a:srgbClr val="5A6472"/>
                </a:solidFill>
                <a:latin typeface="Calibri" pitchFamily="34" charset="0"/>
                <a:cs typeface="Amiri" pitchFamily="2" charset="-78"/>
              </a:rPr>
              <a:t>at-ta-kā-mu-lu an-naḥ-wiy-yu</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العُمْقُ التَّحْلِيلِيُّ</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analytical depth</a:t>
            </a:r>
            <a:endParaRPr lang="en-US" sz="1350" dirty="0"/>
          </a:p>
          <a:p>
            <a:pPr indent="0" marL="0">
              <a:buNone/>
            </a:pPr>
            <a:r>
              <a:rPr lang="en-US" sz="1100" i="1" dirty="0">
                <a:solidFill>
                  <a:srgbClr val="5A6472"/>
                </a:solidFill>
                <a:latin typeface="Calibri" pitchFamily="34" charset="0"/>
                <a:cs typeface="Amiri" pitchFamily="2" charset="-78"/>
              </a:rPr>
              <a:t>al-ʿum-qu at-taḥ-lī-liy-yu</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connectors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عِلَاوَةً عَلَى ذٰلِكَ</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moreover</a:t>
            </a:r>
            <a:endParaRPr lang="en-US" sz="1350" dirty="0"/>
          </a:p>
          <a:p>
            <a:pPr indent="0" marL="0">
              <a:buNone/>
            </a:pPr>
            <a:r>
              <a:rPr lang="en-US" sz="1100" i="1" dirty="0">
                <a:solidFill>
                  <a:srgbClr val="5A6472"/>
                </a:solidFill>
                <a:latin typeface="Calibri" pitchFamily="34" charset="0"/>
                <a:cs typeface="Amiri" pitchFamily="2" charset="-78"/>
              </a:rPr>
              <a:t>ʿi-lā-wa-tan ʿa-lā dhā-li-ka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nevertheless</a:t>
            </a:r>
            <a:endParaRPr lang="en-US" sz="1350" dirty="0"/>
          </a:p>
          <a:p>
            <a:pPr indent="0" marL="0">
              <a:buNone/>
            </a:pPr>
            <a:r>
              <a:rPr lang="en-US" sz="1100" i="1" dirty="0">
                <a:solidFill>
                  <a:srgbClr val="5A6472"/>
                </a:solidFill>
                <a:latin typeface="Calibri" pitchFamily="34" charset="0"/>
                <a:cs typeface="Amiri" pitchFamily="2" charset="-78"/>
              </a:rPr>
              <a:t>ʿa-lā ar-ragh-mi min 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شَرِيطَةَ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provided that</a:t>
            </a:r>
            <a:endParaRPr lang="en-US" sz="1350" dirty="0"/>
          </a:p>
          <a:p>
            <a:pPr indent="0" marL="0">
              <a:buNone/>
            </a:pPr>
            <a:r>
              <a:rPr lang="en-US" sz="1100" i="1" dirty="0">
                <a:solidFill>
                  <a:srgbClr val="5A6472"/>
                </a:solidFill>
                <a:latin typeface="Calibri" pitchFamily="34" charset="0"/>
                <a:cs typeface="Amiri" pitchFamily="2" charset="-78"/>
              </a:rPr>
              <a:t>sha-rī-ṭa-ta 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بِنَاءً عَلَى مَا سَبَقَ</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based on the above</a:t>
            </a:r>
            <a:endParaRPr lang="en-US" sz="1350" dirty="0"/>
          </a:p>
          <a:p>
            <a:pPr indent="0" marL="0">
              <a:buNone/>
            </a:pPr>
            <a:r>
              <a:rPr lang="en-US" sz="1100" i="1" dirty="0">
                <a:solidFill>
                  <a:srgbClr val="5A6472"/>
                </a:solidFill>
                <a:latin typeface="Calibri" pitchFamily="34" charset="0"/>
                <a:cs typeface="Amiri" pitchFamily="2" charset="-78"/>
              </a:rPr>
              <a:t>bi-nā-ʾan ʿa-lā mā sa-ba-qa</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connectors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بِالإِضَافَةِ إِلَى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 to</a:t>
            </a:r>
            <a:endParaRPr lang="en-US" sz="1350" dirty="0"/>
          </a:p>
          <a:p>
            <a:pPr indent="0" marL="0">
              <a:buNone/>
            </a:pPr>
            <a:r>
              <a:rPr lang="en-US" sz="1100" i="1" dirty="0">
                <a:solidFill>
                  <a:srgbClr val="5A6472"/>
                </a:solidFill>
                <a:latin typeface="Calibri" pitchFamily="34" charset="0"/>
                <a:cs typeface="Amiri" pitchFamily="2" charset="-78"/>
              </a:rPr>
              <a:t>bil-ʾi-ḍā-fa-ti i-lā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وَخِتَامًا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conclusion</a:t>
            </a:r>
            <a:endParaRPr lang="en-US" sz="1350" dirty="0"/>
          </a:p>
          <a:p>
            <a:pPr indent="0" marL="0">
              <a:buNone/>
            </a:pPr>
            <a:r>
              <a:rPr lang="en-US" sz="1100" i="1" dirty="0">
                <a:solidFill>
                  <a:srgbClr val="5A6472"/>
                </a:solidFill>
                <a:latin typeface="Calibri" pitchFamily="34" charset="0"/>
                <a:cs typeface="Amiri" pitchFamily="2" charset="-78"/>
              </a:rPr>
              <a:t>wa-khi-tā-man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Structuring the argument (1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خَلْفِيَّةٌ</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background</a:t>
            </a:r>
            <a:endParaRPr lang="en-US" sz="1350" dirty="0"/>
          </a:p>
          <a:p>
            <a:pPr indent="0" marL="0">
              <a:buNone/>
            </a:pPr>
            <a:r>
              <a:rPr lang="en-US" sz="1100" i="1" dirty="0">
                <a:solidFill>
                  <a:srgbClr val="5A6472"/>
                </a:solidFill>
                <a:latin typeface="Calibri" pitchFamily="34" charset="0"/>
                <a:cs typeface="Amiri" pitchFamily="2" charset="-78"/>
              </a:rPr>
              <a:t>khal-fiy-ya-tun</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خَلْفِيَّاتٌ</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وَاقِعٌ حَالِيٌّ</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current reality</a:t>
            </a:r>
            <a:endParaRPr lang="en-US" sz="1350" dirty="0"/>
          </a:p>
          <a:p>
            <a:pPr indent="0" marL="0">
              <a:buNone/>
            </a:pPr>
            <a:r>
              <a:rPr lang="en-US" sz="1100" i="1" dirty="0">
                <a:solidFill>
                  <a:srgbClr val="5A6472"/>
                </a:solidFill>
                <a:latin typeface="Calibri" pitchFamily="34" charset="0"/>
                <a:cs typeface="Amiri" pitchFamily="2" charset="-78"/>
              </a:rPr>
              <a:t>wā-qi-ʿun ḥā-liy-yun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تَحْلِيلٌ</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analysis</a:t>
            </a:r>
            <a:endParaRPr lang="en-US" sz="1350" dirty="0"/>
          </a:p>
          <a:p>
            <a:pPr indent="0" marL="0">
              <a:buNone/>
            </a:pPr>
            <a:r>
              <a:rPr lang="en-US" sz="1100" i="1" dirty="0">
                <a:solidFill>
                  <a:srgbClr val="5A6472"/>
                </a:solidFill>
                <a:latin typeface="Calibri" pitchFamily="34" charset="0"/>
                <a:cs typeface="Amiri" pitchFamily="2" charset="-78"/>
              </a:rPr>
              <a:t>taḥ-lī-lun</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تَحْلِيلَاتٌ</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اسْتِنْتَاجٌ</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conclusion</a:t>
            </a:r>
            <a:endParaRPr lang="en-US" sz="1350" dirty="0"/>
          </a:p>
          <a:p>
            <a:pPr indent="0" marL="0">
              <a:buNone/>
            </a:pPr>
            <a:r>
              <a:rPr lang="en-US" sz="1100" i="1" dirty="0">
                <a:solidFill>
                  <a:srgbClr val="5A6472"/>
                </a:solidFill>
                <a:latin typeface="Calibri" pitchFamily="34" charset="0"/>
                <a:cs typeface="Amiri" pitchFamily="2" charset="-78"/>
              </a:rPr>
              <a:t>as-tin-tā-jun</a:t>
            </a:r>
            <a:endParaRPr lang="en-US" sz="1350" dirty="0"/>
          </a:p>
        </p:txBody>
      </p:sp>
      <p:sp>
        <p:nvSpPr>
          <p:cNvPr id="53" name="Shape 5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اسْتِنْتَاجَاتٌ</a:t>
            </a:r>
            <a:endParaRPr lang="ar-SA" sz="15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Structuring the argument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حُجَّةٌ مُتَدَرِّجَةٌ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graduated argument</a:t>
            </a:r>
            <a:endParaRPr lang="en-US" sz="1350" dirty="0"/>
          </a:p>
          <a:p>
            <a:pPr indent="0" marL="0">
              <a:buNone/>
            </a:pPr>
            <a:r>
              <a:rPr lang="en-US" sz="1100" i="1" dirty="0">
                <a:solidFill>
                  <a:srgbClr val="5A6472"/>
                </a:solidFill>
                <a:latin typeface="Calibri" pitchFamily="34" charset="0"/>
                <a:cs typeface="Amiri" pitchFamily="2" charset="-78"/>
              </a:rPr>
              <a:t>ḥuj-ja-tun mu-ta-dar-ri-ja-tun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صَوْتٌ أَكَادِيمِيٌّ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academic voice</a:t>
            </a:r>
            <a:endParaRPr lang="en-US" sz="1350" dirty="0"/>
          </a:p>
          <a:p>
            <a:pPr indent="0" marL="0">
              <a:buNone/>
            </a:pPr>
            <a:r>
              <a:rPr lang="en-US" sz="1100" i="1" dirty="0">
                <a:solidFill>
                  <a:srgbClr val="5A6472"/>
                </a:solidFill>
                <a:latin typeface="Calibri" pitchFamily="34" charset="0"/>
                <a:cs typeface="Amiri" pitchFamily="2" charset="-78"/>
              </a:rPr>
              <a:t>ṣaw-tun a-kā-dī-miy-yun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0" name="Shape 27"/>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يَدْمُجُ</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integrates</a:t>
            </a:r>
            <a:endParaRPr lang="en-US" sz="1350" dirty="0"/>
          </a:p>
          <a:p>
            <a:pPr indent="0" marL="0">
              <a:buNone/>
            </a:pPr>
            <a:r>
              <a:rPr lang="en-US" sz="1100" i="1" dirty="0">
                <a:solidFill>
                  <a:srgbClr val="5A6472"/>
                </a:solidFill>
                <a:latin typeface="Calibri" pitchFamily="34" charset="0"/>
                <a:cs typeface="Amiri" pitchFamily="2" charset="-78"/>
              </a:rPr>
              <a:t>yad-mu-ju</a:t>
            </a:r>
            <a:endParaRPr lang="en-US" sz="1350" dirty="0"/>
          </a:p>
        </p:txBody>
      </p:sp>
      <p:sp>
        <p:nvSpPr>
          <p:cNvPr id="34" name="Shape 3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6" name="Text 3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تَدْمُجُ</a:t>
            </a:r>
            <a:endParaRPr lang="ar-SA" sz="1500" dirty="0"/>
          </a:p>
        </p:txBody>
      </p:sp>
      <p:sp>
        <p:nvSpPr>
          <p:cNvPr id="37" name="Shape 3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9" name="Text 3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أَدْمُجُ</a:t>
            </a:r>
            <a:endParaRPr lang="ar-SA" sz="150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3" name="Shape 40"/>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5" name="Text 4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يُوَازِنُ</a:t>
            </a:r>
            <a:endParaRPr lang="ar-SA" sz="3000" dirty="0"/>
          </a:p>
        </p:txBody>
      </p:sp>
      <p:sp>
        <p:nvSpPr>
          <p:cNvPr id="46" name="Text 4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balances</a:t>
            </a:r>
            <a:endParaRPr lang="en-US" sz="1350" dirty="0"/>
          </a:p>
          <a:p>
            <a:pPr indent="0" marL="0">
              <a:buNone/>
            </a:pPr>
            <a:r>
              <a:rPr lang="en-US" sz="1100" i="1" dirty="0">
                <a:solidFill>
                  <a:srgbClr val="5A6472"/>
                </a:solidFill>
                <a:latin typeface="Calibri" pitchFamily="34" charset="0"/>
                <a:cs typeface="Amiri" pitchFamily="2" charset="-78"/>
              </a:rPr>
              <a:t>yu-wā-zi-nu</a:t>
            </a:r>
            <a:endParaRPr lang="en-US" sz="1350" dirty="0"/>
          </a:p>
        </p:txBody>
      </p:sp>
      <p:sp>
        <p:nvSpPr>
          <p:cNvPr id="47" name="Shape 4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9" name="Text 4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تُوَازِنُ</a:t>
            </a:r>
            <a:endParaRPr lang="ar-SA" sz="1500" dirty="0"/>
          </a:p>
        </p:txBody>
      </p:sp>
      <p:sp>
        <p:nvSpPr>
          <p:cNvPr id="50" name="Shape 4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2" name="Text 4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أُوَازِنُ</a:t>
            </a:r>
            <a:endParaRPr lang="ar-SA" sz="150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FOUR-MOVE PLAN (WEBSITE TABLE + TEACHING POINT 2)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paragraphs, five structures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المَقَالَةِ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36592" y="1810512"/>
            <a:ext cx="6922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sentence (website model)</a:t>
            </a:r>
            <a:endParaRPr lang="en-US" sz="1100" dirty="0"/>
          </a:p>
        </p:txBody>
      </p:sp>
      <p:sp>
        <p:nvSpPr>
          <p:cNvPr id="17" name="Text 14"/>
          <p:cNvSpPr txBox="1"/>
          <p:nvPr/>
        </p:nvSpPr>
        <p:spPr>
          <a:xfrm>
            <a:off x="226771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8" name="Text 15"/>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Paragraph</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754880" y="2267712"/>
            <a:ext cx="6885432" cy="731520"/>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كُنْتُ قَدْ قَرَّرْتُ</a:t>
            </a:r>
            <a:pPr rtl="1" algn="ctr" indent="0" marL="0">
              <a:buNone/>
            </a:pPr>
            <a:r>
              <a:rPr lang="ar-SA" altLang="en-US" sz="1900" b="1" dirty="0">
                <a:solidFill>
                  <a:srgbClr val="1B3B6F"/>
                </a:solidFill>
                <a:latin typeface="Amiri" pitchFamily="2" charset="-78"/>
                <a:ea typeface="Amiri" pitchFamily="2" charset="-78"/>
                <a:cs typeface="Amiri" pitchFamily="2" charset="-78"/>
              </a:rPr>
              <a:t> دِرَاسَةَ الطِّبِّ مُنْذُ المَرْحَلَةِ الإِعْدَادِيَّةِ.</a:t>
            </a:r>
            <a:endParaRPr lang="ar-SA" sz="1900" dirty="0"/>
          </a:p>
        </p:txBody>
      </p:sp>
      <p:sp>
        <p:nvSpPr>
          <p:cNvPr id="21" name="Text 18"/>
          <p:cNvSpPr txBox="1"/>
          <p:nvPr/>
        </p:nvSpPr>
        <p:spPr>
          <a:xfrm>
            <a:off x="2304288" y="2267712"/>
            <a:ext cx="2286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2" name="Text 19"/>
          <p:cNvSpPr txBox="1"/>
          <p:nvPr/>
        </p:nvSpPr>
        <p:spPr>
          <a:xfrm>
            <a:off x="566928" y="2267712"/>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background</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4754880" y="3054096"/>
            <a:ext cx="68854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أَدْرُسُ الآنَ فِي السَّنَةِ الأَخِيرَةِ، وَ</a:t>
            </a:r>
            <a:pPr rtl="1" algn="ctr" indent="0" marL="0">
              <a:buNone/>
            </a:pPr>
            <a:r>
              <a:rPr lang="ar-SA" altLang="en-US" sz="1900" b="1" dirty="0">
                <a:solidFill>
                  <a:srgbClr val="7B3FA0"/>
                </a:solidFill>
                <a:latin typeface="Amiri" pitchFamily="2" charset="-78"/>
                <a:ea typeface="Amiri" pitchFamily="2" charset="-78"/>
                <a:cs typeface="Amiri" pitchFamily="2" charset="-78"/>
              </a:rPr>
              <a:t>قَدْ أَشَارَ</a:t>
            </a:r>
            <a:pPr rtl="1" algn="ctr" indent="0" marL="0">
              <a:buNone/>
            </a:pPr>
            <a:r>
              <a:rPr lang="ar-SA" altLang="en-US" sz="1900" b="1" dirty="0">
                <a:solidFill>
                  <a:srgbClr val="1B3B6F"/>
                </a:solidFill>
                <a:latin typeface="Amiri" pitchFamily="2" charset="-78"/>
                <a:ea typeface="Amiri" pitchFamily="2" charset="-78"/>
                <a:cs typeface="Amiri" pitchFamily="2" charset="-78"/>
              </a:rPr>
              <a:t> أُسْتَاذِي </a:t>
            </a:r>
            <a:pPr rtl="1" algn="ctr" indent="0" marL="0">
              <a:buNone/>
            </a:pPr>
            <a:r>
              <a:rPr lang="ar-SA" altLang="en-US" sz="1900" b="1" dirty="0">
                <a:solidFill>
                  <a:srgbClr val="7B3FA0"/>
                </a:solidFill>
                <a:latin typeface="Amiri" pitchFamily="2" charset="-78"/>
                <a:ea typeface="Amiri" pitchFamily="2" charset="-78"/>
                <a:cs typeface="Amiri" pitchFamily="2" charset="-78"/>
              </a:rPr>
              <a:t>إِلَى أَنَّنِي</a:t>
            </a:r>
            <a:pPr rtl="1" algn="ctr" indent="0" marL="0">
              <a:buNone/>
            </a:pPr>
            <a:r>
              <a:rPr lang="ar-SA" altLang="en-US" sz="1900" b="1" dirty="0">
                <a:solidFill>
                  <a:srgbClr val="1B3B6F"/>
                </a:solidFill>
                <a:latin typeface="Amiri" pitchFamily="2" charset="-78"/>
                <a:ea typeface="Amiri" pitchFamily="2" charset="-78"/>
                <a:cs typeface="Amiri" pitchFamily="2" charset="-78"/>
              </a:rPr>
              <a:t> مُؤَهَّلٌ لِلْمُنَافَسَةِ.</a:t>
            </a:r>
            <a:endParaRPr lang="ar-SA" sz="1900" dirty="0"/>
          </a:p>
        </p:txBody>
      </p:sp>
      <p:sp>
        <p:nvSpPr>
          <p:cNvPr id="27" name="Text 24"/>
          <p:cNvSpPr txBox="1"/>
          <p:nvPr/>
        </p:nvSpPr>
        <p:spPr>
          <a:xfrm>
            <a:off x="2304288" y="3054096"/>
            <a:ext cx="2286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reported speech</a:t>
            </a:r>
            <a:endParaRPr lang="en-US" sz="1100" dirty="0"/>
          </a:p>
        </p:txBody>
      </p:sp>
      <p:sp>
        <p:nvSpPr>
          <p:cNvPr id="28" name="Text 25"/>
          <p:cNvSpPr txBox="1"/>
          <p:nvPr/>
        </p:nvSpPr>
        <p:spPr>
          <a:xfrm>
            <a:off x="566928" y="3054096"/>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reality</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4754880" y="3840480"/>
            <a:ext cx="6885432" cy="731520"/>
          </a:xfrm>
          <a:prstGeom prst="rect">
            <a:avLst/>
          </a:prstGeom>
          <a:noFill/>
          <a:ln/>
        </p:spPr>
        <p:txBody>
          <a:bodyPr wrap="square" lIns="0" tIns="0" rIns="0" bIns="0" rtlCol="0" anchor="ctr"/>
          <a:lstStyle/>
          <a:p>
            <a:pPr rtl="1" algn="ctr" indent="0" marL="0">
              <a:buNone/>
            </a:pPr>
            <a:r>
              <a:rPr lang="ar-SA" altLang="en-US" sz="1850" b="1" dirty="0">
                <a:solidFill>
                  <a:srgbClr val="0E7C86"/>
                </a:solidFill>
                <a:latin typeface="Amiri" pitchFamily="2" charset="-78"/>
                <a:ea typeface="Amiri" pitchFamily="2" charset="-78"/>
                <a:cs typeface="Amiri" pitchFamily="2" charset="-78"/>
              </a:rPr>
              <a:t>إِذَا قُبِلْتُ</a:t>
            </a:r>
            <a:pPr rtl="1" algn="ctr" indent="0" marL="0">
              <a:buNone/>
            </a:pPr>
            <a:r>
              <a:rPr lang="ar-SA" altLang="en-US" sz="1850" b="1" dirty="0">
                <a:solidFill>
                  <a:srgbClr val="1B3B6F"/>
                </a:solidFill>
                <a:latin typeface="Amiri" pitchFamily="2" charset="-78"/>
                <a:ea typeface="Amiri" pitchFamily="2" charset="-78"/>
                <a:cs typeface="Amiri" pitchFamily="2" charset="-78"/>
              </a:rPr>
              <a:t>، </a:t>
            </a:r>
            <a:pPr rtl="1" algn="ctr" indent="0" marL="0">
              <a:buNone/>
            </a:pPr>
            <a:r>
              <a:rPr lang="ar-SA" altLang="en-US" sz="1850" b="1" dirty="0">
                <a:solidFill>
                  <a:srgbClr val="0E7C86"/>
                </a:solidFill>
                <a:latin typeface="Amiri" pitchFamily="2" charset="-78"/>
                <a:ea typeface="Amiri" pitchFamily="2" charset="-78"/>
                <a:cs typeface="Amiri" pitchFamily="2" charset="-78"/>
              </a:rPr>
              <a:t>سَأُكَرِّسُ</a:t>
            </a:r>
            <a:pPr rtl="1" algn="ctr" indent="0" marL="0">
              <a:buNone/>
            </a:pPr>
            <a:r>
              <a:rPr lang="ar-SA" altLang="en-US" sz="1850" b="1" dirty="0">
                <a:solidFill>
                  <a:srgbClr val="1B3B6F"/>
                </a:solidFill>
                <a:latin typeface="Amiri" pitchFamily="2" charset="-78"/>
                <a:ea typeface="Amiri" pitchFamily="2" charset="-78"/>
                <a:cs typeface="Amiri" pitchFamily="2" charset="-78"/>
              </a:rPr>
              <a:t> جُهْدِي لِلْبَحْثِ … </a:t>
            </a:r>
            <a:pPr rtl="1" algn="ctr" indent="0" marL="0">
              <a:buNone/>
            </a:pPr>
            <a:r>
              <a:rPr lang="ar-SA" altLang="en-US" sz="1850" b="1" dirty="0">
                <a:solidFill>
                  <a:srgbClr val="C77700"/>
                </a:solidFill>
                <a:latin typeface="Amiri" pitchFamily="2" charset="-78"/>
                <a:ea typeface="Amiri" pitchFamily="2" charset="-78"/>
                <a:cs typeface="Amiri" pitchFamily="2" charset="-78"/>
              </a:rPr>
              <a:t>لَوْ تَوَافَرَتْ</a:t>
            </a:r>
            <a:pPr rtl="1" algn="ctr" indent="0" marL="0">
              <a:buNone/>
            </a:pPr>
            <a:r>
              <a:rPr lang="ar-SA" altLang="en-US" sz="1850" b="1" dirty="0">
                <a:solidFill>
                  <a:srgbClr val="1B3B6F"/>
                </a:solidFill>
                <a:latin typeface="Amiri" pitchFamily="2" charset="-78"/>
                <a:ea typeface="Amiri" pitchFamily="2" charset="-78"/>
                <a:cs typeface="Amiri" pitchFamily="2" charset="-78"/>
              </a:rPr>
              <a:t> لِي مَوَارِدُ أَفْضَلُ، </a:t>
            </a:r>
            <a:pPr rtl="1" algn="ctr" indent="0" marL="0">
              <a:buNone/>
            </a:pPr>
            <a:r>
              <a:rPr lang="ar-SA" altLang="en-US" sz="1850" b="1" dirty="0">
                <a:solidFill>
                  <a:srgbClr val="C77700"/>
                </a:solidFill>
                <a:latin typeface="Amiri" pitchFamily="2" charset="-78"/>
                <a:ea typeface="Amiri" pitchFamily="2" charset="-78"/>
                <a:cs typeface="Amiri" pitchFamily="2" charset="-78"/>
              </a:rPr>
              <a:t>لَكُنْتُ</a:t>
            </a:r>
            <a:pPr rtl="1" algn="ctr" indent="0" marL="0">
              <a:buNone/>
            </a:pPr>
            <a:r>
              <a:rPr lang="ar-SA" altLang="en-US" sz="1850" b="1" dirty="0">
                <a:solidFill>
                  <a:srgbClr val="1B3B6F"/>
                </a:solidFill>
                <a:latin typeface="Amiri" pitchFamily="2" charset="-78"/>
                <a:ea typeface="Amiri" pitchFamily="2" charset="-78"/>
                <a:cs typeface="Amiri" pitchFamily="2" charset="-78"/>
              </a:rPr>
              <a:t> قَدْ تَقَدَّمْتُ أَكْثَرَ.</a:t>
            </a:r>
            <a:endParaRPr lang="ar-SA" sz="1850" dirty="0"/>
          </a:p>
        </p:txBody>
      </p:sp>
      <p:sp>
        <p:nvSpPr>
          <p:cNvPr id="33" name="Text 30"/>
          <p:cNvSpPr txBox="1"/>
          <p:nvPr/>
        </p:nvSpPr>
        <p:spPr>
          <a:xfrm>
            <a:off x="2304288" y="3840480"/>
            <a:ext cx="2286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 + Type 2</a:t>
            </a:r>
            <a:endParaRPr lang="en-US" sz="1100" dirty="0"/>
          </a:p>
        </p:txBody>
      </p:sp>
      <p:sp>
        <p:nvSpPr>
          <p:cNvPr id="34" name="Text 31"/>
          <p:cNvSpPr txBox="1"/>
          <p:nvPr/>
        </p:nvSpPr>
        <p:spPr>
          <a:xfrm>
            <a:off x="566928" y="3840480"/>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analysis</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4754880" y="4626864"/>
            <a:ext cx="6885432" cy="731520"/>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وَخِتَامًا، سَوْفَ</a:t>
            </a:r>
            <a:pPr rtl="1" algn="ctr" indent="0" marL="0">
              <a:buNone/>
            </a:pPr>
            <a:r>
              <a:rPr lang="ar-SA" altLang="en-US" sz="1900" b="1" dirty="0">
                <a:solidFill>
                  <a:srgbClr val="1B3B6F"/>
                </a:solidFill>
                <a:latin typeface="Amiri" pitchFamily="2" charset="-78"/>
                <a:ea typeface="Amiri" pitchFamily="2" charset="-78"/>
                <a:cs typeface="Amiri" pitchFamily="2" charset="-78"/>
              </a:rPr>
              <a:t> أَسْعَى إِلَى خِدْمَةِ مُجْتَمَعِي.</a:t>
            </a:r>
            <a:endParaRPr lang="ar-SA" sz="1900" dirty="0"/>
          </a:p>
        </p:txBody>
      </p:sp>
      <p:sp>
        <p:nvSpPr>
          <p:cNvPr id="39" name="Text 36"/>
          <p:cNvSpPr txBox="1"/>
          <p:nvPr/>
        </p:nvSpPr>
        <p:spPr>
          <a:xfrm>
            <a:off x="2304288" y="4626864"/>
            <a:ext cx="2286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 connector</a:t>
            </a:r>
            <a:endParaRPr lang="en-US" sz="1100" dirty="0"/>
          </a:p>
        </p:txBody>
      </p:sp>
      <p:sp>
        <p:nvSpPr>
          <p:cNvPr id="40" name="Text 37"/>
          <p:cNvSpPr txBox="1"/>
          <p:nvPr/>
        </p:nvSpPr>
        <p:spPr>
          <a:xfrm>
            <a:off x="566928" y="4626864"/>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conclusion</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“The plan is what turns five structures into a coherent article.”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LIFT THE REGISTER WITH CONNECTORS (WEBSITE RULE 4 + VOCABULARY)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Replace the bare wa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الرَّوَابِطُ الرَّسْمِيَّةُ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9311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40050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Formal</a:t>
            </a:r>
            <a:endParaRPr lang="en-US" sz="1100" dirty="0"/>
          </a:p>
        </p:txBody>
      </p:sp>
      <p:sp>
        <p:nvSpPr>
          <p:cNvPr id="18" name="Text 15"/>
          <p:cNvSpPr txBox="1"/>
          <p:nvPr/>
        </p:nvSpPr>
        <p:spPr>
          <a:xfrm>
            <a:off x="217627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Plain</a:t>
            </a:r>
            <a:endParaRPr lang="en-US" sz="1100" dirty="0"/>
          </a:p>
        </p:txBody>
      </p:sp>
      <p:sp>
        <p:nvSpPr>
          <p:cNvPr id="19" name="Text 16"/>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6949440" y="2267712"/>
            <a:ext cx="469087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عِلَاوَةً عَلَى ذٰلِكَ، أَطْمَحُ إِلَى البَحْثِ العِلْمِيِّ.</a:t>
            </a:r>
            <a:endParaRPr lang="ar-SA" sz="1800" dirty="0"/>
          </a:p>
        </p:txBody>
      </p:sp>
      <p:sp>
        <p:nvSpPr>
          <p:cNvPr id="22" name="Text 19"/>
          <p:cNvSpPr txBox="1"/>
          <p:nvPr/>
        </p:nvSpPr>
        <p:spPr>
          <a:xfrm>
            <a:off x="4023360" y="2267712"/>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عِلَاوَةً عَلَى ذٰلِكَ</a:t>
            </a:r>
            <a:endParaRPr lang="ar-SA" sz="2100" dirty="0"/>
          </a:p>
        </p:txBody>
      </p:sp>
      <p:sp>
        <p:nvSpPr>
          <p:cNvPr id="23" name="Text 20"/>
          <p:cNvSpPr txBox="1"/>
          <p:nvPr/>
        </p:nvSpPr>
        <p:spPr>
          <a:xfrm>
            <a:off x="2194560" y="2267712"/>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 · أَيْضًا</a:t>
            </a:r>
            <a:endParaRPr lang="ar-SA" sz="2200" dirty="0"/>
          </a:p>
        </p:txBody>
      </p:sp>
      <p:sp>
        <p:nvSpPr>
          <p:cNvPr id="24" name="Text 21"/>
          <p:cNvSpPr txBox="1"/>
          <p:nvPr/>
        </p:nvSpPr>
        <p:spPr>
          <a:xfrm>
            <a:off x="566928" y="2267712"/>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addition</a:t>
            </a:r>
            <a:endParaRPr lang="en-US" sz="110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949440" y="2881884"/>
            <a:ext cx="469087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ذٰلِكَ، لَوْ بَدَأْتُ مُبَكِّرًا، لَكُنْتُ أَفْضَلَ.</a:t>
            </a:r>
            <a:endParaRPr lang="ar-SA" sz="1800" dirty="0"/>
          </a:p>
        </p:txBody>
      </p:sp>
      <p:sp>
        <p:nvSpPr>
          <p:cNvPr id="27" name="Text 24"/>
          <p:cNvSpPr txBox="1"/>
          <p:nvPr/>
        </p:nvSpPr>
        <p:spPr>
          <a:xfrm>
            <a:off x="4023360" y="2881884"/>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عَلَى الرَّغْمِ مِنْ ذٰلِكَ</a:t>
            </a:r>
            <a:endParaRPr lang="ar-SA" sz="2100" dirty="0"/>
          </a:p>
        </p:txBody>
      </p:sp>
      <p:sp>
        <p:nvSpPr>
          <p:cNvPr id="28" name="Text 25"/>
          <p:cNvSpPr txBox="1"/>
          <p:nvPr/>
        </p:nvSpPr>
        <p:spPr>
          <a:xfrm>
            <a:off x="2194560" y="2881884"/>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لٰكِنْ</a:t>
            </a:r>
            <a:endParaRPr lang="ar-SA" sz="2200" dirty="0"/>
          </a:p>
        </p:txBody>
      </p:sp>
      <p:sp>
        <p:nvSpPr>
          <p:cNvPr id="29" name="Text 26"/>
          <p:cNvSpPr txBox="1"/>
          <p:nvPr/>
        </p:nvSpPr>
        <p:spPr>
          <a:xfrm>
            <a:off x="566928" y="2881884"/>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a:t>
            </a:r>
            <a:endParaRPr lang="en-US" sz="1100" dirty="0"/>
          </a:p>
        </p:txBody>
      </p:sp>
      <p:sp>
        <p:nvSpPr>
          <p:cNvPr id="30" name="Shape 27"/>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1" name="Text 28"/>
          <p:cNvSpPr txBox="1"/>
          <p:nvPr/>
        </p:nvSpPr>
        <p:spPr>
          <a:xfrm>
            <a:off x="6949440" y="3496056"/>
            <a:ext cx="469087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جِهَةٍ أُخْرَى، تَبْقَى المُنَافَسَةُ شَدِيدَةً.</a:t>
            </a:r>
            <a:endParaRPr lang="ar-SA" sz="1800" dirty="0"/>
          </a:p>
        </p:txBody>
      </p:sp>
      <p:sp>
        <p:nvSpPr>
          <p:cNvPr id="32" name="Text 29"/>
          <p:cNvSpPr txBox="1"/>
          <p:nvPr/>
        </p:nvSpPr>
        <p:spPr>
          <a:xfrm>
            <a:off x="4023360" y="3496056"/>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مِنْ جِهَةٍ أُخْرَى</a:t>
            </a:r>
            <a:endParaRPr lang="ar-SA" sz="2100" dirty="0"/>
          </a:p>
        </p:txBody>
      </p:sp>
      <p:sp>
        <p:nvSpPr>
          <p:cNvPr id="33" name="Text 30"/>
          <p:cNvSpPr txBox="1"/>
          <p:nvPr/>
        </p:nvSpPr>
        <p:spPr>
          <a:xfrm>
            <a:off x="2194560" y="3496056"/>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لٰكِنْ</a:t>
            </a:r>
            <a:endParaRPr lang="ar-SA" sz="2200" dirty="0"/>
          </a:p>
        </p:txBody>
      </p:sp>
      <p:sp>
        <p:nvSpPr>
          <p:cNvPr id="34" name="Text 31"/>
          <p:cNvSpPr txBox="1"/>
          <p:nvPr/>
        </p:nvSpPr>
        <p:spPr>
          <a:xfrm>
            <a:off x="566928" y="3496056"/>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other side</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6949440" y="4110228"/>
            <a:ext cx="469087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سَأَنْجَحُ شَرِيطَةَ أَنْ </a:t>
            </a:r>
            <a:pPr rtl="1" algn="ctr" indent="0" marL="0">
              <a:buNone/>
            </a:pPr>
            <a:r>
              <a:rPr lang="ar-SA" altLang="en-US" sz="1800" b="1" dirty="0">
                <a:solidFill>
                  <a:srgbClr val="0E7C86"/>
                </a:solidFill>
                <a:latin typeface="Amiri" pitchFamily="2" charset="-78"/>
                <a:ea typeface="Amiri" pitchFamily="2" charset="-78"/>
                <a:cs typeface="Amiri" pitchFamily="2" charset="-78"/>
              </a:rPr>
              <a:t>أَجْتَهِدَ</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37" name="Text 34"/>
          <p:cNvSpPr txBox="1"/>
          <p:nvPr/>
        </p:nvSpPr>
        <p:spPr>
          <a:xfrm>
            <a:off x="4023360" y="4110228"/>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شَرِيطَةَ أَنْ</a:t>
            </a:r>
            <a:endParaRPr lang="ar-SA" sz="2100" dirty="0"/>
          </a:p>
        </p:txBody>
      </p:sp>
      <p:sp>
        <p:nvSpPr>
          <p:cNvPr id="38" name="Text 35"/>
          <p:cNvSpPr txBox="1"/>
          <p:nvPr/>
        </p:nvSpPr>
        <p:spPr>
          <a:xfrm>
            <a:off x="2194560" y="4110228"/>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إِذَا</a:t>
            </a:r>
            <a:endParaRPr lang="ar-SA" sz="2200" dirty="0"/>
          </a:p>
        </p:txBody>
      </p:sp>
      <p:sp>
        <p:nvSpPr>
          <p:cNvPr id="39" name="Text 36"/>
          <p:cNvSpPr txBox="1"/>
          <p:nvPr/>
        </p:nvSpPr>
        <p:spPr>
          <a:xfrm>
            <a:off x="566928" y="4110228"/>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t>
            </a:r>
            <a:endParaRPr lang="en-US" sz="1100" dirty="0"/>
          </a:p>
        </p:txBody>
      </p:sp>
      <p:sp>
        <p:nvSpPr>
          <p:cNvPr id="40" name="Shape 37"/>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1" name="Text 38"/>
          <p:cNvSpPr txBox="1"/>
          <p:nvPr/>
        </p:nvSpPr>
        <p:spPr>
          <a:xfrm>
            <a:off x="6949440" y="4724400"/>
            <a:ext cx="469087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نَتِيجَةً لِذٰلِكَ، قُبِلْتُ فِي بَرْنَامَجٍ بَحْثِيٍّ.</a:t>
            </a:r>
            <a:endParaRPr lang="ar-SA" sz="1800" dirty="0"/>
          </a:p>
        </p:txBody>
      </p:sp>
      <p:sp>
        <p:nvSpPr>
          <p:cNvPr id="42" name="Text 39"/>
          <p:cNvSpPr txBox="1"/>
          <p:nvPr/>
        </p:nvSpPr>
        <p:spPr>
          <a:xfrm>
            <a:off x="4023360" y="4724400"/>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7B3FA0"/>
                </a:solidFill>
                <a:latin typeface="Amiri" pitchFamily="2" charset="-78"/>
                <a:ea typeface="Amiri" pitchFamily="2" charset="-78"/>
                <a:cs typeface="Amiri" pitchFamily="2" charset="-78"/>
              </a:rPr>
              <a:t>نَتِيجَةً لِذٰلِكَ</a:t>
            </a:r>
            <a:endParaRPr lang="ar-SA" sz="2100" dirty="0"/>
          </a:p>
        </p:txBody>
      </p:sp>
      <p:sp>
        <p:nvSpPr>
          <p:cNvPr id="43" name="Text 40"/>
          <p:cNvSpPr txBox="1"/>
          <p:nvPr/>
        </p:nvSpPr>
        <p:spPr>
          <a:xfrm>
            <a:off x="2194560" y="4724400"/>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لِذٰلِكَ</a:t>
            </a:r>
            <a:endParaRPr lang="ar-SA" sz="2200" dirty="0"/>
          </a:p>
        </p:txBody>
      </p:sp>
      <p:sp>
        <p:nvSpPr>
          <p:cNvPr id="44" name="Text 41"/>
          <p:cNvSpPr txBox="1"/>
          <p:nvPr/>
        </p:nvSpPr>
        <p:spPr>
          <a:xfrm>
            <a:off x="566928" y="4724400"/>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result</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6949440" y="5338572"/>
            <a:ext cx="469087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بِنَاءً عَلَى مَا سَبَقَ، التَّعْلِيمُ اسْتِثْمَارٌ فِي المُسْتَقْبَلِ.</a:t>
            </a:r>
            <a:endParaRPr lang="ar-SA" sz="1800" dirty="0"/>
          </a:p>
        </p:txBody>
      </p:sp>
      <p:sp>
        <p:nvSpPr>
          <p:cNvPr id="47" name="Text 44"/>
          <p:cNvSpPr txBox="1"/>
          <p:nvPr/>
        </p:nvSpPr>
        <p:spPr>
          <a:xfrm>
            <a:off x="4023360" y="5338572"/>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7B3FA0"/>
                </a:solidFill>
                <a:latin typeface="Amiri" pitchFamily="2" charset="-78"/>
                <a:ea typeface="Amiri" pitchFamily="2" charset="-78"/>
                <a:cs typeface="Amiri" pitchFamily="2" charset="-78"/>
              </a:rPr>
              <a:t>بِنَاءً عَلَى مَا سَبَقَ</a:t>
            </a:r>
            <a:endParaRPr lang="ar-SA" sz="2100" dirty="0"/>
          </a:p>
        </p:txBody>
      </p:sp>
      <p:sp>
        <p:nvSpPr>
          <p:cNvPr id="48" name="Text 45"/>
          <p:cNvSpPr txBox="1"/>
          <p:nvPr/>
        </p:nvSpPr>
        <p:spPr>
          <a:xfrm>
            <a:off x="2194560" y="5338572"/>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النِّهَايَةِ</a:t>
            </a:r>
            <a:endParaRPr lang="ar-SA" sz="2200" dirty="0"/>
          </a:p>
        </p:txBody>
      </p:sp>
      <p:sp>
        <p:nvSpPr>
          <p:cNvPr id="49" name="Text 46"/>
          <p:cNvSpPr txBox="1"/>
          <p:nvPr/>
        </p:nvSpPr>
        <p:spPr>
          <a:xfrm>
            <a:off x="566928" y="5338572"/>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conclusion</a:t>
            </a:r>
            <a:endParaRPr lang="en-US" sz="11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sharīṭata an + subjunctive (-a): sharīṭata an ajtahida. Rule of thumb: at least TWO formal connectors in 140 words.</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ONE IDHĀ AND ONE LAW (WEBSITE RULE 3 + COMMON ERROR)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The possible and the hypothetical, side by side</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وَلَوْ مَعًا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REAL · CORE</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قُبِلْتُ فِي كُلِّيَّةِ الطِّبِّ، سَأُكَرِّسُ جُهْدِي لِلْبَحْثِ.</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I am accepted into medical school, I will devote myself to research.</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Still possible.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2181758"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2181758"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HYPOTHETICAL · DEVELOP</a:t>
            </a:r>
            <a:endParaRPr lang="en-US" sz="850" dirty="0"/>
          </a:p>
        </p:txBody>
      </p:sp>
      <p:sp>
        <p:nvSpPr>
          <p:cNvPr id="26" name="Text 23"/>
          <p:cNvSpPr txBox="1"/>
          <p:nvPr/>
        </p:nvSpPr>
        <p:spPr>
          <a:xfrm>
            <a:off x="6640982" y="1874520"/>
            <a:ext cx="1134466"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تَوَافَرَتِ المَوَارِدُ، لَتَفَوَّقْتُ أَكْثَرَ.</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the resources been available, I would have excelled more.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It did not happen.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2181758"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2181758"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PAST PERFECT · STRETCH</a:t>
            </a:r>
            <a:endParaRPr lang="en-US" sz="850" dirty="0"/>
          </a:p>
        </p:txBody>
      </p:sp>
      <p:sp>
        <p:nvSpPr>
          <p:cNvPr id="34" name="Text 31"/>
          <p:cNvSpPr txBox="1"/>
          <p:nvPr/>
        </p:nvSpPr>
        <p:spPr>
          <a:xfrm>
            <a:off x="2821838" y="1874520"/>
            <a:ext cx="1134466"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لَكُنْتُ قَدْ</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تَوَافَرَتْ لِي مَوَارِدُ أَفْضَلُ مُبَكِّرًا، لَكُنْتُ قَدْ تَقَدَّمْتُ أَكْثَرَ.</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better resources had been available early, I would have progressed further.</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2 structures.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kāna must agree with “I” — kuntu.</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كُنْتُ قَدْ قَرَّرْتُ تَخَصُّصِي</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كَانَ قَدْ قَرَّرْتُ تَخَصُّصِي</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ONE SENTENCE, THREE STRUCTURES (WEBSITE TEACHING POINT 1 + CHALLENGE)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triple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جُمْلَةٌ وَاحِدَةٌ، ثَلَاثُ بُنًى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82912" y="1810512"/>
            <a:ext cx="2075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Structures</a:t>
            </a:r>
            <a:endParaRPr lang="en-US" sz="1100" dirty="0"/>
          </a:p>
        </p:txBody>
      </p:sp>
      <p:sp>
        <p:nvSpPr>
          <p:cNvPr id="17" name="Text 14"/>
          <p:cNvSpPr txBox="1"/>
          <p:nvPr/>
        </p:nvSpPr>
        <p:spPr>
          <a:xfrm>
            <a:off x="1993392" y="1810512"/>
            <a:ext cx="7443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8" name="Text 15"/>
          <p:cNvSpPr txBox="1"/>
          <p:nvPr/>
        </p:nvSpPr>
        <p:spPr>
          <a:xfrm>
            <a:off x="5303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619488" y="2267712"/>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1" name="Text 18"/>
          <p:cNvSpPr txBox="1"/>
          <p:nvPr/>
        </p:nvSpPr>
        <p:spPr>
          <a:xfrm>
            <a:off x="2011680" y="2267712"/>
            <a:ext cx="740664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كَانَ</a:t>
            </a:r>
            <a:pPr rtl="1" algn="ctr" indent="0" marL="0">
              <a:buNone/>
            </a:pPr>
            <a:r>
              <a:rPr lang="ar-SA" altLang="en-US" sz="1800" b="1" dirty="0">
                <a:solidFill>
                  <a:srgbClr val="1B3B6F"/>
                </a:solidFill>
                <a:latin typeface="Amiri" pitchFamily="2" charset="-78"/>
                <a:ea typeface="Amiri" pitchFamily="2" charset="-78"/>
                <a:cs typeface="Amiri" pitchFamily="2" charset="-78"/>
              </a:rPr>
              <a:t> مُرْشِدِي </a:t>
            </a:r>
            <a:pPr rtl="1" algn="ctr" indent="0" marL="0">
              <a:buNone/>
            </a:pPr>
            <a:r>
              <a:rPr lang="ar-SA" altLang="en-US" sz="1800" b="1" dirty="0">
                <a:solidFill>
                  <a:srgbClr val="D6336C"/>
                </a:solidFill>
                <a:latin typeface="Amiri" pitchFamily="2" charset="-78"/>
                <a:ea typeface="Amiri" pitchFamily="2" charset="-78"/>
                <a:cs typeface="Amiri" pitchFamily="2" charset="-78"/>
              </a:rPr>
              <a:t>قَدْ نَصَحَنِي</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22" name="Text 19"/>
          <p:cNvSpPr txBox="1"/>
          <p:nvPr/>
        </p:nvSpPr>
        <p:spPr>
          <a:xfrm>
            <a:off x="566928" y="2267712"/>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619488" y="3054096"/>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reported + future</a:t>
            </a:r>
            <a:endParaRPr lang="en-US" sz="1100" dirty="0"/>
          </a:p>
        </p:txBody>
      </p:sp>
      <p:sp>
        <p:nvSpPr>
          <p:cNvPr id="27" name="Text 24"/>
          <p:cNvSpPr txBox="1"/>
          <p:nvPr/>
        </p:nvSpPr>
        <p:spPr>
          <a:xfrm>
            <a:off x="2011680" y="3054096"/>
            <a:ext cx="740664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كَانَ</a:t>
            </a:r>
            <a:pPr rtl="1" algn="ctr" indent="0" marL="0">
              <a:buNone/>
            </a:pPr>
            <a:r>
              <a:rPr lang="ar-SA" altLang="en-US" sz="1800" b="1" dirty="0">
                <a:solidFill>
                  <a:srgbClr val="1B3B6F"/>
                </a:solidFill>
                <a:latin typeface="Amiri" pitchFamily="2" charset="-78"/>
                <a:ea typeface="Amiri" pitchFamily="2" charset="-78"/>
                <a:cs typeface="Amiri" pitchFamily="2" charset="-78"/>
              </a:rPr>
              <a:t> مُرْشِدِي </a:t>
            </a:r>
            <a:pPr rtl="1" algn="ctr" indent="0" marL="0">
              <a:buNone/>
            </a:pPr>
            <a:r>
              <a:rPr lang="ar-SA" altLang="en-US" sz="1800" b="1" dirty="0">
                <a:solidFill>
                  <a:srgbClr val="D6336C"/>
                </a:solidFill>
                <a:latin typeface="Amiri" pitchFamily="2" charset="-78"/>
                <a:ea typeface="Amiri" pitchFamily="2" charset="-78"/>
                <a:cs typeface="Amiri" pitchFamily="2" charset="-78"/>
              </a:rPr>
              <a:t>قَدْ</a:t>
            </a:r>
            <a:pPr rtl="1" algn="ctr" indent="0" marL="0">
              <a:buNone/>
            </a:pPr>
            <a:r>
              <a:rPr lang="ar-SA" altLang="en-US" sz="1800" b="1" dirty="0">
                <a:solidFill>
                  <a:srgbClr val="1B3B6F"/>
                </a:solidFill>
                <a:latin typeface="Amiri" pitchFamily="2" charset="-78"/>
                <a:cs typeface="Amiri" pitchFamily="2" charset="-78"/>
              </a:rPr>
              <a:t> </a:t>
            </a:r>
            <a:pPr rtl="1" algn="ctr" indent="0" marL="0">
              <a:buNone/>
            </a:pPr>
            <a:r>
              <a:rPr lang="ar-SA" altLang="en-US" sz="1800" b="1" dirty="0">
                <a:solidFill>
                  <a:srgbClr val="7B3FA0"/>
                </a:solidFill>
                <a:latin typeface="Amiri" pitchFamily="2" charset="-78"/>
                <a:ea typeface="Amiri" pitchFamily="2" charset="-78"/>
                <a:cs typeface="Amiri" pitchFamily="2" charset="-78"/>
              </a:rPr>
              <a:t>أَشَارَ إِلَى أَنَّنِي</a:t>
            </a:r>
            <a:pPr rtl="1" algn="ctr" indent="0" marL="0">
              <a:buNone/>
            </a:pPr>
            <a:r>
              <a:rPr lang="ar-SA" altLang="en-US" sz="1800" b="1" dirty="0">
                <a:solidFill>
                  <a:srgbClr val="1B3B6F"/>
                </a:solidFill>
                <a:latin typeface="Amiri" pitchFamily="2" charset="-78"/>
                <a:cs typeface="Amiri" pitchFamily="2" charset="-78"/>
              </a:rPr>
              <a:t> </a:t>
            </a:r>
            <a:pPr rtl="1" algn="ctr" indent="0" marL="0">
              <a:buNone/>
            </a:pPr>
            <a:r>
              <a:rPr lang="ar-SA" altLang="en-US" sz="1800" b="1" dirty="0">
                <a:solidFill>
                  <a:srgbClr val="1D5FBF"/>
                </a:solidFill>
                <a:latin typeface="Amiri" pitchFamily="2" charset="-78"/>
                <a:ea typeface="Amiri" pitchFamily="2" charset="-78"/>
                <a:cs typeface="Amiri" pitchFamily="2" charset="-78"/>
              </a:rPr>
              <a:t>سَأَنْجَحُ</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28" name="Text 25"/>
          <p:cNvSpPr txBox="1"/>
          <p:nvPr/>
        </p:nvSpPr>
        <p:spPr>
          <a:xfrm>
            <a:off x="566928" y="3054096"/>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619488" y="3840480"/>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Type 2 = 4</a:t>
            </a:r>
            <a:endParaRPr lang="en-US" sz="1100" dirty="0"/>
          </a:p>
        </p:txBody>
      </p:sp>
      <p:sp>
        <p:nvSpPr>
          <p:cNvPr id="33" name="Text 30"/>
          <p:cNvSpPr txBox="1"/>
          <p:nvPr/>
        </p:nvSpPr>
        <p:spPr>
          <a:xfrm>
            <a:off x="2011680" y="3840480"/>
            <a:ext cx="740664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كَانَ</a:t>
            </a:r>
            <a:pPr rtl="1" algn="ctr" indent="0" marL="0">
              <a:buNone/>
            </a:pPr>
            <a:r>
              <a:rPr lang="ar-SA" altLang="en-US" sz="1800" b="1" dirty="0">
                <a:solidFill>
                  <a:srgbClr val="1B3B6F"/>
                </a:solidFill>
                <a:latin typeface="Amiri" pitchFamily="2" charset="-78"/>
                <a:ea typeface="Amiri" pitchFamily="2" charset="-78"/>
                <a:cs typeface="Amiri" pitchFamily="2" charset="-78"/>
              </a:rPr>
              <a:t> مُرْشِدِي </a:t>
            </a:r>
            <a:pPr rtl="1" algn="ctr" indent="0" marL="0">
              <a:buNone/>
            </a:pPr>
            <a:r>
              <a:rPr lang="ar-SA" altLang="en-US" sz="1800" b="1" dirty="0">
                <a:solidFill>
                  <a:srgbClr val="D6336C"/>
                </a:solidFill>
                <a:latin typeface="Amiri" pitchFamily="2" charset="-78"/>
                <a:ea typeface="Amiri" pitchFamily="2" charset="-78"/>
                <a:cs typeface="Amiri" pitchFamily="2" charset="-78"/>
              </a:rPr>
              <a:t>قَدْ</a:t>
            </a:r>
            <a:pPr rtl="1" algn="ctr" indent="0" marL="0">
              <a:buNone/>
            </a:pPr>
            <a:r>
              <a:rPr lang="ar-SA" altLang="en-US" sz="1800" b="1" dirty="0">
                <a:solidFill>
                  <a:srgbClr val="1B3B6F"/>
                </a:solidFill>
                <a:latin typeface="Amiri" pitchFamily="2" charset="-78"/>
                <a:cs typeface="Amiri" pitchFamily="2" charset="-78"/>
              </a:rPr>
              <a:t> </a:t>
            </a:r>
            <a:pPr rtl="1" algn="ctr" indent="0" marL="0">
              <a:buNone/>
            </a:pPr>
            <a:r>
              <a:rPr lang="ar-SA" altLang="en-US" sz="1800" b="1" dirty="0">
                <a:solidFill>
                  <a:srgbClr val="7B3FA0"/>
                </a:solidFill>
                <a:latin typeface="Amiri" pitchFamily="2" charset="-78"/>
                <a:ea typeface="Amiri" pitchFamily="2" charset="-78"/>
                <a:cs typeface="Amiri" pitchFamily="2" charset="-78"/>
              </a:rPr>
              <a:t>أَشَارَ إِلَى أَنَّنِي</a:t>
            </a:r>
            <a:pPr rtl="1" algn="ctr" indent="0" marL="0">
              <a:buNone/>
            </a:pPr>
            <a:r>
              <a:rPr lang="ar-SA" altLang="en-US" sz="1800" b="1" dirty="0">
                <a:solidFill>
                  <a:srgbClr val="1B3B6F"/>
                </a:solidFill>
                <a:latin typeface="Amiri" pitchFamily="2" charset="-78"/>
                <a:cs typeface="Amiri" pitchFamily="2" charset="-78"/>
              </a:rPr>
              <a:t> </a:t>
            </a:r>
            <a:pPr rtl="1" algn="ctr" indent="0" marL="0">
              <a:buNone/>
            </a:pPr>
            <a:r>
              <a:rPr lang="ar-SA" altLang="en-US" sz="1800" b="1" dirty="0">
                <a:solidFill>
                  <a:srgbClr val="1D5FBF"/>
                </a:solidFill>
                <a:latin typeface="Amiri" pitchFamily="2" charset="-78"/>
                <a:ea typeface="Amiri" pitchFamily="2" charset="-78"/>
                <a:cs typeface="Amiri" pitchFamily="2" charset="-78"/>
              </a:rPr>
              <a:t>سَأَنْجَحُ</a:t>
            </a:r>
            <a:pPr rtl="1" algn="ctr" indent="0" marL="0">
              <a:buNone/>
            </a:pPr>
            <a:r>
              <a:rPr lang="ar-SA" altLang="en-US" sz="1800" b="1" dirty="0">
                <a:solidFill>
                  <a:srgbClr val="1B3B6F"/>
                </a:solidFill>
                <a:latin typeface="Amiri" pitchFamily="2" charset="-78"/>
                <a:ea typeface="Amiri" pitchFamily="2" charset="-78"/>
                <a:cs typeface="Amiri" pitchFamily="2" charset="-78"/>
              </a:rPr>
              <a:t>، </a:t>
            </a:r>
            <a:pPr rtl="1" algn="ctr" indent="0" marL="0">
              <a:buNone/>
            </a:pPr>
            <a:r>
              <a:rPr lang="ar-SA" altLang="en-US" sz="1800" b="1" dirty="0">
                <a:solidFill>
                  <a:srgbClr val="C77700"/>
                </a:solidFill>
                <a:latin typeface="Amiri" pitchFamily="2" charset="-78"/>
                <a:ea typeface="Amiri" pitchFamily="2" charset="-78"/>
                <a:cs typeface="Amiri" pitchFamily="2" charset="-78"/>
              </a:rPr>
              <a:t>وَلَوْ تَوَافَرَتِ</a:t>
            </a:r>
            <a:pPr rtl="1" algn="ctr" indent="0" marL="0">
              <a:buNone/>
            </a:pPr>
            <a:r>
              <a:rPr lang="ar-SA" altLang="en-US" sz="1800" b="1" dirty="0">
                <a:solidFill>
                  <a:srgbClr val="1B3B6F"/>
                </a:solidFill>
                <a:latin typeface="Amiri" pitchFamily="2" charset="-78"/>
                <a:ea typeface="Amiri" pitchFamily="2" charset="-78"/>
                <a:cs typeface="Amiri" pitchFamily="2" charset="-78"/>
              </a:rPr>
              <a:t> المَوَارِدُ، </a:t>
            </a:r>
            <a:pPr rtl="1" algn="ctr" indent="0" marL="0">
              <a:buNone/>
            </a:pPr>
            <a:r>
              <a:rPr lang="ar-SA" altLang="en-US" sz="1800" b="1" dirty="0">
                <a:solidFill>
                  <a:srgbClr val="C77700"/>
                </a:solidFill>
                <a:latin typeface="Amiri" pitchFamily="2" charset="-78"/>
                <a:ea typeface="Amiri" pitchFamily="2" charset="-78"/>
                <a:cs typeface="Amiri" pitchFamily="2" charset="-78"/>
              </a:rPr>
              <a:t>لَتَفَوَّقْتُ</a:t>
            </a:r>
            <a:pPr rtl="1" algn="ctr" indent="0" marL="0">
              <a:buNone/>
            </a:pPr>
            <a:r>
              <a:rPr lang="ar-SA" altLang="en-US" sz="1800" b="1" dirty="0">
                <a:solidFill>
                  <a:srgbClr val="1B3B6F"/>
                </a:solidFill>
                <a:latin typeface="Amiri" pitchFamily="2" charset="-78"/>
                <a:ea typeface="Amiri" pitchFamily="2" charset="-78"/>
                <a:cs typeface="Amiri" pitchFamily="2" charset="-78"/>
              </a:rPr>
              <a:t> أَكْثَرَ.</a:t>
            </a:r>
            <a:endParaRPr lang="ar-SA" sz="1800" dirty="0"/>
          </a:p>
        </p:txBody>
      </p:sp>
      <p:sp>
        <p:nvSpPr>
          <p:cNvPr id="34" name="Text 31"/>
          <p:cNvSpPr txBox="1"/>
          <p:nvPr/>
        </p:nvSpPr>
        <p:spPr>
          <a:xfrm>
            <a:off x="566928" y="3840480"/>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9619488" y="4626864"/>
            <a:ext cx="2039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connector + reported + Type 1</a:t>
            </a:r>
            <a:endParaRPr lang="en-US" sz="1100" dirty="0"/>
          </a:p>
        </p:txBody>
      </p:sp>
      <p:sp>
        <p:nvSpPr>
          <p:cNvPr id="37" name="Text 34"/>
          <p:cNvSpPr txBox="1"/>
          <p:nvPr/>
        </p:nvSpPr>
        <p:spPr>
          <a:xfrm>
            <a:off x="2011680" y="4626864"/>
            <a:ext cx="7406640" cy="731520"/>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عِلَاوَةً عَلَى ذٰلِكَ</a:t>
            </a:r>
            <a:pPr rtl="1" algn="ctr" indent="0" marL="0">
              <a:buNone/>
            </a:pPr>
            <a:r>
              <a:rPr lang="ar-SA" altLang="en-US" sz="1800" b="1" dirty="0">
                <a:solidFill>
                  <a:srgbClr val="1B3B6F"/>
                </a:solidFill>
                <a:latin typeface="Amiri" pitchFamily="2" charset="-78"/>
                <a:ea typeface="Amiri" pitchFamily="2" charset="-78"/>
                <a:cs typeface="Amiri" pitchFamily="2" charset="-78"/>
              </a:rPr>
              <a:t>، </a:t>
            </a:r>
            <a:pPr rtl="1" algn="ctr" indent="0" marL="0">
              <a:buNone/>
            </a:pPr>
            <a:r>
              <a:rPr lang="ar-SA" altLang="en-US" sz="1800" b="1" dirty="0">
                <a:solidFill>
                  <a:srgbClr val="7B3FA0"/>
                </a:solidFill>
                <a:latin typeface="Amiri" pitchFamily="2" charset="-78"/>
                <a:ea typeface="Amiri" pitchFamily="2" charset="-78"/>
                <a:cs typeface="Amiri" pitchFamily="2" charset="-78"/>
              </a:rPr>
              <a:t>أَكَّدَ أَنَّ</a:t>
            </a:r>
            <a:pPr rtl="1" algn="ctr" indent="0" marL="0">
              <a:buNone/>
            </a:pPr>
            <a:r>
              <a:rPr lang="ar-SA" altLang="en-US" sz="1800" b="1" dirty="0">
                <a:solidFill>
                  <a:srgbClr val="1B3B6F"/>
                </a:solidFill>
                <a:latin typeface="Amiri" pitchFamily="2" charset="-78"/>
                <a:ea typeface="Amiri" pitchFamily="2" charset="-78"/>
                <a:cs typeface="Amiri" pitchFamily="2" charset="-78"/>
              </a:rPr>
              <a:t> اجْتِهَادِي </a:t>
            </a:r>
            <a:pPr rtl="1" algn="ctr" indent="0" marL="0">
              <a:buNone/>
            </a:pPr>
            <a:r>
              <a:rPr lang="ar-SA" altLang="en-US" sz="1800" b="1" dirty="0">
                <a:solidFill>
                  <a:srgbClr val="1D5FBF"/>
                </a:solidFill>
                <a:latin typeface="Amiri" pitchFamily="2" charset="-78"/>
                <a:ea typeface="Amiri" pitchFamily="2" charset="-78"/>
                <a:cs typeface="Amiri" pitchFamily="2" charset="-78"/>
              </a:rPr>
              <a:t>سَيُثْمِرُ</a:t>
            </a:r>
            <a:pPr rtl="1" algn="ctr" indent="0" marL="0">
              <a:buNone/>
            </a:pPr>
            <a:r>
              <a:rPr lang="ar-SA" altLang="en-US" sz="1800" b="1" dirty="0">
                <a:solidFill>
                  <a:srgbClr val="1B3B6F"/>
                </a:solidFill>
                <a:latin typeface="Amiri" pitchFamily="2" charset="-78"/>
                <a:cs typeface="Amiri" pitchFamily="2" charset="-78"/>
              </a:rPr>
              <a:t> </a:t>
            </a:r>
            <a:pPr rtl="1" algn="ctr" indent="0" marL="0">
              <a:buNone/>
            </a:pPr>
            <a:r>
              <a:rPr lang="ar-SA" altLang="en-US" sz="1800" b="1" dirty="0">
                <a:solidFill>
                  <a:srgbClr val="0E7C86"/>
                </a:solidFill>
                <a:latin typeface="Amiri" pitchFamily="2" charset="-78"/>
                <a:ea typeface="Amiri" pitchFamily="2" charset="-78"/>
                <a:cs typeface="Amiri" pitchFamily="2" charset="-78"/>
              </a:rPr>
              <a:t>إِذَا</a:t>
            </a:r>
            <a:pPr rtl="1" algn="ctr" indent="0" marL="0">
              <a:buNone/>
            </a:pPr>
            <a:r>
              <a:rPr lang="ar-SA" altLang="en-US" sz="1800" b="1" dirty="0">
                <a:solidFill>
                  <a:srgbClr val="1B3B6F"/>
                </a:solidFill>
                <a:latin typeface="Amiri" pitchFamily="2" charset="-78"/>
                <a:ea typeface="Amiri" pitchFamily="2" charset="-78"/>
                <a:cs typeface="Amiri" pitchFamily="2" charset="-78"/>
              </a:rPr>
              <a:t> وَاصَلْتُ.</a:t>
            </a:r>
            <a:endParaRPr lang="ar-SA" sz="1800" dirty="0"/>
          </a:p>
        </p:txBody>
      </p:sp>
      <p:sp>
        <p:nvSpPr>
          <p:cNvPr id="38" name="Text 35"/>
          <p:cNvSpPr txBox="1"/>
          <p:nvPr/>
        </p:nvSpPr>
        <p:spPr>
          <a:xfrm>
            <a:off x="566928" y="4626864"/>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“That density of range is what a top Paper 4 answer looks like.” One such sentence per article is enough.</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Assembling the full P2 range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تَرْكِيبُ النِّطَاقِ الكَامِلِ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Background: past perfect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kuntu qad + past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كُنْتُ قَدْ قَرَّرْتُ تَخَصُّصِي قَبْلَ الثَّانَوِيَّةِ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Reality: reported speech</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qāla inna · ashāra ilā anna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أَشَارَ أُسْتَاذِي إِلَى أَنَّنِي مُجْتَهِدٌ</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Analysis: both conditionals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law … la-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قُبِلْتُ، سَأُكَرِّسُ جُهْدِي   ·   لَوْ تَوَافَرَتِ المَوَارِدُ، لَتَفَوَّقْتُ أَكْثَرَ</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Register: formal connectors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ʿilāwatan ʿalā dhālika · sharīṭata an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عِلَاوَةً عَلَى ذٰلِكَ، أَطْمَحُ إِلَى البَحْثِ العِلْمِيِّ</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carries the most P2 structures?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التَّعْلِيمُ مُهِمٌّ وَالمُسْتَقْبَلُ مُهِمٌّ.</a:t>
            </a:r>
            <a:endParaRPr lang="ar-SA" sz="15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أُحِبُّ الدِّرَاسَةَ.</a:t>
            </a:r>
            <a:endParaRPr lang="ar-SA" sz="15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كَانَ مُرْشِدِي قَدْ أَشَارَ إِلَى أَنَّنِي سَأَنْجَحُ، وَلَوْ تَوَافَرَتِ المَوَارِدُ، لَتَفَوَّقْتُ.</a:t>
            </a:r>
            <a:endParaRPr lang="ar-SA" sz="15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belongs in the background paragraph?</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كَانَ قَدْ</a:t>
            </a:r>
            <a:pPr algn="l" indent="0" marL="0">
              <a:buNone/>
            </a:pPr>
            <a:r>
              <a:rPr lang="en-US" sz="1250" dirty="0">
                <a:solidFill>
                  <a:srgbClr val="1F2A37"/>
                </a:solidFill>
                <a:latin typeface="Calibri" pitchFamily="34" charset="0"/>
                <a:cs typeface="Amiri" pitchFamily="2" charset="-78"/>
              </a:rPr>
              <a:t> + past</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لَوْ … لَـ</a:t>
            </a:r>
            <a:endParaRPr lang="ar-SA" sz="220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future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shows both conditional types?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قُبِلْتُ سَأَدْرُسُ؛ وَإِذَا تَوَافَرَ الدَّعْمُ سَأَتَفَوَّقُ.</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قُبِلْتُ سَأَدْرُسُ؛ وَلَوْ تَوَافَرَ الدَّعْمُ لَتَفَوَّقْتُ.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قُبِلْتُ لَدَرَسْتُ؛ وَلَوْ تَوَافَرَ الدَّعْمُ لَتَفَوَّقْتُ.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teacher accurately?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أُسْتَاذِي إِلَى أَنَّنِي مُجْتَهِدٌ.</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أُسْتَاذِي أَنَّنِي مُجْتَهِدٌ.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أُسْتَاذِي أَنَّنِي مُجْتَهِدٌ.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carries the most P2 structures?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التَّعْلِيمُ مُهِمٌّ وَالمُسْتَقْبَلُ مُهِمٌّ.</a:t>
            </a:r>
            <a:endParaRPr lang="ar-SA" sz="15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أُحِبُّ الدِّرَاسَةَ.</a:t>
            </a:r>
            <a:endParaRPr lang="ar-SA" sz="15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كَانَ مُرْشِدِي قَدْ أَشَارَ إِلَى أَنَّنِي سَأَنْجَحُ، وَلَوْ تَوَافَرَتِ المَوَارِدُ، لَتَفَوَّقْتُ.</a:t>
            </a:r>
            <a:endParaRPr lang="ar-SA" sz="15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a past perfect, reported speech and a Type 2 conditional.</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belongs in the background paragraph?</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كَانَ قَدْ</a:t>
            </a:r>
            <a:pPr algn="l" indent="0" marL="0">
              <a:buNone/>
            </a:pPr>
            <a:r>
              <a:rPr lang="en-US" sz="1250" b="1" dirty="0">
                <a:solidFill>
                  <a:srgbClr val="1F2A37"/>
                </a:solidFill>
                <a:latin typeface="Calibri" pitchFamily="34" charset="0"/>
                <a:cs typeface="Amiri" pitchFamily="2" charset="-78"/>
              </a:rPr>
              <a:t> + past</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لَوْ … لَـ</a:t>
            </a:r>
            <a:endParaRPr lang="ar-SA" sz="22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future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opens the background.</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shows both conditional types?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قُبِلْتُ سَأَدْرُسُ؛ وَإِذَا تَوَافَرَ الدَّعْمُ سَأَتَفَوَّقُ.</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قُبِلْتُ سَأَدْرُسُ؛ وَلَوْ تَوَافَرَ الدَّعْمُ لَتَفَوَّقْتُ.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قُبِلْتُ لَدَرَسْتُ؛ وَلَوْ تَوَافَرَ الدَّعْمُ لَتَفَوَّقْتُ.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Type 1 (</a:t>
            </a:r>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and one Type 2 (</a:t>
            </a:r>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teacher accurately?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أَشَارَ أُسْتَاذِي إِلَى أَنَّنِي مُجْتَهِدٌ.</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أَشَارَ أُسْتَاذِي أَنَّنِي مُجْتَهِدٌ.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أُسْتَاذِي أَنَّنِي مُجْتَهِدٌ.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أَشَارَ إِلَى أَنَّ</a:t>
            </a:r>
            <a:pPr algn="l" indent="0" marL="0">
              <a:buNone/>
            </a:pPr>
            <a:r>
              <a:rPr lang="en-US" sz="1050" i="1" dirty="0">
                <a:solidFill>
                  <a:srgbClr val="8A6D1E"/>
                </a:solidFill>
                <a:latin typeface="Calibri" pitchFamily="34" charset="0"/>
                <a:cs typeface="Amiri" pitchFamily="2" charset="-78"/>
              </a:rPr>
              <a:t> is the correct structure.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the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Background</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كُنْتُ قَدْ قَرَّرْتُ</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perfect.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Reality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أَشَارَ</a:t>
            </a:r>
            <a:pPr rtl="1" algn="ctr" indent="0" marL="0">
              <a:buNone/>
            </a:pPr>
            <a:r>
              <a:rPr lang="ar-SA" altLang="en-US" sz="2200" b="1" dirty="0">
                <a:solidFill>
                  <a:srgbClr val="1B3B6F"/>
                </a:solidFill>
                <a:latin typeface="Amiri" pitchFamily="2" charset="-78"/>
                <a:ea typeface="Amiri" pitchFamily="2" charset="-78"/>
                <a:cs typeface="Amiri" pitchFamily="2" charset="-78"/>
              </a:rPr>
              <a:t> أُسْتَاذِي </a:t>
            </a:r>
            <a:pPr rtl="1" algn="ctr" indent="0" marL="0">
              <a:buNone/>
            </a:pPr>
            <a:r>
              <a:rPr lang="ar-SA" altLang="en-US" sz="2200" b="1" dirty="0">
                <a:solidFill>
                  <a:srgbClr val="7B3FA0"/>
                </a:solidFill>
                <a:latin typeface="Amiri" pitchFamily="2" charset="-78"/>
                <a:ea typeface="Amiri" pitchFamily="2" charset="-78"/>
                <a:cs typeface="Amiri" pitchFamily="2" charset="-78"/>
              </a:rPr>
              <a:t>إِلَى أَنَّنِي</a:t>
            </a:r>
            <a:pPr rtl="1" algn="ctr" indent="0" marL="0">
              <a:buNone/>
            </a:pPr>
            <a:r>
              <a:rPr lang="ar-SA" altLang="en-US" sz="2200" b="1" dirty="0">
                <a:solidFill>
                  <a:srgbClr val="1B3B6F"/>
                </a:solidFill>
                <a:latin typeface="Amiri" pitchFamily="2" charset="-78"/>
                <a:cs typeface="Amiri" pitchFamily="2" charset="-78"/>
              </a:rPr>
              <a:t> …</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Reported.</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Analysis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إِذَا قُبِلْتُ</a:t>
            </a:r>
            <a:pPr rtl="1" algn="ctr" indent="0" marL="0">
              <a:buNone/>
            </a:pPr>
            <a:r>
              <a:rPr lang="ar-SA" altLang="en-US" sz="2200" b="1" dirty="0">
                <a:solidFill>
                  <a:srgbClr val="1B3B6F"/>
                </a:solidFill>
                <a:latin typeface="Amiri" pitchFamily="2" charset="-78"/>
                <a:cs typeface="Amiri" pitchFamily="2" charset="-78"/>
              </a:rPr>
              <a:t> … </a:t>
            </a:r>
            <a:pPr rtl="1" algn="ctr" indent="0" marL="0">
              <a:buNone/>
            </a:pPr>
            <a:r>
              <a:rPr lang="ar-SA" altLang="en-US" sz="2200" b="1" dirty="0">
                <a:solidFill>
                  <a:srgbClr val="C77700"/>
                </a:solidFill>
                <a:latin typeface="Amiri" pitchFamily="2" charset="-78"/>
                <a:ea typeface="Amiri" pitchFamily="2" charset="-78"/>
                <a:cs typeface="Amiri" pitchFamily="2" charset="-78"/>
              </a:rPr>
              <a:t>لَوْ تَوَافَرَتْ</a:t>
            </a:r>
            <a:pPr rtl="1" algn="ctr" indent="0" marL="0">
              <a:buNone/>
            </a:pPr>
            <a:r>
              <a:rPr lang="ar-SA" altLang="en-US" sz="2200" b="1" dirty="0">
                <a:solidFill>
                  <a:srgbClr val="1B3B6F"/>
                </a:solidFill>
                <a:latin typeface="Amiri" pitchFamily="2" charset="-78"/>
                <a:cs typeface="Amiri" pitchFamily="2" charset="-78"/>
              </a:rPr>
              <a:t> …</a:t>
            </a:r>
            <a:endParaRPr lang="ar-SA" sz="22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types.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Conclusion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وَخِتَامًا، سَوْفَ</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Future + connector.</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7552944"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REPORTED</a:t>
            </a:r>
            <a:endParaRPr lang="en-US" sz="800" dirty="0"/>
          </a:p>
        </p:txBody>
      </p:sp>
      <p:sp>
        <p:nvSpPr>
          <p:cNvPr id="49" name="Shape 45"/>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1</a:t>
            </a:r>
            <a:endParaRPr lang="en-US" sz="800" dirty="0"/>
          </a:p>
        </p:txBody>
      </p:sp>
      <p:sp>
        <p:nvSpPr>
          <p:cNvPr id="51" name="Shape 47"/>
          <p:cNvSpPr/>
          <p:nvPr/>
        </p:nvSpPr>
        <p:spPr>
          <a:xfrm>
            <a:off x="9528048" y="4736592"/>
            <a:ext cx="914400" cy="237744"/>
          </a:xfrm>
          <a:prstGeom prst="roundRect">
            <a:avLst>
              <a:gd name="adj" fmla="val 50000"/>
            </a:avLst>
          </a:prstGeom>
          <a:solidFill>
            <a:srgbClr val="C77700"/>
          </a:solidFill>
          <a:ln w="12700">
            <a:solidFill>
              <a:srgbClr val="C77700"/>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3" name="Shape 49"/>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FUTURE + CONNECTOR</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كُنْتُ قَدْ قَرَّرْتُ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دِرَاسَةَ الطِّبِّ مُنْذُ المَرْحَلَةِ الإِعْدَادِيَّةِ. أَدْرُسُ الآنَ فِي السَّنَةِ الأَخِيرَةِ، وَقَدْ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أَشَارَ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أُسْتَاذِي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إِلَى أَنَّنِي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مُؤَهَّلٌ لِلْمُنَافَسَةِ.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إِذَا قُبِلْتُ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كُلِّيَّةِ الطِّبِّ،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سَأُكَرِّسُ</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جُهْدِي لِلْبَحْثِ العِلْمِيِّ. عَلَى الرَّغْمِ مِنْ ذٰلِكَ،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لَوْ تَوَافَرَتْ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لِي مَوَارِدُ أَفْضَلُ مُبَكِّرًا،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لَكُنْتُ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قَدْ تَقَدَّمْتُ أَكْثَرَ.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وَخِتَامًا، سَوْفَ</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أَسْعَى إِلَى خِدْمَةِ مُجْتَمَعِي.</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I had decided to study medicine since middle school. I am now in my final year, and my teacher has pointed out that I am qualified to compete. If I am accepted into medical school, I will devote my effort to scientific research. Despite that, if better resources had been available to me early, I would have progressed further. In conclusion, I will strive to serve my community.</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كُنْتُ قَدْ قَرَّرْتُ تَخَصُّصِي قَبْلَ الثَّانَوِيَّةِ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had decided on my specialism before secondary school</a:t>
            </a:r>
            <a:endParaRPr lang="en-US" sz="1250" dirty="0"/>
          </a:p>
          <a:p>
            <a:pPr indent="0" marL="0">
              <a:buNone/>
            </a:pPr>
            <a:r>
              <a:rPr lang="en-US" sz="1050" i="1" dirty="0">
                <a:solidFill>
                  <a:srgbClr val="8A6D1E"/>
                </a:solidFill>
                <a:latin typeface="Calibri" pitchFamily="34" charset="0"/>
                <a:cs typeface="Amiri" pitchFamily="2" charset="-78"/>
              </a:rPr>
              <a:t>Past perfect for the background.</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قُبِلْتُ سَأُكَرِّسُ جُهْدِي، وَلَوْ تَوَافَرَتِ المَوَارِدُ لَتَفَوَّقْتُ</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I am accepted I will devote my effort, and had the resources been available I would have excelled</a:t>
            </a:r>
            <a:endParaRPr lang="en-US" sz="1250" dirty="0"/>
          </a:p>
          <a:p>
            <a:pPr indent="0" marL="0">
              <a:buNone/>
            </a:pPr>
            <a:r>
              <a:rPr lang="en-US" sz="1050" i="1" dirty="0">
                <a:solidFill>
                  <a:srgbClr val="8A6D1E"/>
                </a:solidFill>
                <a:latin typeface="Calibri" pitchFamily="34" charset="0"/>
                <a:cs typeface="Amiri" pitchFamily="2" charset="-78"/>
              </a:rPr>
              <a:t>Type 1 and Type 2 side by side.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عِلَاوَةً عَلَى ذٰلِكَ، أَشَارَ مُرْشِدِي إِلَى أَنَّنِي مُؤَهَّلٌ</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moreover, my adviser pointed out that I am qualified</a:t>
            </a:r>
            <a:endParaRPr lang="en-US" sz="1250" dirty="0"/>
          </a:p>
          <a:p>
            <a:pPr indent="0" marL="0">
              <a:buNone/>
            </a:pPr>
            <a:r>
              <a:rPr lang="en-US" sz="1050" i="1" dirty="0">
                <a:solidFill>
                  <a:srgbClr val="8A6D1E"/>
                </a:solidFill>
                <a:latin typeface="Calibri" pitchFamily="34" charset="0"/>
                <a:cs typeface="Amiri" pitchFamily="2" charset="-78"/>
              </a:rPr>
              <a:t>Connector plus reported speech.</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UPGRADE THE SENTENCE (WEBSITE MODEL AND MISTAKES)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plain to Paper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363931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Paper 4 sentence</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Plain sentence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1" name="Text 18"/>
          <p:cNvSpPr txBox="1"/>
          <p:nvPr/>
        </p:nvSpPr>
        <p:spPr>
          <a:xfrm>
            <a:off x="3657600" y="2267712"/>
            <a:ext cx="58521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قَرَّرْتُ دِرَاسَةَ الطِّبِّ مُنْذُ المَرْحَلَةِ الإِعْدَادِيَّةِ.</a:t>
            </a:r>
            <a:endParaRPr lang="ar-SA" sz="1800" dirty="0"/>
          </a:p>
        </p:txBody>
      </p:sp>
      <p:sp>
        <p:nvSpPr>
          <p:cNvPr id="22" name="Text 19"/>
          <p:cNvSpPr txBox="1"/>
          <p:nvPr/>
        </p:nvSpPr>
        <p:spPr>
          <a:xfrm>
            <a:off x="548640" y="2267712"/>
            <a:ext cx="29260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قَرَّرْتُ دِرَاسَةَ الطِّبِّ.</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27" name="Text 24"/>
          <p:cNvSpPr txBox="1"/>
          <p:nvPr/>
        </p:nvSpPr>
        <p:spPr>
          <a:xfrm>
            <a:off x="3657600" y="3004718"/>
            <a:ext cx="58521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أَشَارَ أُسْتَاذِي إِلَى أَنَّنِي مُؤَهَّلٌ لِلْمُنَافَسَةِ.</a:t>
            </a:r>
            <a:endParaRPr lang="ar-SA" sz="1800" dirty="0"/>
          </a:p>
        </p:txBody>
      </p:sp>
      <p:sp>
        <p:nvSpPr>
          <p:cNvPr id="28" name="Text 25"/>
          <p:cNvSpPr txBox="1"/>
          <p:nvPr/>
        </p:nvSpPr>
        <p:spPr>
          <a:xfrm>
            <a:off x="548640" y="3004718"/>
            <a:ext cx="29260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أُسْتَاذِي يَقُولُ: أَنْتَ مُؤَهَّلٌ.</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a:t>
            </a:r>
            <a:endParaRPr lang="en-US" sz="1100" dirty="0"/>
          </a:p>
        </p:txBody>
      </p:sp>
      <p:sp>
        <p:nvSpPr>
          <p:cNvPr id="33" name="Text 30"/>
          <p:cNvSpPr txBox="1"/>
          <p:nvPr/>
        </p:nvSpPr>
        <p:spPr>
          <a:xfrm>
            <a:off x="3657600" y="3741725"/>
            <a:ext cx="58521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قُبِلْتُ فِي كُلِّيَّةِ الطِّبِّ، سَأُكَرِّسُ جُهْدِي لِلْبَحْثِ.</a:t>
            </a:r>
            <a:endParaRPr lang="ar-SA" sz="1800" dirty="0"/>
          </a:p>
        </p:txBody>
      </p:sp>
      <p:sp>
        <p:nvSpPr>
          <p:cNvPr id="34" name="Text 31"/>
          <p:cNvSpPr txBox="1"/>
          <p:nvPr/>
        </p:nvSpPr>
        <p:spPr>
          <a:xfrm>
            <a:off x="548640" y="3741725"/>
            <a:ext cx="29260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كُلِّيَّةَ الطِّبِّ.</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37" name="Text 34"/>
          <p:cNvSpPr txBox="1"/>
          <p:nvPr/>
        </p:nvSpPr>
        <p:spPr>
          <a:xfrm>
            <a:off x="3657600" y="4478731"/>
            <a:ext cx="58521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تَوَافَرَتْ لِي مَوَارِدُ أَفْضَلُ، لَكُنْتُ قَدْ تَقَدَّمْتُ أَكْثَرَ.</a:t>
            </a:r>
            <a:endParaRPr lang="ar-SA" sz="1800" dirty="0"/>
          </a:p>
        </p:txBody>
      </p:sp>
      <p:sp>
        <p:nvSpPr>
          <p:cNvPr id="38" name="Text 35"/>
          <p:cNvSpPr txBox="1"/>
          <p:nvPr/>
        </p:nvSpPr>
        <p:spPr>
          <a:xfrm>
            <a:off x="548640" y="4478731"/>
            <a:ext cx="29260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كَانَ عِنْدِي مَوَارِدُ.</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 connector</a:t>
            </a:r>
            <a:endParaRPr lang="en-US" sz="1100" dirty="0"/>
          </a:p>
        </p:txBody>
      </p:sp>
      <p:sp>
        <p:nvSpPr>
          <p:cNvPr id="41" name="Text 38"/>
          <p:cNvSpPr txBox="1"/>
          <p:nvPr/>
        </p:nvSpPr>
        <p:spPr>
          <a:xfrm>
            <a:off x="3657600" y="5215738"/>
            <a:ext cx="58521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وَخِتَامًا، سَوْفَ أَسْعَى إِلَى خِدْمَةِ مُجْتَمَعِي.</a:t>
            </a:r>
            <a:endParaRPr lang="ar-SA" sz="1800" dirty="0"/>
          </a:p>
        </p:txBody>
      </p:sp>
      <p:sp>
        <p:nvSpPr>
          <p:cNvPr id="42" name="Text 39"/>
          <p:cNvSpPr txBox="1"/>
          <p:nvPr/>
        </p:nvSpPr>
        <p:spPr>
          <a:xfrm>
            <a:off x="548640" y="5215738"/>
            <a:ext cx="29260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أَنْ أُسَاعِدَ النَّاسَ.</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the middle column: upgrade each plain sentence, then compare with the website model.</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ARTICLE LINE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Background + analysis + conclusion</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سَطْرًا غَنِيًّا</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238744"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Background</a:t>
            </a:r>
            <a:endParaRPr lang="en-US" sz="1100" dirty="0"/>
          </a:p>
        </p:txBody>
      </p:sp>
      <p:sp>
        <p:nvSpPr>
          <p:cNvPr id="19" name="Text 16"/>
          <p:cNvSpPr txBox="1"/>
          <p:nvPr/>
        </p:nvSpPr>
        <p:spPr>
          <a:xfrm>
            <a:off x="439826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Analysis (idhā · law)</a:t>
            </a:r>
            <a:endParaRPr lang="en-US" sz="1100" dirty="0"/>
          </a:p>
        </p:txBody>
      </p:sp>
      <p:sp>
        <p:nvSpPr>
          <p:cNvPr id="20" name="Text 17"/>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Conclusion</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257032" y="2267712"/>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قَرَّرْتُ تَخَصُّصِي مُبَكِّرًا</a:t>
            </a:r>
            <a:endParaRPr lang="ar-SA" sz="1600" dirty="0"/>
          </a:p>
        </p:txBody>
      </p:sp>
      <p:sp>
        <p:nvSpPr>
          <p:cNvPr id="23" name="Text 20"/>
          <p:cNvSpPr txBox="1"/>
          <p:nvPr/>
        </p:nvSpPr>
        <p:spPr>
          <a:xfrm>
            <a:off x="4416552" y="2267712"/>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قُبِلْتُ سَأُكَرِّسُ جُهْدِي لِلْبَحْثِ</a:t>
            </a:r>
            <a:endParaRPr lang="ar-SA" sz="1600" dirty="0"/>
          </a:p>
        </p:txBody>
      </p:sp>
      <p:sp>
        <p:nvSpPr>
          <p:cNvPr id="24" name="Text 21"/>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وَخِتَامًا، سَوْفَ أَسْعَى إِلَى خِدْمَةِ مُجْتَمَعِي</a:t>
            </a:r>
            <a:endParaRPr lang="ar-SA" sz="1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57032" y="3054096"/>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 أُسْتَاذِي قَدْ أَشَارَ إِلَى أَنَّنِي مُؤَهَّلٌ</a:t>
            </a:r>
            <a:endParaRPr lang="ar-SA" sz="1600" dirty="0"/>
          </a:p>
        </p:txBody>
      </p:sp>
      <p:sp>
        <p:nvSpPr>
          <p:cNvPr id="29" name="Text 26"/>
          <p:cNvSpPr txBox="1"/>
          <p:nvPr/>
        </p:nvSpPr>
        <p:spPr>
          <a:xfrm>
            <a:off x="4416552" y="3054096"/>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تَوَافَرَتِ المَوَارِدُ لَتَفَوَّقْتُ أَكْثَرَ</a:t>
            </a:r>
            <a:endParaRPr lang="ar-SA" sz="1600" dirty="0"/>
          </a:p>
        </p:txBody>
      </p:sp>
      <p:sp>
        <p:nvSpPr>
          <p:cNvPr id="30" name="Text 27"/>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وَعِلَاوَةً عَلَى ذٰلِكَ، التَّعْلِيمُ اسْتِثْمَارٌ فِي المُسْتَقْبَلِ</a:t>
            </a:r>
            <a:endParaRPr lang="ar-SA" sz="16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257032" y="3840480"/>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بِحُلُولِ الثَّانَوِيَّةِ كُنْتُ قَدْ أَنْجَزْتُ مَشْرُوعًا</a:t>
            </a:r>
            <a:endParaRPr lang="ar-SA" sz="1600" dirty="0"/>
          </a:p>
        </p:txBody>
      </p:sp>
      <p:sp>
        <p:nvSpPr>
          <p:cNvPr id="33" name="Text 30"/>
          <p:cNvSpPr txBox="1"/>
          <p:nvPr/>
        </p:nvSpPr>
        <p:spPr>
          <a:xfrm>
            <a:off x="4416552" y="3840480"/>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وَعَلَى الرَّغْمِ مِنْ ذٰلِكَ، لَوْ بَدَأْتُ مُبَكِّرًا لَكُنْتُ أَفْضَلَ</a:t>
            </a:r>
            <a:endParaRPr lang="ar-SA" sz="1600" dirty="0"/>
          </a:p>
        </p:txBody>
      </p:sp>
      <p:sp>
        <p:nvSpPr>
          <p:cNvPr id="34" name="Text 31"/>
          <p:cNvSpPr txBox="1"/>
          <p:nvPr/>
        </p:nvSpPr>
        <p:spPr>
          <a:xfrm>
            <a:off x="548640" y="3840480"/>
            <a:ext cx="3685032"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وَبِنَاءً عَلَى مَا سَبَقَ، أَرَى أَنَّ التَّعْلِيمَ أَقْوَى أَدَاةٍ لِلتَّغْيِيرِ</a:t>
            </a:r>
            <a:endParaRPr lang="ar-SA" sz="145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Background, analysis or conclusion?</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قَرَّرْتُ تَخَصُّصِي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اهْتَمَمْتُ بِالعُلُومِ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بِحُلُولِ الثَّانَوِيَّةِ كُنْتُ قَدْ أَنْجَزْتُ مَشْرُوعًا</a:t>
            </a:r>
            <a:endParaRPr lang="ar-SA" sz="145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قُبِلْتُ سَأُكَرِّسُ جُهْدِي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تَوَافَرَتِ المَوَارِدُ لَتَفَوَّقْتُ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بَدَأْتُ مُبَكِّرًا لَكُنْتُ أَفْضَلَ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وَخِتَامًا، أَسْعَى إِلَى مُوَاكَبَةِ التَّغْيِيرِ</a:t>
            </a:r>
            <a:endParaRPr lang="ar-SA" sz="16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عِلَاوَةً عَلَى ذٰلِكَ، سَوْفَ أُسْهِمُ فِي مَجَالِي</a:t>
            </a:r>
            <a:endParaRPr lang="ar-SA" sz="155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بِنَاءً عَلَى مَا سَبَقَ، التَّعْلِيمُ اسْتِثْمَارٌ</a:t>
            </a:r>
            <a:endParaRPr lang="ar-SA" sz="15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Background</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Analysis</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Conclusion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Background</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قَرَّرْتُ تَخَصُّصِي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اهْتَمَمْتُ بِالعُلُومِ</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بِحُلُولِ الثَّانَوِيَّةِ كُنْتُ قَدْ أَنْجَزْتُ مَشْرُوعًا</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Analysis</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قُبِلْتُ سَأُكَرِّسُ جُهْدِي</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تَوَافَرَتِ المَوَارِدُ لَتَفَوَّقْتُ</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بَدَأْتُ مُبَكِّرًا لَكُنْتُ أَفْضَلَ</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Conclusion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وَخِتَامًا، أَسْعَى إِلَى مُوَاكَبَةِ التَّغْيِيرِ</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عِلَاوَةً عَلَى ذٰلِكَ، سَوْفَ أُسْهِمُ فِي مَجَالِي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بِنَاءً عَلَى مَا سَبَقَ، التَّعْلِيمُ اسْتِثْمَارٌ</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connector rather than a plain link?</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عِلَاوَةً عَلَى ذٰلِكَ</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past-perfect background: ___ </a:t>
            </a:r>
            <a:pPr algn="l" indent="0" marL="0">
              <a:buNone/>
            </a:pPr>
            <a:r>
              <a:rPr lang="ar-SA" altLang="en-US" sz="1650" b="1" dirty="0">
                <a:solidFill>
                  <a:srgbClr val="1B3B6F"/>
                </a:solidFill>
                <a:latin typeface="Amiri" pitchFamily="2" charset="-78"/>
                <a:ea typeface="Amiri" pitchFamily="2" charset="-78"/>
                <a:cs typeface="Amiri" pitchFamily="2" charset="-78"/>
              </a:rPr>
              <a:t>قَدْ قَرَّرْتُ تَخَصُّصِي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closes an article at academic register?</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وَأَيْضًا التَّعْلِيمُ مُهِمٌّ.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وَخِتَامًا، أَسْعَى إِلَى مُوَاكَبَةِ التَّغْيِيرِ.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كُلُّ شَيْءٍ.</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the writer distinguishing real from hypothetical?</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اجْتَهَدْتُ سَأَنْجَحُ وَإِذَا بَدَأْتُ مُبَكِّرًا سَأَكُونُ أَفْضَلَ.</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التَّعْلِيمُ ضَرُورِيٌّ لِلْجَمِيعِ.</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اجْتَهَدْتُ سَأَنْجَحُ، لٰكِنْ لَوْ بَدَأْتُ مُبَكِّرًا لَكُنْتُ أَفْضَلَ.</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connector rather than a plain link?</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عِلَاوَةً عَلَى ذٰلِكَ</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عِلَاوَةً عَلَى ذٰلِكَ</a:t>
            </a:r>
            <a:pPr algn="l" indent="0" marL="0">
              <a:buNone/>
            </a:pPr>
            <a:r>
              <a:rPr lang="en-US" sz="1050" i="1" dirty="0">
                <a:solidFill>
                  <a:srgbClr val="8A6D1E"/>
                </a:solidFill>
                <a:latin typeface="Calibri" pitchFamily="34" charset="0"/>
                <a:cs typeface="Amiri" pitchFamily="2" charset="-78"/>
              </a:rPr>
              <a:t> raises the register.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past-perfect background: ___ </a:t>
            </a:r>
            <a:pPr algn="l" indent="0" marL="0">
              <a:buNone/>
            </a:pPr>
            <a:r>
              <a:rPr lang="ar-SA" altLang="en-US" sz="1650" b="1" dirty="0">
                <a:solidFill>
                  <a:srgbClr val="1B3B6F"/>
                </a:solidFill>
                <a:latin typeface="Amiri" pitchFamily="2" charset="-78"/>
                <a:ea typeface="Amiri" pitchFamily="2" charset="-78"/>
                <a:cs typeface="Amiri" pitchFamily="2" charset="-78"/>
              </a:rPr>
              <a:t>قَدْ قَرَّرْتُ تَخَصُّصِي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كُنْتُ</a:t>
            </a:r>
            <a:pPr algn="l" indent="0" marL="0">
              <a:buNone/>
            </a:pPr>
            <a:r>
              <a:rPr lang="en-US" sz="1050" i="1" dirty="0">
                <a:solidFill>
                  <a:srgbClr val="8A6D1E"/>
                </a:solidFill>
                <a:latin typeface="Calibri" pitchFamily="34" charset="0"/>
                <a:cs typeface="Amiri" pitchFamily="2" charset="-78"/>
              </a:rPr>
              <a:t> is the first-person past-perfect form.</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closes an article at academic register?</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وَأَيْضًا التَّعْلِيمُ مُهِمٌّ.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وَخِتَامًا، أَسْعَى إِلَى مُوَاكَبَةِ التَّغْيِيرِ.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كُلُّ شَيْءٍ.</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وَخِتَامًا</a:t>
            </a:r>
            <a:pPr algn="l" indent="0" marL="0">
              <a:buNone/>
            </a:pPr>
            <a:r>
              <a:rPr lang="en-US" sz="1050" i="1" dirty="0">
                <a:solidFill>
                  <a:srgbClr val="8A6D1E"/>
                </a:solidFill>
                <a:latin typeface="Calibri" pitchFamily="34" charset="0"/>
                <a:cs typeface="Amiri" pitchFamily="2" charset="-78"/>
              </a:rPr>
              <a:t> opens a formal conclusion.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the writer distinguishing real from hypothetical?</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اجْتَهَدْتُ سَأَنْجَحُ وَإِذَا بَدَأْتُ مُبَكِّرًا سَأَكُونُ أَفْضَلَ.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التَّعْلِيمُ ضَرُورِيٌّ لِلْجَمِيعِ.</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اجْتَهَدْتُ سَأَنْجَحُ، لٰكِنْ لَوْ بَدَأْتُ مُبَكِّرًا لَكُنْتُ أَفْضَلَ.</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uses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for the real and </a:t>
            </a:r>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for the counterfactual.</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قُبِلْتُ سَأَدْرُسُ؛ وَإِذَا تَوَافَرَ الدَّعْمُ سَأَتَفَوَّقُ.</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idhā = Range?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 أُسْتَاذِي أَنَّنِي مُجْتَهِدٌ.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qāla + anna?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كَانَ قَدْ قَرَّرْتُ تَخَصُّصِي.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kāna qad + qarrartu?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إِذَا قُبِلْتُ سَأَدْرُسُ؛ وَإِذَا تَوَافَرَ الدَّعْمُ سَأَتَفَوَّقُ.</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250" b="1" dirty="0">
                <a:solidFill>
                  <a:srgbClr val="1E6B52"/>
                </a:solidFill>
                <a:latin typeface="Amiri" pitchFamily="2" charset="-78"/>
                <a:ea typeface="Amiri" pitchFamily="2" charset="-78"/>
                <a:cs typeface="Amiri" pitchFamily="2" charset="-78"/>
              </a:rPr>
              <a:t>إِذَا قُبِلْتُ سَأَدْرُسُ؛ وَلَوْ تَوَافَرَ الدَّعْمُ لَتَفَوَّقْتُ.</a:t>
            </a:r>
            <a:endParaRPr lang="ar-SA" sz="225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Range rewards one of each type: keep a Type 2 (</a:t>
            </a:r>
            <a:pPr algn="l" indent="0" marL="0">
              <a:buNone/>
            </a:pPr>
            <a:r>
              <a:rPr lang="ar-SA" altLang="en-US" sz="1500" b="1" dirty="0">
                <a:solidFill>
                  <a:srgbClr val="1B3B6F"/>
                </a:solidFill>
                <a:latin typeface="Amiri" pitchFamily="2" charset="-78"/>
                <a:ea typeface="Amiri" pitchFamily="2" charset="-78"/>
                <a:cs typeface="Amiri" pitchFamily="2" charset="-78"/>
              </a:rPr>
              <a:t>لَوْ … لَـ</a:t>
            </a:r>
            <a:pPr algn="l" indent="0" marL="0">
              <a:buNone/>
            </a:pPr>
            <a:r>
              <a:rPr lang="en-US" sz="1150" b="1" dirty="0">
                <a:solidFill>
                  <a:srgbClr val="1B3B6F"/>
                </a:solidFill>
                <a:latin typeface="Calibri" pitchFamily="34" charset="0"/>
                <a:cs typeface="Amiri" pitchFamily="2" charset="-78"/>
              </a:rPr>
              <a:t>) as well.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 أُسْتَاذِي أَنَّنِي مُجْتَهِدٌ.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 أُسْتَاذِي إِنَّنِي مُجْتَهِدٌ.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قَالَ</a:t>
            </a:r>
            <a:pPr algn="l" indent="0" marL="0">
              <a:buNone/>
            </a:pPr>
            <a:r>
              <a:rPr lang="en-US" sz="1150" b="1" dirty="0">
                <a:solidFill>
                  <a:srgbClr val="1B3B6F"/>
                </a:solidFill>
                <a:latin typeface="Calibri" pitchFamily="34" charset="0"/>
                <a:cs typeface="Amiri" pitchFamily="2" charset="-78"/>
              </a:rPr>
              <a:t> takes </a:t>
            </a:r>
            <a:pPr algn="l" indent="0" marL="0">
              <a:buNone/>
            </a:pPr>
            <a:r>
              <a:rPr lang="ar-SA" altLang="en-US" sz="1500" b="1" dirty="0">
                <a:solidFill>
                  <a:srgbClr val="1B3B6F"/>
                </a:solidFill>
                <a:latin typeface="Amiri" pitchFamily="2" charset="-78"/>
                <a:ea typeface="Amiri" pitchFamily="2" charset="-78"/>
                <a:cs typeface="Amiri" pitchFamily="2" charset="-78"/>
              </a:rPr>
              <a:t>إِنَّ</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كَانَ قَدْ قَرَّرْتُ تَخَصُّصِي.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كُنْتُ قَدْ قَرَّرْتُ تَخَصُّصِي.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must agree with the first-person subject: </a:t>
            </a:r>
            <a:pPr algn="l" indent="0" marL="0">
              <a:buNone/>
            </a:pPr>
            <a:r>
              <a:rPr lang="ar-SA" altLang="en-US" sz="1500" b="1" dirty="0">
                <a:solidFill>
                  <a:srgbClr val="1B3B6F"/>
                </a:solidFill>
                <a:latin typeface="Amiri" pitchFamily="2" charset="-78"/>
                <a:ea typeface="Amiri" pitchFamily="2" charset="-78"/>
                <a:cs typeface="Amiri" pitchFamily="2" charset="-78"/>
              </a:rPr>
              <a:t>كُنْتُ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Listening: an examiner on P2 range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three things does Paper 4 Q3 assess?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Content, range and accuracy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length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spelling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range mean at P2 level?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long words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Writing quickly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Integrating five structures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text with both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show?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useful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it is too long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distinguishes possible from hypothetical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article open?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past-perfect background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the future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greeting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analysis with both conditionals go?</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opening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third move, before the conclusion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Nowhere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the three things Q3 marks.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فِي الوَرَقَةِ الرَّابِعَةِ، يُقَيِّمُ المُصَحِّحُ ثَلَاثَةَ أَشْيَاءَ: المُحْتَوَى، وَالنِّطَاقَ، وَالدِّقَّةَ.</a:t>
            </a:r>
            <a:endParaRPr lang="ar-SA" sz="19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Paper 4, the examiner assesses three things: content, range and accuracy.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وَفِي السَّنَةِ العَاشِرَةِ، النِّطَاقُ يَعْنِي دَمْجَ خَمْسِ بُنًى: المَاضِي التَّامِّ، وَالكَلَامِ المَنْقُولِ، وَالشَّرْطِ بِنَوْعَيْهِ، وَالمُسْتَقْبَلِ.</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this level, range means integrating five structures: the past perfect, reported speech, both types of conditional, and the future.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النَّصُّ الَّذِي يَحْمِلُ «إِذَا» وَ«لَوْ» مَعًا يُظْهِرُ أَنَّ الكَاتِبَ يُمَيِّزُ بَيْنَ المُمْكِنِ وَالافْتِرَاضِيِّ.</a:t>
            </a:r>
            <a:endParaRPr lang="ar-SA" sz="18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text that carries both idhā and law shows that the writer distinguishes the possible from the hypothetical.</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افْتَحْ بِخَلْفِيَّةٍ فِي المَاضِي التَّامِّ، ثُمَّ اعْرِضِ الوَاقِعَ الحَالِيَّ بِالكَلَامِ المَنْقُولِ، ثُمَّ حَلِّلْ بِالشَّرْطَيْنِ،</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Open with a background in the past perfect, then present the current reality with reported speech, then analyse with both conditionals,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وَاخْتِمْ بِالمُسْتَقْبَلِ وَرَابِطٍ رَسْمِيٍّ. اُكْتُبْ مِئَةً وَأَرْبَعِينَ إِلَى مِئَةٍ وَخَمْسِينَ كَلِمَةً.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close with the future and a formal connector. Write 140 to 150 words.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three things does Paper 4 Q3 assess?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Content, range and accuracy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length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spelling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يُقَيِّمُ … المُحْتَوَى، وَالنِّطَاقَ، وَالدِّقَّةَ.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range mean at P2 level?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long words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Writing quickly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Integrating five structures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النِّطَاقُ يَعْنِي دَمْجَ خَمْسِ بُنًى.</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text with both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show?</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useful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it is too long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writer distinguishes possible from hypothetical</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يُظْهِرُ أَنَّ الكَاتِبَ يُمَيِّزُ بَيْنَ المُمْكِنِ وَالافْتِرَاضِيِّ.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article open?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a past-perfect background</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the future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greeting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اِفْتَحْ بِخَلْفِيَّةٍ فِي المَاضِي التَّامِّ.</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analysis with both conditionals go?</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opening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In the third move, before the conclusion</a:t>
            </a:r>
            <a:endParaRPr lang="en-US" sz="12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Nowhere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 حَلِّلْ بِالشَّرْطَيْنِ، وَاخْتِمْ بِالمُسْتَقْبَلِ.</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the three things Q3 marks.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talk through your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خَلْفِيَّتُكَ فِي المَاضِي التَّامِّ؟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قَالَ مُعَلِّمُوكَ عَنْكَ؟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جُمْلَتُكَ الشَّرْطِيَّةُ مِنَ النَّوْعِ الثَّانِي؟</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كُنْتُ قَدْ قَرَّرْتُ ___ مُنْذُ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أَشَارَ أُسْتَاذِي إِلَى أَنَّنِي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لَوْ تَوَافَرَتْ لِي ___ ، ___ أَكْثَرَ.</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خَلْفِيَّتُكَ؟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background?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كُنْتُ قَدْ قَرَّرْتُ مَجَالِي مُبَكِّرًا، وَكُنْتُ قَدْ أَنْجَزْتُ مَشْرُوعًا بَحْثِيًّا.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had decided on my field early, and I had completed a research project.</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paragraphs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 four-paragraph plan with one sentence per structure.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the four-paragraph plan with one sentence per structure.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140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Expand to 140 words with five structures labelled.</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expand to 140 words with the five structures labelled.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140–155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155 words with two connectors and one sentence combining three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all five P2 structures, two formal connectors and one sentence combining three structures.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تَوَافَرَتْ لِي مَوَارِدُ أَفْضَلُ،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better resources had been available to me,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عِلَاوَةً عَلَى ذٰلِكَ، أَرَى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Moreover, I believe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ذٰلِكَ،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Despite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سَأَنْجَحُ شَرِيطَةَ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succeed, provided that I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قَدْ قَرَّرْتُ ______ مُنْذُ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had decided … since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أَشَارَ أُسْتَاذِي إِلَى أَنَّنِي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teacher pointed out that I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قُبِلْتُ فِي ______ ،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am accepted at …, I will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وَخِتَامًا، سَوْفَ أَسْعَى إِلَى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conclusion, I will strive 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لَكُنْتُ قَدْ تَقَدَّمْتُ أَكْثَرَ  ·  لَتَفَوَّقْتُ  ·  سَأُكَرِّسُ جُهْدِي  ·  مُؤَهَّلٌ لِلْمُنَافَسَةِ  ·  وَأَكَّدَ أَنَّ  ·  كُلِّيَّةُ الطِّبِّ  ·  مَشْرُوعًا بَحْثِيًّا  ·  خِدْمَةِ مُجْتَمَعِي  ·  التَّعْلِيمُ اسْتِثْمَارٌ  ·  أَقْوَى أَدَاةٍ لِلتَّغْيِيرِ  ·  أَجْتَهِدَ  ·  مُوَاكَبَةِ التَّغْيِيرِ</a:t>
            </a:r>
            <a:endParaRPr lang="ar-SA" sz="12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140-155 word article on education and future plans. Include all five P2 structures: a past-perfect background, reported speech, a Type 1 conditional, a Type 2 conditional and the future, joined with at least two formal connectors.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past-perfect background sentence (</a:t>
            </a:r>
            <a:pPr algn="l" indent="0" marL="0">
              <a:buNone/>
            </a:pPr>
            <a:r>
              <a:rPr lang="ar-SA" altLang="en-US" sz="1550" dirty="0">
                <a:solidFill>
                  <a:srgbClr val="1F2A37"/>
                </a:solidFill>
                <a:latin typeface="Amiri" pitchFamily="2" charset="-78"/>
                <a:ea typeface="Amiri" pitchFamily="2" charset="-78"/>
                <a:cs typeface="Amiri" pitchFamily="2" charset="-78"/>
              </a:rPr>
              <a:t>كُنْتُ قَدْ</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reported-speech clause with a verb other than </a:t>
            </a:r>
            <a:pPr algn="l" indent="0" marL="0">
              <a:buNone/>
            </a:pPr>
            <a:r>
              <a:rPr lang="ar-SA" altLang="en-US" sz="1550" dirty="0">
                <a:solidFill>
                  <a:srgbClr val="1F2A37"/>
                </a:solidFill>
                <a:latin typeface="Amiri" pitchFamily="2" charset="-78"/>
                <a:ea typeface="Amiri" pitchFamily="2" charset="-78"/>
                <a:cs typeface="Amiri" pitchFamily="2" charset="-78"/>
              </a:rPr>
              <a:t>قَالَ</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Type 1 (</a:t>
            </a:r>
            <a:pPr algn="l" indent="0" marL="0">
              <a:buNone/>
            </a:pPr>
            <a:r>
              <a:rPr lang="ar-SA" altLang="en-US" sz="1550" dirty="0">
                <a:solidFill>
                  <a:srgbClr val="1F2A37"/>
                </a:solidFill>
                <a:latin typeface="Amiri" pitchFamily="2" charset="-78"/>
                <a:ea typeface="Amiri" pitchFamily="2" charset="-78"/>
                <a:cs typeface="Amiri" pitchFamily="2" charset="-78"/>
              </a:rPr>
              <a:t>إِذَا … سَـ</a:t>
            </a:r>
            <a:pPr algn="l" indent="0" marL="0">
              <a:buNone/>
            </a:pPr>
            <a:r>
              <a:rPr lang="en-US" sz="1200" dirty="0">
                <a:solidFill>
                  <a:srgbClr val="1F2A37"/>
                </a:solidFill>
                <a:latin typeface="Calibri" pitchFamily="34" charset="0"/>
                <a:cs typeface="Amiri" pitchFamily="2" charset="-78"/>
              </a:rPr>
              <a:t>) and one Type 2 (</a:t>
            </a:r>
            <a:pPr algn="l" indent="0" marL="0">
              <a:buNone/>
            </a:pPr>
            <a:r>
              <a:rPr lang="ar-SA" altLang="en-US" sz="1550" dirty="0">
                <a:solidFill>
                  <a:srgbClr val="1F2A37"/>
                </a:solidFill>
                <a:latin typeface="Amiri" pitchFamily="2" charset="-78"/>
                <a:ea typeface="Amiri" pitchFamily="2" charset="-78"/>
                <a:cs typeface="Amiri" pitchFamily="2" charset="-78"/>
              </a:rPr>
              <a:t>لَوْ … لَـ</a:t>
            </a:r>
            <a:pPr algn="l" indent="0" marL="0">
              <a:buNone/>
            </a:pPr>
            <a:r>
              <a:rPr lang="en-US" sz="1200" dirty="0">
                <a:solidFill>
                  <a:srgbClr val="1F2A37"/>
                </a:solidFill>
                <a:latin typeface="Calibri" pitchFamily="34" charset="0"/>
                <a:cs typeface="Amiri" pitchFamily="2" charset="-78"/>
              </a:rPr>
              <a:t>) conditional.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formal connectors and a future conclusion; 140-155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وَحَصَلْتُ عَلَى خِبْرَةٍ فِي مُسْتَشْفًى</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gained experience in a hospital</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وَأَكَّدَ أَنَّ اجْتِهَادِي سَيُثْمِرُ</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he stressed that my hard work will pay off</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لَكُنْتُ قَدْ تَقَدَّمْتُ أَكْثَرَ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would have progressed further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أَقْوَى مِنَ المَالِ فِي تَغْيِيرِ حَيَاةِ الفَرْدِ</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stronger than money in changing a person’s life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فَالتَّعْلِيمُ اسْتِثْمَارٌ فِي المُسْتَقْبَلِ</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education is an investment in the future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كُنْتُ قَدْ قَرَّرْتُ دِرَاسَةَ الطِّبِّ مُنْذُ المَرْحَلَةِ الإِعْدَادِيَّةِ، وَبِحُلُولِ الثَّانَوِيَّةِ كُنْتُ قَدْ أَنْجَزْتُ مَشْرُوعًا بَحْثِيًّا وَحَصَلْتُ عَلَى خِبْرَةٍ فِي مُسْتَشْفًى. أَدْرُسُ الآنَ فِي السَّنَةِ الأَخِيرَةِ، وَقَدْ أَشَارَ أُسْتَاذِي إِلَى أَنَّنِي مُؤَهَّلٌ لِلْمُنَافَسَةِ، وَأَكَّدَ أَنَّ اجْتِهَادِي سَيُثْمِرُ. إِذَا قُبِلْتُ فِي كُلِّيَّةِ الطِّبِّ، سَأُكَرِّسُ جُهْدِي لِلْبَحْثِ العِلْمِيِّ. عَلَى الرَّغْمِ مِنْ ذٰلِكَ، لَوْ تَوَافَرَتْ لِي مَوَارِدُ أَفْضَلُ مُبَكِّرًا، لَكُنْتُ قَدْ تَقَدَّمْتُ أَكْثَرَ. عِلَاوَةً عَلَى ذٰلِكَ، أَرَى أَنَّ التَّعْلِيمَ الجَيِّدَ أَقْوَى مِنَ المَالِ فِي تَغْيِيرِ حَيَاةِ الفَرْدِ. وَخِتَامًا، سَوْفَ أَسْعَى إِلَى خِدْمَةِ مُجْتَمَعِي، فَالتَّعْلِيمُ اسْتِثْمَارٌ فِي المُسْتَقْبَلِ.</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had decided to study medicine since middle school, and by secondary school I had completed a research project and gained experience in a hospital. I am now in my final year, and my teacher has pointed out that I am qualified to compete, and stressed that my hard work will pay off. If I am accepted into medical school, I will devote my effort to scientific research. Despite that, if better resources had been available to me early, I would have progressed further. Moreover, I believe that good education is stronger than money in changing a person’s life. In conclusion, I will strive to serve my community, for education is an investment in the future.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past perfects (kuntu qad)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reported clauses (ashāra ilā anna · akkada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one idhā AND one law conditional</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formal connectors + sawfa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Background: kuntu qad + past (kāna agrees with “I”).</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Reported speech with a verb other than qāla (ashāra ilā anna · akkada anna).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One idhā … sa- AND one law … la- (not two idhā).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Two formal connectors and a sawfa conclusion; 140–155 words.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One sentence carries three structures — and it is accurate.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the widest P2 range?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كَانَ مُرْشِدِي قَدْ أَشَارَ إِلَى أَنَّنِي سَأَنْجَحُ، وَلَوْ تَوَافَرَتِ المَوَارِدُ، لَتَفَوَّقْتُ.</a:t>
            </a:r>
            <a:endParaRPr lang="ar-SA" sz="1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التَّعْلِيمُ جَيِّدٌ وَالمُسْتَقْبَلُ جَيِّدٌ.</a:t>
            </a:r>
            <a:endParaRPr lang="ar-SA" sz="1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أُحِبُّ الدِّرَاسَةَ.</a:t>
            </a:r>
            <a:endParaRPr lang="ar-SA" sz="1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correctly shows both conditional types?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إِذَا قُبِلْتُ سَأَدْرُسُ؛ وَإِذَا تَوَافَرَ الدَّعْمُ سَأَتَفَوَّقُ.</a:t>
            </a:r>
            <a:endParaRPr lang="ar-SA" sz="14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إِذَا قُبِلْتُ سَأَدْرُسُ؛ وَلَوْ تَوَافَرَ الدَّعْمُ لَتَفَوَّقْتُ.</a:t>
            </a:r>
            <a:endParaRPr lang="ar-SA" sz="14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لَوْ قُبِلْتُ لَدَرَسْتُ؛ وَلَوْ تَوَافَرَ الدَّعْمُ لَتَفَوَّقْتُ.</a:t>
            </a:r>
            <a:endParaRPr lang="ar-SA" sz="14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teacher accurately?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أُسْتَاذِي إِلَى أَنَّنِي مُجْتَهِدٌ.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أُسْتَاذِي أَنَّنِي مُجْتَهِدٌ.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أُسْتَاذِي أَنَّنِي مُجْتَهِدٌ.</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the widest P2 range?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كَانَ مُرْشِدِي قَدْ أَشَارَ إِلَى أَنَّنِي سَأَنْجَحُ، وَلَوْ تَوَافَرَتِ المَوَارِدُ، لَتَفَوَّقْتُ.</a:t>
            </a:r>
            <a:endParaRPr lang="ar-SA" sz="1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التَّعْلِيمُ جَيِّدٌ وَالمُسْتَقْبَلُ جَيِّدٌ.</a:t>
            </a:r>
            <a:endParaRPr lang="ar-SA" sz="1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أُحِبُّ الدِّرَاسَةَ.</a:t>
            </a:r>
            <a:endParaRPr lang="ar-SA" sz="1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a past perfect, reported speech and a Type 2 conditional.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correctly shows both conditional types?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إِذَا قُبِلْتُ سَأَدْرُسُ؛ وَإِذَا تَوَافَرَ الدَّعْمُ سَأَتَفَوَّقُ.</a:t>
            </a:r>
            <a:endParaRPr lang="ar-SA" sz="14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إِذَا قُبِلْتُ سَأَدْرُسُ؛ وَلَوْ تَوَافَرَ الدَّعْمُ لَتَفَوَّقْتُ.</a:t>
            </a:r>
            <a:endParaRPr lang="ar-SA" sz="14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لَوْ قُبِلْتُ لَدَرَسْتُ؛ وَلَوْ تَوَافَرَ الدَّعْمُ لَتَفَوَّقْتُ.</a:t>
            </a:r>
            <a:endParaRPr lang="ar-SA" sz="14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Type 1 and one Type 2.</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teacher accurately?</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أَشَارَ أُسْتَاذِي إِلَى أَنَّنِي مُجْتَهِدٌ.</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أَشَارَ أُسْتَاذِي أَنَّنِي مُجْتَهِدٌ.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قَالَ أُسْتَاذِي أَنَّنِي مُجْتَهِدٌ.</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أَشَارَ إِلَى أَنَّ</a:t>
            </a:r>
            <a:pPr algn="l" indent="0" marL="0">
              <a:buNone/>
            </a:pPr>
            <a:r>
              <a:rPr lang="en-US" sz="1050" i="1" dirty="0">
                <a:solidFill>
                  <a:srgbClr val="8A6D1E"/>
                </a:solidFill>
                <a:latin typeface="Calibri" pitchFamily="34" charset="0"/>
                <a:cs typeface="Amiri" pitchFamily="2" charset="-78"/>
              </a:rPr>
              <a:t> is correct.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an annotated model (extract)</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كُنْتُ قَدْ قَرَّرْتُ دِرَاسَةَ الطِّبِّ مُنْذُ المَرْحَلَةِ الإِعْدَادِيَّةِ، وَبِحُلُولِ الثَّانَوِيَّةِ كُنْتُ قَدْ أَنْجَزْتُ مَشْرُوعًا بَحْثِيًّا. أَدْرُسُ الآنَ فِي السَّنَةِ الأَخِيرَةِ، وَقَدْ أَشَارَ أُسْتَاذِي إِلَى أَنَّنِي مُؤَهَّلٌ لِلْمُنَافَسَةِ، وَأَكَّدَ أَنَّ اجْتِهَادِي سَيُثْمِرُ. إِذَا قُبِلْتُ فِي كُلِّيَّةِ الطِّبِّ، سَأُكَرِّسُ جُهْدِي لِلْبَحْثِ. عَلَى الرَّغْمِ مِنْ ذٰلِكَ، لَوْ تَوَافَرَتْ لِي مَوَارِدُ أَفْضَلُ مُبَكِّرًا، لَكُنْتُ قَدْ تَقَدَّمْتُ أَكْثَرَ. عِلَاوَةً عَلَى ذٰلِكَ، أَرَى أَنَّ التَّعْلِيمَ أَقْوَى أَدَاةٍ لِلتَّغْيِيرِ. وَخِتَامًا، سَوْفَ أَسْعَى إِلَى خِدْمَةِ مُجْتَمَعِي.</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المَرْحَلَةِ الإِعْدَادِيَّةِ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middle school</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أَنْجَزْتُ</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completed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مَشْرُوعًا بَحْثِيًّا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research project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مُؤَهَّلٌ لِلْمُنَافَسَةِ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qualified to compete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سَيُثْمِرُ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will bear fruit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كُلِّيَّةِ الطِّبِّ</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medical school</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سَأُكَرِّسُ جُهْدِي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will devote my effort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تَوَافَرَتْ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were available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مَوَارِدُ</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resources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خِدْمَةِ مُجْتَمَعِي</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serving my community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opens the text?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future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past perfect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rhetorical question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teacher's view presented?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the writer's own view</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statistic</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Through reported speech (</a:t>
            </a:r>
            <a:pPr algn="l" indent="0" marL="0">
              <a:buNone/>
            </a:pPr>
            <a:r>
              <a:rPr lang="ar-SA" altLang="en-US" sz="1650" dirty="0">
                <a:solidFill>
                  <a:srgbClr val="1F2A37"/>
                </a:solidFill>
                <a:latin typeface="Amiri" pitchFamily="2" charset="-78"/>
                <a:ea typeface="Amiri" pitchFamily="2" charset="-78"/>
                <a:cs typeface="Amiri" pitchFamily="2" charset="-78"/>
              </a:rPr>
              <a:t>أَشَارَ … أَنَّ</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1 conditional?</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قُبِلْتُ … سَأُكَرِّسُ جُهْدِي</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تَوَافَرَتْ … لَكُنْتُ تَقَدَّمْتُ</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 أَنْجَزْتُ</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conditional?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إِذَا قُبِلْتُ سَأُكَرِّسُ جُهْدِي</a:t>
            </a:r>
            <a:endParaRPr lang="ar-SA" sz="150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لَوْ تَوَافَرَتْ لِي مَوَارِدُ أَفْضَلُ، لَكُنْتُ قَدْ تَقَدَّمْتُ</a:t>
            </a:r>
            <a:endParaRPr lang="ar-SA" sz="15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أَرَى أَنَّ التَّعْلِيمَ أَقْوَى أَدَاةٍ</a:t>
            </a:r>
            <a:endParaRPr lang="ar-SA" sz="150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text close?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the future and a formal connector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question</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statistic</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opens the text?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future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past perfect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rhetorical question</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كُنْتُ قَدْ قَرَّرْتُ</a:t>
            </a:r>
            <a:pPr algn="l" indent="0" marL="0">
              <a:buNone/>
            </a:pPr>
            <a:r>
              <a:rPr lang="en-US" sz="1050" i="1" dirty="0">
                <a:solidFill>
                  <a:srgbClr val="8A6D1E"/>
                </a:solidFill>
                <a:latin typeface="Calibri" pitchFamily="34" charset="0"/>
                <a:cs typeface="Amiri" pitchFamily="2" charset="-78"/>
              </a:rPr>
              <a:t> … is the past perfect.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teacher's view presented?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the writer's own view</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a statistic</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Through reported speech (</a:t>
            </a:r>
            <a:pPr algn="l" indent="0" marL="0">
              <a:buNone/>
            </a:pPr>
            <a:r>
              <a:rPr lang="ar-SA" altLang="en-US" sz="1550" b="1" dirty="0">
                <a:solidFill>
                  <a:srgbClr val="1F2A37"/>
                </a:solidFill>
                <a:latin typeface="Amiri" pitchFamily="2" charset="-78"/>
                <a:ea typeface="Amiri" pitchFamily="2" charset="-78"/>
                <a:cs typeface="Amiri" pitchFamily="2" charset="-78"/>
              </a:rPr>
              <a:t>أَشَارَ … أَنَّ</a:t>
            </a:r>
            <a:pPr algn="l" indent="0" marL="0">
              <a:buNone/>
            </a:pPr>
            <a:r>
              <a:rPr lang="en-US" sz="1200" b="1" dirty="0">
                <a:solidFill>
                  <a:srgbClr val="1F2A37"/>
                </a:solidFill>
                <a:latin typeface="Calibri" pitchFamily="34" charset="0"/>
                <a:cs typeface="Amiri" pitchFamily="2" charset="-78"/>
              </a:rPr>
              <a:t>)</a:t>
            </a:r>
            <a:endParaRPr lang="en-US" sz="12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أَشَارَ أُسْتَاذِي إِلَى أَنَّنِي مُؤَهَّلٌ.</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1 conditional?</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قُبِلْتُ … سَأُكَرِّسُ جُهْدِي</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تَوَافَرَتْ … لَكُنْتُ تَقَدَّمْتُ</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قَدْ أَنْجَزْتُ</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the Type 1 conditional.</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conditional?</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إِذَا قُبِلْتُ سَأُكَرِّسُ جُهْدِي</a:t>
            </a:r>
            <a:endParaRPr lang="ar-SA" sz="150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تَوَافَرَتْ لِي مَوَارِدُ أَفْضَلُ، لَكُنْتُ قَدْ تَقَدَّمْتُ</a:t>
            </a:r>
            <a:endParaRPr lang="ar-SA" sz="15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أَرَى أَنَّ التَّعْلِيمَ أَقْوَى أَدَاةٍ</a:t>
            </a:r>
            <a:endParaRPr lang="ar-SA" sz="15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Type 2 conditional.</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text close?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With the future and a formal connector</a:t>
            </a:r>
            <a:endParaRPr lang="en-US" sz="12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question</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statistic</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وَخِتَامًا، سَوْفَ أَسْعَى إِلَى خِدْمَةِ مُجْتَمَعِي.</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Range Mission — Integrate the Five Structures</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Structure: which belongs in the background?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تَوَافَرَ الدَّعْمُ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 قَرَّرْتُ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أَسْعَى</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complete — </a:t>
            </a:r>
            <a:pPr algn="l" indent="0" marL="0">
              <a:buNone/>
            </a:pPr>
            <a:r>
              <a:rPr lang="ar-SA" altLang="en-US" sz="1650" b="1" dirty="0">
                <a:solidFill>
                  <a:srgbClr val="1B3B6F"/>
                </a:solidFill>
                <a:latin typeface="Amiri" pitchFamily="2" charset="-78"/>
                <a:ea typeface="Amiri" pitchFamily="2" charset="-78"/>
                <a:cs typeface="Amiri" pitchFamily="2" charset="-78"/>
              </a:rPr>
              <a:t>أَشَارَ أُسْتَاذِي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أَنَّنِي مُؤَهَّلٌ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مُرْشِدِي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المَجَالَ وَاعِدٌ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 قُبِلْتُ،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جُهْدِي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لَأُكَرِّسُ</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كَرَّسْتُ</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سَأُكَرِّسُ</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تَوَافَرَتِ المَوَارِدُ،</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لَتَفَوَّقْتُ</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سَأَتَفَوَّقُ</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أَتَفَوَّقُ</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قَدْ أَنْجَزْتُ مَشْرُوعًا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Structure: which belongs in the background?</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تَوَافَرَ الدَّعْمُ</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 قَرَّرْتُ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أَسْعَى</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opens the background.</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complete — </a:t>
            </a:r>
            <a:pPr algn="l" indent="0" marL="0">
              <a:buNone/>
            </a:pPr>
            <a:r>
              <a:rPr lang="ar-SA" altLang="en-US" sz="1650" b="1" dirty="0">
                <a:solidFill>
                  <a:srgbClr val="1B3B6F"/>
                </a:solidFill>
                <a:latin typeface="Amiri" pitchFamily="2" charset="-78"/>
                <a:ea typeface="Amiri" pitchFamily="2" charset="-78"/>
                <a:cs typeface="Amiri" pitchFamily="2" charset="-78"/>
              </a:rPr>
              <a:t>أَشَارَ أُسْتَاذِي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أَنَّنِي مُؤَهَّلٌ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أَشَارَ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مُرْشِدِي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المَجَالَ وَاعِدٌ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 قُبِلْتُ،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جُهْدِي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لَأُكَرِّسُ</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كَرَّسْتُ</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سَأُكَرِّسُ</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تَوَافَرَتِ المَوَارِدُ،</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لَتَفَوَّقْتُ</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سَأَتَفَوَّقُ</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أَتَفَوَّقُ</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on a past verb.</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قَدْ أَنْجَزْتُ مَشْرُوعًا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كُنْتُ</a:t>
            </a:r>
            <a:pPr algn="l" indent="0" marL="0">
              <a:buNone/>
            </a:pPr>
            <a:r>
              <a:rPr lang="en-US" sz="1050" i="1" dirty="0">
                <a:solidFill>
                  <a:srgbClr val="8A6D1E"/>
                </a:solidFill>
                <a:latin typeface="Calibri" pitchFamily="34" charset="0"/>
                <a:cs typeface="Amiri" pitchFamily="2" charset="-78"/>
              </a:rPr>
              <a:t> is the first-person past-perfect form.</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P2-L10 · Listening — Education and Future Plans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مُشَتِّتٌ</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distractor (in a test)</a:t>
            </a:r>
            <a:pPr indent="0" marL="0">
              <a:buNone/>
            </a:pPr>
            <a:r>
              <a:rPr lang="ar-SA" sz="1000" i="1" dirty="0">
                <a:solidFill>
                  <a:srgbClr val="5A6472"/>
                </a:solidFill>
                <a:latin typeface="Calibri" pitchFamily="34" charset="0"/>
                <a:ea typeface="Amiri" pitchFamily="2" charset="-78"/>
                <a:cs typeface="Amiri" pitchFamily="2" charset="-78"/>
              </a:rPr>
              <a:t>  pl. مُشَتِّتَاتٌ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كَلِمَةٌ مِفْتَاحِيَّةٌ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key word</a:t>
            </a:r>
            <a:pPr indent="0" marL="0">
              <a:buNone/>
            </a:pPr>
            <a:r>
              <a:rPr lang="ar-SA" sz="1000" i="1" dirty="0">
                <a:solidFill>
                  <a:srgbClr val="5A6472"/>
                </a:solidFill>
                <a:latin typeface="Calibri" pitchFamily="34" charset="0"/>
                <a:ea typeface="Amiri" pitchFamily="2" charset="-78"/>
                <a:cs typeface="Amiri" pitchFamily="2" charset="-78"/>
              </a:rPr>
              <a:t>  pl. كَلِمَاتٌ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مَنْحَةٌ دِرَاسِيَّةٌ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scholarship</a:t>
            </a:r>
            <a:pPr indent="0" marL="0">
              <a:buNone/>
            </a:pPr>
            <a:r>
              <a:rPr lang="ar-SA" sz="1000" i="1" dirty="0">
                <a:solidFill>
                  <a:srgbClr val="5A6472"/>
                </a:solidFill>
                <a:latin typeface="Calibri" pitchFamily="34" charset="0"/>
                <a:ea typeface="Amiri" pitchFamily="2" charset="-78"/>
                <a:cs typeface="Amiri" pitchFamily="2" charset="-78"/>
              </a:rPr>
              <a:t>  pl. مِنَحٌ</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نِسْبَةُ القَبُولِ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acceptance rate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ضَغْطُ الامْتِحَانَاتِ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exam pressure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When you listen, how can you tell a real condition from a hypothetical one?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350" b="1" dirty="0">
                <a:solidFill>
                  <a:srgbClr val="1B3B6F"/>
                </a:solidFill>
                <a:latin typeface="Amiri" pitchFamily="2" charset="-78"/>
                <a:ea typeface="Amiri" pitchFamily="2" charset="-78"/>
                <a:cs typeface="Amiri" pitchFamily="2" charset="-78"/>
              </a:rPr>
              <a:t>أَعْرِفُ أَنَّ الشَّرْطَ افْتِرَاضِيٌّ عِنْدَمَا أَسْمَعُ « ______ » فِي البِدَايَةِ وَ« ______ » فِي الجَوَابِ.</a:t>
            </a:r>
            <a:endParaRPr lang="ar-SA" sz="135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the four-paragraph plan with one sentence per structure.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140-word version and label the five structures in colour.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the full 140–155-word article, with one triple-structure sentence.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P2-L10 · Listening — Education and Future Plans Texts</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نُصُوصُ التَّعْلِيمِ وَخُطَطِ المُسْتَقْبَلِ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four moves — background (kuntu qad) · reality (ashāra ilā anna) · analysis (idhā … sa- AND law … la-) · conclusion (wa-khitāman, sawfa) — at least two formal connectors, and one sentence that does three jobs.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P2-L09 · Writing — Education and Future Plans (Paper 4 Extended Writing)</dc:title>
  <dc:subject>PptxGenJS Presentation</dc:subject>
  <dc:creator>Al Madina Online School · Arabic Department</dc:creator>
  <cp:lastModifiedBy>Al Madina Online School · Arabic Department</cp:lastModifiedBy>
  <cp:revision>1</cp:revision>
  <dcterms:created xsi:type="dcterms:W3CDTF">2026-10-11T06:43:04Z</dcterms:created>
  <dcterms:modified xsi:type="dcterms:W3CDTF">2026-10-11T06:43:04Z</dcterms:modified>
</cp:coreProperties>
</file>