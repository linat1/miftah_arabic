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(Progression P2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P1 habit) · أَنَّ + accusative (P1-L07) · the Type 1 conditional (P1-L03)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P1-L12. Questions 4–5 retrieve the P1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past and plural forms needed for the comparison and for narrating your own school history (P2 builds on these all unit).
اجْتَازَ is a hollow Form VIII verb (root ج-و-ز): اجْتَزْتُ (I passed) — the same pattern as زِدْتُ / نِمْتُ from P1.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“Formal contrast” (set one system against another instead of chaining وَ) and teaching point “Compare, do not just list”.
Case after فِي حِينِ أَنَّ: the noun is accusative (نِظَامًا آخَرَ · النِّظَامَ) — the P1-L07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P1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(P2-L02 · Reported Speech — What People Say About Education) will spend class time USING this language, so students prepare it tonight — short, simple, easy to access (school guidance: “Simple, Short, Interesting, Relevant, Easy to access”). The five words come from the website P2-L02 vocabulary (reported speech).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ea typeface="Cambria" pitchFamily="34" charset="-122"/>
                <a:cs typeface="Cambria" pitchFamily="34" charset="-120"/>
              </a:rPr>
              <a:t>School Systems and Academic Life</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المَنْظُومَاتُ التَّعْلِيمِيَّةُ وَالحَيَاةُ الأَكَادِيمِيَّةُ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education systems in academic Arabic: the stages, the exam verbs with their complements (</a:t>
            </a:r>
            <a:pPr algn="l" indent="0" marL="0">
              <a:buNone/>
            </a:pPr>
            <a:r>
              <a:rPr lang="ar-SA" altLang="en-US" sz="1800" dirty="0">
                <a:solidFill>
                  <a:srgbClr val="C6D2E6"/>
                </a:solidFill>
                <a:latin typeface="Amiri" pitchFamily="34" charset="0"/>
                <a:ea typeface="Amiri" pitchFamily="34" charset="-122"/>
                <a:cs typeface="Amiri" pitchFamily="34" charset="-120"/>
              </a:rPr>
              <a:t>يَجْتَازُ الامْتِحَانَ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يَتَفَوَّقُ فِي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يَلْتَحِقُ بِـ</a:t>
            </a:r>
            <a:pPr algn="l" indent="0" marL="0">
              <a:buNone/>
            </a:pPr>
            <a:r>
              <a:rPr lang="en-US" sz="1400" dirty="0">
                <a:solidFill>
                  <a:srgbClr val="C6D2E6"/>
                </a:solidFill>
                <a:latin typeface="Calibri" pitchFamily="34" charset="0"/>
                <a:ea typeface="Calibri" pitchFamily="34" charset="-122"/>
                <a:cs typeface="Calibri" pitchFamily="34" charset="-120"/>
              </a:rPr>
              <a:t>), and formal comparison (</a:t>
            </a:r>
            <a:pPr algn="l" indent="0" marL="0">
              <a:buNone/>
            </a:pPr>
            <a:r>
              <a:rPr lang="ar-SA" altLang="en-US" sz="1800" dirty="0">
                <a:solidFill>
                  <a:srgbClr val="C6D2E6"/>
                </a:solidFill>
                <a:latin typeface="Amiri" pitchFamily="34" charset="0"/>
                <a:ea typeface="Amiri" pitchFamily="34" charset="-122"/>
                <a:cs typeface="Amiri" pitchFamily="34" charset="-120"/>
              </a:rPr>
              <a:t>بَيْنَمَا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فِي حِينِ أَنَّ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يَتَمَيَّزُ بِـ</a:t>
            </a:r>
            <a:pPr algn="l" indent="0" marL="0">
              <a:buNone/>
            </a:pPr>
            <a:r>
              <a:rPr lang="en-US" sz="1400" dirty="0">
                <a:solidFill>
                  <a:srgbClr val="C6D2E6"/>
                </a:solidFill>
                <a:latin typeface="Calibri" pitchFamily="34" charset="0"/>
                <a:ea typeface="Calibri" pitchFamily="34" charset="-122"/>
                <a:cs typeface="Calibri" pitchFamily="34" charset="-120"/>
              </a:rPr>
              <a:t>) instead of a list.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P2-L01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P1-L07: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يَجْتَازُ الامْتِحَانَ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يَتَفَوَّقُ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‎ثانوی‎ </a:t>
            </a:r>
            <a:pPr indent="0" marL="0">
              <a:buNone/>
            </a:pPr>
            <a:r>
              <a:rPr lang="en-US" sz="950" b="1" dirty="0">
                <a:solidFill>
                  <a:srgbClr val="2E8B57"/>
                </a:solidFill>
                <a:latin typeface="Calibri" pitchFamily="34" charset="0"/>
                <a:ea typeface="Calibri" pitchFamily="34" charset="-122"/>
                <a:cs typeface="Calibri" pitchFamily="34" charset="-120"/>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‎مضمون‎ </a:t>
            </a:r>
            <a:pPr indent="0" marL="0">
              <a:buNone/>
            </a:pPr>
            <a:r>
              <a:rPr lang="en-US" sz="950" b="1" dirty="0">
                <a:solidFill>
                  <a:srgbClr val="2E8B57"/>
                </a:solidFill>
                <a:latin typeface="Calibri" pitchFamily="34" charset="0"/>
                <a:ea typeface="Calibri" pitchFamily="34" charset="-122"/>
                <a:cs typeface="Calibri" pitchFamily="34" charset="-120"/>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‎سند / شہادت‎ </a:t>
            </a:r>
            <a:pPr indent="0" marL="0">
              <a:buNone/>
            </a:pPr>
            <a:r>
              <a:rPr lang="en-US" sz="950" b="1" dirty="0">
                <a:solidFill>
                  <a:srgbClr val="2E8B57"/>
                </a:solidFill>
                <a:latin typeface="Calibri" pitchFamily="34" charset="0"/>
                <a:ea typeface="Calibri" pitchFamily="34" charset="-122"/>
                <a:cs typeface="Calibri" pitchFamily="34" charset="-120"/>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education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primary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preparatory (middle)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curriculum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module,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compulsory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elective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grade point average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 examinations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assessment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transcript of grades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accreditation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teaching qualification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secondary certificate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enrols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passes (an exam)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excels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specialises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relies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يَجْتَازُ الطُّلَّابُ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الامْتِحَانَ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يَتَفَوَّقُ الطَّالِبُ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يَرْسُبُ بَعْضُ الطُّلَّابِ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تَتَخَصَّصُ أُخْتِي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بِالجَامِعَةِ</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تَحْصُلُ </a:t>
            </a:r>
            <a:pPr rtl="1" algn="ctr" indent="0" marL="0">
              <a:buNone/>
            </a:pPr>
            <a:r>
              <a:rPr lang="ar-SA" altLang="en-US" sz="2000" b="1" dirty="0">
                <a:solidFill>
                  <a:srgbClr val="7B3FA0"/>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hollow rule as zidtu and nimtu (P1):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بَيْنَمَا</a:t>
            </a:r>
            <a:pPr algn="l" indent="0" marL="0">
              <a:buNone/>
            </a:pPr>
            <a:r>
              <a:rPr lang="en-US" sz="1600" b="1" dirty="0">
                <a:solidFill>
                  <a:srgbClr val="8A6D1E"/>
                </a:solidFill>
                <a:latin typeface="Calibri" pitchFamily="34" charset="0"/>
                <a:ea typeface="Calibri" pitchFamily="34" charset="-122"/>
                <a:cs typeface="Calibri" pitchFamily="34" charset="-120"/>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34" charset="0"/>
                <a:ea typeface="Amiri" pitchFamily="34" charset="-122"/>
                <a:cs typeface="Amiri" pitchFamily="34" charset="-120"/>
              </a:rPr>
              <a:t>فِي حِينِ أَنَّ</a:t>
            </a:r>
            <a:pPr algn="l" indent="0" marL="0">
              <a:buNone/>
            </a:pPr>
            <a:r>
              <a:rPr lang="en-US" sz="1250" b="1" dirty="0">
                <a:solidFill>
                  <a:srgbClr val="8A6D1E"/>
                </a:solidFill>
                <a:latin typeface="Calibri" pitchFamily="34" charset="0"/>
                <a:ea typeface="Calibri" pitchFamily="34" charset="-122"/>
                <a:cs typeface="Calibri" pitchFamily="34" charset="-120"/>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النِّظَامُ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بِمُرُونَةِ</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نِظَامٌ جَيِّدٌ </a:t>
            </a:r>
            <a:pPr rtl="1" algn="ctr" indent="0" marL="0">
              <a:buNone/>
            </a:pPr>
            <a:r>
              <a:rPr lang="ar-SA" altLang="en-US" sz="2000" b="1" dirty="0">
                <a:solidFill>
                  <a:srgbClr val="0E7C86"/>
                </a:solidFill>
                <a:latin typeface="Amiri" pitchFamily="34" charset="0"/>
                <a:ea typeface="Amiri" pitchFamily="34" charset="-122"/>
                <a:cs typeface="Amiri" pitchFamily="34" charset="-120"/>
              </a:rPr>
              <a:t>بِتَوَازُنٍ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بَيْنَ المَوَادِّ </a:t>
            </a:r>
            <a:pPr rtl="1" algn="ctr" indent="0" marL="0">
              <a:buNone/>
            </a:pPr>
            <a:r>
              <a:rPr lang="ar-SA" altLang="en-US" sz="2000" b="1" dirty="0">
                <a:solidFill>
                  <a:srgbClr val="0E7C86"/>
                </a:solidFill>
                <a:latin typeface="Amiri" pitchFamily="34" charset="0"/>
                <a:ea typeface="Amiri" pitchFamily="34" charset="-122"/>
                <a:cs typeface="Amiri" pitchFamily="34" charset="-120"/>
              </a:rPr>
              <a:t>وَبِنِظَامِ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تَتَمَيَّزُ</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بِمَرَاحِلَ</a:t>
            </a:r>
            <a:pPr rtl="1" algn="ctr" indent="0" marL="0">
              <a:buNone/>
            </a:pPr>
            <a:r>
              <a:rPr lang="ar-SA" altLang="en-US" sz="2000" b="1" dirty="0">
                <a:solidFill>
                  <a:srgbClr val="1B3B6F"/>
                </a:solidFill>
                <a:latin typeface="Amiri" pitchFamily="34" charset="0"/>
                <a:ea typeface="Amiri" pitchFamily="34" charset="-122"/>
                <a:cs typeface="Amiri" pitchFamily="34" charset="-120"/>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المُتَفَوِّقُونَ بِالجَامِعَاتِ، </a:t>
            </a:r>
            <a:pPr rtl="1" algn="ctr" indent="0" marL="0">
              <a:buNone/>
            </a:pPr>
            <a:r>
              <a:rPr lang="ar-SA" altLang="en-US" sz="2000" b="1" dirty="0">
                <a:solidFill>
                  <a:srgbClr val="D6336C"/>
                </a:solidFill>
                <a:latin typeface="Amiri" pitchFamily="34" charset="0"/>
                <a:ea typeface="Amiri" pitchFamily="34" charset="-122"/>
                <a:cs typeface="Amiri" pitchFamily="34" charset="-120"/>
              </a:rPr>
              <a:t>بَيْنَمَا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إِذَا رَكَّزَتِ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عَلَى التَّفْكِيرِ، </a:t>
            </a:r>
            <a:pPr rtl="1" algn="ctr" indent="0" marL="0">
              <a:buNone/>
            </a:pPr>
            <a:r>
              <a:rPr lang="ar-SA" altLang="en-US" sz="2000" b="1" dirty="0">
                <a:solidFill>
                  <a:srgbClr val="7B3FA0"/>
                </a:solidFill>
                <a:latin typeface="Amiri" pitchFamily="34" charset="0"/>
                <a:ea typeface="Amiri" pitchFamily="34" charset="-122"/>
                <a:cs typeface="Amiri" pitchFamily="34" charset="-120"/>
              </a:rPr>
              <a:t>فَسَيَزْدَادُ</a:t>
            </a:r>
            <a:pPr rtl="1" algn="ctr" indent="0" marL="0">
              <a:buNone/>
            </a:pPr>
            <a:r>
              <a:rPr lang="ar-SA" altLang="en-US" sz="2000" b="1" dirty="0">
                <a:solidFill>
                  <a:srgbClr val="1B3B6F"/>
                </a:solidFill>
                <a:latin typeface="Amiri" pitchFamily="34" charset="0"/>
                <a:ea typeface="Amiri" pitchFamily="34" charset="-122"/>
                <a:cs typeface="Amiri" pitchFamily="34" charset="-120"/>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يَجْتَازُ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الطُّلَّابُ الامْتِحَانَاتِ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يَتَفَوَّقُ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فِي المُقَابِلِ</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pPr rtl="1" algn="ctr" indent="0" marL="0">
              <a:buNone/>
            </a:pPr>
            <a:r>
              <a:rPr lang="ar-SA" altLang="en-US" sz="2550" b="1" dirty="0">
                <a:solidFill>
                  <a:srgbClr val="0E7C86"/>
                </a:solidFill>
                <a:latin typeface="Amiri" pitchFamily="34" charset="0"/>
                <a:ea typeface="Amiri" pitchFamily="34" charset="-122"/>
                <a:cs typeface="Amiri" pitchFamily="34" charset="-120"/>
              </a:rPr>
              <a:t>بَيْنَمَا</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يَتَمَيَّزُ</a:t>
            </a:r>
            <a:pPr rtl="1" algn="ctr" indent="0" marL="0">
              <a:buNone/>
            </a:pPr>
            <a:r>
              <a:rPr lang="ar-SA" altLang="en-US" sz="2400" b="1" dirty="0">
                <a:solidFill>
                  <a:srgbClr val="1B3B6F"/>
                </a:solidFill>
                <a:latin typeface="Amiri" pitchFamily="34" charset="0"/>
                <a:ea typeface="Amiri" pitchFamily="34" charset="-122"/>
                <a:cs typeface="Amiri" pitchFamily="34" charset="-120"/>
              </a:rPr>
              <a:t> كُلُّ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وَيَجْتَازُ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وَيَتَفَوَّقُ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بَعْضُهُمْ فَيَلْتَحِقُونَ بِالجَامِعَاتِ.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المُقَابِلِ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يَخْتَلِفُ النِّظَامُ فِي بَعْضِ الدُّوَلِ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نِظَامٍ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بِتَوَازُنٍ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students pass the exam at sixteen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excels in science and enrols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the first system relies on exams, the second relies on projects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sets the two systems against each other with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يَجْتَازُ</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not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يَلْتَحِقُ</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يَتَمَيَّزُ</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مَرَاحِلَ نِظَامِكَ التَّعْلِيمِيِّ.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نِظَامَيْنِ مُسْتَعْمِلًا بَيْنَمَا أَوْ فِي حِينِ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يَتَمَيَّزُ نِظَامُكَ المِثَالِيُّ؟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34" charset="0"/>
                <a:ea typeface="Amiri" pitchFamily="34" charset="-122"/>
                <a:cs typeface="Amiri" pitchFamily="34" charset="-120"/>
              </a:rPr>
              <a:t>يَتَكَوَّنُ نِظَامُنَا مِنْ ___ مَرَاحِلَ، وَيَجْتَازُ الطُّلَّابُ ___ .</a:t>
            </a:r>
            <a:endParaRPr lang="ar-SA" sz="11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بَيْنَمَا ___ فِي بَلَدِي، ___ فِي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يَتَمَيَّزُ نِظَامِي المِثَالِيُّ بِمُرُونَةِ ___ ، وَإِذَا ___ ، سَتَتَحَسَّنُ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مَرَاحِلَ نِظَامِكَ.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the stages of your system.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يَتَكَوَّنُ نِظَامُنَا مِنْ ثَلَاثِ مَرَاحِلَ، وَيَجْتَازُ الطُّلَّابُ امْتِحَانَاتِ الشَّهَادَةِ فِي نِهَايَةِ الثَّانَوِيَّةِ.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Our system has three stages, and students sit the certificate exams at the end of secondary school.</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comparing two education systems. Use </a:t>
            </a:r>
            <a:pPr algn="l" indent="0" marL="0">
              <a:buNone/>
            </a:pPr>
            <a:r>
              <a:rPr lang="ar-SA" altLang="en-US" sz="1750" b="1" dirty="0">
                <a:solidFill>
                  <a:srgbClr val="1F2A37"/>
                </a:solidFill>
                <a:latin typeface="Amiri" pitchFamily="34" charset="0"/>
                <a:ea typeface="Amiri" pitchFamily="34" charset="-122"/>
                <a:cs typeface="Amiri" pitchFamily="34" charset="-120"/>
              </a:rPr>
              <a:t>يَجْتَازُ</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يَتَفَوَّقُ فِي</a:t>
            </a:r>
            <a:pPr algn="l" indent="0" marL="0">
              <a:buNone/>
            </a:pPr>
            <a:r>
              <a:rPr lang="en-US" sz="1350" b="1" dirty="0">
                <a:solidFill>
                  <a:srgbClr val="1F2A37"/>
                </a:solidFill>
                <a:latin typeface="Calibri" pitchFamily="34" charset="0"/>
                <a:ea typeface="Calibri" pitchFamily="34" charset="-122"/>
                <a:cs typeface="Calibri" pitchFamily="34" charset="-120"/>
              </a:rPr>
              <a:t>, at least two formal contrast connectors (</a:t>
            </a:r>
            <a:pPr algn="l" indent="0" marL="0">
              <a:buNone/>
            </a:pPr>
            <a:r>
              <a:rPr lang="ar-SA" altLang="en-US" sz="1750" b="1" dirty="0">
                <a:solidFill>
                  <a:srgbClr val="1F2A37"/>
                </a:solidFill>
                <a:latin typeface="Amiri" pitchFamily="34" charset="0"/>
                <a:ea typeface="Amiri" pitchFamily="34" charset="-122"/>
                <a:cs typeface="Amiri" pitchFamily="34" charset="-120"/>
              </a:rPr>
              <a:t>بَيْنَمَا، فِي حِينِ أَنَّ</a:t>
            </a:r>
            <a:pPr algn="l" indent="0" marL="0">
              <a:buNone/>
            </a:pPr>
            <a:r>
              <a:rPr lang="en-US" sz="1350" b="1" dirty="0">
                <a:solidFill>
                  <a:srgbClr val="1F2A37"/>
                </a:solidFill>
                <a:latin typeface="Calibri" pitchFamily="34" charset="0"/>
                <a:ea typeface="Calibri" pitchFamily="34" charset="-122"/>
                <a:cs typeface="Calibri" pitchFamily="34" charset="-120"/>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formal contrast connectors, not chained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P2-L02 · Reported Speech — What People Say About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 إِنَّ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said that</a:t>
            </a:r>
            <a:pPr indent="0" marL="0">
              <a:buNone/>
            </a:pPr>
            <a:r>
              <a:rPr lang="en-US" sz="1000" i="1" dirty="0">
                <a:solidFill>
                  <a:srgbClr val="5A6472"/>
                </a:solidFill>
                <a:latin typeface="Calibri" pitchFamily="34" charset="0"/>
                <a:ea typeface="Calibri" pitchFamily="34" charset="-122"/>
                <a:cs typeface="Calibri" pitchFamily="34" charset="-120"/>
              </a:rPr>
              <a:t>  قَالَتْ she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أَضَافَ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added that</a:t>
            </a:r>
            <a:pPr indent="0" marL="0">
              <a:buNone/>
            </a:pPr>
            <a:r>
              <a:rPr lang="en-US" sz="1000" i="1" dirty="0">
                <a:solidFill>
                  <a:srgbClr val="5A6472"/>
                </a:solidFill>
                <a:latin typeface="Calibri" pitchFamily="34" charset="0"/>
                <a:ea typeface="Calibri" pitchFamily="34" charset="-122"/>
                <a:cs typeface="Calibri" pitchFamily="34" charset="-120"/>
              </a:rPr>
              <a:t>  أَضَافَتْ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أَكَّدَ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stressed that</a:t>
            </a:r>
            <a:pPr indent="0" marL="0">
              <a:buNone/>
            </a:pPr>
            <a:r>
              <a:rPr lang="en-US" sz="1000" i="1" dirty="0">
                <a:solidFill>
                  <a:srgbClr val="5A6472"/>
                </a:solidFill>
                <a:latin typeface="Calibri" pitchFamily="34" charset="0"/>
                <a:ea typeface="Calibri" pitchFamily="34" charset="-122"/>
                <a:cs typeface="Calibri" pitchFamily="34" charset="-120"/>
              </a:rPr>
              <a:t>  أَكَّدَتْ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وَفْقًا لِـ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according to</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دِرَاسَةٌ حَدِيثَةٌ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recent study</a:t>
            </a:r>
            <a:pPr indent="0" marL="0">
              <a:buNone/>
            </a:pPr>
            <a:r>
              <a:rPr lang="en-US" sz="1000" i="1" dirty="0">
                <a:solidFill>
                  <a:srgbClr val="5A6472"/>
                </a:solidFill>
                <a:latin typeface="Calibri" pitchFamily="34" charset="0"/>
                <a:ea typeface="Calibri" pitchFamily="34" charset="-122"/>
                <a:cs typeface="Calibri" pitchFamily="34" charset="-120"/>
              </a:rPr>
              <a:t>  pl. دِرَاسَاتٌ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did a teacher or a parent once tell you about studying? Report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قَالَ لِي أَبِي إِنَّ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P2-L02 · Reported Speech — What People Say About Education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الكَلَامُ المَنْقُولُ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yajtāz al-imtiḥān (no preposition) · yatafawwaq / yarsub FĪ · yaltaḥiq BI- · yaḥṣul ʿALĀ — and compare, don’t list: baynamā … · fī ḥīni anna + -a · yatamayyaz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P2-L01 · School Systems and Academic Life</dc:title>
  <dc:subject>PptxGenJS Presentation</dc:subject>
  <dc:creator>Al Madina Online School · Arabic Department</dc:creator>
  <cp:lastModifiedBy>Al Madina Online School · Arabic Department</cp:lastModifiedBy>
  <cp:revision>1</cp:revision>
  <dcterms:created xsi:type="dcterms:W3CDTF">2026-10-10T10:26:12Z</dcterms:created>
  <dcterms:modified xsi:type="dcterms:W3CDTF">2026-10-10T10:26:12Z</dcterms:modified>
</cp:coreProperties>
</file>