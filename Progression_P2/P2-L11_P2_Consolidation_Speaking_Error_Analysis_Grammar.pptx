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P2-L11. The website lesson “Consolidation — Speaking Preparation, Error Analysis and Grammar Mastery”: vocabulary, grammar rules and quiz, patterns, common mistakes, sorter, listening, reading, speaking prompts and model, writing task and model, differentiation, final check and the lesson mission. Picture match: website visual game “Consolidation — Speaking Preparation and Grammar Mastery”.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CONSOLIDATION + SPEAKING REHEARSAL for the P2-L12 assessment (topic conversation on education and future plans). The website names the three highest-frequency slips: qāla anna · kāna / qad errors · a Type 2 result without la-.
• Core: correct six P2 errors and write three sentences from memory. Develop: add a past perfect, a reported clause and a Type 2 conditional. Stretch: answer the three required-structure questions fluently and spontaneously (website differentiation).
• The assessment topic conversation has three questions, each needing ONE structure: Q1 past perfect · Q2 reported speech · Q3 Type 2 (law … la-). The mark scheme records whether the Type 2 is produced spontaneously or avoided.
• Speaking routine for every answer: STRUCTURE first (the required one) → REASON (لِأَنَّ …) → EXTRA (a second P2 structure). Collect each student’s one “priority error” for L12.
• Sensitivity: students may not have firm plans — allow a persona (“a student who wants to study …”).
• TEACHER-WRITTEN ITEMS: waṣl alif shown without a kasra; rule headings and formulas in English and transliteration (rule examples without their English glosses); sorter headings in English; the required-structure questions follow the P2-L12 assessment numbering (Q1–Q3); the repair table adds three earlier P2 mistakes; the website visual game repeats the P2-L01 / P2-L03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P2-L10. Questions 4–5 retrieve two of the three highest-frequency P2 slips named by the website: qāla anna and a Type 2 result without la-.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P2 structure has ONE small marker — get the marker right and the structure is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مطابقت and ضمیر are shared. CAREFUL: Urdu ثقہ means “trustworthy” (of a narrator); Arabic الثِّقَةُ here is self-confidence. Urdu says اعتماد for confidence — also an Arabic word (اعْتِمَادٌ = reliance).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P2 error zones (website vocabulary (1 of 2)). Hear → Say → See → Use. Transliteration is printed for Core students (cover it for Develop/Stretch).
The P2 error zones — the labels for today’s repair work. Each card’s note gives the rule in one line: qāla → inna · kāna agrees · the verb after qad is past · la- in the Type 2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P2 error zones (website vocabulary (2 of 2)). Hear → Say → See → Use. Transliteration is printed for Core students (cover it for Develop/Stretch).
The P2 error zones — the labels for today’s repair work. Each card’s note gives the rule in one line: qāla → inna · kāna agrees · the verb after qad is past · la- in the Type 2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P2 grammar spine (website vocabulary (1 of 2)). Hear → Say → See → Use. Transliteration is printed for Core students (cover it for Develop/Stretch).
The P2 grammar spine: the four structures the assessment tests, plus four academic verbs with their partners (yajtāz + object · yatafawwaq fī · yuʾahhil li- · yuʿidd 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P2 grammar spine (website vocabulary (2 of 2)). Hear → Say → See → Use. Transliteration is printed for Core students (cover it for Develop/Stretch).
The P2 grammar spine: the four structures the assessment tests, plus four academic verbs with their partners (yajtāz + object · yatafawwaq fī · yuʾahhil li- · yuʿidd 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fluency (website vocabulary (1 of 2)). Hear → Say → See → Use. Transliteration is printed for Core students (cover it for Develop/Stretch).
FLEX: teach if time allows; otherwise these are on the website vocabulary tab for homework.
Speaking fluency (FLEX): words to talk ABOUT speaking — useful for the self-review after the mock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fluency (website vocabulary (2 of 2)). Hear → Say → See → Use. Transliteration is printed for Core students (cover it for Develop/Stretch).
FLEX: teach if time allows; otherwise these are on the website vocabulary tab for homework.
Speaking fluency (FLEX): words to talk ABOUT speaking — useful for the self-review after the mock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table, common error and reading “twelve sentences to repair” (six of them are here). Website teaching point “The three highest-frequency P2 slips”: qāla anna · kāna / qad errors · a Type 2 result without la-.
Website mistakes 1–3: قَالَ أَنَّ ✗ · كَانَتْ قَدْ ذَهَبَ ✗ · لَوْ عَمِلَ بِجِدٍّ، نَجَحَ ✗.
Core: rows 1, 2, 3 and 6 (the three highest-frequency slips). Drill: cover the Right column; students fix each one and NAME the zone. Then reverse — teacher says a zone, students give a correct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vocabulary group “The P2 grammar spine” and patterns (قَالَ أُسْتَاذِي إِنَّنِي مُؤَهَّلٌ، وَأَكَّدَ أَنَّ … · كُنْتُ قَدْ أَنْهَيْتُ بَحْثِي قَبْلَ أَنْ أَلْتَحِقَ … · لَوْ كَانَتْ ظُرُوفِي مُخْتَلِفَةً، لَتَغَيَّرَ مَسَارِي) and website rule 4 (academic verb complements).
Website challenge: “Write one accurate sentence for each of the five P2 structures” — cover the Example column and do exactly that.
Link the spine to the assessment parts: listening (who said it, idhā vs law) · reading (reporting verbs) · writing (Range) · speaking (required structures).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teaching point “Produce the required structure without being asked” and the three P2-L12 topic-conversation questions (past perfect required · reported speech required · Type 2 required). The website teaching point numbers them Q2 / Q3 / Q5; the assessment numbers them 1–3 — this slide follows the assessment.
Turn the question round: the examiner says كُنْتَ قَدْ قَرَّرْتَ (you) → the student answers كُنْتُ قَدْ قَرَّرْتُ (I) · مُعَلِّمُوكَ → قَالُوا إِنَّنِي (the pronoun switch).
Row 4: for a girl taught by women — قُلْنَ / أَكَّدْنَ (they, f. pl.). Accept قَالُوا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the website speaking model (لَوْ كَانَتْ ظُرُوفِي مُخْتَلِفَةً، لَاخْتَرْتُ مَسَارًا آخَرَ، لٰكِنَّ مُعَلِّمِي قَالَ إِنَّنِي فِي المَكَانِ الصَّحِيحِ) shows the routine: required structure → a second P2 structure; the mock conversation ends with the teacher’s praise «اسْتَعْمَلْتَ فِيهَا النَّوْعَ الثَّانِيَ مِنَ الشَّرْطِ تِلْقَائِيًّا».
Time-buying phrases if a student freezes: سُؤَالٌ مُهِمٌّ · دَعْنِي أُفَكِّرُ · بِصَرَاحَةٍ … Repair phrase: عَفْوًا، أَقْصِدُ …
Pairs practise with a timer: 30–40 seconds per answer, partner ticks S / R / E on their fingers.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“Targeted error analysis across the P2 structures, followed by accurate application in extended speaking: إِنَّ/أَنَّ, reported pronouns, كَانَ agreement, the verb after قَدْ, and the لَـ of the Type 2 result.”
• inna vs anna: Only قَالَ takes إِنَّ.
• Past-perfect agreement: كَانَ agrees with the subject; the verb after قَدْ is past.
• Type 1 vs Type 2 result: A Type 1 result takes سَـ; a Type 2 result takes لَـ.
• Academic verb complements: Each academic verb keeps its own preposition.
Website common error: قَالَ أَنَّ, a present verb after قَدْ, and a Type 2 result without the لَـ. Fix each at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spoken aloud as an exam answer. Think aloud: “Q1 wants the past perfect — kuntu qad, both -tu. Q2 wants reported speech — qāla inna-nī (me!), then akkada anna. Q3 wants law — and the result MUST start with la-.” Do it twice — the second time faster, as fluent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rows 1–3 are the website mistakes; rows 4–6 recycle mistakes from P2-L10, P2-L05 and P2-L09. Cover columns 2–3; pairs fix each slip and NAME the zone.
Core: rows 1–3. Develop: all six. Stretch: write two new slips of their own for a partner to repair.
Then each student writes their ONE priority error zone on a sticky note / in the chat — collect for 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an assessment-ready answer from a past-perfect background, a reported-speech citation and a Type 2 hypothesis.). Website feedback: Each background, citation and hypothesis is accurate on its own, so any three different combinations work.
Use it as oral rehearsal: one student reads a combination as an interview answer; the partner names each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full sentence for each card as fast as possible: قَالَ إِنَّنِي … · أَشَارَ إِلَى أَنَّ … · كَانَتْ قَدْ حَصَلَتْ … · إِذَا قُبِلْتُ سَـ … · لَوْ … لَـ … · إِذَا لَمْ أَجْتَهِدْ، لَنْ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full sentence for each card as fast as possible: قَالَ إِنَّنِي … · أَشَارَ إِلَى أَنَّ … · كَانَتْ قَدْ حَصَلَتْ … · إِذَا قُبِلْتُ سَـ … · لَوْ … لَـ … · إِذَا لَمْ أَجْتَهِدْ، لَنْ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the student’s Type 2 sentence word for word.
Listen 1: just listen. Listen 2: note answers. Then chat the letters.
Support: after the second listening, show the read-along slide (Arabic + English, line by line) for Core students.
SCRIPT (read aloud):
المُعَلِّمُ: مَا الَّذِي كُنْتَ قَدْ قَرَّرْتَهُ بِشَأْنِ مُسْتَقْبَلِكَ قَبْلَ هٰذَا العَامِ؟ الطَّالِبُ: كُنْتُ قَدْ قَرَّرْتُ دِرَاسَةَ الحَاسُوبِ، وَكُنْتُ قَدْ حَصَلْتُ عَلَى خِبْرَةٍ فِي البَرْمَجَةِ. المُعَلِّمُ: مَاذَا قَالَ مُعَلِّمُوكَ عَنْ طُمُوحَاتِكَ؟ الطَّالِبُ: قَالُوا إِنَّنِي مُؤَهَّلٌ، وَأَكَّدُوا أَنَّ اجْتِهَادِي سَيُثْمِرُ. المُعَلِّمُ: لَوْ كَانَتْ لَدَيْكَ مَوَارِدُ لَا نِهَائِيَّةٌ لِتَعَلُّمِ أَيِّ شَيْءٍ، مَاذَا سَتَخْتَارُ؟ الطَّالِبُ: لَوْ كَانَتْ لَدَيَّ مَوَارِدُ لَا نِهَائِيَّةٌ، لَتَعَلَّمْتُ الذَّكَاءَ الاصْطِنَاعِيَّ وَعُلُومَ الفَضَاءِ مَعًا. المُعَلِّمُ: إِجَابَةٌ مُتَوَازِنَةٌ اسْتَعْمَلْتَ فِيهَا النَّوْعَ الثَّانِي مِنَ الشَّرْطِ تِلْقَائِيًّا.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وَلَوْ كَانَتْ ظُرُوفُكَ مُخْتَلِفَةً؟ (Q — Type 2)
B: لَوْ كَانَتْ ظُرُوفِي مُخْتَلِفَةً، لَاخْتَرْتُ مَسَارًا آخَرَ، لٰكِنَّ مُعَلِّمِي قَالَ إِنَّنِي فِي المَكَانِ الصَّحِيحِ. (Type 2 plus reported speech)
Website prompts and model — the three required-structure questions. Pairs: examiner / candidate, 30–40 seconds per answer, then swap. The examiner ticks Structure · Reason · Extra. Stretch result must start with la- (لَاخْتَرْتُ · لَتَغَيَّرَ). To a girl: كُنْتِ قَدْ قَرَّرْتِهِ · مُسْتَقْبَلِكِ · مُعَلِّمُوكِ · طُمُوحَاتِكِ · ظُرُوفُكِ · مَسَارُكِ.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Correct six P2 errors and write three sentences from memory. · Develop — Add a past perfect, a reported-speech clause and a Type 2 conditional. · Stretch — Deliver a fluent answer to the past-perfect, reported-speech and Type 2 questions spontaneously.
Website writing task (Stretch): Write eighty to ninety words preparing for the P2 topic conversation. Answer two of the assessment questions, using the past perfect, reported speech and at least one Type 2 conditional, with every marker accurate.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كُنْتُ قَدْ قَرَّرْتُ · كُنْتُ قَدْ حَصَلْتُ · قَالَ مُعَلِّمِي إِنَّنِي · وَأَكَّدَ أَنَّ … سَيُثْمِرُ · إِذَا قُبِلْتُ … سَأَتَخَصَّصُ · وَلَوْ كَانَتْ … لَاخْتَرْتُ · يُؤَهِّلُنِي لِسُوقِ العَمَلِ وَيُعِدُّنِي لِمُوَاكَبَةِ · سَوْفَ أَسْعَى إِلَى.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(P2-L12 · P2 Review and Unit Assessment) will spend class time USING this language, so students prepare it tonight — short, simple, easy to access (school guidance: “Simple, Short, Interesting, Relevant, Easy to access”). The five words prepare students for the P2-L12 assessment (its four parts and checking).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P2  ·  P2-L11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P2-L11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Consolidation — Speaking Preparation, Error Analysis and Grammar Mastery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تَرْسِيخُ الوَحْدَةِ — إِعْدَادُ التَّحَدُّثِ وَتَحْلِيلُ الأَخْطَاءِ</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00" dirty="0">
                <a:solidFill>
                  <a:srgbClr val="C6D2E6"/>
                </a:solidFill>
                <a:latin typeface="Calibri" pitchFamily="34" charset="0"/>
                <a:cs typeface="Amiri" pitchFamily="2" charset="-78"/>
              </a:rPr>
              <a:t>Repair the P2 error zones (qāla inna not anna · the reported pronoun · kāna agreement and a past verb after qad · the la- of the Type 2 result), revise the whole P2 grammar spine, and rehearse the three topic-conversation questions until each required structure comes out unprompted.</a:t>
            </a:r>
            <a:endParaRPr lang="en-US" sz="13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P2-L11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P2 › P2-L11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Fix the error zones, revise the spine, give the required structure unprompted.</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Repair the slips, sort the structures, hear a mock admissions conversation.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P2-L12.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الطَّلَاقَةُ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confidence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fluency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spontaneity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مُقَابَلَةُ القَبُولِ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admissions interview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role play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الارْتِجَالُ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memorisation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repetition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improvisation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أَنَّ التَّعْلِيمَ حَقٌّ.</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بِأَنَّ التَّعْلِيمَ حَقٌّ.</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إِنَّ التَّعْلِيمَ حَقٌّ.</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2: </a:t>
            </a:r>
            <a:pPr algn="l" indent="0" marL="0">
              <a:buNone/>
            </a:pPr>
            <a:r>
              <a:rPr lang="ar-SA" altLang="en-US" sz="1650" b="1" dirty="0">
                <a:solidFill>
                  <a:srgbClr val="1B3B6F"/>
                </a:solidFill>
                <a:latin typeface="Amiri" pitchFamily="2" charset="-78"/>
                <a:cs typeface="Amiri" pitchFamily="2" charset="-78"/>
              </a:rPr>
              <a:t>لَوْ عَمِلَ بِجِدٍّ،</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لَنَجَحَ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نَجَحَ</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سَيَنْجَحُ</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الطَّلَاقَةُ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confidence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fluency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spontaneity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مُقَابَلَةُ القَبُولِ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admissions interview</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role play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exam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الارْتِجَالُ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memorisation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repetition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improvisation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أَنَّ التَّعْلِيمَ حَقٌّ.</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بِأَنَّ التَّعْلِيمَ حَقٌّ.</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قَالَ إِنَّ التَّعْلِيمَ حَقٌّ.</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P2-L02: only qāla takes inna.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2: </a:t>
            </a:r>
            <a:pPr algn="l" indent="0" marL="0">
              <a:buNone/>
            </a:pPr>
            <a:r>
              <a:rPr lang="ar-SA" altLang="en-US" sz="1650" b="1" dirty="0">
                <a:solidFill>
                  <a:srgbClr val="1B3B6F"/>
                </a:solidFill>
                <a:latin typeface="Amiri" pitchFamily="2" charset="-78"/>
                <a:cs typeface="Amiri" pitchFamily="2" charset="-78"/>
              </a:rPr>
              <a:t>لَوْ عَمِلَ بِجِدٍّ،</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لَنَجَحَ</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نَجَحَ</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سَيَنْجَحُ</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P2-L06: the la- of the result.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Each P2 structure has ONE small marker — get the marker right and the structure is right.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7B3FA0"/>
                </a:solidFill>
                <a:latin typeface="Amiri" pitchFamily="2" charset="-78"/>
                <a:cs typeface="Amiri" pitchFamily="2" charset="-78"/>
              </a:rPr>
              <a:t>قَالَ إِنَّ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كَانَتْ قَدْ ذَهَبَتْ</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cs typeface="Amiri" pitchFamily="2" charset="-78"/>
              </a:rPr>
              <a:t>إِذَا … سَـ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C77700"/>
                </a:solidFill>
                <a:latin typeface="Amiri" pitchFamily="2" charset="-78"/>
                <a:cs typeface="Amiri" pitchFamily="2" charset="-78"/>
              </a:rPr>
              <a:t>لَوْ … لَـ</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Correct the twelve most common P2 errors.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Retrieve reported speech, the past perfect and both conditional types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these structures spontaneously in speaking.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Prepare the topic-conversation answers to assessment standard.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fix six P2 errors and name the zone.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three spine sentences from memory.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a past perfect, a reported clause and a Type 2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with a reason.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the required structure without being asked.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my own priority error.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P2 error zones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The P2 grammar spine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Speaking fluency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الطَّلَاقَةُ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‎روانی‎ </a:t>
            </a:r>
            <a:pPr indent="0" marL="0">
              <a:buNone/>
            </a:pPr>
            <a:r>
              <a:rPr lang="en-US" sz="950" b="1" dirty="0">
                <a:solidFill>
                  <a:srgbClr val="2E8B57"/>
                </a:solidFill>
                <a:latin typeface="Calibri" pitchFamily="34" charset="0"/>
                <a:cs typeface="Amiri" pitchFamily="2" charset="-78"/>
              </a:rPr>
              <a:t> rawānī · fluency (Urdu uses a Persian word)</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ثِقَةٌ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‎ثقہ / اعتماد‎ </a:t>
            </a:r>
            <a:pPr indent="0" marL="0">
              <a:buNone/>
            </a:pPr>
            <a:r>
              <a:rPr lang="en-US" sz="950" b="1" dirty="0">
                <a:solidFill>
                  <a:srgbClr val="2E8B57"/>
                </a:solidFill>
                <a:latin typeface="Calibri" pitchFamily="34" charset="0"/>
                <a:cs typeface="Amiri" pitchFamily="2" charset="-78"/>
              </a:rPr>
              <a:t> iʿtimād · confidence (Urdu ثقہ = trustworthy)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مُطَابَقَةٌ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‎مطابقت‎ </a:t>
            </a:r>
            <a:pPr indent="0" marL="0">
              <a:buNone/>
            </a:pPr>
            <a:r>
              <a:rPr lang="en-US" sz="950" b="1" dirty="0">
                <a:solidFill>
                  <a:srgbClr val="2E8B57"/>
                </a:solidFill>
                <a:latin typeface="Calibri" pitchFamily="34" charset="0"/>
                <a:cs typeface="Amiri" pitchFamily="2" charset="-78"/>
              </a:rPr>
              <a:t> mutābiqat · agreement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ضَمِيرٌ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‎ضمیر‎ </a:t>
            </a:r>
            <a:pPr indent="0" marL="0">
              <a:buNone/>
            </a:pPr>
            <a:r>
              <a:rPr lang="en-US" sz="950" b="1" dirty="0">
                <a:solidFill>
                  <a:srgbClr val="2E8B57"/>
                </a:solidFill>
                <a:latin typeface="Calibri" pitchFamily="34" charset="0"/>
                <a:cs typeface="Amiri" pitchFamily="2" charset="-78"/>
              </a:rPr>
              <a:t> zamīr · a pronoun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طُمُوحٌ</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‎عزائم‎ </a:t>
            </a:r>
            <a:pPr indent="0" marL="0">
              <a:buNone/>
            </a:pPr>
            <a:r>
              <a:rPr lang="en-US" sz="950" b="1" dirty="0">
                <a:solidFill>
                  <a:srgbClr val="2E8B57"/>
                </a:solidFill>
                <a:latin typeface="Calibri" pitchFamily="34" charset="0"/>
                <a:cs typeface="Amiri" pitchFamily="2" charset="-78"/>
              </a:rPr>
              <a:t> azāim · ambition (Urdu uses another Arabic 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P2 error zones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393546"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Never قَالَ أَنَّ.</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قَالَ إِنَّ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said that</a:t>
            </a:r>
            <a:endParaRPr lang="en-US" sz="1350" dirty="0"/>
          </a:p>
          <a:p>
            <a:pPr indent="0" marL="0">
              <a:buNone/>
            </a:pPr>
            <a:r>
              <a:rPr lang="en-US" sz="1100" i="1" dirty="0">
                <a:solidFill>
                  <a:srgbClr val="5A6472"/>
                </a:solidFill>
                <a:latin typeface="Calibri" pitchFamily="34" charset="0"/>
                <a:cs typeface="Amiri" pitchFamily="2" charset="-78"/>
              </a:rPr>
              <a:t>qā-la in-na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إِنَّ أَمْ أَنَّ</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إِنَّ or أَنَّ</a:t>
            </a:r>
            <a:endParaRPr lang="en-US" sz="1350" dirty="0"/>
          </a:p>
          <a:p>
            <a:pPr indent="0" marL="0">
              <a:buNone/>
            </a:pPr>
            <a:r>
              <a:rPr lang="en-US" sz="1100" i="1" dirty="0">
                <a:solidFill>
                  <a:srgbClr val="5A6472"/>
                </a:solidFill>
                <a:latin typeface="Calibri" pitchFamily="34" charset="0"/>
                <a:cs typeface="Amiri" pitchFamily="2" charset="-78"/>
              </a:rPr>
              <a:t>in-na am an-na</a:t>
            </a:r>
            <a:endParaRPr lang="en-US" sz="1350" dirty="0"/>
          </a:p>
        </p:txBody>
      </p:sp>
      <p:sp>
        <p:nvSpPr>
          <p:cNvPr id="31" name="Text 28"/>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قَالَ</a:t>
            </a:r>
            <a:pPr algn="l" indent="0" marL="0">
              <a:buNone/>
            </a:pPr>
            <a:r>
              <a:rPr lang="en-US" sz="1000" i="1" dirty="0">
                <a:solidFill>
                  <a:srgbClr val="8A6D1E"/>
                </a:solidFill>
                <a:latin typeface="Calibri" pitchFamily="34" charset="0"/>
                <a:cs typeface="Amiri" pitchFamily="2" charset="-78"/>
              </a:rPr>
              <a:t> takes </a:t>
            </a:r>
            <a:pPr algn="l" indent="0" marL="0">
              <a:buNone/>
            </a:pPr>
            <a:r>
              <a:rPr lang="ar-SA" altLang="en-US" sz="1300" dirty="0">
                <a:solidFill>
                  <a:srgbClr val="8A6D1E"/>
                </a:solidFill>
                <a:latin typeface="Amiri" pitchFamily="2" charset="-78"/>
                <a:cs typeface="Amiri" pitchFamily="2" charset="-78"/>
              </a:rPr>
              <a:t>إِنَّ</a:t>
            </a:r>
            <a:pPr algn="l" indent="0" marL="0">
              <a:buNone/>
            </a:pPr>
            <a:r>
              <a:rPr lang="en-US" sz="1000" i="1" dirty="0">
                <a:solidFill>
                  <a:srgbClr val="8A6D1E"/>
                </a:solidFill>
                <a:latin typeface="Calibri" pitchFamily="34" charset="0"/>
                <a:cs typeface="Amiri" pitchFamily="2" charset="-78"/>
              </a:rPr>
              <a:t>; others </a:t>
            </a:r>
            <a:pPr algn="l" indent="0" marL="0">
              <a:buNone/>
            </a:pPr>
            <a:r>
              <a:rPr lang="ar-SA" altLang="en-US" sz="1300" dirty="0">
                <a:solidFill>
                  <a:srgbClr val="8A6D1E"/>
                </a:solidFill>
                <a:latin typeface="Amiri" pitchFamily="2" charset="-78"/>
                <a:cs typeface="Amiri" pitchFamily="2" charset="-78"/>
              </a:rPr>
              <a:t>أَنَّ</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5" name="Shape 32"/>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him · her · them</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الضَّمِيرُ المَنْقُولُ</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reported pronoun</a:t>
            </a:r>
            <a:endParaRPr lang="en-US" sz="1350" dirty="0"/>
          </a:p>
          <a:p>
            <a:pPr indent="0" marL="0">
              <a:buNone/>
            </a:pPr>
            <a:r>
              <a:rPr lang="en-US" sz="1100" i="1" dirty="0">
                <a:solidFill>
                  <a:srgbClr val="5A6472"/>
                </a:solidFill>
                <a:latin typeface="Calibri" pitchFamily="34" charset="0"/>
                <a:cs typeface="Amiri" pitchFamily="2" charset="-78"/>
              </a:rPr>
              <a:t>aḍ-ḍa-mī-ru al-man-qū-lu</a:t>
            </a:r>
            <a:endParaRPr lang="en-US" sz="1350" dirty="0"/>
          </a:p>
        </p:txBody>
      </p:sp>
      <p:sp>
        <p:nvSpPr>
          <p:cNvPr id="41" name="Shape 38"/>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her · them</a:t>
            </a:r>
            <a:endParaRPr lang="en-US" sz="700" dirty="0"/>
          </a:p>
        </p:txBody>
      </p:sp>
      <p:sp>
        <p:nvSpPr>
          <p:cNvPr id="43" name="Text 40"/>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إِنَّهَا · إِنَّهُمْ</a:t>
            </a:r>
            <a:endParaRPr lang="ar-SA" sz="1350" dirty="0"/>
          </a:p>
        </p:txBody>
      </p:sp>
      <p:sp>
        <p:nvSpPr>
          <p:cNvPr id="44" name="Shape 41"/>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me · him</a:t>
            </a:r>
            <a:endParaRPr lang="en-US" sz="700" dirty="0"/>
          </a:p>
        </p:txBody>
      </p:sp>
      <p:sp>
        <p:nvSpPr>
          <p:cNvPr id="46" name="Text 43"/>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إِنَّنِي · إِنَّهُ</a:t>
            </a:r>
            <a:endParaRPr lang="ar-SA"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0" name="Shape 47"/>
          <p:cNvSpPr/>
          <p:nvPr/>
        </p:nvSpPr>
        <p:spPr>
          <a:xfrm>
            <a:off x="8604504" y="4279392"/>
            <a:ext cx="1455725"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 · they</a:t>
            </a:r>
            <a:endParaRPr lang="en-US" sz="8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مُطَابَقَةُ كَانَ</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agreement of كَانَ</a:t>
            </a:r>
            <a:endParaRPr lang="en-US" sz="1350" dirty="0"/>
          </a:p>
          <a:p>
            <a:pPr indent="0" marL="0">
              <a:buNone/>
            </a:pPr>
            <a:r>
              <a:rPr lang="en-US" sz="1100" i="1" dirty="0">
                <a:solidFill>
                  <a:srgbClr val="5A6472"/>
                </a:solidFill>
                <a:latin typeface="Calibri" pitchFamily="34" charset="0"/>
                <a:cs typeface="Amiri" pitchFamily="2" charset="-78"/>
              </a:rPr>
              <a:t>mu-ṭā-ba-qa-tu kā-na</a:t>
            </a:r>
            <a:endParaRPr lang="en-US" sz="1350" dirty="0"/>
          </a:p>
        </p:txBody>
      </p:sp>
      <p:sp>
        <p:nvSpPr>
          <p:cNvPr id="56" name="Shape 5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they</a:t>
            </a:r>
            <a:endParaRPr lang="en-US" sz="700" dirty="0"/>
          </a:p>
        </p:txBody>
      </p:sp>
      <p:sp>
        <p:nvSpPr>
          <p:cNvPr id="58" name="Text 55"/>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كَانَتْ · كَانُوا</a:t>
            </a:r>
            <a:endParaRPr lang="ar-SA" sz="1350" dirty="0"/>
          </a:p>
        </p:txBody>
      </p:sp>
      <p:sp>
        <p:nvSpPr>
          <p:cNvPr id="59" name="Shape 5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 · he</a:t>
            </a:r>
            <a:endParaRPr lang="en-US" sz="700" dirty="0"/>
          </a:p>
        </p:txBody>
      </p:sp>
      <p:sp>
        <p:nvSpPr>
          <p:cNvPr id="61" name="Text 58"/>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كُنْتُ · كَانَ</a:t>
            </a:r>
            <a:endParaRPr lang="ar-SA" sz="13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P2 error zones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Must be 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الفِعْلُ بَعْدَ قَدْ</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verb after قَدْ</a:t>
            </a:r>
            <a:endParaRPr lang="en-US" sz="1350" dirty="0"/>
          </a:p>
          <a:p>
            <a:pPr indent="0" marL="0">
              <a:buNone/>
            </a:pPr>
            <a:r>
              <a:rPr lang="en-US" sz="1100" i="1" dirty="0">
                <a:solidFill>
                  <a:srgbClr val="5A6472"/>
                </a:solidFill>
                <a:latin typeface="Calibri" pitchFamily="34" charset="0"/>
                <a:cs typeface="Amiri" pitchFamily="2" charset="-78"/>
              </a:rPr>
              <a:t>al-fiʿ-lu baʿ-da qad</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7" name="Shape 24"/>
          <p:cNvSpPr/>
          <p:nvPr/>
        </p:nvSpPr>
        <p:spPr>
          <a:xfrm>
            <a:off x="4782312" y="1938528"/>
            <a:ext cx="1455725"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 a Type 2 result.</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لَامُ الجَوَابِ</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لَـ of the result</a:t>
            </a:r>
            <a:endParaRPr lang="en-US" sz="1350" dirty="0"/>
          </a:p>
          <a:p>
            <a:pPr indent="0" marL="0">
              <a:buNone/>
            </a:pPr>
            <a:r>
              <a:rPr lang="en-US" sz="1100" i="1" dirty="0">
                <a:solidFill>
                  <a:srgbClr val="5A6472"/>
                </a:solidFill>
                <a:latin typeface="Calibri" pitchFamily="34" charset="0"/>
                <a:cs typeface="Amiri" pitchFamily="2" charset="-78"/>
              </a:rPr>
              <a:t>lā-mu al-ja-wā-bi</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زَمَنُ الشَّرْطِ</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conditional tense</a:t>
            </a:r>
            <a:endParaRPr lang="en-US" sz="1350" dirty="0"/>
          </a:p>
          <a:p>
            <a:pPr indent="0" marL="0">
              <a:buNone/>
            </a:pPr>
            <a:r>
              <a:rPr lang="en-US" sz="1100" i="1" dirty="0">
                <a:solidFill>
                  <a:srgbClr val="5A6472"/>
                </a:solidFill>
                <a:latin typeface="Calibri" pitchFamily="34" charset="0"/>
                <a:cs typeface="Amiri" pitchFamily="2" charset="-78"/>
              </a:rPr>
              <a:t>za-ma-nu ash-shar-ṭi</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التَّشْكِيلُ الدَّقِيقُ</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precise vowelling</a:t>
            </a:r>
            <a:endParaRPr lang="en-US" sz="1350" dirty="0"/>
          </a:p>
          <a:p>
            <a:pPr indent="0" marL="0">
              <a:buNone/>
            </a:pPr>
            <a:r>
              <a:rPr lang="en-US" sz="1100" i="1" dirty="0">
                <a:solidFill>
                  <a:srgbClr val="5A6472"/>
                </a:solidFill>
                <a:latin typeface="Calibri" pitchFamily="34" charset="0"/>
                <a:cs typeface="Amiri" pitchFamily="2" charset="-78"/>
              </a:rPr>
              <a:t>at-tash-kī-lu ad-da-qī-qu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P2 grammar spine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الكَلَامُ المَنْقُولُ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reported speech</a:t>
            </a:r>
            <a:endParaRPr lang="en-US" sz="1350" dirty="0"/>
          </a:p>
          <a:p>
            <a:pPr indent="0" marL="0">
              <a:buNone/>
            </a:pPr>
            <a:r>
              <a:rPr lang="en-US" sz="1100" i="1" dirty="0">
                <a:solidFill>
                  <a:srgbClr val="5A6472"/>
                </a:solidFill>
                <a:latin typeface="Calibri" pitchFamily="34" charset="0"/>
                <a:cs typeface="Amiri" pitchFamily="2" charset="-78"/>
              </a:rPr>
              <a:t>al-ka-lā-mu al-man-qū-lu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المَاضِي التَّامُّ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past perfect</a:t>
            </a:r>
            <a:endParaRPr lang="en-US" sz="1350" dirty="0"/>
          </a:p>
          <a:p>
            <a:pPr indent="0" marL="0">
              <a:buNone/>
            </a:pPr>
            <a:r>
              <a:rPr lang="en-US" sz="1100" i="1" dirty="0">
                <a:solidFill>
                  <a:srgbClr val="5A6472"/>
                </a:solidFill>
                <a:latin typeface="Calibri" pitchFamily="34" charset="0"/>
                <a:cs typeface="Amiri" pitchFamily="2" charset="-78"/>
              </a:rPr>
              <a:t>al-mā-ḍī at-tām-mu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الشَّرْطُ النَّوْعُ الأَوَّلُ</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Type 1 conditional</a:t>
            </a:r>
            <a:endParaRPr lang="en-US" sz="1350" dirty="0"/>
          </a:p>
          <a:p>
            <a:pPr indent="0" marL="0">
              <a:buNone/>
            </a:pPr>
            <a:r>
              <a:rPr lang="en-US" sz="1100" i="1" dirty="0">
                <a:solidFill>
                  <a:srgbClr val="5A6472"/>
                </a:solidFill>
                <a:latin typeface="Calibri" pitchFamily="34" charset="0"/>
                <a:cs typeface="Amiri" pitchFamily="2" charset="-78"/>
              </a:rPr>
              <a:t>ash-shar-ṭu an-naw-ʿu al-aw-wa-lu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الشَّرْطُ النَّوْعُ الثَّانِي</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Type 2 conditional</a:t>
            </a:r>
            <a:endParaRPr lang="en-US" sz="1350" dirty="0"/>
          </a:p>
          <a:p>
            <a:pPr indent="0" marL="0">
              <a:buNone/>
            </a:pPr>
            <a:r>
              <a:rPr lang="en-US" sz="1100" i="1" dirty="0">
                <a:solidFill>
                  <a:srgbClr val="5A6472"/>
                </a:solidFill>
                <a:latin typeface="Calibri" pitchFamily="34" charset="0"/>
                <a:cs typeface="Amiri" pitchFamily="2" charset="-78"/>
              </a:rPr>
              <a:t>ash-shar-ṭu an-naw-ʿu ath-thā-nī</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P2 grammar spine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يَجْتَازُ</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passes</a:t>
            </a:r>
            <a:endParaRPr lang="en-US" sz="1350" dirty="0"/>
          </a:p>
          <a:p>
            <a:pPr indent="0" marL="0">
              <a:buNone/>
            </a:pPr>
            <a:r>
              <a:rPr lang="en-US" sz="1100" i="1" dirty="0">
                <a:solidFill>
                  <a:srgbClr val="5A6472"/>
                </a:solidFill>
                <a:latin typeface="Calibri" pitchFamily="34" charset="0"/>
                <a:cs typeface="Amiri" pitchFamily="2" charset="-78"/>
              </a:rPr>
              <a:t>yaj-tā-zu</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تَجْتَازُ</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أَجْتَازُ</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1" name="Shape 28"/>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يَتَفَوَّقُ فِي</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excels in</a:t>
            </a:r>
            <a:endParaRPr lang="en-US" sz="1350" dirty="0"/>
          </a:p>
          <a:p>
            <a:pPr indent="0" marL="0">
              <a:buNone/>
            </a:pPr>
            <a:r>
              <a:rPr lang="en-US" sz="1100" i="1" dirty="0">
                <a:solidFill>
                  <a:srgbClr val="5A6472"/>
                </a:solidFill>
                <a:latin typeface="Calibri" pitchFamily="34" charset="0"/>
                <a:cs typeface="Amiri" pitchFamily="2" charset="-78"/>
              </a:rPr>
              <a:t>ya-ta-faw-wa-qu fī</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تَتَفَوَّقُ</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أَتَفَوَّقُ</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يُؤَهِّلُ لِـ</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qualifies for</a:t>
            </a:r>
            <a:endParaRPr lang="en-US" sz="1350" dirty="0"/>
          </a:p>
          <a:p>
            <a:pPr indent="0" marL="0">
              <a:buNone/>
            </a:pPr>
            <a:r>
              <a:rPr lang="en-US" sz="1100" i="1" dirty="0">
                <a:solidFill>
                  <a:srgbClr val="5A6472"/>
                </a:solidFill>
                <a:latin typeface="Calibri" pitchFamily="34" charset="0"/>
                <a:cs typeface="Amiri" pitchFamily="2" charset="-78"/>
              </a:rPr>
              <a:t>yu-ʾah-hi-lu li</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تُؤَهِّلُ</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أُؤَهِّلُ</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يُعِدُّ لِـ</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prepares for</a:t>
            </a:r>
            <a:endParaRPr lang="en-US" sz="1350" dirty="0"/>
          </a:p>
          <a:p>
            <a:pPr indent="0" marL="0">
              <a:buNone/>
            </a:pPr>
            <a:r>
              <a:rPr lang="en-US" sz="1100" i="1" dirty="0">
                <a:solidFill>
                  <a:srgbClr val="5A6472"/>
                </a:solidFill>
                <a:latin typeface="Calibri" pitchFamily="34" charset="0"/>
                <a:cs typeface="Amiri" pitchFamily="2" charset="-78"/>
              </a:rPr>
              <a:t>yu-ʿid-du li</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تُعِدُّ</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أُعِدُّ</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fluency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التِّلْقَائِيَّةُ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spontaneity</a:t>
            </a:r>
            <a:endParaRPr lang="en-US" sz="1350" dirty="0"/>
          </a:p>
          <a:p>
            <a:pPr indent="0" marL="0">
              <a:buNone/>
            </a:pPr>
            <a:r>
              <a:rPr lang="en-US" sz="1100" i="1" dirty="0">
                <a:solidFill>
                  <a:srgbClr val="5A6472"/>
                </a:solidFill>
                <a:latin typeface="Calibri" pitchFamily="34" charset="0"/>
                <a:cs typeface="Amiri" pitchFamily="2" charset="-78"/>
              </a:rPr>
              <a:t>at-til-qā-ʾiy-ya-tu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الطَّلَاقَةُ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fluency</a:t>
            </a:r>
            <a:endParaRPr lang="en-US" sz="1350" dirty="0"/>
          </a:p>
          <a:p>
            <a:pPr indent="0" marL="0">
              <a:buNone/>
            </a:pPr>
            <a:r>
              <a:rPr lang="en-US" sz="1100" i="1" dirty="0">
                <a:solidFill>
                  <a:srgbClr val="5A6472"/>
                </a:solidFill>
                <a:latin typeface="Calibri" pitchFamily="34" charset="0"/>
                <a:cs typeface="Amiri" pitchFamily="2" charset="-78"/>
              </a:rPr>
              <a:t>aṭ-ṭa-lā-qa-tu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مُحَادَثَةٌ حَوْلَ مَوْضُوعٍ</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topic conversation</a:t>
            </a:r>
            <a:endParaRPr lang="en-US" sz="1350" dirty="0"/>
          </a:p>
          <a:p>
            <a:pPr indent="0" marL="0">
              <a:buNone/>
            </a:pPr>
            <a:r>
              <a:rPr lang="en-US" sz="1100" i="1" dirty="0">
                <a:solidFill>
                  <a:srgbClr val="5A6472"/>
                </a:solidFill>
                <a:latin typeface="Calibri" pitchFamily="34" charset="0"/>
                <a:cs typeface="Amiri" pitchFamily="2" charset="-78"/>
              </a:rPr>
              <a:t>mu-ḥā-da-tha-tun ḥaw-la maw-ḍū-ʿin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لَعِبُ الأَدْوَارِ</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role play</a:t>
            </a:r>
            <a:endParaRPr lang="en-US" sz="1350" dirty="0"/>
          </a:p>
          <a:p>
            <a:pPr indent="0" marL="0">
              <a:buNone/>
            </a:pPr>
            <a:r>
              <a:rPr lang="en-US" sz="1100" i="1" dirty="0">
                <a:solidFill>
                  <a:srgbClr val="5A6472"/>
                </a:solidFill>
                <a:latin typeface="Calibri" pitchFamily="34" charset="0"/>
                <a:cs typeface="Amiri" pitchFamily="2" charset="-78"/>
              </a:rPr>
              <a:t>la-ʿi-bu al-ad-wā-ri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fluency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مُقَابَلَةُ القَبُولِ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admissions interview</a:t>
            </a:r>
            <a:endParaRPr lang="en-US" sz="1350" dirty="0"/>
          </a:p>
          <a:p>
            <a:pPr indent="0" marL="0">
              <a:buNone/>
            </a:pPr>
            <a:r>
              <a:rPr lang="en-US" sz="1100" i="1" dirty="0">
                <a:solidFill>
                  <a:srgbClr val="5A6472"/>
                </a:solidFill>
                <a:latin typeface="Calibri" pitchFamily="34" charset="0"/>
                <a:cs typeface="Amiri" pitchFamily="2" charset="-78"/>
              </a:rPr>
              <a:t>mu-qā-ba-la-tu al-qa-bū-li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طُمُوحٌ أَكَادِيمِيٌّ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academic ambition</a:t>
            </a:r>
            <a:endParaRPr lang="en-US" sz="1350" dirty="0"/>
          </a:p>
          <a:p>
            <a:pPr indent="0" marL="0">
              <a:buNone/>
            </a:pPr>
            <a:r>
              <a:rPr lang="en-US" sz="1100" i="1" dirty="0">
                <a:solidFill>
                  <a:srgbClr val="5A6472"/>
                </a:solidFill>
                <a:latin typeface="Calibri" pitchFamily="34" charset="0"/>
                <a:cs typeface="Amiri" pitchFamily="2" charset="-78"/>
              </a:rPr>
              <a:t>ṭu-mū-ḥun a-kā-dī-miy-yun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الارْتِجَالُ</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improvisation</a:t>
            </a:r>
            <a:endParaRPr lang="en-US" sz="1350" dirty="0"/>
          </a:p>
          <a:p>
            <a:pPr indent="0" marL="0">
              <a:buNone/>
            </a:pPr>
            <a:r>
              <a:rPr lang="en-US" sz="1100" i="1" dirty="0">
                <a:solidFill>
                  <a:srgbClr val="5A6472"/>
                </a:solidFill>
                <a:latin typeface="Calibri" pitchFamily="34" charset="0"/>
                <a:cs typeface="Amiri" pitchFamily="2" charset="-78"/>
              </a:rPr>
              <a:t>alr-ti-jā-lu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الثِّقَةُ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confidence</a:t>
            </a:r>
            <a:endParaRPr lang="en-US" sz="1350" dirty="0"/>
          </a:p>
          <a:p>
            <a:pPr indent="0" marL="0">
              <a:buNone/>
            </a:pPr>
            <a:r>
              <a:rPr lang="en-US" sz="1100" i="1" dirty="0">
                <a:solidFill>
                  <a:srgbClr val="5A6472"/>
                </a:solidFill>
                <a:latin typeface="Calibri" pitchFamily="34" charset="0"/>
                <a:cs typeface="Amiri" pitchFamily="2" charset="-78"/>
              </a:rPr>
              <a:t>ath-thi-qa-tu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P2 ERROR ZONES (WEBSITE TABLE + READING: THE REPAIR LIST)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Wrong → right, zone by zone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مَنَاطِقُ الأَخْطَاءِ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222992" y="1810512"/>
            <a:ext cx="1435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Rule</a:t>
            </a:r>
            <a:endParaRPr lang="en-US" sz="1100" dirty="0"/>
          </a:p>
        </p:txBody>
      </p:sp>
      <p:sp>
        <p:nvSpPr>
          <p:cNvPr id="17" name="Text 14"/>
          <p:cNvSpPr txBox="1"/>
          <p:nvPr/>
        </p:nvSpPr>
        <p:spPr>
          <a:xfrm>
            <a:off x="9034272"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8" name="Text 15"/>
          <p:cNvSpPr txBox="1"/>
          <p:nvPr/>
        </p:nvSpPr>
        <p:spPr>
          <a:xfrm>
            <a:off x="57424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Right</a:t>
            </a:r>
            <a:endParaRPr lang="en-US" sz="1100" dirty="0"/>
          </a:p>
        </p:txBody>
      </p:sp>
      <p:sp>
        <p:nvSpPr>
          <p:cNvPr id="19" name="Text 16"/>
          <p:cNvSpPr txBox="1"/>
          <p:nvPr/>
        </p:nvSpPr>
        <p:spPr>
          <a:xfrm>
            <a:off x="263347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Wrong</a:t>
            </a:r>
            <a:endParaRPr lang="en-US" sz="1100" dirty="0"/>
          </a:p>
        </p:txBody>
      </p:sp>
      <p:sp>
        <p:nvSpPr>
          <p:cNvPr id="20" name="Text 17"/>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Zone</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10259568" y="2267712"/>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qāla → inna</a:t>
            </a:r>
            <a:endParaRPr lang="en-US" sz="1100" dirty="0"/>
          </a:p>
        </p:txBody>
      </p:sp>
      <p:sp>
        <p:nvSpPr>
          <p:cNvPr id="23" name="Text 20"/>
          <p:cNvSpPr txBox="1"/>
          <p:nvPr/>
        </p:nvSpPr>
        <p:spPr>
          <a:xfrm>
            <a:off x="9070848" y="2267712"/>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P2-L02</a:t>
            </a:r>
            <a:endParaRPr lang="en-US" sz="1100" dirty="0"/>
          </a:p>
        </p:txBody>
      </p:sp>
      <p:sp>
        <p:nvSpPr>
          <p:cNvPr id="24" name="Text 21"/>
          <p:cNvSpPr txBox="1"/>
          <p:nvPr/>
        </p:nvSpPr>
        <p:spPr>
          <a:xfrm>
            <a:off x="5760720" y="2267712"/>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قَالَ </a:t>
            </a:r>
            <a:pPr rtl="1" algn="ctr" indent="0" marL="0">
              <a:buNone/>
            </a:pPr>
            <a:r>
              <a:rPr lang="ar-SA" altLang="en-US" sz="2000" b="1" dirty="0">
                <a:solidFill>
                  <a:srgbClr val="7B3FA0"/>
                </a:solidFill>
                <a:latin typeface="Amiri" pitchFamily="2" charset="-78"/>
                <a:cs typeface="Amiri" pitchFamily="2" charset="-78"/>
              </a:rPr>
              <a:t>إِنَّ</a:t>
            </a:r>
            <a:pPr rtl="1" algn="ctr" indent="0" marL="0">
              <a:buNone/>
            </a:pPr>
            <a:r>
              <a:rPr lang="ar-SA" altLang="en-US" sz="2000" b="1" dirty="0">
                <a:solidFill>
                  <a:srgbClr val="1B3B6F"/>
                </a:solidFill>
                <a:latin typeface="Amiri" pitchFamily="2" charset="-78"/>
                <a:cs typeface="Amiri" pitchFamily="2" charset="-78"/>
              </a:rPr>
              <a:t> التَّعْلِيمَ مُهِمٌّ</a:t>
            </a:r>
            <a:endParaRPr lang="ar-SA" sz="2000" dirty="0"/>
          </a:p>
        </p:txBody>
      </p:sp>
      <p:sp>
        <p:nvSpPr>
          <p:cNvPr id="25" name="Text 22"/>
          <p:cNvSpPr txBox="1"/>
          <p:nvPr/>
        </p:nvSpPr>
        <p:spPr>
          <a:xfrm>
            <a:off x="2651760" y="2267712"/>
            <a:ext cx="2926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قَالَ أَنَّ التَّعْلِيمَ مُهِمٌّ</a:t>
            </a:r>
            <a:endParaRPr lang="ar-SA" sz="2000" dirty="0"/>
          </a:p>
        </p:txBody>
      </p:sp>
      <p:sp>
        <p:nvSpPr>
          <p:cNvPr id="26" name="Text 23"/>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inna / anna</a:t>
            </a:r>
            <a:endParaRPr lang="en-US" sz="110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259568" y="2881884"/>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 he</a:t>
            </a:r>
            <a:endParaRPr lang="en-US" sz="1100" dirty="0"/>
          </a:p>
        </p:txBody>
      </p:sp>
      <p:sp>
        <p:nvSpPr>
          <p:cNvPr id="29" name="Text 26"/>
          <p:cNvSpPr txBox="1"/>
          <p:nvPr/>
        </p:nvSpPr>
        <p:spPr>
          <a:xfrm>
            <a:off x="9070848" y="2881884"/>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P2-L02</a:t>
            </a:r>
            <a:endParaRPr lang="en-US" sz="1100" dirty="0"/>
          </a:p>
        </p:txBody>
      </p:sp>
      <p:sp>
        <p:nvSpPr>
          <p:cNvPr id="30" name="Text 27"/>
          <p:cNvSpPr txBox="1"/>
          <p:nvPr/>
        </p:nvSpPr>
        <p:spPr>
          <a:xfrm>
            <a:off x="5760720" y="2881884"/>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قَالَ </a:t>
            </a:r>
            <a:pPr rtl="1" algn="ctr" indent="0" marL="0">
              <a:buNone/>
            </a:pPr>
            <a:r>
              <a:rPr lang="ar-SA" altLang="en-US" sz="2000" b="1" dirty="0">
                <a:solidFill>
                  <a:srgbClr val="7B3FA0"/>
                </a:solidFill>
                <a:latin typeface="Amiri" pitchFamily="2" charset="-78"/>
                <a:cs typeface="Amiri" pitchFamily="2" charset="-78"/>
              </a:rPr>
              <a:t>إِنَّهُ</a:t>
            </a:r>
            <a:pPr rtl="1" algn="ctr" indent="0" marL="0">
              <a:buNone/>
            </a:pPr>
            <a:r>
              <a:rPr lang="ar-SA" altLang="en-US" sz="2000" b="1" dirty="0">
                <a:solidFill>
                  <a:srgbClr val="1B3B6F"/>
                </a:solidFill>
                <a:latin typeface="Amiri" pitchFamily="2" charset="-78"/>
                <a:cs typeface="Amiri" pitchFamily="2" charset="-78"/>
              </a:rPr>
              <a:t> مُجْتَهِدٌ</a:t>
            </a:r>
            <a:endParaRPr lang="ar-SA" sz="2000" dirty="0"/>
          </a:p>
        </p:txBody>
      </p:sp>
      <p:sp>
        <p:nvSpPr>
          <p:cNvPr id="31" name="Text 28"/>
          <p:cNvSpPr txBox="1"/>
          <p:nvPr/>
        </p:nvSpPr>
        <p:spPr>
          <a:xfrm>
            <a:off x="2651760" y="2881884"/>
            <a:ext cx="2926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قَالَ إِنَّ أَنَا مُجْتَهِدٌ</a:t>
            </a:r>
            <a:endParaRPr lang="ar-SA" sz="2000" dirty="0"/>
          </a:p>
        </p:txBody>
      </p:sp>
      <p:sp>
        <p:nvSpPr>
          <p:cNvPr id="32" name="Text 29"/>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pronoun</a:t>
            </a:r>
            <a:endParaRPr lang="en-US" sz="1100" dirty="0"/>
          </a:p>
        </p:txBody>
      </p:sp>
      <p:sp>
        <p:nvSpPr>
          <p:cNvPr id="33" name="Shape 30"/>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4" name="Text 31"/>
          <p:cNvSpPr txBox="1"/>
          <p:nvPr/>
        </p:nvSpPr>
        <p:spPr>
          <a:xfrm>
            <a:off x="10259568" y="3496056"/>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agree</a:t>
            </a:r>
            <a:endParaRPr lang="en-US" sz="1100" dirty="0"/>
          </a:p>
        </p:txBody>
      </p:sp>
      <p:sp>
        <p:nvSpPr>
          <p:cNvPr id="35" name="Text 32"/>
          <p:cNvSpPr txBox="1"/>
          <p:nvPr/>
        </p:nvSpPr>
        <p:spPr>
          <a:xfrm>
            <a:off x="9070848" y="3496056"/>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P2-L03</a:t>
            </a:r>
            <a:endParaRPr lang="en-US" sz="1100" dirty="0"/>
          </a:p>
        </p:txBody>
      </p:sp>
      <p:sp>
        <p:nvSpPr>
          <p:cNvPr id="36" name="Text 33"/>
          <p:cNvSpPr txBox="1"/>
          <p:nvPr/>
        </p:nvSpPr>
        <p:spPr>
          <a:xfrm>
            <a:off x="5760720" y="3496056"/>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كَانَتْ قَدْ </a:t>
            </a:r>
            <a:pPr rtl="1" algn="ctr" indent="0" marL="0">
              <a:buNone/>
            </a:pPr>
            <a:r>
              <a:rPr lang="ar-SA" altLang="en-US" sz="2000" b="1" dirty="0">
                <a:solidFill>
                  <a:srgbClr val="D6336C"/>
                </a:solidFill>
                <a:latin typeface="Amiri" pitchFamily="2" charset="-78"/>
                <a:cs typeface="Amiri" pitchFamily="2" charset="-78"/>
              </a:rPr>
              <a:t>ذَهَبَتْ</a:t>
            </a:r>
            <a:endParaRPr lang="ar-SA" sz="2000" dirty="0"/>
          </a:p>
        </p:txBody>
      </p:sp>
      <p:sp>
        <p:nvSpPr>
          <p:cNvPr id="37" name="Text 34"/>
          <p:cNvSpPr txBox="1"/>
          <p:nvPr/>
        </p:nvSpPr>
        <p:spPr>
          <a:xfrm>
            <a:off x="2651760" y="3496056"/>
            <a:ext cx="2926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كَانَتْ قَدْ ذَهَبَ</a:t>
            </a:r>
            <a:endParaRPr lang="ar-SA" sz="20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 agreement</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259568" y="4110228"/>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only</a:t>
            </a:r>
            <a:endParaRPr lang="en-US" sz="1100" dirty="0"/>
          </a:p>
        </p:txBody>
      </p:sp>
      <p:sp>
        <p:nvSpPr>
          <p:cNvPr id="41" name="Text 38"/>
          <p:cNvSpPr txBox="1"/>
          <p:nvPr/>
        </p:nvSpPr>
        <p:spPr>
          <a:xfrm>
            <a:off x="9070848" y="4110228"/>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P2-L03</a:t>
            </a:r>
            <a:endParaRPr lang="en-US" sz="1100" dirty="0"/>
          </a:p>
        </p:txBody>
      </p:sp>
      <p:sp>
        <p:nvSpPr>
          <p:cNvPr id="42" name="Text 39"/>
          <p:cNvSpPr txBox="1"/>
          <p:nvPr/>
        </p:nvSpPr>
        <p:spPr>
          <a:xfrm>
            <a:off x="5760720" y="4110228"/>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كَانَ قَدْ </a:t>
            </a:r>
            <a:pPr rtl="1" algn="ctr" indent="0" marL="0">
              <a:buNone/>
            </a:pPr>
            <a:r>
              <a:rPr lang="ar-SA" altLang="en-US" sz="2000" b="1" dirty="0">
                <a:solidFill>
                  <a:srgbClr val="D6336C"/>
                </a:solidFill>
                <a:latin typeface="Amiri" pitchFamily="2" charset="-78"/>
                <a:cs typeface="Amiri" pitchFamily="2" charset="-78"/>
              </a:rPr>
              <a:t>ذَهَبَ</a:t>
            </a:r>
            <a:endParaRPr lang="ar-SA" sz="2000" dirty="0"/>
          </a:p>
        </p:txBody>
      </p:sp>
      <p:sp>
        <p:nvSpPr>
          <p:cNvPr id="43" name="Text 40"/>
          <p:cNvSpPr txBox="1"/>
          <p:nvPr/>
        </p:nvSpPr>
        <p:spPr>
          <a:xfrm>
            <a:off x="2651760" y="4110228"/>
            <a:ext cx="2926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كَانَ قَدْ يَذْهَبُ</a:t>
            </a:r>
            <a:endParaRPr lang="ar-SA" sz="2000" dirty="0"/>
          </a:p>
        </p:txBody>
      </p:sp>
      <p:sp>
        <p:nvSpPr>
          <p:cNvPr id="44" name="Text 41"/>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after qad</a:t>
            </a:r>
            <a:endParaRPr lang="en-US" sz="1100" dirty="0"/>
          </a:p>
        </p:txBody>
      </p:sp>
      <p:sp>
        <p:nvSpPr>
          <p:cNvPr id="45" name="Shape 4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6" name="Text 43"/>
          <p:cNvSpPr txBox="1"/>
          <p:nvPr/>
        </p:nvSpPr>
        <p:spPr>
          <a:xfrm>
            <a:off x="10259568" y="4724400"/>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a:t>
            </a:r>
            <a:endParaRPr lang="en-US" sz="1100" dirty="0"/>
          </a:p>
        </p:txBody>
      </p:sp>
      <p:sp>
        <p:nvSpPr>
          <p:cNvPr id="47" name="Text 44"/>
          <p:cNvSpPr txBox="1"/>
          <p:nvPr/>
        </p:nvSpPr>
        <p:spPr>
          <a:xfrm>
            <a:off x="9070848" y="4724400"/>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P1-L03</a:t>
            </a:r>
            <a:endParaRPr lang="en-US" sz="1100" dirty="0"/>
          </a:p>
        </p:txBody>
      </p:sp>
      <p:sp>
        <p:nvSpPr>
          <p:cNvPr id="48" name="Text 45"/>
          <p:cNvSpPr txBox="1"/>
          <p:nvPr/>
        </p:nvSpPr>
        <p:spPr>
          <a:xfrm>
            <a:off x="5760720" y="4724400"/>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إِذَا دَرَسْتَ، </a:t>
            </a:r>
            <a:pPr rtl="1" algn="ctr" indent="0" marL="0">
              <a:buNone/>
            </a:pPr>
            <a:r>
              <a:rPr lang="ar-SA" altLang="en-US" sz="2000" b="1" dirty="0">
                <a:solidFill>
                  <a:srgbClr val="0E7C86"/>
                </a:solidFill>
                <a:latin typeface="Amiri" pitchFamily="2" charset="-78"/>
                <a:cs typeface="Amiri" pitchFamily="2" charset="-78"/>
              </a:rPr>
              <a:t>سَتَنْجَحُ</a:t>
            </a:r>
            <a:endParaRPr lang="ar-SA" sz="2000" dirty="0"/>
          </a:p>
        </p:txBody>
      </p:sp>
      <p:sp>
        <p:nvSpPr>
          <p:cNvPr id="49" name="Text 46"/>
          <p:cNvSpPr txBox="1"/>
          <p:nvPr/>
        </p:nvSpPr>
        <p:spPr>
          <a:xfrm>
            <a:off x="2651760" y="4724400"/>
            <a:ext cx="2926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إِذَا دَرَسْتَ، تَنْجَحُ</a:t>
            </a:r>
            <a:endParaRPr lang="ar-SA" sz="2000" dirty="0"/>
          </a:p>
        </p:txBody>
      </p:sp>
      <p:sp>
        <p:nvSpPr>
          <p:cNvPr id="50" name="Text 47"/>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 result</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259568" y="5338572"/>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a:t>
            </a:r>
            <a:endParaRPr lang="en-US" sz="1100" dirty="0"/>
          </a:p>
        </p:txBody>
      </p:sp>
      <p:sp>
        <p:nvSpPr>
          <p:cNvPr id="53" name="Text 50"/>
          <p:cNvSpPr txBox="1"/>
          <p:nvPr/>
        </p:nvSpPr>
        <p:spPr>
          <a:xfrm>
            <a:off x="9070848" y="5338572"/>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P2-L06</a:t>
            </a:r>
            <a:endParaRPr lang="en-US" sz="1100" dirty="0"/>
          </a:p>
        </p:txBody>
      </p:sp>
      <p:sp>
        <p:nvSpPr>
          <p:cNvPr id="54" name="Text 51"/>
          <p:cNvSpPr txBox="1"/>
          <p:nvPr/>
        </p:nvSpPr>
        <p:spPr>
          <a:xfrm>
            <a:off x="5760720" y="5338572"/>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لَوْ عَمِلَ بِجِدٍّ، </a:t>
            </a:r>
            <a:pPr rtl="1" algn="ctr" indent="0" marL="0">
              <a:buNone/>
            </a:pPr>
            <a:r>
              <a:rPr lang="ar-SA" altLang="en-US" sz="2000" b="1" dirty="0">
                <a:solidFill>
                  <a:srgbClr val="C77700"/>
                </a:solidFill>
                <a:latin typeface="Amiri" pitchFamily="2" charset="-78"/>
                <a:cs typeface="Amiri" pitchFamily="2" charset="-78"/>
              </a:rPr>
              <a:t>لَنَجَحَ</a:t>
            </a:r>
            <a:endParaRPr lang="ar-SA" sz="2000" dirty="0"/>
          </a:p>
        </p:txBody>
      </p:sp>
      <p:sp>
        <p:nvSpPr>
          <p:cNvPr id="55" name="Text 52"/>
          <p:cNvSpPr txBox="1"/>
          <p:nvPr/>
        </p:nvSpPr>
        <p:spPr>
          <a:xfrm>
            <a:off x="2651760" y="5338572"/>
            <a:ext cx="2926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لَوْ عَمِلَ بِجِدٍّ، نَجَحَ</a:t>
            </a:r>
            <a:endParaRPr lang="ar-SA" sz="2000" dirty="0"/>
          </a:p>
        </p:txBody>
      </p:sp>
      <p:sp>
        <p:nvSpPr>
          <p:cNvPr id="56" name="Text 53"/>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 result</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reading: “every structure has a precise marker that must be got right.”</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WHOLE P2 GRAMMAR SPINE (VOCABULARY GROUP 2 + PATTERNS)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Four structures, four verbs — one unit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العَمُودُ الفِقْرِيُّ لِقَوَاعِدِ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65792" y="1810512"/>
            <a:ext cx="1892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7" name="Text 14"/>
          <p:cNvSpPr txBox="1"/>
          <p:nvPr/>
        </p:nvSpPr>
        <p:spPr>
          <a:xfrm>
            <a:off x="4005072"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72491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802368" y="2267712"/>
            <a:ext cx="1856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inna / anna</a:t>
            </a:r>
            <a:endParaRPr lang="en-US" sz="1100" dirty="0"/>
          </a:p>
        </p:txBody>
      </p:sp>
      <p:sp>
        <p:nvSpPr>
          <p:cNvPr id="22" name="Text 19"/>
          <p:cNvSpPr txBox="1"/>
          <p:nvPr/>
        </p:nvSpPr>
        <p:spPr>
          <a:xfrm>
            <a:off x="4023360" y="2267712"/>
            <a:ext cx="5577840" cy="559308"/>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2" charset="-78"/>
                <a:cs typeface="Amiri" pitchFamily="2" charset="-78"/>
              </a:rPr>
              <a:t>قَالَ</a:t>
            </a:r>
            <a:pPr rtl="1" algn="ctr" indent="0" marL="0">
              <a:buNone/>
            </a:pPr>
            <a:r>
              <a:rPr lang="ar-SA" altLang="en-US" sz="1900" b="1" dirty="0">
                <a:solidFill>
                  <a:srgbClr val="1B3B6F"/>
                </a:solidFill>
                <a:latin typeface="Amiri" pitchFamily="2" charset="-78"/>
                <a:cs typeface="Amiri" pitchFamily="2" charset="-78"/>
              </a:rPr>
              <a:t> أُسْتَاذِي </a:t>
            </a:r>
            <a:pPr rtl="1" algn="ctr" indent="0" marL="0">
              <a:buNone/>
            </a:pPr>
            <a:r>
              <a:rPr lang="ar-SA" altLang="en-US" sz="1900" b="1" dirty="0">
                <a:solidFill>
                  <a:srgbClr val="7B3FA0"/>
                </a:solidFill>
                <a:latin typeface="Amiri" pitchFamily="2" charset="-78"/>
                <a:cs typeface="Amiri" pitchFamily="2" charset="-78"/>
              </a:rPr>
              <a:t>إِنَّنِي</a:t>
            </a:r>
            <a:pPr rtl="1" algn="ctr" indent="0" marL="0">
              <a:buNone/>
            </a:pPr>
            <a:r>
              <a:rPr lang="ar-SA" altLang="en-US" sz="1900" b="1" dirty="0">
                <a:solidFill>
                  <a:srgbClr val="1B3B6F"/>
                </a:solidFill>
                <a:latin typeface="Amiri" pitchFamily="2" charset="-78"/>
                <a:cs typeface="Amiri" pitchFamily="2" charset="-78"/>
              </a:rPr>
              <a:t> مُؤَهَّلٌ، </a:t>
            </a:r>
            <a:pPr rtl="1" algn="ctr" indent="0" marL="0">
              <a:buNone/>
            </a:pPr>
            <a:r>
              <a:rPr lang="ar-SA" altLang="en-US" sz="1900" b="1" dirty="0">
                <a:solidFill>
                  <a:srgbClr val="7B3FA0"/>
                </a:solidFill>
                <a:latin typeface="Amiri" pitchFamily="2" charset="-78"/>
                <a:cs typeface="Amiri" pitchFamily="2" charset="-78"/>
              </a:rPr>
              <a:t>وَأَكَّدَ أَنَّ</a:t>
            </a:r>
            <a:pPr rtl="1" algn="ctr" indent="0" marL="0">
              <a:buNone/>
            </a:pPr>
            <a:r>
              <a:rPr lang="ar-SA" altLang="en-US" sz="1900" b="1" dirty="0">
                <a:solidFill>
                  <a:srgbClr val="1B3B6F"/>
                </a:solidFill>
                <a:latin typeface="Amiri" pitchFamily="2" charset="-78"/>
                <a:cs typeface="Amiri" pitchFamily="2" charset="-78"/>
              </a:rPr>
              <a:t> اجْتِهَادِي سَيُثْمِرُ.</a:t>
            </a:r>
            <a:endParaRPr lang="ar-SA" sz="1900" dirty="0"/>
          </a:p>
        </p:txBody>
      </p:sp>
      <p:sp>
        <p:nvSpPr>
          <p:cNvPr id="23" name="Text 20"/>
          <p:cNvSpPr txBox="1"/>
          <p:nvPr/>
        </p:nvSpPr>
        <p:spPr>
          <a:xfrm>
            <a:off x="2761488"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P2-L02</a:t>
            </a:r>
            <a:endParaRPr lang="en-US" sz="1100" dirty="0"/>
          </a:p>
        </p:txBody>
      </p:sp>
      <p:sp>
        <p:nvSpPr>
          <p:cNvPr id="24" name="Text 21"/>
          <p:cNvSpPr txBox="1"/>
          <p:nvPr/>
        </p:nvSpPr>
        <p:spPr>
          <a:xfrm>
            <a:off x="56692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802368" y="2881884"/>
            <a:ext cx="1856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kuntu … -tu</a:t>
            </a:r>
            <a:endParaRPr lang="en-US" sz="1100" dirty="0"/>
          </a:p>
        </p:txBody>
      </p:sp>
      <p:sp>
        <p:nvSpPr>
          <p:cNvPr id="29" name="Text 26"/>
          <p:cNvSpPr txBox="1"/>
          <p:nvPr/>
        </p:nvSpPr>
        <p:spPr>
          <a:xfrm>
            <a:off x="4023360" y="2881884"/>
            <a:ext cx="5577840" cy="559308"/>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cs typeface="Amiri" pitchFamily="2" charset="-78"/>
              </a:rPr>
              <a:t>كُنْتُ قَدْ أَنْهَيْتُ</a:t>
            </a:r>
            <a:pPr rtl="1" algn="ctr" indent="0" marL="0">
              <a:buNone/>
            </a:pPr>
            <a:r>
              <a:rPr lang="ar-SA" altLang="en-US" sz="1900" b="1" dirty="0">
                <a:solidFill>
                  <a:srgbClr val="1B3B6F"/>
                </a:solidFill>
                <a:latin typeface="Amiri" pitchFamily="2" charset="-78"/>
                <a:cs typeface="Amiri" pitchFamily="2" charset="-78"/>
              </a:rPr>
              <a:t> بَحْثِي قَبْلَ أَنْ أَلْتَحِقَ بِالجَامِعَةِ.</a:t>
            </a:r>
            <a:endParaRPr lang="ar-SA" sz="1900" dirty="0"/>
          </a:p>
        </p:txBody>
      </p:sp>
      <p:sp>
        <p:nvSpPr>
          <p:cNvPr id="30" name="Text 27"/>
          <p:cNvSpPr txBox="1"/>
          <p:nvPr/>
        </p:nvSpPr>
        <p:spPr>
          <a:xfrm>
            <a:off x="2761488"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P2-L03</a:t>
            </a:r>
            <a:endParaRPr lang="en-US" sz="1100" dirty="0"/>
          </a:p>
        </p:txBody>
      </p:sp>
      <p:sp>
        <p:nvSpPr>
          <p:cNvPr id="31" name="Text 28"/>
          <p:cNvSpPr txBox="1"/>
          <p:nvPr/>
        </p:nvSpPr>
        <p:spPr>
          <a:xfrm>
            <a:off x="56692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802368" y="3496056"/>
            <a:ext cx="1856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 sa-</a:t>
            </a:r>
            <a:endParaRPr lang="en-US" sz="1100" dirty="0"/>
          </a:p>
        </p:txBody>
      </p:sp>
      <p:sp>
        <p:nvSpPr>
          <p:cNvPr id="36" name="Text 33"/>
          <p:cNvSpPr txBox="1"/>
          <p:nvPr/>
        </p:nvSpPr>
        <p:spPr>
          <a:xfrm>
            <a:off x="4023360" y="3496056"/>
            <a:ext cx="5577840" cy="559308"/>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cs typeface="Amiri" pitchFamily="2" charset="-78"/>
              </a:rPr>
              <a:t>إِذَا قُبِلْتُ</a:t>
            </a:r>
            <a:pPr rtl="1" algn="ctr" indent="0" marL="0">
              <a:buNone/>
            </a:pPr>
            <a:r>
              <a:rPr lang="ar-SA" altLang="en-US" sz="1900" b="1" dirty="0">
                <a:solidFill>
                  <a:srgbClr val="1B3B6F"/>
                </a:solidFill>
                <a:latin typeface="Amiri" pitchFamily="2" charset="-78"/>
                <a:cs typeface="Amiri" pitchFamily="2" charset="-78"/>
              </a:rPr>
              <a:t>، </a:t>
            </a:r>
            <a:pPr rtl="1" algn="ctr" indent="0" marL="0">
              <a:buNone/>
            </a:pPr>
            <a:r>
              <a:rPr lang="ar-SA" altLang="en-US" sz="1900" b="1" dirty="0">
                <a:solidFill>
                  <a:srgbClr val="0E7C86"/>
                </a:solidFill>
                <a:latin typeface="Amiri" pitchFamily="2" charset="-78"/>
                <a:cs typeface="Amiri" pitchFamily="2" charset="-78"/>
              </a:rPr>
              <a:t>سَأَتَخَصَّصُ</a:t>
            </a:r>
            <a:pPr rtl="1" algn="ctr" indent="0" marL="0">
              <a:buNone/>
            </a:pPr>
            <a:r>
              <a:rPr lang="ar-SA" altLang="en-US" sz="1900" b="1" dirty="0">
                <a:solidFill>
                  <a:srgbClr val="1B3B6F"/>
                </a:solidFill>
                <a:latin typeface="Amiri" pitchFamily="2" charset="-78"/>
                <a:cs typeface="Amiri" pitchFamily="2" charset="-78"/>
              </a:rPr>
              <a:t> فِي الذَّكَاءِ الاصْطِنَاعِيِّ.</a:t>
            </a:r>
            <a:endParaRPr lang="ar-SA" sz="1900" dirty="0"/>
          </a:p>
        </p:txBody>
      </p:sp>
      <p:sp>
        <p:nvSpPr>
          <p:cNvPr id="37" name="Text 34"/>
          <p:cNvSpPr txBox="1"/>
          <p:nvPr/>
        </p:nvSpPr>
        <p:spPr>
          <a:xfrm>
            <a:off x="2761488"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P1-L03</a:t>
            </a:r>
            <a:endParaRPr lang="en-US" sz="1100" dirty="0"/>
          </a:p>
        </p:txBody>
      </p:sp>
      <p:sp>
        <p:nvSpPr>
          <p:cNvPr id="38" name="Text 35"/>
          <p:cNvSpPr txBox="1"/>
          <p:nvPr/>
        </p:nvSpPr>
        <p:spPr>
          <a:xfrm>
            <a:off x="56692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9802368" y="4110228"/>
            <a:ext cx="1856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 la-</a:t>
            </a:r>
            <a:endParaRPr lang="en-US" sz="1100" dirty="0"/>
          </a:p>
        </p:txBody>
      </p:sp>
      <p:sp>
        <p:nvSpPr>
          <p:cNvPr id="41" name="Text 38"/>
          <p:cNvSpPr txBox="1"/>
          <p:nvPr/>
        </p:nvSpPr>
        <p:spPr>
          <a:xfrm>
            <a:off x="4023360" y="4110228"/>
            <a:ext cx="5577840" cy="559308"/>
          </a:xfrm>
          <a:prstGeom prst="rect">
            <a:avLst/>
          </a:prstGeom>
          <a:noFill/>
          <a:ln/>
        </p:spPr>
        <p:txBody>
          <a:bodyPr wrap="square" lIns="0" tIns="0" rIns="0" bIns="0" rtlCol="0" anchor="ctr"/>
          <a:lstStyle/>
          <a:p>
            <a:pPr rtl="1" algn="ctr" indent="0" marL="0">
              <a:buNone/>
            </a:pPr>
            <a:r>
              <a:rPr lang="ar-SA" altLang="en-US" sz="1900" b="1" dirty="0">
                <a:solidFill>
                  <a:srgbClr val="C77700"/>
                </a:solidFill>
                <a:latin typeface="Amiri" pitchFamily="2" charset="-78"/>
                <a:cs typeface="Amiri" pitchFamily="2" charset="-78"/>
              </a:rPr>
              <a:t>لَوْ كَانَتْ</a:t>
            </a:r>
            <a:pPr rtl="1" algn="ctr" indent="0" marL="0">
              <a:buNone/>
            </a:pPr>
            <a:r>
              <a:rPr lang="ar-SA" altLang="en-US" sz="1900" b="1" dirty="0">
                <a:solidFill>
                  <a:srgbClr val="1B3B6F"/>
                </a:solidFill>
                <a:latin typeface="Amiri" pitchFamily="2" charset="-78"/>
                <a:cs typeface="Amiri" pitchFamily="2" charset="-78"/>
              </a:rPr>
              <a:t> ظُرُوفِي مُخْتَلِفَةً، </a:t>
            </a:r>
            <a:pPr rtl="1" algn="ctr" indent="0" marL="0">
              <a:buNone/>
            </a:pPr>
            <a:r>
              <a:rPr lang="ar-SA" altLang="en-US" sz="1900" b="1" dirty="0">
                <a:solidFill>
                  <a:srgbClr val="C77700"/>
                </a:solidFill>
                <a:latin typeface="Amiri" pitchFamily="2" charset="-78"/>
                <a:cs typeface="Amiri" pitchFamily="2" charset="-78"/>
              </a:rPr>
              <a:t>لَتَغَيَّرَ</a:t>
            </a:r>
            <a:pPr rtl="1" algn="ctr" indent="0" marL="0">
              <a:buNone/>
            </a:pPr>
            <a:r>
              <a:rPr lang="ar-SA" altLang="en-US" sz="1900" b="1" dirty="0">
                <a:solidFill>
                  <a:srgbClr val="1B3B6F"/>
                </a:solidFill>
                <a:latin typeface="Amiri" pitchFamily="2" charset="-78"/>
                <a:cs typeface="Amiri" pitchFamily="2" charset="-78"/>
              </a:rPr>
              <a:t> مَسَارِي.</a:t>
            </a:r>
            <a:endParaRPr lang="ar-SA" sz="1900" dirty="0"/>
          </a:p>
        </p:txBody>
      </p:sp>
      <p:sp>
        <p:nvSpPr>
          <p:cNvPr id="42" name="Text 39"/>
          <p:cNvSpPr txBox="1"/>
          <p:nvPr/>
        </p:nvSpPr>
        <p:spPr>
          <a:xfrm>
            <a:off x="2761488"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P2-L06</a:t>
            </a:r>
            <a:endParaRPr lang="en-US" sz="1100" dirty="0"/>
          </a:p>
        </p:txBody>
      </p:sp>
      <p:sp>
        <p:nvSpPr>
          <p:cNvPr id="43" name="Text 40"/>
          <p:cNvSpPr txBox="1"/>
          <p:nvPr/>
        </p:nvSpPr>
        <p:spPr>
          <a:xfrm>
            <a:off x="56692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a:t>
            </a:r>
            <a:endParaRPr lang="en-US" sz="1100" dirty="0"/>
          </a:p>
        </p:txBody>
      </p:sp>
      <p:sp>
        <p:nvSpPr>
          <p:cNvPr id="44" name="Shape 41"/>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802368" y="4724400"/>
            <a:ext cx="1856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fī · object</a:t>
            </a:r>
            <a:endParaRPr lang="en-US" sz="1100" dirty="0"/>
          </a:p>
        </p:txBody>
      </p:sp>
      <p:sp>
        <p:nvSpPr>
          <p:cNvPr id="48" name="Text 45"/>
          <p:cNvSpPr txBox="1"/>
          <p:nvPr/>
        </p:nvSpPr>
        <p:spPr>
          <a:xfrm>
            <a:off x="4023360" y="4724400"/>
            <a:ext cx="55778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يَتَفَوَّقُ </a:t>
            </a:r>
            <a:pPr rtl="1" algn="ctr" indent="0" marL="0">
              <a:buNone/>
            </a:pPr>
            <a:r>
              <a:rPr lang="ar-SA" altLang="en-US" sz="1900" b="1" dirty="0">
                <a:solidFill>
                  <a:srgbClr val="1D5FBF"/>
                </a:solidFill>
                <a:latin typeface="Amiri" pitchFamily="2" charset="-78"/>
                <a:cs typeface="Amiri" pitchFamily="2" charset="-78"/>
              </a:rPr>
              <a:t>فِي</a:t>
            </a:r>
            <a:pPr rtl="1" algn="ctr" indent="0" marL="0">
              <a:buNone/>
            </a:pPr>
            <a:r>
              <a:rPr lang="ar-SA" altLang="en-US" sz="1900" b="1" dirty="0">
                <a:solidFill>
                  <a:srgbClr val="1B3B6F"/>
                </a:solidFill>
                <a:latin typeface="Amiri" pitchFamily="2" charset="-78"/>
                <a:cs typeface="Amiri" pitchFamily="2" charset="-78"/>
              </a:rPr>
              <a:t> العُلُومِ · يَجْتَازُ الامْتِحَانَ.</a:t>
            </a:r>
            <a:endParaRPr lang="ar-SA" sz="1900" dirty="0"/>
          </a:p>
        </p:txBody>
      </p:sp>
      <p:sp>
        <p:nvSpPr>
          <p:cNvPr id="49" name="Text 46"/>
          <p:cNvSpPr txBox="1"/>
          <p:nvPr/>
        </p:nvSpPr>
        <p:spPr>
          <a:xfrm>
            <a:off x="2761488"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P2-L01</a:t>
            </a:r>
            <a:endParaRPr lang="en-US" sz="1100" dirty="0"/>
          </a:p>
        </p:txBody>
      </p:sp>
      <p:sp>
        <p:nvSpPr>
          <p:cNvPr id="50" name="Text 47"/>
          <p:cNvSpPr txBox="1"/>
          <p:nvPr/>
        </p:nvSpPr>
        <p:spPr>
          <a:xfrm>
            <a:off x="56692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academic verbs</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802368" y="5338572"/>
            <a:ext cx="1856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 · li-</a:t>
            </a:r>
            <a:endParaRPr lang="en-US" sz="1100" dirty="0"/>
          </a:p>
        </p:txBody>
      </p:sp>
      <p:sp>
        <p:nvSpPr>
          <p:cNvPr id="53" name="Text 50"/>
          <p:cNvSpPr txBox="1"/>
          <p:nvPr/>
        </p:nvSpPr>
        <p:spPr>
          <a:xfrm>
            <a:off x="4023360" y="5338572"/>
            <a:ext cx="55778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يُؤَهِّلُنِي التَّعْلِيمُ </a:t>
            </a:r>
            <a:pPr rtl="1" algn="ctr" indent="0" marL="0">
              <a:buNone/>
            </a:pPr>
            <a:r>
              <a:rPr lang="ar-SA" altLang="en-US" sz="1900" b="1" dirty="0">
                <a:solidFill>
                  <a:srgbClr val="1D5FBF"/>
                </a:solidFill>
                <a:latin typeface="Amiri" pitchFamily="2" charset="-78"/>
                <a:cs typeface="Amiri" pitchFamily="2" charset="-78"/>
              </a:rPr>
              <a:t>لِسُوقِ</a:t>
            </a:r>
            <a:pPr rtl="1" algn="ctr" indent="0" marL="0">
              <a:buNone/>
            </a:pPr>
            <a:r>
              <a:rPr lang="ar-SA" altLang="en-US" sz="1900" b="1" dirty="0">
                <a:solidFill>
                  <a:srgbClr val="1B3B6F"/>
                </a:solidFill>
                <a:latin typeface="Amiri" pitchFamily="2" charset="-78"/>
                <a:cs typeface="Amiri" pitchFamily="2" charset="-78"/>
              </a:rPr>
              <a:t> العَمَلِ وَيُعِدُّنِي </a:t>
            </a:r>
            <a:pPr rtl="1" algn="ctr" indent="0" marL="0">
              <a:buNone/>
            </a:pPr>
            <a:r>
              <a:rPr lang="ar-SA" altLang="en-US" sz="1900" b="1" dirty="0">
                <a:solidFill>
                  <a:srgbClr val="1D5FBF"/>
                </a:solidFill>
                <a:latin typeface="Amiri" pitchFamily="2" charset="-78"/>
                <a:cs typeface="Amiri" pitchFamily="2" charset="-78"/>
              </a:rPr>
              <a:t>لِلْمُنَافَسَةِ</a:t>
            </a:r>
            <a:pPr rtl="1" algn="ctr" indent="0" marL="0">
              <a:buNone/>
            </a:pPr>
            <a:r>
              <a:rPr lang="ar-SA" altLang="en-US" sz="1900" b="1" dirty="0">
                <a:solidFill>
                  <a:srgbClr val="1B3B6F"/>
                </a:solidFill>
                <a:latin typeface="Amiri" pitchFamily="2" charset="-78"/>
                <a:cs typeface="Amiri" pitchFamily="2" charset="-78"/>
              </a:rPr>
              <a:t>.</a:t>
            </a:r>
            <a:endParaRPr lang="ar-SA" sz="1900" dirty="0"/>
          </a:p>
        </p:txBody>
      </p:sp>
      <p:sp>
        <p:nvSpPr>
          <p:cNvPr id="54" name="Text 51"/>
          <p:cNvSpPr txBox="1"/>
          <p:nvPr/>
        </p:nvSpPr>
        <p:spPr>
          <a:xfrm>
            <a:off x="2761488"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P2-L05</a:t>
            </a:r>
            <a:endParaRPr lang="en-US" sz="1100" dirty="0"/>
          </a:p>
        </p:txBody>
      </p:sp>
      <p:sp>
        <p:nvSpPr>
          <p:cNvPr id="55" name="Text 52"/>
          <p:cNvSpPr txBox="1"/>
          <p:nvPr/>
        </p:nvSpPr>
        <p:spPr>
          <a:xfrm>
            <a:off x="56692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career verbs</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row is one P2 lesson — the assessment tests them all.</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REQUIRED STRUCTURE, UNPROMPTED (WEBSITE TEACHING POINT 2 + P2-L12 TOPIC QUESTIONS)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 required structure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البِنْيَةُ المَطْلُوبَةُ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05872" y="1810512"/>
            <a:ext cx="1252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Required</a:t>
            </a:r>
            <a:endParaRPr lang="en-US" sz="1100" dirty="0"/>
          </a:p>
        </p:txBody>
      </p:sp>
      <p:sp>
        <p:nvSpPr>
          <p:cNvPr id="17" name="Text 14"/>
          <p:cNvSpPr txBox="1"/>
          <p:nvPr/>
        </p:nvSpPr>
        <p:spPr>
          <a:xfrm>
            <a:off x="9582912" y="1810512"/>
            <a:ext cx="676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a:t>
            </a:r>
            <a:endParaRPr lang="en-US" sz="1100" dirty="0"/>
          </a:p>
        </p:txBody>
      </p:sp>
      <p:sp>
        <p:nvSpPr>
          <p:cNvPr id="18" name="Text 15"/>
          <p:cNvSpPr txBox="1"/>
          <p:nvPr/>
        </p:nvSpPr>
        <p:spPr>
          <a:xfrm>
            <a:off x="4736592" y="1810512"/>
            <a:ext cx="4700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with …</a:t>
            </a:r>
            <a:endParaRPr lang="en-US" sz="1100" dirty="0"/>
          </a:p>
        </p:txBody>
      </p:sp>
      <p:sp>
        <p:nvSpPr>
          <p:cNvPr id="19" name="Text 16"/>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asks …</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10442448" y="2267712"/>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2" name="Text 19"/>
          <p:cNvSpPr txBox="1"/>
          <p:nvPr/>
        </p:nvSpPr>
        <p:spPr>
          <a:xfrm>
            <a:off x="9619488" y="2267712"/>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Q1</a:t>
            </a:r>
            <a:endParaRPr lang="en-US" sz="1100" dirty="0"/>
          </a:p>
        </p:txBody>
      </p:sp>
      <p:sp>
        <p:nvSpPr>
          <p:cNvPr id="23" name="Text 20"/>
          <p:cNvSpPr txBox="1"/>
          <p:nvPr/>
        </p:nvSpPr>
        <p:spPr>
          <a:xfrm>
            <a:off x="4754880" y="2267712"/>
            <a:ext cx="4663440" cy="731520"/>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cs typeface="Amiri" pitchFamily="2" charset="-78"/>
              </a:rPr>
              <a:t>كُنْتُ قَدْ قَرَّرْتُ</a:t>
            </a:r>
            <a:pPr rtl="1" algn="ctr" indent="0" marL="0">
              <a:buNone/>
            </a:pPr>
            <a:r>
              <a:rPr lang="ar-SA" altLang="en-US" sz="1900" b="1" dirty="0">
                <a:solidFill>
                  <a:srgbClr val="1B3B6F"/>
                </a:solidFill>
                <a:latin typeface="Amiri" pitchFamily="2" charset="-78"/>
                <a:cs typeface="Amiri" pitchFamily="2" charset="-78"/>
              </a:rPr>
              <a:t> دِرَاسَةَ … ، </a:t>
            </a:r>
            <a:pPr rtl="1" algn="ctr" indent="0" marL="0">
              <a:buNone/>
            </a:pPr>
            <a:r>
              <a:rPr lang="ar-SA" altLang="en-US" sz="1900" b="1" dirty="0">
                <a:solidFill>
                  <a:srgbClr val="D6336C"/>
                </a:solidFill>
                <a:latin typeface="Amiri" pitchFamily="2" charset="-78"/>
                <a:cs typeface="Amiri" pitchFamily="2" charset="-78"/>
              </a:rPr>
              <a:t>وَكُنْتُ قَدْ حَصَلْتُ</a:t>
            </a:r>
            <a:pPr rtl="1" algn="ctr" indent="0" marL="0">
              <a:buNone/>
            </a:pPr>
            <a:r>
              <a:rPr lang="ar-SA" altLang="en-US" sz="1900" b="1" dirty="0">
                <a:solidFill>
                  <a:srgbClr val="1B3B6F"/>
                </a:solidFill>
                <a:latin typeface="Amiri" pitchFamily="2" charset="-78"/>
                <a:cs typeface="Amiri" pitchFamily="2" charset="-78"/>
              </a:rPr>
              <a:t> عَلَى …</a:t>
            </a:r>
            <a:endParaRPr lang="ar-SA" sz="1900" dirty="0"/>
          </a:p>
        </p:txBody>
      </p:sp>
      <p:sp>
        <p:nvSpPr>
          <p:cNvPr id="24" name="Text 21"/>
          <p:cNvSpPr txBox="1"/>
          <p:nvPr/>
        </p:nvSpPr>
        <p:spPr>
          <a:xfrm>
            <a:off x="548640" y="2267712"/>
            <a:ext cx="40233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الَّذِي كُنْتَ قَدْ قَرَّرْتَهُ بِشَأْنِ مُسْتَقْبَلِكَ؟</a:t>
            </a:r>
            <a:endParaRPr lang="ar-SA" sz="1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10442448" y="3054096"/>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29" name="Text 26"/>
          <p:cNvSpPr txBox="1"/>
          <p:nvPr/>
        </p:nvSpPr>
        <p:spPr>
          <a:xfrm>
            <a:off x="9619488" y="3054096"/>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Q2</a:t>
            </a:r>
            <a:endParaRPr lang="en-US" sz="1100" dirty="0"/>
          </a:p>
        </p:txBody>
      </p:sp>
      <p:sp>
        <p:nvSpPr>
          <p:cNvPr id="30" name="Text 27"/>
          <p:cNvSpPr txBox="1"/>
          <p:nvPr/>
        </p:nvSpPr>
        <p:spPr>
          <a:xfrm>
            <a:off x="4754880" y="3054096"/>
            <a:ext cx="4663440" cy="731520"/>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2" charset="-78"/>
                <a:cs typeface="Amiri" pitchFamily="2" charset="-78"/>
              </a:rPr>
              <a:t>قَالُوا إِنَّنِي</a:t>
            </a:r>
            <a:pPr rtl="1" algn="ctr" indent="0" marL="0">
              <a:buNone/>
            </a:pPr>
            <a:r>
              <a:rPr lang="ar-SA" altLang="en-US" sz="1900" b="1" dirty="0">
                <a:solidFill>
                  <a:srgbClr val="1B3B6F"/>
                </a:solidFill>
                <a:latin typeface="Amiri" pitchFamily="2" charset="-78"/>
                <a:cs typeface="Amiri" pitchFamily="2" charset="-78"/>
              </a:rPr>
              <a:t> مُؤَهَّلٌ، </a:t>
            </a:r>
            <a:pPr rtl="1" algn="ctr" indent="0" marL="0">
              <a:buNone/>
            </a:pPr>
            <a:r>
              <a:rPr lang="ar-SA" altLang="en-US" sz="1900" b="1" dirty="0">
                <a:solidFill>
                  <a:srgbClr val="7B3FA0"/>
                </a:solidFill>
                <a:latin typeface="Amiri" pitchFamily="2" charset="-78"/>
                <a:cs typeface="Amiri" pitchFamily="2" charset="-78"/>
              </a:rPr>
              <a:t>وَأَكَّدُوا أَنَّ</a:t>
            </a:r>
            <a:pPr rtl="1" algn="ctr" indent="0" marL="0">
              <a:buNone/>
            </a:pPr>
            <a:r>
              <a:rPr lang="ar-SA" altLang="en-US" sz="1900" b="1" dirty="0">
                <a:solidFill>
                  <a:srgbClr val="1B3B6F"/>
                </a:solidFill>
                <a:latin typeface="Amiri" pitchFamily="2" charset="-78"/>
                <a:cs typeface="Amiri" pitchFamily="2" charset="-78"/>
              </a:rPr>
              <a:t> اجْتِهَادِي سَيُثْمِرُ.</a:t>
            </a:r>
            <a:endParaRPr lang="ar-SA" sz="1900" dirty="0"/>
          </a:p>
        </p:txBody>
      </p:sp>
      <p:sp>
        <p:nvSpPr>
          <p:cNvPr id="31" name="Text 28"/>
          <p:cNvSpPr txBox="1"/>
          <p:nvPr/>
        </p:nvSpPr>
        <p:spPr>
          <a:xfrm>
            <a:off x="548640" y="3054096"/>
            <a:ext cx="40233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قَالَ مُعَلِّمُوكَ عَنْ طُمُوحَاتِكَ؟</a:t>
            </a:r>
            <a:endParaRPr lang="ar-SA" sz="18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10442448" y="3840480"/>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a:t>
            </a:r>
            <a:endParaRPr lang="en-US" sz="1100" dirty="0"/>
          </a:p>
        </p:txBody>
      </p:sp>
      <p:sp>
        <p:nvSpPr>
          <p:cNvPr id="36" name="Text 33"/>
          <p:cNvSpPr txBox="1"/>
          <p:nvPr/>
        </p:nvSpPr>
        <p:spPr>
          <a:xfrm>
            <a:off x="9619488" y="3840480"/>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Q3</a:t>
            </a:r>
            <a:endParaRPr lang="en-US" sz="1100" dirty="0"/>
          </a:p>
        </p:txBody>
      </p:sp>
      <p:sp>
        <p:nvSpPr>
          <p:cNvPr id="37" name="Text 34"/>
          <p:cNvSpPr txBox="1"/>
          <p:nvPr/>
        </p:nvSpPr>
        <p:spPr>
          <a:xfrm>
            <a:off x="4754880" y="3840480"/>
            <a:ext cx="4663440" cy="731520"/>
          </a:xfrm>
          <a:prstGeom prst="rect">
            <a:avLst/>
          </a:prstGeom>
          <a:noFill/>
          <a:ln/>
        </p:spPr>
        <p:txBody>
          <a:bodyPr wrap="square" lIns="0" tIns="0" rIns="0" bIns="0" rtlCol="0" anchor="ctr"/>
          <a:lstStyle/>
          <a:p>
            <a:pPr rtl="1" algn="ctr" indent="0" marL="0">
              <a:buNone/>
            </a:pPr>
            <a:r>
              <a:rPr lang="ar-SA" altLang="en-US" sz="1900" b="1" dirty="0">
                <a:solidFill>
                  <a:srgbClr val="C77700"/>
                </a:solidFill>
                <a:latin typeface="Amiri" pitchFamily="2" charset="-78"/>
                <a:cs typeface="Amiri" pitchFamily="2" charset="-78"/>
              </a:rPr>
              <a:t>لَوْ كَانَتْ</a:t>
            </a:r>
            <a:pPr rtl="1" algn="ctr" indent="0" marL="0">
              <a:buNone/>
            </a:pPr>
            <a:r>
              <a:rPr lang="ar-SA" altLang="en-US" sz="1900" b="1" dirty="0">
                <a:solidFill>
                  <a:srgbClr val="1B3B6F"/>
                </a:solidFill>
                <a:latin typeface="Amiri" pitchFamily="2" charset="-78"/>
                <a:cs typeface="Amiri" pitchFamily="2" charset="-78"/>
              </a:rPr>
              <a:t> لَدَيَّ مَوَارِدُ لَا نِهَائِيَّةٌ، </a:t>
            </a:r>
            <a:pPr rtl="1" algn="ctr" indent="0" marL="0">
              <a:buNone/>
            </a:pPr>
            <a:r>
              <a:rPr lang="ar-SA" altLang="en-US" sz="1900" b="1" dirty="0">
                <a:solidFill>
                  <a:srgbClr val="C77700"/>
                </a:solidFill>
                <a:latin typeface="Amiri" pitchFamily="2" charset="-78"/>
                <a:cs typeface="Amiri" pitchFamily="2" charset="-78"/>
              </a:rPr>
              <a:t>لَتَعَلَّمْتُ</a:t>
            </a:r>
            <a:pPr rtl="1" algn="ctr" indent="0" marL="0">
              <a:buNone/>
            </a:pPr>
            <a:r>
              <a:rPr lang="ar-SA" altLang="en-US" sz="1900" b="1" dirty="0">
                <a:solidFill>
                  <a:srgbClr val="1B3B6F"/>
                </a:solidFill>
                <a:latin typeface="Amiri" pitchFamily="2" charset="-78"/>
                <a:cs typeface="Amiri" pitchFamily="2" charset="-78"/>
              </a:rPr>
              <a:t> …</a:t>
            </a:r>
            <a:endParaRPr lang="ar-SA" sz="1900" dirty="0"/>
          </a:p>
        </p:txBody>
      </p:sp>
      <p:sp>
        <p:nvSpPr>
          <p:cNvPr id="38" name="Text 35"/>
          <p:cNvSpPr txBox="1"/>
          <p:nvPr/>
        </p:nvSpPr>
        <p:spPr>
          <a:xfrm>
            <a:off x="548640" y="3840480"/>
            <a:ext cx="40233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كَانَتْ لَدَيْكَ مَوَارِدُ لَا نِهَائِيَّةٌ، مَاذَا سَتَخْتَارُ؟</a:t>
            </a:r>
            <a:endParaRPr lang="ar-SA" sz="18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10442448" y="4626864"/>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girls’ form</a:t>
            </a:r>
            <a:endParaRPr lang="en-US" sz="1100" dirty="0"/>
          </a:p>
        </p:txBody>
      </p:sp>
      <p:sp>
        <p:nvSpPr>
          <p:cNvPr id="43" name="Text 40"/>
          <p:cNvSpPr txBox="1"/>
          <p:nvPr/>
        </p:nvSpPr>
        <p:spPr>
          <a:xfrm>
            <a:off x="9619488" y="4626864"/>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Q2</a:t>
            </a:r>
            <a:endParaRPr lang="en-US" sz="1100" dirty="0"/>
          </a:p>
        </p:txBody>
      </p:sp>
      <p:sp>
        <p:nvSpPr>
          <p:cNvPr id="44" name="Text 41"/>
          <p:cNvSpPr txBox="1"/>
          <p:nvPr/>
        </p:nvSpPr>
        <p:spPr>
          <a:xfrm>
            <a:off x="4754880" y="4626864"/>
            <a:ext cx="4663440" cy="731520"/>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2" charset="-78"/>
                <a:cs typeface="Amiri" pitchFamily="2" charset="-78"/>
              </a:rPr>
              <a:t>قُلْنَ إِنَّنِي</a:t>
            </a:r>
            <a:pPr rtl="1" algn="ctr" indent="0" marL="0">
              <a:buNone/>
            </a:pPr>
            <a:r>
              <a:rPr lang="ar-SA" altLang="en-US" sz="1900" b="1" dirty="0">
                <a:solidFill>
                  <a:srgbClr val="1B3B6F"/>
                </a:solidFill>
                <a:latin typeface="Amiri" pitchFamily="2" charset="-78"/>
                <a:cs typeface="Amiri" pitchFamily="2" charset="-78"/>
              </a:rPr>
              <a:t> مُجْتَهِدَةٌ، </a:t>
            </a:r>
            <a:pPr rtl="1" algn="ctr" indent="0" marL="0">
              <a:buNone/>
            </a:pPr>
            <a:r>
              <a:rPr lang="ar-SA" altLang="en-US" sz="1900" b="1" dirty="0">
                <a:solidFill>
                  <a:srgbClr val="7B3FA0"/>
                </a:solidFill>
                <a:latin typeface="Amiri" pitchFamily="2" charset="-78"/>
                <a:cs typeface="Amiri" pitchFamily="2" charset="-78"/>
              </a:rPr>
              <a:t>وَأَكَّدْنَ أَنَّ</a:t>
            </a:r>
            <a:pPr rtl="1" algn="ctr" indent="0" marL="0">
              <a:buNone/>
            </a:pPr>
            <a:r>
              <a:rPr lang="ar-SA" altLang="en-US" sz="1900" b="1" dirty="0">
                <a:solidFill>
                  <a:srgbClr val="1B3B6F"/>
                </a:solidFill>
                <a:latin typeface="Amiri" pitchFamily="2" charset="-78"/>
                <a:cs typeface="Amiri" pitchFamily="2" charset="-78"/>
              </a:rPr>
              <a:t> …</a:t>
            </a:r>
            <a:endParaRPr lang="ar-SA" sz="1900" dirty="0"/>
          </a:p>
        </p:txBody>
      </p:sp>
      <p:sp>
        <p:nvSpPr>
          <p:cNvPr id="45" name="Text 42"/>
          <p:cNvSpPr txBox="1"/>
          <p:nvPr/>
        </p:nvSpPr>
        <p:spPr>
          <a:xfrm>
            <a:off x="548640" y="4626864"/>
            <a:ext cx="40233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وَأَنْتِ؟ مَاذَا قَالَتْ مُعَلِّمَاتُكِ عَنْكِ؟</a:t>
            </a:r>
            <a:endParaRPr lang="ar-SA" sz="18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“The mark comes from producing it spontaneously.” The mark scheme records whether the Type 2 is used or avoided.</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FOCUS · PART 4 · THE ANSWER ROUTINE FOR THE TOPIC CONVERSATION · STRETCH</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Structure · reason · extra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بِنْيَةٌ · سَبَبٌ · إِضَافَةٌ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STRUCTURE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لَوْ … لَـ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لَوْ كَانَتْ ظُرُوفِي مُخْتَلِفَةً، لَاخْتَرْتُ مَسَارًا آخَرَ.</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my circumstances had been different, I would have chosen another path.</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required one.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REASON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لِأَنَّ التَّعْلِيمَ يُؤَهِّلُنِي لِسُوقِ العَمَلِ.</a:t>
            </a:r>
            <a:endParaRPr lang="ar-SA" sz="2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Because education qualifies me for the labour market.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Say WHY.</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830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 · EXTRA P2 · STRETCH</a:t>
            </a:r>
            <a:endParaRPr lang="en-US" sz="850" dirty="0"/>
          </a:p>
        </p:txBody>
      </p:sp>
      <p:sp>
        <p:nvSpPr>
          <p:cNvPr id="34" name="Text 31"/>
          <p:cNvSpPr txBox="1"/>
          <p:nvPr/>
        </p:nvSpPr>
        <p:spPr>
          <a:xfrm>
            <a:off x="2423160"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قَالَ إِنَّ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لٰكِنَّ مُعَلِّمِي قَالَ إِنَّنِي فِي المَكَانِ الصَّحِيحِ.</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But my teacher said I am in the right place.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second structure.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2: the verb after qad agrees with the feminine subject.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كَانَتْ قَدْ ذَهَبَتْ إِلَى الجَامِعَةِ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كَانَتْ قَدْ ذَهَبَ إِلَى الجَامِعَةِ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P2 Error Analysis and Grammar Mastery</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تَحْلِيلُ الأَخْطَاءِ وَإِتْقَانُ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inna vs anna</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qāla inna · (all others) anna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قَالَ إِنَّ التَّعْلِيمَ حَقٌّ   ·   أَكَّدَ أَنَّ المَنَاهِجَ تَتَطَوَّرُ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Past-perfect agreement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kāna / kānat + qad + past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كَانَتْ قَدْ حَصَلَتْ عَلَى مِنْحَةٍ   ·   كُنْتُ قَدْ أَنْهَيْتُ بَحْثِي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Type 1 vs Type 2 result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sa- · law … la-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دَرَسْتَ، سَتَنْجَحُ   ·   لَوْ دَرَسْتَ، لَنَجَحْتَ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Academic verb complements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yatafawwaq fī · yuʾahhil li-</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يَتَفَوَّقُ فِي العُلُومِ   ·   يُؤَهِّلُهُ التَّعْلِيمُ لِسُوقِ العَمَلِ</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correct?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أَنَّ التَّعْلِيمَ حَقٌّ.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بِأَنَّ التَّعْلِيمَ حَقٌّ.</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إِنَّ التَّعْلِيمَ حَقٌّ.</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reported pronoun is correct for «</a:t>
            </a:r>
            <a:pPr algn="l" indent="0" marL="0">
              <a:buNone/>
            </a:pPr>
            <a:r>
              <a:rPr lang="ar-SA" altLang="en-US" sz="1650" b="1" dirty="0">
                <a:solidFill>
                  <a:srgbClr val="1B3B6F"/>
                </a:solidFill>
                <a:latin typeface="Amiri" pitchFamily="2" charset="-78"/>
                <a:cs typeface="Amiri" pitchFamily="2" charset="-78"/>
              </a:rPr>
              <a:t>أَنَا مُجْتَهِدٌ</a:t>
            </a:r>
            <a:pPr algn="l" indent="0" marL="0">
              <a:buNone/>
            </a:pPr>
            <a:r>
              <a:rPr lang="en-US" sz="1250" b="1" dirty="0">
                <a:solidFill>
                  <a:srgbClr val="1B3B6F"/>
                </a:solidFill>
                <a:latin typeface="Calibri" pitchFamily="34" charset="0"/>
                <a:cs typeface="Amiri" pitchFamily="2" charset="-78"/>
              </a:rPr>
              <a:t>» said by a boy?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إِنَّهُ مُجْتَهِدٌ.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إِنَّ أَنَا مُجْتَهِدٌ.</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إِنِّي مُجْتَهِدٌ.</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past perfect agrees correctly (for a girl)?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 قَدْ ذَهَبَ.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 قَدْ ذَهَبَتْ.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 ذَهَبَتْ.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2 conditional is correct?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دَرَسَ، لَنَجَحَ.</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دَرَسَ، نَجَحَ.</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دَرَسَ، سَيَنْجَحُ.</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correct?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أَنَّ التَّعْلِيمَ حَقٌّ.</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بِأَنَّ التَّعْلِيمَ حَقٌّ.</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قَالَ إِنَّ التَّعْلِيمَ حَقٌّ.</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Only </a:t>
            </a:r>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reported pronoun is correct for «</a:t>
            </a:r>
            <a:pPr algn="l" indent="0" marL="0">
              <a:buNone/>
            </a:pPr>
            <a:r>
              <a:rPr lang="ar-SA" altLang="en-US" sz="1650" b="1" dirty="0">
                <a:solidFill>
                  <a:srgbClr val="1B3B6F"/>
                </a:solidFill>
                <a:latin typeface="Amiri" pitchFamily="2" charset="-78"/>
                <a:cs typeface="Amiri" pitchFamily="2" charset="-78"/>
              </a:rPr>
              <a:t>أَنَا مُجْتَهِدٌ</a:t>
            </a:r>
            <a:pPr algn="l" indent="0" marL="0">
              <a:buNone/>
            </a:pPr>
            <a:r>
              <a:rPr lang="en-US" sz="1250" b="1" dirty="0">
                <a:solidFill>
                  <a:srgbClr val="1B3B6F"/>
                </a:solidFill>
                <a:latin typeface="Calibri" pitchFamily="34" charset="0"/>
                <a:cs typeface="Amiri" pitchFamily="2" charset="-78"/>
              </a:rPr>
              <a:t>» said by a boy?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قَالَ إِنَّهُ مُجْتَهِدٌ.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إِنَّ أَنَا مُجْتَهِدٌ.</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إِنِّي مُجْتَهِدٌ.</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third-person pronoun: </a:t>
            </a:r>
            <a:pPr algn="l" indent="0" marL="0">
              <a:buNone/>
            </a:pPr>
            <a:r>
              <a:rPr lang="ar-SA" altLang="en-US" sz="1350" dirty="0">
                <a:solidFill>
                  <a:srgbClr val="8A6D1E"/>
                </a:solidFill>
                <a:latin typeface="Amiri" pitchFamily="2" charset="-78"/>
                <a:cs typeface="Amiri" pitchFamily="2" charset="-78"/>
              </a:rPr>
              <a:t>إِنَّهُ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past perfect agrees correctly (for a girl)?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كَانَتْ قَدْ ذَهَبَ.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كَانَتْ قَدْ ذَهَبَتْ.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 قَدْ ذَهَبَتْ.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كَانَتْ</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cs typeface="Amiri" pitchFamily="2" charset="-78"/>
              </a:rPr>
              <a:t>ذَهَبَتْ</a:t>
            </a:r>
            <a:pPr algn="l" indent="0" marL="0">
              <a:buNone/>
            </a:pPr>
            <a:r>
              <a:rPr lang="en-US" sz="1050" i="1" dirty="0">
                <a:solidFill>
                  <a:srgbClr val="8A6D1E"/>
                </a:solidFill>
                <a:latin typeface="Calibri" pitchFamily="34" charset="0"/>
                <a:cs typeface="Amiri" pitchFamily="2" charset="-78"/>
              </a:rPr>
              <a:t> both agree with the feminine subject.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2 conditional is correct?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دَرَسَ، لَنَجَحَ.</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دَرَسَ، نَجَحَ.</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دَرَسَ، سَيَنْجَحُ.</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 on a past verb.</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Watch me answer the three questions</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Q1</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كُنْتُ قَدْ قَرَّرْتُ</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kuntu … -tu.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Q2</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7B3FA0"/>
                </a:solidFill>
                <a:latin typeface="Amiri" pitchFamily="2" charset="-78"/>
                <a:cs typeface="Amiri" pitchFamily="2" charset="-78"/>
              </a:rPr>
              <a:t>قَالُوا إِنَّنِي</a:t>
            </a:r>
            <a:pPr rtl="1" algn="ctr" indent="0" marL="0">
              <a:lnSpc>
                <a:spcPct val="120000"/>
              </a:lnSpc>
              <a:buNone/>
            </a:pPr>
            <a:r>
              <a:rPr lang="ar-SA" altLang="en-US" sz="2000" b="1" dirty="0">
                <a:solidFill>
                  <a:srgbClr val="1B3B6F"/>
                </a:solidFill>
                <a:latin typeface="Amiri" pitchFamily="2" charset="-78"/>
                <a:cs typeface="Amiri" pitchFamily="2" charset="-78"/>
              </a:rPr>
              <a:t> … </a:t>
            </a:r>
            <a:pPr rtl="1" algn="ctr" indent="0" marL="0">
              <a:lnSpc>
                <a:spcPct val="120000"/>
              </a:lnSpc>
              <a:buNone/>
            </a:pPr>
            <a:r>
              <a:rPr lang="ar-SA" altLang="en-US" sz="2000" b="1" dirty="0">
                <a:solidFill>
                  <a:srgbClr val="7B3FA0"/>
                </a:solidFill>
                <a:latin typeface="Amiri" pitchFamily="2" charset="-78"/>
                <a:cs typeface="Amiri" pitchFamily="2" charset="-78"/>
              </a:rPr>
              <a:t>وَأَكَّدُوا أَنَّ</a:t>
            </a:r>
            <a:pPr rtl="1" algn="ctr" indent="0" marL="0">
              <a:lnSpc>
                <a:spcPct val="120000"/>
              </a:lnSpc>
              <a:buNone/>
            </a:pPr>
            <a:r>
              <a:rPr lang="ar-SA" altLang="en-US" sz="2000" b="1" dirty="0">
                <a:solidFill>
                  <a:srgbClr val="1B3B6F"/>
                </a:solidFill>
                <a:latin typeface="Amiri" pitchFamily="2" charset="-78"/>
                <a:cs typeface="Amiri" pitchFamily="2" charset="-78"/>
              </a:rPr>
              <a:t> …</a:t>
            </a:r>
            <a:endParaRPr lang="ar-SA" sz="20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inna, then anna.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Q3</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C77700"/>
                </a:solidFill>
                <a:latin typeface="Amiri" pitchFamily="2" charset="-78"/>
                <a:cs typeface="Amiri" pitchFamily="2" charset="-78"/>
              </a:rPr>
              <a:t>لَوْ كَانَتْ</a:t>
            </a:r>
            <a:pPr rtl="1" algn="ctr" indent="0" marL="0">
              <a:buNone/>
            </a:pPr>
            <a:r>
              <a:rPr lang="ar-SA" altLang="en-US" sz="2700" b="1" dirty="0">
                <a:solidFill>
                  <a:srgbClr val="1B3B6F"/>
                </a:solidFill>
                <a:latin typeface="Amiri" pitchFamily="2" charset="-78"/>
                <a:cs typeface="Amiri" pitchFamily="2" charset="-78"/>
              </a:rPr>
              <a:t> … </a:t>
            </a:r>
            <a:pPr rtl="1" algn="ctr" indent="0" marL="0">
              <a:buNone/>
            </a:pPr>
            <a:r>
              <a:rPr lang="ar-SA" altLang="en-US" sz="2700" b="1" dirty="0">
                <a:solidFill>
                  <a:srgbClr val="C77700"/>
                </a:solidFill>
                <a:latin typeface="Amiri" pitchFamily="2" charset="-78"/>
                <a:cs typeface="Amiri" pitchFamily="2" charset="-78"/>
              </a:rPr>
              <a:t>لَتَعَلَّمْتُ</a:t>
            </a:r>
            <a:pPr rtl="1" algn="ctr" indent="0" marL="0">
              <a:buNone/>
            </a:pPr>
            <a:r>
              <a:rPr lang="ar-SA" altLang="en-US" sz="2700" b="1" dirty="0">
                <a:solidFill>
                  <a:srgbClr val="1B3B6F"/>
                </a:solidFill>
                <a:latin typeface="Amiri" pitchFamily="2" charset="-78"/>
                <a:cs typeface="Amiri" pitchFamily="2" charset="-78"/>
              </a:rPr>
              <a:t> …</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Extra</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0E7C86"/>
                </a:solidFill>
                <a:latin typeface="Amiri" pitchFamily="2" charset="-78"/>
                <a:cs typeface="Amiri" pitchFamily="2" charset="-78"/>
              </a:rPr>
              <a:t>إِذَا قُبِلْتُ</a:t>
            </a:r>
            <a:pPr rtl="1" algn="ctr" indent="0" marL="0">
              <a:buNone/>
            </a:pPr>
            <a:r>
              <a:rPr lang="ar-SA" altLang="en-US" sz="2700" b="1" dirty="0">
                <a:solidFill>
                  <a:srgbClr val="1B3B6F"/>
                </a:solidFill>
                <a:latin typeface="Amiri" pitchFamily="2" charset="-78"/>
                <a:cs typeface="Amiri" pitchFamily="2" charset="-78"/>
              </a:rPr>
              <a:t>، </a:t>
            </a:r>
            <a:pPr rtl="1" algn="ctr" indent="0" marL="0">
              <a:buNone/>
            </a:pPr>
            <a:r>
              <a:rPr lang="ar-SA" altLang="en-US" sz="2700" b="1" dirty="0">
                <a:solidFill>
                  <a:srgbClr val="0E7C86"/>
                </a:solidFill>
                <a:latin typeface="Amiri" pitchFamily="2" charset="-78"/>
                <a:cs typeface="Amiri" pitchFamily="2" charset="-78"/>
              </a:rPr>
              <a:t>سَأَتَخَصَّصُ</a:t>
            </a:r>
            <a:pPr rtl="1" algn="ctr" indent="0" marL="0">
              <a:buNone/>
            </a:pPr>
            <a:r>
              <a:rPr lang="ar-SA" altLang="en-US" sz="2700" b="1" dirty="0">
                <a:solidFill>
                  <a:srgbClr val="1B3B6F"/>
                </a:solidFill>
                <a:latin typeface="Amiri" pitchFamily="2" charset="-78"/>
                <a:cs typeface="Amiri" pitchFamily="2" charset="-78"/>
              </a:rPr>
              <a:t> …</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real plan too.</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REPORTED</a:t>
            </a:r>
            <a:endParaRPr lang="en-US" sz="800" dirty="0"/>
          </a:p>
        </p:txBody>
      </p:sp>
      <p:sp>
        <p:nvSpPr>
          <p:cNvPr id="49" name="Shape 45"/>
          <p:cNvSpPr/>
          <p:nvPr/>
        </p:nvSpPr>
        <p:spPr>
          <a:xfrm>
            <a:off x="9528048" y="4736592"/>
            <a:ext cx="914400" cy="237744"/>
          </a:xfrm>
          <a:prstGeom prst="roundRect">
            <a:avLst>
              <a:gd name="adj" fmla="val 50000"/>
            </a:avLst>
          </a:prstGeom>
          <a:solidFill>
            <a:srgbClr val="C77700"/>
          </a:solidFill>
          <a:ln w="12700">
            <a:solidFill>
              <a:srgbClr val="C77700"/>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1</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2" charset="-78"/>
                <a:cs typeface="Amiri" pitchFamily="2" charset="-78"/>
              </a:rPr>
              <a:t>كُنْتُ قَدْ قَرَّرْتُ</a:t>
            </a:r>
            <a:pPr rtl="1" algn="r" indent="0" marL="0">
              <a:lnSpc>
                <a:spcPct val="120000"/>
              </a:lnSpc>
              <a:buNone/>
            </a:pPr>
            <a:r>
              <a:rPr lang="ar-SA" altLang="en-US" sz="1400" b="1" dirty="0">
                <a:solidFill>
                  <a:srgbClr val="1B3B6F"/>
                </a:solidFill>
                <a:latin typeface="Amiri" pitchFamily="2" charset="-78"/>
                <a:cs typeface="Amiri" pitchFamily="2" charset="-78"/>
              </a:rPr>
              <a:t> دِرَاسَةَ الحَاسُوبِ قَبْلَ هٰذَا العَامِ، </a:t>
            </a:r>
            <a:pPr rtl="1" algn="r" indent="0" marL="0">
              <a:lnSpc>
                <a:spcPct val="120000"/>
              </a:lnSpc>
              <a:buNone/>
            </a:pPr>
            <a:r>
              <a:rPr lang="ar-SA" altLang="en-US" sz="1400" b="1" dirty="0">
                <a:solidFill>
                  <a:srgbClr val="D6336C"/>
                </a:solidFill>
                <a:latin typeface="Amiri" pitchFamily="2" charset="-78"/>
                <a:cs typeface="Amiri" pitchFamily="2" charset="-78"/>
              </a:rPr>
              <a:t>وَكُنْتُ قَدْ حَصَلْتُ</a:t>
            </a:r>
            <a:pPr rtl="1" algn="r" indent="0" marL="0">
              <a:lnSpc>
                <a:spcPct val="120000"/>
              </a:lnSpc>
              <a:buNone/>
            </a:pPr>
            <a:r>
              <a:rPr lang="ar-SA" altLang="en-US" sz="1400" b="1" dirty="0">
                <a:solidFill>
                  <a:srgbClr val="1B3B6F"/>
                </a:solidFill>
                <a:latin typeface="Amiri" pitchFamily="2" charset="-78"/>
                <a:cs typeface="Amiri" pitchFamily="2" charset="-78"/>
              </a:rPr>
              <a:t> عَلَى خِبْرَةٍ فِي البَرْمَجَةِ. </a:t>
            </a:r>
            <a:pPr rtl="1" algn="r" indent="0" marL="0">
              <a:lnSpc>
                <a:spcPct val="120000"/>
              </a:lnSpc>
              <a:buNone/>
            </a:pPr>
            <a:r>
              <a:rPr lang="ar-SA" altLang="en-US" sz="1400" b="1" dirty="0">
                <a:solidFill>
                  <a:srgbClr val="7B3FA0"/>
                </a:solidFill>
                <a:latin typeface="Amiri" pitchFamily="2" charset="-78"/>
                <a:cs typeface="Amiri" pitchFamily="2" charset="-78"/>
              </a:rPr>
              <a:t>قَالَ</a:t>
            </a:r>
            <a:pPr rtl="1" algn="r" indent="0" marL="0">
              <a:lnSpc>
                <a:spcPct val="120000"/>
              </a:lnSpc>
              <a:buNone/>
            </a:pPr>
            <a:r>
              <a:rPr lang="ar-SA" altLang="en-US" sz="1400" b="1" dirty="0">
                <a:solidFill>
                  <a:srgbClr val="1B3B6F"/>
                </a:solidFill>
                <a:latin typeface="Amiri" pitchFamily="2" charset="-78"/>
                <a:cs typeface="Amiri" pitchFamily="2" charset="-78"/>
              </a:rPr>
              <a:t> مُعَلِّمِي </a:t>
            </a:r>
            <a:pPr rtl="1" algn="r" indent="0" marL="0">
              <a:lnSpc>
                <a:spcPct val="120000"/>
              </a:lnSpc>
              <a:buNone/>
            </a:pPr>
            <a:r>
              <a:rPr lang="ar-SA" altLang="en-US" sz="1400" b="1" dirty="0">
                <a:solidFill>
                  <a:srgbClr val="7B3FA0"/>
                </a:solidFill>
                <a:latin typeface="Amiri" pitchFamily="2" charset="-78"/>
                <a:cs typeface="Amiri" pitchFamily="2" charset="-78"/>
              </a:rPr>
              <a:t>إِنَّنِي</a:t>
            </a:r>
            <a:pPr rtl="1" algn="r" indent="0" marL="0">
              <a:lnSpc>
                <a:spcPct val="120000"/>
              </a:lnSpc>
              <a:buNone/>
            </a:pPr>
            <a:r>
              <a:rPr lang="ar-SA" altLang="en-US" sz="1400" b="1" dirty="0">
                <a:solidFill>
                  <a:srgbClr val="1B3B6F"/>
                </a:solidFill>
                <a:latin typeface="Amiri" pitchFamily="2" charset="-78"/>
                <a:cs typeface="Amiri" pitchFamily="2" charset="-78"/>
              </a:rPr>
              <a:t> مُؤَهَّلٌ، </a:t>
            </a:r>
            <a:pPr rtl="1" algn="r" indent="0" marL="0">
              <a:lnSpc>
                <a:spcPct val="120000"/>
              </a:lnSpc>
              <a:buNone/>
            </a:pPr>
            <a:r>
              <a:rPr lang="ar-SA" altLang="en-US" sz="1400" b="1" dirty="0">
                <a:solidFill>
                  <a:srgbClr val="7B3FA0"/>
                </a:solidFill>
                <a:latin typeface="Amiri" pitchFamily="2" charset="-78"/>
                <a:cs typeface="Amiri" pitchFamily="2" charset="-78"/>
              </a:rPr>
              <a:t>وَأَكَّدَ أَنَّ</a:t>
            </a:r>
            <a:pPr rtl="1" algn="r" indent="0" marL="0">
              <a:lnSpc>
                <a:spcPct val="120000"/>
              </a:lnSpc>
              <a:buNone/>
            </a:pPr>
            <a:r>
              <a:rPr lang="ar-SA" altLang="en-US" sz="1400" b="1" dirty="0">
                <a:solidFill>
                  <a:srgbClr val="1B3B6F"/>
                </a:solidFill>
                <a:latin typeface="Amiri" pitchFamily="2" charset="-78"/>
                <a:cs typeface="Amiri" pitchFamily="2" charset="-78"/>
              </a:rPr>
              <a:t> اجْتِهَادِي سَيُثْمِرُ. </a:t>
            </a:r>
            <a:pPr rtl="1" algn="r" indent="0" marL="0">
              <a:lnSpc>
                <a:spcPct val="120000"/>
              </a:lnSpc>
              <a:buNone/>
            </a:pPr>
            <a:r>
              <a:rPr lang="ar-SA" altLang="en-US" sz="1400" b="1" dirty="0">
                <a:solidFill>
                  <a:srgbClr val="0E7C86"/>
                </a:solidFill>
                <a:latin typeface="Amiri" pitchFamily="2" charset="-78"/>
                <a:cs typeface="Amiri" pitchFamily="2" charset="-78"/>
              </a:rPr>
              <a:t>إِذَا قُبِلْتُ</a:t>
            </a:r>
            <a:pPr rtl="1" algn="r" indent="0" marL="0">
              <a:lnSpc>
                <a:spcPct val="120000"/>
              </a:lnSpc>
              <a:buNone/>
            </a:pPr>
            <a:r>
              <a:rPr lang="ar-SA" altLang="en-US" sz="1400" b="1" dirty="0">
                <a:solidFill>
                  <a:srgbClr val="1B3B6F"/>
                </a:solidFill>
                <a:latin typeface="Amiri" pitchFamily="2" charset="-78"/>
                <a:cs typeface="Amiri" pitchFamily="2" charset="-78"/>
              </a:rPr>
              <a:t> فِي الجَامِعَةِ، </a:t>
            </a:r>
            <a:pPr rtl="1" algn="r" indent="0" marL="0">
              <a:lnSpc>
                <a:spcPct val="120000"/>
              </a:lnSpc>
              <a:buNone/>
            </a:pPr>
            <a:r>
              <a:rPr lang="ar-SA" altLang="en-US" sz="1400" b="1" dirty="0">
                <a:solidFill>
                  <a:srgbClr val="0E7C86"/>
                </a:solidFill>
                <a:latin typeface="Amiri" pitchFamily="2" charset="-78"/>
                <a:cs typeface="Amiri" pitchFamily="2" charset="-78"/>
              </a:rPr>
              <a:t>سَأَتَخَصَّصُ</a:t>
            </a:r>
            <a:pPr rtl="1" algn="r" indent="0" marL="0">
              <a:lnSpc>
                <a:spcPct val="120000"/>
              </a:lnSpc>
              <a:buNone/>
            </a:pPr>
            <a:r>
              <a:rPr lang="ar-SA" altLang="en-US" sz="1400" b="1" dirty="0">
                <a:solidFill>
                  <a:srgbClr val="1B3B6F"/>
                </a:solidFill>
                <a:latin typeface="Amiri" pitchFamily="2" charset="-78"/>
                <a:cs typeface="Amiri" pitchFamily="2" charset="-78"/>
              </a:rPr>
              <a:t> فِي الذَّكَاءِ الاصْطِنَاعِيِّ. </a:t>
            </a:r>
            <a:pPr rtl="1" algn="r" indent="0" marL="0">
              <a:lnSpc>
                <a:spcPct val="120000"/>
              </a:lnSpc>
              <a:buNone/>
            </a:pPr>
            <a:r>
              <a:rPr lang="ar-SA" altLang="en-US" sz="1400" b="1" dirty="0">
                <a:solidFill>
                  <a:srgbClr val="C77700"/>
                </a:solidFill>
                <a:latin typeface="Amiri" pitchFamily="2" charset="-78"/>
                <a:cs typeface="Amiri" pitchFamily="2" charset="-78"/>
              </a:rPr>
              <a:t>وَلَوْ كَانَتْ</a:t>
            </a:r>
            <a:pPr rtl="1" algn="r" indent="0" marL="0">
              <a:lnSpc>
                <a:spcPct val="120000"/>
              </a:lnSpc>
              <a:buNone/>
            </a:pPr>
            <a:r>
              <a:rPr lang="ar-SA" altLang="en-US" sz="1400" b="1" dirty="0">
                <a:solidFill>
                  <a:srgbClr val="1B3B6F"/>
                </a:solidFill>
                <a:latin typeface="Amiri" pitchFamily="2" charset="-78"/>
                <a:cs typeface="Amiri" pitchFamily="2" charset="-78"/>
              </a:rPr>
              <a:t> ظُرُوفِي مُخْتَلِفَةً، </a:t>
            </a:r>
            <a:pPr rtl="1" algn="r" indent="0" marL="0">
              <a:lnSpc>
                <a:spcPct val="120000"/>
              </a:lnSpc>
              <a:buNone/>
            </a:pPr>
            <a:r>
              <a:rPr lang="ar-SA" altLang="en-US" sz="1400" b="1" dirty="0">
                <a:solidFill>
                  <a:srgbClr val="C77700"/>
                </a:solidFill>
                <a:latin typeface="Amiri" pitchFamily="2" charset="-78"/>
                <a:cs typeface="Amiri" pitchFamily="2" charset="-78"/>
              </a:rPr>
              <a:t>لَاخْتَرْتُ</a:t>
            </a:r>
            <a:pPr rtl="1" algn="r" indent="0" marL="0">
              <a:lnSpc>
                <a:spcPct val="120000"/>
              </a:lnSpc>
              <a:buNone/>
            </a:pPr>
            <a:r>
              <a:rPr lang="ar-SA" altLang="en-US" sz="1400" b="1" dirty="0">
                <a:solidFill>
                  <a:srgbClr val="1B3B6F"/>
                </a:solidFill>
                <a:latin typeface="Amiri" pitchFamily="2" charset="-78"/>
                <a:cs typeface="Amiri" pitchFamily="2" charset="-78"/>
              </a:rPr>
              <a:t> مَسَارًا آخَرَ.</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had decided to study computing before this year, and I had gained experience in programming. My teacher said that I am qualified, and stressed that my hard work will pay off. If I am accepted at university, I will specialise in AI. And if my circumstances had been different, I would have chosen another path.</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قَالَ أُسْتَاذِي إِنَّنِي مُؤَهَّلٌ، وَأَكَّدَ أَنَّ اجْتِهَادِي سَيُثْمِرُ</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teacher said that I am qualified, and stressed that my hard work will pay off</a:t>
            </a:r>
            <a:endParaRPr lang="en-US" sz="1250" dirty="0"/>
          </a:p>
          <a:p>
            <a:pPr indent="0" marL="0">
              <a:buNone/>
            </a:pPr>
            <a:r>
              <a:rPr lang="en-US" sz="1050" i="1" dirty="0">
                <a:solidFill>
                  <a:srgbClr val="8A6D1E"/>
                </a:solidFill>
                <a:latin typeface="Calibri" pitchFamily="34" charset="0"/>
                <a:cs typeface="Amiri" pitchFamily="2" charset="-78"/>
              </a:rPr>
              <a:t>inna after qāla, anna after akkada.</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كُنْتُ قَدْ أَنْهَيْتُ بَحْثِي قَبْلَ أَنْ أَلْتَحِقَ بِالجَامِعَةِ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had finished my research before I joined the university</a:t>
            </a:r>
            <a:endParaRPr lang="en-US" sz="1250" dirty="0"/>
          </a:p>
          <a:p>
            <a:pPr indent="0" marL="0">
              <a:buNone/>
            </a:pPr>
            <a:r>
              <a:rPr lang="en-US" sz="1050" i="1" dirty="0">
                <a:solidFill>
                  <a:srgbClr val="8A6D1E"/>
                </a:solidFill>
                <a:latin typeface="Calibri" pitchFamily="34" charset="0"/>
                <a:cs typeface="Amiri" pitchFamily="2" charset="-78"/>
              </a:rPr>
              <a:t>Past-perfect agreement and past verb after qad.</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لَوْ كَانَتْ ظُرُوفِي مُخْتَلِفَةً، لَتَغَيَّرَ مَسَارِي</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my circumstances had been different, my path would have changed</a:t>
            </a:r>
            <a:endParaRPr lang="en-US" sz="1250" dirty="0"/>
          </a:p>
          <a:p>
            <a:pPr indent="0" marL="0">
              <a:buNone/>
            </a:pPr>
            <a:r>
              <a:rPr lang="en-US" sz="1050" i="1" dirty="0">
                <a:solidFill>
                  <a:srgbClr val="8A6D1E"/>
                </a:solidFill>
                <a:latin typeface="Calibri" pitchFamily="34" charset="0"/>
                <a:cs typeface="Amiri" pitchFamily="2" charset="-78"/>
              </a:rPr>
              <a:t>Type 2: law + past → la- + past.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REPAIR THE SLIPS (WEBSITE READING: THE REPAIR LIST + MISTAKES)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it, fix it, name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وَسَمِّ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Zone</a:t>
            </a:r>
            <a:endParaRPr lang="en-US" sz="1100" dirty="0"/>
          </a:p>
        </p:txBody>
      </p:sp>
      <p:sp>
        <p:nvSpPr>
          <p:cNvPr id="17" name="Text 14"/>
          <p:cNvSpPr txBox="1"/>
          <p:nvPr/>
        </p:nvSpPr>
        <p:spPr>
          <a:xfrm>
            <a:off x="44622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Correct</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Slip</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05088" y="226771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inna / anna</a:t>
            </a:r>
            <a:endParaRPr lang="en-US" sz="1100" dirty="0"/>
          </a:p>
        </p:txBody>
      </p:sp>
      <p:sp>
        <p:nvSpPr>
          <p:cNvPr id="21" name="Text 18"/>
          <p:cNvSpPr txBox="1"/>
          <p:nvPr/>
        </p:nvSpPr>
        <p:spPr>
          <a:xfrm>
            <a:off x="4480560" y="2267712"/>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قَالَ إِنَّ التَّعْلِيمَ مُهِمٌّ.</a:t>
            </a:r>
            <a:endParaRPr lang="ar-SA" sz="1900" dirty="0"/>
          </a:p>
        </p:txBody>
      </p:sp>
      <p:sp>
        <p:nvSpPr>
          <p:cNvPr id="22" name="Text 19"/>
          <p:cNvSpPr txBox="1"/>
          <p:nvPr/>
        </p:nvSpPr>
        <p:spPr>
          <a:xfrm>
            <a:off x="548640" y="2267712"/>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قَالَ أَنَّ التَّعْلِيمَ مُهِمٌّ.</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05088" y="2881884"/>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 agreement</a:t>
            </a:r>
            <a:endParaRPr lang="en-US" sz="1100" dirty="0"/>
          </a:p>
        </p:txBody>
      </p:sp>
      <p:sp>
        <p:nvSpPr>
          <p:cNvPr id="27" name="Text 24"/>
          <p:cNvSpPr txBox="1"/>
          <p:nvPr/>
        </p:nvSpPr>
        <p:spPr>
          <a:xfrm>
            <a:off x="4480560" y="2881884"/>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كَانَتْ قَدْ ذَهَبَتْ إِلَى الجَامِعَةِ.</a:t>
            </a:r>
            <a:endParaRPr lang="ar-SA" sz="1900" dirty="0"/>
          </a:p>
        </p:txBody>
      </p:sp>
      <p:sp>
        <p:nvSpPr>
          <p:cNvPr id="28" name="Text 25"/>
          <p:cNvSpPr txBox="1"/>
          <p:nvPr/>
        </p:nvSpPr>
        <p:spPr>
          <a:xfrm>
            <a:off x="548640" y="2881884"/>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كَانَتْ قَدْ ذَهَبَ إِلَى الجَامِعَةِ.</a:t>
            </a:r>
            <a:endParaRPr lang="ar-SA" sz="19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05088" y="3496056"/>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 result</a:t>
            </a:r>
            <a:endParaRPr lang="en-US" sz="1100" dirty="0"/>
          </a:p>
        </p:txBody>
      </p:sp>
      <p:sp>
        <p:nvSpPr>
          <p:cNvPr id="33" name="Text 30"/>
          <p:cNvSpPr txBox="1"/>
          <p:nvPr/>
        </p:nvSpPr>
        <p:spPr>
          <a:xfrm>
            <a:off x="4480560" y="3496056"/>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لَوْ عَمِلَ بِجِدٍّ، لَنَجَحَ.</a:t>
            </a:r>
            <a:endParaRPr lang="ar-SA" sz="1900" dirty="0"/>
          </a:p>
        </p:txBody>
      </p:sp>
      <p:sp>
        <p:nvSpPr>
          <p:cNvPr id="34" name="Text 31"/>
          <p:cNvSpPr txBox="1"/>
          <p:nvPr/>
        </p:nvSpPr>
        <p:spPr>
          <a:xfrm>
            <a:off x="548640" y="3496056"/>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لَوْ عَمِلَ بِجِدٍّ، نَجَحَ.</a:t>
            </a:r>
            <a:endParaRPr lang="ar-SA" sz="19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05088" y="4110228"/>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ashāra ilā (P2-L10)</a:t>
            </a:r>
            <a:endParaRPr lang="en-US" sz="1100" dirty="0"/>
          </a:p>
        </p:txBody>
      </p:sp>
      <p:sp>
        <p:nvSpPr>
          <p:cNvPr id="39" name="Text 36"/>
          <p:cNvSpPr txBox="1"/>
          <p:nvPr/>
        </p:nvSpPr>
        <p:spPr>
          <a:xfrm>
            <a:off x="4480560" y="4110228"/>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أَشَارَ الخَبِيرُ إِلَى أَنَّ الإِصْلَاحَ ضَرُورِيٌّ.</a:t>
            </a:r>
            <a:endParaRPr lang="ar-SA" sz="1900" dirty="0"/>
          </a:p>
        </p:txBody>
      </p:sp>
      <p:sp>
        <p:nvSpPr>
          <p:cNvPr id="40" name="Text 37"/>
          <p:cNvSpPr txBox="1"/>
          <p:nvPr/>
        </p:nvSpPr>
        <p:spPr>
          <a:xfrm>
            <a:off x="548640" y="4110228"/>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أَشَارَ الخَبِيرُ أَنَّ الإِصْلَاحَ ضَرُورِيٌّ.</a:t>
            </a:r>
            <a:endParaRPr lang="ar-SA" sz="19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05088" y="4724400"/>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complement (P2-L05)</a:t>
            </a:r>
            <a:endParaRPr lang="en-US" sz="1100" dirty="0"/>
          </a:p>
        </p:txBody>
      </p:sp>
      <p:sp>
        <p:nvSpPr>
          <p:cNvPr id="43" name="Text 40"/>
          <p:cNvSpPr txBox="1"/>
          <p:nvPr/>
        </p:nvSpPr>
        <p:spPr>
          <a:xfrm>
            <a:off x="4480560" y="4724400"/>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يَتَحَوَّلُ الذَّكَاءُ إِلَى شَرِيكٍ.</a:t>
            </a:r>
            <a:endParaRPr lang="ar-SA" sz="1900" dirty="0"/>
          </a:p>
        </p:txBody>
      </p:sp>
      <p:sp>
        <p:nvSpPr>
          <p:cNvPr id="44" name="Text 41"/>
          <p:cNvSpPr txBox="1"/>
          <p:nvPr/>
        </p:nvSpPr>
        <p:spPr>
          <a:xfrm>
            <a:off x="548640" y="4724400"/>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يَتَحَوَّلُ الذَّكَاءُ لِشَرِيكٍ.</a:t>
            </a:r>
            <a:endParaRPr lang="ar-SA" sz="19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05088" y="533857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one of each (P2-L09)</a:t>
            </a:r>
            <a:endParaRPr lang="en-US" sz="1100" dirty="0"/>
          </a:p>
        </p:txBody>
      </p:sp>
      <p:sp>
        <p:nvSpPr>
          <p:cNvPr id="47" name="Text 44"/>
          <p:cNvSpPr txBox="1"/>
          <p:nvPr/>
        </p:nvSpPr>
        <p:spPr>
          <a:xfrm>
            <a:off x="4480560" y="5338572"/>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إِذَا قُبِلْتُ سَأَدْرُسُ؛ وَلَوْ تَوَافَرَ الدَّعْمُ لَتَفَوَّقْتُ.</a:t>
            </a:r>
            <a:endParaRPr lang="ar-SA" sz="1900" dirty="0"/>
          </a:p>
        </p:txBody>
      </p:sp>
      <p:sp>
        <p:nvSpPr>
          <p:cNvPr id="48" name="Text 45"/>
          <p:cNvSpPr txBox="1"/>
          <p:nvPr/>
        </p:nvSpPr>
        <p:spPr>
          <a:xfrm>
            <a:off x="548640" y="5338572"/>
            <a:ext cx="3749040" cy="559308"/>
          </a:xfrm>
          <a:prstGeom prst="rect">
            <a:avLst/>
          </a:prstGeom>
          <a:noFill/>
          <a:ln/>
        </p:spPr>
        <p:txBody>
          <a:bodyPr wrap="square" lIns="0" tIns="0" rIns="0" bIns="0" rtlCol="0" anchor="ctr"/>
          <a:lstStyle/>
          <a:p>
            <a:pPr rtl="1" algn="ctr" indent="0" marL="0">
              <a:buNone/>
            </a:pPr>
            <a:r>
              <a:rPr lang="ar-SA" altLang="en-US" sz="1850" b="1" dirty="0">
                <a:solidFill>
                  <a:srgbClr val="1B3B6F"/>
                </a:solidFill>
                <a:latin typeface="Amiri" pitchFamily="2" charset="-78"/>
                <a:cs typeface="Amiri" pitchFamily="2" charset="-78"/>
              </a:rPr>
              <a:t>إِذَا قُبِلْتُ سَأَدْرُسُ؛ وَإِذَا تَوَافَرَ الدَّعْمُ سَأَتَفَوَّقُ.</a:t>
            </a:r>
            <a:endParaRPr lang="ar-SA" sz="18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reading: “the shared lesson is that every structure has a precise marker that must be controlled.”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AN INTERVIEW ANSWER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Background + citation +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جَوَابَكَ</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Background (kuntu qad)</a:t>
            </a:r>
            <a:endParaRPr lang="en-US" sz="1100" dirty="0"/>
          </a:p>
        </p:txBody>
      </p:sp>
      <p:sp>
        <p:nvSpPr>
          <p:cNvPr id="19" name="Text 16"/>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Citation (reported)</a:t>
            </a:r>
            <a:endParaRPr lang="en-US" sz="1100" dirty="0"/>
          </a:p>
        </p:txBody>
      </p:sp>
      <p:sp>
        <p:nvSpPr>
          <p:cNvPr id="20" name="Text 17"/>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Plan (idhā · law)</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كُنْتُ قَدْ قَرَّرْتُ مَجَالِي قَبْلَ هٰذَا العَامِ</a:t>
            </a:r>
            <a:endParaRPr lang="ar-SA" sz="1600" dirty="0"/>
          </a:p>
        </p:txBody>
      </p:sp>
      <p:sp>
        <p:nvSpPr>
          <p:cNvPr id="23" name="Text 20"/>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وَقَالَ مُعَلِّمِي إِنَّنِي مُؤَهَّلٌ لِلْمُنَافَسَةِ</a:t>
            </a:r>
            <a:endParaRPr lang="ar-SA" sz="1600" dirty="0"/>
          </a:p>
        </p:txBody>
      </p:sp>
      <p:sp>
        <p:nvSpPr>
          <p:cNvPr id="24" name="Text 21"/>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وَلَوْ كَانَتْ ظُرُوفِي مُخْتَلِفَةً لَاخْتَرْتُ مَسَارًا آخَرَ</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كُنْتُ قَدْ حَصَلْتُ عَلَى خِبْرَةٍ عَمَلِيَّةٍ</a:t>
            </a:r>
            <a:endParaRPr lang="ar-SA" sz="1600" dirty="0"/>
          </a:p>
        </p:txBody>
      </p:sp>
      <p:sp>
        <p:nvSpPr>
          <p:cNvPr id="29" name="Text 26"/>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وَأَكَّدَ أَنَّ اجْتِهَادِي سَيُثْمِرُ</a:t>
            </a:r>
            <a:endParaRPr lang="ar-SA" sz="1600" dirty="0"/>
          </a:p>
        </p:txBody>
      </p:sp>
      <p:sp>
        <p:nvSpPr>
          <p:cNvPr id="30" name="Text 27"/>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وَلَوْ تَوَافَرَتْ مَوَارِدُ أَكْثَرُ لَتَقَدَّمْتُ أَسْرَعَ</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كَانَتْ خُطَّتِي قَدِ اتَّضَحَتْ مُبَكِّرًا</a:t>
            </a:r>
            <a:endParaRPr lang="ar-SA" sz="1600" dirty="0"/>
          </a:p>
        </p:txBody>
      </p:sp>
      <p:sp>
        <p:nvSpPr>
          <p:cNvPr id="33" name="Text 30"/>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وَأَشَارَ إِلَى أَنَّ مَجَالِي وَاعِدٌ</a:t>
            </a:r>
            <a:endParaRPr lang="ar-SA" sz="1600" dirty="0"/>
          </a:p>
        </p:txBody>
      </p:sp>
      <p:sp>
        <p:nvSpPr>
          <p:cNvPr id="34" name="Text 31"/>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وَإِذَا قُبِلْتُ فَسَأُكَرِّسُ جُهْدِي لِلْبَحْثِ</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aloud as one fluent answer.</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Reported speech, past perfect — or conditional?</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قَالَ إِنَّ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أَشَارَ إِلَى أَنَّ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أَكَّدَ أَنَّ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 قَدْ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كَانَتْ قَدْ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 سَـ</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 لَـ</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لَمْ … لَنْ</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reported speech</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past perfect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conditional (Type 1 / 2)</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reported speech</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قَالَ إِنَّ</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أَشَارَ إِلَى أَنَّ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أَكَّدَ أَنَّ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past perfect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 قَدْ</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كَانَتْ قَدْ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conditional (Type 1 / 2)</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 سَـ</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 لَـ</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لَمْ … لَنْ</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verb after </a:t>
            </a:r>
            <a:pPr algn="l" indent="0" marL="0">
              <a:buNone/>
            </a:pPr>
            <a:r>
              <a:rPr lang="ar-SA" altLang="en-US" sz="1650" b="1" dirty="0">
                <a:solidFill>
                  <a:srgbClr val="1B3B6F"/>
                </a:solidFill>
                <a:latin typeface="Amiri" pitchFamily="2" charset="-78"/>
                <a:cs typeface="Amiri" pitchFamily="2" charset="-78"/>
              </a:rPr>
              <a:t>قَدْ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 يَذْهَبُ.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 سَيَذْهَبُ.</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 ذَهَبَ.</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1 conditional is correct?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دَرَسْتَ، تَنْجَحُ.</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دَرَسْتَ، سَتَنْجَحُ.</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تَدْرُسُ، سَتَنْجَحُ.</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يَتَفَوَّقُ الطَّالِبُ ___ العُلُومِ.</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a required-structure question well (Type 2)?</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تَغَيَّرَتْ ظُرُوفِي، سَيَتَغَيَّرُ مَسَارِي.</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ظُرُوفِي جَيِّدَةٌ.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كَانَتْ ظُرُوفِي مُخْتَلِفَةً، لَتَغَيَّرَ مَسَارِي.</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verb after </a:t>
            </a:r>
            <a:pPr algn="l" indent="0" marL="0">
              <a:buNone/>
            </a:pPr>
            <a:r>
              <a:rPr lang="ar-SA" altLang="en-US" sz="1650" b="1" dirty="0">
                <a:solidFill>
                  <a:srgbClr val="1B3B6F"/>
                </a:solidFill>
                <a:latin typeface="Amiri" pitchFamily="2" charset="-78"/>
                <a:cs typeface="Amiri" pitchFamily="2" charset="-78"/>
              </a:rPr>
              <a:t>قَدْ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 قَدْ يَذْهَبُ.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 قَدْ سَيَذْهَبُ.</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 قَدْ ذَهَبَ.</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cs typeface="Amiri" pitchFamily="2" charset="-78"/>
              </a:rPr>
              <a:t>قَدْ</a:t>
            </a:r>
            <a:pPr algn="l" indent="0" marL="0">
              <a:buNone/>
            </a:pPr>
            <a:r>
              <a:rPr lang="en-US" sz="1050" i="1" dirty="0">
                <a:solidFill>
                  <a:srgbClr val="8A6D1E"/>
                </a:solidFill>
                <a:latin typeface="Calibri" pitchFamily="34" charset="0"/>
                <a:cs typeface="Amiri" pitchFamily="2" charset="-78"/>
              </a:rPr>
              <a:t> must be past.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1 conditional is correct?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دَرَسْتَ، تَنْجَحُ.</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دَرَسْتَ، سَتَنْجَحُ.</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تَدْرُسُ، سَتَنْجَحُ.</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 and the result takes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يَتَفَوَّقُ الطَّالِبُ ___ العُلُومِ.</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يَتَفَوَّقُ</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a required-structure question well (Type 2)?</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تَغَيَّرَتْ ظُرُوفِي، سَيَتَغَيَّرُ مَسَارِي.</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ظُرُوفِي جَيِّدَةٌ.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كَانَتْ ظُرُوفِي مُخْتَلِفَةً، لَتَغَيَّرَ مَسَارِي.</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produces </a:t>
            </a:r>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spontaneously.</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قَالَ أَنَّ التَّعْلِيمَ مُهِمٌّ.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qāla + anna?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كَانَتْ قَدْ ذَهَبَ إِلَى الجَامِعَةِ.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kānat qad dhahaba?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لَوْ عَمِلَ بِجِدٍّ، نَجَحَ.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najaḥa?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قَالَ أَنَّ التَّعْلِيمَ مُهِمٌّ.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قَالَ إِنَّ التَّعْلِيمَ مُهِمٌّ.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Only </a:t>
            </a:r>
            <a:pPr algn="l" indent="0" marL="0">
              <a:buNone/>
            </a:pPr>
            <a:r>
              <a:rPr lang="ar-SA" altLang="en-US" sz="1500" b="1" dirty="0">
                <a:solidFill>
                  <a:srgbClr val="1B3B6F"/>
                </a:solidFill>
                <a:latin typeface="Amiri" pitchFamily="2" charset="-78"/>
                <a:cs typeface="Amiri" pitchFamily="2" charset="-78"/>
              </a:rPr>
              <a:t>قَالَ</a:t>
            </a:r>
            <a:pPr algn="l" indent="0" marL="0">
              <a:buNone/>
            </a:pPr>
            <a:r>
              <a:rPr lang="en-US" sz="1150" b="1" dirty="0">
                <a:solidFill>
                  <a:srgbClr val="1B3B6F"/>
                </a:solidFill>
                <a:latin typeface="Calibri" pitchFamily="34" charset="0"/>
                <a:cs typeface="Amiri" pitchFamily="2" charset="-78"/>
              </a:rPr>
              <a:t> takes </a:t>
            </a:r>
            <a:pPr algn="l" indent="0" marL="0">
              <a:buNone/>
            </a:pPr>
            <a:r>
              <a:rPr lang="ar-SA" altLang="en-US" sz="1500" b="1" dirty="0">
                <a:solidFill>
                  <a:srgbClr val="1B3B6F"/>
                </a:solidFill>
                <a:latin typeface="Amiri" pitchFamily="2" charset="-78"/>
                <a:cs typeface="Amiri" pitchFamily="2" charset="-78"/>
              </a:rPr>
              <a:t>إِنَّ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كَانَتْ قَدْ ذَهَبَ إِلَى الجَامِعَةِ.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كَانَتْ قَدْ ذَهَبَتْ إِلَى الجَامِعَةِ.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after </a:t>
            </a:r>
            <a:pPr algn="l" indent="0" marL="0">
              <a:buNone/>
            </a:pPr>
            <a:r>
              <a:rPr lang="ar-SA" altLang="en-US" sz="1500" b="1" dirty="0">
                <a:solidFill>
                  <a:srgbClr val="1B3B6F"/>
                </a:solidFill>
                <a:latin typeface="Amiri" pitchFamily="2" charset="-78"/>
                <a:cs typeface="Amiri" pitchFamily="2" charset="-78"/>
              </a:rPr>
              <a:t>قَدْ</a:t>
            </a:r>
            <a:pPr algn="l" indent="0" marL="0">
              <a:buNone/>
            </a:pPr>
            <a:r>
              <a:rPr lang="en-US" sz="1150" b="1" dirty="0">
                <a:solidFill>
                  <a:srgbClr val="1B3B6F"/>
                </a:solidFill>
                <a:latin typeface="Calibri" pitchFamily="34" charset="0"/>
                <a:cs typeface="Amiri" pitchFamily="2" charset="-78"/>
              </a:rPr>
              <a:t> must agree with the feminine subject.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لَوْ عَمِلَ بِجِدٍّ، نَجَحَ.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لَوْ عَمِلَ بِجِدٍّ، لَنَجَحَ.</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the </a:t>
            </a:r>
            <a:pPr algn="l" indent="0" marL="0">
              <a:buNone/>
            </a:pPr>
            <a:r>
              <a:rPr lang="ar-SA" altLang="en-US" sz="1500" b="1" dirty="0">
                <a:solidFill>
                  <a:srgbClr val="1B3B6F"/>
                </a:solidFill>
                <a:latin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prefix.</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Listening: a mock admissions conversation</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student decided before this year?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study computing and had gained programming experience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leave school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teachers say?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student should stop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student is qualified and their effort will bear fruit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answer about unlimited resources?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 learns nothing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Resources are useless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 would have learned AI and space science together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teacher praise?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balanced answer using the Type 2 conditional spontaneously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answer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memorised list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structures did the student use across the exchange?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present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Past perfect, reported speech and a Type 2 conditional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future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kuntu qad · qālū inna-nī · law … la-.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المُعَلِّمُ: مَا الَّذِي كُنْتَ قَدْ قَرَّرْتَهُ بِشَأْنِ مُسْتَقْبَلِكَ قَبْلَ هٰذَا العَامِ؟</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What had you decided about your future before this year?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الطَّالِبُ: كُنْتُ قَدْ قَرَّرْتُ دِرَاسَةَ الحَاسُوبِ، وَكُنْتُ قَدْ حَصَلْتُ عَلَى خِبْرَةٍ فِي البَرْمَجَةِ.</a:t>
            </a:r>
            <a:endParaRPr lang="ar-SA" sz="19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 I had decided to study computing, and I had gained experience in programming.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المُعَلِّمُ: مَاذَا قَالَ مُعَلِّمُوكَ عَنْ طُمُوحَاتِكَ؟ الطَّالِبُ: قَالُوا إِنَّنِي مُؤَهَّلٌ، وَأَكَّدُوا أَنَّ اجْتِهَادِي سَيُثْمِرُ.</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What did your teachers say about your ambitions? Student: They said I am qualified, and stressed that my hard work will pay off.</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المُعَلِّمُ: لَوْ كَانَتْ لَدَيْكَ مَوَارِدُ لَا نِهَائِيَّةٌ لِتَعَلُّمِ أَيِّ شَيْءٍ، مَاذَا سَتَخْتَارُ؟ الطَّالِبُ: لَوْ كَانَتْ لَدَيَّ مَوَارِدُ لَا نِهَائِيَّةٌ، لَتَعَلَّمْتُ الذَّكَاءَ الاصْطِنَاعِيَّ وَعُلُومَ الفَضَاءِ مَعًا.</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Teacher: If you had unlimited resources to learn anything, what would you choose? Student: If I had unlimited resources, I would learn AI and space science together.</a:t>
            </a:r>
            <a:endParaRPr lang="en-US" sz="120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المُعَلِّمُ: إِجَابَةٌ مُتَوَازِنَةٌ اسْتَعْمَلْتَ فِيهَا النَّوْعَ الثَّانِيَ مِنَ الشَّرْطِ تِلْقَائِيًّا.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A balanced answer in which you used the Type 2 conditional spontaneously.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student decided before this year?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study computing and had gained programming experience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leave school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cs typeface="Amiri" pitchFamily="2" charset="-78"/>
              </a:rPr>
              <a:t>كُنْتُ قَدْ قَرَّرْتُ دِرَاسَةَ الحَاسُوبِ، وَكُنْتُ قَدْ حَصَلْتُ عَلَى خِبْرَةٍ فِي البَرْمَجَةِ.</a:t>
            </a:r>
            <a:endParaRPr lang="ar-SA" sz="11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teachers say?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student should stop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That the student is qualified and their effort will bear fruit</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قَالُوا إِنَّنِي مُؤَهَّلٌ، وَأَكَّدُوا أَنَّ اجْتِهَادِي سَيُثْمِرُ.</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answer about unlimited resources?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student learns nothing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Resources are useless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student would have learned AI and space science together</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لَوْ كَانَتْ لَدَيَّ مَوَارِدُ لَا نِهَائِيَّةٌ، لَتَعَلَّمْتُ …</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teacher praise?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balanced answer using the Type 2 conditional spontaneously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answer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memorised list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اسْتَعْمَلْتَ فِيهَا النَّوْعَ الثَّانِيَ مِنَ الشَّرْطِ تِلْقَائِيًّا.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structures did the student use across the exchange?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present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Past perfect, reported speech and a Type 2 conditional</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future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كُنْتُ قَدْ … قَالُوا إِنَّ … لَوْ … لَـ.</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kuntu qad · qālū inna-nī · law … la-.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Speaking: the five assessment questions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الَّذِي كُنْتَ قَدْ قَرَّرْتَهُ بِشَأْنِ مُسْتَقْبَلِكَ قَبْلَ هٰذَا العَامِ؟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قَالَ مُعَلِّمُوكَ عَنْ طُمُوحَاتِكَ؟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كَانَتْ ظُرُوفُكَ التَّعْلِيمِيَّةُ مُخْتَلِفَةً، كَيْفَ كَانَ سَيَتَغَيَّرُ مَسَارُكَ؟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كُنْتُ قَدْ قَرَّرْتُ ___ ، وَكُنْتُ قَدْ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قَالَ مُعَلِّمِي إِنَّنِي ___ ، وَأَكَّدَ أَنَّ ___ .</a:t>
            </a:r>
            <a:endParaRPr lang="ar-SA" sz="15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لَوْ كَانَتْ ظُرُوفِي مُخْتَلِفَةً، ___ ، لٰكِنَّ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الَّذِي كُنْتَ قَدْ قَرَّرْتَهُ قَبْلَ هٰذَا العَامِ؟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had you decided before this year?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كُنْتُ قَدْ قَرَّرْتُ مَجَالِي وَكُنْتُ قَدْ حَصَلْتُ عَلَى خِبْرَةٍ عَمَلِيَّةٍ.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had decided on my field and I had gained practical experience.</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+ 3</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Correct six P2 errors and write three sentences from memory.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correct six P2 errors and write three sentences from memory.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3 structures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 perfect, a reported-speech clause and a Type 2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past perfect, a reported-speech clause and a Type 2 conditional.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Deliver a fluent answer to the past-perfect, reported-speech and Type 2 questions spontaneously.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answer two assessment questions with the past perfect, reported speech and a Type 2 — every marker accurate.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قُبِلْتُ فِي ______ ،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am accepted at …, I will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كَانَتْ ظُرُوفِي مُخْتَلِفَةً،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my circumstances had been different, I would have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التَّعْلِيمُ يُؤَهِّلُنِي لِمِهْنَةِ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Education qualifies me for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وَسَوْفَ أَسْعَى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I will strive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كُنْتُ قَدْ قَرَّرْتُ ______ قَبْلَ هٰذَا العَامِ.</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had decided … before this year.</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وَكُنْتُ قَدْ حَصَلْتُ عَلَى خِبْرَةٍ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I had gained experience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قَالَ مُعَلِّمِي إِنَّنِي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teacher said that I am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وَأَكَّدَ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he stressed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cs typeface="Amiri" pitchFamily="2" charset="-78"/>
              </a:rPr>
              <a:t>دِرَاسَةَ الحَاسُوبِ  ·  البَرْمَجَةِ  ·  مُؤَهَّلٌ  ·  اجْتِهَادِي سَيُثْمِرُ  ·  سَأَتَخَصَّصُ  ·  لَاخْتَرْتُ مَسَارًا آخَرَ  ·  لَتَغَيَّرَ مَسَارِي  ·  لَتَعَلَّمْتُ  ·  سُوقِ العَمَلِ  ·  مُوَاكَبَةِ التَّغْيِيرِ  ·  تَطْوِيرِ مَهَارَاتِي  ·  رَاضٍ عَنْ طَرِيقِي</a:t>
            </a:r>
            <a:endParaRPr lang="ar-SA"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preparing for the P2 topic conversation. Answer two of the assessment questions, using the past perfect, reported speech and at least one Type 2 conditional, with every marker accurate.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cs typeface="Amiri" pitchFamily="2" charset="-78"/>
              </a:rPr>
              <a:t>قَالَ إِنَّ</a:t>
            </a:r>
            <a:pPr algn="l" indent="0" marL="0">
              <a:buNone/>
            </a:pPr>
            <a:r>
              <a:rPr lang="en-US" sz="1200" dirty="0">
                <a:solidFill>
                  <a:srgbClr val="1F2A37"/>
                </a:solidFill>
                <a:latin typeface="Calibri" pitchFamily="34" charset="0"/>
                <a:cs typeface="Amiri" pitchFamily="2" charset="-78"/>
              </a:rPr>
              <a:t> (not </a:t>
            </a:r>
            <a:pPr algn="l" indent="0" marL="0">
              <a:buNone/>
            </a:pPr>
            <a:r>
              <a:rPr lang="ar-SA" altLang="en-US" sz="1550" dirty="0">
                <a:solidFill>
                  <a:srgbClr val="1F2A37"/>
                </a:solidFill>
                <a:latin typeface="Amiri" pitchFamily="2" charset="-78"/>
                <a:cs typeface="Amiri" pitchFamily="2" charset="-78"/>
              </a:rPr>
              <a:t>أَنَّ</a:t>
            </a:r>
            <a:pPr algn="l" indent="0" marL="0">
              <a:buNone/>
            </a:pPr>
            <a:r>
              <a:rPr lang="en-US" sz="1200" dirty="0">
                <a:solidFill>
                  <a:srgbClr val="1F2A37"/>
                </a:solidFill>
                <a:latin typeface="Calibri" pitchFamily="34" charset="0"/>
                <a:cs typeface="Amiri" pitchFamily="2" charset="-78"/>
              </a:rPr>
              <a:t>) and a correct reported pronoun.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perfect with correct </a:t>
            </a:r>
            <a:pPr algn="l" indent="0" marL="0">
              <a:buNone/>
            </a:pPr>
            <a:r>
              <a:rPr lang="ar-SA" altLang="en-US" sz="1550" dirty="0">
                <a:solidFill>
                  <a:srgbClr val="1F2A37"/>
                </a:solidFill>
                <a:latin typeface="Amiri" pitchFamily="2" charset="-78"/>
                <a:cs typeface="Amiri" pitchFamily="2" charset="-78"/>
              </a:rPr>
              <a:t>كَانَ</a:t>
            </a:r>
            <a:pPr algn="l" indent="0" marL="0">
              <a:buNone/>
            </a:pPr>
            <a:r>
              <a:rPr lang="en-US" sz="1200" dirty="0">
                <a:solidFill>
                  <a:srgbClr val="1F2A37"/>
                </a:solidFill>
                <a:latin typeface="Calibri" pitchFamily="34" charset="0"/>
                <a:cs typeface="Amiri" pitchFamily="2" charset="-78"/>
              </a:rPr>
              <a:t> agreement.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Type 2 conditional with the </a:t>
            </a:r>
            <a:pPr algn="l" indent="0" marL="0">
              <a:buNone/>
            </a:pPr>
            <a:r>
              <a:rPr lang="ar-SA" altLang="en-US" sz="1550" dirty="0">
                <a:solidFill>
                  <a:srgbClr val="1F2A37"/>
                </a:solidFill>
                <a:latin typeface="Amiri" pitchFamily="2" charset="-78"/>
                <a:cs typeface="Amiri" pitchFamily="2" charset="-78"/>
              </a:rPr>
              <a:t>لَـ</a:t>
            </a:r>
            <a:pPr algn="l" indent="0" marL="0">
              <a:buNone/>
            </a:pPr>
            <a:r>
              <a:rPr lang="en-US" sz="1200" dirty="0">
                <a:solidFill>
                  <a:srgbClr val="1F2A37"/>
                </a:solidFill>
                <a:latin typeface="Calibri" pitchFamily="34" charset="0"/>
                <a:cs typeface="Amiri" pitchFamily="2" charset="-78"/>
              </a:rPr>
              <a:t> result.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balanced, spontaneous-sounding answer.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قَبْلَ هٰذَا العَامِ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before this year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وَأَكَّدَ أَنَّ اجْتِهَادِي سَيُثْمِرُ</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he stressed that my hard work will pay off</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لَاخْتَرْتُ مَسَارًا آخَرَ، لٰكِنِّي رَاضٍ عَنْ طَرِيقِي</a:t>
            </a:r>
            <a:endParaRPr lang="ar-SA" sz="175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would have chosen another path, but I am happy with my route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يُؤَهِّلُنِي لِسُوقِ العَمَلِ وَيُعِدُّنِي لِمُوَاكَبَةِ التَّغْيِيرِ</a:t>
            </a:r>
            <a:endParaRPr lang="ar-SA" sz="155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qualifies me for the labour market and prepares me to keep pace with change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سَأَسْعَى إِلَى تَطْوِيرِ مَهَارَاتِي بِاسْتِمْرَارٍ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strive to develop my skills continually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كُنْتُ قَدْ قَرَّرْتُ دِرَاسَةَ الحَاسُوبِ قَبْلَ هٰذَا العَامِ، وَكُنْتُ قَدْ حَصَلْتُ عَلَى خِبْرَةٍ فِي البَرْمَجَةِ. قَالَ مُعَلِّمِي إِنَّنِي مُؤَهَّلٌ، وَأَكَّدَ أَنَّ اجْتِهَادِي سَيُثْمِرُ. إِذَا قُبِلْتُ فِي الجَامِعَةِ الَّتِي أُرِيدُهَا، سَأَتَخَصَّصُ فِي الذَّكَاءِ الاصْطِنَاعِيِّ. وَلَوْ كَانَتْ ظُرُوفِي التَّعْلِيمِيَّةُ مُخْتَلِفَةً، لَاخْتَرْتُ مَسَارًا آخَرَ، لٰكِنِّي رَاضٍ عَنْ طَرِيقِي. أَرَى أَنَّ التَّعْلِيمَ يُؤَهِّلُنِي لِسُوقِ العَمَلِ وَيُعِدُّنِي لِمُوَاكَبَةِ التَّغْيِيرِ، وَسَوْفَ أَسْعَى إِلَى تَطْوِيرِ مَهَارَاتِي بِاسْتِمْرَارٍ.</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had decided to study computing before this year, and I had gained experience in programming. My teacher said that I am qualified, and stressed that my hard work will pay off. If I am accepted at the university I want, I will specialise in artificial intelligence. And if my educational circumstances had been different, I would have chosen another path, but I am happy with my route. I believe education qualifies me for the labour market and prepares me to keep pace with change, and I will strive to develop my skills continually.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past perfects (kuntu qad)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qāla inna-nī and akkada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Type 1 and a Type 2 (law … la-)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career verbs (yuʾahhil li- · yuʿidd li-)</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qāla → inna (+ the right pronoun); all other verbs → anna.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kāna agrees with the subject; the verb after qad is past.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Type 1 result has sa-; my Type 2 result has la-.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academic verb has its partner (fī · li- · ilā).</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the required structure without being asked, and named my priority error.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correct?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إِنَّ التَّعْلِيمَ حَقٌّ.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أَنَّ التَّعْلِيمَ حَقٌّ.</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بِأَنَّ التَّعْلِيمَ حَقٌّ.</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past perfect is correct (for a girl)?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 قَدْ ذَهَبَ.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 قَدْ ذَهَبَتْ.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 ذَهَبَتْ.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2 conditional is correct?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دَرَسَ، لَنَجَحَ.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دَرَسَ، نَجَحَ.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دَرَسَ، سَيَنْجَحُ.</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correct?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قَالَ إِنَّ التَّعْلِيمَ حَقٌّ.</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قَالَ أَنَّ التَّعْلِيمَ حَقٌّ.</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قَالَ بِأَنَّ التَّعْلِيمَ حَقٌّ.</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Only </a:t>
            </a:r>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past perfect is correct (for a girl)?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كَانَتْ قَدْ ذَهَبَ.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كَانَتْ قَدْ ذَهَبَتْ.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كَانَ قَدْ ذَهَبَتْ.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كَانَتْ</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cs typeface="Amiri" pitchFamily="2" charset="-78"/>
              </a:rPr>
              <a:t>ذَهَبَتْ</a:t>
            </a:r>
            <a:pPr algn="l" indent="0" marL="0">
              <a:buNone/>
            </a:pPr>
            <a:r>
              <a:rPr lang="en-US" sz="1050" i="1" dirty="0">
                <a:solidFill>
                  <a:srgbClr val="8A6D1E"/>
                </a:solidFill>
                <a:latin typeface="Calibri" pitchFamily="34" charset="0"/>
                <a:cs typeface="Amiri" pitchFamily="2" charset="-78"/>
              </a:rPr>
              <a:t> both agree with the feminine subject.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2 conditional is correct?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لَوْ دَرَسَ، لَنَجَحَ.</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لَوْ دَرَسَ، نَجَحَ.</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لَوْ دَرَسَ، سَيَنْجَحُ.</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twelve sentences to repair</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algn="l" indent="0" marL="0">
              <a:buNone/>
            </a:pPr>
            <a:r>
              <a:rPr lang="ar-SA" altLang="en-US" sz="3000" dirty="0">
                <a:solidFill>
                  <a:srgbClr val="1F2A37"/>
                </a:solidFill>
                <a:latin typeface="Amiri" pitchFamily="2" charset="-78"/>
                <a:cs typeface="Amiri" pitchFamily="2" charset="-78"/>
              </a:rPr>
              <a:t>تَحْتَوِي هٰذِهِ القَائِمَةُ عَلَى أَخْطَاءٍ شَائِعَةٍ فِي وَحْدَةِ</a:t>
            </a:r>
            <a:pPr algn="l" indent="0" marL="0">
              <a:buNone/>
            </a:pPr>
            <a:r>
              <a:rPr lang="en-US" sz="2300" dirty="0">
                <a:solidFill>
                  <a:srgbClr val="1F2A37"/>
                </a:solidFill>
                <a:latin typeface="Calibri" pitchFamily="34" charset="0"/>
                <a:cs typeface="Amiri" pitchFamily="2" charset="-78"/>
              </a:rPr>
              <a:t> P2. </a:t>
            </a:r>
            <a:pPr algn="l" indent="0" marL="0">
              <a:buNone/>
            </a:pPr>
            <a:r>
              <a:rPr lang="ar-SA" altLang="en-US" sz="3000" dirty="0">
                <a:solidFill>
                  <a:srgbClr val="1F2A37"/>
                </a:solidFill>
                <a:latin typeface="Amiri" pitchFamily="2" charset="-78"/>
                <a:cs typeface="Amiri" pitchFamily="2" charset="-78"/>
              </a:rPr>
              <a:t>الأَوَّلُ</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cs typeface="Amiri" pitchFamily="2" charset="-78"/>
              </a:rPr>
              <a:t>قَالَ أَنَّ التَّعْلِيمَ مُهِمٌّ</a:t>
            </a:r>
            <a:pPr algn="l" indent="0" marL="0">
              <a:buNone/>
            </a:pPr>
            <a:r>
              <a:rPr lang="en-US" sz="2300" dirty="0">
                <a:solidFill>
                  <a:srgbClr val="1F2A37"/>
                </a:solidFill>
                <a:latin typeface="Calibri" pitchFamily="34" charset="0"/>
                <a:cs typeface="Amiri" pitchFamily="2" charset="-78"/>
              </a:rPr>
              <a:t>» — </a:t>
            </a:r>
            <a:pPr algn="l" indent="0" marL="0">
              <a:buNone/>
            </a:pPr>
            <a:r>
              <a:rPr lang="ar-SA" altLang="en-US" sz="3000" dirty="0">
                <a:solidFill>
                  <a:srgbClr val="1F2A37"/>
                </a:solidFill>
                <a:latin typeface="Amiri" pitchFamily="2" charset="-78"/>
                <a:cs typeface="Amiri" pitchFamily="2" charset="-78"/>
              </a:rPr>
              <a:t>وَالصَّوَابُ</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cs typeface="Amiri" pitchFamily="2" charset="-78"/>
              </a:rPr>
              <a:t>قَالَ إِنَّ</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cs typeface="Amiri" pitchFamily="2" charset="-78"/>
              </a:rPr>
              <a:t>الثَّانِي خَطَأٌ فِي الضَّمِيرِ</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cs typeface="Amiri" pitchFamily="2" charset="-78"/>
              </a:rPr>
              <a:t>قَالَ إِنَّ أَنَا مُجْتَهِدٌ</a:t>
            </a:r>
            <a:pPr algn="l" indent="0" marL="0">
              <a:buNone/>
            </a:pPr>
            <a:r>
              <a:rPr lang="en-US" sz="2300" dirty="0">
                <a:solidFill>
                  <a:srgbClr val="1F2A37"/>
                </a:solidFill>
                <a:latin typeface="Calibri" pitchFamily="34" charset="0"/>
                <a:cs typeface="Amiri" pitchFamily="2" charset="-78"/>
              </a:rPr>
              <a:t>» — </a:t>
            </a:r>
            <a:pPr algn="l" indent="0" marL="0">
              <a:buNone/>
            </a:pPr>
            <a:r>
              <a:rPr lang="ar-SA" altLang="en-US" sz="3000" dirty="0">
                <a:solidFill>
                  <a:srgbClr val="1F2A37"/>
                </a:solidFill>
                <a:latin typeface="Amiri" pitchFamily="2" charset="-78"/>
                <a:cs typeface="Amiri" pitchFamily="2" charset="-78"/>
              </a:rPr>
              <a:t>وَالصَّوَابُ</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cs typeface="Amiri" pitchFamily="2" charset="-78"/>
              </a:rPr>
              <a:t>قَالَ إِنَّهُ مُجْتَهِدٌ</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cs typeface="Amiri" pitchFamily="2" charset="-78"/>
              </a:rPr>
              <a:t>الثَّالِثُ خَطَأٌ فِي المُطَابَقَةِ</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cs typeface="Amiri" pitchFamily="2" charset="-78"/>
              </a:rPr>
              <a:t>كَانَتْ قَدْ ذَهَبَ</a:t>
            </a:r>
            <a:pPr algn="l" indent="0" marL="0">
              <a:buNone/>
            </a:pPr>
            <a:r>
              <a:rPr lang="en-US" sz="2300" dirty="0">
                <a:solidFill>
                  <a:srgbClr val="1F2A37"/>
                </a:solidFill>
                <a:latin typeface="Calibri" pitchFamily="34" charset="0"/>
                <a:cs typeface="Amiri" pitchFamily="2" charset="-78"/>
              </a:rPr>
              <a:t>» — </a:t>
            </a:r>
            <a:pPr algn="l" indent="0" marL="0">
              <a:buNone/>
            </a:pPr>
            <a:r>
              <a:rPr lang="ar-SA" altLang="en-US" sz="3000" dirty="0">
                <a:solidFill>
                  <a:srgbClr val="1F2A37"/>
                </a:solidFill>
                <a:latin typeface="Amiri" pitchFamily="2" charset="-78"/>
                <a:cs typeface="Amiri" pitchFamily="2" charset="-78"/>
              </a:rPr>
              <a:t>وَالصَّوَابُ</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cs typeface="Amiri" pitchFamily="2" charset="-78"/>
              </a:rPr>
              <a:t>كَانَتْ قَدْ ذَهَبَتْ</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cs typeface="Amiri" pitchFamily="2" charset="-78"/>
              </a:rPr>
              <a:t>الرَّابِعُ</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cs typeface="Amiri" pitchFamily="2" charset="-78"/>
              </a:rPr>
              <a:t>كَانَ قَدْ يَذْهَبُ</a:t>
            </a:r>
            <a:pPr algn="l" indent="0" marL="0">
              <a:buNone/>
            </a:pPr>
            <a:r>
              <a:rPr lang="en-US" sz="2300" dirty="0">
                <a:solidFill>
                  <a:srgbClr val="1F2A37"/>
                </a:solidFill>
                <a:latin typeface="Calibri" pitchFamily="34" charset="0"/>
                <a:cs typeface="Amiri" pitchFamily="2" charset="-78"/>
              </a:rPr>
              <a:t>» — </a:t>
            </a:r>
            <a:pPr algn="l" indent="0" marL="0">
              <a:buNone/>
            </a:pPr>
            <a:r>
              <a:rPr lang="ar-SA" altLang="en-US" sz="3000" dirty="0">
                <a:solidFill>
                  <a:srgbClr val="1F2A37"/>
                </a:solidFill>
                <a:latin typeface="Amiri" pitchFamily="2" charset="-78"/>
                <a:cs typeface="Amiri" pitchFamily="2" charset="-78"/>
              </a:rPr>
              <a:t>وَالصَّوَابُ</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cs typeface="Amiri" pitchFamily="2" charset="-78"/>
              </a:rPr>
              <a:t>كَانَ قَدْ ذَهَبَ</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cs typeface="Amiri" pitchFamily="2" charset="-78"/>
              </a:rPr>
              <a:t>الخَامِسُ خَطَأٌ فِي زَمَنِ الشَّرْطِ</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cs typeface="Amiri" pitchFamily="2" charset="-78"/>
              </a:rPr>
              <a:t>إِذَا دَرَسْتَ، تَنْجَحُ</a:t>
            </a:r>
            <a:pPr algn="l" indent="0" marL="0">
              <a:buNone/>
            </a:pPr>
            <a:r>
              <a:rPr lang="en-US" sz="2300" dirty="0">
                <a:solidFill>
                  <a:srgbClr val="1F2A37"/>
                </a:solidFill>
                <a:latin typeface="Calibri" pitchFamily="34" charset="0"/>
                <a:cs typeface="Amiri" pitchFamily="2" charset="-78"/>
              </a:rPr>
              <a:t>» — </a:t>
            </a:r>
            <a:pPr algn="l" indent="0" marL="0">
              <a:buNone/>
            </a:pPr>
            <a:r>
              <a:rPr lang="ar-SA" altLang="en-US" sz="3000" dirty="0">
                <a:solidFill>
                  <a:srgbClr val="1F2A37"/>
                </a:solidFill>
                <a:latin typeface="Amiri" pitchFamily="2" charset="-78"/>
                <a:cs typeface="Amiri" pitchFamily="2" charset="-78"/>
              </a:rPr>
              <a:t>وَالصَّوَابُ</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cs typeface="Amiri" pitchFamily="2" charset="-78"/>
              </a:rPr>
              <a:t>سَتَنْجَحُ</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cs typeface="Amiri" pitchFamily="2" charset="-78"/>
              </a:rPr>
              <a:t>وَالسَّادِسُ فِي جَوَابِ لَوْ</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cs typeface="Amiri" pitchFamily="2" charset="-78"/>
              </a:rPr>
              <a:t>لَوْ عَمِلَ بِجِدٍّ، نَجَحَ</a:t>
            </a:r>
            <a:pPr algn="l" indent="0" marL="0">
              <a:buNone/>
            </a:pPr>
            <a:r>
              <a:rPr lang="en-US" sz="2300" dirty="0">
                <a:solidFill>
                  <a:srgbClr val="1F2A37"/>
                </a:solidFill>
                <a:latin typeface="Calibri" pitchFamily="34" charset="0"/>
                <a:cs typeface="Amiri" pitchFamily="2" charset="-78"/>
              </a:rPr>
              <a:t>» — </a:t>
            </a:r>
            <a:pPr algn="l" indent="0" marL="0">
              <a:buNone/>
            </a:pPr>
            <a:r>
              <a:rPr lang="ar-SA" altLang="en-US" sz="3000" dirty="0">
                <a:solidFill>
                  <a:srgbClr val="1F2A37"/>
                </a:solidFill>
                <a:latin typeface="Amiri" pitchFamily="2" charset="-78"/>
                <a:cs typeface="Amiri" pitchFamily="2" charset="-78"/>
              </a:rPr>
              <a:t>وَالصَّوَابُ</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cs typeface="Amiri" pitchFamily="2" charset="-78"/>
              </a:rPr>
              <a:t>لَنَجَحَ</a:t>
            </a:r>
            <a:pPr algn="l" indent="0" marL="0">
              <a:buNone/>
            </a:pPr>
            <a:r>
              <a:rPr lang="en-US" sz="2300" dirty="0">
                <a:solidFill>
                  <a:srgbClr val="1F2A37"/>
                </a:solidFill>
                <a:latin typeface="Calibri" pitchFamily="34" charset="0"/>
                <a:cs typeface="Amiri" pitchFamily="2" charset="-78"/>
              </a:rPr>
              <a:t>». </a:t>
            </a:r>
            <a:pPr algn="l" indent="0" marL="0">
              <a:buNone/>
            </a:pPr>
            <a:r>
              <a:rPr lang="ar-SA" altLang="en-US" sz="3000" dirty="0">
                <a:solidFill>
                  <a:srgbClr val="1F2A37"/>
                </a:solidFill>
                <a:latin typeface="Amiri" pitchFamily="2" charset="-78"/>
                <a:cs typeface="Amiri" pitchFamily="2" charset="-78"/>
              </a:rPr>
              <a:t>وَالدَّرْسُ المُشْتَرَكُ أَنَّ لِكُلِّ بِنْيَةٍ عَلَامَةً دَقِيقَةً يَجِبُ ضَبْطُهَا</a:t>
            </a:r>
            <a:pPr algn="l" indent="0" marL="0">
              <a:buNone/>
            </a:pPr>
            <a:r>
              <a:rPr lang="en-US" sz="2300" dirty="0">
                <a:solidFill>
                  <a:srgbClr val="1F2A37"/>
                </a:solidFill>
                <a:latin typeface="Calibri" pitchFamily="34" charset="0"/>
                <a:cs typeface="Amiri" pitchFamily="2" charset="-78"/>
              </a:rPr>
              <a:t>.</a:t>
            </a:r>
            <a:endParaRPr lang="en-US"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القَائِمَةُ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list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أَخْطَاءٍ شَائِعَةٍ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common errors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وَالصَّوَابُ</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and the correct form is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خَطَأٌ فِي الضَّمِيرِ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pronoun error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المُطَابَقَةِ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agreement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زَمَنِ الشَّرْطِ</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conditional tense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جَوَابِ لَوْ</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result of law</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الدَّرْسُ المُشْتَرَكُ</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shared lesson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عَلَامَةً دَقِيقَةً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precise marker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ضَبْطُهَا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controlling it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cs typeface="Amiri" pitchFamily="2" charset="-78"/>
              </a:rPr>
              <a:t>قَالَ … التَّعْلِيمَ مُهِمٌّ</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إِنَّ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بِأَنَّ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 reported pronoun?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إِنَّ أَنَا مُجْتَهِدٌ</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إِنِّي مُجْتَهِدٌ</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إِنَّهُ مُجْتَهِدٌ</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agreement corrected?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 قَدْ ذَهَبَتْ</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 قَدْ ذَهَبَ</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 ذَهَبَتْ</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Type 1 conditional corrected?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دَرَسْتَ، تَنْجَحُ</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دَرَسْتَ، سَتَنْجَحُ</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تَدْرُسُ، تَنْجَحُ</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result corrected?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عَمِلَ بِجِدٍّ، لَنَجَحَ</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عَمِلَ بِجِدٍّ، سَيَنْجَحُ</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عَمِلَ بِجِدٍّ، يَنْجَحُ</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cs typeface="Amiri" pitchFamily="2" charset="-78"/>
              </a:rPr>
              <a:t>قَالَ … التَّعْلِيمَ مُهِمٌّ</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أَنَّ</a:t>
            </a:r>
            <a:endParaRPr lang="ar-SA" sz="170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قَالَ إِنَّ</a:t>
            </a:r>
            <a:endParaRPr lang="ar-SA" sz="17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بِأَنَّ</a:t>
            </a:r>
            <a:endParaRPr lang="ar-SA" sz="170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Only </a:t>
            </a:r>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 reported pronoun?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إِنَّ أَنَا مُجْتَهِدٌ</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إِنِّي مُجْتَهِدٌ</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قَالَ إِنَّهُ مُجْتَهِدٌ</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third-person pronoun: </a:t>
            </a:r>
            <a:pPr algn="l" indent="0" marL="0">
              <a:buNone/>
            </a:pPr>
            <a:r>
              <a:rPr lang="ar-SA" altLang="en-US" sz="1350" dirty="0">
                <a:solidFill>
                  <a:srgbClr val="8A6D1E"/>
                </a:solidFill>
                <a:latin typeface="Amiri" pitchFamily="2" charset="-78"/>
                <a:cs typeface="Amiri" pitchFamily="2" charset="-78"/>
              </a:rPr>
              <a:t>إِنَّهُ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agreement corrected?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كَانَتْ قَدْ ذَهَبَتْ</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كَانَتْ قَدْ ذَهَبَ</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 قَدْ ذَهَبَتْ</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cs typeface="Amiri" pitchFamily="2" charset="-78"/>
              </a:rPr>
              <a:t>قَدْ</a:t>
            </a:r>
            <a:pPr algn="l" indent="0" marL="0">
              <a:buNone/>
            </a:pPr>
            <a:r>
              <a:rPr lang="en-US" sz="1050" i="1" dirty="0">
                <a:solidFill>
                  <a:srgbClr val="8A6D1E"/>
                </a:solidFill>
                <a:latin typeface="Calibri" pitchFamily="34" charset="0"/>
                <a:cs typeface="Amiri" pitchFamily="2" charset="-78"/>
              </a:rPr>
              <a:t> agrees with the feminine subject.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Type 1 conditional corrected?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دَرَسْتَ، تَنْجَحُ</a:t>
            </a:r>
            <a:endParaRPr lang="ar-SA" sz="17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دَرَسْتَ، سَتَنْجَحُ</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تَدْرُسُ، تَنْجَحُ</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1 result takes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result corrected?</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عَمِلَ بِجِدٍّ، لَنَجَحَ</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عَمِلَ بِجِدٍّ، سَيَنْجَحُ</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عَمِلَ بِجِدٍّ، يَنْجَحُ</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Mastery Mission — The Five Structures</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Particle: complete — </a:t>
            </a:r>
            <a:pPr algn="l" indent="0" marL="0">
              <a:buNone/>
            </a:pPr>
            <a:r>
              <a:rPr lang="ar-SA" altLang="en-US" sz="1650" b="1" dirty="0">
                <a:solidFill>
                  <a:srgbClr val="1B3B6F"/>
                </a:solidFill>
                <a:latin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التَّعْلِيمَ حَقٌّ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بِأَنَّ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Particle: complete — </a:t>
            </a:r>
            <a:pPr algn="l" indent="0" marL="0">
              <a:buNone/>
            </a:pPr>
            <a:r>
              <a:rPr lang="ar-SA" altLang="en-US" sz="1650" b="1" dirty="0">
                <a:solidFill>
                  <a:srgbClr val="1B3B6F"/>
                </a:solidFill>
                <a:latin typeface="Amiri" pitchFamily="2" charset="-78"/>
                <a:cs typeface="Amiri" pitchFamily="2" charset="-78"/>
              </a:rPr>
              <a:t>أَكَّدَ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المَنَاهِجَ تَتَطَوَّرُ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Pronoun: report a boy's «</a:t>
            </a:r>
            <a:pPr algn="l" indent="0" marL="0">
              <a:buNone/>
            </a:pPr>
            <a:r>
              <a:rPr lang="ar-SA" altLang="en-US" sz="1650" b="1" dirty="0">
                <a:solidFill>
                  <a:srgbClr val="1B3B6F"/>
                </a:solidFill>
                <a:latin typeface="Amiri" pitchFamily="2" charset="-78"/>
                <a:cs typeface="Amiri" pitchFamily="2" charset="-78"/>
              </a:rPr>
              <a:t>أَنَا مُؤَهَّلٌ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إِنَّ أَنَا مُؤَهَّلٌ</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إِنَّهَا مُؤَهَّلَةٌ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إِنَّهُ مُؤَهَّلٌ</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___ </a:t>
            </a:r>
            <a:pPr algn="l" indent="0" marL="0">
              <a:buNone/>
            </a:pPr>
            <a:r>
              <a:rPr lang="ar-SA" altLang="en-US" sz="1650" b="1" dirty="0">
                <a:solidFill>
                  <a:srgbClr val="1B3B6F"/>
                </a:solidFill>
                <a:latin typeface="Amiri" pitchFamily="2" charset="-78"/>
                <a:cs typeface="Amiri" pitchFamily="2" charset="-78"/>
              </a:rPr>
              <a:t>قَدْ حَصَلَتْ زَيْنَبُ عَلَى مِنْحَةٍ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after </a:t>
            </a:r>
            <a:pPr algn="l" indent="0" marL="0">
              <a:buNone/>
            </a:pPr>
            <a:r>
              <a:rPr lang="ar-SA" altLang="en-US" sz="1650" b="1" dirty="0">
                <a:solidFill>
                  <a:srgbClr val="1B3B6F"/>
                </a:solidFill>
                <a:latin typeface="Amiri" pitchFamily="2" charset="-78"/>
                <a:cs typeface="Amiri" pitchFamily="2" charset="-78"/>
              </a:rPr>
              <a:t>قَدْ</a:t>
            </a:r>
            <a:pPr algn="l" indent="0" marL="0">
              <a:buNone/>
            </a:pPr>
            <a:r>
              <a:rPr lang="en-US" sz="1250" b="1" dirty="0">
                <a:solidFill>
                  <a:srgbClr val="1B3B6F"/>
                </a:solidFill>
                <a:latin typeface="Calibri" pitchFamily="34" charset="0"/>
                <a:cs typeface="Amiri" pitchFamily="2" charset="-78"/>
              </a:rPr>
              <a:t>: complete — </a:t>
            </a:r>
            <a:pPr algn="l" indent="0" marL="0">
              <a:buNone/>
            </a:pPr>
            <a:r>
              <a:rPr lang="ar-SA" altLang="en-US" sz="1650" b="1" dirty="0">
                <a:solidFill>
                  <a:srgbClr val="1B3B6F"/>
                </a:solidFill>
                <a:latin typeface="Amiri" pitchFamily="2" charset="-78"/>
                <a:cs typeface="Amiri" pitchFamily="2" charset="-78"/>
              </a:rPr>
              <a:t>كَانَ قَدْ</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ذَهَبَ</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يَذْهَبُ</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سَيَذْهَبُ</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1: complete — </a:t>
            </a:r>
            <a:pPr algn="l" indent="0" marL="0">
              <a:buNone/>
            </a:pPr>
            <a:r>
              <a:rPr lang="ar-SA" altLang="en-US" sz="1650" b="1" dirty="0">
                <a:solidFill>
                  <a:srgbClr val="1B3B6F"/>
                </a:solidFill>
                <a:latin typeface="Amiri" pitchFamily="2" charset="-78"/>
                <a:cs typeface="Amiri" pitchFamily="2" charset="-78"/>
              </a:rPr>
              <a:t>إِذَا دَرَسْتَ،</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لَنَجَحْتَ</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سَتَنْجَحُ</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تَنْجَحُ</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Particle: complete — </a:t>
            </a:r>
            <a:pPr algn="l" indent="0" marL="0">
              <a:buNone/>
            </a:pPr>
            <a:r>
              <a:rPr lang="ar-SA" altLang="en-US" sz="1650" b="1" dirty="0">
                <a:solidFill>
                  <a:srgbClr val="1B3B6F"/>
                </a:solidFill>
                <a:latin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التَّعْلِيمَ حَقٌّ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بِأَنَّ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Only </a:t>
            </a:r>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Particle: complete — </a:t>
            </a:r>
            <a:pPr algn="l" indent="0" marL="0">
              <a:buNone/>
            </a:pPr>
            <a:r>
              <a:rPr lang="ar-SA" altLang="en-US" sz="1650" b="1" dirty="0">
                <a:solidFill>
                  <a:srgbClr val="1B3B6F"/>
                </a:solidFill>
                <a:latin typeface="Amiri" pitchFamily="2" charset="-78"/>
                <a:cs typeface="Amiri" pitchFamily="2" charset="-78"/>
              </a:rPr>
              <a:t>أَكَّدَ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المَنَاهِجَ تَتَطَوَّرُ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Verbs other than </a:t>
            </a:r>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Pronoun: report a boy's «</a:t>
            </a:r>
            <a:pPr algn="l" indent="0" marL="0">
              <a:buNone/>
            </a:pPr>
            <a:r>
              <a:rPr lang="ar-SA" altLang="en-US" sz="1650" b="1" dirty="0">
                <a:solidFill>
                  <a:srgbClr val="1B3B6F"/>
                </a:solidFill>
                <a:latin typeface="Amiri" pitchFamily="2" charset="-78"/>
                <a:cs typeface="Amiri" pitchFamily="2" charset="-78"/>
              </a:rPr>
              <a:t>أَنَا مُؤَهَّلٌ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إِنَّ أَنَا مُؤَهَّلٌ</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إِنَّهَا مُؤَهَّلَةٌ</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قَالَ إِنَّهُ مُؤَهَّلٌ</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third-person pronoun: </a:t>
            </a:r>
            <a:pPr algn="l" indent="0" marL="0">
              <a:buNone/>
            </a:pPr>
            <a:r>
              <a:rPr lang="ar-SA" altLang="en-US" sz="1350" dirty="0">
                <a:solidFill>
                  <a:srgbClr val="8A6D1E"/>
                </a:solidFill>
                <a:latin typeface="Amiri" pitchFamily="2" charset="-78"/>
                <a:cs typeface="Amiri" pitchFamily="2" charset="-78"/>
              </a:rPr>
              <a:t>إِنَّهُ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___ </a:t>
            </a:r>
            <a:pPr algn="l" indent="0" marL="0">
              <a:buNone/>
            </a:pPr>
            <a:r>
              <a:rPr lang="ar-SA" altLang="en-US" sz="1650" b="1" dirty="0">
                <a:solidFill>
                  <a:srgbClr val="1B3B6F"/>
                </a:solidFill>
                <a:latin typeface="Amiri" pitchFamily="2" charset="-78"/>
                <a:cs typeface="Amiri" pitchFamily="2" charset="-78"/>
              </a:rPr>
              <a:t>قَدْ حَصَلَتْ زَيْنَبُ عَلَى مِنْحَةٍ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كُنْتُ</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كَانَتْ</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كَانَتْ</a:t>
            </a:r>
            <a:pPr algn="l" indent="0" marL="0">
              <a:buNone/>
            </a:pPr>
            <a:r>
              <a:rPr lang="en-US" sz="1050" i="1" dirty="0">
                <a:solidFill>
                  <a:srgbClr val="8A6D1E"/>
                </a:solidFill>
                <a:latin typeface="Calibri" pitchFamily="34" charset="0"/>
                <a:cs typeface="Amiri" pitchFamily="2" charset="-78"/>
              </a:rPr>
              <a:t> agrees with the feminine subject.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after </a:t>
            </a:r>
            <a:pPr algn="l" indent="0" marL="0">
              <a:buNone/>
            </a:pPr>
            <a:r>
              <a:rPr lang="ar-SA" altLang="en-US" sz="1650" b="1" dirty="0">
                <a:solidFill>
                  <a:srgbClr val="1B3B6F"/>
                </a:solidFill>
                <a:latin typeface="Amiri" pitchFamily="2" charset="-78"/>
                <a:cs typeface="Amiri" pitchFamily="2" charset="-78"/>
              </a:rPr>
              <a:t>قَدْ</a:t>
            </a:r>
            <a:pPr algn="l" indent="0" marL="0">
              <a:buNone/>
            </a:pPr>
            <a:r>
              <a:rPr lang="en-US" sz="1250" b="1" dirty="0">
                <a:solidFill>
                  <a:srgbClr val="1B3B6F"/>
                </a:solidFill>
                <a:latin typeface="Calibri" pitchFamily="34" charset="0"/>
                <a:cs typeface="Amiri" pitchFamily="2" charset="-78"/>
              </a:rPr>
              <a:t>: complete — </a:t>
            </a:r>
            <a:pPr algn="l" indent="0" marL="0">
              <a:buNone/>
            </a:pPr>
            <a:r>
              <a:rPr lang="ar-SA" altLang="en-US" sz="1650" b="1" dirty="0">
                <a:solidFill>
                  <a:srgbClr val="1B3B6F"/>
                </a:solidFill>
                <a:latin typeface="Amiri" pitchFamily="2" charset="-78"/>
                <a:cs typeface="Amiri" pitchFamily="2" charset="-78"/>
              </a:rPr>
              <a:t>كَانَ قَدْ</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ذَهَبَ</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يَذْهَبُ</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سَيَذْهَبُ</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cs typeface="Amiri" pitchFamily="2" charset="-78"/>
              </a:rPr>
              <a:t>قَدْ</a:t>
            </a:r>
            <a:pPr algn="l" indent="0" marL="0">
              <a:buNone/>
            </a:pPr>
            <a:r>
              <a:rPr lang="en-US" sz="1050" i="1" dirty="0">
                <a:solidFill>
                  <a:srgbClr val="8A6D1E"/>
                </a:solidFill>
                <a:latin typeface="Calibri" pitchFamily="34" charset="0"/>
                <a:cs typeface="Amiri" pitchFamily="2" charset="-78"/>
              </a:rPr>
              <a:t> is past.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1: complete — </a:t>
            </a:r>
            <a:pPr algn="l" indent="0" marL="0">
              <a:buNone/>
            </a:pPr>
            <a:r>
              <a:rPr lang="ar-SA" altLang="en-US" sz="1650" b="1" dirty="0">
                <a:solidFill>
                  <a:srgbClr val="1B3B6F"/>
                </a:solidFill>
                <a:latin typeface="Amiri" pitchFamily="2" charset="-78"/>
                <a:cs typeface="Amiri" pitchFamily="2" charset="-78"/>
              </a:rPr>
              <a:t>إِذَا دَرَسْتَ،</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لَنَجَحْتَ</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سَتَنْجَحُ</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تَنْجَحُ</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1 result takes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P2-L12: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P2-L12 · P2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assessment</a:t>
            </a:r>
            <a:pPr indent="0" marL="0">
              <a:buNone/>
            </a:pPr>
            <a:r>
              <a:rPr lang="en-US" sz="1000" i="1" dirty="0">
                <a:solidFill>
                  <a:srgbClr val="5A6472"/>
                </a:solidFill>
                <a:latin typeface="Calibri" pitchFamily="34" charset="0"/>
                <a:cs typeface="Amiri" pitchFamily="2" charset="-78"/>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فَهْمُ المَسْمُوعِ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فَهْمُ المَقْرُوءِ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reading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لَعِبُ الأَدْوَارِ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role play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المُرَاجَعَةُ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checking, revision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answers to the three topic-conversation questions — each with its required structure and a reason.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كُنْتُ قَدْ … · قَالَ مُعَلِّمِي إِنَّنِي … · لَوْ كَانَتْ لَدَيَّ … لَـ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Correct six P2 errors and write three spine sentences from memory.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past perfect, a reported clause and a Type 2 conditional; check each against the spine table.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answer to two assessment questions; record it aloud.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P2-L11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P2-L12 · P2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qāla INNA (+ inna-nī / inna-hu) · kāna agrees and the verb after qad is PAST · idhā … SA- but law … LA- — and in the conversation give the required structure before you are asked.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P2-L11 · Consolidation — Speaking Preparation, Error Analysis and Grammar Mastery</dc:title>
  <dc:subject>PptxGenJS Presentation</dc:subject>
  <dc:creator>Al Madina Online School · Arabic Department</dc:creator>
  <cp:lastModifiedBy>Al Madina Online School · Arabic Department</cp:lastModifiedBy>
  <cp:revision>1</cp:revision>
  <dcterms:created xsi:type="dcterms:W3CDTF">2026-10-11T06:43:06Z</dcterms:created>
  <dcterms:modified xsi:type="dcterms:W3CDTF">2026-10-11T06:43:06Z</dcterms:modified>
</cp:coreProperties>
</file>