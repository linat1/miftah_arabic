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P2-L04. The website lesson “Study Skills and Academic Success”: vocabulary, grammar rules and quiz, patterns, common mistakes, sorter, listening, reading, speaking prompts and model, writing task and model, differentiation, final check and the lesson mission. Picture match: website visual game “Study Skills and Academic Success”.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six sentences, one for each Bloom’s level, about studying Arabic. Develop: two study-outcome conditionals. Stretch: the website ~100–110-word study guide with a rhetorical opener, four study verbs, two conditionals and a reported-speech citation.
• Make it practical: students leave with ONE study habit to try this week (self-testing, spaced repetition, a mind map). Students with SEND may find colour-coded mind maps and short spaced sessions especially useful — present them as smart tools, not remedies.
• Islamic link (optional): memorising the Qur’an uses spaced repetition (مُرَاجَعَةٌ) and self-testing (تَسْمِيعٌ) — many students already practise these skills.
• Grammar links: Form II verbs (P1-L02) · Type 1 conditional (P1-L03) · reported speech (P2-L02) · أَنْ + subjunctive (D units).
• TEACHER-WRITTEN ITEMS: small website spelling fixes (waṣl alif without a kasra: الانْتِهَاءِ · الاسْتِيعَابُ; the helping kasra in بَلِ التَّعَلُّمَ); rule headings shown in English and transliteration; the Bloom’s ladder is teacher-built from the website table; the website visual games for P2-L04 and P2-L05 are swapped (study strategies here, future plans in P2-L05).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P2-L03. Question 4 retrieves the past perfect (P2-L03); question 5 the P1-L02 rule that Form II benefit verbs take a direct object — the same rule as today’s study verbs.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Most study verbs are Form II (yu-…-i-…) and take a DIRECT object — no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حفظ (as in حافظِ قرآن), خلاصہ, تحلیل and توجہ are shared. Point out that Qur’an memorisation already uses the strongest study techniques: spaced revision (دَوْر / مُرَاجَعَةٌ) and self-testing (تَسْمِيعٌ). Today the aim is to add the higher Bloom’s levels: analysing, evaluating, creating.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Study strategies (website vocabulary (1 of 2)). Hear → Say → See → Use. Transliteration is printed for Core students (cover it for Develop/Stretch).
Study strategies: the tools on today’s menu. مُرَاجَعَةٌ مُتَبَاعِدَةٌ (spaced repetition) and تَسْمِيعٌ ذَاتِيٌّ (self-testing) are the two the research rates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Study strategies (website vocabulary (2 of 2)). Hear → Say → See → Use. Transliteration is printed for Core students (cover it for Develop/Stretch).
Study strategies: the tools on today’s menu. مُرَاجَعَةٌ مُتَبَاعِدَةٌ (spaced repetition) and تَسْمِيعٌ ذَاتِيٌّ (self-testing) are the two the research rates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Bloom's taxonomy verbs (website vocabulary (1 of 2)). Hear → Say → See → Use. Transliteration is printed for Core students (cover it for Develop/Stretch).
Bloom’s taxonomy: six levels from remembering (يَتَذَكَّرُ) to creating (يُبْدِعُ). From “apply” upwards the verbs are Form II / IV with a direct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Bloom's taxonomy verbs (website vocabulary (2 of 2)). Hear → Say → See → Use. Transliteration is printed for Core students (cover it for Develop/Stretch).
FLEX: teach if time allows; otherwise these are on the website vocabulary tab for homework.
Bloom’s taxonomy: six levels from remembering (يَتَذَكَّرُ) to creating (يُبْدِعُ). From “apply” upwards the verbs are Form II / IV with a direct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Study verbs and concepts (website vocabulary (1 of 2)). Hear → Say → See → Use. Transliteration is printed for Core students (cover it for Develop/Stretch).
FLEX: teach if time allows; otherwise these are on the website vocabulary tab for homework.
Study verbs: all take a DIRECT object (يُنَظِّمُ وَقْتَهُ · يُرَاجِعُ الدُّرُوسَ · يُلَخِّصُ المَادَّةَ) — except يَحْتَفِظُ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Study verbs and concepts (website vocabulary (2 of 2)). Hear → Say → See → Use. Transliteration is printed for Core students (cover it for Develop/Stretch).
FLEX: teach if time allows; otherwise these are on the website vocabulary tab for homework.
Study verbs: all take a DIRECT object (يُنَظِّمُ وَقْتَهُ · يُرَاجِعُ الدُّرُوسَ · يُلَخِّصُ المَادَّةَ) — except يَحْتَفِظُ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“Form II/IV study verbs” and “Cognitive order”, the website table and teaching point “Bloom's verbs climb from remembering to creating”.
Website mistake 1: يُحَلِّلُ الطَّالِبُ فِي النَّصِّ ✗ → يُحَلِّلُ النَّصَّ.
Make it real: every row is something students already do in this course (vocabulary → grammar rule → sentence building → reading P1-L08 → self-check → writing).
Quick quiz: teacher names a classroom task (“write your own campaign”), students name the level (يُبْدِعُ).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website vocabulary group “Study verbs and concepts” and rule “Retaining information” (يَحْتَفِظُ بِـ, fixed with bi-). Website mistake 2: يَحْتَفِظُ الطَّالِبُ المَعْلُومَاتِ ✗.
Form II present prefixes have a ḍamma: أُ · يُ · تُ (أُنَظِّمُ · يُنَظِّمُ · تُنَظِّمُ) — Form VIII يَحْتَفِظُ has a fatḥa (أَحْتَفِظُ · يَحْتَفِظُ · تَحْتَفِظُ).
Rows 1 and 5: the possessive changes with the person — the same switch as reported speech (P2-L02).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“Study-outcome conditional” and teaching point “Connect a habit to its outcome” (a study guide is stronger when it links cause to effect). Card 3 recycles بَيْنَمَا from P2-L01 (website quiz item 7 and pattern 3).
Past forms after idhā: رَاجَعْتَ (Form III) · لَخَّصْتَ (Form II) · نَظَّمْتَ (Form II) · اسْتَعْمَلْتَ (Form X).
Card 2: سَتَحْتَفِظُ بِهَا — the bi- stays even with a pronoun (bihā = it,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from the website listening (تُوصِي الأَبْحَاثُ بِأَنْ يُنَظِّمَ الطَّالِبُ وَقْتَهُ) and writing model (… وَيُلَخِّصَ المَادَّةَ، وَيُطَبِّقَ مَا تَعَلَّمَهُ · أَنْ يُحَلِّلَ وَيُقَيِّمَ وَيُبْدِعَ).
تُوصِي بِأَنْ + subjunctive is the active partner of P1-L01’s يُوصَى بِـ + verbal noun: يُوصَى بِتَنْظِيمِ الوَقْتِ = تُوصِي الأَبْحَاثُ بِأَنْ يُنَظِّمَ الطَّالِبُ وَقْتَهُ.
Stretch: rewrite each row as a verbal noun — بِتَنْظِيمِ · بِتَلْخِيصِ · بِتَطْبِيقِ.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Form II and IV study verbs across Bloom's levels, and the Type 1 conditional used to link a study habit to its outcome.”
• Form II / IV study verbs: These take a direct object with no preposition.
• Cognitive order: The six levels rise from recall to creation.
• Study-outcome conditional: Link a habit to a result.
• Retaining information: Fixed with بِـ.
Website common error: Adding a preposition after يُحَلِّلُ / يُقَيِّمُ (they take a direct object), or dropping the بِـ after يَحْتَفِظُ.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“Hook with hal taʿlamu anna (P1-L07). Recommend: tūṣī bi-an + subjunctive — every verb in the chain takes -a. Then habit → outcome with idhā. Finally contrast two methods with baynamā (P2-L01).”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Study Skills and Academic Success”)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files this study-skills set under P2-L05 and the careers set under P2-L04, so the two are swapped here). Then link each habit to its outcome: إِذَا نَظَّمْتُ وَقْتِي، سَيَقِلُّ التَّشْتِيتُ · إِذَا اخْتَبَرْتُ نَفْسِي، سَأَحْتَفِظُ بِالمَعْلُومَاتِ أَطْوَلَ.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Study Skills and Academic Success”)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files this study-skills set under P2-L05 and the careers set under P2-L04, so the two are swapped here). Then link each habit to its outcome: إِذَا نَظَّمْتُ وَقْتِي، سَيَقِلُّ التَّشْتِيتُ · إِذَا اخْتَبَرْتُ نَفْسِي، سَأَحْتَفِظُ بِالمَعْلُومَاتِ أَطْوَلَ.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a study ladder built from the website Bloom’s table, applied to the P1 unit students have just finished (the website lesson has no builder).
Read row by row; students name the level before you reveal it. Then pairs write their own ladder for P2 Education.
Core: rows 1–3 for their own ladder. Develop: all six levels. Stretch: add a conditional to two rows (إِذَا طَبَّقْتُ … سَأَتَذَكَّرُ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put each verb in a sentence about studying Arabic: أَتَذَكَّرُ … · أَسْتَوْعِبُ … · أُطَبِّقُ … · أُحَلِّلُ … · أُقَيِّمُ … · أُبْدِعُ / أَبْتَكِرُ / أُؤَلِّفُ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put each verb in a sentence about studying Arabic: أَتَذَكَّرُ … · أَسْتَوْعِبُ … · أُطَبِّقُ … · أُحَلِّلُ … · أُقَيِّمُ … · أُبْدِعُ / أَبْتَكِرُ / أُؤَلِّفُ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one conditional and one reported-speech verb you hear.
Listen 1: just listen. Listen 2: note answers. Then chat the letters.
Support: after the second listening, show the read-along slide (Arabic + English, line by line) for Core students.
SCRIPT (read aloud):
تُوصِي الأَبْحَاثُ بِأَنْ يُنَظِّمَ الطَّالِبُ وَقْتَهُ أَوَّلًا. هَلْ تَعْلَمُ أَنَّ الَّذِينَ يَسْتَعْمِلُونَ المُرَاجَعَةَ المُتَبَاعِدَةَ يَتَفَوَّقُونَ عَلَى أَقْرَانِهِمْ؟ الطَّرِيقَةُ الفَعَّالَةُ لَا تَعْتَمِدُ عَلَى الحِفْظِ عَنْ ظَهْرِ قَلْبٍ، بَلْ عَلَى الفَهْمِ العَمِيقِ. فَإِذَا لَخَّصْتَ المَادَّةَ بِكَلِمَاتِكَ، سَتَحْتَفِظُ بِهَا أَطْوَلَ. وَأَكَّدَ عُلَمَاءُ التَّرْبِيَةِ أَنَّ الطَّالِبَ الَّذِي يَسْتَعْمِلُ هَرَمَ بْلُومَ يَصِلُ إِلَى مُسْتَوَيَاتِ التَّفْكِيرِ العُلْيَا. وَبَيْنَمَا يُضْعِفُ التَّشْتِيتُ التَّرْكِيزَ، تُعَزِّزُ البِيئَةُ الهَادِئَةُ الإِنْتَاجِيَّةَ. ابْدَأْ بِخُطْوَةٍ صَغِيرَةٍ اليَوْمَ.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سَيَحْدُثُ إِذَا رَاجَعْتَ عَلَى فَتَرَاتٍ؟ (Outcome)
B: إِذَا رَاجَعْتُ عَلَى فَتَرَاتٍ مُتَبَاعِدَةٍ، سَأَحْتَفِظُ بِالمَعْلُومَاتِ أَطْوَلَ وَأُحَلِّلُ النُّصُوصَ أَعْمَقَ. (Conditional plus a higher Bloom's verb)
Website prompts and model. Pair task: each student names ONE habit they will try this week and its outcome (إِذَا … سَـ). To a girl: تُنَظِّمِينَ · دِرَاسَتِكِ · تَجِدِينَهُ · اسْتَعْمَلْتِ.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six sentences, one for each Bloom's level, about studying Arabic. · Develop — Add two study-outcome conditionals. · Stretch — Write a full study guide with a rhetorical opener and a reported-speech citation.
Website writing task (Stretch): Write one hundred to one hundred and ten words as a study guide for an Arabic academic magazine. Open with a rhetorical question and a statistic, use at least four Form II or IV study verbs, two conditionals and one reported-speech clause.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هَلْ تَعْلَمُ أَنَّ الطُّلَّابَ … · تُوصِي الأَبْحَاثُ بِأَنْ يُنَظِّمَ … وَيُلَخِّصَ … وَيُطَبِّقَ · وَأَكَّدَ عُلَمَاءُ التَّرْبِيَةِ أَنَّهُ إِذَا اسْتَعْمَلَ … سَيَصِلُ · أَنْ يُحَلِّلَ وَيُقَيِّمَ وَيُبْدِعَ · إِذَا لَخَّصْتَ … سَتَحْتَفِظُ · بَيْنَمَا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(P2-L05 · Career Aspirations and the Future of Work) will spend class time USING this language, so students prepare it tonight — short, simple, easy to access (school guidance: “Simple, Short, Interesting, Relevant, Easy to access”). The five words come from the website P2-L05 vocabulary (careers and the future of work).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cs typeface="Amiri" pitchFamily="2" charset="-78"/>
              </a:rPr>
              <a:t>Study Skills and Academic Success</a:t>
            </a:r>
            <a:endParaRPr lang="en-US" sz="32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مَهَارَاتُ الدِّرَاسَةِ وَالنَّجَاحُ الأَكَادِيمِيُّ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how to study well: climb Bloom’s ladder from remembering (yatadhakkar) to creating (yubdiʿ), use the study verbs with their objects (yulakhkhiṣ al-mādda · yaḥtafiẓ bi-l-maʿlūmāt) and link each habit to its outcome with idhā.</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P2-L04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Bloom’s ladder, study verbs with objects, habit → outcome conditionals.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Plan a Bloom’s study ladder, sort the levels, hear a study guide.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تَنْظِيمُ الوَقْتِ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mind map</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 management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summary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خَرِيطَةٌ ذِهْنِيَّةٌ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mind map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test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التَّشْتِيتُ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focus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revision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distraction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 أُنْهِي بَحْثِي.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أَنْهَيْتُ بَحْثِي.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 أَنْهَيْتُ بَحْثِي.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 التَّمْرِينُ العَضَلَاتِ.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 التَّمْرِينُ مِنَ العَضَلَاتِ.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 التَّمْرِينُ بِالعَضَلَاتِ.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تَنْظِيمُ الوَقْتِ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mind map</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time management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summary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خَرِيطَةٌ ذِهْنِيَّةٌ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mind map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test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التَّشْتِيتُ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focus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revision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distraction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قَدْ أُنْهِي بَحْثِي.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أَنْهَيْتُ بَحْثِي.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 أَنْهَيْتُ بَحْثِي.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P2-L03: the past perfect.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يُقَوِّي التَّمْرِينُ العَضَلَاتِ.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يُقَوِّي التَّمْرِينُ مِنَ العَضَلَاتِ.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يُقَوِّي التَّمْرِينُ بِالعَضَلَاتِ.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P1-L02: Form II verbs take an object.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Most study verbs are Form II (yu-…-i-…) and take a DIRECT object — no preposition.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يُحَلِّلُ النَّصَّ</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يُلَخِّصُ المَادَّةَ</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يَحْتَفِظُ بِالمَعْلُومَاتِ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study strategies in academic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Bloom’s taxonomy verbs from remembering to creating.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Link a study habit to its outcome with a Type 1 conditional.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an academic-magazine study guide.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study strategies.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a student does at each Bloom’s level.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link a habit to its outcome (idhā … sa-).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memorising and understanding.</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study guide with a citation.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chain an + subjunctive (an yuḥallila wa-yuqayyima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Study strategies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Bloom's taxonomy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Study verbs and concepts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تَحْلِيلٌ · يُحَلِّلُ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‎تحلیل / تجزیہ‎ </a:t>
            </a:r>
            <a:pPr indent="0" marL="0">
              <a:buNone/>
            </a:pPr>
            <a:r>
              <a:rPr lang="en-US" sz="950" b="1" dirty="0">
                <a:solidFill>
                  <a:srgbClr val="2E8B57"/>
                </a:solidFill>
                <a:latin typeface="Calibri" pitchFamily="34" charset="0"/>
                <a:cs typeface="Amiri" pitchFamily="2" charset="-78"/>
              </a:rPr>
              <a:t> tahlīl · analysis · analyses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خُلَاصَةٌ · مُلَخَّصٌ</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‎خلاصہ‎ </a:t>
            </a:r>
            <a:pPr indent="0" marL="0">
              <a:buNone/>
            </a:pPr>
            <a:r>
              <a:rPr lang="en-US" sz="950" b="1" dirty="0">
                <a:solidFill>
                  <a:srgbClr val="2E8B57"/>
                </a:solidFill>
                <a:latin typeface="Calibri" pitchFamily="34" charset="0"/>
                <a:cs typeface="Amiri" pitchFamily="2" charset="-78"/>
              </a:rPr>
              <a:t> khulāsa · a summary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حِفْظٌ</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‎حفظ‎ </a:t>
            </a:r>
            <a:pPr indent="0" marL="0">
              <a:buNone/>
            </a:pPr>
            <a:r>
              <a:rPr lang="en-US" sz="950" b="1" dirty="0">
                <a:solidFill>
                  <a:srgbClr val="2E8B57"/>
                </a:solidFill>
                <a:latin typeface="Calibri" pitchFamily="34" charset="0"/>
                <a:cs typeface="Amiri" pitchFamily="2" charset="-78"/>
              </a:rPr>
              <a:t> hifz · memorisation (ḥāfiẓ of the Qur’an!)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تَوَجُّهٌ · تَرْكِيزٌ</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‎توجہ‎ </a:t>
            </a:r>
            <a:pPr indent="0" marL="0">
              <a:buNone/>
            </a:pPr>
            <a:r>
              <a:rPr lang="en-US" sz="950" b="1" dirty="0">
                <a:solidFill>
                  <a:srgbClr val="2E8B57"/>
                </a:solidFill>
                <a:latin typeface="Calibri" pitchFamily="34" charset="0"/>
                <a:cs typeface="Amiri" pitchFamily="2" charset="-78"/>
              </a:rPr>
              <a:t> tawajjuh · attention, focus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إِبْدَاعٌ</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‎ابداع / تخلیق‎ </a:t>
            </a:r>
            <a:pPr indent="0" marL="0">
              <a:buNone/>
            </a:pPr>
            <a:r>
              <a:rPr lang="ar-SA" sz="950" b="1" dirty="0">
                <a:solidFill>
                  <a:srgbClr val="2E8B57"/>
                </a:solidFill>
                <a:latin typeface="Calibri" pitchFamily="34" charset="0"/>
                <a:ea typeface="Amiri" pitchFamily="2" charset="-78"/>
                <a:cs typeface="Amiri" pitchFamily="2" charset="-78"/>
              </a:rPr>
              <a:t> takhlīq · creativity (Urdu usually says تخلیق)</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Study strategies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مَهَارَاتُ الدِّرَاسَةِ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study skills</a:t>
            </a:r>
            <a:endParaRPr lang="en-US" sz="1350" dirty="0"/>
          </a:p>
          <a:p>
            <a:pPr indent="0" marL="0">
              <a:buNone/>
            </a:pPr>
            <a:r>
              <a:rPr lang="en-US" sz="1100" i="1" dirty="0">
                <a:solidFill>
                  <a:srgbClr val="5A6472"/>
                </a:solidFill>
                <a:latin typeface="Calibri" pitchFamily="34" charset="0"/>
                <a:cs typeface="Amiri" pitchFamily="2" charset="-78"/>
              </a:rPr>
              <a:t>ma-hā-rā-tu ad-di-rā-sa-ti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مَهَارَةٌ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تَنْظِيمُ الوَقْتِ</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tan-ẓī-mu al-waq-ti</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خَرِيطَةٌ ذِهْنِيَّةٌ</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mind map</a:t>
            </a:r>
            <a:endParaRPr lang="en-US" sz="1350" dirty="0"/>
          </a:p>
          <a:p>
            <a:pPr indent="0" marL="0">
              <a:buNone/>
            </a:pPr>
            <a:r>
              <a:rPr lang="en-US" sz="1100" i="1" dirty="0">
                <a:solidFill>
                  <a:srgbClr val="5A6472"/>
                </a:solidFill>
                <a:latin typeface="Calibri" pitchFamily="34" charset="0"/>
                <a:cs typeface="Amiri" pitchFamily="2" charset="-78"/>
              </a:rPr>
              <a:t>kha-rī-ṭa-tun dhih-niy-ya-tun</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خَرَائِطُ ذِهْنِيَّةٌ</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مُلَخَّصٌ</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summary</a:t>
            </a:r>
            <a:endParaRPr lang="en-US" sz="1350" dirty="0"/>
          </a:p>
          <a:p>
            <a:pPr indent="0" marL="0">
              <a:buNone/>
            </a:pPr>
            <a:r>
              <a:rPr lang="en-US" sz="1100" i="1" dirty="0">
                <a:solidFill>
                  <a:srgbClr val="5A6472"/>
                </a:solidFill>
                <a:latin typeface="Calibri" pitchFamily="34" charset="0"/>
                <a:cs typeface="Amiri" pitchFamily="2" charset="-78"/>
              </a:rPr>
              <a:t>mu-lakh-kha-ṣun</a:t>
            </a:r>
            <a:endParaRPr lang="en-US" sz="1350" dirty="0"/>
          </a:p>
        </p:txBody>
      </p:sp>
      <p:sp>
        <p:nvSpPr>
          <p:cNvPr id="55" name="Shape 5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مُلَخَّصَاتٌ</a:t>
            </a:r>
            <a:endParaRPr lang="ar-SA" sz="150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تَسْمِيعٌ ذَاتِيٌّ</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self-testing</a:t>
            </a:r>
            <a:endParaRPr lang="en-US" sz="1350" dirty="0"/>
          </a:p>
          <a:p>
            <a:pPr indent="0" marL="0">
              <a:buNone/>
            </a:pPr>
            <a:r>
              <a:rPr lang="en-US" sz="1100" i="1" dirty="0">
                <a:solidFill>
                  <a:srgbClr val="5A6472"/>
                </a:solidFill>
                <a:latin typeface="Calibri" pitchFamily="34" charset="0"/>
                <a:cs typeface="Amiri" pitchFamily="2" charset="-78"/>
              </a:rPr>
              <a:t>tas-mī-ʿun dhā-tiy-yun</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Study strategies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مُتَبَاعِدَةٌ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spaced repetition</a:t>
            </a:r>
            <a:endParaRPr lang="en-US" sz="1350" dirty="0"/>
          </a:p>
          <a:p>
            <a:pPr indent="0" marL="0">
              <a:buNone/>
            </a:pPr>
            <a:r>
              <a:rPr lang="en-US" sz="1100" i="1" dirty="0">
                <a:solidFill>
                  <a:srgbClr val="5A6472"/>
                </a:solidFill>
                <a:latin typeface="Calibri" pitchFamily="34" charset="0"/>
                <a:cs typeface="Amiri" pitchFamily="2" charset="-78"/>
              </a:rPr>
              <a:t>mu-rā-ja-ʿa-tun mu-ta-bā-ʿi-da-tun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التَّعَلُّمُ النَّشِطُ</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active learning</a:t>
            </a:r>
            <a:endParaRPr lang="en-US" sz="1350" dirty="0"/>
          </a:p>
          <a:p>
            <a:pPr indent="0" marL="0">
              <a:buNone/>
            </a:pPr>
            <a:r>
              <a:rPr lang="en-US" sz="1100" i="1" dirty="0">
                <a:solidFill>
                  <a:srgbClr val="5A6472"/>
                </a:solidFill>
                <a:latin typeface="Calibri" pitchFamily="34" charset="0"/>
                <a:cs typeface="Amiri" pitchFamily="2" charset="-78"/>
              </a:rPr>
              <a:t>at-ta-ʿal-lu-mu an-na-shi-ṭu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التَّرْكِيزُ</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focus, concentration</a:t>
            </a:r>
            <a:endParaRPr lang="en-US" sz="1350" dirty="0"/>
          </a:p>
          <a:p>
            <a:pPr indent="0" marL="0">
              <a:buNone/>
            </a:pPr>
            <a:r>
              <a:rPr lang="en-US" sz="1100" i="1" dirty="0">
                <a:solidFill>
                  <a:srgbClr val="5A6472"/>
                </a:solidFill>
                <a:latin typeface="Calibri" pitchFamily="34" charset="0"/>
                <a:cs typeface="Amiri" pitchFamily="2" charset="-78"/>
              </a:rPr>
              <a:t>at-tar-kī-zu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التَّشْتِيتُ</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distraction</a:t>
            </a:r>
            <a:endParaRPr lang="en-US" sz="1350" dirty="0"/>
          </a:p>
          <a:p>
            <a:pPr indent="0" marL="0">
              <a:buNone/>
            </a:pPr>
            <a:r>
              <a:rPr lang="en-US" sz="1100" i="1" dirty="0">
                <a:solidFill>
                  <a:srgbClr val="5A6472"/>
                </a:solidFill>
                <a:latin typeface="Calibri" pitchFamily="34" charset="0"/>
                <a:cs typeface="Amiri" pitchFamily="2" charset="-78"/>
              </a:rPr>
              <a:t>at-tash-tī-tu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Bloom's taxonomy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يَتَذَكَّرُ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remembers</a:t>
            </a:r>
            <a:endParaRPr lang="en-US" sz="1350" dirty="0"/>
          </a:p>
          <a:p>
            <a:pPr indent="0" marL="0">
              <a:buNone/>
            </a:pPr>
            <a:r>
              <a:rPr lang="en-US" sz="1100" i="1" dirty="0">
                <a:solidFill>
                  <a:srgbClr val="5A6472"/>
                </a:solidFill>
                <a:latin typeface="Calibri" pitchFamily="34" charset="0"/>
                <a:cs typeface="Amiri" pitchFamily="2" charset="-78"/>
              </a:rPr>
              <a:t>ya-ta-dhak-ka-ru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تَتَذَكَّرُ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أَتَذَكَّرُ</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يَفْهَمُ</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understands</a:t>
            </a:r>
            <a:endParaRPr lang="en-US" sz="1350" dirty="0"/>
          </a:p>
          <a:p>
            <a:pPr indent="0" marL="0">
              <a:buNone/>
            </a:pPr>
            <a:r>
              <a:rPr lang="en-US" sz="1100" i="1" dirty="0">
                <a:solidFill>
                  <a:srgbClr val="5A6472"/>
                </a:solidFill>
                <a:latin typeface="Calibri" pitchFamily="34" charset="0"/>
                <a:cs typeface="Amiri" pitchFamily="2" charset="-78"/>
              </a:rPr>
              <a:t>yaf-ha-mu</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تَفْهَمُ</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أَفْهَمُ</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يُطَبِّقُ</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applies</a:t>
            </a:r>
            <a:endParaRPr lang="en-US" sz="1350" dirty="0"/>
          </a:p>
          <a:p>
            <a:pPr indent="0" marL="0">
              <a:buNone/>
            </a:pPr>
            <a:r>
              <a:rPr lang="en-US" sz="1100" i="1" dirty="0">
                <a:solidFill>
                  <a:srgbClr val="5A6472"/>
                </a:solidFill>
                <a:latin typeface="Calibri" pitchFamily="34" charset="0"/>
                <a:cs typeface="Amiri" pitchFamily="2" charset="-78"/>
              </a:rPr>
              <a:t>yu-ṭab-bi-qu</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تُطَبِّقُ</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أُطَبِّقُ</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يُحَلِّلُ</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analyses</a:t>
            </a:r>
            <a:endParaRPr lang="en-US" sz="1350" dirty="0"/>
          </a:p>
          <a:p>
            <a:pPr indent="0" marL="0">
              <a:buNone/>
            </a:pPr>
            <a:r>
              <a:rPr lang="en-US" sz="1100" i="1" dirty="0">
                <a:solidFill>
                  <a:srgbClr val="5A6472"/>
                </a:solidFill>
                <a:latin typeface="Calibri" pitchFamily="34" charset="0"/>
                <a:cs typeface="Amiri" pitchFamily="2" charset="-78"/>
              </a:rPr>
              <a:t>yu-ḥal-li-lu</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تُحَلِّلُ</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2" name="Text 6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أُحَلِّلُ</a:t>
            </a:r>
            <a:endParaRPr lang="ar-SA" sz="15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Bloom's taxonomy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يُقَيِّمُ</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evaluates</a:t>
            </a:r>
            <a:endParaRPr lang="en-US" sz="1350" dirty="0"/>
          </a:p>
          <a:p>
            <a:pPr indent="0" marL="0">
              <a:buNone/>
            </a:pPr>
            <a:r>
              <a:rPr lang="en-US" sz="1100" i="1" dirty="0">
                <a:solidFill>
                  <a:srgbClr val="5A6472"/>
                </a:solidFill>
                <a:latin typeface="Calibri" pitchFamily="34" charset="0"/>
                <a:cs typeface="Amiri" pitchFamily="2" charset="-78"/>
              </a:rPr>
              <a:t>yu-qay-yi-mu</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تُقَيِّمُ</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أُقَيِّمُ</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يُبْدِعُ</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creates, innovates</a:t>
            </a:r>
            <a:endParaRPr lang="en-US" sz="1350" dirty="0"/>
          </a:p>
          <a:p>
            <a:pPr indent="0" marL="0">
              <a:buNone/>
            </a:pPr>
            <a:r>
              <a:rPr lang="en-US" sz="1100" i="1" dirty="0">
                <a:solidFill>
                  <a:srgbClr val="5A6472"/>
                </a:solidFill>
                <a:latin typeface="Calibri" pitchFamily="34" charset="0"/>
                <a:cs typeface="Amiri" pitchFamily="2" charset="-78"/>
              </a:rPr>
              <a:t>yub-di-ʿu</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تُبْدِعُ</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أُبْدِعُ</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هَرَمُ بْلُومَ</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Bloom's taxonomy</a:t>
            </a:r>
            <a:endParaRPr lang="en-US" sz="1350" dirty="0"/>
          </a:p>
          <a:p>
            <a:pPr indent="0" marL="0">
              <a:buNone/>
            </a:pPr>
            <a:r>
              <a:rPr lang="en-US" sz="1100" i="1" dirty="0">
                <a:solidFill>
                  <a:srgbClr val="5A6472"/>
                </a:solidFill>
                <a:latin typeface="Calibri" pitchFamily="34" charset="0"/>
                <a:cs typeface="Amiri" pitchFamily="2" charset="-78"/>
              </a:rPr>
              <a:t>ha-ra-mu b-lū-ma</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التَّفْكِيرُ العَالِي</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higher-order thinking</a:t>
            </a:r>
            <a:endParaRPr lang="en-US" sz="1350" dirty="0"/>
          </a:p>
          <a:p>
            <a:pPr indent="0" marL="0">
              <a:buNone/>
            </a:pPr>
            <a:r>
              <a:rPr lang="en-US" sz="1100" i="1" dirty="0">
                <a:solidFill>
                  <a:srgbClr val="5A6472"/>
                </a:solidFill>
                <a:latin typeface="Calibri" pitchFamily="34" charset="0"/>
                <a:cs typeface="Amiri" pitchFamily="2" charset="-78"/>
              </a:rPr>
              <a:t>at-taf-kī-ru al-ʿā-lī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Study verbs and concepts (1 of 2)</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يُنَظِّمُ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organises</a:t>
            </a:r>
            <a:endParaRPr lang="en-US" sz="1350" dirty="0"/>
          </a:p>
          <a:p>
            <a:pPr indent="0" marL="0">
              <a:buNone/>
            </a:pPr>
            <a:r>
              <a:rPr lang="en-US" sz="1100" i="1" dirty="0">
                <a:solidFill>
                  <a:srgbClr val="5A6472"/>
                </a:solidFill>
                <a:latin typeface="Calibri" pitchFamily="34" charset="0"/>
                <a:cs typeface="Amiri" pitchFamily="2" charset="-78"/>
              </a:rPr>
              <a:t>yu-naẓ-ẓi-mu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تُنَظِّمُ</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أُنَظِّمُ</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يُرَاجِعُ</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revises</a:t>
            </a:r>
            <a:endParaRPr lang="en-US" sz="1350" dirty="0"/>
          </a:p>
          <a:p>
            <a:pPr indent="0" marL="0">
              <a:buNone/>
            </a:pPr>
            <a:r>
              <a:rPr lang="en-US" sz="1100" i="1" dirty="0">
                <a:solidFill>
                  <a:srgbClr val="5A6472"/>
                </a:solidFill>
                <a:latin typeface="Calibri" pitchFamily="34" charset="0"/>
                <a:cs typeface="Amiri" pitchFamily="2" charset="-78"/>
              </a:rPr>
              <a:t>yu-rā-ji-ʿu</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تُرَاجِعُ</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أُرَاجِعُ</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يُلَخِّصُ</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summarises</a:t>
            </a:r>
            <a:endParaRPr lang="en-US" sz="1350" dirty="0"/>
          </a:p>
          <a:p>
            <a:pPr indent="0" marL="0">
              <a:buNone/>
            </a:pPr>
            <a:r>
              <a:rPr lang="en-US" sz="1100" i="1" dirty="0">
                <a:solidFill>
                  <a:srgbClr val="5A6472"/>
                </a:solidFill>
                <a:latin typeface="Calibri" pitchFamily="34" charset="0"/>
                <a:cs typeface="Amiri" pitchFamily="2" charset="-78"/>
              </a:rPr>
              <a:t>yu-lakh-khi-ṣu</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تُلَخِّصُ</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أُلَخِّصُ</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9" name="Shape 5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يَحْتَفِظُ بِـ</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retains</a:t>
            </a:r>
            <a:endParaRPr lang="en-US" sz="1350" dirty="0"/>
          </a:p>
          <a:p>
            <a:pPr indent="0" marL="0">
              <a:buNone/>
            </a:pPr>
            <a:r>
              <a:rPr lang="en-US" sz="1100" i="1" dirty="0">
                <a:solidFill>
                  <a:srgbClr val="5A6472"/>
                </a:solidFill>
                <a:latin typeface="Calibri" pitchFamily="34" charset="0"/>
                <a:cs typeface="Amiri" pitchFamily="2" charset="-78"/>
              </a:rPr>
              <a:t>yaḥ-ta-fi-ẓu bi</a:t>
            </a:r>
            <a:endParaRPr lang="en-US" sz="1350" dirty="0"/>
          </a:p>
        </p:txBody>
      </p:sp>
      <p:sp>
        <p:nvSpPr>
          <p:cNvPr id="63" name="Shape 6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تَحْتَفِظُ</a:t>
            </a:r>
            <a:endParaRPr lang="ar-SA" sz="1500" dirty="0"/>
          </a:p>
        </p:txBody>
      </p:sp>
      <p:sp>
        <p:nvSpPr>
          <p:cNvPr id="66" name="Shape 6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أَحْتَفِظُ</a:t>
            </a:r>
            <a:endParaRPr lang="ar-SA" sz="150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Study verbs and concepts (2 of 2)</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التَّعَلُّمُ العَمِيقُ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deep learning</a:t>
            </a:r>
            <a:endParaRPr lang="en-US" sz="1350" dirty="0"/>
          </a:p>
          <a:p>
            <a:pPr indent="0" marL="0">
              <a:buNone/>
            </a:pPr>
            <a:r>
              <a:rPr lang="en-US" sz="1100" i="1" dirty="0">
                <a:solidFill>
                  <a:srgbClr val="5A6472"/>
                </a:solidFill>
                <a:latin typeface="Calibri" pitchFamily="34" charset="0"/>
                <a:cs typeface="Amiri" pitchFamily="2" charset="-78"/>
              </a:rPr>
              <a:t>at-ta-ʿal-lu-mu al-ʿa-mī-qu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الحِفْظُ عَنْ ظَهْرِ قَلْبٍ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rote memorisation</a:t>
            </a:r>
            <a:endParaRPr lang="en-US" sz="1350" dirty="0"/>
          </a:p>
          <a:p>
            <a:pPr indent="0" marL="0">
              <a:buNone/>
            </a:pPr>
            <a:r>
              <a:rPr lang="en-US" sz="1100" i="1" dirty="0">
                <a:solidFill>
                  <a:srgbClr val="5A6472"/>
                </a:solidFill>
                <a:latin typeface="Calibri" pitchFamily="34" charset="0"/>
                <a:cs typeface="Amiri" pitchFamily="2" charset="-78"/>
              </a:rPr>
              <a:t>al-ḥif-ẓu ʿan ẓah-ri qal-bin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الفَهْمُ وَالاسْتِيعَابُ</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understanding</a:t>
            </a:r>
            <a:endParaRPr lang="en-US" sz="1350" dirty="0"/>
          </a:p>
          <a:p>
            <a:pPr indent="0" marL="0">
              <a:buNone/>
            </a:pPr>
            <a:r>
              <a:rPr lang="en-US" sz="1100" i="1" dirty="0">
                <a:solidFill>
                  <a:srgbClr val="5A6472"/>
                </a:solidFill>
                <a:latin typeface="Calibri" pitchFamily="34" charset="0"/>
                <a:cs typeface="Amiri" pitchFamily="2" charset="-78"/>
              </a:rPr>
              <a:t>al-fah-mu wāls-tī-ʿā-bu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بِيئَةٌ هَادِئَةٌ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quiet environment</a:t>
            </a:r>
            <a:endParaRPr lang="en-US" sz="1350" dirty="0"/>
          </a:p>
          <a:p>
            <a:pPr indent="0" marL="0">
              <a:buNone/>
            </a:pPr>
            <a:r>
              <a:rPr lang="en-US" sz="1100" i="1" dirty="0">
                <a:solidFill>
                  <a:srgbClr val="5A6472"/>
                </a:solidFill>
                <a:latin typeface="Calibri" pitchFamily="34" charset="0"/>
                <a:cs typeface="Amiri" pitchFamily="2" charset="-78"/>
              </a:rPr>
              <a:t>bī-ʾa-tun hā-di-ʾa-tun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1 · BLOOM’S LADDER (WEBSITE RULES 1–2 + TABLE) · CORE</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remembering to creating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هَرَمُ بْلُومَ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7" name="Text 14"/>
          <p:cNvSpPr txBox="1"/>
          <p:nvPr/>
        </p:nvSpPr>
        <p:spPr>
          <a:xfrm>
            <a:off x="4553712" y="1810512"/>
            <a:ext cx="5248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Studying Arabic</a:t>
            </a:r>
            <a:endParaRPr lang="en-US" sz="1100" dirty="0"/>
          </a:p>
        </p:txBody>
      </p:sp>
      <p:sp>
        <p:nvSpPr>
          <p:cNvPr id="18" name="Text 15"/>
          <p:cNvSpPr txBox="1"/>
          <p:nvPr/>
        </p:nvSpPr>
        <p:spPr>
          <a:xfrm>
            <a:off x="23591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Level</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985248" y="2267712"/>
            <a:ext cx="1673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a:t>
            </a:r>
            <a:endParaRPr lang="en-US" sz="1100" dirty="0"/>
          </a:p>
        </p:txBody>
      </p:sp>
      <p:sp>
        <p:nvSpPr>
          <p:cNvPr id="22" name="Text 19"/>
          <p:cNvSpPr txBox="1"/>
          <p:nvPr/>
        </p:nvSpPr>
        <p:spPr>
          <a:xfrm>
            <a:off x="4572000" y="2267712"/>
            <a:ext cx="5212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يَتَذَكَّرُ الطَّالِبُ </a:t>
            </a:r>
            <a:pPr rtl="1" algn="ctr" indent="0" marL="0">
              <a:buNone/>
            </a:pPr>
            <a:r>
              <a:rPr lang="ar-SA" altLang="en-US" sz="2000" b="1" dirty="0">
                <a:solidFill>
                  <a:srgbClr val="C77700"/>
                </a:solidFill>
                <a:latin typeface="Amiri" pitchFamily="2" charset="-78"/>
                <a:ea typeface="Amiri" pitchFamily="2" charset="-78"/>
                <a:cs typeface="Amiri" pitchFamily="2" charset="-78"/>
              </a:rPr>
              <a:t>المُفْرَدَاتِ</a:t>
            </a:r>
            <a:pPr rtl="1" algn="ctr" indent="0" marL="0">
              <a:buNone/>
            </a:pPr>
            <a:r>
              <a:rPr lang="ar-SA" altLang="en-US" sz="2000" b="1" dirty="0">
                <a:solidFill>
                  <a:srgbClr val="1B3B6F"/>
                </a:solidFill>
                <a:latin typeface="Amiri" pitchFamily="2" charset="-78"/>
                <a:ea typeface="Amiri" pitchFamily="2" charset="-78"/>
                <a:cs typeface="Amiri" pitchFamily="2" charset="-78"/>
              </a:rPr>
              <a:t> الجَدِيدَةَ.</a:t>
            </a:r>
            <a:endParaRPr lang="ar-SA" sz="2000" dirty="0"/>
          </a:p>
        </p:txBody>
      </p:sp>
      <p:sp>
        <p:nvSpPr>
          <p:cNvPr id="23" name="Text 20"/>
          <p:cNvSpPr txBox="1"/>
          <p:nvPr/>
        </p:nvSpPr>
        <p:spPr>
          <a:xfrm>
            <a:off x="23774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C77700"/>
                </a:solidFill>
                <a:latin typeface="Amiri" pitchFamily="2" charset="-78"/>
                <a:ea typeface="Amiri" pitchFamily="2" charset="-78"/>
                <a:cs typeface="Amiri" pitchFamily="2" charset="-78"/>
              </a:rPr>
              <a:t>يَتَذَكَّرُ</a:t>
            </a:r>
            <a:endParaRPr lang="ar-SA" sz="2400" dirty="0"/>
          </a:p>
        </p:txBody>
      </p:sp>
      <p:sp>
        <p:nvSpPr>
          <p:cNvPr id="24" name="Text 21"/>
          <p:cNvSpPr txBox="1"/>
          <p:nvPr/>
        </p:nvSpPr>
        <p:spPr>
          <a:xfrm>
            <a:off x="566928" y="226771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remember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985248" y="2881884"/>
            <a:ext cx="1673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9" name="Text 26"/>
          <p:cNvSpPr txBox="1"/>
          <p:nvPr/>
        </p:nvSpPr>
        <p:spPr>
          <a:xfrm>
            <a:off x="4572000" y="2881884"/>
            <a:ext cx="5212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يَفْهَمُ </a:t>
            </a:r>
            <a:pPr rtl="1" algn="ctr" indent="0" marL="0">
              <a:buNone/>
            </a:pPr>
            <a:r>
              <a:rPr lang="ar-SA" altLang="en-US" sz="2000" b="1" dirty="0">
                <a:solidFill>
                  <a:srgbClr val="C77700"/>
                </a:solidFill>
                <a:latin typeface="Amiri" pitchFamily="2" charset="-78"/>
                <a:ea typeface="Amiri" pitchFamily="2" charset="-78"/>
                <a:cs typeface="Amiri" pitchFamily="2" charset="-78"/>
              </a:rPr>
              <a:t>القَاعِدَةَ</a:t>
            </a:r>
            <a:pPr rtl="1" algn="ctr" indent="0" marL="0">
              <a:buNone/>
            </a:pPr>
            <a:r>
              <a:rPr lang="ar-SA" altLang="en-US" sz="2000" b="1" dirty="0">
                <a:solidFill>
                  <a:srgbClr val="1B3B6F"/>
                </a:solidFill>
                <a:latin typeface="Amiri" pitchFamily="2" charset="-78"/>
                <a:ea typeface="Amiri" pitchFamily="2" charset="-78"/>
                <a:cs typeface="Amiri" pitchFamily="2" charset="-78"/>
              </a:rPr>
              <a:t> وَيَشْرَحُهَا بِكَلِمَاتِهِ.</a:t>
            </a:r>
            <a:endParaRPr lang="ar-SA" sz="2000" dirty="0"/>
          </a:p>
        </p:txBody>
      </p:sp>
      <p:sp>
        <p:nvSpPr>
          <p:cNvPr id="30" name="Text 27"/>
          <p:cNvSpPr txBox="1"/>
          <p:nvPr/>
        </p:nvSpPr>
        <p:spPr>
          <a:xfrm>
            <a:off x="23774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C77700"/>
                </a:solidFill>
                <a:latin typeface="Amiri" pitchFamily="2" charset="-78"/>
                <a:ea typeface="Amiri" pitchFamily="2" charset="-78"/>
                <a:cs typeface="Amiri" pitchFamily="2" charset="-78"/>
              </a:rPr>
              <a:t>يَفْهَمُ</a:t>
            </a:r>
            <a:endParaRPr lang="ar-SA" sz="2400" dirty="0"/>
          </a:p>
        </p:txBody>
      </p:sp>
      <p:sp>
        <p:nvSpPr>
          <p:cNvPr id="31" name="Text 28"/>
          <p:cNvSpPr txBox="1"/>
          <p:nvPr/>
        </p:nvSpPr>
        <p:spPr>
          <a:xfrm>
            <a:off x="566928" y="2881884"/>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understand</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985248" y="3496056"/>
            <a:ext cx="1673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a:t>
            </a:r>
            <a:endParaRPr lang="en-US" sz="1100" dirty="0"/>
          </a:p>
        </p:txBody>
      </p:sp>
      <p:sp>
        <p:nvSpPr>
          <p:cNvPr id="36" name="Text 33"/>
          <p:cNvSpPr txBox="1"/>
          <p:nvPr/>
        </p:nvSpPr>
        <p:spPr>
          <a:xfrm>
            <a:off x="4572000" y="3496056"/>
            <a:ext cx="5212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يُطَبِّقُ </a:t>
            </a:r>
            <a:pPr rtl="1" algn="ctr" indent="0" marL="0">
              <a:buNone/>
            </a:pPr>
            <a:r>
              <a:rPr lang="ar-SA" altLang="en-US" sz="2000" b="1" dirty="0">
                <a:solidFill>
                  <a:srgbClr val="1D5FBF"/>
                </a:solidFill>
                <a:latin typeface="Amiri" pitchFamily="2" charset="-78"/>
                <a:ea typeface="Amiri" pitchFamily="2" charset="-78"/>
                <a:cs typeface="Amiri" pitchFamily="2" charset="-78"/>
              </a:rPr>
              <a:t>القَاعِدَةَ</a:t>
            </a:r>
            <a:pPr rtl="1" algn="ctr" indent="0" marL="0">
              <a:buNone/>
            </a:pPr>
            <a:r>
              <a:rPr lang="ar-SA" altLang="en-US" sz="2000" b="1" dirty="0">
                <a:solidFill>
                  <a:srgbClr val="1B3B6F"/>
                </a:solidFill>
                <a:latin typeface="Amiri" pitchFamily="2" charset="-78"/>
                <a:ea typeface="Amiri" pitchFamily="2" charset="-78"/>
                <a:cs typeface="Amiri" pitchFamily="2" charset="-78"/>
              </a:rPr>
              <a:t> فِي جُمَلٍ جَدِيدَةٍ.</a:t>
            </a:r>
            <a:endParaRPr lang="ar-SA" sz="2000" dirty="0"/>
          </a:p>
        </p:txBody>
      </p:sp>
      <p:sp>
        <p:nvSpPr>
          <p:cNvPr id="37" name="Text 34"/>
          <p:cNvSpPr txBox="1"/>
          <p:nvPr/>
        </p:nvSpPr>
        <p:spPr>
          <a:xfrm>
            <a:off x="23774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يُطَبِّقُ</a:t>
            </a:r>
            <a:endParaRPr lang="ar-SA" sz="2400" dirty="0"/>
          </a:p>
        </p:txBody>
      </p:sp>
      <p:sp>
        <p:nvSpPr>
          <p:cNvPr id="38" name="Text 35"/>
          <p:cNvSpPr txBox="1"/>
          <p:nvPr/>
        </p:nvSpPr>
        <p:spPr>
          <a:xfrm>
            <a:off x="566928" y="3496056"/>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apply</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985248" y="4110228"/>
            <a:ext cx="1673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a:t>
            </a:r>
            <a:endParaRPr lang="en-US" sz="1100" dirty="0"/>
          </a:p>
        </p:txBody>
      </p:sp>
      <p:sp>
        <p:nvSpPr>
          <p:cNvPr id="43" name="Text 40"/>
          <p:cNvSpPr txBox="1"/>
          <p:nvPr/>
        </p:nvSpPr>
        <p:spPr>
          <a:xfrm>
            <a:off x="4572000" y="4110228"/>
            <a:ext cx="5212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يُحَلِّلُ </a:t>
            </a:r>
            <a:pPr rtl="1" algn="ctr" indent="0" marL="0">
              <a:buNone/>
            </a:pPr>
            <a:r>
              <a:rPr lang="ar-SA" altLang="en-US" sz="2000" b="1" dirty="0">
                <a:solidFill>
                  <a:srgbClr val="1D5FBF"/>
                </a:solidFill>
                <a:latin typeface="Amiri" pitchFamily="2" charset="-78"/>
                <a:ea typeface="Amiri" pitchFamily="2" charset="-78"/>
                <a:cs typeface="Amiri" pitchFamily="2" charset="-78"/>
              </a:rPr>
              <a:t>النَّصَّ</a:t>
            </a:r>
            <a:pPr rtl="1" algn="ctr" indent="0" marL="0">
              <a:buNone/>
            </a:pPr>
            <a:r>
              <a:rPr lang="ar-SA" altLang="en-US" sz="2000" b="1" dirty="0">
                <a:solidFill>
                  <a:srgbClr val="1B3B6F"/>
                </a:solidFill>
                <a:latin typeface="Amiri" pitchFamily="2" charset="-78"/>
                <a:ea typeface="Amiri" pitchFamily="2" charset="-78"/>
                <a:cs typeface="Amiri" pitchFamily="2" charset="-78"/>
              </a:rPr>
              <a:t> وَيُمَيِّزُ الحَقِيقَةَ مِنَ الرَّأْيِ.</a:t>
            </a:r>
            <a:endParaRPr lang="ar-SA" sz="2000" dirty="0"/>
          </a:p>
        </p:txBody>
      </p:sp>
      <p:sp>
        <p:nvSpPr>
          <p:cNvPr id="44" name="Text 41"/>
          <p:cNvSpPr txBox="1"/>
          <p:nvPr/>
        </p:nvSpPr>
        <p:spPr>
          <a:xfrm>
            <a:off x="23774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يُحَلِّلُ</a:t>
            </a:r>
            <a:endParaRPr lang="ar-SA" sz="2400" dirty="0"/>
          </a:p>
        </p:txBody>
      </p:sp>
      <p:sp>
        <p:nvSpPr>
          <p:cNvPr id="45" name="Text 42"/>
          <p:cNvSpPr txBox="1"/>
          <p:nvPr/>
        </p:nvSpPr>
        <p:spPr>
          <a:xfrm>
            <a:off x="566928" y="4110228"/>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analyse</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9985248" y="4724400"/>
            <a:ext cx="1673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a:t>
            </a:r>
            <a:endParaRPr lang="en-US" sz="1100" dirty="0"/>
          </a:p>
        </p:txBody>
      </p:sp>
      <p:sp>
        <p:nvSpPr>
          <p:cNvPr id="48" name="Text 45"/>
          <p:cNvSpPr txBox="1"/>
          <p:nvPr/>
        </p:nvSpPr>
        <p:spPr>
          <a:xfrm>
            <a:off x="4572000" y="4724400"/>
            <a:ext cx="5212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يُقَيِّمُ </a:t>
            </a:r>
            <a:pPr rtl="1" algn="ctr" indent="0" marL="0">
              <a:buNone/>
            </a:pPr>
            <a:r>
              <a:rPr lang="ar-SA" altLang="en-US" sz="2000" b="1" dirty="0">
                <a:solidFill>
                  <a:srgbClr val="1D5FBF"/>
                </a:solidFill>
                <a:latin typeface="Amiri" pitchFamily="2" charset="-78"/>
                <a:ea typeface="Amiri" pitchFamily="2" charset="-78"/>
                <a:cs typeface="Amiri" pitchFamily="2" charset="-78"/>
              </a:rPr>
              <a:t>كِتَابَتَهُ</a:t>
            </a:r>
            <a:pPr rtl="1" algn="ctr" indent="0" marL="0">
              <a:buNone/>
            </a:pPr>
            <a:r>
              <a:rPr lang="ar-SA" altLang="en-US" sz="2000" b="1" dirty="0">
                <a:solidFill>
                  <a:srgbClr val="1B3B6F"/>
                </a:solidFill>
                <a:latin typeface="Amiri" pitchFamily="2" charset="-78"/>
                <a:ea typeface="Amiri" pitchFamily="2" charset="-78"/>
                <a:cs typeface="Amiri" pitchFamily="2" charset="-78"/>
              </a:rPr>
              <a:t> بَعْدَ الانْتِهَاءِ.</a:t>
            </a:r>
            <a:endParaRPr lang="ar-SA" sz="2000" dirty="0"/>
          </a:p>
        </p:txBody>
      </p:sp>
      <p:sp>
        <p:nvSpPr>
          <p:cNvPr id="49" name="Text 46"/>
          <p:cNvSpPr txBox="1"/>
          <p:nvPr/>
        </p:nvSpPr>
        <p:spPr>
          <a:xfrm>
            <a:off x="23774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يُقَيِّمُ</a:t>
            </a:r>
            <a:endParaRPr lang="ar-SA" sz="2400" dirty="0"/>
          </a:p>
        </p:txBody>
      </p:sp>
      <p:sp>
        <p:nvSpPr>
          <p:cNvPr id="50" name="Text 47"/>
          <p:cNvSpPr txBox="1"/>
          <p:nvPr/>
        </p:nvSpPr>
        <p:spPr>
          <a:xfrm>
            <a:off x="566928" y="4724400"/>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evaluate</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9985248" y="5338572"/>
            <a:ext cx="1673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IV</a:t>
            </a:r>
            <a:endParaRPr lang="en-US" sz="1100" dirty="0"/>
          </a:p>
        </p:txBody>
      </p:sp>
      <p:sp>
        <p:nvSpPr>
          <p:cNvPr id="53" name="Text 50"/>
          <p:cNvSpPr txBox="1"/>
          <p:nvPr/>
        </p:nvSpPr>
        <p:spPr>
          <a:xfrm>
            <a:off x="4572000" y="5338572"/>
            <a:ext cx="52120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يُبْدِعُ </a:t>
            </a:r>
            <a:pPr rtl="1" algn="ctr" indent="0" marL="0">
              <a:buNone/>
            </a:pPr>
            <a:r>
              <a:rPr lang="ar-SA" altLang="en-US" sz="2000" b="1" dirty="0">
                <a:solidFill>
                  <a:srgbClr val="0E7C86"/>
                </a:solidFill>
                <a:latin typeface="Amiri" pitchFamily="2" charset="-78"/>
                <a:ea typeface="Amiri" pitchFamily="2" charset="-78"/>
                <a:cs typeface="Amiri" pitchFamily="2" charset="-78"/>
              </a:rPr>
              <a:t>نَصًّا</a:t>
            </a:r>
            <a:pPr rtl="1" algn="ctr" indent="0" marL="0">
              <a:buNone/>
            </a:pPr>
            <a:r>
              <a:rPr lang="ar-SA" altLang="en-US" sz="2000" b="1" dirty="0">
                <a:solidFill>
                  <a:srgbClr val="1B3B6F"/>
                </a:solidFill>
                <a:latin typeface="Amiri" pitchFamily="2" charset="-78"/>
                <a:ea typeface="Amiri" pitchFamily="2" charset="-78"/>
                <a:cs typeface="Amiri" pitchFamily="2" charset="-78"/>
              </a:rPr>
              <a:t> جَدِيدًا.</a:t>
            </a:r>
            <a:endParaRPr lang="ar-SA" sz="2000" dirty="0"/>
          </a:p>
        </p:txBody>
      </p:sp>
      <p:sp>
        <p:nvSpPr>
          <p:cNvPr id="54" name="Text 51"/>
          <p:cNvSpPr txBox="1"/>
          <p:nvPr/>
        </p:nvSpPr>
        <p:spPr>
          <a:xfrm>
            <a:off x="23774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يُبْدِعُ</a:t>
            </a:r>
            <a:endParaRPr lang="ar-SA" sz="2400" dirty="0"/>
          </a:p>
        </p:txBody>
      </p:sp>
      <p:sp>
        <p:nvSpPr>
          <p:cNvPr id="55" name="Text 52"/>
          <p:cNvSpPr txBox="1"/>
          <p:nvPr/>
        </p:nvSpPr>
        <p:spPr>
          <a:xfrm>
            <a:off x="566928" y="533857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 create</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the levels rise — and the higher verbs are Form II / IV with a direct object.</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STUDY VERBS FOR I, HE AND SHE (WEBSITE VOCABULARY + RULE 4)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I organise my time · she organises hers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الدِّرَاسَةِ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a:t>
            </a:r>
            <a:endParaRPr lang="en-US" sz="1100" dirty="0"/>
          </a:p>
        </p:txBody>
      </p:sp>
      <p:sp>
        <p:nvSpPr>
          <p:cNvPr id="17" name="Text 14"/>
          <p:cNvSpPr txBox="1"/>
          <p:nvPr/>
        </p:nvSpPr>
        <p:spPr>
          <a:xfrm>
            <a:off x="555955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18" name="Text 15"/>
          <p:cNvSpPr txBox="1"/>
          <p:nvPr/>
        </p:nvSpPr>
        <p:spPr>
          <a:xfrm>
            <a:off x="254203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595360" y="2267712"/>
            <a:ext cx="304495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تُنَظِّمُ </a:t>
            </a:r>
            <a:pPr rtl="1" algn="ctr" indent="0" marL="0">
              <a:buNone/>
            </a:pPr>
            <a:r>
              <a:rPr lang="ar-SA" altLang="en-US" sz="2000" b="1" dirty="0">
                <a:solidFill>
                  <a:srgbClr val="1D5FBF"/>
                </a:solidFill>
                <a:latin typeface="Amiri" pitchFamily="2" charset="-78"/>
                <a:ea typeface="Amiri" pitchFamily="2" charset="-78"/>
                <a:cs typeface="Amiri" pitchFamily="2" charset="-78"/>
              </a:rPr>
              <a:t>وَقْتَهَا</a:t>
            </a:r>
            <a:endParaRPr lang="ar-SA" sz="2000" dirty="0"/>
          </a:p>
        </p:txBody>
      </p:sp>
      <p:sp>
        <p:nvSpPr>
          <p:cNvPr id="22" name="Text 19"/>
          <p:cNvSpPr txBox="1"/>
          <p:nvPr/>
        </p:nvSpPr>
        <p:spPr>
          <a:xfrm>
            <a:off x="5577840" y="2267712"/>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يُنَظِّمُ </a:t>
            </a:r>
            <a:pPr rtl="1" algn="ctr" indent="0" marL="0">
              <a:buNone/>
            </a:pPr>
            <a:r>
              <a:rPr lang="ar-SA" altLang="en-US" sz="2000" b="1" dirty="0">
                <a:solidFill>
                  <a:srgbClr val="1D5FBF"/>
                </a:solidFill>
                <a:latin typeface="Amiri" pitchFamily="2" charset="-78"/>
                <a:ea typeface="Amiri" pitchFamily="2" charset="-78"/>
                <a:cs typeface="Amiri" pitchFamily="2" charset="-78"/>
              </a:rPr>
              <a:t>وَقْتَهُ</a:t>
            </a:r>
            <a:endParaRPr lang="ar-SA" sz="2000" dirty="0"/>
          </a:p>
        </p:txBody>
      </p:sp>
      <p:sp>
        <p:nvSpPr>
          <p:cNvPr id="23" name="Text 20"/>
          <p:cNvSpPr txBox="1"/>
          <p:nvPr/>
        </p:nvSpPr>
        <p:spPr>
          <a:xfrm>
            <a:off x="2560320" y="2267712"/>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أُنَظِّمُ </a:t>
            </a:r>
            <a:pPr rtl="1" algn="ctr" indent="0" marL="0">
              <a:buNone/>
            </a:pPr>
            <a:r>
              <a:rPr lang="ar-SA" altLang="en-US" sz="2000" b="1" dirty="0">
                <a:solidFill>
                  <a:srgbClr val="1D5FBF"/>
                </a:solidFill>
                <a:latin typeface="Amiri" pitchFamily="2" charset="-78"/>
                <a:ea typeface="Amiri" pitchFamily="2" charset="-78"/>
                <a:cs typeface="Amiri" pitchFamily="2" charset="-78"/>
              </a:rPr>
              <a:t>وَقْتِي</a:t>
            </a:r>
            <a:endParaRPr lang="ar-SA" sz="2000" dirty="0"/>
          </a:p>
        </p:txBody>
      </p:sp>
      <p:sp>
        <p:nvSpPr>
          <p:cNvPr id="24" name="Text 21"/>
          <p:cNvSpPr txBox="1"/>
          <p:nvPr/>
        </p:nvSpPr>
        <p:spPr>
          <a:xfrm>
            <a:off x="56692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organise my / his / her time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595360" y="3004718"/>
            <a:ext cx="304495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تُلَخِّصُ المَادَّةَ</a:t>
            </a:r>
            <a:endParaRPr lang="ar-SA" sz="2000" dirty="0"/>
          </a:p>
        </p:txBody>
      </p:sp>
      <p:sp>
        <p:nvSpPr>
          <p:cNvPr id="29" name="Text 26"/>
          <p:cNvSpPr txBox="1"/>
          <p:nvPr/>
        </p:nvSpPr>
        <p:spPr>
          <a:xfrm>
            <a:off x="5577840" y="300471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يُلَخِّصُ المَادَّةَ</a:t>
            </a:r>
            <a:endParaRPr lang="ar-SA" sz="2000" dirty="0"/>
          </a:p>
        </p:txBody>
      </p:sp>
      <p:sp>
        <p:nvSpPr>
          <p:cNvPr id="30" name="Text 27"/>
          <p:cNvSpPr txBox="1"/>
          <p:nvPr/>
        </p:nvSpPr>
        <p:spPr>
          <a:xfrm>
            <a:off x="2560320" y="300471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أُلَخِّصُ المَادَّةَ</a:t>
            </a:r>
            <a:endParaRPr lang="ar-SA" sz="2000" dirty="0"/>
          </a:p>
        </p:txBody>
      </p:sp>
      <p:sp>
        <p:nvSpPr>
          <p:cNvPr id="31" name="Text 28"/>
          <p:cNvSpPr txBox="1"/>
          <p:nvPr/>
        </p:nvSpPr>
        <p:spPr>
          <a:xfrm>
            <a:off x="56692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summarise the material</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595360" y="3741725"/>
            <a:ext cx="304495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تُرَاجِعُ الدُّرُوسَ</a:t>
            </a:r>
            <a:endParaRPr lang="ar-SA" sz="2000" dirty="0"/>
          </a:p>
        </p:txBody>
      </p:sp>
      <p:sp>
        <p:nvSpPr>
          <p:cNvPr id="36" name="Text 33"/>
          <p:cNvSpPr txBox="1"/>
          <p:nvPr/>
        </p:nvSpPr>
        <p:spPr>
          <a:xfrm>
            <a:off x="5577840" y="3741725"/>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يُرَاجِعُ الدُّرُوسَ</a:t>
            </a:r>
            <a:endParaRPr lang="ar-SA" sz="2000" dirty="0"/>
          </a:p>
        </p:txBody>
      </p:sp>
      <p:sp>
        <p:nvSpPr>
          <p:cNvPr id="37" name="Text 34"/>
          <p:cNvSpPr txBox="1"/>
          <p:nvPr/>
        </p:nvSpPr>
        <p:spPr>
          <a:xfrm>
            <a:off x="2560320" y="3741725"/>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أُرَاجِعُ الدُّرُوسَ</a:t>
            </a:r>
            <a:endParaRPr lang="ar-SA" sz="2000" dirty="0"/>
          </a:p>
        </p:txBody>
      </p:sp>
      <p:sp>
        <p:nvSpPr>
          <p:cNvPr id="38" name="Text 35"/>
          <p:cNvSpPr txBox="1"/>
          <p:nvPr/>
        </p:nvSpPr>
        <p:spPr>
          <a:xfrm>
            <a:off x="56692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revise the lessons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595360" y="4478731"/>
            <a:ext cx="304495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تَحْتَفِظُ </a:t>
            </a:r>
            <a:pPr rtl="1" algn="ctr" indent="0" marL="0">
              <a:buNone/>
            </a:pPr>
            <a:r>
              <a:rPr lang="ar-SA" altLang="en-US" sz="2000" b="1" dirty="0">
                <a:solidFill>
                  <a:srgbClr val="0E7C86"/>
                </a:solidFill>
                <a:latin typeface="Amiri" pitchFamily="2" charset="-78"/>
                <a:ea typeface="Amiri" pitchFamily="2" charset="-78"/>
                <a:cs typeface="Amiri" pitchFamily="2" charset="-78"/>
              </a:rPr>
              <a:t>بِالمَعْلُومَاتِ</a:t>
            </a:r>
            <a:endParaRPr lang="ar-SA" sz="2000" dirty="0"/>
          </a:p>
        </p:txBody>
      </p:sp>
      <p:sp>
        <p:nvSpPr>
          <p:cNvPr id="41" name="Text 38"/>
          <p:cNvSpPr txBox="1"/>
          <p:nvPr/>
        </p:nvSpPr>
        <p:spPr>
          <a:xfrm>
            <a:off x="5577840" y="4478731"/>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يَحْتَفِظُ </a:t>
            </a:r>
            <a:pPr rtl="1" algn="ctr" indent="0" marL="0">
              <a:buNone/>
            </a:pPr>
            <a:r>
              <a:rPr lang="ar-SA" altLang="en-US" sz="2000" b="1" dirty="0">
                <a:solidFill>
                  <a:srgbClr val="0E7C86"/>
                </a:solidFill>
                <a:latin typeface="Amiri" pitchFamily="2" charset="-78"/>
                <a:ea typeface="Amiri" pitchFamily="2" charset="-78"/>
                <a:cs typeface="Amiri" pitchFamily="2" charset="-78"/>
              </a:rPr>
              <a:t>بِالمَعْلُومَاتِ</a:t>
            </a:r>
            <a:endParaRPr lang="ar-SA" sz="2000" dirty="0"/>
          </a:p>
        </p:txBody>
      </p:sp>
      <p:sp>
        <p:nvSpPr>
          <p:cNvPr id="42" name="Text 39"/>
          <p:cNvSpPr txBox="1"/>
          <p:nvPr/>
        </p:nvSpPr>
        <p:spPr>
          <a:xfrm>
            <a:off x="2560320" y="4478731"/>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أَحْتَفِظُ </a:t>
            </a:r>
            <a:pPr rtl="1" algn="ctr" indent="0" marL="0">
              <a:buNone/>
            </a:pPr>
            <a:r>
              <a:rPr lang="ar-SA" altLang="en-US" sz="2000" b="1" dirty="0">
                <a:solidFill>
                  <a:srgbClr val="0E7C86"/>
                </a:solidFill>
                <a:latin typeface="Amiri" pitchFamily="2" charset="-78"/>
                <a:ea typeface="Amiri" pitchFamily="2" charset="-78"/>
                <a:cs typeface="Amiri" pitchFamily="2" charset="-78"/>
              </a:rPr>
              <a:t>بِالمَعْلُومَاتِ</a:t>
            </a:r>
            <a:endParaRPr lang="ar-SA" sz="2000" dirty="0"/>
          </a:p>
        </p:txBody>
      </p:sp>
      <p:sp>
        <p:nvSpPr>
          <p:cNvPr id="43" name="Text 40"/>
          <p:cNvSpPr txBox="1"/>
          <p:nvPr/>
        </p:nvSpPr>
        <p:spPr>
          <a:xfrm>
            <a:off x="56692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retain the information</a:t>
            </a:r>
            <a:endParaRPr lang="en-US" sz="11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595360" y="5215738"/>
            <a:ext cx="304495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تُقَيِّمُ </a:t>
            </a:r>
            <a:pPr rtl="1" algn="ctr" indent="0" marL="0">
              <a:buNone/>
            </a:pPr>
            <a:r>
              <a:rPr lang="ar-SA" altLang="en-US" sz="2000" b="1" dirty="0">
                <a:solidFill>
                  <a:srgbClr val="1D5FBF"/>
                </a:solidFill>
                <a:latin typeface="Amiri" pitchFamily="2" charset="-78"/>
                <a:ea typeface="Amiri" pitchFamily="2" charset="-78"/>
                <a:cs typeface="Amiri" pitchFamily="2" charset="-78"/>
              </a:rPr>
              <a:t>عَمَلَهَا</a:t>
            </a:r>
            <a:endParaRPr lang="ar-SA" sz="2000" dirty="0"/>
          </a:p>
        </p:txBody>
      </p:sp>
      <p:sp>
        <p:nvSpPr>
          <p:cNvPr id="48" name="Text 45"/>
          <p:cNvSpPr txBox="1"/>
          <p:nvPr/>
        </p:nvSpPr>
        <p:spPr>
          <a:xfrm>
            <a:off x="5577840" y="521573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يُقَيِّمُ </a:t>
            </a:r>
            <a:pPr rtl="1" algn="ctr" indent="0" marL="0">
              <a:buNone/>
            </a:pPr>
            <a:r>
              <a:rPr lang="ar-SA" altLang="en-US" sz="2000" b="1" dirty="0">
                <a:solidFill>
                  <a:srgbClr val="1D5FBF"/>
                </a:solidFill>
                <a:latin typeface="Amiri" pitchFamily="2" charset="-78"/>
                <a:ea typeface="Amiri" pitchFamily="2" charset="-78"/>
                <a:cs typeface="Amiri" pitchFamily="2" charset="-78"/>
              </a:rPr>
              <a:t>عَمَلَهُ</a:t>
            </a:r>
            <a:endParaRPr lang="ar-SA" sz="2000" dirty="0"/>
          </a:p>
        </p:txBody>
      </p:sp>
      <p:sp>
        <p:nvSpPr>
          <p:cNvPr id="49" name="Text 46"/>
          <p:cNvSpPr txBox="1"/>
          <p:nvPr/>
        </p:nvSpPr>
        <p:spPr>
          <a:xfrm>
            <a:off x="2560320" y="521573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أُقَيِّمُ </a:t>
            </a:r>
            <a:pPr rtl="1" algn="ctr" indent="0" marL="0">
              <a:buNone/>
            </a:pPr>
            <a:r>
              <a:rPr lang="ar-SA" altLang="en-US" sz="2000" b="1" dirty="0">
                <a:solidFill>
                  <a:srgbClr val="1D5FBF"/>
                </a:solidFill>
                <a:latin typeface="Amiri" pitchFamily="2" charset="-78"/>
                <a:ea typeface="Amiri" pitchFamily="2" charset="-78"/>
                <a:cs typeface="Amiri" pitchFamily="2" charset="-78"/>
              </a:rPr>
              <a:t>عَمَلِي</a:t>
            </a:r>
            <a:endParaRPr lang="ar-SA" sz="2000" dirty="0"/>
          </a:p>
        </p:txBody>
      </p:sp>
      <p:sp>
        <p:nvSpPr>
          <p:cNvPr id="50" name="Text 47"/>
          <p:cNvSpPr txBox="1"/>
          <p:nvPr/>
        </p:nvSpPr>
        <p:spPr>
          <a:xfrm>
            <a:off x="56692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evaluate my / his / her work</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things change with the person: the verb prefix (u- · yu- · tu-) and the possessive (-ī · -hu · -hā).</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HABIT → OUTCOME (WEBSITE RULE 3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If you do this, you will remember that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 سَـ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78308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HABIT → OUTCOME · CORE</a:t>
            </a:r>
            <a:endParaRPr lang="en-US" sz="850" dirty="0"/>
          </a:p>
        </p:txBody>
      </p:sp>
      <p:sp>
        <p:nvSpPr>
          <p:cNvPr id="18" name="Text 15"/>
          <p:cNvSpPr txBox="1"/>
          <p:nvPr/>
        </p:nvSpPr>
        <p:spPr>
          <a:xfrm>
            <a:off x="10061448"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رَاجَعْتَ</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رَاجَعْتَ يَوْمِيًّا، سَتَتَحَسَّنُ ذَاكِرَتُكَ.</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revise daily, your memory will improve.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Past → sa-.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8882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HABIT → OUTCOME · DEVELOP</a:t>
            </a:r>
            <a:endParaRPr lang="en-US" sz="850" dirty="0"/>
          </a:p>
        </p:txBody>
      </p:sp>
      <p:sp>
        <p:nvSpPr>
          <p:cNvPr id="26" name="Text 23"/>
          <p:cNvSpPr txBox="1"/>
          <p:nvPr/>
        </p:nvSpPr>
        <p:spPr>
          <a:xfrm>
            <a:off x="6448044"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لَخَّصْتَ</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لَخَّصْتَ المَادَّةَ بِكَلِمَاتِكَ، سَتَحْتَفِظُ بِهَا أَطْوَلَ.</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summarise in your own words, you will retain it longer.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bi-hā!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بَيْنَمَا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بَيْنَمَا يُؤَدِّي الحِفْظُ إِلَى النِّسْيَانِ، يُؤَدِّي الفَهْمُ إِلَى الاحْتِفَاظِ.</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While memorising leads to forgetting, understanding leads to retention.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methods.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the verb after idhā is past in form.</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إِذَا رَاجَعْتَ يَوْمِيًّا، سَتَنْجَحُ</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إِذَا تُرَاجِعُ يَوْمِيًّا، سَتَنْجَحُ</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RECOMMENDING WITH AN + SUBJUNCTIVE (WEBSITE LISTENING AND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Research recommends that the student …</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 + المُضَارِعُ المَنْصُوبُ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the website model</a:t>
            </a:r>
            <a:endParaRPr lang="en-US" sz="1100" dirty="0"/>
          </a:p>
        </p:txBody>
      </p:sp>
      <p:sp>
        <p:nvSpPr>
          <p:cNvPr id="17" name="Text 14"/>
          <p:cNvSpPr txBox="1"/>
          <p:nvPr/>
        </p:nvSpPr>
        <p:spPr>
          <a:xfrm>
            <a:off x="290779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an (-a)</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486400" y="2267712"/>
            <a:ext cx="615391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تُوصِي الأَبْحَاثُ بِأَنْ </a:t>
            </a:r>
            <a:pPr rtl="1" algn="ctr" indent="0" marL="0">
              <a:buNone/>
            </a:pPr>
            <a:r>
              <a:rPr lang="ar-SA" altLang="en-US" sz="1900" b="1" dirty="0">
                <a:solidFill>
                  <a:srgbClr val="D6336C"/>
                </a:solidFill>
                <a:latin typeface="Amiri" pitchFamily="2" charset="-78"/>
                <a:ea typeface="Amiri" pitchFamily="2" charset="-78"/>
                <a:cs typeface="Amiri" pitchFamily="2" charset="-78"/>
              </a:rPr>
              <a:t>يُنَظِّمَ</a:t>
            </a:r>
            <a:pPr rtl="1" algn="ctr" indent="0" marL="0">
              <a:buNone/>
            </a:pPr>
            <a:r>
              <a:rPr lang="ar-SA" altLang="en-US" sz="1900" b="1" dirty="0">
                <a:solidFill>
                  <a:srgbClr val="1B3B6F"/>
                </a:solidFill>
                <a:latin typeface="Amiri" pitchFamily="2" charset="-78"/>
                <a:ea typeface="Amiri" pitchFamily="2" charset="-78"/>
                <a:cs typeface="Amiri" pitchFamily="2" charset="-78"/>
              </a:rPr>
              <a:t> الطَّالِبُ وَقْتَهُ …</a:t>
            </a:r>
            <a:endParaRPr lang="ar-SA" sz="1900" dirty="0"/>
          </a:p>
        </p:txBody>
      </p:sp>
      <p:sp>
        <p:nvSpPr>
          <p:cNvPr id="21" name="Text 18"/>
          <p:cNvSpPr txBox="1"/>
          <p:nvPr/>
        </p:nvSpPr>
        <p:spPr>
          <a:xfrm>
            <a:off x="2926080" y="2267712"/>
            <a:ext cx="237744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يُنَظِّمَ</a:t>
            </a:r>
            <a:endParaRPr lang="ar-SA" sz="2200" dirty="0"/>
          </a:p>
        </p:txBody>
      </p:sp>
      <p:sp>
        <p:nvSpPr>
          <p:cNvPr id="22" name="Text 19"/>
          <p:cNvSpPr txBox="1"/>
          <p:nvPr/>
        </p:nvSpPr>
        <p:spPr>
          <a:xfrm>
            <a:off x="548640" y="2267712"/>
            <a:ext cx="21945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يُنَظِّمُ</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486400" y="3054096"/>
            <a:ext cx="615391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 </a:t>
            </a:r>
            <a:pPr rtl="1" algn="ctr" indent="0" marL="0">
              <a:buNone/>
            </a:pPr>
            <a:r>
              <a:rPr lang="ar-SA" altLang="en-US" sz="1900" b="1" dirty="0">
                <a:solidFill>
                  <a:srgbClr val="D6336C"/>
                </a:solidFill>
                <a:latin typeface="Amiri" pitchFamily="2" charset="-78"/>
                <a:ea typeface="Amiri" pitchFamily="2" charset="-78"/>
                <a:cs typeface="Amiri" pitchFamily="2" charset="-78"/>
              </a:rPr>
              <a:t>وَيُلَخِّصَ</a:t>
            </a:r>
            <a:pPr rtl="1" algn="ctr" indent="0" marL="0">
              <a:buNone/>
            </a:pPr>
            <a:r>
              <a:rPr lang="ar-SA" altLang="en-US" sz="1900" b="1" dirty="0">
                <a:solidFill>
                  <a:srgbClr val="1B3B6F"/>
                </a:solidFill>
                <a:latin typeface="Amiri" pitchFamily="2" charset="-78"/>
                <a:ea typeface="Amiri" pitchFamily="2" charset="-78"/>
                <a:cs typeface="Amiri" pitchFamily="2" charset="-78"/>
              </a:rPr>
              <a:t> المَادَّةَ …</a:t>
            </a:r>
            <a:endParaRPr lang="ar-SA" sz="1900" dirty="0"/>
          </a:p>
        </p:txBody>
      </p:sp>
      <p:sp>
        <p:nvSpPr>
          <p:cNvPr id="27" name="Text 24"/>
          <p:cNvSpPr txBox="1"/>
          <p:nvPr/>
        </p:nvSpPr>
        <p:spPr>
          <a:xfrm>
            <a:off x="2926080" y="3054096"/>
            <a:ext cx="237744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يُلَخِّصَ</a:t>
            </a:r>
            <a:endParaRPr lang="ar-SA" sz="2200" dirty="0"/>
          </a:p>
        </p:txBody>
      </p:sp>
      <p:sp>
        <p:nvSpPr>
          <p:cNvPr id="28" name="Text 25"/>
          <p:cNvSpPr txBox="1"/>
          <p:nvPr/>
        </p:nvSpPr>
        <p:spPr>
          <a:xfrm>
            <a:off x="548640" y="3054096"/>
            <a:ext cx="21945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يُلَخِّصُ</a:t>
            </a:r>
            <a:endParaRPr lang="ar-SA" sz="22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486400" y="3840480"/>
            <a:ext cx="615391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 </a:t>
            </a:r>
            <a:pPr rtl="1" algn="ctr" indent="0" marL="0">
              <a:buNone/>
            </a:pPr>
            <a:r>
              <a:rPr lang="ar-SA" altLang="en-US" sz="1900" b="1" dirty="0">
                <a:solidFill>
                  <a:srgbClr val="D6336C"/>
                </a:solidFill>
                <a:latin typeface="Amiri" pitchFamily="2" charset="-78"/>
                <a:ea typeface="Amiri" pitchFamily="2" charset="-78"/>
                <a:cs typeface="Amiri" pitchFamily="2" charset="-78"/>
              </a:rPr>
              <a:t>وَيُطَبِّقَ</a:t>
            </a:r>
            <a:pPr rtl="1" algn="ctr" indent="0" marL="0">
              <a:buNone/>
            </a:pPr>
            <a:r>
              <a:rPr lang="ar-SA" altLang="en-US" sz="1900" b="1" dirty="0">
                <a:solidFill>
                  <a:srgbClr val="1B3B6F"/>
                </a:solidFill>
                <a:latin typeface="Amiri" pitchFamily="2" charset="-78"/>
                <a:ea typeface="Amiri" pitchFamily="2" charset="-78"/>
                <a:cs typeface="Amiri" pitchFamily="2" charset="-78"/>
              </a:rPr>
              <a:t> مَا تَعَلَّمَهُ.</a:t>
            </a:r>
            <a:endParaRPr lang="ar-SA" sz="1900" dirty="0"/>
          </a:p>
        </p:txBody>
      </p:sp>
      <p:sp>
        <p:nvSpPr>
          <p:cNvPr id="33" name="Text 30"/>
          <p:cNvSpPr txBox="1"/>
          <p:nvPr/>
        </p:nvSpPr>
        <p:spPr>
          <a:xfrm>
            <a:off x="2926080" y="3840480"/>
            <a:ext cx="237744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يُطَبِّقَ</a:t>
            </a:r>
            <a:endParaRPr lang="ar-SA" sz="2200" dirty="0"/>
          </a:p>
        </p:txBody>
      </p:sp>
      <p:sp>
        <p:nvSpPr>
          <p:cNvPr id="34" name="Text 31"/>
          <p:cNvSpPr txBox="1"/>
          <p:nvPr/>
        </p:nvSpPr>
        <p:spPr>
          <a:xfrm>
            <a:off x="548640" y="3840480"/>
            <a:ext cx="21945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يُطَبِّقُ</a:t>
            </a:r>
            <a:endParaRPr lang="ar-SA" sz="22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5486400" y="4626864"/>
            <a:ext cx="615391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أَنْ </a:t>
            </a:r>
            <a:pPr rtl="1" algn="ctr" indent="0" marL="0">
              <a:buNone/>
            </a:pPr>
            <a:r>
              <a:rPr lang="ar-SA" altLang="en-US" sz="1900" b="1" dirty="0">
                <a:solidFill>
                  <a:srgbClr val="D6336C"/>
                </a:solidFill>
                <a:latin typeface="Amiri" pitchFamily="2" charset="-78"/>
                <a:ea typeface="Amiri" pitchFamily="2" charset="-78"/>
                <a:cs typeface="Amiri" pitchFamily="2" charset="-78"/>
              </a:rPr>
              <a:t>يُحَلِّلَ</a:t>
            </a:r>
            <a:pPr rtl="1" algn="ctr" indent="0" marL="0">
              <a:buNone/>
            </a:pPr>
            <a:r>
              <a:rPr lang="ar-SA" altLang="en-US" sz="1900" b="1" dirty="0">
                <a:solidFill>
                  <a:srgbClr val="1B3B6F"/>
                </a:solidFill>
                <a:latin typeface="Amiri" pitchFamily="2" charset="-78"/>
                <a:cs typeface="Amiri" pitchFamily="2" charset="-78"/>
              </a:rPr>
              <a:t> </a:t>
            </a:r>
            <a:pPr rtl="1" algn="ctr" indent="0" marL="0">
              <a:buNone/>
            </a:pPr>
            <a:r>
              <a:rPr lang="ar-SA" altLang="en-US" sz="1900" b="1" dirty="0">
                <a:solidFill>
                  <a:srgbClr val="D6336C"/>
                </a:solidFill>
                <a:latin typeface="Amiri" pitchFamily="2" charset="-78"/>
                <a:ea typeface="Amiri" pitchFamily="2" charset="-78"/>
                <a:cs typeface="Amiri" pitchFamily="2" charset="-78"/>
              </a:rPr>
              <a:t>وَيُقَيِّمَ</a:t>
            </a:r>
            <a:pPr rtl="1" algn="ctr" indent="0" marL="0">
              <a:buNone/>
            </a:pPr>
            <a:r>
              <a:rPr lang="ar-SA" altLang="en-US" sz="1900" b="1" dirty="0">
                <a:solidFill>
                  <a:srgbClr val="1B3B6F"/>
                </a:solidFill>
                <a:latin typeface="Amiri" pitchFamily="2" charset="-78"/>
                <a:cs typeface="Amiri" pitchFamily="2" charset="-78"/>
              </a:rPr>
              <a:t> </a:t>
            </a:r>
            <a:pPr rtl="1" algn="ctr" indent="0" marL="0">
              <a:buNone/>
            </a:pPr>
            <a:r>
              <a:rPr lang="ar-SA" altLang="en-US" sz="1900" b="1" dirty="0">
                <a:solidFill>
                  <a:srgbClr val="D6336C"/>
                </a:solidFill>
                <a:latin typeface="Amiri" pitchFamily="2" charset="-78"/>
                <a:ea typeface="Amiri" pitchFamily="2" charset="-78"/>
                <a:cs typeface="Amiri" pitchFamily="2" charset="-78"/>
              </a:rPr>
              <a:t>وَيُبْدِعَ</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37" name="Text 34"/>
          <p:cNvSpPr txBox="1"/>
          <p:nvPr/>
        </p:nvSpPr>
        <p:spPr>
          <a:xfrm>
            <a:off x="2926080" y="4626864"/>
            <a:ext cx="237744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يُحَلِّلَ · يُقَيِّمَ</a:t>
            </a:r>
            <a:endParaRPr lang="ar-SA" sz="2200" dirty="0"/>
          </a:p>
        </p:txBody>
      </p:sp>
      <p:sp>
        <p:nvSpPr>
          <p:cNvPr id="38" name="Text 35"/>
          <p:cNvSpPr txBox="1"/>
          <p:nvPr/>
        </p:nvSpPr>
        <p:spPr>
          <a:xfrm>
            <a:off x="548640" y="4626864"/>
            <a:ext cx="21945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يُحَلِّلُ · يُقَيِّمُ</a:t>
            </a:r>
            <a:endParaRPr lang="ar-SA" sz="22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an governs the whole chain: every verb joined by wa- also takes -a.</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Study verbs and study-outcome conditionals</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الدِّرَاسَةِ وَشَرْطُ النَّتِيجَةِ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 II / IV study verbs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yuṭabbiq / yuḥallil / yuqayyim + object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يُحَلِّلُ الطَّالِبُ النَّصَّ   ·   يُقَيِّمُ كِتَابَتَهُ بَعْدَ الانْتِهَاءِ</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Cognitive order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yatadhakkar → … → yubdiʿ</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يَتَذَكَّرُ المُفْرَدَاتِ ثُمَّ يُطَبِّقُهَا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Study-outcome conditional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 sa- + present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رَاجَعْتَ يَوْمِيًّا، سَتَتَحَسَّنُ ذَاكِرَتُكَ</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Retaining information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yaḥtafiẓ bi-</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يَحْتَفِظُ بِالمَعْلُومَاتِ مُدَّةً أَطْوَلَ</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يُحَلِّلُ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يُحَلِّلُ الطَّالِبُ فِي النَّصِّ.</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يُحَلِّلُ الطَّالِبُ بِالنَّصِّ.</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يُحَلِّلُ الطَّالِبُ النَّصَّ.</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highest Bloom's level?</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يُبْدِعُ</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يَتَذَكَّرُ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يَفْهَمُ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order:</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يُطَبِّقُ → يُحَلِّلُ → ___.</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يَتَذَكَّرُ</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يُقَيِّمُ</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يَفْهَمُ</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يَحْتَفِظُ الطَّالِبُ ___ المَعْلُومَاتِ.</a:t>
            </a:r>
            <a:endParaRPr lang="ar-SA" sz="15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يُحَلِّلُ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يُحَلِّلُ الطَّالِبُ فِي النَّصِّ.</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يُحَلِّلُ الطَّالِبُ بِالنَّصِّ.</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يُحَلِّلُ الطَّالِبُ النَّصَّ.</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يُحَلِّلُ</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highest Bloom's level?</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يُبْدِعُ</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يَتَذَكَّرُ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يَفْهَمُ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يُبْدِعُ</a:t>
            </a:r>
            <a:pPr algn="l" indent="0" marL="0">
              <a:buNone/>
            </a:pPr>
            <a:r>
              <a:rPr lang="en-US" sz="1050" i="1" dirty="0">
                <a:solidFill>
                  <a:srgbClr val="8A6D1E"/>
                </a:solidFill>
                <a:latin typeface="Calibri" pitchFamily="34" charset="0"/>
                <a:cs typeface="Amiri" pitchFamily="2" charset="-78"/>
              </a:rPr>
              <a:t> (creating) is the top level.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order:</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يُطَبِّقُ → يُحَلِّلُ → ___.</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يَتَذَكَّرُ</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يُقَيِّمُ</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يَفْهَمُ</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Evaluating comes after analysing.</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يَحْتَفِظُ الطَّالِبُ ___ المَعْلُومَاتِ.</a:t>
            </a:r>
            <a:endParaRPr lang="ar-SA" sz="15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يَحْتَفِظُ</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write a study guide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Hook</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هَلْ تَعْلَمُ أَنَّ … يَتَفَوَّقُونَ؟</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P1-L07.</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Recommend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تُوصِي الأَبْحَاثُ بِأَنْ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يُنَظِّمَ</a:t>
            </a:r>
            <a:pPr rtl="1" algn="ctr" indent="0" marL="0">
              <a:lnSpc>
                <a:spcPct val="120000"/>
              </a:lnSpc>
              <a:buNone/>
            </a:pPr>
            <a:r>
              <a:rPr lang="ar-SA" altLang="en-US" sz="1750" b="1" dirty="0">
                <a:solidFill>
                  <a:srgbClr val="1B3B6F"/>
                </a:solidFill>
                <a:latin typeface="Amiri" pitchFamily="2" charset="-78"/>
                <a:cs typeface="Amiri" pitchFamily="2" charset="-78"/>
              </a:rPr>
              <a:t> …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وَيُلَخِّصَ</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Outcome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0E7C86"/>
                </a:solidFill>
                <a:latin typeface="Amiri" pitchFamily="2" charset="-78"/>
                <a:ea typeface="Amiri" pitchFamily="2" charset="-78"/>
                <a:cs typeface="Amiri" pitchFamily="2" charset="-78"/>
              </a:rPr>
              <a:t>إِذَا لَخَّصْتَ</a:t>
            </a:r>
            <a:pPr rtl="1" algn="ctr" indent="0" marL="0">
              <a:buNone/>
            </a:pPr>
            <a:r>
              <a:rPr lang="ar-SA" altLang="en-US" sz="2300" b="1" dirty="0">
                <a:solidFill>
                  <a:srgbClr val="1B3B6F"/>
                </a:solidFill>
                <a:latin typeface="Amiri" pitchFamily="2" charset="-78"/>
                <a:cs typeface="Amiri" pitchFamily="2" charset="-78"/>
              </a:rPr>
              <a:t> … </a:t>
            </a:r>
            <a:pPr rtl="1" algn="ctr" indent="0" marL="0">
              <a:buNone/>
            </a:pPr>
            <a:r>
              <a:rPr lang="ar-SA" altLang="en-US" sz="2300" b="1" dirty="0">
                <a:solidFill>
                  <a:srgbClr val="0E7C86"/>
                </a:solidFill>
                <a:latin typeface="Amiri" pitchFamily="2" charset="-78"/>
                <a:ea typeface="Amiri" pitchFamily="2" charset="-78"/>
                <a:cs typeface="Amiri" pitchFamily="2" charset="-78"/>
              </a:rPr>
              <a:t>سَتَحْتَفِظُ</a:t>
            </a:r>
            <a:pPr rtl="1" algn="ctr" indent="0" marL="0">
              <a:buNone/>
            </a:pPr>
            <a:r>
              <a:rPr lang="ar-SA" altLang="en-US" sz="2300" b="1" dirty="0">
                <a:solidFill>
                  <a:srgbClr val="1B3B6F"/>
                </a:solidFill>
                <a:latin typeface="Amiri" pitchFamily="2" charset="-78"/>
                <a:ea typeface="Amiri" pitchFamily="2" charset="-78"/>
                <a:cs typeface="Amiri" pitchFamily="2" charset="-78"/>
              </a:rPr>
              <a:t> بِهَا</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Habit → result.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2" charset="-78"/>
                <a:ea typeface="Amiri" pitchFamily="2" charset="-78"/>
                <a:cs typeface="Amiri" pitchFamily="2" charset="-78"/>
              </a:rPr>
              <a:t>بَيْنَمَا</a:t>
            </a:r>
            <a:pPr rtl="1" algn="ctr" indent="0" marL="0">
              <a:buNone/>
            </a:pPr>
            <a:r>
              <a:rPr lang="ar-SA" altLang="en-US" sz="2700" b="1" dirty="0">
                <a:solidFill>
                  <a:srgbClr val="1B3B6F"/>
                </a:solidFill>
                <a:latin typeface="Amiri" pitchFamily="2" charset="-78"/>
                <a:ea typeface="Amiri" pitchFamily="2" charset="-78"/>
                <a:cs typeface="Amiri" pitchFamily="2" charset="-78"/>
              </a:rPr>
              <a:t> يُؤَدِّي الحِفْظُ …</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methods.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AN + SUBJUNCTIVE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CONDITIONAL</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هَلْ تَعْلَمُ أَنَّ الطُّلَّابَ الَّذِينَ يَسْتَعْمِلُونَ المُرَاجَعَةَ المُتَبَاعِدَةَ يَتَفَوَّقُونَ عَلَى أَقْرَانِهِمْ؟ تُوصِي الأَبْحَاثُ بِأَنْ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يُنَظِّمَ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الطَّالِبُ وَقْتَهُ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وَيُلَخِّصَ</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المَادَّةَ.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وَإِذَا لَخَّصْتَ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المَادَّةَ بِكَلِمَاتِكَ،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سَتَحْتَفِظُ</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بِهَا أَطْوَلَ.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بَيْنَمَا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يُؤَدِّي الحِفْظُ عَنْ ظَهْرِ قَلْبٍ إِلَى نِسْيَانٍ سَرِيعٍ، يُؤَدِّي الفَهْمُ العَمِيقُ إِلَى احْتِفَاظٍ طَوِيلٍ.</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Did you know that students who use spaced repetition outperform their peers? Research recommends that the student organise his time and summarise the material. If you summarise the material in your own words, you will retain it longer. While rote memorisation leads to quick forgetting, deep understanding leads to long retention.</a:t>
            </a:r>
            <a:endParaRPr lang="en-US" sz="105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يُحَلِّلُ الطَّالِبُ النَّصَّ ثُمَّ يُقَيِّمُ فَهْمَهُ</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student analyses the text, then evaluates his understanding</a:t>
            </a:r>
            <a:endParaRPr lang="en-US" sz="1250" dirty="0"/>
          </a:p>
          <a:p>
            <a:pPr indent="0" marL="0">
              <a:buNone/>
            </a:pPr>
            <a:r>
              <a:rPr lang="en-US" sz="1050" i="1" dirty="0">
                <a:solidFill>
                  <a:srgbClr val="8A6D1E"/>
                </a:solidFill>
                <a:latin typeface="Calibri" pitchFamily="34" charset="0"/>
                <a:cs typeface="Amiri" pitchFamily="2" charset="-78"/>
              </a:rPr>
              <a:t>Form II verbs with direct objects.</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رَاجَعْتَ المَادَّةَ أُسْبُوعِيًّا، سَتَحْتَفِظُ بِالمَعْلُومَاتِ أَفْضَلَ</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revise the material weekly, you will retain the information better</a:t>
            </a:r>
            <a:endParaRPr lang="en-US" sz="1250" dirty="0"/>
          </a:p>
          <a:p>
            <a:pPr indent="0" marL="0">
              <a:buNone/>
            </a:pPr>
            <a:r>
              <a:rPr lang="en-US" sz="1050" i="1" dirty="0">
                <a:solidFill>
                  <a:srgbClr val="8A6D1E"/>
                </a:solidFill>
                <a:latin typeface="Calibri" pitchFamily="34" charset="0"/>
                <a:cs typeface="Amiri" pitchFamily="2" charset="-78"/>
              </a:rPr>
              <a:t>Habit linked to outcome; yaḥtafiẓ bi-.</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بَيْنَمَا يُؤَدِّي الحِفْظُ إِلَى نِسْيَانٍ سَرِيعٍ، يُؤَدِّي الفَهْمُ إِلَى احْتِفَاظٍ طَوِيلٍ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while memorising leads to quick forgetting, understanding leads to long retention</a:t>
            </a:r>
            <a:endParaRPr lang="en-US" sz="1250" dirty="0"/>
          </a:p>
          <a:p>
            <a:pPr indent="0" marL="0">
              <a:buNone/>
            </a:pPr>
            <a:r>
              <a:rPr lang="en-US" sz="1050" i="1" dirty="0">
                <a:solidFill>
                  <a:srgbClr val="8A6D1E"/>
                </a:solidFill>
                <a:latin typeface="Calibri" pitchFamily="34" charset="0"/>
                <a:cs typeface="Amiri" pitchFamily="2" charset="-78"/>
              </a:rPr>
              <a:t>A formal contrast of two methods.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STUDY SKILLS AND ACADEMIC SUCCESS”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Which strategy? Match the picture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اِسْتِرَاتِيجِيَّاتُ الدِّرَاسَةِ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study timetable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39826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4581144" y="2249424"/>
            <a:ext cx="649224" cy="649224"/>
          </a:xfrm>
          <a:prstGeom prst="rect">
            <a:avLst/>
          </a:prstGeom>
        </p:spPr>
      </p:pic>
      <p:sp>
        <p:nvSpPr>
          <p:cNvPr id="28" name="Shape 22"/>
          <p:cNvSpPr/>
          <p:nvPr/>
        </p:nvSpPr>
        <p:spPr>
          <a:xfrm>
            <a:off x="558698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5769864" y="2249424"/>
            <a:ext cx="649224" cy="649224"/>
          </a:xfrm>
          <a:prstGeom prst="rect">
            <a:avLst/>
          </a:prstGeom>
        </p:spPr>
      </p:pic>
      <p:sp>
        <p:nvSpPr>
          <p:cNvPr id="30" name="Shape 23"/>
          <p:cNvSpPr/>
          <p:nvPr/>
        </p:nvSpPr>
        <p:spPr>
          <a:xfrm>
            <a:off x="6775704" y="2066544"/>
            <a:ext cx="1014984" cy="1014984"/>
          </a:xfrm>
          <a:prstGeom prst="ellipse">
            <a:avLst/>
          </a:prstGeom>
          <a:solidFill>
            <a:srgbClr val="F4F1EA"/>
          </a:solidFill>
          <a:ln w="12700">
            <a:solidFill>
              <a:srgbClr val="F4F1EA"/>
            </a:solidFill>
            <a:prstDash val="solid"/>
          </a:ln>
        </p:spPr>
      </p:sp>
      <p:pic>
        <p:nvPicPr>
          <p:cNvPr id="31" name="Image 4" descr="preencoded.png">    </p:cNvPr>
          <p:cNvPicPr>
            <a:picLocks noChangeAspect="1"/>
          </p:cNvPicPr>
          <p:nvPr/>
        </p:nvPicPr>
        <p:blipFill>
          <a:blip r:embed="rId5"/>
          <a:stretch>
            <a:fillRect/>
          </a:stretch>
        </p:blipFill>
        <p:spPr>
          <a:xfrm>
            <a:off x="6958584" y="2249424"/>
            <a:ext cx="649224" cy="649224"/>
          </a:xfrm>
          <a:prstGeom prst="rect">
            <a:avLst/>
          </a:prstGeom>
        </p:spPr>
      </p:pic>
      <p:sp>
        <p:nvSpPr>
          <p:cNvPr id="32"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short sessions with breaks</a:t>
            </a:r>
            <a:endParaRPr lang="en-US" sz="1100" dirty="0"/>
          </a:p>
        </p:txBody>
      </p:sp>
      <p:sp>
        <p:nvSpPr>
          <p:cNvPr id="33"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8"/>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38"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self-testing</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فِي فَتَرَاتٍ قَصِيرَةٍ مَعَ رَاحَةٍ.</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أَكْتُبُ أَسْئِلَةً لِأَخْتَبِرَ نَفْسِي.</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أُنَظِّمُ وَقْتِي بِجَدْوَلٍ دِرَاسِيٍّ.</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اِسْتِرَاتِيجِيَّاتُ الدِّرَاسَةِ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study timetable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أُنَظِّمُ وَقْتِي بِجَدْوَلٍ دِرَاسِيٍّ.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organise my time with a study timetable.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39826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4581144" y="2249424"/>
            <a:ext cx="649224" cy="649224"/>
          </a:xfrm>
          <a:prstGeom prst="rect">
            <a:avLst/>
          </a:prstGeom>
        </p:spPr>
      </p:pic>
      <p:sp>
        <p:nvSpPr>
          <p:cNvPr id="33" name="Shape 27"/>
          <p:cNvSpPr/>
          <p:nvPr/>
        </p:nvSpPr>
        <p:spPr>
          <a:xfrm>
            <a:off x="558698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5769864" y="2249424"/>
            <a:ext cx="649224" cy="649224"/>
          </a:xfrm>
          <a:prstGeom prst="rect">
            <a:avLst/>
          </a:prstGeom>
        </p:spPr>
      </p:pic>
      <p:sp>
        <p:nvSpPr>
          <p:cNvPr id="35" name="Shape 28"/>
          <p:cNvSpPr/>
          <p:nvPr/>
        </p:nvSpPr>
        <p:spPr>
          <a:xfrm>
            <a:off x="6775704" y="2066544"/>
            <a:ext cx="1014984" cy="1014984"/>
          </a:xfrm>
          <a:prstGeom prst="ellipse">
            <a:avLst/>
          </a:prstGeom>
          <a:solidFill>
            <a:srgbClr val="F4F1EA"/>
          </a:solidFill>
          <a:ln w="12700">
            <a:solidFill>
              <a:srgbClr val="F4F1EA"/>
            </a:solidFill>
            <a:prstDash val="solid"/>
          </a:ln>
        </p:spPr>
      </p:sp>
      <p:pic>
        <p:nvPicPr>
          <p:cNvPr id="36" name="Image 4" descr="preencoded.png">    </p:cNvPr>
          <p:cNvPicPr>
            <a:picLocks noChangeAspect="1"/>
          </p:cNvPicPr>
          <p:nvPr/>
        </p:nvPicPr>
        <p:blipFill>
          <a:blip r:embed="rId5"/>
          <a:stretch>
            <a:fillRect/>
          </a:stretch>
        </p:blipFill>
        <p:spPr>
          <a:xfrm>
            <a:off x="6958584" y="2249424"/>
            <a:ext cx="649224" cy="649224"/>
          </a:xfrm>
          <a:prstGeom prst="rect">
            <a:avLst/>
          </a:prstGeom>
        </p:spPr>
      </p:pic>
      <p:sp>
        <p:nvSpPr>
          <p:cNvPr id="37"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short sessions with breaks</a:t>
            </a:r>
            <a:endParaRPr lang="en-US" sz="1100" dirty="0"/>
          </a:p>
        </p:txBody>
      </p:sp>
      <p:sp>
        <p:nvSpPr>
          <p:cNvPr id="38"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1" name="Text 33"/>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فِي فَتَرَاتٍ قَصِيرَةٍ مَعَ رَاحَةٍ.</a:t>
            </a:r>
            <a:endParaRPr lang="ar-SA" sz="2200" dirty="0"/>
          </a:p>
        </p:txBody>
      </p:sp>
      <p:sp>
        <p:nvSpPr>
          <p:cNvPr id="42"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in short sessions with a break.</a:t>
            </a:r>
            <a:endParaRPr lang="en-US" sz="1200" dirty="0"/>
          </a:p>
        </p:txBody>
      </p:sp>
      <p:sp>
        <p:nvSpPr>
          <p:cNvPr id="43"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8"/>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8"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self-testing</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أَكْتُبُ أَسْئِلَةً لِأَخْتَبِرَ نَفْسِي.</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write questions to test myself.</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PLAN A BLOOM’S STUDY LADDER (WEBSITE RULES AND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topic, six levels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سُلَّمُ بْلُومَ لِمَوْضُوعٍ وَاحِدٍ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8291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7" name="Text 14"/>
          <p:cNvSpPr txBox="1"/>
          <p:nvPr/>
        </p:nvSpPr>
        <p:spPr>
          <a:xfrm>
            <a:off x="2359152" y="1810512"/>
            <a:ext cx="7077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Topic: P1 Healthy Lifestyles — what I will do</a:t>
            </a:r>
            <a:endParaRPr lang="en-US" sz="1100" dirty="0"/>
          </a:p>
        </p:txBody>
      </p:sp>
      <p:sp>
        <p:nvSpPr>
          <p:cNvPr id="18" name="Text 15"/>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Level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601200" y="2267712"/>
            <a:ext cx="2039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يَتَذَكَّرُ</a:t>
            </a:r>
            <a:endParaRPr lang="ar-SA" sz="2000" dirty="0"/>
          </a:p>
        </p:txBody>
      </p:sp>
      <p:sp>
        <p:nvSpPr>
          <p:cNvPr id="21" name="Text 18"/>
          <p:cNvSpPr txBox="1"/>
          <p:nvPr/>
        </p:nvSpPr>
        <p:spPr>
          <a:xfrm>
            <a:off x="2377440" y="2267712"/>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أَتَذَكَّرُ مُفْرَدَاتِ التَّغْذِيَةِ بِالتَّسْمِيعِ الذَّاتِيِّ.</a:t>
            </a:r>
            <a:endParaRPr lang="ar-SA" sz="1900" dirty="0"/>
          </a:p>
        </p:txBody>
      </p:sp>
      <p:sp>
        <p:nvSpPr>
          <p:cNvPr id="22" name="Text 19"/>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remember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601200" y="3004718"/>
            <a:ext cx="2039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يَفْهَمُ</a:t>
            </a:r>
            <a:endParaRPr lang="ar-SA" sz="2000" dirty="0"/>
          </a:p>
        </p:txBody>
      </p:sp>
      <p:sp>
        <p:nvSpPr>
          <p:cNvPr id="27" name="Text 24"/>
          <p:cNvSpPr txBox="1"/>
          <p:nvPr/>
        </p:nvSpPr>
        <p:spPr>
          <a:xfrm>
            <a:off x="2377440" y="3004718"/>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أَفْهَمُ قَاعِدَةَ الشَّرْطِ وَأَشْرَحُهَا لِزَمِيلِي.</a:t>
            </a:r>
            <a:endParaRPr lang="ar-SA" sz="1900" dirty="0"/>
          </a:p>
        </p:txBody>
      </p:sp>
      <p:sp>
        <p:nvSpPr>
          <p:cNvPr id="28" name="Text 25"/>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understand</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601200" y="3741725"/>
            <a:ext cx="2039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يُطَبِّقُ</a:t>
            </a:r>
            <a:endParaRPr lang="ar-SA" sz="2000" dirty="0"/>
          </a:p>
        </p:txBody>
      </p:sp>
      <p:sp>
        <p:nvSpPr>
          <p:cNvPr id="33" name="Text 30"/>
          <p:cNvSpPr txBox="1"/>
          <p:nvPr/>
        </p:nvSpPr>
        <p:spPr>
          <a:xfrm>
            <a:off x="2377440" y="3741725"/>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أُطَبِّقُ «إِذَا … سَـ» فِي خَمْسِ جُمَلٍ جَدِيدَةٍ.</a:t>
            </a:r>
            <a:endParaRPr lang="ar-SA" sz="1900" dirty="0"/>
          </a:p>
        </p:txBody>
      </p:sp>
      <p:sp>
        <p:nvSpPr>
          <p:cNvPr id="34" name="Text 31"/>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apply</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601200" y="4478731"/>
            <a:ext cx="2039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يُحَلِّلُ</a:t>
            </a:r>
            <a:endParaRPr lang="ar-SA" sz="2000" dirty="0"/>
          </a:p>
        </p:txBody>
      </p:sp>
      <p:sp>
        <p:nvSpPr>
          <p:cNvPr id="37" name="Text 34"/>
          <p:cNvSpPr txBox="1"/>
          <p:nvPr/>
        </p:nvSpPr>
        <p:spPr>
          <a:xfrm>
            <a:off x="2377440" y="4478731"/>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أُحَلِّلُ نَصًّا صِحِّيًّا وَأُمَيِّزُ الحَقِيقَةَ مِنَ الرَّأْيِ.</a:t>
            </a:r>
            <a:endParaRPr lang="ar-SA" sz="1900" dirty="0"/>
          </a:p>
        </p:txBody>
      </p:sp>
      <p:sp>
        <p:nvSpPr>
          <p:cNvPr id="38" name="Text 35"/>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analyse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601200" y="5215738"/>
            <a:ext cx="2039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يُقَيِّمُ · يُبْدِعُ</a:t>
            </a:r>
            <a:endParaRPr lang="ar-SA" sz="2000" dirty="0"/>
          </a:p>
        </p:txBody>
      </p:sp>
      <p:sp>
        <p:nvSpPr>
          <p:cNvPr id="41" name="Text 38"/>
          <p:cNvSpPr txBox="1"/>
          <p:nvPr/>
        </p:nvSpPr>
        <p:spPr>
          <a:xfrm>
            <a:off x="2377440" y="5215738"/>
            <a:ext cx="70408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أُقَيِّمُ مَقَالَتِي ثُمَّ أُبْدِعُ حَمْلَةً صِحِّيَّةً جَدِيدَةً.</a:t>
            </a:r>
            <a:endParaRPr lang="ar-SA" sz="1900" dirty="0"/>
          </a:p>
        </p:txBody>
      </p:sp>
      <p:sp>
        <p:nvSpPr>
          <p:cNvPr id="42" name="Text 39"/>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evaluate · create</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Now plan your own ladder for P2 (education): one sentence per level, starting with a Form II verb where you can.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Remember / understand, apply / analyse / evaluate — or create?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يَتَذَكَّرُ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يَفْهَمُ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يَسْتَوْعِبُ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يُطَبِّقُ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يُحَلِّلُ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يُقَيِّمُ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يُبْدِعُ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يَبْتَكِرُ</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يُؤَلِّفُ</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Remember / Understand</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Apply / Analyse / Evaluate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Create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Remember / Understand</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يَتَذَكَّرُ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يَفْهَمُ</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يَسْتَوْعِبُ</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Apply / Analyse / Evaluate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يُطَبِّقُ</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يُحَلِّلُ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يُقَيِّمُ</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Create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يُبْدِعُ</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يَبْتَكِرُ</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يُؤَلِّفُ</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رَاجَعْتَ يَوْمِيًّا، ___ ذَاكِرَتُكَ.</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تَحَسَّنَتْ أَمْسِ</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تَتَحَسَّنُ</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سَتَتَحَسَّنُ</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spaced repetition?</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خَرِيطَةٌ ذِهْنِيَّةٌ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مُرَاجَعَةٌ مُتَبَاعِدَةٌ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تَسْمِيعٌ ذَاتِيٌّ</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contrasts effective and ineffective study?</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الحِفْظُ جَيِّدٌ وَالفَهْمُ جَيِّدٌ.</a:t>
            </a:r>
            <a:endParaRPr lang="ar-SA" sz="17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بَيْنَمَا يُؤَدِّي الحِفْظُ إِلَى النِّسْيَانِ، يُؤَدِّي الفَهْمُ إِلَى الاحْتِفَاظِ.</a:t>
            </a:r>
            <a:endParaRPr lang="ar-SA" sz="17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أُحِبُّ الدِّرَاسَةَ.</a:t>
            </a:r>
            <a:endParaRPr lang="ar-SA" sz="17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links a habit to an outcome?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الوَقْتُ مُهِمٌّ وَالتَّشْتِيتُ مَوْجُودٌ.</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أُنَظِّمُ وَقْتِي أَحْيَانًا.</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نَظَّمْتَ وَقْتَكَ، سَيَقِلُّ التَّشْتِيتُ.</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رَاجَعْتَ يَوْمِيًّا، ___ ذَاكِرَتُكَ.</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تَحَسَّنَتْ أَمْسِ</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تَتَحَسَّنُ</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سَتَتَحَسَّنُ</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clause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spaced repetition?</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خَرِيطَةٌ ذِهْنِيَّةٌ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مُرَاجَعَةٌ مُتَبَاعِدَةٌ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تَسْمِيعٌ ذَاتِيٌّ</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مُرَاجَعَةٌ مُتَبَاعِدَةٌ</a:t>
            </a:r>
            <a:pPr algn="l" indent="0" marL="0">
              <a:buNone/>
            </a:pPr>
            <a:r>
              <a:rPr lang="en-US" sz="1050" i="1" dirty="0">
                <a:solidFill>
                  <a:srgbClr val="8A6D1E"/>
                </a:solidFill>
                <a:latin typeface="Calibri" pitchFamily="34" charset="0"/>
                <a:cs typeface="Amiri" pitchFamily="2" charset="-78"/>
              </a:rPr>
              <a:t> is spaced repetition.</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contrasts effective and ineffective study?</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الحِفْظُ جَيِّدٌ وَالفَهْمُ جَيِّدٌ.</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بَيْنَمَا يُؤَدِّي الحِفْظُ إِلَى النِّسْيَانِ، يُؤَدِّي الفَهْمُ إِلَى الاحْتِفَاظِ.</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الدِّرَاسَةَ.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contrasts the two approaches.</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links a habit to an outcome?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الوَقْتُ مُهِمٌّ وَالتَّشْتِيتُ مَوْجُودٌ.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أُنَظِّمُ وَقْتِي أَحْيَانًا.</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نَظَّمْتَ وَقْتَكَ، سَيَقِلُّ التَّشْتِيتُ.</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connects a habit to its result with a conditional.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يُحَلِّلُ الطَّالِبُ فِي النَّصِّ.</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yuḥallil + fī?</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يَحْتَفِظُ الطَّالِبُ المَعْلُومَاتِ.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yaḥtafiẓ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تُرَاجِعُ يَوْمِيًّا، سَتَنْجَحُ.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idhā: past or present?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يُحَلِّلُ الطَّالِبُ فِي النَّصِّ.</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يُحَلِّلُ الطَّالِبُ النَّصَّ.</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يُحَلِّلُ</a:t>
            </a:r>
            <a:pPr algn="l" indent="0" marL="0">
              <a:buNone/>
            </a:pPr>
            <a:r>
              <a:rPr lang="en-US" sz="1150" b="1" dirty="0">
                <a:solidFill>
                  <a:srgbClr val="1B3B6F"/>
                </a:solidFill>
                <a:latin typeface="Calibri" pitchFamily="34" charset="0"/>
                <a:cs typeface="Amiri" pitchFamily="2" charset="-78"/>
              </a:rPr>
              <a:t> takes a direct object.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يَحْتَفِظُ الطَّالِبُ المَعْلُومَاتِ.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يَحْتَفِظُ الطَّالِبُ بِالمَعْلُومَاتِ.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يَحْتَفِظُ</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تُرَاجِعُ يَوْمِيًّا، سَتَنْجَحُ.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رَاجَعْتَ يَوْمِيًّا، سَتَنْجَحُ.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إِذَا</a:t>
            </a:r>
            <a:pPr algn="l" indent="0" marL="0">
              <a:buNone/>
            </a:pPr>
            <a:r>
              <a:rPr lang="en-US" sz="1150" b="1" dirty="0">
                <a:solidFill>
                  <a:srgbClr val="1B3B6F"/>
                </a:solidFill>
                <a:latin typeface="Calibri" pitchFamily="34" charset="0"/>
                <a:cs typeface="Amiri" pitchFamily="2" charset="-78"/>
              </a:rPr>
              <a:t> takes a past-form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how to study well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studies recommend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Organising your time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Memorising everything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Studying with noise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effective method rely 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Rote memorisation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Copying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Deep understanding, not rote memorisation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summarising in your own words?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forget it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change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retain it longer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education scholars stress?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Bloom's taxonomy reaches higher thinking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Bloom's taxonomy is useless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memory matters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quiet environment do?</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Weakens focus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Boosts productivity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 no effect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idhā … sa- and the study verbs.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تُوصِي الأَبْحَاثُ بِأَنْ يُنَظِّمَ الطَّالِبُ وَقْتَهُ أَوَّلًا.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Research recommends that the student organise his time first.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هَلْ تَعْلَمُ أَنَّ الَّذِينَ يَسْتَعْمِلُونَ المُرَاجَعَةَ المُتَبَاعِدَةَ يَتَفَوَّقُونَ عَلَى أَقْرَانِهِمْ؟</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Did you know that those who use spaced repetition outperform their peers?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الطَّرِيقَةُ الفَعَّالَةُ لَا تَعْتَمِدُ عَلَى الحِفْظِ عَنْ ظَهْرِ قَلْبٍ، بَلْ عَلَى الفَهْمِ العَمِيقِ. فَإِذَا لَخَّصْتَ المَادَّةَ بِكَلِمَاتِكَ، سَتَحْتَفِظُ بِهَا أَطْوَلَ.</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effective method does not rely on rote memorisation but on deep understanding. If you summarise the material in your own words, you will retain it longer.</a:t>
            </a:r>
            <a:endParaRPr lang="en-US" sz="120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وَأَكَّدَ عُلَمَاءُ التَّرْبِيَةِ أَنَّ الطَّالِبَ الَّذِي يَسْتَعْمِلُ هَرَمَ بْلُومَ يَصِلُ إِلَى مُسْتَوَيَاتِ التَّفْكِيرِ العُلْيَا.</a:t>
            </a:r>
            <a:endParaRPr lang="ar-SA" sz="16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scholars stressed that the student who uses Bloom’s taxonomy reaches the higher levels of thinking.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وَبَيْنَمَا يُضْعِفُ التَّشْتِيتُ التَّرْكِيزَ، تُعَزِّزُ البِيئَةُ الهَادِئَةُ الإِنْتَاجِيَّةَ. ابْدَأْ بِخُطْوَةٍ صَغِيرَةٍ اليَوْمَ.</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While distraction weakens focus, a quiet environment boosts productivity. Start with a small step today.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studies recommend first?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Organising your time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Memorising everything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Studying with noise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تُوصِي الأَبْحَاثُ بِأَنْ يُنَظِّمَ الطَّالِبُ وَقْتَهُ أَوَّلًا.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effective method rely 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Rote memorisation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Copying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Deep understanding, not rote memorisation</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تَعْتَمِدُ عَلَى الحِفْظِ … بَلْ عَلَى الفَهْمِ العَمِيقِ.</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summarising in your own words?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 forget it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change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retain it longer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لَخَّصْتَ المَادَّةَ بِكَلِمَاتِكَ، سَتَحْتَفِظُ بِهَا أَطْوَلَ.</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education scholars stress?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Using Bloom's taxonomy reaches higher thinking</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Bloom's taxonomy is useless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memory matters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أَكَّدَ عُلَمَاءُ التَّرْبِيَةِ أَنَّ … يَصِلُ إِلَى مُسْتَوَيَاتِ التَّفْكِيرِ العُلْيَا.</a:t>
            </a:r>
            <a:endParaRPr lang="ar-SA" sz="12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quiet environment do?</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Weakens focus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Boosts productivity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Has no effect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تُعَزِّزُ البِيئَةُ الهَادِئَةُ الإِنْتَاجِيَّةَ.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idhā … sa- and the study verbs.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your study strategies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تُنَظِّمُ وَقْتَ دِرَاسَتِكَ؟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مُسْتَوَى مِنْ هَرَمِ بْلُومَ تَجِدُهُ أَصْعَبَ؟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سَيَحْدُثُ إِذَا اسْتَعْمَلْتَ المُرَاجَعَةَ المُتَبَاعِدَةَ؟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2" charset="-78"/>
                <a:ea typeface="Amiri" pitchFamily="2" charset="-78"/>
                <a:cs typeface="Amiri" pitchFamily="2" charset="-78"/>
              </a:rPr>
              <a:t>أُنَظِّمُ وَقْتِي فِي ___ ، وَأُلَخِّصُ المَادَّةَ ___ .</a:t>
            </a:r>
            <a:endParaRPr lang="ar-SA" sz="14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أَجِدُ مُسْتَوَى ___ أَصْعَبَ، لِأَنَّ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إِذَا رَاجَعْتُ عَلَى فَتَرَاتٍ مُتَبَاعِدَةٍ،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تُنَظِّمُ وَقْتَ دِرَاسَتِكَ؟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you organise your study time?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أُنَظِّمُ وَقْتِي فِي جَدْوَلٍ، وَأُلَخِّصُ المَادَّةَ بِخَرَائِطَ ذِهْنِيَّةٍ.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 organise my time in a timetable, and I summarise the material with mind maps.</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sentences, one for each Bloom's level, about studying Arabic.</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one sentence for each Bloom’s level about studying Arabic.</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study-outcome conditionals.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two study-outcome conditionals.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study guide with a rhetorical opener and a reported-speech citation.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study guide with a rhetorical opener, four study verbs, two conditionals and a citation.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رَاجَعْتَ يَوْمِيًّا،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revise daily,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لَخَّصْتَ المَادَّةَ بِكَلِمَاتِكَ،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summarise in your own words, you will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تُوصِي الأَبْحَاثُ بِأَنْ ______ الطَّالِبُ ______ .</a:t>
            </a:r>
            <a:endParaRPr lang="ar-SA" sz="17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Research recommends that the student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بَيْنَمَا يُؤَدِّي الحِفْظُ إِلَى ______ ، يُؤَدِّي الفَهْمُ إِلَى ______ .</a:t>
            </a:r>
            <a:endParaRPr lang="ar-SA" sz="12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While memorising leads to …, understanding leads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أَتَذَكَّرُ ______ عَنْ طَرِيقِ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remember … by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أُطَبِّقُ القَاعِدَةَ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apply the rule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أُحَلِّلُ ______ ، وَأُقَيِّمُ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analyse … and evaluate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أُبْدِعُ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create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المُفْرَدَاتُ  ·  القَاعِدَةُ  ·  النَّصُّ  ·  كِتَابَتِي  ·  خَرِيطَةٌ ذِهْنِيَّةٌ  ·  التَّسْمِيعُ الذَّاتِيُّ  ·  المُرَاجَعَةُ المُتَبَاعِدَةُ  ·  سَتَحْتَفِظُ بِهَا أَطْوَلَ  ·  سَتَتَحَسَّنُ ذَاكِرَتُكَ  ·  سَيَقِلُّ التَّشْتِيتُ  ·  النِّسْيَانُ  ·  الاحْتِفَاظُ</a:t>
            </a:r>
            <a:endParaRPr lang="ar-SA"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to one hundred and ten words as a study guide for an Arabic academic magazine. Open with a rhetorical question and a statistic, use at least four Form II or IV study verbs, two conditionals and one reported-speech clause.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rhetorical opener with a statistic.</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Form II or IV study verbs with correct objects.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Type 1 conditionals linking habit to outcome.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reported-speech clause citing research.</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يَتَفَوَّقُونَ عَلَى أَقْرَانِهِمْ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outperform their peers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وَيُطَبِّقَ مَا تَعَلَّمَهُ</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apply what he has learned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سَيَصِلُ إِلَى مُسْتَوَيَاتِ التَّفْكِيرِ العُلْيَا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will reach the higher levels of thinking</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نِسْيَانٌ سَرِيعٌ · احْتِفَاظٌ طَوِيلٌ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quick forgetting · long retention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سَيَتَغَيَّرُ نَهْجُكَ فِي التَّعَلُّمِ، فَابْدَأِ اليَوْمَ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your approach to learning will change, so start today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هَلْ تَعْلَمُ أَنَّ الطُّلَّابَ الَّذِينَ يَسْتَعْمِلُونَ المُرَاجَعَةَ المُتَبَاعِدَةَ يَتَفَوَّقُونَ عَلَى أَقْرَانِهِمْ؟ تُوصِي الأَبْحَاثُ بِأَنْ يُنَظِّمَ الطَّالِبُ وَقْتَهُ، وَيُلَخِّصَ المَادَّةَ، وَيُطَبِّقَ مَا تَعَلَّمَهُ. وَأَكَّدَ عُلَمَاءُ التَّرْبِيَةِ أَنَّهُ إِذَا اسْتَعْمَلَ الطَّالِبُ هَرَمَ بْلُومَ، سَيَصِلُ إِلَى مُسْتَوَيَاتِ التَّفْكِيرِ العُلْيَا: أَنْ يُحَلِّلَ وَيُقَيِّمَ وَيُبْدِعَ. وَإِذَا لَخَّصْتَ المَادَّةَ بِكَلِمَاتِكَ، سَتَحْتَفِظُ بِهَا أَطْوَلَ. بَيْنَمَا يُؤَدِّي الحِفْظُ عَنْ ظَهْرِ قَلْبٍ إِلَى نِسْيَانٍ سَرِيعٍ، يُؤَدِّي الفَهْمُ العَمِيقُ إِلَى احْتِفَاظٍ طَوِيلٍ. سَيَتَغَيَّرُ نَهْجُكَ فِي التَّعَلُّمِ، فَابْدَأِ اليَوْمَ.</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Did you know that students who use spaced repetition outperform their peers? Research recommends that the student organise his time, summarise the material and apply what he has learned. Education scholars stressed that if the student uses Bloom’s taxonomy, he will reach the higher levels of thinking: analysing, evaluating and creating. If you summarise the material in your own words, you will retain it longer. While rote memorisation leads to quick forgetting, deep understanding leads to long retention. Your approach to learning will change — so start today.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rhetorical opener (hal taʿlamu anna)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study verbs (an + subjunctive chain)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idhā conditionals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reported-speech citation (akkada … anna)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study verbs have a direct object (no fī / bi-).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yaḥtafiẓ has bi- (yaḥtafiẓ bi-l-maʿlūmāt).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idhā verbs are past; my results have sa-.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an, every verb in my chain ends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cited research with a reporting verb (akkada anna).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يُقَيِّمُ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يُقَيِّمُ الطَّالِبُ كِتَابَتَهُ.</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يُقَيِّمُ الطَّالِبُ فِي كِتَابَتِهِ.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يُقَيِّمُ الطَّالِبُ بِكِتَابَتِهِ.</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highest Bloom's level?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يُطَبِّقُ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يَتَذَكَّرُ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يَحْتَفِظُ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يُقَيِّمُ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يُقَيِّمُ الطَّالِبُ كِتَابَتَهُ.</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يُقَيِّمُ الطَّالِبُ فِي كِتَابَتِهِ.</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يُقَيِّمُ الطَّالِبُ بِكِتَابَتِهِ.</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يُقَيِّمُ</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highest Bloom's level?</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يُطَبِّقُ</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يُبْدِعُ</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يَتَذَكَّرُ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يُبْدِعُ</a:t>
            </a:r>
            <a:pPr algn="l" indent="0" marL="0">
              <a:buNone/>
            </a:pPr>
            <a:r>
              <a:rPr lang="en-US" sz="1050" i="1" dirty="0">
                <a:solidFill>
                  <a:srgbClr val="8A6D1E"/>
                </a:solidFill>
                <a:latin typeface="Calibri" pitchFamily="34" charset="0"/>
                <a:cs typeface="Amiri" pitchFamily="2" charset="-78"/>
              </a:rPr>
              <a:t> (creating) is the top level.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يَحْتَفِظُ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يَحْتَفِظُ</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learning is a skill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00" dirty="0">
                <a:solidFill>
                  <a:srgbClr val="1F2A37"/>
                </a:solidFill>
                <a:latin typeface="Amiri" pitchFamily="2" charset="-78"/>
                <a:ea typeface="Amiri" pitchFamily="2" charset="-78"/>
                <a:cs typeface="Amiri" pitchFamily="2" charset="-78"/>
              </a:rPr>
              <a:t>لَيْسَ النَّجَاحُ الأَكَادِيمِيُّ مَوْهِبَةً فَقَطْ، بَلْ مَهَارَةٌ تُكْتَسَبُ. فَالطَّالِبُ النَّاجِحُ يُنَظِّمُ وَقْتَهُ، وَيُلَخِّصُ المَادَّةَ، وَيُرَاجِعُهَا عَلَى فَتَرَاتٍ مُتَبَاعِدَةٍ. وَتُشِيرُ الأَبْحَاثُ إِلَى أَنَّ التَّسْمِيعَ الذَّاتِيَّ أَقْوَى مِنْ إِعَادَةِ القِرَاءَةِ. أَمَّا الحِفْظُ عَنْ ظَهْرِ قَلْبٍ فَيُؤَدِّي إِلَى نِسْيَانٍ سَرِيعٍ، بَيْنَمَا يُؤَدِّي الفَهْمُ العَمِيقُ إِلَى احْتِفَاظٍ طَوِيلِ الأَمَدِ. وَإِذَا اسْتَعْمَلَ الطَّالِبُ التَّفْكِيرَ العَالِي — أَنْ يُحَلِّلَ وَيُقَيِّمَ وَيُبْدِعَ — فَسَيَفْهَمُ أَعْمَقَ. وَلَيْسَ الهَدَفُ جَمْعَ المَعْلُومَاتِ، بَلِ التَّعَلُّمَ كَيْفَ نُفَكِّرُ.</a:t>
            </a:r>
            <a:endParaRPr lang="ar-SA" sz="25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مَوْهِبَةً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talent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تُكْتَسَبُ</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acquired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عَلَى فَتَرَاتٍ مُتَبَاعِدَةٍ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spaced intervals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التَّسْمِيعَ الذَّاتِيَّ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self-testing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إِعَادَةِ القِرَاءَةِ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re-reading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نِسْيَانٍ سَرِيعٍ</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quick forgetting</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احْتِفَاظٍ</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retention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 الأَمَدِ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long-term</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جَمْعَ المَعْلُومَاتِ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collecting information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كَيْفَ نُفَكِّرُ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how to think</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academic success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Pure talent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skill that can be acquired, not just a talent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Impossible to learn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successful student do?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reads once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Avoids revision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Organises time, summarises and revises at spaced intervals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stronger than re-reading?</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Self-testing</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Rote memorisation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Copying</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rote memorisation lead to?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retention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Quick forgetting</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Deep thinking</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goal of learning?</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Learning how to think, not just collecting information</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Collecting information</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Passing time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academic success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Pure talent</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skill that can be acquired, not just a talent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Impossible to learn</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بَلْ مَهَارَةٌ تُكْتَسَبُ.</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successful student do?</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reads once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Avoids revision</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Organises time, summarises and revises at spaced intervals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يُنَظِّمُ وَقْتَهُ، وَيُلَخِّصُ المَادَّةَ، وَيُرَاجِعُهَا عَلَى فَتَرَاتٍ مُتَبَاعِدَةٍ.</a:t>
            </a:r>
            <a:endParaRPr lang="ar-SA" sz="12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stronger than re-reading?</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Self-testing</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Rote memorisation</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Copying</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التَّسْمِيعَ الذَّاتِيَّ أَقْوَى مِنْ إِعَادَةِ القِرَاءَةِ.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rote memorisation lead to?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 retention</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Quick forgetting</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Deep thinking</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الحِفْظُ عَنْ ظَهْرِ قَلْبٍ فَيُؤَدِّي إِلَى نِسْيَانٍ سَرِيعٍ.</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goal of learning?</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Learning how to think, not just collecting information</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Collecting information</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Passing time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وَلَيْسَ الهَدَفُ جَمْعَ المَعْلُومَاتِ، بَلِ التَّعَلُّمَ كَيْفَ نُفَكِّرُ.</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Study Mission — Bloom's Verbs, Objects and Outcomes</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يُحَلِّلُ الطَّالِبُ</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النَّصِّ</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النَّصَّ</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بِالنَّصِّ</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Level: which is highest?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يُبْدِعُ</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يَتَذَكَّرُ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يَفْهَمُ</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Order:</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يُطَبِّقُ → يُحَلِّلُ → ___.</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يَتَذَكَّرُ</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يَفْهَمُ</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يُقَيِّمُ</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يَحْتَفِظُ</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يَوْمِيًّا، سَتَنْجَحُ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رَاجَعْتَ</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تُرَاجِعُ</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سَتُرَاجِعُ</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Result marker: which belongs in the result clause?</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يُحَلِّلُ الطَّالِبُ</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النَّصِّ</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النَّصَّ</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بِالنَّصِّ</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يُحَلِّلُ</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Level: which is highest?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يُبْدِعُ</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يَتَذَكَّرُ</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يَفْهَمُ</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يُبْدِعُ</a:t>
            </a:r>
            <a:pPr algn="l" indent="0" marL="0">
              <a:buNone/>
            </a:pPr>
            <a:r>
              <a:rPr lang="en-US" sz="1050" i="1" dirty="0">
                <a:solidFill>
                  <a:srgbClr val="8A6D1E"/>
                </a:solidFill>
                <a:latin typeface="Calibri" pitchFamily="34" charset="0"/>
                <a:cs typeface="Amiri" pitchFamily="2" charset="-78"/>
              </a:rPr>
              <a:t> is the top of Bloom's taxonomy.</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Order:</a:t>
            </a:r>
            <a:endParaRPr lang="en-US" sz="1200" dirty="0"/>
          </a:p>
        </p:txBody>
      </p:sp>
      <p:sp>
        <p:nvSpPr>
          <p:cNvPr id="50"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يُطَبِّقُ → يُحَلِّلُ → ___.</a:t>
            </a:r>
            <a:endParaRPr lang="ar-SA" sz="150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يَتَذَكَّرُ</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يَفْهَمُ</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يُقَيِّمُ</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Evaluating follows analysing.</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يَحْتَفِظُ</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المَعْلُومَاتِ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يَحْتَفِظُ</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complete —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يَوْمِيًّا، سَتَنْجَحُ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رَاجَعْتَ</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تُرَاجِعُ</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سَتُرَاجِعُ</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Result marker: which belongs in the result clause?</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سَـ</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is marked with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P2-L04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P2-L05 · Career Aspirations and the Future of Work</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طُمُوحٌ مِهَنِيٌّ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career ambition</a:t>
            </a:r>
            <a:pPr indent="0" marL="0">
              <a:buNone/>
            </a:pPr>
            <a:r>
              <a:rPr lang="ar-SA" sz="1000" i="1" dirty="0">
                <a:solidFill>
                  <a:srgbClr val="5A6472"/>
                </a:solidFill>
                <a:latin typeface="Calibri" pitchFamily="34" charset="0"/>
                <a:ea typeface="Amiri" pitchFamily="2" charset="-78"/>
                <a:cs typeface="Amiri" pitchFamily="2" charset="-78"/>
              </a:rPr>
              <a:t>  pl. طُمُوحَاتٌ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مَسَارٌ مِهَنِيٌّ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career path</a:t>
            </a:r>
            <a:pPr indent="0" marL="0">
              <a:buNone/>
            </a:pPr>
            <a:r>
              <a:rPr lang="ar-SA" sz="1000" i="1" dirty="0">
                <a:solidFill>
                  <a:srgbClr val="5A6472"/>
                </a:solidFill>
                <a:latin typeface="Calibri" pitchFamily="34" charset="0"/>
                <a:ea typeface="Amiri" pitchFamily="2" charset="-78"/>
                <a:cs typeface="Amiri" pitchFamily="2" charset="-78"/>
              </a:rPr>
              <a:t>  pl. مَسَارَاتٌ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رِيَادَةُ الأَعْمَالِ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entrepreneurship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الذَّكَاءُ الاصْطِنَاعِيُّ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artificial intelligence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يَطْمَحُ إِلَى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aspires to</a:t>
            </a:r>
            <a:pPr indent="0" marL="0">
              <a:buNone/>
            </a:pPr>
            <a:r>
              <a:rPr lang="ar-SA" sz="1000" i="1" dirty="0">
                <a:solidFill>
                  <a:srgbClr val="5A6472"/>
                </a:solidFill>
                <a:latin typeface="Calibri" pitchFamily="34" charset="0"/>
                <a:ea typeface="Amiri" pitchFamily="2" charset="-78"/>
                <a:cs typeface="Amiri" pitchFamily="2" charset="-78"/>
              </a:rPr>
              <a:t>  تَطْمَحُ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job would you like in the future, and will AI change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أَطْمَحُ إِلَى أَنْ أَعْمَلَ ______ ، وَأَعْتَقِدُ أَنَّ الذَّكَاءَ الاصْطِنَاعِيَّ ______ .</a:t>
            </a:r>
            <a:endParaRPr lang="ar-SA" sz="165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six Bloom’s verbs; write one sentence per level about studying Arabic.</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60–80-word study plan with two habit → outcome conditionals.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study guide for an academic magazine.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P2-L05 · Career Aspirations and the Future of Work</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الطُّمُوحَاتُ المِهَنِيَّةُ وَمُسْتَقْبَلُ العَمَلِ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climb Bloom’s ladder — yatadhakkar · yafham · yuṭabbiq · yuḥallil · yuqayyim · yubdiʿ — study verbs take a DIRECT object (but yaḥtafiẓ BI-) — and link every habit to its outcome with idhā … sa-.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P2-L04 · Study Skills and Academic Success</dc:title>
  <dc:subject>PptxGenJS Presentation</dc:subject>
  <dc:creator>Al Madina Online School · Arabic Department</dc:creator>
  <cp:lastModifiedBy>Al Madina Online School · Arabic Department</cp:lastModifiedBy>
  <cp:revision>1</cp:revision>
  <dcterms:created xsi:type="dcterms:W3CDTF">2026-10-11T06:43:01Z</dcterms:created>
  <dcterms:modified xsi:type="dcterms:W3CDTF">2026-10-11T06:43:01Z</dcterms:modified>
</cp:coreProperties>
</file>