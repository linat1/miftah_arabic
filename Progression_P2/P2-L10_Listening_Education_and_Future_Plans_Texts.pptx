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P2-L10. The website lesson “Listening — Education and Future Plans Texts”: vocabulary, grammar rules and quiz, patterns, common mistakes, sorter, listening, reading, speaking prompts and model, writing task and model, differentiation, final check and the lesson mission. Picture match: website visual game “Listening — Education and Future Plans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kāna qad should sound like ONE word.
• Before each listen, students label every question R / C / P / O (reported · conditional · past perfect · own opinion) and write the signal word they expect (قَالَ · إِذَا / لَوْ · كَانَ قَدْ · أَرَى).
• Core: questions 1, 2 and 3 + the signal words. Develop: all questions + say which structure each targeted. Stretch: explain how idhā vs law changed the meaning of one answer (website Stretch).
• Grammar links: reported speech (P2-L02) · past perfect (P2-L03) · Type 2 (P2-L06) · reporting verbs and stance (P2-L08) · listening routine (P1-L10).
• TEACHER-WRITTEN ITEMS: the website listening is split into two short listens with two teacher-added questions (the subject chosen · the speaker’s own view); waṣl alif shown without a kasra; rule headings and formulas in English and transliteration (rule examples without their English glosses); sorter headings in English;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P2-L09. Questions 4–5 retrieve both conditional types (P2-L09) and the past perfect (P2-L03) — today students must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small word changes the answer: inna-nī (me) or inna-hu (him)? idhā (real) or law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ضمیر، اشارہ، امتحان and شرط are shared. CAREFUL: Urdu مرشد usually means a spiritual guide; in this listening مُرْشِدِي is simply “my (careers) adviser”. And Urdu ضمیر also means conscience — here it is the grammar word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(1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(2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(1 of 2)). Hear → Say → See → Use. Transliteration is printed for Core students (cover it for Develop/Stretch).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(2 of 2)). Hear → Say → See → Use. Transliteration is printed for Core students (cover it for Develop/Stretch).
FLEX: teach if time allows; otherwise these are on the website vocabulary tab for homework.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“Decode reported speech” (the verb tells you the source; the pronoun tells you about whom) and teaching point “Reported speech has three audible parts”.
Website quiz 1: «قَالَ مُرْشِدِي إِنَّنِي سَأَنْجَحُ» — who succeeds? The speaker (إِنَّنِي), not the mentor. Quiz 7: a boy’s «سَأَدْرُسُ» → قَالَ إِنَّهُ سَيَدْرُسُ.
Drill (2 min): say one row; students hold up 1 finger (me), 2 (him), 3 (her), 4 (them). The pronoun is ONE short syllable — train the ear for -nī / -hu / -hā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“إِذَا vs لَوْ by ear” and teaching point “إِذَا is real; لَوْ signals a counterfactual”. Cards 1–2 are from the website listening.
Card 3 is the website sorter item إِذَا لَمْ … لَنْ (a real conditional in the negative): lam + jussive in the condition, lan + subjunctive in the result.
Ear tip: law is one short syllable — listen for the la- at the start of the RESULT (لَكُنْتُ · لَتَفَوَّقْتُ) as a second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“Catch the past-perfect unit” (spoken fast as one unit; hear all three parts) and the website reading (… «كَانَ قَدْ»، وَهِيَ تُقَالُ بِسُرْعَةٍ كَوَحْدَةٍ وَاحِدَةٍ).
Listening part 1 has two in a row: كُنْتُ قَدْ قَرَّرْتُ … وَكُنْتُ قَدْ حَصَلْتُ. Part 2 has the Type 2 + past perfect: لَكُنْتُ قَدْ تَقَدَّمْتُ.
Drill: say each row at full speed; students write the person (I / he / she / they) — the ending is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“Own view vs cited view” (a reporting verb signals a cited view, not the speaker’s own) and website mistake 1. All four rows are from the website listening.
Website mistake 3: أَشَارَ الخَبِيرُ أَنَّ ✗ → أَشَارَ … إِلَى أَنَّ.
Exam link (P2-L08): when a question asks “what does the SPEAKER think?”, look for أَرَى أَنَّ / فِي رَأْيِي — not for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decode reported speech, distinguish conditional types by their signal words, and catch the fast past-perfect unit.”
• Decode reported speech: The verb tells you the source; the pronoun tells you about whom.
• idhā vs law by ear: The signal word fixes the meaning of the answer.
• Catch the past-perfect unit: Spoken fast as one unit; hear all three parts.
• Own view vs cited view: A reporting verb signals a cited view, not the speaker's own.
Website common error: Treating a reported view as the speaker's own, or hearing لَوْ as a real plan. The reporting verb marks a source, and لَوْ marks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1–4 BEFORE the class hears the text. Label (P, R, C, C) → write the signals (كُنْتُ قَدْ · قَالَ · إِذَا · لَوْ) → read the four sentences aloud once → circle إِنَّنِي (me!) and the la- of لَكُنْتُ.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reported claim, a conditional reading and a past-perfect fact.” Website feedback: any three different combinations work.
Use after the two listens: students retell the student’s story in the third person (إِنَّهُ · قُبِلَ · كَانَ قَدْ حَصَلَ) — the pronoun switch from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three — in question 2, who is “qualified”? (إِنَّنِي = the speaker).
Listen 1: just listen. Listen 2: note answers. Then chat the letters.
Support: after the second listening, show the read-along slide (Arabic + English, line by line) for Core students.
SCRIPT (read aloud):
يَقُولُ الطَّالِبُ: بِحُلُولِ نِهَايَةِ الثَّانَوِيَّةِ، كُنْتُ قَدْ قَرَّرْتُ دِرَاسَةَ الهَنْدَسَةِ، وَكُنْتُ قَدْ حَصَلْتُ عَلَى خِبْرَةٍ عَمَلِيَّةٍ. قَالَ مُرْشِدِي إِنَّنِي مُؤَهَّلٌ، وَأَكَّدَ أَنَّ اجْتِهَادِي سَيُثْمِرُ.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 question 4 asks for the SPEAKER’s view (arā anna), not the report’s.
Listen 1: just listen. Listen 2: note answers. Then chat the letters.
Support: after the second listening, show the read-along slide (Arabic + English, line by line) for Core students.
SCRIPT (read aloud):
إِذَا قُبِلْتُ فِي الجَامِعَةِ الَّتِي أُرِيدُهَا، سَأَتَخَصَّصُ فِي الطَّاقَةِ المُتَجَدِّدَةِ. وَلَوْ تَوَافَرَتْ لِي مَوَارِدُ أَفْضَلُ فِي المَدْرَسَةِ، لَكُنْتُ قَدْ تَقَدَّمْتُ أَسْرَعَ. وَأَشَارَ تَقْرِيرٌ إِلَى أَنَّ نِسْبَةَ القَبُولِ فِي هٰذَا المَجَالِ مُرْتَفِعَةٌ. أَرَى أَنَّ ضَغْطَ الامْتِحَانَاتِ كَبِيرٌ، لٰكِنَّهُ يَدْفَعُنِي إِلَى العَمَلِ. سَوْفَ أُسْهِمُ فِي مَجَالِي بَعْدَ التَّخَرُّجِ.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اسْتَعْمَلَ إِذَا أَمْ لَوْ؟ (Conditional type)
B: اسْتَعْمَلَ لَوْ، أَيْ إِنَّهُ يَصِفُ حَالَةً افْتِرَاضِيَّةً لَمْ تَحْدُثْ. (Identifies لَوْ as counterfactual)
Website prompts and model. Students report the student’s story in the THIRD person (إِنَّهُ مُؤَهَّلٌ · اجْتِهَادَهُ · كَانَ قَدْ حَصَلَ) — the P2-L02 pronoun switch. To a girl: سَمِعْتِهِ.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signal word you will listen for. · Develop — Add whether each targets reported speech, a conditional or a past perfect. · Stretch — Explain how إِذَا vs لَوْ changed the meaning of one answer.
Website writing task (Stretch): Write eighty to ninety words explaining your listening strategy for academic education texts. Describe how you decode reported speech, how you tell إِذَا from لَوْ, and how you catch the fast past-perfect unit.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 · أَنْتَظِرُ فِعْلًا نَاقِلًا مَعَ «إِنَّ» أَوْ «أَنَّ» … أَنْتَبِهُ إِلَى الضَّمِيرِ · أُمَيِّزُ بَيْنَ «إِذَا» الحَقِيقِيَّةِ وَ«لَوْ» الافْتِرَاضِيَّةِ · أَلْتَقِطُ «كَانَ قَدْ» بِوَصْفِهَا وَحْدَةً سَرِيعَةً · الفِعْلَ النَّاقِلَ يَنْقُلُ رَأْيَ مَصْدَرٍ آخَرَ.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(P2-L11 · Consolidation — Speaking Preparation, Error Analysis and Grammar Mastery) will spend class time USING this language, so students prepare it tonight — short, simple, easy to access (school guidance: “Simple, Short, Interesting, Relevant, Easy to access”). The five words come from the website P2-L11 vocabulary (speaking preparation and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Education and Future Plans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decode reported speech in three parts (who said it · about whom · what), hear idhā as a real plan and law as a counterfactual, catch kāna qad as one fast unit, and keep the speaker’s own view apart from a cited 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P2-L10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parts of reported speech, idhā vs law by ear, kāna qad, own vs cited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short listens with read-along, then sort the signals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signal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نِسْبَةُ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pass mark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acceptance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both conditional types?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قُبِلْتُ سَأَدْرُسُ؛ وَإِذَا تَوَافَرَ الدَّعْمُ سَأَتَفَوَّقُ.</a:t>
            </a:r>
            <a:endParaRPr lang="ar-SA" sz="14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لَوْ قُبِلْتُ لَدَرَسْتُ؛ وَلَوْ تَوَافَرَ الدَّعْمُ لَتَفَوَّقْتُ.</a:t>
            </a:r>
            <a:endParaRPr lang="ar-SA" sz="14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14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قَرَّرْتُ تَخَصُّصِي.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قَرَّرْتُ تَخَصُّصِي.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أُقَرِّرُ تَخَصُّصِي.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signal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نِسْبَةُ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pass mark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acceptance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both conditional types?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إِذَا قُبِلْتُ سَأَدْرُسُ؛ وَإِذَا تَوَافَرَ الدَّعْمُ سَأَتَفَوَّقُ.</a:t>
            </a:r>
            <a:endParaRPr lang="ar-SA" sz="14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لَوْ قُبِلْتُ لَدَرَسْتُ؛ وَلَوْ تَوَافَرَ الدَّعْمُ لَتَفَوَّقْتُ.</a:t>
            </a:r>
            <a:endParaRPr lang="ar-SA" sz="14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14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P2-L09: one idhā,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 تَخَصُّصِي.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قَرَّرْتُ تَخَصُّصِي.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أُقَرِّرُ تَخَصُّصِي.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small word changes the answer: inna-nī (me) or inna-hu (him)? idhā (real) or law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قَالَ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مُرْشِدِي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إِنَّنِي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كَانَ قَدْ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the reporting verb, inna / anna and the reported content.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real idhā conditional from a hypothetical law one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the fast past-perfect unit kāna qad.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the signal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said it and about whom.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idhā (real) vs law (hypothetical).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kāna qad + verb as one unit.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how idhā / law changed an answer.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ضَمِيرٌ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‎ضمیر‎ </a:t>
            </a:r>
            <a:pPr indent="0" marL="0">
              <a:buNone/>
            </a:pPr>
            <a:r>
              <a:rPr lang="en-US" sz="950" b="1" dirty="0">
                <a:solidFill>
                  <a:srgbClr val="2E8B57"/>
                </a:solidFill>
                <a:latin typeface="Calibri" pitchFamily="34" charset="0"/>
                <a:ea typeface="Calibri" pitchFamily="34" charset="-122"/>
                <a:cs typeface="Calibri" pitchFamily="34" charset="-120"/>
              </a:rPr>
              <a:t> zamīr · a pronoun (Urdu also: conscience)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signal, cue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imtihān · an exam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‎شرط‎ </a:t>
            </a:r>
            <a:pPr indent="0" marL="0">
              <a:buNone/>
            </a:pPr>
            <a:r>
              <a:rPr lang="en-US" sz="950" b="1" dirty="0">
                <a:solidFill>
                  <a:srgbClr val="2E8B57"/>
                </a:solidFill>
                <a:latin typeface="Calibri" pitchFamily="34" charset="0"/>
                <a:ea typeface="Calibri" pitchFamily="34" charset="-122"/>
                <a:cs typeface="Calibri" pitchFamily="34" charset="-120"/>
              </a:rPr>
              <a:t> shart ·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مُرْشِدٌ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‎مرشد‎ </a:t>
            </a:r>
            <a:pPr indent="0" marL="0">
              <a:buNone/>
            </a:pPr>
            <a:r>
              <a:rPr lang="en-US" sz="950" b="1" dirty="0">
                <a:solidFill>
                  <a:srgbClr val="2E8B57"/>
                </a:solidFill>
                <a:latin typeface="Calibri" pitchFamily="34" charset="0"/>
                <a:ea typeface="Calibri" pitchFamily="34" charset="-122"/>
                <a:cs typeface="Calibri" pitchFamily="34" charset="-120"/>
              </a:rPr>
              <a:t> murshid · Arabic: an adviser · Urdu: a spiritual guide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النَّاقِلُ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reporting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an-nā-qi-lu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signal, cue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إِشَارَاتٌ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مِفْتَاحِيَّةٌ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المَعْلُومَةِ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source of the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al-maʿ-lū-ma-ti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targeted 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حَقِيقِيٌّ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ḥa-qī-qiy-yun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افْتِرَاضِيٌّ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af-ti-rā-ḍiy-yun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 تَعْلِيمِيَّةٌ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educational 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 taʿ-lī-miy-ya-tun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إِمْكَانَاتٌ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potential, capabilities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im-kā-nā-tun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man-ḥa-tun di-rā-siy-ya-tun</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field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مَجَالَاتٌ</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ضَغْطُ الامْتِحَانَاتِ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ḍagh-ṭu alm-ti-ḥā-nā-ti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نِسْبَةُ القَبُولِ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acceptance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nis-ba-tu al-qa-bū-li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إِصْلَاحٌ تَعْلِيمِيٌّ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education reform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iṣ-lā-ḥun taʿ-lī-miy-yun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إِصْلَاحَاتٌ تَعْلِيمِيَّةٌ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مُرْشِدٌ</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adviser, mentor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mur-shi-dun</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مُرْشِدُونَ</a:t>
            </a:r>
            <a:endParaRPr lang="ar-SA" sz="150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مُرْشِدَةٌ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Reporting marker.</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كَانُوا قَدْ</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(real)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(hypothetical)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 / 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future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 / saw-fa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that (after other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ضَمَائِرُ</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REPORTED SPEECH IN THREE AUDIBLE PARTS (WEBSITE RULE 1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said it — and about whom?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قَالَ؟ وَعَمَّنْ؟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 will succeed?</a:t>
            </a:r>
            <a:endParaRPr lang="en-US" sz="1100" dirty="0"/>
          </a:p>
        </p:txBody>
      </p:sp>
      <p:sp>
        <p:nvSpPr>
          <p:cNvPr id="17" name="Text 14"/>
          <p:cNvSpPr txBox="1"/>
          <p:nvPr/>
        </p:nvSpPr>
        <p:spPr>
          <a:xfrm>
            <a:off x="60167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73568" y="2267712"/>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speaker</a:t>
            </a:r>
            <a:endParaRPr lang="en-US" sz="1100" dirty="0"/>
          </a:p>
        </p:txBody>
      </p:sp>
      <p:sp>
        <p:nvSpPr>
          <p:cNvPr id="21" name="Text 18"/>
          <p:cNvSpPr txBox="1"/>
          <p:nvPr/>
        </p:nvSpPr>
        <p:spPr>
          <a:xfrm>
            <a:off x="60533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-nī (me)</a:t>
            </a:r>
            <a:endParaRPr lang="en-US" sz="1100" dirty="0"/>
          </a:p>
        </p:txBody>
      </p:sp>
      <p:sp>
        <p:nvSpPr>
          <p:cNvPr id="22" name="Text 19"/>
          <p:cNvSpPr txBox="1"/>
          <p:nvPr/>
        </p:nvSpPr>
        <p:spPr>
          <a:xfrm>
            <a:off x="54864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00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2000" b="1" dirty="0">
                <a:solidFill>
                  <a:srgbClr val="1D5FBF"/>
                </a:solidFill>
                <a:latin typeface="Amiri" pitchFamily="34" charset="0"/>
                <a:ea typeface="Amiri" pitchFamily="34" charset="-122"/>
                <a:cs typeface="Amiri" pitchFamily="34" charset="-120"/>
              </a:rPr>
              <a:t>إِنَّنِي</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0E7C86"/>
                </a:solidFill>
                <a:latin typeface="Amiri" pitchFamily="34" charset="0"/>
                <a:ea typeface="Amiri" pitchFamily="34" charset="-122"/>
                <a:cs typeface="Amiri" pitchFamily="34" charset="-120"/>
              </a:rPr>
              <a:t>سَأَنْجَحُ</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973568" y="300471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another boy</a:t>
            </a:r>
            <a:endParaRPr lang="en-US" sz="1100" dirty="0"/>
          </a:p>
        </p:txBody>
      </p:sp>
      <p:sp>
        <p:nvSpPr>
          <p:cNvPr id="27" name="Text 24"/>
          <p:cNvSpPr txBox="1"/>
          <p:nvPr/>
        </p:nvSpPr>
        <p:spPr>
          <a:xfrm>
            <a:off x="60533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 (him)</a:t>
            </a:r>
            <a:endParaRPr lang="en-US" sz="1100" dirty="0"/>
          </a:p>
        </p:txBody>
      </p:sp>
      <p:sp>
        <p:nvSpPr>
          <p:cNvPr id="28" name="Text 25"/>
          <p:cNvSpPr txBox="1"/>
          <p:nvPr/>
        </p:nvSpPr>
        <p:spPr>
          <a:xfrm>
            <a:off x="54864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00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2000" b="1" dirty="0">
                <a:solidFill>
                  <a:srgbClr val="1D5FBF"/>
                </a:solidFill>
                <a:latin typeface="Amiri" pitchFamily="34" charset="0"/>
                <a:ea typeface="Amiri" pitchFamily="34" charset="-122"/>
                <a:cs typeface="Amiri" pitchFamily="34" charset="-120"/>
              </a:rPr>
              <a:t>إِنَّهُ</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0E7C86"/>
                </a:solidFill>
                <a:latin typeface="Amiri" pitchFamily="34" charset="0"/>
                <a:ea typeface="Amiri" pitchFamily="34" charset="-122"/>
                <a:cs typeface="Amiri" pitchFamily="34" charset="-120"/>
              </a:rPr>
              <a:t>سَيَنْجَحُ</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973568" y="3741725"/>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girl</a:t>
            </a:r>
            <a:endParaRPr lang="en-US" sz="1100" dirty="0"/>
          </a:p>
        </p:txBody>
      </p:sp>
      <p:sp>
        <p:nvSpPr>
          <p:cNvPr id="33" name="Text 30"/>
          <p:cNvSpPr txBox="1"/>
          <p:nvPr/>
        </p:nvSpPr>
        <p:spPr>
          <a:xfrm>
            <a:off x="60533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 (her)</a:t>
            </a:r>
            <a:endParaRPr lang="en-US" sz="1100" dirty="0"/>
          </a:p>
        </p:txBody>
      </p:sp>
      <p:sp>
        <p:nvSpPr>
          <p:cNvPr id="34" name="Text 31"/>
          <p:cNvSpPr txBox="1"/>
          <p:nvPr/>
        </p:nvSpPr>
        <p:spPr>
          <a:xfrm>
            <a:off x="54864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قَالَتِ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المُعَلِّمَةُ </a:t>
            </a:r>
            <a:pPr rtl="1" algn="ctr" indent="0" marL="0">
              <a:buNone/>
            </a:pPr>
            <a:r>
              <a:rPr lang="ar-SA" altLang="en-US" sz="2000" b="1" dirty="0">
                <a:solidFill>
                  <a:srgbClr val="1D5FBF"/>
                </a:solidFill>
                <a:latin typeface="Amiri" pitchFamily="34" charset="0"/>
                <a:ea typeface="Amiri" pitchFamily="34" charset="-122"/>
                <a:cs typeface="Amiri" pitchFamily="34" charset="-120"/>
              </a:rPr>
              <a:t>إِنَّهَا</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0E7C86"/>
                </a:solidFill>
                <a:latin typeface="Amiri" pitchFamily="34" charset="0"/>
                <a:ea typeface="Amiri" pitchFamily="34" charset="-122"/>
                <a:cs typeface="Amiri" pitchFamily="34" charset="-120"/>
              </a:rPr>
              <a:t>سَتَنْجَحُ</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973568" y="4478731"/>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a:t>
            </a:r>
            <a:endParaRPr lang="en-US" sz="1100" dirty="0"/>
          </a:p>
        </p:txBody>
      </p:sp>
      <p:sp>
        <p:nvSpPr>
          <p:cNvPr id="37" name="Text 34"/>
          <p:cNvSpPr txBox="1"/>
          <p:nvPr/>
        </p:nvSpPr>
        <p:spPr>
          <a:xfrm>
            <a:off x="60533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 (them)</a:t>
            </a:r>
            <a:endParaRPr lang="en-US" sz="1100" dirty="0"/>
          </a:p>
        </p:txBody>
      </p:sp>
      <p:sp>
        <p:nvSpPr>
          <p:cNvPr id="38" name="Text 35"/>
          <p:cNvSpPr txBox="1"/>
          <p:nvPr/>
        </p:nvSpPr>
        <p:spPr>
          <a:xfrm>
            <a:off x="54864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المُرْشِدُ </a:t>
            </a:r>
            <a:pPr rtl="1" algn="ctr" indent="0" marL="0">
              <a:buNone/>
            </a:pPr>
            <a:r>
              <a:rPr lang="ar-SA" altLang="en-US" sz="2000" b="1" dirty="0">
                <a:solidFill>
                  <a:srgbClr val="1D5FBF"/>
                </a:solidFill>
                <a:latin typeface="Amiri" pitchFamily="34" charset="0"/>
                <a:ea typeface="Amiri" pitchFamily="34" charset="-122"/>
                <a:cs typeface="Amiri" pitchFamily="34" charset="-120"/>
              </a:rPr>
              <a:t>إِنَّهُمْ</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0E7C86"/>
                </a:solidFill>
                <a:latin typeface="Amiri" pitchFamily="34" charset="0"/>
                <a:ea typeface="Amiri" pitchFamily="34" charset="-122"/>
                <a:cs typeface="Amiri" pitchFamily="34" charset="-120"/>
              </a:rPr>
              <a:t>سَيَنْجَحُونَ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973568" y="521573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claim about reform)</a:t>
            </a:r>
            <a:endParaRPr lang="en-US" sz="1100" dirty="0"/>
          </a:p>
        </p:txBody>
      </p:sp>
      <p:sp>
        <p:nvSpPr>
          <p:cNvPr id="41" name="Text 38"/>
          <p:cNvSpPr txBox="1"/>
          <p:nvPr/>
        </p:nvSpPr>
        <p:spPr>
          <a:xfrm>
            <a:off x="60533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noun</a:t>
            </a:r>
            <a:endParaRPr lang="en-US" sz="1100" dirty="0"/>
          </a:p>
        </p:txBody>
      </p:sp>
      <p:sp>
        <p:nvSpPr>
          <p:cNvPr id="42" name="Text 39"/>
          <p:cNvSpPr txBox="1"/>
          <p:nvPr/>
        </p:nvSpPr>
        <p:spPr>
          <a:xfrm>
            <a:off x="54864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الخَبِيرُ </a:t>
            </a:r>
            <a:pPr rtl="1" algn="ctr" indent="0" marL="0">
              <a:buNone/>
            </a:pPr>
            <a:r>
              <a:rPr lang="ar-SA" altLang="en-US" sz="2000" b="1" dirty="0">
                <a:solidFill>
                  <a:srgbClr val="1D5FBF"/>
                </a:solidFill>
                <a:latin typeface="Amiri" pitchFamily="34" charset="0"/>
                <a:ea typeface="Amiri" pitchFamily="34" charset="-122"/>
                <a:cs typeface="Amiri" pitchFamily="34" charset="-120"/>
              </a:rPr>
              <a:t>إِلَى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الإِصْلَاحَ </a:t>
            </a:r>
            <a:pPr rtl="1" algn="ctr" indent="0" marL="0">
              <a:buNone/>
            </a:pPr>
            <a:r>
              <a:rPr lang="ar-SA" altLang="en-US" sz="2000" b="1" dirty="0">
                <a:solidFill>
                  <a:srgbClr val="0E7C86"/>
                </a:solidFill>
                <a:latin typeface="Amiri" pitchFamily="34" charset="0"/>
                <a:ea typeface="Amiri" pitchFamily="34" charset="-122"/>
                <a:cs typeface="Amiri" pitchFamily="34" charset="-120"/>
              </a:rPr>
              <a:t>ضَرُورِيٌّ</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Verb = WHO said it · inna / anna + pronoun = ABOUT WHOM · content = WHAT (the tense is kept).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IDHĀ VS LAW BY EAR (WEBSITE RULE 2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One word decides: real or imagined?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PLAN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قُبِلْتُ فِي الجَامِعَةِ، سَأَتَخَصَّصُ فِي الطَّاقَةِ المُتَجَدِّدَةِ.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am accepted, I will specialise in renewable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تَوَافَرَتْ لِي مَوَارِدُ أَفْضَلُ، لَكُنْتُ قَدْ تَقَدَّمْتُ أَسْرَعَ.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better resources been available, I would have progressed faster.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NEGATIVE REAL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لَمْ … لَنْ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لَمْ أَجْتَهِدْ، لَنْ أَحْصُلَ عَلَى مِنْحَةٍ.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do not work hard, I will not get a scholarship.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lam +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law is not a real plan.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سَمِعْتُ «لَوْ» فَفَهِمْتُ أَنَّهُ افْتِرَاضٌ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سَمِعْتُ «لَوْ» فَفَهِمْتُ أَنَّهُ خُطَّةٌ وَاقِعِيَّةٌ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THE FAST PAST-PERFECT UNIT (WEBSITE RULE 3)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kuntu-qad-qarrartu: one fast unit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قَدْ — وَحْدَةٌ سَرِيعَةٌ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Sounds like</a:t>
            </a:r>
            <a:endParaRPr lang="en-US" sz="1100" dirty="0"/>
          </a:p>
        </p:txBody>
      </p:sp>
      <p:sp>
        <p:nvSpPr>
          <p:cNvPr id="18" name="Text 15"/>
          <p:cNvSpPr txBox="1"/>
          <p:nvPr/>
        </p:nvSpPr>
        <p:spPr>
          <a:xfrm>
            <a:off x="23591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twice</a:t>
            </a:r>
            <a:endParaRPr lang="en-US" sz="1100" dirty="0"/>
          </a:p>
        </p:txBody>
      </p:sp>
      <p:sp>
        <p:nvSpPr>
          <p:cNvPr id="22" name="Text 19"/>
          <p:cNvSpPr txBox="1"/>
          <p:nvPr/>
        </p:nvSpPr>
        <p:spPr>
          <a:xfrm>
            <a:off x="641908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kuntu-qad-ḥaṣaltu</a:t>
            </a:r>
            <a:endParaRPr lang="en-US" sz="1100" dirty="0"/>
          </a:p>
        </p:txBody>
      </p:sp>
      <p:sp>
        <p:nvSpPr>
          <p:cNvPr id="23" name="Text 20"/>
          <p:cNvSpPr txBox="1"/>
          <p:nvPr/>
        </p:nvSpPr>
        <p:spPr>
          <a:xfrm>
            <a:off x="237744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كُنْتُ قَدْ حَصَلْتُ</a:t>
            </a:r>
            <a:endParaRPr lang="ar-SA" sz="22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twice</a:t>
            </a:r>
            <a:endParaRPr lang="en-US" sz="1100" dirty="0"/>
          </a:p>
        </p:txBody>
      </p:sp>
      <p:sp>
        <p:nvSpPr>
          <p:cNvPr id="29" name="Text 26"/>
          <p:cNvSpPr txBox="1"/>
          <p:nvPr/>
        </p:nvSpPr>
        <p:spPr>
          <a:xfrm>
            <a:off x="641908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kāna-qad-ḥaṣala</a:t>
            </a:r>
            <a:endParaRPr lang="en-US" sz="1100" dirty="0"/>
          </a:p>
        </p:txBody>
      </p:sp>
      <p:sp>
        <p:nvSpPr>
          <p:cNvPr id="30" name="Text 27"/>
          <p:cNvSpPr txBox="1"/>
          <p:nvPr/>
        </p:nvSpPr>
        <p:spPr>
          <a:xfrm>
            <a:off x="237744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 قَدْ حَصَلَ</a:t>
            </a:r>
            <a:endParaRPr lang="ar-SA" sz="22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twice</a:t>
            </a:r>
            <a:endParaRPr lang="en-US" sz="1100" dirty="0"/>
          </a:p>
        </p:txBody>
      </p:sp>
      <p:sp>
        <p:nvSpPr>
          <p:cNvPr id="36" name="Text 33"/>
          <p:cNvSpPr txBox="1"/>
          <p:nvPr/>
        </p:nvSpPr>
        <p:spPr>
          <a:xfrm>
            <a:off x="641908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kānat-qad-ḥaṣalat</a:t>
            </a:r>
            <a:endParaRPr lang="en-US" sz="1100" dirty="0"/>
          </a:p>
        </p:txBody>
      </p:sp>
      <p:sp>
        <p:nvSpPr>
          <p:cNvPr id="37" name="Text 34"/>
          <p:cNvSpPr txBox="1"/>
          <p:nvPr/>
        </p:nvSpPr>
        <p:spPr>
          <a:xfrm>
            <a:off x="237744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كَانَتْ قَدْ حَصَلَتْ</a:t>
            </a:r>
            <a:endParaRPr lang="ar-SA" sz="22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 twice</a:t>
            </a:r>
            <a:endParaRPr lang="en-US" sz="1100" dirty="0"/>
          </a:p>
        </p:txBody>
      </p:sp>
      <p:sp>
        <p:nvSpPr>
          <p:cNvPr id="41" name="Text 38"/>
          <p:cNvSpPr txBox="1"/>
          <p:nvPr/>
        </p:nvSpPr>
        <p:spPr>
          <a:xfrm>
            <a:off x="641908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kānū-qad-ḥaṣalū</a:t>
            </a:r>
            <a:endParaRPr lang="en-US" sz="1100" dirty="0"/>
          </a:p>
        </p:txBody>
      </p:sp>
      <p:sp>
        <p:nvSpPr>
          <p:cNvPr id="42" name="Text 39"/>
          <p:cNvSpPr txBox="1"/>
          <p:nvPr/>
        </p:nvSpPr>
        <p:spPr>
          <a:xfrm>
            <a:off x="237744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كَانُوا قَدْ حَصَلُوا</a:t>
            </a:r>
            <a:endParaRPr lang="ar-SA" sz="22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 + past perfect</a:t>
            </a:r>
            <a:endParaRPr lang="en-US" sz="1100" dirty="0"/>
          </a:p>
        </p:txBody>
      </p:sp>
      <p:sp>
        <p:nvSpPr>
          <p:cNvPr id="46" name="Text 43"/>
          <p:cNvSpPr txBox="1"/>
          <p:nvPr/>
        </p:nvSpPr>
        <p:spPr>
          <a:xfrm>
            <a:off x="641908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la-kuntu-qad-taqaddamtu</a:t>
            </a:r>
            <a:endParaRPr lang="en-US" sz="1100" dirty="0"/>
          </a:p>
        </p:txBody>
      </p:sp>
      <p:sp>
        <p:nvSpPr>
          <p:cNvPr id="47" name="Text 44"/>
          <p:cNvSpPr txBox="1"/>
          <p:nvPr/>
        </p:nvSpPr>
        <p:spPr>
          <a:xfrm>
            <a:off x="2377440" y="521573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لَكُنْتُ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D6336C"/>
                </a:solidFill>
                <a:latin typeface="Amiri" pitchFamily="34" charset="0"/>
                <a:ea typeface="Amiri" pitchFamily="34" charset="-122"/>
                <a:cs typeface="Amiri" pitchFamily="34" charset="-120"/>
              </a:rPr>
              <a:t>قَدْ تَقَدَّمْتُ</a:t>
            </a:r>
            <a:endParaRPr lang="ar-SA" sz="22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(Type 2 result)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ending repeats: kāna and the main verb carry the SAME person — so the first ending tells you who.</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SPEAKER’S VIEW OR A CITED ONE? (WEBSITE RULE 4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opinion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المُتَحَدِّثِ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63825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Whose view?</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 (website listening)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arā (I think)</a:t>
            </a:r>
            <a:endParaRPr lang="en-US" sz="1100" dirty="0"/>
          </a:p>
        </p:txBody>
      </p:sp>
      <p:sp>
        <p:nvSpPr>
          <p:cNvPr id="21" name="Text 18"/>
          <p:cNvSpPr txBox="1"/>
          <p:nvPr/>
        </p:nvSpPr>
        <p:spPr>
          <a:xfrm>
            <a:off x="641908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speaker’s own</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أَرَى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ضَغْطَ الامْتِحَانَاتِ كَبِيرٌ.</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qāla</a:t>
            </a:r>
            <a:endParaRPr lang="en-US" sz="1100" dirty="0"/>
          </a:p>
        </p:txBody>
      </p:sp>
      <p:sp>
        <p:nvSpPr>
          <p:cNvPr id="27" name="Text 24"/>
          <p:cNvSpPr txBox="1"/>
          <p:nvPr/>
        </p:nvSpPr>
        <p:spPr>
          <a:xfrm>
            <a:off x="641908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adviser’s</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900" b="1" dirty="0">
                <a:solidFill>
                  <a:srgbClr val="1B3B6F"/>
                </a:solidFill>
                <a:latin typeface="Amiri" pitchFamily="34" charset="0"/>
                <a:ea typeface="Amiri" pitchFamily="34" charset="-122"/>
                <a:cs typeface="Amiri" pitchFamily="34" charset="-120"/>
              </a:rPr>
              <a:t> مُرْشِدِي إِنَّنِي مُؤَهَّلٌ.</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akkada + -ī</a:t>
            </a:r>
            <a:endParaRPr lang="en-US" sz="1100" dirty="0"/>
          </a:p>
        </p:txBody>
      </p:sp>
      <p:sp>
        <p:nvSpPr>
          <p:cNvPr id="33" name="Text 30"/>
          <p:cNvSpPr txBox="1"/>
          <p:nvPr/>
        </p:nvSpPr>
        <p:spPr>
          <a:xfrm>
            <a:off x="641908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adviser’s (about me)</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وَأَكَّدَ</a:t>
            </a:r>
            <a:pPr rtl="1" algn="ctr" indent="0" marL="0">
              <a:buNone/>
            </a:pPr>
            <a:r>
              <a:rPr lang="ar-SA" altLang="en-US" sz="1900" b="1" dirty="0">
                <a:solidFill>
                  <a:srgbClr val="1B3B6F"/>
                </a:solidFill>
                <a:latin typeface="Amiri" pitchFamily="34" charset="0"/>
                <a:ea typeface="Amiri" pitchFamily="34" charset="-122"/>
                <a:cs typeface="Amiri" pitchFamily="34" charset="-120"/>
              </a:rPr>
              <a:t> أَنَّ اجْتِهَادِي سَيُثْمِرُ.</a:t>
            </a:r>
            <a:endParaRPr lang="ar-SA" sz="19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ashāra</a:t>
            </a:r>
            <a:endParaRPr lang="en-US" sz="1100" dirty="0"/>
          </a:p>
        </p:txBody>
      </p:sp>
      <p:sp>
        <p:nvSpPr>
          <p:cNvPr id="37" name="Text 34"/>
          <p:cNvSpPr txBox="1"/>
          <p:nvPr/>
        </p:nvSpPr>
        <p:spPr>
          <a:xfrm>
            <a:off x="641908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report’s</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وَأَشَارَ</a:t>
            </a:r>
            <a:pPr rtl="1" algn="ctr" indent="0" marL="0">
              <a:buNone/>
            </a:pPr>
            <a:r>
              <a:rPr lang="ar-SA" altLang="en-US" sz="1900" b="1" dirty="0">
                <a:solidFill>
                  <a:srgbClr val="1B3B6F"/>
                </a:solidFill>
                <a:latin typeface="Amiri" pitchFamily="34" charset="0"/>
                <a:ea typeface="Amiri" pitchFamily="34" charset="-122"/>
                <a:cs typeface="Amiri" pitchFamily="34" charset="-120"/>
              </a:rPr>
              <a:t> تَقْرِيرٌ إِلَى أَنَّ نِسْبَةَ القَبُولِ مُرْتَفِعَةٌ.</a:t>
            </a:r>
            <a:endParaRPr lang="ar-SA" sz="19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«qāla l-khabīru inna …» reports the EXPERT’s view, not the speaker’s.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Hearing P2 structures in fast speech</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سَمَاعُ البُنَى فِي الكَلَامِ السَّرِيعِ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Decode reported speech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inna / anna + content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المُرْشِدُ إِنَّنِي سَأَنْجَحُ   ·   أَشَارَ الخَبِيرُ إِلَى أَنَّ الإِصْلَاحَ ضَرُورِيٌّ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idhā vs law by 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(real) · law … la- (unreal)</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قُبِلْتُ، سَأَدْرُسُ الطِّبَّ   ·   لَوْ تَوَافَرَ الدَّعْمُ، لَتَفَوَّقْتُ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Catch the past-perfect unit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kāna-qad-verb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حَصَلْتُ عَلَى مِنْحَةٍ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arā anna vs qāla … inna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أَرَى أَنَّ …   ·   قَالَ الخَبِيرُ إِنَّ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 إِنَّنِي سَأَنْجَحُ</a:t>
            </a:r>
            <a:pPr algn="l" indent="0" marL="0">
              <a:buNone/>
            </a:pPr>
            <a:r>
              <a:rPr lang="en-US" sz="1250" b="1" dirty="0">
                <a:solidFill>
                  <a:srgbClr val="1B3B6F"/>
                </a:solidFill>
                <a:latin typeface="Calibri" pitchFamily="34" charset="0"/>
                <a:ea typeface="Calibri" pitchFamily="34" charset="-122"/>
                <a:cs typeface="Calibri" pitchFamily="34" charset="-120"/>
              </a:rPr>
              <a:t>», who is described as succeeding?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followed by a verb and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This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hypothetical conditional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narrative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followed by a past verb. This signals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certain future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 إِنَّنِي سَأَنْجَحُ</a:t>
            </a:r>
            <a:pPr algn="l" indent="0" marL="0">
              <a:buNone/>
            </a:pPr>
            <a:r>
              <a:rPr lang="en-US" sz="1250" b="1" dirty="0">
                <a:solidFill>
                  <a:srgbClr val="1B3B6F"/>
                </a:solidFill>
                <a:latin typeface="Calibri" pitchFamily="34" charset="0"/>
                <a:ea typeface="Calibri" pitchFamily="34" charset="-122"/>
                <a:cs typeface="Calibri" pitchFamily="34" charset="-120"/>
              </a:rPr>
              <a:t>», who is described as succeeding?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mentor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إِنَّنِي</a:t>
            </a:r>
            <a:pPr algn="l" indent="0" marL="0">
              <a:buNone/>
            </a:pPr>
            <a:r>
              <a:rPr lang="en-US" sz="1050" i="1" dirty="0">
                <a:solidFill>
                  <a:srgbClr val="8A6D1E"/>
                </a:solidFill>
                <a:latin typeface="Calibri" pitchFamily="34" charset="0"/>
                <a:ea typeface="Calibri" pitchFamily="34" charset="-122"/>
                <a:cs typeface="Calibri" pitchFamily="34" charset="-120"/>
              </a:rPr>
              <a:t> refers to the speaker; the mentor is the source.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followed by a verb and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This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hypothetical conditional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narrative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followed by a past verb. This signals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certain future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 past signals a hypothetical, counterfactual case.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ea typeface="Calibri" pitchFamily="34" charset="-122"/>
                <a:cs typeface="Calibri" pitchFamily="34" charset="-120"/>
              </a:rPr>
              <a:t>R · C · P · O</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إِنَّنِي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speaker.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Unit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كُنْتُ-قَدْ-قَرَّرْتُ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fast unit.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COUNTERFACTUAL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يَقُولُ الطَّالِبُ: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دِرَاسَةَ الهَنْدَسَةِ.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قَالَ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مُرْشِدِي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مُؤَهَّلٌ.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قُبِلْتُ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الجَامِعَةِ،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سَأَتَخَصَّصُ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الطَّاقَةِ المُتَجَدِّدَةِ.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تَوَافَرَتْ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لِي مَوَارِدُ أَفْضَلُ،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قَدْ تَقَدَّمْتُ أَسْرَعَ.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 says: I had decided to study engineering. My adviser said that I am qualified. If I am accepted at the university, I will specialise in renewable energy. And had better resources been available to me, I would have progressed faster.</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مُرْشِدِي إِنَّنِي سَأَنْجَحُ بِالتَّأْكِيدِ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adviser said that I will certainly succeed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 inna + pronoun + kept future.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تَوَافَرَ الدَّعْمُ، لَتَفَوَّقْتُ أَكْثَرَ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the support been available, I would have excelled more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law signals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حَصَلْتُ عَلَى مِنْحَةٍ قَبْلَ الثَّانَوِيَّةِ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obtained a scholarship before secondary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Fast past-perfect unit kuntu qad.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Claim + conditional + past perfect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Reported claim</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Past-perfect fact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قَالَ المُرْشِدُ إِنَّهُ مُؤَهَّلٌ لِلْمُنَافَسَةِ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قُبِلَ سَيَتَخَصَّصُ فِي الطَّاقَةِ المُتَجَدِّدَةِ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وَكَانَ قَدْ حَصَلَ عَلَى خِبْرَةٍ عَمَلِيَّةٍ قَبْلَ الثَّانَوِيَّةِ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أَشَارَ التَّقْرِيرُ إِلَى أَنَّ نِسْبَةَ القَبُولِ مُرْتَفِعَةٌ</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تَوَافَرَ الدَّعْمُ لَتَقَدَّمَ أَسْرَعَ</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وَكَانَ قَدْ قَرَّرَ مَجَالَهُ مُبَكِّرًا</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الخَبِيرُ أَنَّ الاجْتِهَادَ سَيُثْمِرُ</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اجْتَهَدَ أَكْثَرَ سَيَحْصُلُ عَلَى مِنْحَةٍ</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وَكَانَ قَدْ أَنْجَزَ مَشْرُوعًا بَحْثِيًّا</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Reported speech, conditional — or past perfect?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 لَـ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 … لَنْ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 (real / hypothetical)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 (real / hypothetical)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 لَـ</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 … لَنْ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word </a:t>
            </a:r>
            <a:pPr algn="l" indent="0" marL="0">
              <a:buNone/>
            </a:pPr>
            <a:r>
              <a:rPr lang="ar-SA" altLang="en-US" sz="1650" dirty="0">
                <a:solidFill>
                  <a:srgbClr val="1F2A37"/>
                </a:solidFill>
                <a:latin typeface="Amiri" pitchFamily="34" charset="0"/>
                <a:ea typeface="Amiri" pitchFamily="34" charset="-122"/>
                <a:cs typeface="Amiri" pitchFamily="34" charset="-120"/>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reporting verb like </a:t>
            </a:r>
            <a:pPr algn="l" indent="0" marL="0">
              <a:buNone/>
            </a:pPr>
            <a:r>
              <a:rPr lang="ar-SA" altLang="en-US" sz="1650" dirty="0">
                <a:solidFill>
                  <a:srgbClr val="1F2A37"/>
                </a:solidFill>
                <a:latin typeface="Amiri" pitchFamily="34" charset="0"/>
                <a:ea typeface="Amiri" pitchFamily="34" charset="-122"/>
                <a:cs typeface="Amiri" pitchFamily="34" charset="-120"/>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أَشَارَ الخَبِيرُ ___ أَنَّ الإِصْلَاحَ ضَرُورِيٌّ.</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change fits reporting a boy's «</a:t>
            </a:r>
            <a:pPr algn="l" indent="0" marL="0">
              <a:buNone/>
            </a:pPr>
            <a:r>
              <a:rPr lang="ar-SA" altLang="en-US" sz="1650" b="1" dirty="0">
                <a:solidFill>
                  <a:srgbClr val="1B3B6F"/>
                </a:solidFill>
                <a:latin typeface="Amiri" pitchFamily="34" charset="0"/>
                <a:ea typeface="Amiri" pitchFamily="34" charset="-122"/>
                <a:cs typeface="Amiri" pitchFamily="34" charset="-120"/>
              </a:rPr>
              <a:t>سَأَدْرُسُ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إِنَّنِي سَأَدْرُسُ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سَيَدْرُسُ</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إِنَّهَا سَتَدْرُسُ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matter for the answer?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the speaker</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the tense of every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whether the plan is real or hypothetical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word </a:t>
            </a:r>
            <a:pPr algn="l" indent="0" marL="0">
              <a:buNone/>
            </a:pPr>
            <a:r>
              <a:rPr lang="ar-SA" altLang="en-US" sz="1650" dirty="0">
                <a:solidFill>
                  <a:srgbClr val="9AA1AB"/>
                </a:solidFill>
                <a:latin typeface="Amiri" pitchFamily="34" charset="0"/>
                <a:ea typeface="Amiri" pitchFamily="34" charset="-122"/>
                <a:cs typeface="Amiri" pitchFamily="34" charset="-120"/>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reporting verb like </a:t>
            </a:r>
            <a:pPr algn="l" indent="0" marL="0">
              <a:buNone/>
            </a:pPr>
            <a:r>
              <a:rPr lang="ar-SA" altLang="en-US" sz="1650" b="1" dirty="0">
                <a:solidFill>
                  <a:srgbClr val="1F2A37"/>
                </a:solidFill>
                <a:latin typeface="Amiri" pitchFamily="34" charset="0"/>
                <a:ea typeface="Amiri" pitchFamily="34" charset="-122"/>
                <a:cs typeface="Amiri" pitchFamily="34" charset="-120"/>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أَشَارَ الخَبِيرُ ___ أَنَّ الإِصْلَاحَ ضَرُورِيٌّ.</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change fits reporting a boy's «</a:t>
            </a:r>
            <a:pPr algn="l" indent="0" marL="0">
              <a:buNone/>
            </a:pPr>
            <a:r>
              <a:rPr lang="ar-SA" altLang="en-US" sz="1650" b="1" dirty="0">
                <a:solidFill>
                  <a:srgbClr val="1B3B6F"/>
                </a:solidFill>
                <a:latin typeface="Amiri" pitchFamily="34" charset="0"/>
                <a:ea typeface="Amiri" pitchFamily="34" charset="-122"/>
                <a:cs typeface="Amiri" pitchFamily="34" charset="-120"/>
              </a:rPr>
              <a:t>سَأَدْرُسُ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إِنَّنِي سَأَدْرُسُ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سَيَدْرُسُ</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إِنَّهَا سَتَدْرُسُ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masculine: </a:t>
            </a:r>
            <a:pPr algn="l" indent="0" marL="0">
              <a:buNone/>
            </a:pPr>
            <a:r>
              <a:rPr lang="ar-SA" altLang="en-US" sz="1350" dirty="0">
                <a:solidFill>
                  <a:srgbClr val="8A6D1E"/>
                </a:solidFill>
                <a:latin typeface="Amiri" pitchFamily="34" charset="0"/>
                <a:ea typeface="Amiri" pitchFamily="34" charset="-122"/>
                <a:cs typeface="Amiri" pitchFamily="34" charset="-120"/>
              </a:rPr>
              <a:t>إِنَّهُ سَيَدْرُسُ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matter for the answer?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changes the speaker</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changes the tense of every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changes whether the plan is real or hypothetical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signal word fixes whether the situation is real or counterfactual.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34" charset="0"/>
                <a:ea typeface="Amiri" pitchFamily="34" charset="-122"/>
                <a:cs typeface="Amiri" pitchFamily="34" charset="-120"/>
              </a:rPr>
              <a:t>«قَالَ الخَبِيرُ إِنَّ الإِصْلَاحَ ضَرُورِيٌّ» يَعْنِي رَأْيَ المُتَحَدِّثِ.</a:t>
            </a:r>
            <a:endParaRPr lang="ar-SA" sz="29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l-khabīru → whose view?</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«لَوْ» فَفَهِمْتُ أَنَّهُ خُطَّةٌ وَاقِعِيَّةٌ.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a real plan?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أَشَارَ الخَبِيرُ أَنَّ الإِصْلَاحَ ضَرُورِيٌّ.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«قَالَ الخَبِيرُ إِنَّ الإِصْلَاحَ ضَرُورِيٌّ» يَعْنِي رَأْيَ المُتَحَدِّثِ.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«قَالَ الخَبِيرُ إِنَّ الإِصْلَاحَ ضَرُورِيٌّ» يَنْقُلُ رَأْيَ الخَبِيرِ.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reporting verb cites another source, not the speaker's own view.</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سَمِعْتُ «لَوْ» فَفَهِمْتُ أَنَّهُ خُطَّةٌ وَاقِعِيَّةٌ.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سَمِعْتُ «لَوْ» فَفَهِمْتُ أَنَّهُ افْتِرَاضٌ.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signals a hypothetical, not a real plan.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أَشَارَ الخَبِيرُ أَنَّ الإِصْلَاحَ ضَرُورِيٌّ.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أَشَارَ الخَبِيرُ إِلَى أَنَّ الإِصْلَاحَ ضَرُورِيٌّ.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أَشَارَ</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before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Part 1: background and the adviser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Decided on engineering and gained work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say and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is qualified and their effort will bear fruit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had the student decided to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 · R · 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qāla … inna-nī.</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الطَّالِبُ: بِحُلُولِ نِهَايَةِ الثَّانَوِيَّةِ، كُنْتُ قَدْ قَرَّرْتُ دِرَاسَةَ الهَنْدَسَةِ، وَكُنْتُ قَدْ حَصَلْتُ عَلَى خِبْرَةٍ عَمَلِيَّةٍ.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says: by the end of secondary school, I had decided to study engineering, and I had gained practical experience.</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 مُرْشِدِي إِنَّنِي مُؤَهَّلٌ، وَأَكَّدَ أَنَّ اجْتِهَادِي سَيُثْمِرُ.</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adviser said that I am qualified, and stressed that my hard work will pay off.</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done by the end of secondary school?</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Decided on engineering and gained work experience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say and stress?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 student is qualified and their effort will bear fruit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مُرْشِدِي إِنَّنِي مُؤَهَّلٌ، وَأَكَّدَ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had the student decided to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قَرَّرْتُ دِرَاسَةَ الهَنْدَسَةِ.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 · R · 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qāla … inna-nī.</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Part 2: plans, a counterfactual and opinions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(Type 1) plan if accepted?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Specialise in 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university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 about resources?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Resources make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refused resources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better resources, the student would have progressed faster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report indicate about acceptance rates?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zero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high in this field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OWN view of exam pressure?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great, but it pushes him to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report says it is 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 · C · R · 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 law … la- · ashāra · arā.</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قُبِلْتُ فِي الجَامِعَةِ الَّتِي أُرِيدُهَا، سَأَتَخَصَّصُ فِي الطَّاقَةِ المُتَجَدِّدَةِ.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 am accepted at the university I want, I will specialise in renewable energy.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تَوَافَرَتْ لِي مَوَارِدُ أَفْضَلُ فِي المَدْرَسَةِ، لَكُنْتُ قَدْ تَقَدَّمْتُ أَسْرَعَ.</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better resources been available to me at school, I would have progressed faster.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وَأَشَارَ تَقْرِيرٌ إِلَى أَنَّ نِسْبَةَ القَبُولِ فِي هٰذَا المَجَالِ مُرْتَفِعَةٌ.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 indicated that the acceptance rate in this field is high.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أَرَى أَنَّ ضَغْطَ الامْتِحَانَاتِ كَبِيرٌ، لٰكِنَّهُ يَدْفَعُنِي إِلَى العَمَلِ. سَوْفَ أُسْهِمُ فِي مَجَالِي بَعْدَ التَّخَرُّجِ.</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think exam pressure is great, but it pushes me to work. I will contribute to my field after graduating.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(Type 1) plan if accepted?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Specialise in renewable energy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university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قُبِلْتُ … سَأَتَخَصَّصُ فِي الطَّاقَةِ المُتَجَدِّدَةِ.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 about resources?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Resources make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refused resources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better resources, the student would have progressed faster</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تَوَافَرَتْ لِي مَوَارِدُ أَفْضَلُ … لَكُنْتُ قَدْ تَقَدَّمْتُ أَسْرَعَ.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report indicate about acceptance rates?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zero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high in this field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تَقْرِيرٌ إِلَى أَنَّ نِسْبَةَ القَبُولِ …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OWN view of exam pressure?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great, but it pushes him to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report says it is 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أَرَى أَنَّ ضَغْطَ الامْتِحَانَاتِ كَبِيرٌ، لٰكِنَّهُ يَدْفَعُنِي إِلَى العَمَلِ.</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 · C · R · 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 law … la- · ashāra · arā.</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الكَلَامُ المَنْقُولُ الَّذِي سَمِعْتَهُ؟ وَبِأَيِّ فِعْلٍ نَاقِلٍ؟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اسْتَعْمَلَ المُتَحَدِّثُ «إِذَا» أَمْ «لَوْ»؟ وَمَاذَا يَعْنِي ذٰلِكَ؟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الإِنْجَازُ السَّابِقُ الَّذِي ذَكَرَهُ؟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سَمِعْتُ أَنَّ المُرْشِدَ قَالَ إِنَّهُ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اسْتَعْمَلَ « ___ »، أَيْ إِنَّهُ يَصِفُ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قَدْ ___ قَبْلَ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الكَلَامُ المَنْقُولُ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reported speech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قَالَ المُرْشِدُ إِنَّهُ مُؤَهَّلٌ، وَأَكَّدَ أَنَّ اجْتِهَادَهُ سَيُثْمِرُ.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The adviser said that he is qualified, and stressed that his hard work will pay off.</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Annotate five questions with the signal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annotate five questions with the signal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whether each targets reported speech, a conditional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whether each targets reported speech, a conditional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a:t>
            </a:r>
            <a:pPr algn="l" indent="0" marL="0">
              <a:buNone/>
            </a:pPr>
            <a:r>
              <a:rPr lang="ar-SA" altLang="en-US" sz="1800" b="1" dirty="0">
                <a:solidFill>
                  <a:srgbClr val="1F2A37"/>
                </a:solidFill>
                <a:latin typeface="Amiri" pitchFamily="34" charset="0"/>
                <a:ea typeface="Amiri" pitchFamily="34" charset="-122"/>
                <a:cs typeface="Amiri" pitchFamily="34" charset="-120"/>
              </a:rPr>
              <a:t>إِذَا</a:t>
            </a:r>
            <a:pPr algn="l" indent="0" marL="0">
              <a:buNone/>
            </a:pPr>
            <a:r>
              <a:rPr lang="en-US" sz="1400" b="1" dirty="0">
                <a:solidFill>
                  <a:srgbClr val="1F2A37"/>
                </a:solidFill>
                <a:latin typeface="Calibri" pitchFamily="34" charset="0"/>
                <a:ea typeface="Calibri" pitchFamily="34" charset="-122"/>
                <a:cs typeface="Calibri" pitchFamily="34" charset="-120"/>
              </a:rPr>
              <a:t> vs </a:t>
            </a:r>
            <a:pPr algn="l" indent="0" marL="0">
              <a:buNone/>
            </a:pPr>
            <a:r>
              <a:rPr lang="ar-SA" altLang="en-US" sz="1800" b="1" dirty="0">
                <a:solidFill>
                  <a:srgbClr val="1F2A37"/>
                </a:solidFill>
                <a:latin typeface="Amiri" pitchFamily="34" charset="0"/>
                <a:ea typeface="Amiri" pitchFamily="34" charset="-122"/>
                <a:cs typeface="Amiri" pitchFamily="34" charset="-120"/>
              </a:rPr>
              <a:t>لَوْ</a:t>
            </a:r>
            <a:pPr algn="l" indent="0" marL="0">
              <a:buNone/>
            </a:pPr>
            <a:r>
              <a:rPr lang="en-US" sz="1400" b="1" dirty="0">
                <a:solidFill>
                  <a:srgbClr val="1F2A37"/>
                </a:solidFill>
                <a:latin typeface="Calibri" pitchFamily="34" charset="0"/>
                <a:ea typeface="Calibri" pitchFamily="34" charset="-122"/>
                <a:cs typeface="Calibri" pitchFamily="34" charset="-120"/>
              </a:rPr>
              <a:t>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your listening strategy — reported speech, idhā vs law, kāna qad and cited views.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أُمَيِّزُ بَيْنَ «إِذَا» الحَقِيقِيَّةِ وَ«لَوْ» الافْتِرَاضِيَّةِ لِأَنَّ ______ .</a:t>
            </a:r>
            <a:endParaRPr lang="ar-SA" sz="12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distinguish real idhā from hypothetical law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أَلْتَقِطُ «كَانَ قَدْ» بِوَصْفِهَا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catch kāna qad 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يَنْقُلُ الفِعْلُ النَّاقِلُ رَأْيَ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reporting verb conveys the view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فَلَا أَخْلِطُ بَيْنَ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do not confuse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إِذَا كَانَ السُّؤَالُ عَنْ كَلَامٍ مَنْقُولٍ، أَنْتَظِرُ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question is about reported speech,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يُخْبِرُنِي الضَّمِيرُ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pronoun tells me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فِعْلًا نَاقِلًا مَعَ «إِنَّ» أَوْ «أَنَّ»  ·  عَمَّنْ يَتَحَدَّثُ  ·  إِنْجَازٍ سَابِقٍ  ·  وَحْدَةً سَرِيعَةً  ·  الإِجَابَةَ تَخْتَلِفُ  ·  نَوْعِ الشَّرْطِ  ·  مَصْدَرٍ آخَرَ  ·  رَأْيِ المُتَحَدِّثِ  ·  إِشَارَةٌ  ·  كَلِمَةٌ مِفْتَاحِيَّةٌ  ·  مُشَتِّتٌ  ·  أُحَدِّدُ مَا يَطْلُبُهُ</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explaining your listening strategy for academic education texts. Describe how you decode reported speech, how you tell </a:t>
            </a:r>
            <a:pPr algn="l" indent="0" marL="0">
              <a:buNone/>
            </a:pPr>
            <a:r>
              <a:rPr lang="ar-SA" altLang="en-US" sz="1750" b="1" dirty="0">
                <a:solidFill>
                  <a:srgbClr val="1F2A37"/>
                </a:solidFill>
                <a:latin typeface="Amiri" pitchFamily="34" charset="0"/>
                <a:ea typeface="Amiri" pitchFamily="34" charset="-122"/>
                <a:cs typeface="Amiri" pitchFamily="34" charset="-120"/>
              </a:rPr>
              <a:t>إِذَا</a:t>
            </a:r>
            <a:pPr algn="l" indent="0" marL="0">
              <a:buNone/>
            </a:pPr>
            <a:r>
              <a:rPr lang="en-US" sz="1350" b="1" dirty="0">
                <a:solidFill>
                  <a:srgbClr val="1F2A37"/>
                </a:solidFill>
                <a:latin typeface="Calibri" pitchFamily="34" charset="0"/>
                <a:ea typeface="Calibri" pitchFamily="34" charset="-122"/>
                <a:cs typeface="Calibri" pitchFamily="34" charset="-120"/>
              </a:rPr>
              <a:t> from </a:t>
            </a:r>
            <a:pPr algn="l" indent="0" marL="0">
              <a:buNone/>
            </a:pPr>
            <a:r>
              <a:rPr lang="ar-SA" altLang="en-US" sz="1750" b="1" dirty="0">
                <a:solidFill>
                  <a:srgbClr val="1F2A37"/>
                </a:solidFill>
                <a:latin typeface="Amiri" pitchFamily="34" charset="0"/>
                <a:ea typeface="Amiri" pitchFamily="34" charset="-122"/>
                <a:cs typeface="Amiri" pitchFamily="34" charset="-120"/>
              </a:rPr>
              <a:t>لَوْ</a:t>
            </a:r>
            <a:pPr algn="l" indent="0" marL="0">
              <a:buNone/>
            </a:pPr>
            <a:r>
              <a:rPr lang="en-US" sz="1350" b="1" dirty="0">
                <a:solidFill>
                  <a:srgbClr val="1F2A37"/>
                </a:solidFill>
                <a:latin typeface="Calibri" pitchFamily="34" charset="0"/>
                <a:ea typeface="Calibri" pitchFamily="34" charset="-122"/>
                <a:cs typeface="Calibri" pitchFamily="34" charset="-120"/>
              </a:rPr>
              <a:t>, and how you catch the fast past-perfect unit.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step for decoding reported speech (verb + particle + content).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 vs </a:t>
            </a:r>
            <a:pPr algn="l" indent="0" marL="0">
              <a:buNone/>
            </a:pPr>
            <a:r>
              <a:rPr lang="ar-SA" altLang="en-US" sz="1550" dirty="0">
                <a:solidFill>
                  <a:srgbClr val="1F2A37"/>
                </a:solidFill>
                <a:latin typeface="Amiri" pitchFamily="34" charset="0"/>
                <a:ea typeface="Amiri" pitchFamily="34" charset="-122"/>
                <a:cs typeface="Amiri" pitchFamily="34" charset="-120"/>
              </a:rPr>
              <a:t>لَوْ</a:t>
            </a:r>
            <a:pPr algn="l" indent="0" marL="0">
              <a:buNone/>
            </a:pPr>
            <a:r>
              <a:rPr lang="en-US" sz="1200" dirty="0">
                <a:solidFill>
                  <a:srgbClr val="1F2A37"/>
                </a:solidFill>
                <a:latin typeface="Calibri" pitchFamily="34" charset="0"/>
                <a:ea typeface="Calibri" pitchFamily="34" charset="-122"/>
                <a:cs typeface="Calibri" pitchFamily="34" charset="-120"/>
              </a:rPr>
              <a:t> distinction and why it matters.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to catch </a:t>
            </a:r>
            <a:pPr algn="l" indent="0" marL="0">
              <a:buNone/>
            </a:pPr>
            <a:r>
              <a:rPr lang="ar-SA" altLang="en-US" sz="1550" dirty="0">
                <a:solidFill>
                  <a:srgbClr val="1F2A37"/>
                </a:solidFill>
                <a:latin typeface="Amiri" pitchFamily="34" charset="0"/>
                <a:ea typeface="Amiri" pitchFamily="34" charset="-122"/>
                <a:cs typeface="Amiri" pitchFamily="34" charset="-120"/>
              </a:rPr>
              <a:t>كَانَ قَدْ</a:t>
            </a:r>
            <a:pPr algn="l" indent="0" marL="0">
              <a:buNone/>
            </a:pPr>
            <a:r>
              <a:rPr lang="en-US" sz="1200" dirty="0">
                <a:solidFill>
                  <a:srgbClr val="1F2A37"/>
                </a:solidFill>
                <a:latin typeface="Calibri" pitchFamily="34" charset="0"/>
                <a:ea typeface="Calibri" pitchFamily="34" charset="-122"/>
                <a:cs typeface="Calibri" pitchFamily="34" charset="-120"/>
              </a:rPr>
              <a:t> in fast speech.</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note that a reporting verb cites another source.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وَأُحَدِّدُ مَا يَطْلُبُهُ كُلٌّ مِنْهَا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identify what each one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أَنْتَبِهُ إِلَى الضَّمِيرِ لِأَعْرِفَ عَمَّنْ يَتَحَدَّثُ</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pay attention to the pronoun to know who he is talking about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الإِجَابَةَ تَخْتَلِفُ بِحَسَبِ نَوْعِ الشَّرْطِ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the answer differs according to the type of conditional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بِوَصْفِهَا وَحْدَةً سَرِيعَةً تَدُلُّ عَلَى إِنْجَازٍ سَابِقٍ</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a fast unit that signals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فَلَا أَخْلِطُ بَيْنَهُمَا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do not confuse the two</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قَبْلَ الاسْتِمَاعِ، أَقْرَأُ الأَسْئِلَةَ وَأُحَدِّدُ مَا يَطْلُبُهُ كُلٌّ مِنْهَا. إِذَا كَانَ السُّؤَالُ عَنْ كَلَامٍ مَنْقُولٍ، أَنْتَظِرُ فِعْلًا نَاقِلًا مَعَ «إِنَّ» أَوْ «أَنَّ»، ثُمَّ أَنْتَبِهُ إِلَى الضَّمِيرِ لِأَعْرِفَ عَمَّنْ يَتَحَدَّثُ. وَأُمَيِّزُ بَيْنَ «إِذَا» الحَقِيقِيَّةِ وَ«لَوْ» الافْتِرَاضِيَّةِ، لِأَنَّ الإِجَابَةَ تَخْتَلِفُ بِحَسَبِ نَوْعِ الشَّرْطِ. وَأَلْتَقِطُ «كَانَ قَدْ» بِوَصْفِهَا وَحْدَةً سَرِيعَةً تَدُلُّ عَلَى إِنْجَازٍ سَابِقٍ. وَأَخِيرًا، أَتَذَكَّرُ أَنَّ الفِعْلَ النَّاقِلَ يَنْقُلُ رَأْيَ مَصْدَرٍ آخَرَ لَا رَأْيَ المُتَحَدِّثِ، فَلَا أَخْلِطُ بَيْنَهُمَا.</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Before listening, I read the questions and identify what each one asks for. If the question is about reported speech, I wait for a reporting verb with “inna” or “anna”, then I pay attention to the pronoun to know who the speaker is talking about. I distinguish real “idhā” from hypothetical “law”, because the answer differs according to the type of conditional. I catch “kāna qad” as a fast unit that signals an earlier achievement. Finally, I remember that a reporting verb conveys the view of another source, not the speaker’s, so I do not confuse the two.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reported-speech routine (verb · particle · pronoun)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vs law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 qad as one unit + cited vs own view</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every question and wrote its signal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who said it and about whom (the pronoun).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idhā as a plan and law as a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kāna qad + verb and its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speaker’s view apart from a cited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 إِنَّنِي سَأَنْجَحُ</a:t>
            </a:r>
            <a:pPr algn="l" indent="0" marL="0">
              <a:buNone/>
            </a:pPr>
            <a:r>
              <a:rPr lang="en-US" sz="1250" b="1" dirty="0">
                <a:solidFill>
                  <a:srgbClr val="1B3B6F"/>
                </a:solidFill>
                <a:latin typeface="Calibri" pitchFamily="34" charset="0"/>
                <a:ea typeface="Calibri" pitchFamily="34" charset="-122"/>
                <a:cs typeface="Calibri" pitchFamily="34" charset="-120"/>
              </a:rPr>
              <a:t>», who succeeds?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 a past verb. This signals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plan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 إِنَّنِي سَأَنْجَحُ</a:t>
            </a:r>
            <a:pPr algn="l" indent="0" marL="0">
              <a:buNone/>
            </a:pPr>
            <a:r>
              <a:rPr lang="en-US" sz="1250" b="1" dirty="0">
                <a:solidFill>
                  <a:srgbClr val="1B3B6F"/>
                </a:solidFill>
                <a:latin typeface="Calibri" pitchFamily="34" charset="0"/>
                <a:ea typeface="Calibri" pitchFamily="34" charset="-122"/>
                <a:cs typeface="Calibri" pitchFamily="34" charset="-120"/>
              </a:rPr>
              <a:t>», who succeeds?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mentor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إِنَّنِي</a:t>
            </a:r>
            <a:pPr algn="l" indent="0" marL="0">
              <a:buNone/>
            </a:pPr>
            <a:r>
              <a:rPr lang="en-US" sz="1050" i="1" dirty="0">
                <a:solidFill>
                  <a:srgbClr val="8A6D1E"/>
                </a:solidFill>
                <a:latin typeface="Calibri" pitchFamily="34" charset="0"/>
                <a:ea typeface="Calibri" pitchFamily="34" charset="-122"/>
                <a:cs typeface="Calibri" pitchFamily="34" charset="-120"/>
              </a:rPr>
              <a:t> refers to the speaker.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 a past verb. This signals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plan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 past signals a hypothetical case.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لِتَنْجَحَ فِي الاسْتِمَاعِ الأَكَادِيمِيِّ، اقْرَأِ الأَسْئِلَةَ أَوَّلًا وَحَدِّدْ مَا يَطْلُبُهُ كُلٌّ مِنْهَا. إِذَا طَلَبَ السُّؤَالُ كَلَامًا مَنْقُولًا، فَانْتَظِرْ فِعْلًا نَاقِلًا مِثْلَ «قَالَ» أَوْ «أَشَارَ» مَعَ «إِنَّ» أَوْ «أَنَّ». وَإِذَا طَلَبَ عَلَاقَةً شَرْطِيَّةً، فَمَيِّزْ بَيْنَ «إِذَا» الحَقِيقِيَّةِ وَ«لَوْ» الافْتِرَاضِيَّةِ؛ فَاخْتِيَارُ الإِجَابَةِ يَعْتَمِدُ عَلَى ذٰلِكَ. أَمَّا الإِنْجَازُ السَّابِقُ فَيَظْهَرُ فِي «كَانَ قَدْ»، وَهِيَ تُقَالُ بِسُرْعَةٍ كَوَحْدَةٍ وَاحِدَةٍ. وَانْتَبِهْ إِلَى الضَّمِيرِ فِي الكَلَامِ المَنْقُولِ، فَهُوَ يُخْبِرُكَ عَمَّنْ يَتَحَدَّثُ المُتَكَلِّمُ. وَتَذَكَّرْ أَنَّ الفِعْلَ النَّاقِلَ يَعْنِي رَأْيَ مَصْدَرٍ آخَرَ، لَا رَأْيَ المُتَحَدِّثِ نَفْسِهِ.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الإِنْجَازُ السَّابِقُ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earlier achievement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كَوَحْدَةٍ وَاحِدَةٍ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a single unit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الضَّمِيرِ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pronoun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about whom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 نَفْسِهِ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speaker himself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signals reported speech?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reporting verb with </a:t>
            </a:r>
            <a:pPr algn="l" indent="0" marL="0">
              <a:buNone/>
            </a:pPr>
            <a:r>
              <a:rPr lang="ar-SA" altLang="en-US" sz="1650" dirty="0">
                <a:solidFill>
                  <a:srgbClr val="1F2A37"/>
                </a:solidFill>
                <a:latin typeface="Amiri" pitchFamily="34" charset="0"/>
                <a:ea typeface="Amiri" pitchFamily="34" charset="-122"/>
                <a:cs typeface="Amiri" pitchFamily="34" charset="-120"/>
              </a:rPr>
              <a:t>إِنَّ</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أَنَّ</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distinguish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from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answer depends on real vs hypothetical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a name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prior achievement heard?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statistic</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t>
            </a:r>
            <a:pPr algn="l" indent="0" marL="0">
              <a:buNone/>
            </a:pPr>
            <a:r>
              <a:rPr lang="ar-SA" altLang="en-US" sz="1650" dirty="0">
                <a:solidFill>
                  <a:srgbClr val="1F2A37"/>
                </a:solidFill>
                <a:latin typeface="Amiri" pitchFamily="34" charset="0"/>
                <a:ea typeface="Amiri" pitchFamily="34" charset="-122"/>
                <a:cs typeface="Amiri" pitchFamily="34" charset="-120"/>
              </a:rPr>
              <a:t>كَانَ قَدْ</a:t>
            </a:r>
            <a:pPr algn="l" indent="0" marL="0">
              <a:buNone/>
            </a:pPr>
            <a:r>
              <a:rPr lang="en-US" sz="1250" dirty="0">
                <a:solidFill>
                  <a:srgbClr val="1F2A37"/>
                </a:solidFill>
                <a:latin typeface="Calibri" pitchFamily="34" charset="0"/>
                <a:ea typeface="Calibri" pitchFamily="34" charset="-122"/>
                <a:cs typeface="Calibri" pitchFamily="34" charset="-120"/>
              </a:rPr>
              <a:t>, said fast as one unit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name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view belongs to another source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اقْرَأِ الأَسْئِلَةَ أَوَّلًا وَحَدِّدْ مَا يَطْلُبُهُ كُلٌّ مِنْهَا.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signals reported speech?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reporting verb with </a:t>
            </a:r>
            <a:pPr algn="l" indent="0" marL="0">
              <a:buNone/>
            </a:pPr>
            <a:r>
              <a:rPr lang="ar-SA" altLang="en-US" sz="1650" b="1" dirty="0">
                <a:solidFill>
                  <a:srgbClr val="1F2A37"/>
                </a:solidFill>
                <a:latin typeface="Amiri" pitchFamily="34" charset="0"/>
                <a:ea typeface="Amiri" pitchFamily="34" charset="-122"/>
                <a:cs typeface="Amiri" pitchFamily="34" charset="-120"/>
              </a:rPr>
              <a:t>إِنَّ</a:t>
            </a:r>
            <a:pPr algn="l" indent="0" marL="0">
              <a:buNone/>
            </a:pPr>
            <a:r>
              <a:rPr lang="en-US" sz="1250" b="1" dirty="0">
                <a:solidFill>
                  <a:srgbClr val="1F2A37"/>
                </a:solidFill>
                <a:latin typeface="Calibri" pitchFamily="34" charset="0"/>
                <a:ea typeface="Calibri" pitchFamily="34" charset="-122"/>
                <a:cs typeface="Calibri" pitchFamily="34" charset="-120"/>
              </a:rPr>
              <a:t> or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فِعْلًا نَاقِلًا مِثْلَ «قَالَ» أَوْ «أَشَارَ» مَعَ «إِنَّ» أَوْ «أَنَّ».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distinguish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from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answer depends on real vs hypothetical</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a name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فَاخْتِيَارُ الإِجَابَةِ يَعْتَمِدُ عَلَى ذٰلِكَ.</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prior achievement heard?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statistic</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t>
            </a:r>
            <a:pPr algn="l" indent="0" marL="0">
              <a:buNone/>
            </a:pPr>
            <a:r>
              <a:rPr lang="ar-SA" altLang="en-US" sz="1650" b="1" dirty="0">
                <a:solidFill>
                  <a:srgbClr val="1F2A37"/>
                </a:solidFill>
                <a:latin typeface="Amiri" pitchFamily="34" charset="0"/>
                <a:ea typeface="Amiri" pitchFamily="34" charset="-122"/>
                <a:cs typeface="Amiri" pitchFamily="34" charset="-120"/>
              </a:rPr>
              <a:t>كَانَ قَدْ</a:t>
            </a:r>
            <a:pPr algn="l" indent="0" marL="0">
              <a:buNone/>
            </a:pPr>
            <a:r>
              <a:rPr lang="en-US" sz="1250" b="1" dirty="0">
                <a:solidFill>
                  <a:srgbClr val="1F2A37"/>
                </a:solidFill>
                <a:latin typeface="Calibri" pitchFamily="34" charset="0"/>
                <a:ea typeface="Calibri" pitchFamily="34" charset="-122"/>
                <a:cs typeface="Calibri" pitchFamily="34" charset="-120"/>
              </a:rPr>
              <a:t>, said fast as one unit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name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فَيَظْهَرُ فِي «كَانَ قَدْ»، وَهِيَ تُقَالُ بِسُرْعَةٍ كَوَحْدَةٍ وَاحِدَةٍ.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view belongs to another source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speaker's own view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الفِعْلَ النَّاقِلَ يَعْنِي رَأْيَ مَصْدَرٍ آخَرَ.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Mission — Source, Signal and Sequence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الخَبِيرُ إِنَّ</a:t>
            </a:r>
            <a:pPr algn="l" indent="0" marL="0">
              <a:buNone/>
            </a:pPr>
            <a:r>
              <a:rPr lang="en-US" sz="1250" b="1" dirty="0">
                <a:solidFill>
                  <a:srgbClr val="1B3B6F"/>
                </a:solidFill>
                <a:latin typeface="Calibri" pitchFamily="34" charset="0"/>
                <a:ea typeface="Calibri" pitchFamily="34" charset="-122"/>
                <a:cs typeface="Calibri" pitchFamily="34" charset="-120"/>
              </a:rPr>
              <a:t> …» gives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cited view</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إِذَا … سَـ</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لَوْ … لَـ</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plan</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 boy's «</a:t>
            </a:r>
            <a:pPr algn="l" indent="0" marL="0">
              <a:buNone/>
            </a:pPr>
            <a:r>
              <a:rPr lang="ar-SA" altLang="en-US" sz="1650" b="1" dirty="0">
                <a:solidFill>
                  <a:srgbClr val="1B3B6F"/>
                </a:solidFill>
                <a:latin typeface="Amiri" pitchFamily="34" charset="0"/>
                <a:ea typeface="Amiri" pitchFamily="34" charset="-122"/>
                <a:cs typeface="Amiri" pitchFamily="34" charset="-120"/>
              </a:rPr>
              <a:t>سَأَدْرُسُ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سَيَدْرُسُ</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إِنَّنِي سَأَدْرُسُ</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إِنَّهَا سَتَدْرُسُ</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الخَبِيرُ إِنَّ</a:t>
            </a:r>
            <a:pPr algn="l" indent="0" marL="0">
              <a:buNone/>
            </a:pPr>
            <a:r>
              <a:rPr lang="en-US" sz="1250" b="1" dirty="0">
                <a:solidFill>
                  <a:srgbClr val="1B3B6F"/>
                </a:solidFill>
                <a:latin typeface="Calibri" pitchFamily="34" charset="0"/>
                <a:ea typeface="Calibri" pitchFamily="34" charset="-122"/>
                <a:cs typeface="Calibri" pitchFamily="34" charset="-120"/>
              </a:rPr>
              <a:t> …» gives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view</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cited view</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cites another source.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إِذَا … سَـ</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conditional.</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Signal:</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لَوْ … لَـ</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plan</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counterfactual.</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 boy's «</a:t>
            </a:r>
            <a:pPr algn="l" indent="0" marL="0">
              <a:buNone/>
            </a:pPr>
            <a:r>
              <a:rPr lang="ar-SA" altLang="en-US" sz="1650" b="1" dirty="0">
                <a:solidFill>
                  <a:srgbClr val="1B3B6F"/>
                </a:solidFill>
                <a:latin typeface="Amiri" pitchFamily="34" charset="0"/>
                <a:ea typeface="Amiri" pitchFamily="34" charset="-122"/>
                <a:cs typeface="Amiri" pitchFamily="34" charset="-120"/>
              </a:rPr>
              <a:t>سَأَدْرُسُ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سَيَدْرُسُ</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إِنَّنِي سَأَدْرُسُ</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إِنَّهَا سَتَدْرُسُ</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masculine: </a:t>
            </a:r>
            <a:pPr algn="l" indent="0" marL="0">
              <a:buNone/>
            </a:pPr>
            <a:r>
              <a:rPr lang="ar-SA" altLang="en-US" sz="1350" dirty="0">
                <a:solidFill>
                  <a:srgbClr val="8A6D1E"/>
                </a:solidFill>
                <a:latin typeface="Amiri" pitchFamily="34" charset="0"/>
                <a:ea typeface="Amiri" pitchFamily="34" charset="-122"/>
                <a:cs typeface="Amiri" pitchFamily="34" charset="-120"/>
              </a:rPr>
              <a:t>إِنَّهُ سَيَدْرُسُ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P2-L11 · Consolidation — Speaking Preparation, Error Analysis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spontaneity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 القَبُولِ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admissions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الارْتِجَالُ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improvisation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confidence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admissions-interview answer: why do you want to study your chosen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أُرِيدُ أَنْ أَدْرُسَ ______ لِأَنَّنِي ______ ، وَكُنْتُ قَدْ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core words; annotate five listening questions with their signal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P2-L11 · Consolidation — Speaking Preparation, Error Analysis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reported speech has three parts — WHO (qāla) · ABOUT WHOM (inna-nī / inna-hu) · WHAT — idhā is a real plan, law did not happen — kāna qad is one fast unit — and arā anna is the speaker’s own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P2-L10 · Listening — Education and Future Plans Texts</dc:title>
  <dc:subject>PptxGenJS Presentation</dc:subject>
  <dc:creator>Al Madina Online School · Arabic Department</dc:creator>
  <cp:lastModifiedBy>Al Madina Online School · Arabic Department</cp:lastModifiedBy>
  <cp:revision>1</cp:revision>
  <dcterms:created xsi:type="dcterms:W3CDTF">2026-10-10T10:57:54Z</dcterms:created>
  <dcterms:modified xsi:type="dcterms:W3CDTF">2026-10-10T10:57:54Z</dcterms:modified>
</cp:coreProperties>
</file>