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P2 Education and Future Plans › P2-L10. The website lesson “Listening — Education and Future Plans Texts”: vocabulary, grammar rules and quiz, patterns, common mistakes, sorter, listening, reading, speaking prompts and model, writing task and model, differentiation, final check and the lesson mission. Picture match: website visual game “Listening — Education and Future Plans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LISTENING-SKILLS LESSON (IGCSE Paper 1 style): the website script is read in TWO short parts, each with its own questions, read-along and answers. Read it yourself at natural speed — kāna qad should sound like ONE word.
• Before each listen, students label every question R / C / P / O (reported · conditional · past perfect · own opinion) and write the signal word they expect (قَالَ · إِذَا / لَوْ · كَانَ قَدْ · أَرَى).
• Core: questions 1, 2 and 3 + the signal words. Develop: all questions + say which structure each targeted. Stretch: explain how idhā vs law changed the meaning of one answer (website Stretch).
• Grammar links: reported speech (P2-L02) · past perfect (P2-L03) · Type 2 (P2-L06) · reporting verbs and stance (P2-L08) · listening routine (P1-L10).
• TEACHER-WRITTEN ITEMS: the website listening is split into two short listens with two teacher-added questions (the subject chosen · the speaker’s own view); waṣl alif shown without a kasra; rule headings and formulas in English and transliteration (rule examples without their English glosses); sorter headings in English; the website visual game repeats the P2-L01 / P2-L03 cards and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P2-L09. Questions 4–5 retrieve both conditional types (P2-L09) and the past perfect (P2-L03) — today students must catch them by ear at natural speed.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One small word changes the answer: inna-nī (me) or inna-hu (him)? idhā (real) or law (unreal)?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objectives (Arabic shown in transliteration on the slide so the lines read cleanly). The route statements turn them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ضمیر، اشارہ، امتحان and شرط are shared. CAREFUL: Urdu مرشد usually means a spiritual guide; in this listening مُرْشِدِي is simply “my (careers) adviser”. And Urdu ضمیر also means conscience — here it is the grammar word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for structure (website vocabulary (1 of 2)). Hear → Say → See → Use. Transliteration is printed for Core students (cover it for Develop/Stretch).
Listening for structure — the vocabulary of exam strategy: the reporting verb, the signal, the key word, the source — and the مُشَتِّتٌ (distractor) that repeats heard words with the wrong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for structure (website vocabulary (2 of 2)). Hear → Say → See → Use. Transliteration is printed for Core students (cover it for Develop/Stretch).
Listening for structure — the vocabulary of exam strategy: the reporting verb, the signal, the key word, the source — and the مُشَتِّتٌ (distractor) that repeats heard words with the wrong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Education content heard (website vocabulary (1 of 2)). Hear → Say → See → Use. Transliteration is printed for Core students (cover it for Develop/Stretch).
Education content you will hear: a scholarship, the acceptance rate, exam pressure, a field of study, an adviser.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Education content heard (website vocabulary (2 of 2)). Hear → Say → See → Use. Transliteration is printed for Core students (cover it for Develop/Stretch).
FLEX: teach if time allows; otherwise these are on the website vocabulary tab for homework.
Education content you will hear: a scholarship, the acceptance rate, exam pressure, a field of study, an adviser.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Grammar markers by ear (website vocabulary (1 of 2)). Hear → Say → See → Use. Transliteration is printed for Core students (cover it for Develop/Stretch).
FLEX: teach if time allows; otherwise these are on the website vocabulary tab for homework.
Grammar markers by ear: each one is short and fast — قَالَ إِنَّ · كَانَ قَدْ · إِذَا · لَوْ · سَـ · لَـ. Miss one and the meaning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Grammar markers by ear (website vocabulary (2 of 2)). Hear → Say → See → Use. Transliteration is printed for Core students (cover it for Develop/Stretch).
FLEX: teach if time allows; otherwise these are on the website vocabulary tab for homework.
Grammar markers by ear: each one is short and fast — قَالَ إِنَّ · كَانَ قَدْ · إِذَا · لَوْ · سَـ · لَـ. Miss one and the meaning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“Decode reported speech” (the verb tells you the source; the pronoun tells you about whom) and teaching point “Reported speech has three audible parts”.
Website quiz 1: «قَالَ مُرْشِدِي إِنَّنِي سَأَنْجَحُ» — who succeeds? The speaker (إِنَّنِي), not the mentor. Quiz 7: a boy’s «سَأَدْرُسُ» → قَالَ إِنَّهُ سَيَدْرُسُ.
Drill (2 min): say one row; students hold up 1 finger (me), 2 (him), 3 (her), 4 (them). The pronoun is ONE short syllable — train the ear for -nī / -hu / -hā / -hum.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“إِذَا vs لَوْ by ear” and teaching point “إِذَا is real; لَوْ signals a counterfactual”. Cards 1–2 are from the website listening.
Card 3 is the website sorter item إِذَا لَمْ … لَنْ (a real conditional in the negative): lam + jussive in the condition, lan + subjunctive in the result.
Ear tip: law is one short syllable — listen for the la- at the start of the RESULT (لَكُنْتُ · لَتَفَوَّقْتُ) as a second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“Catch the past-perfect unit” (spoken fast as one unit; hear all three parts) and the website reading (… «كَانَ قَدْ»، وَهِيَ تُقَالُ بِسُرْعَةٍ كَوَحْدَةٍ وَاحِدَةٍ).
Listening part 1 has two in a row: كُنْتُ قَدْ قَرَّرْتُ … وَكُنْتُ قَدْ حَصَلْتُ. Part 2 has the Type 2 + past perfect: لَكُنْتُ قَدْ تَقَدَّمْتُ.
Drill: say each row at full speed; students write the person (I / he / she / they) — the ending is the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“Own view vs cited view” (a reporting verb signals a cited view, not the speaker’s own) and website mistake 1. All four rows are from the website listening.
Website mistake 3: أَشَارَ الخَبِيرُ أَنَّ ✗ → أَشَارَ … إِلَى أَنَّ.
Exam link (P2-L08): when a question asks “what does the SPEAKER think?”, look for أَرَى أَنَّ / فِي رَأْيِي — not for قَالَ.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“A listening toolkit: decode reported speech, distinguish conditional types by their signal words, and catch the fast past-perfect unit.”
• Decode reported speech: The verb tells you the source; the pronoun tells you about whom.
• idhā vs law by ear: The signal word fixes the meaning of the answer.
• Catch the past-perfect unit: Spoken fast as one unit; hear all three parts.
• Own view vs cited view: A reporting verb signals a cited view, not the speaker's own.
Website common error: Treating a reported view as the speaker's own, or hearing لَوْ as a real plan. The reporting verb marks a source, and لَوْ marks a counterfactual.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model the routine on listening questions 1–4 BEFORE the class hears the text. Label (P, R, C, C) → write the signals (كُنْتُ قَدْ · قَالَ · إِذَا · لَوْ) → read the four sentences aloud once → circle إِنَّنِي (me!) and the la- of لَكُنْتُ. The copy box shows the transcript AFTER annotation.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(flex) — the website live builder: “Build a listening report from a reported claim, a conditional reading and a past-perfect fact.” Website feedback: any three different combinations work.
Use after the two listens: students retell the student’s story in the third person (إِنَّهُ · قُبِلَ · كَانَ قَدْ حَصَلَ) — the pronoun switch from P2-L02.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each signal aloud at full speed and let a partner point to the right column by ear only (eyes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each signal aloud at full speed and let a partner point to the right column by ear only (eyes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3. Develop/Stretch: all three — in question 2, who is “qualified”? (إِنَّنِي = the speaker).
Listen 1: just listen. Listen 2: note answers. Then chat the letters.
Support: after the second listening, show the read-along slide (Arabic + English, line by line) for Core students.
SCRIPT (read aloud):
يَقُولُ الطَّالِبُ: بِحُلُولِ نِهَايَةِ الثَّانَوِيَّةِ، كُنْتُ قَدْ قَرَّرْتُ دِرَاسَةَ الهَنْدَسَةِ، وَكُنْتُ قَدْ حَصَلْتُ عَلَى خِبْرَةٍ عَمَلِيَّةٍ. قَالَ مُرْشِدِي إِنَّنِي مُؤَهَّلٌ، وَأَكَّدَ أَنَّ اجْتِهَادِي سَيُثْمِرُ.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2. Develop/Stretch: all four — question 4 asks for the SPEAKER’s view (arā anna), not the report’s.
Listen 1: just listen. Listen 2: note answers. Then chat the letters.
Support: after the second listening, show the read-along slide (Arabic + English, line by line) for Core students.
SCRIPT (read aloud):
إِذَا قُبِلْتُ فِي الجَامِعَةِ الَّتِي أُرِيدُهَا، سَأَتَخَصَّصُ فِي الطَّاقَةِ المُتَجَدِّدَةِ. وَلَوْ تَوَافَرَتْ لِي مَوَارِدُ أَفْضَلُ فِي المَدْرَسَةِ، لَكُنْتُ قَدْ تَقَدَّمْتُ أَسْرَعَ. وَأَشَارَ تَقْرِيرٌ إِلَى أَنَّ نِسْبَةَ القَبُولِ فِي هٰذَا المَجَالِ مُرْتَفِعَةٌ. أَرَى أَنَّ ضَغْطَ الامْتِحَانَاتِ كَبِيرٌ، لٰكِنَّهُ يَدْفَعُنِي إِلَى العَمَلِ. سَوْفَ أُسْهِمُ فِي مَجَالِي بَعْدَ التَّخَرُّجِ.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اسْتَعْمَلَ إِذَا أَمْ لَوْ؟ (Conditional type)
B: اسْتَعْمَلَ لَوْ، أَيْ إِنَّهُ يَصِفُ حَالَةً افْتِرَاضِيَّةً لَمْ تَحْدُثْ. (Identifies لَوْ as counterfactual)
Website prompts and model. Students report the student’s story in the THIRD person (إِنَّهُ مُؤَهَّلٌ · اجْتِهَادَهُ · كَانَ قَدْ حَصَلَ) — the P2-L02 pronoun switch. To a girl: سَمِعْتِهِ.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Annotate five questions with the signal word you will listen for. · Develop — Add whether each targets reported speech, a conditional or a past perfect. · Stretch — Explain how إِذَا vs لَوْ changed the meaning of one answer.
Website writing task (Stretch): Write eighty to ninety words explaining your listening strategy for academic education texts. Describe how you decode reported speech, how you tell إِذَا from لَوْ, and how you catch the fast past-perfect unit.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أَقْرَأُ الأَسْئِلَةَ وَأُحَدِّدُ … · أَنْتَظِرُ فِعْلًا نَاقِلًا مَعَ «إِنَّ» أَوْ «أَنَّ» … أَنْتَبِهُ إِلَى الضَّمِيرِ · أُمَيِّزُ بَيْنَ «إِذَا» الحَقِيقِيَّةِ وَ«لَوْ» الافْتِرَاضِيَّةِ · أَلْتَقِطُ «كَانَ قَدْ» بِوَصْفِهَا وَحْدَةً سَرِيعَةً · الفِعْلَ النَّاقِلَ يَنْقُلُ رَأْيَ مَصْدَرٍ آخَرَ.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(P2-L11 · Consolidation — Speaking Preparation, Error Analysis and Grammar Mastery) will spend class time USING this language, so students prepare it tonight — short, simple, easy to access (school guidance: “Simple, Short, Interesting, Relevant, Easy to access”). The five words come from the website P2-L11 vocabulary (speaking preparation and fluency).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P2  ·  P2-L10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P2-L10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Listening — Education and Future Plans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الاسْتِمَاعُ — نُصُوصُ التَّعْلِيمِ وَخُطَطِ المُسْتَقْبَلِ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Listen like an examiner: decode reported speech in three parts (who said it · about whom · what), hear idhā as a real plan and law as a counterfactual, catch kāna qad as one fast unit, and keep the speaker’s own view apart from a cited one.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P2-L10 · Progression P2 · Education and Future Plans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P2 › P2-L10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50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parts of reported speech, idhā vs law by ear, kāna qad, own vs cited view.</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Two short listens with read-along, then sort the signals and build a listening report.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P2-L11.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50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مُشَتِّتٌ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key word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distractor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signal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مَنْحَةٌ دِرَاسِيَّةٌ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scholarship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exam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نِسْبَةُ القَبُولِ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 pressure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pass mark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acceptance rate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shows both conditional types?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إِذَا قُبِلْتُ سَأَدْرُسُ؛ وَإِذَا تَوَافَرَ الدَّعْمُ سَأَتَفَوَّقُ.</a:t>
            </a:r>
            <a:endParaRPr lang="ar-SA" sz="14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لَوْ قُبِلْتُ لَدَرَسْتُ؛ وَلَوْ تَوَافَرَ الدَّعْمُ لَتَفَوَّقْتُ.</a:t>
            </a:r>
            <a:endParaRPr lang="ar-SA" sz="14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إِذَا قُبِلْتُ سَأَدْرُسُ؛ وَلَوْ تَوَافَرَ الدَّعْمُ لَتَفَوَّقْتُ.</a:t>
            </a:r>
            <a:endParaRPr lang="ar-SA" sz="14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perfect.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 قَرَّرْتُ تَخَصُّصِي.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قَرَّرْتُ تَخَصُّصِي.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 أُقَرِّرُ تَخَصُّصِي.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50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مُشَتِّتٌ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key word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distractor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signal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مَنْحَةٌ دِرَاسِيَّةٌ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scholarship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exam</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نِسْبَةُ القَبُولِ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exam pressure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pass mark</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acceptance rate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shows both conditional types?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إِذَا قُبِلْتُ سَأَدْرُسُ؛ وَإِذَا تَوَافَرَ الدَّعْمُ سَأَتَفَوَّقُ.</a:t>
            </a:r>
            <a:endParaRPr lang="ar-SA" sz="14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لَوْ قُبِلْتُ لَدَرَسْتُ؛ وَلَوْ تَوَافَرَ الدَّعْمُ لَتَفَوَّقْتُ.</a:t>
            </a:r>
            <a:endParaRPr lang="ar-SA" sz="14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إِذَا قُبِلْتُ سَأَدْرُسُ؛ وَلَوْ تَوَافَرَ الدَّعْمُ لَتَفَوَّقْتُ.</a:t>
            </a:r>
            <a:endParaRPr lang="ar-SA" sz="14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P2-L09: one idhā, one law.</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perfect.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 قَرَّرْتُ تَخَصُّصِي.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قَرَّرْتُ تَخَصُّصِي.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قَدْ أُقَرِّرُ تَخَصُّصِي.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P2-L03: kuntu qad + past.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One small word changes the answer: inna-nī (me) or inna-hu (him)? idhā (real) or law (unreal)?</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7B3FA0"/>
                </a:solidFill>
                <a:latin typeface="Amiri" pitchFamily="2" charset="-78"/>
                <a:ea typeface="Amiri" pitchFamily="2" charset="-78"/>
                <a:cs typeface="Amiri" pitchFamily="2" charset="-78"/>
              </a:rPr>
              <a:t>قَالَ</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مُرْشِدِي </a:t>
            </a:r>
            <a:pPr rtl="1" algn="ctr" indent="0" marL="0">
              <a:lnSpc>
                <a:spcPct val="120000"/>
              </a:lnSpc>
              <a:buNone/>
            </a:pPr>
            <a:r>
              <a:rPr lang="ar-SA" altLang="en-US" sz="1950" b="1" dirty="0">
                <a:solidFill>
                  <a:srgbClr val="7B3FA0"/>
                </a:solidFill>
                <a:latin typeface="Amiri" pitchFamily="2" charset="-78"/>
                <a:ea typeface="Amiri" pitchFamily="2" charset="-78"/>
                <a:cs typeface="Amiri" pitchFamily="2" charset="-78"/>
              </a:rPr>
              <a:t>إِنَّنِي</a:t>
            </a:r>
            <a:pPr rtl="1" algn="ctr" indent="0" marL="0">
              <a:lnSpc>
                <a:spcPct val="120000"/>
              </a:lnSpc>
              <a:buNone/>
            </a:pPr>
            <a:r>
              <a:rPr lang="ar-SA" altLang="en-US" sz="1950" b="1" dirty="0">
                <a:solidFill>
                  <a:srgbClr val="1B3B6F"/>
                </a:solidFill>
                <a:latin typeface="Amiri" pitchFamily="2" charset="-78"/>
                <a:cs typeface="Amiri" pitchFamily="2" charset="-78"/>
              </a:rPr>
              <a:t> …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إِذَا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سَـ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C77700"/>
                </a:solidFill>
                <a:latin typeface="Amiri" pitchFamily="2" charset="-78"/>
                <a:ea typeface="Amiri" pitchFamily="2" charset="-78"/>
                <a:cs typeface="Amiri" pitchFamily="2" charset="-78"/>
              </a:rPr>
              <a:t>لَوْ</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C77700"/>
                </a:solidFill>
                <a:latin typeface="Amiri" pitchFamily="2" charset="-78"/>
                <a:ea typeface="Amiri" pitchFamily="2" charset="-78"/>
                <a:cs typeface="Amiri" pitchFamily="2" charset="-78"/>
              </a:rPr>
              <a:t>لَـ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كَانَ قَدْ</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50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Predict which structure each question targets before listening.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Catch the reporting verb, inna / anna and the reported content.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 real idhā conditional from a hypothetical law one by ear.</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Hear the fast past-perfect unit kāna qad.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the signal word for each question.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who said it and about whom.</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hear idhā (real) vs law (hypothetical).</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catch kāna qad + verb as one unit.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tell the speaker’s view from a cited one.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how idhā / law changed an answer.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50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Listening for structure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Education content heard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Grammar markers by ear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ضَمِيرٌ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‎ضمیر‎ </a:t>
            </a:r>
            <a:pPr indent="0" marL="0">
              <a:buNone/>
            </a:pPr>
            <a:r>
              <a:rPr lang="en-US" sz="950" b="1" dirty="0">
                <a:solidFill>
                  <a:srgbClr val="2E8B57"/>
                </a:solidFill>
                <a:latin typeface="Calibri" pitchFamily="34" charset="0"/>
                <a:cs typeface="Amiri" pitchFamily="2" charset="-78"/>
              </a:rPr>
              <a:t> zamīr · a pronoun (Urdu also: conscience)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إِشَارَةٌ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‎اشارہ‎ </a:t>
            </a:r>
            <a:pPr indent="0" marL="0">
              <a:buNone/>
            </a:pPr>
            <a:r>
              <a:rPr lang="en-US" sz="950" b="1" dirty="0">
                <a:solidFill>
                  <a:srgbClr val="2E8B57"/>
                </a:solidFill>
                <a:latin typeface="Calibri" pitchFamily="34" charset="0"/>
                <a:cs typeface="Amiri" pitchFamily="2" charset="-78"/>
              </a:rPr>
              <a:t> ishāra · a signal, cue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امْتِحَانٌ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‎امتحان‎ </a:t>
            </a:r>
            <a:pPr indent="0" marL="0">
              <a:buNone/>
            </a:pPr>
            <a:r>
              <a:rPr lang="en-US" sz="950" b="1" dirty="0">
                <a:solidFill>
                  <a:srgbClr val="2E8B57"/>
                </a:solidFill>
                <a:latin typeface="Calibri" pitchFamily="34" charset="0"/>
                <a:cs typeface="Amiri" pitchFamily="2" charset="-78"/>
              </a:rPr>
              <a:t> imtihān · an exam</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شَرْطٌ</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‎شرط‎ </a:t>
            </a:r>
            <a:pPr indent="0" marL="0">
              <a:buNone/>
            </a:pPr>
            <a:r>
              <a:rPr lang="en-US" sz="950" b="1" dirty="0">
                <a:solidFill>
                  <a:srgbClr val="2E8B57"/>
                </a:solidFill>
                <a:latin typeface="Calibri" pitchFamily="34" charset="0"/>
                <a:cs typeface="Amiri" pitchFamily="2" charset="-78"/>
              </a:rPr>
              <a:t> shart · a condition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مُرْشِدٌ</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‎مرشد‎ </a:t>
            </a:r>
            <a:pPr indent="0" marL="0">
              <a:buNone/>
            </a:pPr>
            <a:r>
              <a:rPr lang="en-US" sz="950" b="1" dirty="0">
                <a:solidFill>
                  <a:srgbClr val="2E8B57"/>
                </a:solidFill>
                <a:latin typeface="Calibri" pitchFamily="34" charset="0"/>
                <a:cs typeface="Amiri" pitchFamily="2" charset="-78"/>
              </a:rPr>
              <a:t> murshid · Arabic: an adviser · Urdu: a spiritual guide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50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for structure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النَّاقِلُ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reporting verb</a:t>
            </a:r>
            <a:endParaRPr lang="en-US" sz="1350" dirty="0"/>
          </a:p>
          <a:p>
            <a:pPr indent="0" marL="0">
              <a:buNone/>
            </a:pPr>
            <a:r>
              <a:rPr lang="en-US" sz="1100" i="1" dirty="0">
                <a:solidFill>
                  <a:srgbClr val="5A6472"/>
                </a:solidFill>
                <a:latin typeface="Calibri" pitchFamily="34" charset="0"/>
                <a:cs typeface="Amiri" pitchFamily="2" charset="-78"/>
              </a:rPr>
              <a:t>al-fiʿ-lu an-nā-qi-lu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إِشَارَةٌ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signal, cue</a:t>
            </a:r>
            <a:endParaRPr lang="en-US" sz="1350" dirty="0"/>
          </a:p>
          <a:p>
            <a:pPr indent="0" marL="0">
              <a:buNone/>
            </a:pPr>
            <a:r>
              <a:rPr lang="en-US" sz="1100" i="1" dirty="0">
                <a:solidFill>
                  <a:srgbClr val="5A6472"/>
                </a:solidFill>
                <a:latin typeface="Calibri" pitchFamily="34" charset="0"/>
                <a:cs typeface="Amiri" pitchFamily="2" charset="-78"/>
              </a:rPr>
              <a:t>i-shā-ra-tun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إِشَارَاتٌ</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كَلِمَةٌ مِفْتَاحِيَّةٌ</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key word</a:t>
            </a:r>
            <a:endParaRPr lang="en-US" sz="1350" dirty="0"/>
          </a:p>
          <a:p>
            <a:pPr indent="0" marL="0">
              <a:buNone/>
            </a:pPr>
            <a:r>
              <a:rPr lang="en-US" sz="1100" i="1" dirty="0">
                <a:solidFill>
                  <a:srgbClr val="5A6472"/>
                </a:solidFill>
                <a:latin typeface="Calibri" pitchFamily="34" charset="0"/>
                <a:cs typeface="Amiri" pitchFamily="2" charset="-78"/>
              </a:rPr>
              <a:t>ka-li-ma-tun mif-tā-ḥiy-ya-tun</a:t>
            </a:r>
            <a:endParaRPr lang="en-US" sz="1350" dirty="0"/>
          </a:p>
        </p:txBody>
      </p:sp>
      <p:sp>
        <p:nvSpPr>
          <p:cNvPr id="43" name="Shape 40"/>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5" name="Text 42"/>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مِفْتَاحِيَّةٌ</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مَصْدَرُ المَعْلُومَةِ</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source of the information</a:t>
            </a:r>
            <a:endParaRPr lang="en-US" sz="1350" dirty="0"/>
          </a:p>
          <a:p>
            <a:pPr indent="0" marL="0">
              <a:buNone/>
            </a:pPr>
            <a:r>
              <a:rPr lang="en-US" sz="1100" i="1" dirty="0">
                <a:solidFill>
                  <a:srgbClr val="5A6472"/>
                </a:solidFill>
                <a:latin typeface="Calibri" pitchFamily="34" charset="0"/>
                <a:cs typeface="Amiri" pitchFamily="2" charset="-78"/>
              </a:rPr>
              <a:t>maṣ-da-ru al-maʿ-lū-ma-ti</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50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for structure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التَّخْمِينُ المُوَجَّهُ</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targeted prediction</a:t>
            </a:r>
            <a:endParaRPr lang="en-US" sz="1350" dirty="0"/>
          </a:p>
          <a:p>
            <a:pPr indent="0" marL="0">
              <a:buNone/>
            </a:pPr>
            <a:r>
              <a:rPr lang="en-US" sz="1100" i="1" dirty="0">
                <a:solidFill>
                  <a:srgbClr val="5A6472"/>
                </a:solidFill>
                <a:latin typeface="Calibri" pitchFamily="34" charset="0"/>
                <a:cs typeface="Amiri" pitchFamily="2" charset="-78"/>
              </a:rPr>
              <a:t>at-takh-mī-nu al-mu-waj-ja-hu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حَقِيقِيٌّ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real conditional</a:t>
            </a:r>
            <a:endParaRPr lang="en-US" sz="1350" dirty="0"/>
          </a:p>
          <a:p>
            <a:pPr indent="0" marL="0">
              <a:buNone/>
            </a:pPr>
            <a:r>
              <a:rPr lang="en-US" sz="1100" i="1" dirty="0">
                <a:solidFill>
                  <a:srgbClr val="5A6472"/>
                </a:solidFill>
                <a:latin typeface="Calibri" pitchFamily="34" charset="0"/>
                <a:cs typeface="Amiri" pitchFamily="2" charset="-78"/>
              </a:rPr>
              <a:t>shar-ṭun ḥa-qī-qiy-yun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افْتِرَاضِيٌّ</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hypothetical conditional</a:t>
            </a:r>
            <a:endParaRPr lang="en-US" sz="1350" dirty="0"/>
          </a:p>
          <a:p>
            <a:pPr indent="0" marL="0">
              <a:buNone/>
            </a:pPr>
            <a:r>
              <a:rPr lang="en-US" sz="1100" i="1" dirty="0">
                <a:solidFill>
                  <a:srgbClr val="5A6472"/>
                </a:solidFill>
                <a:latin typeface="Calibri" pitchFamily="34" charset="0"/>
                <a:cs typeface="Amiri" pitchFamily="2" charset="-78"/>
              </a:rPr>
              <a:t>shar-ṭun af-ti-rā-ḍiy-yun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7" name="Shape 3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مُشَتِّتٌ</a:t>
            </a:r>
            <a:endParaRPr lang="ar-SA" sz="3000" dirty="0"/>
          </a:p>
        </p:txBody>
      </p:sp>
      <p:sp>
        <p:nvSpPr>
          <p:cNvPr id="42" name="Text 3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distractor</a:t>
            </a:r>
            <a:endParaRPr lang="en-US" sz="1350" dirty="0"/>
          </a:p>
          <a:p>
            <a:pPr indent="0" marL="0">
              <a:buNone/>
            </a:pPr>
            <a:r>
              <a:rPr lang="en-US" sz="1100" i="1" dirty="0">
                <a:solidFill>
                  <a:srgbClr val="5A6472"/>
                </a:solidFill>
                <a:latin typeface="Calibri" pitchFamily="34" charset="0"/>
                <a:cs typeface="Amiri" pitchFamily="2" charset="-78"/>
              </a:rPr>
              <a:t>mu-shat-ti-tun</a:t>
            </a:r>
            <a:endParaRPr lang="en-US" sz="1350" dirty="0"/>
          </a:p>
        </p:txBody>
      </p:sp>
      <p:sp>
        <p:nvSpPr>
          <p:cNvPr id="43" name="Shape 4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5" name="Text 4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مُشَتِّتَاتٌ</a:t>
            </a:r>
            <a:endParaRPr lang="ar-SA" sz="15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50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Education content heard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رِحْلَةٌ تَعْلِيمِيَّةٌ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educational journey</a:t>
            </a:r>
            <a:endParaRPr lang="en-US" sz="1350" dirty="0"/>
          </a:p>
          <a:p>
            <a:pPr indent="0" marL="0">
              <a:buNone/>
            </a:pPr>
            <a:r>
              <a:rPr lang="en-US" sz="1100" i="1" dirty="0">
                <a:solidFill>
                  <a:srgbClr val="5A6472"/>
                </a:solidFill>
                <a:latin typeface="Calibri" pitchFamily="34" charset="0"/>
                <a:cs typeface="Amiri" pitchFamily="2" charset="-78"/>
              </a:rPr>
              <a:t>riḥ-la-tun taʿ-lī-miy-ya-tun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إِمْكَانَاتٌ</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potential, capabilities</a:t>
            </a:r>
            <a:endParaRPr lang="en-US" sz="1350" dirty="0"/>
          </a:p>
          <a:p>
            <a:pPr indent="0" marL="0">
              <a:buNone/>
            </a:pPr>
            <a:r>
              <a:rPr lang="en-US" sz="1100" i="1" dirty="0">
                <a:solidFill>
                  <a:srgbClr val="5A6472"/>
                </a:solidFill>
                <a:latin typeface="Calibri" pitchFamily="34" charset="0"/>
                <a:cs typeface="Amiri" pitchFamily="2" charset="-78"/>
              </a:rPr>
              <a:t>im-kā-nā-tun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8" name="Shape 2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مَنْحَةٌ دِرَاسِيَّةٌ</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scholarship</a:t>
            </a:r>
            <a:endParaRPr lang="en-US" sz="1350" dirty="0"/>
          </a:p>
          <a:p>
            <a:pPr indent="0" marL="0">
              <a:buNone/>
            </a:pPr>
            <a:r>
              <a:rPr lang="en-US" sz="1100" i="1" dirty="0">
                <a:solidFill>
                  <a:srgbClr val="5A6472"/>
                </a:solidFill>
                <a:latin typeface="Calibri" pitchFamily="34" charset="0"/>
                <a:cs typeface="Amiri" pitchFamily="2" charset="-78"/>
              </a:rPr>
              <a:t>man-ḥa-tun di-rā-siy-ya-tun</a:t>
            </a:r>
            <a:endParaRPr lang="en-US" sz="1350" dirty="0"/>
          </a:p>
        </p:txBody>
      </p:sp>
      <p:sp>
        <p:nvSpPr>
          <p:cNvPr id="34" name="Shape 3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مِنَحٌ دِرَاسِيَّةٌ</a:t>
            </a:r>
            <a:endParaRPr lang="ar-SA" sz="15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0" name="Shape 37"/>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2" name="Text 3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مَجَالٌ</a:t>
            </a:r>
            <a:endParaRPr lang="ar-SA" sz="3000" dirty="0"/>
          </a:p>
        </p:txBody>
      </p:sp>
      <p:sp>
        <p:nvSpPr>
          <p:cNvPr id="43" name="Text 4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field</a:t>
            </a:r>
            <a:endParaRPr lang="en-US" sz="1350" dirty="0"/>
          </a:p>
          <a:p>
            <a:pPr indent="0" marL="0">
              <a:buNone/>
            </a:pPr>
            <a:r>
              <a:rPr lang="en-US" sz="1100" i="1" dirty="0">
                <a:solidFill>
                  <a:srgbClr val="5A6472"/>
                </a:solidFill>
                <a:latin typeface="Calibri" pitchFamily="34" charset="0"/>
                <a:cs typeface="Amiri" pitchFamily="2" charset="-78"/>
              </a:rPr>
              <a:t>ma-jā-lun</a:t>
            </a:r>
            <a:endParaRPr lang="en-US" sz="1350" dirty="0"/>
          </a:p>
        </p:txBody>
      </p:sp>
      <p:sp>
        <p:nvSpPr>
          <p:cNvPr id="44" name="Shape 41"/>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6" name="Text 43"/>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مَجَالَاتٌ</a:t>
            </a:r>
            <a:endParaRPr lang="ar-SA" sz="15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50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Education content heard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ضَغْطُ الامْتِحَانَاتِ</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exam pressure</a:t>
            </a:r>
            <a:endParaRPr lang="en-US" sz="1350" dirty="0"/>
          </a:p>
          <a:p>
            <a:pPr indent="0" marL="0">
              <a:buNone/>
            </a:pPr>
            <a:r>
              <a:rPr lang="en-US" sz="1100" i="1" dirty="0">
                <a:solidFill>
                  <a:srgbClr val="5A6472"/>
                </a:solidFill>
                <a:latin typeface="Calibri" pitchFamily="34" charset="0"/>
                <a:cs typeface="Amiri" pitchFamily="2" charset="-78"/>
              </a:rPr>
              <a:t>ḍagh-ṭu alm-ti-ḥā-nā-ti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نِسْبَةُ القَبُولِ</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acceptance rate</a:t>
            </a:r>
            <a:endParaRPr lang="en-US" sz="1350" dirty="0"/>
          </a:p>
          <a:p>
            <a:pPr indent="0" marL="0">
              <a:buNone/>
            </a:pPr>
            <a:r>
              <a:rPr lang="en-US" sz="1100" i="1" dirty="0">
                <a:solidFill>
                  <a:srgbClr val="5A6472"/>
                </a:solidFill>
                <a:latin typeface="Calibri" pitchFamily="34" charset="0"/>
                <a:cs typeface="Amiri" pitchFamily="2" charset="-78"/>
              </a:rPr>
              <a:t>nis-ba-tu al-qa-bū-li</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4" name="Shape 31"/>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إِصْلَاحٌ تَعْلِيمِيٌّ</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education reform</a:t>
            </a:r>
            <a:endParaRPr lang="en-US" sz="1350" dirty="0"/>
          </a:p>
          <a:p>
            <a:pPr indent="0" marL="0">
              <a:buNone/>
            </a:pPr>
            <a:r>
              <a:rPr lang="en-US" sz="1100" i="1" dirty="0">
                <a:solidFill>
                  <a:srgbClr val="5A6472"/>
                </a:solidFill>
                <a:latin typeface="Calibri" pitchFamily="34" charset="0"/>
                <a:cs typeface="Amiri" pitchFamily="2" charset="-78"/>
              </a:rPr>
              <a:t>iṣ-lā-ḥun taʿ-lī-miy-yun</a:t>
            </a:r>
            <a:endParaRPr lang="en-US" sz="1350" dirty="0"/>
          </a:p>
        </p:txBody>
      </p:sp>
      <p:sp>
        <p:nvSpPr>
          <p:cNvPr id="38" name="Shape 3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إِصْلَاحَاتٌ تَعْلِيمِيَّةٌ</a:t>
            </a:r>
            <a:endParaRPr lang="ar-SA" sz="15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4" name="Shape 4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مُرْشِدٌ</a:t>
            </a:r>
            <a:endParaRPr lang="ar-SA" sz="3000" dirty="0"/>
          </a:p>
        </p:txBody>
      </p:sp>
      <p:sp>
        <p:nvSpPr>
          <p:cNvPr id="49" name="Text 4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adviser, mentor</a:t>
            </a:r>
            <a:endParaRPr lang="en-US" sz="1350" dirty="0"/>
          </a:p>
          <a:p>
            <a:pPr indent="0" marL="0">
              <a:buNone/>
            </a:pPr>
            <a:r>
              <a:rPr lang="en-US" sz="1100" i="1" dirty="0">
                <a:solidFill>
                  <a:srgbClr val="5A6472"/>
                </a:solidFill>
                <a:latin typeface="Calibri" pitchFamily="34" charset="0"/>
                <a:cs typeface="Amiri" pitchFamily="2" charset="-78"/>
              </a:rPr>
              <a:t>mur-shi-dun</a:t>
            </a:r>
            <a:endParaRPr lang="en-US" sz="1350" dirty="0"/>
          </a:p>
        </p:txBody>
      </p:sp>
      <p:sp>
        <p:nvSpPr>
          <p:cNvPr id="50" name="Shape 47"/>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مُرْشِدُونَ</a:t>
            </a:r>
            <a:endParaRPr lang="ar-SA" sz="1500" dirty="0"/>
          </a:p>
        </p:txBody>
      </p:sp>
      <p:sp>
        <p:nvSpPr>
          <p:cNvPr id="53" name="Shape 50"/>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5" name="Text 52"/>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مُرْشِدَةٌ</a:t>
            </a:r>
            <a:endParaRPr lang="ar-SA" sz="15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50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markers by ear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Reporting marker.</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قَالَ إِنَّ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said that</a:t>
            </a:r>
            <a:endParaRPr lang="en-US" sz="1350" dirty="0"/>
          </a:p>
          <a:p>
            <a:pPr indent="0" marL="0">
              <a:buNone/>
            </a:pPr>
            <a:r>
              <a:rPr lang="en-US" sz="1100" i="1" dirty="0">
                <a:solidFill>
                  <a:srgbClr val="5A6472"/>
                </a:solidFill>
                <a:latin typeface="Calibri" pitchFamily="34" charset="0"/>
                <a:cs typeface="Amiri" pitchFamily="2" charset="-78"/>
              </a:rPr>
              <a:t>qā-la in-na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Shape 24"/>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 قَدْ</a:t>
            </a:r>
            <a:endParaRPr lang="ar-SA" sz="3000" dirty="0"/>
          </a:p>
        </p:txBody>
      </p:sp>
      <p:sp>
        <p:nvSpPr>
          <p:cNvPr id="32" name="Text 29"/>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had done</a:t>
            </a:r>
            <a:endParaRPr lang="en-US" sz="1350" dirty="0"/>
          </a:p>
          <a:p>
            <a:pPr indent="0" marL="0">
              <a:buNone/>
            </a:pPr>
            <a:r>
              <a:rPr lang="en-US" sz="1100" i="1" dirty="0">
                <a:solidFill>
                  <a:srgbClr val="5A6472"/>
                </a:solidFill>
                <a:latin typeface="Calibri" pitchFamily="34" charset="0"/>
                <a:cs typeface="Amiri" pitchFamily="2" charset="-78"/>
              </a:rPr>
              <a:t>kā-na qad</a:t>
            </a:r>
            <a:endParaRPr lang="en-US" sz="1350" dirty="0"/>
          </a:p>
        </p:txBody>
      </p:sp>
      <p:sp>
        <p:nvSpPr>
          <p:cNvPr id="33" name="Shape 30"/>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4" name="Text 31"/>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35" name="Text 32"/>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كَانُوا قَدْ</a:t>
            </a:r>
            <a:endParaRPr lang="ar-SA" sz="1350" dirty="0"/>
          </a:p>
        </p:txBody>
      </p:sp>
      <p:sp>
        <p:nvSpPr>
          <p:cNvPr id="36" name="Shape 33"/>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8" name="Text 35"/>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كَانَتْ قَدْ</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(real)</a:t>
            </a:r>
            <a:endParaRPr lang="en-US" sz="1350" dirty="0"/>
          </a:p>
          <a:p>
            <a:pPr indent="0" marL="0">
              <a:buNone/>
            </a:pPr>
            <a:r>
              <a:rPr lang="en-US" sz="1100" i="1" dirty="0">
                <a:solidFill>
                  <a:srgbClr val="5A6472"/>
                </a:solidFill>
                <a:latin typeface="Calibri" pitchFamily="34" charset="0"/>
                <a:cs typeface="Amiri" pitchFamily="2" charset="-78"/>
              </a:rPr>
              <a:t>i-dhā</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(hypothetical)</a:t>
            </a:r>
            <a:endParaRPr lang="en-US" sz="1350" dirty="0"/>
          </a:p>
          <a:p>
            <a:pPr indent="0" marL="0">
              <a:buNone/>
            </a:pPr>
            <a:r>
              <a:rPr lang="en-US" sz="1100" i="1" dirty="0">
                <a:solidFill>
                  <a:srgbClr val="5A6472"/>
                </a:solidFill>
                <a:latin typeface="Calibri" pitchFamily="34" charset="0"/>
                <a:cs typeface="Amiri" pitchFamily="2" charset="-78"/>
              </a:rPr>
              <a:t>law</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50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markers by ear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سَـ / سَوْفَ</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future marker</a:t>
            </a:r>
            <a:endParaRPr lang="en-US" sz="1350" dirty="0"/>
          </a:p>
          <a:p>
            <a:pPr indent="0" marL="0">
              <a:buNone/>
            </a:pPr>
            <a:r>
              <a:rPr lang="en-US" sz="1100" i="1" dirty="0">
                <a:solidFill>
                  <a:srgbClr val="5A6472"/>
                </a:solidFill>
                <a:latin typeface="Calibri" pitchFamily="34" charset="0"/>
                <a:cs typeface="Amiri" pitchFamily="2" charset="-78"/>
              </a:rPr>
              <a:t>sa / saw-fa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لَـ</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Type 2 result marker</a:t>
            </a:r>
            <a:endParaRPr lang="en-US" sz="1350" dirty="0"/>
          </a:p>
          <a:p>
            <a:pPr indent="0" marL="0">
              <a:buNone/>
            </a:pPr>
            <a:r>
              <a:rPr lang="en-US" sz="1100" i="1" dirty="0">
                <a:solidFill>
                  <a:srgbClr val="5A6472"/>
                </a:solidFill>
                <a:latin typeface="Calibri" pitchFamily="34" charset="0"/>
                <a:cs typeface="Amiri" pitchFamily="2" charset="-78"/>
              </a:rPr>
              <a:t>la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that (after other verbs)</a:t>
            </a:r>
            <a:endParaRPr lang="en-US" sz="1350" dirty="0"/>
          </a:p>
          <a:p>
            <a:pPr indent="0" marL="0">
              <a:buNone/>
            </a:pPr>
            <a:r>
              <a:rPr lang="en-US" sz="1100" i="1" dirty="0">
                <a:solidFill>
                  <a:srgbClr val="5A6472"/>
                </a:solidFill>
                <a:latin typeface="Calibri" pitchFamily="34" charset="0"/>
                <a:cs typeface="Amiri" pitchFamily="2" charset="-78"/>
              </a:rPr>
              <a:t>an-na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Shape 3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ضَمِيرٌ</a:t>
            </a:r>
            <a:endParaRPr lang="ar-SA" sz="3000" dirty="0"/>
          </a:p>
        </p:txBody>
      </p:sp>
      <p:sp>
        <p:nvSpPr>
          <p:cNvPr id="40" name="Text 3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pronoun</a:t>
            </a:r>
            <a:endParaRPr lang="en-US" sz="1350" dirty="0"/>
          </a:p>
          <a:p>
            <a:pPr indent="0" marL="0">
              <a:buNone/>
            </a:pPr>
            <a:r>
              <a:rPr lang="en-US" sz="1100" i="1" dirty="0">
                <a:solidFill>
                  <a:srgbClr val="5A6472"/>
                </a:solidFill>
                <a:latin typeface="Calibri" pitchFamily="34" charset="0"/>
                <a:cs typeface="Amiri" pitchFamily="2" charset="-78"/>
              </a:rPr>
              <a:t>ḍa-mī-run</a:t>
            </a:r>
            <a:endParaRPr lang="en-US" sz="1350" dirty="0"/>
          </a:p>
        </p:txBody>
      </p:sp>
      <p:sp>
        <p:nvSpPr>
          <p:cNvPr id="41" name="Shape 3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ضَمَائِرُ</a:t>
            </a:r>
            <a:endParaRPr lang="ar-SA" sz="15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50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REPORTED SPEECH IN THREE AUDIBLE PARTS (WEBSITE RULE 1 + TEACHING POINT 1)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said it — and about whom?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قَالَ؟ وَعَمَّنْ؟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93699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 will succeed?</a:t>
            </a:r>
            <a:endParaRPr lang="en-US" sz="1100" dirty="0"/>
          </a:p>
        </p:txBody>
      </p:sp>
      <p:sp>
        <p:nvSpPr>
          <p:cNvPr id="17" name="Text 14"/>
          <p:cNvSpPr txBox="1"/>
          <p:nvPr/>
        </p:nvSpPr>
        <p:spPr>
          <a:xfrm>
            <a:off x="60167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18" name="Text 15"/>
          <p:cNvSpPr txBox="1"/>
          <p:nvPr/>
        </p:nvSpPr>
        <p:spPr>
          <a:xfrm>
            <a:off x="53035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hear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973568" y="2267712"/>
            <a:ext cx="3685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speaker</a:t>
            </a:r>
            <a:endParaRPr lang="en-US" sz="1100" dirty="0"/>
          </a:p>
        </p:txBody>
      </p:sp>
      <p:sp>
        <p:nvSpPr>
          <p:cNvPr id="21" name="Text 18"/>
          <p:cNvSpPr txBox="1"/>
          <p:nvPr/>
        </p:nvSpPr>
        <p:spPr>
          <a:xfrm>
            <a:off x="6053328" y="2267712"/>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-nī (me)</a:t>
            </a:r>
            <a:endParaRPr lang="en-US" sz="1100" dirty="0"/>
          </a:p>
        </p:txBody>
      </p:sp>
      <p:sp>
        <p:nvSpPr>
          <p:cNvPr id="22" name="Text 19"/>
          <p:cNvSpPr txBox="1"/>
          <p:nvPr/>
        </p:nvSpPr>
        <p:spPr>
          <a:xfrm>
            <a:off x="548640" y="2267712"/>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قَالَ</a:t>
            </a:r>
            <a:pPr rtl="1" algn="ctr" indent="0" marL="0">
              <a:buNone/>
            </a:pPr>
            <a:r>
              <a:rPr lang="ar-SA" altLang="en-US" sz="2000" b="1" dirty="0">
                <a:solidFill>
                  <a:srgbClr val="1B3B6F"/>
                </a:solidFill>
                <a:latin typeface="Amiri" pitchFamily="2" charset="-78"/>
                <a:ea typeface="Amiri" pitchFamily="2" charset="-78"/>
                <a:cs typeface="Amiri" pitchFamily="2" charset="-78"/>
              </a:rPr>
              <a:t> مُرْشِدِي </a:t>
            </a:r>
            <a:pPr rtl="1" algn="ctr" indent="0" marL="0">
              <a:buNone/>
            </a:pPr>
            <a:r>
              <a:rPr lang="ar-SA" altLang="en-US" sz="2000" b="1" dirty="0">
                <a:solidFill>
                  <a:srgbClr val="1D5FBF"/>
                </a:solidFill>
                <a:latin typeface="Amiri" pitchFamily="2" charset="-78"/>
                <a:ea typeface="Amiri" pitchFamily="2" charset="-78"/>
                <a:cs typeface="Amiri" pitchFamily="2" charset="-78"/>
              </a:rPr>
              <a:t>إِنَّنِي</a:t>
            </a:r>
            <a:pPr rtl="1" algn="ctr" indent="0" marL="0">
              <a:buNone/>
            </a:pPr>
            <a:r>
              <a:rPr lang="ar-SA" altLang="en-US" sz="2000" b="1" dirty="0">
                <a:solidFill>
                  <a:srgbClr val="1B3B6F"/>
                </a:solidFill>
                <a:latin typeface="Amiri" pitchFamily="2" charset="-78"/>
                <a:cs typeface="Amiri" pitchFamily="2" charset="-78"/>
              </a:rPr>
              <a:t> </a:t>
            </a:r>
            <a:pPr rtl="1" algn="ctr" indent="0" marL="0">
              <a:buNone/>
            </a:pPr>
            <a:r>
              <a:rPr lang="ar-SA" altLang="en-US" sz="2000" b="1" dirty="0">
                <a:solidFill>
                  <a:srgbClr val="0E7C86"/>
                </a:solidFill>
                <a:latin typeface="Amiri" pitchFamily="2" charset="-78"/>
                <a:ea typeface="Amiri" pitchFamily="2" charset="-78"/>
                <a:cs typeface="Amiri" pitchFamily="2" charset="-78"/>
              </a:rPr>
              <a:t>سَأَنْجَحُ</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973568" y="3004718"/>
            <a:ext cx="3685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another boy</a:t>
            </a:r>
            <a:endParaRPr lang="en-US" sz="1100" dirty="0"/>
          </a:p>
        </p:txBody>
      </p:sp>
      <p:sp>
        <p:nvSpPr>
          <p:cNvPr id="27" name="Text 24"/>
          <p:cNvSpPr txBox="1"/>
          <p:nvPr/>
        </p:nvSpPr>
        <p:spPr>
          <a:xfrm>
            <a:off x="6053328" y="300471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 (him)</a:t>
            </a:r>
            <a:endParaRPr lang="en-US" sz="1100" dirty="0"/>
          </a:p>
        </p:txBody>
      </p:sp>
      <p:sp>
        <p:nvSpPr>
          <p:cNvPr id="28" name="Text 25"/>
          <p:cNvSpPr txBox="1"/>
          <p:nvPr/>
        </p:nvSpPr>
        <p:spPr>
          <a:xfrm>
            <a:off x="548640" y="3004718"/>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قَالَ</a:t>
            </a:r>
            <a:pPr rtl="1" algn="ctr" indent="0" marL="0">
              <a:buNone/>
            </a:pPr>
            <a:r>
              <a:rPr lang="ar-SA" altLang="en-US" sz="2000" b="1" dirty="0">
                <a:solidFill>
                  <a:srgbClr val="1B3B6F"/>
                </a:solidFill>
                <a:latin typeface="Amiri" pitchFamily="2" charset="-78"/>
                <a:ea typeface="Amiri" pitchFamily="2" charset="-78"/>
                <a:cs typeface="Amiri" pitchFamily="2" charset="-78"/>
              </a:rPr>
              <a:t> مُرْشِدِي </a:t>
            </a:r>
            <a:pPr rtl="1" algn="ctr" indent="0" marL="0">
              <a:buNone/>
            </a:pPr>
            <a:r>
              <a:rPr lang="ar-SA" altLang="en-US" sz="2000" b="1" dirty="0">
                <a:solidFill>
                  <a:srgbClr val="1D5FBF"/>
                </a:solidFill>
                <a:latin typeface="Amiri" pitchFamily="2" charset="-78"/>
                <a:ea typeface="Amiri" pitchFamily="2" charset="-78"/>
                <a:cs typeface="Amiri" pitchFamily="2" charset="-78"/>
              </a:rPr>
              <a:t>إِنَّهُ</a:t>
            </a:r>
            <a:pPr rtl="1" algn="ctr" indent="0" marL="0">
              <a:buNone/>
            </a:pPr>
            <a:r>
              <a:rPr lang="ar-SA" altLang="en-US" sz="2000" b="1" dirty="0">
                <a:solidFill>
                  <a:srgbClr val="1B3B6F"/>
                </a:solidFill>
                <a:latin typeface="Amiri" pitchFamily="2" charset="-78"/>
                <a:cs typeface="Amiri" pitchFamily="2" charset="-78"/>
              </a:rPr>
              <a:t> </a:t>
            </a:r>
            <a:pPr rtl="1" algn="ctr" indent="0" marL="0">
              <a:buNone/>
            </a:pPr>
            <a:r>
              <a:rPr lang="ar-SA" altLang="en-US" sz="2000" b="1" dirty="0">
                <a:solidFill>
                  <a:srgbClr val="0E7C86"/>
                </a:solidFill>
                <a:latin typeface="Amiri" pitchFamily="2" charset="-78"/>
                <a:ea typeface="Amiri" pitchFamily="2" charset="-78"/>
                <a:cs typeface="Amiri" pitchFamily="2" charset="-78"/>
              </a:rPr>
              <a:t>سَيَنْجَحُ</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973568" y="3741725"/>
            <a:ext cx="3685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girl</a:t>
            </a:r>
            <a:endParaRPr lang="en-US" sz="1100" dirty="0"/>
          </a:p>
        </p:txBody>
      </p:sp>
      <p:sp>
        <p:nvSpPr>
          <p:cNvPr id="33" name="Text 30"/>
          <p:cNvSpPr txBox="1"/>
          <p:nvPr/>
        </p:nvSpPr>
        <p:spPr>
          <a:xfrm>
            <a:off x="6053328" y="3741725"/>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-hā (her)</a:t>
            </a:r>
            <a:endParaRPr lang="en-US" sz="1100" dirty="0"/>
          </a:p>
        </p:txBody>
      </p:sp>
      <p:sp>
        <p:nvSpPr>
          <p:cNvPr id="34" name="Text 31"/>
          <p:cNvSpPr txBox="1"/>
          <p:nvPr/>
        </p:nvSpPr>
        <p:spPr>
          <a:xfrm>
            <a:off x="548640" y="3741725"/>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قَالَتِ</a:t>
            </a:r>
            <a:pPr rtl="1" algn="ctr" indent="0" marL="0">
              <a:buNone/>
            </a:pPr>
            <a:r>
              <a:rPr lang="ar-SA" altLang="en-US" sz="2000" b="1" dirty="0">
                <a:solidFill>
                  <a:srgbClr val="1B3B6F"/>
                </a:solidFill>
                <a:latin typeface="Amiri" pitchFamily="2" charset="-78"/>
                <a:ea typeface="Amiri" pitchFamily="2" charset="-78"/>
                <a:cs typeface="Amiri" pitchFamily="2" charset="-78"/>
              </a:rPr>
              <a:t> المُعَلِّمَةُ </a:t>
            </a:r>
            <a:pPr rtl="1" algn="ctr" indent="0" marL="0">
              <a:buNone/>
            </a:pPr>
            <a:r>
              <a:rPr lang="ar-SA" altLang="en-US" sz="2000" b="1" dirty="0">
                <a:solidFill>
                  <a:srgbClr val="1D5FBF"/>
                </a:solidFill>
                <a:latin typeface="Amiri" pitchFamily="2" charset="-78"/>
                <a:ea typeface="Amiri" pitchFamily="2" charset="-78"/>
                <a:cs typeface="Amiri" pitchFamily="2" charset="-78"/>
              </a:rPr>
              <a:t>إِنَّهَا</a:t>
            </a:r>
            <a:pPr rtl="1" algn="ctr" indent="0" marL="0">
              <a:buNone/>
            </a:pPr>
            <a:r>
              <a:rPr lang="ar-SA" altLang="en-US" sz="2000" b="1" dirty="0">
                <a:solidFill>
                  <a:srgbClr val="1B3B6F"/>
                </a:solidFill>
                <a:latin typeface="Amiri" pitchFamily="2" charset="-78"/>
                <a:cs typeface="Amiri" pitchFamily="2" charset="-78"/>
              </a:rPr>
              <a:t> </a:t>
            </a:r>
            <a:pPr rtl="1" algn="ctr" indent="0" marL="0">
              <a:buNone/>
            </a:pPr>
            <a:r>
              <a:rPr lang="ar-SA" altLang="en-US" sz="2000" b="1" dirty="0">
                <a:solidFill>
                  <a:srgbClr val="0E7C86"/>
                </a:solidFill>
                <a:latin typeface="Amiri" pitchFamily="2" charset="-78"/>
                <a:ea typeface="Amiri" pitchFamily="2" charset="-78"/>
                <a:cs typeface="Amiri" pitchFamily="2" charset="-78"/>
              </a:rPr>
              <a:t>سَتَنْجَحُ</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973568" y="4478731"/>
            <a:ext cx="3685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group</a:t>
            </a:r>
            <a:endParaRPr lang="en-US" sz="1100" dirty="0"/>
          </a:p>
        </p:txBody>
      </p:sp>
      <p:sp>
        <p:nvSpPr>
          <p:cNvPr id="37" name="Text 34"/>
          <p:cNvSpPr txBox="1"/>
          <p:nvPr/>
        </p:nvSpPr>
        <p:spPr>
          <a:xfrm>
            <a:off x="6053328" y="4478731"/>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 (them)</a:t>
            </a:r>
            <a:endParaRPr lang="en-US" sz="1100" dirty="0"/>
          </a:p>
        </p:txBody>
      </p:sp>
      <p:sp>
        <p:nvSpPr>
          <p:cNvPr id="38" name="Text 35"/>
          <p:cNvSpPr txBox="1"/>
          <p:nvPr/>
        </p:nvSpPr>
        <p:spPr>
          <a:xfrm>
            <a:off x="548640" y="4478731"/>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قَالَ</a:t>
            </a:r>
            <a:pPr rtl="1" algn="ctr" indent="0" marL="0">
              <a:buNone/>
            </a:pPr>
            <a:r>
              <a:rPr lang="ar-SA" altLang="en-US" sz="2000" b="1" dirty="0">
                <a:solidFill>
                  <a:srgbClr val="1B3B6F"/>
                </a:solidFill>
                <a:latin typeface="Amiri" pitchFamily="2" charset="-78"/>
                <a:ea typeface="Amiri" pitchFamily="2" charset="-78"/>
                <a:cs typeface="Amiri" pitchFamily="2" charset="-78"/>
              </a:rPr>
              <a:t> المُرْشِدُ </a:t>
            </a:r>
            <a:pPr rtl="1" algn="ctr" indent="0" marL="0">
              <a:buNone/>
            </a:pPr>
            <a:r>
              <a:rPr lang="ar-SA" altLang="en-US" sz="2000" b="1" dirty="0">
                <a:solidFill>
                  <a:srgbClr val="1D5FBF"/>
                </a:solidFill>
                <a:latin typeface="Amiri" pitchFamily="2" charset="-78"/>
                <a:ea typeface="Amiri" pitchFamily="2" charset="-78"/>
                <a:cs typeface="Amiri" pitchFamily="2" charset="-78"/>
              </a:rPr>
              <a:t>إِنَّهُمْ</a:t>
            </a:r>
            <a:pPr rtl="1" algn="ctr" indent="0" marL="0">
              <a:buNone/>
            </a:pPr>
            <a:r>
              <a:rPr lang="ar-SA" altLang="en-US" sz="2000" b="1" dirty="0">
                <a:solidFill>
                  <a:srgbClr val="1B3B6F"/>
                </a:solidFill>
                <a:latin typeface="Amiri" pitchFamily="2" charset="-78"/>
                <a:cs typeface="Amiri" pitchFamily="2" charset="-78"/>
              </a:rPr>
              <a:t> </a:t>
            </a:r>
            <a:pPr rtl="1" algn="ctr" indent="0" marL="0">
              <a:buNone/>
            </a:pPr>
            <a:r>
              <a:rPr lang="ar-SA" altLang="en-US" sz="2000" b="1" dirty="0">
                <a:solidFill>
                  <a:srgbClr val="0E7C86"/>
                </a:solidFill>
                <a:latin typeface="Amiri" pitchFamily="2" charset="-78"/>
                <a:ea typeface="Amiri" pitchFamily="2" charset="-78"/>
                <a:cs typeface="Amiri" pitchFamily="2" charset="-78"/>
              </a:rPr>
              <a:t>سَيَنْجَحُونَ</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973568" y="5215738"/>
            <a:ext cx="36850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(a claim about reform)</a:t>
            </a:r>
            <a:endParaRPr lang="en-US" sz="1100" dirty="0"/>
          </a:p>
        </p:txBody>
      </p:sp>
      <p:sp>
        <p:nvSpPr>
          <p:cNvPr id="41" name="Text 38"/>
          <p:cNvSpPr txBox="1"/>
          <p:nvPr/>
        </p:nvSpPr>
        <p:spPr>
          <a:xfrm>
            <a:off x="6053328" y="521573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noun</a:t>
            </a:r>
            <a:endParaRPr lang="en-US" sz="1100" dirty="0"/>
          </a:p>
        </p:txBody>
      </p:sp>
      <p:sp>
        <p:nvSpPr>
          <p:cNvPr id="42" name="Text 39"/>
          <p:cNvSpPr txBox="1"/>
          <p:nvPr/>
        </p:nvSpPr>
        <p:spPr>
          <a:xfrm>
            <a:off x="548640" y="5215738"/>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أَشَارَ</a:t>
            </a:r>
            <a:pPr rtl="1" algn="ctr" indent="0" marL="0">
              <a:buNone/>
            </a:pPr>
            <a:r>
              <a:rPr lang="ar-SA" altLang="en-US" sz="2000" b="1" dirty="0">
                <a:solidFill>
                  <a:srgbClr val="1B3B6F"/>
                </a:solidFill>
                <a:latin typeface="Amiri" pitchFamily="2" charset="-78"/>
                <a:ea typeface="Amiri" pitchFamily="2" charset="-78"/>
                <a:cs typeface="Amiri" pitchFamily="2" charset="-78"/>
              </a:rPr>
              <a:t> الخَبِيرُ </a:t>
            </a:r>
            <a:pPr rtl="1" algn="ctr" indent="0" marL="0">
              <a:buNone/>
            </a:pPr>
            <a:r>
              <a:rPr lang="ar-SA" altLang="en-US" sz="2000" b="1" dirty="0">
                <a:solidFill>
                  <a:srgbClr val="1D5FBF"/>
                </a:solidFill>
                <a:latin typeface="Amiri" pitchFamily="2" charset="-78"/>
                <a:ea typeface="Amiri" pitchFamily="2" charset="-78"/>
                <a:cs typeface="Amiri" pitchFamily="2" charset="-78"/>
              </a:rPr>
              <a:t>إِلَى أَنَّ</a:t>
            </a:r>
            <a:pPr rtl="1" algn="ctr" indent="0" marL="0">
              <a:buNone/>
            </a:pPr>
            <a:r>
              <a:rPr lang="ar-SA" altLang="en-US" sz="2000" b="1" dirty="0">
                <a:solidFill>
                  <a:srgbClr val="1B3B6F"/>
                </a:solidFill>
                <a:latin typeface="Amiri" pitchFamily="2" charset="-78"/>
                <a:ea typeface="Amiri" pitchFamily="2" charset="-78"/>
                <a:cs typeface="Amiri" pitchFamily="2" charset="-78"/>
              </a:rPr>
              <a:t> الإِصْلَاحَ </a:t>
            </a:r>
            <a:pPr rtl="1" algn="ctr" indent="0" marL="0">
              <a:buNone/>
            </a:pPr>
            <a:r>
              <a:rPr lang="ar-SA" altLang="en-US" sz="2000" b="1" dirty="0">
                <a:solidFill>
                  <a:srgbClr val="0E7C86"/>
                </a:solidFill>
                <a:latin typeface="Amiri" pitchFamily="2" charset="-78"/>
                <a:ea typeface="Amiri" pitchFamily="2" charset="-78"/>
                <a:cs typeface="Amiri" pitchFamily="2" charset="-78"/>
              </a:rPr>
              <a:t>ضَرُورِيٌّ</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Verb = WHO said it · inna / anna + pronoun = ABOUT WHOM · content = WHAT (the tense is kept).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50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IDHĀ VS LAW BY EAR (WEBSITE RULE 2 + TEACHING POINT 2)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One word decides: real or imagined?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أَمْ لَوْ؟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REAL PLAN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قُبِلْتُ فِي الجَامِعَةِ، سَأَتَخَصَّصُ فِي الطَّاقَةِ المُتَجَدِّدَةِ.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I am accepted, I will specialise in renewable energy.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Still possible.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202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COUNTERFACTUAL · DEVELOP</a:t>
            </a:r>
            <a:endParaRPr lang="en-US" sz="850" dirty="0"/>
          </a:p>
        </p:txBody>
      </p:sp>
      <p:sp>
        <p:nvSpPr>
          <p:cNvPr id="26" name="Text 23"/>
          <p:cNvSpPr txBox="1"/>
          <p:nvPr/>
        </p:nvSpPr>
        <p:spPr>
          <a:xfrm>
            <a:off x="6379464"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تَوَافَرَتْ لِي مَوَارِدُ أَفْضَلُ، لَكُنْتُ قَدْ تَقَدَّمْتُ أَسْرَعَ.</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better resources been available, I would have progressed faster.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It did not happen.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NEGATIVE REAL · STRETCH</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لَمْ … لَنْ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لَمْ أَجْتَهِدْ، لَنْ أَحْصُلَ عَلَى مِنْحَةٍ.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I do not work hard, I will not get a scholarship.</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lam + lan.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law is not a real plan.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سَمِعْتُ «لَوْ» فَفَهِمْتُ أَنَّهُ افْتِرَاضٌ</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سَمِعْتُ «لَوْ» فَفَهِمْتُ أَنَّهُ خُطَّةٌ وَاقِعِيَّةٌ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50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FOCUS · PART 3 · THE FAST PAST-PERFECT UNIT (WEBSITE RULE 3) · DEVELOP</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kuntu-qad-qarrartu: one fast unit</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كَانَ قَدْ — وَحْدَةٌ سَرِيعَةٌ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Clue</a:t>
            </a:r>
            <a:endParaRPr lang="en-US" sz="1100" dirty="0"/>
          </a:p>
        </p:txBody>
      </p:sp>
      <p:sp>
        <p:nvSpPr>
          <p:cNvPr id="17" name="Text 14"/>
          <p:cNvSpPr txBox="1"/>
          <p:nvPr/>
        </p:nvSpPr>
        <p:spPr>
          <a:xfrm>
            <a:off x="638251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Sounds like</a:t>
            </a:r>
            <a:endParaRPr lang="en-US" sz="1100" dirty="0"/>
          </a:p>
        </p:txBody>
      </p:sp>
      <p:sp>
        <p:nvSpPr>
          <p:cNvPr id="18" name="Text 15"/>
          <p:cNvSpPr txBox="1"/>
          <p:nvPr/>
        </p:nvSpPr>
        <p:spPr>
          <a:xfrm>
            <a:off x="23591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hear</a:t>
            </a:r>
            <a:endParaRPr lang="en-US" sz="1100" dirty="0"/>
          </a:p>
        </p:txBody>
      </p:sp>
      <p:sp>
        <p:nvSpPr>
          <p:cNvPr id="19" name="Text 16"/>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 twice</a:t>
            </a:r>
            <a:endParaRPr lang="en-US" sz="1100" dirty="0"/>
          </a:p>
        </p:txBody>
      </p:sp>
      <p:sp>
        <p:nvSpPr>
          <p:cNvPr id="22" name="Text 19"/>
          <p:cNvSpPr txBox="1"/>
          <p:nvPr/>
        </p:nvSpPr>
        <p:spPr>
          <a:xfrm>
            <a:off x="641908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kuntu-qad-ḥaṣaltu</a:t>
            </a:r>
            <a:endParaRPr lang="en-US" sz="1100" dirty="0"/>
          </a:p>
        </p:txBody>
      </p:sp>
      <p:sp>
        <p:nvSpPr>
          <p:cNvPr id="23" name="Text 20"/>
          <p:cNvSpPr txBox="1"/>
          <p:nvPr/>
        </p:nvSpPr>
        <p:spPr>
          <a:xfrm>
            <a:off x="2377440" y="2267712"/>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كُنْتُ قَدْ حَصَلْتُ</a:t>
            </a:r>
            <a:endParaRPr lang="ar-SA" sz="2200" dirty="0"/>
          </a:p>
        </p:txBody>
      </p:sp>
      <p:sp>
        <p:nvSpPr>
          <p:cNvPr id="24" name="Text 21"/>
          <p:cNvSpPr txBox="1"/>
          <p:nvPr/>
        </p:nvSpPr>
        <p:spPr>
          <a:xfrm>
            <a:off x="5669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twice</a:t>
            </a:r>
            <a:endParaRPr lang="en-US" sz="1100" dirty="0"/>
          </a:p>
        </p:txBody>
      </p:sp>
      <p:sp>
        <p:nvSpPr>
          <p:cNvPr id="29" name="Text 26"/>
          <p:cNvSpPr txBox="1"/>
          <p:nvPr/>
        </p:nvSpPr>
        <p:spPr>
          <a:xfrm>
            <a:off x="6419088" y="300471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kāna-qad-ḥaṣala</a:t>
            </a:r>
            <a:endParaRPr lang="en-US" sz="1100" dirty="0"/>
          </a:p>
        </p:txBody>
      </p:sp>
      <p:sp>
        <p:nvSpPr>
          <p:cNvPr id="30" name="Text 27"/>
          <p:cNvSpPr txBox="1"/>
          <p:nvPr/>
        </p:nvSpPr>
        <p:spPr>
          <a:xfrm>
            <a:off x="2377440" y="3004718"/>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كَانَ قَدْ حَصَلَ</a:t>
            </a:r>
            <a:endParaRPr lang="ar-SA" sz="2200" dirty="0"/>
          </a:p>
        </p:txBody>
      </p:sp>
      <p:sp>
        <p:nvSpPr>
          <p:cNvPr id="31" name="Text 28"/>
          <p:cNvSpPr txBox="1"/>
          <p:nvPr/>
        </p:nvSpPr>
        <p:spPr>
          <a:xfrm>
            <a:off x="5669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twice</a:t>
            </a:r>
            <a:endParaRPr lang="en-US" sz="1100" dirty="0"/>
          </a:p>
        </p:txBody>
      </p:sp>
      <p:sp>
        <p:nvSpPr>
          <p:cNvPr id="36" name="Text 33"/>
          <p:cNvSpPr txBox="1"/>
          <p:nvPr/>
        </p:nvSpPr>
        <p:spPr>
          <a:xfrm>
            <a:off x="6419088" y="3741725"/>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kānat-qad-ḥaṣalat</a:t>
            </a:r>
            <a:endParaRPr lang="en-US" sz="1100" dirty="0"/>
          </a:p>
        </p:txBody>
      </p:sp>
      <p:sp>
        <p:nvSpPr>
          <p:cNvPr id="37" name="Text 34"/>
          <p:cNvSpPr txBox="1"/>
          <p:nvPr/>
        </p:nvSpPr>
        <p:spPr>
          <a:xfrm>
            <a:off x="2377440" y="3741725"/>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كَانَتْ قَدْ حَصَلَتْ</a:t>
            </a:r>
            <a:endParaRPr lang="ar-SA" sz="2200" dirty="0"/>
          </a:p>
        </p:txBody>
      </p:sp>
      <p:sp>
        <p:nvSpPr>
          <p:cNvPr id="38" name="Text 35"/>
          <p:cNvSpPr txBox="1"/>
          <p:nvPr/>
        </p:nvSpPr>
        <p:spPr>
          <a:xfrm>
            <a:off x="5669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-ū twice</a:t>
            </a:r>
            <a:endParaRPr lang="en-US" sz="1100" dirty="0"/>
          </a:p>
        </p:txBody>
      </p:sp>
      <p:sp>
        <p:nvSpPr>
          <p:cNvPr id="41" name="Text 38"/>
          <p:cNvSpPr txBox="1"/>
          <p:nvPr/>
        </p:nvSpPr>
        <p:spPr>
          <a:xfrm>
            <a:off x="6419088" y="4478731"/>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kānū-qad-ḥaṣalū</a:t>
            </a:r>
            <a:endParaRPr lang="en-US" sz="1100" dirty="0"/>
          </a:p>
        </p:txBody>
      </p:sp>
      <p:sp>
        <p:nvSpPr>
          <p:cNvPr id="42" name="Text 39"/>
          <p:cNvSpPr txBox="1"/>
          <p:nvPr/>
        </p:nvSpPr>
        <p:spPr>
          <a:xfrm>
            <a:off x="2377440" y="4478731"/>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كَانُوا قَدْ حَصَلُوا</a:t>
            </a:r>
            <a:endParaRPr lang="ar-SA" sz="2200" dirty="0"/>
          </a:p>
        </p:txBody>
      </p:sp>
      <p:sp>
        <p:nvSpPr>
          <p:cNvPr id="43" name="Text 40"/>
          <p:cNvSpPr txBox="1"/>
          <p:nvPr/>
        </p:nvSpPr>
        <p:spPr>
          <a:xfrm>
            <a:off x="5669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 + past perfect</a:t>
            </a:r>
            <a:endParaRPr lang="en-US" sz="1100" dirty="0"/>
          </a:p>
        </p:txBody>
      </p:sp>
      <p:sp>
        <p:nvSpPr>
          <p:cNvPr id="46" name="Text 43"/>
          <p:cNvSpPr txBox="1"/>
          <p:nvPr/>
        </p:nvSpPr>
        <p:spPr>
          <a:xfrm>
            <a:off x="641908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la-kuntu-qad-taqaddamtu</a:t>
            </a:r>
            <a:endParaRPr lang="en-US" sz="1100" dirty="0"/>
          </a:p>
        </p:txBody>
      </p:sp>
      <p:sp>
        <p:nvSpPr>
          <p:cNvPr id="47" name="Text 44"/>
          <p:cNvSpPr txBox="1"/>
          <p:nvPr/>
        </p:nvSpPr>
        <p:spPr>
          <a:xfrm>
            <a:off x="2377440" y="5215738"/>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ea typeface="Amiri" pitchFamily="2" charset="-78"/>
                <a:cs typeface="Amiri" pitchFamily="2" charset="-78"/>
              </a:rPr>
              <a:t>لَكُنْتُ</a:t>
            </a:r>
            <a:pPr rtl="1" algn="ctr" indent="0" marL="0">
              <a:buNone/>
            </a:pPr>
            <a:r>
              <a:rPr lang="ar-SA" altLang="en-US" sz="2200" b="1" dirty="0">
                <a:solidFill>
                  <a:srgbClr val="1B3B6F"/>
                </a:solidFill>
                <a:latin typeface="Amiri" pitchFamily="2" charset="-78"/>
                <a:cs typeface="Amiri" pitchFamily="2" charset="-78"/>
              </a:rPr>
              <a:t> </a:t>
            </a:r>
            <a:pPr rtl="1" algn="ctr" indent="0" marL="0">
              <a:buNone/>
            </a:pPr>
            <a:r>
              <a:rPr lang="ar-SA" altLang="en-US" sz="2200" b="1" dirty="0">
                <a:solidFill>
                  <a:srgbClr val="D6336C"/>
                </a:solidFill>
                <a:latin typeface="Amiri" pitchFamily="2" charset="-78"/>
                <a:ea typeface="Amiri" pitchFamily="2" charset="-78"/>
                <a:cs typeface="Amiri" pitchFamily="2" charset="-78"/>
              </a:rPr>
              <a:t>قَدْ تَقَدَّمْتُ</a:t>
            </a:r>
            <a:endParaRPr lang="ar-SA" sz="2200" dirty="0"/>
          </a:p>
        </p:txBody>
      </p:sp>
      <p:sp>
        <p:nvSpPr>
          <p:cNvPr id="48" name="Text 45"/>
          <p:cNvSpPr txBox="1"/>
          <p:nvPr/>
        </p:nvSpPr>
        <p:spPr>
          <a:xfrm>
            <a:off x="5669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(Type 2 result)</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ending repeats: kāna and the main verb carry the SAME person — so the first ending tells you who.</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50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SPEAKER’S VIEW OR A CITED ONE? (WEBSITE RULE 4 + LISTENING)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Whose opinion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 المُتَحَدِّثِ أَمْ رَأْيُ غَيْرِهِ؟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7" name="Text 14"/>
          <p:cNvSpPr txBox="1"/>
          <p:nvPr/>
        </p:nvSpPr>
        <p:spPr>
          <a:xfrm>
            <a:off x="63825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Whose view?</a:t>
            </a:r>
            <a:endParaRPr lang="en-US" sz="1100" dirty="0"/>
          </a:p>
        </p:txBody>
      </p:sp>
      <p:sp>
        <p:nvSpPr>
          <p:cNvPr id="18" name="Text 15"/>
          <p:cNvSpPr txBox="1"/>
          <p:nvPr/>
        </p:nvSpPr>
        <p:spPr>
          <a:xfrm>
            <a:off x="530352" y="1810512"/>
            <a:ext cx="5705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hear (website listening)</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96528" y="2267712"/>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arā (I think)</a:t>
            </a:r>
            <a:endParaRPr lang="en-US" sz="1100" dirty="0"/>
          </a:p>
        </p:txBody>
      </p:sp>
      <p:sp>
        <p:nvSpPr>
          <p:cNvPr id="21" name="Text 18"/>
          <p:cNvSpPr txBox="1"/>
          <p:nvPr/>
        </p:nvSpPr>
        <p:spPr>
          <a:xfrm>
            <a:off x="6419088"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speaker’s own</a:t>
            </a:r>
            <a:endParaRPr lang="en-US" sz="1100" dirty="0"/>
          </a:p>
        </p:txBody>
      </p:sp>
      <p:sp>
        <p:nvSpPr>
          <p:cNvPr id="22" name="Text 19"/>
          <p:cNvSpPr txBox="1"/>
          <p:nvPr/>
        </p:nvSpPr>
        <p:spPr>
          <a:xfrm>
            <a:off x="548640" y="2267712"/>
            <a:ext cx="5669280" cy="731520"/>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أَرَى أَنَّ</a:t>
            </a:r>
            <a:pPr rtl="1" algn="ctr" indent="0" marL="0">
              <a:buNone/>
            </a:pPr>
            <a:r>
              <a:rPr lang="ar-SA" altLang="en-US" sz="1900" b="1" dirty="0">
                <a:solidFill>
                  <a:srgbClr val="1B3B6F"/>
                </a:solidFill>
                <a:latin typeface="Amiri" pitchFamily="2" charset="-78"/>
                <a:ea typeface="Amiri" pitchFamily="2" charset="-78"/>
                <a:cs typeface="Amiri" pitchFamily="2" charset="-78"/>
              </a:rPr>
              <a:t> ضَغْطَ الامْتِحَانَاتِ كَبِيرٌ.</a:t>
            </a:r>
            <a:endParaRPr lang="ar-SA" sz="19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96528" y="3054096"/>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qāla</a:t>
            </a:r>
            <a:endParaRPr lang="en-US" sz="1100" dirty="0"/>
          </a:p>
        </p:txBody>
      </p:sp>
      <p:sp>
        <p:nvSpPr>
          <p:cNvPr id="27" name="Text 24"/>
          <p:cNvSpPr txBox="1"/>
          <p:nvPr/>
        </p:nvSpPr>
        <p:spPr>
          <a:xfrm>
            <a:off x="6419088"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adviser’s</a:t>
            </a:r>
            <a:endParaRPr lang="en-US" sz="1100" dirty="0"/>
          </a:p>
        </p:txBody>
      </p:sp>
      <p:sp>
        <p:nvSpPr>
          <p:cNvPr id="28" name="Text 25"/>
          <p:cNvSpPr txBox="1"/>
          <p:nvPr/>
        </p:nvSpPr>
        <p:spPr>
          <a:xfrm>
            <a:off x="548640" y="3054096"/>
            <a:ext cx="5669280" cy="731520"/>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2" charset="-78"/>
                <a:ea typeface="Amiri" pitchFamily="2" charset="-78"/>
                <a:cs typeface="Amiri" pitchFamily="2" charset="-78"/>
              </a:rPr>
              <a:t>قَالَ</a:t>
            </a:r>
            <a:pPr rtl="1" algn="ctr" indent="0" marL="0">
              <a:buNone/>
            </a:pPr>
            <a:r>
              <a:rPr lang="ar-SA" altLang="en-US" sz="1900" b="1" dirty="0">
                <a:solidFill>
                  <a:srgbClr val="1B3B6F"/>
                </a:solidFill>
                <a:latin typeface="Amiri" pitchFamily="2" charset="-78"/>
                <a:ea typeface="Amiri" pitchFamily="2" charset="-78"/>
                <a:cs typeface="Amiri" pitchFamily="2" charset="-78"/>
              </a:rPr>
              <a:t> مُرْشِدِي إِنَّنِي مُؤَهَّلٌ.</a:t>
            </a:r>
            <a:endParaRPr lang="ar-SA" sz="19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96528" y="3840480"/>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akkada + -ī</a:t>
            </a:r>
            <a:endParaRPr lang="en-US" sz="1100" dirty="0"/>
          </a:p>
        </p:txBody>
      </p:sp>
      <p:sp>
        <p:nvSpPr>
          <p:cNvPr id="33" name="Text 30"/>
          <p:cNvSpPr txBox="1"/>
          <p:nvPr/>
        </p:nvSpPr>
        <p:spPr>
          <a:xfrm>
            <a:off x="6419088"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adviser’s (about me)</a:t>
            </a:r>
            <a:endParaRPr lang="en-US" sz="1100" dirty="0"/>
          </a:p>
        </p:txBody>
      </p:sp>
      <p:sp>
        <p:nvSpPr>
          <p:cNvPr id="34" name="Text 31"/>
          <p:cNvSpPr txBox="1"/>
          <p:nvPr/>
        </p:nvSpPr>
        <p:spPr>
          <a:xfrm>
            <a:off x="548640" y="3840480"/>
            <a:ext cx="5669280" cy="731520"/>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2" charset="-78"/>
                <a:ea typeface="Amiri" pitchFamily="2" charset="-78"/>
                <a:cs typeface="Amiri" pitchFamily="2" charset="-78"/>
              </a:rPr>
              <a:t>وَأَكَّدَ</a:t>
            </a:r>
            <a:pPr rtl="1" algn="ctr" indent="0" marL="0">
              <a:buNone/>
            </a:pPr>
            <a:r>
              <a:rPr lang="ar-SA" altLang="en-US" sz="1900" b="1" dirty="0">
                <a:solidFill>
                  <a:srgbClr val="1B3B6F"/>
                </a:solidFill>
                <a:latin typeface="Amiri" pitchFamily="2" charset="-78"/>
                <a:ea typeface="Amiri" pitchFamily="2" charset="-78"/>
                <a:cs typeface="Amiri" pitchFamily="2" charset="-78"/>
              </a:rPr>
              <a:t> أَنَّ اجْتِهَادِي سَيُثْمِرُ.</a:t>
            </a:r>
            <a:endParaRPr lang="ar-SA" sz="19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796528" y="4626864"/>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ashāra</a:t>
            </a:r>
            <a:endParaRPr lang="en-US" sz="1100" dirty="0"/>
          </a:p>
        </p:txBody>
      </p:sp>
      <p:sp>
        <p:nvSpPr>
          <p:cNvPr id="37" name="Text 34"/>
          <p:cNvSpPr txBox="1"/>
          <p:nvPr/>
        </p:nvSpPr>
        <p:spPr>
          <a:xfrm>
            <a:off x="6419088"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report’s</a:t>
            </a:r>
            <a:endParaRPr lang="en-US" sz="1100" dirty="0"/>
          </a:p>
        </p:txBody>
      </p:sp>
      <p:sp>
        <p:nvSpPr>
          <p:cNvPr id="38" name="Text 35"/>
          <p:cNvSpPr txBox="1"/>
          <p:nvPr/>
        </p:nvSpPr>
        <p:spPr>
          <a:xfrm>
            <a:off x="548640" y="4626864"/>
            <a:ext cx="5669280" cy="731520"/>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2" charset="-78"/>
                <a:ea typeface="Amiri" pitchFamily="2" charset="-78"/>
                <a:cs typeface="Amiri" pitchFamily="2" charset="-78"/>
              </a:rPr>
              <a:t>وَأَشَارَ</a:t>
            </a:r>
            <a:pPr rtl="1" algn="ctr" indent="0" marL="0">
              <a:buNone/>
            </a:pPr>
            <a:r>
              <a:rPr lang="ar-SA" altLang="en-US" sz="1900" b="1" dirty="0">
                <a:solidFill>
                  <a:srgbClr val="1B3B6F"/>
                </a:solidFill>
                <a:latin typeface="Amiri" pitchFamily="2" charset="-78"/>
                <a:ea typeface="Amiri" pitchFamily="2" charset="-78"/>
                <a:cs typeface="Amiri" pitchFamily="2" charset="-78"/>
              </a:rPr>
              <a:t> تَقْرِيرٌ إِلَى أَنَّ نِسْبَةَ القَبُولِ مُرْتَفِعَةٌ.</a:t>
            </a:r>
            <a:endParaRPr lang="ar-SA" sz="19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1: «qāla l-khabīru inna …» reports the EXPERT’s view, not the speaker’s.</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50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Hearing P2 structures in fast speech</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سَمَاعُ البُنَى فِي الكَلَامِ السَّرِيعِ</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Decode reported speech</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verb + inna / anna + content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قَالَ المُرْشِدُ إِنَّنِي سَأَنْجَحُ   ·   أَشَارَ الخَبِيرُ إِلَى أَنَّ الإِصْلَاحَ ضَرُورِيٌّ</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idhā vs law by ear</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(real) · law … la- (unreal)</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قُبِلْتُ، سَأَدْرُسُ الطِّبَّ   ·   لَوْ تَوَافَرَ الدَّعْمُ، لَتَفَوَّقْتُ</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Catch the past-perfect unit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kāna-qad-verb</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كُنْتُ قَدْ حَصَلْتُ عَلَى مِنْحَةٍ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Own view vs cited view</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arā anna vs qāla … inna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أَرَى أَنَّ …   ·   قَالَ الخَبِيرُ إِنَّ …</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50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قَالَ مُرْشِدِي إِنَّنِي سَأَنْجَحُ</a:t>
            </a:r>
            <a:pPr algn="l" indent="0" marL="0">
              <a:buNone/>
            </a:pPr>
            <a:r>
              <a:rPr lang="en-US" sz="1250" b="1" dirty="0">
                <a:solidFill>
                  <a:srgbClr val="1B3B6F"/>
                </a:solidFill>
                <a:latin typeface="Calibri" pitchFamily="34" charset="0"/>
                <a:cs typeface="Amiri" pitchFamily="2" charset="-78"/>
              </a:rPr>
              <a:t>», who is described as succeeding?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mentor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followed by a verb and </a:t>
            </a:r>
            <a:pPr algn="l" indent="0" marL="0">
              <a:buNone/>
            </a:pPr>
            <a:r>
              <a:rPr lang="ar-SA" altLang="en-US" sz="1650" b="1" dirty="0">
                <a:solidFill>
                  <a:srgbClr val="1B3B6F"/>
                </a:solidFill>
                <a:latin typeface="Amiri" pitchFamily="2" charset="-78"/>
                <a:ea typeface="Amiri" pitchFamily="2" charset="-78"/>
                <a:cs typeface="Amiri" pitchFamily="2" charset="-78"/>
              </a:rPr>
              <a:t>سَـ</a:t>
            </a:r>
            <a:pPr algn="l" indent="0" marL="0">
              <a:buNone/>
            </a:pPr>
            <a:r>
              <a:rPr lang="en-US" sz="1250" b="1" dirty="0">
                <a:solidFill>
                  <a:srgbClr val="1B3B6F"/>
                </a:solidFill>
                <a:latin typeface="Calibri" pitchFamily="34" charset="0"/>
                <a:cs typeface="Amiri" pitchFamily="2" charset="-78"/>
              </a:rPr>
              <a:t>. This is …</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conditional</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hypothetical conditional</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past narrative</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followed by a past verb. This signals …</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certain future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past-perfect marker to listen for?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50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قَالَ مُرْشِدِي إِنَّنِي سَأَنْجَحُ</a:t>
            </a:r>
            <a:pPr algn="l" indent="0" marL="0">
              <a:buNone/>
            </a:pPr>
            <a:r>
              <a:rPr lang="en-US" sz="1250" b="1" dirty="0">
                <a:solidFill>
                  <a:srgbClr val="1B3B6F"/>
                </a:solidFill>
                <a:latin typeface="Calibri" pitchFamily="34" charset="0"/>
                <a:cs typeface="Amiri" pitchFamily="2" charset="-78"/>
              </a:rPr>
              <a:t>», who is described as succeeding?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mentor</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one</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speaker</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إِنَّنِي</a:t>
            </a:r>
            <a:pPr algn="l" indent="0" marL="0">
              <a:buNone/>
            </a:pPr>
            <a:r>
              <a:rPr lang="en-US" sz="1050" i="1" dirty="0">
                <a:solidFill>
                  <a:srgbClr val="8A6D1E"/>
                </a:solidFill>
                <a:latin typeface="Calibri" pitchFamily="34" charset="0"/>
                <a:cs typeface="Amiri" pitchFamily="2" charset="-78"/>
              </a:rPr>
              <a:t> refers to the speaker; the mentor is the source.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followed by a verb and </a:t>
            </a:r>
            <a:pPr algn="l" indent="0" marL="0">
              <a:buNone/>
            </a:pPr>
            <a:r>
              <a:rPr lang="ar-SA" altLang="en-US" sz="1650" b="1" dirty="0">
                <a:solidFill>
                  <a:srgbClr val="1B3B6F"/>
                </a:solidFill>
                <a:latin typeface="Amiri" pitchFamily="2" charset="-78"/>
                <a:ea typeface="Amiri" pitchFamily="2" charset="-78"/>
                <a:cs typeface="Amiri" pitchFamily="2" charset="-78"/>
              </a:rPr>
              <a:t>سَـ</a:t>
            </a:r>
            <a:pPr algn="l" indent="0" marL="0">
              <a:buNone/>
            </a:pPr>
            <a:r>
              <a:rPr lang="en-US" sz="1250" b="1" dirty="0">
                <a:solidFill>
                  <a:srgbClr val="1B3B6F"/>
                </a:solidFill>
                <a:latin typeface="Calibri" pitchFamily="34" charset="0"/>
                <a:cs typeface="Amiri" pitchFamily="2" charset="-78"/>
              </a:rPr>
              <a:t>. This is …</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real conditional</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hypothetical conditional</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past narrative</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a real conditional.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followed by a past verb. This signals …</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certain future</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counterfactual</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 past signals a hypothetical, counterfactual case.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past-perfect marker to listen for?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قَدْ</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 قَدْ</a:t>
            </a:r>
            <a:pPr algn="l" indent="0" marL="0">
              <a:buNone/>
            </a:pPr>
            <a:r>
              <a:rPr lang="en-US" sz="1050" i="1" dirty="0">
                <a:solidFill>
                  <a:srgbClr val="8A6D1E"/>
                </a:solidFill>
                <a:latin typeface="Calibri" pitchFamily="34" charset="0"/>
                <a:cs typeface="Amiri" pitchFamily="2" charset="-78"/>
              </a:rPr>
              <a:t> marks the past perfect.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50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label, predict, listen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Label</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algn="ctr" indent="0" marL="0">
              <a:buNone/>
            </a:pPr>
            <a:r>
              <a:rPr lang="en-US" sz="2800" b="1" dirty="0">
                <a:solidFill>
                  <a:srgbClr val="1B3B6F"/>
                </a:solidFill>
                <a:latin typeface="Calibri" pitchFamily="34" charset="0"/>
                <a:cs typeface="Amiri" pitchFamily="2" charset="-78"/>
              </a:rPr>
              <a:t>R · C · P · O</a:t>
            </a:r>
            <a:endParaRPr lang="en-US"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does it ask?</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Who?</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قَالَ</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7B3FA0"/>
                </a:solidFill>
                <a:latin typeface="Amiri" pitchFamily="2" charset="-78"/>
                <a:ea typeface="Amiri" pitchFamily="2" charset="-78"/>
                <a:cs typeface="Amiri" pitchFamily="2" charset="-78"/>
              </a:rPr>
              <a:t>إِنَّنِي</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إِذَا</a:t>
            </a:r>
            <a:pPr rtl="1" algn="ctr" indent="0" marL="0">
              <a:buNone/>
            </a:pPr>
            <a:r>
              <a:rPr lang="ar-SA" altLang="en-US" sz="2800" b="1" dirty="0">
                <a:solidFill>
                  <a:srgbClr val="1B3B6F"/>
                </a:solidFill>
                <a:latin typeface="Amiri" pitchFamily="2" charset="-78"/>
                <a:cs typeface="Amiri" pitchFamily="2" charset="-78"/>
              </a:rPr>
              <a:t> … · </a:t>
            </a:r>
            <a:pPr rtl="1" algn="ctr" indent="0" marL="0">
              <a:buNone/>
            </a:pPr>
            <a:r>
              <a:rPr lang="ar-SA" altLang="en-US" sz="2800" b="1" dirty="0">
                <a:solidFill>
                  <a:srgbClr val="C77700"/>
                </a:solidFill>
                <a:latin typeface="Amiri" pitchFamily="2" charset="-78"/>
                <a:ea typeface="Amiri" pitchFamily="2" charset="-78"/>
                <a:cs typeface="Amiri" pitchFamily="2" charset="-78"/>
              </a:rPr>
              <a:t>لَوْ</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Plan or not?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Unit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كُنْتُ-قَدْ-قَرَّرْتُ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fast unit.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REPORTED</a:t>
            </a:r>
            <a:endParaRPr lang="en-US" sz="800" dirty="0"/>
          </a:p>
        </p:txBody>
      </p:sp>
      <p:sp>
        <p:nvSpPr>
          <p:cNvPr id="49" name="Shape 45"/>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REAL · IDHĀ</a:t>
            </a:r>
            <a:endParaRPr lang="en-US" sz="800" dirty="0"/>
          </a:p>
        </p:txBody>
      </p:sp>
      <p:sp>
        <p:nvSpPr>
          <p:cNvPr id="51" name="Shape 47"/>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COUNTERFACTUAL · LAW</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يَقُولُ الطَّالِبُ: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كُنْتُ قَدْ قَرَّرْتُ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دِرَاسَةَ الهَنْدَسَةِ.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قَالَ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مُرْشِدِي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إِنَّنِي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مُؤَهَّلٌ.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إِذَا قُبِلْتُ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الجَامِعَةِ،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سَأَتَخَصَّصُ</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الطَّاقَةِ المُتَجَدِّدَةِ.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وَلَوْ تَوَافَرَتْ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لِي مَوَارِدُ أَفْضَلُ،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لَكُنْتُ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قَدْ تَقَدَّمْتُ أَسْرَعَ.</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student says: I had decided to study engineering. My adviser said that I am qualified. If I am accepted at the university, I will specialise in renewable energy. And had better resources been available to me, I would have progressed faster.</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50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قَالَ مُرْشِدِي إِنَّنِي سَأَنْجَحُ بِالتَّأْكِيدِ</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adviser said that I will certainly succeed</a:t>
            </a:r>
            <a:endParaRPr lang="en-US" sz="1250" dirty="0"/>
          </a:p>
          <a:p>
            <a:pPr indent="0" marL="0">
              <a:buNone/>
            </a:pPr>
            <a:r>
              <a:rPr lang="en-US" sz="1050" i="1" dirty="0">
                <a:solidFill>
                  <a:srgbClr val="8A6D1E"/>
                </a:solidFill>
                <a:latin typeface="Calibri" pitchFamily="34" charset="0"/>
                <a:cs typeface="Amiri" pitchFamily="2" charset="-78"/>
              </a:rPr>
              <a:t>Verb + inna + pronoun + kept future.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تَوَافَرَ الدَّعْمُ، لَتَفَوَّقْتُ أَكْثَرَ</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the support been available, I would have excelled more</a:t>
            </a:r>
            <a:endParaRPr lang="en-US" sz="1250" dirty="0"/>
          </a:p>
          <a:p>
            <a:pPr indent="0" marL="0">
              <a:buNone/>
            </a:pPr>
            <a:r>
              <a:rPr lang="en-US" sz="1050" i="1" dirty="0">
                <a:solidFill>
                  <a:srgbClr val="8A6D1E"/>
                </a:solidFill>
                <a:latin typeface="Calibri" pitchFamily="34" charset="0"/>
                <a:cs typeface="Amiri" pitchFamily="2" charset="-78"/>
              </a:rPr>
              <a:t>law signals a counterfactual.</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كُنْتُ قَدْ حَصَلْتُ عَلَى مِنْحَةٍ قَبْلَ الثَّانَوِيَّةِ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had obtained a scholarship before secondary school</a:t>
            </a:r>
            <a:endParaRPr lang="en-US" sz="1250" dirty="0"/>
          </a:p>
          <a:p>
            <a:pPr indent="0" marL="0">
              <a:buNone/>
            </a:pPr>
            <a:r>
              <a:rPr lang="en-US" sz="1050" i="1" dirty="0">
                <a:solidFill>
                  <a:srgbClr val="8A6D1E"/>
                </a:solidFill>
                <a:latin typeface="Calibri" pitchFamily="34" charset="0"/>
                <a:cs typeface="Amiri" pitchFamily="2" charset="-78"/>
              </a:rPr>
              <a:t>Fast past-perfect unit kuntu qad.</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50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REPORT WHAT YOU HEARD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Claim + conditional + past perfect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عَمَّا سَمِعْتَ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Reported claim</a:t>
            </a:r>
            <a:endParaRPr lang="en-US" sz="1100" dirty="0"/>
          </a:p>
        </p:txBody>
      </p:sp>
      <p:sp>
        <p:nvSpPr>
          <p:cNvPr id="19" name="Text 16"/>
          <p:cNvSpPr txBox="1"/>
          <p:nvPr/>
        </p:nvSpPr>
        <p:spPr>
          <a:xfrm>
            <a:off x="44897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Conditional</a:t>
            </a:r>
            <a:endParaRPr lang="en-US" sz="1100" dirty="0"/>
          </a:p>
        </p:txBody>
      </p:sp>
      <p:sp>
        <p:nvSpPr>
          <p:cNvPr id="20" name="Text 17"/>
          <p:cNvSpPr txBox="1"/>
          <p:nvPr/>
        </p:nvSpPr>
        <p:spPr>
          <a:xfrm>
            <a:off x="5303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Past-perfect fact</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قَالَ المُرْشِدُ إِنَّهُ مُؤَهَّلٌ لِلْمُنَافَسَةِ</a:t>
            </a:r>
            <a:endParaRPr lang="ar-SA" sz="1600" dirty="0"/>
          </a:p>
        </p:txBody>
      </p:sp>
      <p:sp>
        <p:nvSpPr>
          <p:cNvPr id="23" name="Text 20"/>
          <p:cNvSpPr txBox="1"/>
          <p:nvPr/>
        </p:nvSpPr>
        <p:spPr>
          <a:xfrm>
            <a:off x="45079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قُبِلَ سَيَتَخَصَّصُ فِي الطَّاقَةِ المُتَجَدِّدَةِ</a:t>
            </a:r>
            <a:endParaRPr lang="ar-SA" sz="1600" dirty="0"/>
          </a:p>
        </p:txBody>
      </p:sp>
      <p:sp>
        <p:nvSpPr>
          <p:cNvPr id="24" name="Text 21"/>
          <p:cNvSpPr txBox="1"/>
          <p:nvPr/>
        </p:nvSpPr>
        <p:spPr>
          <a:xfrm>
            <a:off x="548640" y="2267712"/>
            <a:ext cx="377647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وَكَانَ قَدْ حَصَلَ عَلَى خِبْرَةٍ عَمَلِيَّةٍ قَبْلَ الثَّانَوِيَّةِ</a:t>
            </a:r>
            <a:endParaRPr lang="ar-SA" sz="1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أَشَارَ التَّقْرِيرُ إِلَى أَنَّ نِسْبَةَ القَبُولِ مُرْتَفِعَةٌ</a:t>
            </a:r>
            <a:endParaRPr lang="ar-SA" sz="1600" dirty="0"/>
          </a:p>
        </p:txBody>
      </p:sp>
      <p:sp>
        <p:nvSpPr>
          <p:cNvPr id="29" name="Text 26"/>
          <p:cNvSpPr txBox="1"/>
          <p:nvPr/>
        </p:nvSpPr>
        <p:spPr>
          <a:xfrm>
            <a:off x="45079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تَوَافَرَ الدَّعْمُ لَتَقَدَّمَ أَسْرَعَ</a:t>
            </a:r>
            <a:endParaRPr lang="ar-SA" sz="1600" dirty="0"/>
          </a:p>
        </p:txBody>
      </p:sp>
      <p:sp>
        <p:nvSpPr>
          <p:cNvPr id="30" name="Text 27"/>
          <p:cNvSpPr txBox="1"/>
          <p:nvPr/>
        </p:nvSpPr>
        <p:spPr>
          <a:xfrm>
            <a:off x="548640" y="3054096"/>
            <a:ext cx="377647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وَكَانَ قَدْ قَرَّرَ مَجَالَهُ مُبَكِّرًا</a:t>
            </a:r>
            <a:endParaRPr lang="ar-SA" sz="16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أَكَّدَ الخَبِيرُ أَنَّ الاجْتِهَادَ سَيُثْمِرُ</a:t>
            </a:r>
            <a:endParaRPr lang="ar-SA" sz="1600" dirty="0"/>
          </a:p>
        </p:txBody>
      </p:sp>
      <p:sp>
        <p:nvSpPr>
          <p:cNvPr id="33" name="Text 30"/>
          <p:cNvSpPr txBox="1"/>
          <p:nvPr/>
        </p:nvSpPr>
        <p:spPr>
          <a:xfrm>
            <a:off x="45079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اجْتَهَدَ أَكْثَرَ سَيَحْصُلُ عَلَى مِنْحَةٍ</a:t>
            </a:r>
            <a:endParaRPr lang="ar-SA" sz="1600" dirty="0"/>
          </a:p>
        </p:txBody>
      </p:sp>
      <p:sp>
        <p:nvSpPr>
          <p:cNvPr id="34" name="Text 31"/>
          <p:cNvSpPr txBox="1"/>
          <p:nvPr/>
        </p:nvSpPr>
        <p:spPr>
          <a:xfrm>
            <a:off x="548640" y="3840480"/>
            <a:ext cx="377647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وَكَانَ قَدْ أَنْجَزَ مَشْرُوعًا بَحْثِيًّا</a:t>
            </a:r>
            <a:endParaRPr lang="ar-SA" sz="16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50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Reported speech, conditional — or past perfect?</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 إِنَّ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أَشَارَ إِلَى أَنَّ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أَكَّدَ أَنَّ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 سَـ</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 لَـ</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لَمْ … لَنْ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قَدْ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كَانُوا قَدْ</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reported speech</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conditional (real / hypothetical)</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past perfect</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50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reported speech</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 إِنَّ</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أَشَارَ إِلَى أَنَّ</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أَكَّدَ أَنَّ</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conditional (real / hypothetical)</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 سَـ</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 لَـ</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لَمْ … لَنْ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past perfect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قَدْ</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كَانُوا قَدْ</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50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tells you a claim is cited, not the speaker's own?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word </a:t>
            </a:r>
            <a:pPr algn="l" indent="0" marL="0">
              <a:buNone/>
            </a:pPr>
            <a:r>
              <a:rPr lang="ar-SA" altLang="en-US" sz="1650" dirty="0">
                <a:solidFill>
                  <a:srgbClr val="1F2A37"/>
                </a:solidFill>
                <a:latin typeface="Amiri" pitchFamily="2" charset="-78"/>
                <a:ea typeface="Amiri" pitchFamily="2" charset="-78"/>
                <a:cs typeface="Amiri" pitchFamily="2" charset="-78"/>
              </a:rPr>
              <a:t>أَنَا</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number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reporting verb like </a:t>
            </a:r>
            <a:pPr algn="l" indent="0" marL="0">
              <a:buNone/>
            </a:pPr>
            <a:r>
              <a:rPr lang="ar-SA" altLang="en-US" sz="1650" dirty="0">
                <a:solidFill>
                  <a:srgbClr val="1F2A37"/>
                </a:solidFill>
                <a:latin typeface="Amiri" pitchFamily="2" charset="-78"/>
                <a:ea typeface="Amiri" pitchFamily="2" charset="-78"/>
                <a:cs typeface="Amiri" pitchFamily="2" charset="-78"/>
              </a:rPr>
              <a:t>قَالَ / أَشَارَ</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أَشَارَ الخَبِيرُ ___ أَنَّ الإِصْلَاحَ ضَرُورِيٌّ.</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change fits reporting a boy's «</a:t>
            </a:r>
            <a:pPr algn="l" indent="0" marL="0">
              <a:buNone/>
            </a:pPr>
            <a:r>
              <a:rPr lang="ar-SA" altLang="en-US" sz="1650" b="1" dirty="0">
                <a:solidFill>
                  <a:srgbClr val="1B3B6F"/>
                </a:solidFill>
                <a:latin typeface="Amiri" pitchFamily="2" charset="-78"/>
                <a:ea typeface="Amiri" pitchFamily="2" charset="-78"/>
                <a:cs typeface="Amiri" pitchFamily="2" charset="-78"/>
              </a:rPr>
              <a:t>سَأَدْرُسُ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إِنَّنِي سَأَدْرُسُ</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إِنَّهُ سَيَدْرُسُ</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إِنَّهَا سَتَدْرُسُ</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vs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matter for the answer?</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changes the speaker</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changes the tense of every verb</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changes whether the plan is real or hypothetical</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50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tells you a claim is cited, not the speaker's own?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word </a:t>
            </a:r>
            <a:pPr algn="l" indent="0" marL="0">
              <a:buNone/>
            </a:pPr>
            <a:r>
              <a:rPr lang="ar-SA" altLang="en-US" sz="1650" dirty="0">
                <a:solidFill>
                  <a:srgbClr val="9AA1AB"/>
                </a:solidFill>
                <a:latin typeface="Amiri" pitchFamily="2" charset="-78"/>
                <a:ea typeface="Amiri" pitchFamily="2" charset="-78"/>
                <a:cs typeface="Amiri" pitchFamily="2" charset="-78"/>
              </a:rPr>
              <a:t>أَنَا</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number</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reporting verb like </a:t>
            </a:r>
            <a:pPr algn="l" indent="0" marL="0">
              <a:buNone/>
            </a:pPr>
            <a:r>
              <a:rPr lang="ar-SA" altLang="en-US" sz="1650" b="1" dirty="0">
                <a:solidFill>
                  <a:srgbClr val="1F2A37"/>
                </a:solidFill>
                <a:latin typeface="Amiri" pitchFamily="2" charset="-78"/>
                <a:ea typeface="Amiri" pitchFamily="2" charset="-78"/>
                <a:cs typeface="Amiri" pitchFamily="2" charset="-78"/>
              </a:rPr>
              <a:t>قَالَ / أَشَارَ</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reporting verb signals a cited source.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أَشَارَ الخَبِيرُ ___ أَنَّ الإِصْلَاحَ ضَرُورِيٌّ.</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أَشَارَ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change fits reporting a boy's «</a:t>
            </a:r>
            <a:pPr algn="l" indent="0" marL="0">
              <a:buNone/>
            </a:pPr>
            <a:r>
              <a:rPr lang="ar-SA" altLang="en-US" sz="1650" b="1" dirty="0">
                <a:solidFill>
                  <a:srgbClr val="1B3B6F"/>
                </a:solidFill>
                <a:latin typeface="Amiri" pitchFamily="2" charset="-78"/>
                <a:ea typeface="Amiri" pitchFamily="2" charset="-78"/>
                <a:cs typeface="Amiri" pitchFamily="2" charset="-78"/>
              </a:rPr>
              <a:t>سَأَدْرُسُ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إِنَّنِي سَأَدْرُسُ</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إِنَّهُ سَيَدْرُسُ</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إِنَّهَا سَتَدْرُسُ</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Third-person masculine: </a:t>
            </a:r>
            <a:pPr algn="l" indent="0" marL="0">
              <a:buNone/>
            </a:pPr>
            <a:r>
              <a:rPr lang="ar-SA" altLang="en-US" sz="1350" dirty="0">
                <a:solidFill>
                  <a:srgbClr val="8A6D1E"/>
                </a:solidFill>
                <a:latin typeface="Amiri" pitchFamily="2" charset="-78"/>
                <a:ea typeface="Amiri" pitchFamily="2" charset="-78"/>
                <a:cs typeface="Amiri" pitchFamily="2" charset="-78"/>
              </a:rPr>
              <a:t>إِنَّهُ سَيَدْرُسُ</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vs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matter for the answer?</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changes the speaker</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changes the tense of every verb</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changes whether the plan is real or hypothetical</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signal word fixes whether the situation is real or counterfactual.</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50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2900" b="1" dirty="0">
                <a:solidFill>
                  <a:srgbClr val="B83227"/>
                </a:solidFill>
                <a:latin typeface="Amiri" pitchFamily="2" charset="-78"/>
                <a:ea typeface="Amiri" pitchFamily="2" charset="-78"/>
                <a:cs typeface="Amiri" pitchFamily="2" charset="-78"/>
              </a:rPr>
              <a:t>«قَالَ الخَبِيرُ إِنَّ الإِصْلَاحَ ضَرُورِيٌّ» يَعْنِي رَأْيَ المُتَحَدِّثِ.</a:t>
            </a:r>
            <a:endParaRPr lang="ar-SA" sz="29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qāla l-khabīru → whose view?</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سَمِعْتُ «لَوْ» فَفَهِمْتُ أَنَّهُ خُطَّةٌ وَاقِعِيَّةٌ.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a real plan?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أَشَارَ الخَبِيرُ أَنَّ الإِصْلَاحَ ضَرُورِيٌّ.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ashāra + anna?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50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«قَالَ الخَبِيرُ إِنَّ الإِصْلَاحَ ضَرُورِيٌّ» يَعْنِي رَأْيَ المُتَحَدِّثِ.</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«قَالَ الخَبِيرُ إِنَّ الإِصْلَاحَ ضَرُورِيٌّ» يَنْقُلُ رَأْيَ الخَبِيرِ.</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reporting verb cites another source, not the speaker's own view.</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سَمِعْتُ «لَوْ» فَفَهِمْتُ أَنَّهُ خُطَّةٌ وَاقِعِيَّةٌ.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سَمِعْتُ «لَوْ» فَفَهِمْتُ أَنَّهُ افْتِرَاضٌ.</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لَوْ</a:t>
            </a:r>
            <a:pPr algn="l" indent="0" marL="0">
              <a:buNone/>
            </a:pPr>
            <a:r>
              <a:rPr lang="en-US" sz="1150" b="1" dirty="0">
                <a:solidFill>
                  <a:srgbClr val="1B3B6F"/>
                </a:solidFill>
                <a:latin typeface="Calibri" pitchFamily="34" charset="0"/>
                <a:cs typeface="Amiri" pitchFamily="2" charset="-78"/>
              </a:rPr>
              <a:t> signals a hypothetical, not a real plan.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أَشَارَ الخَبِيرُ أَنَّ الإِصْلَاحَ ضَرُورِيٌّ.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أَشَارَ الخَبِيرُ إِلَى أَنَّ الإِصْلَاحَ ضَرُورِيٌّ.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أَشَارَ</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 before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50</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1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Part 1: background and the adviser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student done by the end of secondary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Decided on engineering and gained work experience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yet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Started a job</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mentor say and stress?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student should stop</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field is closed</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student is qualified and their effort will bear fruit</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had the student decided to study?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law</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engineering</a:t>
            </a:r>
            <a:endParaRPr lang="en-US" sz="1250" dirty="0"/>
          </a:p>
        </p:txBody>
      </p:sp>
      <p:sp>
        <p:nvSpPr>
          <p:cNvPr id="54" name="Shape 51"/>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57" name="Text 54"/>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P · R · P.</a:t>
            </a:r>
            <a:endParaRPr lang="en-US" sz="1250" dirty="0"/>
          </a:p>
          <a:p>
            <a:pPr algn="l" indent="0" marL="0">
              <a:buNone/>
            </a:pPr>
            <a:r>
              <a:rPr lang="en-US" sz="1250" dirty="0">
                <a:solidFill>
                  <a:srgbClr val="1E6B52"/>
                </a:solidFill>
                <a:latin typeface="Calibri" pitchFamily="34" charset="0"/>
                <a:cs typeface="Amiri" pitchFamily="2" charset="-78"/>
              </a:rPr>
              <a:t>Listen for: kuntu qad · qāla … inna-nī.</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50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11274552" cy="2212848"/>
          </a:xfrm>
          <a:prstGeom prst="roundRect">
            <a:avLst>
              <a:gd name="adj" fmla="val 2066"/>
            </a:avLst>
          </a:prstGeom>
          <a:solidFill>
            <a:srgbClr val="FFFFFF"/>
          </a:solidFill>
          <a:ln w="9525">
            <a:solidFill>
              <a:srgbClr val="D8D0BF"/>
            </a:solidFill>
            <a:prstDash val="solid"/>
          </a:ln>
        </p:spPr>
      </p:sp>
      <p:sp>
        <p:nvSpPr>
          <p:cNvPr id="16" name="Text 13"/>
          <p:cNvSpPr txBox="1"/>
          <p:nvPr/>
        </p:nvSpPr>
        <p:spPr>
          <a:xfrm>
            <a:off x="4937760" y="1828800"/>
            <a:ext cx="6675120" cy="2176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يَقُولُ الطَّالِبُ: بِحُلُولِ نِهَايَةِ الثَّانَوِيَّةِ، كُنْتُ قَدْ قَرَّرْتُ دِرَاسَةَ الهَنْدَسَةِ، وَكُنْتُ قَدْ حَصَلْتُ عَلَى خِبْرَةٍ عَمَلِيَّةٍ.</a:t>
            </a:r>
            <a:endParaRPr lang="ar-SA" sz="2000" dirty="0"/>
          </a:p>
        </p:txBody>
      </p:sp>
      <p:sp>
        <p:nvSpPr>
          <p:cNvPr id="17" name="Text 14"/>
          <p:cNvSpPr txBox="1"/>
          <p:nvPr/>
        </p:nvSpPr>
        <p:spPr>
          <a:xfrm>
            <a:off x="640080" y="1828800"/>
            <a:ext cx="4160520" cy="2176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 says: by the end of secondary school, I had decided to study engineering, and I had gained practical experience.</a:t>
            </a:r>
            <a:endParaRPr lang="en-US" sz="1250" dirty="0"/>
          </a:p>
        </p:txBody>
      </p:sp>
      <p:sp>
        <p:nvSpPr>
          <p:cNvPr id="18" name="Shape 15"/>
          <p:cNvSpPr/>
          <p:nvPr/>
        </p:nvSpPr>
        <p:spPr>
          <a:xfrm>
            <a:off x="457200" y="4096512"/>
            <a:ext cx="11274552" cy="2212848"/>
          </a:xfrm>
          <a:prstGeom prst="roundRect">
            <a:avLst>
              <a:gd name="adj" fmla="val 2066"/>
            </a:avLst>
          </a:prstGeom>
          <a:solidFill>
            <a:srgbClr val="F4F1EA"/>
          </a:solidFill>
          <a:ln w="9525">
            <a:solidFill>
              <a:srgbClr val="D8D0BF"/>
            </a:solidFill>
            <a:prstDash val="solid"/>
          </a:ln>
        </p:spPr>
      </p:sp>
      <p:sp>
        <p:nvSpPr>
          <p:cNvPr id="19" name="Text 16"/>
          <p:cNvSpPr txBox="1"/>
          <p:nvPr/>
        </p:nvSpPr>
        <p:spPr>
          <a:xfrm>
            <a:off x="4937760" y="4114800"/>
            <a:ext cx="6675120" cy="2176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قَالَ مُرْشِدِي إِنَّنِي مُؤَهَّلٌ، وَأَكَّدَ أَنَّ اجْتِهَادِي سَيُثْمِرُ.</a:t>
            </a:r>
            <a:endParaRPr lang="ar-SA" sz="2000" dirty="0"/>
          </a:p>
        </p:txBody>
      </p:sp>
      <p:sp>
        <p:nvSpPr>
          <p:cNvPr id="20" name="Text 17"/>
          <p:cNvSpPr txBox="1"/>
          <p:nvPr/>
        </p:nvSpPr>
        <p:spPr>
          <a:xfrm>
            <a:off x="640080" y="4114800"/>
            <a:ext cx="4160520" cy="2176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adviser said that I am qualified, and stressed that my hard work will pay off.</a:t>
            </a:r>
            <a:endParaRPr lang="en-US" sz="1250" dirty="0"/>
          </a:p>
        </p:txBody>
      </p:sp>
      <p:sp>
        <p:nvSpPr>
          <p:cNvPr id="21" name="Text 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50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student done by the end of secondary school?</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Decided on engineering and gained work experience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yet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Started a job</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قَدْ قَرَّرْتُ … وَكُنْتُ قَدْ حَصَلْتُ عَلَى خِبْرَةٍ.</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mentor say and stress?</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student should stop</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field is closed</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the student is qualified and their effort will bear fruit</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 مُرْشِدِي إِنَّنِي مُؤَهَّلٌ، وَأَكَّدَ أَنَّ اجْتِهَادِي سَيُثْمِرُ.</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had the student decided to study?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medicine</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law</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engineering</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قَدْ قَرَّرْتُ دِرَاسَةَ الهَنْدَسَةِ.</a:t>
            </a:r>
            <a:endParaRPr lang="ar-SA" sz="1350" dirty="0"/>
          </a:p>
        </p:txBody>
      </p:sp>
      <p:sp>
        <p:nvSpPr>
          <p:cNvPr id="60" name="Shape 57"/>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63" name="Text 60"/>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P · R · P.</a:t>
            </a:r>
            <a:endParaRPr lang="en-US" sz="1250" dirty="0"/>
          </a:p>
          <a:p>
            <a:pPr algn="l" indent="0" marL="0">
              <a:buNone/>
            </a:pPr>
            <a:r>
              <a:rPr lang="en-US" sz="1250" dirty="0">
                <a:solidFill>
                  <a:srgbClr val="1E6B52"/>
                </a:solidFill>
                <a:latin typeface="Calibri" pitchFamily="34" charset="0"/>
                <a:cs typeface="Amiri" pitchFamily="2" charset="-78"/>
              </a:rPr>
              <a:t>Listen for: kuntu qad · qāla … inna-nī.</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50</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2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Part 2: plans, a counterfactual and opinions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(Type 1) plan if accepted?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Specialise in renewable energy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university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 about resources?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Resources make no difference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 refused resources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better resources, the student would have progressed faster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report indicate about acceptance rates?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zero</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falling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high in this field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student’s OWN view of exam pressure?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great, but it pushes him to work</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does not exist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report says it is low</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C · C · R · O.</a:t>
            </a:r>
            <a:endParaRPr lang="en-US" sz="1250" dirty="0"/>
          </a:p>
          <a:p>
            <a:pPr algn="l" indent="0" marL="0">
              <a:buNone/>
            </a:pPr>
            <a:r>
              <a:rPr lang="en-US" sz="1250" dirty="0">
                <a:solidFill>
                  <a:srgbClr val="1E6B52"/>
                </a:solidFill>
                <a:latin typeface="Calibri" pitchFamily="34" charset="0"/>
                <a:cs typeface="Amiri" pitchFamily="2" charset="-78"/>
              </a:rPr>
              <a:t>Listen for: idhā … sa- · law … la- · ashāra · arā.</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50</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إِذَا قُبِلْتُ فِي الجَامِعَةِ الَّتِي أُرِيدُهَا، سَأَتَخَصَّصُ فِي الطَّاقَةِ المُتَجَدِّدَةِ.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I am accepted at the university I want, I will specialise in renewable energy.</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وَلَوْ تَوَافَرَتْ لِي مَوَارِدُ أَفْضَلُ فِي المَدْرَسَةِ، لَكُنْتُ قَدْ تَقَدَّمْتُ أَسْرَعَ.</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had better resources been available to me at school, I would have progressed faster.</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وَأَشَارَ تَقْرِيرٌ إِلَى أَنَّ نِسْبَةَ القَبُولِ فِي هٰذَا المَجَالِ مُرْتَفِعَةٌ.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report indicated that the acceptance rate in this field is high.</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أَرَى أَنَّ ضَغْطَ الامْتِحَانَاتِ كَبِيرٌ، لٰكِنَّهُ يَدْفَعُنِي إِلَى العَمَلِ. سَوْفَ أُسْهِمُ فِي مَجَالِي بَعْدَ التَّخَرُّجِ.</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think exam pressure is great, but it pushes me to work. I will contribute to my field after graduating.</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50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(Type 1) plan if accepted?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Specialise in renewable energy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university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قُبِلْتُ … سَأَتَخَصَّصُ فِي الطَّاقَةِ المُتَجَدِّدَةِ.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 about resources?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Resources make no difference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student refused resources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With better resources, the student would have progressed faster</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تَوَافَرَتْ لِي مَوَارِدُ أَفْضَلُ … لَكُنْتُ قَدْ تَقَدَّمْتُ أَسْرَعَ.</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report indicate about acceptance rates?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zero</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falling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are high in this field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أَشَارَ تَقْرِيرٌ إِلَى أَنَّ نِسْبَةَ القَبُولِ … مُرْتَفِعَةٌ.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student’s OWN view of exam pressure?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great, but it pushes him to work</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does not exist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report says it is low</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أَرَى أَنَّ ضَغْطَ الامْتِحَانَاتِ كَبِيرٌ، لٰكِنَّهُ يَدْفَعُنِي إِلَى العَمَلِ.</a:t>
            </a:r>
            <a:endParaRPr lang="ar-SA" sz="130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C · C · R · O.</a:t>
            </a:r>
            <a:endParaRPr lang="en-US" sz="1250" dirty="0"/>
          </a:p>
          <a:p>
            <a:pPr algn="l" indent="0" marL="0">
              <a:buNone/>
            </a:pPr>
            <a:r>
              <a:rPr lang="en-US" sz="1250" dirty="0">
                <a:solidFill>
                  <a:srgbClr val="1E6B52"/>
                </a:solidFill>
                <a:latin typeface="Calibri" pitchFamily="34" charset="0"/>
                <a:cs typeface="Amiri" pitchFamily="2" charset="-78"/>
              </a:rPr>
              <a:t>Listen for: idhā … sa- · law … la- · ashāra · arā.</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50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report what you heard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الكَلَامُ المَنْقُولُ الَّذِي سَمِعْتَهُ؟ وَبِأَيِّ فِعْلٍ نَاقِلٍ؟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اسْتَعْمَلَ المُتَحَدِّثُ «إِذَا» أَمْ «لَوْ»؟ وَمَاذَا يَعْنِي ذٰلِكَ؟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الإِنْجَازُ السَّابِقُ الَّذِي ذَكَرَهُ؟</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سَمِعْتُ أَنَّ المُرْشِدَ قَالَ إِنَّهُ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اسْتَعْمَلَ « ___ »، أَيْ إِنَّهُ يَصِفُ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كَانَ قَدْ ___ قَبْلَ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الكَلَامُ المَنْقُولُ الَّذِي سَمِعْتَهُ؟</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reported speech did you hear?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قَالَ المُرْشِدُ إِنَّهُ مُؤَهَّلٌ، وَأَكَّدَ أَنَّ اجْتِهَادَهُ سَيُثْمِرُ.</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The adviser said that he is qualified, and stressed that his hard work will pay off.</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50</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questions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Annotate five questions with the signal word you will listen for.</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annotate five questions with the signal word you will listen for.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50–60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whether each targets reported speech, a conditional or a past perfect.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whether each targets reported speech, a conditional or a past perfect.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how </a:t>
            </a:r>
            <a:pPr algn="l" indent="0" marL="0">
              <a:buNone/>
            </a:pPr>
            <a:r>
              <a:rPr lang="ar-SA" altLang="en-US" sz="1800" b="1" dirty="0">
                <a:solidFill>
                  <a:srgbClr val="1F2A37"/>
                </a:solidFill>
                <a:latin typeface="Amiri" pitchFamily="2" charset="-78"/>
                <a:ea typeface="Amiri" pitchFamily="2" charset="-78"/>
                <a:cs typeface="Amiri" pitchFamily="2" charset="-78"/>
              </a:rPr>
              <a:t>إِذَا</a:t>
            </a:r>
            <a:pPr algn="l" indent="0" marL="0">
              <a:buNone/>
            </a:pPr>
            <a:r>
              <a:rPr lang="en-US" sz="1400" b="1" dirty="0">
                <a:solidFill>
                  <a:srgbClr val="1F2A37"/>
                </a:solidFill>
                <a:latin typeface="Calibri" pitchFamily="34" charset="0"/>
                <a:cs typeface="Amiri" pitchFamily="2" charset="-78"/>
              </a:rPr>
              <a:t> vs </a:t>
            </a:r>
            <a:pPr algn="l" indent="0" marL="0">
              <a:buNone/>
            </a:pPr>
            <a:r>
              <a:rPr lang="ar-SA" altLang="en-US" sz="1800" b="1" dirty="0">
                <a:solidFill>
                  <a:srgbClr val="1F2A37"/>
                </a:solidFill>
                <a:latin typeface="Amiri" pitchFamily="2" charset="-78"/>
                <a:ea typeface="Amiri" pitchFamily="2" charset="-78"/>
                <a:cs typeface="Amiri" pitchFamily="2" charset="-78"/>
              </a:rPr>
              <a:t>لَوْ</a:t>
            </a:r>
            <a:pPr algn="l" indent="0" marL="0">
              <a:buNone/>
            </a:pPr>
            <a:r>
              <a:rPr lang="en-US" sz="1400" b="1" dirty="0">
                <a:solidFill>
                  <a:srgbClr val="1F2A37"/>
                </a:solidFill>
                <a:latin typeface="Calibri" pitchFamily="34" charset="0"/>
                <a:cs typeface="Amiri" pitchFamily="2" charset="-78"/>
              </a:rPr>
              <a:t> changed the meaning of one answer.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explain your listening strategy — reported speech, idhā vs law, kāna qad and cited views.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50</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أُمَيِّزُ بَيْنَ «إِذَا» الحَقِيقِيَّةِ وَ«لَوْ» الافْتِرَاضِيَّةِ لِأَنَّ ______ .</a:t>
            </a:r>
            <a:endParaRPr lang="ar-SA" sz="12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distinguish real idhā from hypothetical law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أَلْتَقِطُ «كَانَ قَدْ» بِوَصْفِهَا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catch kāna qad as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يَنْقُلُ الفِعْلُ النَّاقِلُ رَأْيَ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reporting verb conveys the view of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فَلَا أَخْلِطُ بَيْنَ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 I do not confuse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الاسْتِمَاعِ، أَقْرَأُ الأَسْئِلَةَ وَ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listening, I read the questions and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إِذَا كَانَ السُّؤَالُ عَنْ كَلَامٍ مَنْقُولٍ، أَنْتَظِرُ ______ .</a:t>
            </a:r>
            <a:endParaRPr lang="ar-SA" sz="15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question is about reported speech, I wait for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يُخْبِرُنِي الضَّمِيرُ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pronoun tells me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تَدُلُّ «كَانَ قَدْ» عَلَى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kāna qad shows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فِعْلًا نَاقِلًا مَعَ «إِنَّ» أَوْ «أَنَّ»  ·  عَمَّنْ يَتَحَدَّثُ  ·  إِنْجَازٍ سَابِقٍ  ·  وَحْدَةً سَرِيعَةً  ·  الإِجَابَةَ تَخْتَلِفُ  ·  نَوْعِ الشَّرْطِ  ·  مَصْدَرٍ آخَرَ  ·  رَأْيِ المُتَحَدِّثِ  ·  إِشَارَةٌ  ·  كَلِمَةٌ مِفْتَاحِيَّةٌ  ·  مُشَتِّتٌ  ·  أُحَدِّدُ مَا يَطْلُبُهُ</a:t>
            </a:r>
            <a:endParaRPr lang="ar-SA" sz="13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50</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explaining your listening strategy for academic education texts. Describe how you decode reported speech, how you tell </a:t>
            </a:r>
            <a:pPr algn="l" indent="0" marL="0">
              <a:buNone/>
            </a:pPr>
            <a:r>
              <a:rPr lang="ar-SA" altLang="en-US" sz="1750" b="1" dirty="0">
                <a:solidFill>
                  <a:srgbClr val="1F2A37"/>
                </a:solidFill>
                <a:latin typeface="Amiri" pitchFamily="2" charset="-78"/>
                <a:ea typeface="Amiri" pitchFamily="2" charset="-78"/>
                <a:cs typeface="Amiri" pitchFamily="2" charset="-78"/>
              </a:rPr>
              <a:t>إِذَا</a:t>
            </a:r>
            <a:pPr algn="l" indent="0" marL="0">
              <a:buNone/>
            </a:pPr>
            <a:r>
              <a:rPr lang="en-US" sz="1350" b="1" dirty="0">
                <a:solidFill>
                  <a:srgbClr val="1F2A37"/>
                </a:solidFill>
                <a:latin typeface="Calibri" pitchFamily="34" charset="0"/>
                <a:cs typeface="Amiri" pitchFamily="2" charset="-78"/>
              </a:rPr>
              <a:t> from </a:t>
            </a:r>
            <a:pPr algn="l" indent="0" marL="0">
              <a:buNone/>
            </a:pPr>
            <a:r>
              <a:rPr lang="ar-SA" altLang="en-US" sz="1750" b="1" dirty="0">
                <a:solidFill>
                  <a:srgbClr val="1F2A37"/>
                </a:solidFill>
                <a:latin typeface="Amiri" pitchFamily="2" charset="-78"/>
                <a:ea typeface="Amiri" pitchFamily="2" charset="-78"/>
                <a:cs typeface="Amiri" pitchFamily="2" charset="-78"/>
              </a:rPr>
              <a:t>لَوْ</a:t>
            </a:r>
            <a:pPr algn="l" indent="0" marL="0">
              <a:buNone/>
            </a:pPr>
            <a:r>
              <a:rPr lang="en-US" sz="1350" b="1" dirty="0">
                <a:solidFill>
                  <a:srgbClr val="1F2A37"/>
                </a:solidFill>
                <a:latin typeface="Calibri" pitchFamily="34" charset="0"/>
                <a:cs typeface="Amiri" pitchFamily="2" charset="-78"/>
              </a:rPr>
              <a:t>, and how you catch the fast past-perfect unit.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step for decoding reported speech (verb + particle + content).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a:t>
            </a:r>
            <a:pPr algn="l" indent="0" marL="0">
              <a:buNone/>
            </a:pPr>
            <a:r>
              <a:rPr lang="ar-SA" altLang="en-US" sz="1550" dirty="0">
                <a:solidFill>
                  <a:srgbClr val="1F2A37"/>
                </a:solidFill>
                <a:latin typeface="Amiri" pitchFamily="2" charset="-78"/>
                <a:ea typeface="Amiri" pitchFamily="2" charset="-78"/>
                <a:cs typeface="Amiri" pitchFamily="2" charset="-78"/>
              </a:rPr>
              <a:t>إِذَا</a:t>
            </a:r>
            <a:pPr algn="l" indent="0" marL="0">
              <a:buNone/>
            </a:pPr>
            <a:r>
              <a:rPr lang="en-US" sz="1200" dirty="0">
                <a:solidFill>
                  <a:srgbClr val="1F2A37"/>
                </a:solidFill>
                <a:latin typeface="Calibri" pitchFamily="34" charset="0"/>
                <a:cs typeface="Amiri" pitchFamily="2" charset="-78"/>
              </a:rPr>
              <a:t> vs </a:t>
            </a:r>
            <a:pPr algn="l" indent="0" marL="0">
              <a:buNone/>
            </a:pPr>
            <a:r>
              <a:rPr lang="ar-SA" altLang="en-US" sz="1550" dirty="0">
                <a:solidFill>
                  <a:srgbClr val="1F2A37"/>
                </a:solidFill>
                <a:latin typeface="Amiri" pitchFamily="2" charset="-78"/>
                <a:ea typeface="Amiri" pitchFamily="2" charset="-78"/>
                <a:cs typeface="Amiri" pitchFamily="2" charset="-78"/>
              </a:rPr>
              <a:t>لَوْ</a:t>
            </a:r>
            <a:pPr algn="l" indent="0" marL="0">
              <a:buNone/>
            </a:pPr>
            <a:r>
              <a:rPr lang="en-US" sz="1200" dirty="0">
                <a:solidFill>
                  <a:srgbClr val="1F2A37"/>
                </a:solidFill>
                <a:latin typeface="Calibri" pitchFamily="34" charset="0"/>
                <a:cs typeface="Amiri" pitchFamily="2" charset="-78"/>
              </a:rPr>
              <a:t> distinction and why it matters.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How to catch </a:t>
            </a:r>
            <a:pPr algn="l" indent="0" marL="0">
              <a:buNone/>
            </a:pPr>
            <a:r>
              <a:rPr lang="ar-SA" altLang="en-US" sz="1550" dirty="0">
                <a:solidFill>
                  <a:srgbClr val="1F2A37"/>
                </a:solidFill>
                <a:latin typeface="Amiri" pitchFamily="2" charset="-78"/>
                <a:ea typeface="Amiri" pitchFamily="2" charset="-78"/>
                <a:cs typeface="Amiri" pitchFamily="2" charset="-78"/>
              </a:rPr>
              <a:t>كَانَ قَدْ</a:t>
            </a:r>
            <a:pPr algn="l" indent="0" marL="0">
              <a:buNone/>
            </a:pPr>
            <a:r>
              <a:rPr lang="en-US" sz="1200" dirty="0">
                <a:solidFill>
                  <a:srgbClr val="1F2A37"/>
                </a:solidFill>
                <a:latin typeface="Calibri" pitchFamily="34" charset="0"/>
                <a:cs typeface="Amiri" pitchFamily="2" charset="-78"/>
              </a:rPr>
              <a:t> in fast speech.</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note that a reporting verb cites another source.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وَأُحَدِّدُ مَا يَطْلُبُهُ كُلٌّ مِنْهَا</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identify what each one asks for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أَنْتَبِهُ إِلَى الضَّمِيرِ لِأَعْرِفَ عَمَّنْ يَتَحَدَّثُ</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pay attention to the pronoun to know who he is talking about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 الإِجَابَةَ تَخْتَلِفُ بِحَسَبِ نَوْعِ الشَّرْطِ</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the answer differs according to the type of conditional</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بِوَصْفِهَا وَحْدَةً سَرِيعَةً تَدُلُّ عَلَى إِنْجَازٍ سَابِقٍ</a:t>
            </a:r>
            <a:endParaRPr lang="ar-SA" sz="17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a fast unit that signals an earlier achievement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فَلَا أَخْلِطُ بَيْنَهُمَا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I do not confuse the two</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50</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00" dirty="0">
                <a:solidFill>
                  <a:srgbClr val="1F2A37"/>
                </a:solidFill>
                <a:latin typeface="Amiri" pitchFamily="2" charset="-78"/>
                <a:ea typeface="Amiri" pitchFamily="2" charset="-78"/>
                <a:cs typeface="Amiri" pitchFamily="2" charset="-78"/>
              </a:rPr>
              <a:t>قَبْلَ الاسْتِمَاعِ، أَقْرَأُ الأَسْئِلَةَ وَأُحَدِّدُ مَا يَطْلُبُهُ كُلٌّ مِنْهَا. إِذَا كَانَ السُّؤَالُ عَنْ كَلَامٍ مَنْقُولٍ، أَنْتَظِرُ فِعْلًا نَاقِلًا مَعَ «إِنَّ» أَوْ «أَنَّ»، ثُمَّ أَنْتَبِهُ إِلَى الضَّمِيرِ لِأَعْرِفَ عَمَّنْ يَتَحَدَّثُ. وَأُمَيِّزُ بَيْنَ «إِذَا» الحَقِيقِيَّةِ وَ«لَوْ» الافْتِرَاضِيَّةِ، لِأَنَّ الإِجَابَةَ تَخْتَلِفُ بِحَسَبِ نَوْعِ الشَّرْطِ. وَأَلْتَقِطُ «كَانَ قَدْ» بِوَصْفِهَا وَحْدَةً سَرِيعَةً تَدُلُّ عَلَى إِنْجَازٍ سَابِقٍ. وَأَخِيرًا، أَتَذَكَّرُ أَنَّ الفِعْلَ النَّاقِلَ يَنْقُلُ رَأْيَ مَصْدَرٍ آخَرَ لَا رَأْيَ المُتَحَدِّثِ، فَلَا أَخْلِطُ بَيْنَهُمَا.</a:t>
            </a:r>
            <a:endParaRPr lang="ar-SA" sz="25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Before listening, I read the questions and identify what each one asks for. If the question is about reported speech, I wait for a reporting verb with “inna” or “anna”, then I pay attention to the pronoun to know who the speaker is talking about. I distinguish real “idhā” from hypothetical “law”, because the answer differs according to the type of conditional. I catch “kāna qad” as a fast unit that signals an earlier achievement. Finally, I remember that a reporting verb conveys the view of another source, not the speaker’s, so I do not confuse the two.</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prediction step</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reported-speech routine (verb · particle · pronoun)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idhā vs law</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kāna qad as one unit + cited vs own view</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50</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labelled every question and wrote its signal word.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caught who said it and about whom (the pronoun).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heard idhā as a plan and law as a counterfactual.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caught kāna qad + verb and its person.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the speaker’s view apart from a cited one.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50</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قَالَ مُرْشِدِي إِنَّنِي سَأَنْجَحُ</a:t>
            </a:r>
            <a:pPr algn="l" indent="0" marL="0">
              <a:buNone/>
            </a:pPr>
            <a:r>
              <a:rPr lang="en-US" sz="1250" b="1" dirty="0">
                <a:solidFill>
                  <a:srgbClr val="1B3B6F"/>
                </a:solidFill>
                <a:latin typeface="Calibri" pitchFamily="34" charset="0"/>
                <a:cs typeface="Amiri" pitchFamily="2" charset="-78"/>
              </a:rPr>
              <a:t>», who succeeds?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mentor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one</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 a past verb. This signals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plan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reporting verb tell you?</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view is cited from another source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speaker's own view</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50</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قَالَ مُرْشِدِي إِنَّنِي سَأَنْجَحُ</a:t>
            </a:r>
            <a:pPr algn="l" indent="0" marL="0">
              <a:buNone/>
            </a:pPr>
            <a:r>
              <a:rPr lang="en-US" sz="1250" b="1" dirty="0">
                <a:solidFill>
                  <a:srgbClr val="1B3B6F"/>
                </a:solidFill>
                <a:latin typeface="Calibri" pitchFamily="34" charset="0"/>
                <a:cs typeface="Amiri" pitchFamily="2" charset="-78"/>
              </a:rPr>
              <a:t>», who succeeds?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speaker</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mentor</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one</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إِنَّنِي</a:t>
            </a:r>
            <a:pPr algn="l" indent="0" marL="0">
              <a:buNone/>
            </a:pPr>
            <a:r>
              <a:rPr lang="en-US" sz="1050" i="1" dirty="0">
                <a:solidFill>
                  <a:srgbClr val="8A6D1E"/>
                </a:solidFill>
                <a:latin typeface="Calibri" pitchFamily="34" charset="0"/>
                <a:cs typeface="Amiri" pitchFamily="2" charset="-78"/>
              </a:rPr>
              <a:t> refers to the speaker.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 a past verb. This signals …</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real plan</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counterfactual</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 past signals a hypothetical case.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reporting verb tell you?</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view is cited from another source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speaker's own view</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reporting verb signals a cited source.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50</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Reading: a listening strategy guide</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لِتَنْجَحَ فِي الاسْتِمَاعِ الأَكَادِيمِيِّ، اقْرَأِ الأَسْئِلَةَ أَوَّلًا وَحَدِّدْ مَا يَطْلُبُهُ كُلٌّ مِنْهَا. إِذَا طَلَبَ السُّؤَالُ كَلَامًا مَنْقُولًا، فَانْتَظِرْ فِعْلًا نَاقِلًا مِثْلَ «قَالَ» أَوْ «أَشَارَ» مَعَ «إِنَّ» أَوْ «أَنَّ». وَإِذَا طَلَبَ عَلَاقَةً شَرْطِيَّةً، فَمَيِّزْ بَيْنَ «إِذَا» الحَقِيقِيَّةِ وَ«لَوْ» الافْتِرَاضِيَّةِ؛ فَاخْتِيَارُ الإِجَابَةِ يَعْتَمِدُ عَلَى ذٰلِكَ. أَمَّا الإِنْجَازُ السَّابِقُ فَيَظْهَرُ فِي «كَانَ قَدْ»، وَهِيَ تُقَالُ بِسُرْعَةٍ كَوَحْدَةٍ وَاحِدَةٍ. وَانْتَبِهْ إِلَى الضَّمِيرِ فِي الكَلَامِ المَنْقُولِ، فَهُوَ يُخْبِرُكَ عَمَّنْ يَتَحَدَّثُ المُتَكَلِّمُ. وَتَذَكَّرْ أَنَّ الفِعْلَ النَّاقِلَ يَعْنِي رَأْيَ مَصْدَرٍ آخَرَ، لَا رَأْيَ المُتَحَدِّثِ نَفْسِهِ.</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الأَكَادِيمِيِّ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academic</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حَدِّدْ</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identify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يَطْلُبُهُ</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asks for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فَانْتَظِرْ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then wait for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عَلَاقَةً شَرْطِيَّةً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conditional relationship</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الإِنْجَازُ السَّابِقُ</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earlier achievement</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كَوَحْدَةٍ وَاحِدَةٍ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as a single unit</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الضَّمِيرِ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pronoun</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عَمَّنْ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about whom</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المُتَحَدِّثِ نَفْسِهِ</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speaker himself</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50</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first strategy step?</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 with eyes closed</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the questions and identify what each asks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everything</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signals reported speech?</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number</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colour</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reporting verb with </a:t>
            </a:r>
            <a:pPr algn="l" indent="0" marL="0">
              <a:buNone/>
            </a:pPr>
            <a:r>
              <a:rPr lang="ar-SA" altLang="en-US" sz="1650" dirty="0">
                <a:solidFill>
                  <a:srgbClr val="1F2A37"/>
                </a:solidFill>
                <a:latin typeface="Amiri" pitchFamily="2" charset="-78"/>
                <a:ea typeface="Amiri" pitchFamily="2" charset="-78"/>
                <a:cs typeface="Amiri" pitchFamily="2" charset="-78"/>
              </a:rPr>
              <a:t>إِنَّ</a:t>
            </a:r>
            <a:pPr algn="l" indent="0" marL="0">
              <a:buNone/>
            </a:pPr>
            <a:r>
              <a:rPr lang="en-US" sz="1250" dirty="0">
                <a:solidFill>
                  <a:srgbClr val="1F2A37"/>
                </a:solidFill>
                <a:latin typeface="Calibri" pitchFamily="34" charset="0"/>
                <a:cs typeface="Amiri" pitchFamily="2" charset="-78"/>
              </a:rPr>
              <a:t> or </a:t>
            </a:r>
            <a:pPr algn="l" indent="0" marL="0">
              <a:buNone/>
            </a:pPr>
            <a:r>
              <a:rPr lang="ar-SA" altLang="en-US" sz="1650" dirty="0">
                <a:solidFill>
                  <a:srgbClr val="1F2A37"/>
                </a:solidFill>
                <a:latin typeface="Amiri" pitchFamily="2" charset="-78"/>
                <a:ea typeface="Amiri" pitchFamily="2" charset="-78"/>
                <a:cs typeface="Amiri" pitchFamily="2" charset="-78"/>
              </a:rPr>
              <a:t>أَنَّ</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distinguish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from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answer depends on real vs hypothetical</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mean the same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is a name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 prior achievement heard?</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statistic</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t>
            </a:r>
            <a:pPr algn="l" indent="0" marL="0">
              <a:buNone/>
            </a:pPr>
            <a:r>
              <a:rPr lang="ar-SA" altLang="en-US" sz="1650" dirty="0">
                <a:solidFill>
                  <a:srgbClr val="1F2A37"/>
                </a:solidFill>
                <a:latin typeface="Amiri" pitchFamily="2" charset="-78"/>
                <a:ea typeface="Amiri" pitchFamily="2" charset="-78"/>
                <a:cs typeface="Amiri" pitchFamily="2" charset="-78"/>
              </a:rPr>
              <a:t>كَانَ قَدْ</a:t>
            </a:r>
            <a:pPr algn="l" indent="0" marL="0">
              <a:buNone/>
            </a:pPr>
            <a:r>
              <a:rPr lang="en-US" sz="1250" dirty="0">
                <a:solidFill>
                  <a:srgbClr val="1F2A37"/>
                </a:solidFill>
                <a:latin typeface="Calibri" pitchFamily="34" charset="0"/>
                <a:cs typeface="Amiri" pitchFamily="2" charset="-78"/>
              </a:rPr>
              <a:t>, said fast as one unit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name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reporting verb tell you?</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view belongs to another source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speaker's own view</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50</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first strategy step?</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Listen with eyes closed</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Read the questions and identify what each asks</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 everything</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اقْرَأِ الأَسْئِلَةَ أَوَّلًا وَحَدِّدْ مَا يَطْلُبُهُ كُلٌّ مِنْهَا.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signals reported speech?</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number</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colour</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reporting verb with </a:t>
            </a:r>
            <a:pPr algn="l" indent="0" marL="0">
              <a:buNone/>
            </a:pPr>
            <a:r>
              <a:rPr lang="ar-SA" altLang="en-US" sz="1650" b="1" dirty="0">
                <a:solidFill>
                  <a:srgbClr val="1F2A37"/>
                </a:solidFill>
                <a:latin typeface="Amiri" pitchFamily="2" charset="-78"/>
                <a:ea typeface="Amiri" pitchFamily="2" charset="-78"/>
                <a:cs typeface="Amiri" pitchFamily="2" charset="-78"/>
              </a:rPr>
              <a:t>إِنَّ</a:t>
            </a:r>
            <a:pPr algn="l" indent="0" marL="0">
              <a:buNone/>
            </a:pPr>
            <a:r>
              <a:rPr lang="en-US" sz="1250" b="1" dirty="0">
                <a:solidFill>
                  <a:srgbClr val="1F2A37"/>
                </a:solidFill>
                <a:latin typeface="Calibri" pitchFamily="34" charset="0"/>
                <a:cs typeface="Amiri" pitchFamily="2" charset="-78"/>
              </a:rPr>
              <a:t> or </a:t>
            </a:r>
            <a:pPr algn="l" indent="0" marL="0">
              <a:buNone/>
            </a:pPr>
            <a:r>
              <a:rPr lang="ar-SA" altLang="en-US" sz="1650" b="1" dirty="0">
                <a:solidFill>
                  <a:srgbClr val="1F2A37"/>
                </a:solidFill>
                <a:latin typeface="Amiri" pitchFamily="2" charset="-78"/>
                <a:ea typeface="Amiri" pitchFamily="2" charset="-78"/>
                <a:cs typeface="Amiri" pitchFamily="2" charset="-78"/>
              </a:rPr>
              <a:t>أَنَّ</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فِعْلًا نَاقِلًا مِثْلَ «قَالَ» أَوْ «أَشَارَ» مَعَ «إِنَّ» أَوْ «أَنَّ».</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distinguish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from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answer depends on real vs hypothetical</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mean the same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is a name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فَاخْتِيَارُ الإِجَابَةِ يَعْتَمِدُ عَلَى ذٰلِكَ.</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 prior achievement heard?</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statistic</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t>
            </a:r>
            <a:pPr algn="l" indent="0" marL="0">
              <a:buNone/>
            </a:pPr>
            <a:r>
              <a:rPr lang="ar-SA" altLang="en-US" sz="1650" b="1" dirty="0">
                <a:solidFill>
                  <a:srgbClr val="1F2A37"/>
                </a:solidFill>
                <a:latin typeface="Amiri" pitchFamily="2" charset="-78"/>
                <a:ea typeface="Amiri" pitchFamily="2" charset="-78"/>
                <a:cs typeface="Amiri" pitchFamily="2" charset="-78"/>
              </a:rPr>
              <a:t>كَانَ قَدْ</a:t>
            </a:r>
            <a:pPr algn="l" indent="0" marL="0">
              <a:buNone/>
            </a:pPr>
            <a:r>
              <a:rPr lang="en-US" sz="1250" b="1" dirty="0">
                <a:solidFill>
                  <a:srgbClr val="1F2A37"/>
                </a:solidFill>
                <a:latin typeface="Calibri" pitchFamily="34" charset="0"/>
                <a:cs typeface="Amiri" pitchFamily="2" charset="-78"/>
              </a:rPr>
              <a:t>, said fast as one unit</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name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فَيَظْهَرُ فِي «كَانَ قَدْ»، وَهِيَ تُقَالُ بِسُرْعَةٍ كَوَحْدَةٍ وَاحِدَةٍ.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reporting verb tell you?</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view belongs to another source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speaker's own view</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الفِعْلَ النَّاقِلَ يَعْنِي رَأْيَ مَصْدَرٍ آخَرَ.</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50</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Listening Mission — Source, Signal and Sequence</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Source: «</a:t>
            </a:r>
            <a:pPr algn="l" indent="0" marL="0">
              <a:buNone/>
            </a:pPr>
            <a:r>
              <a:rPr lang="ar-SA" altLang="en-US" sz="1650" b="1" dirty="0">
                <a:solidFill>
                  <a:srgbClr val="1B3B6F"/>
                </a:solidFill>
                <a:latin typeface="Amiri" pitchFamily="2" charset="-78"/>
                <a:ea typeface="Amiri" pitchFamily="2" charset="-78"/>
                <a:cs typeface="Amiri" pitchFamily="2" charset="-78"/>
              </a:rPr>
              <a:t>قَالَ الخَبِيرُ إِنَّ</a:t>
            </a:r>
            <a:pPr algn="l" indent="0" marL="0">
              <a:buNone/>
            </a:pPr>
            <a:r>
              <a:rPr lang="en-US" sz="1250" b="1" dirty="0">
                <a:solidFill>
                  <a:srgbClr val="1B3B6F"/>
                </a:solidFill>
                <a:latin typeface="Calibri" pitchFamily="34" charset="0"/>
                <a:cs typeface="Amiri" pitchFamily="2" charset="-78"/>
              </a:rPr>
              <a:t> …» gives …</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own view</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cited view</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Signal:</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إِذَا … سَـ</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conditional</a:t>
            </a:r>
            <a:endParaRPr lang="en-US" sz="12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a:t>
            </a:r>
            <a:endParaRPr lang="en-US" sz="12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Signal:</a:t>
            </a:r>
            <a:endParaRPr lang="en-US" sz="1200" dirty="0"/>
          </a:p>
        </p:txBody>
      </p:sp>
      <p:sp>
        <p:nvSpPr>
          <p:cNvPr id="48" name="Text 45"/>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لَوْ … لَـ</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49" name="Shape 46"/>
          <p:cNvSpPr/>
          <p:nvPr/>
        </p:nvSpPr>
        <p:spPr>
          <a:xfrm>
            <a:off x="8278368"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plan</a:t>
            </a:r>
            <a:endParaRPr lang="en-US" sz="1250" dirty="0"/>
          </a:p>
        </p:txBody>
      </p:sp>
      <p:sp>
        <p:nvSpPr>
          <p:cNvPr id="52" name="Shape 49"/>
          <p:cNvSpPr/>
          <p:nvPr/>
        </p:nvSpPr>
        <p:spPr>
          <a:xfrm>
            <a:off x="8278368"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55" name="Shape 52"/>
          <p:cNvSpPr/>
          <p:nvPr/>
        </p:nvSpPr>
        <p:spPr>
          <a:xfrm>
            <a:off x="8278368" y="3447288"/>
            <a:ext cx="256032" cy="256032"/>
          </a:xfrm>
          <a:prstGeom prst="ellipse">
            <a:avLst/>
          </a:prstGeom>
          <a:solidFill>
            <a:srgbClr val="F4F1EA"/>
          </a:solidFill>
          <a:ln w="12700">
            <a:solidFill>
              <a:srgbClr val="F4F1EA"/>
            </a:solidFill>
            <a:prstDash val="solid"/>
          </a:ln>
        </p:spPr>
      </p:sp>
      <p:sp>
        <p:nvSpPr>
          <p:cNvPr id="56" name="Text 5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a:t>
            </a:r>
            <a:endParaRPr lang="en-US" sz="1250" dirty="0"/>
          </a:p>
        </p:txBody>
      </p:sp>
      <p:sp>
        <p:nvSpPr>
          <p:cNvPr id="58" name="Shape 5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85216"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1" name="Text 5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is the past perfect?</a:t>
            </a:r>
            <a:endParaRPr lang="en-US" sz="125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Pronoun: report a boy's «</a:t>
            </a:r>
            <a:pPr algn="l" indent="0" marL="0">
              <a:buNone/>
            </a:pPr>
            <a:r>
              <a:rPr lang="ar-SA" altLang="en-US" sz="1650" b="1" dirty="0">
                <a:solidFill>
                  <a:srgbClr val="1B3B6F"/>
                </a:solidFill>
                <a:latin typeface="Amiri" pitchFamily="2" charset="-78"/>
                <a:ea typeface="Amiri" pitchFamily="2" charset="-78"/>
                <a:cs typeface="Amiri" pitchFamily="2" charset="-78"/>
              </a:rPr>
              <a:t>سَأَدْرُسُ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إِنَّهُ سَيَدْرُسُ</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إِنَّنِي سَأَدْرُسُ</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إِنَّهَا سَتَدْرُسُ</a:t>
            </a:r>
            <a:endParaRPr lang="ar-SA" sz="20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أَشَارَ الخَبِيرُ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50</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Source: «</a:t>
            </a:r>
            <a:pPr algn="l" indent="0" marL="0">
              <a:buNone/>
            </a:pPr>
            <a:r>
              <a:rPr lang="ar-SA" altLang="en-US" sz="1650" b="1" dirty="0">
                <a:solidFill>
                  <a:srgbClr val="1B3B6F"/>
                </a:solidFill>
                <a:latin typeface="Amiri" pitchFamily="2" charset="-78"/>
                <a:ea typeface="Amiri" pitchFamily="2" charset="-78"/>
                <a:cs typeface="Amiri" pitchFamily="2" charset="-78"/>
              </a:rPr>
              <a:t>قَالَ الخَبِيرُ إِنَّ</a:t>
            </a:r>
            <a:pPr algn="l" indent="0" marL="0">
              <a:buNone/>
            </a:pPr>
            <a:r>
              <a:rPr lang="en-US" sz="1250" b="1" dirty="0">
                <a:solidFill>
                  <a:srgbClr val="1B3B6F"/>
                </a:solidFill>
                <a:latin typeface="Calibri" pitchFamily="34" charset="0"/>
                <a:cs typeface="Amiri" pitchFamily="2" charset="-78"/>
              </a:rPr>
              <a:t> …» gives …</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own view</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cited view</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reporting verb cites another source.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Signal:</a:t>
            </a:r>
            <a:endParaRPr lang="en-US" sz="1200" dirty="0"/>
          </a:p>
        </p:txBody>
      </p:sp>
      <p:sp>
        <p:nvSpPr>
          <p:cNvPr id="35" name="Text 33"/>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إِذَا … سَـ</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real conditional</a:t>
            </a:r>
            <a:endParaRPr lang="en-US" sz="125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counterfactual</a:t>
            </a:r>
            <a:endParaRPr lang="en-US" sz="125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a real conditional.</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Signal:</a:t>
            </a:r>
            <a:endParaRPr lang="en-US" sz="1200" dirty="0"/>
          </a:p>
        </p:txBody>
      </p:sp>
      <p:sp>
        <p:nvSpPr>
          <p:cNvPr id="51" name="Text 49"/>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لَوْ … لَـ</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52" name="Shape 50"/>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2"/>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real plan</a:t>
            </a:r>
            <a:endParaRPr lang="en-US" sz="1250" dirty="0"/>
          </a:p>
        </p:txBody>
      </p:sp>
      <p:sp>
        <p:nvSpPr>
          <p:cNvPr id="55"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58" name="Shape 56"/>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7"/>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9"/>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counterfactual</a:t>
            </a:r>
            <a:endParaRPr lang="en-US" sz="1250" dirty="0"/>
          </a:p>
        </p:txBody>
      </p:sp>
      <p:sp>
        <p:nvSpPr>
          <p:cNvPr id="62" name="Text 6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a counterfactual.</a:t>
            </a:r>
            <a:endParaRPr lang="en-US" sz="1050" dirty="0"/>
          </a:p>
        </p:txBody>
      </p:sp>
      <p:sp>
        <p:nvSpPr>
          <p:cNvPr id="63" name="Shape 6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2"/>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is the past perfect?</a:t>
            </a:r>
            <a:endParaRPr lang="en-US" sz="1250" dirty="0"/>
          </a:p>
        </p:txBody>
      </p:sp>
      <p:sp>
        <p:nvSpPr>
          <p:cNvPr id="67"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a:t>
            </a:r>
            <a:endParaRPr lang="ar-SA" sz="1700" dirty="0"/>
          </a:p>
        </p:txBody>
      </p:sp>
      <p:sp>
        <p:nvSpPr>
          <p:cNvPr id="70"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73"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قَدْ</a:t>
            </a:r>
            <a:endParaRPr lang="ar-SA" sz="1700" dirty="0"/>
          </a:p>
        </p:txBody>
      </p:sp>
      <p:sp>
        <p:nvSpPr>
          <p:cNvPr id="77"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 قَدْ</a:t>
            </a:r>
            <a:pPr algn="l" indent="0" marL="0">
              <a:buNone/>
            </a:pPr>
            <a:r>
              <a:rPr lang="en-US" sz="1050" i="1" dirty="0">
                <a:solidFill>
                  <a:srgbClr val="8A6D1E"/>
                </a:solidFill>
                <a:latin typeface="Calibri" pitchFamily="34" charset="0"/>
                <a:cs typeface="Amiri" pitchFamily="2" charset="-78"/>
              </a:rPr>
              <a:t> marks the past perfect.</a:t>
            </a:r>
            <a:endParaRPr lang="en-US" sz="1050" dirty="0"/>
          </a:p>
        </p:txBody>
      </p:sp>
      <p:sp>
        <p:nvSpPr>
          <p:cNvPr id="78"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Pronoun: report a boy's «</a:t>
            </a:r>
            <a:pPr algn="l" indent="0" marL="0">
              <a:buNone/>
            </a:pPr>
            <a:r>
              <a:rPr lang="ar-SA" altLang="en-US" sz="1650" b="1" dirty="0">
                <a:solidFill>
                  <a:srgbClr val="1B3B6F"/>
                </a:solidFill>
                <a:latin typeface="Amiri" pitchFamily="2" charset="-78"/>
                <a:ea typeface="Amiri" pitchFamily="2" charset="-78"/>
                <a:cs typeface="Amiri" pitchFamily="2" charset="-78"/>
              </a:rPr>
              <a:t>سَأَدْرُسُ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إِنَّهُ سَيَدْرُسُ</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إِنَّنِي سَأَدْرُسُ</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إِنَّهَا سَتَدْرُسُ</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Third-person masculine: </a:t>
            </a:r>
            <a:pPr algn="l" indent="0" marL="0">
              <a:buNone/>
            </a:pPr>
            <a:r>
              <a:rPr lang="ar-SA" altLang="en-US" sz="1350" dirty="0">
                <a:solidFill>
                  <a:srgbClr val="8A6D1E"/>
                </a:solidFill>
                <a:latin typeface="Amiri" pitchFamily="2" charset="-78"/>
                <a:ea typeface="Amiri" pitchFamily="2" charset="-78"/>
                <a:cs typeface="Amiri" pitchFamily="2" charset="-78"/>
              </a:rPr>
              <a:t>إِنَّهُ سَيَدْرُسُ</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أَشَارَ الخَبِيرُ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أَشَارَ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50</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P2-L11: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P2-L11 · Consolidation — Speaking Preparation, Error Analysis and Grammar Mastery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الطَّلَاقَةُ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fluency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التِّلْقَائِيَّةُ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spontaneity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مُقَابَلَةُ القَبُولِ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admissions interview</a:t>
            </a:r>
            <a:pPr indent="0" marL="0">
              <a:buNone/>
            </a:pPr>
            <a:r>
              <a:rPr lang="ar-SA" sz="1000" i="1" dirty="0">
                <a:solidFill>
                  <a:srgbClr val="5A6472"/>
                </a:solidFill>
                <a:latin typeface="Calibri" pitchFamily="34" charset="0"/>
                <a:ea typeface="Amiri" pitchFamily="2" charset="-78"/>
                <a:cs typeface="Amiri" pitchFamily="2" charset="-78"/>
              </a:rPr>
              <a:t>  pl. مُقَابَلَاتٌ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الارْتِجَالُ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improvisation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الثِّقَةُ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confidence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a 30-second admissions-interview answer: why do you want to study your chosen subject?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أُرِيدُ أَنْ أَدْرُسَ ______ لِأَنَّنِي ______ ، وَكُنْتُ قَدْ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12 core words; annotate five listening questions with their signal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50–60-word note on which structure each question targeted.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explanation of your listening strategy.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49 / 50</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P2-L10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P2-L11 · Consolidation — Speaking Preparation, Error Analysis and Grammar Mastery</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الوَحْدَةِ — إِعْدَادُ التَّحَدُّثِ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reported speech has three parts — WHO (qāla) · ABOUT WHOM (inna-nī / inna-hu) · WHAT — idhā is a real plan, law did not happen — kāna qad is one fast unit — and arā anna is the speaker’s own view.</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P2-L10 · Listening — Education and Future Plans Texts</dc:title>
  <dc:subject>PptxGenJS Presentation</dc:subject>
  <dc:creator>Al Madina Online School · Arabic Department</dc:creator>
  <cp:lastModifiedBy>Al Madina Online School · Arabic Department</cp:lastModifiedBy>
  <cp:revision>1</cp:revision>
  <dcterms:created xsi:type="dcterms:W3CDTF">2026-10-11T06:43:05Z</dcterms:created>
  <dcterms:modified xsi:type="dcterms:W3CDTF">2026-10-11T06:43:05Z</dcterms:modified>
</cp:coreProperties>
</file>