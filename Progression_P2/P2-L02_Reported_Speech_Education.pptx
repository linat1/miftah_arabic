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P2-L02. The website lesson “Reported Speech — What People Say About Education”: vocabulary, grammar rules and quiz, patterns, common mistakes, sorter, listening, reading, speaking prompts and model, writing task and model, differentiation, final check and the lesson mission. Picture match: website visual game “Reported Speech — What People Say About Education”.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 P2 GRAMMAR MILESTONE. Core: convert five direct quotes with قَالَ إِنَّ / قَالَتْ إِنَّ. Develop: vary the reporting verbs (أَضَافَ · أَوْضَحَ · أَكَّدَ أَنَّ) and add a source with وَفْقًا لِـ. Stretch: the website ~90–100-word research report with a past and a future reported statement.
• Good news for students: Arabic has NO tense back-shift — “I will study” stays future (قَالَ إِنَّهُ سَيَدْرُسُ). The only traps are إِنَّ / أَنَّ, the accusative noun and the pronoun.
• Grammar links: إِنَّ and her sisters (GM-NVS-02) · أَنَّ + accusative (P1-L07, P1-L08) · verbs with fixed prepositions (أَشَارَ إِلَى · اعْتَرَفَ بِـ — the P1 habit).
• TEACHER-WRITTEN ITEMS: waṣl alif shown without a kasra inside phrases (website spelling); rule headings shown in English and transliteration (rule examples without the English arrows); the direct → reported drill is teacher-built from the website quiz and game.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P2-L01. Question 4 retrieves anna + accusative (فِي حِينِ أَنَّ نِظَامًا) — the exact rule every reported sentence uses today; question 5 the P2-L01 verb complements.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qāla takes inna; every other reporting verb takes anna — and both make the next noun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reporting verbs come with Urdu nouns students already know — تاکید (أَكَّدَ), وضاحت (أَوْضَحَ), اعتراف (اعْتَرَفَ), نقل (reported speech is كَلَامٌ مَنْقُولٌ). Urdu reports with کہ (اس نے کہا کہ …) — Arabic needs إِنَّ / أَنَّ AND an accusative noun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Reporting verbs (website vocabulary (1 of 2)). Hear → Say → See → Use. Transliteration is printed for Core students (cover it for Develop/Stretch).
Reporting verbs — each card shows she · they. نَفَى is a weak verb: نَفَتْ (she denied) · نَفَوْا (they denied). Two verbs need a preposition first: أَشَارَ إِلَى أَنَّ · اعْتَرَفَ بِأَنَّ.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Reporting verbs (website vocabulary (2 of 2)). Hear → Say → See → Use. Transliteration is printed for Core students (cover it for Develop/Stretch).
Reporting verbs — each card shows she · they. نَفَى is a weak verb: نَفَتْ (she denied) · نَفَوْا (they denied). Two verbs need a preposition first: أَشَارَ إِلَى أَنَّ · اعْتَرَفَ بِأَنَّ.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Sources and attribution (website vocabulary (1 of 2)). Hear → Say → See → Use. Transliteration is printed for Core students (cover it for Develop/Stretch).
Sources and attribution: say WHO said it (بَاحِثٌ · خَبِيرَةٌ · دِرَاسَةٌ حَدِيثَةٌ) and use وَفْقًا لِـ / بِحَسَبِ to attribute — the P1-L08 habit of naming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Sources and attribution (website vocabulary (2 of 2)). Hear → Say → See → Use. Transliteration is printed for Core students (cover it for Develop/Stretch).
FLEX: teach if time allows; otherwise these are on the website vocabulary tab for homework.
Sources and attribution: say WHO said it (بَاحِثٌ · خَبِيرَةٌ · دِرَاسَةٌ حَدِيثَةٌ) and use وَفْقًا لِـ / بِحَسَبِ to attribute — the P1-L08 habit of naming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Education content to report (website vocabulary (1 of 2)). Hear → Say → See → Use. Transliteration is printed for Core students (cover it for Develop/Stretch).
FLEX: teach if time allows; otherwise these are on the website vocabulary tab for homework.
Education content to report: نَتَائِجُ and مَنَاهِجُ are diptote plurals (no tanwīn). Things in the plural take a feminine verb: تَتَطَوَّرُ المَنَاهِجُ.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Education content to report (website vocabulary (2 of 2)). Hear → Say → See → Use. Transliteration is printed for Core students (cover it for Develop/Stretch).
FLEX: teach if time allows; otherwise these are on the website vocabulary tab for homework.
Education content to report: نَتَائِجُ and مَنَاهِجُ are diptote plurals (no tanwīn). Things in the plural take a feminine verb: تَتَطَوَّرُ المَنَاهِجُ.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“إِنَّ vs أَنَّ” (إِنَّ only after قَالَ; أَنَّ after the other verbs), the website table and teaching point “قَالَ takes إِنَّ; the others take أَنَّ”.
Website mistake 1: قَالَ أَنَّ التَّعْلِيمَ مُهِمٌّ ✗ → قَالَ إِنَّ.
Why? After قَالَ, Arabic treats what follows as the actual words said — a new sentence, so it begins with إِنَّ (kasra), just like any sentence starting with إِنَّ. The other verbs need a “that”-clause: أَنَّ.
Drill: say a reporting verb; the class answers “inna!” or “anna!” — then add the preposition where needed (إِلَى /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“Pronoun replacement” (attach the third-person pronoun to إِنَّ / أَنَّ) and teaching point “Swap the pronoun, keep the tense”.
Website mistake 3: قَالَ إِنَّ سَأَدْرُسُ الطِّبَّ ✗ → قَالَ إِنَّهُ سَيَدْرُسُ الطِّبَّ.
Two things change: the pronoun on إِنَّ (هُ · هَا · هُمْ · هُنَّ) AND the person of the verb (أَدْرُسُ → يَدْرُسُ / تَدْرُسُ). Possessives change as well: كِتَابِي → كِتَابَهُ (row 5 — and كِتَابَ is accusative after إِنَّ!).
Website game: قَالَ الطُّلَّابُ إِنَّهُمْ يَحْتَاجُونَ إِلَى وَقْتٍ (plural speakers → 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“Tense stays” (no back-shift: keep the original tense) and overview (“Arabic reporting is simpler than English: no automatic tense back-shift”).
English changes will → would and love → loved; Arabic keeps سَـ and the present. Students translating from English often “back-shift” by mistake — the website quiz traps exactly that (قَالَ إِنَّهُ دَرَسَ الطِّبَّ for a future plan).
A general truth stays present: أَشَارَ إِلَى أَنَّ التَّعْلِيمَ الرَّقْمِيَّ يُوَفِّرُ فُرَصًا.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“Accusative after the particle” (the noun after إِنَّ / أَنَّ is accusative; the predicate stays nominative) and the vocabulary group “Sources and attribution”.
Website mistake 2: قَالَ إِنَّ التَّعْلِيمُ حَقٌّ ✗. Website quiz 6: أَنَّ التَّحْصِيلَ يَتَحَسَّنُ.
Row 3 is the opposite trap: students over-apply the rule and put the PREDICATE in -an (ضَرُورِيًّا ✗) — only the noun right after the particle changes.
Attribution: وَفْقًا لِـ + genitive (وَفْقًا لِدِرَاسَةٍ) · بِحَسَبِ مَا قَالَ · وَفْقًا لِلْخُبَرَاءِ.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“Choose a reporting verb, add إِنَّ or أَنَّ, swap the pronoun to third person, and keep the tense. Arabic reporting is simpler than English: no automatic tense back-shift.”
• inna vs anna: إِنَّ only after قَالَ; أَنَّ after the other verbs.
• Accusative after the particle: The noun after إِنَّ / أَنَّ is accusative; the predicate stays nominative.
• Pronoun replacement: Attach the third-person pronoun to إِنَّ / أَنَّ.
• Tense stays: No back-shift: keep the original tense.
Website common error: Writing قَالَ أَنَّ. Only قَالَ takes إِنَّ; every other reporting verb takes أَنَّ. Also keep the noun after the particle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“qāla → inna, and the noun after it takes -a. Aḍāfa → anna. Past stays past (tafawwaqū), future stays future (sa-yantashiru). The researcher said ‘I will continue’ → innahā sa-tuwāṣilu.”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Reported Speech — What People Say About Education”)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report each one with a DIFFERENT verb: أَكَّدَتِ المُعَلِّمَةُ أَنَّ … · أَوْضَحَتِ الطَّالِبَةُ أَنَّهَا … · أَشَارَ الطُّلَّابُ إِلَى أَنَّهُمْ … Other website cards: a boy who loves science, an exam tomorrow, education opening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Reported Speech — What People Say About Education”)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report each one with a DIFFERENT verb: أَكَّدَتِ المُعَلِّمَةُ أَنَّ … · أَوْضَحَتِ الطَّالِبَةُ أَنَّهَا … · أَشَارَ الطُّلَّابُ إِلَى أَنَّهُمْ … Other website cards: a boy who loves science, an exam tomorrow, education opening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lesson has no builder, so this drill is built from the website quiz and visual-game sentences.
Core: rows 1–3 with qāla / qālat inna. Develop: all five. Stretch: redo rows 1–3 with a different reporting verb each time (أَضَافَ · أَوْضَحَ · ذَكَرَ أَنَّ) and add a source with وَفْقًا لِـ.
Row 5: verb first stays singular (أَوْضَحَ البَاحِثُونَ), but the pronoun and the reported verb are plural (أَنَّهُمْ سَيُوَاصِلُونَ).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reported sentence for each verb: قَالَ إِنَّ … · أَضَافَ أَنَّ … · أَوْضَحَ أَنَّ … · أَكَّدَ أَنَّ … · ذَكَرَ أَنَّ … · نَفَى أَنَّ … · أَشَارَ إِلَى أَنَّ … · اعْتَرَفَ بِأَنَّ … · خَلَصَ إِلَى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reported sentence for each verb: قَالَ إِنَّ … · أَضَافَ أَنَّ … · أَوْضَحَ أَنَّ … · أَكَّدَ أَنَّ … · ذَكَرَ أَنَّ … · نَفَى أَنَّ … · أَشَارَ إِلَى أَنَّ … · اعْتَرَفَ بِأَنَّ … · خَلَصَ إِلَى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write down four reporting verbs with their particle.
Listen 1: just listen. Listen 2: note answers. Then chat the letters.
Support: after the second listening, show the read-along slide (Arabic + English, line by line) for Core students.
SCRIPT (read aloud):
أَجْرَتْ دِرَاسَةٌ حَدِيثَةٌ فِي جَامِعَةٍ عَرَبِيَّةٍ بَحْثًا حَوْلَ التَّعْلِيمِ الرَّقْمِيِّ. خَلَصَ البَاحِثُونَ إِلَى أَنَّ الطُّلَّابَ الَّذِينَ يَسْتَعْمِلُونَ التِّقْنِيَّةَ يَتَفَوَّقُونَ عَلَى أَقْرَانِهِمْ. وَأَوْضَحَ التَّقْرِيرُ أَنَّ التَّعَلُّمَ عَنْ بُعْدٍ يُوَفِّرُ فُرَصًا لَمْ تَكُنْ مُتَاحَةً سَابِقًا. وَأَشَارَ الخُبَرَاءُ إِلَى أَنَّ المَنَاهِجَ يَجِبُ أَنْ تَتَطَوَّرَ لِمُوَاكَبَةِ التَّحَدِّيَاتِ. لٰكِنَّ أَحَدَ البَاحِثِينَ اعْتَرَفَ بِأَنَّ الفَجْوَةَ الرَّقْمِيَّةَ مَا زَالَتْ مُشْكِلَةً. وَقَالَ إِنَّ الحَلَّ يَبْدَأُ بِتَدْرِيبِ المُعَلِّمِينَ. وَفْقًا لِهٰذِهِ الدِّرَاسَةِ، التِّقْنِيَّةُ أَدَاةٌ، وَلَيْسَتْ بَدِيلًا عَنِ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مَصْدَرُكَ؟ (Attribution)
B: وَفْقًا لِدِرَاسَةٍ حَدِيثَةٍ، يَتَفَوَّقُ مُسْتَعْمِلُو التِّقْنِيَّةِ عَلَى أَقْرَانِهِمْ. (وَفْقًا لِـ plus a finding)
Website prompts and model. Interview chain: A gives an opinion on distance learning, B reports it to C, C reports B’s report to the class. Check: inna / anna, the -a noun, the pronoun. A girl reporting a girl: قَالَتْ زَمِيلَتِي إِنَّهَا … To a girl: اسْمَعِي · انْقُلِيهِ · أَضِيفِي · اذْكُرِي.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Convert five direct quotes to reported speech with correct إِنَّ / أَنَّ. · Develop — Vary the reporting verbs and add a source with وَفْقًا لِـ. · Stretch — Write a full research report with a past and a future reported statement.
Website writing task (Stretch): Write ninety to one hundred words reporting a research study or a panel on education. Use at least four different reporting verbs, choose إِنَّ or أَنَّ correctly, replace pronouns, and include one past and one future reported statement.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قَالَ … إِنَّ التِّقْنِيَّةَ · وَأَضَافَ أَنَّ الطُّلَّابَ … تَفَوَّقُوا (past) · وَأَوْضَحَ … أَنَّ التَّعَلُّمَ … سَيَنْتَشِرُ (future) · أَشَارَ … إِلَى أَنَّ · اعْتَرَفَ … بِأَنَّ · وَفْقًا لِلدِّرَاسَةِ · خَلَصَ … إِلَى أَنَّ · قَالَتْ … إِنَّهَا سَتُوَاصِلُ.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(P2-L03 · University Life and Higher Education) will spend class time USING this language, so students prepare it tonight — short, simple, easy to access (school guidance: “Simple, Short, Interesting, Relevant, Easy to access”). The five words come from the website P2-L03 vocabulary (university life).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Reported Speech — What People Say About Education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الكَلَامُ المَنْقُولُ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P2 grammar milestone: report what people say — </a:t>
            </a:r>
            <a:pPr algn="l" indent="0" marL="0">
              <a:buNone/>
            </a:pPr>
            <a:r>
              <a:rPr lang="ar-SA" altLang="en-US" sz="1800" dirty="0">
                <a:solidFill>
                  <a:srgbClr val="C6D2E6"/>
                </a:solidFill>
                <a:latin typeface="Amiri" pitchFamily="2" charset="-78"/>
                <a:ea typeface="Amiri" pitchFamily="2" charset="-78"/>
                <a:cs typeface="Amiri" pitchFamily="2" charset="-78"/>
              </a:rPr>
              <a:t>قَالَ إِنَّ</a:t>
            </a:r>
            <a:pPr algn="l" indent="0" marL="0">
              <a:buNone/>
            </a:pPr>
            <a:r>
              <a:rPr lang="en-US" sz="1400" dirty="0">
                <a:solidFill>
                  <a:srgbClr val="C6D2E6"/>
                </a:solidFill>
                <a:latin typeface="Calibri" pitchFamily="34" charset="0"/>
                <a:cs typeface="Amiri" pitchFamily="2" charset="-78"/>
              </a:rPr>
              <a:t> but </a:t>
            </a:r>
            <a:pPr algn="l" indent="0" marL="0">
              <a:buNone/>
            </a:pPr>
            <a:r>
              <a:rPr lang="ar-SA" altLang="en-US" sz="1800" dirty="0">
                <a:solidFill>
                  <a:srgbClr val="C6D2E6"/>
                </a:solidFill>
                <a:latin typeface="Amiri" pitchFamily="2" charset="-78"/>
                <a:ea typeface="Amiri" pitchFamily="2" charset="-78"/>
                <a:cs typeface="Amiri" pitchFamily="2" charset="-78"/>
              </a:rPr>
              <a:t>أَضَافَ / أَوْضَحَ / أَكَّدَ أَنَّ</a:t>
            </a:r>
            <a:pPr algn="l" indent="0" marL="0">
              <a:buNone/>
            </a:pPr>
            <a:r>
              <a:rPr lang="en-US" sz="1400" dirty="0">
                <a:solidFill>
                  <a:srgbClr val="C6D2E6"/>
                </a:solidFill>
                <a:latin typeface="Calibri" pitchFamily="34" charset="0"/>
                <a:cs typeface="Amiri" pitchFamily="2" charset="-78"/>
              </a:rPr>
              <a:t>, an accusative noun after the particle, the pronoun switched to third person (</a:t>
            </a:r>
            <a:pPr algn="l" indent="0" marL="0">
              <a:buNone/>
            </a:pPr>
            <a:r>
              <a:rPr lang="ar-SA" altLang="en-US" sz="1800" dirty="0">
                <a:solidFill>
                  <a:srgbClr val="C6D2E6"/>
                </a:solidFill>
                <a:latin typeface="Amiri" pitchFamily="2" charset="-78"/>
                <a:ea typeface="Amiri" pitchFamily="2" charset="-78"/>
                <a:cs typeface="Amiri" pitchFamily="2" charset="-78"/>
              </a:rPr>
              <a:t>قَالَتْ إِنَّهَا سَتَدْرُسُ</a:t>
            </a:r>
            <a:pPr algn="l" indent="0" marL="0">
              <a:buNone/>
            </a:pPr>
            <a:r>
              <a:rPr lang="en-US" sz="1400" dirty="0">
                <a:solidFill>
                  <a:srgbClr val="C6D2E6"/>
                </a:solidFill>
                <a:latin typeface="Calibri" pitchFamily="34" charset="0"/>
                <a:cs typeface="Amiri" pitchFamily="2" charset="-78"/>
              </a:rPr>
              <a:t>) and the tense kept as it was.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P2-L02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inna after qāla, anna after the rest, switch the pronoun, keep the tense.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Report five quotes, sort the reporting verbs, match the speech bubble.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قَالَ إِنَّ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asked whether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said that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denied that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أَكَّدَ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stressed that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added that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admitted that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وَفْقًا لِـ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contrast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of</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according to</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Complete: </a:t>
            </a:r>
            <a:pPr algn="l" indent="0" marL="0">
              <a:buNone/>
            </a:pPr>
            <a:r>
              <a:rPr lang="ar-SA" altLang="en-US" sz="1450" b="1" dirty="0">
                <a:solidFill>
                  <a:srgbClr val="1B3B6F"/>
                </a:solidFill>
                <a:latin typeface="Amiri" pitchFamily="2" charset="-78"/>
                <a:ea typeface="Amiri" pitchFamily="2" charset="-78"/>
                <a:cs typeface="Amiri" pitchFamily="2" charset="-78"/>
              </a:rPr>
              <a:t>يَعْتَمِدُ نِظَامٌ عَلَى الامْتِحَانِ، فِي حِينِ أَنَّ</a:t>
            </a:r>
            <a:pPr algn="l" indent="0" marL="0">
              <a:buNone/>
            </a:pPr>
            <a:r>
              <a:rPr lang="en-US" sz="1100" b="1" dirty="0">
                <a:solidFill>
                  <a:srgbClr val="1B3B6F"/>
                </a:solidFill>
                <a:latin typeface="Calibri" pitchFamily="34" charset="0"/>
                <a:cs typeface="Amiri" pitchFamily="2" charset="-78"/>
              </a:rPr>
              <a:t> ___ </a:t>
            </a:r>
            <a:pPr algn="l" indent="0" marL="0">
              <a:buNone/>
            </a:pPr>
            <a:r>
              <a:rPr lang="ar-SA" altLang="en-US" sz="1450" b="1" dirty="0">
                <a:solidFill>
                  <a:srgbClr val="1B3B6F"/>
                </a:solidFill>
                <a:latin typeface="Amiri" pitchFamily="2" charset="-78"/>
                <a:ea typeface="Amiri" pitchFamily="2" charset="-78"/>
                <a:cs typeface="Amiri" pitchFamily="2" charset="-78"/>
              </a:rPr>
              <a:t>آخَرَ يَعْتَمِدُ عَلَى المَشَارِيعِ</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نِظَامٌ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نِظَامٍ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نِظَامًا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يَلْتَحِقُ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قَالَ إِنَّ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asked whether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said that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denied that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أَكَّدَ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stressed that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added that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admitted that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وَفْقًا لِـ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contrast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of</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according to</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Complete: </a:t>
            </a:r>
            <a:pPr algn="l" indent="0" marL="0">
              <a:buNone/>
            </a:pPr>
            <a:r>
              <a:rPr lang="ar-SA" altLang="en-US" sz="1450" b="1" dirty="0">
                <a:solidFill>
                  <a:srgbClr val="1B3B6F"/>
                </a:solidFill>
                <a:latin typeface="Amiri" pitchFamily="2" charset="-78"/>
                <a:ea typeface="Amiri" pitchFamily="2" charset="-78"/>
                <a:cs typeface="Amiri" pitchFamily="2" charset="-78"/>
              </a:rPr>
              <a:t>يَعْتَمِدُ نِظَامٌ عَلَى الامْتِحَانِ، فِي حِينِ أَنَّ</a:t>
            </a:r>
            <a:pPr algn="l" indent="0" marL="0">
              <a:buNone/>
            </a:pPr>
            <a:r>
              <a:rPr lang="en-US" sz="1100" b="1" dirty="0">
                <a:solidFill>
                  <a:srgbClr val="1B3B6F"/>
                </a:solidFill>
                <a:latin typeface="Calibri" pitchFamily="34" charset="0"/>
                <a:cs typeface="Amiri" pitchFamily="2" charset="-78"/>
              </a:rPr>
              <a:t> ___ </a:t>
            </a:r>
            <a:pPr algn="l" indent="0" marL="0">
              <a:buNone/>
            </a:pPr>
            <a:r>
              <a:rPr lang="ar-SA" altLang="en-US" sz="1450" b="1" dirty="0">
                <a:solidFill>
                  <a:srgbClr val="1B3B6F"/>
                </a:solidFill>
                <a:latin typeface="Amiri" pitchFamily="2" charset="-78"/>
                <a:ea typeface="Amiri" pitchFamily="2" charset="-78"/>
                <a:cs typeface="Amiri" pitchFamily="2" charset="-78"/>
              </a:rPr>
              <a:t>آخَرَ يَعْتَمِدُ عَلَى المَشَارِيعِ</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نِظَامٌ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نِظَامٍ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نِظَامًا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P2-L01: anna + accusative.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يَلْتَحِقُ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P2-L01: academic verbs.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qāla takes inna; every other reporting verb takes anna — and both make the next noun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قَالَ إِنَّ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التَّعْلِيمَ حَقٌّ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أَضَافَ أَنَّهُ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يَتَطَوَّرُ</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Report speech with qāla inna, aḍāfa anna, awḍaḥa anna and others.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inna after qāla and anna after the other reporting verbs.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Replace a first-person pronoun with a third-person one.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the reported tense correct: truth present, past past, future future.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report a quote with qāla inna / qālat inna.</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switch “I” to “he / she” (innahu · innahā).</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vary the reporting verb and use anna.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source with wafqan li-.</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a past and a future statement.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groups (innahum · innahunna).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Reporting verbs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Sources and attribution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Education content to report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‎قول / کہا‎ </a:t>
            </a:r>
            <a:pPr indent="0" marL="0">
              <a:buNone/>
            </a:pPr>
            <a:r>
              <a:rPr lang="ar-SA" sz="950" b="1" dirty="0">
                <a:solidFill>
                  <a:srgbClr val="2E8B57"/>
                </a:solidFill>
                <a:latin typeface="Calibri" pitchFamily="34" charset="0"/>
                <a:ea typeface="Amiri" pitchFamily="2" charset="-78"/>
                <a:cs typeface="Amiri" pitchFamily="2" charset="-78"/>
              </a:rPr>
              <a:t> qaul · Urdu قول = a saying; the verb is کہنا</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نَقْلٌ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‎نقل‎ </a:t>
            </a:r>
            <a:pPr indent="0" marL="0">
              <a:buNone/>
            </a:pPr>
            <a:r>
              <a:rPr lang="en-US" sz="950" b="1" dirty="0">
                <a:solidFill>
                  <a:srgbClr val="2E8B57"/>
                </a:solidFill>
                <a:latin typeface="Calibri" pitchFamily="34" charset="0"/>
                <a:cs typeface="Amiri" pitchFamily="2" charset="-78"/>
              </a:rPr>
              <a:t> naql · copying, transmission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تَأْكِيدٌ · أَكَّدَ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‎تاکید‎ </a:t>
            </a:r>
            <a:pPr indent="0" marL="0">
              <a:buNone/>
            </a:pPr>
            <a:r>
              <a:rPr lang="en-US" sz="950" b="1" dirty="0">
                <a:solidFill>
                  <a:srgbClr val="2E8B57"/>
                </a:solidFill>
                <a:latin typeface="Calibri" pitchFamily="34" charset="0"/>
                <a:cs typeface="Amiri" pitchFamily="2" charset="-78"/>
              </a:rPr>
              <a:t> tākīd · emphasis · stressed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وَضَاحَةٌ · أَوْضَحَ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‎وضاحت‎ </a:t>
            </a:r>
            <a:pPr indent="0" marL="0">
              <a:buNone/>
            </a:pPr>
            <a:r>
              <a:rPr lang="en-US" sz="950" b="1" dirty="0">
                <a:solidFill>
                  <a:srgbClr val="2E8B57"/>
                </a:solidFill>
                <a:latin typeface="Calibri" pitchFamily="34" charset="0"/>
                <a:cs typeface="Amiri" pitchFamily="2" charset="-78"/>
              </a:rPr>
              <a:t> wazāḥat · explanation · explained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اعْتِرَافٌ · اعْتَرَفَ</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‎اعتراف‎ </a:t>
            </a:r>
            <a:pPr indent="0" marL="0">
              <a:buNone/>
            </a:pPr>
            <a:r>
              <a:rPr lang="en-US" sz="950" b="1" dirty="0">
                <a:solidFill>
                  <a:srgbClr val="2E8B57"/>
                </a:solidFill>
                <a:latin typeface="Calibri" pitchFamily="34" charset="0"/>
                <a:cs typeface="Amiri" pitchFamily="2" charset="-78"/>
              </a:rPr>
              <a:t> iʿtirāf · admission · admitted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قَالَ إِنَّ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said that</a:t>
            </a:r>
            <a:endParaRPr lang="en-US" sz="1350" dirty="0"/>
          </a:p>
          <a:p>
            <a:pPr indent="0" marL="0">
              <a:buNone/>
            </a:pPr>
            <a:r>
              <a:rPr lang="en-US" sz="1100" i="1" dirty="0">
                <a:solidFill>
                  <a:srgbClr val="5A6472"/>
                </a:solidFill>
                <a:latin typeface="Calibri" pitchFamily="34" charset="0"/>
                <a:cs typeface="Amiri" pitchFamily="2" charset="-78"/>
              </a:rPr>
              <a:t>qā-la in-na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قَالُوا إِنَّ</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قَالَتْ إِنَّ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أَضَافَ أَنَّ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added that</a:t>
            </a:r>
            <a:endParaRPr lang="en-US" sz="1350" dirty="0"/>
          </a:p>
          <a:p>
            <a:pPr indent="0" marL="0">
              <a:buNone/>
            </a:pPr>
            <a:r>
              <a:rPr lang="en-US" sz="1100" i="1" dirty="0">
                <a:solidFill>
                  <a:srgbClr val="5A6472"/>
                </a:solidFill>
                <a:latin typeface="Calibri" pitchFamily="34" charset="0"/>
                <a:cs typeface="Amiri" pitchFamily="2" charset="-78"/>
              </a:rPr>
              <a:t>a-ḍā-fa an-na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أَضَافُوا أَنَّ</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أَضَافَتْ أَنَّ</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أَوْضَحَ أَنَّ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explained that</a:t>
            </a:r>
            <a:endParaRPr lang="en-US" sz="1350" dirty="0"/>
          </a:p>
          <a:p>
            <a:pPr indent="0" marL="0">
              <a:buNone/>
            </a:pPr>
            <a:r>
              <a:rPr lang="en-US" sz="1100" i="1" dirty="0">
                <a:solidFill>
                  <a:srgbClr val="5A6472"/>
                </a:solidFill>
                <a:latin typeface="Calibri" pitchFamily="34" charset="0"/>
                <a:cs typeface="Amiri" pitchFamily="2" charset="-78"/>
              </a:rPr>
              <a:t>aw-ḍa-ḥa an-na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أَوْضَحُوا أَنَّ</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أَوْضَحَتْ أَنَّ</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أَكَّدَ أَنَّ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stressed that</a:t>
            </a:r>
            <a:endParaRPr lang="en-US" sz="1350" dirty="0"/>
          </a:p>
          <a:p>
            <a:pPr indent="0" marL="0">
              <a:buNone/>
            </a:pPr>
            <a:r>
              <a:rPr lang="en-US" sz="1100" i="1" dirty="0">
                <a:solidFill>
                  <a:srgbClr val="5A6472"/>
                </a:solidFill>
                <a:latin typeface="Calibri" pitchFamily="34" charset="0"/>
                <a:cs typeface="Amiri" pitchFamily="2" charset="-78"/>
              </a:rPr>
              <a:t>ak-ka-da an-na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أَكَّدُوا أَنَّ</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أَكَّدَتْ أَنَّ</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أَشَارَ إِلَى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pointed out that</a:t>
            </a:r>
            <a:endParaRPr lang="en-US" sz="1350" dirty="0"/>
          </a:p>
          <a:p>
            <a:pPr indent="0" marL="0">
              <a:buNone/>
            </a:pPr>
            <a:r>
              <a:rPr lang="en-US" sz="1100" i="1" dirty="0">
                <a:solidFill>
                  <a:srgbClr val="5A6472"/>
                </a:solidFill>
                <a:latin typeface="Calibri" pitchFamily="34" charset="0"/>
                <a:cs typeface="Amiri" pitchFamily="2" charset="-78"/>
              </a:rPr>
              <a:t>a-shā-ra i-lā an-na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أَشَارُوا</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أَشَارَتْ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ذَكَرَ أَنَّ</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mentioned that</a:t>
            </a:r>
            <a:endParaRPr lang="en-US" sz="1350" dirty="0"/>
          </a:p>
          <a:p>
            <a:pPr indent="0" marL="0">
              <a:buNone/>
            </a:pPr>
            <a:r>
              <a:rPr lang="en-US" sz="1100" i="1" dirty="0">
                <a:solidFill>
                  <a:srgbClr val="5A6472"/>
                </a:solidFill>
                <a:latin typeface="Calibri" pitchFamily="34" charset="0"/>
                <a:cs typeface="Amiri" pitchFamily="2" charset="-78"/>
              </a:rPr>
              <a:t>dha-ka-ra an-na</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9" name="Text 36"/>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ذَكَرُوا</a:t>
            </a:r>
            <a:endParaRPr lang="ar-SA" sz="135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ذَكَرَتْ</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6" name="Shape 4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With بِـ.</a:t>
            </a:r>
            <a:endParaRPr lang="en-US" sz="800" dirty="0"/>
          </a:p>
        </p:txBody>
      </p:sp>
      <p:sp>
        <p:nvSpPr>
          <p:cNvPr id="48" name="Text 4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اِعْتَرَفَ بِأَنَّ</a:t>
            </a:r>
            <a:endParaRPr lang="ar-SA" sz="3000" dirty="0"/>
          </a:p>
        </p:txBody>
      </p:sp>
      <p:sp>
        <p:nvSpPr>
          <p:cNvPr id="49" name="Text 4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admitted that</a:t>
            </a:r>
            <a:endParaRPr lang="en-US" sz="1350" dirty="0"/>
          </a:p>
          <a:p>
            <a:pPr indent="0" marL="0">
              <a:buNone/>
            </a:pPr>
            <a:r>
              <a:rPr lang="en-US" sz="1100" i="1" dirty="0">
                <a:solidFill>
                  <a:srgbClr val="5A6472"/>
                </a:solidFill>
                <a:latin typeface="Calibri" pitchFamily="34" charset="0"/>
                <a:cs typeface="Amiri" pitchFamily="2" charset="-78"/>
              </a:rPr>
              <a:t>iʿ-ta-ra-fa bi-ʾan-na</a:t>
            </a:r>
            <a:endParaRPr lang="en-US" sz="135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3" name="Shape 5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نَفَى أَنَّ</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denied that</a:t>
            </a:r>
            <a:endParaRPr lang="en-US" sz="1350" dirty="0"/>
          </a:p>
          <a:p>
            <a:pPr indent="0" marL="0">
              <a:buNone/>
            </a:pPr>
            <a:r>
              <a:rPr lang="en-US" sz="1100" i="1" dirty="0">
                <a:solidFill>
                  <a:srgbClr val="5A6472"/>
                </a:solidFill>
                <a:latin typeface="Calibri" pitchFamily="34" charset="0"/>
                <a:cs typeface="Amiri" pitchFamily="2" charset="-78"/>
              </a:rPr>
              <a:t>na-fā an-na</a:t>
            </a:r>
            <a:endParaRPr lang="en-US" sz="1350" dirty="0"/>
          </a:p>
        </p:txBody>
      </p:sp>
      <p:sp>
        <p:nvSpPr>
          <p:cNvPr id="57" name="Shape 5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9" name="Text 56"/>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نَفَوْا</a:t>
            </a:r>
            <a:endParaRPr lang="ar-SA" sz="1350" dirty="0"/>
          </a:p>
        </p:txBody>
      </p:sp>
      <p:sp>
        <p:nvSpPr>
          <p:cNvPr id="60" name="Shape 5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نَفَتْ</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Sources and attribution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كَلَامٌ مَنْقُولٌ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ka-lā-mun man-qū-lun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وَفْقًا لِـ</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a:t>
            </a:r>
            <a:endParaRPr lang="en-US" sz="1350" dirty="0"/>
          </a:p>
          <a:p>
            <a:pPr indent="0" marL="0">
              <a:buNone/>
            </a:pPr>
            <a:r>
              <a:rPr lang="en-US" sz="1100" i="1" dirty="0">
                <a:solidFill>
                  <a:srgbClr val="5A6472"/>
                </a:solidFill>
                <a:latin typeface="Calibri" pitchFamily="34" charset="0"/>
                <a:cs typeface="Amiri" pitchFamily="2" charset="-78"/>
              </a:rPr>
              <a:t>waf-qan 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بِحَسَبِ مَا قَالَ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 what he said</a:t>
            </a:r>
            <a:endParaRPr lang="en-US" sz="1350" dirty="0"/>
          </a:p>
          <a:p>
            <a:pPr indent="0" marL="0">
              <a:buNone/>
            </a:pPr>
            <a:r>
              <a:rPr lang="en-US" sz="1100" i="1" dirty="0">
                <a:solidFill>
                  <a:srgbClr val="5A6472"/>
                </a:solidFill>
                <a:latin typeface="Calibri" pitchFamily="34" charset="0"/>
                <a:cs typeface="Amiri" pitchFamily="2" charset="-78"/>
              </a:rPr>
              <a:t>bi-ḥa-sa-bi mā qā-la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7" name="Shape 3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خَبِيرٌ</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expert</a:t>
            </a:r>
            <a:endParaRPr lang="en-US" sz="1350" dirty="0"/>
          </a:p>
          <a:p>
            <a:pPr indent="0" marL="0">
              <a:buNone/>
            </a:pPr>
            <a:r>
              <a:rPr lang="en-US" sz="1100" i="1" dirty="0">
                <a:solidFill>
                  <a:srgbClr val="5A6472"/>
                </a:solidFill>
                <a:latin typeface="Calibri" pitchFamily="34" charset="0"/>
                <a:cs typeface="Amiri" pitchFamily="2" charset="-78"/>
              </a:rPr>
              <a:t>kha-bī-run</a:t>
            </a:r>
            <a:endParaRPr lang="en-US" sz="1350" dirty="0"/>
          </a:p>
        </p:txBody>
      </p:sp>
      <p:sp>
        <p:nvSpPr>
          <p:cNvPr id="41" name="Shape 3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خُبَرَاءُ</a:t>
            </a:r>
            <a:endParaRPr lang="ar-SA" sz="1500" dirty="0"/>
          </a:p>
        </p:txBody>
      </p:sp>
      <p:sp>
        <p:nvSpPr>
          <p:cNvPr id="44" name="Shape 4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6" name="Text 4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خَبِيرَةٌ</a:t>
            </a:r>
            <a:endParaRPr lang="ar-SA" sz="15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Sources and attribution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بَاحِثٌ</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researcher</a:t>
            </a:r>
            <a:endParaRPr lang="en-US" sz="1350" dirty="0"/>
          </a:p>
          <a:p>
            <a:pPr indent="0" marL="0">
              <a:buNone/>
            </a:pPr>
            <a:r>
              <a:rPr lang="en-US" sz="1100" i="1" dirty="0">
                <a:solidFill>
                  <a:srgbClr val="5A6472"/>
                </a:solidFill>
                <a:latin typeface="Calibri" pitchFamily="34" charset="0"/>
                <a:cs typeface="Amiri" pitchFamily="2" charset="-78"/>
              </a:rPr>
              <a:t>bā-ḥi-thun</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بَاحِثُونَ</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بَاحِثَةٌ</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Shape 3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دِرَاسَةٌ حَدِيثَةٌ</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recent study</a:t>
            </a:r>
            <a:endParaRPr lang="en-US" sz="1350" dirty="0"/>
          </a:p>
          <a:p>
            <a:pPr indent="0" marL="0">
              <a:buNone/>
            </a:pPr>
            <a:r>
              <a:rPr lang="en-US" sz="1100" i="1" dirty="0">
                <a:solidFill>
                  <a:srgbClr val="5A6472"/>
                </a:solidFill>
                <a:latin typeface="Calibri" pitchFamily="34" charset="0"/>
                <a:cs typeface="Amiri" pitchFamily="2" charset="-78"/>
              </a:rPr>
              <a:t>di-rā-sa-tun ḥa-dī-tha-tun</a:t>
            </a:r>
            <a:endParaRPr lang="en-US" sz="1350" dirty="0"/>
          </a:p>
        </p:txBody>
      </p:sp>
      <p:sp>
        <p:nvSpPr>
          <p:cNvPr id="41" name="Shape 3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دِرَاسَاتٌ حَدِيثَةٌ</a:t>
            </a:r>
            <a:endParaRPr lang="ar-SA" sz="1500" dirty="0"/>
          </a:p>
        </p:txBody>
      </p:sp>
      <p:sp>
        <p:nvSpPr>
          <p:cNvPr id="44" name="Shape 4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1920240"/>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7" name="Shape 44"/>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diptote plural.</a:t>
            </a:r>
            <a:endParaRPr lang="en-US" sz="800" dirty="0"/>
          </a:p>
        </p:txBody>
      </p:sp>
      <p:sp>
        <p:nvSpPr>
          <p:cNvPr id="49" name="Text 4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نَتَائِجُ</a:t>
            </a:r>
            <a:endParaRPr lang="ar-SA" sz="3000" dirty="0"/>
          </a:p>
        </p:txBody>
      </p:sp>
      <p:sp>
        <p:nvSpPr>
          <p:cNvPr id="50" name="Text 4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findings</a:t>
            </a:r>
            <a:endParaRPr lang="en-US" sz="1350" dirty="0"/>
          </a:p>
          <a:p>
            <a:pPr indent="0" marL="0">
              <a:buNone/>
            </a:pPr>
            <a:r>
              <a:rPr lang="en-US" sz="1100" i="1" dirty="0">
                <a:solidFill>
                  <a:srgbClr val="5A6472"/>
                </a:solidFill>
                <a:latin typeface="Calibri" pitchFamily="34" charset="0"/>
                <a:cs typeface="Amiri" pitchFamily="2" charset="-78"/>
              </a:rPr>
              <a:t>na-tā-ʾi-ju</a:t>
            </a:r>
            <a:endParaRPr lang="en-US"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4" name="Shape 51"/>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With إِلَى.</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خَلَصَ إِلَى أَنَّ</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concluded that</a:t>
            </a:r>
            <a:endParaRPr lang="en-US" sz="1350" dirty="0"/>
          </a:p>
          <a:p>
            <a:pPr indent="0" marL="0">
              <a:buNone/>
            </a:pPr>
            <a:r>
              <a:rPr lang="en-US" sz="1100" i="1" dirty="0">
                <a:solidFill>
                  <a:srgbClr val="5A6472"/>
                </a:solidFill>
                <a:latin typeface="Calibri" pitchFamily="34" charset="0"/>
                <a:cs typeface="Amiri" pitchFamily="2" charset="-78"/>
              </a:rPr>
              <a:t>kha-la-ṣa i-lā an-na</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Education content to report (1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التَّعْلِيمُ الرَّقْمِيُّ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education</a:t>
            </a:r>
            <a:endParaRPr lang="en-US" sz="1350" dirty="0"/>
          </a:p>
          <a:p>
            <a:pPr indent="0" marL="0">
              <a:buNone/>
            </a:pPr>
            <a:r>
              <a:rPr lang="en-US" sz="1100" i="1" dirty="0">
                <a:solidFill>
                  <a:srgbClr val="5A6472"/>
                </a:solidFill>
                <a:latin typeface="Calibri" pitchFamily="34" charset="0"/>
                <a:cs typeface="Amiri" pitchFamily="2" charset="-78"/>
              </a:rPr>
              <a:t>at-taʿ-lī-mu ar-raq-miy-yu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التَّعَلُّمُ عَنْ بُعْدٍ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distance learning</a:t>
            </a:r>
            <a:endParaRPr lang="en-US" sz="1350" dirty="0"/>
          </a:p>
          <a:p>
            <a:pPr indent="0" marL="0">
              <a:buNone/>
            </a:pPr>
            <a:r>
              <a:rPr lang="en-US" sz="1100" i="1" dirty="0">
                <a:solidFill>
                  <a:srgbClr val="5A6472"/>
                </a:solidFill>
                <a:latin typeface="Calibri" pitchFamily="34" charset="0"/>
                <a:cs typeface="Amiri" pitchFamily="2" charset="-78"/>
              </a:rPr>
              <a:t>at-ta-ʿal-lu-mu ʿan buʿ-din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تَحْصِيلٌ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attainment</a:t>
            </a:r>
            <a:endParaRPr lang="en-US" sz="1350" dirty="0"/>
          </a:p>
          <a:p>
            <a:pPr indent="0" marL="0">
              <a:buNone/>
            </a:pPr>
            <a:r>
              <a:rPr lang="en-US" sz="1100" i="1" dirty="0">
                <a:solidFill>
                  <a:srgbClr val="5A6472"/>
                </a:solidFill>
                <a:latin typeface="Calibri" pitchFamily="34" charset="0"/>
                <a:cs typeface="Amiri" pitchFamily="2" charset="-78"/>
              </a:rPr>
              <a:t>taḥ-ṣī-lun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7" name="Shape 34"/>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diptote plural.</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مَنَاهِجُ</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curricula</a:t>
            </a:r>
            <a:endParaRPr lang="en-US" sz="1350" dirty="0"/>
          </a:p>
          <a:p>
            <a:pPr indent="0" marL="0">
              <a:buNone/>
            </a:pPr>
            <a:r>
              <a:rPr lang="en-US" sz="1100" i="1" dirty="0">
                <a:solidFill>
                  <a:srgbClr val="5A6472"/>
                </a:solidFill>
                <a:latin typeface="Calibri" pitchFamily="34" charset="0"/>
                <a:cs typeface="Amiri" pitchFamily="2" charset="-78"/>
              </a:rPr>
              <a:t>ma-nā-hi-ju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Education content to report (2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أَقْرَانٌ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peers</a:t>
            </a:r>
            <a:endParaRPr lang="en-US" sz="1350" dirty="0"/>
          </a:p>
          <a:p>
            <a:pPr indent="0" marL="0">
              <a:buNone/>
            </a:pPr>
            <a:r>
              <a:rPr lang="en-US" sz="1100" i="1" dirty="0">
                <a:solidFill>
                  <a:srgbClr val="5A6472"/>
                </a:solidFill>
                <a:latin typeface="Calibri" pitchFamily="34" charset="0"/>
                <a:cs typeface="Amiri" pitchFamily="2" charset="-78"/>
              </a:rPr>
              <a:t>aq-rā-nun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يَتَطَوَّرُ</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develops</a:t>
            </a:r>
            <a:endParaRPr lang="en-US" sz="1350" dirty="0"/>
          </a:p>
          <a:p>
            <a:pPr indent="0" marL="0">
              <a:buNone/>
            </a:pPr>
            <a:r>
              <a:rPr lang="en-US" sz="1100" i="1" dirty="0">
                <a:solidFill>
                  <a:srgbClr val="5A6472"/>
                </a:solidFill>
                <a:latin typeface="Calibri" pitchFamily="34" charset="0"/>
                <a:cs typeface="Amiri" pitchFamily="2" charset="-78"/>
              </a:rPr>
              <a:t>ya-ta-ṭaw-wa-ru</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تَتَطَوَّرُ</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Shape 32"/>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يُوَفِّرُ</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provides</a:t>
            </a:r>
            <a:endParaRPr lang="en-US" sz="1350" dirty="0"/>
          </a:p>
          <a:p>
            <a:pPr indent="0" marL="0">
              <a:buNone/>
            </a:pPr>
            <a:r>
              <a:rPr lang="en-US" sz="1100" i="1" dirty="0">
                <a:solidFill>
                  <a:srgbClr val="5A6472"/>
                </a:solidFill>
                <a:latin typeface="Calibri" pitchFamily="34" charset="0"/>
                <a:cs typeface="Amiri" pitchFamily="2" charset="-78"/>
              </a:rPr>
              <a:t>yu-waf-fi-ru</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تُوَفِّرُ</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فُرْصَةٌ</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opportunity</a:t>
            </a:r>
            <a:endParaRPr lang="en-US" sz="1350" dirty="0"/>
          </a:p>
          <a:p>
            <a:pPr indent="0" marL="0">
              <a:buNone/>
            </a:pPr>
            <a:r>
              <a:rPr lang="en-US" sz="1100" i="1" dirty="0">
                <a:solidFill>
                  <a:srgbClr val="5A6472"/>
                </a:solidFill>
                <a:latin typeface="Calibri" pitchFamily="34" charset="0"/>
                <a:cs typeface="Amiri" pitchFamily="2" charset="-78"/>
              </a:rPr>
              <a:t>fur-ṣa-tun</a:t>
            </a:r>
            <a:endParaRPr lang="en-US" sz="1350" dirty="0"/>
          </a:p>
        </p:txBody>
      </p:sp>
      <p:sp>
        <p:nvSpPr>
          <p:cNvPr id="49" name="Shape 4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فُرَصٌ</a:t>
            </a:r>
            <a:endParaRPr lang="ar-SA" sz="15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INNA OR ANNA? (WEBSITE RULE 1 + TABLE)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Only qāla takes inna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إِنَّ أَمْ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Particle</a:t>
            </a:r>
            <a:endParaRPr lang="en-US" sz="1100" dirty="0"/>
          </a:p>
        </p:txBody>
      </p:sp>
      <p:sp>
        <p:nvSpPr>
          <p:cNvPr id="17" name="Text 14"/>
          <p:cNvSpPr txBox="1"/>
          <p:nvPr/>
        </p:nvSpPr>
        <p:spPr>
          <a:xfrm>
            <a:off x="55595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particle</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351008" y="226771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a:t>
            </a:r>
            <a:endParaRPr lang="en-US" sz="1100" dirty="0"/>
          </a:p>
        </p:txBody>
      </p:sp>
      <p:sp>
        <p:nvSpPr>
          <p:cNvPr id="22" name="Text 19"/>
          <p:cNvSpPr txBox="1"/>
          <p:nvPr/>
        </p:nvSpPr>
        <p:spPr>
          <a:xfrm>
            <a:off x="5577840" y="2267712"/>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a:t>
            </a:r>
            <a:pPr rtl="1" algn="ctr" indent="0" marL="0">
              <a:buNone/>
            </a:pPr>
            <a:r>
              <a:rPr lang="ar-SA" altLang="en-US" sz="2000" b="1" dirty="0">
                <a:solidFill>
                  <a:srgbClr val="D6336C"/>
                </a:solidFill>
                <a:latin typeface="Amiri" pitchFamily="2" charset="-78"/>
                <a:ea typeface="Amiri" pitchFamily="2" charset="-78"/>
                <a:cs typeface="Amiri" pitchFamily="2" charset="-78"/>
              </a:rPr>
              <a:t>إِنَّ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التَّعْلِيمَ حَقٌّ.</a:t>
            </a:r>
            <a:endParaRPr lang="ar-SA" sz="2000" dirty="0"/>
          </a:p>
        </p:txBody>
      </p:sp>
      <p:sp>
        <p:nvSpPr>
          <p:cNvPr id="23" name="Text 20"/>
          <p:cNvSpPr txBox="1"/>
          <p:nvPr/>
        </p:nvSpPr>
        <p:spPr>
          <a:xfrm>
            <a:off x="2651760" y="226771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قَالَ إِنَّ</a:t>
            </a:r>
            <a:endParaRPr lang="ar-SA" sz="22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said that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351008" y="2881884"/>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a:t>
            </a:r>
            <a:endParaRPr lang="en-US" sz="1100" dirty="0"/>
          </a:p>
        </p:txBody>
      </p:sp>
      <p:sp>
        <p:nvSpPr>
          <p:cNvPr id="29" name="Text 26"/>
          <p:cNvSpPr txBox="1"/>
          <p:nvPr/>
        </p:nvSpPr>
        <p:spPr>
          <a:xfrm>
            <a:off x="5577840" y="2881884"/>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أَضَافَ </a:t>
            </a:r>
            <a:pPr rtl="1" algn="ctr" indent="0" marL="0">
              <a:buNone/>
            </a:pPr>
            <a:r>
              <a:rPr lang="ar-SA" altLang="en-US" sz="2000" b="1" dirty="0">
                <a:solidFill>
                  <a:srgbClr val="1D5FBF"/>
                </a:solidFill>
                <a:latin typeface="Amiri" pitchFamily="2" charset="-78"/>
                <a:ea typeface="Amiri" pitchFamily="2" charset="-78"/>
                <a:cs typeface="Amiri" pitchFamily="2" charset="-78"/>
              </a:rPr>
              <a:t>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المَنَاهِجَ تَتَطَوَّرُ.</a:t>
            </a:r>
            <a:endParaRPr lang="ar-SA" sz="2000" dirty="0"/>
          </a:p>
        </p:txBody>
      </p:sp>
      <p:sp>
        <p:nvSpPr>
          <p:cNvPr id="30" name="Text 27"/>
          <p:cNvSpPr txBox="1"/>
          <p:nvPr/>
        </p:nvSpPr>
        <p:spPr>
          <a:xfrm>
            <a:off x="2651760" y="2881884"/>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أَضَافَ أَنَّ</a:t>
            </a:r>
            <a:endParaRPr lang="ar-SA" sz="22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added that</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351008" y="3496056"/>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a:t>
            </a:r>
            <a:endParaRPr lang="en-US" sz="1100" dirty="0"/>
          </a:p>
        </p:txBody>
      </p:sp>
      <p:sp>
        <p:nvSpPr>
          <p:cNvPr id="36" name="Text 33"/>
          <p:cNvSpPr txBox="1"/>
          <p:nvPr/>
        </p:nvSpPr>
        <p:spPr>
          <a:xfrm>
            <a:off x="5577840" y="3496056"/>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أَكَّدَتْ </a:t>
            </a:r>
            <a:pPr rtl="1" algn="ctr" indent="0" marL="0">
              <a:buNone/>
            </a:pPr>
            <a:r>
              <a:rPr lang="ar-SA" altLang="en-US" sz="2000" b="1" dirty="0">
                <a:solidFill>
                  <a:srgbClr val="1D5FBF"/>
                </a:solidFill>
                <a:latin typeface="Amiri" pitchFamily="2" charset="-78"/>
                <a:ea typeface="Amiri" pitchFamily="2" charset="-78"/>
                <a:cs typeface="Amiri" pitchFamily="2" charset="-78"/>
              </a:rPr>
              <a:t>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التَّعَلُّمَ عَنْ بُعْدٍ يُوَفِّرُ فُرَصًا.</a:t>
            </a:r>
            <a:endParaRPr lang="ar-SA" sz="2000" dirty="0"/>
          </a:p>
        </p:txBody>
      </p:sp>
      <p:sp>
        <p:nvSpPr>
          <p:cNvPr id="37" name="Text 34"/>
          <p:cNvSpPr txBox="1"/>
          <p:nvPr/>
        </p:nvSpPr>
        <p:spPr>
          <a:xfrm>
            <a:off x="2651760" y="3496056"/>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أَوْضَحَ · أَكَّدَ أَنَّ</a:t>
            </a:r>
            <a:endParaRPr lang="ar-SA" sz="22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explained · stressed</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351008" y="4110228"/>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a:t>
            </a:r>
            <a:endParaRPr lang="en-US" sz="1100" dirty="0"/>
          </a:p>
        </p:txBody>
      </p:sp>
      <p:sp>
        <p:nvSpPr>
          <p:cNvPr id="41" name="Text 38"/>
          <p:cNvSpPr txBox="1"/>
          <p:nvPr/>
        </p:nvSpPr>
        <p:spPr>
          <a:xfrm>
            <a:off x="5577840" y="4110228"/>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نَفَى </a:t>
            </a:r>
            <a:pPr rtl="1" algn="ctr" indent="0" marL="0">
              <a:buNone/>
            </a:pPr>
            <a:r>
              <a:rPr lang="ar-SA" altLang="en-US" sz="2000" b="1" dirty="0">
                <a:solidFill>
                  <a:srgbClr val="1D5FBF"/>
                </a:solidFill>
                <a:latin typeface="Amiri" pitchFamily="2" charset="-78"/>
                <a:ea typeface="Amiri" pitchFamily="2" charset="-78"/>
                <a:cs typeface="Amiri" pitchFamily="2" charset="-78"/>
              </a:rPr>
              <a:t>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الامْتِحَانَاتِ وَحْدَهَا تَقِيسُ الذَّكَاءَ.</a:t>
            </a:r>
            <a:endParaRPr lang="ar-SA" sz="2000" dirty="0"/>
          </a:p>
        </p:txBody>
      </p:sp>
      <p:sp>
        <p:nvSpPr>
          <p:cNvPr id="42" name="Text 39"/>
          <p:cNvSpPr txBox="1"/>
          <p:nvPr/>
        </p:nvSpPr>
        <p:spPr>
          <a:xfrm>
            <a:off x="2651760" y="4110228"/>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ذَكَرَ · نَفَى أَنَّ</a:t>
            </a:r>
            <a:endParaRPr lang="ar-SA" sz="2200" dirty="0"/>
          </a:p>
        </p:txBody>
      </p:sp>
      <p:sp>
        <p:nvSpPr>
          <p:cNvPr id="43" name="Text 40"/>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mentioned · denied</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10351008" y="4724400"/>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 + anna</a:t>
            </a:r>
            <a:endParaRPr lang="en-US" sz="1100" dirty="0"/>
          </a:p>
        </p:txBody>
      </p:sp>
      <p:sp>
        <p:nvSpPr>
          <p:cNvPr id="46" name="Text 43"/>
          <p:cNvSpPr txBox="1"/>
          <p:nvPr/>
        </p:nvSpPr>
        <p:spPr>
          <a:xfrm>
            <a:off x="5577840" y="4724400"/>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أَشَارَ الخَبِيرُ </a:t>
            </a:r>
            <a:pPr rtl="1" algn="ctr" indent="0" marL="0">
              <a:buNone/>
            </a:pPr>
            <a:r>
              <a:rPr lang="ar-SA" altLang="en-US" sz="2000" b="1" dirty="0">
                <a:solidFill>
                  <a:srgbClr val="0E7C86"/>
                </a:solidFill>
                <a:latin typeface="Amiri" pitchFamily="2" charset="-78"/>
                <a:ea typeface="Amiri" pitchFamily="2" charset="-78"/>
                <a:cs typeface="Amiri" pitchFamily="2" charset="-78"/>
              </a:rPr>
              <a:t>إِلَى 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المَنَاهِجَ تَتَطَوَّرُ.</a:t>
            </a:r>
            <a:endParaRPr lang="ar-SA" sz="2000" dirty="0"/>
          </a:p>
        </p:txBody>
      </p:sp>
      <p:sp>
        <p:nvSpPr>
          <p:cNvPr id="47" name="Text 44"/>
          <p:cNvSpPr txBox="1"/>
          <p:nvPr/>
        </p:nvSpPr>
        <p:spPr>
          <a:xfrm>
            <a:off x="2651760" y="4724400"/>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أَشَارَ / خَلَصَ إِلَى أَنَّ</a:t>
            </a:r>
            <a:endParaRPr lang="ar-SA" sz="2200" dirty="0"/>
          </a:p>
        </p:txBody>
      </p:sp>
      <p:sp>
        <p:nvSpPr>
          <p:cNvPr id="48" name="Text 45"/>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pointed out · concluded</a:t>
            </a:r>
            <a:endParaRPr lang="en-US" sz="11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351008" y="533857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anna</a:t>
            </a:r>
            <a:endParaRPr lang="en-US" sz="1100" dirty="0"/>
          </a:p>
        </p:txBody>
      </p:sp>
      <p:sp>
        <p:nvSpPr>
          <p:cNvPr id="53" name="Text 50"/>
          <p:cNvSpPr txBox="1"/>
          <p:nvPr/>
        </p:nvSpPr>
        <p:spPr>
          <a:xfrm>
            <a:off x="5577840" y="5338572"/>
            <a:ext cx="45720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اعْتَرَفَ </a:t>
            </a:r>
            <a:pPr rtl="1" algn="ctr" indent="0" marL="0">
              <a:buNone/>
            </a:pPr>
            <a:r>
              <a:rPr lang="ar-SA" altLang="en-US" sz="2000" b="1" dirty="0">
                <a:solidFill>
                  <a:srgbClr val="7B3FA0"/>
                </a:solidFill>
                <a:latin typeface="Amiri" pitchFamily="2" charset="-78"/>
                <a:ea typeface="Amiri" pitchFamily="2" charset="-78"/>
                <a:cs typeface="Amiri" pitchFamily="2" charset="-78"/>
              </a:rPr>
              <a:t>بِأَنَّ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الفَجْوَةَ الرَّقْمِيَّةَ مُشْكِلَةٌ.</a:t>
            </a:r>
            <a:endParaRPr lang="ar-SA" sz="2000" dirty="0"/>
          </a:p>
        </p:txBody>
      </p:sp>
      <p:sp>
        <p:nvSpPr>
          <p:cNvPr id="54" name="Text 51"/>
          <p:cNvSpPr txBox="1"/>
          <p:nvPr/>
        </p:nvSpPr>
        <p:spPr>
          <a:xfrm>
            <a:off x="2651760" y="533857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اعْتَرَفَ بِأَنَّ</a:t>
            </a:r>
            <a:endParaRPr lang="ar-SA" sz="22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admitted</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qāla anna ✗ → qāla inna. After both particles the noun is accusative (al-taʿlīma).</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2 · SWITCH THE PRONOUN (WEBSITE RULE 3) · CORE / DEVELOP</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will study” → he said that he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تَحْوِيلُ الضَّمِيرِ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17" name="Text 14"/>
          <p:cNvSpPr txBox="1"/>
          <p:nvPr/>
        </p:nvSpPr>
        <p:spPr>
          <a:xfrm>
            <a:off x="55595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Reported speech</a:t>
            </a:r>
            <a:endParaRPr lang="en-US" sz="1100" dirty="0"/>
          </a:p>
        </p:txBody>
      </p:sp>
      <p:sp>
        <p:nvSpPr>
          <p:cNvPr id="18" name="Text 15"/>
          <p:cNvSpPr txBox="1"/>
          <p:nvPr/>
        </p:nvSpPr>
        <p:spPr>
          <a:xfrm>
            <a:off x="254203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Direct speech</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 said it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a:t>
            </a:r>
            <a:endParaRPr lang="en-US" sz="1100" dirty="0"/>
          </a:p>
        </p:txBody>
      </p:sp>
      <p:sp>
        <p:nvSpPr>
          <p:cNvPr id="22" name="Text 19"/>
          <p:cNvSpPr txBox="1"/>
          <p:nvPr/>
        </p:nvSpPr>
        <p:spPr>
          <a:xfrm>
            <a:off x="5577840" y="2267712"/>
            <a:ext cx="457200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قَالَ </a:t>
            </a:r>
            <a:pPr rtl="1" algn="ctr" indent="0" marL="0">
              <a:buNone/>
            </a:pPr>
            <a:r>
              <a:rPr lang="ar-SA" altLang="en-US" sz="2100" b="1" dirty="0">
                <a:solidFill>
                  <a:srgbClr val="D6336C"/>
                </a:solidFill>
                <a:latin typeface="Amiri" pitchFamily="2" charset="-78"/>
                <a:ea typeface="Amiri" pitchFamily="2" charset="-78"/>
                <a:cs typeface="Amiri" pitchFamily="2" charset="-78"/>
              </a:rPr>
              <a:t>إِنَّهُ</a:t>
            </a:r>
            <a:pPr rtl="1" algn="ctr" indent="0" marL="0">
              <a:buNone/>
            </a:pPr>
            <a:r>
              <a:rPr lang="ar-SA" altLang="en-US" sz="2100" b="1" dirty="0">
                <a:solidFill>
                  <a:srgbClr val="1B3B6F"/>
                </a:solidFill>
                <a:latin typeface="Amiri" pitchFamily="2" charset="-78"/>
                <a:ea typeface="Amiri" pitchFamily="2" charset="-78"/>
                <a:cs typeface="Amiri" pitchFamily="2" charset="-78"/>
              </a:rPr>
              <a:t> سَيَدْرُسُ الطِّبَّ.</a:t>
            </a:r>
            <a:endParaRPr lang="ar-SA" sz="2100" dirty="0"/>
          </a:p>
        </p:txBody>
      </p:sp>
      <p:sp>
        <p:nvSpPr>
          <p:cNvPr id="23" name="Text 20"/>
          <p:cNvSpPr txBox="1"/>
          <p:nvPr/>
        </p:nvSpPr>
        <p:spPr>
          <a:xfrm>
            <a:off x="2560320" y="2267712"/>
            <a:ext cx="283464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«سَأَدْرُسُ الطِّبَّ.»</a:t>
            </a:r>
            <a:endParaRPr lang="ar-SA" sz="2100" dirty="0"/>
          </a:p>
        </p:txBody>
      </p:sp>
      <p:sp>
        <p:nvSpPr>
          <p:cNvPr id="24" name="Text 21"/>
          <p:cNvSpPr txBox="1"/>
          <p:nvPr/>
        </p:nvSpPr>
        <p:spPr>
          <a:xfrm>
            <a:off x="5669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boy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a:t>
            </a:r>
            <a:endParaRPr lang="en-US" sz="1100" dirty="0"/>
          </a:p>
        </p:txBody>
      </p:sp>
      <p:sp>
        <p:nvSpPr>
          <p:cNvPr id="29" name="Text 26"/>
          <p:cNvSpPr txBox="1"/>
          <p:nvPr/>
        </p:nvSpPr>
        <p:spPr>
          <a:xfrm>
            <a:off x="5577840" y="3004718"/>
            <a:ext cx="457200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قَالَتْ </a:t>
            </a:r>
            <a:pPr rtl="1" algn="ctr" indent="0" marL="0">
              <a:buNone/>
            </a:pPr>
            <a:r>
              <a:rPr lang="ar-SA" altLang="en-US" sz="2100" b="1" dirty="0">
                <a:solidFill>
                  <a:srgbClr val="D6336C"/>
                </a:solidFill>
                <a:latin typeface="Amiri" pitchFamily="2" charset="-78"/>
                <a:ea typeface="Amiri" pitchFamily="2" charset="-78"/>
                <a:cs typeface="Amiri" pitchFamily="2" charset="-78"/>
              </a:rPr>
              <a:t>إِنَّهَا</a:t>
            </a:r>
            <a:pPr rtl="1" algn="ctr" indent="0" marL="0">
              <a:buNone/>
            </a:pPr>
            <a:r>
              <a:rPr lang="ar-SA" altLang="en-US" sz="2100" b="1" dirty="0">
                <a:solidFill>
                  <a:srgbClr val="1B3B6F"/>
                </a:solidFill>
                <a:latin typeface="Amiri" pitchFamily="2" charset="-78"/>
                <a:ea typeface="Amiri" pitchFamily="2" charset="-78"/>
                <a:cs typeface="Amiri" pitchFamily="2" charset="-78"/>
              </a:rPr>
              <a:t> سَتَدْرُسُ الطِّبَّ.</a:t>
            </a:r>
            <a:endParaRPr lang="ar-SA" sz="2100" dirty="0"/>
          </a:p>
        </p:txBody>
      </p:sp>
      <p:sp>
        <p:nvSpPr>
          <p:cNvPr id="30" name="Text 27"/>
          <p:cNvSpPr txBox="1"/>
          <p:nvPr/>
        </p:nvSpPr>
        <p:spPr>
          <a:xfrm>
            <a:off x="2560320" y="3004718"/>
            <a:ext cx="283464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«سَأَدْرُسُ الطِّبَّ.»</a:t>
            </a:r>
            <a:endParaRPr lang="ar-SA" sz="2100" dirty="0"/>
          </a:p>
        </p:txBody>
      </p:sp>
      <p:sp>
        <p:nvSpPr>
          <p:cNvPr id="31" name="Text 28"/>
          <p:cNvSpPr txBox="1"/>
          <p:nvPr/>
        </p:nvSpPr>
        <p:spPr>
          <a:xfrm>
            <a:off x="5669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girl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t>
            </a:r>
            <a:endParaRPr lang="en-US" sz="1100" dirty="0"/>
          </a:p>
        </p:txBody>
      </p:sp>
      <p:sp>
        <p:nvSpPr>
          <p:cNvPr id="36" name="Text 33"/>
          <p:cNvSpPr txBox="1"/>
          <p:nvPr/>
        </p:nvSpPr>
        <p:spPr>
          <a:xfrm>
            <a:off x="5577840" y="3741725"/>
            <a:ext cx="457200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قَالُوا </a:t>
            </a:r>
            <a:pPr rtl="1" algn="ctr" indent="0" marL="0">
              <a:buNone/>
            </a:pPr>
            <a:r>
              <a:rPr lang="ar-SA" altLang="en-US" sz="2100" b="1" dirty="0">
                <a:solidFill>
                  <a:srgbClr val="D6336C"/>
                </a:solidFill>
                <a:latin typeface="Amiri" pitchFamily="2" charset="-78"/>
                <a:ea typeface="Amiri" pitchFamily="2" charset="-78"/>
                <a:cs typeface="Amiri" pitchFamily="2" charset="-78"/>
              </a:rPr>
              <a:t>إِنَّهُمْ</a:t>
            </a:r>
            <a:pPr rtl="1" algn="ctr" indent="0" marL="0">
              <a:buNone/>
            </a:pPr>
            <a:r>
              <a:rPr lang="ar-SA" altLang="en-US" sz="2100" b="1" dirty="0">
                <a:solidFill>
                  <a:srgbClr val="1B3B6F"/>
                </a:solidFill>
                <a:latin typeface="Amiri" pitchFamily="2" charset="-78"/>
                <a:ea typeface="Amiri" pitchFamily="2" charset="-78"/>
                <a:cs typeface="Amiri" pitchFamily="2" charset="-78"/>
              </a:rPr>
              <a:t> يَحْتَاجُونَ إِلَى وَقْتٍ.</a:t>
            </a:r>
            <a:endParaRPr lang="ar-SA" sz="2100" dirty="0"/>
          </a:p>
        </p:txBody>
      </p:sp>
      <p:sp>
        <p:nvSpPr>
          <p:cNvPr id="37" name="Text 34"/>
          <p:cNvSpPr txBox="1"/>
          <p:nvPr/>
        </p:nvSpPr>
        <p:spPr>
          <a:xfrm>
            <a:off x="2560320" y="3741725"/>
            <a:ext cx="283464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«نَحْتَاجُ إِلَى وَقْتٍ.»</a:t>
            </a:r>
            <a:endParaRPr lang="ar-SA" sz="2100" dirty="0"/>
          </a:p>
        </p:txBody>
      </p:sp>
      <p:sp>
        <p:nvSpPr>
          <p:cNvPr id="38" name="Text 35"/>
          <p:cNvSpPr txBox="1"/>
          <p:nvPr/>
        </p:nvSpPr>
        <p:spPr>
          <a:xfrm>
            <a:off x="5669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boys / mixed</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-hunna</a:t>
            </a:r>
            <a:endParaRPr lang="en-US" sz="1100" dirty="0"/>
          </a:p>
        </p:txBody>
      </p:sp>
      <p:sp>
        <p:nvSpPr>
          <p:cNvPr id="41" name="Text 38"/>
          <p:cNvSpPr txBox="1"/>
          <p:nvPr/>
        </p:nvSpPr>
        <p:spPr>
          <a:xfrm>
            <a:off x="5577840" y="4478731"/>
            <a:ext cx="457200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قُلْنَ </a:t>
            </a:r>
            <a:pPr rtl="1" algn="ctr" indent="0" marL="0">
              <a:buNone/>
            </a:pPr>
            <a:r>
              <a:rPr lang="ar-SA" altLang="en-US" sz="2100" b="1" dirty="0">
                <a:solidFill>
                  <a:srgbClr val="D6336C"/>
                </a:solidFill>
                <a:latin typeface="Amiri" pitchFamily="2" charset="-78"/>
                <a:ea typeface="Amiri" pitchFamily="2" charset="-78"/>
                <a:cs typeface="Amiri" pitchFamily="2" charset="-78"/>
              </a:rPr>
              <a:t>إِنَّهُنَّ</a:t>
            </a:r>
            <a:pPr rtl="1" algn="ctr" indent="0" marL="0">
              <a:buNone/>
            </a:pPr>
            <a:r>
              <a:rPr lang="ar-SA" altLang="en-US" sz="2100" b="1" dirty="0">
                <a:solidFill>
                  <a:srgbClr val="1B3B6F"/>
                </a:solidFill>
                <a:latin typeface="Amiri" pitchFamily="2" charset="-78"/>
                <a:ea typeface="Amiri" pitchFamily="2" charset="-78"/>
                <a:cs typeface="Amiri" pitchFamily="2" charset="-78"/>
              </a:rPr>
              <a:t> يَحْتَجْنَ إِلَى وَقْتٍ.</a:t>
            </a:r>
            <a:endParaRPr lang="ar-SA" sz="2100" dirty="0"/>
          </a:p>
        </p:txBody>
      </p:sp>
      <p:sp>
        <p:nvSpPr>
          <p:cNvPr id="42" name="Text 39"/>
          <p:cNvSpPr txBox="1"/>
          <p:nvPr/>
        </p:nvSpPr>
        <p:spPr>
          <a:xfrm>
            <a:off x="2560320" y="4478731"/>
            <a:ext cx="283464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«نَحْتَاجُ إِلَى وَقْتٍ.»</a:t>
            </a:r>
            <a:endParaRPr lang="ar-SA" sz="2100" dirty="0"/>
          </a:p>
        </p:txBody>
      </p:sp>
      <p:sp>
        <p:nvSpPr>
          <p:cNvPr id="43" name="Text 40"/>
          <p:cNvSpPr txBox="1"/>
          <p:nvPr/>
        </p:nvSpPr>
        <p:spPr>
          <a:xfrm>
            <a:off x="5669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girls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 → -hu</a:t>
            </a:r>
            <a:endParaRPr lang="en-US" sz="1100" dirty="0"/>
          </a:p>
        </p:txBody>
      </p:sp>
      <p:sp>
        <p:nvSpPr>
          <p:cNvPr id="46" name="Text 43"/>
          <p:cNvSpPr txBox="1"/>
          <p:nvPr/>
        </p:nvSpPr>
        <p:spPr>
          <a:xfrm>
            <a:off x="5577840" y="5215738"/>
            <a:ext cx="457200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قَالَ إِنَّ </a:t>
            </a:r>
            <a:pPr rtl="1" algn="ctr" indent="0" marL="0">
              <a:buNone/>
            </a:pPr>
            <a:r>
              <a:rPr lang="ar-SA" altLang="en-US" sz="2100" b="1" dirty="0">
                <a:solidFill>
                  <a:srgbClr val="0E7C86"/>
                </a:solidFill>
                <a:latin typeface="Amiri" pitchFamily="2" charset="-78"/>
                <a:ea typeface="Amiri" pitchFamily="2" charset="-78"/>
                <a:cs typeface="Amiri" pitchFamily="2" charset="-78"/>
              </a:rPr>
              <a:t>كِتَابَهُ</a:t>
            </a:r>
            <a:pPr rtl="1" algn="ctr" indent="0" marL="0">
              <a:buNone/>
            </a:pPr>
            <a:r>
              <a:rPr lang="ar-SA" altLang="en-US" sz="2100" b="1" dirty="0">
                <a:solidFill>
                  <a:srgbClr val="1B3B6F"/>
                </a:solidFill>
                <a:latin typeface="Amiri" pitchFamily="2" charset="-78"/>
                <a:ea typeface="Amiri" pitchFamily="2" charset="-78"/>
                <a:cs typeface="Amiri" pitchFamily="2" charset="-78"/>
              </a:rPr>
              <a:t> جَدِيدٌ.</a:t>
            </a:r>
            <a:endParaRPr lang="ar-SA" sz="2100" dirty="0"/>
          </a:p>
        </p:txBody>
      </p:sp>
      <p:sp>
        <p:nvSpPr>
          <p:cNvPr id="47" name="Text 44"/>
          <p:cNvSpPr txBox="1"/>
          <p:nvPr/>
        </p:nvSpPr>
        <p:spPr>
          <a:xfrm>
            <a:off x="2560320" y="5215738"/>
            <a:ext cx="2834640" cy="6821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«كِتَابِي جَدِيدٌ.»</a:t>
            </a:r>
            <a:endParaRPr lang="ar-SA" sz="2100" dirty="0"/>
          </a:p>
        </p:txBody>
      </p:sp>
      <p:sp>
        <p:nvSpPr>
          <p:cNvPr id="48" name="Text 45"/>
          <p:cNvSpPr txBox="1"/>
          <p:nvPr/>
        </p:nvSpPr>
        <p:spPr>
          <a:xfrm>
            <a:off x="5669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boy</a:t>
            </a:r>
            <a:endParaRPr lang="en-US" sz="11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changes too: sa-adrusu (I) → sa-yadrusu (he) · sa-tadrusu (she) · yaḥtājūna (they).</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GRAMMAR FOCUS · PART 3 · KEEP THE TENSE — NO BACK-SHIFT (WEBSITE RULE 4) · DEVELOP</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is easier than English 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الزَّمَنُ لَا يَتَغَيَّرُ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PRESENT STAYS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«أُحِبُّ العُلُومَ»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قَالَ الطَّالِبُ إِنَّهُ يُحِبُّ العُلُومَ.</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student said (that) he loves science.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“loved”.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PAST STAYS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«دَرَسْتُ بِجِدٍّ»</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قَالَتْ إِنَّهَا دَرَسَتْ بِجِدٍّ.</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said she had studied hard.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 past.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STAYS · STRETCH</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«سَأُوَاصِلُ البَحْثَ»</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قَالَتِ البَاحِثَةُ إِنَّهَا سَتُوَاصِلُ البَحْثَ.</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researcher said she would continue the research.</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 stays.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a future statement stays future when it is reported.</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قَالَ إِنَّهُ سَيَدْرُسُ الطِّبَّ</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ea typeface="Amiri" pitchFamily="2" charset="-78"/>
                <a:cs typeface="Amiri" pitchFamily="2" charset="-78"/>
              </a:rPr>
              <a:t>قَالَ إِنَّهُ دَرَسَ الطِّبَّ</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ACCUSATIVE AND THE SOURCE (WEBSITE RULE 2 + VOCABULARY)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Case after the particle — and who said it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النَّصْبُ وَالمَصْدَرُ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a:t>
            </a:r>
            <a:endParaRPr lang="en-US" sz="1100" dirty="0"/>
          </a:p>
        </p:txBody>
      </p:sp>
      <p:sp>
        <p:nvSpPr>
          <p:cNvPr id="17" name="Text 14"/>
          <p:cNvSpPr txBox="1"/>
          <p:nvPr/>
        </p:nvSpPr>
        <p:spPr>
          <a:xfrm>
            <a:off x="272491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80960" y="2267712"/>
            <a:ext cx="395935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قَالَ إِنَّ التَّعْلِيمُ حَقٌّ.</a:t>
            </a:r>
            <a:endParaRPr lang="ar-SA" sz="1900" dirty="0"/>
          </a:p>
        </p:txBody>
      </p:sp>
      <p:sp>
        <p:nvSpPr>
          <p:cNvPr id="21" name="Text 18"/>
          <p:cNvSpPr txBox="1"/>
          <p:nvPr/>
        </p:nvSpPr>
        <p:spPr>
          <a:xfrm>
            <a:off x="2743200" y="2267712"/>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إِنَّ </a:t>
            </a:r>
            <a:pPr rtl="1" algn="ctr" indent="0" marL="0">
              <a:buNone/>
            </a:pPr>
            <a:r>
              <a:rPr lang="ar-SA" altLang="en-US" sz="2000" b="1" dirty="0">
                <a:solidFill>
                  <a:srgbClr val="D6336C"/>
                </a:solidFill>
                <a:latin typeface="Amiri" pitchFamily="2" charset="-78"/>
                <a:ea typeface="Amiri" pitchFamily="2" charset="-78"/>
                <a:cs typeface="Amiri" pitchFamily="2" charset="-78"/>
              </a:rPr>
              <a:t>التَّعْلِيمَ</a:t>
            </a:r>
            <a:pPr rtl="1" algn="ctr" indent="0" marL="0">
              <a:buNone/>
            </a:pPr>
            <a:r>
              <a:rPr lang="ar-SA" altLang="en-US" sz="2000" b="1" dirty="0">
                <a:solidFill>
                  <a:srgbClr val="1B3B6F"/>
                </a:solidFill>
                <a:latin typeface="Amiri" pitchFamily="2" charset="-78"/>
                <a:ea typeface="Amiri" pitchFamily="2" charset="-78"/>
                <a:cs typeface="Amiri" pitchFamily="2" charset="-78"/>
              </a:rPr>
              <a:t> حَقٌّ.</a:t>
            </a:r>
            <a:endParaRPr lang="ar-SA" sz="20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after inna</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80960" y="3004718"/>
            <a:ext cx="395935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ذَكَرَ أَنَّ التَّحْصِيلُ يَتَحَسَّنُ.</a:t>
            </a:r>
            <a:endParaRPr lang="ar-SA" sz="1900" dirty="0"/>
          </a:p>
        </p:txBody>
      </p:sp>
      <p:sp>
        <p:nvSpPr>
          <p:cNvPr id="27" name="Text 24"/>
          <p:cNvSpPr txBox="1"/>
          <p:nvPr/>
        </p:nvSpPr>
        <p:spPr>
          <a:xfrm>
            <a:off x="2743200" y="3004718"/>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ذَكَرَ أَنَّ </a:t>
            </a:r>
            <a:pPr rtl="1" algn="ctr" indent="0" marL="0">
              <a:buNone/>
            </a:pPr>
            <a:r>
              <a:rPr lang="ar-SA" altLang="en-US" sz="2000" b="1" dirty="0">
                <a:solidFill>
                  <a:srgbClr val="D6336C"/>
                </a:solidFill>
                <a:latin typeface="Amiri" pitchFamily="2" charset="-78"/>
                <a:ea typeface="Amiri" pitchFamily="2" charset="-78"/>
                <a:cs typeface="Amiri" pitchFamily="2" charset="-78"/>
              </a:rPr>
              <a:t>التَّحْصِيلَ</a:t>
            </a:r>
            <a:pPr rtl="1" algn="ctr" indent="0" marL="0">
              <a:buNone/>
            </a:pPr>
            <a:r>
              <a:rPr lang="ar-SA" altLang="en-US" sz="2000" b="1" dirty="0">
                <a:solidFill>
                  <a:srgbClr val="1B3B6F"/>
                </a:solidFill>
                <a:latin typeface="Amiri" pitchFamily="2" charset="-78"/>
                <a:ea typeface="Amiri" pitchFamily="2" charset="-78"/>
                <a:cs typeface="Amiri" pitchFamily="2" charset="-78"/>
              </a:rPr>
              <a:t> يَتَحَسَّنُ.</a:t>
            </a:r>
            <a:endParaRPr lang="ar-SA" sz="20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after anna</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80960" y="3741725"/>
            <a:ext cx="395935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أَكَّدَ أَنَّ التَّعْلِيمَ ضَرُورِيًّا.</a:t>
            </a:r>
            <a:endParaRPr lang="ar-SA" sz="1900" dirty="0"/>
          </a:p>
        </p:txBody>
      </p:sp>
      <p:sp>
        <p:nvSpPr>
          <p:cNvPr id="33" name="Text 30"/>
          <p:cNvSpPr txBox="1"/>
          <p:nvPr/>
        </p:nvSpPr>
        <p:spPr>
          <a:xfrm>
            <a:off x="2743200" y="3741725"/>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أَكَّدَ أَنَّ التَّعْلِيمَ </a:t>
            </a:r>
            <a:pPr rtl="1" algn="ctr" indent="0" marL="0">
              <a:buNone/>
            </a:pPr>
            <a:r>
              <a:rPr lang="ar-SA" altLang="en-US" sz="2000" b="1" dirty="0">
                <a:solidFill>
                  <a:srgbClr val="0E7C86"/>
                </a:solidFill>
                <a:latin typeface="Amiri" pitchFamily="2" charset="-78"/>
                <a:ea typeface="Amiri" pitchFamily="2" charset="-78"/>
                <a:cs typeface="Amiri" pitchFamily="2" charset="-78"/>
              </a:rPr>
              <a:t>ضَرُورِيٌّ</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4" name="Text 31"/>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predicate stays -u</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80960" y="4478731"/>
            <a:ext cx="395935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حَسَبَ دِرَاسَةٌ حَدِيثَةٌ …</a:t>
            </a:r>
            <a:endParaRPr lang="ar-SA" sz="1900" dirty="0"/>
          </a:p>
        </p:txBody>
      </p:sp>
      <p:sp>
        <p:nvSpPr>
          <p:cNvPr id="37" name="Text 34"/>
          <p:cNvSpPr txBox="1"/>
          <p:nvPr/>
        </p:nvSpPr>
        <p:spPr>
          <a:xfrm>
            <a:off x="2743200" y="4478731"/>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وَفْقًا لِدِرَاسَةٍ</a:t>
            </a:r>
            <a:pPr rtl="1" algn="ctr" indent="0" marL="0">
              <a:buNone/>
            </a:pPr>
            <a:r>
              <a:rPr lang="ar-SA" altLang="en-US" sz="2000" b="1" dirty="0">
                <a:solidFill>
                  <a:srgbClr val="1B3B6F"/>
                </a:solidFill>
                <a:latin typeface="Amiri" pitchFamily="2" charset="-78"/>
                <a:ea typeface="Amiri" pitchFamily="2" charset="-78"/>
                <a:cs typeface="Amiri" pitchFamily="2" charset="-78"/>
              </a:rPr>
              <a:t> حَدِيثَةٍ، يَتَفَوَّقُ …</a:t>
            </a:r>
            <a:endParaRPr lang="ar-SA" sz="2000" dirty="0"/>
          </a:p>
        </p:txBody>
      </p:sp>
      <p:sp>
        <p:nvSpPr>
          <p:cNvPr id="38" name="Text 35"/>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attribution</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680960" y="5215738"/>
            <a:ext cx="395935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خَلَصَ البَاحِثُونَ أَنَّ …</a:t>
            </a:r>
            <a:endParaRPr lang="ar-SA" sz="1900" dirty="0"/>
          </a:p>
        </p:txBody>
      </p:sp>
      <p:sp>
        <p:nvSpPr>
          <p:cNvPr id="41" name="Text 38"/>
          <p:cNvSpPr txBox="1"/>
          <p:nvPr/>
        </p:nvSpPr>
        <p:spPr>
          <a:xfrm>
            <a:off x="2743200" y="5215738"/>
            <a:ext cx="475488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خَلَصَ</a:t>
            </a:r>
            <a:pPr rtl="1" algn="ctr" indent="0" marL="0">
              <a:buNone/>
            </a:pPr>
            <a:r>
              <a:rPr lang="ar-SA" altLang="en-US" sz="2000" b="1" dirty="0">
                <a:solidFill>
                  <a:srgbClr val="1B3B6F"/>
                </a:solidFill>
                <a:latin typeface="Amiri" pitchFamily="2" charset="-78"/>
                <a:ea typeface="Amiri" pitchFamily="2" charset="-78"/>
                <a:cs typeface="Amiri" pitchFamily="2" charset="-78"/>
              </a:rPr>
              <a:t> البَاحِثُونَ </a:t>
            </a:r>
            <a:pPr rtl="1" algn="ctr" indent="0" marL="0">
              <a:buNone/>
            </a:pPr>
            <a:r>
              <a:rPr lang="ar-SA" altLang="en-US" sz="2000" b="1" dirty="0">
                <a:solidFill>
                  <a:srgbClr val="7B3FA0"/>
                </a:solidFill>
                <a:latin typeface="Amiri" pitchFamily="2" charset="-78"/>
                <a:ea typeface="Amiri" pitchFamily="2" charset="-78"/>
                <a:cs typeface="Amiri" pitchFamily="2" charset="-78"/>
              </a:rPr>
              <a:t>إِلَى 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التِّقْنِيَّةَ أَدَاةٌ.</a:t>
            </a:r>
            <a:endParaRPr lang="ar-SA" sz="2000" dirty="0"/>
          </a:p>
        </p:txBody>
      </p:sp>
      <p:sp>
        <p:nvSpPr>
          <p:cNvPr id="42" name="Text 3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qāla inna al-taʿlīmu ✗ — the noun after the particle is accusative; the predicate stays nominative.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speech in Arabic</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نَقْلُ الكَلَامِ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inna vs anna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qāla inna · (every other verb) anna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إِنَّ التَّعْلِيمَ حَقٌّ   ·   أَكَّدَ أَنَّ المَنَاهِجَ يَجِبُ أَنْ تَتَطَوَّرَ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Accusative after the particle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inna / anna + accusative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ذَكَرَ أَنَّ التَّحْصِيلَ يَتَحَسَّنُ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Pronoun replacement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first person → third person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إِنَّهُ دَرَسَ بِجِدٍّ   ·   قَالَتْ إِنَّهَا سَتَتَخَصَّصُ</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Tense stays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truth present · past past · future future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أَشَارَ إِلَى أَنَّ التَّعْلِيمَ الرَّقْمِيَّ يُوَفِّرُ فُرَصًا   ·   خَلَصَ إِلَى أَنَّ الطُّلَّابَ تَفَوَّقُوا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 ___ التَّعْلِيمَ مُهِمٌّ.</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أَضَافَ ___ المَنَاهِجَ تَتَطَوَّرُ.</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سَأَدْرُسُ الطِّبَّ</a:t>
            </a:r>
            <a:pPr algn="l" indent="0" marL="0">
              <a:buNone/>
            </a:pPr>
            <a:r>
              <a:rPr lang="en-US" sz="1250" b="1" dirty="0">
                <a:solidFill>
                  <a:srgbClr val="1B3B6F"/>
                </a:solidFill>
                <a:latin typeface="Calibri" pitchFamily="34" charset="0"/>
                <a:cs typeface="Amiri" pitchFamily="2" charset="-78"/>
              </a:rPr>
              <a:t>» said by a boy.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دَرَسَ الطِّبَّ.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سَيَدْرُسُ الطِّبَّ.</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أَنَّهُ سَيَدْرُسُ الطِّبَّ.</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دَرَسْتُ بِجِدٍّ</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دَرَسَتْ بِجِدٍّ.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تَدْرُسُ بِجِدٍّ.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أَنَّهَا دَرَسَتْ بِجِدٍّ.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 ___ التَّعْلِيمَ مُهِمٌّ.</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أَضَافَ ___ المَنَاهِجَ تَتَطَوَّرُ.</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Reporting verbs other than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سَأَدْرُسُ الطِّبَّ</a:t>
            </a:r>
            <a:pPr algn="l" indent="0" marL="0">
              <a:buNone/>
            </a:pPr>
            <a:r>
              <a:rPr lang="en-US" sz="1250" b="1" dirty="0">
                <a:solidFill>
                  <a:srgbClr val="1B3B6F"/>
                </a:solidFill>
                <a:latin typeface="Calibri" pitchFamily="34" charset="0"/>
                <a:cs typeface="Amiri" pitchFamily="2" charset="-78"/>
              </a:rPr>
              <a:t>» said by a boy.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إِنَّهُ دَرَسَ الطِّبَّ.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سَيَدْرُسُ الطِّبَّ.</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أَنَّهُ سَيَدْرُسُ الطِّبَّ.</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third-person pronoun, future kept.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دَرَسْتُ بِجِدٍّ</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قَالَتْ إِنَّهَا دَرَسَتْ بِجِدٍّ.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 إِنَّهَا تَدْرُسُ بِجِدٍّ.</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 أَنَّهَا دَرَسَتْ بِجِدٍّ.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stays past;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with the right pronoun.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report a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Source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وَفْقًا لِدِرَاسَةٍ</a:t>
            </a:r>
            <a:pPr rtl="1" algn="ctr" indent="0" marL="0">
              <a:buNone/>
            </a:pPr>
            <a:r>
              <a:rPr lang="ar-SA" altLang="en-US" sz="2800" b="1" dirty="0">
                <a:solidFill>
                  <a:srgbClr val="1B3B6F"/>
                </a:solidFill>
                <a:latin typeface="Amiri" pitchFamily="2" charset="-78"/>
                <a:ea typeface="Amiri" pitchFamily="2" charset="-78"/>
                <a:cs typeface="Amiri" pitchFamily="2" charset="-78"/>
              </a:rPr>
              <a:t> حَدِيثَةٍ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qāla inna</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قَالَ البَاحِثُ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إِنَّ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التِّقْنِيَّةَ تُوَفِّرُ فُرَصًا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inna +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Other verb</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وَأَضَافَ أَنَّ</a:t>
            </a:r>
            <a:pPr rtl="1" algn="ctr" indent="0" marL="0">
              <a:buNone/>
            </a:pPr>
            <a:r>
              <a:rPr lang="ar-SA" altLang="en-US" sz="2200" b="1" dirty="0">
                <a:solidFill>
                  <a:srgbClr val="1B3B6F"/>
                </a:solidFill>
                <a:latin typeface="Amiri" pitchFamily="2" charset="-78"/>
                <a:ea typeface="Amiri" pitchFamily="2" charset="-78"/>
                <a:cs typeface="Amiri" pitchFamily="2" charset="-78"/>
              </a:rPr>
              <a:t> الطُّلَّابَ تَفَوَّقُوا</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anna; past stays.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Pronoun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قَالَتْ </a:t>
            </a:r>
            <a:pPr rtl="1" algn="ctr" indent="0" marL="0">
              <a:buNone/>
            </a:pPr>
            <a:r>
              <a:rPr lang="ar-SA" altLang="en-US" sz="2800" b="1" dirty="0">
                <a:solidFill>
                  <a:srgbClr val="0E7C86"/>
                </a:solidFill>
                <a:latin typeface="Amiri" pitchFamily="2" charset="-78"/>
                <a:ea typeface="Amiri" pitchFamily="2" charset="-78"/>
                <a:cs typeface="Amiri" pitchFamily="2" charset="-78"/>
              </a:rPr>
              <a:t>إِنَّهَا</a:t>
            </a:r>
            <a:pPr rtl="1" algn="ctr" indent="0" marL="0">
              <a:buNone/>
            </a:pPr>
            <a:r>
              <a:rPr lang="ar-SA" altLang="en-US" sz="2800" b="1" dirty="0">
                <a:solidFill>
                  <a:srgbClr val="1B3B6F"/>
                </a:solidFill>
                <a:latin typeface="Amiri" pitchFamily="2" charset="-78"/>
                <a:ea typeface="Amiri" pitchFamily="2" charset="-78"/>
                <a:cs typeface="Amiri" pitchFamily="2" charset="-78"/>
              </a:rPr>
              <a:t> سَتُوَاصِلُ</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 she.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SOURCE</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QĀLA INNA</a:t>
            </a:r>
            <a:endParaRPr lang="en-US" sz="800" dirty="0"/>
          </a:p>
        </p:txBody>
      </p:sp>
      <p:sp>
        <p:nvSpPr>
          <p:cNvPr id="49" name="Shape 45"/>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ANNA</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PRONOUN</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أَجْرَتْ دِرَاسَةٌ حَدِيثَةٌ بَحْثًا حَوْلَ التَّعْلِيمِ الرَّقْمِيِّ. قَالَ البَاحِثُ الرَّئِيسِيُّ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إِنَّ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التِّقْنِيَّةَ تُوَفِّرُ فُرَصًا جَدِيدَةً،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وَأَضَافَ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الطُّلَّابَ الَّذِينَ اسْتَعْمَلُوهَا تَفَوَّقُوا عَلَى أَقْرَانِهِمْ.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وَأَوْضَحَ</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التَّقْرِيرُ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التَّعَلُّمَ عَنْ بُعْدٍ سَيَنْتَشِرُ أَكْثَرَ. وَقَالَتِ البَاحِثَةُ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سَتُوَاصِلُ دِرَاسَةَ المَوْضُوعِ.</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recent study carried out research on digital education. The lead researcher said that technology provides new opportunities, and added that the students who used it outperformed their peers. The report explained that distance learning will spread further. And the (female) researcher said that she would continue studying the topic.</a:t>
            </a:r>
            <a:endParaRPr lang="en-US" sz="105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إِنَّ التَّعْلِيمَ حَقٌّ لِلْجَمِيعِ</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said that education is a right for everyone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إِنَّ only after قَالَ; التَّعْلِيمَ accusative.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قَالَتْ إِنَّهَا سَتَتَخَصَّصُ فِي الطِّبِّ</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said that she will specialise in medicine</a:t>
            </a:r>
            <a:endParaRPr lang="en-US" sz="1250" dirty="0"/>
          </a:p>
          <a:p>
            <a:pPr indent="0" marL="0">
              <a:buNone/>
            </a:pPr>
            <a:r>
              <a:rPr lang="en-US" sz="1050" i="1" dirty="0">
                <a:solidFill>
                  <a:srgbClr val="8A6D1E"/>
                </a:solidFill>
                <a:latin typeface="Calibri" pitchFamily="34" charset="0"/>
                <a:cs typeface="Amiri" pitchFamily="2" charset="-78"/>
              </a:rPr>
              <a:t>Third-person pronoun; future kept.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أَشَارَ الخَبِيرُ إِلَى أَنَّ المَنَاهِجَ تَتَطَوَّرُ</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expert pointed out that curricula are developing</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أَشَارَ إِلَى أَنَّ; accusative noun.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REPORTED SPEECH — WHAT PEOPLE SAY ABOUT EDUCATION”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said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قَالَ 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teacher speaks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student’s future plan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group of students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 الطُّلَّابُ إِنَّهُمْ يَحْتَاجُونَ إِلَى وَقْتٍ.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قَالَتِ المُعَلِّمَةُ إِنَّ الدِّرَاسَةَ مُهِمَّةٌ.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قَالَتِ الطَّالِبَةُ إِنَّهَا سَتَدْرُسُ الطِّبَّ.</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قَالَ 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teacher speaks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قَالَتِ المُعَلِّمَةُ إِنَّ الدِّرَاسَةَ مُهِمَّةٌ.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(female) teacher said that studying is important.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student’s future plan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قَالَتِ الطَّالِبَةُ إِنَّهَا سَتَدْرُسُ الطِّبَّ.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(female) student said that she will study medicine.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group of students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قَالَ الطُّلَّابُ إِنَّهُمْ يَحْتَاجُونَ إِلَى وَقْتٍ.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students said that they need time.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REPORT IT (WEBSITE QUIZ AND GAME ITEMS)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 → reported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اُنْقُلِ الكَلَامَ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574243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Reported speech</a:t>
            </a:r>
            <a:endParaRPr lang="en-US" sz="1100" dirty="0"/>
          </a:p>
        </p:txBody>
      </p:sp>
      <p:sp>
        <p:nvSpPr>
          <p:cNvPr id="18" name="Text 15"/>
          <p:cNvSpPr txBox="1"/>
          <p:nvPr/>
        </p:nvSpPr>
        <p:spPr>
          <a:xfrm>
            <a:off x="24505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Direct speech</a:t>
            </a:r>
            <a:endParaRPr lang="en-US" sz="1100" dirty="0"/>
          </a:p>
        </p:txBody>
      </p:sp>
      <p:sp>
        <p:nvSpPr>
          <p:cNvPr id="19" name="Text 16"/>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inna + hu</a:t>
            </a:r>
            <a:endParaRPr lang="en-US" sz="1100" dirty="0"/>
          </a:p>
        </p:txBody>
      </p:sp>
      <p:sp>
        <p:nvSpPr>
          <p:cNvPr id="22" name="Text 19"/>
          <p:cNvSpPr txBox="1"/>
          <p:nvPr/>
        </p:nvSpPr>
        <p:spPr>
          <a:xfrm>
            <a:off x="5760720" y="2267712"/>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الطَّالِبُ إِنَّهُ يُحِبُّ العُلُومَ.</a:t>
            </a:r>
            <a:endParaRPr lang="ar-SA" sz="2000" dirty="0"/>
          </a:p>
        </p:txBody>
      </p:sp>
      <p:sp>
        <p:nvSpPr>
          <p:cNvPr id="23" name="Text 20"/>
          <p:cNvSpPr txBox="1"/>
          <p:nvPr/>
        </p:nvSpPr>
        <p:spPr>
          <a:xfrm>
            <a:off x="246888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العُلُومَ.»</a:t>
            </a:r>
            <a:endParaRPr lang="ar-SA" sz="2000" dirty="0"/>
          </a:p>
        </p:txBody>
      </p:sp>
      <p:sp>
        <p:nvSpPr>
          <p:cNvPr id="24" name="Text 21"/>
          <p:cNvSpPr txBox="1"/>
          <p:nvPr/>
        </p:nvSpPr>
        <p:spPr>
          <a:xfrm>
            <a:off x="54864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الطَّالِبُ</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stays</a:t>
            </a:r>
            <a:endParaRPr lang="en-US" sz="1100" dirty="0"/>
          </a:p>
        </p:txBody>
      </p:sp>
      <p:sp>
        <p:nvSpPr>
          <p:cNvPr id="29" name="Text 26"/>
          <p:cNvSpPr txBox="1"/>
          <p:nvPr/>
        </p:nvSpPr>
        <p:spPr>
          <a:xfrm>
            <a:off x="5760720" y="3004718"/>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قَالَتِ الطَّالِبَةُ إِنَّهَا دَرَسَتْ بِجِدٍّ.</a:t>
            </a:r>
            <a:endParaRPr lang="ar-SA" sz="2000" dirty="0"/>
          </a:p>
        </p:txBody>
      </p:sp>
      <p:sp>
        <p:nvSpPr>
          <p:cNvPr id="30" name="Text 27"/>
          <p:cNvSpPr txBox="1"/>
          <p:nvPr/>
        </p:nvSpPr>
        <p:spPr>
          <a:xfrm>
            <a:off x="246888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«دَرَسْتُ بِجِدٍّ.»</a:t>
            </a:r>
            <a:endParaRPr lang="ar-SA" sz="2000" dirty="0"/>
          </a:p>
        </p:txBody>
      </p:sp>
      <p:sp>
        <p:nvSpPr>
          <p:cNvPr id="31" name="Text 28"/>
          <p:cNvSpPr txBox="1"/>
          <p:nvPr/>
        </p:nvSpPr>
        <p:spPr>
          <a:xfrm>
            <a:off x="54864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الطَّالِبَةُ</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after inna</a:t>
            </a:r>
            <a:endParaRPr lang="en-US" sz="1100" dirty="0"/>
          </a:p>
        </p:txBody>
      </p:sp>
      <p:sp>
        <p:nvSpPr>
          <p:cNvPr id="36" name="Text 33"/>
          <p:cNvSpPr txBox="1"/>
          <p:nvPr/>
        </p:nvSpPr>
        <p:spPr>
          <a:xfrm>
            <a:off x="5760720" y="3741725"/>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المُعَلِّمُ إِنَّ الامْتِحَانَ غَدًا.</a:t>
            </a:r>
            <a:endParaRPr lang="ar-SA" sz="2000" dirty="0"/>
          </a:p>
        </p:txBody>
      </p:sp>
      <p:sp>
        <p:nvSpPr>
          <p:cNvPr id="37" name="Text 34"/>
          <p:cNvSpPr txBox="1"/>
          <p:nvPr/>
        </p:nvSpPr>
        <p:spPr>
          <a:xfrm>
            <a:off x="246888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«الامْتِحَانُ غَدًا.»</a:t>
            </a:r>
            <a:endParaRPr lang="ar-SA" sz="2000" dirty="0"/>
          </a:p>
        </p:txBody>
      </p:sp>
      <p:sp>
        <p:nvSpPr>
          <p:cNvPr id="38" name="Text 35"/>
          <p:cNvSpPr txBox="1"/>
          <p:nvPr/>
        </p:nvSpPr>
        <p:spPr>
          <a:xfrm>
            <a:off x="54864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المُعَلِّمُ</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a:t>
            </a:r>
            <a:endParaRPr lang="en-US" sz="1100" dirty="0"/>
          </a:p>
        </p:txBody>
      </p:sp>
      <p:sp>
        <p:nvSpPr>
          <p:cNvPr id="41" name="Text 38"/>
          <p:cNvSpPr txBox="1"/>
          <p:nvPr/>
        </p:nvSpPr>
        <p:spPr>
          <a:xfrm>
            <a:off x="5760720" y="4478731"/>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أَكَّدَتِ الخَبِيرَةُ أَنَّ المَنَاهِجَ تَتَطَوَّرُ.</a:t>
            </a:r>
            <a:endParaRPr lang="ar-SA" sz="2000" dirty="0"/>
          </a:p>
        </p:txBody>
      </p:sp>
      <p:sp>
        <p:nvSpPr>
          <p:cNvPr id="42" name="Text 39"/>
          <p:cNvSpPr txBox="1"/>
          <p:nvPr/>
        </p:nvSpPr>
        <p:spPr>
          <a:xfrm>
            <a:off x="246888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«المَنَاهِجُ تَتَطَوَّرُ.»</a:t>
            </a:r>
            <a:endParaRPr lang="ar-SA" sz="2000" dirty="0"/>
          </a:p>
        </p:txBody>
      </p:sp>
      <p:sp>
        <p:nvSpPr>
          <p:cNvPr id="43" name="Text 40"/>
          <p:cNvSpPr txBox="1"/>
          <p:nvPr/>
        </p:nvSpPr>
        <p:spPr>
          <a:xfrm>
            <a:off x="54864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الخَبِيرَةُ</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 + future</a:t>
            </a:r>
            <a:endParaRPr lang="en-US" sz="1100" dirty="0"/>
          </a:p>
        </p:txBody>
      </p:sp>
      <p:sp>
        <p:nvSpPr>
          <p:cNvPr id="46" name="Text 43"/>
          <p:cNvSpPr txBox="1"/>
          <p:nvPr/>
        </p:nvSpPr>
        <p:spPr>
          <a:xfrm>
            <a:off x="5760720" y="5215738"/>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أَوْضَحَ البَاحِثُونَ أَنَّهُمْ سَيُوَاصِلُونَ البَحْثَ.</a:t>
            </a:r>
            <a:endParaRPr lang="ar-SA" sz="2000" dirty="0"/>
          </a:p>
        </p:txBody>
      </p:sp>
      <p:sp>
        <p:nvSpPr>
          <p:cNvPr id="47" name="Text 44"/>
          <p:cNvSpPr txBox="1"/>
          <p:nvPr/>
        </p:nvSpPr>
        <p:spPr>
          <a:xfrm>
            <a:off x="246888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«سَنُوَاصِلُ البَحْثَ.»</a:t>
            </a:r>
            <a:endParaRPr lang="ar-SA" sz="2000" dirty="0"/>
          </a:p>
        </p:txBody>
      </p:sp>
      <p:sp>
        <p:nvSpPr>
          <p:cNvPr id="48" name="Text 45"/>
          <p:cNvSpPr txBox="1"/>
          <p:nvPr/>
        </p:nvSpPr>
        <p:spPr>
          <a:xfrm>
            <a:off x="54864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البَاحِثُونَ</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column 3: say the reported sentence, then check — particle · accusative · pronoun · tense.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inna, anna — or a preposition + anna?</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أَضَافَ</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أَوْضَحَ</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ذَكَرَ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نَفَى</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اِعْتَرَفَ</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خَلَصَ</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Takes إِنَّ</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Takes أَنَّ</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Takes a preposition + أَنَّ</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Takes إِنَّ</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a:t>
            </a:r>
            <a:endParaRPr lang="ar-SA" sz="1800" dirty="0"/>
          </a:p>
        </p:txBody>
      </p:sp>
      <p:sp>
        <p:nvSpPr>
          <p:cNvPr id="20" name="Shape 17"/>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1" name="Shape 18"/>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2" name="Text 19"/>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Takes أَنَّ</a:t>
            </a:r>
            <a:endParaRPr lang="en-US" sz="950" dirty="0"/>
          </a:p>
        </p:txBody>
      </p:sp>
      <p:sp>
        <p:nvSpPr>
          <p:cNvPr id="23" name="Shape 20"/>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4" name="Text 21"/>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أَضَافَ</a:t>
            </a:r>
            <a:endParaRPr lang="ar-SA" sz="1800" dirty="0"/>
          </a:p>
        </p:txBody>
      </p:sp>
      <p:sp>
        <p:nvSpPr>
          <p:cNvPr id="25" name="Shape 22"/>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أَوْضَحَ</a:t>
            </a:r>
            <a:endParaRPr lang="ar-SA" sz="1800" dirty="0"/>
          </a:p>
        </p:txBody>
      </p:sp>
      <p:sp>
        <p:nvSpPr>
          <p:cNvPr id="27" name="Shape 24"/>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a:t>
            </a:r>
            <a:endParaRPr lang="ar-SA" sz="1800" dirty="0"/>
          </a:p>
        </p:txBody>
      </p:sp>
      <p:sp>
        <p:nvSpPr>
          <p:cNvPr id="29" name="Shape 26"/>
          <p:cNvSpPr/>
          <p:nvPr/>
        </p:nvSpPr>
        <p:spPr>
          <a:xfrm>
            <a:off x="4413504" y="3913632"/>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ذَكَرَ</a:t>
            </a:r>
            <a:endParaRPr lang="ar-SA" sz="1800" dirty="0"/>
          </a:p>
        </p:txBody>
      </p:sp>
      <p:sp>
        <p:nvSpPr>
          <p:cNvPr id="31" name="Shape 28"/>
          <p:cNvSpPr/>
          <p:nvPr/>
        </p:nvSpPr>
        <p:spPr>
          <a:xfrm>
            <a:off x="4413504" y="4425696"/>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4425696"/>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نَفَى</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Takes a preposition + أَنَّ</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اِعْتَرَفَ</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خَلَصَ</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أَشَارَ الخَبِيرُ ___ أَنَّ التَّعْلِيمَ يَتَطَوَّرُ.</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case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التَّحْصِيلُ يَتَحَسَّنُ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التَّحْصِيلَ يَتَحَسَّنُ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التَّحْصِيلِ يَتَحَسَّنُ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اعْتَرَفَ ___ أَنَّ النَّتَائِجَ ضَعِيفَةٌ.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 varies its verbs and is accurate?</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أَنَّ التَّعْلِيمَ حَقٌّ وَقَالَ أَنَّهُ يَتَطَوَّرُ.</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التَّعْلِيمُ حَقٌّ وَأَضَافَ إِنَّهُ يَتَطَوَّرُ.</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 التَّعْلِيمَ حَقٌّ، وَأَضَافَ أَنَّهُ يَتَطَوَّرُ.</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أَشَارَ الخَبِيرُ ___ أَنَّ التَّعْلِيمَ يَتَطَوَّرُ.</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case is correct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التَّحْصِيلُ يَتَحَسَّنُ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 التَّحْصِيلَ يَتَحَسَّنُ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التَّحْصِيلِ يَتَحَسَّنُ</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اعْتَرَفَ ___ أَنَّ النَّتَائِجَ ضَعِيفَةٌ.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اِعْتَرَفَ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 varies its verbs and is accurate?</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أَنَّ التَّعْلِيمَ حَقٌّ وَقَالَ أَنَّهُ يَتَطَوَّرُ.</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 التَّعْلِيمُ حَقٌّ وَأَضَافَ إِنَّهُ يَتَطَوَّرُ.</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 التَّعْلِيمَ حَقٌّ، وَأَضَافَ أَنَّهُ يَتَطَوَّرُ.</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أَضَافَ</a:t>
            </a:r>
            <a:pPr algn="l" indent="0" marL="0">
              <a:buNone/>
            </a:pPr>
            <a:r>
              <a:rPr lang="en-US" sz="1050" i="1" dirty="0">
                <a:solidFill>
                  <a:srgbClr val="8A6D1E"/>
                </a:solidFill>
                <a:latin typeface="Calibri" pitchFamily="34" charset="0"/>
                <a:cs typeface="Amiri" pitchFamily="2" charset="-78"/>
              </a:rPr>
              <a:t>, accusative noun, varied verbs.</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أَنَّ التَّعْلِيمَ مُهِمٌّ.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 inna or anna?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إِنَّ التَّعْلِيمُ حَقٌّ.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inna: -u or -a?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إِنَّ سَأَدْرُسُ الطِّبَّ.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 will …” → he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أَنَّ التَّعْلِيمَ مُهِمٌّ.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إِنَّ التَّعْلِيمَ مُهِمٌّ.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a:t>
            </a:r>
            <a:pPr algn="l" indent="0" marL="0">
              <a:buNone/>
            </a:pPr>
            <a:r>
              <a:rPr lang="ar-SA" altLang="en-US" sz="1500" b="1" dirty="0">
                <a:solidFill>
                  <a:srgbClr val="1B3B6F"/>
                </a:solidFill>
                <a:latin typeface="Amiri" pitchFamily="2" charset="-78"/>
                <a:ea typeface="Amiri" pitchFamily="2" charset="-78"/>
                <a:cs typeface="Amiri" pitchFamily="2" charset="-78"/>
              </a:rPr>
              <a:t>قَالَ</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إِنَّ</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إِنَّ التَّعْلِيمُ حَقٌّ.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إِنَّ التَّعْلِيمَ حَقٌّ.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after </a:t>
            </a:r>
            <a:pPr algn="l" indent="0" marL="0">
              <a:buNone/>
            </a:pPr>
            <a:r>
              <a:rPr lang="ar-SA" altLang="en-US" sz="1500" b="1" dirty="0">
                <a:solidFill>
                  <a:srgbClr val="1B3B6F"/>
                </a:solidFill>
                <a:latin typeface="Amiri" pitchFamily="2" charset="-78"/>
                <a:ea typeface="Amiri" pitchFamily="2" charset="-78"/>
                <a:cs typeface="Amiri" pitchFamily="2" charset="-78"/>
              </a:rPr>
              <a:t>إِنَّ</a:t>
            </a:r>
            <a:pPr algn="l" indent="0" marL="0">
              <a:buNone/>
            </a:pPr>
            <a:r>
              <a:rPr lang="en-US" sz="1150" b="1" dirty="0">
                <a:solidFill>
                  <a:srgbClr val="1B3B6F"/>
                </a:solidFill>
                <a:latin typeface="Calibri" pitchFamily="34" charset="0"/>
                <a:cs typeface="Amiri" pitchFamily="2" charset="-78"/>
              </a:rPr>
              <a:t> is accusative.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إِنَّ سَأَدْرُسُ الطِّبَّ.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إِنَّهُ سَيَدْرُسُ الطِّبَّ.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Attach a third-person pronoun and keep the future.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Listening: reporting a research study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researchers conclude?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who use technology outperform their peers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harms learning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Peers are identical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report explain about distance learning?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worse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banned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provides previously unavailable opportunities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experts point out?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Curricula should be frozen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Curricula do not matter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Curricula must develop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one researcher admit?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digital gap is still a problem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problem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solved everything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technology, according to the study?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replacement for teachers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tool, not a substitute for the teacher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Useless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reporting verbs.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أَجْرَتْ دِرَاسَةٌ حَدِيثَةٌ فِي جَامِعَةٍ عَرَبِيَّةٍ بَحْثًا حَوْلَ التَّعْلِيمِ الرَّقْمِيِّ.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recent study at an Arab university carried out research on digital education.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خَلَصَ البَاحِثُونَ إِلَى أَنَّ الطُّلَّابَ الَّذِينَ يَسْتَعْمِلُونَ التِّقْنِيَّةَ يَتَفَوَّقُونَ عَلَى أَقْرَانِهِمْ. وَأَوْضَحَ التَّقْرِيرُ أَنَّ التَّعَلُّمَ عَنْ بُعْدٍ يُوَفِّرُ فُرَصًا لَمْ تَكُنْ مُتَاحَةً سَابِقًا.</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researchers concluded that students who use technology outperform their peers. The report explained that distance learning provides opportunities that were not available before.</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وَأَشَارَ الخُبَرَاءُ إِلَى أَنَّ المَنَاهِجَ يَجِبُ أَنْ تَتَطَوَّرَ لِمُوَاكَبَةِ التَّحَدِّيَاتِ.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experts pointed out that curricula must develop to keep up with the challenges.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لٰكِنَّ أَحَدَ البَاحِثِينَ اعْتَرَفَ بِأَنَّ الفَجْوَةَ الرَّقْمِيَّةَ مَا زَالَتْ مُشْكِلَةً. وَقَالَ إِنَّ الحَلَّ يَبْدَأُ بِتَدْرِيبِ المُعَلِّمِينَ.</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one of the researchers admitted that the digital gap is still a problem. He said that the solution begins with training teachers.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وَفْقًا لِهٰذِهِ الدِّرَاسَةِ، التِّقْنِيَّةُ أَدَاةٌ، وَلَيْسَتْ بَدِيلًا عَنِ المُعَلِّمِ.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According to this study, technology is a tool, not a substitute for the teacher.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researchers conclude?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Students who use technology outperform their peers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harms learning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Peers are identical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خَلَصَ البَاحِثُونَ إِلَى أَنَّ الطُّلَّابَ … يَتَفَوَّقُونَ عَلَى أَقْرَانِهِمْ.</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report explain about distance learning?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worse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banned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provides previously unavailable opportunities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أَوْضَحَ التَّقْرِيرُ أَنَّ التَّعَلُّمَ عَنْ بُعْدٍ يُوَفِّرُ فُرَصًا لَمْ تَكُنْ مُتَاحَةً.</a:t>
            </a:r>
            <a:endParaRPr lang="ar-SA"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experts point out?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Curricula should be frozen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Curricula do not matter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Curricula must develop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أَشَارَ الخُبَرَاءُ إِلَى أَنَّ المَنَاهِجَ يَجِبُ أَنْ تَتَطَوَّرَ.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one researcher admit?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digital gap is still a problem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problem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solved everything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اِعْتَرَفَ بِأَنَّ الفَجْوَةَ الرَّقْمِيَّةَ مَا زَالَتْ مُشْكِلَةً.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technology, according to the study?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replacement for teachers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tool, not a substitute for the teacher</a:t>
            </a:r>
            <a:endParaRPr lang="en-US"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Useless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التِّقْنِيَّةُ أَدَاةٌ، وَلَيْسَتْ بَدِيلًا عَنِ المُعَلِّمِ.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reporting verbs.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Speaking: report a classmate's opinion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اسْمَعْ رَأْيَ زَمِيلِكَ ثُمَّ انْقُلْهُ بِـ«قَالَ إِنَّ».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أَضِفْ نُقْطَةً ثَانِيَةً بِـ«وَأَضَافَ أَنَّ».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اذْكُرْ مَصْدَرًا بِـ«وَفْقًا لِـ».</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قَالَ زَمِيلِي إِنَّ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وَأَضَافَ أَنَّهُ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وَفْقًا لِدِرَاسَةٍ حَدِيثَةٍ،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رَأْيُ زَمِيلِكَ فِي التَّعَلُّمِ عَنْ بُعْدٍ؟</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classmate’s opinion of distance learning?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قَالَ إِنَّهُ يُوَفِّرُ فُرَصًا كَثِيرَةً، وَأَضَافَ أَنَّهُ يَحْتَاجُ إِلَى إِنْتِرْنِتْ جَيِّدٍ.</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He said that it provides many opportunities, and added that it needs good internet.</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quotes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Convert five direct quotes to reported speech with correct </a:t>
            </a:r>
            <a:pPr algn="l" indent="0" marL="0">
              <a:buNone/>
            </a:pPr>
            <a:r>
              <a:rPr lang="ar-SA" altLang="en-US" sz="1800" b="1" dirty="0">
                <a:solidFill>
                  <a:srgbClr val="1F2A37"/>
                </a:solidFill>
                <a:latin typeface="Amiri" pitchFamily="2" charset="-78"/>
                <a:ea typeface="Amiri" pitchFamily="2" charset="-78"/>
                <a:cs typeface="Amiri" pitchFamily="2" charset="-78"/>
              </a:rPr>
              <a:t>إِنَّ /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convert five direct quotes to reported speech with correct inna / anna.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Vary the reporting verbs and add a source with </a:t>
            </a:r>
            <a:pPr algn="l" indent="0" marL="0">
              <a:buNone/>
            </a:pPr>
            <a:r>
              <a:rPr lang="ar-SA" altLang="en-US" sz="1800" b="1" dirty="0">
                <a:solidFill>
                  <a:srgbClr val="1F2A37"/>
                </a:solidFill>
                <a:latin typeface="Amiri" pitchFamily="2" charset="-78"/>
                <a:ea typeface="Amiri" pitchFamily="2" charset="-78"/>
                <a:cs typeface="Amiri" pitchFamily="2" charset="-78"/>
              </a:rPr>
              <a:t>وَفْقًا لِـ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vary the reporting verbs and add a source with wafqan li-.</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research report with a past and a future reported statement.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research report with four reporting verbs, a past and a future reported statement.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وَأَشَارَ الخُبَرَاءُ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experts pointed out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وَاعْتَرَفَ أَحَدُهُمْ بِأَنَّ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them admitted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وَفْقًا لِلدِّرَاسَةِ،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the study,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وَخَلَصَ البَاحِثُونَ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researchers concluded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البَاحِثُ إِنَّ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researcher said that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قَالَتْ إِنَّهَا سَوْفَ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said that she will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وَأَضَافَ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added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وَأَوْضَحَ التَّقْرِيرُ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report explained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التِّقْنِيَّةَ  ·  التَّعَلُّمَ عَنْ بُعْدٍ  ·  المَنَاهِجَ  ·  الطُّلَّابَ  ·  الفَجْوَةَ الرَّقْمِيَّةَ  ·  تُوَفِّرُ فُرَصًا  ·  تَفَوَّقُوا عَلَى أَقْرَانِهِمْ  ·  سَيَنْتَشِرُ  ·  يَجِبُ أَنْ تَتَطَوَّرَ  ·  مَا زَالَتْ مُشْكِلَةً  ·  أَدَاةٌ  ·  بَدِيلٌ عَنِ المُعَلِّمِ</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reporting a research study or a panel on education. Use at least four different reporting verbs, choose </a:t>
            </a:r>
            <a:pPr algn="l" indent="0" marL="0">
              <a:buNone/>
            </a:pPr>
            <a:r>
              <a:rPr lang="ar-SA" altLang="en-US" sz="1750" b="1" dirty="0">
                <a:solidFill>
                  <a:srgbClr val="1F2A37"/>
                </a:solidFill>
                <a:latin typeface="Amiri" pitchFamily="2" charset="-78"/>
                <a:ea typeface="Amiri" pitchFamily="2" charset="-78"/>
                <a:cs typeface="Amiri" pitchFamily="2" charset="-78"/>
              </a:rPr>
              <a:t>إِنَّ</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ea typeface="Amiri" pitchFamily="2" charset="-78"/>
                <a:cs typeface="Amiri" pitchFamily="2" charset="-78"/>
              </a:rPr>
              <a:t>أَنَّ</a:t>
            </a:r>
            <a:pPr algn="l" indent="0" marL="0">
              <a:buNone/>
            </a:pPr>
            <a:r>
              <a:rPr lang="en-US" sz="1350" b="1" dirty="0">
                <a:solidFill>
                  <a:srgbClr val="1F2A37"/>
                </a:solidFill>
                <a:latin typeface="Calibri" pitchFamily="34" charset="0"/>
                <a:cs typeface="Amiri" pitchFamily="2" charset="-78"/>
              </a:rPr>
              <a:t> correctly, replace pronouns, and include one past and one future reported statement.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إِنَّ</a:t>
            </a:r>
            <a:pPr algn="l" indent="0" marL="0">
              <a:buNone/>
            </a:pPr>
            <a:r>
              <a:rPr lang="en-US" sz="1200" dirty="0">
                <a:solidFill>
                  <a:srgbClr val="1F2A37"/>
                </a:solidFill>
                <a:latin typeface="Calibri" pitchFamily="34" charset="0"/>
                <a:cs typeface="Amiri" pitchFamily="2" charset="-78"/>
              </a:rPr>
              <a:t> only after </a:t>
            </a:r>
            <a:pPr algn="l" indent="0" marL="0">
              <a:buNone/>
            </a:pPr>
            <a:r>
              <a:rPr lang="ar-SA" altLang="en-US" sz="1550" dirty="0">
                <a:solidFill>
                  <a:srgbClr val="1F2A37"/>
                </a:solidFill>
                <a:latin typeface="Amiri" pitchFamily="2" charset="-78"/>
                <a:ea typeface="Amiri" pitchFamily="2" charset="-78"/>
                <a:cs typeface="Amiri" pitchFamily="2" charset="-78"/>
              </a:rPr>
              <a:t>قَالَ</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أَنَّ</a:t>
            </a:r>
            <a:pPr algn="l" indent="0" marL="0">
              <a:buNone/>
            </a:pPr>
            <a:r>
              <a:rPr lang="en-US" sz="1200" dirty="0">
                <a:solidFill>
                  <a:srgbClr val="1F2A37"/>
                </a:solidFill>
                <a:latin typeface="Calibri" pitchFamily="34" charset="0"/>
                <a:cs typeface="Amiri" pitchFamily="2" charset="-78"/>
              </a:rPr>
              <a:t> after the other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noun after the particle is accusative.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Third-person pronouns replace first-person ones.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reported past statement and one reported future statement.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أَجْرَتْ دِرَاسَةٌ حَدِيثَةٌ بَحْثًا حَوْلَ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recent study carried out research on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تَفَوَّقُوا عَلَى أَقْرَانِهِمْ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outperformed their peers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سَيَنْتَشِرُ أَكْثَرَ فِي المُسْتَقْبَلِ</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will spread further in the future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زَالَتْ مَوْجُودَةً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still exists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أَدَاةٌ لَا بَدِيلٌ عَنِ المُعَلِّمِ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tool, not a substitute for the teacher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أَجْرَتْ دِرَاسَةٌ حَدِيثَةٌ بَحْثًا حَوْلَ التَّعْلِيمِ الرَّقْمِيِّ. قَالَ البَاحِثُ الرَّئِيسِيُّ إِنَّ التِّقْنِيَّةَ تُوَفِّرُ فُرَصًا جَدِيدَةً، وَأَضَافَ أَنَّ الطُّلَّابَ الَّذِينَ اسْتَعْمَلُوهَا تَفَوَّقُوا عَلَى أَقْرَانِهِمْ. وَأَوْضَحَ التَّقْرِيرُ أَنَّ التَّعَلُّمَ عَنْ بُعْدٍ سَيَنْتَشِرُ أَكْثَرَ فِي المُسْتَقْبَلِ. وَأَشَارَ الخُبَرَاءُ إِلَى أَنَّ المَنَاهِجَ يَجِبُ أَنْ تَتَطَوَّرَ، بَيْنَمَا اعْتَرَفَ أَحَدُهُمْ بِأَنَّ الفَجْوَةَ الرَّقْمِيَّةَ مَا زَالَتْ مَوْجُودَةً. وَفْقًا لِلدِّرَاسَةِ، خَلَصَ البَاحِثُونَ إِلَى أَنَّ التِّقْنِيَّةَ أَدَاةٌ لَا بَدِيلٌ عَنِ المُعَلِّمِ. وَقَالَتِ البَاحِثَةُ إِنَّهَا سَتُوَاصِلُ دِرَاسَةَ المَوْضُوعِ.</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 recent study carried out research on digital education. The lead researcher said that technology provides new opportunities, and added that the students who used it outperformed their peers. The report explained that distance learning will spread further in the future. The experts pointed out that curricula must develop, while one of them admitted that the digital gap still exists. According to the study, the researchers concluded that technology is a tool, not a substitute for the teacher. And the (female) researcher said that she would continue studying the topic.</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qāla inna + an accusative noun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other reporting verbs with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reported past and a reported future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pronoun switch (innahā)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inna only after qāla / qālat; anna after the other verbs.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right after the particle ends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switched “I / we” to he / she / they (innahu · innahā · innahum).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the tense (no back-shift).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reporting verbs and named a source.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أَوْضَحَ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المَنَاهِجَ تَتَطَوَّرُ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سَأَتَخَصَّصُ فِي الطِّبِّ</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سَتَتَخَصَّصُ فِي الطِّبِّ.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أَنَّهَا سَتَتَخَصَّصُ فِي الطِّبِّ.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تَخَصَّصَتْ فِي الطِّبِّ.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حَقٌّ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بِأَنَّ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أَوْضَحَ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المَنَاهِجَ تَتَطَوَّرُ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Reporting verbs other than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سَأَتَخَصَّصُ فِي الطِّبِّ</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قَالَتْ إِنَّهَا سَتَتَخَصَّصُ فِي الطِّبِّ.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قَالَتْ أَنَّهَا سَتَتَخَصَّصُ فِي الطِّبِّ.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قَالَتْ إِنَّهَا تَخَصَّصَتْ فِي الطِّبِّ.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 after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third-person pronoun, future kept.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what the experts said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00" dirty="0">
                <a:solidFill>
                  <a:srgbClr val="1F2A37"/>
                </a:solidFill>
                <a:latin typeface="Amiri" pitchFamily="2" charset="-78"/>
                <a:ea typeface="Amiri" pitchFamily="2" charset="-78"/>
                <a:cs typeface="Amiri" pitchFamily="2" charset="-78"/>
              </a:rPr>
              <a:t>فِي مُؤْتَمَرٍ عَنِ التَّعْلِيمِ، تَحَدَّثَ ثَلَاثَةُ خُبَرَاءَ. قَالَ الأَوَّلُ إِنَّ التَّعْلِيمَ الجَيِّدَ يَبْدَأُ بِالمُعَلِّمِ، وَأَضَافَ أَنَّ التِّقْنِيَّةَ وَحْدَهَا لَا تَكْفِي. أَمَّا الثَّانِيَةُ فَأَكَّدَتْ أَنَّ التَّعَلُّمَ عَنْ بُعْدٍ يُوَفِّرُ فُرَصًا لِمَنْ يَعِيشُونَ بَعِيدًا عَنِ المَدَارِسِ. وَأَشَارَتْ إِلَى أَنَّ الفَجْوَةَ الرَّقْمِيَّةَ تَحْتَاجُ إِلَى حَلٍّ. وَنَفَى الثَّالِثُ أَنَّ الامْتِحَانَاتِ وَحْدَهَا تَقِيسُ الذَّكَاءَ، وَذَكَرَ أَنَّ المَهَارَاتِ العَمَلِيَّةَ لَا تَقِلُّ أَهَمِّيَّةً. وَفْقًا لِلْخُبَرَاءِ الثَّلَاثَةِ، التَّعْلِيمُ الجَيِّدُ يُوَازِنُ بَيْنَ المُعَلِّمِ وَالتِّقْنِيَّةِ وَالمَهَارَةِ.</a:t>
            </a:r>
            <a:endParaRPr lang="ar-SA" sz="25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مُؤْتَمَرٍ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conference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تَحَدَّثَ</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spoke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وَحْدَهَا لَا تَكْفِي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alone is not enough</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لِمَنْ يَعِيشُونَ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those who live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الفَجْوَةَ الرَّقْمِيَّةَ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digital gap</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تَقِيسُ</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measure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الذَّكَاءَ</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intelligence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المَهَارَاتِ العَمَلِيَّةَ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practical skills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تَقِلُّ أَهَمِّيَّةً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no less important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يُوَازِنُ بَيْنَ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balances between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first expert say?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alone is enough</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education begins with the teacher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Teachers are unnecessary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first expert add?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should be banned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Teachers should be replaced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alone is not enough</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second expert stress about distance learning?</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provides opportunities for those far from schools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useless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only for cities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third expert deny?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skills matter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exams alone measure intelligence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teachers exist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shared conclusion?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education balances teacher, technology and skill</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technology matters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exams matter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first expert say?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alone is enough</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Good education begins with the teacher</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Teachers are unnecessary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الأَوَّلُ إِنَّ التَّعْلِيمَ الجَيِّدَ يَبْدَأُ بِالمُعَلِّمِ.</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first expert add?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should be banned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Teachers should be replaced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Technology alone is not enough</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وَأَضَافَ أَنَّ التِّقْنِيَّةَ وَحْدَهَا لَا تَكْفِي.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second expert stress about distance learning?</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provides opportunities for those far from schools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useless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only for cities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أَكَّدَتْ أَنَّ التَّعَلُّمَ عَنْ بُعْدٍ يُوَفِّرُ فُرَصًا لِمَنْ يَعِيشُونَ بَعِيدًا.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third expert deny?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skills matter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exams alone measure intelligence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teachers exist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وَنَفَى الثَّالِثُ أَنَّ الامْتِحَانَاتِ وَحْدَهَا تَقِيسُ الذَّكَاءَ.</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shared conclusion?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Good education balances teacher, technology and skill</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technology matters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exams matter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التَّعْلِيمُ الجَيِّدُ يُوَازِنُ بَيْنَ المُعَلِّمِ وَالتِّقْنِيَّةِ وَالمَهَارَةِ.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Reported Speech Mission — </a:t>
            </a:r>
            <a:pPr algn="l" indent="0" marL="0">
              <a:buNone/>
            </a:pPr>
            <a:r>
              <a:rPr lang="ar-SA" altLang="en-US" sz="2300" b="1" dirty="0">
                <a:solidFill>
                  <a:srgbClr val="1B3B6F"/>
                </a:solidFill>
                <a:latin typeface="Amiri" pitchFamily="2" charset="-78"/>
                <a:ea typeface="Amiri" pitchFamily="2" charset="-78"/>
                <a:cs typeface="Amiri" pitchFamily="2" charset="-78"/>
              </a:rPr>
              <a:t>إِنَّ</a:t>
            </a:r>
            <a:pPr algn="l" indent="0" marL="0">
              <a:buNone/>
            </a:pPr>
            <a:r>
              <a:rPr lang="en-US" sz="1750" b="1" dirty="0">
                <a:solidFill>
                  <a:srgbClr val="1B3B6F"/>
                </a:solidFill>
                <a:latin typeface="Cambria" pitchFamily="34" charset="0"/>
                <a:cs typeface="Amiri" pitchFamily="2" charset="-78"/>
              </a:rPr>
              <a:t>, </a:t>
            </a:r>
            <a:pPr algn="l" indent="0" marL="0">
              <a:buNone/>
            </a:pPr>
            <a:r>
              <a:rPr lang="ar-SA" altLang="en-US" sz="2300" b="1" dirty="0">
                <a:solidFill>
                  <a:srgbClr val="1B3B6F"/>
                </a:solidFill>
                <a:latin typeface="Amiri" pitchFamily="2" charset="-78"/>
                <a:ea typeface="Amiri" pitchFamily="2" charset="-78"/>
                <a:cs typeface="Amiri" pitchFamily="2" charset="-78"/>
              </a:rPr>
              <a:t>أَنَّ</a:t>
            </a:r>
            <a:pPr algn="l" indent="0" marL="0">
              <a:buNone/>
            </a:pPr>
            <a:r>
              <a:rPr lang="en-US" sz="1750" b="1" dirty="0">
                <a:solidFill>
                  <a:srgbClr val="1B3B6F"/>
                </a:solidFill>
                <a:latin typeface="Cambria" pitchFamily="34" charset="0"/>
                <a:cs typeface="Amiri" pitchFamily="2" charset="-78"/>
              </a:rPr>
              <a:t>, Pronoun and Tense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مُهِمٌّ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أَكَّدَ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النَّتَائِجَ جَيِّدَةٌ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التَّحْصِيلُ</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التَّحْصِيلِ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التَّحْصِيلَ</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report «</a:t>
            </a:r>
            <a:pPr algn="l" indent="0" marL="0">
              <a:buNone/>
            </a:pPr>
            <a:r>
              <a:rPr lang="ar-SA" altLang="en-US" sz="1650" b="1" dirty="0">
                <a:solidFill>
                  <a:srgbClr val="1B3B6F"/>
                </a:solidFill>
                <a:latin typeface="Amiri" pitchFamily="2" charset="-78"/>
                <a:ea typeface="Amiri" pitchFamily="2" charset="-78"/>
                <a:cs typeface="Amiri" pitchFamily="2" charset="-78"/>
              </a:rPr>
              <a:t>دَرَسْتُ</a:t>
            </a:r>
            <a:pPr algn="l" indent="0" marL="0">
              <a:buNone/>
            </a:pPr>
            <a:r>
              <a:rPr lang="en-US" sz="1250" b="1" dirty="0">
                <a:solidFill>
                  <a:srgbClr val="1B3B6F"/>
                </a:solidFill>
                <a:latin typeface="Calibri" pitchFamily="34" charset="0"/>
                <a:cs typeface="Amiri" pitchFamily="2" charset="-78"/>
              </a:rPr>
              <a:t>» said by a boy.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إِنَّهَا دَرَسَتْ</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إِنِّي دَرَسْتُ</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دَرَسَ</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report «</a:t>
            </a:r>
            <a:pPr algn="l" indent="0" marL="0">
              <a:buNone/>
            </a:pPr>
            <a:r>
              <a:rPr lang="ar-SA" altLang="en-US" sz="1650" b="1" dirty="0">
                <a:solidFill>
                  <a:srgbClr val="1B3B6F"/>
                </a:solidFill>
                <a:latin typeface="Amiri" pitchFamily="2" charset="-78"/>
                <a:ea typeface="Amiri" pitchFamily="2" charset="-78"/>
                <a:cs typeface="Amiri" pitchFamily="2" charset="-78"/>
              </a:rPr>
              <a:t>سَأَنْجَحُ</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سَتَنْجَحُ</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نَجَحَتْ</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تَنْجَحُ أَمْسِ</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أَشَارَ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مُهِمٌّ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Particle: complete — </a:t>
            </a:r>
            <a:pPr algn="l" indent="0" marL="0">
              <a:buNone/>
            </a:pPr>
            <a:r>
              <a:rPr lang="ar-SA" altLang="en-US" sz="1650" b="1" dirty="0">
                <a:solidFill>
                  <a:srgbClr val="1B3B6F"/>
                </a:solidFill>
                <a:latin typeface="Amiri" pitchFamily="2" charset="-78"/>
                <a:ea typeface="Amiri" pitchFamily="2" charset="-78"/>
                <a:cs typeface="Amiri" pitchFamily="2" charset="-78"/>
              </a:rPr>
              <a:t>أَكَّدَ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النَّتَائِجَ جَيِّدَةٌ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Verbs other than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التَّحْصِيلُ</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التَّحْصِيلِ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التَّحْصِيلَ</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report «</a:t>
            </a:r>
            <a:pPr algn="l" indent="0" marL="0">
              <a:buNone/>
            </a:pPr>
            <a:r>
              <a:rPr lang="ar-SA" altLang="en-US" sz="1650" b="1" dirty="0">
                <a:solidFill>
                  <a:srgbClr val="1B3B6F"/>
                </a:solidFill>
                <a:latin typeface="Amiri" pitchFamily="2" charset="-78"/>
                <a:ea typeface="Amiri" pitchFamily="2" charset="-78"/>
                <a:cs typeface="Amiri" pitchFamily="2" charset="-78"/>
              </a:rPr>
              <a:t>دَرَسْتُ</a:t>
            </a:r>
            <a:pPr algn="l" indent="0" marL="0">
              <a:buNone/>
            </a:pPr>
            <a:r>
              <a:rPr lang="en-US" sz="1250" b="1" dirty="0">
                <a:solidFill>
                  <a:srgbClr val="1B3B6F"/>
                </a:solidFill>
                <a:latin typeface="Calibri" pitchFamily="34" charset="0"/>
                <a:cs typeface="Amiri" pitchFamily="2" charset="-78"/>
              </a:rPr>
              <a:t>» said by a boy.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إِنَّهَا دَرَسَتْ</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إِنِّي دَرَسْتُ</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دَرَسَ</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 third-person pronoun: </a:t>
            </a:r>
            <a:pPr algn="l" indent="0" marL="0">
              <a:buNone/>
            </a:pPr>
            <a:r>
              <a:rPr lang="ar-SA" altLang="en-US" sz="1350" dirty="0">
                <a:solidFill>
                  <a:srgbClr val="8A6D1E"/>
                </a:solidFill>
                <a:latin typeface="Amiri" pitchFamily="2" charset="-78"/>
                <a:ea typeface="Amiri" pitchFamily="2" charset="-78"/>
                <a:cs typeface="Amiri" pitchFamily="2" charset="-78"/>
              </a:rPr>
              <a:t>إِنَّهُ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report «</a:t>
            </a:r>
            <a:pPr algn="l" indent="0" marL="0">
              <a:buNone/>
            </a:pPr>
            <a:r>
              <a:rPr lang="ar-SA" altLang="en-US" sz="1650" b="1" dirty="0">
                <a:solidFill>
                  <a:srgbClr val="1B3B6F"/>
                </a:solidFill>
                <a:latin typeface="Amiri" pitchFamily="2" charset="-78"/>
                <a:ea typeface="Amiri" pitchFamily="2" charset="-78"/>
                <a:cs typeface="Amiri" pitchFamily="2" charset="-78"/>
              </a:rPr>
              <a:t>سَأَنْجَحُ</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قَالَتْ إِنَّهَا سَتَنْجَحُ</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 إِنَّهَا نَجَحَتْ</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 إِنَّهَا تَنْجَحُ أَمْسِ</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Keep the future: </a:t>
            </a:r>
            <a:pPr algn="l" indent="0" marL="0">
              <a:buNone/>
            </a:pPr>
            <a:r>
              <a:rPr lang="ar-SA" altLang="en-US" sz="1350" dirty="0">
                <a:solidFill>
                  <a:srgbClr val="8A6D1E"/>
                </a:solidFill>
                <a:latin typeface="Amiri" pitchFamily="2" charset="-78"/>
                <a:ea typeface="Amiri" pitchFamily="2" charset="-78"/>
                <a:cs typeface="Amiri" pitchFamily="2" charset="-78"/>
              </a:rPr>
              <a:t>سَتَنْجَحُ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أَشَارَ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P2-L02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P2-L03 · University Life and Higher Education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حَرَمٌ جَامِعِيٌّ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university campus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faculty, college</a:t>
            </a:r>
            <a:pPr indent="0" marL="0">
              <a:buNone/>
            </a:pPr>
            <a:r>
              <a:rPr lang="ar-SA" sz="1000" i="1" dirty="0">
                <a:solidFill>
                  <a:srgbClr val="5A6472"/>
                </a:solidFill>
                <a:latin typeface="Calibri" pitchFamily="34" charset="0"/>
                <a:ea typeface="Amiri" pitchFamily="2" charset="-78"/>
                <a:cs typeface="Amiri" pitchFamily="2" charset="-78"/>
              </a:rPr>
              <a:t>  pl. كُلِّيَّاتٌ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مُحَاضَرَةٌ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lecture</a:t>
            </a:r>
            <a:pPr indent="0" marL="0">
              <a:buNone/>
            </a:pPr>
            <a:r>
              <a:rPr lang="ar-SA" sz="1000" i="1" dirty="0">
                <a:solidFill>
                  <a:srgbClr val="5A6472"/>
                </a:solidFill>
                <a:latin typeface="Calibri" pitchFamily="34" charset="0"/>
                <a:ea typeface="Amiri" pitchFamily="2" charset="-78"/>
                <a:cs typeface="Amiri" pitchFamily="2" charset="-78"/>
              </a:rPr>
              <a:t>  pl. مُحَاضَرَاتٌ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مِنْحَةٌ دِرَاسِيَّةٌ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scholarship</a:t>
            </a:r>
            <a:pPr indent="0" marL="0">
              <a:buNone/>
            </a:pPr>
            <a:r>
              <a:rPr lang="ar-SA" sz="1000" i="1" dirty="0">
                <a:solidFill>
                  <a:srgbClr val="5A6472"/>
                </a:solidFill>
                <a:latin typeface="Calibri" pitchFamily="34" charset="0"/>
                <a:ea typeface="Amiri" pitchFamily="2" charset="-78"/>
                <a:cs typeface="Amiri" pitchFamily="2" charset="-78"/>
              </a:rPr>
              <a:t>  pl. مِنَحٌ</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رُسُومٌ دِرَاسِيَّةٌ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tuition fees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Ask an older relative or friend what university life is like — then report one thing they said.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قَالَ لِي ______ إِنَّ الحَيَاةَ الجَامِعِيَّةَ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reporting verbs with inna / anna; convert five direct quotes.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report of a classmate’s opinion with three reporting verbs and a source.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90–100-word research report with a past and a future reported statement.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P2-L03 · University Life and Higher Education</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الحَيَاةُ الجَامِعِيَّةُ وَالتَّعْلِيمُ العَالِي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qāla INNA — every other reporting verb ANNA (ashāra ilā anna · iʿtarafa bi-anna) — the next noun takes -a — “I” becomes innahu / innahā / innahum — and the tense stays as it was.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P2-L02 · Reported Speech — What People Say About Education</dc:title>
  <dc:subject>PptxGenJS Presentation</dc:subject>
  <dc:creator>Al Madina Online School · Arabic Department</dc:creator>
  <cp:lastModifiedBy>Al Madina Online School · Arabic Department</cp:lastModifiedBy>
  <cp:revision>1</cp:revision>
  <dcterms:created xsi:type="dcterms:W3CDTF">2026-10-11T06:43:00Z</dcterms:created>
  <dcterms:modified xsi:type="dcterms:W3CDTF">2026-10-11T06:43:00Z</dcterms:modified>
</cp:coreProperties>
</file>