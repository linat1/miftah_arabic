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P2-L07. The website lesson “Education in the Arab World — History and Change”: vocabulary, grammar rules and quiz, patterns, common mistakes, sorter, listening, reading, speaking prompts and model, writing task and model, differentiation, final check and the lesson mission. Picture match: website visual game “Education in the Arab World — History and Change”.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history sentences, choosing the right tense for each period. Develop: add a reported-speech citation of historians. Stretch: the website 100–110-word analysis with past perfect, simple past, present, a citation and both conditionals.
• Make the timeline visible: draw one line on the board — 9th century (kāna qad) → invasions / colonialism (past) → independence (past) → today (present) → the future (idhā … sa-). Every sentence students say goes on the line.
• Islamic link: the first revealed word was «اقْرَأْ». Fāṭima al-Fihriyya founded al-Qarawiyyīn in Fez in 859 CE — often described as the oldest university still operating; the House of Wisdom flourished in Abbasid Baghdad in the 9th century.
• Be balanced and accurate: celebrate the heritage without dismissing other civilisations, and present today’s challenges (illiteracy, conflict zones) with care — some students may have family links to affected countries.
• Grammar links: past perfect (P2-L03) · reported speech (P2-L02) · Type 2 conditional (P2-L06) · Type 1 conditional (P1-L03).
• TEACHER-WRITTEN ITEMS: waṣl alif shown without a kasra (الاسْتِقْلَالِ · الاسْتِعْمَارُ); ابْنَ رُشْدٍ with tanwīn; rule formulas in transliteration; kāna qad agreement table, “today” cards and conditional pairs are teacher-built from the website texts (Fāṭima al-Fihriyya added); the website visual game repeats the P2-L01 / P2-L03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P2-L06. Question 4 retrieves the Type 2 conditional (P2-L06) and question 5 the past perfect (P2-L03) — today both return inside one historical text.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Move the tense with the timeline: Golden Age → past perfect · decline → past · today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مدرسہ, عالم / علماء, ترجمہ, اصلاح, استعمار and حق are all shared. Note: Urdu often uses مدرسہ for a religious school; in Arabic مَدْرَسَةٌ is any school — المَدْرَسَةُ القُرْآنِيَّةُ is the Quranic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Heritage and the Golden Age (website vocabulary (1 of 2)). Hear → Say → See → Use. Transliteration is printed for Core students (cover it for Develop/Stretch).
Heritage and the Golden Age: دَارُ الحِكْمَةِ (the House of Wisdom) was in Abbasid Baghdad; التَّرْجَمَةُ (translation) of Greek, Persian and Indian works fed the الازْدِهَارُ العِلْمِيُّ.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Heritage and the Golden Age (website vocabulary (2 of 2)). Hear → Say → See → Use. Transliteration is printed for Core students (cover it for Develop/Stretch).
Heritage and the Golden Age: دَارُ الحِكْمَةِ (the House of Wisdom) was in Abbasid Baghdad; التَّرْجَمَةُ (translation) of Greek, Persian and Indian works fed the الازْدِهَارُ العِلْمِيُّ.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Change and challenge (website vocabulary (1 of 2)). Hear → Say → See → Use. Transliteration is printed for Core students (cover it for Develop/Stretch).
Change and challenge: the language of today — reform, illiteracy rates, the right to education, women’s education, curriculum modernisation.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Change and challenge (website vocabulary (2 of 2)). Hear → Say → See → Use. Transliteration is printed for Core students (cover it for Develop/Stretch).
FLEX: teach if time allows; otherwise these are on the website vocabulary tab for homework.
Change and challenge: the language of today — reform, illiteracy rates, the right to education, women’s education, curriculum modernisation.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History verbs (website vocabulary (1 of 2)). Hear → Say → See → Use. Transliteration is printed for Core students (cover it for Develop/Stretch).
FLEX: teach if time allows; otherwise these are on the website vocabulary tab for homework.
History verbs: mostly PAST forms (he · she · they) for the story; يَشْهَدُ and يَمُرُّ بِـ are present, for today. يَمُرُّ is fixed with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History verbs (website vocabulary (2 of 2)). Hear → Say → See → Use. Transliteration is printed for Core students (cover it for Develop/Stretch).
FLEX: teach if time allows; otherwise these are on the website vocabulary tab for homework.
History verbs: mostly PAST forms (he · she · they) for the story; يَشْهَدُ and يَمُرُّ بِـ are present, for today. يَمُرُّ is fixed with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1–3, the website table (Golden Age → past perfect · Decline → simple past · Today → present) and teaching point “Move the tense as the timeline advances”.
Website mistake 1: يُؤَسِّسُ العَرَبُ نِظَامًا … فِي العَصْرِ الذَّهَبِيِّ ✗ → كَانَ العَرَبُ قَدْ أَسَّسُوا.
Why past perfect for the Golden Age? It happened BEFORE a later past point (before European universities existed · before the decline) — the website pattern: بِحُلُولِ القَرْنِ التَّاسِعِ، كَانَ العَرَبُ قَدْ طَوَّرُوا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kāna qad with different subjects, from the website listening (كَانَ العَرَبُ قَدْ أَسَّسُوا · كَانَتْ دَارُ الحِكْمَةِ قَدِ اسْتَقْطَبَتْ · ابْنَ رُشْدٍ كَانَ قَدْ كَتَبَ), reading (كَانَتِ المُدُنُ … قَدِ اسْتَقْطَبَتْ) and model (كَانُوا قَدْ تَرْجَمُوا).
Row 2 (teacher addition, historically accurate): Fāṭima al-Fihriyya founded al-Qarawiyyīn in Fez in 859 CE.
Website quiz 4 and mission round 4: كَانَتْ دَارُ الحِكْمَةِ قَدِ اسْتَقْطَبَتْ — qad becomes qadi before a waṣl alif; the verb agrees with the feminine subject.
Row 4 is the subtle one: kāna comes BEFORE al-ʿarab, so it stays singular; assasū comes AFTER al-ʿarab, so it is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“Present: today’s challenges” (يَشْهَدُ · يَمُرُّ بِـ) with its examples; card 3 from the website listening and model (تُعَانِي … مِنْ مُعَدَّلَاتِ أُمِّيَّةٍ مُرْتَفِعَةٍ — يُعَانِي مِنْ from P1-L04).
Feminine subjects: تَمُرُّ مَنَاطِقُ (non-human plural → she) · تُعَانِي بَعْضُ الدُّوَلِ (agrees with الدُّوَل).
Past of the same verb for history: مَرَّ التَّعْلِيمُ بِفَتَرَاتِ ضَعْفٍ (website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“Analysis with both conditionals”: counterfactual for the past, real proposal for the future. Row 1 = the website rule examples; row 2 from the website reading; row 3 left from the website listening (passive اسْتُثْمِرَ = “it was invested”); row 3 right is teacher-built.
Website mistake 3: لَوِ اسْتَثْمَرَ … سَيَكُونُ ✗ → لَكَانَ.
لَوِ before a waṣl alif (لَوِ اسْتَثْمَرَ · لَوِ اسْتُثْمِرَ) — the helping kasra from P2-L06.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“Past perfect for the earliest achievements, simple past for later events, present for today, and both conditional types for analysis.”
• Past perfect: the earliest layer: Achievements completed before a later past point.
• Simple past: later events: Straight past for events that follow.
• Present: today’s challenges: Present tense for current reality, often with statistics.
• Analysis with both conditionals: Counterfactual for the past, real proposal for the future.
Website common error: Using the present for a Golden-Age achievement, or the past perfect for today's challenges. Match the tense to the period, and keep يَمُرُّ with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while pointing at the board timeline: “Earliest layer: kānat … qadi staqṭabat — feminine, qadi before waṣl. Cite: ashāra … ilā anna. Move forward: inḥaṭṭa (simple past). Today: yashhadu (present). Analyse: law + past, la-kāna.”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historical analysis from a past-perfect achievement, a present challenge and a counterfactual.” Website feedback: any three different combinations work.
Core: read row 1 across. Develop: mix rows and name each tense. Stretch: the website challenge — write your own three-part line (past-perfect achievement · present challenge · counterfactual with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each verb in a sentence on the class timeline: كَانَ العُلَمَاءُ قَدْ تَرْجَمُوا … · ازْدَهَرَتِ العُلُومُ فِي … · يُوَاجِهُ التَّعْلِيمُ اليَوْمَ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each verb in a sentence on the class timeline: كَانَ العُلَمَاءُ قَدْ تَرْجَمُوا … · ازْدَهَرَتِ العُلُومُ فِي … · يُوَاجِهُ التَّعْلِيمُ اليَوْمَ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note the tense of every verb you hear, in order.
Listen 1: just listen. Listen 2: note answers. Then chat the letters.
Support: after the second listening, show the read-along slide (Arabic + English, line by line) for Core students.
SCRIPT (read aloud):
بِحُلُولِ القَرْنِ التَّاسِعِ، كَانَ العَرَبُ قَدْ أَسَّسُوا نِظَامًا تَعْلِيمِيًّا عَالَمِيًّا قَبْلَ أَنْ تُوجَدَ الجَامِعَاتُ الأُورُوبِّيَّةُ. كَانَتْ دَارُ الحِكْمَةِ فِي بَغْدَادَ قَدِ اسْتَقْطَبَتْ عُلَمَاءَ مِنْ ثَقَافَاتٍ مُتَعَدِّدَةٍ، وَازْدَهَرَتِ التَّرْجَمَةُ وَالعُلُومُ. وَأَشَارَ المُؤَرِّخُونَ إِلَى أَنَّ ابْنَ رُشْدٍ كَانَ قَدْ كَتَبَ شُرُوحًا أَصْبَحَتْ مَرْجِعًا فِي أُورُوبَّا. ثُمَّ انْحَطَّ التَّعْلِيمُ خِلَالَ فَتَرَاتِ الغَزْوِ، وَتَطَوَّرَ بَعْدَ الاسْتِقْلَالِ. اليَوْمَ يَشْهَدُ التَّعْلِيمُ العَرَبِيُّ إِصْلَاحَاتٍ، لٰكِنَّ بَعْضَ المَنَاطِقِ تُعَانِي مِنْ مُعَدَّلَاتِ أُمِّيَّةٍ مُرْتَفِعَةٍ. وَلَوِ اسْتُثْمِرَ فِي التَّعْلِيمِ بِنِسْبَةٍ مُوَازِيَةٍ لِلدُّوَلِ المُتَقَدِّمَةِ، لَكَانَ الوَضْعُ العِلْمِيُّ مُخْتَلِفًا.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التَّحَدِّي اليَوْمَ؟ (Present)
B: يَشْهَدُ التَّعْلِيمُ إِصْلَاحَاتٍ، لٰكِنْ لَوْ عَادَ الاسْتِثْمَارُ كَمَا كَانَ، لَاسْتَعَادَتِ المِنْطَقَةُ رِيَادَتَهَا. (Present + counterfactual)
Website prompts and model. Core stem verbs: أَسَّسُوا · تَرْجَمُوا · طَوَّرُوا (plural after kāna l-ʿarabu qad). Stretch: the result must start with la- (لَكَانَ · لَاسْتَعَادَتْ).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historical sentences choosing the right tense for each period. · Develop — Add a reported-speech citation of historians. · Stretch — Write a three-part analysis: past-perfect achievement, present challenge, counterfactual with لَوْ.
Website writing task (Stretch): Write one hundred to one hundred and ten words analysing Arab education across time. Use the past perfect for the Golden Age, the simple past and present for later periods and today, one reported-speech clause, and both conditional types.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كَانَ … قَدْ أَسَّسَ · كَانَتْ … قَدِ اسْتَقْطَبَتْ · وَأَشَارَ المُؤَرِّخُونَ إِلَى أَنَّ … كَانُوا قَدْ تَرْجَمُوا · ثُمَّ انْحَطَّ … وَتَطَوَّرَ · اليَوْمَ، يَشْهَدُ … تُعَانِي مِنْ · لَوِ اسْتَثْمَرَ … لَكَانَ · وَإِذَا وَاصَلَتِ … سَيَتَحَسَّنُ.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(P2-L08 · Reading — Education Texts) will spend class time USING this language, so students prepare it tonight — short, simple, easy to access (school guidance: “Simple, Short, Interesting, Relevant, Easy to access”). The five words come from the website P2-L08 vocabulary (reading education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P2  ·  P2-L07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P2-L07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Education in the Arab World — History and Change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التَّعْلِيمُ فِي العَالَمِ العَرَبِيِّ — التَّارِيخُ وَالتَّغْيِيرُ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Trace Arab education across time: the Golden Age in the past perfect (kāna qad), decline and reform in the simple past, today’s challenges in the present — then analyse it with both conditionals (law … la- · idhā … sa-).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P2-L07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P2 › P2-L07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Tense along a timeline, kāna qad agreement, yamurr bi-, both conditionals for analysis.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Build a historical analysis, sort tenses by period, hear the history of Arab education.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P2-L08.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دَارُ الحِكْمَةِ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Quranic school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House of Wisdom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Golden 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العَصْرُ الذَّهَبِيُّ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Golden Age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Islamic civilisation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colonialism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أَسَّسَ</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flourished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declined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founded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Type 2: </a:t>
            </a:r>
            <a:pPr algn="l" indent="0" marL="0">
              <a:buNone/>
            </a:pPr>
            <a:r>
              <a:rPr lang="ar-SA" altLang="en-US" sz="1650" b="1" dirty="0">
                <a:solidFill>
                  <a:srgbClr val="1B3B6F"/>
                </a:solidFill>
                <a:latin typeface="Amiri" pitchFamily="34" charset="0"/>
                <a:ea typeface="Amiri" pitchFamily="34" charset="-122"/>
                <a:cs typeface="Amiri" pitchFamily="34" charset="-120"/>
              </a:rPr>
              <a:t>لَوْ دَرَسَ أَكْثَرَ،</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سَيَنْجَحُ</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يَنْجَحُ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لَنَجَحَ</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كُنْتُ قَدْ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بَحْثِي قَبْلَ أَنْ أُسَافِرَ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أَنْهَيْتُ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أُنْهِي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سَأُنْهِي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دَارُ الحِكْمَةِ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Quranic school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House of Wisdom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Golden 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العَصْرُ الذَّهَبِيُّ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Golden Age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Islamic civilisation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colonialism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أَسَّسَ</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flourished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declined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founded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Type 2: </a:t>
            </a:r>
            <a:pPr algn="l" indent="0" marL="0">
              <a:buNone/>
            </a:pPr>
            <a:r>
              <a:rPr lang="ar-SA" altLang="en-US" sz="1650" b="1" dirty="0">
                <a:solidFill>
                  <a:srgbClr val="1B3B6F"/>
                </a:solidFill>
                <a:latin typeface="Amiri" pitchFamily="34" charset="0"/>
                <a:ea typeface="Amiri" pitchFamily="34" charset="-122"/>
                <a:cs typeface="Amiri" pitchFamily="34" charset="-120"/>
              </a:rPr>
              <a:t>لَوْ دَرَسَ أَكْثَرَ،</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سَيَنْجَحُ</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يَنْجَحُ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لَنَجَحَ</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P2-L06: law … la- + past.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كُنْتُ قَدْ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بَحْثِي قَبْلَ أَنْ أُسَافِرَ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أَنْهَيْتُ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أُنْهِي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سَأُنْهِي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P2-L03: kuntu qad + past.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Move the tense with the timeline: Golden Age → past perfect · decline → past · today → present.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كَانَ قَدْ أَسَّسَ</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1D5FBF"/>
                </a:solidFill>
                <a:latin typeface="Amiri" pitchFamily="34" charset="0"/>
                <a:ea typeface="Amiri" pitchFamily="34" charset="-122"/>
                <a:cs typeface="Amiri" pitchFamily="34" charset="-120"/>
              </a:rPr>
              <a:t>انْحَطَّ</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C77700"/>
                </a:solidFill>
                <a:latin typeface="Amiri" pitchFamily="34" charset="0"/>
                <a:ea typeface="Amiri" pitchFamily="34" charset="-122"/>
                <a:cs typeface="Amiri" pitchFamily="34" charset="-120"/>
              </a:rPr>
              <a:t>يَشْهَدُ</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Narrate the Golden Age with the past perfect (kāna qad).</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simple past for later historical events.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today’s challenges in the present, with statistics.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Combine both conditional types in a historical argument.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words about Arab educational history.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choose the tense for each period.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kāna qad agree (kānat qad · kānū qad).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cite historians (ashāra … ilā anna).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analyse with law … la-kāna and idhā … sa-.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full timeline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Heritage and the Golden Age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Change and challenge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History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مَدْرَسَةٌ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‎مدرسہ‎ </a:t>
            </a:r>
            <a:pPr indent="0" marL="0">
              <a:buNone/>
            </a:pPr>
            <a:r>
              <a:rPr lang="en-US" sz="950" b="1" dirty="0">
                <a:solidFill>
                  <a:srgbClr val="2E8B57"/>
                </a:solidFill>
                <a:latin typeface="Calibri" pitchFamily="34" charset="0"/>
                <a:ea typeface="Calibri" pitchFamily="34" charset="-122"/>
                <a:cs typeface="Calibri" pitchFamily="34" charset="-120"/>
              </a:rPr>
              <a:t> madrasa · a school</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عَالِمٌ · عُلَمَاءُ</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‎عالم · علماء‎ </a:t>
            </a:r>
            <a:pPr indent="0" marL="0">
              <a:buNone/>
            </a:pPr>
            <a:r>
              <a:rPr lang="en-US" sz="950" b="1" dirty="0">
                <a:solidFill>
                  <a:srgbClr val="2E8B57"/>
                </a:solidFill>
                <a:latin typeface="Calibri" pitchFamily="34" charset="0"/>
                <a:ea typeface="Calibri" pitchFamily="34" charset="-122"/>
                <a:cs typeface="Calibri" pitchFamily="34" charset="-120"/>
              </a:rPr>
              <a:t> ʿālim · ʿulamā · a scholar · scholars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تَرْجَمَةٌ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‎ترجمہ‎ </a:t>
            </a:r>
            <a:pPr indent="0" marL="0">
              <a:buNone/>
            </a:pPr>
            <a:r>
              <a:rPr lang="en-US" sz="950" b="1" dirty="0">
                <a:solidFill>
                  <a:srgbClr val="2E8B57"/>
                </a:solidFill>
                <a:latin typeface="Calibri" pitchFamily="34" charset="0"/>
                <a:ea typeface="Calibri" pitchFamily="34" charset="-122"/>
                <a:cs typeface="Calibri" pitchFamily="34" charset="-120"/>
              </a:rPr>
              <a:t> tarjuma · translation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إِصْلَاحٌ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‎اصلاح‎ </a:t>
            </a:r>
            <a:pPr indent="0" marL="0">
              <a:buNone/>
            </a:pPr>
            <a:r>
              <a:rPr lang="en-US" sz="950" b="1" dirty="0">
                <a:solidFill>
                  <a:srgbClr val="2E8B57"/>
                </a:solidFill>
                <a:latin typeface="Calibri" pitchFamily="34" charset="0"/>
                <a:ea typeface="Calibri" pitchFamily="34" charset="-122"/>
                <a:cs typeface="Calibri" pitchFamily="34" charset="-120"/>
              </a:rPr>
              <a:t> islāh · reform</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اسْتِعْمَارٌ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‎استعمار‎ </a:t>
            </a:r>
            <a:pPr indent="0" marL="0">
              <a:buNone/>
            </a:pPr>
            <a:r>
              <a:rPr lang="en-US" sz="950" b="1" dirty="0">
                <a:solidFill>
                  <a:srgbClr val="2E8B57"/>
                </a:solidFill>
                <a:latin typeface="Calibri" pitchFamily="34" charset="0"/>
                <a:ea typeface="Calibri" pitchFamily="34" charset="-122"/>
                <a:cs typeface="Calibri" pitchFamily="34" charset="-120"/>
              </a:rPr>
              <a:t> istiʿmār · colonialism</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Heritage and the Golden Age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 Baghdad.</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دَارُ الحِكْمَةِ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House of Wisdom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dā-ru al-ḥik-ma-ti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الازْدِهَارُ العِلْمِيُّ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scientific flourishing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alz-di-hā-ru al-ʿil-miy-yu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الحَضَارَةُ الإِسْلَامِيَّةُ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Islamic civilisation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al-ḥa-ḍā-ra-tu al-is-lā-miy-ya-tu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المَوْرُوثُ التَّعْلِيمِيُّ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educational heritage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al-maw-rū-thu at-taʿ-lī-miy-yu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Heritage and the Golden Age (2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المَدْرَسَةُ القُرْآنِيَّةُ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Quranic 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al-mad-ra-sa-tu al-qur-ʾā-niy-ya-tu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العَصْرُ الذَّهَبِيُّ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Golden 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al-ʿaṣ-ru adh-dha-ha-biy-yu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التَّرْجَمَةُ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translation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at-tar-ja-ma-tu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7" name="Shape 3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عَالِمٌ</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scholar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ʿā-li-mun</a:t>
            </a:r>
            <a:endParaRPr lang="en-US" sz="1350" dirty="0"/>
          </a:p>
        </p:txBody>
      </p:sp>
      <p:sp>
        <p:nvSpPr>
          <p:cNvPr id="43" name="Shape 4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عَالِمَةٌ</a:t>
            </a:r>
            <a:endParaRPr lang="ar-SA" sz="1500" dirty="0"/>
          </a:p>
        </p:txBody>
      </p:sp>
      <p:sp>
        <p:nvSpPr>
          <p:cNvPr id="46" name="Shape 4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8" name="Text 4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عُلَمَاءُ</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Change and challenge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الاسْتِعْمَارُ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colonialism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als-tiʿ-mā-ru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إِصْلَاحٌ تَعْلِيمِيٌّ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educational reform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iṣ-lā-ḥun taʿ-lī-miy-yun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إِصْلَاحَاتٌ تَعْلِيمِيَّةٌ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مُعَدَّلُ الأُمِّيَّةِ</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illiteracy rate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mu-ʿad-da-lu al-um-miy-ya-ti</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التَّعْلِيمُ لِلْمَرْأَةِ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women's education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at-taʿ-lī-mu lil-mar-ʾa-ti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Change and challenge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حَقُّ التَّعْلِيمِ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right to education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ḥaq-qu at-taʿ-lī-mi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الاسْتِثْمَارُ فِي التَّعْلِيمِ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investment in education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als-tith-mā-ru fī at-taʿ-lī-mi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تَحْدِيثُ المَنَاهِجِ</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curriculum modernisation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taḥ-dī-thu al-ma-nā-hi-ji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التَّعْلِيمُ الثُّنَائِيُّ اللُّغَةِ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bilingual education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at-taʿ-lī-mu ath-thu-nā-ʾiy-yu all-lu-gha-ti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History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يَشْهَدُ</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witnesses, experiences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yash-ha-du</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تَشْهَدُ</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أَشْهَدُ</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يَمُرُّ بِـ</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undergoes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ya-mur-ru bi</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تَمُرُّ</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أَمُرُّ</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50" name="Shape 47"/>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اِزْدَهَرَ</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flourished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iz-da-ha-ra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ازْدَهَرَتْ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ازْدَهَرُوا</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63" name="Shape 60"/>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اِنْحَطَّ</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declined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in-ḥaṭ-ṭa</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انْحَطَّتْ</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72" name="Text 69"/>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انْحَطُّوا</a:t>
            </a:r>
            <a:endParaRPr lang="ar-SA"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History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8604504" y="1938528"/>
            <a:ext cx="120700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تَطَوَّرَ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developed, evolved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ta-ṭaw-wa-ra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تَطَوَّرَتْ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تَطَوَّرُوا</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أَسَّسَ</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founded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as-sa-sa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أَسَّسَتْ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أَسَّسُوا</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8" name="Shape 45"/>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اِسْتَقْطَبَ</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attracted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is-taq-ṭa-ba</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اسْتَقْطَبَتْ</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57" name="Text 54"/>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اسْتَقْطَبُوا</a:t>
            </a:r>
            <a:endParaRPr lang="ar-SA"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61" name="Shape 58"/>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وَاجَهَ</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faced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wā-ja-ha</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وَاجَهَتْ</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70" name="Text 67"/>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وَاجَهُوا</a:t>
            </a:r>
            <a:endParaRPr lang="ar-SA" sz="13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ea typeface="Calibri" pitchFamily="34" charset="-122"/>
                <a:cs typeface="Calibri" pitchFamily="34" charset="-120"/>
              </a:rPr>
              <a:t>GRAMMAR FOCUS · PART 1 · TENSE ALONG THE TIMELINE (WEBSITE RULES 1–3 + TABLE) · CORE</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Golden Age → decline → today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الزَّمَنُ عَبْرَ التَّارِيخِ</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7" name="Text 14"/>
          <p:cNvSpPr txBox="1"/>
          <p:nvPr/>
        </p:nvSpPr>
        <p:spPr>
          <a:xfrm>
            <a:off x="41879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example</a:t>
            </a:r>
            <a:endParaRPr lang="en-US" sz="1100" dirty="0"/>
          </a:p>
        </p:txBody>
      </p:sp>
      <p:sp>
        <p:nvSpPr>
          <p:cNvPr id="18" name="Text 15"/>
          <p:cNvSpPr txBox="1"/>
          <p:nvPr/>
        </p:nvSpPr>
        <p:spPr>
          <a:xfrm>
            <a:off x="245059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Tense</a:t>
            </a:r>
            <a:endParaRPr lang="en-US" sz="1100" dirty="0"/>
          </a:p>
        </p:txBody>
      </p:sp>
      <p:sp>
        <p:nvSpPr>
          <p:cNvPr id="19" name="Text 16"/>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Period</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162288" y="2267712"/>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Arabs had founded a world system.</a:t>
            </a:r>
            <a:endParaRPr lang="en-US" sz="1100" dirty="0"/>
          </a:p>
        </p:txBody>
      </p:sp>
      <p:sp>
        <p:nvSpPr>
          <p:cNvPr id="22" name="Text 19"/>
          <p:cNvSpPr txBox="1"/>
          <p:nvPr/>
        </p:nvSpPr>
        <p:spPr>
          <a:xfrm>
            <a:off x="4206240" y="2267712"/>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كَانَ</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العَرَبُ </a:t>
            </a:r>
            <a:pPr rtl="1" algn="ctr" indent="0" marL="0">
              <a:buNone/>
            </a:pPr>
            <a:r>
              <a:rPr lang="ar-SA" altLang="en-US" sz="1900" b="1" dirty="0">
                <a:solidFill>
                  <a:srgbClr val="D6336C"/>
                </a:solidFill>
                <a:latin typeface="Amiri" pitchFamily="34" charset="0"/>
                <a:ea typeface="Amiri" pitchFamily="34" charset="-122"/>
                <a:cs typeface="Amiri" pitchFamily="34" charset="-120"/>
              </a:rPr>
              <a:t>قَدْ أَسَّسُوا</a:t>
            </a:r>
            <a:pPr rtl="1" algn="ctr" indent="0" marL="0">
              <a:buNone/>
            </a:pPr>
            <a:r>
              <a:rPr lang="ar-SA" altLang="en-US" sz="1900" b="1" dirty="0">
                <a:solidFill>
                  <a:srgbClr val="1B3B6F"/>
                </a:solidFill>
                <a:latin typeface="Amiri" pitchFamily="34" charset="0"/>
                <a:ea typeface="Amiri" pitchFamily="34" charset="-122"/>
                <a:cs typeface="Amiri" pitchFamily="34" charset="-120"/>
              </a:rPr>
              <a:t> نِظَامًا عَالَمِيًّا.</a:t>
            </a:r>
            <a:endParaRPr lang="ar-SA" sz="1900" dirty="0"/>
          </a:p>
        </p:txBody>
      </p:sp>
      <p:sp>
        <p:nvSpPr>
          <p:cNvPr id="23" name="Text 20"/>
          <p:cNvSpPr txBox="1"/>
          <p:nvPr/>
        </p:nvSpPr>
        <p:spPr>
          <a:xfrm>
            <a:off x="248716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24" name="Text 21"/>
          <p:cNvSpPr txBox="1"/>
          <p:nvPr/>
        </p:nvSpPr>
        <p:spPr>
          <a:xfrm>
            <a:off x="566928" y="2267712"/>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Golden Age</a:t>
            </a:r>
            <a:endParaRPr lang="en-US" sz="110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162288" y="300471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House of Wisdom had attracted scholars.</a:t>
            </a:r>
            <a:endParaRPr lang="en-US" sz="1100" dirty="0"/>
          </a:p>
        </p:txBody>
      </p:sp>
      <p:sp>
        <p:nvSpPr>
          <p:cNvPr id="27" name="Text 24"/>
          <p:cNvSpPr txBox="1"/>
          <p:nvPr/>
        </p:nvSpPr>
        <p:spPr>
          <a:xfrm>
            <a:off x="4206240" y="3004718"/>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كَانَتْ</a:t>
            </a:r>
            <a:pPr rtl="1" algn="ctr" indent="0" marL="0">
              <a:buNone/>
            </a:pPr>
            <a:r>
              <a:rPr lang="ar-SA" altLang="en-US" sz="1900" b="1" dirty="0">
                <a:solidFill>
                  <a:srgbClr val="1B3B6F"/>
                </a:solidFill>
                <a:latin typeface="Amiri" pitchFamily="34" charset="0"/>
                <a:ea typeface="Amiri" pitchFamily="34" charset="-122"/>
                <a:cs typeface="Amiri" pitchFamily="34" charset="-120"/>
              </a:rPr>
              <a:t> دَارُ الحِكْمَةِ </a:t>
            </a:r>
            <a:pPr rtl="1" algn="ctr" indent="0" marL="0">
              <a:buNone/>
            </a:pPr>
            <a:r>
              <a:rPr lang="ar-SA" altLang="en-US" sz="1900" b="1" dirty="0">
                <a:solidFill>
                  <a:srgbClr val="D6336C"/>
                </a:solidFill>
                <a:latin typeface="Amiri" pitchFamily="34" charset="0"/>
                <a:ea typeface="Amiri" pitchFamily="34" charset="-122"/>
                <a:cs typeface="Amiri" pitchFamily="34" charset="-120"/>
              </a:rPr>
              <a:t>قَدِ اسْتَقْطَبَتْ</a:t>
            </a:r>
            <a:pPr rtl="1" algn="ctr" indent="0" marL="0">
              <a:buNone/>
            </a:pPr>
            <a:r>
              <a:rPr lang="ar-SA" altLang="en-US" sz="1900" b="1" dirty="0">
                <a:solidFill>
                  <a:srgbClr val="1B3B6F"/>
                </a:solidFill>
                <a:latin typeface="Amiri" pitchFamily="34" charset="0"/>
                <a:ea typeface="Amiri" pitchFamily="34" charset="-122"/>
                <a:cs typeface="Amiri" pitchFamily="34" charset="-120"/>
              </a:rPr>
              <a:t> عُلَمَاءَ.</a:t>
            </a:r>
            <a:endParaRPr lang="ar-SA" sz="1900" dirty="0"/>
          </a:p>
        </p:txBody>
      </p:sp>
      <p:sp>
        <p:nvSpPr>
          <p:cNvPr id="28" name="Text 25"/>
          <p:cNvSpPr txBox="1"/>
          <p:nvPr/>
        </p:nvSpPr>
        <p:spPr>
          <a:xfrm>
            <a:off x="248716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29" name="Text 26"/>
          <p:cNvSpPr txBox="1"/>
          <p:nvPr/>
        </p:nvSpPr>
        <p:spPr>
          <a:xfrm>
            <a:off x="566928" y="300471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Golden Age</a:t>
            </a:r>
            <a:endParaRPr lang="en-US" sz="110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9162288" y="3741725"/>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Education declined during the invasions.</a:t>
            </a:r>
            <a:endParaRPr lang="en-US" sz="1100" dirty="0"/>
          </a:p>
        </p:txBody>
      </p:sp>
      <p:sp>
        <p:nvSpPr>
          <p:cNvPr id="32" name="Text 29"/>
          <p:cNvSpPr txBox="1"/>
          <p:nvPr/>
        </p:nvSpPr>
        <p:spPr>
          <a:xfrm>
            <a:off x="4206240" y="3741725"/>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انْحَطَّ</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التَّعْلِيمُ خِلَالَ فَتَرَاتِ الغَزْوِ.</a:t>
            </a:r>
            <a:endParaRPr lang="ar-SA" sz="1900" dirty="0"/>
          </a:p>
        </p:txBody>
      </p:sp>
      <p:sp>
        <p:nvSpPr>
          <p:cNvPr id="33" name="Text 30"/>
          <p:cNvSpPr txBox="1"/>
          <p:nvPr/>
        </p:nvSpPr>
        <p:spPr>
          <a:xfrm>
            <a:off x="248716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simple past</a:t>
            </a:r>
            <a:endParaRPr lang="en-US" sz="1100" dirty="0"/>
          </a:p>
        </p:txBody>
      </p:sp>
      <p:sp>
        <p:nvSpPr>
          <p:cNvPr id="34" name="Text 31"/>
          <p:cNvSpPr txBox="1"/>
          <p:nvPr/>
        </p:nvSpPr>
        <p:spPr>
          <a:xfrm>
            <a:off x="566928" y="3741725"/>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Decline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162288" y="4478731"/>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Education developed after independence.</a:t>
            </a:r>
            <a:endParaRPr lang="en-US" sz="1100" dirty="0"/>
          </a:p>
        </p:txBody>
      </p:sp>
      <p:sp>
        <p:nvSpPr>
          <p:cNvPr id="37" name="Text 34"/>
          <p:cNvSpPr txBox="1"/>
          <p:nvPr/>
        </p:nvSpPr>
        <p:spPr>
          <a:xfrm>
            <a:off x="4206240" y="4478731"/>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تَطَوَّرَ</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التَّعْلِيمُ بَعْدَ الاسْتِقْلَالِ.</a:t>
            </a:r>
            <a:endParaRPr lang="ar-SA" sz="1900" dirty="0"/>
          </a:p>
        </p:txBody>
      </p:sp>
      <p:sp>
        <p:nvSpPr>
          <p:cNvPr id="38" name="Text 35"/>
          <p:cNvSpPr txBox="1"/>
          <p:nvPr/>
        </p:nvSpPr>
        <p:spPr>
          <a:xfrm>
            <a:off x="248716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simple past</a:t>
            </a:r>
            <a:endParaRPr lang="en-US" sz="1100" dirty="0"/>
          </a:p>
        </p:txBody>
      </p:sp>
      <p:sp>
        <p:nvSpPr>
          <p:cNvPr id="39" name="Text 36"/>
          <p:cNvSpPr txBox="1"/>
          <p:nvPr/>
        </p:nvSpPr>
        <p:spPr>
          <a:xfrm>
            <a:off x="566928" y="4478731"/>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Independence</a:t>
            </a:r>
            <a:endParaRPr lang="en-US" sz="1100" dirty="0"/>
          </a:p>
        </p:txBody>
      </p:sp>
      <p:sp>
        <p:nvSpPr>
          <p:cNvPr id="40" name="Shape 37"/>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1" name="Text 38"/>
          <p:cNvSpPr txBox="1"/>
          <p:nvPr/>
        </p:nvSpPr>
        <p:spPr>
          <a:xfrm>
            <a:off x="9162288" y="521573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Education is undergoing radical reforms.</a:t>
            </a:r>
            <a:endParaRPr lang="en-US" sz="1100" dirty="0"/>
          </a:p>
        </p:txBody>
      </p:sp>
      <p:sp>
        <p:nvSpPr>
          <p:cNvPr id="42" name="Text 39"/>
          <p:cNvSpPr txBox="1"/>
          <p:nvPr/>
        </p:nvSpPr>
        <p:spPr>
          <a:xfrm>
            <a:off x="4206240" y="5215738"/>
            <a:ext cx="4754880" cy="682142"/>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34" charset="0"/>
                <a:ea typeface="Amiri" pitchFamily="34" charset="-122"/>
                <a:cs typeface="Amiri" pitchFamily="34" charset="-120"/>
              </a:rPr>
              <a:t>يَشْهَدُ</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التَّعْلِيمُ إِصْلَاحَاتٍ جَذْرِيَّةً.</a:t>
            </a:r>
            <a:endParaRPr lang="ar-SA" sz="1900" dirty="0"/>
          </a:p>
        </p:txBody>
      </p:sp>
      <p:sp>
        <p:nvSpPr>
          <p:cNvPr id="43" name="Text 40"/>
          <p:cNvSpPr txBox="1"/>
          <p:nvPr/>
        </p:nvSpPr>
        <p:spPr>
          <a:xfrm>
            <a:off x="248716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a:t>
            </a:r>
            <a:endParaRPr lang="en-US" sz="1100" dirty="0"/>
          </a:p>
        </p:txBody>
      </p:sp>
      <p:sp>
        <p:nvSpPr>
          <p:cNvPr id="44" name="Text 41"/>
          <p:cNvSpPr txBox="1"/>
          <p:nvPr/>
        </p:nvSpPr>
        <p:spPr>
          <a:xfrm>
            <a:off x="566928" y="521573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Today</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common error: never the present for a Golden-Age achievement, never the past perfect for today.</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KĀNA QAD AGREEMENT — HE, SHE, THEY (WEBSITE LISTENING, READING AND MODEL)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 had · she had · they had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كَانَ قَدْ · كَانَتْ قَدْ · كَانُوا قَدْ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29077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 perfect</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979408" y="226771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kāna … kataba</a:t>
            </a:r>
            <a:endParaRPr lang="en-US" sz="1100" dirty="0"/>
          </a:p>
        </p:txBody>
      </p:sp>
      <p:sp>
        <p:nvSpPr>
          <p:cNvPr id="21" name="Text 18"/>
          <p:cNvSpPr txBox="1"/>
          <p:nvPr/>
        </p:nvSpPr>
        <p:spPr>
          <a:xfrm>
            <a:off x="2926080" y="2267712"/>
            <a:ext cx="5852160" cy="559308"/>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كَانَ</a:t>
            </a:r>
            <a:pPr rtl="1" algn="ctr" indent="0" marL="0">
              <a:buNone/>
            </a:pPr>
            <a:r>
              <a:rPr lang="ar-SA" altLang="en-US" sz="1900" b="1" dirty="0">
                <a:solidFill>
                  <a:srgbClr val="1B3B6F"/>
                </a:solidFill>
                <a:latin typeface="Amiri" pitchFamily="34" charset="0"/>
                <a:ea typeface="Amiri" pitchFamily="34" charset="-122"/>
                <a:cs typeface="Amiri" pitchFamily="34" charset="-120"/>
              </a:rPr>
              <a:t> ابْنُ رُشْدٍ </a:t>
            </a:r>
            <a:pPr rtl="1" algn="ctr" indent="0" marL="0">
              <a:buNone/>
            </a:pPr>
            <a:r>
              <a:rPr lang="ar-SA" altLang="en-US" sz="1900" b="1" dirty="0">
                <a:solidFill>
                  <a:srgbClr val="D6336C"/>
                </a:solidFill>
                <a:latin typeface="Amiri" pitchFamily="34" charset="0"/>
                <a:ea typeface="Amiri" pitchFamily="34" charset="-122"/>
                <a:cs typeface="Amiri" pitchFamily="34" charset="-120"/>
              </a:rPr>
              <a:t>قَدْ كَتَبَ</a:t>
            </a:r>
            <a:pPr rtl="1" algn="ctr" indent="0" marL="0">
              <a:buNone/>
            </a:pPr>
            <a:r>
              <a:rPr lang="ar-SA" altLang="en-US" sz="1900" b="1" dirty="0">
                <a:solidFill>
                  <a:srgbClr val="1B3B6F"/>
                </a:solidFill>
                <a:latin typeface="Amiri" pitchFamily="34" charset="0"/>
                <a:ea typeface="Amiri" pitchFamily="34" charset="-122"/>
                <a:cs typeface="Amiri" pitchFamily="34" charset="-120"/>
              </a:rPr>
              <a:t> شُرُوحًا مُهِمَّةً.</a:t>
            </a:r>
            <a:endParaRPr lang="ar-SA" sz="1900" dirty="0"/>
          </a:p>
        </p:txBody>
      </p:sp>
      <p:sp>
        <p:nvSpPr>
          <p:cNvPr id="22" name="Text 19"/>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Ibn Rushd (he)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979408" y="2881884"/>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kānat … assasat</a:t>
            </a:r>
            <a:endParaRPr lang="en-US" sz="1100" dirty="0"/>
          </a:p>
        </p:txBody>
      </p:sp>
      <p:sp>
        <p:nvSpPr>
          <p:cNvPr id="27" name="Text 24"/>
          <p:cNvSpPr txBox="1"/>
          <p:nvPr/>
        </p:nvSpPr>
        <p:spPr>
          <a:xfrm>
            <a:off x="2926080" y="2881884"/>
            <a:ext cx="5852160" cy="559308"/>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كَانَتْ</a:t>
            </a:r>
            <a:pPr rtl="1" algn="ctr" indent="0" marL="0">
              <a:buNone/>
            </a:pPr>
            <a:r>
              <a:rPr lang="ar-SA" altLang="en-US" sz="1900" b="1" dirty="0">
                <a:solidFill>
                  <a:srgbClr val="1B3B6F"/>
                </a:solidFill>
                <a:latin typeface="Amiri" pitchFamily="34" charset="0"/>
                <a:ea typeface="Amiri" pitchFamily="34" charset="-122"/>
                <a:cs typeface="Amiri" pitchFamily="34" charset="-120"/>
              </a:rPr>
              <a:t> فَاطِمَةُ الفِهْرِيَّةُ </a:t>
            </a:r>
            <a:pPr rtl="1" algn="ctr" indent="0" marL="0">
              <a:buNone/>
            </a:pPr>
            <a:r>
              <a:rPr lang="ar-SA" altLang="en-US" sz="1900" b="1" dirty="0">
                <a:solidFill>
                  <a:srgbClr val="D6336C"/>
                </a:solidFill>
                <a:latin typeface="Amiri" pitchFamily="34" charset="0"/>
                <a:ea typeface="Amiri" pitchFamily="34" charset="-122"/>
                <a:cs typeface="Amiri" pitchFamily="34" charset="-120"/>
              </a:rPr>
              <a:t>قَدْ أَسَّسَتْ</a:t>
            </a:r>
            <a:pPr rtl="1" algn="ctr" indent="0" marL="0">
              <a:buNone/>
            </a:pPr>
            <a:r>
              <a:rPr lang="ar-SA" altLang="en-US" sz="1900" b="1" dirty="0">
                <a:solidFill>
                  <a:srgbClr val="1B3B6F"/>
                </a:solidFill>
                <a:latin typeface="Amiri" pitchFamily="34" charset="0"/>
                <a:ea typeface="Amiri" pitchFamily="34" charset="-122"/>
                <a:cs typeface="Amiri" pitchFamily="34" charset="-120"/>
              </a:rPr>
              <a:t> جَامِعَةَ القَرَوِيِّينَ.</a:t>
            </a:r>
            <a:endParaRPr lang="ar-SA" sz="1900" dirty="0"/>
          </a:p>
        </p:txBody>
      </p:sp>
      <p:sp>
        <p:nvSpPr>
          <p:cNvPr id="28" name="Text 25"/>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Fāṭima al-Fihriyya (she)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979408" y="3496056"/>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qadi before waṣl</a:t>
            </a:r>
            <a:endParaRPr lang="en-US" sz="1100" dirty="0"/>
          </a:p>
        </p:txBody>
      </p:sp>
      <p:sp>
        <p:nvSpPr>
          <p:cNvPr id="33" name="Text 30"/>
          <p:cNvSpPr txBox="1"/>
          <p:nvPr/>
        </p:nvSpPr>
        <p:spPr>
          <a:xfrm>
            <a:off x="2926080" y="3496056"/>
            <a:ext cx="5852160" cy="559308"/>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كَانَتْ</a:t>
            </a:r>
            <a:pPr rtl="1" algn="ctr" indent="0" marL="0">
              <a:buNone/>
            </a:pPr>
            <a:r>
              <a:rPr lang="ar-SA" altLang="en-US" sz="1900" b="1" dirty="0">
                <a:solidFill>
                  <a:srgbClr val="1B3B6F"/>
                </a:solidFill>
                <a:latin typeface="Amiri" pitchFamily="34" charset="0"/>
                <a:ea typeface="Amiri" pitchFamily="34" charset="-122"/>
                <a:cs typeface="Amiri" pitchFamily="34" charset="-120"/>
              </a:rPr>
              <a:t> دَارُ الحِكْمَةِ </a:t>
            </a:r>
            <a:pPr rtl="1" algn="ctr" indent="0" marL="0">
              <a:buNone/>
            </a:pPr>
            <a:r>
              <a:rPr lang="ar-SA" altLang="en-US" sz="1900" b="1" dirty="0">
                <a:solidFill>
                  <a:srgbClr val="D6336C"/>
                </a:solidFill>
                <a:latin typeface="Amiri" pitchFamily="34" charset="0"/>
                <a:ea typeface="Amiri" pitchFamily="34" charset="-122"/>
                <a:cs typeface="Amiri" pitchFamily="34" charset="-120"/>
              </a:rPr>
              <a:t>قَدِ اسْتَقْطَبَتْ</a:t>
            </a:r>
            <a:pPr rtl="1" algn="ctr" indent="0" marL="0">
              <a:buNone/>
            </a:pPr>
            <a:r>
              <a:rPr lang="ar-SA" altLang="en-US" sz="1900" b="1" dirty="0">
                <a:solidFill>
                  <a:srgbClr val="1B3B6F"/>
                </a:solidFill>
                <a:latin typeface="Amiri" pitchFamily="34" charset="0"/>
                <a:ea typeface="Amiri" pitchFamily="34" charset="-122"/>
                <a:cs typeface="Amiri" pitchFamily="34" charset="-120"/>
              </a:rPr>
              <a:t> عُلَمَاءَ.</a:t>
            </a:r>
            <a:endParaRPr lang="ar-SA" sz="1900" dirty="0"/>
          </a:p>
        </p:txBody>
      </p:sp>
      <p:sp>
        <p:nvSpPr>
          <p:cNvPr id="34" name="Text 31"/>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House of Wisdom (it, f.)</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979408" y="4110228"/>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kāna sg. · assasū pl.</a:t>
            </a:r>
            <a:endParaRPr lang="en-US" sz="1100" dirty="0"/>
          </a:p>
        </p:txBody>
      </p:sp>
      <p:sp>
        <p:nvSpPr>
          <p:cNvPr id="37" name="Text 34"/>
          <p:cNvSpPr txBox="1"/>
          <p:nvPr/>
        </p:nvSpPr>
        <p:spPr>
          <a:xfrm>
            <a:off x="2926080" y="4110228"/>
            <a:ext cx="5852160" cy="559308"/>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كَانَ</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العَرَبُ </a:t>
            </a:r>
            <a:pPr rtl="1" algn="ctr" indent="0" marL="0">
              <a:buNone/>
            </a:pPr>
            <a:r>
              <a:rPr lang="ar-SA" altLang="en-US" sz="1900" b="1" dirty="0">
                <a:solidFill>
                  <a:srgbClr val="D6336C"/>
                </a:solidFill>
                <a:latin typeface="Amiri" pitchFamily="34" charset="0"/>
                <a:ea typeface="Amiri" pitchFamily="34" charset="-122"/>
                <a:cs typeface="Amiri" pitchFamily="34" charset="-120"/>
              </a:rPr>
              <a:t>قَدْ أَسَّسُوا</a:t>
            </a:r>
            <a:pPr rtl="1" algn="ctr" indent="0" marL="0">
              <a:buNone/>
            </a:pPr>
            <a:r>
              <a:rPr lang="ar-SA" altLang="en-US" sz="1900" b="1" dirty="0">
                <a:solidFill>
                  <a:srgbClr val="1B3B6F"/>
                </a:solidFill>
                <a:latin typeface="Amiri" pitchFamily="34" charset="0"/>
                <a:ea typeface="Amiri" pitchFamily="34" charset="-122"/>
                <a:cs typeface="Amiri" pitchFamily="34" charset="-120"/>
              </a:rPr>
              <a:t> أَرْقَى الأَنْظِمَةِ.</a:t>
            </a:r>
            <a:endParaRPr lang="ar-SA" sz="1900" dirty="0"/>
          </a:p>
        </p:txBody>
      </p:sp>
      <p:sp>
        <p:nvSpPr>
          <p:cNvPr id="38" name="Text 35"/>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Arabs — verb first</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979408" y="4724400"/>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kānū … tarjamū</a:t>
            </a:r>
            <a:endParaRPr lang="en-US" sz="1100" dirty="0"/>
          </a:p>
        </p:txBody>
      </p:sp>
      <p:sp>
        <p:nvSpPr>
          <p:cNvPr id="41" name="Text 38"/>
          <p:cNvSpPr txBox="1"/>
          <p:nvPr/>
        </p:nvSpPr>
        <p:spPr>
          <a:xfrm>
            <a:off x="2926080" y="4724400"/>
            <a:ext cx="58521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العُلَمَاءُ </a:t>
            </a:r>
            <a:pPr rtl="1" algn="ctr" indent="0" marL="0">
              <a:buNone/>
            </a:pPr>
            <a:r>
              <a:rPr lang="ar-SA" altLang="en-US" sz="1900" b="1" dirty="0">
                <a:solidFill>
                  <a:srgbClr val="D6336C"/>
                </a:solidFill>
                <a:latin typeface="Amiri" pitchFamily="34" charset="0"/>
                <a:ea typeface="Amiri" pitchFamily="34" charset="-122"/>
                <a:cs typeface="Amiri" pitchFamily="34" charset="-120"/>
              </a:rPr>
              <a:t>كَانُوا قَدْ تَرْجَمُوا</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الإِرْثَ اليُونَانِيَّ.</a:t>
            </a:r>
            <a:endParaRPr lang="ar-SA" sz="1900" dirty="0"/>
          </a:p>
        </p:txBody>
      </p:sp>
      <p:sp>
        <p:nvSpPr>
          <p:cNvPr id="42" name="Text 39"/>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scholars — subject first</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979408" y="533857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treated as she</a:t>
            </a:r>
            <a:endParaRPr lang="en-US" sz="1100" dirty="0"/>
          </a:p>
        </p:txBody>
      </p:sp>
      <p:sp>
        <p:nvSpPr>
          <p:cNvPr id="45" name="Text 42"/>
          <p:cNvSpPr txBox="1"/>
          <p:nvPr/>
        </p:nvSpPr>
        <p:spPr>
          <a:xfrm>
            <a:off x="2926080" y="5338572"/>
            <a:ext cx="5852160" cy="559308"/>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كَانَتِ</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المُدُنُ </a:t>
            </a:r>
            <a:pPr rtl="1" algn="ctr" indent="0" marL="0">
              <a:buNone/>
            </a:pPr>
            <a:r>
              <a:rPr lang="ar-SA" altLang="en-US" sz="1900" b="1" dirty="0">
                <a:solidFill>
                  <a:srgbClr val="D6336C"/>
                </a:solidFill>
                <a:latin typeface="Amiri" pitchFamily="34" charset="0"/>
                <a:ea typeface="Amiri" pitchFamily="34" charset="-122"/>
                <a:cs typeface="Amiri" pitchFamily="34" charset="-120"/>
              </a:rPr>
              <a:t>قَدِ اسْتَقْطَبَتْ</a:t>
            </a:r>
            <a:pPr rtl="1" algn="ctr" indent="0" marL="0">
              <a:buNone/>
            </a:pPr>
            <a:r>
              <a:rPr lang="ar-SA" altLang="en-US" sz="1900" b="1" dirty="0">
                <a:solidFill>
                  <a:srgbClr val="1B3B6F"/>
                </a:solidFill>
                <a:latin typeface="Amiri" pitchFamily="34" charset="0"/>
                <a:ea typeface="Amiri" pitchFamily="34" charset="-122"/>
                <a:cs typeface="Amiri" pitchFamily="34" charset="-120"/>
              </a:rPr>
              <a:t> مُتَرْجِمِينَ.</a:t>
            </a:r>
            <a:endParaRPr lang="ar-SA" sz="1900" dirty="0"/>
          </a:p>
        </p:txBody>
      </p:sp>
      <p:sp>
        <p:nvSpPr>
          <p:cNvPr id="46" name="Text 43"/>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cities (f. pl., non-human)</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kāna agrees like any verb: singular when it comes first, but the main verb after the subject is plural (kāna l-ʿarabu qad assasū).</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FOCUS · PART 3 · TODAY IN THE PRESENT (WEBSITE RULE 3) · DEVELOP</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Today: witnessing, going through, suffering</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التَّعْلِيمُ اليَوْمَ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8516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YASHHAD + OBJECT · CORE</a:t>
            </a:r>
            <a:endParaRPr lang="en-US" sz="850" dirty="0"/>
          </a:p>
        </p:txBody>
      </p:sp>
      <p:sp>
        <p:nvSpPr>
          <p:cNvPr id="18" name="Text 15"/>
          <p:cNvSpPr txBox="1"/>
          <p:nvPr/>
        </p:nvSpPr>
        <p:spPr>
          <a:xfrm>
            <a:off x="10130028"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يَشْهَدُ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يَشْهَدُ التَّعْلِيمُ العَرَبِيُّ إِصْلَاحَاتٍ جَذْرِيَّةً.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Arab education is undergoing radical reforms.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Direct object.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YAMURR BI-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يَمُرُّ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تَمُرُّ مَنَاطِقُ النِّزَاعِ بِأَزَمَاتٍ تَعْلِيمِيَّةٍ.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Conflict zones are going through education crises.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Always bi-.</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YUʿĀNĪ MIN · STRETCH</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تُعَانِي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تُعَانِي بَعْضُ الدُّوَلِ مِنْ مُعَدَّلَاتِ أُمِّيَّةٍ مُرْتَفِعَةٍ.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Some countries suffer from high illiteracy rates.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With a statistic.</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2: yamurr is fixed with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تَمُرُّ المِنْطَقَةُ بِأَزْمَةٍ تَعْلِيمِيَّةٍ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تَمُرُّ المِنْطَقَةُ عَلَى أَزْمَةٍ تَعْلِيمِيَّةٍ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ANALYSING HISTORY WITH BOTH CONDITIONALS (WEBSITE RULE 4)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if … and what next?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لَوْ … لَكَانَ · إِذَا … سَـ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44184"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Counterfactual about the past: law … la-</a:t>
            </a:r>
            <a:endParaRPr lang="en-US" sz="1100" dirty="0"/>
          </a:p>
        </p:txBody>
      </p:sp>
      <p:sp>
        <p:nvSpPr>
          <p:cNvPr id="17" name="Text 14"/>
          <p:cNvSpPr txBox="1"/>
          <p:nvPr/>
        </p:nvSpPr>
        <p:spPr>
          <a:xfrm>
            <a:off x="53035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Real proposal for the future: idhā … sa-</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062472" y="2267712"/>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لَوِ اسْتَثْمَرَ</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العَالَمُ العَرَبِيُّ مُبَكِّرًا، </a:t>
            </a:r>
            <a:pPr rtl="1" algn="ctr" indent="0" marL="0">
              <a:buNone/>
            </a:pPr>
            <a:r>
              <a:rPr lang="ar-SA" altLang="en-US" sz="1800" b="1" dirty="0">
                <a:solidFill>
                  <a:srgbClr val="D6336C"/>
                </a:solidFill>
                <a:latin typeface="Amiri" pitchFamily="34" charset="0"/>
                <a:ea typeface="Amiri" pitchFamily="34" charset="-122"/>
                <a:cs typeface="Amiri" pitchFamily="34" charset="-120"/>
              </a:rPr>
              <a:t>لَكَانَ</a:t>
            </a:r>
            <a:pPr rtl="1" algn="ctr" indent="0" marL="0">
              <a:buNone/>
            </a:pPr>
            <a:r>
              <a:rPr lang="ar-SA" altLang="en-US" sz="1800" b="1" dirty="0">
                <a:solidFill>
                  <a:srgbClr val="1B3B6F"/>
                </a:solidFill>
                <a:latin typeface="Amiri" pitchFamily="34" charset="0"/>
                <a:ea typeface="Amiri" pitchFamily="34" charset="-122"/>
                <a:cs typeface="Amiri" pitchFamily="34" charset="-120"/>
              </a:rPr>
              <a:t> وَضْعُهُ مُخْتَلِفًا.</a:t>
            </a:r>
            <a:endParaRPr lang="ar-SA" sz="1800" dirty="0"/>
          </a:p>
        </p:txBody>
      </p:sp>
      <p:sp>
        <p:nvSpPr>
          <p:cNvPr id="20" name="Text 17"/>
          <p:cNvSpPr txBox="1"/>
          <p:nvPr/>
        </p:nvSpPr>
        <p:spPr>
          <a:xfrm>
            <a:off x="548640" y="2267712"/>
            <a:ext cx="5330952"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إِذَا وَاصَلَتِ</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الإِصْلَاحَاتُ، </a:t>
            </a:r>
            <a:pPr rtl="1" algn="ctr" indent="0" marL="0">
              <a:buNone/>
            </a:pPr>
            <a:r>
              <a:rPr lang="ar-SA" altLang="en-US" sz="1800" b="1" dirty="0">
                <a:solidFill>
                  <a:srgbClr val="0E7C86"/>
                </a:solidFill>
                <a:latin typeface="Amiri" pitchFamily="34" charset="0"/>
                <a:ea typeface="Amiri" pitchFamily="34" charset="-122"/>
                <a:cs typeface="Amiri" pitchFamily="34" charset="-120"/>
              </a:rPr>
              <a:t>سَيَتَحَسَّنُ</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الوَضْعُ.</a:t>
            </a:r>
            <a:endParaRPr lang="ar-SA" sz="18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062472" y="3054096"/>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لَوْ عَادَ</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الاسْتِثْمَارُ فِي العِلْمِ، </a:t>
            </a:r>
            <a:pPr rtl="1" algn="ctr" indent="0" marL="0">
              <a:buNone/>
            </a:pPr>
            <a:r>
              <a:rPr lang="ar-SA" altLang="en-US" sz="1800" b="1" dirty="0">
                <a:solidFill>
                  <a:srgbClr val="D6336C"/>
                </a:solidFill>
                <a:latin typeface="Amiri" pitchFamily="34" charset="0"/>
                <a:ea typeface="Amiri" pitchFamily="34" charset="-122"/>
                <a:cs typeface="Amiri" pitchFamily="34" charset="-120"/>
              </a:rPr>
              <a:t>لَاسْتَعَادَتِ</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المِنْطَقَةُ رِيَادَتَهَا.</a:t>
            </a:r>
            <a:endParaRPr lang="ar-SA" sz="1800" dirty="0"/>
          </a:p>
        </p:txBody>
      </p:sp>
      <p:sp>
        <p:nvSpPr>
          <p:cNvPr id="25" name="Text 22"/>
          <p:cNvSpPr txBox="1"/>
          <p:nvPr/>
        </p:nvSpPr>
        <p:spPr>
          <a:xfrm>
            <a:off x="548640" y="3054096"/>
            <a:ext cx="5330952"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إِذَا وَاصَلَتِ</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الدُّوَلُ إِصْلَاحَاتِهَا، </a:t>
            </a:r>
            <a:pPr rtl="1" algn="ctr" indent="0" marL="0">
              <a:buNone/>
            </a:pPr>
            <a:r>
              <a:rPr lang="ar-SA" altLang="en-US" sz="1800" b="1" dirty="0">
                <a:solidFill>
                  <a:srgbClr val="0E7C86"/>
                </a:solidFill>
                <a:latin typeface="Amiri" pitchFamily="34" charset="0"/>
                <a:ea typeface="Amiri" pitchFamily="34" charset="-122"/>
                <a:cs typeface="Amiri" pitchFamily="34" charset="-120"/>
              </a:rPr>
              <a:t>سَتَتَقَلَّصُ</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الفَجْوَةُ.</a:t>
            </a:r>
            <a:endParaRPr lang="ar-SA" sz="1800" dirty="0"/>
          </a:p>
        </p:txBody>
      </p:sp>
      <p:sp>
        <p:nvSpPr>
          <p:cNvPr id="26" name="Shape 2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7" name="Text 24"/>
          <p:cNvSpPr txBox="1"/>
          <p:nvPr/>
        </p:nvSpPr>
        <p:spPr>
          <a:xfrm>
            <a:off x="6062472" y="3840480"/>
            <a:ext cx="55778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لَوِ اسْتُثْمِرَ</a:t>
            </a:r>
            <a:pPr rtl="1" algn="ctr" indent="0" marL="0">
              <a:buNone/>
            </a:pPr>
            <a:r>
              <a:rPr lang="ar-SA" altLang="en-US" sz="1800" b="1" dirty="0">
                <a:solidFill>
                  <a:srgbClr val="1B3B6F"/>
                </a:solidFill>
                <a:latin typeface="Amiri" pitchFamily="34" charset="0"/>
                <a:ea typeface="Amiri" pitchFamily="34" charset="-122"/>
                <a:cs typeface="Amiri" pitchFamily="34" charset="-120"/>
              </a:rPr>
              <a:t> فِي التَّعْلِيمِ بِنِسْبَةٍ مُوَازِيَةٍ، </a:t>
            </a:r>
            <a:pPr rtl="1" algn="ctr" indent="0" marL="0">
              <a:buNone/>
            </a:pPr>
            <a:r>
              <a:rPr lang="ar-SA" altLang="en-US" sz="1800" b="1" dirty="0">
                <a:solidFill>
                  <a:srgbClr val="D6336C"/>
                </a:solidFill>
                <a:latin typeface="Amiri" pitchFamily="34" charset="0"/>
                <a:ea typeface="Amiri" pitchFamily="34" charset="-122"/>
                <a:cs typeface="Amiri" pitchFamily="34" charset="-120"/>
              </a:rPr>
              <a:t>لَكَانَ</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الوَضْعُ مُخْتَلِفًا.</a:t>
            </a:r>
            <a:endParaRPr lang="ar-SA" sz="1800" dirty="0"/>
          </a:p>
        </p:txBody>
      </p:sp>
      <p:sp>
        <p:nvSpPr>
          <p:cNvPr id="28" name="Text 25"/>
          <p:cNvSpPr txBox="1"/>
          <p:nvPr/>
        </p:nvSpPr>
        <p:spPr>
          <a:xfrm>
            <a:off x="548640" y="3840480"/>
            <a:ext cx="5330952"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إِذَا اسْتَثْمَرَتِ</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الدُّوَلُ فِي تَعْلِيمِ المَرْأَةِ، </a:t>
            </a:r>
            <a:pPr rtl="1" algn="ctr" indent="0" marL="0">
              <a:buNone/>
            </a:pPr>
            <a:r>
              <a:rPr lang="ar-SA" altLang="en-US" sz="1800" b="1" dirty="0">
                <a:solidFill>
                  <a:srgbClr val="0E7C86"/>
                </a:solidFill>
                <a:latin typeface="Amiri" pitchFamily="34" charset="0"/>
                <a:ea typeface="Amiri" pitchFamily="34" charset="-122"/>
                <a:cs typeface="Amiri" pitchFamily="34" charset="-120"/>
              </a:rPr>
              <a:t>سَيَرْتَفِعُ</a:t>
            </a:r>
            <a:pPr rtl="1" algn="ctr" indent="0" marL="0">
              <a:buNone/>
            </a:pPr>
            <a:r>
              <a:rPr lang="ar-SA" altLang="en-US" sz="1800" b="1" dirty="0">
                <a:solidFill>
                  <a:srgbClr val="1B3B6F"/>
                </a:solidFill>
                <a:latin typeface="Amiri" pitchFamily="34" charset="0"/>
                <a:ea typeface="Amiri" pitchFamily="34" charset="-122"/>
                <a:cs typeface="Amiri" pitchFamily="34" charset="-120"/>
              </a:rPr>
              <a:t> مُعَدَّلُ التَّعَلُّمِ.</a:t>
            </a:r>
            <a:endParaRPr lang="ar-SA" sz="1800" dirty="0"/>
          </a:p>
        </p:txBody>
      </p:sp>
      <p:sp>
        <p:nvSpPr>
          <p:cNvPr id="29" name="Text 2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la-kāna (would have been) is the most useful Type 2 result in history writing. Never sa- after law.</a:t>
            </a:r>
            <a:endParaRPr lang="en-US" sz="11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Tense across a historical timeline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الأَزْمِنَةُ عَبْرَ الخَطِّ التَّارِيخِيِّ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Past perfect: the earliest layer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kāna qad + past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كَانَ العَرَبُ قَدْ أَسَّسُوا نِظَامًا عَالَمِيًّا   ·   كَانَتْ دَارُ الحِكْمَةِ قَدِ اسْتَقْطَبَتْ عُلَمَاءَ</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Simple past: later events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izdahara · inḥaṭṭa · taṭawwara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اِزْدَهَرَ التَّعْلِيمُ فِي دَارِ الحِكْمَةِ   ·   اِنْحَطَّ التَّعْلِيمُ خِلَالَ فَتَرَاتِ الغَزْوِ</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Present: today’s challenges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yashhad · yamurr bi-</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يَشْهَدُ التَّعْلِيمُ إِصْلَاحَاتٍ جَذْرِيَّةً   ·   تَمُرُّ مَنَاطِقُ النِّزَاعِ بِأَزَمَاتٍ تَعْلِيمِيَّةٍ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Analysis with both conditionals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law … la- · idhā … sa-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لَوِ اسْتَثْمَرَ العَالَمُ العَرَبِيُّ مُبَكِّرًا، لَكَانَ وَضْعُهُ مُخْتَلِفًا   ·   إِذَا وَاصَلَتِ الإِصْلَاحَاتُ، سَيَتَحَسَّنُ الوَضْعُ</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tense fits the Golden Age achievement?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يُؤَسِّسُ العَرَبُ نِظَامًا مُتَقَدِّمًا.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سَيُؤَسِّسُ العَرَبُ نِظَامًا.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العَرَبُ قَدْ أَسَّسُوا نِظَامًا مُتَقَدِّمًا.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simple past for a later event?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اِنْحَطَّ التَّعْلِيمُ خِلَالَ الغَزْوِ.</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يَنْحَطُّ التَّعْلِيمُ.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انْحَطَّ ثُمَّ ازْدَهَرَ.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fits today's challenges?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شَهِدَ التَّعْلِيمُ إِصْلَاحَاتٍ.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يَشْهَدُ التَّعْلِيمُ إِصْلَاحَاتٍ.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شَهِدَ إِصْلَاحَاتٍ.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تَمُرُّ مَنَاطِقُ النِّزَاعِ ___ أَزَمَاتٍ تَعْلِيمِيَّةٍ.</a:t>
            </a:r>
            <a:endParaRPr lang="ar-SA" sz="14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tense fits the Golden Age achievement?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يُؤَسِّسُ العَرَبُ نِظَامًا مُتَقَدِّمًا.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سَيُؤَسِّسُ العَرَبُ نِظَامًا.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العَرَبُ قَدْ أَسَّسُوا نِظَامًا مُتَقَدِّمًا.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earliest achievement takes the past perfect </a:t>
            </a:r>
            <a:pPr algn="l" indent="0" marL="0">
              <a:buNone/>
            </a:pPr>
            <a:r>
              <a:rPr lang="ar-SA" altLang="en-US" sz="1350" dirty="0">
                <a:solidFill>
                  <a:srgbClr val="8A6D1E"/>
                </a:solidFill>
                <a:latin typeface="Amiri" pitchFamily="34" charset="0"/>
                <a:ea typeface="Amiri" pitchFamily="34" charset="-122"/>
                <a:cs typeface="Amiri" pitchFamily="34" charset="-120"/>
              </a:rPr>
              <a:t>كَانَ قَدْ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simple past for a later event?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اِنْحَطَّ التَّعْلِيمُ خِلَالَ الغَزْوِ.</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يَنْحَطُّ التَّعْلِيمُ.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قَدِ انْحَطَّ ثُمَّ ازْدَهَرَ.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later historical event takes the simple past.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fits today's challenges?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شَهِدَ التَّعْلِيمُ إِصْلَاحَاتٍ.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يَشْهَدُ التَّعْلِيمُ إِصْلَاحَاتٍ.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قَدْ شَهِدَ إِصْلَاحَاتٍ.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Current reality takes the present tense.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تَمُرُّ مَنَاطِقُ النِّزَاعِ ___ أَزَمَاتٍ تَعْلِيمِيَّةٍ.</a:t>
            </a:r>
            <a:endParaRPr lang="ar-SA" sz="14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يَمُرُّ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Watch me write a history in four tenses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Golden Age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كَانَتْ</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D6336C"/>
                </a:solidFill>
                <a:latin typeface="Amiri" pitchFamily="34" charset="0"/>
                <a:ea typeface="Amiri" pitchFamily="34" charset="-122"/>
                <a:cs typeface="Amiri" pitchFamily="34" charset="-120"/>
              </a:rPr>
              <a:t>قَدِ اسْتَقْطَبَتْ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perfect.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Historians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وَأَشَارَ</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7B3FA0"/>
                </a:solidFill>
                <a:latin typeface="Amiri" pitchFamily="34" charset="0"/>
                <a:ea typeface="Amiri" pitchFamily="34" charset="-122"/>
                <a:cs typeface="Amiri" pitchFamily="34" charset="-120"/>
              </a:rPr>
              <a:t>إِلَى أَنَّ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Citation.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Decline · today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انْحَطَّ</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C77700"/>
                </a:solidFill>
                <a:latin typeface="Amiri" pitchFamily="34" charset="0"/>
                <a:ea typeface="Amiri" pitchFamily="34" charset="-122"/>
                <a:cs typeface="Amiri" pitchFamily="34" charset="-120"/>
              </a:rPr>
              <a:t>يَشْهَدُ</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 present.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Analysis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لَوِ اسْتَثْمَرَ</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0E7C86"/>
                </a:solidFill>
                <a:latin typeface="Amiri" pitchFamily="34" charset="0"/>
                <a:ea typeface="Amiri" pitchFamily="34" charset="-122"/>
                <a:cs typeface="Amiri" pitchFamily="34" charset="-120"/>
              </a:rPr>
              <a:t>لَكَانَ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law … la-.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PERFECT</a:t>
            </a:r>
            <a:endParaRPr lang="en-US" sz="800" dirty="0"/>
          </a:p>
        </p:txBody>
      </p:sp>
      <p:sp>
        <p:nvSpPr>
          <p:cNvPr id="47" name="Shape 43"/>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REPORTED</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SIMPLE PAST</a:t>
            </a:r>
            <a:endParaRPr lang="en-US" sz="800" dirty="0"/>
          </a:p>
        </p:txBody>
      </p:sp>
      <p:sp>
        <p:nvSpPr>
          <p:cNvPr id="51" name="Shape 47"/>
          <p:cNvSpPr/>
          <p:nvPr/>
        </p:nvSpPr>
        <p:spPr>
          <a:xfrm>
            <a:off x="9528048"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PRESENT</a:t>
            </a:r>
            <a:endParaRPr lang="en-US" sz="800" dirty="0"/>
          </a:p>
        </p:txBody>
      </p:sp>
      <p:sp>
        <p:nvSpPr>
          <p:cNvPr id="53" name="Shape 49"/>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كَانَتْ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دَارُ الحِكْمَةِ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قَدِ اسْتَقْطَبَتْ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عُلَمَاءَ مِنْ مُخْتَلِفِ الحَضَارَاتِ.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وَأَشَارَ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المُؤَرِّخُونَ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إِلَى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العُلَمَاءَ المُسْلِمِينَ كَانُوا قَدْ تَرْجَمُوا الإِرْثَ اليُونَانِيَّ. ثُمَّ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انْحَطَّ</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التَّعْلِيمُ خِلَالَ فَتَرَاتِ الغَزْوِ. اليَوْمَ،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يَشْهَدُ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التَّعْلِيمُ العَرَبِيُّ إِصْلَاحَاتٍ.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لَوِ اسْتَثْمَرَ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العَالَمُ العَرَبِيُّ مُبَكِّرًا،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لَكَانَ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وَضْعُهُ العِلْمِيُّ مُخْتَلِفًا.</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ea typeface="Calibri" pitchFamily="34" charset="-122"/>
                <a:cs typeface="Calibri" pitchFamily="34" charset="-120"/>
              </a:rPr>
              <a:t>The House of Wisdom had attracted scholars from different civilisations. Historians pointed out that Muslim scholars had translated the Greek heritage. Then education declined during the periods of invasion. Today, Arab education is undergoing reforms. If the Arab world had invested early, its scientific situation would have been different.</a:t>
            </a:r>
            <a:endParaRPr lang="en-US" sz="10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بِحُلُولِ القَرْنِ التَّاسِعِ، كَانَ العَرَبُ قَدْ طَوَّرُوا أَنْظِمَةً مُتَقَدِّمَةً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by the ninth century, the Arabs had developed advanced systems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Past perfect for the earliest layer.</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اِنْحَطَّ التَّعْلِيمُ خِلَالَ فَتَرَاتِ الغَزْوِ ثُمَّ تَطَوَّرَ بَعْدَ الاسْتِقْلَالِ</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education declined during the invasions, then developed after independence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Simple past for later events.</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لَوِ اسْتَثْمَرَ العَالَمُ العَرَبِيُّ مُبَكِّرًا، لَكَانَ وَضْعُهُ العِلْمِيُّ مُخْتَلِفًا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the Arab world had invested early, its scientific situation would have been different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Counterfactual analysis with law.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HISTORICAL ANALYSIS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Achievement + challenge + analysis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تَحْلِيلَكَ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Golden Age (kāna qad)</a:t>
            </a:r>
            <a:endParaRPr lang="en-US" sz="1100" dirty="0"/>
          </a:p>
        </p:txBody>
      </p:sp>
      <p:sp>
        <p:nvSpPr>
          <p:cNvPr id="17" name="Text 14"/>
          <p:cNvSpPr txBox="1"/>
          <p:nvPr/>
        </p:nvSpPr>
        <p:spPr>
          <a:xfrm>
            <a:off x="4581144"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Today (present)</a:t>
            </a:r>
            <a:endParaRPr lang="en-US" sz="1100" dirty="0"/>
          </a:p>
        </p:txBody>
      </p:sp>
      <p:sp>
        <p:nvSpPr>
          <p:cNvPr id="18" name="Text 15"/>
          <p:cNvSpPr txBox="1"/>
          <p:nvPr/>
        </p:nvSpPr>
        <p:spPr>
          <a:xfrm>
            <a:off x="53035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Analysis (law · idhā · citation)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كَانَ العَرَبُ قَدْ أَسَّسُوا أَرْقَى الأَنْظِمَةِ فِي العَصْرِ الذَّهَبِيِّ</a:t>
            </a:r>
            <a:endParaRPr lang="ar-SA" sz="1450" dirty="0"/>
          </a:p>
        </p:txBody>
      </p:sp>
      <p:sp>
        <p:nvSpPr>
          <p:cNvPr id="21" name="Text 18"/>
          <p:cNvSpPr txBox="1"/>
          <p:nvPr/>
        </p:nvSpPr>
        <p:spPr>
          <a:xfrm>
            <a:off x="4599432" y="2267712"/>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وَاليَوْمَ يَشْهَدُ التَّعْلِيمُ العَرَبِيُّ إِصْلَاحَاتٍ جَذْرِيَّةً</a:t>
            </a:r>
            <a:endParaRPr lang="ar-SA" sz="1600" dirty="0"/>
          </a:p>
        </p:txBody>
      </p:sp>
      <p:sp>
        <p:nvSpPr>
          <p:cNvPr id="22" name="Text 19"/>
          <p:cNvSpPr txBox="1"/>
          <p:nvPr/>
        </p:nvSpPr>
        <p:spPr>
          <a:xfrm>
            <a:off x="548640" y="2267712"/>
            <a:ext cx="386791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وَلَوِ اسْتُثْمِرَ فِي العِلْمِ مُبَكِّرًا، لَاسْتَعَادَتِ المِنْطَقَةُ رِيَادَتَهَا</a:t>
            </a:r>
            <a:endParaRPr lang="ar-SA" sz="14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كَانَتْ دَارُ الحِكْمَةِ قَدِ اسْتَقْطَبَتْ عُلَمَاءَ مِنْ كُلِّ الثَّقَافَاتِ</a:t>
            </a:r>
            <a:endParaRPr lang="ar-SA" sz="1450" dirty="0"/>
          </a:p>
        </p:txBody>
      </p:sp>
      <p:sp>
        <p:nvSpPr>
          <p:cNvPr id="27" name="Text 24"/>
          <p:cNvSpPr txBox="1"/>
          <p:nvPr/>
        </p:nvSpPr>
        <p:spPr>
          <a:xfrm>
            <a:off x="4599432" y="3054096"/>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لٰكِنَّ بَعْضَ الدُّوَلِ تُعَانِي مِنْ مُعَدَّلَاتِ أُمِّيَّةٍ مُرْتَفِعَةٍ</a:t>
            </a:r>
            <a:endParaRPr lang="ar-SA" sz="1600" dirty="0"/>
          </a:p>
        </p:txBody>
      </p:sp>
      <p:sp>
        <p:nvSpPr>
          <p:cNvPr id="28" name="Text 25"/>
          <p:cNvSpPr txBox="1"/>
          <p:nvPr/>
        </p:nvSpPr>
        <p:spPr>
          <a:xfrm>
            <a:off x="548640" y="3054096"/>
            <a:ext cx="386791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وَاصَلَتِ الدُّوَلُ إِصْلَاحَاتِهَا، سَتَتَقَلَّصُ الفَجْوَةُ</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كَانُوا قَدْ تَرْجَمُوا الإِرْثَ اليُونَانِيَّ وَأَضَافُوا إِلَيْهِ</a:t>
            </a:r>
            <a:endParaRPr lang="ar-SA" sz="1550" dirty="0"/>
          </a:p>
        </p:txBody>
      </p:sp>
      <p:sp>
        <p:nvSpPr>
          <p:cNvPr id="31" name="Text 28"/>
          <p:cNvSpPr txBox="1"/>
          <p:nvPr/>
        </p:nvSpPr>
        <p:spPr>
          <a:xfrm>
            <a:off x="4599432" y="3840480"/>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وَتَمُرُّ مَنَاطِقُ النِّزَاعِ بِأَزَمَاتٍ تَعْلِيمِيَّةٍ</a:t>
            </a:r>
            <a:endParaRPr lang="ar-SA" sz="1600" dirty="0"/>
          </a:p>
        </p:txBody>
      </p:sp>
      <p:sp>
        <p:nvSpPr>
          <p:cNvPr id="32" name="Text 29"/>
          <p:cNvSpPr txBox="1"/>
          <p:nvPr/>
        </p:nvSpPr>
        <p:spPr>
          <a:xfrm>
            <a:off x="548640" y="3840480"/>
            <a:ext cx="386791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وَأَشَارَ المُؤَرِّخُونَ إِلَى أَنَّ المَوْرُوثَ العِلْمِيَّ مَا زَالَ حَيًّا</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then write three different versions.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Golden Age, later events — or today?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 قَدْ أَسَّسَ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قَدِ اسْتَقْطَبَتْ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كَانُوا قَدْ تَرْجَمُوا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اِزْدَهَرَ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اِنْحَطَّ</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تَطَوَّرَ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يَشْهَدُ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يَمُرُّ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يُوَاجِهُ</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perfect (Golden Age)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Simple past (later)</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Present (today)</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perfect (Golden Age)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 قَدْ أَسَّسَ</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قَدِ اسْتَقْطَبَتْ</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كَانُوا قَدْ تَرْجَمُوا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Simple past (later)</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اِزْدَهَرَ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اِنْحَطَّ</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تَطَوَّرَ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Present (today)</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يَشْهَدُ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يَمُرُّ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يُوَاجِهُ</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كَانَتْ دَارُ الحِكْمَةِ قَدِ ___ عُلَمَاءَ.</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تَسْتَقْطِبُ</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سَتَسْتَقْطِبُ</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اسْتَقْطَبَتْ</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reports a historian accurately?</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أَشَارَ المُؤَرِّخُونَ أَنَّ دَارَ الحِكْمَةِ جَمَعَتْ عُلَمَاءَ.</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أَشَارَ المُؤَرِّخُونَ إِلَى أَنَّ دَارَ الحِكْمَةِ جَمَعَتْ عُلَمَاءَ.</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أَشَارَ المُؤَرِّخُونَ إِلَى إِنَّ دَارَ الحِكْمَةِ.</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counterfactual analysis (Type 2)?</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إِذَا اسْتَثْمَرَ العَالَمُ العَرَبِيُّ، سَيَتَحَسَّنُ الوَضْعُ.</a:t>
            </a:r>
            <a:endParaRPr lang="ar-SA" sz="200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لَوِ اسْتَثْمَرَ العَالَمُ العَرَبِيُّ مُبَكِّرًا، لَكَانَ وَضْعُهُ مُخْتَلِفًا.</a:t>
            </a:r>
            <a:endParaRPr lang="ar-SA" sz="200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يَسْتَثْمِرُ العَالَمُ العَرَبِيُّ فِي التَّعْلِيمِ.</a:t>
            </a:r>
            <a:endParaRPr lang="ar-SA" sz="200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orders the tenses correctly across time?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يَشْهَدُ العَرَبُ، ثُمَّ كَانُوا قَدْ أَسَّسُوا، ثُمَّ سَيَنْحَطُّ.</a:t>
            </a:r>
            <a:endParaRPr lang="ar-SA" sz="16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سَيُؤَسِّسُ العَرَبُ ثُمَّ انْحَطَّ ثُمَّ يَشْهَدُ.</a:t>
            </a:r>
            <a:endParaRPr lang="ar-SA" sz="16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كَانَ العَرَبُ قَدْ أَسَّسُوا، ثُمَّ انْحَطَّ التَّعْلِيمُ، وَاليَوْمَ يَشْهَدُ إِصْلَاحَاتٍ.</a:t>
            </a:r>
            <a:endParaRPr lang="ar-SA" sz="16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كَانَتْ دَارُ الحِكْمَةِ قَدِ ___ عُلَمَاءَ.</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تَسْتَقْطِبُ</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سَتَسْتَقْطِبُ</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اسْتَقْطَبَتْ</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قَدْ</a:t>
            </a:r>
            <a:pPr algn="l" indent="0" marL="0">
              <a:buNone/>
            </a:pPr>
            <a:r>
              <a:rPr lang="en-US" sz="1050" i="1" dirty="0">
                <a:solidFill>
                  <a:srgbClr val="8A6D1E"/>
                </a:solidFill>
                <a:latin typeface="Calibri" pitchFamily="34" charset="0"/>
                <a:ea typeface="Calibri" pitchFamily="34" charset="-122"/>
                <a:cs typeface="Calibri" pitchFamily="34" charset="-120"/>
              </a:rPr>
              <a:t> is past, agreeing with the feminine subject.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reports a historian accurately?</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أَشَارَ المُؤَرِّخُونَ أَنَّ دَارَ الحِكْمَةِ جَمَعَتْ عُلَمَاءَ.</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أَشَارَ المُؤَرِّخُونَ إِلَى أَنَّ دَارَ الحِكْمَةِ جَمَعَتْ عُلَمَاءَ.</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أَشَارَ المُؤَرِّخُونَ إِلَى إِنَّ دَارَ الحِكْمَةِ.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أَشَارَ إِلَى أَنَّ</a:t>
            </a:r>
            <a:pPr algn="l" indent="0" marL="0">
              <a:buNone/>
            </a:pPr>
            <a:r>
              <a:rPr lang="en-US" sz="1050" i="1" dirty="0">
                <a:solidFill>
                  <a:srgbClr val="8A6D1E"/>
                </a:solidFill>
                <a:latin typeface="Calibri" pitchFamily="34" charset="0"/>
                <a:ea typeface="Calibri" pitchFamily="34" charset="-122"/>
                <a:cs typeface="Calibri" pitchFamily="34" charset="-120"/>
              </a:rPr>
              <a:t> with an accusative noun.</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counterfactual analysis (Type 2)?</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اسْتَثْمَرَ العَالَمُ العَرَبِيُّ، سَيَتَحَسَّنُ الوَضْعُ.</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اسْتَثْمَرَ العَالَمُ العَرَبِيُّ مُبَكِّرًا، لَكَانَ وَضْعُهُ مُخْتَلِفًا.</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يَسْتَثْمِرُ العَالَمُ العَرَبِيُّ فِي التَّعْلِيمِ.</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imagines an unreal past.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orders the tenses correctly across time?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34" charset="0"/>
                <a:ea typeface="Amiri" pitchFamily="34" charset="-122"/>
                <a:cs typeface="Amiri" pitchFamily="34" charset="-120"/>
              </a:rPr>
              <a:t>يَشْهَدُ العَرَبُ، ثُمَّ كَانُوا قَدْ أَسَّسُوا، ثُمَّ سَيَنْحَطُّ.</a:t>
            </a:r>
            <a:endParaRPr lang="ar-SA" sz="16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34" charset="0"/>
                <a:ea typeface="Amiri" pitchFamily="34" charset="-122"/>
                <a:cs typeface="Amiri" pitchFamily="34" charset="-120"/>
              </a:rPr>
              <a:t>سَيُؤَسِّسُ العَرَبُ ثُمَّ انْحَطَّ ثُمَّ يَشْهَدُ.</a:t>
            </a:r>
            <a:endParaRPr lang="ar-SA" sz="16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650" b="1" dirty="0">
                <a:solidFill>
                  <a:srgbClr val="1F2A37"/>
                </a:solidFill>
                <a:latin typeface="Amiri" pitchFamily="34" charset="0"/>
                <a:ea typeface="Amiri" pitchFamily="34" charset="-122"/>
                <a:cs typeface="Amiri" pitchFamily="34" charset="-120"/>
              </a:rPr>
              <a:t>كَانَ العَرَبُ قَدْ أَسَّسُوا، ثُمَّ انْحَطَّ التَّعْلِيمُ، وَاليَوْمَ يَشْهَدُ إِصْلَاحَاتٍ.</a:t>
            </a:r>
            <a:endParaRPr lang="ar-SA" sz="16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perfect → simple past → present follows the timeline.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يُؤَسِّسُ العَرَبُ نِظَامًا مُتَقَدِّمًا فِي العَصْرِ الذَّهَبِيِّ.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Golden-Age achievement in the present?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تَمُرُّ المِنْطَقَةُ عَلَى أَزْمَةٍ تَعْلِيمِيَّةٍ.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yamurr + ʿalā?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2800" b="1" dirty="0">
                <a:solidFill>
                  <a:srgbClr val="B83227"/>
                </a:solidFill>
                <a:latin typeface="Amiri" pitchFamily="34" charset="0"/>
                <a:ea typeface="Amiri" pitchFamily="34" charset="-122"/>
                <a:cs typeface="Amiri" pitchFamily="34" charset="-120"/>
              </a:rPr>
              <a:t>لَوِ اسْتَثْمَرَ العَالَمُ العَرَبِيُّ مُبَكِّرًا، سَيَكُونُ وَضْعُهُ مُخْتَلِفًا.</a:t>
            </a:r>
            <a:endParaRPr lang="ar-SA" sz="28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يُؤَسِّسُ العَرَبُ نِظَامًا مُتَقَدِّمًا فِي العَصْرِ الذَّهَبِيِّ.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كَانَ العَرَبُ قَدْ أَسَّسُوا نِظَامًا مُتَقَدِّمًا فِي العَصْرِ الذَّهَبِيِّ.</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Golden-Age achievement takes the past perfect.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تَمُرُّ المِنْطَقَةُ عَلَى أَزْمَةٍ تَعْلِيمِيَّةٍ.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تَمُرُّ المِنْطَقَةُ بِأَزْمَةٍ تَعْلِيمِيَّةٍ.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يَمُرُّ</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لَوِ اسْتَثْمَرَ العَالَمُ العَرَبِيُّ مُبَكِّرًا، سَيَكُونُ وَضْعُهُ مُخْتَلِفًا.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لَوِ اسْتَثْمَرَ العَالَمُ العَرَبِيُّ مُبَكِّرًا، لَكَانَ وَضْعُهُ مُخْتَلِفًا.</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Listening: from the House of Wisdom to today</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Arabs done by the ninth century?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Founded a world education system before European universities existed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yet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Closed their schools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House of Wisdom done?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Rejected foreign scholars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taught reading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Attracted scholars from many cultures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historians point out about Ibn Rushd?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wrote nothing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taught in Europe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had written commentaries that became a reference in Europe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during the invasions, then after independence?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Education declined, then developed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Education only grew</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Education vanished forever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investment?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Investment is pointless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Had there been parallel investment, the scientific situation would have differed</a:t>
            </a:r>
            <a:endParaRPr lang="en-US" sz="12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situation cannot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kāna qad · inḥaṭṭa · yashhad · law … la-kāna.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بِحُلُولِ القَرْنِ التَّاسِعِ، كَانَ العَرَبُ قَدْ أَسَّسُوا نِظَامًا تَعْلِيمِيًّا عَالَمِيًّا قَبْلَ أَنْ تُوجَدَ الجَامِعَاتُ الأُورُوبِّيَّةُ.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the ninth century, the Arabs had founded a world education system before European universities existed.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كَانَتْ دَارُ الحِكْمَةِ فِي بَغْدَادَ قَدِ اسْتَقْطَبَتْ عُلَمَاءَ مِنْ ثَقَافَاتٍ مُتَعَدِّدَةٍ، وَازْدَهَرَتِ التَّرْجَمَةُ وَالعُلُومُ.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House of Wisdom in Baghdad had attracted scholars from many cultures, and translation and the sciences flourished.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وَأَشَارَ المُؤَرِّخُونَ إِلَى أَنَّ ابْنَ رُشْدٍ كَانَ قَدْ كَتَبَ شُرُوحًا أَصْبَحَتْ مَرْجِعًا فِي أُورُوبَّا. ثُمَّ انْحَطَّ التَّعْلِيمُ خِلَالَ فَتَرَاتِ الغَزْوِ، وَتَطَوَّرَ بَعْدَ الاسْتِقْلَالِ.</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Historians pointed out that Ibn Rushd had written commentaries that became a reference in Europe. Then education declined during the invasions, and developed after independence.</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اليَوْمَ يَشْهَدُ التَّعْلِيمُ العَرَبِيُّ إِصْلَاحَاتٍ، لٰكِنَّ بَعْضَ المَنَاطِقِ تُعَانِي مِنْ مُعَدَّلَاتِ أُمِّيَّةٍ مُرْتَفِعَةٍ.</a:t>
            </a:r>
            <a:endParaRPr lang="ar-SA" sz="16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Today Arab education is undergoing reforms, but some regions suffer from high illiteracy rates.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وَلَوِ اسْتُثْمِرَ فِي التَّعْلِيمِ بِنِسْبَةٍ مُوَازِيَةٍ لِلدُّوَلِ المُتَقَدِّمَةِ، لَكَانَ الوَضْعُ العِلْمِيُّ مُخْتَلِفًا.</a:t>
            </a:r>
            <a:endParaRPr lang="ar-SA" sz="17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had education been invested in at a rate equal to developed countries, the scientific situation would have been different.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Arabs done by the ninth century?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Founded a world education system before European universities existed</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yet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Closed their schools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كَانَ العَرَبُ قَدْ أَسَّسُوا نِظَامًا … قَبْلَ أَنْ تُوجَدَ الجَامِعَاتُ الأُورُوبِّيَّةُ.</a:t>
            </a:r>
            <a:endParaRPr lang="ar-SA" sz="11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House of Wisdom done?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Rejected foreign scholars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taught reading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Attracted scholars from many cultures</a:t>
            </a:r>
            <a:endParaRPr lang="en-US" sz="12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كَانَتْ دَارُ الحِكْمَةِ … قَدِ اسْتَقْطَبَتْ عُلَمَاءَ مِنْ ثَقَافَاتٍ مُتَعَدِّدَةٍ.</a:t>
            </a:r>
            <a:endParaRPr lang="ar-SA"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historians point out about Ibn Rushd?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wrote nothing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taught in Europe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He had written commentaries that became a reference in Europe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 قَدْ كَتَبَ شُرُوحًا أَصْبَحَتْ مَرْجِعًا فِي أُورُوبَّا.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during the invasions, then after independence?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Education declined, then developed</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Education only grew</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Education vanished forever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انْحَطَّ التَّعْلِيمُ … وَتَطَوَّرَ بَعْدَ الاسْتِقْلَالِ.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investment?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Investment is pointless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there been parallel investment, the scientific situation would have differed</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situation cannot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اسْتُثْمِرَ … لَكَانَ الوَضْعُ العِلْمِيُّ مُخْتَلِفًا.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kāna qad · inḥaṭṭa · yashhad · law … la-kāna.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then and now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كَانَ العَرَبُ قَدْ حَقَّقُوا فِي العَصْرِ الذَّهَبِيِّ؟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التَّحَدِّي التَّعْلِيمِيُّ اليَوْمَ؟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اسْتُثْمِرَ فِي التَّعْلِيمِ مُبَكِّرًا، مَاذَا كَانَ سَيَخْتَلِفُ؟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كَانَ العَرَبُ قَدْ ___ فِي العَصْرِ الذَّهَبِيِّ.</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اليَوْمَ يَشْهَدُ التَّعْلِيمُ ___ ، لٰكِنَّ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لَوِ اسْتُثْمِرَ فِي التَّعْلِيمِ مُبَكِّرًا،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كَانَ العَرَبُ قَدْ حَقَّقُوا فِي العَصْرِ الذَّهَبِيِّ؟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had the Arabs achieved in the Golden Age?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كَانُوا قَدْ أَسَّسُوا دَارَ الحِكْمَةِ وَاسْتَقْطَبُوا عُلَمَاءَ مِنْ كُلِّ الثَّقَافَاتِ.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They had founded the House of Wisdom and attracted scholars from all cultures.</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historical sentences choosing the right tense for each period.</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five history sentences, choosing the right tense for each period.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reported-speech citation of historians.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reported-speech citation of historians.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three-part analysis: past-perfect achievement, present challenge, counterfactual with </a:t>
            </a:r>
            <a:pPr algn="l" indent="0" marL="0">
              <a:buNone/>
            </a:pPr>
            <a:r>
              <a:rPr lang="ar-SA" altLang="en-US" sz="1800" b="1" dirty="0">
                <a:solidFill>
                  <a:srgbClr val="1F2A37"/>
                </a:solidFill>
                <a:latin typeface="Amiri" pitchFamily="34" charset="0"/>
                <a:ea typeface="Amiri" pitchFamily="34" charset="-122"/>
                <a:cs typeface="Amiri" pitchFamily="34" charset="-120"/>
              </a:rPr>
              <a:t>لَوْ</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past perfect, simple past and present, one citation and both conditional types.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أَشَارَ المُؤَرِّخُونَ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Historians pointed out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تَمُرُّ بَعْضُ المَنَاطِقِ بِأَزَمَاتٍ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Some regions are going through crises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لَوِ اسْتَثْمَرَ العَالَمُ العَرَبِيُّ مُبَكِّرًا، ______ .</a:t>
            </a:r>
            <a:endParaRPr lang="ar-SA" sz="17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the Arab world had invested early,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وَاصَلَتِ الإِصْلَاحَاتُ،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the reforms continue,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بِحُلُولِ القَرْنِ التَّاسِعِ، كَانَ العَرَبُ قَدْ ______ .</a:t>
            </a:r>
            <a:endParaRPr lang="ar-SA" sz="16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By the ninth century, the Arabs had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كَانَتْ دَارُ الحِكْمَةِ قَدِ اسْتَقْطَبَتْ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House of Wisdom had attracted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انْحَطَّ التَّعْلِيمُ خِلَالَ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education declined during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اليَوْمَ، يَشْهَدُ التَّعْلِيمُ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Today, education is undergoing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34" charset="0"/>
                <a:ea typeface="Amiri" pitchFamily="34" charset="-122"/>
                <a:cs typeface="Amiri" pitchFamily="34" charset="-120"/>
              </a:rPr>
              <a:t>أَسَّسُوا أَرْقَى الأَنْظِمَةِ  ·  عُلَمَاءَ مِنْ كُلِّ الثَّقَافَاتِ  ·  تَرْجَمُوا الإِرْثَ اليُونَانِيَّ  ·  فَتَرَاتِ الغَزْوِ  ·  إِصْلَاحَاتٍ جَذْرِيَّةً  ·  مُعَدَّلَاتُ الأُمِّيَّةِ  ·  تَعْلِيمُ المَرْأَةِ  ·  تَحْدِيثُ المَنَاهِجِ  ·  لَكَانَ وَضْعُهُ مُخْتَلِفًا  ·  لَاسْتَعَادَتِ المِنْطَقَةُ رِيَادَتَهَا  ·  سَيَتَحَسَّنُ الوَضْعُ  ·  سَتَتَقَلَّصُ الفَجْوَةُ</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one hundred to one hundred and ten words analysing Arab education across time. Use the past perfect for the Golden Age, the simple past and present for later periods and today, one reported-speech clause, and both conditional types.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past-perfect sentences for the Golden Age.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move to simple past and present as the timeline advances.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reported-speech clause citing historians.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2 counterfactual and a Type 1 real proposal.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أَرْقَى الأَنْظِمَةِ التَّعْلِيمِيَّةِ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finest education systems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عُلَمَاءَ مِنْ مُخْتَلِفِ الحَضَارَاتِ</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scholars from different civilisations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تَرْجَمُوا الإِرْثَ اليُونَانِيَّ وَأَضَافُوا إِلَيْهِ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they translated the Greek heritage and added to it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بِنِسْبَةٍ مُوَازِيَةٍ لِلدُّوَلِ المُتَقَدِّمَةِ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at a rate equal to developed countries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مُخْتَلِفًا جَذْرِيًّا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radically different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كَانَ العَالَمُ العَرَبِيُّ قَدْ أَسَّسَ أَرْقَى الأَنْظِمَةِ التَّعْلِيمِيَّةِ خِلَالَ العَصْرِ الذَّهَبِيِّ، وَكَانَتْ دَارُ الحِكْمَةِ قَدِ اسْتَقْطَبَتْ عُلَمَاءَ مِنْ مُخْتَلِفِ الحَضَارَاتِ. وَأَشَارَ المُؤَرِّخُونَ إِلَى أَنَّ العُلَمَاءَ المُسْلِمِينَ كَانُوا قَدْ تَرْجَمُوا الإِرْثَ اليُونَانِيَّ وَأَضَافُوا إِلَيْهِ. ثُمَّ انْحَطَّ التَّعْلِيمُ خِلَالَ فَتَرَاتِ الغَزْوِ، وَتَطَوَّرَ بَعْدَ الاسْتِقْلَالِ. اليَوْمَ، يَشْهَدُ التَّعْلِيمُ العَرَبِيُّ إِصْلَاحَاتٍ، لٰكِنَّ بَعْضَ الدُّوَلِ تُعَانِي مِنْ مُعَدَّلَاتِ أُمِّيَّةٍ مُرْتَفِعَةٍ. لَوِ اسْتَثْمَرَ العَالَمُ العَرَبِيُّ فِي التَّعْلِيمِ بِنِسْبَةٍ مُوَازِيَةٍ لِلدُّوَلِ المُتَقَدِّمَةِ، لَكَانَ وَضْعُهُ العِلْمِيُّ مُخْتَلِفًا جَذْرِيًّا. وَإِذَا وَاصَلَتِ الإِصْلَاحَاتُ، سَيَتَحَسَّنُ الوَضْعُ.</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Arab world had founded the finest education systems during the Golden Age, and the House of Wisdom had attracted scholars from different civilisations. Historians pointed out that Muslim scholars had translated the Greek heritage and added to it. Then education declined during the periods of invasion, and developed after independence. Today, Arab education is undergoing reforms, but some countries suffer from high illiteracy rates. If the Arab world had invested in education at a rate equal to developed countries, its scientific situation would have been radically different. And if the reforms continue, the situation will improve.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past perfects (kāna qad · kānat qad · kānū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citation (ashāra … ilā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simple past → present (inḥaṭṭa · yashhadu)</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law … la-kāna and idhā … sa-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Golden Age = kāna qad; later = simple past; today = present.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yamurr has bi-; yashhad has a direct object.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kāna qad agrees: kānat (she / it f.), kānū (they, subject first).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cited historians with ashāra … ilā anna.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law … la-kāna for the past; idhā … sa- for the future.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fits a Golden-Age achievement?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كَانَ العَرَبُ قَدْ أَسَّسُوا نِظَامًا مُتَقَدِّمًا.</a:t>
            </a:r>
            <a:endParaRPr lang="ar-SA" sz="18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يُؤَسِّسُ العَرَبُ نِظَامًا.</a:t>
            </a:r>
            <a:endParaRPr lang="ar-SA" sz="18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سَيُؤَسِّسُ العَرَبُ نِظَامًا.</a:t>
            </a:r>
            <a:endParaRPr lang="ar-SA" sz="18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تَمُرُّ المِنْطَقَةُ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أَزْمَةٍ تَعْلِيمِيَّةٍ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counterfactual (Type 2)?</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لَوِ اسْتَثْمَرَ العَالَمُ العَرَبِيُّ مُبَكِّرًا، لَكَانَ وَضْعُهُ مُخْتَلِفًا.</a:t>
            </a:r>
            <a:endParaRPr lang="ar-SA" sz="12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إِذَا اسْتَثْمَرَ العَالَمُ العَرَبِيُّ، سَيَتَحَسَّنُ الوَضْعُ.</a:t>
            </a:r>
            <a:endParaRPr lang="ar-SA" sz="12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يَسْتَثْمِرُ العَالَمُ العَرَبِيُّ.</a:t>
            </a:r>
            <a:endParaRPr lang="ar-SA" sz="12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fits a Golden-Age achievement?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كَانَ العَرَبُ قَدْ أَسَّسُوا نِظَامًا مُتَقَدِّمًا.</a:t>
            </a:r>
            <a:endParaRPr lang="ar-SA" sz="18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34" charset="0"/>
                <a:ea typeface="Amiri" pitchFamily="34" charset="-122"/>
                <a:cs typeface="Amiri" pitchFamily="34" charset="-120"/>
              </a:rPr>
              <a:t>يُؤَسِّسُ العَرَبُ نِظَامًا.</a:t>
            </a:r>
            <a:endParaRPr lang="ar-SA" sz="18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34" charset="0"/>
                <a:ea typeface="Amiri" pitchFamily="34" charset="-122"/>
                <a:cs typeface="Amiri" pitchFamily="34" charset="-120"/>
              </a:rPr>
              <a:t>سَيُؤَسِّسُ العَرَبُ نِظَامًا.</a:t>
            </a:r>
            <a:endParaRPr lang="ar-SA" sz="18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earliest achievement takes the past perfect.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تَمُرُّ المِنْطَقَةُ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أَزْمَةٍ تَعْلِيمِيَّةٍ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يَمُرُّ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counterfactual (Type 2)?</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لَوِ اسْتَثْمَرَ العَالَمُ العَرَبِيُّ مُبَكِّرًا، لَكَانَ وَضْعُهُ مُخْتَلِفًا.</a:t>
            </a:r>
            <a:endParaRPr lang="ar-SA" sz="12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34" charset="0"/>
                <a:ea typeface="Amiri" pitchFamily="34" charset="-122"/>
                <a:cs typeface="Amiri" pitchFamily="34" charset="-120"/>
              </a:rPr>
              <a:t>إِذَا اسْتَثْمَرَ العَالَمُ العَرَبِيُّ، سَيَتَحَسَّنُ الوَضْعُ.</a:t>
            </a:r>
            <a:endParaRPr lang="ar-SA" sz="12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34" charset="0"/>
                <a:ea typeface="Amiri" pitchFamily="34" charset="-122"/>
                <a:cs typeface="Amiri" pitchFamily="34" charset="-120"/>
              </a:rPr>
              <a:t>يَسْتَثْمِرُ العَالَمُ العَرَبِيُّ.</a:t>
            </a:r>
            <a:endParaRPr lang="ar-SA" sz="12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imagines an unreal past.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heritage and today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يَحْمِلُ العَالَمُ العَرَبِيُّ مَوْرُوثًا تَعْلِيمِيًّا عَرِيقًا. فَقَدْ كَانَ قَدْ أَسَّسَ أَرْقَى الأَنْظِمَةِ فِي العَالَمِ خِلَالَ العَصْرِ الذَّهَبِيِّ، وَكَانَتِ المُدُنُ مِثْلُ بَغْدَادَ وَقُرْطُبَةَ قَدِ اسْتَقْطَبَتْ عُلَمَاءَ وَمُتَرْجِمِينَ. ثُمَّ مَرَّ التَّعْلِيمُ بِفَتَرَاتِ ضَعْفٍ بَعْدَ الغَزْوِ وَالاسْتِعْمَارِ. اليَوْمَ، يُشَارُ إِلَى أَنَّ المِنْطَقَةَ تُعَانِي مِنْ فَجَوَاتٍ تَعْلِيمِيَّةٍ، وَمِنْ أَعْلَى مُعَدَّلَاتِ أُمِّيَّةِ الشَّبَابِ فِي بَعْضِ الدُّوَلِ. لٰكِنَّ الإِصْلَاحَاتِ مُسْتَمِرَّةٌ، وَخَاصَّةً فِي تَعْلِيمِ المَرْأَةِ وَتَحْدِيثِ المَنَاهِجِ. وَلَوْ عَادَ الاسْتِثْمَارُ فِي العِلْمِ كَمَا كَانَ، لَاسْتَعَادَتِ المِنْطَقَةُ رِيَادَتَهَا. وَإِذَا وَاصَلَتِ الدُّوَلُ إِصْلَاحَاتِهَا، سَتَتَقَلَّصُ الفَجْوَةُ.</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يَحْمِلُ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carries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عَرِيقًا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long-established, deep-rooted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أَرْقَى</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finest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قُرْطُبَةَ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Córdoba</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مُتَرْجِمِينَ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translators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فَتَرَاتِ ضَعْفٍ</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periods of weakness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الغَزْوِ</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invasion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يُشَارُ إِلَى أَنَّ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is pointed out that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رِيَادَتَهَا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leading role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سَتَتَقَلَّصُ</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will shrink</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Arab world done in the Golden Age?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Ignored learning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Founded the world's finest systems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Closed its cities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after invasion and colonialism?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Education only flourished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Education stayed the same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Education went through periods of weakness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today's reality, per the text?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Education gaps and high youth illiteracy in some countries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problems at all</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highest global scores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reforms especially active?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Sports only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Women's education and curriculum modernisation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Nowhere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investment?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Had investment in science returned, the region would have regained its leadership</a:t>
            </a:r>
            <a:endParaRPr lang="en-US" sz="12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Investment is useless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 is impossible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Arab world done in the Golden Age?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Ignored learning</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Founded the world's finest systems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Closed its cities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 قَدْ أَسَّسَ أَرْقَى الأَنْظِمَةِ … خِلَالَ العَصْرِ الذَّهَبِيِّ.</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after invasion and colonialism?</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Education only flourished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Education stayed the same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Education went through periods of weakness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 التَّعْلِيمُ بِفَتَرَاتِ ضَعْفٍ بَعْدَ الغَزْوِ وَالاسْتِعْمَارِ.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today's reality, per the text?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Education gaps and high youth illiteracy in some countries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problems at all</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highest global scores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تُعَانِي مِنْ فَجَوَاتٍ تَعْلِيمِيَّةٍ، وَمِنْ أَعْلَى مُعَدَّلَاتِ أُمِّيَّةِ الشَّبَابِ.</a:t>
            </a:r>
            <a:endParaRPr lang="ar-SA" sz="12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reforms especially active?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Sports only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Women's education and curriculum modernisation</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Nowhere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وَخَاصَّةً فِي تَعْلِيمِ المَرْأَةِ وَتَحْدِيثِ المَنَاهِجِ.</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investment?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investment in science returned, the region would have regained its leadership</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Investment is useless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Leadership is impossible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لَوْ عَادَ الاسْتِثْمَارُ فِي العِلْمِ … لَاسْتَعَادَتِ المِنْطَقَةُ رِيَادَتَهَا.</a:t>
            </a:r>
            <a:endParaRPr lang="ar-SA" sz="12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History Mission — Tense, Timeline and Analysis</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a Golden-Age achievement uses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present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كَانَ قَدْ</a:t>
            </a:r>
            <a:pPr algn="l" indent="0" marL="0">
              <a:buNone/>
            </a:pPr>
            <a:r>
              <a:rPr lang="en-US" sz="1250" dirty="0">
                <a:solidFill>
                  <a:srgbClr val="1F2A37"/>
                </a:solidFill>
                <a:latin typeface="Calibri" pitchFamily="34" charset="0"/>
                <a:ea typeface="Calibri" pitchFamily="34" charset="-122"/>
                <a:cs typeface="Calibri" pitchFamily="34" charset="-120"/>
              </a:rPr>
              <a:t> + past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future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a later historical event uses …</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simple past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past perfect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present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today's challenge uses …</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past perfect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future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present</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كَانَتْ دَارُ الحِكْمَةِ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اسْتَقْطَبَتْ عُلَمَاءَ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يَمُرُّ التَّعْلِيمُ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أَزْمَةٍ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which cites historians correctly?</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أَشَارَ المُؤَرِّخُونَ أَنَّ … </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أَشَارَ المُؤَرِّخُونَ إِلَى أَنَّ … </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أَشَارَ المُؤَرِّخُونَ إِلَى إِنَّ … </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a Golden-Age achievement uses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present</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كَانَ قَدْ</a:t>
            </a:r>
            <a:pPr algn="l" indent="0" marL="0">
              <a:buNone/>
            </a:pPr>
            <a:r>
              <a:rPr lang="en-US" sz="1250" b="1" dirty="0">
                <a:solidFill>
                  <a:srgbClr val="1F2A37"/>
                </a:solidFill>
                <a:latin typeface="Calibri" pitchFamily="34" charset="0"/>
                <a:ea typeface="Calibri" pitchFamily="34" charset="-122"/>
                <a:cs typeface="Calibri" pitchFamily="34" charset="-120"/>
              </a:rPr>
              <a:t> + past</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future</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earliest layer takes the past perfect.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a later historical event uses …</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simple past</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past perfect</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present</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Later events take the simple past.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today's challenge uses …</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past perfect</a:t>
            </a:r>
            <a:endParaRPr lang="en-US" sz="12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future</a:t>
            </a:r>
            <a:endParaRPr lang="en-US" sz="12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present</a:t>
            </a:r>
            <a:endParaRPr lang="en-US" sz="12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Current reality takes the present.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كَانَتْ دَارُ الحِكْمَةِ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اسْتَقْطَبَتْ عُلَمَاءَ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لَـ</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قَدِ</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 قَدِ</a:t>
            </a:r>
            <a:pPr algn="l" indent="0" marL="0">
              <a:buNone/>
            </a:pPr>
            <a:r>
              <a:rPr lang="en-US" sz="1050" i="1" dirty="0">
                <a:solidFill>
                  <a:srgbClr val="8A6D1E"/>
                </a:solidFill>
                <a:latin typeface="Calibri" pitchFamily="34" charset="0"/>
                <a:ea typeface="Calibri" pitchFamily="34" charset="-122"/>
                <a:cs typeface="Calibri" pitchFamily="34" charset="-120"/>
              </a:rPr>
              <a:t> + past forms the past perfect.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يَمُرُّ التَّعْلِيمُ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أَزْمَةٍ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يَمُرُّ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which cites historians correctly?</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أَشَارَ المُؤَرِّخُونَ أَنَّ … </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أَشَارَ المُؤَرِّخُونَ إِلَى أَنَّ … </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أَشَارَ المُؤَرِّخُونَ إِلَى إِنَّ … </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أَشَارَ إِلَى أَنَّ</a:t>
            </a:r>
            <a:pPr algn="l" indent="0" marL="0">
              <a:buNone/>
            </a:pPr>
            <a:r>
              <a:rPr lang="en-US" sz="1050" i="1" dirty="0">
                <a:solidFill>
                  <a:srgbClr val="8A6D1E"/>
                </a:solidFill>
                <a:latin typeface="Calibri" pitchFamily="34" charset="0"/>
                <a:ea typeface="Calibri" pitchFamily="34" charset="-122"/>
                <a:cs typeface="Calibri" pitchFamily="34" charset="-120"/>
              </a:rPr>
              <a:t> is the correct structure.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P2-L07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P2-L08: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P2-L08 · Reading — Education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نَصٌّ تَحْلِيلِيٌّ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analytical text</a:t>
            </a:r>
            <a:pPr indent="0" marL="0">
              <a:buNone/>
            </a:pPr>
            <a:r>
              <a:rPr lang="en-US" sz="1000" i="1" dirty="0">
                <a:solidFill>
                  <a:srgbClr val="5A6472"/>
                </a:solidFill>
                <a:latin typeface="Calibri" pitchFamily="34" charset="0"/>
                <a:ea typeface="Calibri" pitchFamily="34" charset="-122"/>
                <a:cs typeface="Calibri" pitchFamily="34" charset="-120"/>
              </a:rPr>
              <a:t>  pl. نُصُوصٌ</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مَقَالُ رَأْيٍ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opinion article</a:t>
            </a:r>
            <a:pPr indent="0" marL="0">
              <a:buNone/>
            </a:pPr>
            <a:r>
              <a:rPr lang="en-US" sz="1000" i="1" dirty="0">
                <a:solidFill>
                  <a:srgbClr val="5A6472"/>
                </a:solidFill>
                <a:latin typeface="Calibri" pitchFamily="34" charset="0"/>
                <a:ea typeface="Calibri" pitchFamily="34" charset="-122"/>
                <a:cs typeface="Calibri" pitchFamily="34" charset="-120"/>
              </a:rPr>
              <a:t>  pl. مَقَالَاتُ رَأْيٍ</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حُجَّةٌ مُضَادَّةٌ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counter-argument</a:t>
            </a:r>
            <a:pPr indent="0" marL="0">
              <a:buNone/>
            </a:pPr>
            <a:r>
              <a:rPr lang="en-US" sz="1000" i="1" dirty="0">
                <a:solidFill>
                  <a:srgbClr val="5A6472"/>
                </a:solidFill>
                <a:latin typeface="Calibri" pitchFamily="34" charset="0"/>
                <a:ea typeface="Calibri" pitchFamily="34" charset="-122"/>
                <a:cs typeface="Calibri" pitchFamily="34" charset="-120"/>
              </a:rPr>
              <a:t>  pl. حُجَجٌ</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يَسْتَشْهِدُ بِـ</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cites</a:t>
            </a:r>
            <a:pPr indent="0" marL="0">
              <a:buNone/>
            </a:pPr>
            <a:r>
              <a:rPr lang="en-US" sz="1000" i="1" dirty="0">
                <a:solidFill>
                  <a:srgbClr val="5A6472"/>
                </a:solidFill>
                <a:latin typeface="Calibri" pitchFamily="34" charset="0"/>
                <a:ea typeface="Calibri" pitchFamily="34" charset="-122"/>
                <a:cs typeface="Calibri" pitchFamily="34" charset="-120"/>
              </a:rPr>
              <a:t>  تَسْتَشْهِدُ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ادَّعَى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claimed (doubtful)</a:t>
            </a:r>
            <a:pPr indent="0" marL="0">
              <a:buNone/>
            </a:pPr>
            <a:r>
              <a:rPr lang="en-US" sz="1000" i="1" dirty="0">
                <a:solidFill>
                  <a:srgbClr val="5A6472"/>
                </a:solidFill>
                <a:latin typeface="Calibri" pitchFamily="34" charset="0"/>
                <a:ea typeface="Calibri" pitchFamily="34" charset="-122"/>
                <a:cs typeface="Calibri" pitchFamily="34" charset="-120"/>
              </a:rPr>
              <a:t>  ادَّعَتْ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can a reporting verb show whether a writer believes a claim?</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عِنْدَمَا يَكْتُبُ الكَاتِبُ «ادَّعَى»، فَهٰذَا يَعْنِي أَنَّهُ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history sentences — one per period — with the right tense.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citation: </a:t>
            </a:r>
            <a:pPr algn="l" indent="0" marL="0">
              <a:buNone/>
            </a:pPr>
            <a:r>
              <a:rPr lang="ar-SA" altLang="en-US" sz="1550" dirty="0">
                <a:solidFill>
                  <a:srgbClr val="1F2A37"/>
                </a:solidFill>
                <a:latin typeface="Amiri" pitchFamily="34" charset="0"/>
                <a:ea typeface="Amiri" pitchFamily="34" charset="-122"/>
                <a:cs typeface="Amiri" pitchFamily="34" charset="-120"/>
              </a:rPr>
              <a:t>أَشَارَ المُؤَرِّخُونَ إِلَى أَنَّ</a:t>
            </a:r>
            <a:pPr algn="l" indent="0" marL="0">
              <a:buNone/>
            </a:pPr>
            <a:r>
              <a:rPr lang="en-US" sz="1200" dirty="0">
                <a:solidFill>
                  <a:srgbClr val="1F2A37"/>
                </a:solidFill>
                <a:latin typeface="Calibri" pitchFamily="34" charset="0"/>
                <a:ea typeface="Calibri" pitchFamily="34" charset="-122"/>
                <a:cs typeface="Calibri" pitchFamily="34" charset="-120"/>
              </a:rPr>
              <a:t> …</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100–110-word analysis of Arab education across time.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P2-L07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P2-L08 · Reading — Education Texts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القِرَاءَةُ — نُصُوصُ التَّعْلِيمِ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match the tense to the period — kāna qad for the Golden Age, the simple past for decline and reform, the present for today — yamurr BI-, and law … la-kāna for “what if”.</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P2-L07 · Education in the Arab World — History and Change</dc:title>
  <dc:subject>PptxGenJS Presentation</dc:subject>
  <dc:creator>Al Madina Online School · Arabic Department</dc:creator>
  <cp:lastModifiedBy>Al Madina Online School · Arabic Department</cp:lastModifiedBy>
  <cp:revision>1</cp:revision>
  <dcterms:created xsi:type="dcterms:W3CDTF">2026-10-10T10:48:27Z</dcterms:created>
  <dcterms:modified xsi:type="dcterms:W3CDTF">2026-10-10T10:48:27Z</dcterms:modified>
</cp:coreProperties>
</file>