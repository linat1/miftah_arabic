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Progression › P2 Education and Future Plans › P2-L07. The website lesson “Education in the Arab World — History and Change”: vocabulary, grammar rules and quiz, patterns, common mistakes, sorter, listening, reading, speaking prompts and model, writing task and model, differentiation, final check and the lesson mission. Picture match: website visual game “Education in the Arab World — History and Change”.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five history sentences, choosing the right tense for each period. Develop: add a reported-speech citation of historians. Stretch: the website 100–110-word analysis with past perfect, simple past, present, a citation and both conditionals.
• Make the timeline visible: draw one line on the board — 9th century (kāna qad) → invasions / colonialism (past) → independence (past) → today (present) → the future (idhā … sa-). Every sentence students say goes on the line.
• Islamic link: the first revealed word was «اقْرَأْ». Fāṭima al-Fihriyya founded al-Qarawiyyīn in Fez in 859 CE — often described as the oldest university still operating; the House of Wisdom flourished in Abbasid Baghdad in the 9th century.
• Be balanced and accurate: celebrate the heritage without dismissing other civilisations, and present today’s challenges (illiteracy, conflict zones) with care — some students may have family links to affected countries.
• Grammar links: past perfect (P2-L03) · reported speech (P2-L02) · Type 2 conditional (P2-L06) · Type 1 conditional (P1-L03).
• TEACHER-WRITTEN ITEMS: waṣl alif shown without a kasra (الاسْتِقْلَالِ · الاسْتِعْمَارُ); ابْنَ رُشْدٍ with tanwīn; rule formulas in transliteration; kāna qad agreement table, “today” cards and conditional pairs are teacher-built from the website texts (Fāṭima al-Fihriyya added); the website visual game repeats the P2-L01 / P2-L03 cards and is not used. All other website items are used as published.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the end of P2-L06. Question 4 retrieves the Type 2 conditional (P2-L06) and question 5 the past perfect (P2-L03) — today both return inside one historical text.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Move the tense with the timeline: Golden Age → past perfect · decline → past · today → present.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مدرسہ, عالم / علماء, ترجمہ, اصلاح, استعمار and حق are all shared. Note: Urdu often uses مدرسہ for a religious school; in Arabic مَدْرَسَةٌ is any school — المَدْرَسَةُ القُرْآنِيَّةُ is the Quranic school.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Heritage and the Golden Age (website vocabulary (1 of 2)). Hear → Say → See → Use. Transliteration is printed for Core students (cover it for Develop/Stretch).
Heritage and the Golden Age: دَارُ الحِكْمَةِ (the House of Wisdom) was in Abbasid Baghdad; التَّرْجَمَةُ (translation) of Greek, Persian and Indian works fed the الازْدِهَارُ العِلْمِيُّ.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Heritage and the Golden Age (website vocabulary (2 of 2)). Hear → Say → See → Use. Transliteration is printed for Core students (cover it for Develop/Stretch).
Heritage and the Golden Age: دَارُ الحِكْمَةِ (the House of Wisdom) was in Abbasid Baghdad; التَّرْجَمَةُ (translation) of Greek, Persian and Indian works fed the الازْدِهَارُ العِلْمِيُّ.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Change and challenge (website vocabulary (1 of 2)). Hear → Say → See → Use. Transliteration is printed for Core students (cover it for Develop/Stretch).
Change and challenge: the language of today — reform, illiteracy rates, the right to education, women’s education, curriculum modernisation.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Change and challenge (website vocabulary (2 of 2)). Hear → Say → See → Use. Transliteration is printed for Core students (cover it for Develop/Stretch).
FLEX: teach if time allows; otherwise these are on the website vocabulary tab for homework.
Change and challenge: the language of today — reform, illiteracy rates, the right to education, women’s education, curriculum modernisation.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History verbs (website vocabulary (1 of 2)). Hear → Say → See → Use. Transliteration is printed for Core students (cover it for Develop/Stretch).
FLEX: teach if time allows; otherwise these are on the website vocabulary tab for homework.
History verbs: mostly PAST forms (he · she · they) for the story; يَشْهَدُ and يَمُرُّ بِـ are present, for today. يَمُرُّ is fixed with بِـ.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History verbs (website vocabulary (2 of 2)). Hear → Say → See → Use. Transliteration is printed for Core students (cover it for Develop/Stretch).
FLEX: teach if time allows; otherwise these are on the website vocabulary tab for homework.
History verbs: mostly PAST forms (he · she · they) for the story; يَشْهَدُ and يَمُرُّ بِـ are present, for today. يَمُرُّ is fixed with بِـ.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rules 1–3, the website table (Golden Age → past perfect · Decline → simple past · Today → present) and teaching point “Move the tense as the timeline advances”.
Website mistake 1: يُؤَسِّسُ العَرَبُ نِظَامًا … فِي العَصْرِ الذَّهَبِيِّ ✗ → كَانَ العَرَبُ قَدْ أَسَّسُوا.
Why past perfect for the Golden Age? It happened BEFORE a later past point (before European universities existed · before the decline) — the website pattern: بِحُلُولِ القَرْنِ التَّاسِعِ، كَانَ العَرَبُ قَدْ طَوَّرُوا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kāna qad with different subjects, from the website listening (كَانَ العَرَبُ قَدْ أَسَّسُوا · كَانَتْ دَارُ الحِكْمَةِ قَدِ اسْتَقْطَبَتْ · ابْنَ رُشْدٍ كَانَ قَدْ كَتَبَ), reading (كَانَتِ المُدُنُ … قَدِ اسْتَقْطَبَتْ) and model (كَانُوا قَدْ تَرْجَمُوا).
Row 2 (teacher addition, historically accurate): Fāṭima al-Fihriyya founded al-Qarawiyyīn in Fez in 859 CE.
Website quiz 4 and mission round 4: كَانَتْ دَارُ الحِكْمَةِ قَدِ اسْتَقْطَبَتْ — qad becomes qadi before a waṣl alif; the verb agrees with the feminine subject.
Row 4 is the subtle one: kāna comes BEFORE al-ʿarab, so it stays singular; assasū comes AFTER al-ʿarab, so it is plural.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3 — website rule “Present: today’s challenges” (يَشْهَدُ · يَمُرُّ بِـ) with its examples; card 3 from the website listening and model (تُعَانِي … مِنْ مُعَدَّلَاتِ أُمِّيَّةٍ مُرْتَفِعَةٍ — يُعَانِي مِنْ from P1-L04).
Feminine subjects: تَمُرُّ مَنَاطِقُ (non-human plural → she) · تُعَانِي بَعْضُ الدُّوَلِ (agrees with الدُّوَل).
Past of the same verb for history: مَرَّ التَّعْلِيمُ بِفَتَرَاتِ ضَعْفٍ (website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4 — website rule “Analysis with both conditionals”: counterfactual for the past, real proposal for the future. Row 1 = the website rule examples; row 2 from the website reading; row 3 left from the website listening (passive اسْتُثْمِرَ = “it was invested”); row 3 right is teacher-built.
Website mistake 3: لَوِ اسْتَثْمَرَ … سَيَكُونُ ✗ → لَكَانَ.
لَوِ before a waṣl alif (لَوِ اسْتَثْمَرَ · لَوِ اسْتُثْمِرَ) — the helping kasra from P2-L06.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“Past perfect for the earliest achievements, simple past for later events, present for today, and both conditional types for analysis.”
• Past perfect: the earliest layer: Achievements completed before a later past point.
• Simple past: later events: Straight past for events that follow.
• Present: today’s challenges: Present tense for current reality, often with statistics.
• Analysis with both conditionals: Counterfactual for the past, real proposal for the future.
Website common error: Using the present for a Golden-Age achievement, or the past perfect for today's challenges. Match the tense to the period, and keep يَمُرُّ with بِـ.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7.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from the website writing model. Think aloud while pointing at the board timeline: “Earliest layer: kānat … qadi staqṭabat — feminine, qadi before waṣl. Cite: ashāra … ilā anna. Move forward: inḥaṭṭa (simple past). Today: yashhadu (present). Analyse: law + past, la-kāna.”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(3 min) — the website live builder: “Build a historical analysis from a past-perfect achievement, a present challenge and a counterfactual.” Website feedback: any three different combinations work.
Core: read row 1 across. Develop: mix rows and name each tense. Stretch: the website challenge — write your own three-part line (past-perfect achievement · present challenge · counterfactual with لَوْ).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Then put each verb in a sentence on the class timeline: كَانَ العُلَمَاءُ قَدْ تَرْجَمُوا … · ازْدَهَرَتِ العُلُومُ فِي … · يُوَاجِهُ التَّعْلِيمُ اليَوْمَ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Then put each verb in a sentence on the class timeline: كَانَ العُلَمَاءُ قَدْ تَرْجَمُوا … · ازْدَهَرَتِ العُلُومُ فِي … · يُوَاجِهُ التَّعْلِيمُ اليَوْمَ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4, 5, 6,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4. Develop / Stretch: all 5 — and note the tense of every verb you hear, in order.
Listen 1: just listen. Listen 2: note answers. Then chat the letters.
Support: after the second listening, show the read-along slide (Arabic + English, line by line) for Core students.
SCRIPT (read aloud):
بِحُلُولِ القَرْنِ التَّاسِعِ، كَانَ العَرَبُ قَدْ أَسَّسُوا نِظَامًا تَعْلِيمِيًّا عَالَمِيًّا قَبْلَ أَنْ تُوجَدَ الجَامِعَاتُ الأُورُوبِّيَّةُ. كَانَتْ دَارُ الحِكْمَةِ فِي بَغْدَادَ قَدِ اسْتَقْطَبَتْ عُلَمَاءَ مِنْ ثَقَافَاتٍ مُتَعَدِّدَةٍ، وَازْدَهَرَتِ التَّرْجَمَةُ وَالعُلُومُ. وَأَشَارَ المُؤَرِّخُونَ إِلَى أَنَّ ابْنَ رُشْدٍ كَانَ قَدْ كَتَبَ شُرُوحًا أَصْبَحَتْ مَرْجِعًا فِي أُورُوبَّا. ثُمَّ انْحَطَّ التَّعْلِيمُ خِلَالَ فَتَرَاتِ الغَزْوِ، وَتَطَوَّرَ بَعْدَ الاسْتِقْلَالِ. اليَوْمَ يَشْهَدُ التَّعْلِيمُ العَرَبِيُّ إِصْلَاحَاتٍ، لٰكِنَّ بَعْضَ المَنَاطِقِ تُعَانِي مِنْ مُعَدَّلَاتِ أُمِّيَّةٍ مُرْتَفِعَةٍ. وَلَوِ اسْتُثْمِرَ فِي التَّعْلِيمِ بِنِسْبَةٍ مُوَازِيَةٍ لِلدُّوَلِ المُتَقَدِّمَةِ، لَكَانَ الوَضْعُ العِلْمِيُّ مُخْتَلِفًا.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وَمَا التَّحَدِّي اليَوْمَ؟ (Present)
B: يَشْهَدُ التَّعْلِيمُ إِصْلَاحَاتٍ، لٰكِنْ لَوْ عَادَ الاسْتِثْمَارُ كَمَا كَانَ، لَاسْتَعَادَتِ المِنْطَقَةُ رِيَادَتَهَا. (Present + counterfactual)
Website prompts and model. Core stem verbs: أَسَّسُوا · تَرْجَمُوا · طَوَّرُوا (plural after kāna l-ʿarabu qad). Stretch: the result must start with la- (لَكَانَ · لَاسْتَعَادَتْ).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YOU DO (9 min writing). Steer routes using the Do Now and quick-check results.
Website differentiation tasks: Core — Write five historical sentences choosing the right tense for each period. · Develop — Add a reported-speech citation of historians. · Stretch — Write a three-part analysis: past-perfect achievement, present challenge, counterfactual with لَوْ.
Website writing task (Stretch): Write one hundred to one hundred and ten words analysing Arab education across time. Use the past perfect for the Golden Age, the simple past and present for later periods and today, one reported-speech clause, and both conditional types.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writing model. Evidence: كَانَ … قَدْ أَسَّسَ · كَانَتْ … قَدِ اسْتَقْطَبَتْ · وَأَشَارَ المُؤَرِّخُونَ إِلَى أَنَّ … كَانُوا قَدْ تَرْجَمُوا · ثُمَّ انْحَطَّ … وَتَطَوَّرَ · اليَوْمَ، يَشْهَدُ … تُعَانِي مِنْ · لَوِ اسْتَثْمَرَ … لَكَانَ · وَإِذَا وَاصَلَتِ … سَيَتَحَسَّنُ.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(P2-L08 · Reading — Education Texts) will spend class time USING this language, so students prepare it tonight — short, simple, easy to access (school guidance: “Simple, Short, Interesting, Relevant, Easy to access”). The five words come from the website P2-L08 vocabulary (reading education texts).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9  ·  PROGRESSION P2  ·  P2-L07</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P2-L07</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Education in the Arab World — History and Change</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التَّعْلِيمُ فِي العَالَمِ العَرَبِيِّ — التَّارِيخُ وَالتَّغْيِيرُ</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Trace Arab education across time: the Golden Age in the past perfect (kāna qad), decline and reform in the simple past, today’s challenges in the present — then analyse it with both conditionals (law … la- · idhā … sa-).</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P2-L07 · Progression P2 · Education and Future Plans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Progression · B1 → B2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Progression › P2 › P2-L07</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P2-L07 · Culture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P2-L07</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47</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P2-L07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P2-L07</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Tense along a timeline, kāna qad agreement, yamurr bi-, both conditionals for analysis.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Build a historical analysis, sort tenses by period, hear the history of Arab education.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P2-L08.</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47</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P2-L07 · Culture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دَارُ الحِكْمَةِ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Quranic school</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House of Wisdom</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Golden Age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العَصْرُ الذَّهَبِيُّ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Golden Age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Islamic civilisation</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colonialism</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أَسَّسَ</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flourished</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declined</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founded</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Type 2: </a:t>
            </a:r>
            <a:pPr algn="l" indent="0" marL="0">
              <a:buNone/>
            </a:pPr>
            <a:r>
              <a:rPr lang="ar-SA" altLang="en-US" sz="1650" b="1" dirty="0">
                <a:solidFill>
                  <a:srgbClr val="1B3B6F"/>
                </a:solidFill>
                <a:latin typeface="Amiri" pitchFamily="2" charset="-78"/>
                <a:ea typeface="Amiri" pitchFamily="2" charset="-78"/>
                <a:cs typeface="Amiri" pitchFamily="2" charset="-78"/>
              </a:rPr>
              <a:t>لَوْ دَرَسَ أَكْثَرَ،</a:t>
            </a:r>
            <a:pPr algn="l" indent="0" marL="0">
              <a:buNone/>
            </a:pPr>
            <a:r>
              <a:rPr lang="en-US" sz="1250" b="1" dirty="0">
                <a:solidFill>
                  <a:srgbClr val="1B3B6F"/>
                </a:solidFill>
                <a:latin typeface="Calibri" pitchFamily="34" charset="0"/>
                <a:cs typeface="Amiri" pitchFamily="2" charset="-78"/>
              </a:rPr>
              <a:t> ___ .</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سَيَنْجَحُ</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يَنْجَحُ</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لَنَجَحَ</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كُنْتُ قَدْ</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بَحْثِي قَبْلَ أَنْ أُسَافِرَ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أَنْهَيْتُ</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أُنْهِي</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سَأُنْهِي</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47</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P2-L07 · Culture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دَارُ الحِكْمَةِ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Quranic school</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House of Wisdom</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Golden Age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(P2-L06).</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العَصْرُ الذَّهَبِيُّ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Golden Age</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Islamic civilisation</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colonialism</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(P2-L06).</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أَسَّسَ</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flourished</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declined</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 founded</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(P2-L06).</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Type 2: </a:t>
            </a:r>
            <a:pPr algn="l" indent="0" marL="0">
              <a:buNone/>
            </a:pPr>
            <a:r>
              <a:rPr lang="ar-SA" altLang="en-US" sz="1650" b="1" dirty="0">
                <a:solidFill>
                  <a:srgbClr val="1B3B6F"/>
                </a:solidFill>
                <a:latin typeface="Amiri" pitchFamily="2" charset="-78"/>
                <a:ea typeface="Amiri" pitchFamily="2" charset="-78"/>
                <a:cs typeface="Amiri" pitchFamily="2" charset="-78"/>
              </a:rPr>
              <a:t>لَوْ دَرَسَ أَكْثَرَ،</a:t>
            </a:r>
            <a:pPr algn="l" indent="0" marL="0">
              <a:buNone/>
            </a:pPr>
            <a:r>
              <a:rPr lang="en-US" sz="1250" b="1" dirty="0">
                <a:solidFill>
                  <a:srgbClr val="1B3B6F"/>
                </a:solidFill>
                <a:latin typeface="Calibri" pitchFamily="34" charset="0"/>
                <a:cs typeface="Amiri" pitchFamily="2" charset="-78"/>
              </a:rPr>
              <a:t> ___ .</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سَيَنْجَحُ</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يَنْجَحُ</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لَنَجَحَ</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P2-L06: law … la- + past.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كُنْتُ قَدْ</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بَحْثِي قَبْلَ أَنْ أُسَافِرَ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أَنْهَيْتُ</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أُنْهِي</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سَأُنْهِي</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P2-L03: kuntu qad + past.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Move the tense with the timeline: Golden Age → past perfect · decline → past · today → present.</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D6336C"/>
                </a:solidFill>
                <a:latin typeface="Amiri" pitchFamily="2" charset="-78"/>
                <a:ea typeface="Amiri" pitchFamily="2" charset="-78"/>
                <a:cs typeface="Amiri" pitchFamily="2" charset="-78"/>
              </a:rPr>
              <a:t>كَانَ قَدْ أَسَّسَ</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1D5FBF"/>
                </a:solidFill>
                <a:latin typeface="Amiri" pitchFamily="2" charset="-78"/>
                <a:ea typeface="Amiri" pitchFamily="2" charset="-78"/>
                <a:cs typeface="Amiri" pitchFamily="2" charset="-78"/>
              </a:rPr>
              <a:t>انْحَطَّ</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C77700"/>
                </a:solidFill>
                <a:latin typeface="Amiri" pitchFamily="2" charset="-78"/>
                <a:ea typeface="Amiri" pitchFamily="2" charset="-78"/>
                <a:cs typeface="Amiri" pitchFamily="2" charset="-78"/>
              </a:rPr>
              <a:t>يَشْهَدُ</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47</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P2-L07 · Culture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P2-L07</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Narrate the Golden Age with the past perfect (kāna qad).</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the simple past for later historical events.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Describe today’s challenges in the present, with statistics.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Combine both conditional types in a historical argument.</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8 words about Arab educational history.</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choose the tense for each period.</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make kāna qad agree (kānat qad · kānū qad).</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cite historians (ashāra … ilā anna).</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analyse with law … la-kāna and idhā … sa-.</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a full timeline analysis.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47</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24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Heritage and the Golden Age · 8</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Change and challenge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History verbs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مَدْرَسَةٌ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‎مدرسہ‎ </a:t>
            </a:r>
            <a:pPr indent="0" marL="0">
              <a:buNone/>
            </a:pPr>
            <a:r>
              <a:rPr lang="en-US" sz="950" b="1" dirty="0">
                <a:solidFill>
                  <a:srgbClr val="2E8B57"/>
                </a:solidFill>
                <a:latin typeface="Calibri" pitchFamily="34" charset="0"/>
                <a:cs typeface="Amiri" pitchFamily="2" charset="-78"/>
              </a:rPr>
              <a:t> madrasa · a school</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عَالِمٌ · عُلَمَاءُ</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‎عالم · علماء‎ </a:t>
            </a:r>
            <a:pPr indent="0" marL="0">
              <a:buNone/>
            </a:pPr>
            <a:r>
              <a:rPr lang="en-US" sz="950" b="1" dirty="0">
                <a:solidFill>
                  <a:srgbClr val="2E8B57"/>
                </a:solidFill>
                <a:latin typeface="Calibri" pitchFamily="34" charset="0"/>
                <a:cs typeface="Amiri" pitchFamily="2" charset="-78"/>
              </a:rPr>
              <a:t> ʿālim · ʿulamā · a scholar · scholars</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تَرْجَمَةٌ</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‎ترجمہ‎ </a:t>
            </a:r>
            <a:pPr indent="0" marL="0">
              <a:buNone/>
            </a:pPr>
            <a:r>
              <a:rPr lang="en-US" sz="950" b="1" dirty="0">
                <a:solidFill>
                  <a:srgbClr val="2E8B57"/>
                </a:solidFill>
                <a:latin typeface="Calibri" pitchFamily="34" charset="0"/>
                <a:cs typeface="Amiri" pitchFamily="2" charset="-78"/>
              </a:rPr>
              <a:t> tarjuma · translation</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إِصْلَاحٌ</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‎اصلاح‎ </a:t>
            </a:r>
            <a:pPr indent="0" marL="0">
              <a:buNone/>
            </a:pPr>
            <a:r>
              <a:rPr lang="en-US" sz="950" b="1" dirty="0">
                <a:solidFill>
                  <a:srgbClr val="2E8B57"/>
                </a:solidFill>
                <a:latin typeface="Calibri" pitchFamily="34" charset="0"/>
                <a:cs typeface="Amiri" pitchFamily="2" charset="-78"/>
              </a:rPr>
              <a:t> islāh · reform</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اسْتِعْمَارٌ</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‎استعمار‎ </a:t>
            </a:r>
            <a:pPr indent="0" marL="0">
              <a:buNone/>
            </a:pPr>
            <a:r>
              <a:rPr lang="en-US" sz="950" b="1" dirty="0">
                <a:solidFill>
                  <a:srgbClr val="2E8B57"/>
                </a:solidFill>
                <a:latin typeface="Calibri" pitchFamily="34" charset="0"/>
                <a:cs typeface="Amiri" pitchFamily="2" charset="-78"/>
              </a:rPr>
              <a:t> istiʿmār · colonialism</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P2-L07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Heritage and the Golden Age (1 of 2)</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958291"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In Baghdad.</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دَارُ الحِكْمَةِ</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House of Wisdom</a:t>
            </a:r>
            <a:endParaRPr lang="en-US" sz="1350" dirty="0"/>
          </a:p>
          <a:p>
            <a:pPr indent="0" marL="0">
              <a:buNone/>
            </a:pPr>
            <a:r>
              <a:rPr lang="en-US" sz="1100" i="1" dirty="0">
                <a:solidFill>
                  <a:srgbClr val="5A6472"/>
                </a:solidFill>
                <a:latin typeface="Calibri" pitchFamily="34" charset="0"/>
                <a:cs typeface="Amiri" pitchFamily="2" charset="-78"/>
              </a:rPr>
              <a:t>dā-ru al-ḥik-ma-ti</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الازْدِهَارُ العِلْمِيُّ</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scientific flourishing</a:t>
            </a:r>
            <a:endParaRPr lang="en-US" sz="1350" dirty="0"/>
          </a:p>
          <a:p>
            <a:pPr indent="0" marL="0">
              <a:buNone/>
            </a:pPr>
            <a:r>
              <a:rPr lang="en-US" sz="1100" i="1" dirty="0">
                <a:solidFill>
                  <a:srgbClr val="5A6472"/>
                </a:solidFill>
                <a:latin typeface="Calibri" pitchFamily="34" charset="0"/>
                <a:cs typeface="Amiri" pitchFamily="2" charset="-78"/>
              </a:rPr>
              <a:t>alz-di-hā-ru al-ʿil-miy-yu</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الحَضَارَةُ الإِسْلَامِيَّةُ</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Islamic civilisation</a:t>
            </a:r>
            <a:endParaRPr lang="en-US" sz="1350" dirty="0"/>
          </a:p>
          <a:p>
            <a:pPr indent="0" marL="0">
              <a:buNone/>
            </a:pPr>
            <a:r>
              <a:rPr lang="en-US" sz="1100" i="1" dirty="0">
                <a:solidFill>
                  <a:srgbClr val="5A6472"/>
                </a:solidFill>
                <a:latin typeface="Calibri" pitchFamily="34" charset="0"/>
                <a:cs typeface="Amiri" pitchFamily="2" charset="-78"/>
              </a:rPr>
              <a:t>al-ḥa-ḍā-ra-tu al-is-lā-miy-ya-tu</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المَوْرُوثُ التَّعْلِيمِيُّ</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educational heritage</a:t>
            </a:r>
            <a:endParaRPr lang="en-US" sz="1350" dirty="0"/>
          </a:p>
          <a:p>
            <a:pPr indent="0" marL="0">
              <a:buNone/>
            </a:pPr>
            <a:r>
              <a:rPr lang="en-US" sz="1100" i="1" dirty="0">
                <a:solidFill>
                  <a:srgbClr val="5A6472"/>
                </a:solidFill>
                <a:latin typeface="Calibri" pitchFamily="34" charset="0"/>
                <a:cs typeface="Amiri" pitchFamily="2" charset="-78"/>
              </a:rPr>
              <a:t>al-maw-rū-thu at-taʿ-lī-miy-yu</a:t>
            </a:r>
            <a:endParaRPr lang="en-US" sz="13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P2-L07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Heritage and the Golden Age (2 of 2)</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المَدْرَسَةُ القُرْآنِيَّةُ</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Quranic school</a:t>
            </a:r>
            <a:endParaRPr lang="en-US" sz="1350" dirty="0"/>
          </a:p>
          <a:p>
            <a:pPr indent="0" marL="0">
              <a:buNone/>
            </a:pPr>
            <a:r>
              <a:rPr lang="en-US" sz="1100" i="1" dirty="0">
                <a:solidFill>
                  <a:srgbClr val="5A6472"/>
                </a:solidFill>
                <a:latin typeface="Calibri" pitchFamily="34" charset="0"/>
                <a:cs typeface="Amiri" pitchFamily="2" charset="-78"/>
              </a:rPr>
              <a:t>al-mad-ra-sa-tu al-qur-ʾā-niy-ya-tu</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23" name="Shape 20"/>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العَصْرُ الذَّهَبِيُّ</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Golden Age</a:t>
            </a:r>
            <a:endParaRPr lang="en-US" sz="1350" dirty="0"/>
          </a:p>
          <a:p>
            <a:pPr indent="0" marL="0">
              <a:buNone/>
            </a:pPr>
            <a:r>
              <a:rPr lang="en-US" sz="1100" i="1" dirty="0">
                <a:solidFill>
                  <a:srgbClr val="5A6472"/>
                </a:solidFill>
                <a:latin typeface="Calibri" pitchFamily="34" charset="0"/>
                <a:cs typeface="Amiri" pitchFamily="2" charset="-78"/>
              </a:rPr>
              <a:t>al-ʿaṣ-ru adh-dha-ha-biy-yu</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30" name="Shape 2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التَّرْجَمَةُ</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translation</a:t>
            </a:r>
            <a:endParaRPr lang="en-US" sz="1350" dirty="0"/>
          </a:p>
          <a:p>
            <a:pPr indent="0" marL="0">
              <a:buNone/>
            </a:pPr>
            <a:r>
              <a:rPr lang="en-US" sz="1100" i="1" dirty="0">
                <a:solidFill>
                  <a:srgbClr val="5A6472"/>
                </a:solidFill>
                <a:latin typeface="Calibri" pitchFamily="34" charset="0"/>
                <a:cs typeface="Amiri" pitchFamily="2" charset="-78"/>
              </a:rPr>
              <a:t>at-tar-ja-ma-tu</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7" name="Shape 34"/>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38" name="Text 35"/>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عَالِمٌ</a:t>
            </a:r>
            <a:endParaRPr lang="ar-SA" sz="3000" dirty="0"/>
          </a:p>
        </p:txBody>
      </p:sp>
      <p:sp>
        <p:nvSpPr>
          <p:cNvPr id="42" name="Text 39"/>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scholar</a:t>
            </a:r>
            <a:endParaRPr lang="en-US" sz="1350" dirty="0"/>
          </a:p>
          <a:p>
            <a:pPr indent="0" marL="0">
              <a:buNone/>
            </a:pPr>
            <a:r>
              <a:rPr lang="en-US" sz="1100" i="1" dirty="0">
                <a:solidFill>
                  <a:srgbClr val="5A6472"/>
                </a:solidFill>
                <a:latin typeface="Calibri" pitchFamily="34" charset="0"/>
                <a:cs typeface="Amiri" pitchFamily="2" charset="-78"/>
              </a:rPr>
              <a:t>ʿā-li-mun</a:t>
            </a:r>
            <a:endParaRPr lang="en-US" sz="1350" dirty="0"/>
          </a:p>
        </p:txBody>
      </p:sp>
      <p:sp>
        <p:nvSpPr>
          <p:cNvPr id="43" name="Shape 40"/>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5" name="Text 42"/>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عَالِمَةٌ</a:t>
            </a:r>
            <a:endParaRPr lang="ar-SA" sz="1500" dirty="0"/>
          </a:p>
        </p:txBody>
      </p:sp>
      <p:sp>
        <p:nvSpPr>
          <p:cNvPr id="46" name="Shape 43"/>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8" name="Text 45"/>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عُلَمَاءُ</a:t>
            </a:r>
            <a:endParaRPr lang="ar-SA" sz="150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47</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P2-L07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Change and challenge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الاسْتِعْمَارُ</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colonialism</a:t>
            </a:r>
            <a:endParaRPr lang="en-US" sz="1350" dirty="0"/>
          </a:p>
          <a:p>
            <a:pPr indent="0" marL="0">
              <a:buNone/>
            </a:pPr>
            <a:r>
              <a:rPr lang="en-US" sz="1100" i="1" dirty="0">
                <a:solidFill>
                  <a:srgbClr val="5A6472"/>
                </a:solidFill>
                <a:latin typeface="Calibri" pitchFamily="34" charset="0"/>
                <a:cs typeface="Amiri" pitchFamily="2" charset="-78"/>
              </a:rPr>
              <a:t>als-tiʿ-mā-ru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25" name="Shape 22"/>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إِصْلَاحٌ تَعْلِيمِيٌّ</a:t>
            </a:r>
            <a:endParaRPr lang="ar-SA" sz="3000" dirty="0"/>
          </a:p>
        </p:txBody>
      </p:sp>
      <p:sp>
        <p:nvSpPr>
          <p:cNvPr id="30" name="Text 27"/>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educational reform</a:t>
            </a:r>
            <a:endParaRPr lang="en-US" sz="1350" dirty="0"/>
          </a:p>
          <a:p>
            <a:pPr indent="0" marL="0">
              <a:buNone/>
            </a:pPr>
            <a:r>
              <a:rPr lang="en-US" sz="1100" i="1" dirty="0">
                <a:solidFill>
                  <a:srgbClr val="5A6472"/>
                </a:solidFill>
                <a:latin typeface="Calibri" pitchFamily="34" charset="0"/>
                <a:cs typeface="Amiri" pitchFamily="2" charset="-78"/>
              </a:rPr>
              <a:t>iṣ-lā-ḥun taʿ-lī-miy-yun</a:t>
            </a:r>
            <a:endParaRPr lang="en-US" sz="1350" dirty="0"/>
          </a:p>
        </p:txBody>
      </p:sp>
      <p:sp>
        <p:nvSpPr>
          <p:cNvPr id="31" name="Shape 28"/>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2" name="Text 29"/>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3" name="Text 30"/>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إِصْلَاحَاتٌ تَعْلِيمِيَّةٌ</a:t>
            </a:r>
            <a:endParaRPr lang="ar-SA" sz="1500" dirty="0"/>
          </a:p>
        </p:txBody>
      </p:sp>
      <p:sp>
        <p:nvSpPr>
          <p:cNvPr id="34" name="Shape 31"/>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566928" y="1920240"/>
            <a:ext cx="310896" cy="310896"/>
          </a:xfrm>
          <a:prstGeom prst="ellipse">
            <a:avLst/>
          </a:prstGeom>
          <a:solidFill>
            <a:srgbClr val="F4F1EA"/>
          </a:solidFill>
          <a:ln w="12700">
            <a:solidFill>
              <a:srgbClr val="F4F1EA"/>
            </a:solidFill>
            <a:prstDash val="solid"/>
          </a:ln>
        </p:spPr>
      </p:sp>
      <p:sp>
        <p:nvSpPr>
          <p:cNvPr id="36" name="Text 33"/>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37" name="Shape 34"/>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مُعَدَّلُ الأُمِّيَّةِ</a:t>
            </a:r>
            <a:endParaRPr lang="ar-SA" sz="3000" dirty="0"/>
          </a:p>
        </p:txBody>
      </p:sp>
      <p:sp>
        <p:nvSpPr>
          <p:cNvPr id="40" name="Text 37"/>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illiteracy rate</a:t>
            </a:r>
            <a:endParaRPr lang="en-US" sz="1350" dirty="0"/>
          </a:p>
          <a:p>
            <a:pPr indent="0" marL="0">
              <a:buNone/>
            </a:pPr>
            <a:r>
              <a:rPr lang="en-US" sz="1100" i="1" dirty="0">
                <a:solidFill>
                  <a:srgbClr val="5A6472"/>
                </a:solidFill>
                <a:latin typeface="Calibri" pitchFamily="34" charset="0"/>
                <a:cs typeface="Amiri" pitchFamily="2" charset="-78"/>
              </a:rPr>
              <a:t>mu-ʿad-da-lu al-um-miy-ya-ti</a:t>
            </a:r>
            <a:endParaRPr lang="en-US" sz="1350" dirty="0"/>
          </a:p>
        </p:txBody>
      </p:sp>
      <p:sp>
        <p:nvSpPr>
          <p:cNvPr id="41" name="Shape 3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11312"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التَّعْلِيمُ لِلْمَرْأَةِ</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women's education</a:t>
            </a:r>
            <a:endParaRPr lang="en-US" sz="1350" dirty="0"/>
          </a:p>
          <a:p>
            <a:pPr indent="0" marL="0">
              <a:buNone/>
            </a:pPr>
            <a:r>
              <a:rPr lang="en-US" sz="1100" i="1" dirty="0">
                <a:solidFill>
                  <a:srgbClr val="5A6472"/>
                </a:solidFill>
                <a:latin typeface="Calibri" pitchFamily="34" charset="0"/>
                <a:cs typeface="Amiri" pitchFamily="2" charset="-78"/>
              </a:rPr>
              <a:t>at-taʿ-lī-mu lil-mar-ʾa-ti</a:t>
            </a:r>
            <a:endParaRPr lang="en-US" sz="13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47</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P2-L07 · Culture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Change and challenge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P2-L07</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حَقُّ التَّعْلِيمِ</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right to education</a:t>
            </a:r>
            <a:endParaRPr lang="en-US" sz="1350" dirty="0"/>
          </a:p>
          <a:p>
            <a:pPr indent="0" marL="0">
              <a:buNone/>
            </a:pPr>
            <a:r>
              <a:rPr lang="en-US" sz="1100" i="1" dirty="0">
                <a:solidFill>
                  <a:srgbClr val="5A6472"/>
                </a:solidFill>
                <a:latin typeface="Calibri" pitchFamily="34" charset="0"/>
                <a:cs typeface="Amiri" pitchFamily="2" charset="-78"/>
              </a:rPr>
              <a:t>ḥaq-qu at-taʿ-lī-mi</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الاسْتِثْمَارُ فِي التَّعْلِيمِ</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investment in education</a:t>
            </a:r>
            <a:endParaRPr lang="en-US" sz="1350" dirty="0"/>
          </a:p>
          <a:p>
            <a:pPr indent="0" marL="0">
              <a:buNone/>
            </a:pPr>
            <a:r>
              <a:rPr lang="en-US" sz="1100" i="1" dirty="0">
                <a:solidFill>
                  <a:srgbClr val="5A6472"/>
                </a:solidFill>
                <a:latin typeface="Calibri" pitchFamily="34" charset="0"/>
                <a:cs typeface="Amiri" pitchFamily="2" charset="-78"/>
              </a:rPr>
              <a:t>als-tith-mā-ru fī at-taʿ-lī-mi</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تَحْدِيثُ المَنَاهِجِ</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curriculum modernisation</a:t>
            </a:r>
            <a:endParaRPr lang="en-US" sz="1350" dirty="0"/>
          </a:p>
          <a:p>
            <a:pPr indent="0" marL="0">
              <a:buNone/>
            </a:pPr>
            <a:r>
              <a:rPr lang="en-US" sz="1100" i="1" dirty="0">
                <a:solidFill>
                  <a:srgbClr val="5A6472"/>
                </a:solidFill>
                <a:latin typeface="Calibri" pitchFamily="34" charset="0"/>
                <a:cs typeface="Amiri" pitchFamily="2" charset="-78"/>
              </a:rPr>
              <a:t>taḥ-dī-thu al-ma-nā-hi-ji</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التَّعْلِيمُ الثُّنَائِيُّ اللُّغَةِ</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bilingual education</a:t>
            </a:r>
            <a:endParaRPr lang="en-US" sz="1350" dirty="0"/>
          </a:p>
          <a:p>
            <a:pPr indent="0" marL="0">
              <a:buNone/>
            </a:pPr>
            <a:r>
              <a:rPr lang="en-US" sz="1100" i="1" dirty="0">
                <a:solidFill>
                  <a:srgbClr val="5A6472"/>
                </a:solidFill>
                <a:latin typeface="Calibri" pitchFamily="34" charset="0"/>
                <a:cs typeface="Amiri" pitchFamily="2" charset="-78"/>
              </a:rPr>
              <a:t>at-taʿ-lī-mu ath-thu-nā-ʾiy-yu all-lu-gha-ti</a:t>
            </a:r>
            <a:endParaRPr lang="en-US" sz="13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47</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P2-L07 · Culture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History verbs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P2-L07</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20" name="Shape 17"/>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22" name="Shape 19"/>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3" name="Text 20"/>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4" name="Text 21"/>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يَشْهَدُ</a:t>
            </a:r>
            <a:endParaRPr lang="ar-SA" sz="3000" dirty="0"/>
          </a:p>
        </p:txBody>
      </p:sp>
      <p:sp>
        <p:nvSpPr>
          <p:cNvPr id="25" name="Text 22"/>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witnesses, experiences</a:t>
            </a:r>
            <a:endParaRPr lang="en-US" sz="1350" dirty="0"/>
          </a:p>
          <a:p>
            <a:pPr indent="0" marL="0">
              <a:buNone/>
            </a:pPr>
            <a:r>
              <a:rPr lang="en-US" sz="1100" i="1" dirty="0">
                <a:solidFill>
                  <a:srgbClr val="5A6472"/>
                </a:solidFill>
                <a:latin typeface="Calibri" pitchFamily="34" charset="0"/>
                <a:cs typeface="Amiri" pitchFamily="2" charset="-78"/>
              </a:rPr>
              <a:t>yash-ha-du</a:t>
            </a:r>
            <a:endParaRPr lang="en-US" sz="1350" dirty="0"/>
          </a:p>
        </p:txBody>
      </p:sp>
      <p:sp>
        <p:nvSpPr>
          <p:cNvPr id="26" name="Shape 23"/>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7" name="Text 24"/>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8" name="Text 25"/>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تَشْهَدُ</a:t>
            </a:r>
            <a:endParaRPr lang="ar-SA" sz="1500" dirty="0"/>
          </a:p>
        </p:txBody>
      </p:sp>
      <p:sp>
        <p:nvSpPr>
          <p:cNvPr id="29" name="Shape 26"/>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30" name="Text 27"/>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31" name="Text 28"/>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أَشْهَدُ</a:t>
            </a:r>
            <a:endParaRPr lang="ar-SA" sz="1500" dirty="0"/>
          </a:p>
        </p:txBody>
      </p:sp>
      <p:sp>
        <p:nvSpPr>
          <p:cNvPr id="32" name="Shape 2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389120"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35" name="Shape 32"/>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36" name="Text 33"/>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37" name="Shape 3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يَمُرُّ بِـ</a:t>
            </a:r>
            <a:endParaRPr lang="ar-SA" sz="3000" dirty="0"/>
          </a:p>
        </p:txBody>
      </p:sp>
      <p:sp>
        <p:nvSpPr>
          <p:cNvPr id="40" name="Text 37"/>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undergoes</a:t>
            </a:r>
            <a:endParaRPr lang="en-US" sz="1350" dirty="0"/>
          </a:p>
          <a:p>
            <a:pPr indent="0" marL="0">
              <a:buNone/>
            </a:pPr>
            <a:r>
              <a:rPr lang="en-US" sz="1100" i="1" dirty="0">
                <a:solidFill>
                  <a:srgbClr val="5A6472"/>
                </a:solidFill>
                <a:latin typeface="Calibri" pitchFamily="34" charset="0"/>
                <a:cs typeface="Amiri" pitchFamily="2" charset="-78"/>
              </a:rPr>
              <a:t>ya-mur-ru bi</a:t>
            </a:r>
            <a:endParaRPr lang="en-US" sz="1350" dirty="0"/>
          </a:p>
        </p:txBody>
      </p:sp>
      <p:sp>
        <p:nvSpPr>
          <p:cNvPr id="41" name="Shape 38"/>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3" name="Text 40"/>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تَمُرُّ</a:t>
            </a:r>
            <a:endParaRPr lang="ar-SA" sz="1500" dirty="0"/>
          </a:p>
        </p:txBody>
      </p:sp>
      <p:sp>
        <p:nvSpPr>
          <p:cNvPr id="44" name="Shape 41"/>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6" name="Text 43"/>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أَمُرُّ</a:t>
            </a:r>
            <a:endParaRPr lang="ar-SA" sz="1500" dirty="0"/>
          </a:p>
        </p:txBody>
      </p:sp>
      <p:sp>
        <p:nvSpPr>
          <p:cNvPr id="47" name="Shape 4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66928" y="1920240"/>
            <a:ext cx="310896" cy="310896"/>
          </a:xfrm>
          <a:prstGeom prst="ellipse">
            <a:avLst/>
          </a:prstGeom>
          <a:solidFill>
            <a:srgbClr val="F4F1EA"/>
          </a:solidFill>
          <a:ln w="12700">
            <a:solidFill>
              <a:srgbClr val="F4F1EA"/>
            </a:solidFill>
            <a:prstDash val="solid"/>
          </a:ln>
        </p:spPr>
      </p:sp>
      <p:sp>
        <p:nvSpPr>
          <p:cNvPr id="49" name="Text 4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50" name="Shape 47"/>
          <p:cNvSpPr/>
          <p:nvPr/>
        </p:nvSpPr>
        <p:spPr>
          <a:xfrm>
            <a:off x="960120" y="1938528"/>
            <a:ext cx="1207008" cy="256032"/>
          </a:xfrm>
          <a:prstGeom prst="roundRect">
            <a:avLst>
              <a:gd name="adj" fmla="val 50000"/>
            </a:avLst>
          </a:prstGeom>
          <a:solidFill>
            <a:srgbClr val="EFE7D2"/>
          </a:solidFill>
          <a:ln w="12700">
            <a:solidFill>
              <a:srgbClr val="EFE7D2"/>
            </a:solidFill>
            <a:prstDash val="solid"/>
          </a:ln>
        </p:spPr>
      </p:sp>
      <p:sp>
        <p:nvSpPr>
          <p:cNvPr id="51" name="Text 48"/>
          <p:cNvSpPr txBox="1"/>
          <p:nvPr/>
        </p:nvSpPr>
        <p:spPr>
          <a:xfrm>
            <a:off x="960120" y="1938528"/>
            <a:ext cx="120700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they</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اِزْدَهَرَ</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flourished</a:t>
            </a:r>
            <a:endParaRPr lang="en-US" sz="1350" dirty="0"/>
          </a:p>
          <a:p>
            <a:pPr indent="0" marL="0">
              <a:buNone/>
            </a:pPr>
            <a:r>
              <a:rPr lang="en-US" sz="1100" i="1" dirty="0">
                <a:solidFill>
                  <a:srgbClr val="5A6472"/>
                </a:solidFill>
                <a:latin typeface="Calibri" pitchFamily="34" charset="0"/>
                <a:cs typeface="Amiri" pitchFamily="2" charset="-78"/>
              </a:rPr>
              <a:t>iz-da-ha-ra</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56" name="Text 5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ازْدَهَرَتْ</a:t>
            </a:r>
            <a:endParaRPr lang="ar-SA" sz="150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59" name="Text 56"/>
          <p:cNvSpPr txBox="1"/>
          <p:nvPr/>
        </p:nvSpPr>
        <p:spPr>
          <a:xfrm>
            <a:off x="6400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ازْدَهَرُوا</a:t>
            </a:r>
            <a:endParaRPr lang="ar-SA" sz="135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63" name="Shape 60"/>
          <p:cNvSpPr/>
          <p:nvPr/>
        </p:nvSpPr>
        <p:spPr>
          <a:xfrm>
            <a:off x="8604504" y="4279392"/>
            <a:ext cx="1207008"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120700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they</a:t>
            </a:r>
            <a:endParaRPr lang="en-US" sz="800" dirty="0"/>
          </a:p>
        </p:txBody>
      </p:sp>
      <p:sp>
        <p:nvSpPr>
          <p:cNvPr id="65" name="Text 62"/>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اِنْحَطَّ</a:t>
            </a:r>
            <a:endParaRPr lang="ar-SA" sz="3000" dirty="0"/>
          </a:p>
        </p:txBody>
      </p:sp>
      <p:sp>
        <p:nvSpPr>
          <p:cNvPr id="66" name="Text 63"/>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declined</a:t>
            </a:r>
            <a:endParaRPr lang="en-US" sz="1350" dirty="0"/>
          </a:p>
          <a:p>
            <a:pPr indent="0" marL="0">
              <a:buNone/>
            </a:pPr>
            <a:r>
              <a:rPr lang="en-US" sz="1100" i="1" dirty="0">
                <a:solidFill>
                  <a:srgbClr val="5A6472"/>
                </a:solidFill>
                <a:latin typeface="Calibri" pitchFamily="34" charset="0"/>
                <a:cs typeface="Amiri" pitchFamily="2" charset="-78"/>
              </a:rPr>
              <a:t>in-ḥaṭ-ṭa</a:t>
            </a:r>
            <a:endParaRPr lang="en-US" sz="1350" dirty="0"/>
          </a:p>
        </p:txBody>
      </p:sp>
      <p:sp>
        <p:nvSpPr>
          <p:cNvPr id="67" name="Shape 64"/>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68" name="Text 65"/>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69" name="Text 66"/>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انْحَطَّتْ</a:t>
            </a:r>
            <a:endParaRPr lang="ar-SA" sz="1500" dirty="0"/>
          </a:p>
        </p:txBody>
      </p:sp>
      <p:sp>
        <p:nvSpPr>
          <p:cNvPr id="70" name="Shape 67"/>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1" name="Text 68"/>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72" name="Text 69"/>
          <p:cNvSpPr txBox="1"/>
          <p:nvPr/>
        </p:nvSpPr>
        <p:spPr>
          <a:xfrm>
            <a:off x="8284464"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انْحَطُّوا</a:t>
            </a:r>
            <a:endParaRPr lang="ar-SA" sz="13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47</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P2-L07 · Culture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History verbs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P2-L07</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20" name="Shape 17"/>
          <p:cNvSpPr/>
          <p:nvPr/>
        </p:nvSpPr>
        <p:spPr>
          <a:xfrm>
            <a:off x="8604504" y="1938528"/>
            <a:ext cx="1207008"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120700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they</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تَطَوَّرَ</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developed, evolved</a:t>
            </a:r>
            <a:endParaRPr lang="en-US" sz="1350" dirty="0"/>
          </a:p>
          <a:p>
            <a:pPr indent="0" marL="0">
              <a:buNone/>
            </a:pPr>
            <a:r>
              <a:rPr lang="en-US" sz="1100" i="1" dirty="0">
                <a:solidFill>
                  <a:srgbClr val="5A6472"/>
                </a:solidFill>
                <a:latin typeface="Calibri" pitchFamily="34" charset="0"/>
                <a:cs typeface="Amiri" pitchFamily="2" charset="-78"/>
              </a:rPr>
              <a:t>ta-ṭaw-wa-ra</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تَطَوَّرَتْ</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29" name="Text 26"/>
          <p:cNvSpPr txBox="1"/>
          <p:nvPr/>
        </p:nvSpPr>
        <p:spPr>
          <a:xfrm>
            <a:off x="8284464"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تَطَوَّرُوا</a:t>
            </a:r>
            <a:endParaRPr lang="ar-SA" sz="135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33" name="Shape 30"/>
          <p:cNvSpPr/>
          <p:nvPr/>
        </p:nvSpPr>
        <p:spPr>
          <a:xfrm>
            <a:off x="4782312" y="1938528"/>
            <a:ext cx="1207008"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120700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they</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أَسَّسَ</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founded</a:t>
            </a:r>
            <a:endParaRPr lang="en-US" sz="1350" dirty="0"/>
          </a:p>
          <a:p>
            <a:pPr indent="0" marL="0">
              <a:buNone/>
            </a:pPr>
            <a:r>
              <a:rPr lang="en-US" sz="1100" i="1" dirty="0">
                <a:solidFill>
                  <a:srgbClr val="5A6472"/>
                </a:solidFill>
                <a:latin typeface="Calibri" pitchFamily="34" charset="0"/>
                <a:cs typeface="Amiri" pitchFamily="2" charset="-78"/>
              </a:rPr>
              <a:t>as-sa-sa</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أَسَّسَتْ</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44" name="Text 41"/>
          <p:cNvSpPr txBox="1"/>
          <p:nvPr/>
        </p:nvSpPr>
        <p:spPr>
          <a:xfrm>
            <a:off x="4462272"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أَسَّسُوا</a:t>
            </a:r>
            <a:endParaRPr lang="ar-SA" sz="135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48" name="Shape 45"/>
          <p:cNvSpPr/>
          <p:nvPr/>
        </p:nvSpPr>
        <p:spPr>
          <a:xfrm>
            <a:off x="960120" y="1938528"/>
            <a:ext cx="1207008"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120700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they</a:t>
            </a:r>
            <a:endParaRPr lang="en-US" sz="800" dirty="0"/>
          </a:p>
        </p:txBody>
      </p:sp>
      <p:sp>
        <p:nvSpPr>
          <p:cNvPr id="50" name="Text 47"/>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اِسْتَقْطَبَ</a:t>
            </a:r>
            <a:endParaRPr lang="ar-SA" sz="3000" dirty="0"/>
          </a:p>
        </p:txBody>
      </p:sp>
      <p:sp>
        <p:nvSpPr>
          <p:cNvPr id="51" name="Text 48"/>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attracted</a:t>
            </a:r>
            <a:endParaRPr lang="en-US" sz="1350" dirty="0"/>
          </a:p>
          <a:p>
            <a:pPr indent="0" marL="0">
              <a:buNone/>
            </a:pPr>
            <a:r>
              <a:rPr lang="en-US" sz="1100" i="1" dirty="0">
                <a:solidFill>
                  <a:srgbClr val="5A6472"/>
                </a:solidFill>
                <a:latin typeface="Calibri" pitchFamily="34" charset="0"/>
                <a:cs typeface="Amiri" pitchFamily="2" charset="-78"/>
              </a:rPr>
              <a:t>is-taq-ṭa-ba</a:t>
            </a:r>
            <a:endParaRPr lang="en-US" sz="1350" dirty="0"/>
          </a:p>
        </p:txBody>
      </p:sp>
      <p:sp>
        <p:nvSpPr>
          <p:cNvPr id="52" name="Shape 49"/>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3" name="Text 50"/>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54" name="Text 51"/>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اسْتَقْطَبَتْ</a:t>
            </a:r>
            <a:endParaRPr lang="ar-SA" sz="1500" dirty="0"/>
          </a:p>
        </p:txBody>
      </p:sp>
      <p:sp>
        <p:nvSpPr>
          <p:cNvPr id="55" name="Shape 52"/>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6" name="Text 53"/>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57" name="Text 54"/>
          <p:cNvSpPr txBox="1"/>
          <p:nvPr/>
        </p:nvSpPr>
        <p:spPr>
          <a:xfrm>
            <a:off x="6400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اسْتَقْطَبُوا</a:t>
            </a:r>
            <a:endParaRPr lang="ar-SA" sz="1350" dirty="0"/>
          </a:p>
        </p:txBody>
      </p:sp>
      <p:sp>
        <p:nvSpPr>
          <p:cNvPr id="58" name="Shape 5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8211312"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61" name="Shape 58"/>
          <p:cNvSpPr/>
          <p:nvPr/>
        </p:nvSpPr>
        <p:spPr>
          <a:xfrm>
            <a:off x="8604504" y="4279392"/>
            <a:ext cx="1207008" cy="256032"/>
          </a:xfrm>
          <a:prstGeom prst="roundRect">
            <a:avLst>
              <a:gd name="adj" fmla="val 50000"/>
            </a:avLst>
          </a:prstGeom>
          <a:solidFill>
            <a:srgbClr val="EFE7D2"/>
          </a:solidFill>
          <a:ln w="12700">
            <a:solidFill>
              <a:srgbClr val="EFE7D2"/>
            </a:solidFill>
            <a:prstDash val="solid"/>
          </a:ln>
        </p:spPr>
      </p:sp>
      <p:sp>
        <p:nvSpPr>
          <p:cNvPr id="62" name="Text 59"/>
          <p:cNvSpPr txBox="1"/>
          <p:nvPr/>
        </p:nvSpPr>
        <p:spPr>
          <a:xfrm>
            <a:off x="8604504" y="4279392"/>
            <a:ext cx="120700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they</a:t>
            </a:r>
            <a:endParaRPr lang="en-US" sz="800" dirty="0"/>
          </a:p>
        </p:txBody>
      </p:sp>
      <p:sp>
        <p:nvSpPr>
          <p:cNvPr id="63" name="Text 60"/>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وَاجَهَ</a:t>
            </a:r>
            <a:endParaRPr lang="ar-SA" sz="3000" dirty="0"/>
          </a:p>
        </p:txBody>
      </p:sp>
      <p:sp>
        <p:nvSpPr>
          <p:cNvPr id="64" name="Text 61"/>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faced</a:t>
            </a:r>
            <a:endParaRPr lang="en-US" sz="1350" dirty="0"/>
          </a:p>
          <a:p>
            <a:pPr indent="0" marL="0">
              <a:buNone/>
            </a:pPr>
            <a:r>
              <a:rPr lang="en-US" sz="1100" i="1" dirty="0">
                <a:solidFill>
                  <a:srgbClr val="5A6472"/>
                </a:solidFill>
                <a:latin typeface="Calibri" pitchFamily="34" charset="0"/>
                <a:cs typeface="Amiri" pitchFamily="2" charset="-78"/>
              </a:rPr>
              <a:t>wā-ja-ha</a:t>
            </a:r>
            <a:endParaRPr lang="en-US" sz="1350" dirty="0"/>
          </a:p>
        </p:txBody>
      </p:sp>
      <p:sp>
        <p:nvSpPr>
          <p:cNvPr id="65" name="Shape 62"/>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66" name="Text 63"/>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67" name="Text 64"/>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وَاجَهَتْ</a:t>
            </a:r>
            <a:endParaRPr lang="ar-SA" sz="1500" dirty="0"/>
          </a:p>
        </p:txBody>
      </p:sp>
      <p:sp>
        <p:nvSpPr>
          <p:cNvPr id="68" name="Shape 65"/>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9" name="Text 66"/>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70" name="Text 67"/>
          <p:cNvSpPr txBox="1"/>
          <p:nvPr/>
        </p:nvSpPr>
        <p:spPr>
          <a:xfrm>
            <a:off x="8284464"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وَاجَهُوا</a:t>
            </a:r>
            <a:endParaRPr lang="ar-SA" sz="135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47</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P2-L07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7" b="1" spc="150" kern="0" dirty="0">
                <a:solidFill>
                  <a:srgbClr val="1B3B6F"/>
                </a:solidFill>
                <a:latin typeface="Calibri" pitchFamily="34" charset="0"/>
                <a:cs typeface="Amiri" pitchFamily="2" charset="-78"/>
              </a:rPr>
              <a:t>GRAMMAR FOCUS · PART 1 · TENSE ALONG THE TIMELINE (WEBSITE RULES 1–3 + TABLE) · CORE</a:t>
            </a:r>
            <a:endParaRPr lang="en-US" sz="807"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Golden Age → decline → today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الزَّمَنُ عَبْرَ التَّارِيخِ</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125712" y="1810512"/>
            <a:ext cx="25328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4187952" y="1810512"/>
            <a:ext cx="4791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Website example</a:t>
            </a:r>
            <a:endParaRPr lang="en-US" sz="1100" dirty="0"/>
          </a:p>
        </p:txBody>
      </p:sp>
      <p:sp>
        <p:nvSpPr>
          <p:cNvPr id="18" name="Text 15"/>
          <p:cNvSpPr txBox="1"/>
          <p:nvPr/>
        </p:nvSpPr>
        <p:spPr>
          <a:xfrm>
            <a:off x="2450592" y="1810512"/>
            <a:ext cx="1591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Tense</a:t>
            </a:r>
            <a:endParaRPr lang="en-US" sz="1100" dirty="0"/>
          </a:p>
        </p:txBody>
      </p:sp>
      <p:sp>
        <p:nvSpPr>
          <p:cNvPr id="19" name="Text 16"/>
          <p:cNvSpPr txBox="1"/>
          <p:nvPr/>
        </p:nvSpPr>
        <p:spPr>
          <a:xfrm>
            <a:off x="530352"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Period</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9162288" y="2267712"/>
            <a:ext cx="24963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Arabs had founded a world system.</a:t>
            </a:r>
            <a:endParaRPr lang="en-US" sz="1100" dirty="0"/>
          </a:p>
        </p:txBody>
      </p:sp>
      <p:sp>
        <p:nvSpPr>
          <p:cNvPr id="22" name="Text 19"/>
          <p:cNvSpPr txBox="1"/>
          <p:nvPr/>
        </p:nvSpPr>
        <p:spPr>
          <a:xfrm>
            <a:off x="4206240" y="2267712"/>
            <a:ext cx="4754880" cy="682142"/>
          </a:xfrm>
          <a:prstGeom prst="rect">
            <a:avLst/>
          </a:prstGeom>
          <a:noFill/>
          <a:ln/>
        </p:spPr>
        <p:txBody>
          <a:bodyPr wrap="square" lIns="0" tIns="0" rIns="0" bIns="0" rtlCol="0" anchor="ctr"/>
          <a:lstStyle/>
          <a:p>
            <a:pPr rtl="1" algn="ctr" indent="0" marL="0">
              <a:buNone/>
            </a:pPr>
            <a:r>
              <a:rPr lang="ar-SA" altLang="en-US" sz="1900" b="1" dirty="0">
                <a:solidFill>
                  <a:srgbClr val="D6336C"/>
                </a:solidFill>
                <a:latin typeface="Amiri" pitchFamily="2" charset="-78"/>
                <a:ea typeface="Amiri" pitchFamily="2" charset="-78"/>
                <a:cs typeface="Amiri" pitchFamily="2" charset="-78"/>
              </a:rPr>
              <a:t>كَانَ</a:t>
            </a:r>
            <a:pPr rtl="1" algn="ctr" indent="0" marL="0">
              <a:buNone/>
            </a:pPr>
            <a:r>
              <a:rPr lang="ar-SA" altLang="en-US" sz="1900" b="1" dirty="0">
                <a:solidFill>
                  <a:srgbClr val="1B3B6F"/>
                </a:solidFill>
                <a:latin typeface="Amiri" pitchFamily="2" charset="-78"/>
                <a:ea typeface="Amiri" pitchFamily="2" charset="-78"/>
                <a:cs typeface="Amiri" pitchFamily="2" charset="-78"/>
              </a:rPr>
              <a:t> العَرَبُ </a:t>
            </a:r>
            <a:pPr rtl="1" algn="ctr" indent="0" marL="0">
              <a:buNone/>
            </a:pPr>
            <a:r>
              <a:rPr lang="ar-SA" altLang="en-US" sz="1900" b="1" dirty="0">
                <a:solidFill>
                  <a:srgbClr val="D6336C"/>
                </a:solidFill>
                <a:latin typeface="Amiri" pitchFamily="2" charset="-78"/>
                <a:ea typeface="Amiri" pitchFamily="2" charset="-78"/>
                <a:cs typeface="Amiri" pitchFamily="2" charset="-78"/>
              </a:rPr>
              <a:t>قَدْ أَسَّسُوا</a:t>
            </a:r>
            <a:pPr rtl="1" algn="ctr" indent="0" marL="0">
              <a:buNone/>
            </a:pPr>
            <a:r>
              <a:rPr lang="ar-SA" altLang="en-US" sz="1900" b="1" dirty="0">
                <a:solidFill>
                  <a:srgbClr val="1B3B6F"/>
                </a:solidFill>
                <a:latin typeface="Amiri" pitchFamily="2" charset="-78"/>
                <a:ea typeface="Amiri" pitchFamily="2" charset="-78"/>
                <a:cs typeface="Amiri" pitchFamily="2" charset="-78"/>
              </a:rPr>
              <a:t> نِظَامًا عَالَمِيًّا.</a:t>
            </a:r>
            <a:endParaRPr lang="ar-SA" sz="1900" dirty="0"/>
          </a:p>
        </p:txBody>
      </p:sp>
      <p:sp>
        <p:nvSpPr>
          <p:cNvPr id="23" name="Text 20"/>
          <p:cNvSpPr txBox="1"/>
          <p:nvPr/>
        </p:nvSpPr>
        <p:spPr>
          <a:xfrm>
            <a:off x="2487168" y="2267712"/>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perfect</a:t>
            </a:r>
            <a:endParaRPr lang="en-US" sz="1100" dirty="0"/>
          </a:p>
        </p:txBody>
      </p:sp>
      <p:sp>
        <p:nvSpPr>
          <p:cNvPr id="24" name="Text 21"/>
          <p:cNvSpPr txBox="1"/>
          <p:nvPr/>
        </p:nvSpPr>
        <p:spPr>
          <a:xfrm>
            <a:off x="566928" y="2267712"/>
            <a:ext cx="17373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Golden Age</a:t>
            </a:r>
            <a:endParaRPr lang="en-US" sz="110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9162288" y="3004718"/>
            <a:ext cx="24963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House of Wisdom had attracted scholars.</a:t>
            </a:r>
            <a:endParaRPr lang="en-US" sz="1100" dirty="0"/>
          </a:p>
        </p:txBody>
      </p:sp>
      <p:sp>
        <p:nvSpPr>
          <p:cNvPr id="27" name="Text 24"/>
          <p:cNvSpPr txBox="1"/>
          <p:nvPr/>
        </p:nvSpPr>
        <p:spPr>
          <a:xfrm>
            <a:off x="4206240" y="3004718"/>
            <a:ext cx="4754880" cy="682142"/>
          </a:xfrm>
          <a:prstGeom prst="rect">
            <a:avLst/>
          </a:prstGeom>
          <a:noFill/>
          <a:ln/>
        </p:spPr>
        <p:txBody>
          <a:bodyPr wrap="square" lIns="0" tIns="0" rIns="0" bIns="0" rtlCol="0" anchor="ctr"/>
          <a:lstStyle/>
          <a:p>
            <a:pPr rtl="1" algn="ctr" indent="0" marL="0">
              <a:buNone/>
            </a:pPr>
            <a:r>
              <a:rPr lang="ar-SA" altLang="en-US" sz="1900" b="1" dirty="0">
                <a:solidFill>
                  <a:srgbClr val="D6336C"/>
                </a:solidFill>
                <a:latin typeface="Amiri" pitchFamily="2" charset="-78"/>
                <a:ea typeface="Amiri" pitchFamily="2" charset="-78"/>
                <a:cs typeface="Amiri" pitchFamily="2" charset="-78"/>
              </a:rPr>
              <a:t>كَانَتْ</a:t>
            </a:r>
            <a:pPr rtl="1" algn="ctr" indent="0" marL="0">
              <a:buNone/>
            </a:pPr>
            <a:r>
              <a:rPr lang="ar-SA" altLang="en-US" sz="1900" b="1" dirty="0">
                <a:solidFill>
                  <a:srgbClr val="1B3B6F"/>
                </a:solidFill>
                <a:latin typeface="Amiri" pitchFamily="2" charset="-78"/>
                <a:ea typeface="Amiri" pitchFamily="2" charset="-78"/>
                <a:cs typeface="Amiri" pitchFamily="2" charset="-78"/>
              </a:rPr>
              <a:t> دَارُ الحِكْمَةِ </a:t>
            </a:r>
            <a:pPr rtl="1" algn="ctr" indent="0" marL="0">
              <a:buNone/>
            </a:pPr>
            <a:r>
              <a:rPr lang="ar-SA" altLang="en-US" sz="1900" b="1" dirty="0">
                <a:solidFill>
                  <a:srgbClr val="D6336C"/>
                </a:solidFill>
                <a:latin typeface="Amiri" pitchFamily="2" charset="-78"/>
                <a:ea typeface="Amiri" pitchFamily="2" charset="-78"/>
                <a:cs typeface="Amiri" pitchFamily="2" charset="-78"/>
              </a:rPr>
              <a:t>قَدِ اسْتَقْطَبَتْ</a:t>
            </a:r>
            <a:pPr rtl="1" algn="ctr" indent="0" marL="0">
              <a:buNone/>
            </a:pPr>
            <a:r>
              <a:rPr lang="ar-SA" altLang="en-US" sz="1900" b="1" dirty="0">
                <a:solidFill>
                  <a:srgbClr val="1B3B6F"/>
                </a:solidFill>
                <a:latin typeface="Amiri" pitchFamily="2" charset="-78"/>
                <a:ea typeface="Amiri" pitchFamily="2" charset="-78"/>
                <a:cs typeface="Amiri" pitchFamily="2" charset="-78"/>
              </a:rPr>
              <a:t> عُلَمَاءَ.</a:t>
            </a:r>
            <a:endParaRPr lang="ar-SA" sz="1900" dirty="0"/>
          </a:p>
        </p:txBody>
      </p:sp>
      <p:sp>
        <p:nvSpPr>
          <p:cNvPr id="28" name="Text 25"/>
          <p:cNvSpPr txBox="1"/>
          <p:nvPr/>
        </p:nvSpPr>
        <p:spPr>
          <a:xfrm>
            <a:off x="2487168" y="3004718"/>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perfect</a:t>
            </a:r>
            <a:endParaRPr lang="en-US" sz="1100" dirty="0"/>
          </a:p>
        </p:txBody>
      </p:sp>
      <p:sp>
        <p:nvSpPr>
          <p:cNvPr id="29" name="Text 26"/>
          <p:cNvSpPr txBox="1"/>
          <p:nvPr/>
        </p:nvSpPr>
        <p:spPr>
          <a:xfrm>
            <a:off x="566928" y="3004718"/>
            <a:ext cx="17373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Golden Age</a:t>
            </a:r>
            <a:endParaRPr lang="en-US" sz="1100" dirty="0"/>
          </a:p>
        </p:txBody>
      </p:sp>
      <p:sp>
        <p:nvSpPr>
          <p:cNvPr id="30" name="Shape 27"/>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1" name="Text 28"/>
          <p:cNvSpPr txBox="1"/>
          <p:nvPr/>
        </p:nvSpPr>
        <p:spPr>
          <a:xfrm>
            <a:off x="9162288" y="3741725"/>
            <a:ext cx="24963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Education declined during the invasions.</a:t>
            </a:r>
            <a:endParaRPr lang="en-US" sz="1100" dirty="0"/>
          </a:p>
        </p:txBody>
      </p:sp>
      <p:sp>
        <p:nvSpPr>
          <p:cNvPr id="32" name="Text 29"/>
          <p:cNvSpPr txBox="1"/>
          <p:nvPr/>
        </p:nvSpPr>
        <p:spPr>
          <a:xfrm>
            <a:off x="4206240" y="3741725"/>
            <a:ext cx="4754880" cy="682142"/>
          </a:xfrm>
          <a:prstGeom prst="rect">
            <a:avLst/>
          </a:prstGeom>
          <a:noFill/>
          <a:ln/>
        </p:spPr>
        <p:txBody>
          <a:bodyPr wrap="square" lIns="0" tIns="0" rIns="0" bIns="0" rtlCol="0" anchor="ctr"/>
          <a:lstStyle/>
          <a:p>
            <a:pPr rtl="1" algn="ctr" indent="0" marL="0">
              <a:buNone/>
            </a:pPr>
            <a:r>
              <a:rPr lang="ar-SA" altLang="en-US" sz="1900" b="1" dirty="0">
                <a:solidFill>
                  <a:srgbClr val="1D5FBF"/>
                </a:solidFill>
                <a:latin typeface="Amiri" pitchFamily="2" charset="-78"/>
                <a:ea typeface="Amiri" pitchFamily="2" charset="-78"/>
                <a:cs typeface="Amiri" pitchFamily="2" charset="-78"/>
              </a:rPr>
              <a:t>انْحَطَّ</a:t>
            </a:r>
            <a:pPr rtl="1" algn="ctr" indent="0" marL="0">
              <a:buNone/>
            </a:pPr>
            <a:r>
              <a:rPr lang="ar-SA" altLang="en-US" sz="1900" b="1" dirty="0">
                <a:solidFill>
                  <a:srgbClr val="1B3B6F"/>
                </a:solidFill>
                <a:latin typeface="Amiri" pitchFamily="2" charset="-78"/>
                <a:ea typeface="Amiri" pitchFamily="2" charset="-78"/>
                <a:cs typeface="Amiri" pitchFamily="2" charset="-78"/>
              </a:rPr>
              <a:t> التَّعْلِيمُ خِلَالَ فَتَرَاتِ الغَزْوِ.</a:t>
            </a:r>
            <a:endParaRPr lang="ar-SA" sz="1900" dirty="0"/>
          </a:p>
        </p:txBody>
      </p:sp>
      <p:sp>
        <p:nvSpPr>
          <p:cNvPr id="33" name="Text 30"/>
          <p:cNvSpPr txBox="1"/>
          <p:nvPr/>
        </p:nvSpPr>
        <p:spPr>
          <a:xfrm>
            <a:off x="2487168" y="3741725"/>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simple past</a:t>
            </a:r>
            <a:endParaRPr lang="en-US" sz="1100" dirty="0"/>
          </a:p>
        </p:txBody>
      </p:sp>
      <p:sp>
        <p:nvSpPr>
          <p:cNvPr id="34" name="Text 31"/>
          <p:cNvSpPr txBox="1"/>
          <p:nvPr/>
        </p:nvSpPr>
        <p:spPr>
          <a:xfrm>
            <a:off x="566928" y="3741725"/>
            <a:ext cx="17373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Decline</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9162288" y="4478731"/>
            <a:ext cx="24963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Education developed after independence.</a:t>
            </a:r>
            <a:endParaRPr lang="en-US" sz="1100" dirty="0"/>
          </a:p>
        </p:txBody>
      </p:sp>
      <p:sp>
        <p:nvSpPr>
          <p:cNvPr id="37" name="Text 34"/>
          <p:cNvSpPr txBox="1"/>
          <p:nvPr/>
        </p:nvSpPr>
        <p:spPr>
          <a:xfrm>
            <a:off x="4206240" y="4478731"/>
            <a:ext cx="4754880" cy="682142"/>
          </a:xfrm>
          <a:prstGeom prst="rect">
            <a:avLst/>
          </a:prstGeom>
          <a:noFill/>
          <a:ln/>
        </p:spPr>
        <p:txBody>
          <a:bodyPr wrap="square" lIns="0" tIns="0" rIns="0" bIns="0" rtlCol="0" anchor="ctr"/>
          <a:lstStyle/>
          <a:p>
            <a:pPr rtl="1" algn="ctr" indent="0" marL="0">
              <a:buNone/>
            </a:pPr>
            <a:r>
              <a:rPr lang="ar-SA" altLang="en-US" sz="1900" b="1" dirty="0">
                <a:solidFill>
                  <a:srgbClr val="1D5FBF"/>
                </a:solidFill>
                <a:latin typeface="Amiri" pitchFamily="2" charset="-78"/>
                <a:ea typeface="Amiri" pitchFamily="2" charset="-78"/>
                <a:cs typeface="Amiri" pitchFamily="2" charset="-78"/>
              </a:rPr>
              <a:t>تَطَوَّرَ</a:t>
            </a:r>
            <a:pPr rtl="1" algn="ctr" indent="0" marL="0">
              <a:buNone/>
            </a:pPr>
            <a:r>
              <a:rPr lang="ar-SA" altLang="en-US" sz="1900" b="1" dirty="0">
                <a:solidFill>
                  <a:srgbClr val="1B3B6F"/>
                </a:solidFill>
                <a:latin typeface="Amiri" pitchFamily="2" charset="-78"/>
                <a:ea typeface="Amiri" pitchFamily="2" charset="-78"/>
                <a:cs typeface="Amiri" pitchFamily="2" charset="-78"/>
              </a:rPr>
              <a:t> التَّعْلِيمُ بَعْدَ الاسْتِقْلَالِ.</a:t>
            </a:r>
            <a:endParaRPr lang="ar-SA" sz="1900" dirty="0"/>
          </a:p>
        </p:txBody>
      </p:sp>
      <p:sp>
        <p:nvSpPr>
          <p:cNvPr id="38" name="Text 35"/>
          <p:cNvSpPr txBox="1"/>
          <p:nvPr/>
        </p:nvSpPr>
        <p:spPr>
          <a:xfrm>
            <a:off x="2487168" y="4478731"/>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simple past</a:t>
            </a:r>
            <a:endParaRPr lang="en-US" sz="1100" dirty="0"/>
          </a:p>
        </p:txBody>
      </p:sp>
      <p:sp>
        <p:nvSpPr>
          <p:cNvPr id="39" name="Text 36"/>
          <p:cNvSpPr txBox="1"/>
          <p:nvPr/>
        </p:nvSpPr>
        <p:spPr>
          <a:xfrm>
            <a:off x="566928" y="4478731"/>
            <a:ext cx="17373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Independence</a:t>
            </a:r>
            <a:endParaRPr lang="en-US" sz="1100" dirty="0"/>
          </a:p>
        </p:txBody>
      </p:sp>
      <p:sp>
        <p:nvSpPr>
          <p:cNvPr id="40" name="Shape 37"/>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1" name="Text 38"/>
          <p:cNvSpPr txBox="1"/>
          <p:nvPr/>
        </p:nvSpPr>
        <p:spPr>
          <a:xfrm>
            <a:off x="9162288" y="5215738"/>
            <a:ext cx="24963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Education is undergoing radical reforms.</a:t>
            </a:r>
            <a:endParaRPr lang="en-US" sz="1100" dirty="0"/>
          </a:p>
        </p:txBody>
      </p:sp>
      <p:sp>
        <p:nvSpPr>
          <p:cNvPr id="42" name="Text 39"/>
          <p:cNvSpPr txBox="1"/>
          <p:nvPr/>
        </p:nvSpPr>
        <p:spPr>
          <a:xfrm>
            <a:off x="4206240" y="5215738"/>
            <a:ext cx="4754880" cy="682142"/>
          </a:xfrm>
          <a:prstGeom prst="rect">
            <a:avLst/>
          </a:prstGeom>
          <a:noFill/>
          <a:ln/>
        </p:spPr>
        <p:txBody>
          <a:bodyPr wrap="square" lIns="0" tIns="0" rIns="0" bIns="0" rtlCol="0" anchor="ctr"/>
          <a:lstStyle/>
          <a:p>
            <a:pPr rtl="1" algn="ctr" indent="0" marL="0">
              <a:buNone/>
            </a:pPr>
            <a:r>
              <a:rPr lang="ar-SA" altLang="en-US" sz="1900" b="1" dirty="0">
                <a:solidFill>
                  <a:srgbClr val="C77700"/>
                </a:solidFill>
                <a:latin typeface="Amiri" pitchFamily="2" charset="-78"/>
                <a:ea typeface="Amiri" pitchFamily="2" charset="-78"/>
                <a:cs typeface="Amiri" pitchFamily="2" charset="-78"/>
              </a:rPr>
              <a:t>يَشْهَدُ</a:t>
            </a:r>
            <a:pPr rtl="1" algn="ctr" indent="0" marL="0">
              <a:buNone/>
            </a:pPr>
            <a:r>
              <a:rPr lang="ar-SA" altLang="en-US" sz="1900" b="1" dirty="0">
                <a:solidFill>
                  <a:srgbClr val="1B3B6F"/>
                </a:solidFill>
                <a:latin typeface="Amiri" pitchFamily="2" charset="-78"/>
                <a:ea typeface="Amiri" pitchFamily="2" charset="-78"/>
                <a:cs typeface="Amiri" pitchFamily="2" charset="-78"/>
              </a:rPr>
              <a:t> التَّعْلِيمُ إِصْلَاحَاتٍ جَذْرِيَّةً.</a:t>
            </a:r>
            <a:endParaRPr lang="ar-SA" sz="1900" dirty="0"/>
          </a:p>
        </p:txBody>
      </p:sp>
      <p:sp>
        <p:nvSpPr>
          <p:cNvPr id="43" name="Text 40"/>
          <p:cNvSpPr txBox="1"/>
          <p:nvPr/>
        </p:nvSpPr>
        <p:spPr>
          <a:xfrm>
            <a:off x="2487168" y="5215738"/>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present</a:t>
            </a:r>
            <a:endParaRPr lang="en-US" sz="1100" dirty="0"/>
          </a:p>
        </p:txBody>
      </p:sp>
      <p:sp>
        <p:nvSpPr>
          <p:cNvPr id="44" name="Text 41"/>
          <p:cNvSpPr txBox="1"/>
          <p:nvPr/>
        </p:nvSpPr>
        <p:spPr>
          <a:xfrm>
            <a:off x="566928" y="5215738"/>
            <a:ext cx="17373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Today</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common error: never the present for a Golden-Age achievement, never the past perfect for today.</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47</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P2-L07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KĀNA QAD AGREEMENT — HE, SHE, THEY (WEBSITE LISTENING, READING AND MODEL) · CORE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He had · she had · they had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كَانَ قَدْ · كَانَتْ قَدْ · كَانُوا قَدْ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942832" y="1810512"/>
            <a:ext cx="2715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Notice</a:t>
            </a:r>
            <a:endParaRPr lang="en-US" sz="1100" dirty="0"/>
          </a:p>
        </p:txBody>
      </p:sp>
      <p:sp>
        <p:nvSpPr>
          <p:cNvPr id="17" name="Text 14"/>
          <p:cNvSpPr txBox="1"/>
          <p:nvPr/>
        </p:nvSpPr>
        <p:spPr>
          <a:xfrm>
            <a:off x="290779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Past perfect</a:t>
            </a:r>
            <a:endParaRPr lang="en-US" sz="1100" dirty="0"/>
          </a:p>
        </p:txBody>
      </p:sp>
      <p:sp>
        <p:nvSpPr>
          <p:cNvPr id="18" name="Text 15"/>
          <p:cNvSpPr txBox="1"/>
          <p:nvPr/>
        </p:nvSpPr>
        <p:spPr>
          <a:xfrm>
            <a:off x="53035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Subject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979408" y="2267712"/>
            <a:ext cx="2679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kāna … kataba</a:t>
            </a:r>
            <a:endParaRPr lang="en-US" sz="1100" dirty="0"/>
          </a:p>
        </p:txBody>
      </p:sp>
      <p:sp>
        <p:nvSpPr>
          <p:cNvPr id="21" name="Text 18"/>
          <p:cNvSpPr txBox="1"/>
          <p:nvPr/>
        </p:nvSpPr>
        <p:spPr>
          <a:xfrm>
            <a:off x="2926080" y="2267712"/>
            <a:ext cx="5852160" cy="559308"/>
          </a:xfrm>
          <a:prstGeom prst="rect">
            <a:avLst/>
          </a:prstGeom>
          <a:noFill/>
          <a:ln/>
        </p:spPr>
        <p:txBody>
          <a:bodyPr wrap="square" lIns="0" tIns="0" rIns="0" bIns="0" rtlCol="0" anchor="ctr"/>
          <a:lstStyle/>
          <a:p>
            <a:pPr rtl="1" algn="ctr" indent="0" marL="0">
              <a:buNone/>
            </a:pPr>
            <a:r>
              <a:rPr lang="ar-SA" altLang="en-US" sz="1900" b="1" dirty="0">
                <a:solidFill>
                  <a:srgbClr val="D6336C"/>
                </a:solidFill>
                <a:latin typeface="Amiri" pitchFamily="2" charset="-78"/>
                <a:ea typeface="Amiri" pitchFamily="2" charset="-78"/>
                <a:cs typeface="Amiri" pitchFamily="2" charset="-78"/>
              </a:rPr>
              <a:t>كَانَ</a:t>
            </a:r>
            <a:pPr rtl="1" algn="ctr" indent="0" marL="0">
              <a:buNone/>
            </a:pPr>
            <a:r>
              <a:rPr lang="ar-SA" altLang="en-US" sz="1900" b="1" dirty="0">
                <a:solidFill>
                  <a:srgbClr val="1B3B6F"/>
                </a:solidFill>
                <a:latin typeface="Amiri" pitchFamily="2" charset="-78"/>
                <a:ea typeface="Amiri" pitchFamily="2" charset="-78"/>
                <a:cs typeface="Amiri" pitchFamily="2" charset="-78"/>
              </a:rPr>
              <a:t> ابْنُ رُشْدٍ </a:t>
            </a:r>
            <a:pPr rtl="1" algn="ctr" indent="0" marL="0">
              <a:buNone/>
            </a:pPr>
            <a:r>
              <a:rPr lang="ar-SA" altLang="en-US" sz="1900" b="1" dirty="0">
                <a:solidFill>
                  <a:srgbClr val="D6336C"/>
                </a:solidFill>
                <a:latin typeface="Amiri" pitchFamily="2" charset="-78"/>
                <a:ea typeface="Amiri" pitchFamily="2" charset="-78"/>
                <a:cs typeface="Amiri" pitchFamily="2" charset="-78"/>
              </a:rPr>
              <a:t>قَدْ كَتَبَ</a:t>
            </a:r>
            <a:pPr rtl="1" algn="ctr" indent="0" marL="0">
              <a:buNone/>
            </a:pPr>
            <a:r>
              <a:rPr lang="ar-SA" altLang="en-US" sz="1900" b="1" dirty="0">
                <a:solidFill>
                  <a:srgbClr val="1B3B6F"/>
                </a:solidFill>
                <a:latin typeface="Amiri" pitchFamily="2" charset="-78"/>
                <a:ea typeface="Amiri" pitchFamily="2" charset="-78"/>
                <a:cs typeface="Amiri" pitchFamily="2" charset="-78"/>
              </a:rPr>
              <a:t> شُرُوحًا مُهِمَّةً.</a:t>
            </a:r>
            <a:endParaRPr lang="ar-SA" sz="1900" dirty="0"/>
          </a:p>
        </p:txBody>
      </p:sp>
      <p:sp>
        <p:nvSpPr>
          <p:cNvPr id="22" name="Text 19"/>
          <p:cNvSpPr txBox="1"/>
          <p:nvPr/>
        </p:nvSpPr>
        <p:spPr>
          <a:xfrm>
            <a:off x="56692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Ibn Rushd (he)</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979408" y="2881884"/>
            <a:ext cx="2679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kānat … assasat</a:t>
            </a:r>
            <a:endParaRPr lang="en-US" sz="1100" dirty="0"/>
          </a:p>
        </p:txBody>
      </p:sp>
      <p:sp>
        <p:nvSpPr>
          <p:cNvPr id="27" name="Text 24"/>
          <p:cNvSpPr txBox="1"/>
          <p:nvPr/>
        </p:nvSpPr>
        <p:spPr>
          <a:xfrm>
            <a:off x="2926080" y="2881884"/>
            <a:ext cx="5852160" cy="559308"/>
          </a:xfrm>
          <a:prstGeom prst="rect">
            <a:avLst/>
          </a:prstGeom>
          <a:noFill/>
          <a:ln/>
        </p:spPr>
        <p:txBody>
          <a:bodyPr wrap="square" lIns="0" tIns="0" rIns="0" bIns="0" rtlCol="0" anchor="ctr"/>
          <a:lstStyle/>
          <a:p>
            <a:pPr rtl="1" algn="ctr" indent="0" marL="0">
              <a:buNone/>
            </a:pPr>
            <a:r>
              <a:rPr lang="ar-SA" altLang="en-US" sz="1900" b="1" dirty="0">
                <a:solidFill>
                  <a:srgbClr val="D6336C"/>
                </a:solidFill>
                <a:latin typeface="Amiri" pitchFamily="2" charset="-78"/>
                <a:ea typeface="Amiri" pitchFamily="2" charset="-78"/>
                <a:cs typeface="Amiri" pitchFamily="2" charset="-78"/>
              </a:rPr>
              <a:t>كَانَتْ</a:t>
            </a:r>
            <a:pPr rtl="1" algn="ctr" indent="0" marL="0">
              <a:buNone/>
            </a:pPr>
            <a:r>
              <a:rPr lang="ar-SA" altLang="en-US" sz="1900" b="1" dirty="0">
                <a:solidFill>
                  <a:srgbClr val="1B3B6F"/>
                </a:solidFill>
                <a:latin typeface="Amiri" pitchFamily="2" charset="-78"/>
                <a:ea typeface="Amiri" pitchFamily="2" charset="-78"/>
                <a:cs typeface="Amiri" pitchFamily="2" charset="-78"/>
              </a:rPr>
              <a:t> فَاطِمَةُ الفِهْرِيَّةُ </a:t>
            </a:r>
            <a:pPr rtl="1" algn="ctr" indent="0" marL="0">
              <a:buNone/>
            </a:pPr>
            <a:r>
              <a:rPr lang="ar-SA" altLang="en-US" sz="1900" b="1" dirty="0">
                <a:solidFill>
                  <a:srgbClr val="D6336C"/>
                </a:solidFill>
                <a:latin typeface="Amiri" pitchFamily="2" charset="-78"/>
                <a:ea typeface="Amiri" pitchFamily="2" charset="-78"/>
                <a:cs typeface="Amiri" pitchFamily="2" charset="-78"/>
              </a:rPr>
              <a:t>قَدْ أَسَّسَتْ</a:t>
            </a:r>
            <a:pPr rtl="1" algn="ctr" indent="0" marL="0">
              <a:buNone/>
            </a:pPr>
            <a:r>
              <a:rPr lang="ar-SA" altLang="en-US" sz="1900" b="1" dirty="0">
                <a:solidFill>
                  <a:srgbClr val="1B3B6F"/>
                </a:solidFill>
                <a:latin typeface="Amiri" pitchFamily="2" charset="-78"/>
                <a:ea typeface="Amiri" pitchFamily="2" charset="-78"/>
                <a:cs typeface="Amiri" pitchFamily="2" charset="-78"/>
              </a:rPr>
              <a:t> جَامِعَةَ القَرَوِيِّينَ.</a:t>
            </a:r>
            <a:endParaRPr lang="ar-SA" sz="1900" dirty="0"/>
          </a:p>
        </p:txBody>
      </p:sp>
      <p:sp>
        <p:nvSpPr>
          <p:cNvPr id="28" name="Text 25"/>
          <p:cNvSpPr txBox="1"/>
          <p:nvPr/>
        </p:nvSpPr>
        <p:spPr>
          <a:xfrm>
            <a:off x="56692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Fāṭima al-Fihriyya (she)</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979408" y="3496056"/>
            <a:ext cx="2679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qadi before waṣl</a:t>
            </a:r>
            <a:endParaRPr lang="en-US" sz="1100" dirty="0"/>
          </a:p>
        </p:txBody>
      </p:sp>
      <p:sp>
        <p:nvSpPr>
          <p:cNvPr id="33" name="Text 30"/>
          <p:cNvSpPr txBox="1"/>
          <p:nvPr/>
        </p:nvSpPr>
        <p:spPr>
          <a:xfrm>
            <a:off x="2926080" y="3496056"/>
            <a:ext cx="5852160" cy="559308"/>
          </a:xfrm>
          <a:prstGeom prst="rect">
            <a:avLst/>
          </a:prstGeom>
          <a:noFill/>
          <a:ln/>
        </p:spPr>
        <p:txBody>
          <a:bodyPr wrap="square" lIns="0" tIns="0" rIns="0" bIns="0" rtlCol="0" anchor="ctr"/>
          <a:lstStyle/>
          <a:p>
            <a:pPr rtl="1" algn="ctr" indent="0" marL="0">
              <a:buNone/>
            </a:pPr>
            <a:r>
              <a:rPr lang="ar-SA" altLang="en-US" sz="1900" b="1" dirty="0">
                <a:solidFill>
                  <a:srgbClr val="D6336C"/>
                </a:solidFill>
                <a:latin typeface="Amiri" pitchFamily="2" charset="-78"/>
                <a:ea typeface="Amiri" pitchFamily="2" charset="-78"/>
                <a:cs typeface="Amiri" pitchFamily="2" charset="-78"/>
              </a:rPr>
              <a:t>كَانَتْ</a:t>
            </a:r>
            <a:pPr rtl="1" algn="ctr" indent="0" marL="0">
              <a:buNone/>
            </a:pPr>
            <a:r>
              <a:rPr lang="ar-SA" altLang="en-US" sz="1900" b="1" dirty="0">
                <a:solidFill>
                  <a:srgbClr val="1B3B6F"/>
                </a:solidFill>
                <a:latin typeface="Amiri" pitchFamily="2" charset="-78"/>
                <a:ea typeface="Amiri" pitchFamily="2" charset="-78"/>
                <a:cs typeface="Amiri" pitchFamily="2" charset="-78"/>
              </a:rPr>
              <a:t> دَارُ الحِكْمَةِ </a:t>
            </a:r>
            <a:pPr rtl="1" algn="ctr" indent="0" marL="0">
              <a:buNone/>
            </a:pPr>
            <a:r>
              <a:rPr lang="ar-SA" altLang="en-US" sz="1900" b="1" dirty="0">
                <a:solidFill>
                  <a:srgbClr val="D6336C"/>
                </a:solidFill>
                <a:latin typeface="Amiri" pitchFamily="2" charset="-78"/>
                <a:ea typeface="Amiri" pitchFamily="2" charset="-78"/>
                <a:cs typeface="Amiri" pitchFamily="2" charset="-78"/>
              </a:rPr>
              <a:t>قَدِ اسْتَقْطَبَتْ</a:t>
            </a:r>
            <a:pPr rtl="1" algn="ctr" indent="0" marL="0">
              <a:buNone/>
            </a:pPr>
            <a:r>
              <a:rPr lang="ar-SA" altLang="en-US" sz="1900" b="1" dirty="0">
                <a:solidFill>
                  <a:srgbClr val="1B3B6F"/>
                </a:solidFill>
                <a:latin typeface="Amiri" pitchFamily="2" charset="-78"/>
                <a:ea typeface="Amiri" pitchFamily="2" charset="-78"/>
                <a:cs typeface="Amiri" pitchFamily="2" charset="-78"/>
              </a:rPr>
              <a:t> عُلَمَاءَ.</a:t>
            </a:r>
            <a:endParaRPr lang="ar-SA" sz="1900" dirty="0"/>
          </a:p>
        </p:txBody>
      </p:sp>
      <p:sp>
        <p:nvSpPr>
          <p:cNvPr id="34" name="Text 31"/>
          <p:cNvSpPr txBox="1"/>
          <p:nvPr/>
        </p:nvSpPr>
        <p:spPr>
          <a:xfrm>
            <a:off x="56692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House of Wisdom (it, f.)</a:t>
            </a:r>
            <a:endParaRPr lang="en-US" sz="1100" dirty="0"/>
          </a:p>
        </p:txBody>
      </p:sp>
      <p:sp>
        <p:nvSpPr>
          <p:cNvPr id="35" name="Shape 3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6" name="Text 33"/>
          <p:cNvSpPr txBox="1"/>
          <p:nvPr/>
        </p:nvSpPr>
        <p:spPr>
          <a:xfrm>
            <a:off x="8979408" y="4110228"/>
            <a:ext cx="2679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kāna sg. · assasū pl.</a:t>
            </a:r>
            <a:endParaRPr lang="en-US" sz="1100" dirty="0"/>
          </a:p>
        </p:txBody>
      </p:sp>
      <p:sp>
        <p:nvSpPr>
          <p:cNvPr id="37" name="Text 34"/>
          <p:cNvSpPr txBox="1"/>
          <p:nvPr/>
        </p:nvSpPr>
        <p:spPr>
          <a:xfrm>
            <a:off x="2926080" y="4110228"/>
            <a:ext cx="5852160" cy="559308"/>
          </a:xfrm>
          <a:prstGeom prst="rect">
            <a:avLst/>
          </a:prstGeom>
          <a:noFill/>
          <a:ln/>
        </p:spPr>
        <p:txBody>
          <a:bodyPr wrap="square" lIns="0" tIns="0" rIns="0" bIns="0" rtlCol="0" anchor="ctr"/>
          <a:lstStyle/>
          <a:p>
            <a:pPr rtl="1" algn="ctr" indent="0" marL="0">
              <a:buNone/>
            </a:pPr>
            <a:r>
              <a:rPr lang="ar-SA" altLang="en-US" sz="1900" b="1" dirty="0">
                <a:solidFill>
                  <a:srgbClr val="D6336C"/>
                </a:solidFill>
                <a:latin typeface="Amiri" pitchFamily="2" charset="-78"/>
                <a:ea typeface="Amiri" pitchFamily="2" charset="-78"/>
                <a:cs typeface="Amiri" pitchFamily="2" charset="-78"/>
              </a:rPr>
              <a:t>كَانَ</a:t>
            </a:r>
            <a:pPr rtl="1" algn="ctr" indent="0" marL="0">
              <a:buNone/>
            </a:pPr>
            <a:r>
              <a:rPr lang="ar-SA" altLang="en-US" sz="1900" b="1" dirty="0">
                <a:solidFill>
                  <a:srgbClr val="1B3B6F"/>
                </a:solidFill>
                <a:latin typeface="Amiri" pitchFamily="2" charset="-78"/>
                <a:ea typeface="Amiri" pitchFamily="2" charset="-78"/>
                <a:cs typeface="Amiri" pitchFamily="2" charset="-78"/>
              </a:rPr>
              <a:t> العَرَبُ </a:t>
            </a:r>
            <a:pPr rtl="1" algn="ctr" indent="0" marL="0">
              <a:buNone/>
            </a:pPr>
            <a:r>
              <a:rPr lang="ar-SA" altLang="en-US" sz="1900" b="1" dirty="0">
                <a:solidFill>
                  <a:srgbClr val="D6336C"/>
                </a:solidFill>
                <a:latin typeface="Amiri" pitchFamily="2" charset="-78"/>
                <a:ea typeface="Amiri" pitchFamily="2" charset="-78"/>
                <a:cs typeface="Amiri" pitchFamily="2" charset="-78"/>
              </a:rPr>
              <a:t>قَدْ أَسَّسُوا</a:t>
            </a:r>
            <a:pPr rtl="1" algn="ctr" indent="0" marL="0">
              <a:buNone/>
            </a:pPr>
            <a:r>
              <a:rPr lang="ar-SA" altLang="en-US" sz="1900" b="1" dirty="0">
                <a:solidFill>
                  <a:srgbClr val="1B3B6F"/>
                </a:solidFill>
                <a:latin typeface="Amiri" pitchFamily="2" charset="-78"/>
                <a:ea typeface="Amiri" pitchFamily="2" charset="-78"/>
                <a:cs typeface="Amiri" pitchFamily="2" charset="-78"/>
              </a:rPr>
              <a:t> أَرْقَى الأَنْظِمَةِ.</a:t>
            </a:r>
            <a:endParaRPr lang="ar-SA" sz="1900" dirty="0"/>
          </a:p>
        </p:txBody>
      </p:sp>
      <p:sp>
        <p:nvSpPr>
          <p:cNvPr id="38" name="Text 35"/>
          <p:cNvSpPr txBox="1"/>
          <p:nvPr/>
        </p:nvSpPr>
        <p:spPr>
          <a:xfrm>
            <a:off x="56692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Arabs — verb first</a:t>
            </a:r>
            <a:endParaRPr lang="en-US" sz="1100" dirty="0"/>
          </a:p>
        </p:txBody>
      </p:sp>
      <p:sp>
        <p:nvSpPr>
          <p:cNvPr id="39" name="Shape 36"/>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0" name="Text 37"/>
          <p:cNvSpPr txBox="1"/>
          <p:nvPr/>
        </p:nvSpPr>
        <p:spPr>
          <a:xfrm>
            <a:off x="8979408" y="4724400"/>
            <a:ext cx="2679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kānū … tarjamū</a:t>
            </a:r>
            <a:endParaRPr lang="en-US" sz="1100" dirty="0"/>
          </a:p>
        </p:txBody>
      </p:sp>
      <p:sp>
        <p:nvSpPr>
          <p:cNvPr id="41" name="Text 38"/>
          <p:cNvSpPr txBox="1"/>
          <p:nvPr/>
        </p:nvSpPr>
        <p:spPr>
          <a:xfrm>
            <a:off x="2926080" y="4724400"/>
            <a:ext cx="585216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العُلَمَاءُ </a:t>
            </a:r>
            <a:pPr rtl="1" algn="ctr" indent="0" marL="0">
              <a:buNone/>
            </a:pPr>
            <a:r>
              <a:rPr lang="ar-SA" altLang="en-US" sz="1900" b="1" dirty="0">
                <a:solidFill>
                  <a:srgbClr val="D6336C"/>
                </a:solidFill>
                <a:latin typeface="Amiri" pitchFamily="2" charset="-78"/>
                <a:ea typeface="Amiri" pitchFamily="2" charset="-78"/>
                <a:cs typeface="Amiri" pitchFamily="2" charset="-78"/>
              </a:rPr>
              <a:t>كَانُوا قَدْ تَرْجَمُوا</a:t>
            </a:r>
            <a:pPr rtl="1" algn="ctr" indent="0" marL="0">
              <a:buNone/>
            </a:pPr>
            <a:r>
              <a:rPr lang="ar-SA" altLang="en-US" sz="1900" b="1" dirty="0">
                <a:solidFill>
                  <a:srgbClr val="1B3B6F"/>
                </a:solidFill>
                <a:latin typeface="Amiri" pitchFamily="2" charset="-78"/>
                <a:ea typeface="Amiri" pitchFamily="2" charset="-78"/>
                <a:cs typeface="Amiri" pitchFamily="2" charset="-78"/>
              </a:rPr>
              <a:t> الإِرْثَ اليُونَانِيَّ.</a:t>
            </a:r>
            <a:endParaRPr lang="ar-SA" sz="1900" dirty="0"/>
          </a:p>
        </p:txBody>
      </p:sp>
      <p:sp>
        <p:nvSpPr>
          <p:cNvPr id="42" name="Text 39"/>
          <p:cNvSpPr txBox="1"/>
          <p:nvPr/>
        </p:nvSpPr>
        <p:spPr>
          <a:xfrm>
            <a:off x="56692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scholars — subject first</a:t>
            </a:r>
            <a:endParaRPr lang="en-US" sz="1100" dirty="0"/>
          </a:p>
        </p:txBody>
      </p:sp>
      <p:sp>
        <p:nvSpPr>
          <p:cNvPr id="43" name="Shape 40"/>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4" name="Text 41"/>
          <p:cNvSpPr txBox="1"/>
          <p:nvPr/>
        </p:nvSpPr>
        <p:spPr>
          <a:xfrm>
            <a:off x="8979408" y="5338572"/>
            <a:ext cx="2679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treated as she</a:t>
            </a:r>
            <a:endParaRPr lang="en-US" sz="1100" dirty="0"/>
          </a:p>
        </p:txBody>
      </p:sp>
      <p:sp>
        <p:nvSpPr>
          <p:cNvPr id="45" name="Text 42"/>
          <p:cNvSpPr txBox="1"/>
          <p:nvPr/>
        </p:nvSpPr>
        <p:spPr>
          <a:xfrm>
            <a:off x="2926080" y="5338572"/>
            <a:ext cx="5852160" cy="559308"/>
          </a:xfrm>
          <a:prstGeom prst="rect">
            <a:avLst/>
          </a:prstGeom>
          <a:noFill/>
          <a:ln/>
        </p:spPr>
        <p:txBody>
          <a:bodyPr wrap="square" lIns="0" tIns="0" rIns="0" bIns="0" rtlCol="0" anchor="ctr"/>
          <a:lstStyle/>
          <a:p>
            <a:pPr rtl="1" algn="ctr" indent="0" marL="0">
              <a:buNone/>
            </a:pPr>
            <a:r>
              <a:rPr lang="ar-SA" altLang="en-US" sz="1900" b="1" dirty="0">
                <a:solidFill>
                  <a:srgbClr val="D6336C"/>
                </a:solidFill>
                <a:latin typeface="Amiri" pitchFamily="2" charset="-78"/>
                <a:ea typeface="Amiri" pitchFamily="2" charset="-78"/>
                <a:cs typeface="Amiri" pitchFamily="2" charset="-78"/>
              </a:rPr>
              <a:t>كَانَتِ</a:t>
            </a:r>
            <a:pPr rtl="1" algn="ctr" indent="0" marL="0">
              <a:buNone/>
            </a:pPr>
            <a:r>
              <a:rPr lang="ar-SA" altLang="en-US" sz="1900" b="1" dirty="0">
                <a:solidFill>
                  <a:srgbClr val="1B3B6F"/>
                </a:solidFill>
                <a:latin typeface="Amiri" pitchFamily="2" charset="-78"/>
                <a:ea typeface="Amiri" pitchFamily="2" charset="-78"/>
                <a:cs typeface="Amiri" pitchFamily="2" charset="-78"/>
              </a:rPr>
              <a:t> المُدُنُ </a:t>
            </a:r>
            <a:pPr rtl="1" algn="ctr" indent="0" marL="0">
              <a:buNone/>
            </a:pPr>
            <a:r>
              <a:rPr lang="ar-SA" altLang="en-US" sz="1900" b="1" dirty="0">
                <a:solidFill>
                  <a:srgbClr val="D6336C"/>
                </a:solidFill>
                <a:latin typeface="Amiri" pitchFamily="2" charset="-78"/>
                <a:ea typeface="Amiri" pitchFamily="2" charset="-78"/>
                <a:cs typeface="Amiri" pitchFamily="2" charset="-78"/>
              </a:rPr>
              <a:t>قَدِ اسْتَقْطَبَتْ</a:t>
            </a:r>
            <a:pPr rtl="1" algn="ctr" indent="0" marL="0">
              <a:buNone/>
            </a:pPr>
            <a:r>
              <a:rPr lang="ar-SA" altLang="en-US" sz="1900" b="1" dirty="0">
                <a:solidFill>
                  <a:srgbClr val="1B3B6F"/>
                </a:solidFill>
                <a:latin typeface="Amiri" pitchFamily="2" charset="-78"/>
                <a:ea typeface="Amiri" pitchFamily="2" charset="-78"/>
                <a:cs typeface="Amiri" pitchFamily="2" charset="-78"/>
              </a:rPr>
              <a:t> مُتَرْجِمِينَ.</a:t>
            </a:r>
            <a:endParaRPr lang="ar-SA" sz="1900" dirty="0"/>
          </a:p>
        </p:txBody>
      </p:sp>
      <p:sp>
        <p:nvSpPr>
          <p:cNvPr id="46" name="Text 43"/>
          <p:cNvSpPr txBox="1"/>
          <p:nvPr/>
        </p:nvSpPr>
        <p:spPr>
          <a:xfrm>
            <a:off x="56692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cities (f. pl., non-human)</a:t>
            </a:r>
            <a:endParaRPr lang="en-US" sz="1100" dirty="0"/>
          </a:p>
        </p:txBody>
      </p:sp>
      <p:sp>
        <p:nvSpPr>
          <p:cNvPr id="47" name="Text 4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kāna agrees like any verb: singular when it comes first, but the main verb after the subject is plural (kāna l-ʿarabu qad assasū).</a:t>
            </a:r>
            <a:endParaRPr lang="en-US" sz="11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47</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P2-L07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83" b="1" spc="150" kern="0" dirty="0">
                <a:solidFill>
                  <a:srgbClr val="1B3B6F"/>
                </a:solidFill>
                <a:latin typeface="Calibri" pitchFamily="34" charset="0"/>
                <a:cs typeface="Amiri" pitchFamily="2" charset="-78"/>
              </a:rPr>
              <a:t>GRAMMAR FOCUS · PART 3 · TODAY IN THE PRESENT (WEBSITE RULE 3) · DEVELOP</a:t>
            </a:r>
            <a:endParaRPr lang="en-US" sz="98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Today: witnessing, going through, suffering</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التَّعْلِيمُ اليَوْمَ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P2-L07</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85166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8516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YASHHAD + OBJECT · CORE</a:t>
            </a:r>
            <a:endParaRPr lang="en-US" sz="850" dirty="0"/>
          </a:p>
        </p:txBody>
      </p:sp>
      <p:sp>
        <p:nvSpPr>
          <p:cNvPr id="18" name="Text 15"/>
          <p:cNvSpPr txBox="1"/>
          <p:nvPr/>
        </p:nvSpPr>
        <p:spPr>
          <a:xfrm>
            <a:off x="10130028" y="1874520"/>
            <a:ext cx="14645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يَشْهَدُ</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يَشْهَدُ التَّعْلِيمُ العَرَبِيُّ إِصْلَاحَاتٍ جَذْرِيَّةً.</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Arab education is undergoing radical reforms.</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Direct object.</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645920" cy="274320"/>
          </a:xfrm>
          <a:prstGeom prst="roundRect">
            <a:avLst>
              <a:gd name="adj" fmla="val 50000"/>
            </a:avLst>
          </a:prstGeom>
          <a:solidFill>
            <a:srgbClr val="1E6B52"/>
          </a:solidFill>
          <a:ln w="12700">
            <a:solidFill>
              <a:srgbClr val="1E6B52"/>
            </a:solidFill>
            <a:prstDash val="solid"/>
          </a:ln>
        </p:spPr>
      </p:sp>
      <p:sp>
        <p:nvSpPr>
          <p:cNvPr id="25" name="Text 22"/>
          <p:cNvSpPr txBox="1"/>
          <p:nvPr/>
        </p:nvSpPr>
        <p:spPr>
          <a:xfrm>
            <a:off x="4413504" y="1920240"/>
            <a:ext cx="16459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YAMURR BI- · DEVELOP</a:t>
            </a:r>
            <a:endParaRPr lang="en-US" sz="850" dirty="0"/>
          </a:p>
        </p:txBody>
      </p:sp>
      <p:sp>
        <p:nvSpPr>
          <p:cNvPr id="26" name="Text 23"/>
          <p:cNvSpPr txBox="1"/>
          <p:nvPr/>
        </p:nvSpPr>
        <p:spPr>
          <a:xfrm>
            <a:off x="6105144" y="1874520"/>
            <a:ext cx="16703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يَمُرُّ بِـ</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تَمُرُّ مَنَاطِقُ النِّزَاعِ بِأَزَمَاتٍ تَعْلِيمِيَّةٍ.</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Conflict zones are going through education crises.</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Always bi-.</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645920" cy="274320"/>
          </a:xfrm>
          <a:prstGeom prst="roundRect">
            <a:avLst>
              <a:gd name="adj" fmla="val 50000"/>
            </a:avLst>
          </a:prstGeom>
          <a:solidFill>
            <a:srgbClr val="C0386B"/>
          </a:solidFill>
          <a:ln w="12700">
            <a:solidFill>
              <a:srgbClr val="C0386B"/>
            </a:solidFill>
            <a:prstDash val="solid"/>
          </a:ln>
        </p:spPr>
      </p:sp>
      <p:sp>
        <p:nvSpPr>
          <p:cNvPr id="33" name="Text 30"/>
          <p:cNvSpPr txBox="1"/>
          <p:nvPr/>
        </p:nvSpPr>
        <p:spPr>
          <a:xfrm>
            <a:off x="594360" y="1920240"/>
            <a:ext cx="16459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YUʿĀNĪ MIN · STRETCH</a:t>
            </a:r>
            <a:endParaRPr lang="en-US" sz="850" dirty="0"/>
          </a:p>
        </p:txBody>
      </p:sp>
      <p:sp>
        <p:nvSpPr>
          <p:cNvPr id="34" name="Text 31"/>
          <p:cNvSpPr txBox="1"/>
          <p:nvPr/>
        </p:nvSpPr>
        <p:spPr>
          <a:xfrm>
            <a:off x="2286000" y="1874520"/>
            <a:ext cx="16703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تُعَانِي مِنْ</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تُعَانِي بَعْضُ الدُّوَلِ مِنْ مُعَدَّلَاتِ أُمِّيَّةٍ مُرْتَفِعَةٍ.</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Some countries suffer from high illiteracy rates.</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With a statistic.</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2: yamurr is fixed with bi-.</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تَمُرُّ المِنْطَقَةُ بِأَزْمَةٍ تَعْلِيمِيَّةٍ</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ea typeface="Amiri" pitchFamily="2" charset="-78"/>
                <a:cs typeface="Amiri" pitchFamily="2" charset="-78"/>
              </a:rPr>
              <a:t>تَمُرُّ المِنْطَقَةُ عَلَى أَزْمَةٍ تَعْلِيمِيَّةٍ</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47</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P2-L07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4 · ANALYSING HISTORY WITH BOTH CONDITIONALS (WEBSITE RULE 4)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if … and what next?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لَوْ … لَكَانَ · إِذَا … سَـ</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044184" y="1810512"/>
            <a:ext cx="56144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Counterfactual about the past: law … la-</a:t>
            </a:r>
            <a:endParaRPr lang="en-US" sz="1100" dirty="0"/>
          </a:p>
        </p:txBody>
      </p:sp>
      <p:sp>
        <p:nvSpPr>
          <p:cNvPr id="17" name="Text 14"/>
          <p:cNvSpPr txBox="1"/>
          <p:nvPr/>
        </p:nvSpPr>
        <p:spPr>
          <a:xfrm>
            <a:off x="530352" y="1810512"/>
            <a:ext cx="5367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Real proposal for the future: idhā … sa-</a:t>
            </a:r>
            <a:endParaRPr lang="en-US" sz="1100" dirty="0"/>
          </a:p>
        </p:txBody>
      </p:sp>
      <p:sp>
        <p:nvSpPr>
          <p:cNvPr id="18" name="Shape 15"/>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19" name="Text 16"/>
          <p:cNvSpPr txBox="1"/>
          <p:nvPr/>
        </p:nvSpPr>
        <p:spPr>
          <a:xfrm>
            <a:off x="6062472" y="2267712"/>
            <a:ext cx="5577840" cy="731520"/>
          </a:xfrm>
          <a:prstGeom prst="rect">
            <a:avLst/>
          </a:prstGeom>
          <a:noFill/>
          <a:ln/>
        </p:spPr>
        <p:txBody>
          <a:bodyPr wrap="square" lIns="0" tIns="0" rIns="0" bIns="0" rtlCol="0" anchor="ctr"/>
          <a:lstStyle/>
          <a:p>
            <a:pPr rtl="1" algn="ctr" indent="0" marL="0">
              <a:buNone/>
            </a:pPr>
            <a:r>
              <a:rPr lang="ar-SA" altLang="en-US" sz="1800" b="1" dirty="0">
                <a:solidFill>
                  <a:srgbClr val="D6336C"/>
                </a:solidFill>
                <a:latin typeface="Amiri" pitchFamily="2" charset="-78"/>
                <a:ea typeface="Amiri" pitchFamily="2" charset="-78"/>
                <a:cs typeface="Amiri" pitchFamily="2" charset="-78"/>
              </a:rPr>
              <a:t>لَوِ اسْتَثْمَرَ</a:t>
            </a:r>
            <a:pPr rtl="1" algn="ctr" indent="0" marL="0">
              <a:buNone/>
            </a:pPr>
            <a:r>
              <a:rPr lang="ar-SA" altLang="en-US" sz="1800" b="1" dirty="0">
                <a:solidFill>
                  <a:srgbClr val="1B3B6F"/>
                </a:solidFill>
                <a:latin typeface="Amiri" pitchFamily="2" charset="-78"/>
                <a:ea typeface="Amiri" pitchFamily="2" charset="-78"/>
                <a:cs typeface="Amiri" pitchFamily="2" charset="-78"/>
              </a:rPr>
              <a:t> العَالَمُ العَرَبِيُّ مُبَكِّرًا، </a:t>
            </a:r>
            <a:pPr rtl="1" algn="ctr" indent="0" marL="0">
              <a:buNone/>
            </a:pPr>
            <a:r>
              <a:rPr lang="ar-SA" altLang="en-US" sz="1800" b="1" dirty="0">
                <a:solidFill>
                  <a:srgbClr val="D6336C"/>
                </a:solidFill>
                <a:latin typeface="Amiri" pitchFamily="2" charset="-78"/>
                <a:ea typeface="Amiri" pitchFamily="2" charset="-78"/>
                <a:cs typeface="Amiri" pitchFamily="2" charset="-78"/>
              </a:rPr>
              <a:t>لَكَانَ</a:t>
            </a:r>
            <a:pPr rtl="1" algn="ctr" indent="0" marL="0">
              <a:buNone/>
            </a:pPr>
            <a:r>
              <a:rPr lang="ar-SA" altLang="en-US" sz="1800" b="1" dirty="0">
                <a:solidFill>
                  <a:srgbClr val="1B3B6F"/>
                </a:solidFill>
                <a:latin typeface="Amiri" pitchFamily="2" charset="-78"/>
                <a:ea typeface="Amiri" pitchFamily="2" charset="-78"/>
                <a:cs typeface="Amiri" pitchFamily="2" charset="-78"/>
              </a:rPr>
              <a:t> وَضْعُهُ مُخْتَلِفًا.</a:t>
            </a:r>
            <a:endParaRPr lang="ar-SA" sz="1800" dirty="0"/>
          </a:p>
        </p:txBody>
      </p:sp>
      <p:sp>
        <p:nvSpPr>
          <p:cNvPr id="20" name="Text 17"/>
          <p:cNvSpPr txBox="1"/>
          <p:nvPr/>
        </p:nvSpPr>
        <p:spPr>
          <a:xfrm>
            <a:off x="548640" y="2267712"/>
            <a:ext cx="5330952" cy="731520"/>
          </a:xfrm>
          <a:prstGeom prst="rect">
            <a:avLst/>
          </a:prstGeom>
          <a:noFill/>
          <a:ln/>
        </p:spPr>
        <p:txBody>
          <a:bodyPr wrap="square" lIns="0" tIns="0" rIns="0" bIns="0" rtlCol="0" anchor="ctr"/>
          <a:lstStyle/>
          <a:p>
            <a:pPr rtl="1" algn="ctr" indent="0" marL="0">
              <a:buNone/>
            </a:pPr>
            <a:r>
              <a:rPr lang="ar-SA" altLang="en-US" sz="1800" b="1" dirty="0">
                <a:solidFill>
                  <a:srgbClr val="0E7C86"/>
                </a:solidFill>
                <a:latin typeface="Amiri" pitchFamily="2" charset="-78"/>
                <a:ea typeface="Amiri" pitchFamily="2" charset="-78"/>
                <a:cs typeface="Amiri" pitchFamily="2" charset="-78"/>
              </a:rPr>
              <a:t>إِذَا وَاصَلَتِ</a:t>
            </a:r>
            <a:pPr rtl="1" algn="ctr" indent="0" marL="0">
              <a:buNone/>
            </a:pPr>
            <a:r>
              <a:rPr lang="ar-SA" altLang="en-US" sz="1800" b="1" dirty="0">
                <a:solidFill>
                  <a:srgbClr val="1B3B6F"/>
                </a:solidFill>
                <a:latin typeface="Amiri" pitchFamily="2" charset="-78"/>
                <a:ea typeface="Amiri" pitchFamily="2" charset="-78"/>
                <a:cs typeface="Amiri" pitchFamily="2" charset="-78"/>
              </a:rPr>
              <a:t> الإِصْلَاحَاتُ، </a:t>
            </a:r>
            <a:pPr rtl="1" algn="ctr" indent="0" marL="0">
              <a:buNone/>
            </a:pPr>
            <a:r>
              <a:rPr lang="ar-SA" altLang="en-US" sz="1800" b="1" dirty="0">
                <a:solidFill>
                  <a:srgbClr val="0E7C86"/>
                </a:solidFill>
                <a:latin typeface="Amiri" pitchFamily="2" charset="-78"/>
                <a:ea typeface="Amiri" pitchFamily="2" charset="-78"/>
                <a:cs typeface="Amiri" pitchFamily="2" charset="-78"/>
              </a:rPr>
              <a:t>سَيَتَحَسَّنُ</a:t>
            </a:r>
            <a:pPr rtl="1" algn="ctr" indent="0" marL="0">
              <a:buNone/>
            </a:pPr>
            <a:r>
              <a:rPr lang="ar-SA" altLang="en-US" sz="1800" b="1" dirty="0">
                <a:solidFill>
                  <a:srgbClr val="1B3B6F"/>
                </a:solidFill>
                <a:latin typeface="Amiri" pitchFamily="2" charset="-78"/>
                <a:ea typeface="Amiri" pitchFamily="2" charset="-78"/>
                <a:cs typeface="Amiri" pitchFamily="2" charset="-78"/>
              </a:rPr>
              <a:t> الوَضْعُ.</a:t>
            </a:r>
            <a:endParaRPr lang="ar-SA" sz="1800" dirty="0"/>
          </a:p>
        </p:txBody>
      </p:sp>
      <p:sp>
        <p:nvSpPr>
          <p:cNvPr id="21" name="Shape 18"/>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2" name="Text 19"/>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6062472" y="3054096"/>
            <a:ext cx="5577840" cy="731520"/>
          </a:xfrm>
          <a:prstGeom prst="rect">
            <a:avLst/>
          </a:prstGeom>
          <a:noFill/>
          <a:ln/>
        </p:spPr>
        <p:txBody>
          <a:bodyPr wrap="square" lIns="0" tIns="0" rIns="0" bIns="0" rtlCol="0" anchor="ctr"/>
          <a:lstStyle/>
          <a:p>
            <a:pPr rtl="1" algn="ctr" indent="0" marL="0">
              <a:buNone/>
            </a:pPr>
            <a:r>
              <a:rPr lang="ar-SA" altLang="en-US" sz="1800" b="1" dirty="0">
                <a:solidFill>
                  <a:srgbClr val="D6336C"/>
                </a:solidFill>
                <a:latin typeface="Amiri" pitchFamily="2" charset="-78"/>
                <a:ea typeface="Amiri" pitchFamily="2" charset="-78"/>
                <a:cs typeface="Amiri" pitchFamily="2" charset="-78"/>
              </a:rPr>
              <a:t>لَوْ عَادَ</a:t>
            </a:r>
            <a:pPr rtl="1" algn="ctr" indent="0" marL="0">
              <a:buNone/>
            </a:pPr>
            <a:r>
              <a:rPr lang="ar-SA" altLang="en-US" sz="1800" b="1" dirty="0">
                <a:solidFill>
                  <a:srgbClr val="1B3B6F"/>
                </a:solidFill>
                <a:latin typeface="Amiri" pitchFamily="2" charset="-78"/>
                <a:ea typeface="Amiri" pitchFamily="2" charset="-78"/>
                <a:cs typeface="Amiri" pitchFamily="2" charset="-78"/>
              </a:rPr>
              <a:t> الاسْتِثْمَارُ فِي العِلْمِ، </a:t>
            </a:r>
            <a:pPr rtl="1" algn="ctr" indent="0" marL="0">
              <a:buNone/>
            </a:pPr>
            <a:r>
              <a:rPr lang="ar-SA" altLang="en-US" sz="1800" b="1" dirty="0">
                <a:solidFill>
                  <a:srgbClr val="D6336C"/>
                </a:solidFill>
                <a:latin typeface="Amiri" pitchFamily="2" charset="-78"/>
                <a:ea typeface="Amiri" pitchFamily="2" charset="-78"/>
                <a:cs typeface="Amiri" pitchFamily="2" charset="-78"/>
              </a:rPr>
              <a:t>لَاسْتَعَادَتِ</a:t>
            </a:r>
            <a:pPr rtl="1" algn="ctr" indent="0" marL="0">
              <a:buNone/>
            </a:pPr>
            <a:r>
              <a:rPr lang="ar-SA" altLang="en-US" sz="1800" b="1" dirty="0">
                <a:solidFill>
                  <a:srgbClr val="1B3B6F"/>
                </a:solidFill>
                <a:latin typeface="Amiri" pitchFamily="2" charset="-78"/>
                <a:ea typeface="Amiri" pitchFamily="2" charset="-78"/>
                <a:cs typeface="Amiri" pitchFamily="2" charset="-78"/>
              </a:rPr>
              <a:t> المِنْطَقَةُ رِيَادَتَهَا.</a:t>
            </a:r>
            <a:endParaRPr lang="ar-SA" sz="1800" dirty="0"/>
          </a:p>
        </p:txBody>
      </p:sp>
      <p:sp>
        <p:nvSpPr>
          <p:cNvPr id="25" name="Text 22"/>
          <p:cNvSpPr txBox="1"/>
          <p:nvPr/>
        </p:nvSpPr>
        <p:spPr>
          <a:xfrm>
            <a:off x="548640" y="3054096"/>
            <a:ext cx="5330952" cy="731520"/>
          </a:xfrm>
          <a:prstGeom prst="rect">
            <a:avLst/>
          </a:prstGeom>
          <a:noFill/>
          <a:ln/>
        </p:spPr>
        <p:txBody>
          <a:bodyPr wrap="square" lIns="0" tIns="0" rIns="0" bIns="0" rtlCol="0" anchor="ctr"/>
          <a:lstStyle/>
          <a:p>
            <a:pPr rtl="1" algn="ctr" indent="0" marL="0">
              <a:buNone/>
            </a:pPr>
            <a:r>
              <a:rPr lang="ar-SA" altLang="en-US" sz="1800" b="1" dirty="0">
                <a:solidFill>
                  <a:srgbClr val="0E7C86"/>
                </a:solidFill>
                <a:latin typeface="Amiri" pitchFamily="2" charset="-78"/>
                <a:ea typeface="Amiri" pitchFamily="2" charset="-78"/>
                <a:cs typeface="Amiri" pitchFamily="2" charset="-78"/>
              </a:rPr>
              <a:t>إِذَا وَاصَلَتِ</a:t>
            </a:r>
            <a:pPr rtl="1" algn="ctr" indent="0" marL="0">
              <a:buNone/>
            </a:pPr>
            <a:r>
              <a:rPr lang="ar-SA" altLang="en-US" sz="1800" b="1" dirty="0">
                <a:solidFill>
                  <a:srgbClr val="1B3B6F"/>
                </a:solidFill>
                <a:latin typeface="Amiri" pitchFamily="2" charset="-78"/>
                <a:ea typeface="Amiri" pitchFamily="2" charset="-78"/>
                <a:cs typeface="Amiri" pitchFamily="2" charset="-78"/>
              </a:rPr>
              <a:t> الدُّوَلُ إِصْلَاحَاتِهَا، </a:t>
            </a:r>
            <a:pPr rtl="1" algn="ctr" indent="0" marL="0">
              <a:buNone/>
            </a:pPr>
            <a:r>
              <a:rPr lang="ar-SA" altLang="en-US" sz="1800" b="1" dirty="0">
                <a:solidFill>
                  <a:srgbClr val="0E7C86"/>
                </a:solidFill>
                <a:latin typeface="Amiri" pitchFamily="2" charset="-78"/>
                <a:ea typeface="Amiri" pitchFamily="2" charset="-78"/>
                <a:cs typeface="Amiri" pitchFamily="2" charset="-78"/>
              </a:rPr>
              <a:t>سَتَتَقَلَّصُ</a:t>
            </a:r>
            <a:pPr rtl="1" algn="ctr" indent="0" marL="0">
              <a:buNone/>
            </a:pPr>
            <a:r>
              <a:rPr lang="ar-SA" altLang="en-US" sz="1800" b="1" dirty="0">
                <a:solidFill>
                  <a:srgbClr val="1B3B6F"/>
                </a:solidFill>
                <a:latin typeface="Amiri" pitchFamily="2" charset="-78"/>
                <a:ea typeface="Amiri" pitchFamily="2" charset="-78"/>
                <a:cs typeface="Amiri" pitchFamily="2" charset="-78"/>
              </a:rPr>
              <a:t> الفَجْوَةُ.</a:t>
            </a:r>
            <a:endParaRPr lang="ar-SA" sz="1800" dirty="0"/>
          </a:p>
        </p:txBody>
      </p:sp>
      <p:sp>
        <p:nvSpPr>
          <p:cNvPr id="26" name="Shape 23"/>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7" name="Text 24"/>
          <p:cNvSpPr txBox="1"/>
          <p:nvPr/>
        </p:nvSpPr>
        <p:spPr>
          <a:xfrm>
            <a:off x="6062472" y="3840480"/>
            <a:ext cx="5577840" cy="731520"/>
          </a:xfrm>
          <a:prstGeom prst="rect">
            <a:avLst/>
          </a:prstGeom>
          <a:noFill/>
          <a:ln/>
        </p:spPr>
        <p:txBody>
          <a:bodyPr wrap="square" lIns="0" tIns="0" rIns="0" bIns="0" rtlCol="0" anchor="ctr"/>
          <a:lstStyle/>
          <a:p>
            <a:pPr rtl="1" algn="ctr" indent="0" marL="0">
              <a:buNone/>
            </a:pPr>
            <a:r>
              <a:rPr lang="ar-SA" altLang="en-US" sz="1800" b="1" dirty="0">
                <a:solidFill>
                  <a:srgbClr val="D6336C"/>
                </a:solidFill>
                <a:latin typeface="Amiri" pitchFamily="2" charset="-78"/>
                <a:ea typeface="Amiri" pitchFamily="2" charset="-78"/>
                <a:cs typeface="Amiri" pitchFamily="2" charset="-78"/>
              </a:rPr>
              <a:t>لَوِ اسْتُثْمِرَ</a:t>
            </a:r>
            <a:pPr rtl="1" algn="ctr" indent="0" marL="0">
              <a:buNone/>
            </a:pPr>
            <a:r>
              <a:rPr lang="ar-SA" altLang="en-US" sz="1800" b="1" dirty="0">
                <a:solidFill>
                  <a:srgbClr val="1B3B6F"/>
                </a:solidFill>
                <a:latin typeface="Amiri" pitchFamily="2" charset="-78"/>
                <a:ea typeface="Amiri" pitchFamily="2" charset="-78"/>
                <a:cs typeface="Amiri" pitchFamily="2" charset="-78"/>
              </a:rPr>
              <a:t> فِي التَّعْلِيمِ بِنِسْبَةٍ مُوَازِيَةٍ، </a:t>
            </a:r>
            <a:pPr rtl="1" algn="ctr" indent="0" marL="0">
              <a:buNone/>
            </a:pPr>
            <a:r>
              <a:rPr lang="ar-SA" altLang="en-US" sz="1800" b="1" dirty="0">
                <a:solidFill>
                  <a:srgbClr val="D6336C"/>
                </a:solidFill>
                <a:latin typeface="Amiri" pitchFamily="2" charset="-78"/>
                <a:ea typeface="Amiri" pitchFamily="2" charset="-78"/>
                <a:cs typeface="Amiri" pitchFamily="2" charset="-78"/>
              </a:rPr>
              <a:t>لَكَانَ</a:t>
            </a:r>
            <a:pPr rtl="1" algn="ctr" indent="0" marL="0">
              <a:buNone/>
            </a:pPr>
            <a:r>
              <a:rPr lang="ar-SA" altLang="en-US" sz="1800" b="1" dirty="0">
                <a:solidFill>
                  <a:srgbClr val="1B3B6F"/>
                </a:solidFill>
                <a:latin typeface="Amiri" pitchFamily="2" charset="-78"/>
                <a:ea typeface="Amiri" pitchFamily="2" charset="-78"/>
                <a:cs typeface="Amiri" pitchFamily="2" charset="-78"/>
              </a:rPr>
              <a:t> الوَضْعُ مُخْتَلِفًا.</a:t>
            </a:r>
            <a:endParaRPr lang="ar-SA" sz="1800" dirty="0"/>
          </a:p>
        </p:txBody>
      </p:sp>
      <p:sp>
        <p:nvSpPr>
          <p:cNvPr id="28" name="Text 25"/>
          <p:cNvSpPr txBox="1"/>
          <p:nvPr/>
        </p:nvSpPr>
        <p:spPr>
          <a:xfrm>
            <a:off x="548640" y="3840480"/>
            <a:ext cx="5330952" cy="731520"/>
          </a:xfrm>
          <a:prstGeom prst="rect">
            <a:avLst/>
          </a:prstGeom>
          <a:noFill/>
          <a:ln/>
        </p:spPr>
        <p:txBody>
          <a:bodyPr wrap="square" lIns="0" tIns="0" rIns="0" bIns="0" rtlCol="0" anchor="ctr"/>
          <a:lstStyle/>
          <a:p>
            <a:pPr rtl="1" algn="ctr" indent="0" marL="0">
              <a:buNone/>
            </a:pPr>
            <a:r>
              <a:rPr lang="ar-SA" altLang="en-US" sz="1800" b="1" dirty="0">
                <a:solidFill>
                  <a:srgbClr val="0E7C86"/>
                </a:solidFill>
                <a:latin typeface="Amiri" pitchFamily="2" charset="-78"/>
                <a:ea typeface="Amiri" pitchFamily="2" charset="-78"/>
                <a:cs typeface="Amiri" pitchFamily="2" charset="-78"/>
              </a:rPr>
              <a:t>إِذَا اسْتَثْمَرَتِ</a:t>
            </a:r>
            <a:pPr rtl="1" algn="ctr" indent="0" marL="0">
              <a:buNone/>
            </a:pPr>
            <a:r>
              <a:rPr lang="ar-SA" altLang="en-US" sz="1800" b="1" dirty="0">
                <a:solidFill>
                  <a:srgbClr val="1B3B6F"/>
                </a:solidFill>
                <a:latin typeface="Amiri" pitchFamily="2" charset="-78"/>
                <a:ea typeface="Amiri" pitchFamily="2" charset="-78"/>
                <a:cs typeface="Amiri" pitchFamily="2" charset="-78"/>
              </a:rPr>
              <a:t> الدُّوَلُ فِي تَعْلِيمِ المَرْأَةِ، </a:t>
            </a:r>
            <a:pPr rtl="1" algn="ctr" indent="0" marL="0">
              <a:buNone/>
            </a:pPr>
            <a:r>
              <a:rPr lang="ar-SA" altLang="en-US" sz="1800" b="1" dirty="0">
                <a:solidFill>
                  <a:srgbClr val="0E7C86"/>
                </a:solidFill>
                <a:latin typeface="Amiri" pitchFamily="2" charset="-78"/>
                <a:ea typeface="Amiri" pitchFamily="2" charset="-78"/>
                <a:cs typeface="Amiri" pitchFamily="2" charset="-78"/>
              </a:rPr>
              <a:t>سَيَرْتَفِعُ</a:t>
            </a:r>
            <a:pPr rtl="1" algn="ctr" indent="0" marL="0">
              <a:buNone/>
            </a:pPr>
            <a:r>
              <a:rPr lang="ar-SA" altLang="en-US" sz="1800" b="1" dirty="0">
                <a:solidFill>
                  <a:srgbClr val="1B3B6F"/>
                </a:solidFill>
                <a:latin typeface="Amiri" pitchFamily="2" charset="-78"/>
                <a:ea typeface="Amiri" pitchFamily="2" charset="-78"/>
                <a:cs typeface="Amiri" pitchFamily="2" charset="-78"/>
              </a:rPr>
              <a:t> مُعَدَّلُ التَّعَلُّمِ.</a:t>
            </a:r>
            <a:endParaRPr lang="ar-SA" sz="1800" dirty="0"/>
          </a:p>
        </p:txBody>
      </p:sp>
      <p:sp>
        <p:nvSpPr>
          <p:cNvPr id="29" name="Text 2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la-kāna (would have been) is the most useful Type 2 result in history writing. Never sa- after law.</a:t>
            </a:r>
            <a:endParaRPr lang="en-US" sz="11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P2-L07 · Culture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Tense across a historical timeline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الأَزْمِنَةُ عَبْرَ الخَطِّ التَّارِيخِيِّ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P2-L07</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Past perfect: the earliest layer</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kāna qad + past</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كَانَ العَرَبُ قَدْ أَسَّسُوا نِظَامًا عَالَمِيًّا   ·   كَانَتْ دَارُ الحِكْمَةِ قَدِ اسْتَقْطَبَتْ عُلَمَاءَ</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Simple past: later events</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izdahara · inḥaṭṭa · taṭawwara</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اِزْدَهَرَ التَّعْلِيمُ فِي دَارِ الحِكْمَةِ   ·   اِنْحَطَّ التَّعْلِيمُ خِلَالَ فَتَرَاتِ الغَزْوِ</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Present: today’s challenges</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yashhad · yamurr bi-</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يَشْهَدُ التَّعْلِيمُ إِصْلَاحَاتٍ جَذْرِيَّةً   ·   تَمُرُّ مَنَاطِقُ النِّزَاعِ بِأَزَمَاتٍ تَعْلِيمِيَّةٍ</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Analysis with both conditionals</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law … la- · idhā … sa-</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F2A37"/>
                </a:solidFill>
                <a:latin typeface="Amiri" pitchFamily="2" charset="-78"/>
                <a:ea typeface="Amiri" pitchFamily="2" charset="-78"/>
                <a:cs typeface="Amiri" pitchFamily="2" charset="-78"/>
              </a:rPr>
              <a:t>لَوِ اسْتَثْمَرَ العَالَمُ العَرَبِيُّ مُبَكِّرًا، لَكَانَ وَضْعُهُ مُخْتَلِفًا   ·   إِذَا وَاصَلَتِ الإِصْلَاحَاتُ، سَيَتَحَسَّنُ الوَضْعُ</a:t>
            </a:r>
            <a:endParaRPr lang="ar-SA" sz="18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47</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P2-L07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P2-L07</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tense fits the Golden Age achievement?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يُؤَسِّسُ العَرَبُ نِظَامًا مُتَقَدِّمًا.</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سَيُؤَسِّسُ العَرَبُ نِظَامًا.</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 العَرَبُ قَدْ أَسَّسُوا نِظَامًا مُتَقَدِّمًا.</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simple past for a later event?</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اِنْحَطَّ التَّعْلِيمُ خِلَالَ الغَزْوِ.</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يَنْحَطُّ التَّعْلِيمُ.</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 قَدِ انْحَطَّ ثُمَّ ازْدَهَرَ.</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fits today's challenges?</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شَهِدَ التَّعْلِيمُ إِصْلَاحَاتٍ.</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يَشْهَدُ التَّعْلِيمُ إِصْلَاحَاتٍ.</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 قَدْ شَهِدَ إِصْلَاحَاتٍ.</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8" name="Text 55"/>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ea typeface="Amiri" pitchFamily="2" charset="-78"/>
                <a:cs typeface="Amiri" pitchFamily="2" charset="-78"/>
              </a:rPr>
              <a:t>تَمُرُّ مَنَاطِقُ النِّزَاعِ ___ أَزَمَاتٍ تَعْلِيمِيَّةٍ.</a:t>
            </a:r>
            <a:endParaRPr lang="ar-SA" sz="145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47</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P2-L07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P2-L07</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tense fits the Golden Age achievement?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يُؤَسِّسُ العَرَبُ نِظَامًا مُتَقَدِّمًا.</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سَيُؤَسِّسُ العَرَبُ نِظَامًا.</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كَانَ العَرَبُ قَدْ أَسَّسُوا نِظَامًا مُتَقَدِّمًا.</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earliest achievement takes the past perfect </a:t>
            </a:r>
            <a:pPr algn="l" indent="0" marL="0">
              <a:buNone/>
            </a:pPr>
            <a:r>
              <a:rPr lang="ar-SA" altLang="en-US" sz="1350" dirty="0">
                <a:solidFill>
                  <a:srgbClr val="8A6D1E"/>
                </a:solidFill>
                <a:latin typeface="Amiri" pitchFamily="2" charset="-78"/>
                <a:ea typeface="Amiri" pitchFamily="2" charset="-78"/>
                <a:cs typeface="Amiri" pitchFamily="2" charset="-78"/>
              </a:rPr>
              <a:t>كَانَ قَدْ</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simple past for a later event?</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اِنْحَطَّ التَّعْلِيمُ خِلَالَ الغَزْوِ.</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يَنْحَطُّ التَّعْلِيمُ.</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كَانَ قَدِ انْحَطَّ ثُمَّ ازْدَهَرَ.</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later historical event takes the simple past.</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fits today's challenges?</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شَهِدَ التَّعْلِيمُ إِصْلَاحَاتٍ.</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يَشْهَدُ التَّعْلِيمُ إِصْلَاحَاتٍ.</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كَانَ قَدْ شَهِدَ إِصْلَاحَاتٍ.</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Current reality takes the present tense.</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4" name="Text 61"/>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ea typeface="Amiri" pitchFamily="2" charset="-78"/>
                <a:cs typeface="Amiri" pitchFamily="2" charset="-78"/>
              </a:rPr>
              <a:t>تَمُرُّ مَنَاطِقُ النِّزَاعِ ___ أَزَمَاتٍ تَعْلِيمِيَّةٍ.</a:t>
            </a:r>
            <a:endParaRPr lang="ar-SA" sz="145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بِـ</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يَمُرُّ</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47</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P2-L07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Watch me write a history in four tenses</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P2-L07</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Golden Age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D6336C"/>
                </a:solidFill>
                <a:latin typeface="Amiri" pitchFamily="2" charset="-78"/>
                <a:ea typeface="Amiri" pitchFamily="2" charset="-78"/>
                <a:cs typeface="Amiri" pitchFamily="2" charset="-78"/>
              </a:rPr>
              <a:t>كَانَتْ</a:t>
            </a:r>
            <a:pPr rtl="1" algn="ctr" indent="0" marL="0">
              <a:buNone/>
            </a:pPr>
            <a:r>
              <a:rPr lang="ar-SA" altLang="en-US" sz="2800" b="1" dirty="0">
                <a:solidFill>
                  <a:srgbClr val="1B3B6F"/>
                </a:solidFill>
                <a:latin typeface="Amiri" pitchFamily="2" charset="-78"/>
                <a:cs typeface="Amiri" pitchFamily="2" charset="-78"/>
              </a:rPr>
              <a:t> … </a:t>
            </a:r>
            <a:pPr rtl="1" algn="ctr" indent="0" marL="0">
              <a:buNone/>
            </a:pPr>
            <a:r>
              <a:rPr lang="ar-SA" altLang="en-US" sz="2800" b="1" dirty="0">
                <a:solidFill>
                  <a:srgbClr val="D6336C"/>
                </a:solidFill>
                <a:latin typeface="Amiri" pitchFamily="2" charset="-78"/>
                <a:ea typeface="Amiri" pitchFamily="2" charset="-78"/>
                <a:cs typeface="Amiri" pitchFamily="2" charset="-78"/>
              </a:rPr>
              <a:t>قَدِ اسْتَقْطَبَتْ</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Past perfect.</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Historians</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7B3FA0"/>
                </a:solidFill>
                <a:latin typeface="Amiri" pitchFamily="2" charset="-78"/>
                <a:ea typeface="Amiri" pitchFamily="2" charset="-78"/>
                <a:cs typeface="Amiri" pitchFamily="2" charset="-78"/>
              </a:rPr>
              <a:t>وَأَشَارَ</a:t>
            </a:r>
            <a:pPr rtl="1" algn="ctr" indent="0" marL="0">
              <a:buNone/>
            </a:pPr>
            <a:r>
              <a:rPr lang="ar-SA" altLang="en-US" sz="2800" b="1" dirty="0">
                <a:solidFill>
                  <a:srgbClr val="1B3B6F"/>
                </a:solidFill>
                <a:latin typeface="Amiri" pitchFamily="2" charset="-78"/>
                <a:cs typeface="Amiri" pitchFamily="2" charset="-78"/>
              </a:rPr>
              <a:t> … </a:t>
            </a:r>
            <a:pPr rtl="1" algn="ctr" indent="0" marL="0">
              <a:buNone/>
            </a:pPr>
            <a:r>
              <a:rPr lang="ar-SA" altLang="en-US" sz="2800" b="1" dirty="0">
                <a:solidFill>
                  <a:srgbClr val="7B3FA0"/>
                </a:solidFill>
                <a:latin typeface="Amiri" pitchFamily="2" charset="-78"/>
                <a:ea typeface="Amiri" pitchFamily="2" charset="-78"/>
                <a:cs typeface="Amiri" pitchFamily="2" charset="-78"/>
              </a:rPr>
              <a:t>إِلَى أَنَّ</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Citation.</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Decline · today</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D5FBF"/>
                </a:solidFill>
                <a:latin typeface="Amiri" pitchFamily="2" charset="-78"/>
                <a:ea typeface="Amiri" pitchFamily="2" charset="-78"/>
                <a:cs typeface="Amiri" pitchFamily="2" charset="-78"/>
              </a:rPr>
              <a:t>انْحَطَّ</a:t>
            </a:r>
            <a:pPr rtl="1" algn="ctr" indent="0" marL="0">
              <a:buNone/>
            </a:pPr>
            <a:r>
              <a:rPr lang="ar-SA" altLang="en-US" sz="2800" b="1" dirty="0">
                <a:solidFill>
                  <a:srgbClr val="1B3B6F"/>
                </a:solidFill>
                <a:latin typeface="Amiri" pitchFamily="2" charset="-78"/>
                <a:cs typeface="Amiri" pitchFamily="2" charset="-78"/>
              </a:rPr>
              <a:t> … </a:t>
            </a:r>
            <a:pPr rtl="1" algn="ctr" indent="0" marL="0">
              <a:buNone/>
            </a:pPr>
            <a:r>
              <a:rPr lang="ar-SA" altLang="en-US" sz="2800" b="1" dirty="0">
                <a:solidFill>
                  <a:srgbClr val="C77700"/>
                </a:solidFill>
                <a:latin typeface="Amiri" pitchFamily="2" charset="-78"/>
                <a:ea typeface="Amiri" pitchFamily="2" charset="-78"/>
                <a:cs typeface="Amiri" pitchFamily="2" charset="-78"/>
              </a:rPr>
              <a:t>يَشْهَدُ</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Past → present.</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Analysis</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0E7C86"/>
                </a:solidFill>
                <a:latin typeface="Amiri" pitchFamily="2" charset="-78"/>
                <a:ea typeface="Amiri" pitchFamily="2" charset="-78"/>
                <a:cs typeface="Amiri" pitchFamily="2" charset="-78"/>
              </a:rPr>
              <a:t>لَوِ اسْتَثْمَرَ</a:t>
            </a:r>
            <a:pPr rtl="1" algn="ctr" indent="0" marL="0">
              <a:buNone/>
            </a:pPr>
            <a:r>
              <a:rPr lang="ar-SA" altLang="en-US" sz="2800" b="1" dirty="0">
                <a:solidFill>
                  <a:srgbClr val="1B3B6F"/>
                </a:solidFill>
                <a:latin typeface="Amiri" pitchFamily="2" charset="-78"/>
                <a:cs typeface="Amiri" pitchFamily="2" charset="-78"/>
              </a:rPr>
              <a:t> … </a:t>
            </a:r>
            <a:pPr rtl="1" algn="ctr" indent="0" marL="0">
              <a:buNone/>
            </a:pPr>
            <a:r>
              <a:rPr lang="ar-SA" altLang="en-US" sz="2800" b="1" dirty="0">
                <a:solidFill>
                  <a:srgbClr val="0E7C86"/>
                </a:solidFill>
                <a:latin typeface="Amiri" pitchFamily="2" charset="-78"/>
                <a:ea typeface="Amiri" pitchFamily="2" charset="-78"/>
                <a:cs typeface="Amiri" pitchFamily="2" charset="-78"/>
              </a:rPr>
              <a:t>لَكَانَ</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law … la-.</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6565392" y="4736592"/>
            <a:ext cx="914400" cy="237744"/>
          </a:xfrm>
          <a:prstGeom prst="roundRect">
            <a:avLst>
              <a:gd name="adj" fmla="val 50000"/>
            </a:avLst>
          </a:prstGeom>
          <a:solidFill>
            <a:srgbClr val="D6336C"/>
          </a:solidFill>
          <a:ln w="12700">
            <a:solidFill>
              <a:srgbClr val="D6336C"/>
            </a:solidFill>
            <a:prstDash val="solid"/>
          </a:ln>
        </p:spPr>
      </p:sp>
      <p:sp>
        <p:nvSpPr>
          <p:cNvPr id="46" name="Text 42"/>
          <p:cNvSpPr txBox="1"/>
          <p:nvPr/>
        </p:nvSpPr>
        <p:spPr>
          <a:xfrm>
            <a:off x="6565392"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PAST PERFECT</a:t>
            </a:r>
            <a:endParaRPr lang="en-US" sz="800" dirty="0"/>
          </a:p>
        </p:txBody>
      </p:sp>
      <p:sp>
        <p:nvSpPr>
          <p:cNvPr id="47" name="Shape 43"/>
          <p:cNvSpPr/>
          <p:nvPr/>
        </p:nvSpPr>
        <p:spPr>
          <a:xfrm>
            <a:off x="7552944" y="4736592"/>
            <a:ext cx="914400" cy="237744"/>
          </a:xfrm>
          <a:prstGeom prst="roundRect">
            <a:avLst>
              <a:gd name="adj" fmla="val 50000"/>
            </a:avLst>
          </a:prstGeom>
          <a:solidFill>
            <a:srgbClr val="7B3FA0"/>
          </a:solidFill>
          <a:ln w="12700">
            <a:solidFill>
              <a:srgbClr val="7B3FA0"/>
            </a:solidFill>
            <a:prstDash val="solid"/>
          </a:ln>
        </p:spPr>
      </p:sp>
      <p:sp>
        <p:nvSpPr>
          <p:cNvPr id="48" name="Text 44"/>
          <p:cNvSpPr txBox="1"/>
          <p:nvPr/>
        </p:nvSpPr>
        <p:spPr>
          <a:xfrm>
            <a:off x="7552944"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REPORTED</a:t>
            </a:r>
            <a:endParaRPr lang="en-US" sz="800" dirty="0"/>
          </a:p>
        </p:txBody>
      </p:sp>
      <p:sp>
        <p:nvSpPr>
          <p:cNvPr id="49" name="Shape 45"/>
          <p:cNvSpPr/>
          <p:nvPr/>
        </p:nvSpPr>
        <p:spPr>
          <a:xfrm>
            <a:off x="8540496" y="4736592"/>
            <a:ext cx="914400" cy="237744"/>
          </a:xfrm>
          <a:prstGeom prst="roundRect">
            <a:avLst>
              <a:gd name="adj" fmla="val 50000"/>
            </a:avLst>
          </a:prstGeom>
          <a:solidFill>
            <a:srgbClr val="1D5FBF"/>
          </a:solidFill>
          <a:ln w="12700">
            <a:solidFill>
              <a:srgbClr val="1D5FBF"/>
            </a:solidFill>
            <a:prstDash val="solid"/>
          </a:ln>
        </p:spPr>
      </p:sp>
      <p:sp>
        <p:nvSpPr>
          <p:cNvPr id="50" name="Text 46"/>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SIMPLE PAST</a:t>
            </a:r>
            <a:endParaRPr lang="en-US" sz="800" dirty="0"/>
          </a:p>
        </p:txBody>
      </p:sp>
      <p:sp>
        <p:nvSpPr>
          <p:cNvPr id="51" name="Shape 47"/>
          <p:cNvSpPr/>
          <p:nvPr/>
        </p:nvSpPr>
        <p:spPr>
          <a:xfrm>
            <a:off x="9528048" y="4736592"/>
            <a:ext cx="914400" cy="237744"/>
          </a:xfrm>
          <a:prstGeom prst="roundRect">
            <a:avLst>
              <a:gd name="adj" fmla="val 50000"/>
            </a:avLst>
          </a:prstGeom>
          <a:solidFill>
            <a:srgbClr val="C77700"/>
          </a:solidFill>
          <a:ln w="12700">
            <a:solidFill>
              <a:srgbClr val="C77700"/>
            </a:solidFill>
            <a:prstDash val="solid"/>
          </a:ln>
        </p:spPr>
      </p:sp>
      <p:sp>
        <p:nvSpPr>
          <p:cNvPr id="52" name="Text 48"/>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PRESENT</a:t>
            </a:r>
            <a:endParaRPr lang="en-US" sz="800" dirty="0"/>
          </a:p>
        </p:txBody>
      </p:sp>
      <p:sp>
        <p:nvSpPr>
          <p:cNvPr id="53" name="Shape 49"/>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54" name="Text 50"/>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TYPE 2</a:t>
            </a:r>
            <a:endParaRPr lang="en-US" sz="800" dirty="0"/>
          </a:p>
        </p:txBody>
      </p:sp>
      <p:sp>
        <p:nvSpPr>
          <p:cNvPr id="55" name="Text 51"/>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كَانَتْ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دَارُ الحِكْمَةِ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قَدِ اسْتَقْطَبَتْ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عُلَمَاءَ مِنْ مُخْتَلِفِ الحَضَارَاتِ. </a:t>
            </a:r>
            <a:pPr rtl="1" algn="r" indent="0" marL="0">
              <a:lnSpc>
                <a:spcPct val="120000"/>
              </a:lnSpc>
              <a:buNone/>
            </a:pPr>
            <a:r>
              <a:rPr lang="ar-SA" altLang="en-US" sz="1400" b="1" dirty="0">
                <a:solidFill>
                  <a:srgbClr val="7B3FA0"/>
                </a:solidFill>
                <a:latin typeface="Amiri" pitchFamily="2" charset="-78"/>
                <a:ea typeface="Amiri" pitchFamily="2" charset="-78"/>
                <a:cs typeface="Amiri" pitchFamily="2" charset="-78"/>
              </a:rPr>
              <a:t>وَأَشَارَ</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المُؤَرِّخُونَ </a:t>
            </a:r>
            <a:pPr rtl="1" algn="r" indent="0" marL="0">
              <a:lnSpc>
                <a:spcPct val="120000"/>
              </a:lnSpc>
              <a:buNone/>
            </a:pPr>
            <a:r>
              <a:rPr lang="ar-SA" altLang="en-US" sz="1400" b="1" dirty="0">
                <a:solidFill>
                  <a:srgbClr val="7B3FA0"/>
                </a:solidFill>
                <a:latin typeface="Amiri" pitchFamily="2" charset="-78"/>
                <a:ea typeface="Amiri" pitchFamily="2" charset="-78"/>
                <a:cs typeface="Amiri" pitchFamily="2" charset="-78"/>
              </a:rPr>
              <a:t>إِلَى أَنَّ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العُلَمَاءَ المُسْلِمِينَ كَانُوا قَدْ تَرْجَمُوا الإِرْثَ اليُونَانِيَّ. ثُمَّ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انْحَطَّ</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التَّعْلِيمُ خِلَالَ فَتَرَاتِ الغَزْوِ. اليَوْمَ، </a:t>
            </a:r>
            <a:pPr rtl="1" algn="r" indent="0" marL="0">
              <a:lnSpc>
                <a:spcPct val="120000"/>
              </a:lnSpc>
              <a:buNone/>
            </a:pPr>
            <a:r>
              <a:rPr lang="ar-SA" altLang="en-US" sz="1400" b="1" dirty="0">
                <a:solidFill>
                  <a:srgbClr val="C77700"/>
                </a:solidFill>
                <a:latin typeface="Amiri" pitchFamily="2" charset="-78"/>
                <a:ea typeface="Amiri" pitchFamily="2" charset="-78"/>
                <a:cs typeface="Amiri" pitchFamily="2" charset="-78"/>
              </a:rPr>
              <a:t>يَشْهَدُ</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التَّعْلِيمُ العَرَبِيُّ إِصْلَاحَاتٍ.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لَوِ اسْتَثْمَرَ</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العَالَمُ العَرَبِيُّ مُبَكِّرًا،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لَكَانَ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وَضْعُهُ العِلْمِيُّ مُخْتَلِفًا.</a:t>
            </a:r>
            <a:endParaRPr lang="ar-SA" sz="1400" dirty="0"/>
          </a:p>
        </p:txBody>
      </p:sp>
      <p:sp>
        <p:nvSpPr>
          <p:cNvPr id="56" name="Text 52"/>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000" i="1" dirty="0">
                <a:solidFill>
                  <a:srgbClr val="5A6472"/>
                </a:solidFill>
                <a:latin typeface="Calibri" pitchFamily="34" charset="0"/>
                <a:cs typeface="Amiri" pitchFamily="2" charset="-78"/>
              </a:rPr>
              <a:t>The House of Wisdom had attracted scholars from different civilisations. Historians pointed out that Muslim scholars had translated the Greek heritage. Then education declined during the periods of invasion. Today, Arab education is undergoing reforms. If the Arab world had invested early, its scientific situation would have been different.</a:t>
            </a:r>
            <a:endParaRPr lang="en-US" sz="1000" dirty="0"/>
          </a:p>
        </p:txBody>
      </p:sp>
      <p:sp>
        <p:nvSpPr>
          <p:cNvPr id="57"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47</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P2-L07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P2-L07</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lnSpc>
                <a:spcPct val="120000"/>
              </a:lnSpc>
              <a:buNone/>
            </a:pPr>
            <a:r>
              <a:rPr lang="ar-SA" altLang="en-US" sz="2600" b="1" dirty="0">
                <a:solidFill>
                  <a:srgbClr val="1B3B6F"/>
                </a:solidFill>
                <a:latin typeface="Amiri" pitchFamily="2" charset="-78"/>
                <a:ea typeface="Amiri" pitchFamily="2" charset="-78"/>
                <a:cs typeface="Amiri" pitchFamily="2" charset="-78"/>
              </a:rPr>
              <a:t>بِحُلُولِ القَرْنِ التَّاسِعِ، كَانَ العَرَبُ قَدْ طَوَّرُوا أَنْظِمَةً مُتَقَدِّمَةً</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by the ninth century, the Arabs had developed advanced systems</a:t>
            </a:r>
            <a:endParaRPr lang="en-US" sz="1250" dirty="0"/>
          </a:p>
          <a:p>
            <a:pPr indent="0" marL="0">
              <a:buNone/>
            </a:pPr>
            <a:r>
              <a:rPr lang="en-US" sz="1050" i="1" dirty="0">
                <a:solidFill>
                  <a:srgbClr val="8A6D1E"/>
                </a:solidFill>
                <a:latin typeface="Calibri" pitchFamily="34" charset="0"/>
                <a:cs typeface="Amiri" pitchFamily="2" charset="-78"/>
              </a:rPr>
              <a:t>Past perfect for the earliest layer.</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lnSpc>
                <a:spcPct val="120000"/>
              </a:lnSpc>
              <a:buNone/>
            </a:pPr>
            <a:r>
              <a:rPr lang="ar-SA" altLang="en-US" sz="2600" b="1" dirty="0">
                <a:solidFill>
                  <a:srgbClr val="1B3B6F"/>
                </a:solidFill>
                <a:latin typeface="Amiri" pitchFamily="2" charset="-78"/>
                <a:ea typeface="Amiri" pitchFamily="2" charset="-78"/>
                <a:cs typeface="Amiri" pitchFamily="2" charset="-78"/>
              </a:rPr>
              <a:t>اِنْحَطَّ التَّعْلِيمُ خِلَالَ فَتَرَاتِ الغَزْوِ ثُمَّ تَطَوَّرَ بَعْدَ الاسْتِقْلَالِ</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education declined during the invasions, then developed after independence</a:t>
            </a:r>
            <a:endParaRPr lang="en-US" sz="1250" dirty="0"/>
          </a:p>
          <a:p>
            <a:pPr indent="0" marL="0">
              <a:buNone/>
            </a:pPr>
            <a:r>
              <a:rPr lang="en-US" sz="1050" i="1" dirty="0">
                <a:solidFill>
                  <a:srgbClr val="8A6D1E"/>
                </a:solidFill>
                <a:latin typeface="Calibri" pitchFamily="34" charset="0"/>
                <a:cs typeface="Amiri" pitchFamily="2" charset="-78"/>
              </a:rPr>
              <a:t>Simple past for later events.</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lnSpc>
                <a:spcPct val="120000"/>
              </a:lnSpc>
              <a:buNone/>
            </a:pPr>
            <a:r>
              <a:rPr lang="ar-SA" altLang="en-US" sz="2600" b="1" dirty="0">
                <a:solidFill>
                  <a:srgbClr val="1B3B6F"/>
                </a:solidFill>
                <a:latin typeface="Amiri" pitchFamily="2" charset="-78"/>
                <a:ea typeface="Amiri" pitchFamily="2" charset="-78"/>
                <a:cs typeface="Amiri" pitchFamily="2" charset="-78"/>
              </a:rPr>
              <a:t>لَوِ اسْتَثْمَرَ العَالَمُ العَرَبِيُّ مُبَكِّرًا، لَكَانَ وَضْعُهُ العِلْمِيُّ مُخْتَلِفًا</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if the Arab world had invested early, its scientific situation would have been different</a:t>
            </a:r>
            <a:endParaRPr lang="en-US" sz="1250" dirty="0"/>
          </a:p>
          <a:p>
            <a:pPr indent="0" marL="0">
              <a:buNone/>
            </a:pPr>
            <a:r>
              <a:rPr lang="en-US" sz="1050" i="1" dirty="0">
                <a:solidFill>
                  <a:srgbClr val="8A6D1E"/>
                </a:solidFill>
                <a:latin typeface="Calibri" pitchFamily="34" charset="0"/>
                <a:cs typeface="Amiri" pitchFamily="2" charset="-78"/>
              </a:rPr>
              <a:t>Counterfactual analysis with law.</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47</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P2-L07 · Culture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BUILD A HISTORICAL ANALYSIS (WEBSITE LIVE BUILDER)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Achievement + challenge + analysis</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تَحْلِيلَكَ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147304"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 · Golden Age (kāna qad)</a:t>
            </a:r>
            <a:endParaRPr lang="en-US" sz="1100" dirty="0"/>
          </a:p>
        </p:txBody>
      </p:sp>
      <p:sp>
        <p:nvSpPr>
          <p:cNvPr id="17" name="Text 14"/>
          <p:cNvSpPr txBox="1"/>
          <p:nvPr/>
        </p:nvSpPr>
        <p:spPr>
          <a:xfrm>
            <a:off x="4581144"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 · Today (present)</a:t>
            </a:r>
            <a:endParaRPr lang="en-US" sz="1100" dirty="0"/>
          </a:p>
        </p:txBody>
      </p:sp>
      <p:sp>
        <p:nvSpPr>
          <p:cNvPr id="18" name="Text 15"/>
          <p:cNvSpPr txBox="1"/>
          <p:nvPr/>
        </p:nvSpPr>
        <p:spPr>
          <a:xfrm>
            <a:off x="53035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 · Analysis (law · idhā · citation)</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165592" y="2267712"/>
            <a:ext cx="3474720" cy="731520"/>
          </a:xfrm>
          <a:prstGeom prst="rect">
            <a:avLst/>
          </a:prstGeom>
          <a:noFill/>
          <a:ln/>
        </p:spPr>
        <p:txBody>
          <a:bodyPr wrap="square" lIns="0" tIns="0" rIns="0" bIns="0" rtlCol="0" anchor="ctr"/>
          <a:lstStyle/>
          <a:p>
            <a:pPr rtl="1" algn="ctr" indent="0" marL="0">
              <a:lnSpc>
                <a:spcPct val="120000"/>
              </a:lnSpc>
              <a:buNone/>
            </a:pPr>
            <a:r>
              <a:rPr lang="ar-SA" altLang="en-US" sz="1450" b="1" dirty="0">
                <a:solidFill>
                  <a:srgbClr val="1B3B6F"/>
                </a:solidFill>
                <a:latin typeface="Amiri" pitchFamily="2" charset="-78"/>
                <a:ea typeface="Amiri" pitchFamily="2" charset="-78"/>
                <a:cs typeface="Amiri" pitchFamily="2" charset="-78"/>
              </a:rPr>
              <a:t>كَانَ العَرَبُ قَدْ أَسَّسُوا أَرْقَى الأَنْظِمَةِ فِي العَصْرِ الذَّهَبِيِّ</a:t>
            </a:r>
            <a:endParaRPr lang="ar-SA" sz="1450" dirty="0"/>
          </a:p>
        </p:txBody>
      </p:sp>
      <p:sp>
        <p:nvSpPr>
          <p:cNvPr id="21" name="Text 18"/>
          <p:cNvSpPr txBox="1"/>
          <p:nvPr/>
        </p:nvSpPr>
        <p:spPr>
          <a:xfrm>
            <a:off x="4599432" y="2267712"/>
            <a:ext cx="338328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وَاليَوْمَ يَشْهَدُ التَّعْلِيمُ العَرَبِيُّ إِصْلَاحَاتٍ جَذْرِيَّةً</a:t>
            </a:r>
            <a:endParaRPr lang="ar-SA" sz="1600" dirty="0"/>
          </a:p>
        </p:txBody>
      </p:sp>
      <p:sp>
        <p:nvSpPr>
          <p:cNvPr id="22" name="Text 19"/>
          <p:cNvSpPr txBox="1"/>
          <p:nvPr/>
        </p:nvSpPr>
        <p:spPr>
          <a:xfrm>
            <a:off x="548640" y="2267712"/>
            <a:ext cx="3867912" cy="731520"/>
          </a:xfrm>
          <a:prstGeom prst="rect">
            <a:avLst/>
          </a:prstGeom>
          <a:noFill/>
          <a:ln/>
        </p:spPr>
        <p:txBody>
          <a:bodyPr wrap="square" lIns="0" tIns="0" rIns="0" bIns="0" rtlCol="0" anchor="ctr"/>
          <a:lstStyle/>
          <a:p>
            <a:pPr rtl="1" algn="ctr" indent="0" marL="0">
              <a:lnSpc>
                <a:spcPct val="120000"/>
              </a:lnSpc>
              <a:buNone/>
            </a:pPr>
            <a:r>
              <a:rPr lang="ar-SA" altLang="en-US" sz="1450" b="1" dirty="0">
                <a:solidFill>
                  <a:srgbClr val="1B3B6F"/>
                </a:solidFill>
                <a:latin typeface="Amiri" pitchFamily="2" charset="-78"/>
                <a:ea typeface="Amiri" pitchFamily="2" charset="-78"/>
                <a:cs typeface="Amiri" pitchFamily="2" charset="-78"/>
              </a:rPr>
              <a:t>وَلَوِ اسْتُثْمِرَ فِي العِلْمِ مُبَكِّرًا، لَاسْتَعَادَتِ المِنْطَقَةُ رِيَادَتَهَا</a:t>
            </a:r>
            <a:endParaRPr lang="ar-SA" sz="145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165592" y="3054096"/>
            <a:ext cx="3474720" cy="731520"/>
          </a:xfrm>
          <a:prstGeom prst="rect">
            <a:avLst/>
          </a:prstGeom>
          <a:noFill/>
          <a:ln/>
        </p:spPr>
        <p:txBody>
          <a:bodyPr wrap="square" lIns="0" tIns="0" rIns="0" bIns="0" rtlCol="0" anchor="ctr"/>
          <a:lstStyle/>
          <a:p>
            <a:pPr rtl="1" algn="ctr" indent="0" marL="0">
              <a:lnSpc>
                <a:spcPct val="120000"/>
              </a:lnSpc>
              <a:buNone/>
            </a:pPr>
            <a:r>
              <a:rPr lang="ar-SA" altLang="en-US" sz="1450" b="1" dirty="0">
                <a:solidFill>
                  <a:srgbClr val="1B3B6F"/>
                </a:solidFill>
                <a:latin typeface="Amiri" pitchFamily="2" charset="-78"/>
                <a:ea typeface="Amiri" pitchFamily="2" charset="-78"/>
                <a:cs typeface="Amiri" pitchFamily="2" charset="-78"/>
              </a:rPr>
              <a:t>كَانَتْ دَارُ الحِكْمَةِ قَدِ اسْتَقْطَبَتْ عُلَمَاءَ مِنْ كُلِّ الثَّقَافَاتِ</a:t>
            </a:r>
            <a:endParaRPr lang="ar-SA" sz="1450" dirty="0"/>
          </a:p>
        </p:txBody>
      </p:sp>
      <p:sp>
        <p:nvSpPr>
          <p:cNvPr id="27" name="Text 24"/>
          <p:cNvSpPr txBox="1"/>
          <p:nvPr/>
        </p:nvSpPr>
        <p:spPr>
          <a:xfrm>
            <a:off x="4599432" y="3054096"/>
            <a:ext cx="338328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لٰكِنَّ بَعْضَ الدُّوَلِ تُعَانِي مِنْ مُعَدَّلَاتِ أُمِّيَّةٍ مُرْتَفِعَةٍ</a:t>
            </a:r>
            <a:endParaRPr lang="ar-SA" sz="1600" dirty="0"/>
          </a:p>
        </p:txBody>
      </p:sp>
      <p:sp>
        <p:nvSpPr>
          <p:cNvPr id="28" name="Text 25"/>
          <p:cNvSpPr txBox="1"/>
          <p:nvPr/>
        </p:nvSpPr>
        <p:spPr>
          <a:xfrm>
            <a:off x="548640" y="3054096"/>
            <a:ext cx="386791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وَإِذَا وَاصَلَتِ الدُّوَلُ إِصْلَاحَاتِهَا، سَتَتَقَلَّصُ الفَجْوَةُ</a:t>
            </a:r>
            <a:endParaRPr lang="ar-SA" sz="16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8165592" y="3840480"/>
            <a:ext cx="3474720" cy="731520"/>
          </a:xfrm>
          <a:prstGeom prst="rect">
            <a:avLst/>
          </a:prstGeom>
          <a:noFill/>
          <a:ln/>
        </p:spPr>
        <p:txBody>
          <a:bodyPr wrap="square" lIns="0" tIns="0" rIns="0" bIns="0" rtlCol="0" anchor="ctr"/>
          <a:lstStyle/>
          <a:p>
            <a:pPr rtl="1" algn="ct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كَانُوا قَدْ تَرْجَمُوا الإِرْثَ اليُونَانِيَّ وَأَضَافُوا إِلَيْهِ</a:t>
            </a:r>
            <a:endParaRPr lang="ar-SA" sz="1550" dirty="0"/>
          </a:p>
        </p:txBody>
      </p:sp>
      <p:sp>
        <p:nvSpPr>
          <p:cNvPr id="31" name="Text 28"/>
          <p:cNvSpPr txBox="1"/>
          <p:nvPr/>
        </p:nvSpPr>
        <p:spPr>
          <a:xfrm>
            <a:off x="4599432" y="3840480"/>
            <a:ext cx="338328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وَتَمُرُّ مَنَاطِقُ النِّزَاعِ بِأَزَمَاتٍ تَعْلِيمِيَّةٍ</a:t>
            </a:r>
            <a:endParaRPr lang="ar-SA" sz="1600" dirty="0"/>
          </a:p>
        </p:txBody>
      </p:sp>
      <p:sp>
        <p:nvSpPr>
          <p:cNvPr id="32" name="Text 29"/>
          <p:cNvSpPr txBox="1"/>
          <p:nvPr/>
        </p:nvSpPr>
        <p:spPr>
          <a:xfrm>
            <a:off x="548640" y="3840480"/>
            <a:ext cx="386791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وَأَشَارَ المُؤَرِّخُونَ إِلَى أَنَّ المَوْرُوثَ العِلْمِيَّ مَا زَالَ حَيًّا</a:t>
            </a:r>
            <a:endParaRPr lang="ar-SA" sz="1600" dirty="0"/>
          </a:p>
        </p:txBody>
      </p:sp>
      <p:sp>
        <p:nvSpPr>
          <p:cNvPr id="33" name="Text 3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Pick one from each column — any combination is accurate. Say it, then write three different versions.</a:t>
            </a:r>
            <a:endParaRPr lang="en-US" sz="11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47</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P2-L07 · Culture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Golden Age, later events — or today?</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P2-L07</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كَانَ قَدْ أَسَّسَ</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كَانَتْ قَدِ اسْتَقْطَبَتْ</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كَانُوا قَدْ تَرْجَمُوا</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اِزْدَهَرَ</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اِنْحَطَّ</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تَطَوَّرَ</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يَشْهَدُ</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يَمُرُّ</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يُوَاجِهُ</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Past perfect (Golden Age)</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Simple past (later)</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Present (today)</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47</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P2-L07 · Culture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P2-L07</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Past perfect (Golden Age)</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كَانَ قَدْ أَسَّسَ</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كَانَتْ قَدِ اسْتَقْطَبَتْ</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كَانُوا قَدْ تَرْجَمُوا</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Simple past (later)</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اِزْدَهَرَ</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اِنْحَطَّ</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تَطَوَّرَ</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Present (today)</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يَشْهَدُ</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يَمُرُّ</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يُوَاجِهُ</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47</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P2-L07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4, 5, 6,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P2-L07</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كَانَتْ دَارُ الحِكْمَةِ قَدِ ___ عُلَمَاءَ.</a:t>
            </a:r>
            <a:endParaRPr lang="ar-SA" sz="1500" dirty="0"/>
          </a:p>
        </p:txBody>
      </p:sp>
      <p:sp>
        <p:nvSpPr>
          <p:cNvPr id="22" name="Shape 19"/>
          <p:cNvSpPr/>
          <p:nvPr/>
        </p:nvSpPr>
        <p:spPr>
          <a:xfrm>
            <a:off x="640080" y="25328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تَسْتَقْطِبُ</a:t>
            </a:r>
            <a:endParaRPr lang="ar-SA" sz="2050" dirty="0"/>
          </a:p>
        </p:txBody>
      </p:sp>
      <p:sp>
        <p:nvSpPr>
          <p:cNvPr id="25" name="Shape 22"/>
          <p:cNvSpPr/>
          <p:nvPr/>
        </p:nvSpPr>
        <p:spPr>
          <a:xfrm>
            <a:off x="640080" y="29900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سَتَسْتَقْطِبُ</a:t>
            </a:r>
            <a:endParaRPr lang="ar-SA" sz="2050" dirty="0"/>
          </a:p>
        </p:txBody>
      </p:sp>
      <p:sp>
        <p:nvSpPr>
          <p:cNvPr id="28" name="Shape 25"/>
          <p:cNvSpPr/>
          <p:nvPr/>
        </p:nvSpPr>
        <p:spPr>
          <a:xfrm>
            <a:off x="640080" y="3447288"/>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اسْتَقْطَبَتْ</a:t>
            </a:r>
            <a:endParaRPr lang="ar-SA" sz="2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4" name="Text 31"/>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reports a historian accurately?</a:t>
            </a:r>
            <a:endParaRPr lang="en-US" sz="125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أَشَارَ المُؤَرِّخُونَ أَنَّ دَارَ الحِكْمَةِ جَمَعَتْ عُلَمَاءَ.</a:t>
            </a:r>
            <a:endParaRPr lang="ar-SA" sz="20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أَشَارَ المُؤَرِّخُونَ إِلَى أَنَّ دَارَ الحِكْمَةِ جَمَعَتْ عُلَمَاءَ.</a:t>
            </a:r>
            <a:endParaRPr lang="ar-SA" sz="20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أَشَارَ المُؤَرِّخُونَ إِلَى إِنَّ دَارَ الحِكْمَةِ.</a:t>
            </a:r>
            <a:endParaRPr lang="ar-SA" sz="20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7" name="Text 44"/>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counterfactual analysis (Type 2)?</a:t>
            </a:r>
            <a:endParaRPr lang="en-US" sz="125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إِذَا اسْتَثْمَرَ العَالَمُ العَرَبِيُّ، سَيَتَحَسَّنُ الوَضْعُ.</a:t>
            </a:r>
            <a:endParaRPr lang="ar-SA" sz="200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لَوِ اسْتَثْمَرَ العَالَمُ العَرَبِيُّ مُبَكِّرًا، لَكَانَ وَضْعُهُ مُخْتَلِفًا.</a:t>
            </a:r>
            <a:endParaRPr lang="ar-SA" sz="200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يَسْتَثْمِرُ العَالَمُ العَرَبِيُّ فِي التَّعْلِيمِ.</a:t>
            </a:r>
            <a:endParaRPr lang="ar-SA" sz="200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orders the tenses correctly across time?</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1650" dirty="0">
                <a:solidFill>
                  <a:srgbClr val="1F2A37"/>
                </a:solidFill>
                <a:latin typeface="Amiri" pitchFamily="2" charset="-78"/>
                <a:ea typeface="Amiri" pitchFamily="2" charset="-78"/>
                <a:cs typeface="Amiri" pitchFamily="2" charset="-78"/>
              </a:rPr>
              <a:t>يَشْهَدُ العَرَبُ، ثُمَّ كَانُوا قَدْ أَسَّسُوا، ثُمَّ سَيَنْحَطُّ.</a:t>
            </a:r>
            <a:endParaRPr lang="ar-SA" sz="16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1650" dirty="0">
                <a:solidFill>
                  <a:srgbClr val="1F2A37"/>
                </a:solidFill>
                <a:latin typeface="Amiri" pitchFamily="2" charset="-78"/>
                <a:ea typeface="Amiri" pitchFamily="2" charset="-78"/>
                <a:cs typeface="Amiri" pitchFamily="2" charset="-78"/>
              </a:rPr>
              <a:t>سَيُؤَسِّسُ العَرَبُ ثُمَّ انْحَطَّ ثُمَّ يَشْهَدُ.</a:t>
            </a:r>
            <a:endParaRPr lang="ar-SA" sz="16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1650" dirty="0">
                <a:solidFill>
                  <a:srgbClr val="1F2A37"/>
                </a:solidFill>
                <a:latin typeface="Amiri" pitchFamily="2" charset="-78"/>
                <a:ea typeface="Amiri" pitchFamily="2" charset="-78"/>
                <a:cs typeface="Amiri" pitchFamily="2" charset="-78"/>
              </a:rPr>
              <a:t>كَانَ العَرَبُ قَدْ أَسَّسُوا، ثُمَّ انْحَطَّ التَّعْلِيمُ، وَاليَوْمَ يَشْهَدُ إِصْلَاحَاتٍ.</a:t>
            </a:r>
            <a:endParaRPr lang="ar-SA" sz="16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47</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P2-L07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P2-L07</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كَانَتْ دَارُ الحِكْمَةِ قَدِ ___ عُلَمَاءَ.</a:t>
            </a:r>
            <a:endParaRPr lang="ar-SA" sz="1500" dirty="0"/>
          </a:p>
        </p:txBody>
      </p:sp>
      <p:sp>
        <p:nvSpPr>
          <p:cNvPr id="22" name="Shape 19"/>
          <p:cNvSpPr/>
          <p:nvPr/>
        </p:nvSpPr>
        <p:spPr>
          <a:xfrm>
            <a:off x="640080" y="2490216"/>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تَسْتَقْطِبُ</a:t>
            </a:r>
            <a:endParaRPr lang="ar-SA" sz="1700" dirty="0"/>
          </a:p>
        </p:txBody>
      </p:sp>
      <p:sp>
        <p:nvSpPr>
          <p:cNvPr id="25" name="Shape 22"/>
          <p:cNvSpPr/>
          <p:nvPr/>
        </p:nvSpPr>
        <p:spPr>
          <a:xfrm>
            <a:off x="640080" y="2862072"/>
            <a:ext cx="256032" cy="256032"/>
          </a:xfrm>
          <a:prstGeom prst="ellipse">
            <a:avLst/>
          </a:prstGeom>
          <a:solidFill>
            <a:srgbClr val="C9CED6"/>
          </a:solidFill>
          <a:ln w="12700">
            <a:solidFill>
              <a:srgbClr val="C9CED6"/>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سَتَسْتَقْطِبُ</a:t>
            </a:r>
            <a:endParaRPr lang="ar-SA" sz="1700" dirty="0"/>
          </a:p>
        </p:txBody>
      </p:sp>
      <p:sp>
        <p:nvSpPr>
          <p:cNvPr id="28" name="Shape 25"/>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9" name="Shape 26"/>
          <p:cNvSpPr/>
          <p:nvPr/>
        </p:nvSpPr>
        <p:spPr>
          <a:xfrm>
            <a:off x="640080" y="3233928"/>
            <a:ext cx="256032" cy="256032"/>
          </a:xfrm>
          <a:prstGeom prst="ellipse">
            <a:avLst/>
          </a:prstGeom>
          <a:solidFill>
            <a:srgbClr val="2E8B57"/>
          </a:solidFill>
          <a:ln w="12700">
            <a:solidFill>
              <a:srgbClr val="2E8B57"/>
            </a:solidFill>
            <a:prstDash val="solid"/>
          </a:ln>
        </p:spPr>
      </p:sp>
      <p:sp>
        <p:nvSpPr>
          <p:cNvPr id="30" name="Text 27"/>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1" name="Text 28"/>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اسْتَقْطَبَتْ</a:t>
            </a:r>
            <a:endParaRPr lang="ar-SA" sz="1700" dirty="0"/>
          </a:p>
        </p:txBody>
      </p:sp>
      <p:sp>
        <p:nvSpPr>
          <p:cNvPr id="32" name="Text 29"/>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verb after </a:t>
            </a:r>
            <a:pPr algn="l" indent="0" marL="0">
              <a:buNone/>
            </a:pPr>
            <a:r>
              <a:rPr lang="ar-SA" altLang="en-US" sz="1350" dirty="0">
                <a:solidFill>
                  <a:srgbClr val="8A6D1E"/>
                </a:solidFill>
                <a:latin typeface="Amiri" pitchFamily="2" charset="-78"/>
                <a:ea typeface="Amiri" pitchFamily="2" charset="-78"/>
                <a:cs typeface="Amiri" pitchFamily="2" charset="-78"/>
              </a:rPr>
              <a:t>قَدْ</a:t>
            </a:r>
            <a:pPr algn="l" indent="0" marL="0">
              <a:buNone/>
            </a:pPr>
            <a:r>
              <a:rPr lang="en-US" sz="1050" i="1" dirty="0">
                <a:solidFill>
                  <a:srgbClr val="8A6D1E"/>
                </a:solidFill>
                <a:latin typeface="Calibri" pitchFamily="34" charset="0"/>
                <a:cs typeface="Amiri" pitchFamily="2" charset="-78"/>
              </a:rPr>
              <a:t> is past, agreeing with the feminine subject.</a:t>
            </a:r>
            <a:endParaRPr lang="en-US" sz="1050" dirty="0"/>
          </a:p>
        </p:txBody>
      </p:sp>
      <p:sp>
        <p:nvSpPr>
          <p:cNvPr id="33" name="Shape 30"/>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313932" y="1947672"/>
            <a:ext cx="310896" cy="310896"/>
          </a:xfrm>
          <a:prstGeom prst="ellipse">
            <a:avLst/>
          </a:prstGeom>
          <a:solidFill>
            <a:srgbClr val="1B3B6F"/>
          </a:solidFill>
          <a:ln w="12700">
            <a:solidFill>
              <a:srgbClr val="1B3B6F"/>
            </a:solidFill>
            <a:prstDash val="solid"/>
          </a:ln>
        </p:spPr>
      </p:sp>
      <p:sp>
        <p:nvSpPr>
          <p:cNvPr id="35" name="Text 3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6" name="Text 33"/>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reports a historian accurately?</a:t>
            </a:r>
            <a:endParaRPr lang="en-US" sz="125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أَشَارَ المُؤَرِّخُونَ أَنَّ دَارَ الحِكْمَةِ جَمَعَتْ عُلَمَاءَ.</a:t>
            </a:r>
            <a:endParaRPr lang="ar-SA" sz="170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أَشَارَ المُؤَرِّخُونَ إِلَى أَنَّ دَارَ الحِكْمَةِ جَمَعَتْ عُلَمَاءَ.</a:t>
            </a:r>
            <a:endParaRPr lang="ar-SA" sz="170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أَشَارَ المُؤَرِّخُونَ إِلَى إِنَّ دَارَ الحِكْمَةِ.</a:t>
            </a:r>
            <a:endParaRPr lang="ar-SA" sz="170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أَشَارَ إِلَى أَنَّ</a:t>
            </a:r>
            <a:pPr algn="l" indent="0" marL="0">
              <a:buNone/>
            </a:pPr>
            <a:r>
              <a:rPr lang="en-US" sz="1050" i="1" dirty="0">
                <a:solidFill>
                  <a:srgbClr val="8A6D1E"/>
                </a:solidFill>
                <a:latin typeface="Calibri" pitchFamily="34" charset="0"/>
                <a:cs typeface="Amiri" pitchFamily="2" charset="-78"/>
              </a:rPr>
              <a:t> with an accusative noun.</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1" name="Text 48"/>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counterfactual analysis (Type 2)?</a:t>
            </a:r>
            <a:endParaRPr lang="en-US" sz="125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 اسْتَثْمَرَ العَالَمُ العَرَبِيُّ، سَيَتَحَسَّنُ الوَضْعُ.</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لَوِ اسْتَثْمَرَ العَالَمُ العَرَبِيُّ مُبَكِّرًا، لَكَانَ وَضْعُهُ مُخْتَلِفًا.</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يَسْتَثْمِرُ العَالَمُ العَرَبِيُّ فِي التَّعْلِيمِ.</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لَوْ … لَـ</a:t>
            </a:r>
            <a:pPr algn="l" indent="0" marL="0">
              <a:buNone/>
            </a:pPr>
            <a:r>
              <a:rPr lang="en-US" sz="1050" i="1" dirty="0">
                <a:solidFill>
                  <a:srgbClr val="8A6D1E"/>
                </a:solidFill>
                <a:latin typeface="Calibri" pitchFamily="34" charset="0"/>
                <a:cs typeface="Amiri" pitchFamily="2" charset="-78"/>
              </a:rPr>
              <a:t> imagines an unreal past.</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orders the tenses correctly across time?</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650" dirty="0">
                <a:solidFill>
                  <a:srgbClr val="9AA1AB"/>
                </a:solidFill>
                <a:latin typeface="Amiri" pitchFamily="2" charset="-78"/>
                <a:ea typeface="Amiri" pitchFamily="2" charset="-78"/>
                <a:cs typeface="Amiri" pitchFamily="2" charset="-78"/>
              </a:rPr>
              <a:t>يَشْهَدُ العَرَبُ، ثُمَّ كَانُوا قَدْ أَسَّسُوا، ثُمَّ سَيَنْحَطُّ.</a:t>
            </a:r>
            <a:endParaRPr lang="ar-SA" sz="165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650" dirty="0">
                <a:solidFill>
                  <a:srgbClr val="9AA1AB"/>
                </a:solidFill>
                <a:latin typeface="Amiri" pitchFamily="2" charset="-78"/>
                <a:ea typeface="Amiri" pitchFamily="2" charset="-78"/>
                <a:cs typeface="Amiri" pitchFamily="2" charset="-78"/>
              </a:rPr>
              <a:t>سَيُؤَسِّسُ العَرَبُ ثُمَّ انْحَطَّ ثُمَّ يَشْهَدُ.</a:t>
            </a:r>
            <a:endParaRPr lang="ar-SA" sz="165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650" b="1" dirty="0">
                <a:solidFill>
                  <a:srgbClr val="1F2A37"/>
                </a:solidFill>
                <a:latin typeface="Amiri" pitchFamily="2" charset="-78"/>
                <a:ea typeface="Amiri" pitchFamily="2" charset="-78"/>
                <a:cs typeface="Amiri" pitchFamily="2" charset="-78"/>
              </a:rPr>
              <a:t>كَانَ العَرَبُ قَدْ أَسَّسُوا، ثُمَّ انْحَطَّ التَّعْلِيمُ، وَاليَوْمَ يَشْهَدُ إِصْلَاحَاتٍ.</a:t>
            </a:r>
            <a:endParaRPr lang="ar-SA" sz="165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Past perfect → simple past → present follows the timeline.</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47</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P2-L07 · Culture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P2-L07</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يُؤَسِّسُ العَرَبُ نِظَامًا مُتَقَدِّمًا فِي العَصْرِ الذَّهَبِيِّ.</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 Golden-Age achievement in the present?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تَمُرُّ المِنْطَقَةُ عَلَى أَزْمَةٍ تَعْلِيمِيَّةٍ.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yamurr + ʿalā?</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2800" b="1" dirty="0">
                <a:solidFill>
                  <a:srgbClr val="B83227"/>
                </a:solidFill>
                <a:latin typeface="Amiri" pitchFamily="2" charset="-78"/>
                <a:ea typeface="Amiri" pitchFamily="2" charset="-78"/>
                <a:cs typeface="Amiri" pitchFamily="2" charset="-78"/>
              </a:rPr>
              <a:t>لَوِ اسْتَثْمَرَ العَالَمُ العَرَبِيُّ مُبَكِّرًا، سَيَكُونُ وَضْعُهُ مُخْتَلِفًا.</a:t>
            </a:r>
            <a:endParaRPr lang="ar-SA" sz="28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law … sa-?</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47</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P2-L07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P2-L07</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يُؤَسِّسُ العَرَبُ نِظَامًا مُتَقَدِّمًا فِي العَصْرِ الذَّهَبِيِّ.</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2" charset="-78"/>
                <a:ea typeface="Amiri" pitchFamily="2" charset="-78"/>
                <a:cs typeface="Amiri" pitchFamily="2" charset="-78"/>
              </a:rPr>
              <a:t>كَانَ العَرَبُ قَدْ أَسَّسُوا نِظَامًا مُتَقَدِّمًا فِي العَصْرِ الذَّهَبِيِّ.</a:t>
            </a:r>
            <a:endParaRPr lang="ar-SA" sz="21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Golden-Age achievement takes the past perfect.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تَمُرُّ المِنْطَقَةُ عَلَى أَزْمَةٍ تَعْلِيمِيَّةٍ.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تَمُرُّ المِنْطَقَةُ بِأَزْمَةٍ تَعْلِيمِيَّةٍ.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يَمُرُّ</a:t>
            </a:r>
            <a:pPr algn="l" indent="0" marL="0">
              <a:buNone/>
            </a:pPr>
            <a:r>
              <a:rPr lang="en-US" sz="1150" b="1" dirty="0">
                <a:solidFill>
                  <a:srgbClr val="1B3B6F"/>
                </a:solidFill>
                <a:latin typeface="Calibri" pitchFamily="34" charset="0"/>
                <a:cs typeface="Amiri" pitchFamily="2" charset="-78"/>
              </a:rPr>
              <a:t> is fixed with </a:t>
            </a:r>
            <a:pPr algn="l" indent="0" marL="0">
              <a:buNone/>
            </a:pPr>
            <a:r>
              <a:rPr lang="ar-SA" altLang="en-US" sz="1500" b="1" dirty="0">
                <a:solidFill>
                  <a:srgbClr val="1B3B6F"/>
                </a:solidFill>
                <a:latin typeface="Amiri" pitchFamily="2" charset="-78"/>
                <a:ea typeface="Amiri" pitchFamily="2" charset="-78"/>
                <a:cs typeface="Amiri" pitchFamily="2" charset="-78"/>
              </a:rPr>
              <a:t>بِـ</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لَوِ اسْتَثْمَرَ العَالَمُ العَرَبِيُّ مُبَكِّرًا، سَيَكُونُ وَضْعُهُ مُخْتَلِفًا.</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2" charset="-78"/>
                <a:ea typeface="Amiri" pitchFamily="2" charset="-78"/>
                <a:cs typeface="Amiri" pitchFamily="2" charset="-78"/>
              </a:rPr>
              <a:t>لَوِ اسْتَثْمَرَ العَالَمُ العَرَبِيُّ مُبَكِّرًا، لَكَانَ وَضْعُهُ مُخْتَلِفًا.</a:t>
            </a:r>
            <a:endParaRPr lang="ar-SA" sz="21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Type 2 result takes </a:t>
            </a:r>
            <a:pPr algn="l" indent="0" marL="0">
              <a:buNone/>
            </a:pPr>
            <a:r>
              <a:rPr lang="ar-SA" altLang="en-US" sz="1500" b="1" dirty="0">
                <a:solidFill>
                  <a:srgbClr val="1B3B6F"/>
                </a:solidFill>
                <a:latin typeface="Amiri" pitchFamily="2" charset="-78"/>
                <a:ea typeface="Amiri" pitchFamily="2" charset="-78"/>
                <a:cs typeface="Amiri" pitchFamily="2" charset="-78"/>
              </a:rPr>
              <a:t>لَـ</a:t>
            </a:r>
            <a:pPr algn="l" indent="0" marL="0">
              <a:buNone/>
            </a:pPr>
            <a:r>
              <a:rPr lang="en-US" sz="1150" b="1" dirty="0">
                <a:solidFill>
                  <a:srgbClr val="1B3B6F"/>
                </a:solidFill>
                <a:latin typeface="Calibri" pitchFamily="34" charset="0"/>
                <a:cs typeface="Amiri" pitchFamily="2" charset="-78"/>
              </a:rPr>
              <a:t>, not </a:t>
            </a:r>
            <a:pPr algn="l" indent="0" marL="0">
              <a:buNone/>
            </a:pPr>
            <a:r>
              <a:rPr lang="ar-SA" altLang="en-US" sz="1500" b="1" dirty="0">
                <a:solidFill>
                  <a:srgbClr val="1B3B6F"/>
                </a:solidFill>
                <a:latin typeface="Amiri" pitchFamily="2" charset="-78"/>
                <a:ea typeface="Amiri" pitchFamily="2" charset="-78"/>
                <a:cs typeface="Amiri" pitchFamily="2" charset="-78"/>
              </a:rPr>
              <a:t>سَـ</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47</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P2-L07 · Culture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Listening: from the House of Wisdom to today</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had the Arabs done by the ninth century?</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Founded a world education system before European universities existed</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 yet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Closed their schools</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had the House of Wisdom done?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Rejected foreign scholars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taught reading</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Attracted scholars from many cultures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historians point out about Ibn Rushd?</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wrote nothing</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taught in Europe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had written commentaries that became a reference in Europe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happened during the invasions, then after independence?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Education declined, then developed</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Education only grew</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Education vanished forever</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counterfactual about investment?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Investment is pointless</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Had there been parallel investment, the scientific situation would have differed</a:t>
            </a:r>
            <a:endParaRPr lang="en-US" sz="120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situation cannot change</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4.</a:t>
            </a:r>
            <a:endParaRPr lang="en-US" sz="1250" dirty="0"/>
          </a:p>
          <a:p>
            <a:pPr algn="l" indent="0" marL="0">
              <a:buNone/>
            </a:pPr>
            <a:r>
              <a:rPr lang="en-US" sz="1250" dirty="0">
                <a:solidFill>
                  <a:srgbClr val="1E6B52"/>
                </a:solidFill>
                <a:latin typeface="Calibri" pitchFamily="34" charset="0"/>
                <a:cs typeface="Amiri" pitchFamily="2" charset="-78"/>
              </a:rPr>
              <a:t>Listen for: kāna qad · inḥaṭṭa · yashhad · law … la-kāna.</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47</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P2-L07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P2-L07</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بِحُلُولِ القَرْنِ التَّاسِعِ، كَانَ العَرَبُ قَدْ أَسَّسُوا نِظَامًا تَعْلِيمِيًّا عَالَمِيًّا قَبْلَ أَنْ تُوجَدَ الجَامِعَاتُ الأُورُوبِّيَّةُ.</a:t>
            </a:r>
            <a:endParaRPr lang="ar-SA" sz="155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the ninth century, the Arabs had founded a world education system before European universities existed.</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كَانَتْ دَارُ الحِكْمَةِ فِي بَغْدَادَ قَدِ اسْتَقْطَبَتْ عُلَمَاءَ مِنْ ثَقَافَاتٍ مُتَعَدِّدَةٍ، وَازْدَهَرَتِ التَّرْجَمَةُ وَالعُلُومُ.</a:t>
            </a:r>
            <a:endParaRPr lang="ar-SA" sz="15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House of Wisdom in Baghdad had attracted scholars from many cultures, and translation and the sciences flourished.</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وَأَشَارَ المُؤَرِّخُونَ إِلَى أَنَّ ابْنَ رُشْدٍ كَانَ قَدْ كَتَبَ شُرُوحًا أَصْبَحَتْ مَرْجِعًا فِي أُورُوبَّا. ثُمَّ انْحَطَّ التَّعْلِيمُ خِلَالَ فَتَرَاتِ الغَزْوِ، وَتَطَوَّرَ بَعْدَ الاسْتِقْلَالِ.</a:t>
            </a:r>
            <a:endParaRPr lang="ar-SA" sz="155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Historians pointed out that Ibn Rushd had written commentaries that became a reference in Europe. Then education declined during the invasions, and developed after independence.</a:t>
            </a:r>
            <a:endParaRPr lang="en-US" sz="120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اليَوْمَ يَشْهَدُ التَّعْلِيمُ العَرَبِيُّ إِصْلَاحَاتٍ، لٰكِنَّ بَعْضَ المَنَاطِقِ تُعَانِي مِنْ مُعَدَّلَاتِ أُمِّيَّةٍ مُرْتَفِعَةٍ.</a:t>
            </a:r>
            <a:endParaRPr lang="ar-SA" sz="165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Today Arab education is undergoing reforms, but some regions suffer from high illiteracy rates.</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وَلَوِ اسْتُثْمِرَ فِي التَّعْلِيمِ بِنِسْبَةٍ مُوَازِيَةٍ لِلدُّوَلِ المُتَقَدِّمَةِ، لَكَانَ الوَضْعُ العِلْمِيُّ مُخْتَلِفًا.</a:t>
            </a:r>
            <a:endParaRPr lang="ar-SA" sz="17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And had education been invested in at a rate equal to developed countries, the scientific situation would have been different.</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47</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P2-L07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had the Arabs done by the ninth century?</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Founded a world education system before European universities existed</a:t>
            </a:r>
            <a:endParaRPr lang="en-US" sz="11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 yet</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Closed their schools</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150" dirty="0">
                <a:solidFill>
                  <a:srgbClr val="8A6D1E"/>
                </a:solidFill>
                <a:latin typeface="Amiri" pitchFamily="2" charset="-78"/>
                <a:ea typeface="Amiri" pitchFamily="2" charset="-78"/>
                <a:cs typeface="Amiri" pitchFamily="2" charset="-78"/>
              </a:rPr>
              <a:t>كَانَ العَرَبُ قَدْ أَسَّسُوا نِظَامًا … قَبْلَ أَنْ تُوجَدَ الجَامِعَاتُ الأُورُوبِّيَّةُ.</a:t>
            </a:r>
            <a:endParaRPr lang="ar-SA" sz="11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had the House of Wisdom done?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Rejected foreign scholars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taught reading</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Attracted scholars from many cultures</a:t>
            </a:r>
            <a:endParaRPr lang="en-US" sz="12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250" dirty="0">
                <a:solidFill>
                  <a:srgbClr val="8A6D1E"/>
                </a:solidFill>
                <a:latin typeface="Amiri" pitchFamily="2" charset="-78"/>
                <a:ea typeface="Amiri" pitchFamily="2" charset="-78"/>
                <a:cs typeface="Amiri" pitchFamily="2" charset="-78"/>
              </a:rPr>
              <a:t>كَانَتْ دَارُ الحِكْمَةِ … قَدِ اسْتَقْطَبَتْ عُلَمَاءَ مِنْ ثَقَافَاتٍ مُتَعَدِّدَةٍ.</a:t>
            </a:r>
            <a:endParaRPr lang="ar-SA" sz="12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historians point out about Ibn Rushd?</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wrote nothing</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taught in Europe</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He had written commentaries that became a reference in Europe</a:t>
            </a:r>
            <a:endParaRPr lang="en-US" sz="11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كَانَ قَدْ كَتَبَ شُرُوحًا أَصْبَحَتْ مَرْجِعًا فِي أُورُوبَّا.</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happened during the invasions, then after independence?</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Education declined, then developed</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Education only grew</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Education vanished forever</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انْحَطَّ التَّعْلِيمُ … وَتَطَوَّرَ بَعْدَ الاسْتِقْلَالِ.</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counterfactual about investment?</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Investment is pointless</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Had there been parallel investment, the scientific situation would have differed</a:t>
            </a:r>
            <a:endParaRPr lang="en-US" sz="11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situation cannot change</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لَوِ اسْتُثْمِرَ … لَكَانَ الوَضْعُ العِلْمِيُّ مُخْتَلِفًا.</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4.</a:t>
            </a:r>
            <a:endParaRPr lang="en-US" sz="1250" dirty="0"/>
          </a:p>
          <a:p>
            <a:pPr algn="l" indent="0" marL="0">
              <a:buNone/>
            </a:pPr>
            <a:r>
              <a:rPr lang="en-US" sz="1250" dirty="0">
                <a:solidFill>
                  <a:srgbClr val="1E6B52"/>
                </a:solidFill>
                <a:latin typeface="Calibri" pitchFamily="34" charset="0"/>
                <a:cs typeface="Amiri" pitchFamily="2" charset="-78"/>
              </a:rPr>
              <a:t>Listen for: kāna qad · inḥaṭṭa · yashhad · law … la-kāna.</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47</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P2-L07 · Culture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then and now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P2-L07</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كَانَ العَرَبُ قَدْ حَقَّقُوا فِي العَصْرِ الذَّهَبِيِّ؟</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التَّحَدِّي التَّعْلِيمِيُّ اليَوْمَ؟</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لَوِ اسْتُثْمِرَ فِي التَّعْلِيمِ مُبَكِّرًا، مَاذَا كَانَ سَيَخْتَلِفُ؟</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كَانَ العَرَبُ قَدْ ___ فِي العَصْرِ الذَّهَبِيِّ.</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550" b="1" dirty="0">
                <a:solidFill>
                  <a:srgbClr val="1F2A37"/>
                </a:solidFill>
                <a:latin typeface="Amiri" pitchFamily="2" charset="-78"/>
                <a:ea typeface="Amiri" pitchFamily="2" charset="-78"/>
                <a:cs typeface="Amiri" pitchFamily="2" charset="-78"/>
              </a:rPr>
              <a:t>اليَوْمَ يَشْهَدُ التَّعْلِيمُ ___ ، لٰكِنَّ ___ .</a:t>
            </a:r>
            <a:endParaRPr lang="ar-SA" sz="155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لَوِ اسْتُثْمِرَ فِي التَّعْلِيمِ مُبَكِّرًا،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مَاذَا كَانَ العَرَبُ قَدْ حَقَّقُوا فِي العَصْرِ الذَّهَبِيِّ؟</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had the Arabs achieved in the Golden Age?</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كَانُوا قَدْ أَسَّسُوا دَارَ الحِكْمَةِ وَاسْتَقْطَبُوا عُلَمَاءَ مِنْ كُلِّ الثَّقَافَاتِ.</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850" i="1" dirty="0">
                <a:solidFill>
                  <a:srgbClr val="5A6472"/>
                </a:solidFill>
                <a:latin typeface="Calibri" pitchFamily="34" charset="0"/>
                <a:cs typeface="Amiri" pitchFamily="2" charset="-78"/>
              </a:rPr>
              <a:t>They had founded the House of Wisdom and attracted scholars from all cultures.</a:t>
            </a:r>
            <a:endParaRPr lang="en-US" sz="8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47</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P2-L07 · Culture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P2-L07</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five historical sentences choosing the right tense for each period.</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Core: five history sentences, choosing the right tense for each period.</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60–80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 reported-speech citation of historians.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Develop: add a reported-speech citation of historians.</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100–110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a three-part analysis: past-perfect achievement, present challenge, counterfactual with </a:t>
            </a:r>
            <a:pPr algn="l" indent="0" marL="0">
              <a:buNone/>
            </a:pPr>
            <a:r>
              <a:rPr lang="ar-SA" altLang="en-US" sz="1800" b="1" dirty="0">
                <a:solidFill>
                  <a:srgbClr val="1F2A37"/>
                </a:solidFill>
                <a:latin typeface="Amiri" pitchFamily="2" charset="-78"/>
                <a:ea typeface="Amiri" pitchFamily="2" charset="-78"/>
                <a:cs typeface="Amiri" pitchFamily="2" charset="-78"/>
              </a:rPr>
              <a:t>لَوْ</a:t>
            </a:r>
            <a:pPr algn="l" indent="0" marL="0">
              <a:buNone/>
            </a:pPr>
            <a:r>
              <a:rPr lang="en-US" sz="1400" b="1" dirty="0">
                <a:solidFill>
                  <a:srgbClr val="1F2A37"/>
                </a:solidFill>
                <a:latin typeface="Calibri" pitchFamily="34" charset="0"/>
                <a:cs typeface="Amiri" pitchFamily="2" charset="-78"/>
              </a:rPr>
              <a:t>.</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past perfect, simple past and present, one citation and both conditional types.</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47</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P2-L07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P2-L07</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أَشَارَ المُؤَرِّخُونَ إِلَى أَنَّ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Historians pointed out that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تَمُرُّ بَعْضُ المَنَاطِقِ بِأَزَمَاتٍ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Some regions are going through crises in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لَوِ اسْتَثْمَرَ العَالَمُ العَرَبِيُّ مُبَكِّرًا، ______ .</a:t>
            </a:r>
            <a:endParaRPr lang="ar-SA" sz="17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the Arab world had invested early,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إِذَا وَاصَلَتِ الإِصْلَاحَاتُ،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the reforms continue,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بِحُلُولِ القَرْنِ التَّاسِعِ، كَانَ العَرَبُ قَدْ ______ .</a:t>
            </a:r>
            <a:endParaRPr lang="ar-SA" sz="16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By the ninth century, the Arabs had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كَانَتْ دَارُ الحِكْمَةِ قَدِ اسْتَقْطَبَتْ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House of Wisdom had attracted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ثُمَّ انْحَطَّ التَّعْلِيمُ خِلَالَ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Then education declined during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اليَوْمَ، يَشْهَدُ التَّعْلِيمُ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Today, education is undergoing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lnSpc>
                <a:spcPct val="120000"/>
              </a:lnSpc>
              <a:buNone/>
            </a:pPr>
            <a:r>
              <a:rPr lang="ar-SA" altLang="en-US" sz="1000" b="1" dirty="0">
                <a:solidFill>
                  <a:srgbClr val="1B3B6F"/>
                </a:solidFill>
                <a:latin typeface="Amiri" pitchFamily="2" charset="-78"/>
                <a:ea typeface="Amiri" pitchFamily="2" charset="-78"/>
                <a:cs typeface="Amiri" pitchFamily="2" charset="-78"/>
              </a:rPr>
              <a:t>أَسَّسُوا أَرْقَى الأَنْظِمَةِ  ·  عُلَمَاءَ مِنْ كُلِّ الثَّقَافَاتِ  ·  تَرْجَمُوا الإِرْثَ اليُونَانِيَّ  ·  فَتَرَاتِ الغَزْوِ  ·  إِصْلَاحَاتٍ جَذْرِيَّةً  ·  مُعَدَّلَاتُ الأُمِّيَّةِ  ·  تَعْلِيمُ المَرْأَةِ  ·  تَحْدِيثُ المَنَاهِجِ  ·  لَكَانَ وَضْعُهُ مُخْتَلِفًا  ·  لَاسْتَعَادَتِ المِنْطَقَةُ رِيَادَتَهَا  ·  سَيَتَحَسَّنُ الوَضْعُ  ·  سَتَتَقَلَّصُ الفَجْوَةُ</a:t>
            </a:r>
            <a:endParaRPr lang="ar-SA" sz="10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47</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P2-L07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P2-L07</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one hundred to one hundred and ten words analysing Arab education across time. Use the past perfect for the Golden Age, the simple past and present for later periods and today, one reported-speech clause, and both conditional types.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past-perfect sentences for the Golden Age.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move to simple past and present as the timeline advances.</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reported-speech clause citing historians.</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Type 2 counterfactual and a Type 1 real proposal.</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أَرْقَى الأَنْظِمَةِ التَّعْلِيمِيَّةِ</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finest education systems</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عُلَمَاءَ مِنْ مُخْتَلِفِ الحَضَارَاتِ</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scholars from different civilisations</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تَرْجَمُوا الإِرْثَ اليُونَانِيَّ وَأَضَافُوا إِلَيْهِ</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they translated the Greek heritage and added to it</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بِنِسْبَةٍ مُوَازِيَةٍ لِلدُّوَلِ المُتَقَدِّمَةِ</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at a rate equal to developed countries</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مُخْتَلِفًا جَذْرِيًّا</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radically different</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47</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P2-L07 · Culture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P2-L07</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كَانَ العَالَمُ العَرَبِيُّ قَدْ أَسَّسَ أَرْقَى الأَنْظِمَةِ التَّعْلِيمِيَّةِ خِلَالَ العَصْرِ الذَّهَبِيِّ، وَكَانَتْ دَارُ الحِكْمَةِ قَدِ اسْتَقْطَبَتْ عُلَمَاءَ مِنْ مُخْتَلِفِ الحَضَارَاتِ. وَأَشَارَ المُؤَرِّخُونَ إِلَى أَنَّ العُلَمَاءَ المُسْلِمِينَ كَانُوا قَدْ تَرْجَمُوا الإِرْثَ اليُونَانِيَّ وَأَضَافُوا إِلَيْهِ. ثُمَّ انْحَطَّ التَّعْلِيمُ خِلَالَ فَتَرَاتِ الغَزْوِ، وَتَطَوَّرَ بَعْدَ الاسْتِقْلَالِ. اليَوْمَ، يَشْهَدُ التَّعْلِيمُ العَرَبِيُّ إِصْلَاحَاتٍ، لٰكِنَّ بَعْضَ الدُّوَلِ تُعَانِي مِنْ مُعَدَّلَاتِ أُمِّيَّةٍ مُرْتَفِعَةٍ. لَوِ اسْتَثْمَرَ العَالَمُ العَرَبِيُّ فِي التَّعْلِيمِ بِنِسْبَةٍ مُوَازِيَةٍ لِلدُّوَلِ المُتَقَدِّمَةِ، لَكَانَ وَضْعُهُ العِلْمِيُّ مُخْتَلِفًا جَذْرِيًّا. وَإِذَا وَاصَلَتِ الإِصْلَاحَاتُ، سَيَتَحَسَّنُ الوَضْعُ.</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The Arab world had founded the finest education systems during the Golden Age, and the House of Wisdom had attracted scholars from different civilisations. Historians pointed out that Muslim scholars had translated the Greek heritage and added to it. Then education declined during the periods of invasion, and developed after independence. Today, Arab education is undergoing reforms, but some countries suffer from high illiteracy rates. If the Arab world had invested in education at a rate equal to developed countries, its scientific situation would have been radically different. And if the reforms continue, the situation will improve.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three past perfects (kāna qad · kānat qad · kānū qad)</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citation (ashāra … ilā anna)</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simple past → present (inḥaṭṭa · yashhadu)</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law … la-kāna and idhā … sa-</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47</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P2-L07 · Culture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P2-L07</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Golden Age = kāna qad; later = simple past; today = present.</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yamurr has bi-; yashhad has a direct object.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kāna qad agrees: kānat (she / it f.), kānū (they, subject first).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cited historians with ashāra … ilā anna.</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law … la-kāna for the past; idhā … sa- for the future.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47</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P2-L07 · Culture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P2-L07</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fits a Golden-Age achievement?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كَانَ العَرَبُ قَدْ أَسَّسُوا نِظَامًا مُتَقَدِّمًا.</a:t>
            </a:r>
            <a:endParaRPr lang="ar-SA" sz="180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يُؤَسِّسُ العَرَبُ نِظَامًا.</a:t>
            </a:r>
            <a:endParaRPr lang="ar-SA" sz="180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سَيُؤَسِّسُ العَرَبُ نِظَامًا.</a:t>
            </a:r>
            <a:endParaRPr lang="ar-SA" sz="180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تَمُرُّ المِنْطَقَةُ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أَزْمَةٍ تَعْلِيمِيَّةٍ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counterfactual (Type 2)?</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200" dirty="0">
                <a:solidFill>
                  <a:srgbClr val="1F2A37"/>
                </a:solidFill>
                <a:latin typeface="Amiri" pitchFamily="2" charset="-78"/>
                <a:ea typeface="Amiri" pitchFamily="2" charset="-78"/>
                <a:cs typeface="Amiri" pitchFamily="2" charset="-78"/>
              </a:rPr>
              <a:t>لَوِ اسْتَثْمَرَ العَالَمُ العَرَبِيُّ مُبَكِّرًا، لَكَانَ وَضْعُهُ مُخْتَلِفًا.</a:t>
            </a:r>
            <a:endParaRPr lang="ar-SA" sz="120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200" dirty="0">
                <a:solidFill>
                  <a:srgbClr val="1F2A37"/>
                </a:solidFill>
                <a:latin typeface="Amiri" pitchFamily="2" charset="-78"/>
                <a:ea typeface="Amiri" pitchFamily="2" charset="-78"/>
                <a:cs typeface="Amiri" pitchFamily="2" charset="-78"/>
              </a:rPr>
              <a:t>إِذَا اسْتَثْمَرَ العَالَمُ العَرَبِيُّ، سَيَتَحَسَّنُ الوَضْعُ.</a:t>
            </a:r>
            <a:endParaRPr lang="ar-SA" sz="120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200" dirty="0">
                <a:solidFill>
                  <a:srgbClr val="1F2A37"/>
                </a:solidFill>
                <a:latin typeface="Amiri" pitchFamily="2" charset="-78"/>
                <a:ea typeface="Amiri" pitchFamily="2" charset="-78"/>
                <a:cs typeface="Amiri" pitchFamily="2" charset="-78"/>
              </a:rPr>
              <a:t>يَسْتَثْمِرُ العَالَمُ العَرَبِيُّ.</a:t>
            </a:r>
            <a:endParaRPr lang="ar-SA" sz="120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47</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P2-L07 · Culture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P2-L07</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fits a Golden-Age achievement?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1800" b="1" dirty="0">
                <a:solidFill>
                  <a:srgbClr val="1F2A37"/>
                </a:solidFill>
                <a:latin typeface="Amiri" pitchFamily="2" charset="-78"/>
                <a:ea typeface="Amiri" pitchFamily="2" charset="-78"/>
                <a:cs typeface="Amiri" pitchFamily="2" charset="-78"/>
              </a:rPr>
              <a:t>كَانَ العَرَبُ قَدْ أَسَّسُوا نِظَامًا مُتَقَدِّمًا.</a:t>
            </a:r>
            <a:endParaRPr lang="ar-SA" sz="180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1800" dirty="0">
                <a:solidFill>
                  <a:srgbClr val="9AA1AB"/>
                </a:solidFill>
                <a:latin typeface="Amiri" pitchFamily="2" charset="-78"/>
                <a:ea typeface="Amiri" pitchFamily="2" charset="-78"/>
                <a:cs typeface="Amiri" pitchFamily="2" charset="-78"/>
              </a:rPr>
              <a:t>يُؤَسِّسُ العَرَبُ نِظَامًا.</a:t>
            </a:r>
            <a:endParaRPr lang="ar-SA" sz="180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1800" dirty="0">
                <a:solidFill>
                  <a:srgbClr val="9AA1AB"/>
                </a:solidFill>
                <a:latin typeface="Amiri" pitchFamily="2" charset="-78"/>
                <a:ea typeface="Amiri" pitchFamily="2" charset="-78"/>
                <a:cs typeface="Amiri" pitchFamily="2" charset="-78"/>
              </a:rPr>
              <a:t>سَيُؤَسِّسُ العَرَبُ نِظَامًا.</a:t>
            </a:r>
            <a:endParaRPr lang="ar-SA" sz="180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earliest achievement takes the past perfect.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تَمُرُّ المِنْطَقَةُ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أَزْمَةٍ تَعْلِيمِيَّةٍ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عَلَى</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بِـ</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إِلَى</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يَمُرُّ</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counterfactual (Type 2)?</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200" b="1" dirty="0">
                <a:solidFill>
                  <a:srgbClr val="1F2A37"/>
                </a:solidFill>
                <a:latin typeface="Amiri" pitchFamily="2" charset="-78"/>
                <a:ea typeface="Amiri" pitchFamily="2" charset="-78"/>
                <a:cs typeface="Amiri" pitchFamily="2" charset="-78"/>
              </a:rPr>
              <a:t>لَوِ اسْتَثْمَرَ العَالَمُ العَرَبِيُّ مُبَكِّرًا، لَكَانَ وَضْعُهُ مُخْتَلِفًا.</a:t>
            </a:r>
            <a:endParaRPr lang="ar-SA" sz="120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200" dirty="0">
                <a:solidFill>
                  <a:srgbClr val="9AA1AB"/>
                </a:solidFill>
                <a:latin typeface="Amiri" pitchFamily="2" charset="-78"/>
                <a:ea typeface="Amiri" pitchFamily="2" charset="-78"/>
                <a:cs typeface="Amiri" pitchFamily="2" charset="-78"/>
              </a:rPr>
              <a:t>إِذَا اسْتَثْمَرَ العَالَمُ العَرَبِيُّ، سَيَتَحَسَّنُ الوَضْعُ.</a:t>
            </a:r>
            <a:endParaRPr lang="ar-SA" sz="120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200" dirty="0">
                <a:solidFill>
                  <a:srgbClr val="9AA1AB"/>
                </a:solidFill>
                <a:latin typeface="Amiri" pitchFamily="2" charset="-78"/>
                <a:ea typeface="Amiri" pitchFamily="2" charset="-78"/>
                <a:cs typeface="Amiri" pitchFamily="2" charset="-78"/>
              </a:rPr>
              <a:t>يَسْتَثْمِرُ العَالَمُ العَرَبِيُّ.</a:t>
            </a:r>
            <a:endParaRPr lang="ar-SA" sz="120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لَوْ … لَـ</a:t>
            </a:r>
            <a:pPr algn="l" indent="0" marL="0">
              <a:buNone/>
            </a:pPr>
            <a:r>
              <a:rPr lang="en-US" sz="1050" i="1" dirty="0">
                <a:solidFill>
                  <a:srgbClr val="8A6D1E"/>
                </a:solidFill>
                <a:latin typeface="Calibri" pitchFamily="34" charset="0"/>
                <a:cs typeface="Amiri" pitchFamily="2" charset="-78"/>
              </a:rPr>
              <a:t> imagines an unreal past.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47</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P2-L07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heritage and today</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P2-L07</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يَحْمِلُ العَالَمُ العَرَبِيُّ مَوْرُوثًا تَعْلِيمِيًّا عَرِيقًا. فَقَدْ كَانَ قَدْ أَسَّسَ أَرْقَى الأَنْظِمَةِ فِي العَالَمِ خِلَالَ العَصْرِ الذَّهَبِيِّ، وَكَانَتِ المُدُنُ مِثْلُ بَغْدَادَ وَقُرْطُبَةَ قَدِ اسْتَقْطَبَتْ عُلَمَاءَ وَمُتَرْجِمِينَ. ثُمَّ مَرَّ التَّعْلِيمُ بِفَتَرَاتِ ضَعْفٍ بَعْدَ الغَزْوِ وَالاسْتِعْمَارِ. اليَوْمَ، يُشَارُ إِلَى أَنَّ المِنْطَقَةَ تُعَانِي مِنْ فَجَوَاتٍ تَعْلِيمِيَّةٍ، وَمِنْ أَعْلَى مُعَدَّلَاتِ أُمِّيَّةِ الشَّبَابِ فِي بَعْضِ الدُّوَلِ. لٰكِنَّ الإِصْلَاحَاتِ مُسْتَمِرَّةٌ، وَخَاصَّةً فِي تَعْلِيمِ المَرْأَةِ وَتَحْدِيثِ المَنَاهِجِ. وَلَوْ عَادَ الاسْتِثْمَارُ فِي العِلْمِ كَمَا كَانَ، لَاسْتَعَادَتِ المِنْطَقَةُ رِيَادَتَهَا. وَإِذَا وَاصَلَتِ الدُّوَلُ إِصْلَاحَاتِهَا، سَتَتَقَلَّصُ الفَجْوَةُ.</a:t>
            </a:r>
            <a:endParaRPr lang="ar-SA" sz="23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يَحْمِلُ</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carries</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عَرِيقًا</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long-established, deep-rooted</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أَرْقَى</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finest</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قُرْطُبَةَ</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Córdoba</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مُتَرْجِمِينَ</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translators</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فَتَرَاتِ ضَعْفٍ</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periods of weakness</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الغَزْوِ</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invasion</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يُشَارُ إِلَى أَنَّ</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it is pointed out that</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رِيَادَتَهَا</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its leading role</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سَتَتَقَلَّصُ</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will shrink</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47</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P2-L07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P2-L07</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had the Arab world done in the Golden Age?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Ignored learning</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Founded the world's finest systems</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Closed its cities</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happened after invasion and colonialism?</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Education only flourished</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Education stayed the same</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Education went through periods of weakness</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today's reality, per the text?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Education gaps and high youth illiteracy in some countries</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problems at all</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highest global scores</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are reforms especially active?</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Sports only</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Women's education and curriculum modernisation</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Nowhere</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counterfactual about investment?</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Had investment in science returned, the region would have regained its leadership</a:t>
            </a:r>
            <a:endParaRPr lang="en-US" sz="120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Investment is useless</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Leadership is impossible</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47</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P2-L07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P2-L07</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had the Arab world done in the Golden Age?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Ignored learning</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Founded the world's finest systems</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Closed its cities</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كَانَ قَدْ أَسَّسَ أَرْقَى الأَنْظِمَةِ … خِلَالَ العَصْرِ الذَّهَبِيِّ.</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happened after invasion and colonialism?</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Education only flourished</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Education stayed the same</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Education went through periods of weakness</a:t>
            </a:r>
            <a:endParaRPr lang="en-US" sz="11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مَرَّ التَّعْلِيمُ بِفَتَرَاتِ ضَعْفٍ بَعْدَ الغَزْوِ وَالاسْتِعْمَارِ.</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today's reality, per the text?</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Education gaps and high youth illiteracy in some countries</a:t>
            </a:r>
            <a:endParaRPr lang="en-US" sz="11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problems at all</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highest global scores</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250" dirty="0">
                <a:solidFill>
                  <a:srgbClr val="8A6D1E"/>
                </a:solidFill>
                <a:latin typeface="Amiri" pitchFamily="2" charset="-78"/>
                <a:ea typeface="Amiri" pitchFamily="2" charset="-78"/>
                <a:cs typeface="Amiri" pitchFamily="2" charset="-78"/>
              </a:rPr>
              <a:t>تُعَانِي مِنْ فَجَوَاتٍ تَعْلِيمِيَّةٍ، وَمِنْ أَعْلَى مُعَدَّلَاتِ أُمِّيَّةِ الشَّبَابِ.</a:t>
            </a:r>
            <a:endParaRPr lang="ar-SA" sz="12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are reforms especially active?</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Sports only</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Women's education and curriculum modernisation</a:t>
            </a:r>
            <a:endParaRPr lang="en-US" sz="11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Nowhere</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وَخَاصَّةً فِي تَعْلِيمِ المَرْأَةِ وَتَحْدِيثِ المَنَاهِجِ.</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counterfactual about investment?</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Had investment in science returned, the region would have regained its leadership</a:t>
            </a:r>
            <a:endParaRPr lang="en-US" sz="11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Investment is useless</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Leadership is impossible</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250" dirty="0">
                <a:solidFill>
                  <a:srgbClr val="8A6D1E"/>
                </a:solidFill>
                <a:latin typeface="Amiri" pitchFamily="2" charset="-78"/>
                <a:ea typeface="Amiri" pitchFamily="2" charset="-78"/>
                <a:cs typeface="Amiri" pitchFamily="2" charset="-78"/>
              </a:rPr>
              <a:t>لَوْ عَادَ الاسْتِثْمَارُ فِي العِلْمِ … لَاسْتَعَادَتِ المِنْطَقَةُ رِيَادَتَهَا.</a:t>
            </a:r>
            <a:endParaRPr lang="ar-SA" sz="12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47</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P2-L07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History Mission — Tense, Timeline and Analysis</a:t>
            </a:r>
            <a:endParaRPr lang="en-US" sz="20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P2-L07</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Tense: a Golden-Age achievement uses …</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present</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كَانَ قَدْ</a:t>
            </a:r>
            <a:pPr algn="l" indent="0" marL="0">
              <a:buNone/>
            </a:pPr>
            <a:r>
              <a:rPr lang="en-US" sz="1250" dirty="0">
                <a:solidFill>
                  <a:srgbClr val="1F2A37"/>
                </a:solidFill>
                <a:latin typeface="Calibri" pitchFamily="34" charset="0"/>
                <a:cs typeface="Amiri" pitchFamily="2" charset="-78"/>
              </a:rPr>
              <a:t> + past</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future</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Tense: a later historical event uses …</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simple past</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past perfect</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present</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Tense: today's challenge uses …</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past perfect</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future</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present</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Agreement: complete — </a:t>
            </a:r>
            <a:pPr algn="l" indent="0" marL="0">
              <a:buNone/>
            </a:pPr>
            <a:r>
              <a:rPr lang="ar-SA" altLang="en-US" sz="1650" b="1" dirty="0">
                <a:solidFill>
                  <a:srgbClr val="1B3B6F"/>
                </a:solidFill>
                <a:latin typeface="Amiri" pitchFamily="2" charset="-78"/>
                <a:ea typeface="Amiri" pitchFamily="2" charset="-78"/>
                <a:cs typeface="Amiri" pitchFamily="2" charset="-78"/>
              </a:rPr>
              <a:t>كَانَتْ دَارُ الحِكْمَةِ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اسْتَقْطَبَتْ عُلَمَاءَ</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سَـ</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لَـ</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قَدِ</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يَمُرُّ التَّعْلِيمُ</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أَزْمَةٍ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Report: which cites historians correctly?</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أَشَارَ المُؤَرِّخُونَ أَنَّ … </a:t>
            </a:r>
            <a:endParaRPr lang="ar-SA" sz="20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أَشَارَ المُؤَرِّخُونَ إِلَى أَنَّ … </a:t>
            </a:r>
            <a:endParaRPr lang="ar-SA" sz="20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أَشَارَ المُؤَرِّخُونَ إِلَى إِنَّ … </a:t>
            </a:r>
            <a:endParaRPr lang="ar-SA" sz="20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47</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P2-L07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P2-L07</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Tense: a Golden-Age achievement uses …</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present</a:t>
            </a:r>
            <a:endParaRPr lang="en-US" sz="125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ar-SA" altLang="en-US" sz="1650" b="1" dirty="0">
                <a:solidFill>
                  <a:srgbClr val="1F2A37"/>
                </a:solidFill>
                <a:latin typeface="Amiri" pitchFamily="2" charset="-78"/>
                <a:ea typeface="Amiri" pitchFamily="2" charset="-78"/>
                <a:cs typeface="Amiri" pitchFamily="2" charset="-78"/>
              </a:rPr>
              <a:t>كَانَ قَدْ</a:t>
            </a:r>
            <a:pPr algn="l" indent="0" marL="0">
              <a:buNone/>
            </a:pPr>
            <a:r>
              <a:rPr lang="en-US" sz="1250" b="1" dirty="0">
                <a:solidFill>
                  <a:srgbClr val="1F2A37"/>
                </a:solidFill>
                <a:latin typeface="Calibri" pitchFamily="34" charset="0"/>
                <a:cs typeface="Amiri" pitchFamily="2" charset="-78"/>
              </a:rPr>
              <a:t> + past</a:t>
            </a:r>
            <a:endParaRPr lang="en-US" sz="125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future</a:t>
            </a:r>
            <a:endParaRPr lang="en-US" sz="125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earliest layer takes the past perfect.</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Tense: a later historical event uses …</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simple past</a:t>
            </a:r>
            <a:endParaRPr lang="en-US" sz="125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past perfect</a:t>
            </a:r>
            <a:endParaRPr lang="en-US" sz="125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present</a:t>
            </a:r>
            <a:endParaRPr lang="en-US" sz="125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Later events take the simple past.</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Tense: today's challenge uses …</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past perfect</a:t>
            </a:r>
            <a:endParaRPr lang="en-US" sz="125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future</a:t>
            </a:r>
            <a:endParaRPr lang="en-US" sz="125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present</a:t>
            </a:r>
            <a:endParaRPr lang="en-US" sz="125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Current reality takes the present.</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Agreement: complete — </a:t>
            </a:r>
            <a:pPr algn="l" indent="0" marL="0">
              <a:buNone/>
            </a:pPr>
            <a:r>
              <a:rPr lang="ar-SA" altLang="en-US" sz="1650" b="1" dirty="0">
                <a:solidFill>
                  <a:srgbClr val="1B3B6F"/>
                </a:solidFill>
                <a:latin typeface="Amiri" pitchFamily="2" charset="-78"/>
                <a:ea typeface="Amiri" pitchFamily="2" charset="-78"/>
                <a:cs typeface="Amiri" pitchFamily="2" charset="-78"/>
              </a:rPr>
              <a:t>كَانَتْ دَارُ الحِكْمَةِ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اسْتَقْطَبَتْ عُلَمَاءَ</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سَـ</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لَـ</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قَدِ</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كَانَتْ قَدِ</a:t>
            </a:r>
            <a:pPr algn="l" indent="0" marL="0">
              <a:buNone/>
            </a:pPr>
            <a:r>
              <a:rPr lang="en-US" sz="1050" i="1" dirty="0">
                <a:solidFill>
                  <a:srgbClr val="8A6D1E"/>
                </a:solidFill>
                <a:latin typeface="Calibri" pitchFamily="34" charset="0"/>
                <a:cs typeface="Amiri" pitchFamily="2" charset="-78"/>
              </a:rPr>
              <a:t> + past forms the past perfect.</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يَمُرُّ التَّعْلِيمُ</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أَزْمَةٍ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بِـ</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يَمُرُّ</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Report: which cites historians correctly?</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أَشَارَ المُؤَرِّخُونَ أَنَّ … </a:t>
            </a:r>
            <a:endParaRPr lang="ar-SA" sz="17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أَشَارَ المُؤَرِّخُونَ إِلَى أَنَّ … </a:t>
            </a:r>
            <a:endParaRPr lang="ar-SA" sz="17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أَشَارَ المُؤَرِّخُونَ إِلَى إِنَّ … </a:t>
            </a:r>
            <a:endParaRPr lang="ar-SA" sz="17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أَشَارَ إِلَى أَنَّ</a:t>
            </a:r>
            <a:pPr algn="l" indent="0" marL="0">
              <a:buNone/>
            </a:pPr>
            <a:r>
              <a:rPr lang="en-US" sz="1050" i="1" dirty="0">
                <a:solidFill>
                  <a:srgbClr val="8A6D1E"/>
                </a:solidFill>
                <a:latin typeface="Calibri" pitchFamily="34" charset="0"/>
                <a:cs typeface="Amiri" pitchFamily="2" charset="-78"/>
              </a:rPr>
              <a:t> is the correct structure.</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47</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P2-L07 · Culture</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P2-L08: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P2-L07</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P2-L08 · Reading — Education Texts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نَصٌّ تَحْلِيلِيٌّ</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 analytical text</a:t>
            </a:r>
            <a:pPr indent="0" marL="0">
              <a:buNone/>
            </a:pPr>
            <a:r>
              <a:rPr lang="ar-SA" sz="1000" i="1" dirty="0">
                <a:solidFill>
                  <a:srgbClr val="5A6472"/>
                </a:solidFill>
                <a:latin typeface="Calibri" pitchFamily="34" charset="0"/>
                <a:ea typeface="Amiri" pitchFamily="2" charset="-78"/>
                <a:cs typeface="Amiri" pitchFamily="2" charset="-78"/>
              </a:rPr>
              <a:t>  pl. نُصُوصٌ</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مَقَالُ رَأْيٍ</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 opinion article</a:t>
            </a:r>
            <a:pPr indent="0" marL="0">
              <a:buNone/>
            </a:pPr>
            <a:r>
              <a:rPr lang="ar-SA" sz="1000" i="1" dirty="0">
                <a:solidFill>
                  <a:srgbClr val="5A6472"/>
                </a:solidFill>
                <a:latin typeface="Calibri" pitchFamily="34" charset="0"/>
                <a:ea typeface="Amiri" pitchFamily="2" charset="-78"/>
                <a:cs typeface="Amiri" pitchFamily="2" charset="-78"/>
              </a:rPr>
              <a:t>  pl. مَقَالَاتُ رَأْيٍ</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حُجَّةٌ مُضَادَّةٌ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counter-argument</a:t>
            </a:r>
            <a:pPr indent="0" marL="0">
              <a:buNone/>
            </a:pPr>
            <a:r>
              <a:rPr lang="ar-SA" sz="1000" i="1" dirty="0">
                <a:solidFill>
                  <a:srgbClr val="5A6472"/>
                </a:solidFill>
                <a:latin typeface="Calibri" pitchFamily="34" charset="0"/>
                <a:ea typeface="Amiri" pitchFamily="2" charset="-78"/>
                <a:cs typeface="Amiri" pitchFamily="2" charset="-78"/>
              </a:rPr>
              <a:t>  pl. حُجَجٌ</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يَسْتَشْهِدُ بِـ</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 cites</a:t>
            </a:r>
            <a:pPr indent="0" marL="0">
              <a:buNone/>
            </a:pPr>
            <a:r>
              <a:rPr lang="ar-SA" sz="1000" i="1" dirty="0">
                <a:solidFill>
                  <a:srgbClr val="5A6472"/>
                </a:solidFill>
                <a:latin typeface="Calibri" pitchFamily="34" charset="0"/>
                <a:ea typeface="Amiri" pitchFamily="2" charset="-78"/>
                <a:cs typeface="Amiri" pitchFamily="2" charset="-78"/>
              </a:rPr>
              <a:t>  تَسْتَشْهِدُ she</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ادَّعَى</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 claimed (doubtful)</a:t>
            </a:r>
            <a:pPr indent="0" marL="0">
              <a:buNone/>
            </a:pPr>
            <a:r>
              <a:rPr lang="ar-SA" sz="1000" i="1" dirty="0">
                <a:solidFill>
                  <a:srgbClr val="5A6472"/>
                </a:solidFill>
                <a:latin typeface="Calibri" pitchFamily="34" charset="0"/>
                <a:ea typeface="Amiri" pitchFamily="2" charset="-78"/>
                <a:cs typeface="Amiri" pitchFamily="2" charset="-78"/>
              </a:rPr>
              <a:t>  ادَّعَتْ she</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How can a reporting verb show whether a writer believes a claim?</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عِنْدَمَا يَكْتُبُ الكَاتِبُ «ادَّعَى»، فَهٰذَا يَعْنِي أَنَّهُ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five history sentences — one per period — with the right tense.</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Add a citation: </a:t>
            </a:r>
            <a:pPr algn="l" indent="0" marL="0">
              <a:buNone/>
            </a:pPr>
            <a:r>
              <a:rPr lang="ar-SA" altLang="en-US" sz="1550" dirty="0">
                <a:solidFill>
                  <a:srgbClr val="1F2A37"/>
                </a:solidFill>
                <a:latin typeface="Amiri" pitchFamily="2" charset="-78"/>
                <a:ea typeface="Amiri" pitchFamily="2" charset="-78"/>
                <a:cs typeface="Amiri" pitchFamily="2" charset="-78"/>
              </a:rPr>
              <a:t>أَشَارَ المُؤَرِّخُونَ إِلَى أَنَّ</a:t>
            </a:r>
            <a:pPr algn="l" indent="0" marL="0">
              <a:buNone/>
            </a:pPr>
            <a:r>
              <a:rPr lang="en-US" sz="1200" dirty="0">
                <a:solidFill>
                  <a:srgbClr val="1F2A37"/>
                </a:solidFill>
                <a:latin typeface="Calibri" pitchFamily="34" charset="0"/>
                <a:cs typeface="Amiri" pitchFamily="2" charset="-78"/>
              </a:rPr>
              <a:t> …</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 100–110-word analysis of Arab education across time.</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47</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P2-L07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P2-L08 · Reading — Education Texts</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القِرَاءَةُ — نُصُوصُ التَّعْلِيمِ</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match the tense to the period — kāna qad for the Golden Age, the simple past for decline and reform, the present for today — yamurr BI-, and law … la-kāna for “what if”.</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P2-L07 · Education in the Arab World — History and Change</dc:title>
  <dc:subject>PptxGenJS Presentation</dc:subject>
  <dc:creator>Al Madina Online School · Arabic Department</dc:creator>
  <cp:lastModifiedBy>Al Madina Online School · Arabic Department</cp:lastModifiedBy>
  <cp:revision>1</cp:revision>
  <dcterms:created xsi:type="dcterms:W3CDTF">2026-10-11T06:43:03Z</dcterms:created>
  <dcterms:modified xsi:type="dcterms:W3CDTF">2026-10-11T06:43:03Z</dcterms:modified>
</cp:coreProperties>
</file>