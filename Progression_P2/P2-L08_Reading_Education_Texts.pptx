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P2 Education and Future Plans › P2-L08. The website lesson “Reading — Education Texts”: vocabulary, grammar rules and quiz, patterns, common mistakes, sorter, listening, reading, speaking prompts and model, writing task and model, differentiation, final check and the lesson mission. Picture match: website visual game “Reading — Education Texts”.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READING-SKILLS LESSON: the website text “two education texts” (a ministry report and an opinion article) is the main You Do task. The grammar slides are a reading toolkit built on P2 grammar students already know (reported speech, both conditionals).
• Core: classify six reporting verbs as certain, doubtful or neutral (website Core). Develop: say whether two conditionals are real or hypothetical. Stretch: write an R3-style question that needs analysis of a reporting verb or a conditional.
• Exam link: IGCSE Paper 1 R3 questions ask “what does the writer think / imply?” — the reporting verb and the conditional type are the evidence. Train students to QUOTE the word.
• Media-literacy link: the same verbs appear in news headlines («يَدَّعِي» vs «يُؤَكِّدُ»). Ask: who is speaking — the journalist or the person quoted?
• Grammar links: reported speech (P2-L02) · Type 2 conditional (P2-L06) · fact vs opinion (P1-L08).
• TEACHER-WRITTEN ITEMS: waṣl alif shown without a kasra inside phrases; the listening imperative spelt وَمَيِّزْ; rule headings and formulas in English and transliteration; rule examples shown without their English glosses; the two-text comparison table is teacher-built from the website reading; the website visual game repeats the P2-L01 / P2-L03 cards and is not used. All other website items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P2-L07. Question 4 retrieves yamurr bi- (P2-L07) and question 5 the Type 2 conditional (P2-L06) — today students read law as a signal of the writer’s argument.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Read HOW it is said, not only what is said: the reporting verb shows how sure the writer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دعویٰ (a claim — the noun behind ادَّعَى), اعتراف (admission — اعْتَرَفَ بِـ), وضاحت (clarification — أَوْضَحَ) and موقف are shared. Urdu دعویٰ often sounds neutral, but in Arabic reporting ادَّعَى signals the writer’s DOUBT.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Text types and structure (website vocabulary (1 of 2)). Hear → Say → See → Use. Transliteration is printed for Core students (cover it for Develop/Stretch).
Text types: an examiner’s first question is “what kind of text is this?” — an official report (تَقْرِيرٌ مُؤَسَّسِيٌّ) speaks for an institution; an opinion article (مَقَالُ رَأْيٍ) speaks for its writer.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Text types and structure (website vocabulary (2 of 2)). Hear → Say → See → Use. Transliteration is printed for Core students (cover it for Develop/Stretch).
Text types: an examiner’s first question is “what kind of text is this?” — an official report (تَقْرِيرٌ مُؤَسَّسِيٌّ) speaks for an institution; an opinion article (مَقَالُ رَأْيٍ) speaks for its writer.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Reading verbs and skills (website vocabulary (1 of 2)). Hear → Say → See → Use. Transliteration is printed for Core students (cover it for Develop/Stretch).
Reading verbs — the verbs of an exam answer, each with its partner: يَتَوَصَّلُ إِلَى · يَسْتَشْهِدُ بِـ · يُشِيرُ إِلَى · يُوصِي بِـ · يُمَيِّزُ بَيْنَ … وَ … · يَسْتَنْتِجُ + object.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Reading verbs and skills (website vocabulary (2 of 2)). Hear → Say → See → Use. Transliteration is printed for Core students (cover it for Develop/Stretch).
FLEX: teach if time allows; otherwise these are on the website vocabulary tab for homework.
Reading verbs — the verbs of an exam answer, each with its partner: يَتَوَصَّلُ إِلَى · يَسْتَشْهِدُ بِـ · يُشِيرُ إِلَى · يُوصِي بِـ · يُمَيِّزُ بَيْنَ … وَ … · يَسْتَنْتِجُ + object.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Certainty in reporting verbs (website vocabulary (1 of 2)). Hear → Say → See → Use. Transliteration is printed for Core students (cover it for Develop/Stretch).
FLEX: teach if time allows; otherwise these are on the website vocabulary tab for homework.
Certainty in reporting verbs: أَكَّدَ (certain) · أَوْضَحَ (neutral) · اعْتَرَفَ بِـ (concedes) · ادَّعَى / زَعَمَ (doubtful) · نَفَى (denied). Past forms: he · she · they.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Certainty in reporting verbs (website vocabulary (2 of 2)). Hear → Say → See → Use. Transliteration is printed for Core students (cover it for Develop/Stretch).
FLEX: teach if time allows; otherwise these are on the website vocabulary tab for homework.
Certainty in reporting verbs: أَكَّدَ (certain) · أَوْضَحَ (neutral) · اعْتَرَفَ بِـ (concedes) · ادَّعَى / زَعَمَ (doubtful) · نَفَى (denied). Past forms: he · she · they.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 “Certainty from the reporting verb”, the website table and teaching point “The reporting verb signals certainty and stance” (a core R3 skill).
Website mistake 1: «اِدَّعَى» تَعْنِي أَنَّ الكَاتِبَ وَاثِقٌ ✗ → تُشِيرُ إِلَى شَكِّ الكَاتِبِ.
Forms: ادَّعَى is Form VIII of دعو (they → ادَّعَوْا, like نَفَوْا) · present يَدَّعِي (website reading). All take أَنَّ, except اعْتَرَفَ بِـ → بِأَنَّ.
Quick drill: read a headline with each verb and ask “Does the journalist believe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 “Own view vs cited view” (reported speech often cites someone else, not the writer) and the listening: وَالكَلَامُ المَنْقُولُ لَا يَعْنِي دَائِمًا رَأْيَ الكَاتِبِ نَفْسِهِ، بَلْ قَدْ يَنْقُلُ رَأْيَ غَيْرِهِ.
Card 3 is from the website reading (text 2). Ask: “Who says all is well? The officials. What does the WRITER think? lākinna … — he disagrees.”
Website quiz 3: «أَشَارَ التَّقْرِيرُ إِلَى أَنَّ…» presents the report’s view, cited by the writer.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website rule “Conditional type as argument signal” and teaching point “إِذَا argues about the real; لَوْ argues about the unreal”. Rows 1–2 are from the website reading (text 1 = official proposal; text 2 = sceptical counterfactual); rows 3–4 from the website rule.
Exam answer frame: يَسْتَعْمِلُ الكَاتِبُ «لَوْ» لِيُجَادِلَ بِمَا كَانَ يُمْكِنُ أَنْ يَحْدُثَ (website reading).
Website quiz 4–5 test exactly this contrast.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4 — website rule “Mention vs recommend” (يَذْكُرُ ≠ يُوصِي بِـ) and the reading verbs with their partners (website vocabulary notes).
Website mistake 2: ذِكْرُ الفَجْوَةِ … يَعْنِي أَنَّهُ أَوْصَى بِسَدِّهَا ✗. Website mistake 3: يَتَوَصَّلُ … بِنَتِيجَةٍ ✗ → إِلَى نَتِيجَةٍ.
Listening: فَقَدْ يَذْكُرُ التَّقْرِيرُ فَجْوَةً دُونَ أَنْ يُوصِيَ بِحَلٍّ.
Stretch: use these verbs in exam answers — يَتَوَصَّلُ الكَاتِبُ إِلَى أَنَّ … · يَسْتَشْهِدُ بِـ … لِيُثْبِتَ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“A reading toolkit: use the reporting verb to judge source and certainty, and the conditional type to identify the writer's argument.”
• Certainty from the reporting verb: The verb reveals how the writer weighs the claim.
• Own view vs cited view: Reported speech often cites someone else, not the writer.
• Conditional type as an argument signal: إِذَا proposes; لَوْ argues a counterfactual.
• Mention vs recommend: Mentioning a point is not recommending it.
Website common error: Treating all reported speech as the writer's own view, or reading a mention as a recommendation. Check the reporting verb and whether the point is proposed or merely named.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4,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“First the reporting verbs: akkadat — certain, official. yaddaʿī — the writer doubts it. Then the conditionals: idhā … sa- is a real proposal; law … la- argues about what did not happen. Last: does the text recommend, or only mention?”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built from the website reading “two education texts”. Read both quoted texts aloud first, then fill the table together, covering columns 2–3.
Core: rows 1–2. Develop: rows 3–4 with the quoted conditional. Stretch: row 5 and a sentence: يَذْكُرُ النَّصُّ الأَوَّلُ … وَيَقْتَرِحُ … ، بَيْنَمَا يَكْتَفِي الثَّانِي بِالنَّقْدِ.
Vocabulary: وِزَارِيٌّ = ministerial · يَنْتَقِدُ = criticises · يَكْتَفِي بِـ = contents itself with.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(flex) — the website live builder: “Build a text analysis from a reporting-verb reading, a conditional-type reading and a stance judgement.” Website feedback: any three different combinations work.
Use it as oral rehearsal for the website writing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put each verb into a headline about education and ask: does the journalist believe it? أَكَّدَ الوَزِيرُ أَنَّ … · زَعَمَ نَاقِدٌ أَنَّ … · اعْتَرَفَتِ الوِزَارَةُ بِأَنَّ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put each verb into a headline about education and ask: does the journalist believe it? أَكَّدَ الوَزِيرُ أَنَّ … · زَعَمَ نَاقِدٌ أَنَّ … · اعْتَرَفَتِ الوِزَارَةُ بِأَنَّ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3,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3. Develop / Stretch: all 5 — and write down the four reading habits the speaker gives.
Listen 1: just listen. Listen 2: note answers. Then chat the letters.
Support: after the second listening, show the read-along slide (Arabic + English, line by line) for Core students.
SCRIPT (read aloud):
عِنْدَمَا تَقْرَأُ نَصًّا تَعْلِيمِيًّا، لَا تَنْظُرْ إِلَى مَا يُقَالُ فَقَطْ، بَلْ إِلَى كَيْفِيَّةِ قَوْلِهِ. فَحِينَ يَكْتُبُ الكَاتِبُ «أَكَّدَ الوَزِيرُ»، فَهُوَ يَنْقُلُ مَصْدَرًا رَسْمِيًّا وَاثِقًا. أَمَّا حِينَ يَكْتُبُ «اِدَّعَى بَعْضُ المُنْتَقِدِينَ»، فَهُوَ يُشِيرُ إِلَى شَكِّهِ فِي الكَلَامِ. وَالكَلَامُ المَنْقُولُ لَا يَعْنِي دَائِمًا رَأْيَ الكَاتِبِ نَفْسِهِ، بَلْ قَدْ يَنْقُلُ رَأْيَ غَيْرِهِ. وَانْتَبِهْ لِنَوْعِ الشَّرْطِ: إِذَا تُقَدِّمُ اقْتِرَاحًا وَاقِعِيًّا، وَلَوْ تُقَدِّمُ حُجَّةً افْتِرَاضِيَّةً. وَمَيِّزْ بَيْنَ ذِكْرِ فِكْرَةٍ وَالتَّوْصِيَةِ بِهَا؛ فَقَدْ يَذْكُرُ التَّقْرِيرُ فَجْوَةً دُونَ أَنْ يُوصِيَ بِحَلٍّ.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 READING (main task): the website text “two education texts”. Before reading: underline every reporting verb (أَكَّدَتْ · أَشَارَتْ · يَدَّعِي) and box every conditional (إِذَا · لَوْ).
Core: questions 1, 2 and 3 (R1–R2). Develop: all 5 + quote the verb or conditional that proves each answer. Stretch: then write one R3-style question about the texts (website Stretch) and swap with a partner.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وَهَلِ الشَّرْطُ وَاقِعِيٌّ أَمِ افْتِرَاضِيٌّ؟ (Conditional type)
B: اِفْتِرَاضِيٌّ؛ فَـ«لَوْ … لَـ» تُجَادِلُ بِمَا كَانَ يُمْكِنُ أَنْ يَحْدُثَ، لَا بِاقْتِرَاحٍ وَاقِعِيٍّ. (Identifies لَوْ as counterfactual)
Website prompts and model. Pairs take one sentence from the reading each and analyse it aloud with the three questions. Stretch stem: يُوصِي بِحَلٍّ / بِسَدِّ الفَجْوَةِ. To a girl: تَسْتَعْمِلِينَ.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Classify six reporting verbs as certain, doubtful or neutral. · Develop — For two sentences, say whether the conditional is real or hypothetical. · Stretch — Write an R3-style question requiring analysis of a conditional or reporting verb.
Website writing task (Stretch): Write eighty to ninety words analysing a short education text of your choice. Name one reporting verb and the certainty it signals, say whether the text's conditional is real or hypothetical, and distinguish one point that is mentioned from one that is recommended.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«أَكَّدَتِ الوِزَارَةُ» … مَصْدَرًا رَسْمِيًّا وَاثِقًا · «يَدَّعِي المُنْتَقِدُونَ» فَتُظْهِرُ شَكَّهُ · «إِذَا اسْتَمَرَّ … سَتَتَقَلَّصُ» اقْتِرَاحٌ حَقِيقِيٌّ · «لَوْ» تُقَدِّمُ حُجَّةً افْتِرَاضِيَّةً · أُمَيِّزُ بَيْنَ ذِكْرِ الفَجْوَةِ وَالتَّوْصِيَةِ بِسَدِّهَا.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(P2-L09 · Writing — Education and Future Plans (Paper 4 Extended Writing)) will spend class time USING this language, so students prepare it tonight — short, simple, easy to access (school guidance: “Simple, Short, Interesting, Relevant, Easy to access”). The five words come from the website P2-L09 vocabulary (formal connectors for extended writing).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9  ·  PROGRESSION P2  ·  P2-L08</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P2-L08</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Reading — Education Texts</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القِرَاءَةُ — نُصُوصُ التَّعْلِيمِ</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Read education texts like an examiner: let the reporting verb show certainty (akkada = sure · iddaʿā = doubtful), separate the writer’s view from a cited one, read idhā as a proposal and law as a counterfactual, and never mistake a mention for a recommendation.</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P2-L08 · Progression P2 · Education and Future Plans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Progression › P2 › P2-L08</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P2-L08 · Reading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P2-L08</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P2-L08</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Reporting verbs as certainty signals, cited vs own view, idhā vs law, mention vs recommend.</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a report and an opinion piece, build an analysis, sort the verbs.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P2-L09.</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نَصٌّ تَحْلِيلِيٌّ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interview</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analytical text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reference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مَقَالُ رَأْيٍ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opinion article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official report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point of view</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حُجَّةٌ مُضَادَّةٌ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evidence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conclusion</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counter-argument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تَمُرُّ المِنْطَقَةُ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أَزْمَةٍ تَعْلِيمِيَّةٍ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is hypothetical?</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لَوْ زَادَ الإِنْفَاقُ، لَتَحَسَّنَتِ النَّتَائِجُ.</a:t>
            </a:r>
            <a:endParaRPr lang="ar-SA" sz="180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إِذَا زَادَ الإِنْفَاقُ، سَتَتَحَسَّنُ النَّتَائِجُ.</a:t>
            </a:r>
            <a:endParaRPr lang="ar-SA" sz="180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زَادَ الإِنْفَاقُ فَتَحَسَّنَتِ النَّتَائِجُ.</a:t>
            </a:r>
            <a:endParaRPr lang="ar-SA" sz="180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نَصٌّ تَحْلِيلِيٌّ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interview</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an analytical text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reference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(P2-L07).</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مَقَالُ رَأْيٍ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an opinion article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official report</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point of view</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(P2-L07).</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حُجَّةٌ مُضَادَّةٌ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evidence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conclusion</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counter-argument</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(P2-L07).</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تَمُرُّ المِنْطَقَةُ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أَزْمَةٍ تَعْلِيمِيَّةٍ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عَلَى</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إِلَى</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بِـ</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P2-L07: yamurr bi-.</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is hypothetical?</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لَوْ زَادَ الإِنْفَاقُ، لَتَحَسَّنَتِ النَّتَائِجُ.</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إِذَا زَادَ الإِنْفَاقُ، سَتَتَحَسَّنُ النَّتَائِجُ.</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زَادَ الإِنْفَاقُ فَتَحَسَّنَتِ النَّتَائِجُ.</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P2-L06: law … la-.</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Read HOW it is said, not only what is said: the reporting verb shows how sure the writer is.</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D5FBF"/>
                </a:solidFill>
                <a:latin typeface="Amiri" pitchFamily="2" charset="-78"/>
                <a:cs typeface="Amiri" pitchFamily="2" charset="-78"/>
              </a:rPr>
              <a:t>أَكَّدَ</a:t>
            </a:r>
            <a:pPr rtl="1" algn="ctr" indent="0" marL="0">
              <a:lnSpc>
                <a:spcPct val="120000"/>
              </a:lnSpc>
              <a:buNone/>
            </a:pPr>
            <a:r>
              <a:rPr lang="ar-SA" altLang="en-US" sz="1950" b="1" dirty="0">
                <a:solidFill>
                  <a:srgbClr val="1B3B6F"/>
                </a:solidFill>
                <a:latin typeface="Amiri" pitchFamily="2" charset="-78"/>
                <a:cs typeface="Amiri" pitchFamily="2" charset="-78"/>
              </a:rPr>
              <a:t> = وَاثِقٌ · </a:t>
            </a:r>
            <a:pPr rtl="1" algn="ctr" indent="0" marL="0">
              <a:lnSpc>
                <a:spcPct val="120000"/>
              </a:lnSpc>
              <a:buNone/>
            </a:pPr>
            <a:r>
              <a:rPr lang="ar-SA" altLang="en-US" sz="1950" b="1" dirty="0">
                <a:solidFill>
                  <a:srgbClr val="D6336C"/>
                </a:solidFill>
                <a:latin typeface="Amiri" pitchFamily="2" charset="-78"/>
                <a:cs typeface="Amiri" pitchFamily="2" charset="-78"/>
              </a:rPr>
              <a:t>ادَّعَى</a:t>
            </a:r>
            <a:pPr rtl="1" algn="ctr" indent="0" marL="0">
              <a:lnSpc>
                <a:spcPct val="120000"/>
              </a:lnSpc>
              <a:buNone/>
            </a:pPr>
            <a:r>
              <a:rPr lang="ar-SA" altLang="en-US" sz="1950" b="1" dirty="0">
                <a:solidFill>
                  <a:srgbClr val="1B3B6F"/>
                </a:solidFill>
                <a:latin typeface="Amiri" pitchFamily="2" charset="-78"/>
                <a:cs typeface="Amiri" pitchFamily="2" charset="-78"/>
              </a:rPr>
              <a:t> = شَكٌّ · </a:t>
            </a:r>
            <a:pPr rtl="1" algn="ctr" indent="0" marL="0">
              <a:lnSpc>
                <a:spcPct val="120000"/>
              </a:lnSpc>
              <a:buNone/>
            </a:pPr>
            <a:r>
              <a:rPr lang="ar-SA" altLang="en-US" sz="1950" b="1" dirty="0">
                <a:solidFill>
                  <a:srgbClr val="7B3FA0"/>
                </a:solidFill>
                <a:latin typeface="Amiri" pitchFamily="2" charset="-78"/>
                <a:cs typeface="Amiri" pitchFamily="2" charset="-78"/>
              </a:rPr>
              <a:t>اعْتَرَفَ بِـ</a:t>
            </a:r>
            <a:pPr rtl="1" algn="ctr" indent="0" marL="0">
              <a:lnSpc>
                <a:spcPct val="120000"/>
              </a:lnSpc>
              <a:buNone/>
            </a:pPr>
            <a:r>
              <a:rPr lang="ar-SA" altLang="en-US" sz="1950" b="1" dirty="0">
                <a:solidFill>
                  <a:srgbClr val="1B3B6F"/>
                </a:solidFill>
                <a:latin typeface="Amiri" pitchFamily="2" charset="-78"/>
                <a:cs typeface="Amiri" pitchFamily="2" charset="-78"/>
              </a:rPr>
              <a:t> = تَنَازُلٌ</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P2-L08 · Reading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P2-L08</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Answer R1–R4 questions on education texts.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Read the reporting verb as a signal of certainty and stance.</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Tell a real idhā argument from a hypothetical law one.</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Frame an inferential R3 question about a text.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sort reporting verbs: certain, doubtful, neutral.</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find the phrase that proves my answer.</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say if a conditional is a proposal or a counterfactual.</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tell a cited view from the writer’s own.</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tell mentioning from recommending.</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an R3-style question.</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Text types and structure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Reading verbs and skills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Certainty in reporting verbs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تَحْلِيلٌ</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‎تجزیہ / تحلیل‎ </a:t>
            </a:r>
            <a:pPr indent="0" marL="0">
              <a:buNone/>
            </a:pPr>
            <a:r>
              <a:rPr lang="en-US" sz="950" b="1" dirty="0">
                <a:solidFill>
                  <a:srgbClr val="2E8B57"/>
                </a:solidFill>
                <a:latin typeface="Calibri" pitchFamily="34" charset="0"/>
                <a:cs typeface="Amiri" pitchFamily="2" charset="-78"/>
              </a:rPr>
              <a:t> tajziya · analysis</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دَعْوَى · ادَّعَى</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‎دعویٰ‎ </a:t>
            </a:r>
            <a:pPr indent="0" marL="0">
              <a:buNone/>
            </a:pPr>
            <a:r>
              <a:rPr lang="en-US" sz="950" b="1" dirty="0">
                <a:solidFill>
                  <a:srgbClr val="2E8B57"/>
                </a:solidFill>
                <a:latin typeface="Calibri" pitchFamily="34" charset="0"/>
                <a:cs typeface="Amiri" pitchFamily="2" charset="-78"/>
              </a:rPr>
              <a:t> daʿwā · a claim · he claimed</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اعْتِرَافٌ</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‎اعتراف‎ </a:t>
            </a:r>
            <a:pPr indent="0" marL="0">
              <a:buNone/>
            </a:pPr>
            <a:r>
              <a:rPr lang="en-US" sz="950" b="1" dirty="0">
                <a:solidFill>
                  <a:srgbClr val="2E8B57"/>
                </a:solidFill>
                <a:latin typeface="Calibri" pitchFamily="34" charset="0"/>
                <a:cs typeface="Amiri" pitchFamily="2" charset="-78"/>
              </a:rPr>
              <a:t> iʿtirāf · admission, confession</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وَضَاحَةٌ · أَوْضَحَ</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‎وضاحت‎ </a:t>
            </a:r>
            <a:pPr indent="0" marL="0">
              <a:buNone/>
            </a:pPr>
            <a:r>
              <a:rPr lang="en-US" sz="950" b="1" dirty="0">
                <a:solidFill>
                  <a:srgbClr val="2E8B57"/>
                </a:solidFill>
                <a:latin typeface="Calibri" pitchFamily="34" charset="0"/>
                <a:cs typeface="Amiri" pitchFamily="2" charset="-78"/>
              </a:rPr>
              <a:t> wazāhat · clarification · he clarified</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مَوْقِفٌ</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‎موقف‎ </a:t>
            </a:r>
            <a:pPr indent="0" marL="0">
              <a:buNone/>
            </a:pPr>
            <a:r>
              <a:rPr lang="en-US" sz="950" b="1" dirty="0">
                <a:solidFill>
                  <a:srgbClr val="2E8B57"/>
                </a:solidFill>
                <a:latin typeface="Calibri" pitchFamily="34" charset="0"/>
                <a:cs typeface="Amiri" pitchFamily="2" charset="-78"/>
              </a:rPr>
              <a:t> mauqif · stance, position</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Text types and structure (1 of 2)</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نَصٌّ تَحْلِيلِيٌّ</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 analytical text</a:t>
            </a:r>
            <a:endParaRPr lang="en-US" sz="1350" dirty="0"/>
          </a:p>
          <a:p>
            <a:pPr indent="0" marL="0">
              <a:buNone/>
            </a:pPr>
            <a:r>
              <a:rPr lang="en-US" sz="1100" i="1" dirty="0">
                <a:solidFill>
                  <a:srgbClr val="5A6472"/>
                </a:solidFill>
                <a:latin typeface="Calibri" pitchFamily="34" charset="0"/>
                <a:cs typeface="Amiri" pitchFamily="2" charset="-78"/>
              </a:rPr>
              <a:t>naṣ-ṣun taḥ-lī-liy-yun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نُصُوصٌ تَحْلِيلِيَّةٌ</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0" name="Shape 27"/>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2" name="Text 29"/>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مُقَابَلَةٌ</a:t>
            </a:r>
            <a:endParaRPr lang="ar-SA" sz="3000" dirty="0"/>
          </a:p>
        </p:txBody>
      </p:sp>
      <p:sp>
        <p:nvSpPr>
          <p:cNvPr id="33" name="Text 30"/>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 interview</a:t>
            </a:r>
            <a:endParaRPr lang="en-US" sz="1350" dirty="0"/>
          </a:p>
          <a:p>
            <a:pPr indent="0" marL="0">
              <a:buNone/>
            </a:pPr>
            <a:r>
              <a:rPr lang="en-US" sz="1100" i="1" dirty="0">
                <a:solidFill>
                  <a:srgbClr val="5A6472"/>
                </a:solidFill>
                <a:latin typeface="Calibri" pitchFamily="34" charset="0"/>
                <a:cs typeface="Amiri" pitchFamily="2" charset="-78"/>
              </a:rPr>
              <a:t>mu-qā-ba-la-tun</a:t>
            </a:r>
            <a:endParaRPr lang="en-US" sz="1350" dirty="0"/>
          </a:p>
        </p:txBody>
      </p:sp>
      <p:sp>
        <p:nvSpPr>
          <p:cNvPr id="34" name="Shape 31"/>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6" name="Text 33"/>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مُقَابَلَاتٌ</a:t>
            </a:r>
            <a:endParaRPr lang="ar-SA" sz="1500" dirty="0"/>
          </a:p>
        </p:txBody>
      </p:sp>
      <p:sp>
        <p:nvSpPr>
          <p:cNvPr id="37" name="Shape 3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566928" y="1920240"/>
            <a:ext cx="310896" cy="310896"/>
          </a:xfrm>
          <a:prstGeom prst="ellipse">
            <a:avLst/>
          </a:prstGeom>
          <a:solidFill>
            <a:srgbClr val="F4F1EA"/>
          </a:solidFill>
          <a:ln w="12700">
            <a:solidFill>
              <a:srgbClr val="F4F1EA"/>
            </a:solidFill>
            <a:prstDash val="solid"/>
          </a:ln>
        </p:spPr>
      </p:sp>
      <p:sp>
        <p:nvSpPr>
          <p:cNvPr id="39" name="Text 3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0" name="Shape 37"/>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41" name="Text 38"/>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42" name="Shape 3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تَقْرِيرٌ مُؤَسَّسِيٌّ</a:t>
            </a:r>
            <a:endParaRPr lang="ar-SA" sz="3000" dirty="0"/>
          </a:p>
        </p:txBody>
      </p:sp>
      <p:sp>
        <p:nvSpPr>
          <p:cNvPr id="45" name="Text 4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 institutional report</a:t>
            </a:r>
            <a:endParaRPr lang="en-US" sz="1350" dirty="0"/>
          </a:p>
          <a:p>
            <a:pPr indent="0" marL="0">
              <a:buNone/>
            </a:pPr>
            <a:r>
              <a:rPr lang="en-US" sz="1100" i="1" dirty="0">
                <a:solidFill>
                  <a:srgbClr val="5A6472"/>
                </a:solidFill>
                <a:latin typeface="Calibri" pitchFamily="34" charset="0"/>
                <a:cs typeface="Amiri" pitchFamily="2" charset="-78"/>
              </a:rPr>
              <a:t>taq-rī-run mu-ʾas-sa-siy-yun</a:t>
            </a:r>
            <a:endParaRPr lang="en-US" sz="1350" dirty="0"/>
          </a:p>
        </p:txBody>
      </p:sp>
      <p:sp>
        <p:nvSpPr>
          <p:cNvPr id="46" name="Shape 43"/>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8" name="Text 45"/>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تَقَارِيرُ مُؤَسَّسِيَّةٌ</a:t>
            </a:r>
            <a:endParaRPr lang="ar-SA" sz="1500" dirty="0"/>
          </a:p>
        </p:txBody>
      </p:sp>
      <p:sp>
        <p:nvSpPr>
          <p:cNvPr id="49" name="Shape 4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8211312" y="4261104"/>
            <a:ext cx="310896" cy="310896"/>
          </a:xfrm>
          <a:prstGeom prst="ellipse">
            <a:avLst/>
          </a:prstGeom>
          <a:solidFill>
            <a:srgbClr val="F4F1EA"/>
          </a:solidFill>
          <a:ln w="12700">
            <a:solidFill>
              <a:srgbClr val="F4F1EA"/>
            </a:solidFill>
            <a:prstDash val="solid"/>
          </a:ln>
        </p:spPr>
      </p:sp>
      <p:sp>
        <p:nvSpPr>
          <p:cNvPr id="51" name="Text 4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52" name="Shape 49"/>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54" name="Shape 5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5" name="Text 5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6" name="Text 53"/>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مَقَالُ رَأْيٍ</a:t>
            </a:r>
            <a:endParaRPr lang="ar-SA" sz="3000" dirty="0"/>
          </a:p>
        </p:txBody>
      </p:sp>
      <p:sp>
        <p:nvSpPr>
          <p:cNvPr id="57" name="Text 54"/>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 opinion article</a:t>
            </a:r>
            <a:endParaRPr lang="en-US" sz="1350" dirty="0"/>
          </a:p>
          <a:p>
            <a:pPr indent="0" marL="0">
              <a:buNone/>
            </a:pPr>
            <a:r>
              <a:rPr lang="en-US" sz="1100" i="1" dirty="0">
                <a:solidFill>
                  <a:srgbClr val="5A6472"/>
                </a:solidFill>
                <a:latin typeface="Calibri" pitchFamily="34" charset="0"/>
                <a:cs typeface="Amiri" pitchFamily="2" charset="-78"/>
              </a:rPr>
              <a:t>ma-qā-lu raʾ-yin</a:t>
            </a:r>
            <a:endParaRPr lang="en-US" sz="1350" dirty="0"/>
          </a:p>
        </p:txBody>
      </p:sp>
      <p:sp>
        <p:nvSpPr>
          <p:cNvPr id="58" name="Shape 55"/>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0" name="Text 57"/>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مَقَالَاتُ رَأْيٍ</a:t>
            </a:r>
            <a:endParaRPr lang="ar-SA" sz="150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Text types and structure (2 of 2)</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وِجْهَةُ نَظَرٍ</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point of view</a:t>
            </a:r>
            <a:endParaRPr lang="en-US" sz="1350" dirty="0"/>
          </a:p>
          <a:p>
            <a:pPr indent="0" marL="0">
              <a:buNone/>
            </a:pPr>
            <a:r>
              <a:rPr lang="en-US" sz="1100" i="1" dirty="0">
                <a:solidFill>
                  <a:srgbClr val="5A6472"/>
                </a:solidFill>
                <a:latin typeface="Calibri" pitchFamily="34" charset="0"/>
                <a:cs typeface="Amiri" pitchFamily="2" charset="-78"/>
              </a:rPr>
              <a:t>wij-ha-tu na-ẓa-rin</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23" name="Shape 20"/>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4" name="Text 21"/>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حُجَّةٌ مُضَادَّةٌ</a:t>
            </a:r>
            <a:endParaRPr lang="ar-SA" sz="3000" dirty="0"/>
          </a:p>
        </p:txBody>
      </p:sp>
      <p:sp>
        <p:nvSpPr>
          <p:cNvPr id="28" name="Text 2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counter-argument</a:t>
            </a:r>
            <a:endParaRPr lang="en-US" sz="1350" dirty="0"/>
          </a:p>
          <a:p>
            <a:pPr indent="0" marL="0">
              <a:buNone/>
            </a:pPr>
            <a:r>
              <a:rPr lang="en-US" sz="1100" i="1" dirty="0">
                <a:solidFill>
                  <a:srgbClr val="5A6472"/>
                </a:solidFill>
                <a:latin typeface="Calibri" pitchFamily="34" charset="0"/>
                <a:cs typeface="Amiri" pitchFamily="2" charset="-78"/>
              </a:rPr>
              <a:t>ḥuj-ja-tun mu-ḍād-da-tun</a:t>
            </a:r>
            <a:endParaRPr lang="en-US" sz="1350" dirty="0"/>
          </a:p>
        </p:txBody>
      </p:sp>
      <p:sp>
        <p:nvSpPr>
          <p:cNvPr id="29" name="Shape 26"/>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1" name="Text 28"/>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حُجَجٌ مُضَادَّةٌ</a:t>
            </a:r>
            <a:endParaRPr lang="ar-SA" sz="150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35" name="Shape 32"/>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7" name="Text 34"/>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مَرْجِعٌ</a:t>
            </a:r>
            <a:endParaRPr lang="ar-SA" sz="3000" dirty="0"/>
          </a:p>
        </p:txBody>
      </p:sp>
      <p:sp>
        <p:nvSpPr>
          <p:cNvPr id="38" name="Text 35"/>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reference, source</a:t>
            </a:r>
            <a:endParaRPr lang="en-US" sz="1350" dirty="0"/>
          </a:p>
          <a:p>
            <a:pPr indent="0" marL="0">
              <a:buNone/>
            </a:pPr>
            <a:r>
              <a:rPr lang="en-US" sz="1100" i="1" dirty="0">
                <a:solidFill>
                  <a:srgbClr val="5A6472"/>
                </a:solidFill>
                <a:latin typeface="Calibri" pitchFamily="34" charset="0"/>
                <a:cs typeface="Amiri" pitchFamily="2" charset="-78"/>
              </a:rPr>
              <a:t>mar-ji-ʿun</a:t>
            </a:r>
            <a:endParaRPr lang="en-US" sz="1350" dirty="0"/>
          </a:p>
        </p:txBody>
      </p:sp>
      <p:sp>
        <p:nvSpPr>
          <p:cNvPr id="39" name="Shape 36"/>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1" name="Text 38"/>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مَرَاجِعُ</a:t>
            </a:r>
            <a:endParaRPr lang="ar-SA" sz="1500" dirty="0"/>
          </a:p>
        </p:txBody>
      </p:sp>
      <p:sp>
        <p:nvSpPr>
          <p:cNvPr id="42" name="Shape 3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11312"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45" name="Text 4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المَنْطِقُ الاسْتِنْتَاجِيُّ</a:t>
            </a:r>
            <a:endParaRPr lang="ar-SA" sz="3000" dirty="0"/>
          </a:p>
        </p:txBody>
      </p:sp>
      <p:sp>
        <p:nvSpPr>
          <p:cNvPr id="46" name="Text 4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deductive logic</a:t>
            </a:r>
            <a:endParaRPr lang="en-US" sz="1350" dirty="0"/>
          </a:p>
          <a:p>
            <a:pPr indent="0" marL="0">
              <a:buNone/>
            </a:pPr>
            <a:r>
              <a:rPr lang="en-US" sz="1100" i="1" dirty="0">
                <a:solidFill>
                  <a:srgbClr val="5A6472"/>
                </a:solidFill>
                <a:latin typeface="Calibri" pitchFamily="34" charset="0"/>
                <a:cs typeface="Amiri" pitchFamily="2" charset="-78"/>
              </a:rPr>
              <a:t>al-man-ṭi-qu als-tin-tā-jiy-yu</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verbs and skills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18" name="Shape 15"/>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يَتَوَصَّلُ إِلَى</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arrives at, concludes</a:t>
            </a:r>
            <a:endParaRPr lang="en-US" sz="1350" dirty="0"/>
          </a:p>
          <a:p>
            <a:pPr indent="0" marL="0">
              <a:buNone/>
            </a:pPr>
            <a:r>
              <a:rPr lang="en-US" sz="1100" i="1" dirty="0">
                <a:solidFill>
                  <a:srgbClr val="5A6472"/>
                </a:solidFill>
                <a:latin typeface="Calibri" pitchFamily="34" charset="0"/>
                <a:cs typeface="Amiri" pitchFamily="2" charset="-78"/>
              </a:rPr>
              <a:t>ya-ta-waṣ-ṣa-lu i-lā</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تَتَوَصَّلُ</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أَتَوَصَّلُ</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33" name="Shape 30"/>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يَسْتَشْهِدُ بِـ</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cites</a:t>
            </a:r>
            <a:endParaRPr lang="en-US" sz="1350" dirty="0"/>
          </a:p>
          <a:p>
            <a:pPr indent="0" marL="0">
              <a:buNone/>
            </a:pPr>
            <a:r>
              <a:rPr lang="en-US" sz="1100" i="1" dirty="0">
                <a:solidFill>
                  <a:srgbClr val="5A6472"/>
                </a:solidFill>
                <a:latin typeface="Calibri" pitchFamily="34" charset="0"/>
                <a:cs typeface="Amiri" pitchFamily="2" charset="-78"/>
              </a:rPr>
              <a:t>yas-tash-hi-du bi</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تَسْتَشْهِدُ</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أَسْتَشْهِدُ</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48" name="Shape 45"/>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50" name="Text 47"/>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يَسْتَنْتِجُ</a:t>
            </a:r>
            <a:endParaRPr lang="ar-SA" sz="3000" dirty="0"/>
          </a:p>
        </p:txBody>
      </p:sp>
      <p:sp>
        <p:nvSpPr>
          <p:cNvPr id="51" name="Text 48"/>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infers</a:t>
            </a:r>
            <a:endParaRPr lang="en-US" sz="1350" dirty="0"/>
          </a:p>
          <a:p>
            <a:pPr indent="0" marL="0">
              <a:buNone/>
            </a:pPr>
            <a:r>
              <a:rPr lang="en-US" sz="1100" i="1" dirty="0">
                <a:solidFill>
                  <a:srgbClr val="5A6472"/>
                </a:solidFill>
                <a:latin typeface="Calibri" pitchFamily="34" charset="0"/>
                <a:cs typeface="Amiri" pitchFamily="2" charset="-78"/>
              </a:rPr>
              <a:t>yas-tan-ti-ju</a:t>
            </a:r>
            <a:endParaRPr lang="en-US" sz="1350" dirty="0"/>
          </a:p>
        </p:txBody>
      </p:sp>
      <p:sp>
        <p:nvSpPr>
          <p:cNvPr id="52" name="Shape 49"/>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3" name="Text 50"/>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54" name="Text 51"/>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تَسْتَنْتِجُ</a:t>
            </a:r>
            <a:endParaRPr lang="ar-SA" sz="1500" dirty="0"/>
          </a:p>
        </p:txBody>
      </p:sp>
      <p:sp>
        <p:nvSpPr>
          <p:cNvPr id="55" name="Shape 52"/>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6" name="Text 53"/>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57" name="Text 54"/>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أَسْتَنْتِجُ</a:t>
            </a:r>
            <a:endParaRPr lang="ar-SA" sz="1500" dirty="0"/>
          </a:p>
        </p:txBody>
      </p:sp>
      <p:sp>
        <p:nvSpPr>
          <p:cNvPr id="58" name="Shape 5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8211312"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61" name="Shape 58"/>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62" name="Text 59"/>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63" name="Text 60"/>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يُمَيِّزُ بَيْنَ</a:t>
            </a:r>
            <a:endParaRPr lang="ar-SA" sz="3000" dirty="0"/>
          </a:p>
        </p:txBody>
      </p:sp>
      <p:sp>
        <p:nvSpPr>
          <p:cNvPr id="64" name="Text 61"/>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distinguishes between</a:t>
            </a:r>
            <a:endParaRPr lang="en-US" sz="1350" dirty="0"/>
          </a:p>
          <a:p>
            <a:pPr indent="0" marL="0">
              <a:buNone/>
            </a:pPr>
            <a:r>
              <a:rPr lang="en-US" sz="1100" i="1" dirty="0">
                <a:solidFill>
                  <a:srgbClr val="5A6472"/>
                </a:solidFill>
                <a:latin typeface="Calibri" pitchFamily="34" charset="0"/>
                <a:cs typeface="Amiri" pitchFamily="2" charset="-78"/>
              </a:rPr>
              <a:t>yu-may-yi-zu bay-na</a:t>
            </a:r>
            <a:endParaRPr lang="en-US" sz="1350" dirty="0"/>
          </a:p>
        </p:txBody>
      </p:sp>
      <p:sp>
        <p:nvSpPr>
          <p:cNvPr id="65" name="Shape 62"/>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6" name="Text 63"/>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67" name="Text 64"/>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تُمَيِّزُ</a:t>
            </a:r>
            <a:endParaRPr lang="ar-SA" sz="1500" dirty="0"/>
          </a:p>
        </p:txBody>
      </p:sp>
      <p:sp>
        <p:nvSpPr>
          <p:cNvPr id="68" name="Shape 65"/>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9" name="Text 66"/>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70" name="Text 67"/>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أُمَيِّزُ</a:t>
            </a:r>
            <a:endParaRPr lang="ar-SA" sz="150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P2-L08 · Reading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verbs and skills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20" name="Shape 17"/>
          <p:cNvSpPr/>
          <p:nvPr/>
        </p:nvSpPr>
        <p:spPr>
          <a:xfrm>
            <a:off x="8604504" y="1938528"/>
            <a:ext cx="1331366"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33136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Fixed with إِلَى.</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يُشِيرُ إِلَى</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refers to</a:t>
            </a:r>
            <a:endParaRPr lang="en-US" sz="1350" dirty="0"/>
          </a:p>
          <a:p>
            <a:pPr indent="0" marL="0">
              <a:buNone/>
            </a:pPr>
            <a:r>
              <a:rPr lang="en-US" sz="1100" i="1" dirty="0">
                <a:solidFill>
                  <a:srgbClr val="5A6472"/>
                </a:solidFill>
                <a:latin typeface="Calibri" pitchFamily="34" charset="0"/>
                <a:cs typeface="Amiri" pitchFamily="2" charset="-78"/>
              </a:rPr>
              <a:t>yu-shī-ru i-lā</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27" name="Shape 24"/>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29" name="Shape 26"/>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1" name="Text 28"/>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يَذْكُرُ</a:t>
            </a:r>
            <a:endParaRPr lang="ar-SA" sz="3000" dirty="0"/>
          </a:p>
        </p:txBody>
      </p:sp>
      <p:sp>
        <p:nvSpPr>
          <p:cNvPr id="32" name="Text 29"/>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mentions</a:t>
            </a:r>
            <a:endParaRPr lang="en-US" sz="1350" dirty="0"/>
          </a:p>
          <a:p>
            <a:pPr indent="0" marL="0">
              <a:buNone/>
            </a:pPr>
            <a:r>
              <a:rPr lang="en-US" sz="1100" i="1" dirty="0">
                <a:solidFill>
                  <a:srgbClr val="5A6472"/>
                </a:solidFill>
                <a:latin typeface="Calibri" pitchFamily="34" charset="0"/>
                <a:cs typeface="Amiri" pitchFamily="2" charset="-78"/>
              </a:rPr>
              <a:t>yadh-ku-ru</a:t>
            </a:r>
            <a:endParaRPr lang="en-US" sz="1350" dirty="0"/>
          </a:p>
        </p:txBody>
      </p:sp>
      <p:sp>
        <p:nvSpPr>
          <p:cNvPr id="33" name="Shape 30"/>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4" name="Text 31"/>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35" name="Text 32"/>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تَذْكُرُ</a:t>
            </a:r>
            <a:endParaRPr lang="ar-SA" sz="1500" dirty="0"/>
          </a:p>
        </p:txBody>
      </p:sp>
      <p:sp>
        <p:nvSpPr>
          <p:cNvPr id="36" name="Shape 33"/>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38" name="Text 35"/>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أَذْكُرُ</a:t>
            </a:r>
            <a:endParaRPr lang="ar-SA" sz="150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42" name="Shape 39"/>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44" name="Shape 4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يُوصِي بِـ</a:t>
            </a:r>
            <a:endParaRPr lang="ar-SA" sz="3000" dirty="0"/>
          </a:p>
        </p:txBody>
      </p:sp>
      <p:sp>
        <p:nvSpPr>
          <p:cNvPr id="47" name="Text 4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recommends</a:t>
            </a:r>
            <a:endParaRPr lang="en-US" sz="1350" dirty="0"/>
          </a:p>
          <a:p>
            <a:pPr indent="0" marL="0">
              <a:buNone/>
            </a:pPr>
            <a:r>
              <a:rPr lang="en-US" sz="1100" i="1" dirty="0">
                <a:solidFill>
                  <a:srgbClr val="5A6472"/>
                </a:solidFill>
                <a:latin typeface="Calibri" pitchFamily="34" charset="0"/>
                <a:cs typeface="Amiri" pitchFamily="2" charset="-78"/>
              </a:rPr>
              <a:t>yū-ṣī bi</a:t>
            </a:r>
            <a:endParaRPr lang="en-US" sz="1350" dirty="0"/>
          </a:p>
        </p:txBody>
      </p:sp>
      <p:sp>
        <p:nvSpPr>
          <p:cNvPr id="48" name="Shape 45"/>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50" name="Text 47"/>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تُوصِي</a:t>
            </a:r>
            <a:endParaRPr lang="ar-SA" sz="1500" dirty="0"/>
          </a:p>
        </p:txBody>
      </p:sp>
      <p:sp>
        <p:nvSpPr>
          <p:cNvPr id="51" name="Shape 48"/>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2" name="Text 49"/>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53" name="Text 50"/>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أُوصِي</a:t>
            </a:r>
            <a:endParaRPr lang="ar-SA" sz="1500" dirty="0"/>
          </a:p>
        </p:txBody>
      </p:sp>
      <p:sp>
        <p:nvSpPr>
          <p:cNvPr id="54" name="Shape 5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8211312" y="4261104"/>
            <a:ext cx="310896" cy="310896"/>
          </a:xfrm>
          <a:prstGeom prst="ellipse">
            <a:avLst/>
          </a:prstGeom>
          <a:solidFill>
            <a:srgbClr val="F4F1EA"/>
          </a:solidFill>
          <a:ln w="12700">
            <a:solidFill>
              <a:srgbClr val="F4F1EA"/>
            </a:solidFill>
            <a:prstDash val="solid"/>
          </a:ln>
        </p:spPr>
      </p:sp>
      <p:sp>
        <p:nvSpPr>
          <p:cNvPr id="56" name="Text 5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57" name="Shape 54"/>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58" name="Text 55"/>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59" name="Shape 5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0" name="Text 5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1" name="Text 58"/>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دَلِيلٌ</a:t>
            </a:r>
            <a:endParaRPr lang="ar-SA" sz="3000" dirty="0"/>
          </a:p>
        </p:txBody>
      </p:sp>
      <p:sp>
        <p:nvSpPr>
          <p:cNvPr id="62" name="Text 59"/>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evidence</a:t>
            </a:r>
            <a:endParaRPr lang="en-US" sz="1350" dirty="0"/>
          </a:p>
          <a:p>
            <a:pPr indent="0" marL="0">
              <a:buNone/>
            </a:pPr>
            <a:r>
              <a:rPr lang="en-US" sz="1100" i="1" dirty="0">
                <a:solidFill>
                  <a:srgbClr val="5A6472"/>
                </a:solidFill>
                <a:latin typeface="Calibri" pitchFamily="34" charset="0"/>
                <a:cs typeface="Amiri" pitchFamily="2" charset="-78"/>
              </a:rPr>
              <a:t>da-lī-lun</a:t>
            </a:r>
            <a:endParaRPr lang="en-US" sz="1350" dirty="0"/>
          </a:p>
        </p:txBody>
      </p:sp>
      <p:sp>
        <p:nvSpPr>
          <p:cNvPr id="63" name="Shape 60"/>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5" name="Text 62"/>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أَدِلَّةٌ</a:t>
            </a:r>
            <a:endParaRPr lang="ar-SA" sz="150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P2-L08 · Reading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Certainty in reporting verbs (1 of 2)</a:t>
            </a:r>
            <a:endParaRPr lang="en-US" sz="25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20" name="Shape 17"/>
          <p:cNvSpPr/>
          <p:nvPr/>
        </p:nvSpPr>
        <p:spPr>
          <a:xfrm>
            <a:off x="8604504" y="1938528"/>
            <a:ext cx="1207008"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 they</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أَكَّدَ</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stressed (certain)</a:t>
            </a:r>
            <a:endParaRPr lang="en-US" sz="1350" dirty="0"/>
          </a:p>
          <a:p>
            <a:pPr indent="0" marL="0">
              <a:buNone/>
            </a:pPr>
            <a:r>
              <a:rPr lang="en-US" sz="1100" i="1" dirty="0">
                <a:solidFill>
                  <a:srgbClr val="5A6472"/>
                </a:solidFill>
                <a:latin typeface="Calibri" pitchFamily="34" charset="0"/>
                <a:cs typeface="Amiri" pitchFamily="2" charset="-78"/>
              </a:rPr>
              <a:t>ak-ka-da</a:t>
            </a:r>
            <a:endParaRPr lang="en-US" sz="1350" dirty="0"/>
          </a:p>
        </p:txBody>
      </p:sp>
      <p:sp>
        <p:nvSpPr>
          <p:cNvPr id="26" name="Shape 23"/>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they</a:t>
            </a:r>
            <a:endParaRPr lang="en-US" sz="700" dirty="0"/>
          </a:p>
        </p:txBody>
      </p:sp>
      <p:sp>
        <p:nvSpPr>
          <p:cNvPr id="28" name="Text 25"/>
          <p:cNvSpPr txBox="1"/>
          <p:nvPr/>
        </p:nvSpPr>
        <p:spPr>
          <a:xfrm>
            <a:off x="100126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أَكَّدُوا</a:t>
            </a:r>
            <a:endParaRPr lang="ar-SA" sz="1350" dirty="0"/>
          </a:p>
        </p:txBody>
      </p:sp>
      <p:sp>
        <p:nvSpPr>
          <p:cNvPr id="29" name="Shape 26"/>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31" name="Text 28"/>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أَكَّدَتْ</a:t>
            </a:r>
            <a:endParaRPr lang="ar-SA" sz="1500" dirty="0"/>
          </a:p>
        </p:txBody>
      </p:sp>
      <p:sp>
        <p:nvSpPr>
          <p:cNvPr id="32" name="Shape 2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389120"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35" name="Shape 32"/>
          <p:cNvSpPr/>
          <p:nvPr/>
        </p:nvSpPr>
        <p:spPr>
          <a:xfrm>
            <a:off x="4782312" y="1938528"/>
            <a:ext cx="1207008"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4782312" y="1938528"/>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 they</a:t>
            </a:r>
            <a:endParaRPr lang="en-US" sz="800" dirty="0"/>
          </a:p>
        </p:txBody>
      </p:sp>
      <p:sp>
        <p:nvSpPr>
          <p:cNvPr id="37" name="Shape 3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اِدَّعَى</a:t>
            </a:r>
            <a:endParaRPr lang="ar-SA" sz="3000" dirty="0"/>
          </a:p>
        </p:txBody>
      </p:sp>
      <p:sp>
        <p:nvSpPr>
          <p:cNvPr id="40" name="Text 3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claimed (doubtful)</a:t>
            </a:r>
            <a:endParaRPr lang="en-US" sz="1350" dirty="0"/>
          </a:p>
          <a:p>
            <a:pPr indent="0" marL="0">
              <a:buNone/>
            </a:pPr>
            <a:r>
              <a:rPr lang="en-US" sz="1100" i="1" dirty="0">
                <a:solidFill>
                  <a:srgbClr val="5A6472"/>
                </a:solidFill>
                <a:latin typeface="Calibri" pitchFamily="34" charset="0"/>
                <a:cs typeface="Amiri" pitchFamily="2" charset="-78"/>
              </a:rPr>
              <a:t>id-da-ʿā</a:t>
            </a:r>
            <a:endParaRPr lang="en-US" sz="1350" dirty="0"/>
          </a:p>
        </p:txBody>
      </p:sp>
      <p:sp>
        <p:nvSpPr>
          <p:cNvPr id="41" name="Shape 38"/>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they</a:t>
            </a:r>
            <a:endParaRPr lang="en-US" sz="700" dirty="0"/>
          </a:p>
        </p:txBody>
      </p:sp>
      <p:sp>
        <p:nvSpPr>
          <p:cNvPr id="43" name="Text 40"/>
          <p:cNvSpPr txBox="1"/>
          <p:nvPr/>
        </p:nvSpPr>
        <p:spPr>
          <a:xfrm>
            <a:off x="6190488"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ادَّعَوْا</a:t>
            </a:r>
            <a:endParaRPr lang="ar-SA" sz="1350" dirty="0"/>
          </a:p>
        </p:txBody>
      </p:sp>
      <p:sp>
        <p:nvSpPr>
          <p:cNvPr id="44" name="Shape 41"/>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6" name="Text 43"/>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ادَّعَتْ</a:t>
            </a:r>
            <a:endParaRPr lang="ar-SA" sz="1500" dirty="0"/>
          </a:p>
        </p:txBody>
      </p:sp>
      <p:sp>
        <p:nvSpPr>
          <p:cNvPr id="47" name="Shape 4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66928" y="1920240"/>
            <a:ext cx="310896" cy="310896"/>
          </a:xfrm>
          <a:prstGeom prst="ellipse">
            <a:avLst/>
          </a:prstGeom>
          <a:solidFill>
            <a:srgbClr val="F4F1EA"/>
          </a:solidFill>
          <a:ln w="12700">
            <a:solidFill>
              <a:srgbClr val="F4F1EA"/>
            </a:solidFill>
            <a:prstDash val="solid"/>
          </a:ln>
        </p:spPr>
      </p:sp>
      <p:sp>
        <p:nvSpPr>
          <p:cNvPr id="49" name="Text 4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50" name="Shape 47"/>
          <p:cNvSpPr/>
          <p:nvPr/>
        </p:nvSpPr>
        <p:spPr>
          <a:xfrm>
            <a:off x="960120" y="1938528"/>
            <a:ext cx="1207008" cy="256032"/>
          </a:xfrm>
          <a:prstGeom prst="roundRect">
            <a:avLst>
              <a:gd name="adj" fmla="val 50000"/>
            </a:avLst>
          </a:prstGeom>
          <a:solidFill>
            <a:srgbClr val="EFE7D2"/>
          </a:solidFill>
          <a:ln w="12700">
            <a:solidFill>
              <a:srgbClr val="EFE7D2"/>
            </a:solidFill>
            <a:prstDash val="solid"/>
          </a:ln>
        </p:spPr>
      </p:sp>
      <p:sp>
        <p:nvSpPr>
          <p:cNvPr id="51" name="Text 48"/>
          <p:cNvSpPr txBox="1"/>
          <p:nvPr/>
        </p:nvSpPr>
        <p:spPr>
          <a:xfrm>
            <a:off x="960120" y="1938528"/>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 they</a:t>
            </a:r>
            <a:endParaRPr lang="en-US" sz="800" dirty="0"/>
          </a:p>
        </p:txBody>
      </p:sp>
      <p:sp>
        <p:nvSpPr>
          <p:cNvPr id="52" name="Shape 4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3" name="Text 5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اِعْتَرَفَ بِـ</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conceded</a:t>
            </a:r>
            <a:endParaRPr lang="en-US" sz="1350" dirty="0"/>
          </a:p>
          <a:p>
            <a:pPr indent="0" marL="0">
              <a:buNone/>
            </a:pPr>
            <a:r>
              <a:rPr lang="en-US" sz="1100" i="1" dirty="0">
                <a:solidFill>
                  <a:srgbClr val="5A6472"/>
                </a:solidFill>
                <a:latin typeface="Calibri" pitchFamily="34" charset="0"/>
                <a:cs typeface="Amiri" pitchFamily="2" charset="-78"/>
              </a:rPr>
              <a:t>iʿ-ta-ra-fa bi</a:t>
            </a:r>
            <a:endParaRPr lang="en-US" sz="1350" dirty="0"/>
          </a:p>
        </p:txBody>
      </p:sp>
      <p:sp>
        <p:nvSpPr>
          <p:cNvPr id="56" name="Shape 53"/>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they</a:t>
            </a:r>
            <a:endParaRPr lang="en-US" sz="700" dirty="0"/>
          </a:p>
        </p:txBody>
      </p:sp>
      <p:sp>
        <p:nvSpPr>
          <p:cNvPr id="58" name="Text 55"/>
          <p:cNvSpPr txBox="1"/>
          <p:nvPr/>
        </p:nvSpPr>
        <p:spPr>
          <a:xfrm>
            <a:off x="2368296"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اعْتَرَفُوا</a:t>
            </a:r>
            <a:endParaRPr lang="ar-SA" sz="1350" dirty="0"/>
          </a:p>
        </p:txBody>
      </p:sp>
      <p:sp>
        <p:nvSpPr>
          <p:cNvPr id="59" name="Shape 56"/>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61" name="Text 58"/>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اعْتَرَفَتْ</a:t>
            </a:r>
            <a:endParaRPr lang="ar-SA" sz="1500" dirty="0"/>
          </a:p>
        </p:txBody>
      </p:sp>
      <p:sp>
        <p:nvSpPr>
          <p:cNvPr id="62" name="Shape 5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8211312" y="4261104"/>
            <a:ext cx="310896" cy="310896"/>
          </a:xfrm>
          <a:prstGeom prst="ellipse">
            <a:avLst/>
          </a:prstGeom>
          <a:solidFill>
            <a:srgbClr val="F4F1EA"/>
          </a:solidFill>
          <a:ln w="12700">
            <a:solidFill>
              <a:srgbClr val="F4F1EA"/>
            </a:solidFill>
            <a:prstDash val="solid"/>
          </a:ln>
        </p:spPr>
      </p:sp>
      <p:sp>
        <p:nvSpPr>
          <p:cNvPr id="64" name="Text 6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65" name="Shape 62"/>
          <p:cNvSpPr/>
          <p:nvPr/>
        </p:nvSpPr>
        <p:spPr>
          <a:xfrm>
            <a:off x="8604504" y="4279392"/>
            <a:ext cx="1207008" cy="256032"/>
          </a:xfrm>
          <a:prstGeom prst="roundRect">
            <a:avLst>
              <a:gd name="adj" fmla="val 50000"/>
            </a:avLst>
          </a:prstGeom>
          <a:solidFill>
            <a:srgbClr val="EFE7D2"/>
          </a:solidFill>
          <a:ln w="12700">
            <a:solidFill>
              <a:srgbClr val="EFE7D2"/>
            </a:solidFill>
            <a:prstDash val="solid"/>
          </a:ln>
        </p:spPr>
      </p:sp>
      <p:sp>
        <p:nvSpPr>
          <p:cNvPr id="66" name="Text 63"/>
          <p:cNvSpPr txBox="1"/>
          <p:nvPr/>
        </p:nvSpPr>
        <p:spPr>
          <a:xfrm>
            <a:off x="8604504" y="4279392"/>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 they</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أَوْضَحَ</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clarified (neutral)</a:t>
            </a:r>
            <a:endParaRPr lang="en-US" sz="1350" dirty="0"/>
          </a:p>
          <a:p>
            <a:pPr indent="0" marL="0">
              <a:buNone/>
            </a:pPr>
            <a:r>
              <a:rPr lang="en-US" sz="1100" i="1" dirty="0">
                <a:solidFill>
                  <a:srgbClr val="5A6472"/>
                </a:solidFill>
                <a:latin typeface="Calibri" pitchFamily="34" charset="0"/>
                <a:cs typeface="Amiri" pitchFamily="2" charset="-78"/>
              </a:rPr>
              <a:t>aw-ḍa-ḥa</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they</a:t>
            </a:r>
            <a:endParaRPr lang="en-US" sz="700" dirty="0"/>
          </a:p>
        </p:txBody>
      </p:sp>
      <p:sp>
        <p:nvSpPr>
          <p:cNvPr id="71" name="Text 68"/>
          <p:cNvSpPr txBox="1"/>
          <p:nvPr/>
        </p:nvSpPr>
        <p:spPr>
          <a:xfrm>
            <a:off x="100126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أَوْضَحُوا</a:t>
            </a:r>
            <a:endParaRPr lang="ar-SA" sz="135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74" name="Text 71"/>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أَوْضَحَتْ</a:t>
            </a:r>
            <a:endParaRPr lang="ar-SA" sz="150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P2-L08 · Reading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Certainty in reporting verbs (2 of 2)</a:t>
            </a:r>
            <a:endParaRPr lang="en-US" sz="25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20" name="Shape 17"/>
          <p:cNvSpPr/>
          <p:nvPr/>
        </p:nvSpPr>
        <p:spPr>
          <a:xfrm>
            <a:off x="8604504" y="1938528"/>
            <a:ext cx="1207008"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 they</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نَفَى</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denied</a:t>
            </a:r>
            <a:endParaRPr lang="en-US" sz="1350" dirty="0"/>
          </a:p>
          <a:p>
            <a:pPr indent="0" marL="0">
              <a:buNone/>
            </a:pPr>
            <a:r>
              <a:rPr lang="en-US" sz="1100" i="1" dirty="0">
                <a:solidFill>
                  <a:srgbClr val="5A6472"/>
                </a:solidFill>
                <a:latin typeface="Calibri" pitchFamily="34" charset="0"/>
                <a:cs typeface="Amiri" pitchFamily="2" charset="-78"/>
              </a:rPr>
              <a:t>na-fā</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they</a:t>
            </a:r>
            <a:endParaRPr lang="en-US" sz="700" dirty="0"/>
          </a:p>
        </p:txBody>
      </p:sp>
      <p:sp>
        <p:nvSpPr>
          <p:cNvPr id="26" name="Text 23"/>
          <p:cNvSpPr txBox="1"/>
          <p:nvPr/>
        </p:nvSpPr>
        <p:spPr>
          <a:xfrm>
            <a:off x="100126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نَفَوْا</a:t>
            </a:r>
            <a:endParaRPr lang="ar-SA" sz="135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نَفَتْ</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33" name="Shape 30"/>
          <p:cNvSpPr/>
          <p:nvPr/>
        </p:nvSpPr>
        <p:spPr>
          <a:xfrm>
            <a:off x="4782312" y="1938528"/>
            <a:ext cx="1207008"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 they</a:t>
            </a:r>
            <a:endParaRPr lang="en-US" sz="800" dirty="0"/>
          </a:p>
        </p:txBody>
      </p:sp>
      <p:sp>
        <p:nvSpPr>
          <p:cNvPr id="35" name="Text 32"/>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زَعَمَ</a:t>
            </a:r>
            <a:endParaRPr lang="ar-SA" sz="3000" dirty="0"/>
          </a:p>
        </p:txBody>
      </p:sp>
      <p:sp>
        <p:nvSpPr>
          <p:cNvPr id="36" name="Text 33"/>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alleged</a:t>
            </a:r>
            <a:endParaRPr lang="en-US" sz="1350" dirty="0"/>
          </a:p>
          <a:p>
            <a:pPr indent="0" marL="0">
              <a:buNone/>
            </a:pPr>
            <a:r>
              <a:rPr lang="en-US" sz="1100" i="1" dirty="0">
                <a:solidFill>
                  <a:srgbClr val="5A6472"/>
                </a:solidFill>
                <a:latin typeface="Calibri" pitchFamily="34" charset="0"/>
                <a:cs typeface="Amiri" pitchFamily="2" charset="-78"/>
              </a:rPr>
              <a:t>za-ʿa-ma</a:t>
            </a:r>
            <a:endParaRPr lang="en-US" sz="1350" dirty="0"/>
          </a:p>
        </p:txBody>
      </p:sp>
      <p:sp>
        <p:nvSpPr>
          <p:cNvPr id="37" name="Shape 34"/>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they</a:t>
            </a:r>
            <a:endParaRPr lang="en-US" sz="700" dirty="0"/>
          </a:p>
        </p:txBody>
      </p:sp>
      <p:sp>
        <p:nvSpPr>
          <p:cNvPr id="39" name="Text 36"/>
          <p:cNvSpPr txBox="1"/>
          <p:nvPr/>
        </p:nvSpPr>
        <p:spPr>
          <a:xfrm>
            <a:off x="6190488"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زَعَمُوا</a:t>
            </a:r>
            <a:endParaRPr lang="ar-SA" sz="1350" dirty="0"/>
          </a:p>
        </p:txBody>
      </p:sp>
      <p:sp>
        <p:nvSpPr>
          <p:cNvPr id="40" name="Shape 37"/>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2" name="Text 39"/>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زَعَمَتْ</a:t>
            </a:r>
            <a:endParaRPr lang="ar-SA" sz="1500" dirty="0"/>
          </a:p>
        </p:txBody>
      </p:sp>
      <p:sp>
        <p:nvSpPr>
          <p:cNvPr id="43" name="Shape 4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66928" y="1920240"/>
            <a:ext cx="310896" cy="310896"/>
          </a:xfrm>
          <a:prstGeom prst="ellipse">
            <a:avLst/>
          </a:prstGeom>
          <a:solidFill>
            <a:srgbClr val="F4F1EA"/>
          </a:solidFill>
          <a:ln w="12700">
            <a:solidFill>
              <a:srgbClr val="F4F1EA"/>
            </a:solidFill>
            <a:prstDash val="solid"/>
          </a:ln>
        </p:spPr>
      </p:sp>
      <p:sp>
        <p:nvSpPr>
          <p:cNvPr id="45" name="Text 4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46" name="Text 4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مِصْدَاقِيَّةٌ</a:t>
            </a:r>
            <a:endParaRPr lang="ar-SA" sz="3000" dirty="0"/>
          </a:p>
        </p:txBody>
      </p:sp>
      <p:sp>
        <p:nvSpPr>
          <p:cNvPr id="47" name="Text 4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credibility</a:t>
            </a:r>
            <a:endParaRPr lang="en-US" sz="1350" dirty="0"/>
          </a:p>
          <a:p>
            <a:pPr indent="0" marL="0">
              <a:buNone/>
            </a:pPr>
            <a:r>
              <a:rPr lang="en-US" sz="1100" i="1" dirty="0">
                <a:solidFill>
                  <a:srgbClr val="5A6472"/>
                </a:solidFill>
                <a:latin typeface="Calibri" pitchFamily="34" charset="0"/>
                <a:cs typeface="Amiri" pitchFamily="2" charset="-78"/>
              </a:rPr>
              <a:t>miṣ-dā-qiy-ya-tun</a:t>
            </a:r>
            <a:endParaRPr lang="en-US" sz="1350" dirty="0"/>
          </a:p>
        </p:txBody>
      </p:sp>
      <p:sp>
        <p:nvSpPr>
          <p:cNvPr id="48" name="Shape 4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8211312" y="4261104"/>
            <a:ext cx="310896" cy="310896"/>
          </a:xfrm>
          <a:prstGeom prst="ellipse">
            <a:avLst/>
          </a:prstGeom>
          <a:solidFill>
            <a:srgbClr val="F4F1EA"/>
          </a:solidFill>
          <a:ln w="12700">
            <a:solidFill>
              <a:srgbClr val="F4F1EA"/>
            </a:solidFill>
            <a:prstDash val="solid"/>
          </a:ln>
        </p:spPr>
      </p:sp>
      <p:sp>
        <p:nvSpPr>
          <p:cNvPr id="50" name="Text 4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51" name="Text 4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مَوْقِفٌ</a:t>
            </a:r>
            <a:endParaRPr lang="ar-SA" sz="3000" dirty="0"/>
          </a:p>
        </p:txBody>
      </p:sp>
      <p:sp>
        <p:nvSpPr>
          <p:cNvPr id="52" name="Text 4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stance</a:t>
            </a:r>
            <a:endParaRPr lang="en-US" sz="1350" dirty="0"/>
          </a:p>
          <a:p>
            <a:pPr indent="0" marL="0">
              <a:buNone/>
            </a:pPr>
            <a:r>
              <a:rPr lang="en-US" sz="1100" i="1" dirty="0">
                <a:solidFill>
                  <a:srgbClr val="5A6472"/>
                </a:solidFill>
                <a:latin typeface="Calibri" pitchFamily="34" charset="0"/>
                <a:cs typeface="Amiri" pitchFamily="2" charset="-78"/>
              </a:rPr>
              <a:t>maw-qi-fun</a:t>
            </a:r>
            <a:endParaRPr lang="en-US" sz="135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60" b="1" spc="150" kern="0" dirty="0">
                <a:solidFill>
                  <a:srgbClr val="1B3B6F"/>
                </a:solidFill>
                <a:latin typeface="Calibri" pitchFamily="34" charset="0"/>
                <a:cs typeface="Amiri" pitchFamily="2" charset="-78"/>
              </a:rPr>
              <a:t>GRAMMAR FOCUS · PART 1 · HOW SURE IS THE SOURCE? (WEBSITE RULE 1 + TABLE) · CORE</a:t>
            </a:r>
            <a:endParaRPr lang="en-US" sz="86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The reporting verb signals certainty</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الفِعْلُ النَّاقِلُ وَدَرَجَةُ اليَقِينِ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How to read it</a:t>
            </a:r>
            <a:endParaRPr lang="en-US" sz="1100" dirty="0"/>
          </a:p>
        </p:txBody>
      </p:sp>
      <p:sp>
        <p:nvSpPr>
          <p:cNvPr id="17" name="Text 14"/>
          <p:cNvSpPr txBox="1"/>
          <p:nvPr/>
        </p:nvSpPr>
        <p:spPr>
          <a:xfrm>
            <a:off x="546811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Signals</a:t>
            </a:r>
            <a:endParaRPr lang="en-US" sz="1100" dirty="0"/>
          </a:p>
        </p:txBody>
      </p:sp>
      <p:sp>
        <p:nvSpPr>
          <p:cNvPr id="18" name="Text 15"/>
          <p:cNvSpPr txBox="1"/>
          <p:nvPr/>
        </p:nvSpPr>
        <p:spPr>
          <a:xfrm>
            <a:off x="2816352" y="1810512"/>
            <a:ext cx="2505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She · they</a:t>
            </a:r>
            <a:endParaRPr lang="en-US" sz="1100" dirty="0"/>
          </a:p>
        </p:txBody>
      </p:sp>
      <p:sp>
        <p:nvSpPr>
          <p:cNvPr id="19" name="Text 16"/>
          <p:cNvSpPr txBox="1"/>
          <p:nvPr/>
        </p:nvSpPr>
        <p:spPr>
          <a:xfrm>
            <a:off x="530352"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Reporting verb</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7882128" y="2267712"/>
            <a:ext cx="37764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confident (often official) source</a:t>
            </a:r>
            <a:endParaRPr lang="en-US" sz="1100" dirty="0"/>
          </a:p>
        </p:txBody>
      </p:sp>
      <p:sp>
        <p:nvSpPr>
          <p:cNvPr id="22" name="Text 19"/>
          <p:cNvSpPr txBox="1"/>
          <p:nvPr/>
        </p:nvSpPr>
        <p:spPr>
          <a:xfrm>
            <a:off x="550468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high certainty</a:t>
            </a:r>
            <a:endParaRPr lang="en-US" sz="1100" dirty="0"/>
          </a:p>
        </p:txBody>
      </p:sp>
      <p:sp>
        <p:nvSpPr>
          <p:cNvPr id="23" name="Text 20"/>
          <p:cNvSpPr txBox="1"/>
          <p:nvPr/>
        </p:nvSpPr>
        <p:spPr>
          <a:xfrm>
            <a:off x="2834640" y="2267712"/>
            <a:ext cx="24688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أَكَّدَتْ · أَكَّدُوا</a:t>
            </a:r>
            <a:endParaRPr lang="ar-SA" sz="1900" dirty="0"/>
          </a:p>
        </p:txBody>
      </p:sp>
      <p:sp>
        <p:nvSpPr>
          <p:cNvPr id="24" name="Text 21"/>
          <p:cNvSpPr txBox="1"/>
          <p:nvPr/>
        </p:nvSpPr>
        <p:spPr>
          <a:xfrm>
            <a:off x="548640" y="2267712"/>
            <a:ext cx="2103120" cy="559308"/>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cs typeface="Amiri" pitchFamily="2" charset="-78"/>
              </a:rPr>
              <a:t>أَكَّدَ</a:t>
            </a:r>
            <a:endParaRPr lang="ar-SA" sz="22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7882128" y="2881884"/>
            <a:ext cx="37764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backed by evidence</a:t>
            </a:r>
            <a:endParaRPr lang="en-US" sz="1100" dirty="0"/>
          </a:p>
        </p:txBody>
      </p:sp>
      <p:sp>
        <p:nvSpPr>
          <p:cNvPr id="29" name="Text 26"/>
          <p:cNvSpPr txBox="1"/>
          <p:nvPr/>
        </p:nvSpPr>
        <p:spPr>
          <a:xfrm>
            <a:off x="5504688" y="2881884"/>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proof</a:t>
            </a:r>
            <a:endParaRPr lang="en-US" sz="1100" dirty="0"/>
          </a:p>
        </p:txBody>
      </p:sp>
      <p:sp>
        <p:nvSpPr>
          <p:cNvPr id="30" name="Text 27"/>
          <p:cNvSpPr txBox="1"/>
          <p:nvPr/>
        </p:nvSpPr>
        <p:spPr>
          <a:xfrm>
            <a:off x="2834640" y="2881884"/>
            <a:ext cx="24688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أَثْبَتَتْ · أَثْبَتُوا</a:t>
            </a:r>
            <a:endParaRPr lang="ar-SA" sz="1900" dirty="0"/>
          </a:p>
        </p:txBody>
      </p:sp>
      <p:sp>
        <p:nvSpPr>
          <p:cNvPr id="31" name="Text 28"/>
          <p:cNvSpPr txBox="1"/>
          <p:nvPr/>
        </p:nvSpPr>
        <p:spPr>
          <a:xfrm>
            <a:off x="548640" y="2881884"/>
            <a:ext cx="2103120" cy="559308"/>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cs typeface="Amiri" pitchFamily="2" charset="-78"/>
              </a:rPr>
              <a:t>أَثْبَتَ</a:t>
            </a:r>
            <a:endParaRPr lang="ar-SA" sz="2200" dirty="0"/>
          </a:p>
        </p:txBody>
      </p:sp>
      <p:sp>
        <p:nvSpPr>
          <p:cNvPr id="32" name="Shape 29"/>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3" name="Text 30"/>
          <p:cNvSpPr txBox="1"/>
          <p:nvPr/>
        </p:nvSpPr>
        <p:spPr>
          <a:xfrm>
            <a:off x="7882128" y="3496056"/>
            <a:ext cx="37764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explains plainly</a:t>
            </a:r>
            <a:endParaRPr lang="en-US" sz="1100" dirty="0"/>
          </a:p>
        </p:txBody>
      </p:sp>
      <p:sp>
        <p:nvSpPr>
          <p:cNvPr id="34" name="Text 31"/>
          <p:cNvSpPr txBox="1"/>
          <p:nvPr/>
        </p:nvSpPr>
        <p:spPr>
          <a:xfrm>
            <a:off x="5504688" y="3496056"/>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neutral</a:t>
            </a:r>
            <a:endParaRPr lang="en-US" sz="1100" dirty="0"/>
          </a:p>
        </p:txBody>
      </p:sp>
      <p:sp>
        <p:nvSpPr>
          <p:cNvPr id="35" name="Text 32"/>
          <p:cNvSpPr txBox="1"/>
          <p:nvPr/>
        </p:nvSpPr>
        <p:spPr>
          <a:xfrm>
            <a:off x="2834640" y="3496056"/>
            <a:ext cx="24688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أَوْضَحَتْ · أَوْضَحُوا</a:t>
            </a:r>
            <a:endParaRPr lang="ar-SA" sz="1900" dirty="0"/>
          </a:p>
        </p:txBody>
      </p:sp>
      <p:sp>
        <p:nvSpPr>
          <p:cNvPr id="36" name="Text 33"/>
          <p:cNvSpPr txBox="1"/>
          <p:nvPr/>
        </p:nvSpPr>
        <p:spPr>
          <a:xfrm>
            <a:off x="548640" y="3496056"/>
            <a:ext cx="2103120" cy="559308"/>
          </a:xfrm>
          <a:prstGeom prst="rect">
            <a:avLst/>
          </a:prstGeom>
          <a:noFill/>
          <a:ln/>
        </p:spPr>
        <p:txBody>
          <a:bodyPr wrap="square" lIns="0" tIns="0" rIns="0" bIns="0" rtlCol="0" anchor="ctr"/>
          <a:lstStyle/>
          <a:p>
            <a:pPr rtl="1" algn="ctr" indent="0" marL="0">
              <a:buNone/>
            </a:pPr>
            <a:r>
              <a:rPr lang="ar-SA" altLang="en-US" sz="2200" b="1" dirty="0">
                <a:solidFill>
                  <a:srgbClr val="7B3FA0"/>
                </a:solidFill>
                <a:latin typeface="Amiri" pitchFamily="2" charset="-78"/>
                <a:cs typeface="Amiri" pitchFamily="2" charset="-78"/>
              </a:rPr>
              <a:t>أَوْضَحَ</a:t>
            </a:r>
            <a:endParaRPr lang="ar-SA" sz="2200" dirty="0"/>
          </a:p>
        </p:txBody>
      </p:sp>
      <p:sp>
        <p:nvSpPr>
          <p:cNvPr id="37" name="Shape 34"/>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9" name="Shape 36"/>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7882128" y="4110228"/>
            <a:ext cx="37764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admits something reluctantly</a:t>
            </a:r>
            <a:endParaRPr lang="en-US" sz="1100" dirty="0"/>
          </a:p>
        </p:txBody>
      </p:sp>
      <p:sp>
        <p:nvSpPr>
          <p:cNvPr id="41" name="Text 38"/>
          <p:cNvSpPr txBox="1"/>
          <p:nvPr/>
        </p:nvSpPr>
        <p:spPr>
          <a:xfrm>
            <a:off x="5504688" y="4110228"/>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concession</a:t>
            </a:r>
            <a:endParaRPr lang="en-US" sz="1100" dirty="0"/>
          </a:p>
        </p:txBody>
      </p:sp>
      <p:sp>
        <p:nvSpPr>
          <p:cNvPr id="42" name="Text 39"/>
          <p:cNvSpPr txBox="1"/>
          <p:nvPr/>
        </p:nvSpPr>
        <p:spPr>
          <a:xfrm>
            <a:off x="2834640" y="4110228"/>
            <a:ext cx="24688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اعْتَرَفَتْ · اعْتَرَفُوا</a:t>
            </a:r>
            <a:endParaRPr lang="ar-SA" sz="1900" dirty="0"/>
          </a:p>
        </p:txBody>
      </p:sp>
      <p:sp>
        <p:nvSpPr>
          <p:cNvPr id="43" name="Text 40"/>
          <p:cNvSpPr txBox="1"/>
          <p:nvPr/>
        </p:nvSpPr>
        <p:spPr>
          <a:xfrm>
            <a:off x="548640" y="4110228"/>
            <a:ext cx="2103120" cy="559308"/>
          </a:xfrm>
          <a:prstGeom prst="rect">
            <a:avLst/>
          </a:prstGeom>
          <a:noFill/>
          <a:ln/>
        </p:spPr>
        <p:txBody>
          <a:bodyPr wrap="square" lIns="0" tIns="0" rIns="0" bIns="0" rtlCol="0" anchor="ctr"/>
          <a:lstStyle/>
          <a:p>
            <a:pPr rtl="1" algn="ctr" indent="0" marL="0">
              <a:buNone/>
            </a:pPr>
            <a:r>
              <a:rPr lang="ar-SA" altLang="en-US" sz="2200" b="1" dirty="0">
                <a:solidFill>
                  <a:srgbClr val="7B3FA0"/>
                </a:solidFill>
                <a:latin typeface="Amiri" pitchFamily="2" charset="-78"/>
                <a:cs typeface="Amiri" pitchFamily="2" charset="-78"/>
              </a:rPr>
              <a:t>اعْتَرَفَ بِـ</a:t>
            </a:r>
            <a:endParaRPr lang="ar-SA" sz="2200" dirty="0"/>
          </a:p>
        </p:txBody>
      </p:sp>
      <p:sp>
        <p:nvSpPr>
          <p:cNvPr id="44" name="Shape 41"/>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5" name="Text 42"/>
          <p:cNvSpPr txBox="1"/>
          <p:nvPr/>
        </p:nvSpPr>
        <p:spPr>
          <a:xfrm>
            <a:off x="7882128" y="4724400"/>
            <a:ext cx="37764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writer is sceptical</a:t>
            </a:r>
            <a:endParaRPr lang="en-US" sz="1100" dirty="0"/>
          </a:p>
        </p:txBody>
      </p:sp>
      <p:sp>
        <p:nvSpPr>
          <p:cNvPr id="46" name="Text 43"/>
          <p:cNvSpPr txBox="1"/>
          <p:nvPr/>
        </p:nvSpPr>
        <p:spPr>
          <a:xfrm>
            <a:off x="5504688" y="4724400"/>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doubt</a:t>
            </a:r>
            <a:endParaRPr lang="en-US" sz="1100" dirty="0"/>
          </a:p>
        </p:txBody>
      </p:sp>
      <p:sp>
        <p:nvSpPr>
          <p:cNvPr id="47" name="Text 44"/>
          <p:cNvSpPr txBox="1"/>
          <p:nvPr/>
        </p:nvSpPr>
        <p:spPr>
          <a:xfrm>
            <a:off x="2834640" y="4724400"/>
            <a:ext cx="24688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ادَّعَتْ · ادَّعَوْا</a:t>
            </a:r>
            <a:endParaRPr lang="ar-SA" sz="1900" dirty="0"/>
          </a:p>
        </p:txBody>
      </p:sp>
      <p:sp>
        <p:nvSpPr>
          <p:cNvPr id="48" name="Text 45"/>
          <p:cNvSpPr txBox="1"/>
          <p:nvPr/>
        </p:nvSpPr>
        <p:spPr>
          <a:xfrm>
            <a:off x="548640" y="4724400"/>
            <a:ext cx="2103120" cy="559308"/>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cs typeface="Amiri" pitchFamily="2" charset="-78"/>
              </a:rPr>
              <a:t>ادَّعَى</a:t>
            </a:r>
            <a:endParaRPr lang="ar-SA" sz="2200" dirty="0"/>
          </a:p>
        </p:txBody>
      </p:sp>
      <p:sp>
        <p:nvSpPr>
          <p:cNvPr id="49" name="Shape 46"/>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7882128" y="5338572"/>
            <a:ext cx="37764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writer thinks it is false</a:t>
            </a:r>
            <a:endParaRPr lang="en-US" sz="1100" dirty="0"/>
          </a:p>
        </p:txBody>
      </p:sp>
      <p:sp>
        <p:nvSpPr>
          <p:cNvPr id="53" name="Text 50"/>
          <p:cNvSpPr txBox="1"/>
          <p:nvPr/>
        </p:nvSpPr>
        <p:spPr>
          <a:xfrm>
            <a:off x="5504688" y="533857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strong doubt</a:t>
            </a:r>
            <a:endParaRPr lang="en-US" sz="1100" dirty="0"/>
          </a:p>
        </p:txBody>
      </p:sp>
      <p:sp>
        <p:nvSpPr>
          <p:cNvPr id="54" name="Text 51"/>
          <p:cNvSpPr txBox="1"/>
          <p:nvPr/>
        </p:nvSpPr>
        <p:spPr>
          <a:xfrm>
            <a:off x="2834640" y="5338572"/>
            <a:ext cx="24688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زَعَمَتْ · زَعَمُوا</a:t>
            </a:r>
            <a:endParaRPr lang="ar-SA" sz="1900" dirty="0"/>
          </a:p>
        </p:txBody>
      </p:sp>
      <p:sp>
        <p:nvSpPr>
          <p:cNvPr id="55" name="Text 52"/>
          <p:cNvSpPr txBox="1"/>
          <p:nvPr/>
        </p:nvSpPr>
        <p:spPr>
          <a:xfrm>
            <a:off x="548640" y="5338572"/>
            <a:ext cx="2103120" cy="559308"/>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cs typeface="Amiri" pitchFamily="2" charset="-78"/>
              </a:rPr>
              <a:t>زَعَمَ</a:t>
            </a:r>
            <a:endParaRPr lang="ar-SA" sz="22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mistake 1: iddaʿā does NOT mean the writer is confident — it signals doubt.</a:t>
            </a:r>
            <a:endParaRPr lang="en-US" sz="11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18" b="1" spc="150" kern="0" dirty="0">
                <a:solidFill>
                  <a:srgbClr val="1B3B6F"/>
                </a:solidFill>
                <a:latin typeface="Calibri" pitchFamily="34" charset="0"/>
                <a:cs typeface="Amiri" pitchFamily="2" charset="-78"/>
              </a:rPr>
              <a:t>GRAMMAR FOCUS · PART 2 · WHOSE VIEW IS IT? (WEBSITE RULE 2) · CORE / DEVELOP</a:t>
            </a:r>
            <a:endParaRPr lang="en-US" sz="91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The writer’s view — or someone else’s?</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رَأْيُ الكَاتِبِ أَمْ رَأْيُ غَيْرِهِ؟</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P2-L08</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44018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CITED VIEW · CORE</a:t>
            </a:r>
            <a:endParaRPr lang="en-US" sz="850" dirty="0"/>
          </a:p>
        </p:txBody>
      </p:sp>
      <p:sp>
        <p:nvSpPr>
          <p:cNvPr id="18" name="Text 15"/>
          <p:cNvSpPr txBox="1"/>
          <p:nvPr/>
        </p:nvSpPr>
        <p:spPr>
          <a:xfrm>
            <a:off x="9718548"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أَشَارَ التَّقْرِيرُ</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أَشَارَ التَّقْرِيرُ إِلَى أَنَّ الفَجْوَةَ قَائِمَةٌ.</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report pointed out that the gap exists.</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The report’s view.</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303020" cy="274320"/>
          </a:xfrm>
          <a:prstGeom prst="roundRect">
            <a:avLst>
              <a:gd name="adj" fmla="val 50000"/>
            </a:avLst>
          </a:prstGeom>
          <a:solidFill>
            <a:srgbClr val="1E6B52"/>
          </a:solidFill>
          <a:ln w="12700">
            <a:solidFill>
              <a:srgbClr val="1E6B52"/>
            </a:solidFill>
            <a:prstDash val="solid"/>
          </a:ln>
        </p:spPr>
      </p:sp>
      <p:sp>
        <p:nvSpPr>
          <p:cNvPr id="25" name="Text 22"/>
          <p:cNvSpPr txBox="1"/>
          <p:nvPr/>
        </p:nvSpPr>
        <p:spPr>
          <a:xfrm>
            <a:off x="4413504"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OWN VIEW · CORE</a:t>
            </a:r>
            <a:endParaRPr lang="en-US" sz="850" dirty="0"/>
          </a:p>
        </p:txBody>
      </p:sp>
      <p:sp>
        <p:nvSpPr>
          <p:cNvPr id="26" name="Text 23"/>
          <p:cNvSpPr txBox="1"/>
          <p:nvPr/>
        </p:nvSpPr>
        <p:spPr>
          <a:xfrm>
            <a:off x="5762244"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أَرَى أَنَّ</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2" charset="-78"/>
                <a:cs typeface="Amiri" pitchFamily="2" charset="-78"/>
              </a:rPr>
              <a:t>أَرَى أَنَّ الإِصْلَاحَ ضَرُورِيٌّ.</a:t>
            </a:r>
            <a:endParaRPr lang="ar-SA" sz="31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believe reform is necessary.</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The writer’s view.</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988820" cy="274320"/>
          </a:xfrm>
          <a:prstGeom prst="roundRect">
            <a:avLst>
              <a:gd name="adj" fmla="val 50000"/>
            </a:avLst>
          </a:prstGeom>
          <a:solidFill>
            <a:srgbClr val="C0386B"/>
          </a:solidFill>
          <a:ln w="12700">
            <a:solidFill>
              <a:srgbClr val="C0386B"/>
            </a:solidFill>
            <a:prstDash val="solid"/>
          </a:ln>
        </p:spPr>
      </p:sp>
      <p:sp>
        <p:nvSpPr>
          <p:cNvPr id="33" name="Text 30"/>
          <p:cNvSpPr txBox="1"/>
          <p:nvPr/>
        </p:nvSpPr>
        <p:spPr>
          <a:xfrm>
            <a:off x="594360" y="1920240"/>
            <a:ext cx="19888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CITED + DOUBTED · DEVELOP</a:t>
            </a:r>
            <a:endParaRPr lang="en-US" sz="850" dirty="0"/>
          </a:p>
        </p:txBody>
      </p:sp>
      <p:sp>
        <p:nvSpPr>
          <p:cNvPr id="34" name="Text 31"/>
          <p:cNvSpPr txBox="1"/>
          <p:nvPr/>
        </p:nvSpPr>
        <p:spPr>
          <a:xfrm>
            <a:off x="2628900" y="1874520"/>
            <a:ext cx="13274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يَدَّعِي … لٰكِنَّ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يَدَّعِي بَعْضُ المَسْؤُولِينَ أَنَّ كُلَّ شَيْءٍ عَلَى مَا يُرَامُ، لٰكِنَّ الوَاقِعَ مُخْتَلِفٌ.</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Some officials claim all is well, but reality is different.</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Cited, then rejected.</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common error: reported speech is not always the writer’s own view.</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cs typeface="Amiri" pitchFamily="2" charset="-78"/>
              </a:rPr>
              <a:t>الكَلَامُ المَنْقُولُ قَدْ يَنْقُلُ رَأْيَ غَيْرِهِ</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cs typeface="Amiri" pitchFamily="2" charset="-78"/>
              </a:rPr>
              <a:t>الكَلَامُ المَنْقُولُ رَأْيُ الكَاتِبِ دَائِمًا</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3 · THE CONDITIONAL TYPE IS AN ARGUMENT SIGNAL (WEBSITE RULE 3 + TEACHING POINT 2)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Proposal or counterfactual?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اقْتِرَاحٌ أَمْ حُجَّةٌ افْتِرَاضِيَّةٌ؟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119872" y="1810512"/>
            <a:ext cx="35387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the writer is doing</a:t>
            </a:r>
            <a:endParaRPr lang="en-US" sz="1100" dirty="0"/>
          </a:p>
        </p:txBody>
      </p:sp>
      <p:sp>
        <p:nvSpPr>
          <p:cNvPr id="17" name="Text 14"/>
          <p:cNvSpPr txBox="1"/>
          <p:nvPr/>
        </p:nvSpPr>
        <p:spPr>
          <a:xfrm>
            <a:off x="6291072"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Type</a:t>
            </a:r>
            <a:endParaRPr lang="en-US" sz="1100" dirty="0"/>
          </a:p>
        </p:txBody>
      </p:sp>
      <p:sp>
        <p:nvSpPr>
          <p:cNvPr id="18" name="Text 15"/>
          <p:cNvSpPr txBox="1"/>
          <p:nvPr/>
        </p:nvSpPr>
        <p:spPr>
          <a:xfrm>
            <a:off x="530352" y="1810512"/>
            <a:ext cx="5614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Sentence from an education text</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156448" y="2267712"/>
            <a:ext cx="35021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proposing a realistic way forward</a:t>
            </a:r>
            <a:endParaRPr lang="en-US" sz="1100" dirty="0"/>
          </a:p>
        </p:txBody>
      </p:sp>
      <p:sp>
        <p:nvSpPr>
          <p:cNvPr id="21" name="Text 18"/>
          <p:cNvSpPr txBox="1"/>
          <p:nvPr/>
        </p:nvSpPr>
        <p:spPr>
          <a:xfrm>
            <a:off x="6327648" y="2267712"/>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real (idhā)</a:t>
            </a:r>
            <a:endParaRPr lang="en-US" sz="1100" dirty="0"/>
          </a:p>
        </p:txBody>
      </p:sp>
      <p:sp>
        <p:nvSpPr>
          <p:cNvPr id="22" name="Text 19"/>
          <p:cNvSpPr txBox="1"/>
          <p:nvPr/>
        </p:nvSpPr>
        <p:spPr>
          <a:xfrm>
            <a:off x="548640" y="2267712"/>
            <a:ext cx="5577840" cy="731520"/>
          </a:xfrm>
          <a:prstGeom prst="rect">
            <a:avLst/>
          </a:prstGeom>
          <a:noFill/>
          <a:ln/>
        </p:spPr>
        <p:txBody>
          <a:bodyPr wrap="square" lIns="0" tIns="0" rIns="0" bIns="0" rtlCol="0" anchor="ctr"/>
          <a:lstStyle/>
          <a:p>
            <a:pPr rtl="1" algn="ctr" indent="0" marL="0">
              <a:buNone/>
            </a:pPr>
            <a:r>
              <a:rPr lang="ar-SA" altLang="en-US" sz="1800" b="1" dirty="0">
                <a:solidFill>
                  <a:srgbClr val="0E7C86"/>
                </a:solidFill>
                <a:latin typeface="Amiri" pitchFamily="2" charset="-78"/>
                <a:cs typeface="Amiri" pitchFamily="2" charset="-78"/>
              </a:rPr>
              <a:t>إِذَا اسْتَمَرَّ</a:t>
            </a:r>
            <a:pPr rtl="1" algn="ctr" indent="0" marL="0">
              <a:buNone/>
            </a:pPr>
            <a:r>
              <a:rPr lang="ar-SA" altLang="en-US" sz="1800" b="1" dirty="0">
                <a:solidFill>
                  <a:srgbClr val="1B3B6F"/>
                </a:solidFill>
                <a:latin typeface="Amiri" pitchFamily="2" charset="-78"/>
                <a:cs typeface="Amiri" pitchFamily="2" charset="-78"/>
              </a:rPr>
              <a:t> الاسْتِثْمَارُ، </a:t>
            </a:r>
            <a:pPr rtl="1" algn="ctr" indent="0" marL="0">
              <a:buNone/>
            </a:pPr>
            <a:r>
              <a:rPr lang="ar-SA" altLang="en-US" sz="1800" b="1" dirty="0">
                <a:solidFill>
                  <a:srgbClr val="0E7C86"/>
                </a:solidFill>
                <a:latin typeface="Amiri" pitchFamily="2" charset="-78"/>
                <a:cs typeface="Amiri" pitchFamily="2" charset="-78"/>
              </a:rPr>
              <a:t>سَتَتَقَلَّصُ</a:t>
            </a:r>
            <a:pPr rtl="1" algn="ctr" indent="0" marL="0">
              <a:buNone/>
            </a:pPr>
            <a:r>
              <a:rPr lang="ar-SA" altLang="en-US" sz="1800" b="1" dirty="0">
                <a:solidFill>
                  <a:srgbClr val="1B3B6F"/>
                </a:solidFill>
                <a:latin typeface="Amiri" pitchFamily="2" charset="-78"/>
                <a:cs typeface="Amiri" pitchFamily="2" charset="-78"/>
              </a:rPr>
              <a:t> الفَجْوَةُ.</a:t>
            </a:r>
            <a:endParaRPr lang="ar-SA" sz="18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156448" y="3054096"/>
            <a:ext cx="35021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criticising: they were NOT funded</a:t>
            </a:r>
            <a:endParaRPr lang="en-US" sz="1100" dirty="0"/>
          </a:p>
        </p:txBody>
      </p:sp>
      <p:sp>
        <p:nvSpPr>
          <p:cNvPr id="27" name="Text 24"/>
          <p:cNvSpPr txBox="1"/>
          <p:nvPr/>
        </p:nvSpPr>
        <p:spPr>
          <a:xfrm>
            <a:off x="6327648" y="3054096"/>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hypothetical (law)</a:t>
            </a:r>
            <a:endParaRPr lang="en-US" sz="1100" dirty="0"/>
          </a:p>
        </p:txBody>
      </p:sp>
      <p:sp>
        <p:nvSpPr>
          <p:cNvPr id="28" name="Text 25"/>
          <p:cNvSpPr txBox="1"/>
          <p:nvPr/>
        </p:nvSpPr>
        <p:spPr>
          <a:xfrm>
            <a:off x="548640" y="3054096"/>
            <a:ext cx="5577840" cy="731520"/>
          </a:xfrm>
          <a:prstGeom prst="rect">
            <a:avLst/>
          </a:prstGeom>
          <a:noFill/>
          <a:ln/>
        </p:spPr>
        <p:txBody>
          <a:bodyPr wrap="square" lIns="0" tIns="0" rIns="0" bIns="0" rtlCol="0" anchor="ctr"/>
          <a:lstStyle/>
          <a:p>
            <a:pPr rtl="1" algn="ctr" indent="0" marL="0">
              <a:buNone/>
            </a:pPr>
            <a:r>
              <a:rPr lang="ar-SA" altLang="en-US" sz="1800" b="1" dirty="0">
                <a:solidFill>
                  <a:srgbClr val="D6336C"/>
                </a:solidFill>
                <a:latin typeface="Amiri" pitchFamily="2" charset="-78"/>
                <a:cs typeface="Amiri" pitchFamily="2" charset="-78"/>
              </a:rPr>
              <a:t>لَوْ كَانَتِ</a:t>
            </a:r>
            <a:pPr rtl="1" algn="ctr" indent="0" marL="0">
              <a:buNone/>
            </a:pPr>
            <a:r>
              <a:rPr lang="ar-SA" altLang="en-US" sz="1800" b="1" dirty="0">
                <a:solidFill>
                  <a:srgbClr val="1B3B6F"/>
                </a:solidFill>
                <a:latin typeface="Amiri" pitchFamily="2" charset="-78"/>
                <a:cs typeface="Amiri" pitchFamily="2" charset="-78"/>
              </a:rPr>
              <a:t> المَدَارِسُ الرِّيفِيَّةُ مُمَوَّلَةً، </a:t>
            </a:r>
            <a:pPr rtl="1" algn="ctr" indent="0" marL="0">
              <a:buNone/>
            </a:pPr>
            <a:r>
              <a:rPr lang="ar-SA" altLang="en-US" sz="1800" b="1" dirty="0">
                <a:solidFill>
                  <a:srgbClr val="D6336C"/>
                </a:solidFill>
                <a:latin typeface="Amiri" pitchFamily="2" charset="-78"/>
                <a:cs typeface="Amiri" pitchFamily="2" charset="-78"/>
              </a:rPr>
              <a:t>لَاخْتَفَتِ</a:t>
            </a:r>
            <a:pPr rtl="1" algn="ctr" indent="0" marL="0">
              <a:buNone/>
            </a:pPr>
            <a:r>
              <a:rPr lang="ar-SA" altLang="en-US" sz="1800" b="1" dirty="0">
                <a:solidFill>
                  <a:srgbClr val="1B3B6F"/>
                </a:solidFill>
                <a:latin typeface="Amiri" pitchFamily="2" charset="-78"/>
                <a:cs typeface="Amiri" pitchFamily="2" charset="-78"/>
              </a:rPr>
              <a:t> الفَجْوَةُ.</a:t>
            </a:r>
            <a:endParaRPr lang="ar-SA" sz="18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156448" y="3840480"/>
            <a:ext cx="35021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proposal for the future</a:t>
            </a:r>
            <a:endParaRPr lang="en-US" sz="1100" dirty="0"/>
          </a:p>
        </p:txBody>
      </p:sp>
      <p:sp>
        <p:nvSpPr>
          <p:cNvPr id="33" name="Text 30"/>
          <p:cNvSpPr txBox="1"/>
          <p:nvPr/>
        </p:nvSpPr>
        <p:spPr>
          <a:xfrm>
            <a:off x="6327648" y="3840480"/>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real (idhā)</a:t>
            </a:r>
            <a:endParaRPr lang="en-US" sz="1100" dirty="0"/>
          </a:p>
        </p:txBody>
      </p:sp>
      <p:sp>
        <p:nvSpPr>
          <p:cNvPr id="34" name="Text 31"/>
          <p:cNvSpPr txBox="1"/>
          <p:nvPr/>
        </p:nvSpPr>
        <p:spPr>
          <a:xfrm>
            <a:off x="548640" y="3840480"/>
            <a:ext cx="5577840" cy="731520"/>
          </a:xfrm>
          <a:prstGeom prst="rect">
            <a:avLst/>
          </a:prstGeom>
          <a:noFill/>
          <a:ln/>
        </p:spPr>
        <p:txBody>
          <a:bodyPr wrap="square" lIns="0" tIns="0" rIns="0" bIns="0" rtlCol="0" anchor="ctr"/>
          <a:lstStyle/>
          <a:p>
            <a:pPr rtl="1" algn="ctr" indent="0" marL="0">
              <a:buNone/>
            </a:pPr>
            <a:r>
              <a:rPr lang="ar-SA" altLang="en-US" sz="1800" b="1" dirty="0">
                <a:solidFill>
                  <a:srgbClr val="0E7C86"/>
                </a:solidFill>
                <a:latin typeface="Amiri" pitchFamily="2" charset="-78"/>
                <a:cs typeface="Amiri" pitchFamily="2" charset="-78"/>
              </a:rPr>
              <a:t>إِذَا زَادَ</a:t>
            </a:r>
            <a:pPr rtl="1" algn="ctr" indent="0" marL="0">
              <a:buNone/>
            </a:pPr>
            <a:r>
              <a:rPr lang="ar-SA" altLang="en-US" sz="1800" b="1" dirty="0">
                <a:solidFill>
                  <a:srgbClr val="1B3B6F"/>
                </a:solidFill>
                <a:latin typeface="Amiri" pitchFamily="2" charset="-78"/>
                <a:cs typeface="Amiri" pitchFamily="2" charset="-78"/>
              </a:rPr>
              <a:t> الإِنْفَاقُ، </a:t>
            </a:r>
            <a:pPr rtl="1" algn="ctr" indent="0" marL="0">
              <a:buNone/>
            </a:pPr>
            <a:r>
              <a:rPr lang="ar-SA" altLang="en-US" sz="1800" b="1" dirty="0">
                <a:solidFill>
                  <a:srgbClr val="0E7C86"/>
                </a:solidFill>
                <a:latin typeface="Amiri" pitchFamily="2" charset="-78"/>
                <a:cs typeface="Amiri" pitchFamily="2" charset="-78"/>
              </a:rPr>
              <a:t>سَتَتَحَسَّنُ</a:t>
            </a:r>
            <a:pPr rtl="1" algn="ctr" indent="0" marL="0">
              <a:buNone/>
            </a:pPr>
            <a:r>
              <a:rPr lang="ar-SA" altLang="en-US" sz="1800" b="1" dirty="0">
                <a:solidFill>
                  <a:srgbClr val="1B3B6F"/>
                </a:solidFill>
                <a:latin typeface="Amiri" pitchFamily="2" charset="-78"/>
                <a:cs typeface="Amiri" pitchFamily="2" charset="-78"/>
              </a:rPr>
              <a:t> النَّتَائِجُ.</a:t>
            </a:r>
            <a:endParaRPr lang="ar-SA" sz="180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8156448" y="4626864"/>
            <a:ext cx="35021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implying spending did NOT rise</a:t>
            </a:r>
            <a:endParaRPr lang="en-US" sz="1100" dirty="0"/>
          </a:p>
        </p:txBody>
      </p:sp>
      <p:sp>
        <p:nvSpPr>
          <p:cNvPr id="37" name="Text 34"/>
          <p:cNvSpPr txBox="1"/>
          <p:nvPr/>
        </p:nvSpPr>
        <p:spPr>
          <a:xfrm>
            <a:off x="6327648" y="4626864"/>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hypothetical (law)</a:t>
            </a:r>
            <a:endParaRPr lang="en-US" sz="1100" dirty="0"/>
          </a:p>
        </p:txBody>
      </p:sp>
      <p:sp>
        <p:nvSpPr>
          <p:cNvPr id="38" name="Text 35"/>
          <p:cNvSpPr txBox="1"/>
          <p:nvPr/>
        </p:nvSpPr>
        <p:spPr>
          <a:xfrm>
            <a:off x="548640" y="4626864"/>
            <a:ext cx="5577840" cy="731520"/>
          </a:xfrm>
          <a:prstGeom prst="rect">
            <a:avLst/>
          </a:prstGeom>
          <a:noFill/>
          <a:ln/>
        </p:spPr>
        <p:txBody>
          <a:bodyPr wrap="square" lIns="0" tIns="0" rIns="0" bIns="0" rtlCol="0" anchor="ctr"/>
          <a:lstStyle/>
          <a:p>
            <a:pPr rtl="1" algn="ctr" indent="0" marL="0">
              <a:buNone/>
            </a:pPr>
            <a:r>
              <a:rPr lang="ar-SA" altLang="en-US" sz="1800" b="1" dirty="0">
                <a:solidFill>
                  <a:srgbClr val="D6336C"/>
                </a:solidFill>
                <a:latin typeface="Amiri" pitchFamily="2" charset="-78"/>
                <a:cs typeface="Amiri" pitchFamily="2" charset="-78"/>
              </a:rPr>
              <a:t>لَوْ زَادَ</a:t>
            </a:r>
            <a:pPr rtl="1" algn="ctr" indent="0" marL="0">
              <a:buNone/>
            </a:pPr>
            <a:r>
              <a:rPr lang="ar-SA" altLang="en-US" sz="1800" b="1" dirty="0">
                <a:solidFill>
                  <a:srgbClr val="1B3B6F"/>
                </a:solidFill>
                <a:latin typeface="Amiri" pitchFamily="2" charset="-78"/>
                <a:cs typeface="Amiri" pitchFamily="2" charset="-78"/>
              </a:rPr>
              <a:t> الإِنْفَاقُ، </a:t>
            </a:r>
            <a:pPr rtl="1" algn="ctr" indent="0" marL="0">
              <a:buNone/>
            </a:pPr>
            <a:r>
              <a:rPr lang="ar-SA" altLang="en-US" sz="1800" b="1" dirty="0">
                <a:solidFill>
                  <a:srgbClr val="D6336C"/>
                </a:solidFill>
                <a:latin typeface="Amiri" pitchFamily="2" charset="-78"/>
                <a:cs typeface="Amiri" pitchFamily="2" charset="-78"/>
              </a:rPr>
              <a:t>لَتَحَسَّنَتِ</a:t>
            </a:r>
            <a:pPr rtl="1" algn="ctr" indent="0" marL="0">
              <a:buNone/>
            </a:pPr>
            <a:r>
              <a:rPr lang="ar-SA" altLang="en-US" sz="1800" b="1" dirty="0">
                <a:solidFill>
                  <a:srgbClr val="1B3B6F"/>
                </a:solidFill>
                <a:latin typeface="Amiri" pitchFamily="2" charset="-78"/>
                <a:cs typeface="Amiri" pitchFamily="2" charset="-78"/>
              </a:rPr>
              <a:t> النَّتَائِجُ.</a:t>
            </a:r>
            <a:endParaRPr lang="ar-SA" sz="18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law hides a criticism: it tells the reader what did NOT happen.</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4 · MENTION VS RECOMMEND, AND THE VERBS OF AN ANSWER (WEBSITE RULE 4 + VOCABULARY)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Mentioning is not recommending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الذِّكْرُ لَيْسَ تَوْصِيَةً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119872" y="1810512"/>
            <a:ext cx="35387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it means</a:t>
            </a:r>
            <a:endParaRPr lang="en-US" sz="1100" dirty="0"/>
          </a:p>
        </p:txBody>
      </p:sp>
      <p:sp>
        <p:nvSpPr>
          <p:cNvPr id="17" name="Text 14"/>
          <p:cNvSpPr txBox="1"/>
          <p:nvPr/>
        </p:nvSpPr>
        <p:spPr>
          <a:xfrm>
            <a:off x="3182112" y="1810512"/>
            <a:ext cx="4791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8" name="Text 15"/>
          <p:cNvSpPr txBox="1"/>
          <p:nvPr/>
        </p:nvSpPr>
        <p:spPr>
          <a:xfrm>
            <a:off x="530352" y="1810512"/>
            <a:ext cx="2505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 + partner</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8156448" y="2267712"/>
            <a:ext cx="35021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mentions it (direct object) — no advice</a:t>
            </a:r>
            <a:endParaRPr lang="en-US" sz="1100" dirty="0"/>
          </a:p>
        </p:txBody>
      </p:sp>
      <p:sp>
        <p:nvSpPr>
          <p:cNvPr id="21" name="Text 18"/>
          <p:cNvSpPr txBox="1"/>
          <p:nvPr/>
        </p:nvSpPr>
        <p:spPr>
          <a:xfrm>
            <a:off x="3200400" y="2267712"/>
            <a:ext cx="475488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ذَكَرَ التَّقْرِيرُ </a:t>
            </a:r>
            <a:pPr rtl="1" algn="ctr" indent="0" marL="0">
              <a:buNone/>
            </a:pPr>
            <a:r>
              <a:rPr lang="ar-SA" altLang="en-US" sz="1900" b="1" dirty="0">
                <a:solidFill>
                  <a:srgbClr val="7B3FA0"/>
                </a:solidFill>
                <a:latin typeface="Amiri" pitchFamily="2" charset="-78"/>
                <a:cs typeface="Amiri" pitchFamily="2" charset="-78"/>
              </a:rPr>
              <a:t>الفَجْوَةَ</a:t>
            </a:r>
            <a:pPr rtl="1" algn="ctr" indent="0" marL="0">
              <a:buNone/>
            </a:pPr>
            <a:r>
              <a:rPr lang="ar-SA" altLang="en-US" sz="1900" b="1" dirty="0">
                <a:solidFill>
                  <a:srgbClr val="1B3B6F"/>
                </a:solidFill>
                <a:latin typeface="Amiri" pitchFamily="2" charset="-78"/>
                <a:cs typeface="Amiri" pitchFamily="2" charset="-78"/>
              </a:rPr>
              <a:t>.</a:t>
            </a:r>
            <a:endParaRPr lang="ar-SA" sz="1900" dirty="0"/>
          </a:p>
        </p:txBody>
      </p:sp>
      <p:sp>
        <p:nvSpPr>
          <p:cNvPr id="22" name="Text 19"/>
          <p:cNvSpPr txBox="1"/>
          <p:nvPr/>
        </p:nvSpPr>
        <p:spPr>
          <a:xfrm>
            <a:off x="548640" y="2267712"/>
            <a:ext cx="2468880" cy="68214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cs typeface="Amiri" pitchFamily="2" charset="-78"/>
              </a:rPr>
              <a:t>يَذْكُرُ</a:t>
            </a:r>
            <a:endParaRPr lang="ar-SA" sz="20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8156448" y="3004718"/>
            <a:ext cx="35021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recommends action</a:t>
            </a:r>
            <a:endParaRPr lang="en-US" sz="1100" dirty="0"/>
          </a:p>
        </p:txBody>
      </p:sp>
      <p:sp>
        <p:nvSpPr>
          <p:cNvPr id="27" name="Text 24"/>
          <p:cNvSpPr txBox="1"/>
          <p:nvPr/>
        </p:nvSpPr>
        <p:spPr>
          <a:xfrm>
            <a:off x="3200400" y="3004718"/>
            <a:ext cx="475488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أَوْصَى التَّقْرِيرُ </a:t>
            </a:r>
            <a:pPr rtl="1" algn="ctr" indent="0" marL="0">
              <a:buNone/>
            </a:pPr>
            <a:r>
              <a:rPr lang="ar-SA" altLang="en-US" sz="1900" b="1" dirty="0">
                <a:solidFill>
                  <a:srgbClr val="1D5FBF"/>
                </a:solidFill>
                <a:latin typeface="Amiri" pitchFamily="2" charset="-78"/>
                <a:cs typeface="Amiri" pitchFamily="2" charset="-78"/>
              </a:rPr>
              <a:t>بِسَدِّ</a:t>
            </a:r>
            <a:pPr rtl="1" algn="ctr" indent="0" marL="0">
              <a:buNone/>
            </a:pPr>
            <a:r>
              <a:rPr lang="ar-SA" altLang="en-US" sz="1900" b="1" dirty="0">
                <a:solidFill>
                  <a:srgbClr val="1B3B6F"/>
                </a:solidFill>
                <a:latin typeface="Amiri" pitchFamily="2" charset="-78"/>
                <a:cs typeface="Amiri" pitchFamily="2" charset="-78"/>
              </a:rPr>
              <a:t> الفَجْوَةِ.</a:t>
            </a:r>
            <a:endParaRPr lang="ar-SA" sz="1900" dirty="0"/>
          </a:p>
        </p:txBody>
      </p:sp>
      <p:sp>
        <p:nvSpPr>
          <p:cNvPr id="28" name="Text 25"/>
          <p:cNvSpPr txBox="1"/>
          <p:nvPr/>
        </p:nvSpPr>
        <p:spPr>
          <a:xfrm>
            <a:off x="548640" y="3004718"/>
            <a:ext cx="246888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2" charset="-78"/>
                <a:cs typeface="Amiri" pitchFamily="2" charset="-78"/>
              </a:rPr>
              <a:t>يُوصِي بِـ</a:t>
            </a:r>
            <a:endParaRPr lang="ar-SA" sz="20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8156448" y="3741725"/>
            <a:ext cx="35021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proposes a solution (direct object)</a:t>
            </a:r>
            <a:endParaRPr lang="en-US" sz="1100" dirty="0"/>
          </a:p>
        </p:txBody>
      </p:sp>
      <p:sp>
        <p:nvSpPr>
          <p:cNvPr id="33" name="Text 30"/>
          <p:cNvSpPr txBox="1"/>
          <p:nvPr/>
        </p:nvSpPr>
        <p:spPr>
          <a:xfrm>
            <a:off x="3200400" y="3741725"/>
            <a:ext cx="475488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يَقْتَرِحُ التَّقْرِيرُ حَلًّا وَاقِعِيًّا.</a:t>
            </a:r>
            <a:endParaRPr lang="ar-SA" sz="1900" dirty="0"/>
          </a:p>
        </p:txBody>
      </p:sp>
      <p:sp>
        <p:nvSpPr>
          <p:cNvPr id="34" name="Text 31"/>
          <p:cNvSpPr txBox="1"/>
          <p:nvPr/>
        </p:nvSpPr>
        <p:spPr>
          <a:xfrm>
            <a:off x="548640" y="3741725"/>
            <a:ext cx="246888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2" charset="-78"/>
                <a:cs typeface="Amiri" pitchFamily="2" charset="-78"/>
              </a:rPr>
              <a:t>يَقْتَرِحُ</a:t>
            </a:r>
            <a:endParaRPr lang="ar-SA" sz="20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8156448" y="4478731"/>
            <a:ext cx="35021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reaches a conclusion</a:t>
            </a:r>
            <a:endParaRPr lang="en-US" sz="1100" dirty="0"/>
          </a:p>
        </p:txBody>
      </p:sp>
      <p:sp>
        <p:nvSpPr>
          <p:cNvPr id="37" name="Text 34"/>
          <p:cNvSpPr txBox="1"/>
          <p:nvPr/>
        </p:nvSpPr>
        <p:spPr>
          <a:xfrm>
            <a:off x="3200400" y="4478731"/>
            <a:ext cx="475488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يَتَوَصَّلُ الكَاتِبُ </a:t>
            </a:r>
            <a:pPr rtl="1" algn="ctr" indent="0" marL="0">
              <a:buNone/>
            </a:pPr>
            <a:r>
              <a:rPr lang="ar-SA" altLang="en-US" sz="1900" b="1" dirty="0">
                <a:solidFill>
                  <a:srgbClr val="0E7C86"/>
                </a:solidFill>
                <a:latin typeface="Amiri" pitchFamily="2" charset="-78"/>
                <a:cs typeface="Amiri" pitchFamily="2" charset="-78"/>
              </a:rPr>
              <a:t>إِلَى</a:t>
            </a:r>
            <a:pPr rtl="1" algn="ctr" indent="0" marL="0">
              <a:buNone/>
            </a:pPr>
            <a:r>
              <a:rPr lang="ar-SA" altLang="en-US" sz="1900" b="1" dirty="0">
                <a:solidFill>
                  <a:srgbClr val="1B3B6F"/>
                </a:solidFill>
                <a:latin typeface="Amiri" pitchFamily="2" charset="-78"/>
                <a:cs typeface="Amiri" pitchFamily="2" charset="-78"/>
              </a:rPr>
              <a:t> نَتِيجَةٍ وَاضِحَةٍ.</a:t>
            </a:r>
            <a:endParaRPr lang="ar-SA" sz="1900" dirty="0"/>
          </a:p>
        </p:txBody>
      </p:sp>
      <p:sp>
        <p:nvSpPr>
          <p:cNvPr id="38" name="Text 35"/>
          <p:cNvSpPr txBox="1"/>
          <p:nvPr/>
        </p:nvSpPr>
        <p:spPr>
          <a:xfrm>
            <a:off x="548640" y="4478731"/>
            <a:ext cx="2468880" cy="682142"/>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2" charset="-78"/>
                <a:cs typeface="Amiri" pitchFamily="2" charset="-78"/>
              </a:rPr>
              <a:t>يَتَوَصَّلُ إِلَى</a:t>
            </a:r>
            <a:endParaRPr lang="ar-SA" sz="20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8156448" y="5215738"/>
            <a:ext cx="35021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cites evidence</a:t>
            </a:r>
            <a:endParaRPr lang="en-US" sz="1100" dirty="0"/>
          </a:p>
        </p:txBody>
      </p:sp>
      <p:sp>
        <p:nvSpPr>
          <p:cNvPr id="41" name="Text 38"/>
          <p:cNvSpPr txBox="1"/>
          <p:nvPr/>
        </p:nvSpPr>
        <p:spPr>
          <a:xfrm>
            <a:off x="3200400" y="5215738"/>
            <a:ext cx="475488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يَسْتَشْهِدُ الكَاتِبُ </a:t>
            </a:r>
            <a:pPr rtl="1" algn="ctr" indent="0" marL="0">
              <a:buNone/>
            </a:pPr>
            <a:r>
              <a:rPr lang="ar-SA" altLang="en-US" sz="1900" b="1" dirty="0">
                <a:solidFill>
                  <a:srgbClr val="0E7C86"/>
                </a:solidFill>
                <a:latin typeface="Amiri" pitchFamily="2" charset="-78"/>
                <a:cs typeface="Amiri" pitchFamily="2" charset="-78"/>
              </a:rPr>
              <a:t>بِدِرَاسَةٍ</a:t>
            </a:r>
            <a:pPr rtl="1" algn="ctr" indent="0" marL="0">
              <a:buNone/>
            </a:pPr>
            <a:r>
              <a:rPr lang="ar-SA" altLang="en-US" sz="1900" b="1" dirty="0">
                <a:solidFill>
                  <a:srgbClr val="1B3B6F"/>
                </a:solidFill>
                <a:latin typeface="Amiri" pitchFamily="2" charset="-78"/>
                <a:cs typeface="Amiri" pitchFamily="2" charset="-78"/>
              </a:rPr>
              <a:t> حَدِيثَةٍ.</a:t>
            </a:r>
            <a:endParaRPr lang="ar-SA" sz="1900" dirty="0"/>
          </a:p>
        </p:txBody>
      </p:sp>
      <p:sp>
        <p:nvSpPr>
          <p:cNvPr id="42" name="Text 39"/>
          <p:cNvSpPr txBox="1"/>
          <p:nvPr/>
        </p:nvSpPr>
        <p:spPr>
          <a:xfrm>
            <a:off x="548640" y="5215738"/>
            <a:ext cx="2468880" cy="682142"/>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2" charset="-78"/>
                <a:cs typeface="Amiri" pitchFamily="2" charset="-78"/>
              </a:rPr>
              <a:t>يَسْتَشْهِدُ بِـ</a:t>
            </a:r>
            <a:endParaRPr lang="ar-SA" sz="20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mistake 2: mentioning the gap does not necessarily mean recommending that it be closed.</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P2-L08 · Reading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00" b="1" dirty="0">
                <a:solidFill>
                  <a:srgbClr val="1B3B6F"/>
                </a:solidFill>
                <a:latin typeface="Cambria" pitchFamily="34" charset="0"/>
                <a:cs typeface="Amiri" pitchFamily="2" charset="-78"/>
              </a:rPr>
              <a:t>Reading signals: reported speech and conditional type</a:t>
            </a:r>
            <a:endParaRPr lang="en-US" sz="1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إِشَارَاتُ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P2-L08</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Certainty from the reporting verb</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akkada (certain) · iddaʿā (doubtful)</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أَكَّدَ الوَزِيرُ أَنَّ …   ·   ادَّعَى المُنْتَقِدُونَ أَنَّ …</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Own view vs cited view</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reported source ≠ the writer</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أَشَارَ التَّقْرِيرُ إِلَى أَنَّ …</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Conditional type as an argument signal</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idhā (real) · law (hypothetical)</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إِذَا زَادَ الإِنْفَاقُ، سَتَتَحَسَّنُ النَّتَائِجُ   ·   لَوْ زَادَ الإِنْفَاقُ، لَتَحَسَّنَتْ</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Mention vs recommend</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yadhkur ≠ yūṣī bi-</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ذَكَرَ التَّقْرِيرُ الفَجْوَةَ   ·   أَوْصَى بِسَدِّ الفَجْوَةِ</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reporting verb signals the writer's doubt?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أَكَّدَ</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أَوْضَحَ</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اِدَّعَى</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signals a confident, official source?</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أَكَّدَ الوَزِيرُ</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اِدَّعَى بَعْضُهُمْ</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زَعَمَ نَاقِدٌ</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conditional is a real proposal?</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لَوْ زَادَ الإِنْفَاقُ، لَتَحَسَّنَتِ النَّتَائِجُ.</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إِذَا زَادَ الإِنْفَاقُ، سَتَتَحَسَّنُ النَّتَائِجُ.</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لَوْ كَانَ الإِنْفَاقُ أَكْبَرَ، لَتَغَيَّرَ الوَضْعُ.</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conditional is a counterfactual argument?</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لَوْ زَادَ الإِنْفَاقُ، لَتَحَسَّنَتِ النَّتَائِجُ.</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إِذَا زَادَ الإِنْفَاقُ، سَتَتَحَسَّنُ النَّتَائِجُ.</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إِذَا اجْتَهَدْتَ، سَتَنْجَحُ.</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48</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reporting verb signals the writer's doubt?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أَكَّدَ</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أَوْضَحَ</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اِدَّعَى</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اِدَّعَى</a:t>
            </a:r>
            <a:pPr algn="l" indent="0" marL="0">
              <a:buNone/>
            </a:pPr>
            <a:r>
              <a:rPr lang="en-US" sz="1050" i="1" dirty="0">
                <a:solidFill>
                  <a:srgbClr val="8A6D1E"/>
                </a:solidFill>
                <a:latin typeface="Calibri" pitchFamily="34" charset="0"/>
                <a:cs typeface="Amiri" pitchFamily="2" charset="-78"/>
              </a:rPr>
              <a:t> (claimed) signals doubt.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signals a confident, official source?</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أَكَّدَ الوَزِيرُ</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اِدَّعَى بَعْضُهُمْ</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زَعَمَ نَاقِدٌ</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أَكَّدَ</a:t>
            </a:r>
            <a:pPr algn="l" indent="0" marL="0">
              <a:buNone/>
            </a:pPr>
            <a:r>
              <a:rPr lang="en-US" sz="1050" i="1" dirty="0">
                <a:solidFill>
                  <a:srgbClr val="8A6D1E"/>
                </a:solidFill>
                <a:latin typeface="Calibri" pitchFamily="34" charset="0"/>
                <a:cs typeface="Amiri" pitchFamily="2" charset="-78"/>
              </a:rPr>
              <a:t> signals high certainty.</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conditional is a real proposal?</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لَوْ زَادَ الإِنْفَاقُ، لَتَحَسَّنَتِ النَّتَائِجُ.</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إِذَا زَادَ الإِنْفَاقُ، سَتَتَحَسَّنُ النَّتَائِجُ.</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لَوْ كَانَ الإِنْفَاقُ أَكْبَرَ، لَتَغَيَّرَ الوَضْعُ.</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إِذَا … سَـ</a:t>
            </a:r>
            <a:pPr algn="l" indent="0" marL="0">
              <a:buNone/>
            </a:pPr>
            <a:r>
              <a:rPr lang="en-US" sz="1050" i="1" dirty="0">
                <a:solidFill>
                  <a:srgbClr val="8A6D1E"/>
                </a:solidFill>
                <a:latin typeface="Calibri" pitchFamily="34" charset="0"/>
                <a:cs typeface="Amiri" pitchFamily="2" charset="-78"/>
              </a:rPr>
              <a:t> is a real proposal.</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conditional is a counterfactual argument?</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لَوْ زَادَ الإِنْفَاقُ، لَتَحَسَّنَتِ النَّتَائِجُ.</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إِذَا زَادَ الإِنْفَاقُ، سَتَتَحَسَّنُ النَّتَائِجُ.</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إِذَا اجْتَهَدْتَ، سَتَنْجَحُ.</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لَوْ … لَـ</a:t>
            </a:r>
            <a:pPr algn="l" indent="0" marL="0">
              <a:buNone/>
            </a:pPr>
            <a:r>
              <a:rPr lang="en-US" sz="1050" i="1" dirty="0">
                <a:solidFill>
                  <a:srgbClr val="8A6D1E"/>
                </a:solidFill>
                <a:latin typeface="Calibri" pitchFamily="34" charset="0"/>
                <a:cs typeface="Amiri" pitchFamily="2" charset="-78"/>
              </a:rPr>
              <a:t> argues from an unreal case.</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48</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analyse a text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P2-L08</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Verb</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a:t>
            </a:r>
            <a:pPr rtl="1" algn="ctr" indent="0" marL="0">
              <a:buNone/>
            </a:pPr>
            <a:r>
              <a:rPr lang="ar-SA" altLang="en-US" sz="2800" b="1" dirty="0">
                <a:solidFill>
                  <a:srgbClr val="1D5FBF"/>
                </a:solidFill>
                <a:latin typeface="Amiri" pitchFamily="2" charset="-78"/>
                <a:cs typeface="Amiri" pitchFamily="2" charset="-78"/>
              </a:rPr>
              <a:t>أَكَّدَتِ</a:t>
            </a:r>
            <a:pPr rtl="1" algn="ctr" indent="0" marL="0">
              <a:buNone/>
            </a:pPr>
            <a:r>
              <a:rPr lang="ar-SA" altLang="en-US" sz="2800" b="1" dirty="0">
                <a:solidFill>
                  <a:srgbClr val="1B3B6F"/>
                </a:solidFill>
                <a:latin typeface="Amiri" pitchFamily="2" charset="-78"/>
                <a:cs typeface="Amiri" pitchFamily="2" charset="-78"/>
              </a:rPr>
              <a:t> الوِزَارَةُ»</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Certain, official.</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Verb</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a:t>
            </a:r>
            <a:pPr rtl="1" algn="ctr" indent="0" marL="0">
              <a:buNone/>
            </a:pPr>
            <a:r>
              <a:rPr lang="ar-SA" altLang="en-US" sz="2800" b="1" dirty="0">
                <a:solidFill>
                  <a:srgbClr val="D6336C"/>
                </a:solidFill>
                <a:latin typeface="Amiri" pitchFamily="2" charset="-78"/>
                <a:cs typeface="Amiri" pitchFamily="2" charset="-78"/>
              </a:rPr>
              <a:t>يَدَّعِي</a:t>
            </a:r>
            <a:pPr rtl="1" algn="ctr" indent="0" marL="0">
              <a:buNone/>
            </a:pPr>
            <a:r>
              <a:rPr lang="ar-SA" altLang="en-US" sz="2800" b="1" dirty="0">
                <a:solidFill>
                  <a:srgbClr val="1B3B6F"/>
                </a:solidFill>
                <a:latin typeface="Amiri" pitchFamily="2" charset="-78"/>
                <a:cs typeface="Amiri" pitchFamily="2" charset="-78"/>
              </a:rPr>
              <a:t> المُنْتَقِدُونَ»</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Doubt.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Conditional</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0E7C86"/>
                </a:solidFill>
                <a:latin typeface="Amiri" pitchFamily="2" charset="-78"/>
                <a:cs typeface="Amiri" pitchFamily="2" charset="-78"/>
              </a:rPr>
              <a:t>إِذَا</a:t>
            </a:r>
            <a:pPr rtl="1" algn="ctr" indent="0" marL="0">
              <a:buNone/>
            </a:pPr>
            <a:r>
              <a:rPr lang="ar-SA" altLang="en-US" sz="2800" b="1" dirty="0">
                <a:solidFill>
                  <a:srgbClr val="1B3B6F"/>
                </a:solidFill>
                <a:latin typeface="Amiri" pitchFamily="2" charset="-78"/>
                <a:cs typeface="Amiri" pitchFamily="2" charset="-78"/>
              </a:rPr>
              <a:t> … سَـ · </a:t>
            </a:r>
            <a:pPr rtl="1" algn="ctr" indent="0" marL="0">
              <a:buNone/>
            </a:pPr>
            <a:r>
              <a:rPr lang="ar-SA" altLang="en-US" sz="2800" b="1" dirty="0">
                <a:solidFill>
                  <a:srgbClr val="7B3FA0"/>
                </a:solidFill>
                <a:latin typeface="Amiri" pitchFamily="2" charset="-78"/>
                <a:cs typeface="Amiri" pitchFamily="2" charset="-78"/>
              </a:rPr>
              <a:t>لَوْ</a:t>
            </a:r>
            <a:pPr rtl="1" algn="ctr" indent="0" marL="0">
              <a:buNone/>
            </a:pPr>
            <a:r>
              <a:rPr lang="ar-SA" altLang="en-US" sz="2800" b="1" dirty="0">
                <a:solidFill>
                  <a:srgbClr val="1B3B6F"/>
                </a:solidFill>
                <a:latin typeface="Amiri" pitchFamily="2" charset="-78"/>
                <a:cs typeface="Amiri" pitchFamily="2" charset="-78"/>
              </a:rPr>
              <a:t> … لَـ</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Proposal or not?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Mention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700" b="1" dirty="0">
                <a:solidFill>
                  <a:srgbClr val="1B3B6F"/>
                </a:solidFill>
                <a:latin typeface="Amiri" pitchFamily="2" charset="-78"/>
                <a:cs typeface="Amiri" pitchFamily="2" charset="-78"/>
              </a:rPr>
              <a:t>يَذْكُرُهَا · يَقْتَرِحُ حَلًّا</a:t>
            </a:r>
            <a:endParaRPr lang="ar-SA" sz="27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Recommend?</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7552944"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CERTAIN</a:t>
            </a:r>
            <a:endParaRPr lang="en-US" sz="800" dirty="0"/>
          </a:p>
        </p:txBody>
      </p:sp>
      <p:sp>
        <p:nvSpPr>
          <p:cNvPr id="47" name="Shape 43"/>
          <p:cNvSpPr/>
          <p:nvPr/>
        </p:nvSpPr>
        <p:spPr>
          <a:xfrm>
            <a:off x="8540496"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DOUBT</a:t>
            </a:r>
            <a:endParaRPr lang="en-US" sz="800" dirty="0"/>
          </a:p>
        </p:txBody>
      </p:sp>
      <p:sp>
        <p:nvSpPr>
          <p:cNvPr id="49" name="Shape 45"/>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REAL · IDHĀ</a:t>
            </a:r>
            <a:endParaRPr lang="en-US" sz="800" dirty="0"/>
          </a:p>
        </p:txBody>
      </p:sp>
      <p:sp>
        <p:nvSpPr>
          <p:cNvPr id="51" name="Shape 47"/>
          <p:cNvSpPr/>
          <p:nvPr/>
        </p:nvSpPr>
        <p:spPr>
          <a:xfrm>
            <a:off x="10515600" y="4736592"/>
            <a:ext cx="914400" cy="237744"/>
          </a:xfrm>
          <a:prstGeom prst="roundRect">
            <a:avLst>
              <a:gd name="adj" fmla="val 50000"/>
            </a:avLst>
          </a:prstGeom>
          <a:solidFill>
            <a:srgbClr val="7B3FA0"/>
          </a:solidFill>
          <a:ln w="12700">
            <a:solidFill>
              <a:srgbClr val="7B3FA0"/>
            </a:solidFill>
            <a:prstDash val="solid"/>
          </a:ln>
        </p:spPr>
      </p:sp>
      <p:sp>
        <p:nvSpPr>
          <p:cNvPr id="52" name="Text 48"/>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HYPOTHETICAL · LAW</a:t>
            </a:r>
            <a:endParaRPr lang="en-US" sz="800" dirty="0"/>
          </a:p>
        </p:txBody>
      </p:sp>
      <p:sp>
        <p:nvSpPr>
          <p:cNvPr id="53" name="Text 49"/>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cs typeface="Amiri" pitchFamily="2" charset="-78"/>
              </a:rPr>
              <a:t>يَكْشِفُ النَّصُّ مَوْقِفَهُ مِنْ خِلَالِ أَفْعَالِهِ النَّاقِلَةِ. فَحِينَ يَكْتُبُ «</a:t>
            </a:r>
            <a:pPr rtl="1" algn="r" indent="0" marL="0">
              <a:lnSpc>
                <a:spcPct val="120000"/>
              </a:lnSpc>
              <a:buNone/>
            </a:pPr>
            <a:r>
              <a:rPr lang="ar-SA" altLang="en-US" sz="1400" b="1" dirty="0">
                <a:solidFill>
                  <a:srgbClr val="1D5FBF"/>
                </a:solidFill>
                <a:latin typeface="Amiri" pitchFamily="2" charset="-78"/>
                <a:cs typeface="Amiri" pitchFamily="2" charset="-78"/>
              </a:rPr>
              <a:t>أَكَّدَتِ</a:t>
            </a:r>
            <a:pPr rtl="1" algn="r" indent="0" marL="0">
              <a:lnSpc>
                <a:spcPct val="120000"/>
              </a:lnSpc>
              <a:buNone/>
            </a:pPr>
            <a:r>
              <a:rPr lang="ar-SA" altLang="en-US" sz="1400" b="1" dirty="0">
                <a:solidFill>
                  <a:srgbClr val="1B3B6F"/>
                </a:solidFill>
                <a:latin typeface="Amiri" pitchFamily="2" charset="-78"/>
                <a:cs typeface="Amiri" pitchFamily="2" charset="-78"/>
              </a:rPr>
              <a:t> الوِزَارَةُ»، فَهُوَ يَنْقُلُ مَصْدَرًا رَسْمِيًّا وَاثِقًا، أَمَّا «</a:t>
            </a:r>
            <a:pPr rtl="1" algn="r" indent="0" marL="0">
              <a:lnSpc>
                <a:spcPct val="120000"/>
              </a:lnSpc>
              <a:buNone/>
            </a:pPr>
            <a:r>
              <a:rPr lang="ar-SA" altLang="en-US" sz="1400" b="1" dirty="0">
                <a:solidFill>
                  <a:srgbClr val="D6336C"/>
                </a:solidFill>
                <a:latin typeface="Amiri" pitchFamily="2" charset="-78"/>
                <a:cs typeface="Amiri" pitchFamily="2" charset="-78"/>
              </a:rPr>
              <a:t>يَدَّعِي</a:t>
            </a:r>
            <a:pPr rtl="1" algn="r" indent="0" marL="0">
              <a:lnSpc>
                <a:spcPct val="120000"/>
              </a:lnSpc>
              <a:buNone/>
            </a:pPr>
            <a:r>
              <a:rPr lang="ar-SA" altLang="en-US" sz="1400" b="1" dirty="0">
                <a:solidFill>
                  <a:srgbClr val="1B3B6F"/>
                </a:solidFill>
                <a:latin typeface="Amiri" pitchFamily="2" charset="-78"/>
                <a:cs typeface="Amiri" pitchFamily="2" charset="-78"/>
              </a:rPr>
              <a:t> المُنْتَقِدُونَ» فَتُظْهِرُ شَكَّهُ. وَالشَّرْطُ فِي النَّصِّ الأَوَّلِ وَاقِعِيٌّ؛ فَـ«</a:t>
            </a:r>
            <a:pPr rtl="1" algn="r" indent="0" marL="0">
              <a:lnSpc>
                <a:spcPct val="120000"/>
              </a:lnSpc>
              <a:buNone/>
            </a:pPr>
            <a:r>
              <a:rPr lang="ar-SA" altLang="en-US" sz="1400" b="1" dirty="0">
                <a:solidFill>
                  <a:srgbClr val="0E7C86"/>
                </a:solidFill>
                <a:latin typeface="Amiri" pitchFamily="2" charset="-78"/>
                <a:cs typeface="Amiri" pitchFamily="2" charset="-78"/>
              </a:rPr>
              <a:t>إِذَا اسْتَمَرَّ</a:t>
            </a:r>
            <a:pPr rtl="1" algn="r" indent="0" marL="0">
              <a:lnSpc>
                <a:spcPct val="120000"/>
              </a:lnSpc>
              <a:buNone/>
            </a:pPr>
            <a:r>
              <a:rPr lang="ar-SA" altLang="en-US" sz="1400" b="1" dirty="0">
                <a:solidFill>
                  <a:srgbClr val="1B3B6F"/>
                </a:solidFill>
                <a:latin typeface="Amiri" pitchFamily="2" charset="-78"/>
                <a:cs typeface="Amiri" pitchFamily="2" charset="-78"/>
              </a:rPr>
              <a:t> الاسْتِثْمَارُ، </a:t>
            </a:r>
            <a:pPr rtl="1" algn="r" indent="0" marL="0">
              <a:lnSpc>
                <a:spcPct val="120000"/>
              </a:lnSpc>
              <a:buNone/>
            </a:pPr>
            <a:r>
              <a:rPr lang="ar-SA" altLang="en-US" sz="1400" b="1" dirty="0">
                <a:solidFill>
                  <a:srgbClr val="0E7C86"/>
                </a:solidFill>
                <a:latin typeface="Amiri" pitchFamily="2" charset="-78"/>
                <a:cs typeface="Amiri" pitchFamily="2" charset="-78"/>
              </a:rPr>
              <a:t>سَتَتَقَلَّصُ</a:t>
            </a:r>
            <a:pPr rtl="1" algn="r" indent="0" marL="0">
              <a:lnSpc>
                <a:spcPct val="120000"/>
              </a:lnSpc>
              <a:buNone/>
            </a:pPr>
            <a:r>
              <a:rPr lang="ar-SA" altLang="en-US" sz="1400" b="1" dirty="0">
                <a:solidFill>
                  <a:srgbClr val="1B3B6F"/>
                </a:solidFill>
                <a:latin typeface="Amiri" pitchFamily="2" charset="-78"/>
                <a:cs typeface="Amiri" pitchFamily="2" charset="-78"/>
              </a:rPr>
              <a:t> الفَجْوَةُ» اقْتِرَاحٌ حَقِيقِيٌّ. أَمَّا فِي النَّصِّ الثَّانِي فَـ«</a:t>
            </a:r>
            <a:pPr rtl="1" algn="r" indent="0" marL="0">
              <a:lnSpc>
                <a:spcPct val="120000"/>
              </a:lnSpc>
              <a:buNone/>
            </a:pPr>
            <a:r>
              <a:rPr lang="ar-SA" altLang="en-US" sz="1400" b="1" dirty="0">
                <a:solidFill>
                  <a:srgbClr val="7B3FA0"/>
                </a:solidFill>
                <a:latin typeface="Amiri" pitchFamily="2" charset="-78"/>
                <a:cs typeface="Amiri" pitchFamily="2" charset="-78"/>
              </a:rPr>
              <a:t>لَوْ</a:t>
            </a:r>
            <a:pPr rtl="1" algn="r" indent="0" marL="0">
              <a:lnSpc>
                <a:spcPct val="120000"/>
              </a:lnSpc>
              <a:buNone/>
            </a:pPr>
            <a:r>
              <a:rPr lang="ar-SA" altLang="en-US" sz="1400" b="1" dirty="0">
                <a:solidFill>
                  <a:srgbClr val="1B3B6F"/>
                </a:solidFill>
                <a:latin typeface="Amiri" pitchFamily="2" charset="-78"/>
                <a:cs typeface="Amiri" pitchFamily="2" charset="-78"/>
              </a:rPr>
              <a:t>» تُقَدِّمُ حُجَّةً افْتِرَاضِيَّةً.</a:t>
            </a:r>
            <a:endParaRPr lang="ar-SA" sz="1400" dirty="0"/>
          </a:p>
        </p:txBody>
      </p:sp>
      <p:sp>
        <p:nvSpPr>
          <p:cNvPr id="54" name="Text 50"/>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950" i="1" dirty="0">
                <a:solidFill>
                  <a:srgbClr val="5A6472"/>
                </a:solidFill>
                <a:latin typeface="Calibri" pitchFamily="34" charset="0"/>
                <a:cs typeface="Amiri" pitchFamily="2" charset="-78"/>
              </a:rPr>
              <a:t>The text reveals its stance through its reporting verbs. When it writes “the ministry stressed”, it conveys a confident official source, whereas “the critics claim” shows its doubt. The conditional in the first text is real: “if investment continues, the gap will shrink” is a genuine proposal. In the second text, however, “law” presents a hypothetical argument.</a:t>
            </a:r>
            <a:endParaRPr lang="en-US" sz="950" dirty="0"/>
          </a:p>
        </p:txBody>
      </p:sp>
      <p:sp>
        <p:nvSpPr>
          <p:cNvPr id="55"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48</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P2-L08</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أَكَّدَ الوَزِيرُ أَنَّ الإِصْلَاحَ ضَرُورِيٌّ</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minister stressed that reform is necessary</a:t>
            </a:r>
            <a:endParaRPr lang="en-US" sz="1250" dirty="0"/>
          </a:p>
          <a:p>
            <a:pPr indent="0" marL="0">
              <a:buNone/>
            </a:pPr>
            <a:r>
              <a:rPr lang="en-US" sz="1050" i="1" dirty="0">
                <a:solidFill>
                  <a:srgbClr val="8A6D1E"/>
                </a:solidFill>
                <a:latin typeface="Calibri" pitchFamily="34" charset="0"/>
                <a:cs typeface="Amiri" pitchFamily="2" charset="-78"/>
              </a:rPr>
              <a:t>akkada signals a confident, official source.</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اِدَّعَى بَعْضُ المُنْتَقِدِينَ أَنَّ الإِصْلَاحَ فَشِلَ</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some critics claimed that the reform failed</a:t>
            </a:r>
            <a:endParaRPr lang="en-US" sz="1250" dirty="0"/>
          </a:p>
          <a:p>
            <a:pPr indent="0" marL="0">
              <a:buNone/>
            </a:pPr>
            <a:r>
              <a:rPr lang="en-US" sz="1050" i="1" dirty="0">
                <a:solidFill>
                  <a:srgbClr val="8A6D1E"/>
                </a:solidFill>
                <a:latin typeface="Calibri" pitchFamily="34" charset="0"/>
                <a:cs typeface="Amiri" pitchFamily="2" charset="-78"/>
              </a:rPr>
              <a:t>iddaʿā signals the writer's doubt.</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لَوْ زَادَ الإِنْفَاقُ، لَتَحَسَّنَتِ النَّتَائِجُ</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had spending increased, the results would have improved</a:t>
            </a:r>
            <a:endParaRPr lang="en-US" sz="1250" dirty="0"/>
          </a:p>
          <a:p>
            <a:pPr indent="0" marL="0">
              <a:buNone/>
            </a:pPr>
            <a:r>
              <a:rPr lang="en-US" sz="1050" i="1" dirty="0">
                <a:solidFill>
                  <a:srgbClr val="8A6D1E"/>
                </a:solidFill>
                <a:latin typeface="Calibri" pitchFamily="34" charset="0"/>
                <a:cs typeface="Amiri" pitchFamily="2" charset="-78"/>
              </a:rPr>
              <a:t>A counterfactual argument, not a proposal.</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48</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P2-L08 · Reading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COMPARE THE TWO TEXTS (PREPARING THE WEBSITE READING)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Ministry report or opinion article?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قَارِنْ بَيْنَ النَّصَّيْنِ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296912" y="1810512"/>
            <a:ext cx="43616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Text 2: an opinion article</a:t>
            </a:r>
            <a:endParaRPr lang="en-US" sz="1100" dirty="0"/>
          </a:p>
        </p:txBody>
      </p:sp>
      <p:sp>
        <p:nvSpPr>
          <p:cNvPr id="17" name="Text 14"/>
          <p:cNvSpPr txBox="1"/>
          <p:nvPr/>
        </p:nvSpPr>
        <p:spPr>
          <a:xfrm>
            <a:off x="2816352" y="1810512"/>
            <a:ext cx="4334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Text 1: a ministry report</a:t>
            </a:r>
            <a:endParaRPr lang="en-US" sz="1100" dirty="0"/>
          </a:p>
        </p:txBody>
      </p:sp>
      <p:sp>
        <p:nvSpPr>
          <p:cNvPr id="18" name="Text 15"/>
          <p:cNvSpPr txBox="1"/>
          <p:nvPr/>
        </p:nvSpPr>
        <p:spPr>
          <a:xfrm>
            <a:off x="530352"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Test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315200" y="2267712"/>
            <a:ext cx="4325112"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مَقَالُ رَأْيٍ</a:t>
            </a:r>
            <a:endParaRPr lang="ar-SA" sz="1800" dirty="0"/>
          </a:p>
        </p:txBody>
      </p:sp>
      <p:sp>
        <p:nvSpPr>
          <p:cNvPr id="21" name="Text 18"/>
          <p:cNvSpPr txBox="1"/>
          <p:nvPr/>
        </p:nvSpPr>
        <p:spPr>
          <a:xfrm>
            <a:off x="2834640" y="2267712"/>
            <a:ext cx="429768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تَقْرِيرٌ وِزَارِيٌّ — مَصْدَرٌ رَسْمِيٌّ</a:t>
            </a:r>
            <a:endParaRPr lang="ar-SA" sz="1800" dirty="0"/>
          </a:p>
        </p:txBody>
      </p:sp>
      <p:sp>
        <p:nvSpPr>
          <p:cNvPr id="22" name="Text 19"/>
          <p:cNvSpPr txBox="1"/>
          <p:nvPr/>
        </p:nvSpPr>
        <p:spPr>
          <a:xfrm>
            <a:off x="566928" y="2267712"/>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Text type</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7315200" y="3004718"/>
            <a:ext cx="4325112"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a:t>
            </a:r>
            <a:pPr rtl="1" algn="ctr" indent="0" marL="0">
              <a:buNone/>
            </a:pPr>
            <a:r>
              <a:rPr lang="ar-SA" altLang="en-US" sz="1800" b="1" dirty="0">
                <a:solidFill>
                  <a:srgbClr val="D6336C"/>
                </a:solidFill>
                <a:latin typeface="Amiri" pitchFamily="2" charset="-78"/>
                <a:cs typeface="Amiri" pitchFamily="2" charset="-78"/>
              </a:rPr>
              <a:t>يَدَّعِي</a:t>
            </a:r>
            <a:pPr rtl="1" algn="ctr" indent="0" marL="0">
              <a:buNone/>
            </a:pPr>
            <a:r>
              <a:rPr lang="ar-SA" altLang="en-US" sz="1800" b="1" dirty="0">
                <a:solidFill>
                  <a:srgbClr val="1B3B6F"/>
                </a:solidFill>
                <a:latin typeface="Amiri" pitchFamily="2" charset="-78"/>
                <a:cs typeface="Amiri" pitchFamily="2" charset="-78"/>
              </a:rPr>
              <a:t>»</a:t>
            </a:r>
            <a:endParaRPr lang="ar-SA" sz="1800" dirty="0"/>
          </a:p>
        </p:txBody>
      </p:sp>
      <p:sp>
        <p:nvSpPr>
          <p:cNvPr id="27" name="Text 24"/>
          <p:cNvSpPr txBox="1"/>
          <p:nvPr/>
        </p:nvSpPr>
        <p:spPr>
          <a:xfrm>
            <a:off x="2834640" y="3004718"/>
            <a:ext cx="429768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a:t>
            </a:r>
            <a:pPr rtl="1" algn="ctr" indent="0" marL="0">
              <a:buNone/>
            </a:pPr>
            <a:r>
              <a:rPr lang="ar-SA" altLang="en-US" sz="1800" b="1" dirty="0">
                <a:solidFill>
                  <a:srgbClr val="1D5FBF"/>
                </a:solidFill>
                <a:latin typeface="Amiri" pitchFamily="2" charset="-78"/>
                <a:cs typeface="Amiri" pitchFamily="2" charset="-78"/>
              </a:rPr>
              <a:t>أَكَّدَتْ</a:t>
            </a:r>
            <a:pPr rtl="1" algn="ctr" indent="0" marL="0">
              <a:buNone/>
            </a:pPr>
            <a:r>
              <a:rPr lang="ar-SA" altLang="en-US" sz="1800" b="1" dirty="0">
                <a:solidFill>
                  <a:srgbClr val="1B3B6F"/>
                </a:solidFill>
                <a:latin typeface="Amiri" pitchFamily="2" charset="-78"/>
                <a:cs typeface="Amiri" pitchFamily="2" charset="-78"/>
              </a:rPr>
              <a:t>» · «</a:t>
            </a:r>
            <a:pPr rtl="1" algn="ctr" indent="0" marL="0">
              <a:buNone/>
            </a:pPr>
            <a:r>
              <a:rPr lang="ar-SA" altLang="en-US" sz="1800" b="1" dirty="0">
                <a:solidFill>
                  <a:srgbClr val="7B3FA0"/>
                </a:solidFill>
                <a:latin typeface="Amiri" pitchFamily="2" charset="-78"/>
                <a:cs typeface="Amiri" pitchFamily="2" charset="-78"/>
              </a:rPr>
              <a:t>أَشَارَتْ إِلَى أَنَّ</a:t>
            </a:r>
            <a:pPr rtl="1" algn="ctr" indent="0" marL="0">
              <a:buNone/>
            </a:pPr>
            <a:r>
              <a:rPr lang="ar-SA" altLang="en-US" sz="1800" b="1" dirty="0">
                <a:solidFill>
                  <a:srgbClr val="1B3B6F"/>
                </a:solidFill>
                <a:latin typeface="Amiri" pitchFamily="2" charset="-78"/>
                <a:cs typeface="Amiri" pitchFamily="2" charset="-78"/>
              </a:rPr>
              <a:t>»</a:t>
            </a:r>
            <a:endParaRPr lang="ar-SA" sz="1800" dirty="0"/>
          </a:p>
        </p:txBody>
      </p:sp>
      <p:sp>
        <p:nvSpPr>
          <p:cNvPr id="28" name="Text 25"/>
          <p:cNvSpPr txBox="1"/>
          <p:nvPr/>
        </p:nvSpPr>
        <p:spPr>
          <a:xfrm>
            <a:off x="566928" y="3004718"/>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Reporting verb</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7315200" y="3741725"/>
            <a:ext cx="4325112"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شَكٌّ</a:t>
            </a:r>
            <a:endParaRPr lang="ar-SA" sz="1800" dirty="0"/>
          </a:p>
        </p:txBody>
      </p:sp>
      <p:sp>
        <p:nvSpPr>
          <p:cNvPr id="33" name="Text 30"/>
          <p:cNvSpPr txBox="1"/>
          <p:nvPr/>
        </p:nvSpPr>
        <p:spPr>
          <a:xfrm>
            <a:off x="2834640" y="3741725"/>
            <a:ext cx="429768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وَاثِقٌ</a:t>
            </a:r>
            <a:endParaRPr lang="ar-SA" sz="1800" dirty="0"/>
          </a:p>
        </p:txBody>
      </p:sp>
      <p:sp>
        <p:nvSpPr>
          <p:cNvPr id="34" name="Text 31"/>
          <p:cNvSpPr txBox="1"/>
          <p:nvPr/>
        </p:nvSpPr>
        <p:spPr>
          <a:xfrm>
            <a:off x="566928" y="3741725"/>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Certainty</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7315200" y="4478731"/>
            <a:ext cx="4325112" cy="682142"/>
          </a:xfrm>
          <a:prstGeom prst="rect">
            <a:avLst/>
          </a:prstGeom>
          <a:noFill/>
          <a:ln/>
        </p:spPr>
        <p:txBody>
          <a:bodyPr wrap="square" lIns="0" tIns="0" rIns="0" bIns="0" rtlCol="0" anchor="ctr"/>
          <a:lstStyle/>
          <a:p>
            <a:pPr rtl="1" algn="ctr" indent="0" marL="0">
              <a:buNone/>
            </a:pPr>
            <a:r>
              <a:rPr lang="ar-SA" altLang="en-US" sz="1800" b="1" dirty="0">
                <a:solidFill>
                  <a:srgbClr val="D6336C"/>
                </a:solidFill>
                <a:latin typeface="Amiri" pitchFamily="2" charset="-78"/>
                <a:cs typeface="Amiri" pitchFamily="2" charset="-78"/>
              </a:rPr>
              <a:t>لَوْ</a:t>
            </a:r>
            <a:pPr rtl="1" algn="ctr" indent="0" marL="0">
              <a:buNone/>
            </a:pPr>
            <a:r>
              <a:rPr lang="ar-SA" altLang="en-US" sz="1800" b="1" dirty="0">
                <a:solidFill>
                  <a:srgbClr val="1B3B6F"/>
                </a:solidFill>
                <a:latin typeface="Amiri" pitchFamily="2" charset="-78"/>
                <a:cs typeface="Amiri" pitchFamily="2" charset="-78"/>
              </a:rPr>
              <a:t> — حُجَّةٌ افْتِرَاضِيَّةٌ</a:t>
            </a:r>
            <a:endParaRPr lang="ar-SA" sz="1800" dirty="0"/>
          </a:p>
        </p:txBody>
      </p:sp>
      <p:sp>
        <p:nvSpPr>
          <p:cNvPr id="37" name="Text 34"/>
          <p:cNvSpPr txBox="1"/>
          <p:nvPr/>
        </p:nvSpPr>
        <p:spPr>
          <a:xfrm>
            <a:off x="2834640" y="4478731"/>
            <a:ext cx="4297680" cy="682142"/>
          </a:xfrm>
          <a:prstGeom prst="rect">
            <a:avLst/>
          </a:prstGeom>
          <a:noFill/>
          <a:ln/>
        </p:spPr>
        <p:txBody>
          <a:bodyPr wrap="square" lIns="0" tIns="0" rIns="0" bIns="0" rtlCol="0" anchor="ctr"/>
          <a:lstStyle/>
          <a:p>
            <a:pPr rtl="1" algn="ctr" indent="0" marL="0">
              <a:buNone/>
            </a:pPr>
            <a:r>
              <a:rPr lang="ar-SA" altLang="en-US" sz="1800" b="1" dirty="0">
                <a:solidFill>
                  <a:srgbClr val="0E7C86"/>
                </a:solidFill>
                <a:latin typeface="Amiri" pitchFamily="2" charset="-78"/>
                <a:cs typeface="Amiri" pitchFamily="2" charset="-78"/>
              </a:rPr>
              <a:t>إِذَا</a:t>
            </a:r>
            <a:pPr rtl="1" algn="ctr" indent="0" marL="0">
              <a:buNone/>
            </a:pPr>
            <a:r>
              <a:rPr lang="ar-SA" altLang="en-US" sz="1800" b="1" dirty="0">
                <a:solidFill>
                  <a:srgbClr val="1B3B6F"/>
                </a:solidFill>
                <a:latin typeface="Amiri" pitchFamily="2" charset="-78"/>
                <a:cs typeface="Amiri" pitchFamily="2" charset="-78"/>
              </a:rPr>
              <a:t> — اقْتِرَاحٌ وَاقِعِيٌّ</a:t>
            </a:r>
            <a:endParaRPr lang="ar-SA" sz="1800" dirty="0"/>
          </a:p>
        </p:txBody>
      </p:sp>
      <p:sp>
        <p:nvSpPr>
          <p:cNvPr id="38" name="Text 35"/>
          <p:cNvSpPr txBox="1"/>
          <p:nvPr/>
        </p:nvSpPr>
        <p:spPr>
          <a:xfrm>
            <a:off x="566928" y="4478731"/>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Conditional</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7315200" y="5215738"/>
            <a:ext cx="4325112"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يَنْتَقِدُ وَلَا يَقْتَرِحُ حَلًّا</a:t>
            </a:r>
            <a:endParaRPr lang="ar-SA" sz="1800" dirty="0"/>
          </a:p>
        </p:txBody>
      </p:sp>
      <p:sp>
        <p:nvSpPr>
          <p:cNvPr id="41" name="Text 38"/>
          <p:cNvSpPr txBox="1"/>
          <p:nvPr/>
        </p:nvSpPr>
        <p:spPr>
          <a:xfrm>
            <a:off x="2834640" y="5215738"/>
            <a:ext cx="429768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يَذْكُرُ الفَجْوَةَ وَيَقْتَرِحُ حَلًّا</a:t>
            </a:r>
            <a:endParaRPr lang="ar-SA" sz="1800" dirty="0"/>
          </a:p>
        </p:txBody>
      </p:sp>
      <p:sp>
        <p:nvSpPr>
          <p:cNvPr id="42" name="Text 39"/>
          <p:cNvSpPr txBox="1"/>
          <p:nvPr/>
        </p:nvSpPr>
        <p:spPr>
          <a:xfrm>
            <a:off x="566928" y="5215738"/>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Mention or recommend?</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website reading uses exactly these two texts — this table is the plan for answering its questions.</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48</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P2-L08 · Reading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Shape 8"/>
          <p:cNvSpPr/>
          <p:nvPr/>
        </p:nvSpPr>
        <p:spPr>
          <a:xfrm>
            <a:off x="6273698"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73698"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BUILD A TEXT ANALYSIS (WEBSITE LIVE BUILDER)</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Verb + conditional + stance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ابْنِ تَحْلِيلَكَ</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P2-L08</a:t>
            </a:r>
            <a:endParaRPr lang="en-US" sz="850" dirty="0"/>
          </a:p>
        </p:txBody>
      </p:sp>
      <p:sp>
        <p:nvSpPr>
          <p:cNvPr id="17" name="Shape 14"/>
          <p:cNvSpPr/>
          <p:nvPr/>
        </p:nvSpPr>
        <p:spPr>
          <a:xfrm>
            <a:off x="457200" y="1810512"/>
            <a:ext cx="11274552" cy="384048"/>
          </a:xfrm>
          <a:prstGeom prst="rect">
            <a:avLst/>
          </a:prstGeom>
          <a:solidFill>
            <a:srgbClr val="1B3B6F"/>
          </a:solidFill>
          <a:ln w="12700">
            <a:solidFill>
              <a:srgbClr val="1B3B6F"/>
            </a:solidFill>
            <a:prstDash val="solid"/>
          </a:ln>
        </p:spPr>
      </p:sp>
      <p:sp>
        <p:nvSpPr>
          <p:cNvPr id="18" name="Text 15"/>
          <p:cNvSpPr txBox="1"/>
          <p:nvPr/>
        </p:nvSpPr>
        <p:spPr>
          <a:xfrm>
            <a:off x="8147304"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 · The reporting verb</a:t>
            </a:r>
            <a:endParaRPr lang="en-US" sz="1100" dirty="0"/>
          </a:p>
        </p:txBody>
      </p:sp>
      <p:sp>
        <p:nvSpPr>
          <p:cNvPr id="19" name="Text 16"/>
          <p:cNvSpPr txBox="1"/>
          <p:nvPr/>
        </p:nvSpPr>
        <p:spPr>
          <a:xfrm>
            <a:off x="4489704"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 · The conditional</a:t>
            </a:r>
            <a:endParaRPr lang="en-US" sz="1100" dirty="0"/>
          </a:p>
        </p:txBody>
      </p:sp>
      <p:sp>
        <p:nvSpPr>
          <p:cNvPr id="20" name="Text 17"/>
          <p:cNvSpPr txBox="1"/>
          <p:nvPr/>
        </p:nvSpPr>
        <p:spPr>
          <a:xfrm>
            <a:off x="5303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 · Source and stance</a:t>
            </a:r>
            <a:endParaRPr lang="en-US" sz="1100" dirty="0"/>
          </a:p>
        </p:txBody>
      </p:sp>
      <p:sp>
        <p:nvSpPr>
          <p:cNvPr id="21" name="Shape 18"/>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2" name="Text 19"/>
          <p:cNvSpPr txBox="1"/>
          <p:nvPr/>
        </p:nvSpPr>
        <p:spPr>
          <a:xfrm>
            <a:off x="8165592" y="2267712"/>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الفِعْلُ «أَكَّدَ» يَنْقُلُ مَصْدَرًا رَسْمِيًّا وَاثِقًا</a:t>
            </a:r>
            <a:endParaRPr lang="ar-SA" sz="1600" dirty="0"/>
          </a:p>
        </p:txBody>
      </p:sp>
      <p:sp>
        <p:nvSpPr>
          <p:cNvPr id="23" name="Text 20"/>
          <p:cNvSpPr txBox="1"/>
          <p:nvPr/>
        </p:nvSpPr>
        <p:spPr>
          <a:xfrm>
            <a:off x="4507992" y="2267712"/>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وَالشَّرْطُ بِـ«إِذَا» اقْتِرَاحٌ وَاقِعِيٌّ لِلْمُسْتَقْبَلِ</a:t>
            </a:r>
            <a:endParaRPr lang="ar-SA" sz="1600" dirty="0"/>
          </a:p>
        </p:txBody>
      </p:sp>
      <p:sp>
        <p:nvSpPr>
          <p:cNvPr id="24" name="Text 21"/>
          <p:cNvSpPr txBox="1"/>
          <p:nvPr/>
        </p:nvSpPr>
        <p:spPr>
          <a:xfrm>
            <a:off x="548640" y="2267712"/>
            <a:ext cx="377647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وَالنَّصُّ يَذْكُرُ الفِكْرَةَ دُونَ أَنْ يُوصِيَ بِهَا</a:t>
            </a:r>
            <a:endParaRPr lang="ar-SA" sz="16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8165592" y="3054096"/>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الفِعْلُ «اِدَّعَى» يُظْهِرُ شَكَّ الكَاتِبِ</a:t>
            </a:r>
            <a:endParaRPr lang="ar-SA" sz="1600" dirty="0"/>
          </a:p>
        </p:txBody>
      </p:sp>
      <p:sp>
        <p:nvSpPr>
          <p:cNvPr id="29" name="Text 26"/>
          <p:cNvSpPr txBox="1"/>
          <p:nvPr/>
        </p:nvSpPr>
        <p:spPr>
          <a:xfrm>
            <a:off x="4507992" y="3054096"/>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وَالشَّرْطُ بِـ«لَوْ» حُجَّةٌ افْتِرَاضِيَّةٌ عَنِ المَاضِي</a:t>
            </a:r>
            <a:endParaRPr lang="ar-SA" sz="1600" dirty="0"/>
          </a:p>
        </p:txBody>
      </p:sp>
      <p:sp>
        <p:nvSpPr>
          <p:cNvPr id="30" name="Text 27"/>
          <p:cNvSpPr txBox="1"/>
          <p:nvPr/>
        </p:nvSpPr>
        <p:spPr>
          <a:xfrm>
            <a:off x="548640" y="3054096"/>
            <a:ext cx="377647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وَالكَلَامُ المَنْقُولُ يَنْقُلُ رَأْيَ غَيْرِهِ لَا رَأْيَهُ</a:t>
            </a:r>
            <a:endParaRPr lang="ar-SA" sz="160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165592" y="3840480"/>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الفِعْلُ «اِعْتَرَفَ بِـ» يَكْشِفُ تَنَازُلًا</a:t>
            </a:r>
            <a:endParaRPr lang="ar-SA" sz="1600" dirty="0"/>
          </a:p>
        </p:txBody>
      </p:sp>
      <p:sp>
        <p:nvSpPr>
          <p:cNvPr id="33" name="Text 30"/>
          <p:cNvSpPr txBox="1"/>
          <p:nvPr/>
        </p:nvSpPr>
        <p:spPr>
          <a:xfrm>
            <a:off x="4507992" y="3840480"/>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وَنَوْعُ الشَّرْطِ يَكْشِفُ حُجَّةَ الكَاتِبِ</a:t>
            </a:r>
            <a:endParaRPr lang="ar-SA" sz="1600" dirty="0"/>
          </a:p>
        </p:txBody>
      </p:sp>
      <p:sp>
        <p:nvSpPr>
          <p:cNvPr id="34" name="Text 31"/>
          <p:cNvSpPr txBox="1"/>
          <p:nvPr/>
        </p:nvSpPr>
        <p:spPr>
          <a:xfrm>
            <a:off x="548640" y="3840480"/>
            <a:ext cx="377647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لِذٰلِكَ أَقْرَأُ النَّصَّ بِوَعْيٍ بِمَصْدَرِهِ وَمَوْقِفِهِ</a:t>
            </a:r>
            <a:endParaRPr lang="ar-SA" sz="16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Pick one from each column — any combination is accurate. Say it, then write three different versions.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48</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P2-L08 · Reading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cs typeface="Amiri" pitchFamily="2" charset="-78"/>
              </a:rPr>
              <a:t>Certain, doubtful — or neutral / concession?</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P2-L08</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أَكَّدَ</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أَثْبَتَ</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شَدَّدَ عَلَى</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اِدَّعَى</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زَعَمَ</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يُقَالُ إِنَّ</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أَوْضَحَ</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ذَكَرَ</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اِعْتَرَفَ بِـ</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certain</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doubtful</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neutral / concession</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48</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P2-L08 · Reading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P2-L08</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certain</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أَكَّدَ</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أَثْبَتَ</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شَدَّدَ عَلَى</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doubtful</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اِدَّعَى</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زَعَمَ</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يُقَالُ إِنَّ</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neutral / concession</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أَوْضَحَ</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ذَكَرَ</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اِعْتَرَفَ بِـ</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48</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3,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P2-L08</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t>
            </a:r>
            <a:pPr algn="l" indent="0" marL="0">
              <a:buNone/>
            </a:pPr>
            <a:r>
              <a:rPr lang="ar-SA" altLang="en-US" sz="1650" b="1" dirty="0">
                <a:solidFill>
                  <a:srgbClr val="1B3B6F"/>
                </a:solidFill>
                <a:latin typeface="Amiri" pitchFamily="2" charset="-78"/>
                <a:cs typeface="Amiri" pitchFamily="2" charset="-78"/>
              </a:rPr>
              <a:t>أَشَارَ التَّقْرِيرُ إِلَى أَنَّ</a:t>
            </a:r>
            <a:pPr algn="l" indent="0" marL="0">
              <a:buNone/>
            </a:pPr>
            <a:r>
              <a:rPr lang="en-US" sz="1250" b="1" dirty="0">
                <a:solidFill>
                  <a:srgbClr val="1B3B6F"/>
                </a:solidFill>
                <a:latin typeface="Calibri" pitchFamily="34" charset="0"/>
                <a:cs typeface="Amiri" pitchFamily="2" charset="-78"/>
              </a:rPr>
              <a:t>…» presents whose view?</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writer's own view</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one's</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report's, cited by the writer</a:t>
            </a:r>
            <a:endParaRPr lang="en-US" sz="12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difference between </a:t>
            </a:r>
            <a:pPr algn="l" indent="0" marL="0">
              <a:buNone/>
            </a:pPr>
            <a:r>
              <a:rPr lang="ar-SA" altLang="en-US" sz="1650" b="1" dirty="0">
                <a:solidFill>
                  <a:srgbClr val="1B3B6F"/>
                </a:solidFill>
                <a:latin typeface="Amiri" pitchFamily="2" charset="-78"/>
                <a:cs typeface="Amiri" pitchFamily="2" charset="-78"/>
              </a:rPr>
              <a:t>يَذْكُرُ</a:t>
            </a:r>
            <a:pPr algn="l" indent="0" marL="0">
              <a:buNone/>
            </a:pPr>
            <a:r>
              <a:rPr lang="en-US" sz="1250" b="1" dirty="0">
                <a:solidFill>
                  <a:srgbClr val="1B3B6F"/>
                </a:solidFill>
                <a:latin typeface="Calibri" pitchFamily="34" charset="0"/>
                <a:cs typeface="Amiri" pitchFamily="2" charset="-78"/>
              </a:rPr>
              <a:t> and </a:t>
            </a:r>
            <a:pPr algn="l" indent="0" marL="0">
              <a:buNone/>
            </a:pPr>
            <a:r>
              <a:rPr lang="ar-SA" altLang="en-US" sz="1650" b="1" dirty="0">
                <a:solidFill>
                  <a:srgbClr val="1B3B6F"/>
                </a:solidFill>
                <a:latin typeface="Amiri" pitchFamily="2" charset="-78"/>
                <a:cs typeface="Amiri" pitchFamily="2" charset="-78"/>
              </a:rPr>
              <a:t>يُوصِي بِـ</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are identical</a:t>
            </a:r>
            <a:endParaRPr lang="en-US" sz="12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Mentioning is not recommending</a:t>
            </a:r>
            <a:endParaRPr lang="en-US" sz="12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 is past, one is future</a:t>
            </a:r>
            <a:endParaRPr lang="en-US" sz="12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7" name="Text 44"/>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يَتَوَصَّلُ الكَاتِبُ ___ نَتِيجَةٍ وَاضِحَةٍ.</a:t>
            </a:r>
            <a:endParaRPr lang="ar-SA" sz="150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strongest reading of «</a:t>
            </a:r>
            <a:pPr algn="l" indent="0" marL="0">
              <a:buNone/>
            </a:pPr>
            <a:r>
              <a:rPr lang="ar-SA" altLang="en-US" sz="1650" b="1" dirty="0">
                <a:solidFill>
                  <a:srgbClr val="1B3B6F"/>
                </a:solidFill>
                <a:latin typeface="Amiri" pitchFamily="2" charset="-78"/>
                <a:cs typeface="Amiri" pitchFamily="2" charset="-78"/>
              </a:rPr>
              <a:t>اِعْتَرَفَ الوَزِيرُ بِأَنَّ الفَجْوَةَ قَائِمَةٌ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minister is certain and proud</a:t>
            </a:r>
            <a:endParaRPr lang="en-US" sz="12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minister denies the gap</a:t>
            </a:r>
            <a:endParaRPr lang="en-US" sz="12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minister concedes a problem he might prefer to deny</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48</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P2-L08</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t>
            </a:r>
            <a:pPr algn="l" indent="0" marL="0">
              <a:buNone/>
            </a:pPr>
            <a:r>
              <a:rPr lang="ar-SA" altLang="en-US" sz="1650" b="1" dirty="0">
                <a:solidFill>
                  <a:srgbClr val="1B3B6F"/>
                </a:solidFill>
                <a:latin typeface="Amiri" pitchFamily="2" charset="-78"/>
                <a:cs typeface="Amiri" pitchFamily="2" charset="-78"/>
              </a:rPr>
              <a:t>أَشَارَ التَّقْرِيرُ إِلَى أَنَّ</a:t>
            </a:r>
            <a:pPr algn="l" indent="0" marL="0">
              <a:buNone/>
            </a:pPr>
            <a:r>
              <a:rPr lang="en-US" sz="1250" b="1" dirty="0">
                <a:solidFill>
                  <a:srgbClr val="1B3B6F"/>
                </a:solidFill>
                <a:latin typeface="Calibri" pitchFamily="34" charset="0"/>
                <a:cs typeface="Amiri" pitchFamily="2" charset="-78"/>
              </a:rPr>
              <a:t>…» presents whose view?</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writer's own view</a:t>
            </a:r>
            <a:endParaRPr lang="en-US" sz="125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 one's</a:t>
            </a:r>
            <a:endParaRPr lang="en-US" sz="125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report's, cited by the writer</a:t>
            </a:r>
            <a:endParaRPr lang="en-US" sz="125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Reported speech cites the report, not necessarily the writer.</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difference between </a:t>
            </a:r>
            <a:pPr algn="l" indent="0" marL="0">
              <a:buNone/>
            </a:pPr>
            <a:r>
              <a:rPr lang="ar-SA" altLang="en-US" sz="1650" b="1" dirty="0">
                <a:solidFill>
                  <a:srgbClr val="1B3B6F"/>
                </a:solidFill>
                <a:latin typeface="Amiri" pitchFamily="2" charset="-78"/>
                <a:cs typeface="Amiri" pitchFamily="2" charset="-78"/>
              </a:rPr>
              <a:t>يَذْكُرُ</a:t>
            </a:r>
            <a:pPr algn="l" indent="0" marL="0">
              <a:buNone/>
            </a:pPr>
            <a:r>
              <a:rPr lang="en-US" sz="1250" b="1" dirty="0">
                <a:solidFill>
                  <a:srgbClr val="1B3B6F"/>
                </a:solidFill>
                <a:latin typeface="Calibri" pitchFamily="34" charset="0"/>
                <a:cs typeface="Amiri" pitchFamily="2" charset="-78"/>
              </a:rPr>
              <a:t> and </a:t>
            </a:r>
            <a:pPr algn="l" indent="0" marL="0">
              <a:buNone/>
            </a:pPr>
            <a:r>
              <a:rPr lang="ar-SA" altLang="en-US" sz="1650" b="1" dirty="0">
                <a:solidFill>
                  <a:srgbClr val="1B3B6F"/>
                </a:solidFill>
                <a:latin typeface="Amiri" pitchFamily="2" charset="-78"/>
                <a:cs typeface="Amiri" pitchFamily="2" charset="-78"/>
              </a:rPr>
              <a:t>يُوصِي بِـ</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are identical</a:t>
            </a:r>
            <a:endParaRPr lang="en-US" sz="125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Mentioning is not recommending</a:t>
            </a:r>
            <a:endParaRPr lang="en-US" sz="125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One is past, one is future</a:t>
            </a:r>
            <a:endParaRPr lang="en-US" sz="125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يَذْكُرُ</a:t>
            </a:r>
            <a:pPr algn="l" indent="0" marL="0">
              <a:buNone/>
            </a:pPr>
            <a:r>
              <a:rPr lang="en-US" sz="1050" i="1" dirty="0">
                <a:solidFill>
                  <a:srgbClr val="8A6D1E"/>
                </a:solidFill>
                <a:latin typeface="Calibri" pitchFamily="34" charset="0"/>
                <a:cs typeface="Amiri" pitchFamily="2" charset="-78"/>
              </a:rPr>
              <a:t> mentions; </a:t>
            </a:r>
            <a:pPr algn="l" indent="0" marL="0">
              <a:buNone/>
            </a:pPr>
            <a:r>
              <a:rPr lang="ar-SA" altLang="en-US" sz="1350" dirty="0">
                <a:solidFill>
                  <a:srgbClr val="8A6D1E"/>
                </a:solidFill>
                <a:latin typeface="Amiri" pitchFamily="2" charset="-78"/>
                <a:cs typeface="Amiri" pitchFamily="2" charset="-78"/>
              </a:rPr>
              <a:t>يُوصِي بِـ</a:t>
            </a:r>
            <a:pPr algn="l" indent="0" marL="0">
              <a:buNone/>
            </a:pPr>
            <a:r>
              <a:rPr lang="en-US" sz="1050" i="1" dirty="0">
                <a:solidFill>
                  <a:srgbClr val="8A6D1E"/>
                </a:solidFill>
                <a:latin typeface="Calibri" pitchFamily="34" charset="0"/>
                <a:cs typeface="Amiri" pitchFamily="2" charset="-78"/>
              </a:rPr>
              <a:t> recommends.</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1" name="Text 48"/>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يَتَوَصَّلُ الكَاتِبُ ___ نَتِيجَةٍ وَاضِحَةٍ.</a:t>
            </a:r>
            <a:endParaRPr lang="ar-SA" sz="150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بِـ</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إِلَى</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عَلَى</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يَتَوَصَّلُ</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cs typeface="Amiri" pitchFamily="2" charset="-78"/>
              </a:rPr>
              <a:t>إِلَى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strongest reading of «</a:t>
            </a:r>
            <a:pPr algn="l" indent="0" marL="0">
              <a:buNone/>
            </a:pPr>
            <a:r>
              <a:rPr lang="ar-SA" altLang="en-US" sz="1650" b="1" dirty="0">
                <a:solidFill>
                  <a:srgbClr val="1B3B6F"/>
                </a:solidFill>
                <a:latin typeface="Amiri" pitchFamily="2" charset="-78"/>
                <a:cs typeface="Amiri" pitchFamily="2" charset="-78"/>
              </a:rPr>
              <a:t>اِعْتَرَفَ الوَزِيرُ بِأَنَّ الفَجْوَةَ قَائِمَةٌ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minister is certain and proud</a:t>
            </a:r>
            <a:endParaRPr lang="en-US" sz="125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minister denies the gap</a:t>
            </a:r>
            <a:endParaRPr lang="en-US" sz="125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minister concedes a problem he might prefer to deny</a:t>
            </a:r>
            <a:endParaRPr lang="en-US" sz="125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اِعْتَرَفَ بِـ</a:t>
            </a:r>
            <a:pPr algn="l" indent="0" marL="0">
              <a:buNone/>
            </a:pPr>
            <a:r>
              <a:rPr lang="en-US" sz="1050" i="1" dirty="0">
                <a:solidFill>
                  <a:srgbClr val="8A6D1E"/>
                </a:solidFill>
                <a:latin typeface="Calibri" pitchFamily="34" charset="0"/>
                <a:cs typeface="Amiri" pitchFamily="2" charset="-78"/>
              </a:rPr>
              <a:t> concedes a point.</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48</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P2-L08 · Reading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«اِدَّعَى» تَعْنِي أَنَّ الكَاتِبَ وَاثِقٌ مِنَ الكَلَامِ.</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iddaʿā → confident?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ذِكْرُ الفَجْوَةِ فِي التَّقْرِيرِ يَعْنِي أَنَّهُ أَوْصَى بِسَدِّهَا.</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 mention = a recommendation?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يَتَوَصَّلُ الكَاتِبُ بِنَتِيجَةٍ.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yatawaṣṣal + bi-?</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48</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cs typeface="Amiri" pitchFamily="2" charset="-78"/>
              </a:rPr>
              <a:t>«اِدَّعَى» تَعْنِي أَنَّ الكَاتِبَ وَاثِقٌ مِنَ الكَلَامِ.</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«اِدَّعَى» تُشِيرُ إِلَى شَكِّ الكَاتِبِ فِي الكَلَامِ.</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cs typeface="Amiri" pitchFamily="2" charset="-78"/>
              </a:rPr>
              <a:t>اِدَّعَى</a:t>
            </a:r>
            <a:pPr algn="l" indent="0" marL="0">
              <a:buNone/>
            </a:pPr>
            <a:r>
              <a:rPr lang="en-US" sz="1150" b="1" dirty="0">
                <a:solidFill>
                  <a:srgbClr val="1B3B6F"/>
                </a:solidFill>
                <a:latin typeface="Calibri" pitchFamily="34" charset="0"/>
                <a:cs typeface="Amiri" pitchFamily="2" charset="-78"/>
              </a:rPr>
              <a:t> signals doubt, not confidence.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cs typeface="Amiri" pitchFamily="2" charset="-78"/>
              </a:rPr>
              <a:t>ذِكْرُ الفَجْوَةِ فِي التَّقْرِيرِ يَعْنِي أَنَّهُ أَوْصَى بِسَدِّهَا.</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lnSpc>
                <a:spcPct val="120000"/>
              </a:lnSpc>
              <a:buNone/>
            </a:pPr>
            <a:r>
              <a:rPr lang="ar-SA" altLang="en-US" sz="2100" b="1" dirty="0">
                <a:solidFill>
                  <a:srgbClr val="1E6B52"/>
                </a:solidFill>
                <a:latin typeface="Amiri" pitchFamily="2" charset="-78"/>
                <a:cs typeface="Amiri" pitchFamily="2" charset="-78"/>
              </a:rPr>
              <a:t>ذِكْرُ الفَجْوَةِ لَا يَعْنِي بِالضَّرُورَةِ التَّوْصِيَةَ بِسَدِّهَا.</a:t>
            </a:r>
            <a:endParaRPr lang="ar-SA" sz="21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Mentioning a point is not recommending it.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يَتَوَصَّلُ الكَاتِبُ بِنَتِيجَةٍ.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يَتَوَصَّلُ الكَاتِبُ إِلَى نَتِيجَةٍ.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cs typeface="Amiri" pitchFamily="2" charset="-78"/>
              </a:rPr>
              <a:t>يَتَوَصَّلُ</a:t>
            </a:r>
            <a:pPr algn="l" indent="0" marL="0">
              <a:buNone/>
            </a:pPr>
            <a:r>
              <a:rPr lang="en-US" sz="1150" b="1" dirty="0">
                <a:solidFill>
                  <a:srgbClr val="1B3B6F"/>
                </a:solidFill>
                <a:latin typeface="Calibri" pitchFamily="34" charset="0"/>
                <a:cs typeface="Amiri" pitchFamily="2" charset="-78"/>
              </a:rPr>
              <a:t> is fixed with </a:t>
            </a:r>
            <a:pPr algn="l" indent="0" marL="0">
              <a:buNone/>
            </a:pPr>
            <a:r>
              <a:rPr lang="ar-SA" altLang="en-US" sz="1500" b="1" dirty="0">
                <a:solidFill>
                  <a:srgbClr val="1B3B6F"/>
                </a:solidFill>
                <a:latin typeface="Amiri" pitchFamily="2" charset="-78"/>
                <a:cs typeface="Amiri" pitchFamily="2" charset="-78"/>
              </a:rPr>
              <a:t>إِلَى</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48</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P2-L08 · Reading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Listening: reading a report critically</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you look at besides what is said?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How it is said</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the length</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the title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أَكَّدَ الوَزِيرُ</a:t>
            </a:r>
            <a:pPr algn="l" indent="0" marL="0">
              <a:buNone/>
            </a:pPr>
            <a:r>
              <a:rPr lang="en-US" sz="1250" b="1" dirty="0">
                <a:solidFill>
                  <a:srgbClr val="1B3B6F"/>
                </a:solidFill>
                <a:latin typeface="Calibri" pitchFamily="34" charset="0"/>
                <a:cs typeface="Amiri" pitchFamily="2" charset="-78"/>
              </a:rPr>
              <a:t>» convey?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writer's doubt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joke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confident, official source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اِدَّعَى بَعْضُ المُنْتَقِدِينَ</a:t>
            </a:r>
            <a:pPr algn="l" indent="0" marL="0">
              <a:buNone/>
            </a:pPr>
            <a:r>
              <a:rPr lang="en-US" sz="1250" b="1" dirty="0">
                <a:solidFill>
                  <a:srgbClr val="1B3B6F"/>
                </a:solidFill>
                <a:latin typeface="Calibri" pitchFamily="34" charset="0"/>
                <a:cs typeface="Amiri" pitchFamily="2" charset="-78"/>
              </a:rPr>
              <a:t>» signal?</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Certainty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Agreement</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writer's doubt about the claim</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Does reported speech always give the writer's own view?</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it may report someone else's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Yes, always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in reports</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إِذَا</a:t>
            </a:r>
            <a:pPr algn="l" indent="0" marL="0">
              <a:buNone/>
            </a:pPr>
            <a:r>
              <a:rPr lang="en-US" sz="1250" b="1" dirty="0">
                <a:solidFill>
                  <a:srgbClr val="1B3B6F"/>
                </a:solidFill>
                <a:latin typeface="Calibri" pitchFamily="34" charset="0"/>
                <a:cs typeface="Amiri" pitchFamily="2" charset="-78"/>
              </a:rPr>
              <a:t> present, versus </a:t>
            </a:r>
            <a:pPr algn="l" indent="0" marL="0">
              <a:buNone/>
            </a:pPr>
            <a:r>
              <a:rPr lang="ar-SA" altLang="en-US" sz="1650" b="1" dirty="0">
                <a:solidFill>
                  <a:srgbClr val="1B3B6F"/>
                </a:solidFill>
                <a:latin typeface="Amiri" pitchFamily="2" charset="-78"/>
                <a:cs typeface="Amiri" pitchFamily="2" charset="-78"/>
              </a:rPr>
              <a:t>لَوْ</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 are commands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cs typeface="Amiri" pitchFamily="2" charset="-78"/>
              </a:rPr>
              <a:t>إِذَا</a:t>
            </a:r>
            <a:pPr algn="l" indent="0" marL="0">
              <a:buNone/>
            </a:pPr>
            <a:r>
              <a:rPr lang="en-US" sz="1250" dirty="0">
                <a:solidFill>
                  <a:srgbClr val="1F2A37"/>
                </a:solidFill>
                <a:latin typeface="Calibri" pitchFamily="34" charset="0"/>
                <a:cs typeface="Amiri" pitchFamily="2" charset="-78"/>
              </a:rPr>
              <a:t> a real proposal; </a:t>
            </a:r>
            <a:pPr algn="l" indent="0" marL="0">
              <a:buNone/>
            </a:pPr>
            <a:r>
              <a:rPr lang="ar-SA" altLang="en-US" sz="1650" dirty="0">
                <a:solidFill>
                  <a:srgbClr val="1F2A37"/>
                </a:solidFill>
                <a:latin typeface="Amiri" pitchFamily="2" charset="-78"/>
                <a:cs typeface="Amiri" pitchFamily="2" charset="-78"/>
              </a:rPr>
              <a:t>لَوْ</a:t>
            </a:r>
            <a:pPr algn="l" indent="0" marL="0">
              <a:buNone/>
            </a:pPr>
            <a:r>
              <a:rPr lang="en-US" sz="1250" dirty="0">
                <a:solidFill>
                  <a:srgbClr val="1F2A37"/>
                </a:solidFill>
                <a:latin typeface="Calibri" pitchFamily="34" charset="0"/>
                <a:cs typeface="Amiri" pitchFamily="2" charset="-78"/>
              </a:rPr>
              <a:t> a hypothetical argument</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 are past events</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buNone/>
            </a:pPr>
            <a:r>
              <a:rPr lang="en-US" sz="1250" dirty="0">
                <a:solidFill>
                  <a:srgbClr val="1E6B52"/>
                </a:solidFill>
                <a:latin typeface="Calibri" pitchFamily="34" charset="0"/>
                <a:cs typeface="Amiri" pitchFamily="2" charset="-78"/>
              </a:rPr>
              <a:t>Listen for: akkada · iddaʿā · idhā · law.</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48</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P2-L08</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1950" b="1" dirty="0">
                <a:solidFill>
                  <a:srgbClr val="1B3B6F"/>
                </a:solidFill>
                <a:latin typeface="Amiri" pitchFamily="2" charset="-78"/>
                <a:cs typeface="Amiri" pitchFamily="2" charset="-78"/>
              </a:rPr>
              <a:t>عِنْدَمَا تَقْرَأُ نَصًّا تَعْلِيمِيًّا، لَا تَنْظُرْ إِلَى مَا يُقَالُ فَقَطْ، بَلْ إِلَى كَيْفِيَّةِ قَوْلِهِ.</a:t>
            </a:r>
            <a:endParaRPr lang="ar-SA" sz="19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When you read an education text, do not look only at what is said, but at how it is said.</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cs typeface="Amiri" pitchFamily="2" charset="-78"/>
              </a:rPr>
              <a:t>فَحِينَ يَكْتُبُ الكَاتِبُ «أَكَّدَ الوَزِيرُ»، فَهُوَ يَنْقُلُ مَصْدَرًا رَسْمِيًّا وَاثِقًا. أَمَّا حِينَ يَكْتُبُ «اِدَّعَى بَعْضُ المُنْتَقِدِينَ»، فَهُوَ يُشِيرُ إِلَى شَكِّهِ فِي الكَلَامِ.</a:t>
            </a:r>
            <a:endParaRPr lang="ar-SA" sz="15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When the writer writes “the minister stressed”, he is conveying a confident official source. But when he writes “some critics claimed”, he signals his doubt about what was said.</a:t>
            </a:r>
            <a:endParaRPr lang="en-US" sz="120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1950" b="1" dirty="0">
                <a:solidFill>
                  <a:srgbClr val="1B3B6F"/>
                </a:solidFill>
                <a:latin typeface="Amiri" pitchFamily="2" charset="-78"/>
                <a:cs typeface="Amiri" pitchFamily="2" charset="-78"/>
              </a:rPr>
              <a:t>وَالكَلَامُ المَنْقُولُ لَا يَعْنِي دَائِمًا رَأْيَ الكَاتِبِ نَفْسِهِ، بَلْ قَدْ يَنْقُلُ رَأْيَ غَيْرِهِ.</a:t>
            </a:r>
            <a:endParaRPr lang="ar-SA" sz="19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Reported speech does not always mean the writer’s own view; it may convey someone else’s.</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1950" b="1" dirty="0">
                <a:solidFill>
                  <a:srgbClr val="1B3B6F"/>
                </a:solidFill>
                <a:latin typeface="Amiri" pitchFamily="2" charset="-78"/>
                <a:cs typeface="Amiri" pitchFamily="2" charset="-78"/>
              </a:rPr>
              <a:t>وَانْتَبِهْ لِنَوْعِ الشَّرْطِ: إِذَا تُقَدِّمُ اقْتِرَاحًا وَاقِعِيًّا، وَلَوْ تُقَدِّمُ حُجَّةً افْتِرَاضِيَّةً.</a:t>
            </a:r>
            <a:endParaRPr lang="ar-SA" sz="19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Pay attention to the type of conditional: idhā offers a realistic proposal, and law offers a hypothetical argument.</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1850" b="1" dirty="0">
                <a:solidFill>
                  <a:srgbClr val="1B3B6F"/>
                </a:solidFill>
                <a:latin typeface="Amiri" pitchFamily="2" charset="-78"/>
                <a:cs typeface="Amiri" pitchFamily="2" charset="-78"/>
              </a:rPr>
              <a:t>وَمَيِّزْ بَيْنَ ذِكْرِ فِكْرَةٍ وَالتَّوْصِيَةِ بِهَا؛ فَقَدْ يَذْكُرُ التَّقْرِيرُ فَجْوَةً دُونَ أَنْ يُوصِيَ بِحَلٍّ.</a:t>
            </a:r>
            <a:endParaRPr lang="ar-SA" sz="18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Distinguish between mentioning an idea and recommending it: a report may mention a gap without recommending a solution.</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48</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you look at besides what is said?</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How it is said</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the length</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the title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بَلْ إِلَى كَيْفِيَّةِ قَوْلِهِ.</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أَكَّدَ الوَزِيرُ</a:t>
            </a:r>
            <a:pPr algn="l" indent="0" marL="0">
              <a:buNone/>
            </a:pPr>
            <a:r>
              <a:rPr lang="en-US" sz="1250" b="1" dirty="0">
                <a:solidFill>
                  <a:srgbClr val="1B3B6F"/>
                </a:solidFill>
                <a:latin typeface="Calibri" pitchFamily="34" charset="0"/>
                <a:cs typeface="Amiri" pitchFamily="2" charset="-78"/>
              </a:rPr>
              <a:t>» convey?</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writer's doubt</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joke</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confident, official source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يَنْقُلُ مَصْدَرًا رَسْمِيًّا وَاثِقًا.</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اِدَّعَى بَعْضُ المُنْتَقِدِينَ</a:t>
            </a:r>
            <a:pPr algn="l" indent="0" marL="0">
              <a:buNone/>
            </a:pPr>
            <a:r>
              <a:rPr lang="en-US" sz="1250" b="1" dirty="0">
                <a:solidFill>
                  <a:srgbClr val="1B3B6F"/>
                </a:solidFill>
                <a:latin typeface="Calibri" pitchFamily="34" charset="0"/>
                <a:cs typeface="Amiri" pitchFamily="2" charset="-78"/>
              </a:rPr>
              <a:t>» signal?</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Certainty</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Agreement</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writer's doubt about the claim</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يُشِيرُ إِلَى شَكِّهِ فِي الكَلَامِ.</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Does reported speech always give the writer's own view?</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No, it may report someone else's</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Yes, always</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in reports</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لَا يَعْنِي دَائِمًا رَأْيَ الكَاتِبِ نَفْسِهِ.</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إِذَا</a:t>
            </a:r>
            <a:pPr algn="l" indent="0" marL="0">
              <a:buNone/>
            </a:pPr>
            <a:r>
              <a:rPr lang="en-US" sz="1250" b="1" dirty="0">
                <a:solidFill>
                  <a:srgbClr val="1B3B6F"/>
                </a:solidFill>
                <a:latin typeface="Calibri" pitchFamily="34" charset="0"/>
                <a:cs typeface="Amiri" pitchFamily="2" charset="-78"/>
              </a:rPr>
              <a:t> present, versus </a:t>
            </a:r>
            <a:pPr algn="l" indent="0" marL="0">
              <a:buNone/>
            </a:pPr>
            <a:r>
              <a:rPr lang="ar-SA" altLang="en-US" sz="1650" b="1" dirty="0">
                <a:solidFill>
                  <a:srgbClr val="1B3B6F"/>
                </a:solidFill>
                <a:latin typeface="Amiri" pitchFamily="2" charset="-78"/>
                <a:cs typeface="Amiri" pitchFamily="2" charset="-78"/>
              </a:rPr>
              <a:t>لَوْ</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 are commands</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ar-SA" altLang="en-US" sz="1500" b="1" dirty="0">
                <a:solidFill>
                  <a:srgbClr val="1F2A37"/>
                </a:solidFill>
                <a:latin typeface="Amiri" pitchFamily="2" charset="-78"/>
                <a:cs typeface="Amiri" pitchFamily="2" charset="-78"/>
              </a:rPr>
              <a:t>إِذَا</a:t>
            </a:r>
            <a:pPr algn="l" indent="0" marL="0">
              <a:buNone/>
            </a:pPr>
            <a:r>
              <a:rPr lang="en-US" sz="1150" b="1" dirty="0">
                <a:solidFill>
                  <a:srgbClr val="1F2A37"/>
                </a:solidFill>
                <a:latin typeface="Calibri" pitchFamily="34" charset="0"/>
                <a:cs typeface="Amiri" pitchFamily="2" charset="-78"/>
              </a:rPr>
              <a:t> a real proposal; </a:t>
            </a:r>
            <a:pPr algn="l" indent="0" marL="0">
              <a:buNone/>
            </a:pPr>
            <a:r>
              <a:rPr lang="ar-SA" altLang="en-US" sz="1500" b="1" dirty="0">
                <a:solidFill>
                  <a:srgbClr val="1F2A37"/>
                </a:solidFill>
                <a:latin typeface="Amiri" pitchFamily="2" charset="-78"/>
                <a:cs typeface="Amiri" pitchFamily="2" charset="-78"/>
              </a:rPr>
              <a:t>لَوْ</a:t>
            </a:r>
            <a:pPr algn="l" indent="0" marL="0">
              <a:buNone/>
            </a:pPr>
            <a:r>
              <a:rPr lang="en-US" sz="1150" b="1" dirty="0">
                <a:solidFill>
                  <a:srgbClr val="1F2A37"/>
                </a:solidFill>
                <a:latin typeface="Calibri" pitchFamily="34" charset="0"/>
                <a:cs typeface="Amiri" pitchFamily="2" charset="-78"/>
              </a:rPr>
              <a:t> a hypothetical argument</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 are past events</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إِذَا تُقَدِّمُ اقْتِرَاحًا وَاقِعِيًّا، وَلَوْ تُقَدِّمُ حُجَّةً افْتِرَاضِيَّةً.</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buNone/>
            </a:pPr>
            <a:r>
              <a:rPr lang="en-US" sz="1250" dirty="0">
                <a:solidFill>
                  <a:srgbClr val="1E6B52"/>
                </a:solidFill>
                <a:latin typeface="Calibri" pitchFamily="34" charset="0"/>
                <a:cs typeface="Amiri" pitchFamily="2" charset="-78"/>
              </a:rPr>
              <a:t>Listen for: akkada · iddaʿā · idhā · law.</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48</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YOU DO · READING · READ THE WHOLE TEXT ONCE, THEN HUNT FOR EVIDENCE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two education texts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P2-L08</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2" charset="-78"/>
                <a:cs typeface="Amiri" pitchFamily="2" charset="-78"/>
              </a:rPr>
              <a:t>اِقْرَأِ النَّصَّيْنِ. الأَوَّلُ تَقْرِيرٌ وِزَارِيٌّ: «أَكَّدَتِ الوِزَارَةُ أَنَّ الإِصْلَاحَاتِ رَفَعَتْ نِسْبَةَ الالْتِحَاقِ، وَأَشَارَتْ إِلَى أَنَّ الفَجْوَةَ بَيْنَ المَنَاطِقِ مَا زَالَتْ قَائِمَةً. وَإِذَا اسْتَمَرَّ الاسْتِثْمَارُ، سَتَتَقَلَّصُ الفَجْوَةُ.» وَالثَّانِي مَقَالُ رَأْيٍ: «يَدَّعِي بَعْضُ المَسْؤُولِينَ أَنَّ كُلَّ شَيْءٍ عَلَى مَا يُرَامُ، لٰكِنَّ الوَاقِعَ مُخْتَلِفٌ. لَوْ كَانَتِ المَدَارِسُ الرِّيفِيَّةُ مُمَوَّلَةً كَالمُدُنِ، لَاخْتَفَتِ الفَجْوَةُ مُنْذُ سَنَوَاتٍ.» النَّصُّ الأَوَّلُ مَصْدَرٌ رَسْمِيٌّ يَذْكُرُ الفَجْوَةَ وَيَقْتَرِحُ حَلًّا وَاقِعِيًّا بِـ«إِذَا». أَمَّا الثَّانِي فَيَسْتَعْمِلُ «يَدَّعِي» لِيُظْهِرَ شَكَّهُ، وَ«لَوْ» لِيُجَادِلَ بِمَا كَانَ يُمْكِنُ أَنْ يَحْدُثَ.</a:t>
            </a:r>
            <a:endParaRPr lang="ar-SA" sz="23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تَقْرِيرٌ وِزَارِيٌّ</a:t>
            </a:r>
            <a:endParaRPr lang="ar-SA" sz="1600" dirty="0"/>
          </a:p>
        </p:txBody>
      </p:sp>
      <p:sp>
        <p:nvSpPr>
          <p:cNvPr id="20" name="Text 17"/>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ministry report</a:t>
            </a:r>
            <a:endParaRPr lang="en-US" sz="1050" dirty="0"/>
          </a:p>
        </p:txBody>
      </p:sp>
      <p:sp>
        <p:nvSpPr>
          <p:cNvPr id="21" name="Text 18"/>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نِسْبَةَ الالْتِحَاقِ</a:t>
            </a:r>
            <a:endParaRPr lang="ar-SA" sz="1600" dirty="0"/>
          </a:p>
        </p:txBody>
      </p:sp>
      <p:sp>
        <p:nvSpPr>
          <p:cNvPr id="22" name="Text 19"/>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enrolment rate</a:t>
            </a:r>
            <a:endParaRPr lang="en-US" sz="1050" dirty="0"/>
          </a:p>
        </p:txBody>
      </p:sp>
      <p:sp>
        <p:nvSpPr>
          <p:cNvPr id="23" name="Text 20"/>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مَا زَالَتْ قَائِمَةً</a:t>
            </a:r>
            <a:endParaRPr lang="ar-SA" sz="1600" dirty="0"/>
          </a:p>
        </p:txBody>
      </p:sp>
      <p:sp>
        <p:nvSpPr>
          <p:cNvPr id="24" name="Text 21"/>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still exists</a:t>
            </a:r>
            <a:endParaRPr lang="en-US" sz="1050" dirty="0"/>
          </a:p>
        </p:txBody>
      </p:sp>
      <p:sp>
        <p:nvSpPr>
          <p:cNvPr id="25" name="Text 22"/>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سَتَتَقَلَّصُ</a:t>
            </a:r>
            <a:endParaRPr lang="ar-SA" sz="1600" dirty="0"/>
          </a:p>
        </p:txBody>
      </p:sp>
      <p:sp>
        <p:nvSpPr>
          <p:cNvPr id="26" name="Text 23"/>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will shrink</a:t>
            </a:r>
            <a:endParaRPr lang="en-US" sz="1050" dirty="0"/>
          </a:p>
        </p:txBody>
      </p:sp>
      <p:sp>
        <p:nvSpPr>
          <p:cNvPr id="27" name="Text 24"/>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المَسْؤُولِينَ</a:t>
            </a:r>
            <a:endParaRPr lang="ar-SA" sz="1600" dirty="0"/>
          </a:p>
        </p:txBody>
      </p:sp>
      <p:sp>
        <p:nvSpPr>
          <p:cNvPr id="28" name="Text 25"/>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officials</a:t>
            </a:r>
            <a:endParaRPr lang="en-US" sz="1050" dirty="0"/>
          </a:p>
        </p:txBody>
      </p:sp>
      <p:sp>
        <p:nvSpPr>
          <p:cNvPr id="29" name="Text 26"/>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عَلَى مَا يُرَامُ</a:t>
            </a:r>
            <a:endParaRPr lang="ar-SA" sz="1600" dirty="0"/>
          </a:p>
        </p:txBody>
      </p:sp>
      <p:sp>
        <p:nvSpPr>
          <p:cNvPr id="30" name="Text 27"/>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fine, as it should be</a:t>
            </a:r>
            <a:endParaRPr lang="en-US" sz="1050" dirty="0"/>
          </a:p>
        </p:txBody>
      </p:sp>
      <p:sp>
        <p:nvSpPr>
          <p:cNvPr id="31" name="Text 28"/>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الرِّيفِيَّةُ</a:t>
            </a:r>
            <a:endParaRPr lang="ar-SA" sz="1600" dirty="0"/>
          </a:p>
        </p:txBody>
      </p:sp>
      <p:sp>
        <p:nvSpPr>
          <p:cNvPr id="32" name="Text 29"/>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rural</a:t>
            </a:r>
            <a:endParaRPr lang="en-US" sz="1050" dirty="0"/>
          </a:p>
        </p:txBody>
      </p:sp>
      <p:sp>
        <p:nvSpPr>
          <p:cNvPr id="33" name="Text 30"/>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مُمَوَّلَةً</a:t>
            </a:r>
            <a:endParaRPr lang="ar-SA" sz="1600" dirty="0"/>
          </a:p>
        </p:txBody>
      </p:sp>
      <p:sp>
        <p:nvSpPr>
          <p:cNvPr id="34" name="Text 31"/>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funded</a:t>
            </a:r>
            <a:endParaRPr lang="en-US" sz="1050" dirty="0"/>
          </a:p>
        </p:txBody>
      </p:sp>
      <p:sp>
        <p:nvSpPr>
          <p:cNvPr id="35" name="Text 32"/>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لَاخْتَفَتِ</a:t>
            </a:r>
            <a:endParaRPr lang="ar-SA" sz="1600" dirty="0"/>
          </a:p>
        </p:txBody>
      </p:sp>
      <p:sp>
        <p:nvSpPr>
          <p:cNvPr id="36" name="Text 33"/>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would have disappeared</a:t>
            </a:r>
            <a:endParaRPr lang="en-US" sz="1050" dirty="0"/>
          </a:p>
        </p:txBody>
      </p:sp>
      <p:sp>
        <p:nvSpPr>
          <p:cNvPr id="37" name="Text 34"/>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لِيُظْهِرَ شَكَّهُ</a:t>
            </a:r>
            <a:endParaRPr lang="ar-SA" sz="1600" dirty="0"/>
          </a:p>
        </p:txBody>
      </p:sp>
      <p:sp>
        <p:nvSpPr>
          <p:cNvPr id="38" name="Text 35"/>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to show his doubt</a:t>
            </a:r>
            <a:endParaRPr lang="en-US" sz="10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48</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EVIDENCE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ministry stress in Text 1?</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Reforms failed</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Reforms raised enrolment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 changed</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kind of conditional does Text 1 use?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counterfactual with </a:t>
            </a:r>
            <a:pPr algn="l" indent="0" marL="0">
              <a:buNone/>
            </a:pPr>
            <a:r>
              <a:rPr lang="ar-SA" altLang="en-US" sz="1650" dirty="0">
                <a:solidFill>
                  <a:srgbClr val="1F2A37"/>
                </a:solidFill>
                <a:latin typeface="Amiri" pitchFamily="2" charset="-78"/>
                <a:cs typeface="Amiri" pitchFamily="2" charset="-78"/>
              </a:rPr>
              <a:t>لَوْ</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conditional</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real proposal with </a:t>
            </a:r>
            <a:pPr algn="l" indent="0" marL="0">
              <a:buNone/>
            </a:pPr>
            <a:r>
              <a:rPr lang="ar-SA" altLang="en-US" sz="1650" dirty="0">
                <a:solidFill>
                  <a:srgbClr val="1F2A37"/>
                </a:solidFill>
                <a:latin typeface="Amiri" pitchFamily="2" charset="-78"/>
                <a:cs typeface="Amiri" pitchFamily="2" charset="-78"/>
              </a:rPr>
              <a:t>إِذَا</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يَدَّعِي</a:t>
            </a:r>
            <a:pPr algn="l" indent="0" marL="0">
              <a:buNone/>
            </a:pPr>
            <a:r>
              <a:rPr lang="en-US" sz="1250" b="1" dirty="0">
                <a:solidFill>
                  <a:srgbClr val="1B3B6F"/>
                </a:solidFill>
                <a:latin typeface="Calibri" pitchFamily="34" charset="0"/>
                <a:cs typeface="Amiri" pitchFamily="2" charset="-78"/>
              </a:rPr>
              <a:t>» in Text 2 tell you?</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writer doubts the officials' claim</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writer agrees fully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officials are certain</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argument does «</a:t>
            </a:r>
            <a:pPr algn="l" indent="0" marL="0">
              <a:buNone/>
            </a:pPr>
            <a:r>
              <a:rPr lang="ar-SA" altLang="en-US" sz="1650" b="1" dirty="0">
                <a:solidFill>
                  <a:srgbClr val="1B3B6F"/>
                </a:solidFill>
                <a:latin typeface="Amiri" pitchFamily="2" charset="-78"/>
                <a:cs typeface="Amiri" pitchFamily="2" charset="-78"/>
              </a:rPr>
              <a:t>لَوْ</a:t>
            </a:r>
            <a:pPr algn="l" indent="0" marL="0">
              <a:buNone/>
            </a:pPr>
            <a:r>
              <a:rPr lang="en-US" sz="1250" b="1" dirty="0">
                <a:solidFill>
                  <a:srgbClr val="1B3B6F"/>
                </a:solidFill>
                <a:latin typeface="Calibri" pitchFamily="34" charset="0"/>
                <a:cs typeface="Amiri" pitchFamily="2" charset="-78"/>
              </a:rPr>
              <a:t>» make in Text 2?</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real future plan</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counterfactual: the gap could have vanished</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command</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 the two texts differ in stance?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Text 1 is an official source proposing; Text 2 is a sceptical opinion arguing</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are identical</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 are official reports</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48</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FEEDBACK · READING ANSWERS WITH EVIDENCE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ministry stress in Text 1?</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Reforms failed</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Reforms raised enrolment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 changed</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أَكَّدَتِ الوِزَارَةُ أَنَّ الإِصْلَاحَاتِ رَفَعَتْ نِسْبَةَ الالْتِحَاقِ.</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kind of conditional does Text 1 use?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counterfactual with </a:t>
            </a:r>
            <a:pPr algn="l" indent="0" marL="0">
              <a:buNone/>
            </a:pPr>
            <a:r>
              <a:rPr lang="ar-SA" altLang="en-US" sz="1650" dirty="0">
                <a:solidFill>
                  <a:srgbClr val="9AA1AB"/>
                </a:solidFill>
                <a:latin typeface="Amiri" pitchFamily="2" charset="-78"/>
                <a:cs typeface="Amiri" pitchFamily="2" charset="-78"/>
              </a:rPr>
              <a:t>لَوْ</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 conditional</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real proposal with </a:t>
            </a:r>
            <a:pPr algn="l" indent="0" marL="0">
              <a:buNone/>
            </a:pPr>
            <a:r>
              <a:rPr lang="ar-SA" altLang="en-US" sz="1650" b="1" dirty="0">
                <a:solidFill>
                  <a:srgbClr val="1F2A37"/>
                </a:solidFill>
                <a:latin typeface="Amiri" pitchFamily="2" charset="-78"/>
                <a:cs typeface="Amiri" pitchFamily="2" charset="-78"/>
              </a:rPr>
              <a:t>إِذَا</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وَإِذَا اسْتَمَرَّ الاسْتِثْمَارُ، سَتَتَقَلَّصُ الفَجْوَةُ</a:t>
            </a:r>
            <a:pPr algn="l" indent="0" marL="0">
              <a:buNone/>
            </a:pPr>
            <a:r>
              <a:rPr lang="en-US" sz="1050" i="1" dirty="0">
                <a:solidFill>
                  <a:srgbClr val="8A6D1E"/>
                </a:solidFill>
                <a:latin typeface="Calibri" pitchFamily="34" charset="0"/>
                <a:cs typeface="Amiri" pitchFamily="2" charset="-78"/>
              </a:rPr>
              <a:t> — a real proposal.</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يَدَّعِي</a:t>
            </a:r>
            <a:pPr algn="l" indent="0" marL="0">
              <a:buNone/>
            </a:pPr>
            <a:r>
              <a:rPr lang="en-US" sz="1250" b="1" dirty="0">
                <a:solidFill>
                  <a:srgbClr val="1B3B6F"/>
                </a:solidFill>
                <a:latin typeface="Calibri" pitchFamily="34" charset="0"/>
                <a:cs typeface="Amiri" pitchFamily="2" charset="-78"/>
              </a:rPr>
              <a:t>» in Text 2 tell you?</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writer doubts the officials' claim</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writer agrees fully</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officials are certain</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يَسْتَعْمِلُ «يَدَّعِي» لِيُظْهِرَ شَكَّهُ.</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argument does «</a:t>
            </a:r>
            <a:pPr algn="l" indent="0" marL="0">
              <a:buNone/>
            </a:pPr>
            <a:r>
              <a:rPr lang="ar-SA" altLang="en-US" sz="1650" b="1" dirty="0">
                <a:solidFill>
                  <a:srgbClr val="1B3B6F"/>
                </a:solidFill>
                <a:latin typeface="Amiri" pitchFamily="2" charset="-78"/>
                <a:cs typeface="Amiri" pitchFamily="2" charset="-78"/>
              </a:rPr>
              <a:t>لَوْ</a:t>
            </a:r>
            <a:pPr algn="l" indent="0" marL="0">
              <a:buNone/>
            </a:pPr>
            <a:r>
              <a:rPr lang="en-US" sz="1250" b="1" dirty="0">
                <a:solidFill>
                  <a:srgbClr val="1B3B6F"/>
                </a:solidFill>
                <a:latin typeface="Calibri" pitchFamily="34" charset="0"/>
                <a:cs typeface="Amiri" pitchFamily="2" charset="-78"/>
              </a:rPr>
              <a:t>» make in Text 2?</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real future plan</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A counterfactual: the gap could have vanished</a:t>
            </a:r>
            <a:endParaRPr lang="en-US" sz="11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command</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«لَوْ» لِيُجَادِلَ بِمَا كَانَ يُمْكِنُ أَنْ يَحْدُثَ.</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 the two texts differ in stance?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Text 1 is an official source proposing; Text 2 is a sceptical opinion arguing</a:t>
            </a:r>
            <a:endParaRPr lang="en-US" sz="11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are identical</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 are official reports</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الأَوَّلُ مَصْدَرٌ رَسْمِيٌّ … أَمَّا الثَّانِي فَيُظْهِرُ شَكَّهُ.</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48</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analyse a text aloud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P2-L08</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الفِعْلُ النَّاقِلُ فِي الجُمْلَةِ؟ وَمَاذَا يَدُلُّ عَلَيْهِ؟</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هَلِ الشَّرْطُ فِي النَّصِّ وَاقِعِيٌّ أَمِ افْتِرَاضِيٌّ؟</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هَلْ يَذْكُرُ النَّصُّ الفِكْرَةَ أَمْ يُوصِي بِهَا؟</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350" b="1" dirty="0">
                <a:solidFill>
                  <a:srgbClr val="1D5FBF"/>
                </a:solidFill>
                <a:latin typeface="Amiri" pitchFamily="2" charset="-78"/>
                <a:cs typeface="Amiri" pitchFamily="2" charset="-78"/>
              </a:rPr>
              <a:t>الفِعْلُ النَّاقِلُ « ___ »، وَهُوَ يَدُلُّ عَلَى ___ .</a:t>
            </a:r>
            <a:endParaRPr lang="ar-SA" sz="135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2" charset="-78"/>
                <a:cs typeface="Amiri" pitchFamily="2" charset="-78"/>
              </a:rPr>
              <a:t>الشَّرْطُ ___ ، لِأَنَّ الكَاتِبَ يَسْتَعْمِلُ « ___ ».</a:t>
            </a:r>
            <a:endParaRPr lang="ar-SA" sz="14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2" charset="-78"/>
                <a:cs typeface="Amiri" pitchFamily="2" charset="-78"/>
              </a:rPr>
              <a:t>يَذْكُرُ النَّصُّ ___ ، لٰكِنَّهُ لَا يُوصِي ___ .</a:t>
            </a:r>
            <a:endParaRPr lang="ar-SA" sz="155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مَا الفِعْلُ النَّاقِلُ، وَمَاذَا يَدُلُّ عَلَيْهِ؟</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is the reporting verb, and what does it signal?</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الفِعْلُ «اِدَّعَى»، وَهُوَ يَدُلُّ عَلَى شَكِّ الكَاتِبِ فِي الكَلَامِ.</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00" i="1" dirty="0">
                <a:solidFill>
                  <a:srgbClr val="5A6472"/>
                </a:solidFill>
                <a:latin typeface="Calibri" pitchFamily="34" charset="0"/>
                <a:cs typeface="Amiri" pitchFamily="2" charset="-78"/>
              </a:rPr>
              <a:t>The verb is “iddaʿā”, and it signals the writer’s doubt about what was said.</a:t>
            </a:r>
            <a:endParaRPr lang="en-US" sz="9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48</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P2-L08</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verbs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Classify six reporting verbs as certain, doubtful or neutral.</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Core: classify six reporting verbs as certain, doubtful or neutral — with one example sentence each.</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40–50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For two sentences, say whether the conditional is real or hypothetical.</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Develop: for two sentences, say whether the conditional is real or hypothetical, and why.</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80–90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an R3-style question requiring analysis of a conditional or reporting verb.</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analyse an education text — reporting verb, conditional type, mention vs recommendation and the writer’s stance.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48</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P2-L08</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الشَّرْطُ وَاقِعِيٌّ، لِأَنَّ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conditional is real, because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تُقَدِّمُ «لَوْ» حُجَّةً افْتِرَاضِيَّةً: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“law” presents a hypothetical argument: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يَذْكُرُ النَّصُّ ______ دُونَ أَنْ يُوصِيَ بِحَلٍّ.</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text mentions … without recommending a solution.</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يَتَوَصَّلُ الكَاتِبُ إِلَى أَنَّ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writer reaches the conclusion that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الفِعْلُ « ______ » يَدُلُّ عَلَى اليَقِينِ.</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verb “…” signals certainty.</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الفِعْلُ « ______ » يُظْهِرُ شَكَّ الكَاتِبِ.</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verb “…” signals the writer’s doubt.</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هٰذَا النَّصُّ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text is an official report / an opinion article.</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يَذْكُرُ التَّقْرِيرُ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report mentions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أَكَّدَ  ·  أَثْبَتَ  ·  أَوْضَحَ  ·  اعْتَرَفَ بِـ  ·  ادَّعَى  ·  زَعَمَ  ·  تَقْرِيرٌ رَسْمِيٌّ  ·  مَقَالُ رَأْيٍ  ·  اقْتِرَاحٌ وَاقِعِيٌّ  ·  حُجَّةٌ افْتِرَاضِيَّةٌ  ·  مَصْدَرٌ وَاثِقٌ  ·  شَكُّ الكَاتِبِ</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48</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P2-L08</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Write eighty to ninety words analysing a short education text of your choice. Name one reporting verb and the certainty it signals, say whether the text's conditional is real or hypothetical, and distinguish one point that is mentioned from one that is recommended.</a:t>
            </a:r>
            <a:endParaRPr lang="en-US" sz="12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reporting verb identified with its certainty signal.</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The conditional classified as real (</a:t>
            </a:r>
            <a:pPr algn="l" indent="0" marL="0">
              <a:buNone/>
            </a:pPr>
            <a:r>
              <a:rPr lang="ar-SA" altLang="en-US" sz="1550" dirty="0">
                <a:solidFill>
                  <a:srgbClr val="1F2A37"/>
                </a:solidFill>
                <a:latin typeface="Amiri" pitchFamily="2" charset="-78"/>
                <a:cs typeface="Amiri" pitchFamily="2" charset="-78"/>
              </a:rPr>
              <a:t>إِذَا</a:t>
            </a:r>
            <a:pPr algn="l" indent="0" marL="0">
              <a:buNone/>
            </a:pPr>
            <a:r>
              <a:rPr lang="en-US" sz="1200" dirty="0">
                <a:solidFill>
                  <a:srgbClr val="1F2A37"/>
                </a:solidFill>
                <a:latin typeface="Calibri" pitchFamily="34" charset="0"/>
                <a:cs typeface="Amiri" pitchFamily="2" charset="-78"/>
              </a:rPr>
              <a:t>) or hypothetical (</a:t>
            </a:r>
            <a:pPr algn="l" indent="0" marL="0">
              <a:buNone/>
            </a:pPr>
            <a:r>
              <a:rPr lang="ar-SA" altLang="en-US" sz="1550" dirty="0">
                <a:solidFill>
                  <a:srgbClr val="1F2A37"/>
                </a:solidFill>
                <a:latin typeface="Amiri" pitchFamily="2" charset="-78"/>
                <a:cs typeface="Amiri" pitchFamily="2" charset="-78"/>
              </a:rPr>
              <a:t>لَوْ</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distinction between a mentioned point and a recommended one.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statement of the writer's overall stance.</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يَكْشِفُ النَّصُّ مَوْقِفَهُ مِنْ خِلَالِ أَفْعَالِهِ النَّاقِلَةِ</a:t>
            </a:r>
            <a:endParaRPr lang="ar-SA" sz="16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text reveals its stance through its reporting verbs</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يَنْقُلُ مَصْدَرًا رَسْمِيًّا وَاثِقًا</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it conveys a confident official source</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اقْتِرَاحٌ حَقِيقِيٌّ</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 genuine proposal</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بَيْنَمَا يَكْتَفِي المَقَالُ بِالنَّقْدِ</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while the article contents itself with criticism</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أَقْرَأُ النَّصَّيْنِ بِوَعْيٍ بِمَصْدَرِهِمَا وَمَوْقِفِهِمَا</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read both texts aware of their source and stance</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48</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P2-L08 · Reading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P2-L08</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50" dirty="0">
                <a:solidFill>
                  <a:srgbClr val="1F2A37"/>
                </a:solidFill>
                <a:latin typeface="Amiri" pitchFamily="2" charset="-78"/>
                <a:cs typeface="Amiri" pitchFamily="2" charset="-78"/>
              </a:rPr>
              <a:t>يَكْشِفُ النَّصُّ مَوْقِفَهُ مِنْ خِلَالِ أَفْعَالِهِ النَّاقِلَةِ. فَحِينَ يَكْتُبُ «أَكَّدَتِ الوِزَارَةُ»، فَهُوَ يَنْقُلُ مَصْدَرًا رَسْمِيًّا وَاثِقًا، أَمَّا «يَدَّعِي المُنْتَقِدُونَ» فَتُظْهِرُ شَكَّهُ. وَالشَّرْطُ فِي النَّصِّ الأَوَّلِ وَاقِعِيٌّ؛ فَـ«إِذَا اسْتَمَرَّ الاسْتِثْمَارُ، سَتَتَقَلَّصُ الفَجْوَةُ» اقْتِرَاحٌ حَقِيقِيٌّ. أَمَّا فِي النَّصِّ الثَّانِي فَـ«لَوْ» تُقَدِّمُ حُجَّةً افْتِرَاضِيَّةً. وَأُمَيِّزُ بَيْنَ ذِكْرِ الفَجْوَةِ وَالتَّوْصِيَةِ بِسَدِّهَا؛ فَالتَّقْرِيرُ يَذْكُرُهَا وَيَقْتَرِحُ حَلًّا، بَيْنَمَا يَكْتَفِي المَقَالُ بِالنَّقْدِ. لِذٰلِكَ أَقْرَأُ النَّصَّيْنِ بِوَعْيٍ بِمَصْدَرِهِمَا وَمَوْقِفِهِمَا.</a:t>
            </a:r>
            <a:endParaRPr lang="ar-SA" sz="23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The text reveals its stance through its reporting verbs. When it writes “the ministry stressed”, it conveys a confident official source, whereas “the critics claim” shows its doubt. The conditional in the first text is real: “if investment continues, the gap will shrink” is a genuine proposal. In the second text, however, “law” presents a hypothetical argument. I distinguish between mentioning the gap and recommending that it be closed: the report mentions it and proposes a solution, while the article contents itself with criticism. So I read both texts aware of their source and stance.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certain reporting verb (akkadat)</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doubtful reporting verb (yaddaʿī)</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real vs a hypothetical conditional</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mention vs recommendation (yadhkuruhā · yaqtariḥ)</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48</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P2-L08 · Reading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P2-L08</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named each reporting verb and its certainty.</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quoted the exact phrase that proves my answer.</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classified each conditional: idhā = proposal, law = counterfactual.</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separated the writer’s view from a cited view.</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did not read a mention as a recommendation.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48</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P2-L08 · Reading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reporting verb signals doubt?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اِدَّعَى</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أَكَّدَ</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أَثْبَتَ</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conditional is a real proposal?</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لَوْ كَانَتِ المَدَارِسُ مُمَوَّلَةً، لَاخْتَفَتِ الفَجْوَةُ.</a:t>
            </a:r>
            <a:endParaRPr lang="ar-SA" sz="15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إِذَا اسْتَمَرَّ الاسْتِثْمَارُ، سَتَتَقَلَّصُ الفَجْوَةُ.</a:t>
            </a:r>
            <a:endParaRPr lang="ar-SA" sz="15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لَوْ زَادَ الإِنْفَاقُ، لَتَحَسَّنَتِ النَّتَائِجُ.</a:t>
            </a:r>
            <a:endParaRPr lang="ar-SA" sz="15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يَتَوَصَّلُ الكَاتِبُ</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نَتِيجَةٍ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48</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P2-L08 · Reading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reporting verb signals doubt?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اِدَّعَى</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أَكَّدَ</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أَثْبَتَ</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اِدَّعَى</a:t>
            </a:r>
            <a:pPr algn="l" indent="0" marL="0">
              <a:buNone/>
            </a:pPr>
            <a:r>
              <a:rPr lang="en-US" sz="1050" i="1" dirty="0">
                <a:solidFill>
                  <a:srgbClr val="8A6D1E"/>
                </a:solidFill>
                <a:latin typeface="Calibri" pitchFamily="34" charset="0"/>
                <a:cs typeface="Amiri" pitchFamily="2" charset="-78"/>
              </a:rPr>
              <a:t> signals the writer's doubt.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conditional is a real proposal?</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1550" dirty="0">
                <a:solidFill>
                  <a:srgbClr val="9AA1AB"/>
                </a:solidFill>
                <a:latin typeface="Amiri" pitchFamily="2" charset="-78"/>
                <a:cs typeface="Amiri" pitchFamily="2" charset="-78"/>
              </a:rPr>
              <a:t>لَوْ كَانَتِ المَدَارِسُ مُمَوَّلَةً، لَاخْتَفَتِ الفَجْوَةُ.</a:t>
            </a:r>
            <a:endParaRPr lang="ar-SA" sz="15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2" charset="-78"/>
                <a:cs typeface="Amiri" pitchFamily="2" charset="-78"/>
              </a:rPr>
              <a:t>إِذَا اسْتَمَرَّ الاسْتِثْمَارُ، سَتَتَقَلَّصُ الفَجْوَةُ.</a:t>
            </a:r>
            <a:endParaRPr lang="ar-SA" sz="15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1550" dirty="0">
                <a:solidFill>
                  <a:srgbClr val="9AA1AB"/>
                </a:solidFill>
                <a:latin typeface="Amiri" pitchFamily="2" charset="-78"/>
                <a:cs typeface="Amiri" pitchFamily="2" charset="-78"/>
              </a:rPr>
              <a:t>لَوْ زَادَ الإِنْفَاقُ، لَتَحَسَّنَتِ النَّتَائِجُ.</a:t>
            </a:r>
            <a:endParaRPr lang="ar-SA" sz="15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إِذَا … سَـ</a:t>
            </a:r>
            <a:pPr algn="l" indent="0" marL="0">
              <a:buNone/>
            </a:pPr>
            <a:r>
              <a:rPr lang="en-US" sz="1050" i="1" dirty="0">
                <a:solidFill>
                  <a:srgbClr val="8A6D1E"/>
                </a:solidFill>
                <a:latin typeface="Calibri" pitchFamily="34" charset="0"/>
                <a:cs typeface="Amiri" pitchFamily="2" charset="-78"/>
              </a:rPr>
              <a:t> is a real proposal.</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يَتَوَصَّلُ الكَاتِبُ</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نَتِيجَةٍ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إِلَى</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بِـ</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عَلَى</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يَتَوَصَّلُ</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cs typeface="Amiri" pitchFamily="2" charset="-78"/>
              </a:rPr>
              <a:t>إِلَى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48</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Critical Reading Mission — Verb, Certainty and Conditional</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P2-L08</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Certainty: which signals doubt?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أَكَّدَ</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اِدَّعَى</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أَثْبَتَ</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Certainty: which signals confidence?</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أَكَّدَ</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اِدَّعَى</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زَعَمَ</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Concession: which admits a point?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أَكَّدَ</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نَفَى</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اِعْتَرَفَ بِـ</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Conditional: «</a:t>
            </a:r>
            <a:pPr algn="l" indent="0" marL="0">
              <a:buNone/>
            </a:pPr>
            <a:r>
              <a:rPr lang="ar-SA" altLang="en-US" sz="1650" b="1" dirty="0">
                <a:solidFill>
                  <a:srgbClr val="1B3B6F"/>
                </a:solidFill>
                <a:latin typeface="Amiri" pitchFamily="2" charset="-78"/>
                <a:cs typeface="Amiri" pitchFamily="2" charset="-78"/>
              </a:rPr>
              <a:t>إِذَا … سَـ</a:t>
            </a:r>
            <a:pPr algn="l" indent="0" marL="0">
              <a:buNone/>
            </a:pPr>
            <a:r>
              <a:rPr lang="en-US" sz="1250" b="1" dirty="0">
                <a:solidFill>
                  <a:srgbClr val="1B3B6F"/>
                </a:solidFill>
                <a:latin typeface="Calibri" pitchFamily="34" charset="0"/>
                <a:cs typeface="Amiri" pitchFamily="2" charset="-78"/>
              </a:rPr>
              <a:t>» is …</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counterfactual</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command</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real proposal</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Conditional: «</a:t>
            </a:r>
            <a:pPr algn="l" indent="0" marL="0">
              <a:buNone/>
            </a:pPr>
            <a:r>
              <a:rPr lang="ar-SA" altLang="en-US" sz="1650" b="1" dirty="0">
                <a:solidFill>
                  <a:srgbClr val="1B3B6F"/>
                </a:solidFill>
                <a:latin typeface="Amiri" pitchFamily="2" charset="-78"/>
                <a:cs typeface="Amiri" pitchFamily="2" charset="-78"/>
              </a:rPr>
              <a:t>لَوْ … لَـ</a:t>
            </a:r>
            <a:pPr algn="l" indent="0" marL="0">
              <a:buNone/>
            </a:pPr>
            <a:r>
              <a:rPr lang="en-US" sz="1250" b="1" dirty="0">
                <a:solidFill>
                  <a:srgbClr val="1B3B6F"/>
                </a:solidFill>
                <a:latin typeface="Calibri" pitchFamily="34" charset="0"/>
                <a:cs typeface="Amiri" pitchFamily="2" charset="-78"/>
              </a:rPr>
              <a:t>» is …</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counterfactual</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real proposal</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question</a:t>
            </a:r>
            <a:endParaRPr lang="en-US" sz="12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Source: reported speech gives …</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always the writer's own view</a:t>
            </a:r>
            <a:endParaRPr lang="en-US" sz="12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often someone else's view, cited</a:t>
            </a:r>
            <a:endParaRPr lang="en-US" sz="12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never any view</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48</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P2-L08</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Certainty: which signals doubt?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أَكَّدَ</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اِدَّعَى</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أَثْبَتَ</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اِدَّعَى</a:t>
            </a:r>
            <a:pPr algn="l" indent="0" marL="0">
              <a:buNone/>
            </a:pPr>
            <a:r>
              <a:rPr lang="en-US" sz="1050" i="1" dirty="0">
                <a:solidFill>
                  <a:srgbClr val="8A6D1E"/>
                </a:solidFill>
                <a:latin typeface="Calibri" pitchFamily="34" charset="0"/>
                <a:cs typeface="Amiri" pitchFamily="2" charset="-78"/>
              </a:rPr>
              <a:t> signals doubt.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Certainty: which signals confidence?</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أَكَّدَ</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اِدَّعَى</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زَعَمَ</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أَكَّدَ</a:t>
            </a:r>
            <a:pPr algn="l" indent="0" marL="0">
              <a:buNone/>
            </a:pPr>
            <a:r>
              <a:rPr lang="en-US" sz="1050" i="1" dirty="0">
                <a:solidFill>
                  <a:srgbClr val="8A6D1E"/>
                </a:solidFill>
                <a:latin typeface="Calibri" pitchFamily="34" charset="0"/>
                <a:cs typeface="Amiri" pitchFamily="2" charset="-78"/>
              </a:rPr>
              <a:t> signals high certainty.</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Concession: which admits a point?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أَكَّدَ</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نَفَى</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اِعْتَرَفَ بِـ</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اِعْتَرَفَ بِـ</a:t>
            </a:r>
            <a:pPr algn="l" indent="0" marL="0">
              <a:buNone/>
            </a:pPr>
            <a:r>
              <a:rPr lang="en-US" sz="1050" i="1" dirty="0">
                <a:solidFill>
                  <a:srgbClr val="8A6D1E"/>
                </a:solidFill>
                <a:latin typeface="Calibri" pitchFamily="34" charset="0"/>
                <a:cs typeface="Amiri" pitchFamily="2" charset="-78"/>
              </a:rPr>
              <a:t> concedes a point.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Conditional: «</a:t>
            </a:r>
            <a:pPr algn="l" indent="0" marL="0">
              <a:buNone/>
            </a:pPr>
            <a:r>
              <a:rPr lang="ar-SA" altLang="en-US" sz="1650" b="1" dirty="0">
                <a:solidFill>
                  <a:srgbClr val="1B3B6F"/>
                </a:solidFill>
                <a:latin typeface="Amiri" pitchFamily="2" charset="-78"/>
                <a:cs typeface="Amiri" pitchFamily="2" charset="-78"/>
              </a:rPr>
              <a:t>إِذَا … سَـ</a:t>
            </a:r>
            <a:pPr algn="l" indent="0" marL="0">
              <a:buNone/>
            </a:pPr>
            <a:r>
              <a:rPr lang="en-US" sz="1250" b="1" dirty="0">
                <a:solidFill>
                  <a:srgbClr val="1B3B6F"/>
                </a:solidFill>
                <a:latin typeface="Calibri" pitchFamily="34" charset="0"/>
                <a:cs typeface="Amiri" pitchFamily="2" charset="-78"/>
              </a:rPr>
              <a:t>» is …</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counterfactual</a:t>
            </a:r>
            <a:endParaRPr lang="en-US" sz="125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command</a:t>
            </a:r>
            <a:endParaRPr lang="en-US" sz="125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real proposal</a:t>
            </a:r>
            <a:endParaRPr lang="en-US" sz="125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إِذَا … سَـ</a:t>
            </a:r>
            <a:pPr algn="l" indent="0" marL="0">
              <a:buNone/>
            </a:pPr>
            <a:r>
              <a:rPr lang="en-US" sz="1050" i="1" dirty="0">
                <a:solidFill>
                  <a:srgbClr val="8A6D1E"/>
                </a:solidFill>
                <a:latin typeface="Calibri" pitchFamily="34" charset="0"/>
                <a:cs typeface="Amiri" pitchFamily="2" charset="-78"/>
              </a:rPr>
              <a:t> proposes a real change.</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Conditional: «</a:t>
            </a:r>
            <a:pPr algn="l" indent="0" marL="0">
              <a:buNone/>
            </a:pPr>
            <a:r>
              <a:rPr lang="ar-SA" altLang="en-US" sz="1650" b="1" dirty="0">
                <a:solidFill>
                  <a:srgbClr val="1B3B6F"/>
                </a:solidFill>
                <a:latin typeface="Amiri" pitchFamily="2" charset="-78"/>
                <a:cs typeface="Amiri" pitchFamily="2" charset="-78"/>
              </a:rPr>
              <a:t>لَوْ … لَـ</a:t>
            </a:r>
            <a:pPr algn="l" indent="0" marL="0">
              <a:buNone/>
            </a:pPr>
            <a:r>
              <a:rPr lang="en-US" sz="1250" b="1" dirty="0">
                <a:solidFill>
                  <a:srgbClr val="1B3B6F"/>
                </a:solidFill>
                <a:latin typeface="Calibri" pitchFamily="34" charset="0"/>
                <a:cs typeface="Amiri" pitchFamily="2" charset="-78"/>
              </a:rPr>
              <a:t>» is …</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counterfactual</a:t>
            </a:r>
            <a:endParaRPr lang="en-US" sz="125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real proposal</a:t>
            </a:r>
            <a:endParaRPr lang="en-US" sz="125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question</a:t>
            </a:r>
            <a:endParaRPr lang="en-US" sz="125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لَوْ … لَـ</a:t>
            </a:r>
            <a:pPr algn="l" indent="0" marL="0">
              <a:buNone/>
            </a:pPr>
            <a:r>
              <a:rPr lang="en-US" sz="1050" i="1" dirty="0">
                <a:solidFill>
                  <a:srgbClr val="8A6D1E"/>
                </a:solidFill>
                <a:latin typeface="Calibri" pitchFamily="34" charset="0"/>
                <a:cs typeface="Amiri" pitchFamily="2" charset="-78"/>
              </a:rPr>
              <a:t> argues from an unreal case.</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Source: reported speech gives …</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always the writer's own view</a:t>
            </a:r>
            <a:endParaRPr lang="en-US" sz="125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often someone else's view, cited</a:t>
            </a:r>
            <a:endParaRPr lang="en-US" sz="125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never any view</a:t>
            </a:r>
            <a:endParaRPr lang="en-US" sz="125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Reported speech frequently cites another source.</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48</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P2-L08 · Reading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P2-L09: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P2-L08</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P2-L09 · Writing — Education and Future Plans (Paper 4 Extended Writing)</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عِلَاوَةً عَلَى ذٰلِكَ</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moreover</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شَرِيطَةَ أَنْ</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provided that</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بِنَاءً عَلَى مَا سَبَقَ</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based on the above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مِنْ جِهَةٍ أُخْرَى</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on the other hand</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نَتِيجَةً لِذٰلِكَ</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as a result</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Plan an essay: does education guarantee a better future?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cs typeface="Amiri" pitchFamily="2" charset="-78"/>
              </a:rPr>
              <a:t>أَوَّلًا ______ ، وَعِلَاوَةً عَلَى ذٰلِكَ ______ ، وَبِنَاءً عَلَى مَا سَبَقَ ______ .</a:t>
            </a:r>
            <a:endParaRPr lang="ar-SA" sz="155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Classify six reporting verbs (certain · doubtful · neutral) with one example each.</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Find two conditionals in a news text and say if each is real or hypothetical.</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an 80–90-word analysis of a short education text.</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47 / 48</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P2-L08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P2-L09 · Writing — Education and Future Plans (Paper 4 Extended Writing)</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الكِتَابَةُ — التَّعْلِيمُ وَخُطَطُ المُسْتَقْبَلِ</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read HOW it is said — akkada = certain · iddaʿā / zaʿama = doubtful · iʿtarafa bi- = concedes — idhā proposes, law criticises what did not happen, and a mention is not a recommendation.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P2-L08 · Reading — Education Texts</dc:title>
  <dc:subject>PptxGenJS Presentation</dc:subject>
  <dc:creator>Al Madina Online School · Arabic Department</dc:creator>
  <cp:lastModifiedBy>Al Madina Online School · Arabic Department</cp:lastModifiedBy>
  <cp:revision>1</cp:revision>
  <dcterms:created xsi:type="dcterms:W3CDTF">2026-10-11T06:43:04Z</dcterms:created>
  <dcterms:modified xsi:type="dcterms:W3CDTF">2026-10-11T06:43:04Z</dcterms:modified>
</cp:coreProperties>
</file>