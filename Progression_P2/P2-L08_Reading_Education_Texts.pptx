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P2-L08. The website lesson “Reading — Education Texts”: vocabulary, grammar rules and quiz, patterns, common mistakes, sorter, listening, reading, speaking prompts and model, writing task and model, differentiation, final check and the lesson mission. Picture match: website visual game “Reading — Education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“two education texts” (a ministry report and an opinion article) is the main You Do task. The grammar slides are a reading toolkit built on P2 grammar students already know (reported speech, both conditionals).
• Core: classify six reporting verbs as certain, doubtful or neutral (website Core). Develop: say whether two conditionals are real or hypothetical. Stretch: write an R3-style question that needs analysis of a reporting verb or a conditional.
• Exam link: IGCSE Paper 1 R3 questions ask “what does the writer think / imply?” — the reporting verb and the conditional type are the evidence. Train students to QUOTE the word.
• Media-literacy link: the same verbs appear in news headlines («يَدَّعِي» vs «يُؤَكِّدُ»). Ask: who is speaking — the journalist or the person quoted?
• Grammar links: reported speech (P2-L02) · Type 2 conditional (P2-L06) · fact vs opinion (P1-L08).
• TEACHER-WRITTEN ITEMS: waṣl alif shown without a kasra inside phrases; the listening imperative spelt وَمَيِّزْ; rule headings and formulas in English and transliteration; rule examples shown without their English glosses; the two-text comparison table is teacher-built from the website reading;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P2-L07. Question 4 retrieves yamurr bi- (P2-L07) and question 5 the Type 2 conditional (P2-L06) — today students read law as a signal of the writer’s argument.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HOW it is said, not only what is said: the reporting verb shows how sure the writer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دعویٰ (a claim — the noun behind ادَّعَى), اعتراف (admission — اعْتَرَفَ بِـ), وضاحت (clarification — أَوْضَحَ) and موقف are shared. Urdu دعویٰ often sounds neutral, but in Arabic reporting ادَّعَى signals the writer’s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and structure (website vocabulary (1 of 2)). Hear → Say → See → Use. Transliteration is printed for Core students (cover it for Develop/Stretch).
Text types: an examiner’s first question is “what kind of text is this?” — an official report (تَقْرِيرٌ مُؤَسَّسِيٌّ) speaks for an institution; an opinion article (مَقَالُ رَأْيٍ) speaks for its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and structure (website vocabulary (2 of 2)). Hear → Say → See → Use. Transliteration is printed for Core students (cover it for Develop/Stretch).
Text types: an examiner’s first question is “what kind of text is this?” — an official report (تَقْرِيرٌ مُؤَسَّسِيٌّ) speaks for an institution; an opinion article (مَقَالُ رَأْيٍ) speaks for its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skills (website vocabulary (1 of 2)). Hear → Say → See → Use. Transliteration is printed for Core students (cover it for Develop/Stretch).
Reading verbs — the verbs of an exam answer, each with its partner: يَتَوَصَّلُ إِلَى · يَسْتَشْهِدُ بِـ · يُشِيرُ إِلَى · يُوصِي بِـ · يُمَيِّزُ بَيْنَ … وَ … · يَسْتَنْتِجُ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skills (website vocabulary (2 of 2)). Hear → Say → See → Use. Transliteration is printed for Core students (cover it for Develop/Stretch).
FLEX: teach if time allows; otherwise these are on the website vocabulary tab for homework.
Reading verbs — the verbs of an exam answer, each with its partner: يَتَوَصَّلُ إِلَى · يَسْتَشْهِدُ بِـ · يُشِيرُ إِلَى · يُوصِي بِـ · يُمَيِّزُ بَيْنَ … وَ … · يَسْتَنْتِجُ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Certainty in reporting verbs (website vocabulary (1 of 2)). Hear → Say → See → Use. Transliteration is printed for Core students (cover it for Develop/Stretch).
FLEX: teach if time allows; otherwise these are on the website vocabulary tab for homework.
Certainty in reporting verbs: أَكَّدَ (certain) · أَوْضَحَ (neutral) · اعْتَرَفَ بِـ (concedes) · ادَّعَى / زَعَمَ (doubtful) · نَفَى (denied). Past forms: he · she ·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Certainty in reporting verbs (website vocabulary (2 of 2)). Hear → Say → See → Use. Transliteration is printed for Core students (cover it for Develop/Stretch).
FLEX: teach if time allows; otherwise these are on the website vocabulary tab for homework.
Certainty in reporting verbs: أَكَّدَ (certain) · أَوْضَحَ (neutral) · اعْتَرَفَ بِـ (concedes) · ادَّعَى / زَعَمَ (doubtful) · نَفَى (denied). Past forms: he · she ·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“Certainty from the reporting verb”, the website table and teaching point “The reporting verb signals certainty and stance” (a core R3 skill).
Website mistake 1: «اِدَّعَى» تَعْنِي أَنَّ الكَاتِبَ وَاثِقٌ ✗ → تُشِيرُ إِلَى شَكِّ الكَاتِبِ.
Forms: ادَّعَى is Form VIII of دعو (they → ادَّعَوْا, like نَفَوْا) · present يَدَّعِي (website reading). All take أَنَّ, except اعْتَرَفَ بِـ → بِأَنَّ.
Quick drill: read a headline with each verb and ask “Does the journalist believe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“Own view vs cited view” (reported speech often cites someone else, not the writer) and the listening: وَالكَلَامُ المَنْقُولُ لَا يَعْنِي دَائِمًا رَأْيَ الكَاتِبِ نَفْسِهِ، بَلْ قَدْ يَنْقُلُ رَأْيَ غَيْرِهِ.
Card 3 is from the website reading (text 2). Ask: “Who says all is well? The officials. What does the WRITER think? lākinna … — he disagrees.”
Website quiz 3: «أَشَارَ التَّقْرِيرُ إِلَى أَنَّ…» presents the report’s view, cited by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“Conditional type as argument signal” and teaching point “إِذَا argues about the real; لَوْ argues about the unreal”. Rows 1–2 are from the website reading (text 1 = official proposal; text 2 = sceptical counterfactual); rows 3–4 from the website rule.
Exam answer frame: يَسْتَعْمِلُ الكَاتِبُ «لَوْ» لِيُجَادِلَ بِمَا كَانَ يُمْكِنُ أَنْ يَحْدُثَ (website reading).
Website quiz 4–5 test exactly this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“Mention vs recommend” (يَذْكُرُ ≠ يُوصِي بِـ) and the reading verbs with their partners (website vocabulary notes).
Website mistake 2: ذِكْرُ الفَجْوَةِ … يَعْنِي أَنَّهُ أَوْصَى بِسَدِّهَا ✗. Website mistake 3: يَتَوَصَّلُ … بِنَتِيجَةٍ ✗ → إِلَى نَتِيجَةٍ.
Listening: فَقَدْ يَذْكُرُ التَّقْرِيرُ فَجْوَةً دُونَ أَنْ يُوصِيَ بِحَلٍّ.
Stretch: use these verbs in exam answers — يَتَوَصَّلُ الكَاتِبُ إِلَى أَنَّ … · يَسْتَشْهِدُ بِـ … لِيُثْبِتَ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use the reporting verb to judge source and certainty, and the conditional type to identify the writer's argument.”
• Certainty from the reporting verb: The verb reveals how the writer weighs the claim.
• Own view vs cited view: Reported speech often cites someone else, not the writer.
• Conditional type as an argument signal: إِذَا proposes; لَوْ argues a counterfactual.
• Mention vs recommend: Mentioning a point is not recommending it.
Website common error: Treating all reported speech as the writer's own view, or reading a mention as a recommendation. Check the reporting verb and whether the point is proposed or merely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“First the reporting verbs: akkadat — certain, official. yaddaʿī — the writer doubts it. Then the conditionals: idhā … sa- is a real proposal; law … la- argues about what did not happen. Last: does the text recommend, or only mention?”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“two education texts”. Read both quoted texts aloud first, then fill the table together, covering columns 2–3.
Core: rows 1–2. Develop: rows 3–4 with the quoted conditional. Stretch: row 5 and a sentence: يَذْكُرُ النَّصُّ الأَوَّلُ … وَيَقْتَرِحُ … ، بَيْنَمَا يَكْتَفِي الثَّانِي بِالنَّقْدِ.
Vocabulary: وِزَارِيٌّ = ministerial · يَنْتَقِدُ = criticises · يَكْتَفِي بِـ = contents itself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text analysis from a reporting-verb reading, a conditional-type reading and a stance judgement.” Website feedback: any three different combinations work.
Use it as oral rehearsal for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into a headline about education and ask: does the journalist believe it? أَكَّدَ الوَزِيرُ أَنَّ … · زَعَمَ نَاقِدٌ أَنَّ … · اعْتَرَفَتِ الوِزَارَةُ بِأَنَّ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into a headline about education and ask: does the journalist believe it? أَكَّدَ الوَزِيرُ أَنَّ … · زَعَمَ نَاقِدٌ أَنَّ … · اعْتَرَفَتِ الوِزَارَةُ بِأَنَّ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four reading habits the speaker gives.
Listen 1: just listen. Listen 2: note answers. Then chat the letters.
Support: after the second listening, show the read-along slide (Arabic + English, line by line) for Core students.
SCRIPT (read aloud):
عِنْدَمَا تَقْرَأُ نَصًّا تَعْلِيمِيًّا، لَا تَنْظُرْ إِلَى مَا يُقَالُ فَقَطْ، بَلْ إِلَى كَيْفِيَّةِ قَوْلِهِ. فَحِينَ يَكْتُبُ الكَاتِبُ «أَكَّدَ الوَزِيرُ»، فَهُوَ يَنْقُلُ مَصْدَرًا رَسْمِيًّا وَاثِقًا. أَمَّا حِينَ يَكْتُبُ «اِدَّعَى بَعْضُ المُنْتَقِدِينَ»، فَهُوَ يُشِيرُ إِلَى شَكِّهِ فِي الكَلَامِ. وَالكَلَامُ المَنْقُولُ لَا يَعْنِي دَائِمًا رَأْيَ الكَاتِبِ نَفْسِهِ، بَلْ قَدْ يَنْقُلُ رَأْيَ غَيْرِهِ. وَانْتَبِهْ لِنَوْعِ الشَّرْطِ: إِذَا تُقَدِّمُ اقْتِرَاحًا وَاقِعِيًّا، وَلَوْ تُقَدِّمُ حُجَّةً افْتِرَاضِيَّةً. وَمَيِّزْ بَيْنَ ذِكْرِ فِكْرَةٍ وَالتَّوْصِيَةِ بِهَا؛ فَقَدْ يَذْكُرُ التَّقْرِيرُ فَجْوَةً دُونَ أَنْ يُوصِيَ بِحَلٍّ.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“two education texts”. Before reading: underline every reporting verb (أَكَّدَتْ · أَشَارَتْ · يَدَّعِي) and box every conditional (إِذَا · لَوْ).
Core: questions 1, 2 and 3 (R1–R2). Develop: all 5 + quote the verb or conditional that proves each answer. Stretch: then write one R3-style question about the texts (website Stretch) and swap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الشَّرْطُ وَاقِعِيٌّ أَمِ افْتِرَاضِيٌّ؟ (Conditional type)
B: اِفْتِرَاضِيٌّ؛ فَـ«لَوْ … لَـ» تُجَادِلُ بِمَا كَانَ يُمْكِنُ أَنْ يَحْدُثَ، لَا بِاقْتِرَاحٍ وَاقِعِيٍّ. (Identifies لَوْ as counterfactual)
Website prompts and model. Pairs take one sentence from the reading each and analyse it aloud with the three questions. Stretch stem: يُوصِي بِحَلٍّ / بِسَدِّ الفَجْوَةِ. To a girl: تَسْتَعْمِلِينَ.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reporting verbs as certain, doubtful or neutral. · Develop — For two sentences, say whether the conditional is real or hypothetical. · Stretch — Write an R3-style question requiring analysis of a conditional or reporting verb.
Website writing task (Stretch): Write eighty to ninety words analysing a short education text of your choice. Name one reporting verb and the certainty it signals, say whether the text's conditional is real or hypothetical, and distinguish one point that is mentioned from one that is recommended.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«أَكَّدَتِ الوِزَارَةُ» … مَصْدَرًا رَسْمِيًّا وَاثِقًا · «يَدَّعِي المُنْتَقِدُونَ» فَتُظْهِرُ شَكَّهُ · «إِذَا اسْتَمَرَّ … سَتَتَقَلَّصُ» اقْتِرَاحٌ حَقِيقِيٌّ · «لَوْ» تُقَدِّمُ حُجَّةً افْتِرَاضِيَّةً · أُمَيِّزُ بَيْنَ ذِكْرِ الفَجْوَةِ وَالتَّوْصِيَةِ بِسَدِّهَا.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(P2-L09 · Writing — Education and Future Plans (Paper 4 Extended Writing)) will spend class time USING this language, so students prepare it tonight — short, simple, easy to access (school guidance: “Simple, Short, Interesting, Relevant, Easy to access”). The five words come from the website P2-L09 vocabulary (formal connectors for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Reading — Education Texts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education texts like an examiner: let the reporting verb show certainty (akkada = sure · iddaʿā = doubtful), separate the writer’s view from a cited one, read idhā as a proposal and law as a counterfactual, and never mistake a mention for a recommendation.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P2-L08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Reporting verbs as certainty signals, cited vs own view, idhā vs law, mention vs recommend.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a report and an opinion piece, build an analysis, sort the verbs.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تَحْلِيلِيٌّ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analytical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مَقَالُ رَأْيٍ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 article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official report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point of 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حُجَّةٌ مُضَادَّةٌ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counter-argument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تَمُرُّ المِنْطَقَةُ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hypothetical?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لَوْ زَادَ الإِنْفَاقُ، لَتَحَسَّنَتِ النَّتَائِجُ.</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إِذَا زَادَ الإِنْفَاقُ، سَتَتَحَسَّنُ النَّتَائِجُ.</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زَادَ الإِنْفَاقُ فَتَحَسَّنَتِ النَّتَائِجُ.</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تَحْلِيلِيٌّ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interview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analytical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مَقَالُ رَأْيٍ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opinion article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official report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point of 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حُجَّةٌ مُضَادَّةٌ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counter-argument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تَمُرُّ المِنْطَقَةُ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P2-L07: yamurr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hypothetical?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زَادَ الإِنْفَاقُ، لَتَحَسَّنَتِ النَّتَائِجُ.</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زَادَ الإِنْفَاقُ، سَتَتَحَسَّنُ النَّتَائِجُ.</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زَادَ الإِنْفَاقُ فَتَحَسَّنَتِ النَّتَائِجُ.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P2-L06: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Read HOW it is said, not only what is said: the reporting verb shows how sure the writer 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أَكَّدَ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وَاثِقٌ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ادَّعَى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شَكٌّ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اعْتَرَفَ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تَنَازُلٌ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R1–R4 questions on education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the reporting verb as a signal of certainty and stance.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real idhā argument from a hypothetical law one.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Frame an inferential R3 question about a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reporting verbs: certain, doubtful, neutral.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if a conditional is a proposal or a counterfactual.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 cited view from the writer’s own.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tell mentioning from recommending.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R3-style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and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verbs and skills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Certainty in reporting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‎تجزیہ / تحلیل‎ </a:t>
            </a:r>
            <a:pPr indent="0" marL="0">
              <a:buNone/>
            </a:pPr>
            <a:r>
              <a:rPr lang="en-US" sz="950" b="1" dirty="0">
                <a:solidFill>
                  <a:srgbClr val="2E8B57"/>
                </a:solidFill>
                <a:latin typeface="Calibri" pitchFamily="34" charset="0"/>
                <a:ea typeface="Calibri" pitchFamily="34" charset="-122"/>
                <a:cs typeface="Calibri" pitchFamily="34" charset="-120"/>
              </a:rPr>
              <a:t> tajziya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دَعْوَى · ادَّعَى</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‎دعویٰ‎ </a:t>
            </a:r>
            <a:pPr indent="0" marL="0">
              <a:buNone/>
            </a:pPr>
            <a:r>
              <a:rPr lang="en-US" sz="950" b="1" dirty="0">
                <a:solidFill>
                  <a:srgbClr val="2E8B57"/>
                </a:solidFill>
                <a:latin typeface="Calibri" pitchFamily="34" charset="0"/>
                <a:ea typeface="Calibri" pitchFamily="34" charset="-122"/>
                <a:cs typeface="Calibri" pitchFamily="34" charset="-120"/>
              </a:rPr>
              <a:t> daʿwā · a claim · he claimed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اعْتِرَافٌ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‎اعتراف‎ </a:t>
            </a:r>
            <a:pPr indent="0" marL="0">
              <a:buNone/>
            </a:pPr>
            <a:r>
              <a:rPr lang="en-US" sz="950" b="1" dirty="0">
                <a:solidFill>
                  <a:srgbClr val="2E8B57"/>
                </a:solidFill>
                <a:latin typeface="Calibri" pitchFamily="34" charset="0"/>
                <a:ea typeface="Calibri" pitchFamily="34" charset="-122"/>
                <a:cs typeface="Calibri" pitchFamily="34" charset="-120"/>
              </a:rPr>
              <a:t> iʿtirāf · admission, confession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وَضَاحَةٌ · أَوْضَحَ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‎وضاحت‎ </a:t>
            </a:r>
            <a:pPr indent="0" marL="0">
              <a:buNone/>
            </a:pPr>
            <a:r>
              <a:rPr lang="en-US" sz="950" b="1" dirty="0">
                <a:solidFill>
                  <a:srgbClr val="2E8B57"/>
                </a:solidFill>
                <a:latin typeface="Calibri" pitchFamily="34" charset="0"/>
                <a:ea typeface="Calibri" pitchFamily="34" charset="-122"/>
                <a:cs typeface="Calibri" pitchFamily="34" charset="-120"/>
              </a:rPr>
              <a:t> wazāhat · clarification · he clarified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مَوْقِفٌ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‎موقف‎ </a:t>
            </a:r>
            <a:pPr indent="0" marL="0">
              <a:buNone/>
            </a:pPr>
            <a:r>
              <a:rPr lang="en-US" sz="950" b="1" dirty="0">
                <a:solidFill>
                  <a:srgbClr val="2E8B57"/>
                </a:solidFill>
                <a:latin typeface="Calibri" pitchFamily="34" charset="0"/>
                <a:ea typeface="Calibri" pitchFamily="34" charset="-122"/>
                <a:cs typeface="Calibri" pitchFamily="34" charset="-120"/>
              </a:rPr>
              <a:t> mauqif · stance, position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Text types and structure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تَحْلِيلِيٌّ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analytical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taḥ-lī-liy-yun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نُصُوصٌ تَحْلِيلِيَّةٌ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مُقَابَلَاتٌ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 مُؤَسَّسِيٌّ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institutional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 mu-ʾas-sa-siy-yun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تَقَارِيرُ مُؤَسَّسِيَّةٌ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 رَأْيٍ</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opinion article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ma-qā-lu raʾ-yin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مَقَالَاتُ رَأْيٍ</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Text types and structure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وِجْهَةُ نَظَرٍ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wij-ha-tu na-ẓa-rin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 مُضَادَّةٌ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 mu-ḍād-da-tun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حُجَجٌ مُضَادَّةٌ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مَرْجِعٌ</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reference,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mar-ji-ʿun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مَرَاجِعُ</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المَنْطِقُ الاسْتِنْتَاجِيُّ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deductive logic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al-man-ṭi-qu als-tin-tā-jiy-yu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verbs and 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يَتَوَصَّلُ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arrives at,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ya-ta-waṣ-ṣa-lu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تَتَوَصَّلُ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أَتَوَصَّلُ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يَسْتَشْهِدُ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yas-tash-hi-du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تَسْتَشْهِدُ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أَسْتَشْهِدُ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تَسْتَنْتِجُ</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أَسْتَنْتِجُ</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يُمَيِّزُ بَيْنَ</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distinguishes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yu-may-yi-zu bay-na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تُمَيِّزُ</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أُمَيِّزُ</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verbs and skills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يُشِيرُ إِلَى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yu-shī-ru i-lā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يَذْكُرُ</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mentions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yadh-ku-ru</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5" name="Text 32"/>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تَذْكُرُ</a:t>
            </a:r>
            <a:endParaRPr lang="ar-SA" sz="150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8" name="Text 35"/>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أَذْكُرُ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يُوصِي بِـ</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recommends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yū-ṣī bi</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تُوصِي</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أُوصِي</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أَدِلَّةٌ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Certainty in reporting verbs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stressed (certain)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ak-ka-da</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8" name="Text 25"/>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أَكَّدُوا</a:t>
            </a:r>
            <a:endParaRPr lang="ar-SA" sz="135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أَكَّدَتْ</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5" name="Shape 3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اِدَّعَى</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claimed (doubtful)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id-da-ʿā</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3" name="Text 40"/>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ادَّعَوْا</a:t>
            </a:r>
            <a:endParaRPr lang="ar-SA" sz="135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ادَّعَتْ</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0" name="Shape 4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اِعْتَرَفَ بِـ</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conceded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iʿ-ta-ra-fa bi</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8" name="Text 5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اعْتَرَفُوا</a:t>
            </a:r>
            <a:endParaRPr lang="ar-SA" sz="135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اعْتَرَفَتْ</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65" name="Shape 62"/>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أَوْضَحَ</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clarified (neutral)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aw-ḍa-ḥa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أَوْضَحُوا</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أَوْضَحَتْ</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Certainty in reporting verbs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نَفَى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denied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na-fā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نَفَوْا</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نَفَتْ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زَعَمَ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alleged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za-ʿa-ma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9" name="Text 3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زَعَمُوا</a:t>
            </a:r>
            <a:endParaRPr lang="ar-SA" sz="135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زَعَمَتْ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مِصْدَاقِيَّةٌ</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credibility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miṣ-dā-qiy-ya-tun</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1 · HOW SURE IS THE SOURCE? (WEBSITE RULE 1 + TABLE) · CORE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The reporting verb signals certainty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النَّاقِلُ وَدَرَجَةُ اليَقِينِ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read it</a:t>
            </a:r>
            <a:endParaRPr lang="en-US" sz="1100" dirty="0"/>
          </a:p>
        </p:txBody>
      </p:sp>
      <p:sp>
        <p:nvSpPr>
          <p:cNvPr id="17" name="Text 14"/>
          <p:cNvSpPr txBox="1"/>
          <p:nvPr/>
        </p:nvSpPr>
        <p:spPr>
          <a:xfrm>
            <a:off x="5468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Signals</a:t>
            </a:r>
            <a:endParaRPr lang="en-US" sz="1100" dirty="0"/>
          </a:p>
        </p:txBody>
      </p:sp>
      <p:sp>
        <p:nvSpPr>
          <p:cNvPr id="18" name="Text 15"/>
          <p:cNvSpPr txBox="1"/>
          <p:nvPr/>
        </p:nvSpPr>
        <p:spPr>
          <a:xfrm>
            <a:off x="2816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they</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Reporting 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882128" y="2267712"/>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confident (often official) source</a:t>
            </a:r>
            <a:endParaRPr lang="en-US" sz="1100" dirty="0"/>
          </a:p>
        </p:txBody>
      </p:sp>
      <p:sp>
        <p:nvSpPr>
          <p:cNvPr id="22" name="Text 19"/>
          <p:cNvSpPr txBox="1"/>
          <p:nvPr/>
        </p:nvSpPr>
        <p:spPr>
          <a:xfrm>
            <a:off x="55046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high certainty</a:t>
            </a:r>
            <a:endParaRPr lang="en-US" sz="1100" dirty="0"/>
          </a:p>
        </p:txBody>
      </p:sp>
      <p:sp>
        <p:nvSpPr>
          <p:cNvPr id="23" name="Text 20"/>
          <p:cNvSpPr txBox="1"/>
          <p:nvPr/>
        </p:nvSpPr>
        <p:spPr>
          <a:xfrm>
            <a:off x="2834640" y="2267712"/>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أَكَّدَتْ · أَكَّدُوا</a:t>
            </a:r>
            <a:endParaRPr lang="ar-SA" sz="1900" dirty="0"/>
          </a:p>
        </p:txBody>
      </p:sp>
      <p:sp>
        <p:nvSpPr>
          <p:cNvPr id="24" name="Text 21"/>
          <p:cNvSpPr txBox="1"/>
          <p:nvPr/>
        </p:nvSpPr>
        <p:spPr>
          <a:xfrm>
            <a:off x="548640" y="2267712"/>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أَكَّدَ</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882128" y="2881884"/>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backed by evidence</a:t>
            </a:r>
            <a:endParaRPr lang="en-US" sz="1100" dirty="0"/>
          </a:p>
        </p:txBody>
      </p:sp>
      <p:sp>
        <p:nvSpPr>
          <p:cNvPr id="29" name="Text 26"/>
          <p:cNvSpPr txBox="1"/>
          <p:nvPr/>
        </p:nvSpPr>
        <p:spPr>
          <a:xfrm>
            <a:off x="55046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proof</a:t>
            </a:r>
            <a:endParaRPr lang="en-US" sz="1100" dirty="0"/>
          </a:p>
        </p:txBody>
      </p:sp>
      <p:sp>
        <p:nvSpPr>
          <p:cNvPr id="30" name="Text 27"/>
          <p:cNvSpPr txBox="1"/>
          <p:nvPr/>
        </p:nvSpPr>
        <p:spPr>
          <a:xfrm>
            <a:off x="2834640" y="2881884"/>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أَثْبَتَتْ · أَثْبَتُوا</a:t>
            </a:r>
            <a:endParaRPr lang="ar-SA" sz="1900" dirty="0"/>
          </a:p>
        </p:txBody>
      </p:sp>
      <p:sp>
        <p:nvSpPr>
          <p:cNvPr id="31" name="Text 28"/>
          <p:cNvSpPr txBox="1"/>
          <p:nvPr/>
        </p:nvSpPr>
        <p:spPr>
          <a:xfrm>
            <a:off x="548640" y="2881884"/>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أَثْبَتَ</a:t>
            </a:r>
            <a:endParaRPr lang="ar-SA" sz="22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7882128" y="3496056"/>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explains plainly</a:t>
            </a:r>
            <a:endParaRPr lang="en-US" sz="1100" dirty="0"/>
          </a:p>
        </p:txBody>
      </p:sp>
      <p:sp>
        <p:nvSpPr>
          <p:cNvPr id="34" name="Text 31"/>
          <p:cNvSpPr txBox="1"/>
          <p:nvPr/>
        </p:nvSpPr>
        <p:spPr>
          <a:xfrm>
            <a:off x="55046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neutral</a:t>
            </a:r>
            <a:endParaRPr lang="en-US" sz="1100" dirty="0"/>
          </a:p>
        </p:txBody>
      </p:sp>
      <p:sp>
        <p:nvSpPr>
          <p:cNvPr id="35" name="Text 32"/>
          <p:cNvSpPr txBox="1"/>
          <p:nvPr/>
        </p:nvSpPr>
        <p:spPr>
          <a:xfrm>
            <a:off x="2834640" y="3496056"/>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أَوْضَحَتْ · أَوْضَحُوا</a:t>
            </a:r>
            <a:endParaRPr lang="ar-SA" sz="1900" dirty="0"/>
          </a:p>
        </p:txBody>
      </p:sp>
      <p:sp>
        <p:nvSpPr>
          <p:cNvPr id="36" name="Text 33"/>
          <p:cNvSpPr txBox="1"/>
          <p:nvPr/>
        </p:nvSpPr>
        <p:spPr>
          <a:xfrm>
            <a:off x="548640" y="3496056"/>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أَوْضَحَ</a:t>
            </a:r>
            <a:endParaRPr lang="ar-SA" sz="22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882128" y="4110228"/>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admits something reluctantly</a:t>
            </a:r>
            <a:endParaRPr lang="en-US" sz="1100" dirty="0"/>
          </a:p>
        </p:txBody>
      </p:sp>
      <p:sp>
        <p:nvSpPr>
          <p:cNvPr id="41" name="Text 38"/>
          <p:cNvSpPr txBox="1"/>
          <p:nvPr/>
        </p:nvSpPr>
        <p:spPr>
          <a:xfrm>
            <a:off x="55046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a:t>
            </a:r>
            <a:endParaRPr lang="en-US" sz="1100" dirty="0"/>
          </a:p>
        </p:txBody>
      </p:sp>
      <p:sp>
        <p:nvSpPr>
          <p:cNvPr id="42" name="Text 39"/>
          <p:cNvSpPr txBox="1"/>
          <p:nvPr/>
        </p:nvSpPr>
        <p:spPr>
          <a:xfrm>
            <a:off x="2834640" y="4110228"/>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اعْتَرَفَتْ · اعْتَرَفُوا</a:t>
            </a:r>
            <a:endParaRPr lang="ar-SA" sz="1900" dirty="0"/>
          </a:p>
        </p:txBody>
      </p:sp>
      <p:sp>
        <p:nvSpPr>
          <p:cNvPr id="43" name="Text 40"/>
          <p:cNvSpPr txBox="1"/>
          <p:nvPr/>
        </p:nvSpPr>
        <p:spPr>
          <a:xfrm>
            <a:off x="548640" y="4110228"/>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اعْتَرَفَ بِـ</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882128" y="4724400"/>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writer is sceptical</a:t>
            </a:r>
            <a:endParaRPr lang="en-US" sz="1100" dirty="0"/>
          </a:p>
        </p:txBody>
      </p:sp>
      <p:sp>
        <p:nvSpPr>
          <p:cNvPr id="46" name="Text 43"/>
          <p:cNvSpPr txBox="1"/>
          <p:nvPr/>
        </p:nvSpPr>
        <p:spPr>
          <a:xfrm>
            <a:off x="55046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doubt</a:t>
            </a:r>
            <a:endParaRPr lang="en-US" sz="1100" dirty="0"/>
          </a:p>
        </p:txBody>
      </p:sp>
      <p:sp>
        <p:nvSpPr>
          <p:cNvPr id="47" name="Text 44"/>
          <p:cNvSpPr txBox="1"/>
          <p:nvPr/>
        </p:nvSpPr>
        <p:spPr>
          <a:xfrm>
            <a:off x="2834640" y="4724400"/>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ادَّعَتْ · ادَّعَوْا</a:t>
            </a:r>
            <a:endParaRPr lang="ar-SA" sz="1900" dirty="0"/>
          </a:p>
        </p:txBody>
      </p:sp>
      <p:sp>
        <p:nvSpPr>
          <p:cNvPr id="48" name="Text 45"/>
          <p:cNvSpPr txBox="1"/>
          <p:nvPr/>
        </p:nvSpPr>
        <p:spPr>
          <a:xfrm>
            <a:off x="548640" y="4724400"/>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ادَّعَى</a:t>
            </a:r>
            <a:endParaRPr lang="ar-SA" sz="22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882128" y="5338572"/>
            <a:ext cx="37764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writer thinks it is false</a:t>
            </a:r>
            <a:endParaRPr lang="en-US" sz="1100" dirty="0"/>
          </a:p>
        </p:txBody>
      </p:sp>
      <p:sp>
        <p:nvSpPr>
          <p:cNvPr id="53" name="Text 50"/>
          <p:cNvSpPr txBox="1"/>
          <p:nvPr/>
        </p:nvSpPr>
        <p:spPr>
          <a:xfrm>
            <a:off x="55046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strong doubt</a:t>
            </a:r>
            <a:endParaRPr lang="en-US" sz="1100" dirty="0"/>
          </a:p>
        </p:txBody>
      </p:sp>
      <p:sp>
        <p:nvSpPr>
          <p:cNvPr id="54" name="Text 51"/>
          <p:cNvSpPr txBox="1"/>
          <p:nvPr/>
        </p:nvSpPr>
        <p:spPr>
          <a:xfrm>
            <a:off x="2834640" y="5338572"/>
            <a:ext cx="24688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زَعَمَتْ · زَعَمُوا</a:t>
            </a:r>
            <a:endParaRPr lang="ar-SA" sz="1900" dirty="0"/>
          </a:p>
        </p:txBody>
      </p:sp>
      <p:sp>
        <p:nvSpPr>
          <p:cNvPr id="55" name="Text 52"/>
          <p:cNvSpPr txBox="1"/>
          <p:nvPr/>
        </p:nvSpPr>
        <p:spPr>
          <a:xfrm>
            <a:off x="548640" y="5338572"/>
            <a:ext cx="21031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زَعَمَ</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iddaʿā does NOT mean the writer is confident — it signals doubt.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WHOSE VIEW IS IT? (WEBSITE RULE 2) · CORE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writer’s view — or someone else’s?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الكَاتِبِ أَمْ رَأْيُ غَيْرِهِ؟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CITED VIEW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أَشَارَ التَّقْرِيرُ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أَشَارَ التَّقْرِيرُ إِلَى أَنَّ الفَجْوَةَ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report pointed out that the gap exists.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report’s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OWN VIEW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أَرَى أَنَّ الإِصْلَاحَ ضَرُورِيٌّ.</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reform is necessary.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writer’s view.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CITED + DOUBTED · DEVELOP</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يَدَّعِي … لٰكِنَّ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يَدَّعِي بَعْضُ المَسْؤُولِينَ أَنَّ كُلَّ شَيْءٍ عَلَى مَا يُرَامُ، لٰكِنَّ الوَاقِعَ مُخْتَلِفٌ.</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Some officials claim all is well, but reality is different.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Cited, then rejected.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reported speech is not always the writer’s own view.</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الكَلَامُ المَنْقُولُ قَدْ يَنْقُلُ رَأْيَ غَيْرِهِ</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الكَلَامُ المَنْقُولُ رَأْيُ الكَاتِبِ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CONDITIONAL TYPE IS AN ARGUMENT SIGNAL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Proposal or counterfactual?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اقْتِرَاحٌ أَمْ حُجَّةٌ افْتِرَاضِيَّةٌ؟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writer is doing</a:t>
            </a:r>
            <a:endParaRPr lang="en-US" sz="1100" dirty="0"/>
          </a:p>
        </p:txBody>
      </p:sp>
      <p:sp>
        <p:nvSpPr>
          <p:cNvPr id="17" name="Text 14"/>
          <p:cNvSpPr txBox="1"/>
          <p:nvPr/>
        </p:nvSpPr>
        <p:spPr>
          <a:xfrm>
            <a:off x="62910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from an education text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56448" y="2267712"/>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proposing a realistic way forward</a:t>
            </a:r>
            <a:endParaRPr lang="en-US" sz="1100" dirty="0"/>
          </a:p>
        </p:txBody>
      </p:sp>
      <p:sp>
        <p:nvSpPr>
          <p:cNvPr id="21" name="Text 18"/>
          <p:cNvSpPr txBox="1"/>
          <p:nvPr/>
        </p:nvSpPr>
        <p:spPr>
          <a:xfrm>
            <a:off x="63276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(idhā)</a:t>
            </a:r>
            <a:endParaRPr lang="en-US" sz="1100" dirty="0"/>
          </a:p>
        </p:txBody>
      </p:sp>
      <p:sp>
        <p:nvSpPr>
          <p:cNvPr id="22" name="Text 19"/>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اسْتَمَرَّ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الاسْتِثْمَارُ،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سَتَتَقَلَّصُ</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56448" y="3054096"/>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criticising: they were NOT funded</a:t>
            </a:r>
            <a:endParaRPr lang="en-US" sz="1100" dirty="0"/>
          </a:p>
        </p:txBody>
      </p:sp>
      <p:sp>
        <p:nvSpPr>
          <p:cNvPr id="27" name="Text 24"/>
          <p:cNvSpPr txBox="1"/>
          <p:nvPr/>
        </p:nvSpPr>
        <p:spPr>
          <a:xfrm>
            <a:off x="63276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hypothetical (law)</a:t>
            </a:r>
            <a:endParaRPr lang="en-US" sz="1100" dirty="0"/>
          </a:p>
        </p:txBody>
      </p:sp>
      <p:sp>
        <p:nvSpPr>
          <p:cNvPr id="28" name="Text 25"/>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كَانَتِ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المَدَارِسُ الرِّيفِيَّةُ مُمَوَّلَةً، </a:t>
            </a:r>
            <a:pPr rtl="1" algn="ctr" indent="0" marL="0">
              <a:buNone/>
            </a:pPr>
            <a:r>
              <a:rPr lang="ar-SA" altLang="en-US" sz="1800" b="1" dirty="0">
                <a:solidFill>
                  <a:srgbClr val="D6336C"/>
                </a:solidFill>
                <a:latin typeface="Amiri" pitchFamily="34" charset="0"/>
                <a:ea typeface="Amiri" pitchFamily="34" charset="-122"/>
                <a:cs typeface="Amiri" pitchFamily="34" charset="-120"/>
              </a:rPr>
              <a:t>لَاخْتَفَتِ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56448" y="3840480"/>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proposal for the future</a:t>
            </a:r>
            <a:endParaRPr lang="en-US" sz="1100" dirty="0"/>
          </a:p>
        </p:txBody>
      </p:sp>
      <p:sp>
        <p:nvSpPr>
          <p:cNvPr id="33" name="Text 30"/>
          <p:cNvSpPr txBox="1"/>
          <p:nvPr/>
        </p:nvSpPr>
        <p:spPr>
          <a:xfrm>
            <a:off x="63276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(idhā)</a:t>
            </a:r>
            <a:endParaRPr lang="en-US" sz="1100" dirty="0"/>
          </a:p>
        </p:txBody>
      </p:sp>
      <p:sp>
        <p:nvSpPr>
          <p:cNvPr id="34" name="Text 31"/>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زَادَ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الإِنْفَاقُ،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سَتَتَحَسَّنُ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النَّتَائِجُ.</a:t>
            </a:r>
            <a:endParaRPr lang="ar-SA" sz="18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156448" y="4626864"/>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implying spending did NOT rise</a:t>
            </a:r>
            <a:endParaRPr lang="en-US" sz="1100" dirty="0"/>
          </a:p>
        </p:txBody>
      </p:sp>
      <p:sp>
        <p:nvSpPr>
          <p:cNvPr id="37" name="Text 34"/>
          <p:cNvSpPr txBox="1"/>
          <p:nvPr/>
        </p:nvSpPr>
        <p:spPr>
          <a:xfrm>
            <a:off x="63276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hypothetical (law)</a:t>
            </a:r>
            <a:endParaRPr lang="en-US" sz="1100" dirty="0"/>
          </a:p>
        </p:txBody>
      </p:sp>
      <p:sp>
        <p:nvSpPr>
          <p:cNvPr id="38" name="Text 35"/>
          <p:cNvSpPr txBox="1"/>
          <p:nvPr/>
        </p:nvSpPr>
        <p:spPr>
          <a:xfrm>
            <a:off x="548640" y="4626864"/>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زَادَ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الإِنْفَاقُ، </a:t>
            </a:r>
            <a:pPr rtl="1" algn="ctr" indent="0" marL="0">
              <a:buNone/>
            </a:pPr>
            <a:r>
              <a:rPr lang="ar-SA" altLang="en-US" sz="1800" b="1" dirty="0">
                <a:solidFill>
                  <a:srgbClr val="D6336C"/>
                </a:solidFill>
                <a:latin typeface="Amiri" pitchFamily="34" charset="0"/>
                <a:ea typeface="Amiri" pitchFamily="34" charset="-122"/>
                <a:cs typeface="Amiri" pitchFamily="34" charset="-120"/>
              </a:rPr>
              <a:t>لَتَحَسَّنَتِ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النَّتَائِجُ.</a:t>
            </a:r>
            <a:endParaRPr lang="ar-SA" sz="18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law hides a criticism: it tells the reader what did NOT happen.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MENTION VS RECOMMEND, AND THE VERBS OF AN ANSWER (WEBSITE RULE 4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Mentioning is not recommending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الذِّكْرُ لَيْسَ تَوْصِيَةً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means</a:t>
            </a:r>
            <a:endParaRPr lang="en-US" sz="1100" dirty="0"/>
          </a:p>
        </p:txBody>
      </p:sp>
      <p:sp>
        <p:nvSpPr>
          <p:cNvPr id="17" name="Text 14"/>
          <p:cNvSpPr txBox="1"/>
          <p:nvPr/>
        </p:nvSpPr>
        <p:spPr>
          <a:xfrm>
            <a:off x="31821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partner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156448" y="2267712"/>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mentions it (direct object) — no advice</a:t>
            </a:r>
            <a:endParaRPr lang="en-US" sz="1100" dirty="0"/>
          </a:p>
        </p:txBody>
      </p:sp>
      <p:sp>
        <p:nvSpPr>
          <p:cNvPr id="21" name="Text 18"/>
          <p:cNvSpPr txBox="1"/>
          <p:nvPr/>
        </p:nvSpPr>
        <p:spPr>
          <a:xfrm>
            <a:off x="3200400" y="2267712"/>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ذَكَرَ التَّقْرِيرُ </a:t>
            </a:r>
            <a:pPr rtl="1" algn="ctr" indent="0" marL="0">
              <a:buNone/>
            </a:pPr>
            <a:r>
              <a:rPr lang="ar-SA" altLang="en-US" sz="1900" b="1" dirty="0">
                <a:solidFill>
                  <a:srgbClr val="7B3FA0"/>
                </a:solidFill>
                <a:latin typeface="Amiri" pitchFamily="34" charset="0"/>
                <a:ea typeface="Amiri" pitchFamily="34" charset="-122"/>
                <a:cs typeface="Amiri" pitchFamily="34" charset="-120"/>
              </a:rPr>
              <a:t>الفَجْوَةَ</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يَذْكُرُ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156448" y="300471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recommends action</a:t>
            </a:r>
            <a:endParaRPr lang="en-US" sz="1100" dirty="0"/>
          </a:p>
        </p:txBody>
      </p:sp>
      <p:sp>
        <p:nvSpPr>
          <p:cNvPr id="27" name="Text 24"/>
          <p:cNvSpPr txBox="1"/>
          <p:nvPr/>
        </p:nvSpPr>
        <p:spPr>
          <a:xfrm>
            <a:off x="3200400" y="300471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أَوْصَى التَّقْرِيرُ </a:t>
            </a:r>
            <a:pPr rtl="1" algn="ctr" indent="0" marL="0">
              <a:buNone/>
            </a:pPr>
            <a:r>
              <a:rPr lang="ar-SA" altLang="en-US" sz="1900" b="1" dirty="0">
                <a:solidFill>
                  <a:srgbClr val="1D5FBF"/>
                </a:solidFill>
                <a:latin typeface="Amiri" pitchFamily="34" charset="0"/>
                <a:ea typeface="Amiri" pitchFamily="34" charset="-122"/>
                <a:cs typeface="Amiri" pitchFamily="34" charset="-120"/>
              </a:rPr>
              <a:t>بِسَدِّ</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الفَجْوَةِ.</a:t>
            </a:r>
            <a:endParaRPr lang="ar-SA" sz="19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يُوصِي بِـ</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156448" y="3741725"/>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proposes a solution (direct object)</a:t>
            </a:r>
            <a:endParaRPr lang="en-US" sz="1100" dirty="0"/>
          </a:p>
        </p:txBody>
      </p:sp>
      <p:sp>
        <p:nvSpPr>
          <p:cNvPr id="33" name="Text 30"/>
          <p:cNvSpPr txBox="1"/>
          <p:nvPr/>
        </p:nvSpPr>
        <p:spPr>
          <a:xfrm>
            <a:off x="3200400" y="3741725"/>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يَقْتَرِحُ التَّقْرِيرُ حَلًّا وَاقِعِيًّا.</a:t>
            </a:r>
            <a:endParaRPr lang="ar-SA" sz="19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يَقْتَرِحُ</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156448" y="4478731"/>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reaches a conclusion</a:t>
            </a:r>
            <a:endParaRPr lang="en-US" sz="1100" dirty="0"/>
          </a:p>
        </p:txBody>
      </p:sp>
      <p:sp>
        <p:nvSpPr>
          <p:cNvPr id="37" name="Text 34"/>
          <p:cNvSpPr txBox="1"/>
          <p:nvPr/>
        </p:nvSpPr>
        <p:spPr>
          <a:xfrm>
            <a:off x="3200400" y="4478731"/>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يَتَوَصَّلُ الكَاتِبُ </a:t>
            </a:r>
            <a:pPr rtl="1" algn="ctr" indent="0" marL="0">
              <a:buNone/>
            </a:pPr>
            <a:r>
              <a:rPr lang="ar-SA" altLang="en-US" sz="190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00" b="1" dirty="0">
                <a:solidFill>
                  <a:srgbClr val="1B3B6F"/>
                </a:solidFill>
                <a:latin typeface="Amiri" pitchFamily="34" charset="0"/>
                <a:ea typeface="Amiri" pitchFamily="34" charset="-122"/>
                <a:cs typeface="Amiri" pitchFamily="34" charset="-120"/>
              </a:rPr>
              <a:t> نَتِيجَةٍ وَاضِحَةٍ.</a:t>
            </a:r>
            <a:endParaRPr lang="ar-SA" sz="19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يَتَوَصَّلُ إِلَى</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156448" y="521573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cites evidence</a:t>
            </a:r>
            <a:endParaRPr lang="en-US" sz="1100" dirty="0"/>
          </a:p>
        </p:txBody>
      </p:sp>
      <p:sp>
        <p:nvSpPr>
          <p:cNvPr id="41" name="Text 38"/>
          <p:cNvSpPr txBox="1"/>
          <p:nvPr/>
        </p:nvSpPr>
        <p:spPr>
          <a:xfrm>
            <a:off x="3200400" y="521573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يَسْتَشْهِدُ الكَاتِبُ </a:t>
            </a:r>
            <a:pPr rtl="1" algn="ctr" indent="0" marL="0">
              <a:buNone/>
            </a:pPr>
            <a:r>
              <a:rPr lang="ar-SA" altLang="en-US" sz="1900" b="1" dirty="0">
                <a:solidFill>
                  <a:srgbClr val="0E7C86"/>
                </a:solidFill>
                <a:latin typeface="Amiri" pitchFamily="34" charset="0"/>
                <a:ea typeface="Amiri" pitchFamily="34" charset="-122"/>
                <a:cs typeface="Amiri" pitchFamily="34" charset="-120"/>
              </a:rPr>
              <a:t>بِدِرَاسَةٍ</a:t>
            </a:r>
            <a:pPr rtl="1" algn="ctr" indent="0" marL="0">
              <a:buNone/>
            </a:pPr>
            <a:r>
              <a:rPr lang="ar-SA" altLang="en-US" sz="1900" b="1" dirty="0">
                <a:solidFill>
                  <a:srgbClr val="1B3B6F"/>
                </a:solidFill>
                <a:latin typeface="Amiri" pitchFamily="34" charset="0"/>
                <a:ea typeface="Amiri" pitchFamily="34" charset="-122"/>
                <a:cs typeface="Amiri" pitchFamily="34" charset="-120"/>
              </a:rPr>
              <a:t> حَدِيثَةٍ.</a:t>
            </a:r>
            <a:endParaRPr lang="ar-SA" sz="19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يَسْتَشْهِدُ بِـ</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mentioning the gap does not necessarily mean recommending that it be closed.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Reading signals: reported speech and conditional type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إِشَارَاتُ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Certainty from the reporting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akkada (certain) · iddaʿā (doubtful)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أَكَّدَ الوَزِيرُ أَنَّ …   ·   ادَّعَى المُنْتَقِدُونَ أَنَّ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Own view vs cited view</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reported source ≠ the writer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أَشَارَ التَّقْرِيرُ إِلَى أَنَّ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Conditional type as an argument signal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(real) · law (hypothetical)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زَادَ الإِنْفَاقُ، سَتَتَحَسَّنُ النَّتَائِجُ   ·   لَوْ زَادَ الإِنْفَاقُ، لَتَحَسَّنَتْ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Mention vs recommend</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yadhkur ≠ yūṣī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ذَكَرَ التَّقْرِيرُ الفَجْوَةَ   ·   أَوْصَى بِسَدِّ الفَجْوَةِ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the writer's doubt?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a confident, official source?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 الوَزِيرُ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 بَعْضُهُمْ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زَعَمَ نَاقِدٌ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real proposal?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زَادَ الإِنْفَاقُ، لَتَحَسَّنَتِ النَّتَائِجُ.</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زَادَ الإِنْفَاقُ، سَتَتَحَسَّنُ النَّتَائِجُ.</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 الإِنْفَاقُ أَكْبَرَ، لَتَغَيَّرَ الوَضْعُ.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counterfactual argument?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زَادَ الإِنْفَاقُ، لَتَحَسَّنَتِ النَّتَائِجُ.</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زَادَ الإِنْفَاقُ، سَتَتَحَسَّنُ النَّتَائِجُ.</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اجْتَهَدْتَ، سَتَنْجَحُ.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the writer's doubt?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اِدَّعَى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اِدَّعَى</a:t>
            </a:r>
            <a:pPr algn="l" indent="0" marL="0">
              <a:buNone/>
            </a:pPr>
            <a:r>
              <a:rPr lang="en-US" sz="1050" i="1" dirty="0">
                <a:solidFill>
                  <a:srgbClr val="8A6D1E"/>
                </a:solidFill>
                <a:latin typeface="Calibri" pitchFamily="34" charset="0"/>
                <a:ea typeface="Calibri" pitchFamily="34" charset="-122"/>
                <a:cs typeface="Calibri" pitchFamily="34" charset="-120"/>
              </a:rPr>
              <a:t> (claimed) signals doubt.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a confident, official source?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أَكَّدَ الوَزِيرُ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اِدَّعَى بَعْضُهُمْ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زَعَمَ نَاقِدٌ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أَكَّدَ</a:t>
            </a:r>
            <a:pPr algn="l" indent="0" marL="0">
              <a:buNone/>
            </a:pPr>
            <a:r>
              <a:rPr lang="en-US" sz="1050" i="1" dirty="0">
                <a:solidFill>
                  <a:srgbClr val="8A6D1E"/>
                </a:solidFill>
                <a:latin typeface="Calibri" pitchFamily="34" charset="0"/>
                <a:ea typeface="Calibri" pitchFamily="34" charset="-122"/>
                <a:cs typeface="Calibri" pitchFamily="34" charset="-120"/>
              </a:rPr>
              <a:t> signals high certainty.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real proposal?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زَادَ الإِنْفَاقُ، لَتَحَسَّنَتِ النَّتَائِجُ.</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زَادَ الإِنْفَاقُ، سَتَتَحَسَّنُ النَّتَائِجُ.</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كَانَ الإِنْفَاقُ أَكْبَرَ، لَتَغَيَّرَ الوَضْعُ.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proposal.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counterfactual argument?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زَادَ الإِنْفَاقُ، لَتَحَسَّنَتِ النَّتَائِجُ.</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زَادَ الإِنْفَاقُ، سَتَتَحَسَّنُ النَّتَائِجُ.</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اجْتَهَدْتَ، سَتَنْجَحُ.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argues from an unreal case.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a:t>
            </a:r>
            <a:pPr rtl="1" algn="ctr" indent="0" marL="0">
              <a:buNone/>
            </a:pPr>
            <a:r>
              <a:rPr lang="ar-SA" altLang="en-US" sz="2800" b="1" dirty="0">
                <a:solidFill>
                  <a:srgbClr val="1D5FBF"/>
                </a:solidFill>
                <a:latin typeface="Amiri" pitchFamily="34" charset="0"/>
                <a:ea typeface="Amiri" pitchFamily="34" charset="-122"/>
                <a:cs typeface="Amiri" pitchFamily="34" charset="-120"/>
              </a:rPr>
              <a:t>أَكَّدَتِ</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الوِزَارَةُ»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Certain, official.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a:t>
            </a:r>
            <a:pPr rtl="1" algn="ctr" indent="0" marL="0">
              <a:buNone/>
            </a:pPr>
            <a:r>
              <a:rPr lang="ar-SA" altLang="en-US" sz="2800" b="1" dirty="0">
                <a:solidFill>
                  <a:srgbClr val="D6336C"/>
                </a:solidFill>
                <a:latin typeface="Amiri" pitchFamily="34" charset="0"/>
                <a:ea typeface="Amiri" pitchFamily="34" charset="-122"/>
                <a:cs typeface="Amiri" pitchFamily="34" charset="-120"/>
              </a:rPr>
              <a:t>يَدَّعِي</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المُنْتَقِدُونَ»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Doubt.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 سَـ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Proposal or not?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Mention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يَذْكُرُهَا · يَقْتَرِحُ حَلًّا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Recommend?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CERTAIN</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DOUBT</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REAL · IDHĀ</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HYPOTHETICAL · LAW</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يَكْشِفُ النَّصُّ مَوْقِفَهُ مِنْ خِلَالِ أَفْعَالِهِ النَّاقِلَةِ. فَحِينَ يَكْتُبُ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أَكَّدَتِ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الوِزَارَةُ»، فَهُوَ يَنْقُلُ مَصْدَرًا رَسْمِيًّا وَاثِقًا، أَمَّا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يَدَّعِي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المُنْتَقِدُونَ» فَتُظْهِرُ شَكَّهُ. وَالشَّرْطُ فِي النَّصِّ الأَوَّلِ وَاقِعِيٌّ؛ فَـ«</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اسْتَمَرَّ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الاسْتِثْمَارُ،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سَتَتَقَلَّصُ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الفَجْوَةُ» اقْتِرَاحٌ حَقِيقِيٌّ. أَمَّا فِي النَّصِّ الثَّانِي فَـ«</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تُقَدِّمُ حُجَّةً افْتِرَاضِيَّةً.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ea typeface="Calibri" pitchFamily="34" charset="-122"/>
                <a:cs typeface="Calibri" pitchFamily="34" charset="-120"/>
              </a:rPr>
              <a:t>The text reveals its stance through its reporting verbs. When it writes “the ministry stressed”, it conveys a confident official source, whereas “the critics claim” shows its doubt. The conditional in the first text is real: “if investment continues, the gap will shrink” is a genuine proposal. In the second text, however, “law” presents a hypothetical argument.</a:t>
            </a:r>
            <a:endParaRPr lang="en-US" sz="9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أَكَّدَ الوَزِيرُ أَنَّ الإِصْلَاحَ ضَرُورِيٌّ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minister stressed that reform is necessary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akkada signals a confident, official source.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اِدَّعَى بَعْضُ المُنْتَقِدِينَ أَنَّ الإِصْلَاحَ فَشِلَ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some critics claimed that the reform failed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iddaʿā signals the writer's doubt.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زَادَ الإِنْفَاقُ، لَتَحَسَّنَتِ النَّتَائِجُ</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spending increased, the results would have improved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counterfactual argument, not a proposal.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COMPARE THE TWO TEXTS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Ministry report or opinion article?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بَيْنَ النَّصَّيْنِ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Text 2: an opinion article</a:t>
            </a:r>
            <a:endParaRPr lang="en-US" sz="1100" dirty="0"/>
          </a:p>
        </p:txBody>
      </p:sp>
      <p:sp>
        <p:nvSpPr>
          <p:cNvPr id="17" name="Text 14"/>
          <p:cNvSpPr txBox="1"/>
          <p:nvPr/>
        </p:nvSpPr>
        <p:spPr>
          <a:xfrm>
            <a:off x="281635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Text 1: a ministry report</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مَقَالُ رَأْيٍ</a:t>
            </a:r>
            <a:endParaRPr lang="ar-SA" sz="1800" dirty="0"/>
          </a:p>
        </p:txBody>
      </p:sp>
      <p:sp>
        <p:nvSpPr>
          <p:cNvPr id="21" name="Text 18"/>
          <p:cNvSpPr txBox="1"/>
          <p:nvPr/>
        </p:nvSpPr>
        <p:spPr>
          <a:xfrm>
            <a:off x="2834640" y="2267712"/>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تَقْرِيرٌ وِزَارِيٌّ — مَصْدَرٌ رَسْمِيٌّ</a:t>
            </a:r>
            <a:endParaRPr lang="ar-SA" sz="18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Text type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a:t>
            </a:r>
            <a:pPr rtl="1" algn="ctr" indent="0" marL="0">
              <a:buNone/>
            </a:pPr>
            <a:r>
              <a:rPr lang="ar-SA" altLang="en-US" sz="1800" b="1" dirty="0">
                <a:solidFill>
                  <a:srgbClr val="D6336C"/>
                </a:solidFill>
                <a:latin typeface="Amiri" pitchFamily="34" charset="0"/>
                <a:ea typeface="Amiri" pitchFamily="34" charset="-122"/>
                <a:cs typeface="Amiri" pitchFamily="34" charset="-120"/>
              </a:rPr>
              <a:t>يَدَّعِي</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7" name="Text 24"/>
          <p:cNvSpPr txBox="1"/>
          <p:nvPr/>
        </p:nvSpPr>
        <p:spPr>
          <a:xfrm>
            <a:off x="2834640" y="3004718"/>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a:t>
            </a:r>
            <a:pPr rtl="1" algn="ctr" indent="0" marL="0">
              <a:buNone/>
            </a:pPr>
            <a:r>
              <a:rPr lang="ar-SA" altLang="en-US" sz="1800" b="1" dirty="0">
                <a:solidFill>
                  <a:srgbClr val="1D5FBF"/>
                </a:solidFill>
                <a:latin typeface="Amiri" pitchFamily="34" charset="0"/>
                <a:ea typeface="Amiri" pitchFamily="34" charset="-122"/>
                <a:cs typeface="Amiri" pitchFamily="34" charset="-120"/>
              </a:rPr>
              <a:t>أَكَّدَتْ</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7B3FA0"/>
                </a:solidFill>
                <a:latin typeface="Amiri" pitchFamily="34" charset="0"/>
                <a:ea typeface="Amiri" pitchFamily="34" charset="-122"/>
                <a:cs typeface="Amiri" pitchFamily="34" charset="-120"/>
              </a:rPr>
              <a:t>أَشَارَتْ إِلَى أَنَّ</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Reporting verb</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a:t>
            </a:r>
            <a:endParaRPr lang="ar-SA" sz="1800" dirty="0"/>
          </a:p>
        </p:txBody>
      </p:sp>
      <p:sp>
        <p:nvSpPr>
          <p:cNvPr id="33" name="Text 30"/>
          <p:cNvSpPr txBox="1"/>
          <p:nvPr/>
        </p:nvSpPr>
        <p:spPr>
          <a:xfrm>
            <a:off x="2834640" y="3741725"/>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وَاثِقٌ</a:t>
            </a:r>
            <a:endParaRPr lang="ar-SA" sz="1800" dirty="0"/>
          </a:p>
        </p:txBody>
      </p:sp>
      <p:sp>
        <p:nvSpPr>
          <p:cNvPr id="34" name="Text 31"/>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Certainty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 حُجَّةٌ افْتِرَاضِيَّةٌ</a:t>
            </a:r>
            <a:endParaRPr lang="ar-SA" sz="1800" dirty="0"/>
          </a:p>
        </p:txBody>
      </p:sp>
      <p:sp>
        <p:nvSpPr>
          <p:cNvPr id="37" name="Text 34"/>
          <p:cNvSpPr txBox="1"/>
          <p:nvPr/>
        </p:nvSpPr>
        <p:spPr>
          <a:xfrm>
            <a:off x="2834640" y="4478731"/>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 اقْتِرَاحٌ وَاقِعِيٌّ</a:t>
            </a:r>
            <a:endParaRPr lang="ar-SA" sz="1800" dirty="0"/>
          </a:p>
        </p:txBody>
      </p:sp>
      <p:sp>
        <p:nvSpPr>
          <p:cNvPr id="38" name="Text 35"/>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يَنْتَقِدُ وَلَا يَقْتَرِحُ حَلًّا</a:t>
            </a:r>
            <a:endParaRPr lang="ar-SA" sz="1800" dirty="0"/>
          </a:p>
        </p:txBody>
      </p:sp>
      <p:sp>
        <p:nvSpPr>
          <p:cNvPr id="41" name="Text 38"/>
          <p:cNvSpPr txBox="1"/>
          <p:nvPr/>
        </p:nvSpPr>
        <p:spPr>
          <a:xfrm>
            <a:off x="2834640" y="5215738"/>
            <a:ext cx="4297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يَذْكُرُ الفَجْوَةَ وَيَقْتَرِحُ حَلًّا</a:t>
            </a:r>
            <a:endParaRPr lang="ar-SA" sz="1800" dirty="0"/>
          </a:p>
        </p:txBody>
      </p:sp>
      <p:sp>
        <p:nvSpPr>
          <p:cNvPr id="42" name="Text 39"/>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Mention or recommend?</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website reading uses exactly these two texts — this table is the plan for answering its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TEXT ANALYSIS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 + conditional + stance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The reporting verb</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The conditional</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Source and stance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«أَكَّدَ» يَنْقُلُ مَصْدَرًا رَسْمِيًّا وَاثِقًا</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وَالشَّرْطُ بِـ«إِذَا» اقْتِرَاحٌ وَاقِعِيٌّ لِلْمُسْتَقْبَلِ</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وَالنَّصُّ يَذْكُرُ الفِكْرَةَ دُونَ أَنْ يُوصِيَ بِهَا</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«اِدَّعَى» يُظْهِرُ شَكَّ الكَاتِبِ</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وَالشَّرْطُ بِـ«لَوْ» حُجَّةٌ افْتِرَاضِيَّةٌ عَنِ المَاضِي</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وَالكَلَامُ المَنْقُولُ يَنْقُلُ رَأْيَ غَيْرِهِ لَا رَأْيَهُ</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الفِعْلُ «اِعْتَرَفَ بِـ» يَكْشِفُ تَنَازُلًا</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وَنَوْعُ الشَّرْطِ يَكْشِفُ حُجَّةَ الكَاتِبِ</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لِذٰلِكَ أَقْرَأُ النَّصَّ بِوَعْيٍ بِمَصْدَرِهِ وَمَوْقِفِهِ</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Certain, doubtful — or neutral / concession?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أَثْبَتَ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شَدَّدَ عَلَى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اِدَّعَى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زَعَمَ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يُقَالُ إِنَّ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أَوْضَحَ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اِعْتَرَفَ بِـ</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certain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doubtful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neutral / concession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certain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أَثْبَتَ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شَدَّدَ عَلَى</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doubtful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اِدَّعَى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زَعَمَ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يُقَالُ إِنَّ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neutral / concession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أَوْضَحَ</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اِعْتَرَفَ بِـ</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التَّقْرِيرُ إِلَى أَنَّ</a:t>
            </a:r>
            <a:pPr algn="l" indent="0" marL="0">
              <a:buNone/>
            </a:pPr>
            <a:r>
              <a:rPr lang="en-US" sz="1250" b="1" dirty="0">
                <a:solidFill>
                  <a:srgbClr val="1B3B6F"/>
                </a:solidFill>
                <a:latin typeface="Calibri" pitchFamily="34" charset="0"/>
                <a:ea typeface="Calibri" pitchFamily="34" charset="-122"/>
                <a:cs typeface="Calibri" pitchFamily="34" charset="-120"/>
              </a:rPr>
              <a:t>…» presents whose 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own view</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report's, cited by the writer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يَذْكُرُ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يُوصِي بِـ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Mentioning is not recommending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is past, one is future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يَتَوَصَّلُ الكَاتِبُ ___ نَتِيجَةٍ وَاضِحَةٍ.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reading of «</a:t>
            </a:r>
            <a:pPr algn="l" indent="0" marL="0">
              <a:buNone/>
            </a:pPr>
            <a:r>
              <a:rPr lang="ar-SA" altLang="en-US" sz="1650" b="1" dirty="0">
                <a:solidFill>
                  <a:srgbClr val="1B3B6F"/>
                </a:solidFill>
                <a:latin typeface="Amiri" pitchFamily="34" charset="0"/>
                <a:ea typeface="Amiri" pitchFamily="34" charset="-122"/>
                <a:cs typeface="Amiri" pitchFamily="34" charset="-120"/>
              </a:rPr>
              <a:t>اِعْتَرَفَ الوَزِيرُ بِأَنَّ الفَجْوَةَ قَائِمَةٌ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minister is certain and proud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minister denies the gap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minister concedes a problem he might prefer to deny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التَّقْرِيرُ إِلَى أَنَّ</a:t>
            </a:r>
            <a:pPr algn="l" indent="0" marL="0">
              <a:buNone/>
            </a:pPr>
            <a:r>
              <a:rPr lang="en-US" sz="1250" b="1" dirty="0">
                <a:solidFill>
                  <a:srgbClr val="1B3B6F"/>
                </a:solidFill>
                <a:latin typeface="Calibri" pitchFamily="34" charset="0"/>
                <a:ea typeface="Calibri" pitchFamily="34" charset="-122"/>
                <a:cs typeface="Calibri" pitchFamily="34" charset="-120"/>
              </a:rPr>
              <a:t>…» presents whose 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own view</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report's, cited by the writer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Reported speech cites the report, not necessarily the writer.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يَذْكُرُ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يُوصِي بِـ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Mentioning is not recommending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is past, one is future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يَذْكُرُ</a:t>
            </a:r>
            <a:pPr algn="l" indent="0" marL="0">
              <a:buNone/>
            </a:pPr>
            <a:r>
              <a:rPr lang="en-US" sz="1050" i="1" dirty="0">
                <a:solidFill>
                  <a:srgbClr val="8A6D1E"/>
                </a:solidFill>
                <a:latin typeface="Calibri" pitchFamily="34" charset="0"/>
                <a:ea typeface="Calibri" pitchFamily="34" charset="-122"/>
                <a:cs typeface="Calibri" pitchFamily="34" charset="-120"/>
              </a:rPr>
              <a:t> mentions; </a:t>
            </a:r>
            <a:pPr algn="l" indent="0" marL="0">
              <a:buNone/>
            </a:pPr>
            <a:r>
              <a:rPr lang="ar-SA" altLang="en-US" sz="1350" dirty="0">
                <a:solidFill>
                  <a:srgbClr val="8A6D1E"/>
                </a:solidFill>
                <a:latin typeface="Amiri" pitchFamily="34" charset="0"/>
                <a:ea typeface="Amiri" pitchFamily="34" charset="-122"/>
                <a:cs typeface="Amiri" pitchFamily="34" charset="-120"/>
              </a:rPr>
              <a:t>يُوصِي بِـ</a:t>
            </a:r>
            <a:pPr algn="l" indent="0" marL="0">
              <a:buNone/>
            </a:pPr>
            <a:r>
              <a:rPr lang="en-US" sz="1050" i="1" dirty="0">
                <a:solidFill>
                  <a:srgbClr val="8A6D1E"/>
                </a:solidFill>
                <a:latin typeface="Calibri" pitchFamily="34" charset="0"/>
                <a:ea typeface="Calibri" pitchFamily="34" charset="-122"/>
                <a:cs typeface="Calibri" pitchFamily="34" charset="-120"/>
              </a:rPr>
              <a:t> recommends.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يَتَوَصَّلُ الكَاتِبُ ___ نَتِيجَةٍ وَاضِحَةٍ.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يَتَوَصَّلُ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reading of «</a:t>
            </a:r>
            <a:pPr algn="l" indent="0" marL="0">
              <a:buNone/>
            </a:pPr>
            <a:r>
              <a:rPr lang="ar-SA" altLang="en-US" sz="1650" b="1" dirty="0">
                <a:solidFill>
                  <a:srgbClr val="1B3B6F"/>
                </a:solidFill>
                <a:latin typeface="Amiri" pitchFamily="34" charset="0"/>
                <a:ea typeface="Amiri" pitchFamily="34" charset="-122"/>
                <a:cs typeface="Amiri" pitchFamily="34" charset="-120"/>
              </a:rPr>
              <a:t>اِعْتَرَفَ الوَزِيرُ بِأَنَّ الفَجْوَةَ قَائِمَةٌ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minister is certain and proud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minister denies the gap</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minister concedes a problem he might prefer to deny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اِعْتَرَفَ بِـ</a:t>
            </a:r>
            <a:pPr algn="l" indent="0" marL="0">
              <a:buNone/>
            </a:pPr>
            <a:r>
              <a:rPr lang="en-US" sz="1050" i="1" dirty="0">
                <a:solidFill>
                  <a:srgbClr val="8A6D1E"/>
                </a:solidFill>
                <a:latin typeface="Calibri" pitchFamily="34" charset="0"/>
                <a:ea typeface="Calibri" pitchFamily="34" charset="-122"/>
                <a:cs typeface="Calibri" pitchFamily="34" charset="-120"/>
              </a:rPr>
              <a:t> concedes a point.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«اِدَّعَى» تَعْنِي أَنَّ الكَاتِبَ وَاثِقٌ مِنَ الكَلَامِ.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iddaʿā → confident?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ذِكْرُ الفَجْوَةِ فِي التَّقْرِيرِ يَعْنِي أَنَّهُ أَوْصَى بِسَدِّهَا.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mention = a recommendation?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يَتَوَصَّلُ الكَاتِبُ بِنَتِيجَةٍ.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yatawaṣṣal +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«اِدَّعَى» تَعْنِي أَنَّ الكَاتِبَ وَاثِقٌ مِنَ الكَلَامِ.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«اِدَّعَى» تُشِيرُ إِلَى شَكِّ الكَاتِبِ فِي الكَلَامِ.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اِدَّعَى</a:t>
            </a:r>
            <a:pPr algn="l" indent="0" marL="0">
              <a:buNone/>
            </a:pPr>
            <a:r>
              <a:rPr lang="en-US" sz="1150" b="1" dirty="0">
                <a:solidFill>
                  <a:srgbClr val="1B3B6F"/>
                </a:solidFill>
                <a:latin typeface="Calibri" pitchFamily="34" charset="0"/>
                <a:ea typeface="Calibri" pitchFamily="34" charset="-122"/>
                <a:cs typeface="Calibri" pitchFamily="34" charset="-120"/>
              </a:rPr>
              <a:t> signals doubt, not confidence.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ذِكْرُ الفَجْوَةِ فِي التَّقْرِيرِ يَعْنِي أَنَّهُ أَوْصَى بِسَدِّهَا.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ذِكْرُ الفَجْوَةِ لَا يَعْنِي بِالضَّرُورَةِ التَّوْصِيَةَ بِسَدِّهَا.</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Mentioning a point is not recommending it.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يَتَوَصَّلُ الكَاتِبُ بِنَتِيجَةٍ.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يَتَوَصَّلُ الكَاتِبُ إِلَى نَتِيجَةٍ.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يَتَوَصَّلُ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reading a report critically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what is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it is said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title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الوَزِيرُ</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doubt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confident, official source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اِدَّعَى بَعْضُ المُنْتَقِدِينَ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Agreement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doubt about the claim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reported speech always give the writer's own view?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it may report someone else's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reports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present, versus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commands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إِذَا</a:t>
            </a:r>
            <a:pPr algn="l" indent="0" marL="0">
              <a:buNone/>
            </a:pPr>
            <a:r>
              <a:rPr lang="en-US" sz="1250" dirty="0">
                <a:solidFill>
                  <a:srgbClr val="1F2A37"/>
                </a:solidFill>
                <a:latin typeface="Calibri" pitchFamily="34" charset="0"/>
                <a:ea typeface="Calibri" pitchFamily="34" charset="-122"/>
                <a:cs typeface="Calibri" pitchFamily="34" charset="-120"/>
              </a:rPr>
              <a:t> a real proposal; </a:t>
            </a:r>
            <a:pPr algn="l" indent="0" marL="0">
              <a:buNone/>
            </a:pPr>
            <a:r>
              <a:rPr lang="ar-SA" altLang="en-US" sz="1650" dirty="0">
                <a:solidFill>
                  <a:srgbClr val="1F2A37"/>
                </a:solidFill>
                <a:latin typeface="Amiri" pitchFamily="34" charset="0"/>
                <a:ea typeface="Amiri" pitchFamily="34" charset="-122"/>
                <a:cs typeface="Amiri" pitchFamily="34" charset="-120"/>
              </a:rPr>
              <a:t>لَوْ</a:t>
            </a:r>
            <a:pPr algn="l" indent="0" marL="0">
              <a:buNone/>
            </a:pPr>
            <a:r>
              <a:rPr lang="en-US" sz="1250" dirty="0">
                <a:solidFill>
                  <a:srgbClr val="1F2A37"/>
                </a:solidFill>
                <a:latin typeface="Calibri" pitchFamily="34" charset="0"/>
                <a:ea typeface="Calibri" pitchFamily="34" charset="-122"/>
                <a:cs typeface="Calibri" pitchFamily="34" charset="-120"/>
              </a:rPr>
              <a:t> a hypothetical argument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past events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akkada · iddaʿā · idhā · law.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تَقْرَأُ نَصًّا تَعْلِيمِيًّا، لَا تَنْظُرْ إِلَى مَا يُقَالُ فَقَطْ، بَلْ إِلَى كَيْفِيَّةِ قَوْلِهِ.</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you read an education text, do not look only at what is said, but at how it is said.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فَحِينَ يَكْتُبُ الكَاتِبُ «أَكَّدَ الوَزِيرُ»، فَهُوَ يَنْقُلُ مَصْدَرًا رَسْمِيًّا وَاثِقًا. أَمَّا حِينَ يَكْتُبُ «اِدَّعَى بَعْضُ المُنْتَقِدِينَ»، فَهُوَ يُشِيرُ إِلَى شَكِّهِ فِي الكَلَامِ.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When the writer writes “the minister stressed”, he is conveying a confident official source. But when he writes “some critics claimed”, he signals his doubt about what was said.</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وَالكَلَامُ المَنْقُولُ لَا يَعْنِي دَائِمًا رَأْيَ الكَاتِبِ نَفْسِهِ، بَلْ قَدْ يَنْقُلُ رَأْيَ غَيْرِهِ.</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Reported speech does not always mean the writer’s own view; it may convey someone else’s.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وَانْتَبِهْ لِنَوْعِ الشَّرْطِ: إِذَا تُقَدِّمُ اقْتِرَاحًا وَاقِعِيًّا، وَلَوْ تُقَدِّمُ حُجَّةً افْتِرَاضِيَّةً.</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Pay attention to the type of conditional: idhā offers a realistic proposal, and law offers a hypothetical argument.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وَمَيِّزْ بَيْنَ ذِكْرِ فِكْرَةٍ وَالتَّوْصِيَةِ بِهَا؛ فَقَدْ يَذْكُرُ التَّقْرِيرُ فَجْوَةً دُونَ أَنْ يُوصِيَ بِحَلٍّ.</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Distinguish between mentioning an idea and recommending it: a report may mention a gap without recommending a solution.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what is said?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it is said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title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إِلَى كَيْفِيَّةِ قَوْلِهِ.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الوَزِيرُ</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doubt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confident, official source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يَنْقُلُ مَصْدَرًا رَسْمِيًّا وَاثِقًا.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اِدَّعَى بَعْضُ المُنْتَقِدِينَ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Agreement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doubt about the claim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يُشِيرُ إِلَى شَكِّهِ فِي الكَلَامِ.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reported speech always give the writer's own view?</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it may report someone else's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reports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يَعْنِي دَائِمًا رَأْيَ الكَاتِبِ نَفْسِهِ.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present, versus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commands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إِذَا</a:t>
            </a:r>
            <a:pPr algn="l" indent="0" marL="0">
              <a:buNone/>
            </a:pPr>
            <a:r>
              <a:rPr lang="en-US" sz="1150" b="1" dirty="0">
                <a:solidFill>
                  <a:srgbClr val="1F2A37"/>
                </a:solidFill>
                <a:latin typeface="Calibri" pitchFamily="34" charset="0"/>
                <a:ea typeface="Calibri" pitchFamily="34" charset="-122"/>
                <a:cs typeface="Calibri" pitchFamily="34" charset="-120"/>
              </a:rPr>
              <a:t> a real proposal; </a:t>
            </a:r>
            <a:pPr algn="l" indent="0" marL="0">
              <a:buNone/>
            </a:pPr>
            <a:r>
              <a:rPr lang="ar-SA" altLang="en-US" sz="1500" b="1" dirty="0">
                <a:solidFill>
                  <a:srgbClr val="1F2A37"/>
                </a:solidFill>
                <a:latin typeface="Amiri" pitchFamily="34" charset="0"/>
                <a:ea typeface="Amiri" pitchFamily="34" charset="-122"/>
                <a:cs typeface="Amiri" pitchFamily="34" charset="-120"/>
              </a:rPr>
              <a:t>لَوْ</a:t>
            </a:r>
            <a:pPr algn="l" indent="0" marL="0">
              <a:buNone/>
            </a:pPr>
            <a:r>
              <a:rPr lang="en-US" sz="1150" b="1" dirty="0">
                <a:solidFill>
                  <a:srgbClr val="1F2A37"/>
                </a:solidFill>
                <a:latin typeface="Calibri" pitchFamily="34" charset="0"/>
                <a:ea typeface="Calibri" pitchFamily="34" charset="-122"/>
                <a:cs typeface="Calibri" pitchFamily="34" charset="-120"/>
              </a:rPr>
              <a:t> a hypothetical argument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past events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تُقَدِّمُ اقْتِرَاحًا وَاقِعِيًّا، وَلَوْ تُقَدِّمُ حُجَّةً افْتِرَاضِيَّةً.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akkada · iddaʿā · idhā · law.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two education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اِقْرَأِ النَّصَّيْنِ. الأَوَّلُ تَقْرِيرٌ وِزَارِيٌّ: «أَكَّدَتِ الوِزَارَةُ أَنَّ الإِصْلَاحَاتِ رَفَعَتْ نِسْبَةَ الالْتِحَاقِ، وَأَشَارَتْ إِلَى أَنَّ الفَجْوَةَ بَيْنَ المَنَاطِقِ مَا زَالَتْ قَائِمَةً. وَإِذَا اسْتَمَرَّ الاسْتِثْمَارُ، سَتَتَقَلَّصُ الفَجْوَةُ.» وَالثَّانِي مَقَالُ رَأْيٍ: «يَدَّعِي بَعْضُ المَسْؤُولِينَ أَنَّ كُلَّ شَيْءٍ عَلَى مَا يُرَامُ، لٰكِنَّ الوَاقِعَ مُخْتَلِفٌ. لَوْ كَانَتِ المَدَارِسُ الرِّيفِيَّةُ مُمَوَّلَةً كَالمُدُنِ، لَاخْتَفَتِ الفَجْوَةُ مُنْذُ سَنَوَاتٍ.» النَّصُّ الأَوَّلُ مَصْدَرٌ رَسْمِيٌّ يَذْكُرُ الفَجْوَةَ وَيَقْتَرِحُ حَلًّا وَاقِعِيًّا بِـ«إِذَا». أَمَّا الثَّانِي فَيَسْتَعْمِلُ «يَدَّعِي» لِيُظْهِرَ شَكَّهُ، وَ«لَوْ» لِيُجَادِلَ بِمَا كَانَ يُمْكِنُ أَنْ يَحْدُثَ.</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تَقْرِيرٌ وِزَارِيٌّ</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ministry report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نِسْبَةَ الالْتِحَاقِ</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enrolment rate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زَالَتْ قَائِمَةً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still exists</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سَتَتَقَلَّصُ</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shrink</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المَسْؤُولِينَ</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officials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مَا يُرَامُ</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fine, as it should be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الرِّيفِيَّةُ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rural</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مُمَوَّلَةً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funded</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لَاخْتَفَتِ</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would have disappeared</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لِيُظْهِرَ شَكَّهُ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show his doubt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ministry stress in Text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failed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raised enrolment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conditional does Text 1 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 with </a:t>
            </a:r>
            <a:pPr algn="l" indent="0" marL="0">
              <a:buNone/>
            </a:pPr>
            <a:r>
              <a:rPr lang="ar-SA" altLang="en-US" sz="1650" dirty="0">
                <a:solidFill>
                  <a:srgbClr val="1F2A37"/>
                </a:solidFill>
                <a:latin typeface="Amiri" pitchFamily="34" charset="0"/>
                <a:ea typeface="Amiri" pitchFamily="34" charset="-122"/>
                <a:cs typeface="Amiri" pitchFamily="34" charset="-120"/>
              </a:rPr>
              <a:t>لَوْ</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conditional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proposal with </a:t>
            </a:r>
            <a:pPr algn="l" indent="0" marL="0">
              <a:buNone/>
            </a:pPr>
            <a:r>
              <a:rPr lang="ar-SA" altLang="en-US" sz="1650" dirty="0">
                <a:solidFill>
                  <a:srgbClr val="1F2A37"/>
                </a:solidFill>
                <a:latin typeface="Amiri" pitchFamily="34" charset="0"/>
                <a:ea typeface="Amiri" pitchFamily="34" charset="-122"/>
                <a:cs typeface="Amiri" pitchFamily="34" charset="-120"/>
              </a:rPr>
              <a:t>إِذَا</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يَدَّعِي</a:t>
            </a:r>
            <a:pPr algn="l" indent="0" marL="0">
              <a:buNone/>
            </a:pPr>
            <a:r>
              <a:rPr lang="en-US" sz="1250" b="1" dirty="0">
                <a:solidFill>
                  <a:srgbClr val="1B3B6F"/>
                </a:solidFill>
                <a:latin typeface="Calibri" pitchFamily="34" charset="0"/>
                <a:ea typeface="Calibri" pitchFamily="34" charset="-122"/>
                <a:cs typeface="Calibri" pitchFamily="34" charset="-120"/>
              </a:rPr>
              <a:t>» in Text 2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doubts the officials' claim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agrees fully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officials are certain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argument does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make in Text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future plan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 the gap could have vanished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the two texts differ in stance?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 is an official source proposing; Text 2 is a sceptical opinion arguing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official reports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ministry stress in Text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Reforms failed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Reforms raised enrolment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أَكَّدَتِ الوِزَارَةُ أَنَّ الإِصْلَاحَاتِ رَفَعَتْ نِسْبَةَ الالْتِحَاقِ.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conditional does Text 1 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counterfactual with </a:t>
            </a:r>
            <a:pPr algn="l" indent="0" marL="0">
              <a:buNone/>
            </a:pPr>
            <a:r>
              <a:rPr lang="ar-SA" altLang="en-US" sz="1650" dirty="0">
                <a:solidFill>
                  <a:srgbClr val="9AA1AB"/>
                </a:solidFill>
                <a:latin typeface="Amiri" pitchFamily="34" charset="0"/>
                <a:ea typeface="Amiri" pitchFamily="34" charset="-122"/>
                <a:cs typeface="Amiri" pitchFamily="34" charset="-120"/>
              </a:rPr>
              <a:t>لَوْ</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conditional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proposal with </a:t>
            </a:r>
            <a:pPr algn="l" indent="0" marL="0">
              <a:buNone/>
            </a:pPr>
            <a:r>
              <a:rPr lang="ar-SA" altLang="en-US" sz="1650" b="1" dirty="0">
                <a:solidFill>
                  <a:srgbClr val="1F2A37"/>
                </a:solidFill>
                <a:latin typeface="Amiri" pitchFamily="34" charset="0"/>
                <a:ea typeface="Amiri" pitchFamily="34" charset="-122"/>
                <a:cs typeface="Amiri" pitchFamily="34" charset="-120"/>
              </a:rPr>
              <a:t>إِذَا</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وَإِذَا اسْتَمَرَّ الاسْتِثْمَارُ، سَتَتَقَلَّصُ الفَجْوَةُ</a:t>
            </a:r>
            <a:pPr algn="l" indent="0" marL="0">
              <a:buNone/>
            </a:pPr>
            <a:r>
              <a:rPr lang="en-US" sz="1050" i="1" dirty="0">
                <a:solidFill>
                  <a:srgbClr val="8A6D1E"/>
                </a:solidFill>
                <a:latin typeface="Calibri" pitchFamily="34" charset="0"/>
                <a:ea typeface="Calibri" pitchFamily="34" charset="-122"/>
                <a:cs typeface="Calibri" pitchFamily="34" charset="-120"/>
              </a:rPr>
              <a:t> — a real proposal.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يَدَّعِي</a:t>
            </a:r>
            <a:pPr algn="l" indent="0" marL="0">
              <a:buNone/>
            </a:pPr>
            <a:r>
              <a:rPr lang="en-US" sz="1250" b="1" dirty="0">
                <a:solidFill>
                  <a:srgbClr val="1B3B6F"/>
                </a:solidFill>
                <a:latin typeface="Calibri" pitchFamily="34" charset="0"/>
                <a:ea typeface="Calibri" pitchFamily="34" charset="-122"/>
                <a:cs typeface="Calibri" pitchFamily="34" charset="-120"/>
              </a:rPr>
              <a:t>» in Text 2 tell you?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 doubts the officials' claim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agrees fully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officials are certain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يَسْتَعْمِلُ «يَدَّعِي» لِيُظْهِرَ شَكَّهُ.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argument does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make in Text 2?</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future plan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counterfactual: the gap could have vanished</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لِيُجَادِلَ بِمَا كَانَ يُمْكِنُ أَنْ يَحْدُثَ.</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the two texts differ in stance?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Text 1 is an official source proposing; Text 2 is a sceptical opinion arguing</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official reports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الأَوَّلُ مَصْدَرٌ رَسْمِيٌّ … أَمَّا الثَّانِي فَيُظْهِرُ شَكَّهُ.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text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الفِعْلُ النَّاقِلُ فِي الجُمْلَةِ؟ وَمَاذَا يَدُلُّ عَلَيْهِ؟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الشَّرْطُ فِي النَّصِّ وَاقِعِيٌّ أَمِ افْتِرَاضِيٌّ؟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يَذْكُرُ النَّصُّ الفِكْرَةَ أَمْ يُوصِي بِهَا؟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الفِعْلُ النَّاقِلُ « ___ »، وَهُوَ يَدُلُّ عَلَى ___ .</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الشَّرْطُ ___ ، لِأَنَّ الكَاتِبَ يَسْتَعْمِلُ «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يَذْكُرُ النَّصُّ ___ ، لٰكِنَّهُ لَا يُوصِي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الفِعْلُ النَّاقِلُ، وَمَاذَا يَدُلُّ عَلَيْهِ؟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reporting verb, and what does it signal?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الفِعْلُ «اِدَّعَى»، وَهُوَ يَدُلُّ عَلَى شَكِّ الكَاتِبِ فِي الكَلَامِ.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The verb is “iddaʿā”, and it signals the writer’s doubt about what was said.</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verbs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Classify six reporting verbs as certain, doubtful or neutral.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classify six reporting verbs as certain, doubtful or neutral — with one example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For two sentences, say whether the conditional is real or hypothetical.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for two sentences, say whether the conditional is real or hypothetical,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an R3-style question requiring analysis of a conditional or reporting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analyse an education text — reporting verb, conditional type, mention vs recommendation and the writer’s stance.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الشَّرْطُ وَاقِعِيٌّ،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conditional is real,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تُقَدِّمُ «لَوْ» حُجَّةً افْتِرَاضِيَّةً: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“law” presents a hypothetical argument: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يَذْكُرُ النَّصُّ ______ دُونَ أَنْ يُوصِيَ بِحَلٍّ.</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text mentions … without recommending a solution.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يَتَوَصَّلُ الكَاتِبُ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reaches the conclusion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الفِعْلُ « ______ » يَدُلُّ عَلَى اليَقِينِ.</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verb “…” signals certainty.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الفِعْلُ « ______ » يُظْهِرُ شَكَّ الكَاتِبِ.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verb “…” signals the writer’s doubt.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النَّصُّ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text is an official report / an opinion article.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يَذْكُرُ التَّقْرِيرُ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report mentions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أَكَّدَ  ·  أَثْبَتَ  ·  أَوْضَحَ  ·  اعْتَرَفَ بِـ  ·  ادَّعَى  ·  زَعَمَ  ·  تَقْرِيرٌ رَسْمِيٌّ  ·  مَقَالُ رَأْيٍ  ·  اقْتِرَاحٌ وَاقِعِيٌّ  ·  حُجَّةٌ افْتِرَاضِيَّةٌ  ·  مَصْدَرٌ وَاثِقٌ  ·  شَكُّ الكَاتِبِ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Write eighty to ninety words analysing a short education text of your choice. Name one reporting verb and the certainty it signals, say whether the text's conditional is real or hypothetical, and distinguish one point that is mentioned from one that is recommended.</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reporting verb identified with its certainty signal.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conditional classified as real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 or hypothetical (</a:t>
            </a:r>
            <a:pPr algn="l" indent="0" marL="0">
              <a:buNone/>
            </a:pPr>
            <a:r>
              <a:rPr lang="ar-SA" altLang="en-US" sz="1550" dirty="0">
                <a:solidFill>
                  <a:srgbClr val="1F2A37"/>
                </a:solidFill>
                <a:latin typeface="Amiri" pitchFamily="34" charset="0"/>
                <a:ea typeface="Amiri" pitchFamily="34" charset="-122"/>
                <a:cs typeface="Amiri" pitchFamily="34" charset="-120"/>
              </a:rPr>
              <a:t>لَوْ</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distinction between a mentioned point and a recommended one.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statement of the writer's overall stance.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يَكْشِفُ النَّصُّ مَوْقِفَهُ مِنْ خِلَالِ أَفْعَالِهِ النَّاقِلَةِ</a:t>
            </a:r>
            <a:endParaRPr lang="ar-SA" sz="16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text reveals its stance through its reporting verbs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يَنْقُلُ مَصْدَرًا رَسْمِيًّا وَاثِقًا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conveys a confident official source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اقْتِرَاحٌ حَقِيقِيٌّ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genuine proposal</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يَكْتَفِي المَقَالُ بِالنَّقْدِ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while the article contents itself with criticism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أَقْرَأُ النَّصَّيْنِ بِوَعْيٍ بِمَصْدَرِهِمَا وَمَوْقِفِهِمَا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read both texts aware of their source and stance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يَكْشِفُ النَّصُّ مَوْقِفَهُ مِنْ خِلَالِ أَفْعَالِهِ النَّاقِلَةِ. فَحِينَ يَكْتُبُ «أَكَّدَتِ الوِزَارَةُ»، فَهُوَ يَنْقُلُ مَصْدَرًا رَسْمِيًّا وَاثِقًا، أَمَّا «يَدَّعِي المُنْتَقِدُونَ» فَتُظْهِرُ شَكَّهُ. وَالشَّرْطُ فِي النَّصِّ الأَوَّلِ وَاقِعِيٌّ؛ فَـ«إِذَا اسْتَمَرَّ الاسْتِثْمَارُ، سَتَتَقَلَّصُ الفَجْوَةُ» اقْتِرَاحٌ حَقِيقِيٌّ. أَمَّا فِي النَّصِّ الثَّانِي فَـ«لَوْ» تُقَدِّمُ حُجَّةً افْتِرَاضِيَّةً. وَأُمَيِّزُ بَيْنَ ذِكْرِ الفَجْوَةِ وَالتَّوْصِيَةِ بِسَدِّهَا؛ فَالتَّقْرِيرُ يَذْكُرُهَا وَيَقْتَرِحُ حَلًّا، بَيْنَمَا يَكْتَفِي المَقَالُ بِالنَّقْدِ. لِذٰلِكَ أَقْرَأُ النَّصَّيْنِ بِوَعْيٍ بِمَصْدَرِهِمَا وَمَوْقِفِهِمَا.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text reveals its stance through its reporting verbs. When it writes “the ministry stressed”, it conveys a confident official source, whereas “the critics claim” shows its doubt. The conditional in the first text is real: “if investment continues, the gap will shrink” is a genuine proposal. In the second text, however, “law” presents a hypothetical argument. I distinguish between mentioning the gap and recommending that it be closed: the report mentions it and proposes a solution, while the article contents itself with criticism. So I read both texts aware of their source and 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certain reporting verb (akkadat)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doubtful reporting verb (yaddaʿī)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real vs a hypothetical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mention vs recommendation (yadhkuruhā · yaqtariḥ)</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each reporting verb and its certainty.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quoted the exact phrase that proves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classified each conditional: idhā = proposal, law = counterfactual.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separated the writer’s view from a cited view.</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read a mention as a recommendation.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doubt?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real proposal?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لَوْ كَانَتِ المَدَارِسُ مُمَوَّلَةً، لَاخْتَفَتِ الفَجْوَةُ.</a:t>
            </a:r>
            <a:endParaRPr lang="ar-SA" sz="15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إِذَا اسْتَمَرَّ الاسْتِثْمَارُ، سَتَتَقَلَّصُ الفَجْوَةُ.</a:t>
            </a:r>
            <a:endParaRPr lang="ar-SA" sz="15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لَوْ زَادَ الإِنْفَاقُ، لَتَحَسَّنَتِ النَّتَائِجُ.</a:t>
            </a:r>
            <a:endParaRPr lang="ar-SA" sz="15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يَتَوَصَّلُ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نَتِيجَةٍ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doubt?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اِدَّعَى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أَكَّدَ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أَثْبَتَ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اِدَّعَى</a:t>
            </a:r>
            <a:pPr algn="l" indent="0" marL="0">
              <a:buNone/>
            </a:pPr>
            <a:r>
              <a:rPr lang="en-US" sz="1050" i="1" dirty="0">
                <a:solidFill>
                  <a:srgbClr val="8A6D1E"/>
                </a:solidFill>
                <a:latin typeface="Calibri" pitchFamily="34" charset="0"/>
                <a:ea typeface="Calibri" pitchFamily="34" charset="-122"/>
                <a:cs typeface="Calibri" pitchFamily="34" charset="-120"/>
              </a:rPr>
              <a:t> signals the writer's doubt.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a real proposal?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لَوْ كَانَتِ المَدَارِسُ مُمَوَّلَةً، لَاخْتَفَتِ الفَجْوَةُ.</a:t>
            </a:r>
            <a:endParaRPr lang="ar-SA" sz="15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إِذَا اسْتَمَرَّ الاسْتِثْمَارُ، سَتَتَقَلَّصُ الفَجْوَةُ.</a:t>
            </a:r>
            <a:endParaRPr lang="ar-SA" sz="15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لَوْ زَادَ الإِنْفَاقُ، لَتَحَسَّنَتِ النَّتَائِجُ.</a:t>
            </a:r>
            <a:endParaRPr lang="ar-SA" sz="15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proposal.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يَتَوَصَّلُ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نَتِيجَةٍ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يَتَوَصَّلُ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Critical Reading Mission — Verb, Certainty and Conditional</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Certainty: which signals doubt?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أَثْبَتَ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Certainty: which signals confidence?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زَعَمَ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which admits a point?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نَفَى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اِعْتَرَفَ 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 سَـ</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proposal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لَوْ … لَـ</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proposal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reported speech gives …</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the writer's own view</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often someone else's view, cited</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any view</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Certainty: which signals doubt?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اِدَّعَى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أَثْبَتَ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اِدَّعَى</a:t>
            </a:r>
            <a:pPr algn="l" indent="0" marL="0">
              <a:buNone/>
            </a:pPr>
            <a:r>
              <a:rPr lang="en-US" sz="1050" i="1" dirty="0">
                <a:solidFill>
                  <a:srgbClr val="8A6D1E"/>
                </a:solidFill>
                <a:latin typeface="Calibri" pitchFamily="34" charset="0"/>
                <a:ea typeface="Calibri" pitchFamily="34" charset="-122"/>
                <a:cs typeface="Calibri" pitchFamily="34" charset="-120"/>
              </a:rPr>
              <a:t> signals doubt.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Certainty: which signals confidence?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اِدَّعَى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زَعَمَ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أَكَّدَ</a:t>
            </a:r>
            <a:pPr algn="l" indent="0" marL="0">
              <a:buNone/>
            </a:pPr>
            <a:r>
              <a:rPr lang="en-US" sz="1050" i="1" dirty="0">
                <a:solidFill>
                  <a:srgbClr val="8A6D1E"/>
                </a:solidFill>
                <a:latin typeface="Calibri" pitchFamily="34" charset="0"/>
                <a:ea typeface="Calibri" pitchFamily="34" charset="-122"/>
                <a:cs typeface="Calibri" pitchFamily="34" charset="-120"/>
              </a:rPr>
              <a:t> signals high certainty.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which admits a point?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نَفَى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اِعْتَرَفَ 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اِعْتَرَفَ بِـ</a:t>
            </a:r>
            <a:pPr algn="l" indent="0" marL="0">
              <a:buNone/>
            </a:pPr>
            <a:r>
              <a:rPr lang="en-US" sz="1050" i="1" dirty="0">
                <a:solidFill>
                  <a:srgbClr val="8A6D1E"/>
                </a:solidFill>
                <a:latin typeface="Calibri" pitchFamily="34" charset="0"/>
                <a:ea typeface="Calibri" pitchFamily="34" charset="-122"/>
                <a:cs typeface="Calibri" pitchFamily="34" charset="-120"/>
              </a:rPr>
              <a:t> concedes a point.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 سَـ</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counterfactual</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proposal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proposes a real change.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لَوْ … لَـ</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proposal</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argues from an unreal case.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reported speech gives …</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the writer's own view</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often someone else's view, cited</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any view</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Reported speech frequently cites another source.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P2-L09 · Writing — Education and Future Plans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عِلَاوَةً عَلَى 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moreover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شَرِيطَةَ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provided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بِنَاءً عَلَى مَا سَبَقَ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based on the above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جِهَةٍ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 the other hand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 لِذٰلِكَ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a result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an essay: does education guarantee a better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أَوَّلًا ______ ، وَعِلَاوَةً عَلَى ذٰلِكَ ______ ، وَبِنَاءً عَلَى مَا سَبَقَ ______ .</a:t>
            </a:r>
            <a:endParaRPr lang="ar-SA" sz="15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Classify six reporting verbs (certain · doubtful · neutral) with one example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Find two conditionals in a news text and say if each is real or hypothetical.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analysis of a short education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P2-L09 · Writing — Education and Future Plans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التَّعْلِيمُ وَخُطَطُ 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HOW it is said — akkada = certain · iddaʿā / zaʿama = doubtful · iʿtarafa bi- = concedes — idhā proposes, law criticises what did not happen, and a mention is not a recommendation.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P2-L08 · Reading — Education Texts</dc:title>
  <dc:subject>PptxGenJS Presentation</dc:subject>
  <dc:creator>Al Madina Online School · Arabic Department</dc:creator>
  <cp:lastModifiedBy>Al Madina Online School · Arabic Department</cp:lastModifiedBy>
  <cp:revision>1</cp:revision>
  <dcterms:created xsi:type="dcterms:W3CDTF">2026-10-10T10:55:22Z</dcterms:created>
  <dcterms:modified xsi:type="dcterms:W3CDTF">2026-10-10T10:55:22Z</dcterms:modified>
</cp:coreProperties>
</file>