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P2-L06. The website lesson “Education and Social Mobility”: vocabulary, grammar rules and quiz, patterns, common mistakes, sorter, listening, reading, speaking prompts and model, writing task and model, differentiation, final check and the lesson mission. Picture match: website visual game “Education and Social Mobility”.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Type 2 conditionals (law … la-) about education and opportunity. Develop: add three Type 1 proposals (idhā … sa-). Stretch: the website 100–110-word balanced argument with two law conditionals, one idhā conditional and a reported-speech citation.
• The key idea: idhā = it can still happen; law = it did not happen (or is not true). Use a gesture: hand forward for idhā (the future), hand over the shoulder for law (the road not taken).
• Be sensitive: poverty, class and private vs state schooling can be personal. Keep the discussion about societies and research, not students’ own families; never ask who attends which kind of school.
• Islamic link (optional): «طَلَبُ العِلْمِ فَرِيضَةٌ عَلَى كُلِّ مُسْلِمٍ» (Ibn Mājah) — seeking knowledge is a duty on every Muslim, rich or poor: a strong argument for equal access.
• Grammar links: Type 1 conditional (P1-L03) · reported speech yujādil bi-anna (P2-L02) · past perfect for the past (P2-L03).
• TEACHER-WRITTEN ITEMS: waṣl alif shown without a kasra (الاجْتِمَاعِيُّ · الاجْتِهَادَ); rule headings and sorter headings in English and transliteration; rule examples shown without their English glosses;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P2-L05. Question 4 retrieves yuʾahhil li- (P2-L05). Question 5 retrieves the Type 1 conditional (P1-L03) — today it meets its hypothetical partner, law.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idhā = it can still happen. law = it did not happen — and the result takes 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مساوات, طبقہ, امتیاز, فقر and ثروت are shared. FALSE FRIEND: Urdu فرصت means free time / leisure, but Arabic فُرْصَةٌ means an opportunity (pl. فُرَصٌ) — فُرَصٌ مُتَكَافِئَةٌ = equal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Mobility and equality (website vocabulary (1 of 2)). Hear → Say → See → Use. Transliteration is printed for Core students (cover it for Develop/Stretch).
Mobility and equality: the nouns of the debate. حَرَاكٌ اجْتِمَاعِيٌّ = moving up (or down) between social classes; النُّخْبَةُ = the elite.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Mobility and equality (website vocabulary (2 of 2)). Hear → Say → See → Use. Transliteration is printed for Core students (cover it for Develop/Stretch).
Mobility and equality: the nouns of the debate. حَرَاكٌ اجْتِمَاعِيٌّ = moving up (or down) between social classes; النُّخْبَةُ = the elite.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Argument verbs (website vocabulary (1 of 2)). Hear → Say → See → Use. Transliteration is printed for Core students (cover it for Develop/Stretch).
Argument verbs: two sides — education يَتَجَاوَزُ الفَوَارِقَ (overcomes differences) and يُكَافِئُ الاجْتِهَادَ (rewards effort), or it يُكَرِّسُ / يُدِيمُ التَّفَاوُتَ (entrenches / perpetuates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Argument verbs (website vocabulary (2 of 2)). Hear → Say → See → Use. Transliteration is printed for Core students (cover it for Develop/Stretch).
FLEX: teach if time allows; otherwise these are on the website vocabulary tab for homework.
Argument verbs: two sides — education يَتَجَاوَزُ الفَوَارِقَ (overcomes differences) and يُكَافِئُ الاجْتِهَادَ (rewards effort), or it يُكَرِّسُ / يُدِيمُ التَّفَاوُتَ (entrenches / perpetuates inequality).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hypothetical conditional (website vocabulary (1 of 2)). Hear → Say → See → Use. Transliteration is printed for Core students (cover it for Develop/Stretch).
FLEX: teach if time allows; otherwise these are on the website vocabulary tab for homework.
The hypothetical conditional: لَوْ + past, and the result carries لَـ. فِي الوَاقِعِ (in reality) brings the argument back to the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hypothetical conditional (website vocabulary (2 of 2)). Hear → Say → See → Use. Transliteration is printed for Core students (cover it for Develop/Stretch).
FLEX: teach if time allows; otherwise these are on the website vocabulary tab for homework.
The hypothetical conditional: لَوْ + past, and the result carries لَـ. فِي الوَاقِعِ (in reality) brings the argument back to the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“The Type 2 form” and teaching point: لَوْ كَانَ التَّعْلِيمُ مَجَّانِيًّا، لَوَصَلَ الجَمِيعُ إِلَى الجَامِعَةِ — “it implies the opposite was actually true (education was not free)”.
Website mistakes 1 and 2: لَوْ يَدْرُسُ ✗ (law takes a past verb) · لَوْ دَرَسَ …، سَيَنْجَحُ ✗ (the result takes la-, not sa-).
English can say “would” or “would have” — Arabic uses the same past form for both; context decides.
Pronounce: la-najaḥa · la-waṣala · la-taghayyara · la-qallati (helping kasra before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1 (لَوْ دَرَسَ أَكْثَرَ، لَنَجَحَ) for I / he / she / you / they.
Row 4: لَوْ + a waṣl word → لَوِ (helping kasra): لَوِ اجْتَهَدْتَ (website rule 2 and listening لَوِ اسْتُثْمِرَ).
Quick drill: teacher says “I didn’t revise — I failed”; students say لَوْ رَاجَعْتُ، لَنَجَحْتُ. “She didn’t get a scholarship — she didn’t go to university” → لَوْ حَصَلَتْ عَلَى مِنْحَةٍ، لَالْتَحَقَتْ بِالجَامِعَةِ.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“Type 1 vs Type 2” and teaching point “إِذَا is real; لَوْ is hypothetical”: إِذَا ضَمِنَتِ الحُكُومَاتُ التَّعْلِيمَ، سَيَتَحَسَّنُ الوَضْعُ (a real, possible future) vs لَوْ ضَمِنَتِ الحُكُومَاتُ التَّعْلِيمَ، لَتَحَسَّنَ الوَضْعُ (an unreal past).
Website mistake 3: a counterfactual about the past uses لَوْ, not إِذَا.
Card 3 is from the website reading (فَلَوْ كَانَتِ الفُرَصُ مُتَكَافِئَةً حَقًّا، لَمَا بَقِيَتِ الفَجْوَةُ): the negative result is لَمَا +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rules “Argument with a counterfactual” and “Balancing a claim” (يُجَادِلُ المُنْتَقِدُونَ بِأَنَّ التَّعْلِيمَ الخَاصَّ يُكَرِّسُ الامْتِيَازَ), built from the website reading “a balanced argument”.
Website quiz 7: يُجَادِلُ بِأَنَّ ✓ — not يُجَادِلُ إِنَّ.
Core: moves 1, 3 and 6 (claim, counter, proposal) make a complete mini-argument. Stretch: all six = the website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“لَوْ + past → لَـ + past expresses a hypothetical, often counterfactual, condition. It contrasts with the real إِذَا … سَـ conditional of P1.”
• The Type 2 form: Past verb after لَوْ; the result verb carries a لَـ prefix.
• Type 1 vs Type 2: إِذَا is real and future; لَوْ is unreal and counterfactual.
• Arguing with a counterfactual: Use لَوْ to argue about the road not taken.
• Balancing a claim: State a view, then a hypothetical counter.
Website common error: Using a present or future verb after لَوْ, or forgetting the لَـ on the result. Also do not mix the types: لَوْ never takes سَـ in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with what others think: yarā … anna. Turn with lākinna. Now imagine the world that does NOT exist: law + past, la- + past. Finally, back to the real world with my proposal: idhā + past, sa-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challenge: “Write one real proposal with إِذَا and one counterfactual with لَوْ about the same idea.” Rows 1–3 come from the website sorter and teaching point; row 4 from the website reading.
Cover the left column. Students change: إِذَا → لَوْ (لَوِ before a waṣl alif) and sa- + present → la- + past (سَتَنْجَحُ → لَنَجَحْتَ · سَتَقِلُّ → لَقَلَّتْ · سَتَضِيقُ → لَضَاقَتْ).
Ask each time: “Did it happen?” (law →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live builder: “Build a balanced argument from a reported claim, a counterfactual and a real proposal.” Website feedback: each part is accurate on its own, so any three different combinations work.
Core: read row 1 across. Develop: mix rows. Stretch: write your own column 2 with لَمَا (… لَمَا بَقِيَتِ الفَجْوَةُ).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convert one real sentence into a hypothetical one, and one hypothetical into a real proposal: إِذَا زَادَ الإِنْفَاقُ، سَتَقِلُّ الفَجْوَةُ → لَوْ زَادَ الإِنْفَاقُ، لَقَلَّتِ الفَجْوَةُ.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convert one real sentence into a hypothetical one, and one hypothetical into a real proposal: إِذَا زَادَ الإِنْفَاقُ، سَتَقِلُّ الفَجْوَةُ → لَوْ زَادَ الإِنْفَاقُ، لَقَلَّتِ الفَجْوَةُ.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write down the two law sentences you hear.
Listen 1: just listen. Listen 2: note answers. Then chat the letters.
Support: after the second listening, show the read-along slide (Arabic + English, line by line) for Core students.
SCRIPT (read aloud):
يَرَى كَثِيرٌ مِنْ عُلَمَاءِ التَّرْبِيَةِ أَنَّ التَّعْلِيمَ هُوَ المُحَرِّكُ الرَّئِيسِيُّ لِلْحَرَاكِ الاجْتِمَاعِيِّ. وَأَشَارَ تَقْرِيرٌ دَوْلِيٌّ إِلَى أَنَّ كُلَّ سَنَةٍ إِضَافِيَّةٍ مِنَ التَّعْلِيمِ تَزِيدُ دَخْلَ الفَرْدِ. لٰكِنَّ المُنْتَقِدِينَ يُجَادِلُونَ بِأَنَّ التَّعْلِيمَ وَحْدَهُ لَا يُسَاوِي. لَوْ كَانَ التَّعْلِيمُ الجَيِّدُ مُتَاحًا لِلْجَمِيعِ بِالتَّسَاوِي، لَقَلَّتِ الفَجْوَةُ بَيْنَ الطَّبَقَاتِ. فِي الوَاقِعِ، غَالِبًا مَا يُكَرِّسُ التَّعْلِيمُ الخَاصُّ الامْتِيَازَ الاجْتِمَاعِيَّ. وَمِنْ وِجْهَةِ نَظَرِي، إِذَا ضَمِنَتِ الحُكُومَاتُ جَوْدَةَ التَّعْلِيمِ لِلْجَمِيعِ، سَيُصْبِحُ التَّعْلِيمُ مُحَرِّكًا حَقِيقِيًّا لِلْمُسَاوَاةِ. لَوِ اسْتُثْمِرَ فِي المَدَارِسِ الفَقِيرَةِ مُبَكِّرًا، لَارْتَقَى كَثِيرُونَ.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الحُجَّةُ المُضَادَّةُ؟ (Counterfactual)
B: لَوْ كَانَتِ الفُرَصُ مُتَكَافِئَةً، لَقَلَّتِ الفَجْوَةُ، لٰكِنْ إِذَا اسْتَثْمَرْنَا فِي المَدَارِسِ الضَّعِيفَةِ، سَتَضِيقُ. (لَوْ counter + إِذَا proposal)
Website prompts and model. Develop stem: the result must start with la- (لَقَلَّتِ الفَجْوَةُ · لَارْتَقَى كَثِيرُونَ). To a girl: اعْرِضِي · اقْتَرِحِي.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Type 2 conditionals (لَوْ … لَـ) about education and opportunity. · Develop — Add three Type 1 conditionals (إِذَا … سَـ) proposing real changes. · Stretch — Write a balanced argument using both types and a reported-speech citation.
Website writing task (Stretch): Write one hundred to one hundred and ten words arguing whether education achieves social equality. Balance a claim with a counter-argument, use at least two Type 2 conditionals (لَوْ), one Type 1 conditional (إِذَا), and a reported-speech clause.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يَرَى … أَنَّ · أَشَارَ تَقْرِيرٌ دَوْلِيٌّ إِلَى أَنَّ · فَلَوْ كَانَ … لَقَلَّتِ · وَلَوْ أُتِيحَتِ … لَارْتَقَى · لٰكِنَّ الوَاقِعَ · فِي الوَاقِعِ · وَمِنْ وِجْهَةِ نَظَرِي، إِذَا ضَمِنَتِ … سَيُصْبِحُ.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(P2-L07 · Education in the Arab World — History and Change) will spend class time USING this language, so students prepare it tonight — short, simple, easy to access (school guidance: “Simple, Short, Interesting, Relevant, Easy to access”). The five words come from the website P2-L07 vocabulary (education in the Arab world).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ea typeface="Cambria" pitchFamily="34" charset="-122"/>
                <a:cs typeface="Cambria" pitchFamily="34" charset="-120"/>
              </a:rPr>
              <a:t>Education and Social Mobility</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التَّعْلِيمُ وَالحَرَاكُ الاجْتِمَاعِيُّ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The P2 second milestone: argue about education and equality with the Type 2 conditional — law + a past verb, then la- + a past verb — and keep it apart from the real idhā … sa- conditional.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P2-L06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law + past → la- + past, real vs hypothetical, the moves of a balanced argument.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Turn real proposals into counterfactuals, build an argument, sort the conditionals.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حَرَاكٌ اجْتِمَاعِيٌّ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social class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social mobility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social media</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فُرَصٌ مُتَكَافِئَةٌ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equal opportunities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education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education gap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فَجْوَةٌ تَعْلِيمِيَّةٌ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equality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private school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education gap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التَّعْلِيمُ يُؤَهِّلُنِي إِلَى سُوقِ العَمَلِ.</a:t>
            </a:r>
            <a:endParaRPr lang="ar-SA" sz="20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التَّعْلِيمُ يُؤَهِّلُنِي عَلَى سُوقِ العَمَلِ.</a:t>
            </a:r>
            <a:endParaRPr lang="ar-SA" sz="20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التَّعْلِيمُ يُؤَهِّلُنِي لِسُوقِ العَمَلِ.</a:t>
            </a:r>
            <a:endParaRPr lang="ar-SA" sz="20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 اجْتَهَدْتَ،</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سَتَنْجَحُ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تَنْجَحَ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حَرَاكٌ اجْتِمَاعِيٌّ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social class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social mobility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social media</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فُرَصٌ مُتَكَافِئَةٌ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equal opportunities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free education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education gap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فَجْوَةٌ تَعْلِيمِيَّةٌ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equality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private school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education gap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التَّعْلِيمُ يُؤَهِّلُنِي إِلَى سُوقِ العَمَلِ.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التَّعْلِيمُ يُؤَهِّلُنِي عَلَى سُوقِ العَمَلِ.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التَّعْلِيمُ يُؤَهِّلُنِي لِسُوقِ العَمَلِ.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P2-L05: yuʾahhil li-.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 اجْتَهَدْتَ،</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سَتَنْجَحُ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نَجَحْتَ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تَنْجَحَ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P1-L03: idhā + past → sa- +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idhā = it can still happen. law = it did not happen — and the result takes la-.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إِذَا اجْتَهَدْتَ، سَتَنْجَحُ</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لَوِ اجْتَهَدْتَ، لَنَجَحْتَ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Discuss education and social mobility in argumentative register.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Type 2 conditional: law + past → la- + past.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the real idhā conditional from the hypothetical law conditional.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balanced argument using both conditional types.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words for equality and opportunity.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form law + past → la- + past.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idhā for real and law for hypothetical.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cite a view with yujādil bi-anna.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balance a claim with a counter-argument.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negate a Type 2 result (lamā).</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Mobility and equality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Argument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hypothetical conditional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مُسَاوَاةٌ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‎مساوات‎ </a:t>
            </a:r>
            <a:pPr indent="0" marL="0">
              <a:buNone/>
            </a:pPr>
            <a:r>
              <a:rPr lang="en-US" sz="950" b="1" dirty="0">
                <a:solidFill>
                  <a:srgbClr val="2E8B57"/>
                </a:solidFill>
                <a:latin typeface="Calibri" pitchFamily="34" charset="0"/>
                <a:ea typeface="Calibri" pitchFamily="34" charset="-122"/>
                <a:cs typeface="Calibri" pitchFamily="34" charset="-120"/>
              </a:rPr>
              <a:t> musāwāt · equality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طَبَقَةٌ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‎طبقہ‎ </a:t>
            </a:r>
            <a:pPr indent="0" marL="0">
              <a:buNone/>
            </a:pPr>
            <a:r>
              <a:rPr lang="en-US" sz="950" b="1" dirty="0">
                <a:solidFill>
                  <a:srgbClr val="2E8B57"/>
                </a:solidFill>
                <a:latin typeface="Calibri" pitchFamily="34" charset="0"/>
                <a:ea typeface="Calibri" pitchFamily="34" charset="-122"/>
                <a:cs typeface="Calibri" pitchFamily="34" charset="-120"/>
              </a:rPr>
              <a:t> tabqa · a (social) class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امْتِيَازٌ</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‎امتیاز‎ </a:t>
            </a:r>
            <a:pPr indent="0" marL="0">
              <a:buNone/>
            </a:pPr>
            <a:r>
              <a:rPr lang="en-US" sz="950" b="1" dirty="0">
                <a:solidFill>
                  <a:srgbClr val="2E8B57"/>
                </a:solidFill>
                <a:latin typeface="Calibri" pitchFamily="34" charset="0"/>
                <a:ea typeface="Calibri" pitchFamily="34" charset="-122"/>
                <a:cs typeface="Calibri" pitchFamily="34" charset="-120"/>
              </a:rPr>
              <a:t> imtiyāz · privilege, distinction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فَقْرٌ · ثَرْوَةٌ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‎فقر · ثروت‎ </a:t>
            </a:r>
            <a:pPr indent="0" marL="0">
              <a:buNone/>
            </a:pPr>
            <a:r>
              <a:rPr lang="en-US" sz="950" b="1" dirty="0">
                <a:solidFill>
                  <a:srgbClr val="2E8B57"/>
                </a:solidFill>
                <a:latin typeface="Calibri" pitchFamily="34" charset="0"/>
                <a:ea typeface="Calibri" pitchFamily="34" charset="-122"/>
                <a:cs typeface="Calibri" pitchFamily="34" charset="-120"/>
              </a:rPr>
              <a:t> faqr · sarwat · poverty · wealth</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فُرْصَةٌ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‎فرصت‎ </a:t>
            </a:r>
            <a:pPr indent="0" marL="0">
              <a:buNone/>
            </a:pPr>
            <a:r>
              <a:rPr lang="en-US" sz="950" b="1" dirty="0">
                <a:solidFill>
                  <a:srgbClr val="2E8B57"/>
                </a:solidFill>
                <a:latin typeface="Calibri" pitchFamily="34" charset="0"/>
                <a:ea typeface="Calibri" pitchFamily="34" charset="-122"/>
                <a:cs typeface="Calibri" pitchFamily="34" charset="-120"/>
              </a:rPr>
              <a:t> fursat · Arabic: an opportunity · Urdu: free time!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Mobility and equality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حَرَاكٌ اجْتِمَاعِيٌّ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mobility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ḥa-rā-kun aj-ti-mā-ʿiy-yun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مُسَاوَاةٌ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equality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mu-sā-wā-tun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فُرَصٌ مُتَكَافِئَةٌ</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equal opportunities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fu-ra-ṣun mu-ta-kā-fi-ʾa-tun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فُرْصَةٌ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فَجْوَةٌ تَعْلِيمِيَّةٌ</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education gap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faj-wa-tun taʿ-lī-miy-ya-tun</a:t>
            </a:r>
            <a:endParaRPr lang="en-US" sz="1350" dirty="0"/>
          </a:p>
        </p:txBody>
      </p:sp>
      <p:sp>
        <p:nvSpPr>
          <p:cNvPr id="50" name="Shape 4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فَجَوَاتٌ تَعْلِيمِيَّةٌ</a:t>
            </a:r>
            <a:endParaRPr lang="ar-SA" sz="1500" dirty="0"/>
          </a:p>
        </p:txBody>
      </p:sp>
      <p:sp>
        <p:nvSpPr>
          <p:cNvPr id="53" name="Shape 5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4389120"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6" name="Shape 53"/>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8" name="Text 5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طَبَقَةٌ اجْتِمَاعِيَّةٌ</a:t>
            </a:r>
            <a:endParaRPr lang="ar-SA" sz="3000" dirty="0"/>
          </a:p>
        </p:txBody>
      </p:sp>
      <p:sp>
        <p:nvSpPr>
          <p:cNvPr id="59" name="Text 5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social class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ṭa-ba-qa-tun aj-ti-mā-ʿiy-ya-tun</a:t>
            </a:r>
            <a:endParaRPr lang="en-US" sz="1350" dirty="0"/>
          </a:p>
        </p:txBody>
      </p:sp>
      <p:sp>
        <p:nvSpPr>
          <p:cNvPr id="60" name="Shape 57"/>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طَبَقَاتٌ اجْتِمَاعِيَّةٌ</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Mobility and equality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امْتِيَازٌ اجْتِمَاعِيٌّ</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privilege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am-ti-yā-zun aj-ti-mā-ʿiy-yun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امْتِيَازَاتٌ اجْتِمَاعِيَّةٌ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تَعْلِيمٌ مَجَّانِيٌّ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free education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taʿ-lī-mun maj-jā-niy-yun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تَعْلِيمٌ خَاصٌّ</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private education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taʿ-lī-mun khāṣ-ṣun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النُّخْبَةُ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elite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an-nukh-ba-tu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Argument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يَتَجَاوَزُ الفَوَارِقَ</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overcomes differences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ya-ta-jā-wa-zu al-fa-wā-ri-qa</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تَتَجَاوَزُ</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أَتَجَاوَزُ</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1" name="Shape 28"/>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يُكَرِّسُ التَّفَاوُتَ</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entrenches inequality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yu-kar-ri-su at-ta-fā-wu-ta</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تُكَرِّسُ</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أُكَرِّسُ</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4" name="Shape 4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يُدِيمُ</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perpetuates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yu-dī-mu</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تُدِيمُ</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أُدِيمُ</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7" name="Shape 54"/>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يُكَافِئُ</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rewards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yu-kā-fi-ʾu</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3" name="Text 6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تُكَافِئُ</a:t>
            </a:r>
            <a:endParaRPr lang="ar-SA" sz="150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6" name="Text 6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أُكَافِئُ</a:t>
            </a:r>
            <a:endParaRPr lang="ar-SA" sz="150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Argument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يَرْتَقِي</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rises, advances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yar-ta-qī</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تَرْتَقِي</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أَرْتَقِي</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يُجَادِلُ</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argues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yu-jā-di-lu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تُجَادِلُ</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أُجَادِلُ</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الفَقْرُ</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poverty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al-faq-ru</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الثَّرْوَةُ</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wealth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ath-thar-wa-tu</a:t>
            </a:r>
            <a:endParaRPr lang="en-US" sz="13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The hypothetical conditional (1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151790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Type 2; + past verb.</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(hypothetical)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لَـ (فِي الجَوَابِ)</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لَـ of the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 (fī al-ja-wā-bi)</a:t>
            </a:r>
            <a:endParaRPr lang="en-US" sz="1350" dirty="0"/>
          </a:p>
        </p:txBody>
      </p:sp>
      <p:sp>
        <p:nvSpPr>
          <p:cNvPr id="31" name="Text 28"/>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Prefixes the result verb.</a:t>
            </a:r>
            <a:endParaRPr lang="en-US" sz="10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افْتِرَاضِيٌّ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hypothetical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af-ti-rā-ḍiy-yun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وَاقِعِيٌّ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wā-qi-ʿiy-yun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The hypothetical conditional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عَكْسُ الوَاقِعِ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counterfactual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ʿak-su al-wā-qi-ʿi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الوَاقِعِ</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reality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al-wā-qi-ʿi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وِجْهَةِ نَظَرِي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my viewpoint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wij-ha-ti na-ẓa-rī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ذٰلِكَ</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nevertheless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dhā-li-ka</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FOCUS · PART 1 · THE TYPE 2 FORM (WEBSITE RULE 1 + TEACHING POINT 1) · CORE</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law + past → la- + past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لَوْ … 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Condition: law + past</a:t>
            </a:r>
            <a:endParaRPr lang="en-US" sz="1100" dirty="0"/>
          </a:p>
        </p:txBody>
      </p:sp>
      <p:sp>
        <p:nvSpPr>
          <p:cNvPr id="17" name="Text 14"/>
          <p:cNvSpPr txBox="1"/>
          <p:nvPr/>
        </p:nvSpPr>
        <p:spPr>
          <a:xfrm>
            <a:off x="43708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Result: la- + past</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 — and what really happened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80960" y="2267712"/>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لَوْ</a:t>
            </a:r>
            <a:pPr rtl="1" algn="ctr" indent="0" marL="0">
              <a:buNone/>
            </a:pPr>
            <a:r>
              <a:rPr lang="ar-SA" altLang="en-US" sz="2000" b="1" dirty="0">
                <a:solidFill>
                  <a:srgbClr val="1B3B6F"/>
                </a:solidFill>
                <a:latin typeface="Amiri" pitchFamily="34" charset="0"/>
                <a:ea typeface="Amiri" pitchFamily="34" charset="-122"/>
                <a:cs typeface="Amiri" pitchFamily="34" charset="-120"/>
              </a:rPr>
              <a:t> </a:t>
            </a:r>
            <a:pPr rtl="1" algn="ctr" indent="0" marL="0">
              <a:buNone/>
            </a:pPr>
            <a:r>
              <a:rPr lang="ar-SA" altLang="en-US" sz="2000" b="1" dirty="0">
                <a:solidFill>
                  <a:srgbClr val="D6336C"/>
                </a:solidFill>
                <a:latin typeface="Amiri" pitchFamily="34" charset="0"/>
                <a:ea typeface="Amiri" pitchFamily="34" charset="-122"/>
                <a:cs typeface="Amiri" pitchFamily="34" charset="-120"/>
              </a:rPr>
              <a:t>دَرَسَ</a:t>
            </a:r>
            <a:pPr rtl="1" algn="ctr" indent="0" marL="0">
              <a:buNone/>
            </a:pPr>
            <a:r>
              <a:rPr lang="ar-SA" altLang="en-US" sz="2000" b="1" dirty="0">
                <a:solidFill>
                  <a:srgbClr val="1B3B6F"/>
                </a:solidFill>
                <a:latin typeface="Amiri" pitchFamily="34" charset="0"/>
                <a:ea typeface="Amiri" pitchFamily="34" charset="-122"/>
                <a:cs typeface="Amiri" pitchFamily="34" charset="-120"/>
              </a:rPr>
              <a:t> أَكْثَرَ،</a:t>
            </a:r>
            <a:endParaRPr lang="ar-SA" sz="2000" dirty="0"/>
          </a:p>
        </p:txBody>
      </p:sp>
      <p:sp>
        <p:nvSpPr>
          <p:cNvPr id="21" name="Text 18"/>
          <p:cNvSpPr txBox="1"/>
          <p:nvPr/>
        </p:nvSpPr>
        <p:spPr>
          <a:xfrm>
            <a:off x="4389120" y="2267712"/>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لَنَجَحَ</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2" name="Text 19"/>
          <p:cNvSpPr txBox="1"/>
          <p:nvPr/>
        </p:nvSpPr>
        <p:spPr>
          <a:xfrm>
            <a:off x="566928"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he had studied more, he would have passed. (He did not.)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80960" y="3054096"/>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لَوْ</a:t>
            </a:r>
            <a:pPr rtl="1" algn="ctr" indent="0" marL="0">
              <a:buNone/>
            </a:pPr>
            <a:r>
              <a:rPr lang="ar-SA" altLang="en-US" sz="2000" b="1" dirty="0">
                <a:solidFill>
                  <a:srgbClr val="1B3B6F"/>
                </a:solidFill>
                <a:latin typeface="Amiri" pitchFamily="34" charset="0"/>
                <a:ea typeface="Amiri" pitchFamily="34" charset="-122"/>
                <a:cs typeface="Amiri" pitchFamily="34" charset="-120"/>
              </a:rPr>
              <a:t> </a:t>
            </a:r>
            <a:pPr rtl="1" algn="ctr" indent="0" marL="0">
              <a:buNone/>
            </a:pPr>
            <a:r>
              <a:rPr lang="ar-SA" altLang="en-US" sz="2000" b="1" dirty="0">
                <a:solidFill>
                  <a:srgbClr val="D6336C"/>
                </a:solidFill>
                <a:latin typeface="Amiri" pitchFamily="34" charset="0"/>
                <a:ea typeface="Amiri" pitchFamily="34" charset="-122"/>
                <a:cs typeface="Amiri" pitchFamily="34" charset="-120"/>
              </a:rPr>
              <a:t>كَانَ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التَّعْلِيمُ مَجَّانِيًّا،</a:t>
            </a:r>
            <a:endParaRPr lang="ar-SA" sz="2000" dirty="0"/>
          </a:p>
        </p:txBody>
      </p:sp>
      <p:sp>
        <p:nvSpPr>
          <p:cNvPr id="27" name="Text 24"/>
          <p:cNvSpPr txBox="1"/>
          <p:nvPr/>
        </p:nvSpPr>
        <p:spPr>
          <a:xfrm>
            <a:off x="4389120" y="3054096"/>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لَوَصَلَ</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الجَمِيعُ.</a:t>
            </a:r>
            <a:endParaRPr lang="ar-SA" sz="2000" dirty="0"/>
          </a:p>
        </p:txBody>
      </p:sp>
      <p:sp>
        <p:nvSpPr>
          <p:cNvPr id="28" name="Text 25"/>
          <p:cNvSpPr txBox="1"/>
          <p:nvPr/>
        </p:nvSpPr>
        <p:spPr>
          <a:xfrm>
            <a:off x="566928"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education were free, everyone would reach university. (It is not.)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80960" y="3840480"/>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لَوْ</a:t>
            </a:r>
            <a:pPr rtl="1" algn="ctr" indent="0" marL="0">
              <a:buNone/>
            </a:pPr>
            <a:r>
              <a:rPr lang="ar-SA" altLang="en-US" sz="2000" b="1" dirty="0">
                <a:solidFill>
                  <a:srgbClr val="1B3B6F"/>
                </a:solidFill>
                <a:latin typeface="Amiri" pitchFamily="34" charset="0"/>
                <a:ea typeface="Amiri" pitchFamily="34" charset="-122"/>
                <a:cs typeface="Amiri" pitchFamily="34" charset="-120"/>
              </a:rPr>
              <a:t> </a:t>
            </a:r>
            <a:pPr rtl="1" algn="ctr" indent="0" marL="0">
              <a:buNone/>
            </a:pPr>
            <a:r>
              <a:rPr lang="ar-SA" altLang="en-US" sz="2000" b="1" dirty="0">
                <a:solidFill>
                  <a:srgbClr val="D6336C"/>
                </a:solidFill>
                <a:latin typeface="Amiri" pitchFamily="34" charset="0"/>
                <a:ea typeface="Amiri" pitchFamily="34" charset="-122"/>
                <a:cs typeface="Amiri" pitchFamily="34" charset="-120"/>
              </a:rPr>
              <a:t>أُتِيحَتِ</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الفُرَصُ لِلْجَمِيعِ،</a:t>
            </a:r>
            <a:endParaRPr lang="ar-SA" sz="2000" dirty="0"/>
          </a:p>
        </p:txBody>
      </p:sp>
      <p:sp>
        <p:nvSpPr>
          <p:cNvPr id="33" name="Text 30"/>
          <p:cNvSpPr txBox="1"/>
          <p:nvPr/>
        </p:nvSpPr>
        <p:spPr>
          <a:xfrm>
            <a:off x="4389120" y="3840480"/>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لَتَغَيَّرَ</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المُجْتَمَعُ.</a:t>
            </a:r>
            <a:endParaRPr lang="ar-SA" sz="2000" dirty="0"/>
          </a:p>
        </p:txBody>
      </p:sp>
      <p:sp>
        <p:nvSpPr>
          <p:cNvPr id="34" name="Text 31"/>
          <p:cNvSpPr txBox="1"/>
          <p:nvPr/>
        </p:nvSpPr>
        <p:spPr>
          <a:xfrm>
            <a:off x="566928"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chances were offered to all, society would change. (They are not.)</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680960" y="4626864"/>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لَوْ</a:t>
            </a:r>
            <a:pPr rtl="1" algn="ctr" indent="0" marL="0">
              <a:buNone/>
            </a:pPr>
            <a:r>
              <a:rPr lang="ar-SA" altLang="en-US" sz="2000" b="1" dirty="0">
                <a:solidFill>
                  <a:srgbClr val="1B3B6F"/>
                </a:solidFill>
                <a:latin typeface="Amiri" pitchFamily="34" charset="0"/>
                <a:ea typeface="Amiri" pitchFamily="34" charset="-122"/>
                <a:cs typeface="Amiri" pitchFamily="34" charset="-120"/>
              </a:rPr>
              <a:t> </a:t>
            </a:r>
            <a:pPr rtl="1" algn="ctr" indent="0" marL="0">
              <a:buNone/>
            </a:pPr>
            <a:r>
              <a:rPr lang="ar-SA" altLang="en-US" sz="2000" b="1" dirty="0">
                <a:solidFill>
                  <a:srgbClr val="D6336C"/>
                </a:solidFill>
                <a:latin typeface="Amiri" pitchFamily="34" charset="0"/>
                <a:ea typeface="Amiri" pitchFamily="34" charset="-122"/>
                <a:cs typeface="Amiri" pitchFamily="34" charset="-120"/>
              </a:rPr>
              <a:t>كَانَتِ</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الفُرَصُ مُتَكَافِئَةً،</a:t>
            </a:r>
            <a:endParaRPr lang="ar-SA" sz="2000" dirty="0"/>
          </a:p>
        </p:txBody>
      </p:sp>
      <p:sp>
        <p:nvSpPr>
          <p:cNvPr id="37" name="Text 34"/>
          <p:cNvSpPr txBox="1"/>
          <p:nvPr/>
        </p:nvSpPr>
        <p:spPr>
          <a:xfrm>
            <a:off x="4389120" y="4626864"/>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لَقَلَّتِ</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الفَجْوَةُ.</a:t>
            </a:r>
            <a:endParaRPr lang="ar-SA" sz="2000" dirty="0"/>
          </a:p>
        </p:txBody>
      </p:sp>
      <p:sp>
        <p:nvSpPr>
          <p:cNvPr id="38" name="Text 35"/>
          <p:cNvSpPr txBox="1"/>
          <p:nvPr/>
        </p:nvSpPr>
        <p:spPr>
          <a:xfrm>
            <a:off x="566928"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opportunities were equal, the gap would shrink. (They are not.)</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past verbs. la- is joined to the result verb. law always implies the opposite is true.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LAW FOR EVERY PERSON (WEBSITE RULE 1 APPLIED)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If I had studied … if she had studied …</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لَوْ دَرَسْتُ · لَوْ دَرَسَتْ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34272" y="1810512"/>
            <a:ext cx="2624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really happened</a:t>
            </a:r>
            <a:endParaRPr lang="en-US" sz="1100" dirty="0"/>
          </a:p>
        </p:txBody>
      </p:sp>
      <p:sp>
        <p:nvSpPr>
          <p:cNvPr id="17" name="Text 14"/>
          <p:cNvSpPr txBox="1"/>
          <p:nvPr/>
        </p:nvSpPr>
        <p:spPr>
          <a:xfrm>
            <a:off x="53766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Condition: law + past</a:t>
            </a:r>
            <a:endParaRPr lang="en-US" sz="1100" dirty="0"/>
          </a:p>
        </p:txBody>
      </p:sp>
      <p:sp>
        <p:nvSpPr>
          <p:cNvPr id="18" name="Text 15"/>
          <p:cNvSpPr txBox="1"/>
          <p:nvPr/>
        </p:nvSpPr>
        <p:spPr>
          <a:xfrm>
            <a:off x="22677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Result: la- + past</a:t>
            </a:r>
            <a:endParaRPr lang="en-US" sz="1100" dirty="0"/>
          </a:p>
        </p:txBody>
      </p:sp>
      <p:sp>
        <p:nvSpPr>
          <p:cNvPr id="19" name="Text 16"/>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0848" y="2267712"/>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did not study more.</a:t>
            </a:r>
            <a:endParaRPr lang="en-US" sz="1100" dirty="0"/>
          </a:p>
        </p:txBody>
      </p:sp>
      <p:sp>
        <p:nvSpPr>
          <p:cNvPr id="22" name="Text 19"/>
          <p:cNvSpPr txBox="1"/>
          <p:nvPr/>
        </p:nvSpPr>
        <p:spPr>
          <a:xfrm>
            <a:off x="5394960" y="2267712"/>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a:t>
            </a:r>
            <a:pPr rtl="1" algn="ctr" indent="0" marL="0">
              <a:buNone/>
            </a:pPr>
            <a:r>
              <a:rPr lang="ar-SA" altLang="en-US" sz="2000" b="1" dirty="0">
                <a:solidFill>
                  <a:srgbClr val="D6336C"/>
                </a:solidFill>
                <a:latin typeface="Amiri" pitchFamily="34" charset="0"/>
                <a:ea typeface="Amiri" pitchFamily="34" charset="-122"/>
                <a:cs typeface="Amiri" pitchFamily="34" charset="-120"/>
              </a:rPr>
              <a:t>دَرَسْتُ</a:t>
            </a:r>
            <a:pPr rtl="1" algn="ctr" indent="0" marL="0">
              <a:buNone/>
            </a:pPr>
            <a:r>
              <a:rPr lang="ar-SA" altLang="en-US" sz="2000" b="1" dirty="0">
                <a:solidFill>
                  <a:srgbClr val="1B3B6F"/>
                </a:solidFill>
                <a:latin typeface="Amiri" pitchFamily="34" charset="0"/>
                <a:ea typeface="Amiri" pitchFamily="34" charset="-122"/>
                <a:cs typeface="Amiri" pitchFamily="34" charset="-120"/>
              </a:rPr>
              <a:t> أَكْثَرَ،</a:t>
            </a:r>
            <a:endParaRPr lang="ar-SA" sz="2000" dirty="0"/>
          </a:p>
        </p:txBody>
      </p:sp>
      <p:sp>
        <p:nvSpPr>
          <p:cNvPr id="23" name="Text 20"/>
          <p:cNvSpPr txBox="1"/>
          <p:nvPr/>
        </p:nvSpPr>
        <p:spPr>
          <a:xfrm>
            <a:off x="2286000" y="2267712"/>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لَنَجَحْتُ</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4" name="Text 21"/>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70848" y="300471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did not.</a:t>
            </a:r>
            <a:endParaRPr lang="en-US" sz="1100" dirty="0"/>
          </a:p>
        </p:txBody>
      </p:sp>
      <p:sp>
        <p:nvSpPr>
          <p:cNvPr id="29" name="Text 26"/>
          <p:cNvSpPr txBox="1"/>
          <p:nvPr/>
        </p:nvSpPr>
        <p:spPr>
          <a:xfrm>
            <a:off x="5394960" y="300471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a:t>
            </a:r>
            <a:pPr rtl="1" algn="ctr" indent="0" marL="0">
              <a:buNone/>
            </a:pPr>
            <a:r>
              <a:rPr lang="ar-SA" altLang="en-US" sz="2000" b="1" dirty="0">
                <a:solidFill>
                  <a:srgbClr val="D6336C"/>
                </a:solidFill>
                <a:latin typeface="Amiri" pitchFamily="34" charset="0"/>
                <a:ea typeface="Amiri" pitchFamily="34" charset="-122"/>
                <a:cs typeface="Amiri" pitchFamily="34" charset="-120"/>
              </a:rPr>
              <a:t>دَرَسَ</a:t>
            </a:r>
            <a:pPr rtl="1" algn="ctr" indent="0" marL="0">
              <a:buNone/>
            </a:pPr>
            <a:r>
              <a:rPr lang="ar-SA" altLang="en-US" sz="2000" b="1" dirty="0">
                <a:solidFill>
                  <a:srgbClr val="1B3B6F"/>
                </a:solidFill>
                <a:latin typeface="Amiri" pitchFamily="34" charset="0"/>
                <a:ea typeface="Amiri" pitchFamily="34" charset="-122"/>
                <a:cs typeface="Amiri" pitchFamily="34" charset="-120"/>
              </a:rPr>
              <a:t> أَكْثَرَ،</a:t>
            </a:r>
            <a:endParaRPr lang="ar-SA" sz="2000" dirty="0"/>
          </a:p>
        </p:txBody>
      </p:sp>
      <p:sp>
        <p:nvSpPr>
          <p:cNvPr id="30" name="Text 27"/>
          <p:cNvSpPr txBox="1"/>
          <p:nvPr/>
        </p:nvSpPr>
        <p:spPr>
          <a:xfrm>
            <a:off x="2286000" y="3004718"/>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لَنَجَحَ</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1" name="Text 28"/>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70848" y="3741725"/>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did not.</a:t>
            </a:r>
            <a:endParaRPr lang="en-US" sz="1100" dirty="0"/>
          </a:p>
        </p:txBody>
      </p:sp>
      <p:sp>
        <p:nvSpPr>
          <p:cNvPr id="36" name="Text 33"/>
          <p:cNvSpPr txBox="1"/>
          <p:nvPr/>
        </p:nvSpPr>
        <p:spPr>
          <a:xfrm>
            <a:off x="5394960" y="3741725"/>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a:t>
            </a:r>
            <a:pPr rtl="1" algn="ctr" indent="0" marL="0">
              <a:buNone/>
            </a:pPr>
            <a:r>
              <a:rPr lang="ar-SA" altLang="en-US" sz="2000" b="1" dirty="0">
                <a:solidFill>
                  <a:srgbClr val="D6336C"/>
                </a:solidFill>
                <a:latin typeface="Amiri" pitchFamily="34" charset="0"/>
                <a:ea typeface="Amiri" pitchFamily="34" charset="-122"/>
                <a:cs typeface="Amiri" pitchFamily="34" charset="-120"/>
              </a:rPr>
              <a:t>دَرَسَتْ</a:t>
            </a:r>
            <a:pPr rtl="1" algn="ctr" indent="0" marL="0">
              <a:buNone/>
            </a:pPr>
            <a:r>
              <a:rPr lang="ar-SA" altLang="en-US" sz="2000" b="1" dirty="0">
                <a:solidFill>
                  <a:srgbClr val="1B3B6F"/>
                </a:solidFill>
                <a:latin typeface="Amiri" pitchFamily="34" charset="0"/>
                <a:ea typeface="Amiri" pitchFamily="34" charset="-122"/>
                <a:cs typeface="Amiri" pitchFamily="34" charset="-120"/>
              </a:rPr>
              <a:t> أَكْثَرَ،</a:t>
            </a:r>
            <a:endParaRPr lang="ar-SA" sz="2000" dirty="0"/>
          </a:p>
        </p:txBody>
      </p:sp>
      <p:sp>
        <p:nvSpPr>
          <p:cNvPr id="37" name="Text 34"/>
          <p:cNvSpPr txBox="1"/>
          <p:nvPr/>
        </p:nvSpPr>
        <p:spPr>
          <a:xfrm>
            <a:off x="2286000" y="3741725"/>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لَنَجَحَتْ</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8" name="Text 35"/>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070848" y="4478731"/>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did not work hard.</a:t>
            </a:r>
            <a:endParaRPr lang="en-US" sz="1100" dirty="0"/>
          </a:p>
        </p:txBody>
      </p:sp>
      <p:sp>
        <p:nvSpPr>
          <p:cNvPr id="43" name="Text 40"/>
          <p:cNvSpPr txBox="1"/>
          <p:nvPr/>
        </p:nvSpPr>
        <p:spPr>
          <a:xfrm>
            <a:off x="5394960" y="4478731"/>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a:t>
            </a:r>
            <a:pPr rtl="1" algn="ctr" indent="0" marL="0">
              <a:buNone/>
            </a:pPr>
            <a:r>
              <a:rPr lang="ar-SA" altLang="en-US" sz="2000" b="1" dirty="0">
                <a:solidFill>
                  <a:srgbClr val="D6336C"/>
                </a:solidFill>
                <a:latin typeface="Amiri" pitchFamily="34" charset="0"/>
                <a:ea typeface="Amiri" pitchFamily="34" charset="-122"/>
                <a:cs typeface="Amiri" pitchFamily="34" charset="-120"/>
              </a:rPr>
              <a:t>اجْتَهَدْتَ · اجْتَهَدْتِ</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44" name="Text 41"/>
          <p:cNvSpPr txBox="1"/>
          <p:nvPr/>
        </p:nvSpPr>
        <p:spPr>
          <a:xfrm>
            <a:off x="2286000" y="4478731"/>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لَنَجَحْتَ · لَنَجَحْتِ</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45" name="Text 42"/>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 · f)</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070848" y="5215738"/>
            <a:ext cx="25877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did not.</a:t>
            </a:r>
            <a:endParaRPr lang="en-US" sz="1100" dirty="0"/>
          </a:p>
        </p:txBody>
      </p:sp>
      <p:sp>
        <p:nvSpPr>
          <p:cNvPr id="48" name="Text 45"/>
          <p:cNvSpPr txBox="1"/>
          <p:nvPr/>
        </p:nvSpPr>
        <p:spPr>
          <a:xfrm>
            <a:off x="5394960" y="521573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لَوْ </a:t>
            </a:r>
            <a:pPr rtl="1" algn="ctr" indent="0" marL="0">
              <a:buNone/>
            </a:pPr>
            <a:r>
              <a:rPr lang="ar-SA" altLang="en-US" sz="2000" b="1" dirty="0">
                <a:solidFill>
                  <a:srgbClr val="D6336C"/>
                </a:solidFill>
                <a:latin typeface="Amiri" pitchFamily="34" charset="0"/>
                <a:ea typeface="Amiri" pitchFamily="34" charset="-122"/>
                <a:cs typeface="Amiri" pitchFamily="34" charset="-120"/>
              </a:rPr>
              <a:t>دَرَسُوا</a:t>
            </a:r>
            <a:pPr rtl="1" algn="ctr" indent="0" marL="0">
              <a:buNone/>
            </a:pPr>
            <a:r>
              <a:rPr lang="ar-SA" altLang="en-US" sz="2000" b="1" dirty="0">
                <a:solidFill>
                  <a:srgbClr val="1B3B6F"/>
                </a:solidFill>
                <a:latin typeface="Amiri" pitchFamily="34" charset="0"/>
                <a:ea typeface="Amiri" pitchFamily="34" charset="-122"/>
                <a:cs typeface="Amiri" pitchFamily="34" charset="-120"/>
              </a:rPr>
              <a:t> أَكْثَرَ،</a:t>
            </a:r>
            <a:endParaRPr lang="ar-SA" sz="2000" dirty="0"/>
          </a:p>
        </p:txBody>
      </p:sp>
      <p:sp>
        <p:nvSpPr>
          <p:cNvPr id="49" name="Text 46"/>
          <p:cNvSpPr txBox="1"/>
          <p:nvPr/>
        </p:nvSpPr>
        <p:spPr>
          <a:xfrm>
            <a:off x="2286000" y="5215738"/>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لَنَجَحُوا</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50" name="Text 47"/>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verbs take the same person ending: dars-tu … najaḥ-tu · dars-at … najaḥ-at.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REAL OR HYPOTHETICAL? (WEBSITE RULE 2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idhā is real — law is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أَمْ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REAL · TYPE 1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إِذَا اجْتَهَدْتَ، سَتَنْجَحُ.</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work hard, you will succeed.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You still might.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81758"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HYPOTHETICAL · TYPE 2 · DEVELOP</a:t>
            </a:r>
            <a:endParaRPr lang="en-US" sz="850" dirty="0"/>
          </a:p>
        </p:txBody>
      </p:sp>
      <p:sp>
        <p:nvSpPr>
          <p:cNvPr id="26" name="Text 23"/>
          <p:cNvSpPr txBox="1"/>
          <p:nvPr/>
        </p:nvSpPr>
        <p:spPr>
          <a:xfrm>
            <a:off x="6640982"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لَوِ اجْتَهَدْتَ، لَنَجَحْتَ.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had worked hard, you would have succeeded.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But you did not.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NEGATIVE RESULT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كَانَتِ الفُرَصُ مُتَكَافِئَةً حَقًّا، لَمَا بَقِيَتِ الفَجْوَةُ.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opportunities were truly equal, the gap would not remain.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la- + mā.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law never takes sa- in the result.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لَوْ دَرَسَ أَكْثَرَ، لَنَجَحَ</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دَرَسَ أَكْثَرَ، سَيَنْجَحُ</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MOVES OF A BALANCED ARGUMENT (WEBSITE RULES 3–4, READING AND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Claim, counter, proposal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حُجَّةٌ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24505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language</a:t>
            </a:r>
            <a:endParaRPr lang="en-US" sz="1100" dirty="0"/>
          </a:p>
        </p:txBody>
      </p:sp>
      <p:sp>
        <p:nvSpPr>
          <p:cNvPr id="18" name="Text 15"/>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887968" y="2267712"/>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Supporters believe education overcomes differences.</a:t>
            </a:r>
            <a:endParaRPr lang="en-US" sz="1100" dirty="0"/>
          </a:p>
        </p:txBody>
      </p:sp>
      <p:sp>
        <p:nvSpPr>
          <p:cNvPr id="21" name="Text 18"/>
          <p:cNvSpPr txBox="1"/>
          <p:nvPr/>
        </p:nvSpPr>
        <p:spPr>
          <a:xfrm>
            <a:off x="246888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يَرَى المُؤَيِّدُونَ </a:t>
            </a:r>
            <a:pPr rtl="1" algn="ctr" indent="0" marL="0">
              <a:buNone/>
            </a:pPr>
            <a:r>
              <a:rPr lang="ar-SA" altLang="en-US" sz="1800" b="1" dirty="0">
                <a:solidFill>
                  <a:srgbClr val="7B3FA0"/>
                </a:solidFill>
                <a:latin typeface="Amiri" pitchFamily="34" charset="0"/>
                <a:ea typeface="Amiri" pitchFamily="34" charset="-122"/>
                <a:cs typeface="Amiri" pitchFamily="34" charset="-120"/>
              </a:rPr>
              <a:t>أَنَّ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التَّعْلِيمَ </a:t>
            </a:r>
            <a:pPr rtl="1" algn="ctr" indent="0" marL="0">
              <a:buNone/>
            </a:pPr>
            <a:r>
              <a:rPr lang="ar-SA" altLang="en-US" sz="1800" b="1" dirty="0">
                <a:solidFill>
                  <a:srgbClr val="1D5FBF"/>
                </a:solidFill>
                <a:latin typeface="Amiri" pitchFamily="34" charset="0"/>
                <a:ea typeface="Amiri" pitchFamily="34" charset="-122"/>
                <a:cs typeface="Amiri" pitchFamily="34" charset="-120"/>
              </a:rPr>
              <a:t>يَتَجَاوَزُ</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الفَوَارِقَ.</a:t>
            </a:r>
            <a:endParaRPr lang="ar-SA" sz="1800" dirty="0"/>
          </a:p>
        </p:txBody>
      </p:sp>
      <p:sp>
        <p:nvSpPr>
          <p:cNvPr id="22" name="Text 19"/>
          <p:cNvSpPr txBox="1"/>
          <p:nvPr/>
        </p:nvSpPr>
        <p:spPr>
          <a:xfrm>
            <a:off x="566928" y="2267712"/>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claim</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8887968" y="2881884"/>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Studies confirmed it rewards effort, not origin.</a:t>
            </a:r>
            <a:endParaRPr lang="en-US" sz="1100" dirty="0"/>
          </a:p>
        </p:txBody>
      </p:sp>
      <p:sp>
        <p:nvSpPr>
          <p:cNvPr id="25" name="Text 22"/>
          <p:cNvSpPr txBox="1"/>
          <p:nvPr/>
        </p:nvSpPr>
        <p:spPr>
          <a:xfrm>
            <a:off x="246888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أَكَّدَتْ</a:t>
            </a:r>
            <a:pPr rtl="1" algn="ctr" indent="0" marL="0">
              <a:buNone/>
            </a:pPr>
            <a:r>
              <a:rPr lang="ar-SA" altLang="en-US" sz="1800" b="1" dirty="0">
                <a:solidFill>
                  <a:srgbClr val="1B3B6F"/>
                </a:solidFill>
                <a:latin typeface="Amiri" pitchFamily="34" charset="0"/>
                <a:ea typeface="Amiri" pitchFamily="34" charset="-122"/>
                <a:cs typeface="Amiri" pitchFamily="34" charset="-120"/>
              </a:rPr>
              <a:t> دِرَاسَاتٌ </a:t>
            </a:r>
            <a:pPr rtl="1" algn="ctr" indent="0" marL="0">
              <a:buNone/>
            </a:pPr>
            <a:r>
              <a:rPr lang="ar-SA" altLang="en-US" sz="1800" b="1" dirty="0">
                <a:solidFill>
                  <a:srgbClr val="7B3FA0"/>
                </a:solidFill>
                <a:latin typeface="Amiri" pitchFamily="34" charset="0"/>
                <a:ea typeface="Amiri" pitchFamily="34" charset="-122"/>
                <a:cs typeface="Amiri" pitchFamily="34" charset="-120"/>
              </a:rPr>
              <a:t>أَنَّ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التَّعْلِيمَ </a:t>
            </a:r>
            <a:pPr rtl="1" algn="ctr" indent="0" marL="0">
              <a:buNone/>
            </a:pPr>
            <a:r>
              <a:rPr lang="ar-SA" altLang="en-US" sz="1800" b="1" dirty="0">
                <a:solidFill>
                  <a:srgbClr val="1D5FBF"/>
                </a:solidFill>
                <a:latin typeface="Amiri" pitchFamily="34" charset="0"/>
                <a:ea typeface="Amiri" pitchFamily="34" charset="-122"/>
                <a:cs typeface="Amiri" pitchFamily="34" charset="-120"/>
              </a:rPr>
              <a:t>يُكَافِئُ</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الاجْتِهَادَ لَا الأَصْلَ.</a:t>
            </a:r>
            <a:endParaRPr lang="ar-SA" sz="1800" dirty="0"/>
          </a:p>
        </p:txBody>
      </p:sp>
      <p:sp>
        <p:nvSpPr>
          <p:cNvPr id="26" name="Text 23"/>
          <p:cNvSpPr txBox="1"/>
          <p:nvPr/>
        </p:nvSpPr>
        <p:spPr>
          <a:xfrm>
            <a:off x="566928" y="2881884"/>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evidence</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8887968" y="3496056"/>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But critics argue that reality is more complex.</a:t>
            </a:r>
            <a:endParaRPr lang="en-US" sz="1100" dirty="0"/>
          </a:p>
        </p:txBody>
      </p:sp>
      <p:sp>
        <p:nvSpPr>
          <p:cNvPr id="29" name="Text 26"/>
          <p:cNvSpPr txBox="1"/>
          <p:nvPr/>
        </p:nvSpPr>
        <p:spPr>
          <a:xfrm>
            <a:off x="246888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لٰكِنَّ المُنْتَقِدِينَ </a:t>
            </a:r>
            <a:pPr rtl="1" algn="ctr" indent="0" marL="0">
              <a:buNone/>
            </a:pPr>
            <a:r>
              <a:rPr lang="ar-SA" altLang="en-US" sz="1800" b="1" dirty="0">
                <a:solidFill>
                  <a:srgbClr val="7B3FA0"/>
                </a:solidFill>
                <a:latin typeface="Amiri" pitchFamily="34" charset="0"/>
                <a:ea typeface="Amiri" pitchFamily="34" charset="-122"/>
                <a:cs typeface="Amiri" pitchFamily="34" charset="-120"/>
              </a:rPr>
              <a:t>يُجَادِلُونَ بِأَنَّ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الوَاقِعَ أَكْثَرُ تَعْقِيدًا.</a:t>
            </a:r>
            <a:endParaRPr lang="ar-SA" sz="1800" dirty="0"/>
          </a:p>
        </p:txBody>
      </p:sp>
      <p:sp>
        <p:nvSpPr>
          <p:cNvPr id="30" name="Text 27"/>
          <p:cNvSpPr txBox="1"/>
          <p:nvPr/>
        </p:nvSpPr>
        <p:spPr>
          <a:xfrm>
            <a:off x="566928" y="3496056"/>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counter</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8887968" y="4110228"/>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opportunities were equal, the gap would shrink.</a:t>
            </a:r>
            <a:endParaRPr lang="en-US" sz="1100" dirty="0"/>
          </a:p>
        </p:txBody>
      </p:sp>
      <p:sp>
        <p:nvSpPr>
          <p:cNvPr id="33" name="Text 30"/>
          <p:cNvSpPr txBox="1"/>
          <p:nvPr/>
        </p:nvSpPr>
        <p:spPr>
          <a:xfrm>
            <a:off x="246888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فَلَوْ</a:t>
            </a:r>
            <a:pPr rtl="1" algn="ctr" indent="0" marL="0">
              <a:buNone/>
            </a:pPr>
            <a:r>
              <a:rPr lang="ar-SA" altLang="en-US" sz="1800" b="1" dirty="0">
                <a:solidFill>
                  <a:srgbClr val="1B3B6F"/>
                </a:solidFill>
                <a:latin typeface="Amiri" pitchFamily="34" charset="0"/>
                <a:ea typeface="Amiri" pitchFamily="34" charset="-122"/>
                <a:cs typeface="Amiri" pitchFamily="34" charset="-120"/>
              </a:rPr>
              <a:t> كَانَتِ الفُرَصُ مُتَكَافِئَةً، </a:t>
            </a:r>
            <a:pPr rtl="1" algn="ctr" indent="0" marL="0">
              <a:buNone/>
            </a:pPr>
            <a:r>
              <a:rPr lang="ar-SA" altLang="en-US" sz="1800" b="1" dirty="0">
                <a:solidFill>
                  <a:srgbClr val="D6336C"/>
                </a:solidFill>
                <a:latin typeface="Amiri" pitchFamily="34" charset="0"/>
                <a:ea typeface="Amiri" pitchFamily="34" charset="-122"/>
                <a:cs typeface="Amiri" pitchFamily="34" charset="-120"/>
              </a:rPr>
              <a:t>لَقَلَّتِ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الفَجْوَةُ.</a:t>
            </a:r>
            <a:endParaRPr lang="ar-SA" sz="1800" dirty="0"/>
          </a:p>
        </p:txBody>
      </p:sp>
      <p:sp>
        <p:nvSpPr>
          <p:cNvPr id="34" name="Text 31"/>
          <p:cNvSpPr txBox="1"/>
          <p:nvPr/>
        </p:nvSpPr>
        <p:spPr>
          <a:xfrm>
            <a:off x="566928" y="4110228"/>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counterfactual</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8887968" y="4724400"/>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Nevertheless, education remains the strongest tool.</a:t>
            </a:r>
            <a:endParaRPr lang="en-US" sz="1100" dirty="0"/>
          </a:p>
        </p:txBody>
      </p:sp>
      <p:sp>
        <p:nvSpPr>
          <p:cNvPr id="37" name="Text 34"/>
          <p:cNvSpPr txBox="1"/>
          <p:nvPr/>
        </p:nvSpPr>
        <p:spPr>
          <a:xfrm>
            <a:off x="246888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عَلَى الرَّغْمِ مِنْ ذٰلِكَ</a:t>
            </a:r>
            <a:pPr rtl="1" algn="ctr" indent="0" marL="0">
              <a:buNone/>
            </a:pPr>
            <a:r>
              <a:rPr lang="ar-SA" altLang="en-US" sz="1800" b="1" dirty="0">
                <a:solidFill>
                  <a:srgbClr val="1B3B6F"/>
                </a:solidFill>
                <a:latin typeface="Amiri" pitchFamily="34" charset="0"/>
                <a:ea typeface="Amiri" pitchFamily="34" charset="-122"/>
                <a:cs typeface="Amiri" pitchFamily="34" charset="-120"/>
              </a:rPr>
              <a:t>، يَبْقَى التَّعْلِيمُ أَقْوَى أَدَاةٍ.</a:t>
            </a:r>
            <a:endParaRPr lang="ar-SA" sz="1800" dirty="0"/>
          </a:p>
        </p:txBody>
      </p:sp>
      <p:sp>
        <p:nvSpPr>
          <p:cNvPr id="38" name="Text 35"/>
          <p:cNvSpPr txBox="1"/>
          <p:nvPr/>
        </p:nvSpPr>
        <p:spPr>
          <a:xfrm>
            <a:off x="566928" y="4724400"/>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concession</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887968" y="5338572"/>
            <a:ext cx="27706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the state invests in schools, the gap will narrow.</a:t>
            </a:r>
            <a:endParaRPr lang="en-US" sz="1100" dirty="0"/>
          </a:p>
        </p:txBody>
      </p:sp>
      <p:sp>
        <p:nvSpPr>
          <p:cNvPr id="41" name="Text 38"/>
          <p:cNvSpPr txBox="1"/>
          <p:nvPr/>
        </p:nvSpPr>
        <p:spPr>
          <a:xfrm>
            <a:off x="246888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 اسْتَثْمَرَتِ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الدَّوْلَةُ فِي المَدَارِسِ، </a:t>
            </a:r>
            <a:pPr rtl="1" algn="ctr" indent="0" marL="0">
              <a:buNone/>
            </a:pPr>
            <a:r>
              <a:rPr lang="ar-SA" altLang="en-US" sz="1800" b="1" dirty="0">
                <a:solidFill>
                  <a:srgbClr val="0E7C86"/>
                </a:solidFill>
                <a:latin typeface="Amiri" pitchFamily="34" charset="0"/>
                <a:ea typeface="Amiri" pitchFamily="34" charset="-122"/>
                <a:cs typeface="Amiri" pitchFamily="34" charset="-120"/>
              </a:rPr>
              <a:t>سَتَضِيقُ</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الفَجْوَةُ.</a:t>
            </a:r>
            <a:endParaRPr lang="ar-SA" sz="1800" dirty="0"/>
          </a:p>
        </p:txBody>
      </p:sp>
      <p:sp>
        <p:nvSpPr>
          <p:cNvPr id="42" name="Text 39"/>
          <p:cNvSpPr txBox="1"/>
          <p:nvPr/>
        </p:nvSpPr>
        <p:spPr>
          <a:xfrm>
            <a:off x="566928" y="5338572"/>
            <a:ext cx="17373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 proposal</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yujādil bi-anna (argues that) — bi-anna, then an accusative noun.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The Type 2 conditional and its contrast with Type 1</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الشَّرْطُ الافْتِرَاضِيُّ وَالوَاقِعِيُّ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The Type 2 form</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دَرَسَ أَكْثَرَ، لَنَجَحَ   ·   لَوْ كَانَ التَّعْلِيمُ مَجَّانِيًّا، لَوَصَلَ الجَمِيعُ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Type 1 vs Type 2</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sa- · law … la-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اجْتَهَدْتَ، سَتَنْجَحُ   ·   لَوِ اجْتَهَدْتَ، لَنَجَحْتَ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Arguing with a counterfactual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ūtīḥat al-furaṣ, la- …</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أُتِيحَتِ الفُرَصُ لِلْجَمِيعِ، لَتَغَيَّرَ وَجْهُ المُجْتَمَعِ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Balancing a claim</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reported claim + law counter</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يُجَادِلُ المُنْتَقِدُونَ بِأَنَّ التَّعْلِيمَ الخَاصَّ يُكَرِّسُ الامْتِيَازَ</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دَرَسَ أَكْثَرَ، ___.</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سَيَنْجَحُ</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يَنْجَحُ</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لَنَجَحَ</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سَيَدْرُسُ</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real (Type 1) conditional?</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اجْتَهَدْتَ، لَنَجَحْتَ.</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اجْتَهَدْتَ، سَتَنْجَحُ.</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كَانَ التَّعْلِيمُ مَجَّانِيًّا، لَوَصَلَ الجَمِيعُ.</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لَوْ أُتِيحَتِ الفُرَصُ لِلْجَمِيعِ، ___ وَجْهُ المُجْتَمَعِ.</a:t>
            </a:r>
            <a:endParaRPr lang="ar-SA" sz="13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لَتَغَيَّرَ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سَيَتَغَيَّرُ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يَتَغَيَّرُ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دَرَسَ أَكْثَرَ، ___.</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سَيَنْجَحُ</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يَنْجَحُ</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لَنَجَحَ</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 on a past verb.</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دَرَسَ</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سَيَدْرُسُ</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past-tense verb.</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real (Type 1) conditional?</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اجْتَهَدْتَ، لَنَجَحْتَ.</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اجْتَهَدْتَ، سَتَنْجَحُ.</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كَانَ التَّعْلِيمُ مَجَّانِيًّا، لَوَصَلَ الجَمِيعُ.</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describes a real, possible future.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لَوْ أُتِيحَتِ الفُرَصُ لِلْجَمِيعِ، ___ وَجْهُ المُجْتَمَعِ.</a:t>
            </a:r>
            <a:endParaRPr lang="ar-SA" sz="13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لَتَغَيَّرَ</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سَيَتَغَيَّرُ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يَتَغَيَّرُ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Type 2 result takes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on a past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argue both sides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Claim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يَرَى … </a:t>
            </a:r>
            <a:pPr rtl="1" algn="ctr" indent="0" marL="0">
              <a:buNone/>
            </a:pPr>
            <a:r>
              <a:rPr lang="ar-SA" altLang="en-US" sz="2700" b="1" dirty="0">
                <a:solidFill>
                  <a:srgbClr val="7B3FA0"/>
                </a:solidFill>
                <a:latin typeface="Amiri" pitchFamily="34" charset="0"/>
                <a:ea typeface="Amiri" pitchFamily="34" charset="-122"/>
                <a:cs typeface="Amiri" pitchFamily="34" charset="-120"/>
              </a:rPr>
              <a:t>أَنَّ</a:t>
            </a:r>
            <a:pPr rtl="1" algn="ctr" indent="0" marL="0">
              <a:buNone/>
            </a:pPr>
            <a:r>
              <a:rPr lang="ar-SA" altLang="en-US" sz="2700" b="1" dirty="0">
                <a:solidFill>
                  <a:srgbClr val="1B3B6F"/>
                </a:solidFill>
                <a:latin typeface="Amiri" pitchFamily="34" charset="0"/>
                <a:ea typeface="Amiri" pitchFamily="34" charset="-122"/>
                <a:cs typeface="Amiri" pitchFamily="34" charset="-120"/>
              </a:rPr>
              <a:t> التَّعْلِيمَ …</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Cite a view.</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Counter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لٰكِنَّ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الوَاقِعَ أَكْثَرُ تَعْقِيدًا</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Turn.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Counterfactual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فَلَوْ كَانَ</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D6336C"/>
                </a:solidFill>
                <a:latin typeface="Amiri" pitchFamily="34" charset="0"/>
                <a:ea typeface="Amiri" pitchFamily="34" charset="-122"/>
                <a:cs typeface="Amiri" pitchFamily="34" charset="-120"/>
              </a:rPr>
              <a:t>لَقَلَّتِ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law … 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Proposal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إِذَا ضَمِنَتِ</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0E7C86"/>
                </a:solidFill>
                <a:latin typeface="Amiri" pitchFamily="34" charset="0"/>
                <a:ea typeface="Amiri" pitchFamily="34" charset="-122"/>
                <a:cs typeface="Amiri" pitchFamily="34" charset="-120"/>
              </a:rPr>
              <a:t>سَيُصْبِحُ</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idhā … sa-.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REPORTED</a:t>
            </a:r>
            <a:endParaRPr lang="en-US" sz="800" dirty="0"/>
          </a:p>
        </p:txBody>
      </p:sp>
      <p:sp>
        <p:nvSpPr>
          <p:cNvPr id="47" name="Shape 43"/>
          <p:cNvSpPr/>
          <p:nvPr/>
        </p:nvSpPr>
        <p:spPr>
          <a:xfrm>
            <a:off x="8540496" y="4736592"/>
            <a:ext cx="914400" cy="237744"/>
          </a:xfrm>
          <a:prstGeom prst="roundRect">
            <a:avLst>
              <a:gd name="adj" fmla="val 50000"/>
            </a:avLst>
          </a:prstGeom>
          <a:solidFill>
            <a:srgbClr val="C77700"/>
          </a:solidFill>
          <a:ln w="12700">
            <a:solidFill>
              <a:srgbClr val="C7770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BALANCE</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 · LAW</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1 · IDHĀ</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يَرَى كَثِيرٌ مِنْ عُلَمَاءِ التَّرْبِيَةِ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التَّعْلِيمَ هُوَ المُحَرِّكُ الرَّئِيسِيُّ لِلْحَرَاكِ الاجْتِمَاعِيِّ.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لٰكِنَّ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الوَاقِعَ أَكْثَرُ تَعْقِيدًا؛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فَلَوْ كَانَ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التَّعْلِيمُ الجَيِّدُ مُتَاحًا لِلْجَمِيعِ بِالتَّسَاوِي،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لَقَلَّتِ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الفَجْوَةُ بَيْنَ الطَّبَقَاتِ.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وَمِنْ وِجْهَةِ نَظَرِي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ضَمِنَتِ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الحُكُومَاتُ جَوْدَةَ التَّعْلِيمِ لِلْجَمِيعِ،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سَيُصْبِحُ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التَّعْلِيمُ مُحَرِّكًا حَقِيقِيًّا لِلْمُسَاوَاةِ.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ea typeface="Calibri" pitchFamily="34" charset="-122"/>
                <a:cs typeface="Calibri" pitchFamily="34" charset="-120"/>
              </a:rPr>
              <a:t>Many education scholars believe that education is the main engine of social mobility. But reality is more complex: if good education were available to everyone equally, the gap between the classes would have narrowed. From my point of view, if governments guarantee quality education for all, education will become a true engine of equality.</a:t>
            </a:r>
            <a:endParaRPr lang="en-US" sz="10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كَانَ التَّعْلِيمُ مَجَّانِيًّا، لَوَصَلَ الجَمِيعُ إِلَى الجَامِعَةِ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education were free, everyone would reach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law + past → la- + past.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ضَمِنَتِ الحُكُومَاتُ الجَوْدَةَ، سَيَتَحَسَّنُ الوَضْعُ</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governments guarantee quality, the situation will improve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Real proposal: idhā … sa-.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أُتِيحَتِ الفُرَصُ لِلْجَمِيعِ، لَتَغَيَّرَ وَجْهُ المُجْتَمَعِ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opportunities were offered to all, the face of society would change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Counterfactual argument.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TURN A REAL PROPOSAL INTO A COUNTERFACTUAL (WEBSITE CHALLENGE)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idhā to law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إِذَا إِلَى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3562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Hypothetical: law … la-</a:t>
            </a:r>
            <a:endParaRPr lang="en-US" sz="1100" dirty="0"/>
          </a:p>
        </p:txBody>
      </p:sp>
      <p:sp>
        <p:nvSpPr>
          <p:cNvPr id="17" name="Text 14"/>
          <p:cNvSpPr txBox="1"/>
          <p:nvPr/>
        </p:nvSpPr>
        <p:spPr>
          <a:xfrm>
            <a:off x="53035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Real: idhā … sa-</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153912" y="2267712"/>
            <a:ext cx="548640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 اجْتَهَدْتَ</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pPr rtl="1" algn="ctr" indent="0" marL="0">
              <a:buNone/>
            </a:pPr>
            <a:r>
              <a:rPr lang="ar-SA" altLang="en-US" sz="1800" b="1" dirty="0">
                <a:solidFill>
                  <a:srgbClr val="D6336C"/>
                </a:solidFill>
                <a:latin typeface="Amiri" pitchFamily="34" charset="0"/>
                <a:ea typeface="Amiri" pitchFamily="34" charset="-122"/>
                <a:cs typeface="Amiri" pitchFamily="34" charset="-120"/>
              </a:rPr>
              <a:t>لَنَجَحْتَ</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0" name="Text 17"/>
          <p:cNvSpPr txBox="1"/>
          <p:nvPr/>
        </p:nvSpPr>
        <p:spPr>
          <a:xfrm>
            <a:off x="548640" y="2267712"/>
            <a:ext cx="542239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 اجْتَهَدْتَ</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pPr rtl="1" algn="ctr" indent="0" marL="0">
              <a:buNone/>
            </a:pPr>
            <a:r>
              <a:rPr lang="ar-SA" altLang="en-US" sz="1800" b="1" dirty="0">
                <a:solidFill>
                  <a:srgbClr val="0E7C86"/>
                </a:solidFill>
                <a:latin typeface="Amiri" pitchFamily="34" charset="0"/>
                <a:ea typeface="Amiri" pitchFamily="34" charset="-122"/>
                <a:cs typeface="Amiri" pitchFamily="34" charset="-120"/>
              </a:rPr>
              <a:t>سَتَنْجَحُ</a:t>
            </a:r>
            <a:pPr rtl="1" algn="ctr" indent="0" marL="0">
              <a:buNone/>
            </a:pPr>
            <a:r>
              <a:rPr lang="ar-SA" altLang="en-US" sz="1800" b="1" dirty="0">
                <a:solidFill>
                  <a:srgbClr val="1B3B6F"/>
                </a:solidFill>
                <a:latin typeface="Amiri" pitchFamily="34" charset="0"/>
                <a:ea typeface="Amiri" pitchFamily="34" charset="-122"/>
                <a:cs typeface="Amiri" pitchFamily="34" charset="-120"/>
              </a:rPr>
              <a:t>.</a:t>
            </a:r>
            <a:endParaRPr lang="ar-SA" sz="18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153912" y="3054096"/>
            <a:ext cx="548640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 زَادَ</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الإِنْفَاقُ، </a:t>
            </a:r>
            <a:pPr rtl="1" algn="ctr" indent="0" marL="0">
              <a:buNone/>
            </a:pPr>
            <a:r>
              <a:rPr lang="ar-SA" altLang="en-US" sz="1800" b="1" dirty="0">
                <a:solidFill>
                  <a:srgbClr val="D6336C"/>
                </a:solidFill>
                <a:latin typeface="Amiri" pitchFamily="34" charset="0"/>
                <a:ea typeface="Amiri" pitchFamily="34" charset="-122"/>
                <a:cs typeface="Amiri" pitchFamily="34" charset="-120"/>
              </a:rPr>
              <a:t>لَقَلَّتِ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الفَجْوَةُ.</a:t>
            </a:r>
            <a:endParaRPr lang="ar-SA" sz="1800" dirty="0"/>
          </a:p>
        </p:txBody>
      </p:sp>
      <p:sp>
        <p:nvSpPr>
          <p:cNvPr id="25" name="Text 22"/>
          <p:cNvSpPr txBox="1"/>
          <p:nvPr/>
        </p:nvSpPr>
        <p:spPr>
          <a:xfrm>
            <a:off x="548640" y="3054096"/>
            <a:ext cx="542239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 زَادَ</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الإِنْفَاقُ، </a:t>
            </a:r>
            <a:pPr rtl="1" algn="ctr" indent="0" marL="0">
              <a:buNone/>
            </a:pPr>
            <a:r>
              <a:rPr lang="ar-SA" altLang="en-US" sz="1800" b="1" dirty="0">
                <a:solidFill>
                  <a:srgbClr val="0E7C86"/>
                </a:solidFill>
                <a:latin typeface="Amiri" pitchFamily="34" charset="0"/>
                <a:ea typeface="Amiri" pitchFamily="34" charset="-122"/>
                <a:cs typeface="Amiri" pitchFamily="34" charset="-120"/>
              </a:rPr>
              <a:t>سَتَقِلُّ</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الفَجْوَةُ.</a:t>
            </a:r>
            <a:endParaRPr lang="ar-SA" sz="18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153912" y="3840480"/>
            <a:ext cx="548640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 ضَمِنَتِ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الحُكُومَةُ التَّعْلِيمَ، </a:t>
            </a:r>
            <a:pPr rtl="1" algn="ctr" indent="0" marL="0">
              <a:buNone/>
            </a:pPr>
            <a:r>
              <a:rPr lang="ar-SA" altLang="en-US" sz="1800" b="1" dirty="0">
                <a:solidFill>
                  <a:srgbClr val="D6336C"/>
                </a:solidFill>
                <a:latin typeface="Amiri" pitchFamily="34" charset="0"/>
                <a:ea typeface="Amiri" pitchFamily="34" charset="-122"/>
                <a:cs typeface="Amiri" pitchFamily="34" charset="-120"/>
              </a:rPr>
              <a:t>لَتَحَسَّنَ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الوَضْعُ.</a:t>
            </a:r>
            <a:endParaRPr lang="ar-SA" sz="1800" dirty="0"/>
          </a:p>
        </p:txBody>
      </p:sp>
      <p:sp>
        <p:nvSpPr>
          <p:cNvPr id="30" name="Text 27"/>
          <p:cNvSpPr txBox="1"/>
          <p:nvPr/>
        </p:nvSpPr>
        <p:spPr>
          <a:xfrm>
            <a:off x="548640" y="3840480"/>
            <a:ext cx="542239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 ضَمِنَتِ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الحُكُومَةُ التَّعْلِيمَ، </a:t>
            </a:r>
            <a:pPr rtl="1" algn="ctr" indent="0" marL="0">
              <a:buNone/>
            </a:pPr>
            <a:r>
              <a:rPr lang="ar-SA" altLang="en-US" sz="1800" b="1" dirty="0">
                <a:solidFill>
                  <a:srgbClr val="0E7C86"/>
                </a:solidFill>
                <a:latin typeface="Amiri" pitchFamily="34" charset="0"/>
                <a:ea typeface="Amiri" pitchFamily="34" charset="-122"/>
                <a:cs typeface="Amiri" pitchFamily="34" charset="-120"/>
              </a:rPr>
              <a:t>سَيَتَحَسَّنُ</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الوَضْعُ.</a:t>
            </a:r>
            <a:endParaRPr lang="ar-SA" sz="18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6153912" y="4626864"/>
            <a:ext cx="548640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لَوِ اسْتَثْمَرَتِ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الدَّوْلَةُ فِي المَدَارِسِ، </a:t>
            </a:r>
            <a:pPr rtl="1" algn="ctr" indent="0" marL="0">
              <a:buNone/>
            </a:pPr>
            <a:r>
              <a:rPr lang="ar-SA" altLang="en-US" sz="1800" b="1" dirty="0">
                <a:solidFill>
                  <a:srgbClr val="D6336C"/>
                </a:solidFill>
                <a:latin typeface="Amiri" pitchFamily="34" charset="0"/>
                <a:ea typeface="Amiri" pitchFamily="34" charset="-122"/>
                <a:cs typeface="Amiri" pitchFamily="34" charset="-120"/>
              </a:rPr>
              <a:t>لَضَاقَتِ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الفَجْوَةُ.</a:t>
            </a:r>
            <a:endParaRPr lang="ar-SA" sz="1800" dirty="0"/>
          </a:p>
        </p:txBody>
      </p:sp>
      <p:sp>
        <p:nvSpPr>
          <p:cNvPr id="33" name="Text 30"/>
          <p:cNvSpPr txBox="1"/>
          <p:nvPr/>
        </p:nvSpPr>
        <p:spPr>
          <a:xfrm>
            <a:off x="548640" y="4626864"/>
            <a:ext cx="5422392"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إِذَا اسْتَثْمَرَتِ</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الدَّوْلَةُ فِي المَدَارِسِ، </a:t>
            </a:r>
            <a:pPr rtl="1" algn="ctr" indent="0" marL="0">
              <a:buNone/>
            </a:pPr>
            <a:r>
              <a:rPr lang="ar-SA" altLang="en-US" sz="1800" b="1" dirty="0">
                <a:solidFill>
                  <a:srgbClr val="0E7C86"/>
                </a:solidFill>
                <a:latin typeface="Amiri" pitchFamily="34" charset="0"/>
                <a:ea typeface="Amiri" pitchFamily="34" charset="-122"/>
                <a:cs typeface="Amiri" pitchFamily="34" charset="-120"/>
              </a:rPr>
              <a:t>سَتَضِيقُ</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الفَجْوَةُ.</a:t>
            </a:r>
            <a:endParaRPr lang="ar-SA" sz="1800" dirty="0"/>
          </a:p>
        </p:txBody>
      </p:sp>
      <p:sp>
        <p:nvSpPr>
          <p:cNvPr id="34" name="Text 3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Show the right column first; students build the left. The condition stays the same — only the particle and the result change.</a:t>
            </a:r>
            <a:endParaRPr lang="en-US" sz="11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BALANCED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Claim + counterfactual + proposal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حُجَّتَكَ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387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Reported claim</a:t>
            </a:r>
            <a:endParaRPr lang="en-US" sz="1100" dirty="0"/>
          </a:p>
        </p:txBody>
      </p:sp>
      <p:sp>
        <p:nvSpPr>
          <p:cNvPr id="17" name="Text 14"/>
          <p:cNvSpPr txBox="1"/>
          <p:nvPr/>
        </p:nvSpPr>
        <p:spPr>
          <a:xfrm>
            <a:off x="458114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Counterfactual (law … la-)</a:t>
            </a:r>
            <a:endParaRPr lang="en-US" sz="1100" dirty="0"/>
          </a:p>
        </p:txBody>
      </p:sp>
      <p:sp>
        <p:nvSpPr>
          <p:cNvPr id="18" name="Text 15"/>
          <p:cNvSpPr txBox="1"/>
          <p:nvPr/>
        </p:nvSpPr>
        <p:spPr>
          <a:xfrm>
            <a:off x="53035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Proposal (idhā … sa-)</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257032" y="2267712"/>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يَرَى المُؤَيِّدُونَ أَنَّ التَّعْلِيمَ يَتَجَاوَزُ الفَوَارِقَ</a:t>
            </a:r>
            <a:endParaRPr lang="ar-SA" sz="1600" dirty="0"/>
          </a:p>
        </p:txBody>
      </p:sp>
      <p:sp>
        <p:nvSpPr>
          <p:cNvPr id="21" name="Text 18"/>
          <p:cNvSpPr txBox="1"/>
          <p:nvPr/>
        </p:nvSpPr>
        <p:spPr>
          <a:xfrm>
            <a:off x="459943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لٰكِنْ لَوْ كَانَتِ الفُرَصُ مُتَكَافِئَةً، لَقَلَّتِ الفَجْوَةُ</a:t>
            </a:r>
            <a:endParaRPr lang="ar-SA" sz="1600" dirty="0"/>
          </a:p>
        </p:txBody>
      </p:sp>
      <p:sp>
        <p:nvSpPr>
          <p:cNvPr id="22" name="Text 19"/>
          <p:cNvSpPr txBox="1"/>
          <p:nvPr/>
        </p:nvSpPr>
        <p:spPr>
          <a:xfrm>
            <a:off x="548640" y="2267712"/>
            <a:ext cx="386791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وَإِذَا ضَمِنَتِ الحُكُومَاتُ الجَوْدَةَ لِلْجَمِيعِ، سَيُصْبِحُ التَّعْلِيمُ مُحَرِّكًا لِلْمُسَاوَاةِ</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257032" y="3054096"/>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أَكَّدَتِ الدِّرَاسَاتُ أَنَّ التَّعْلِيمَ يُكَافِئُ الاجْتِهَادَ</a:t>
            </a:r>
            <a:endParaRPr lang="ar-SA" sz="1600" dirty="0"/>
          </a:p>
        </p:txBody>
      </p:sp>
      <p:sp>
        <p:nvSpPr>
          <p:cNvPr id="27" name="Text 24"/>
          <p:cNvSpPr txBox="1"/>
          <p:nvPr/>
        </p:nvSpPr>
        <p:spPr>
          <a:xfrm>
            <a:off x="4599432" y="3054096"/>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وَلَوْ أُتِيحَ التَّعْلِيمُ الجَيِّدُ لِلْجَمِيعِ، لَارْتَقَى كَثِيرُونَ</a:t>
            </a:r>
            <a:endParaRPr lang="ar-SA" sz="1550" dirty="0"/>
          </a:p>
        </p:txBody>
      </p:sp>
      <p:sp>
        <p:nvSpPr>
          <p:cNvPr id="28" name="Text 25"/>
          <p:cNvSpPr txBox="1"/>
          <p:nvPr/>
        </p:nvSpPr>
        <p:spPr>
          <a:xfrm>
            <a:off x="548640" y="3054096"/>
            <a:ext cx="386791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وَإِذَا زَادَ الإِنْفَاقُ عَلَى المَدَارِسِ الضَّعِيفَةِ، سَتَضِيقُ الفَجْوَةُ</a:t>
            </a:r>
            <a:endParaRPr lang="ar-SA" sz="15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257032" y="3840480"/>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أَشَارَ تَقْرِيرٌ إِلَى أَنَّ التَّعْلِيمَ يَزِيدُ الدَّخْلَ</a:t>
            </a:r>
            <a:endParaRPr lang="ar-SA" sz="1600" dirty="0"/>
          </a:p>
        </p:txBody>
      </p:sp>
      <p:sp>
        <p:nvSpPr>
          <p:cNvPr id="31" name="Text 28"/>
          <p:cNvSpPr txBox="1"/>
          <p:nvPr/>
        </p:nvSpPr>
        <p:spPr>
          <a:xfrm>
            <a:off x="4599432" y="3840480"/>
            <a:ext cx="347472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وَلَوِ اسْتُثْمِرَ فِي المَدَارِسِ الفَقِيرَةِ مُبَكِّرًا، لَتَغَيَّرَ الوَاقِعُ</a:t>
            </a:r>
            <a:endParaRPr lang="ar-SA" sz="1400" dirty="0"/>
          </a:p>
        </p:txBody>
      </p:sp>
      <p:sp>
        <p:nvSpPr>
          <p:cNvPr id="32" name="Text 29"/>
          <p:cNvSpPr txBox="1"/>
          <p:nvPr/>
        </p:nvSpPr>
        <p:spPr>
          <a:xfrm>
            <a:off x="548640" y="3840480"/>
            <a:ext cx="386791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وَمِنْ وِجْهَةِ نَظَرِي، يَبْقَى التَّعْلِيمُ أَقْوَى أَدَاةٍ لِلْحَرَاكِ</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Real, hypothetical — or argument vocabulary?</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إِذَا ضَمِنَتِ الحُكُومَةُ التَّعْلِيمَ، سَيَتَحَسَّنُ الوَضْعُ</a:t>
            </a:r>
            <a:endParaRPr lang="ar-SA" sz="13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اجْتَهَدْتَ، سَتَنْجَحُ</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إِذَا زَادَ الإِنْفَاقُ، سَتَقِلُّ الفَجْوَةُ</a:t>
            </a:r>
            <a:endParaRPr lang="ar-SA" sz="17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لَوْ كَانَ التَّعْلِيمُ مَجَّانِيًّا، لَوَصَلَ الجَمِيعُ</a:t>
            </a:r>
            <a:endParaRPr lang="ar-SA" sz="14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اجْتَهَدْتَ، لَنَجَحْتَ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لَوْ أُتِيحَتِ الفُرَصُ، لَتَغَيَّرَ المُجْتَمَعُ</a:t>
            </a:r>
            <a:endParaRPr lang="ar-SA" sz="17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حَرَاكٌ اجْتِمَاعِيٌّ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فُرَصٌ مُتَكَافِئَةٌ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يُكَرِّسُ التَّفَاوُتَ</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real (idhā … sa-)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hypothetical (law … la-)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argument vocabulary</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real (idhā … sa-)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إِذَا ضَمِنَتِ الحُكُومَةُ التَّعْلِيمَ، سَيَتَحَسَّنُ الوَضْعُ</a:t>
            </a:r>
            <a:endParaRPr lang="ar-SA" sz="16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اجْتَهَدْتَ، سَتَنْجَحُ</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زَادَ الإِنْفَاقُ، سَتَقِلُّ الفَجْوَةُ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hypothetical (law … la-)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كَانَ التَّعْلِيمُ مَجَّانِيًّا، لَوَصَلَ الجَمِيعُ</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اجْتَهَدْتَ، لَنَجَحْتَ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أُتِيحَتِ الفُرَصُ، لَتَغَيَّرَ المُجْتَمَعُ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argument vocabulary</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حَرَاكٌ اجْتِمَاعِيٌّ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فُرَصٌ مُتَكَافِئَةٌ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يُكَرِّسُ التَّفَاوُتَ</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hypothetical (Type 2)?</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ضَمِنَتِ الحُكُومَةُ التَّعْلِيمَ، سَيَتَحَسَّنُ الوَضْعُ.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اجْتَهَدْتَ، سَتَنْجَحُ.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كَانَ التَّعْلِيمُ مَجَّانِيًّا، لَوَصَلَ الجَمِيعُ.</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real proposal for the future?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لَوْ ضَمِنَتِ الحُكُومَاتُ الجَوْدَةَ، سَيُصْبِحُ التَّعْلِيمُ.</a:t>
            </a:r>
            <a:endParaRPr lang="ar-SA" sz="17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إِذَا ضَمِنَتِ الحُكُومَاتُ الجَوْدَةَ، سَيُصْبِحُ التَّعْلِيمُ مُحَرِّكًا لِلْمُسَاوَاةِ.</a:t>
            </a:r>
            <a:endParaRPr lang="ar-SA" sz="17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34" charset="0"/>
                <a:ea typeface="Amiri" pitchFamily="34" charset="-122"/>
                <a:cs typeface="Amiri" pitchFamily="34" charset="-120"/>
              </a:rPr>
              <a:t>لَوْ تَضْمَنُ الحُكُومَاتُ الجَوْدَةَ، لَأَصْبَحَ.</a:t>
            </a:r>
            <a:endParaRPr lang="ar-SA" sz="17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counter-argument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يُجَادِلُ المُنْتَقِدُونَ إِنَّ التَّعْلِيمَ الخَاصَّ يُكَرِّسُ الامْتِيَازَ.</a:t>
            </a:r>
            <a:endParaRPr lang="ar-SA" sz="200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يُجَادِلُ المُنْتَقِدُونَ بِأَنَّ التَّعْلِيمَ الخَاصَّ يُكَرِّسُ الامْتِيَازَ.</a:t>
            </a:r>
            <a:endParaRPr lang="ar-SA" sz="200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يُجَادِلُ المُنْتَقِدُونَ أَنْ التَّعْلِيمَ.</a:t>
            </a:r>
            <a:endParaRPr lang="ar-SA" sz="200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usually imply?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will certainly happen</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command</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opposite actually happened</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hypothetical (Type 2)?</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ضَمِنَتِ الحُكُومَةُ التَّعْلِيمَ، سَيَتَحَسَّنُ الوَضْعُ.</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اجْتَهَدْتَ، سَتَنْجَحُ.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كَانَ التَّعْلِيمُ مَجَّانِيًّا، لَوَصَلَ الجَمِيعُ.</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imagines an unreal past.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real proposal for the future?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ضَمِنَتِ الحُكُومَاتُ الجَوْدَةَ، سَيُصْبِحُ التَّعْلِيمُ.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ضَمِنَتِ الحُكُومَاتُ الجَوْدَةَ، سَيُصْبِحُ التَّعْلِيمُ مُحَرِّكًا لِلْمُسَاوَاةِ.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تَضْمَنُ الحُكُومَاتُ الجَوْدَةَ، لَأَصْبَحَ.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real future proposal uses </a:t>
            </a:r>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reports a counter-argument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يُجَادِلُ المُنْتَقِدُونَ إِنَّ التَّعْلِيمَ الخَاصَّ يُكَرِّسُ الامْتِيَازَ.</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يُجَادِلُ المُنْتَقِدُونَ بِأَنَّ التَّعْلِيمَ الخَاصَّ يُكَرِّسُ الامْتِيَازَ.</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يُجَادِلُ المُنْتَقِدُونَ أَنْ التَّعْلِيمَ.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يُجَادِلُ بِأَنَّ</a:t>
            </a:r>
            <a:pPr algn="l" indent="0" marL="0">
              <a:buNone/>
            </a:pPr>
            <a:r>
              <a:rPr lang="en-US" sz="1050" i="1" dirty="0">
                <a:solidFill>
                  <a:srgbClr val="8A6D1E"/>
                </a:solidFill>
                <a:latin typeface="Calibri" pitchFamily="34" charset="0"/>
                <a:ea typeface="Calibri" pitchFamily="34" charset="-122"/>
                <a:cs typeface="Calibri" pitchFamily="34" charset="-120"/>
              </a:rPr>
              <a:t> with an accusative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Type 2 conditional usually imply?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will certainly happen</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command</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opposite actually happened</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marks a counterfactual: the condition did not hold.</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يَدْرُسُ أَكْثَرَ، لَنَجَحَ.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دَرَسَ أَكْثَرَ، سَيَنْجَحُ.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950" b="1" dirty="0">
                <a:solidFill>
                  <a:srgbClr val="B83227"/>
                </a:solidFill>
                <a:latin typeface="Amiri" pitchFamily="34" charset="0"/>
                <a:ea typeface="Amiri" pitchFamily="34" charset="-122"/>
                <a:cs typeface="Amiri" pitchFamily="34" charset="-120"/>
              </a:rPr>
              <a:t>إِذَا كَانَ التَّعْلِيمُ مَجَّانِيًّا فِي المَاضِي، لَوَصَلَ الجَمِيعُ.</a:t>
            </a:r>
            <a:endParaRPr lang="ar-SA" sz="295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past counterfactual with idhā?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يَدْرُسُ أَكْثَرَ، لَنَجَحَ.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دَرَسَ أَكْثَرَ، لَنَجَحَ.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لَوْ</a:t>
            </a:r>
            <a:pPr algn="l" indent="0" marL="0">
              <a:buNone/>
            </a:pPr>
            <a:r>
              <a:rPr lang="en-US" sz="1150" b="1" dirty="0">
                <a:solidFill>
                  <a:srgbClr val="1B3B6F"/>
                </a:solidFill>
                <a:latin typeface="Calibri" pitchFamily="34" charset="0"/>
                <a:ea typeface="Calibri" pitchFamily="34" charset="-122"/>
                <a:cs typeface="Calibri" pitchFamily="34" charset="-120"/>
              </a:rPr>
              <a:t> is followed by a past-tense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دَرَسَ أَكْثَرَ، سَيَنْجَحُ.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دَرَسَ أَكْثَرَ، لَنَجَحَ.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إِذَا كَانَ التَّعْلِيمُ مَجَّانِيًّا فِي المَاضِي، لَوَصَلَ الجَمِيعُ.</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كَانَ التَّعْلِيمُ مَجَّانِيًّا، لَوَصَلَ الجَمِيعُ.</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counterfactual about the past uses </a:t>
            </a:r>
            <a:pPr algn="l" indent="0" marL="0">
              <a:buNone/>
            </a:pPr>
            <a:r>
              <a:rPr lang="ar-SA" altLang="en-US" sz="1500" b="1" dirty="0">
                <a:solidFill>
                  <a:srgbClr val="1B3B6F"/>
                </a:solidFill>
                <a:latin typeface="Amiri" pitchFamily="34" charset="0"/>
                <a:ea typeface="Amiri" pitchFamily="34" charset="-122"/>
                <a:cs typeface="Amiri" pitchFamily="34" charset="-120"/>
              </a:rPr>
              <a:t>لَوْ</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Listening: is education the great equaliser?</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education scholars see education as?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main engine of social mobility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waste of time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private privilege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international report indicate?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lowers income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has no effect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Each extra year of education raises income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What would have happened if good education were equally available (Type 2)?</a:t>
            </a:r>
            <a:endParaRPr lang="en-US" sz="11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gap would have grown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class gap would have narrowed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private education often do, in reality?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Entrenches social privilege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Removes privilege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 no effect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real proposal does the speaker make (Type 1)?</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can be done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governments guarantee quality for all, education becomes a true equaliser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should be abolished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law … la- and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يَرَى كَثِيرٌ مِنْ عُلَمَاءِ التَّرْبِيَةِ أَنَّ التَّعْلِيمَ هُوَ المُحَرِّكُ الرَّئِيسِيُّ لِلْحَرَاكِ الاجْتِمَاعِيِّ.</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education scholars believe that education is the main engine of social mobility.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وَأَشَارَ تَقْرِيرٌ دَوْلِيٌّ إِلَى أَنَّ كُلَّ سَنَةٍ إِضَافِيَّةٍ مِنَ التَّعْلِيمِ تَزِيدُ دَخْلَ الفَرْدِ.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international report indicated that every extra year of education raises a person’s income.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لٰكِنَّ المُنْتَقِدِينَ يُجَادِلُونَ بِأَنَّ التَّعْلِيمَ وَحْدَهُ لَا يُسَاوِي. لَوْ كَانَ التَّعْلِيمُ الجَيِّدُ مُتَاحًا لِلْجَمِيعِ بِالتَّسَاوِي، لَقَلَّتِ الفَجْوَةُ بَيْنَ الطَّبَقَاتِ.</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critics argue that education alone does not equalise. If good education were available to all equally, the gap between the classes would narrow.</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الوَاقِعِ، غَالِبًا مَا يُكَرِّسُ التَّعْلِيمُ الخَاصُّ الامْتِيَازَ الاجْتِمَاعِيَّ.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reality, private education often entrenches social privilege.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وَمِنْ وِجْهَةِ نَظَرِي، إِذَا ضَمِنَتِ الحُكُومَاتُ جَوْدَةَ التَّعْلِيمِ لِلْجَمِيعِ، سَيُصْبِحُ التَّعْلِيمُ مُحَرِّكًا حَقِيقِيًّا لِلْمُسَاوَاةِ. لَوِ اسْتُثْمِرَ فِي المَدَارِسِ الفَقِيرَةِ مُبَكِّرًا، لَارْتَقَى كَثِيرُونَ.</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From my point of view, if governments guarantee quality education for all, education will become a true engine of equality. Had poor schools been invested in early, many would have risen.</a:t>
            </a:r>
            <a:endParaRPr lang="en-US" sz="12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education scholars see education as?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main engine of social mobility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waste of time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private privilege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التَّعْلِيمَ هُوَ المُحَرِّكُ الرَّئِيسِيُّ لِلْحَرَاكِ الاجْتِمَاعِيِّ.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international report indicate?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lowers income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has no effect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Each extra year of education raises income</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كُلَّ سَنَةٍ إِضَافِيَّةٍ … تَزِيدُ دَخْلَ الفَرْدِ.</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What would have happened if good education were equally available (Type 2)?</a:t>
            </a:r>
            <a:endParaRPr lang="en-US" sz="11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gap would have grown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class gap would have narrowed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كَانَ … مُتَاحًا لِلْجَمِيعِ بِالتَّسَاوِي، لَقَلَّتِ الفَجْوَةُ.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private education often do, in reality?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Entrenches social privilege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Removes privilege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Has no effect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غَالِبًا مَا يُكَرِّسُ التَّعْلِيمُ الخَاصُّ الامْتِيَازَ الاجْتِمَاعِيَّ.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real proposal does the speaker make (Type 1)?</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can be done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governments guarantee quality for all, education becomes a true equaliser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should be abolished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34" charset="0"/>
                <a:ea typeface="Amiri" pitchFamily="34" charset="-122"/>
                <a:cs typeface="Amiri" pitchFamily="34" charset="-120"/>
              </a:rPr>
              <a:t>إِذَا ضَمِنَتِ الحُكُومَاتُ جَوْدَةَ التَّعْلِيمِ لِلْجَمِيعِ، سَيُصْبِحُ … مُحَرِّكًا حَقِيقِيًّا لِلْمُسَاوَاةِ.</a:t>
            </a:r>
            <a:endParaRPr lang="ar-SA" sz="9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law … la- and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argue with both conditional types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يُحَقِّقُ التَّعْلِيمُ المُسَاوَاةَ؟ اعْرِضْ رَأْيًا مُؤَيِّدًا.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اعْرِضْ حُجَّةً مُضَادَّةً بِاسْتِعْمَالِ «لَوْ».</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اقْتَرِحْ حَلًّا وَاقِعِيًّا بِاسْتِعْمَالِ «إِذَا».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يَرَى المُؤَيِّدُونَ أَنَّ التَّعْلِيمَ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كَانَتِ الفُرَصُ مُتَكَافِئَةً،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اسْتَثْمَرَتِ الحُكُومَاتُ فِي ___ ،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يُحَقِّقُ التَّعْلِيمُ المُسَاوَاةَ؟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Does education achieve equality?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يَرَى كَثِيرُونَ أَنَّهُ يَتَجَاوَزُ الفَوَارِقَ وَيُكَافِئُ الاجْتِهَادَ.</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Many believe it overcomes differences and rewards effort.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Type 2 conditionals (</a:t>
            </a:r>
            <a:pPr algn="l" indent="0" marL="0">
              <a:buNone/>
            </a:pPr>
            <a:r>
              <a:rPr lang="ar-SA" altLang="en-US" sz="1800" b="1" dirty="0">
                <a:solidFill>
                  <a:srgbClr val="1F2A37"/>
                </a:solidFill>
                <a:latin typeface="Amiri" pitchFamily="34" charset="0"/>
                <a:ea typeface="Amiri" pitchFamily="34" charset="-122"/>
                <a:cs typeface="Amiri" pitchFamily="34" charset="-120"/>
              </a:rPr>
              <a:t>لَوْ … لَـ</a:t>
            </a:r>
            <a:pPr algn="l" indent="0" marL="0">
              <a:buNone/>
            </a:pPr>
            <a:r>
              <a:rPr lang="en-US" sz="1400" b="1" dirty="0">
                <a:solidFill>
                  <a:srgbClr val="1F2A37"/>
                </a:solidFill>
                <a:latin typeface="Calibri" pitchFamily="34" charset="0"/>
                <a:ea typeface="Calibri" pitchFamily="34" charset="-122"/>
                <a:cs typeface="Calibri" pitchFamily="34" charset="-120"/>
              </a:rPr>
              <a:t>) about education and opportunity.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Type 2 conditionals (law … la-) about education and opportunity.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three Type 1 conditionals (</a:t>
            </a:r>
            <a:pPr algn="l" indent="0" marL="0">
              <a:buNone/>
            </a:pPr>
            <a:r>
              <a:rPr lang="ar-SA" altLang="en-US" sz="1800" b="1" dirty="0">
                <a:solidFill>
                  <a:srgbClr val="1F2A37"/>
                </a:solidFill>
                <a:latin typeface="Amiri" pitchFamily="34" charset="0"/>
                <a:ea typeface="Amiri" pitchFamily="34" charset="-122"/>
                <a:cs typeface="Amiri" pitchFamily="34" charset="-120"/>
              </a:rPr>
              <a:t>إِذَا … سَـ</a:t>
            </a:r>
            <a:pPr algn="l" indent="0" marL="0">
              <a:buNone/>
            </a:pPr>
            <a:r>
              <a:rPr lang="en-US" sz="1400" b="1" dirty="0">
                <a:solidFill>
                  <a:srgbClr val="1F2A37"/>
                </a:solidFill>
                <a:latin typeface="Calibri" pitchFamily="34" charset="0"/>
                <a:ea typeface="Calibri" pitchFamily="34" charset="-122"/>
                <a:cs typeface="Calibri" pitchFamily="34" charset="-120"/>
              </a:rPr>
              <a:t>) proposing real changes.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three Type 1 conditionals (idhā … sa-) proposing real changes.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balanced argument using both types and a reported-speech citation.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balanced argument with two law conditionals, one idhā conditional and a reported-speech clause.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زَادَ الإِنْفَاقُ عَلَى المَدَارِسِ،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spending on schools increases,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ضَمِنَتِ الحُكُومَاتُ الجَوْدَةَ،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governments guarantee quality,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يُجَادِلُ المُنْتَقِدُونَ بِأَنَّ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Critics argue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ذٰلِكَ،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Nevertheless,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لَوْ كَانَ التَّعْلِيمُ مَجَّانِيًّا، ______ الجَمِيعُ إِلَى الجَامِعَةِ.</a:t>
            </a:r>
            <a:endParaRPr lang="ar-SA" sz="13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education were free, everyone would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دَرَسْتُ أَكْثَرَ،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had studied more,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أُتِيحَتِ الفُرَصُ لِلْجَمِيعِ،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opportunities were offered to all,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كَانَتِ الفُرَصُ مُتَكَافِئَةً، ______ الفَجْوَةُ.</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opportunities were equal, the gap would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لَوَصَلَ  ·  لَنَجَحْتُ  ·  لَقَلَّتِ  ·  لَارْتَقَى كَثِيرُونَ  ·  لَتَغَيَّرَ المُجْتَمَعُ  ·  سَتَضِيقُ الفَجْوَةُ  ·  سَيَتَحَسَّنُ الوَضْعُ  ·  التَّعْلِيمَ الخَاصَّ يُكَرِّسُ الامْتِيَازَ  ·  يَبْقَى التَّعْلِيمُ أَقْوَى أَدَاةٍ  ·  فُرَصٌ مُتَكَافِئَةٌ  ·  الحَرَاكُ الاجْتِمَاعِيُّ  ·  المُسَاوَاةُ</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one hundred to one hundred and ten words arguing whether education achieves social equality. Balance a claim with a counter-argument, use at least two Type 2 conditionals (</a:t>
            </a:r>
            <a:pPr algn="l" indent="0" marL="0">
              <a:buNone/>
            </a:pPr>
            <a:r>
              <a:rPr lang="ar-SA" altLang="en-US" sz="1700" b="1" dirty="0">
                <a:solidFill>
                  <a:srgbClr val="1F2A37"/>
                </a:solidFill>
                <a:latin typeface="Amiri" pitchFamily="34" charset="0"/>
                <a:ea typeface="Amiri" pitchFamily="34" charset="-122"/>
                <a:cs typeface="Amiri" pitchFamily="34" charset="-120"/>
              </a:rPr>
              <a:t>لَوْ</a:t>
            </a:r>
            <a:pPr algn="l" indent="0" marL="0">
              <a:buNone/>
            </a:pPr>
            <a:r>
              <a:rPr lang="en-US" sz="1300" b="1" dirty="0">
                <a:solidFill>
                  <a:srgbClr val="1F2A37"/>
                </a:solidFill>
                <a:latin typeface="Calibri" pitchFamily="34" charset="0"/>
                <a:ea typeface="Calibri" pitchFamily="34" charset="-122"/>
                <a:cs typeface="Calibri" pitchFamily="34" charset="-120"/>
              </a:rPr>
              <a:t>), one Type 1 conditional (</a:t>
            </a:r>
            <a:pPr algn="l" indent="0" marL="0">
              <a:buNone/>
            </a:pPr>
            <a:r>
              <a:rPr lang="ar-SA" altLang="en-US" sz="1700" b="1" dirty="0">
                <a:solidFill>
                  <a:srgbClr val="1F2A37"/>
                </a:solidFill>
                <a:latin typeface="Amiri" pitchFamily="34" charset="0"/>
                <a:ea typeface="Amiri" pitchFamily="34" charset="-122"/>
                <a:cs typeface="Amiri" pitchFamily="34" charset="-120"/>
              </a:rPr>
              <a:t>إِذَا</a:t>
            </a:r>
            <a:pPr algn="l" indent="0" marL="0">
              <a:buNone/>
            </a:pPr>
            <a:r>
              <a:rPr lang="en-US" sz="1300" b="1" dirty="0">
                <a:solidFill>
                  <a:srgbClr val="1F2A37"/>
                </a:solidFill>
                <a:latin typeface="Calibri" pitchFamily="34" charset="0"/>
                <a:ea typeface="Calibri" pitchFamily="34" charset="-122"/>
                <a:cs typeface="Calibri" pitchFamily="34" charset="-120"/>
              </a:rPr>
              <a:t>), and a reported-speech clause.</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Type 2 conditionals: </a:t>
            </a:r>
            <a:pPr algn="l" indent="0" marL="0">
              <a:buNone/>
            </a:pPr>
            <a:r>
              <a:rPr lang="ar-SA" altLang="en-US" sz="1550" dirty="0">
                <a:solidFill>
                  <a:srgbClr val="1F2A37"/>
                </a:solidFill>
                <a:latin typeface="Amiri" pitchFamily="34" charset="0"/>
                <a:ea typeface="Amiri" pitchFamily="34" charset="-122"/>
                <a:cs typeface="Amiri" pitchFamily="34" charset="-120"/>
              </a:rPr>
              <a:t>لَوْ</a:t>
            </a:r>
            <a:pPr algn="l" indent="0" marL="0">
              <a:buNone/>
            </a:pPr>
            <a:r>
              <a:rPr lang="en-US" sz="1200" dirty="0">
                <a:solidFill>
                  <a:srgbClr val="1F2A37"/>
                </a:solidFill>
                <a:latin typeface="Calibri" pitchFamily="34" charset="0"/>
                <a:ea typeface="Calibri" pitchFamily="34" charset="-122"/>
                <a:cs typeface="Calibri" pitchFamily="34" charset="-120"/>
              </a:rPr>
              <a:t> + past → </a:t>
            </a:r>
            <a:pPr algn="l" indent="0" marL="0">
              <a:buNone/>
            </a:pPr>
            <a:r>
              <a:rPr lang="ar-SA" altLang="en-US" sz="1550" dirty="0">
                <a:solidFill>
                  <a:srgbClr val="1F2A37"/>
                </a:solidFill>
                <a:latin typeface="Amiri" pitchFamily="34" charset="0"/>
                <a:ea typeface="Amiri" pitchFamily="34" charset="-122"/>
                <a:cs typeface="Amiri" pitchFamily="34" charset="-120"/>
              </a:rPr>
              <a:t>لَـ</a:t>
            </a:r>
            <a:pPr algn="l" indent="0" marL="0">
              <a:buNone/>
            </a:pPr>
            <a:r>
              <a:rPr lang="en-US" sz="1200" dirty="0">
                <a:solidFill>
                  <a:srgbClr val="1F2A37"/>
                </a:solidFill>
                <a:latin typeface="Calibri" pitchFamily="34" charset="0"/>
                <a:ea typeface="Calibri" pitchFamily="34" charset="-122"/>
                <a:cs typeface="Calibri" pitchFamily="34" charset="-120"/>
              </a:rPr>
              <a:t> + past.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Type 1 conditional as a real proposal.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reported-speech clause citing a view or study.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balanced claim and counter-argument.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المُحَرِّكُ الرَّئِيسِيُّ لِلْحَرَاكِ الاجْتِمَاعِيِّ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main engine of social mobility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سَنَةٍ إِضَافِيَّةٍ تَزِيدُ الدَّخْلَ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every extra year raises income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لٰكِنَّ الوَاقِعَ أَكْثَرُ تَعْقِيدًا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reality is more complex</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لَارْتَقَى كَثِيرُونَ مِنَ الفُقَرَاءِ</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many of the poor would have risen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مُحَرِّكًا حَقِيقِيًّا لِلْمُسَاوَاةِ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true engine of equality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هَلْ يُحَقِّقُ التَّعْلِيمُ المُسَاوَاةَ الاجْتِمَاعِيَّةَ؟ يَرَى كَثِيرٌ مِنْ عُلَمَاءِ التَّرْبِيَةِ أَنَّ التَّعْلِيمَ هُوَ المُحَرِّكُ الرَّئِيسِيُّ لِلْحَرَاكِ الاجْتِمَاعِيِّ، وَأَشَارَ تَقْرِيرٌ دَوْلِيٌّ إِلَى أَنَّ كُلَّ سَنَةٍ إِضَافِيَّةٍ تَزِيدُ الدَّخْلَ. لٰكِنَّ الوَاقِعَ أَكْثَرُ تَعْقِيدًا؛ فَلَوْ كَانَ التَّعْلِيمُ الجَيِّدُ مُتَاحًا لِلْجَمِيعِ بِالتَّسَاوِي، لَقَلَّتِ الفَجْوَةُ بَيْنَ الطَّبَقَاتِ. وَلَوْ أُتِيحَتِ الفُرَصُ مُبَكِّرًا، لَارْتَقَى كَثِيرُونَ مِنَ الفُقَرَاءِ. فِي الوَاقِعِ، يُكَرِّسُ التَّعْلِيمُ الخَاصُّ الامْتِيَازَ أَحْيَانًا. وَمِنْ وِجْهَةِ نَظَرِي، إِذَا ضَمِنَتِ الحُكُومَاتُ جَوْدَةَ التَّعْلِيمِ لِلْجَمِيعِ، سَيُصْبِحُ التَّعْلِيمُ مُحَرِّكًا حَقِيقِيًّا لِلْمُسَاوَاةِ.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Does education achieve social equality? Many education scholars believe that education is the main engine of social mobility, and an international report pointed out that every extra year raises income. But reality is more complex: if good education were available to everyone equally, the gap between the classes would have narrowed. And if opportunities had been offered early, many of the poor would have risen. In reality, private education sometimes entrenches privilege. From my point of view, if governments guarantee quality education for all, education will become a true engine of equality.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reported clauses (yarā … anna · ashāra ilā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Type 2 conditionals (law … la-)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one Type 1 proposal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balance word (lākinna · fī l-wāqiʿ)</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law I used a PAST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law result starts with la- (never sa-).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idhā for real proposals, law for things that did not happen.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cited a view (yarā … anna · yujādil bi-anna).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balanced a claim with a counter-argument and a proposal.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كَانَ التَّعْلِيمُ مَجَّانِيًّا،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الجَمِيعُ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لَوَصَلَ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سَيَصِلُ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سَيَدْرُسُ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hypothetical (Type 2) conditional?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لَوِ اجْتَهَدْتَ، لَنَجَحْتَ.</a:t>
            </a:r>
            <a:endParaRPr lang="ar-SA" sz="20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اجْتَهَدْتَ، سَتَنْجَحُ.</a:t>
            </a:r>
            <a:endParaRPr lang="ar-SA" sz="20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زَادَ الإِنْفَاقُ، سَتَقِلُّ الفَجْوَةُ.</a:t>
            </a:r>
            <a:endParaRPr lang="ar-SA" sz="20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كَانَ التَّعْلِيمُ مَجَّانِيًّا،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الجَمِيعُ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لَوَصَلَ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سَيَصِلُ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يَصِلُ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on a past verb.</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form follows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يَدْرُسُ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دَرَسَ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سَيَدْرُسُ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past-tense verb.</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hypothetical (Type 2) conditional?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اجْتَهَدْتَ، لَنَجَحْتَ.</a:t>
            </a:r>
            <a:endParaRPr lang="ar-SA" sz="20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إِذَا اجْتَهَدْتَ، سَتَنْجَحُ.</a:t>
            </a:r>
            <a:endParaRPr lang="ar-SA" sz="20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34" charset="0"/>
                <a:ea typeface="Amiri" pitchFamily="34" charset="-122"/>
                <a:cs typeface="Amiri" pitchFamily="34" charset="-120"/>
              </a:rPr>
              <a:t>إِذَا زَادَ الإِنْفَاقُ، سَتَقِلُّ الفَجْوَةُ.</a:t>
            </a:r>
            <a:endParaRPr lang="ar-SA" sz="20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imagines an unreal case.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balanced argument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هَلْ يُحَقِّقُ التَّعْلِيمُ المُسَاوَاةَ الاجْتِمَاعِيَّةَ؟ يَرَى المُؤَيِّدُونَ أَنَّ التَّعْلِيمَ يَتَجَاوَزُ الفَوَارِقَ وَيُتِيحُ لِلْفَقِيرِ أَنْ يَرْتَقِيَ. وَأَكَّدَتْ دِرَاسَاتٌ أَنَّ التَّعْلِيمَ يُكَافِئُ الاجْتِهَادَ لَا الأَصْلَ. لٰكِنَّ المُنْتَقِدِينَ يُجَادِلُونَ بِأَنَّ الوَاقِعَ أَكْثَرُ تَعْقِيدًا؛ فَلَوْ كَانَتِ الفُرَصُ مُتَكَافِئَةً حَقًّا، لَمَا بَقِيَتِ الفَجْوَةُ بَيْنَ الطَّبَقَاتِ. وَفِي الوَاقِعِ، يُدِيمُ التَّعْلِيمُ الخَاصُّ الامْتِيَازَ أَحْيَانًا. عَلَى الرَّغْمِ مِنْ ذٰلِكَ، يَبْقَى التَّعْلِيمُ أَقْوَى أَدَاةٍ لِلْحَرَاكِ. وَإِذَا اسْتَثْمَرَتِ الدَّوْلَةُ فِي المَدَارِسِ الضَّعِيفَةِ، سَتَضِيقُ الفَجْوَةُ تَدْرِيجِيًّا.</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المُؤَيِّدُونَ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supporters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يُتِيحُ</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allows, makes possible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الأَصْلَ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origin, family background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أَكْثَرُ تَعْقِيدًا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complex</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حَقًّا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truly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لَمَا بَقِيَتِ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would not have remained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أَحْيَانًا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sometimes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أَقْوَى أَدَاةٍ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strongest tool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الضَّعِيفَةِ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weak</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تَدْرِيجِيًّا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gradually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supporters see education as doing?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Widening the gap</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Overcoming differences and letting the poor rise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Doing 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studies confirm education rewards?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Origin, not effort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Wealth only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Effort, not origin</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critics' counterfactual argument?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opportunities were truly equal, the class gap would not remain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Opportunities are already equal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gap is imaginary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private education sometimes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Ends privilege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Perpetuates privilege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 no effect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real proposal closes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Investing in weak schools will gradually narrow the gap</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can narrow the gap</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Abolish schools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supporters see education as doing?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Widening the gap</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Overcoming differences and letting the poor rise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Doing 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التَّعْلِيمَ يَتَجَاوَزُ الفَوَارِقَ وَيُتِيحُ لِلْفَقِيرِ أَنْ يَرْتَقِيَ.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studies confirm education rewards?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Origin, not effort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Wealth only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Effort, not origin</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التَّعْلِيمَ يُكَافِئُ الاجْتِهَادَ لَا الأَصْلَ.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critics' counterfactual argument?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opportunities were truly equal, the class gap would not remain</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Opportunities are already equal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gap is imaginary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كَانَتِ الفُرَصُ مُتَكَافِئَةً حَقًّا، لَمَا بَقِيَتِ الفَجْوَةُ.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private education sometimes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Ends privilege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Perpetuates privilege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Has no effect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يُدِيمُ التَّعْلِيمُ الخَاصُّ الامْتِيَازَ أَحْيَانًا.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real proposal closes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Investing in weak schools will gradually narrow the gap</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can narrow the gap</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Abolish schools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إِذَا اسْتَثْمَرَتِ الدَّوْلَةُ فِي المَدَارِسِ الضَّعِيفَةِ، سَتَضِيقُ الفَجْوَةُ.</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Milestone Mission — Real vs Hypothetical</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دَرَسَ أَكْثَرَ،</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سَيَنْجَحُ</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لَنَجَحَ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يَنْجَحُ</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what follows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سَيَدْرُسُ</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Result marker: which belongs in a Type 2 result?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إِذَا اجْتَهَدْتَ، سَتَنْجَحُ</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لَوِ اجْتَهَدْتَ، لَنَجَحْتَ</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Real proposal: 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لَوْ زَادَ الإِنْفَاقُ، سَتَقِلُّ الفَجْوَةُ.</a:t>
            </a:r>
            <a:endParaRPr lang="ar-SA" sz="20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زَادَ الإِنْفَاقُ، سَتَقِلُّ الفَجْوَةُ.</a:t>
            </a:r>
            <a:endParaRPr lang="ar-SA" sz="20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إِذَا زَادَ الإِنْفَاقُ، لَقَلَّتِ الفَجْوَةُ.</a:t>
            </a:r>
            <a:endParaRPr lang="ar-SA" sz="20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دَرَسَ أَكْثَرَ،</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سَيَنْجَحُ</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لَنَجَحَ</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يَنْجَحُ</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Type 2 result takes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on a past verb.</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what follows </a:t>
            </a:r>
            <a:pPr algn="l" indent="0" marL="0">
              <a:buNone/>
            </a:pPr>
            <a:r>
              <a:rPr lang="ar-SA" altLang="en-US" sz="1650" b="1" dirty="0">
                <a:solidFill>
                  <a:srgbClr val="1B3B6F"/>
                </a:solidFill>
                <a:latin typeface="Amiri" pitchFamily="34" charset="0"/>
                <a:ea typeface="Amiri" pitchFamily="34" charset="-122"/>
                <a:cs typeface="Amiri" pitchFamily="34" charset="-120"/>
              </a:rPr>
              <a:t>لَوْ</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دَرَسَ</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سَيَدْرُسُ</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past-tense verb.</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Result marker: which belongs in a Type 2 result?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carries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إِذَا اجْتَهَدْتَ، سَتَنْجَحُ</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hypothetical (Type 2)</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real (Type 1)</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a real conditional.</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لَوِ اجْتَهَدْتَ، لَنَجَحْتَ</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hypothetical (Type 2)</a:t>
            </a:r>
            <a:endParaRPr lang="en-US" sz="12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real (Type 1)</a:t>
            </a:r>
            <a:endParaRPr lang="en-US" sz="12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a hypothetical conditional.</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Real proposal: which uses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correctly?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زَادَ الإِنْفَاقُ، سَتَقِلُّ الفَجْوَةُ.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زَادَ الإِنْفَاقُ، سَتَقِلُّ الفَجْوَةُ.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زَادَ الإِنْفَاقُ، لَقَلَّتِ الفَجْوَةُ.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the real future proposal.</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P2-L06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P2-L07 · Education in the Arab World — History and Change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دَارُ الحِكْمَةِ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House of Wisdom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العَصْرُ الذَّهَبِيُّ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Golden Age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الحَضَارَةُ الإِسْلَامِيَّةُ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Islamic civilisation</a:t>
            </a:r>
            <a:pPr indent="0" marL="0">
              <a:buNone/>
            </a:pPr>
            <a:r>
              <a:rPr lang="en-US" sz="1000" i="1" dirty="0">
                <a:solidFill>
                  <a:srgbClr val="5A6472"/>
                </a:solidFill>
                <a:latin typeface="Calibri" pitchFamily="34" charset="0"/>
                <a:ea typeface="Calibri" pitchFamily="34" charset="-122"/>
                <a:cs typeface="Calibri" pitchFamily="34" charset="-120"/>
              </a:rPr>
              <a:t>  pl. حَضَارَاتٌ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ازْدَهَرَ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flourished</a:t>
            </a:r>
            <a:pPr indent="0" marL="0">
              <a:buNone/>
            </a:pPr>
            <a:r>
              <a:rPr lang="en-US" sz="1000" i="1" dirty="0">
                <a:solidFill>
                  <a:srgbClr val="5A6472"/>
                </a:solidFill>
                <a:latin typeface="Calibri" pitchFamily="34" charset="0"/>
                <a:ea typeface="Calibri" pitchFamily="34" charset="-122"/>
                <a:cs typeface="Calibri" pitchFamily="34" charset="-120"/>
              </a:rPr>
              <a:t>  ازْدَهَرَتْ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أَسَّسَ</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founded</a:t>
            </a:r>
            <a:pPr indent="0" marL="0">
              <a:buNone/>
            </a:pPr>
            <a:r>
              <a:rPr lang="en-US" sz="1000" i="1" dirty="0">
                <a:solidFill>
                  <a:srgbClr val="5A6472"/>
                </a:solidFill>
                <a:latin typeface="Calibri" pitchFamily="34" charset="0"/>
                <a:ea typeface="Calibri" pitchFamily="34" charset="-122"/>
                <a:cs typeface="Calibri" pitchFamily="34" charset="-120"/>
              </a:rPr>
              <a:t>  أَسَّسَتْ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know about the House of Wisdom in Baghdad?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أَعْرِفُ أَنَّ دَارَ الحِكْمَةِ ______ ، وَأَنَّ العُلُومَ ازْدَهَرَتْ فِي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law … la- sentences about education and opportunity.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three idhā … sa- proposals for real changes.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balanced argument with both conditional types.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ea typeface="Cambria" pitchFamily="34" charset="-122"/>
                <a:cs typeface="Cambria" pitchFamily="34" charset="-120"/>
              </a:rPr>
              <a:t>P2-L07 · Education in the Arab World — History and Change</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التَّعْلِيمُ فِي العَالَمِ العَرَبِيِّ — التَّارِيخُ وَالتَّغْيِيرُ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law + PAST, then la- + PAST (law darasa, la-najaḥa) — it means it did NOT happen. idhā … sa- is for the real future. Never put sa- after law.</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P2-L06 · Education and Social Mobility</dc:title>
  <dc:subject>PptxGenJS Presentation</dc:subject>
  <dc:creator>Al Madina Online School · Arabic Department</dc:creator>
  <cp:lastModifiedBy>Al Madina Online School · Arabic Department</cp:lastModifiedBy>
  <cp:revision>1</cp:revision>
  <dcterms:created xsi:type="dcterms:W3CDTF">2026-10-10T10:44:42Z</dcterms:created>
  <dcterms:modified xsi:type="dcterms:W3CDTF">2026-10-10T10:44:42Z</dcterms:modified>
</cp:coreProperties>
</file>