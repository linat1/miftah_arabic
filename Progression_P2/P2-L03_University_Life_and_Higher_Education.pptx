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P2-L03. The website lesson “University Life and Higher Education”: vocabulary, grammar rules and quiz, patterns, common mistakes, sorter, listening, reading, speaking prompts and model, writing task and model, differentiation, final check and the lesson mission. Picture match: website visual game “University Life and Higher Education”.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past-perfect sentences with the right form of كَانَ. Develop: link two of them to a later action with قَبْلَ أَنْ or بِحُلُولِ. Stretch: the website ~100–110-word university personal statement with the past perfect, reported speech (P2-L02) and a conditional.
• Sensitivity: university is not every student’s plan, and family finances differ. Students may write about an apprenticeship, a family member’s university experience or an imagined future; scholarships and fees are discussed neutrally.
• Grammar links: كَانَ and its forms (GM-NVS-03) · قَدْ + past (D units) · أَنْ + subjunctive (D units) · reported speech (P2-L02) · Type 1 conditional (P1-L03).
• TEACHER-WRITTEN ITEMS: waṣl alif shown without a kasra inside phrases (website spelling); website mistake 2 shown without its bracketed Arabic note (the hint names the girl); rule headings shown in English and transliteration; the timeline table is teacher-built from the website listening.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P2-L02. Question 4 retrieves reported speech (needed in today’s personal statement); question 5 the forms of كَانَ — the first half of the past perfect.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past events? The EARLIER one takes kāna qad + a past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جامعہ and کلیہ are shared (جامعہ کراچی = University of Karachi). CAREFUL: Urdu بحث means a debate or argument, but Arabic بَحْثٌ عِلْمِيٌّ is scientific research. Urdu استاد is any teacher; Arabic أُسْتَاذٌ جَامِعِيٌّ is a university professor.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Campus and study (website vocabulary (1 of 2)). Hear → Say → See → Use. Transliteration is printed for Core students (cover it for Develop/Stretch).
Campus and study: the plurals are on the cards — note the broken plurals أَقْسَامٌ · بُحُوثٌ · أَسَاتِذَةٌ.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Campus and study (website vocabulary (2 of 2)). Hear → Say → See → Use. Transliteration is printed for Core students (cover it for Develop/Stretch).
Campus and study: the plurals are on the cards — note the broken plurals أَقْسَامٌ · بُحُوثٌ · أَسَاتِذَةٌ.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Degrees and finance (website vocabulary (1 of 2)). Hear → Say → See → Use. Transliteration is printed for Core students (cover it for Develop/Stretch).
Degrees and finance: international words take Arabic endings — البَكَالُورْيُوسُ · مَاجِسْتِيرٌ · دُكْتُورَاهْ. Fees and loans: رُسُومٌ (plural of things → رُسُومٌ دِرَاسِيَّةٌ).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Degrees and finance (website vocabulary (2 of 2)). Hear → Say → See → Use. Transliteration is printed for Core students (cover it for Develop/Stretch).
FLEX: teach if time allows; otherwise these are on the website vocabulary tab for homework.
Degrees and finance: international words take Arabic endings — البَكَالُورْيُوسُ · مَاجِسْتِيرٌ · دُكْتُورَاهْ. Fees and loans: رُسُومٌ (plural of things → رُسُومٌ دِرَاسِيَّةٌ).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University life and past-perfect helpers (website vocabulary (1 of 2)). Hear → Say → See → Use. Transliteration is printed for Core students (cover it for Develop/Stretch).
FLEX: teach if time allows; otherwise these are on the website vocabulary tab for homework.
University life and the past-perfect helpers: كَانَ قَدْ (had done) · بِحُلُولِ (by the time of) · قَبْلَ أَنْ + subjunctive (before doing) · سَابِقًا (previously).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University life and past-perfect helpers (website vocabulary (2 of 2)). Hear → Say → See → Use. Transliteration is printed for Core students (cover it for Develop/Stretch).
FLEX: teach if time allows; otherwise these are on the website vocabulary tab for homework.
University life and the past-perfect helpers: كَانَ قَدْ (had done) · بِحُلُولِ (by the time of) · قَبْلَ أَنْ + subjunctive (before doing) · سَابِقًا (previously).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“The form” (كَانَ / كَانَتْ + قَدْ + past verb; كَانَ agrees with the subject; the main verb stays past) and “All persons”, the website table and teaching point “Agree كَانَ and keep the verb past”.
Colour key: pink = the form of كَانَ, teal = the past verb. Both carry the same person ending — say them as a pair: kuntu … -tu · kānat … -at · kānū … -ū.
Website mistakes: كَانَ قَدْ يَدْرُسُ ✗ (present after qad) · كَانَ قَدْ حَصَلَتْ ✗ for a girl → كَانَتْ.
Row 6 (feminine plural) is for Stretch; the website asks for he / she / I / they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“Linking two past events” (the past-perfect clause is the earlier action) and teaching point “كَانَ قَدْ marks the earlier of two past actions” (كَانَ قَدْ أَنْهَى دِرَاسَتَهُ قَبْلَ أَنْ يَبْدَأَ العَمَلَ).
Draw a timeline on the board: ● (kāna qad) ─────► ● (qabla an …). The verb after أَنْ is subjunctive (fatḥa): يَبْدَأَ · تُسَافِرَ · أَلْتَحِقَ — even though the meaning is past.
Website quiz item 7: يَبْدَأَ (not بَدَأَ, not سَيَبْدَأُ).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“Framing with بِحُلُولِ” (“By the time of …, he had already …”) and the website writing task (two past-perfect sentences, a reported-speech clause, a Type 1 conditional, the present for the current situation). All five models come from the website personal statement.
بِحُلُولِ + a genitive noun: بِحُلُولِ التَّخَرُّجِ · بِحُلُولِ نِهَايَةِ الثَّانَوِيَّةِ.
Row 5: قُبِلْتُ is the passive past of قَبِلَ (P1-L06 passive pattern: u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common error (“Using a present verb after قَدْ, or failing to agree كَانَ / كَانَتْ with the subject”) and the three website mistakes, plus two extra checks.
Row 5: before a waṣl alif, قَدْ takes a helping kasra — قَدِ اكْتَسَبُوا · قَدِ اعْتَمَدُوا (website reading).
Note: قَدْ + PAST = “already / had”; قَدْ + PRESENT = “may, might” (قَدْ يَدْرُسُ = he may study) — a different meaning, which is why كَانَ قَدْ يَدْرُسُ is wrong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“كَانَ قَدْ + a past verb expresses an action completed before another past action — the temporal-depth marker of strong narrative writing.”
• The form: كَانَ agrees with the subject; the main verb stays past.
• All persons: The كَانَ part inflects for person and number.
• Linking two past events: The past-perfect clause is the earlier action.
• Framing with bi-ḥulūli: “By the time of …, he had already …”.
Website common error: Using a present verb after قَدْ, or failing to agree كَانَ / كَانَتْ with the subject. The second verb is past, and كَانَ inflects.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“Earliest first: kuntu qad + qarrartu — both -tu. Frame with bi-ḥulūli. Now: present. Next: idhā + passive past qubiltu, then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University Life and Higher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repeats the P2-L01 cards). Then put each one in the past perfect: كُنْتُ قَدْ تَعَلَّمْتُ عَنْ بُعْدٍ قَبْلَ أَنْ … · كُنْتُ قَدْ دَرَسْتُ كَثِيرًا قَبْلَ أَنْ أَنْجَحَ فِي الامْتِحَانِ.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University Life and Higher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repeats the P2-L01 cards). Then put each one in the past perfect: كُنْتُ قَدْ تَعَلَّمْتُ عَنْ بُعْدٍ قَبْلَ أَنْ … · كُنْتُ قَدْ دَرَسْتُ كَثِيرًا قَبْلَ أَنْ أَنْجَحَ فِي الامْتِحَانِ.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listening (the website lesson has no builder). Read the listening first, then use this table as the support.
Core: rows 1–2 aloud. Develop: retell rows 1 and 4 in the third person (كَانَتْ لَيْلَى قَدْ أَنْجَزَتْ … · كَانُوا قَدْ حَضَرُوا …). Stretch: report it — قَالَتْ لَيْلَى إِنَّهَا كَانَتْ قَدْ أَنْجَزَتْ … (P2-L02 + today).
Translations: I had completed a research project before enrolling at university · my classmate had obtained a scholarship before the term began · my brother had worked a full year before deciding on a specialism · by graduation we had attended dozens of lectures.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past verb in a full past-perfect sentence: كَانَ قَدْ دَرَسَ … · كَانَتْ قَدْ تَخَصَّصَتْ … · كُنْتُ قَدْ أَنْهَيْتُ … · كَانُوا قَدْ تَخَرَّجُوا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past verb in a full past-perfect sentence: كَانَ قَدْ دَرَسَ … · كَانَتْ قَدْ تَخَصَّصَتْ … · كُنْتُ قَدْ أَنْهَيْتُ … · كَانُوا قَدْ تَخَرَّجُوا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WHO had done each thing (I / she / he / we).
Listen 1: just listen. Listen 2: note answers. Then chat the letters.
Support: after the second listening, show the read-along slide (Arabic + English, line by line) for Core students.
SCRIPT (read aloud):
تَقُولُ لَيْلَى: بِحُلُولِ نِهَايَةِ المَرْحَلَةِ الثَّانَوِيَّةِ، كُنْتُ قَدْ قَرَّرْتُ دِرَاسَةَ الطِّبِّ. كُنْتُ قَدْ أَنْجَزْتُ مَشْرُوعًا بَحْثِيًّا فِي عِلْمِ الأَحْيَاءِ قَبْلَ أَنْ أَلْتَحِقَ بِالجَامِعَةِ. وَفِي السَّنَةِ الأُولَى، كَانَتْ زَمِيلَتِي قَدْ حَصَلَتْ عَلَى مِنْحَةٍ دِرَاسِيَّةٍ قَبْلَ أَنْ تَبْدَأَ الفَصْلَ. أَمَّا أَخِي فَكَانَ قَدْ عَمِلَ سَنَةً كَامِلَةً قَبْلَ أَنْ يُقَرِّرَ التَّخَصُّصَ. وَبِحُلُولِ التَّخَرُّجِ، كُنَّا قَدْ حَضَرْنَا عَشَرَاتِ المُحَاضَرَاتِ وَالنَّدَوَاتِ. أَدْرَكْتُ حِينَهَا أَنَّ الاسْتِقْلَالِيَّةَ وَإِدَارَةَ الضَّغْطِ الأَكَادِيمِيِّ لَا تَقِلَّانِ أَهَمِّيَّةً عَنِ الدِّرَاسَةِ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وَقَبْلَ أَنْ تَلْتَحِقَ بِالجَامِعَةِ؟ (Before another action)
B: كُنْتُ قَدْ حَصَلْتُ عَلَى خِبْرَةٍ عَمَلِيَّةٍ قَبْلَ أَنْ أَلْتَحِقَ بِالجَامِعَةِ. (Past perfect + قَبْلَ أَنْ)
Website prompts and model. Students who are not yet at the end of secondary school use “by the end of Year 8 / this year”: بِحُلُولِ نِهَايَةِ السَّنَةِ الثَّامِنَةِ، كُنْتُ قَدْ … To a girl: كُنْتِ قَدْ حَقَّقْتِ · فَعَلْتِ · تَخْتَارِي تَخَصُّصَكِ · تَتَعَامَلِينَ.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past-perfect sentences with correct كَانَ agreement. · Develop — Link two of them to a later action with قَبْلَ أَنْ or بِحُلُولِ. · Stretch — Write a personal statement combining past perfect, reported speech and a conditional.
Website writing task (Stretch): Write one hundred to one hundred and ten words as a university personal statement. Use the past perfect (كَانَ قَدْ) at least twice for prior achievements, a reported-speech clause about what a teacher said, and a Type 1 conditional about the future.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قَرَّرْتُ · بِحُلُولِ … كُنْتُ قَدْ أَنْجَزْتُ · أَدْرُسُ الآنَ · أَشَارَ أُسْتَاذِي إِلَى أَنَّنِي … وَأَكَّدَ أَنَّنِي سَأَكُونُ · إِذَا قُبِلْتُ، سَأُكَرِّسُ.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(P2-L04 · Study Skills and Academic Success) will spend class time USING this language, so students prepare it tonight — short, simple, easy to access (school guidance: “Simple, Short, Interesting, Relevant, Easy to access”). The five words come from the website P2-L04 vocabulary (study skills).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University Life and Higher Education</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الحَيَاةُ الجَامِعِيَّةُ وَالتَّعْلِيمُ العَالِي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university life and add temporal depth with the past perfect — </a:t>
            </a:r>
            <a:pPr algn="l" indent="0" marL="0">
              <a:buNone/>
            </a:pPr>
            <a:r>
              <a:rPr lang="ar-SA" altLang="en-US" sz="1800" dirty="0">
                <a:solidFill>
                  <a:srgbClr val="C6D2E6"/>
                </a:solidFill>
                <a:latin typeface="Amiri" pitchFamily="34" charset="0"/>
                <a:ea typeface="Amiri" pitchFamily="34" charset="-122"/>
                <a:cs typeface="Amiri" pitchFamily="34" charset="-120"/>
              </a:rPr>
              <a:t>كَانَ قَدْ</a:t>
            </a:r>
            <a:pPr algn="l" indent="0" marL="0">
              <a:buNone/>
            </a:pPr>
            <a:r>
              <a:rPr lang="en-US" sz="1400" dirty="0">
                <a:solidFill>
                  <a:srgbClr val="C6D2E6"/>
                </a:solidFill>
                <a:latin typeface="Calibri" pitchFamily="34" charset="0"/>
                <a:ea typeface="Calibri" pitchFamily="34" charset="-122"/>
                <a:cs typeface="Calibri" pitchFamily="34" charset="-120"/>
              </a:rPr>
              <a:t> + a past verb (</a:t>
            </a:r>
            <a:pPr algn="l" indent="0" marL="0">
              <a:buNone/>
            </a:pPr>
            <a:r>
              <a:rPr lang="ar-SA" altLang="en-US" sz="1800" dirty="0">
                <a:solidFill>
                  <a:srgbClr val="C6D2E6"/>
                </a:solidFill>
                <a:latin typeface="Amiri" pitchFamily="34" charset="0"/>
                <a:ea typeface="Amiri" pitchFamily="34" charset="-122"/>
                <a:cs typeface="Amiri" pitchFamily="34" charset="-120"/>
              </a:rPr>
              <a:t>كُنْتُ قَدْ أَنْجَزْتُ</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كَانَتْ قَدْ حَصَلَتْ</a:t>
            </a:r>
            <a:pPr algn="l" indent="0" marL="0">
              <a:buNone/>
            </a:pPr>
            <a:r>
              <a:rPr lang="en-US" sz="1400" dirty="0">
                <a:solidFill>
                  <a:srgbClr val="C6D2E6"/>
                </a:solidFill>
                <a:latin typeface="Calibri" pitchFamily="34" charset="0"/>
                <a:ea typeface="Calibri" pitchFamily="34" charset="-122"/>
                <a:cs typeface="Calibri" pitchFamily="34" charset="-120"/>
              </a:rPr>
              <a:t>) — placing one past action before another (… </a:t>
            </a:r>
            <a:pPr algn="l" indent="0" marL="0">
              <a:buNone/>
            </a:pPr>
            <a:r>
              <a:rPr lang="ar-SA" altLang="en-US" sz="1800" dirty="0">
                <a:solidFill>
                  <a:srgbClr val="C6D2E6"/>
                </a:solidFill>
                <a:latin typeface="Amiri" pitchFamily="34" charset="0"/>
                <a:ea typeface="Amiri" pitchFamily="34" charset="-122"/>
                <a:cs typeface="Amiri" pitchFamily="34" charset="-120"/>
              </a:rPr>
              <a:t>قَبْلَ أَنْ أَلْتَحِقَ</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بِحُلُولِ التَّخَرُّجِ</a:t>
            </a:r>
            <a:pPr algn="l" indent="0" marL="0">
              <a:buNone/>
            </a:pPr>
            <a:r>
              <a:rPr lang="en-US" sz="1400" dirty="0">
                <a:solidFill>
                  <a:srgbClr val="C6D2E6"/>
                </a:solidFill>
                <a:latin typeface="Calibri" pitchFamily="34" charset="0"/>
                <a:ea typeface="Calibri" pitchFamily="34" charset="-122"/>
                <a:cs typeface="Calibri" pitchFamily="34" charset="-120"/>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P2-L03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University words, the past perfect for every person, two past events in order.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by person, build a personal-statement timeline, match the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مُحَاضَرَةٌ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seminar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lecture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faculty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tuition fees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student loan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campus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department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faculty, college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الطِّبَّ</a:t>
            </a:r>
            <a:pPr algn="l" indent="0" marL="0">
              <a:buNone/>
            </a:pPr>
            <a:r>
              <a:rPr lang="en-US" sz="1250" b="1" dirty="0">
                <a:solidFill>
                  <a:srgbClr val="1B3B6F"/>
                </a:solidFill>
                <a:latin typeface="Calibri" pitchFamily="34" charset="0"/>
                <a:ea typeface="Calibri" pitchFamily="34" charset="-122"/>
                <a:cs typeface="Calibri" pitchFamily="34" charset="-120"/>
              </a:rPr>
              <a:t>» said by a girl.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أَنَّهَا سَتَدْرُسُ الطِّبَّ.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إِنَّهَا دَرَسَتِ الطِّبَّ.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إِنَّهَا سَتَدْرُسُ الطِّبَّ.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“she” form of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مُحَاضَرَةٌ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seminar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lecture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faculty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tuition fees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student loan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campus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department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faculty, college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الطِّبَّ</a:t>
            </a:r>
            <a:pPr algn="l" indent="0" marL="0">
              <a:buNone/>
            </a:pPr>
            <a:r>
              <a:rPr lang="en-US" sz="1250" b="1" dirty="0">
                <a:solidFill>
                  <a:srgbClr val="1B3B6F"/>
                </a:solidFill>
                <a:latin typeface="Calibri" pitchFamily="34" charset="0"/>
                <a:ea typeface="Calibri" pitchFamily="34" charset="-122"/>
                <a:cs typeface="Calibri" pitchFamily="34" charset="-120"/>
              </a:rPr>
              <a:t>» said by a girl.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 أَنَّهَا سَتَدْرُسُ الطِّبَّ.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 إِنَّهَا دَرَسَتِ الطِّبَّ.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قَالَتْ إِنَّهَا سَتَدْرُسُ الطِّبَّ.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P2-L02: reported speech.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“she” form of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GM-NVS-03: kāna and its forms.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Two past events? The EARLIER one takes kāna qad + a past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كُنْتُ قَدْ أَنْجَزْتُ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مَشْرُوعًا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قَبْلَ أَنْ أَلْتَحِقَ</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بِالجَامِعَةِ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parts of university life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past perfect kāna qad + past for all persons.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Agree kāna / kānat with the subject and keep the second verb past.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university personal statement using the past perfect.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8 university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form the past perfect for he / she / 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place one past action before another (qabla 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bi-ḥulūli to frame 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personal statement across four times.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reported speech and a conditional.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Campus and study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Degrees and finance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University life and past-perfect helpers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جَامِعَةٌ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‎جامعہ‎ </a:t>
            </a:r>
            <a:pPr indent="0" marL="0">
              <a:buNone/>
            </a:pPr>
            <a:r>
              <a:rPr lang="en-US" sz="950" b="1" dirty="0">
                <a:solidFill>
                  <a:srgbClr val="2E8B57"/>
                </a:solidFill>
                <a:latin typeface="Calibri" pitchFamily="34" charset="0"/>
                <a:ea typeface="Calibri" pitchFamily="34" charset="-122"/>
                <a:cs typeface="Calibri" pitchFamily="34" charset="-120"/>
              </a:rPr>
              <a:t> jāmiʿa · university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كُلِّيَّةٌ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‎کلیہ‎ </a:t>
            </a:r>
            <a:pPr indent="0" marL="0">
              <a:buNone/>
            </a:pPr>
            <a:r>
              <a:rPr lang="en-US" sz="950" b="1" dirty="0">
                <a:solidFill>
                  <a:srgbClr val="2E8B57"/>
                </a:solidFill>
                <a:latin typeface="Calibri" pitchFamily="34" charset="0"/>
                <a:ea typeface="Calibri" pitchFamily="34" charset="-122"/>
                <a:cs typeface="Calibri" pitchFamily="34" charset="-120"/>
              </a:rPr>
              <a:t> kulliya · faculty, college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أُسْتَاذٌ</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‎استاد‎ </a:t>
            </a:r>
            <a:pPr indent="0" marL="0">
              <a:buNone/>
            </a:pPr>
            <a:r>
              <a:rPr lang="en-US" sz="950" b="1" dirty="0">
                <a:solidFill>
                  <a:srgbClr val="2E8B57"/>
                </a:solidFill>
                <a:latin typeface="Calibri" pitchFamily="34" charset="0"/>
                <a:ea typeface="Calibri" pitchFamily="34" charset="-122"/>
                <a:cs typeface="Calibri" pitchFamily="34" charset="-120"/>
              </a:rPr>
              <a:t> ustād · Arabic: professor · Urdu: any teacher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بَحْثٌ</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‎بحث‎ </a:t>
            </a:r>
            <a:pPr indent="0" marL="0">
              <a:buNone/>
            </a:pPr>
            <a:r>
              <a:rPr lang="en-US" sz="950" b="1" dirty="0">
                <a:solidFill>
                  <a:srgbClr val="2E8B57"/>
                </a:solidFill>
                <a:latin typeface="Calibri" pitchFamily="34" charset="0"/>
                <a:ea typeface="Calibri" pitchFamily="34" charset="-122"/>
                <a:cs typeface="Calibri" pitchFamily="34" charset="-120"/>
              </a:rPr>
              <a:t> bahs · Arabic: research · Urdu: debate, argument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مَقَالَةٌ · رِسَالَةٌ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maqāla · a thesis (Urdu مقالہ = Arabic رِسَالَةٌ)</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Campus and study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حَرَمٌ جَامِعِيٌّ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university campus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ḥa-ra-mun jā-mi-ʿiy-yun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faculty, college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كُلِّيَّاتٌ</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قِسْمٌ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department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qis-mun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أَقْسَامٌ</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أُسْتَاذٌ جَامِعِيٌّ</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university professor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us-tā-dhun jā-mi-ʿiy-yun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أَسَاتِذَةٌ</a:t>
            </a:r>
            <a:endParaRPr lang="ar-SA" sz="150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8" name="Text 5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أُسْتَاذَةٌ جَامِعِيَّةٌ</a:t>
            </a:r>
            <a:endParaRPr lang="ar-SA" sz="150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2" name="Shape 5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مُحَاضَرَةٌ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lecture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mu-ḥā-ḍa-ra-tun</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مُحَاضَرَاتٌ</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Campus and study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نَدْوَةٌ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seminar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nad-wa-tun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نَدَوَاتٌ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وَرْشَةُ عَمَلٍ</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workshop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war-sha-tu ʿa-ma-lin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وِرَشُ عَمَلٍ</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بَحْثٌ عِلْمِيٌّ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scientific research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baḥ-thun ʿil-miy-yun</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بُحُوثٌ عِلْمِيَّةٌ</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التَّسْجِيلُ</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enrolment, registration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at-tas-jī-lu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Degrees and finance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 البَكَالُورْيُوسِ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bachelor's degree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 al-ba-kā-lūr-yū-si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مَاجِسْتِيرٍ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master's thesis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 mā-jis-tī-rin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أُطْرُوحَةُ دُكْتُورَاهْ</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doctoral thesis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uṭ-rū-ḥa-tu duk-tū-rāh</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مِنْحَةٌ دِرَاسِيَّةٌ</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scholarship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min-ḥa-tun di-rā-siy-ya-tun</a:t>
            </a:r>
            <a:endParaRPr lang="en-US" sz="1350" dirty="0"/>
          </a:p>
        </p:txBody>
      </p:sp>
      <p:sp>
        <p:nvSpPr>
          <p:cNvPr id="41" name="Shape 3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مِنَحٌ دِرَاسِيَّةٌ</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Degrees and finance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رُسُومٌ دِرَاسِيَّةٌ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tuition fees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ru-sū-mun di-rā-siy-ya-tun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قَرْضٌ طُلَّابِيٌّ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student loan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qar-ḍun ṭul-lā-biy-yun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مُعَدَّلٌ تَرَاكُمِيٌّ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cumulative GPA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mu-ʿad-da-lun ta-rā-ku-miy-yun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عَمَلِيَّةٌ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ʿa-ma-liy-ya-tun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University life and past-perfect helpers (1 of 2)</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الاسْتِقْلَالِيَّةُ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independence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als-tiq-lā-liy-ya-tu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الضَّغْطُ الأَكَادِيمِيُّ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aḍ-ḍagh-ṭu al-a-kā-dī-miy-yu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نَشَاطٌ لَا مَنْهَجِيٌّ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extracurricular activity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na-shā-ṭun lā man-ha-jiy-yun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 تَطَوُّعِيٌّ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volunteer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ʿa-ma-lun ta-ṭaw-wu-ʿiy-yun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University life and past-perfect helpers (2 of 2)</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Shape 17"/>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 · they</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قَدْ</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had (done)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qad</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8" name="Text 25"/>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كَانُوا قَدْ</a:t>
            </a:r>
            <a:endParaRPr lang="ar-SA" sz="135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كُنْتُ قَدْ</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كَانَتْ قَدْ</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بِحُلُولِ</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(the time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bi-ḥu-lū-li</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Frames a past-perfect clause.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6" name="Shape 43"/>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subjunctive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أَنْ</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before (doing)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an</a:t>
            </a:r>
            <a:endParaRPr lang="en-US" sz="1350" dirty="0"/>
          </a:p>
        </p:txBody>
      </p:sp>
      <p:sp>
        <p:nvSpPr>
          <p:cNvPr id="52" name="Shape 4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example</a:t>
            </a:r>
            <a:endParaRPr lang="en-US" sz="700" dirty="0"/>
          </a:p>
        </p:txBody>
      </p:sp>
      <p:sp>
        <p:nvSpPr>
          <p:cNvPr id="54" name="Text 51"/>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قَبْلَ أَنْ أَبْدَأَ</a:t>
            </a:r>
            <a:endParaRPr lang="ar-SA" sz="135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سَابِقًا</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previously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sā-bi-qan</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PAST PERFECT FOR EVERY PERSON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kāna + qad + a past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كَانَ قَدْ +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45537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Full past perfect</a:t>
            </a:r>
            <a:endParaRPr lang="en-US" sz="1100" dirty="0"/>
          </a:p>
        </p:txBody>
      </p:sp>
      <p:sp>
        <p:nvSpPr>
          <p:cNvPr id="18" name="Text 15"/>
          <p:cNvSpPr txBox="1"/>
          <p:nvPr/>
        </p:nvSpPr>
        <p:spPr>
          <a:xfrm>
            <a:off x="25420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kāna</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710928" y="226771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had studied</a:t>
            </a:r>
            <a:endParaRPr lang="en-US" sz="1100" dirty="0"/>
          </a:p>
        </p:txBody>
      </p:sp>
      <p:sp>
        <p:nvSpPr>
          <p:cNvPr id="22" name="Text 19"/>
          <p:cNvSpPr txBox="1"/>
          <p:nvPr/>
        </p:nvSpPr>
        <p:spPr>
          <a:xfrm>
            <a:off x="457200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كَانَ</a:t>
            </a:r>
            <a:pPr rtl="1" algn="ctr" indent="0" marL="0">
              <a:buNone/>
            </a:pPr>
            <a:r>
              <a:rPr lang="ar-SA" altLang="en-US" sz="2200" b="1" dirty="0">
                <a:solidFill>
                  <a:srgbClr val="1B3B6F"/>
                </a:solidFill>
                <a:latin typeface="Amiri" pitchFamily="34" charset="0"/>
                <a:ea typeface="Amiri" pitchFamily="34" charset="-122"/>
                <a:cs typeface="Amiri" pitchFamily="34" charset="-120"/>
              </a:rPr>
              <a:t> قَدْ </a:t>
            </a:r>
            <a:pPr rtl="1" algn="ctr" indent="0" marL="0">
              <a:buNone/>
            </a:pPr>
            <a:r>
              <a:rPr lang="ar-SA" altLang="en-US" sz="2200" b="1" dirty="0">
                <a:solidFill>
                  <a:srgbClr val="0E7C86"/>
                </a:solidFill>
                <a:latin typeface="Amiri" pitchFamily="34" charset="0"/>
                <a:ea typeface="Amiri" pitchFamily="34" charset="-122"/>
                <a:cs typeface="Amiri" pitchFamily="34" charset="-120"/>
              </a:rPr>
              <a:t>دَرَسَ</a:t>
            </a:r>
            <a:pPr rtl="1" algn="ctr" indent="0" marL="0">
              <a:buNone/>
            </a:pPr>
            <a:r>
              <a:rPr lang="ar-SA" altLang="en-US" sz="2200" b="1" dirty="0">
                <a:solidFill>
                  <a:srgbClr val="1B3B6F"/>
                </a:solidFill>
                <a:latin typeface="Amiri" pitchFamily="34" charset="0"/>
                <a:ea typeface="Amiri" pitchFamily="34" charset="-122"/>
                <a:cs typeface="Amiri" pitchFamily="34" charset="-120"/>
              </a:rPr>
              <a:t> فِي القَاهِرَةِ.</a:t>
            </a:r>
            <a:endParaRPr lang="ar-SA" sz="2200" dirty="0"/>
          </a:p>
        </p:txBody>
      </p:sp>
      <p:sp>
        <p:nvSpPr>
          <p:cNvPr id="23" name="Text 20"/>
          <p:cNvSpPr txBox="1"/>
          <p:nvPr/>
        </p:nvSpPr>
        <p:spPr>
          <a:xfrm>
            <a:off x="256032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كَانَ</a:t>
            </a:r>
            <a:endParaRPr lang="ar-SA" sz="2400" dirty="0"/>
          </a:p>
        </p:txBody>
      </p:sp>
      <p:sp>
        <p:nvSpPr>
          <p:cNvPr id="24" name="Text 21"/>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710928" y="2881884"/>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had specialised</a:t>
            </a:r>
            <a:endParaRPr lang="en-US" sz="1100" dirty="0"/>
          </a:p>
        </p:txBody>
      </p:sp>
      <p:sp>
        <p:nvSpPr>
          <p:cNvPr id="29" name="Text 26"/>
          <p:cNvSpPr txBox="1"/>
          <p:nvPr/>
        </p:nvSpPr>
        <p:spPr>
          <a:xfrm>
            <a:off x="457200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كَانَتْ</a:t>
            </a:r>
            <a:pPr rtl="1" algn="ctr" indent="0" marL="0">
              <a:buNone/>
            </a:pPr>
            <a:r>
              <a:rPr lang="ar-SA" altLang="en-US" sz="2200" b="1" dirty="0">
                <a:solidFill>
                  <a:srgbClr val="1B3B6F"/>
                </a:solidFill>
                <a:latin typeface="Amiri" pitchFamily="34" charset="0"/>
                <a:ea typeface="Amiri" pitchFamily="34" charset="-122"/>
                <a:cs typeface="Amiri" pitchFamily="34" charset="-120"/>
              </a:rPr>
              <a:t> قَدْ </a:t>
            </a:r>
            <a:pPr rtl="1" algn="ctr" indent="0" marL="0">
              <a:buNone/>
            </a:pPr>
            <a:r>
              <a:rPr lang="ar-SA" altLang="en-US" sz="2200" b="1" dirty="0">
                <a:solidFill>
                  <a:srgbClr val="0E7C86"/>
                </a:solidFill>
                <a:latin typeface="Amiri" pitchFamily="34" charset="0"/>
                <a:ea typeface="Amiri" pitchFamily="34" charset="-122"/>
                <a:cs typeface="Amiri" pitchFamily="34" charset="-120"/>
              </a:rPr>
              <a:t>تَخَصَّصَتْ</a:t>
            </a:r>
            <a:pPr rtl="1" algn="ctr" indent="0" marL="0">
              <a:buNone/>
            </a:pPr>
            <a:r>
              <a:rPr lang="ar-SA" altLang="en-US" sz="2200" b="1" dirty="0">
                <a:solidFill>
                  <a:srgbClr val="1B3B6F"/>
                </a:solidFill>
                <a:latin typeface="Amiri" pitchFamily="34" charset="0"/>
                <a:ea typeface="Amiri" pitchFamily="34" charset="-122"/>
                <a:cs typeface="Amiri" pitchFamily="34" charset="-120"/>
              </a:rPr>
              <a:t> فِي الطِّبِّ.</a:t>
            </a:r>
            <a:endParaRPr lang="ar-SA" sz="2200" dirty="0"/>
          </a:p>
        </p:txBody>
      </p:sp>
      <p:sp>
        <p:nvSpPr>
          <p:cNvPr id="30" name="Text 27"/>
          <p:cNvSpPr txBox="1"/>
          <p:nvPr/>
        </p:nvSpPr>
        <p:spPr>
          <a:xfrm>
            <a:off x="256032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كَانَتْ</a:t>
            </a:r>
            <a:endParaRPr lang="ar-SA" sz="2400" dirty="0"/>
          </a:p>
        </p:txBody>
      </p:sp>
      <p:sp>
        <p:nvSpPr>
          <p:cNvPr id="31" name="Text 28"/>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710928" y="3496056"/>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had finished</a:t>
            </a:r>
            <a:endParaRPr lang="en-US" sz="1100" dirty="0"/>
          </a:p>
        </p:txBody>
      </p:sp>
      <p:sp>
        <p:nvSpPr>
          <p:cNvPr id="36" name="Text 33"/>
          <p:cNvSpPr txBox="1"/>
          <p:nvPr/>
        </p:nvSpPr>
        <p:spPr>
          <a:xfrm>
            <a:off x="457200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كُنْتُ</a:t>
            </a:r>
            <a:pPr rtl="1" algn="ctr" indent="0" marL="0">
              <a:buNone/>
            </a:pPr>
            <a:r>
              <a:rPr lang="ar-SA" altLang="en-US" sz="2200" b="1" dirty="0">
                <a:solidFill>
                  <a:srgbClr val="1B3B6F"/>
                </a:solidFill>
                <a:latin typeface="Amiri" pitchFamily="34" charset="0"/>
                <a:ea typeface="Amiri" pitchFamily="34" charset="-122"/>
                <a:cs typeface="Amiri" pitchFamily="34" charset="-120"/>
              </a:rPr>
              <a:t> قَدْ </a:t>
            </a:r>
            <a:pPr rtl="1" algn="ctr" indent="0" marL="0">
              <a:buNone/>
            </a:pPr>
            <a:r>
              <a:rPr lang="ar-SA" altLang="en-US" sz="2200" b="1" dirty="0">
                <a:solidFill>
                  <a:srgbClr val="0E7C86"/>
                </a:solidFill>
                <a:latin typeface="Amiri" pitchFamily="34" charset="0"/>
                <a:ea typeface="Amiri" pitchFamily="34" charset="-122"/>
                <a:cs typeface="Amiri" pitchFamily="34" charset="-120"/>
              </a:rPr>
              <a:t>أَنْهَيْتُ</a:t>
            </a:r>
            <a:pPr rtl="1" algn="ctr" indent="0" marL="0">
              <a:buNone/>
            </a:pPr>
            <a:r>
              <a:rPr lang="ar-SA" altLang="en-US" sz="2200" b="1" dirty="0">
                <a:solidFill>
                  <a:srgbClr val="1B3B6F"/>
                </a:solidFill>
                <a:latin typeface="Amiri" pitchFamily="34" charset="0"/>
                <a:ea typeface="Amiri" pitchFamily="34" charset="-122"/>
                <a:cs typeface="Amiri" pitchFamily="34" charset="-120"/>
              </a:rPr>
              <a:t> بَحْثِي.</a:t>
            </a:r>
            <a:endParaRPr lang="ar-SA" sz="2200" dirty="0"/>
          </a:p>
        </p:txBody>
      </p:sp>
      <p:sp>
        <p:nvSpPr>
          <p:cNvPr id="37" name="Text 34"/>
          <p:cNvSpPr txBox="1"/>
          <p:nvPr/>
        </p:nvSpPr>
        <p:spPr>
          <a:xfrm>
            <a:off x="256032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كُنْتُ</a:t>
            </a:r>
            <a:endParaRPr lang="ar-SA" sz="2400" dirty="0"/>
          </a:p>
        </p:txBody>
      </p:sp>
      <p:sp>
        <p:nvSpPr>
          <p:cNvPr id="38" name="Text 35"/>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710928" y="4110228"/>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had attended</a:t>
            </a:r>
            <a:endParaRPr lang="en-US" sz="1100" dirty="0"/>
          </a:p>
        </p:txBody>
      </p:sp>
      <p:sp>
        <p:nvSpPr>
          <p:cNvPr id="43" name="Text 40"/>
          <p:cNvSpPr txBox="1"/>
          <p:nvPr/>
        </p:nvSpPr>
        <p:spPr>
          <a:xfrm>
            <a:off x="457200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كُنَّا</a:t>
            </a:r>
            <a:pPr rtl="1" algn="ctr" indent="0" marL="0">
              <a:buNone/>
            </a:pPr>
            <a:r>
              <a:rPr lang="ar-SA" altLang="en-US" sz="2200" b="1" dirty="0">
                <a:solidFill>
                  <a:srgbClr val="1B3B6F"/>
                </a:solidFill>
                <a:latin typeface="Amiri" pitchFamily="34" charset="0"/>
                <a:ea typeface="Amiri" pitchFamily="34" charset="-122"/>
                <a:cs typeface="Amiri" pitchFamily="34" charset="-120"/>
              </a:rPr>
              <a:t> قَدْ </a:t>
            </a:r>
            <a:pPr rtl="1" algn="ctr" indent="0" marL="0">
              <a:buNone/>
            </a:pPr>
            <a:r>
              <a:rPr lang="ar-SA" altLang="en-US" sz="2200" b="1" dirty="0">
                <a:solidFill>
                  <a:srgbClr val="0E7C86"/>
                </a:solidFill>
                <a:latin typeface="Amiri" pitchFamily="34" charset="0"/>
                <a:ea typeface="Amiri" pitchFamily="34" charset="-122"/>
                <a:cs typeface="Amiri" pitchFamily="34" charset="-120"/>
              </a:rPr>
              <a:t>حَضَرْنَا</a:t>
            </a:r>
            <a:pPr rtl="1" algn="ctr" indent="0" marL="0">
              <a:buNone/>
            </a:pPr>
            <a:r>
              <a:rPr lang="ar-SA" altLang="en-US" sz="2200" b="1" dirty="0">
                <a:solidFill>
                  <a:srgbClr val="1B3B6F"/>
                </a:solidFill>
                <a:latin typeface="Amiri" pitchFamily="34" charset="0"/>
                <a:ea typeface="Amiri" pitchFamily="34" charset="-122"/>
                <a:cs typeface="Amiri" pitchFamily="34" charset="-120"/>
              </a:rPr>
              <a:t> عَشَرَاتِ المُحَاضَرَاتِ.</a:t>
            </a:r>
            <a:endParaRPr lang="ar-SA" sz="2200" dirty="0"/>
          </a:p>
        </p:txBody>
      </p:sp>
      <p:sp>
        <p:nvSpPr>
          <p:cNvPr id="44" name="Text 41"/>
          <p:cNvSpPr txBox="1"/>
          <p:nvPr/>
        </p:nvSpPr>
        <p:spPr>
          <a:xfrm>
            <a:off x="256032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كُنَّا</a:t>
            </a:r>
            <a:endParaRPr lang="ar-SA" sz="2400" dirty="0"/>
          </a:p>
        </p:txBody>
      </p:sp>
      <p:sp>
        <p:nvSpPr>
          <p:cNvPr id="45" name="Text 42"/>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710928" y="4724400"/>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had graduated</a:t>
            </a:r>
            <a:endParaRPr lang="en-US" sz="1100" dirty="0"/>
          </a:p>
        </p:txBody>
      </p:sp>
      <p:sp>
        <p:nvSpPr>
          <p:cNvPr id="48" name="Text 45"/>
          <p:cNvSpPr txBox="1"/>
          <p:nvPr/>
        </p:nvSpPr>
        <p:spPr>
          <a:xfrm>
            <a:off x="457200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كَانُوا</a:t>
            </a:r>
            <a:pPr rtl="1" algn="ctr" indent="0" marL="0">
              <a:buNone/>
            </a:pPr>
            <a:r>
              <a:rPr lang="ar-SA" altLang="en-US" sz="2200" b="1" dirty="0">
                <a:solidFill>
                  <a:srgbClr val="1B3B6F"/>
                </a:solidFill>
                <a:latin typeface="Amiri" pitchFamily="34" charset="0"/>
                <a:ea typeface="Amiri" pitchFamily="34" charset="-122"/>
                <a:cs typeface="Amiri" pitchFamily="34" charset="-120"/>
              </a:rPr>
              <a:t> قَدْ </a:t>
            </a:r>
            <a:pPr rtl="1" algn="ctr" indent="0" marL="0">
              <a:buNone/>
            </a:pPr>
            <a:r>
              <a:rPr lang="ar-SA" altLang="en-US" sz="2200" b="1" dirty="0">
                <a:solidFill>
                  <a:srgbClr val="0E7C86"/>
                </a:solidFill>
                <a:latin typeface="Amiri" pitchFamily="34" charset="0"/>
                <a:ea typeface="Amiri" pitchFamily="34" charset="-122"/>
                <a:cs typeface="Amiri" pitchFamily="34" charset="-120"/>
              </a:rPr>
              <a:t>تَخَرَّجُوا</a:t>
            </a:r>
            <a:pPr rtl="1" algn="ctr" indent="0" marL="0">
              <a:buNone/>
            </a:pPr>
            <a:r>
              <a:rPr lang="ar-SA" altLang="en-US" sz="2200" b="1" dirty="0">
                <a:solidFill>
                  <a:srgbClr val="1B3B6F"/>
                </a:solidFill>
                <a:latin typeface="Amiri" pitchFamily="34" charset="0"/>
                <a:ea typeface="Amiri" pitchFamily="34" charset="-122"/>
                <a:cs typeface="Amiri" pitchFamily="34" charset="-120"/>
              </a:rPr>
              <a:t> قَبْلَ الأَزْمَةِ.</a:t>
            </a:r>
            <a:endParaRPr lang="ar-SA" sz="2200" dirty="0"/>
          </a:p>
        </p:txBody>
      </p:sp>
      <p:sp>
        <p:nvSpPr>
          <p:cNvPr id="49" name="Text 46"/>
          <p:cNvSpPr txBox="1"/>
          <p:nvPr/>
        </p:nvSpPr>
        <p:spPr>
          <a:xfrm>
            <a:off x="256032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كَانُوا</a:t>
            </a:r>
            <a:endParaRPr lang="ar-SA" sz="2400" dirty="0"/>
          </a:p>
        </p:txBody>
      </p:sp>
      <p:sp>
        <p:nvSpPr>
          <p:cNvPr id="50" name="Text 47"/>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(m.)</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710928" y="533857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had graduated</a:t>
            </a:r>
            <a:endParaRPr lang="en-US" sz="1100" dirty="0"/>
          </a:p>
        </p:txBody>
      </p:sp>
      <p:sp>
        <p:nvSpPr>
          <p:cNvPr id="53" name="Text 50"/>
          <p:cNvSpPr txBox="1"/>
          <p:nvPr/>
        </p:nvSpPr>
        <p:spPr>
          <a:xfrm>
            <a:off x="457200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كُنَّ</a:t>
            </a:r>
            <a:pPr rtl="1" algn="ctr" indent="0" marL="0">
              <a:buNone/>
            </a:pPr>
            <a:r>
              <a:rPr lang="ar-SA" altLang="en-US" sz="2200" b="1" dirty="0">
                <a:solidFill>
                  <a:srgbClr val="1B3B6F"/>
                </a:solidFill>
                <a:latin typeface="Amiri" pitchFamily="34" charset="0"/>
                <a:ea typeface="Amiri" pitchFamily="34" charset="-122"/>
                <a:cs typeface="Amiri" pitchFamily="34" charset="-120"/>
              </a:rPr>
              <a:t> قَدْ </a:t>
            </a:r>
            <a:pPr rtl="1" algn="ctr" indent="0" marL="0">
              <a:buNone/>
            </a:pPr>
            <a:r>
              <a:rPr lang="ar-SA" altLang="en-US" sz="2200" b="1" dirty="0">
                <a:solidFill>
                  <a:srgbClr val="0E7C86"/>
                </a:solidFill>
                <a:latin typeface="Amiri" pitchFamily="34" charset="0"/>
                <a:ea typeface="Amiri" pitchFamily="34" charset="-122"/>
                <a:cs typeface="Amiri" pitchFamily="34" charset="-120"/>
              </a:rPr>
              <a:t>تَخَرَّجْنَ</a:t>
            </a:r>
            <a:pPr rtl="1" algn="ctr" indent="0" marL="0">
              <a:buNone/>
            </a:pPr>
            <a:r>
              <a:rPr lang="ar-SA" altLang="en-US" sz="2200" b="1" dirty="0">
                <a:solidFill>
                  <a:srgbClr val="1B3B6F"/>
                </a:solidFill>
                <a:latin typeface="Amiri" pitchFamily="34" charset="0"/>
                <a:ea typeface="Amiri" pitchFamily="34" charset="-122"/>
                <a:cs typeface="Amiri" pitchFamily="34" charset="-120"/>
              </a:rPr>
              <a:t> قَبْلَ الأَزْمَةِ.</a:t>
            </a:r>
            <a:endParaRPr lang="ar-SA" sz="2200" dirty="0"/>
          </a:p>
        </p:txBody>
      </p:sp>
      <p:sp>
        <p:nvSpPr>
          <p:cNvPr id="54" name="Text 51"/>
          <p:cNvSpPr txBox="1"/>
          <p:nvPr/>
        </p:nvSpPr>
        <p:spPr>
          <a:xfrm>
            <a:off x="256032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كُنَّ</a:t>
            </a:r>
            <a:endParaRPr lang="ar-SA" sz="2400" dirty="0"/>
          </a:p>
        </p:txBody>
      </p:sp>
      <p:sp>
        <p:nvSpPr>
          <p:cNvPr id="55" name="Text 52"/>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(f.)</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verbs agree with the subject: kānat … ḥaṣalat · kuntu … anhaytu · kānū … takharrajū.</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TWO PAST EVENTS IN ORDER (WEBSITE RULE 3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happened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كَانَ قَدْ … قَبْلَ أَنْ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EARLIER</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كَانَ قَدْ</a:t>
            </a:r>
            <a:pPr algn="l" indent="0" marL="0">
              <a:buNone/>
            </a:pPr>
            <a:r>
              <a:rPr lang="en-US" sz="1600" b="1" dirty="0">
                <a:solidFill>
                  <a:srgbClr val="8A6D1E"/>
                </a:solidFill>
                <a:latin typeface="Calibri" pitchFamily="34" charset="0"/>
                <a:ea typeface="Calibri" pitchFamily="34" charset="-122"/>
                <a:cs typeface="Calibri" pitchFamily="34" charset="-120"/>
              </a:rPr>
              <a:t> + past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كَانَ قَدْ أَنْهَى دِرَاسَتَهُ …</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had finished his studies …</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Happened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LATER</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قَبْلَ أَنْ</a:t>
            </a:r>
            <a:pPr algn="l" indent="0" marL="0">
              <a:buNone/>
            </a:pPr>
            <a:r>
              <a:rPr lang="en-US" sz="1600" b="1" dirty="0">
                <a:solidFill>
                  <a:srgbClr val="8A6D1E"/>
                </a:solidFill>
                <a:latin typeface="Calibri" pitchFamily="34" charset="0"/>
                <a:ea typeface="Calibri" pitchFamily="34" charset="-122"/>
                <a:cs typeface="Calibri" pitchFamily="34" charset="-120"/>
              </a:rPr>
              <a:t> + subjunctive</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 قَبْلَ أَنْ يَبْدَأَ العَمَلَ.</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 before he started work.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BOTH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she · I</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كَانَتْ قَدْ حَصَلَتْ عَلَى مِنْحَةٍ قَبْلَ أَنْ تُسَافِرَ.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had obtained a scholarship before she travelled.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Agree both.</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qabla an is followed by a subjunctive, never a past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قَبْلَ أَنْ أَبْدَأَ العَمَلَ</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قَبْلَ أَنْ بَدَأْتُ العَمَلَ</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PERSONAL-STATEMENT TIMELINE (WEBSITE RULE 4 + WRITING TASK)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Before · then · now · next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 personal statement)</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67712"/>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بِحُلُولِ</a:t>
            </a:r>
            <a:pPr rtl="1" algn="ctr" indent="0" marL="0">
              <a:buNone/>
            </a:pPr>
            <a:r>
              <a:rPr lang="ar-SA" altLang="en-US" sz="2000" b="1" dirty="0">
                <a:solidFill>
                  <a:srgbClr val="1B3B6F"/>
                </a:solidFill>
                <a:latin typeface="Amiri" pitchFamily="34" charset="0"/>
                <a:ea typeface="Amiri" pitchFamily="34" charset="-122"/>
                <a:cs typeface="Amiri" pitchFamily="34" charset="-120"/>
              </a:rPr>
              <a:t> نِهَايَةِ الثَّانَوِيَّةِ، </a:t>
            </a:r>
            <a:pPr rtl="1" algn="ctr" indent="0" marL="0">
              <a:buNone/>
            </a:pPr>
            <a:r>
              <a:rPr lang="ar-SA" altLang="en-US" sz="2000" b="1" dirty="0">
                <a:solidFill>
                  <a:srgbClr val="D6336C"/>
                </a:solidFill>
                <a:latin typeface="Amiri" pitchFamily="34" charset="0"/>
                <a:ea typeface="Amiri" pitchFamily="34" charset="-122"/>
                <a:cs typeface="Amiri" pitchFamily="34" charset="-120"/>
              </a:rPr>
              <a:t>كُنْتُ قَدْ أَنْجَزْتُ</a:t>
            </a:r>
            <a:pPr rtl="1" algn="ctr" indent="0" marL="0">
              <a:buNone/>
            </a:pPr>
            <a:r>
              <a:rPr lang="ar-SA" altLang="en-US" sz="2000" b="1" dirty="0">
                <a:solidFill>
                  <a:srgbClr val="1B3B6F"/>
                </a:solidFill>
                <a:latin typeface="Amiri" pitchFamily="34" charset="0"/>
                <a:ea typeface="Amiri" pitchFamily="34" charset="-122"/>
                <a:cs typeface="Amiri" pitchFamily="34" charset="-120"/>
              </a:rPr>
              <a:t> مَشْرُوعًا بَحْثِيًّا.</a:t>
            </a:r>
            <a:endParaRPr lang="ar-SA" sz="2000" dirty="0"/>
          </a:p>
        </p:txBody>
      </p:sp>
      <p:sp>
        <p:nvSpPr>
          <p:cNvPr id="21" name="Text 18"/>
          <p:cNvSpPr txBox="1"/>
          <p:nvPr/>
        </p:nvSpPr>
        <p:spPr>
          <a:xfrm>
            <a:off x="27614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bi-ḥulūli + kuntu qad</a:t>
            </a:r>
            <a:endParaRPr lang="en-US" sz="11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by a point in the 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937760" y="3004718"/>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كُنْتُ قَدْ قَرَّرْتُ</a:t>
            </a:r>
            <a:pPr rtl="1" algn="ctr" indent="0" marL="0">
              <a:buNone/>
            </a:pPr>
            <a:r>
              <a:rPr lang="ar-SA" altLang="en-US" sz="2000" b="1" dirty="0">
                <a:solidFill>
                  <a:srgbClr val="1B3B6F"/>
                </a:solidFill>
                <a:latin typeface="Amiri" pitchFamily="34" charset="0"/>
                <a:ea typeface="Amiri" pitchFamily="34" charset="-122"/>
                <a:cs typeface="Amiri" pitchFamily="34" charset="-120"/>
              </a:rPr>
              <a:t> دِرَاسَةَ الطِّبِّ مُنْذُ المَرْحَلَةِ الإِعْدَادِيَّةِ.</a:t>
            </a:r>
            <a:endParaRPr lang="ar-SA" sz="2000" dirty="0"/>
          </a:p>
        </p:txBody>
      </p:sp>
      <p:sp>
        <p:nvSpPr>
          <p:cNvPr id="27" name="Text 24"/>
          <p:cNvSpPr txBox="1"/>
          <p:nvPr/>
        </p:nvSpPr>
        <p:spPr>
          <a:xfrm>
            <a:off x="27614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kuntu qad (+ mundhu)</a:t>
            </a:r>
            <a:endParaRPr lang="en-US" sz="11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earlier than that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4937760" y="3741725"/>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أَدْرُسُ</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الآنَ فِي السَّنَةِ الأَخِيرَةِ </a:t>
            </a:r>
            <a:pPr rtl="1" algn="ctr" indent="0" marL="0">
              <a:buNone/>
            </a:pPr>
            <a:r>
              <a:rPr lang="ar-SA" altLang="en-US" sz="2000" b="1" dirty="0">
                <a:solidFill>
                  <a:srgbClr val="1D5FBF"/>
                </a:solidFill>
                <a:latin typeface="Amiri" pitchFamily="34" charset="0"/>
                <a:ea typeface="Amiri" pitchFamily="34" charset="-122"/>
                <a:cs typeface="Amiri" pitchFamily="34" charset="-120"/>
              </a:rPr>
              <a:t>وَأَتَفَوَّقُ</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العُلُومِ.</a:t>
            </a:r>
            <a:endParaRPr lang="ar-SA" sz="2000" dirty="0"/>
          </a:p>
        </p:txBody>
      </p:sp>
      <p:sp>
        <p:nvSpPr>
          <p:cNvPr id="33" name="Text 30"/>
          <p:cNvSpPr txBox="1"/>
          <p:nvPr/>
        </p:nvSpPr>
        <p:spPr>
          <a:xfrm>
            <a:off x="27614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a:t>
            </a:r>
            <a:endParaRPr lang="en-US" sz="11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937760" y="4478731"/>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أَشَارَ</a:t>
            </a:r>
            <a:pPr rtl="1" algn="ctr" indent="0" marL="0">
              <a:buNone/>
            </a:pPr>
            <a:r>
              <a:rPr lang="ar-SA" altLang="en-US" sz="2000" b="1" dirty="0">
                <a:solidFill>
                  <a:srgbClr val="1B3B6F"/>
                </a:solidFill>
                <a:latin typeface="Amiri" pitchFamily="34" charset="0"/>
                <a:ea typeface="Amiri" pitchFamily="34" charset="-122"/>
                <a:cs typeface="Amiri" pitchFamily="34" charset="-120"/>
              </a:rPr>
              <a:t> أُسْتَاذِي </a:t>
            </a:r>
            <a:pPr rtl="1" algn="ctr" indent="0" marL="0">
              <a:buNone/>
            </a:pPr>
            <a:r>
              <a:rPr lang="ar-SA" altLang="en-US" sz="2000" b="1" dirty="0">
                <a:solidFill>
                  <a:srgbClr val="C77700"/>
                </a:solidFill>
                <a:latin typeface="Amiri" pitchFamily="34" charset="0"/>
                <a:ea typeface="Amiri" pitchFamily="34" charset="-122"/>
                <a:cs typeface="Amiri" pitchFamily="34" charset="-120"/>
              </a:rPr>
              <a:t>إِلَى أَنَّنِي</a:t>
            </a:r>
            <a:pPr rtl="1" algn="ctr" indent="0" marL="0">
              <a:buNone/>
            </a:pPr>
            <a:r>
              <a:rPr lang="ar-SA" altLang="en-US" sz="2000" b="1" dirty="0">
                <a:solidFill>
                  <a:srgbClr val="1B3B6F"/>
                </a:solidFill>
                <a:latin typeface="Amiri" pitchFamily="34" charset="0"/>
                <a:ea typeface="Amiri" pitchFamily="34" charset="-122"/>
                <a:cs typeface="Amiri" pitchFamily="34" charset="-120"/>
              </a:rPr>
              <a:t> مُجْتَهِدٌ.</a:t>
            </a:r>
            <a:endParaRPr lang="ar-SA" sz="2000" dirty="0"/>
          </a:p>
        </p:txBody>
      </p:sp>
      <p:sp>
        <p:nvSpPr>
          <p:cNvPr id="37" name="Text 34"/>
          <p:cNvSpPr txBox="1"/>
          <p:nvPr/>
        </p:nvSpPr>
        <p:spPr>
          <a:xfrm>
            <a:off x="27614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 (P2-L02)</a:t>
            </a:r>
            <a:endParaRPr lang="en-US" sz="11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others said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937760" y="5215738"/>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إِذَا قُبِلْتُ</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pPr rtl="1" algn="ctr" indent="0" marL="0">
              <a:buNone/>
            </a:pPr>
            <a:r>
              <a:rPr lang="ar-SA" altLang="en-US" sz="2000" b="1" dirty="0">
                <a:solidFill>
                  <a:srgbClr val="0E7C86"/>
                </a:solidFill>
                <a:latin typeface="Amiri" pitchFamily="34" charset="0"/>
                <a:ea typeface="Amiri" pitchFamily="34" charset="-122"/>
                <a:cs typeface="Amiri" pitchFamily="34" charset="-120"/>
              </a:rPr>
              <a:t>سَأُكَرِّسُ</a:t>
            </a:r>
            <a:pPr rtl="1" algn="ctr" indent="0" marL="0">
              <a:buNone/>
            </a:pPr>
            <a:r>
              <a:rPr lang="ar-SA" altLang="en-US" sz="2000" b="1" dirty="0">
                <a:solidFill>
                  <a:srgbClr val="1B3B6F"/>
                </a:solidFill>
                <a:latin typeface="Amiri" pitchFamily="34" charset="0"/>
                <a:ea typeface="Amiri" pitchFamily="34" charset="-122"/>
                <a:cs typeface="Amiri" pitchFamily="34" charset="-120"/>
              </a:rPr>
              <a:t> جُهْدِي لِلْبَحْثِ العِلْمِيِّ.</a:t>
            </a:r>
            <a:endParaRPr lang="ar-SA" sz="2000" dirty="0"/>
          </a:p>
        </p:txBody>
      </p:sp>
      <p:sp>
        <p:nvSpPr>
          <p:cNvPr id="41" name="Text 38"/>
          <p:cNvSpPr txBox="1"/>
          <p:nvPr/>
        </p:nvSpPr>
        <p:spPr>
          <a:xfrm>
            <a:off x="27614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(P1-L03)</a:t>
            </a:r>
            <a:endParaRPr lang="en-US" sz="11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strong personal statement moves through time: what I had done → what I do now → what I will do.</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4 · ACCURACY CHECK (WEBSITE COMMON ERROR + MISTAKES)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slip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دَقِّقْ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7" name="Text 14"/>
          <p:cNvSpPr txBox="1"/>
          <p:nvPr/>
        </p:nvSpPr>
        <p:spPr>
          <a:xfrm>
            <a:off x="43708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Slip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after qad</a:t>
            </a:r>
            <a:endParaRPr lang="en-US" sz="1100" dirty="0"/>
          </a:p>
        </p:txBody>
      </p:sp>
      <p:sp>
        <p:nvSpPr>
          <p:cNvPr id="21" name="Text 18"/>
          <p:cNvSpPr txBox="1"/>
          <p:nvPr/>
        </p:nvSpPr>
        <p:spPr>
          <a:xfrm>
            <a:off x="438912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كَانَ قَدْ </a:t>
            </a:r>
            <a:pPr rtl="1" algn="ctr" indent="0" marL="0">
              <a:buNone/>
            </a:pPr>
            <a:r>
              <a:rPr lang="ar-SA" altLang="en-US" sz="2000" b="1" dirty="0">
                <a:solidFill>
                  <a:srgbClr val="0E7C86"/>
                </a:solidFill>
                <a:latin typeface="Amiri" pitchFamily="34" charset="0"/>
                <a:ea typeface="Amiri" pitchFamily="34" charset="-122"/>
                <a:cs typeface="Amiri" pitchFamily="34" charset="-120"/>
              </a:rPr>
              <a:t>دَرَسَ</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القَاهِرَةِ.</a:t>
            </a:r>
            <a:endParaRPr lang="ar-SA" sz="20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كَانَ قَدْ يَدْرُسُ فِي القَاهِرَةِ.</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 agrees</a:t>
            </a:r>
            <a:endParaRPr lang="en-US" sz="1100" dirty="0"/>
          </a:p>
        </p:txBody>
      </p:sp>
      <p:sp>
        <p:nvSpPr>
          <p:cNvPr id="27" name="Text 24"/>
          <p:cNvSpPr txBox="1"/>
          <p:nvPr/>
        </p:nvSpPr>
        <p:spPr>
          <a:xfrm>
            <a:off x="438912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كَانَتْ</a:t>
            </a:r>
            <a:pPr rtl="1" algn="ctr" indent="0" marL="0">
              <a:buNone/>
            </a:pPr>
            <a:r>
              <a:rPr lang="ar-SA" altLang="en-US" sz="2000" b="1" dirty="0">
                <a:solidFill>
                  <a:srgbClr val="1B3B6F"/>
                </a:solidFill>
                <a:latin typeface="Amiri" pitchFamily="34" charset="0"/>
                <a:ea typeface="Amiri" pitchFamily="34" charset="-122"/>
                <a:cs typeface="Amiri" pitchFamily="34" charset="-120"/>
              </a:rPr>
              <a:t> قَدْ حَصَلَتْ عَلَى مِنْحَةٍ.</a:t>
            </a:r>
            <a:endParaRPr lang="ar-SA" sz="20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كَانَ قَدْ حَصَلَتْ عَلَى مِنْحَةٍ.</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verbs agree</a:t>
            </a:r>
            <a:endParaRPr lang="en-US" sz="1100" dirty="0"/>
          </a:p>
        </p:txBody>
      </p:sp>
      <p:sp>
        <p:nvSpPr>
          <p:cNvPr id="33" name="Text 30"/>
          <p:cNvSpPr txBox="1"/>
          <p:nvPr/>
        </p:nvSpPr>
        <p:spPr>
          <a:xfrm>
            <a:off x="438912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كَانُوا قَدْ </a:t>
            </a:r>
            <a:pPr rtl="1" algn="ctr" indent="0" marL="0">
              <a:buNone/>
            </a:pPr>
            <a:r>
              <a:rPr lang="ar-SA" altLang="en-US" sz="2000" b="1" dirty="0">
                <a:solidFill>
                  <a:srgbClr val="0E7C86"/>
                </a:solidFill>
                <a:latin typeface="Amiri" pitchFamily="34" charset="0"/>
                <a:ea typeface="Amiri" pitchFamily="34" charset="-122"/>
                <a:cs typeface="Amiri" pitchFamily="34" charset="-120"/>
              </a:rPr>
              <a:t>تَخَرَّجُوا</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كَانُوا قَدْ تَخَرَّجَ.</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subjunctive</a:t>
            </a:r>
            <a:endParaRPr lang="en-US" sz="1100" dirty="0"/>
          </a:p>
        </p:txBody>
      </p:sp>
      <p:sp>
        <p:nvSpPr>
          <p:cNvPr id="37" name="Text 34"/>
          <p:cNvSpPr txBox="1"/>
          <p:nvPr/>
        </p:nvSpPr>
        <p:spPr>
          <a:xfrm>
            <a:off x="438912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قَبْلَ أَنْ </a:t>
            </a:r>
            <a:pPr rtl="1" algn="ctr" indent="0" marL="0">
              <a:buNone/>
            </a:pPr>
            <a:r>
              <a:rPr lang="ar-SA" altLang="en-US" sz="2000" b="1" dirty="0">
                <a:solidFill>
                  <a:srgbClr val="1D5FBF"/>
                </a:solidFill>
                <a:latin typeface="Amiri" pitchFamily="34" charset="0"/>
                <a:ea typeface="Amiri" pitchFamily="34" charset="-122"/>
                <a:cs typeface="Amiri" pitchFamily="34" charset="-120"/>
              </a:rPr>
              <a:t>أَبْدَأَ</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العَمَلَ</a:t>
            </a:r>
            <a:endParaRPr lang="ar-SA" sz="2000" dirty="0"/>
          </a:p>
        </p:txBody>
      </p:sp>
      <p:sp>
        <p:nvSpPr>
          <p:cNvPr id="38" name="Text 35"/>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قَبْلَ أَنْ بَدَأْتُ العَمَلَ</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helping kasra</a:t>
            </a:r>
            <a:endParaRPr lang="en-US" sz="1100" dirty="0"/>
          </a:p>
        </p:txBody>
      </p:sp>
      <p:sp>
        <p:nvSpPr>
          <p:cNvPr id="41" name="Text 38"/>
          <p:cNvSpPr txBox="1"/>
          <p:nvPr/>
        </p:nvSpPr>
        <p:spPr>
          <a:xfrm>
            <a:off x="438912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قَدِ اكْتَسَبُوا</a:t>
            </a:r>
            <a:endParaRPr lang="ar-SA" sz="2000" dirty="0"/>
          </a:p>
        </p:txBody>
      </p:sp>
      <p:sp>
        <p:nvSpPr>
          <p:cNvPr id="42" name="Text 39"/>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قَدْ اكْتَسَبُوا</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a present verb after qad, or kāna that does not agree with its subject.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التَّامُّ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The form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 / kānat + qad + past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 قَدْ دَرَسَ فِي القَاهِرَةِ   ·   كَانَتْ قَدْ تَخَصَّصَتْ فِي الطِّبِّ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All persons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kuntu / kunta / kānū qad …</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أَنْهَيْتُ بَحْثِي   ·   كَانُوا قَدْ تَخَرَّجُوا قَبْلَ الأَزْمَةِ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Linking two past events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 qad … qabla an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 قَدْ حَصَلَ عَلَى مِنْحَةٍ قَبْلَ أَنْ يُسَافِرَ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Framing with bi-ḥulūli</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bi-ḥulūli … kāna qad …</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بِحُلُولِ نِهَايَةِ الثَّانَوِيَّةِ، كُنْتُ قَدْ أَنْجَزْتُ مَشْرُوعًا بَحْثِيًّا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يَدْرُسُ فِي القَاهِرَةِ.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سَيَدْرُسُ فِي القَاهِرَةِ.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دَرَسَ فِي القَاهِرَةِ.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a girl: ___ </a:t>
            </a:r>
            <a:pPr algn="l" indent="0" marL="0">
              <a:buNone/>
            </a:pPr>
            <a:r>
              <a:rPr lang="ar-SA" altLang="en-US" sz="1650" b="1" dirty="0">
                <a:solidFill>
                  <a:srgbClr val="1B3B6F"/>
                </a:solidFill>
                <a:latin typeface="Amiri" pitchFamily="34" charset="0"/>
                <a:ea typeface="Amiri" pitchFamily="34" charset="-122"/>
                <a:cs typeface="Amiri" pitchFamily="34" charset="-120"/>
              </a:rPr>
              <a:t>قَدْ حَصَلَتْ عَلَى مِنْحَةٍ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“I”: ___ </a:t>
            </a:r>
            <a:pPr algn="l" indent="0" marL="0">
              <a:buNone/>
            </a:pPr>
            <a:r>
              <a:rPr lang="ar-SA" altLang="en-US" sz="1650" b="1" dirty="0">
                <a:solidFill>
                  <a:srgbClr val="1B3B6F"/>
                </a:solidFill>
                <a:latin typeface="Amiri" pitchFamily="34" charset="0"/>
                <a:ea typeface="Amiri" pitchFamily="34" charset="-122"/>
                <a:cs typeface="Amiri" pitchFamily="34" charset="-120"/>
              </a:rPr>
              <a:t>قَدْ أَنْهَيْتُ بَحْثِي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بَدَأَ</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سَيَبْدَأُ</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يَدْرُسُ فِي القَاهِرَةِ.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سَيَدْرُسُ فِي القَاهِرَةِ.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قَدْ دَرَسَ فِي القَاهِرَةِ.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قَدْ</a:t>
            </a:r>
            <a:pPr algn="l" indent="0" marL="0">
              <a:buNone/>
            </a:pPr>
            <a:r>
              <a:rPr lang="en-US" sz="1050" i="1" dirty="0">
                <a:solidFill>
                  <a:srgbClr val="8A6D1E"/>
                </a:solidFill>
                <a:latin typeface="Calibri" pitchFamily="34" charset="0"/>
                <a:ea typeface="Calibri" pitchFamily="34" charset="-122"/>
                <a:cs typeface="Calibri" pitchFamily="34" charset="-120"/>
              </a:rPr>
              <a:t> stays in the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a girl: ___ </a:t>
            </a:r>
            <a:pPr algn="l" indent="0" marL="0">
              <a:buNone/>
            </a:pPr>
            <a:r>
              <a:rPr lang="ar-SA" altLang="en-US" sz="1650" b="1" dirty="0">
                <a:solidFill>
                  <a:srgbClr val="1B3B6F"/>
                </a:solidFill>
                <a:latin typeface="Amiri" pitchFamily="34" charset="0"/>
                <a:ea typeface="Amiri" pitchFamily="34" charset="-122"/>
                <a:cs typeface="Amiri" pitchFamily="34" charset="-120"/>
              </a:rPr>
              <a:t>قَدْ حَصَلَتْ عَلَى مِنْحَةٍ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agrees with the feminine subject.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“I”: ___ </a:t>
            </a:r>
            <a:pPr algn="l" indent="0" marL="0">
              <a:buNone/>
            </a:pPr>
            <a:r>
              <a:rPr lang="ar-SA" altLang="en-US" sz="1650" b="1" dirty="0">
                <a:solidFill>
                  <a:srgbClr val="1B3B6F"/>
                </a:solidFill>
                <a:latin typeface="Amiri" pitchFamily="34" charset="0"/>
                <a:ea typeface="Amiri" pitchFamily="34" charset="-122"/>
                <a:cs typeface="Amiri" pitchFamily="34" charset="-120"/>
              </a:rPr>
              <a:t>قَدْ أَنْهَيْتُ بَحْثِي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بَدَأَ</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سَيَبْدَأُ</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قَبْلَ أَنْ</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subjunctive present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write a personal statement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Earliest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كُنْتُ قَدْ قَرَّرْتُ</a:t>
            </a:r>
            <a:pPr rtl="1" algn="ctr" indent="0" marL="0">
              <a:buNone/>
            </a:pPr>
            <a:r>
              <a:rPr lang="ar-SA" altLang="en-US" sz="2200" b="1" dirty="0">
                <a:solidFill>
                  <a:srgbClr val="1B3B6F"/>
                </a:solidFill>
                <a:latin typeface="Amiri" pitchFamily="34" charset="0"/>
                <a:ea typeface="Amiri" pitchFamily="34" charset="-122"/>
                <a:cs typeface="Amiri" pitchFamily="34" charset="-120"/>
              </a:rPr>
              <a:t> دِرَاسَةَ الطِّبِّ</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kuntu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By 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بِحُلُولِ</a:t>
            </a:r>
            <a:pPr rtl="1" algn="ctr" indent="0" marL="0">
              <a:buNone/>
            </a:pPr>
            <a:r>
              <a:rPr lang="ar-SA" altLang="en-US" sz="2400" b="1" dirty="0">
                <a:solidFill>
                  <a:srgbClr val="1B3B6F"/>
                </a:solidFill>
                <a:latin typeface="Amiri" pitchFamily="34" charset="0"/>
                <a:ea typeface="Amiri" pitchFamily="34" charset="-122"/>
                <a:cs typeface="Amiri" pitchFamily="34" charset="-120"/>
              </a:rPr>
              <a:t> نِهَايَةِ الثَّانَوِيَّةِ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Frame.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أَدْرُسُ</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الآنَ وَأَتَفَوَّقُ</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Next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إِذَا قُبِلْتُ</a:t>
            </a:r>
            <a:pPr rtl="1" algn="ctr" indent="0" marL="0">
              <a:buNone/>
            </a:pPr>
            <a:r>
              <a:rPr lang="ar-SA" altLang="en-US" sz="2400" b="1" dirty="0">
                <a:solidFill>
                  <a:srgbClr val="1B3B6F"/>
                </a:solidFill>
                <a:latin typeface="Amiri" pitchFamily="34" charset="0"/>
                <a:ea typeface="Amiri" pitchFamily="34" charset="-122"/>
                <a:cs typeface="Amiri" pitchFamily="34" charset="-120"/>
              </a:rPr>
              <a:t>، سَأُكَرِّسُ جُهْدِي</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Conditional.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BY THE TIME</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NOW</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NEXT</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قَرَّرْتُ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دِرَاسَةَ الطِّبِّ مُنْذُ المَرْحَلَةِ الإِعْدَادِيَّةِ.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وَبِحُلُولِ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نِهَايَةِ الثَّانَوِيَّةِ،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أَنْجَزْتُ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مَشْرُوعًا بَحْثِيًّا فِي عِلْمِ الأَحْيَاءِ.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أَدْرُسُ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الآنَ فِي السَّنَةِ الأَخِيرَةِ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وَأَتَفَوَّقُ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العُلُومِ.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وَإِذَا قُبِلْتُ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سَأُكَرِّسُ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جُهْدِي لِلْبَحْثِ العِلْمِيِّ.</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had decided to study medicine back in middle school. By the end of secondary school, I had completed a research project in biology. I am now in my final year and I excel in science. If I am accepted, I will devote my effort to scientific research.</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كَانَ قَدْ دَرَسَ فِي القَاهِرَةِ قَبْلَ أَنْ يَلْتَحِقَ بِجَامِعَةِ لَنْدَنَ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had studied in Cairo before he enrolled at the University of London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perfect + قَبْلَ أَنْ + subjunctive.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كَانَتْ قَدْ حَصَلَتْ عَلَى مِنْحَةٍ قَبْلَ أَنْ تُسَافِرَ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had obtained a scholarship before she travelled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كَانَتْ agrees; verb after قَدْ is past.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بِحُلُولِ التَّخَرُّجِ، كُنْتُ قَدْ نَشَرْتُ بَحْثًا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by graduation, I had published a research paper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بِحُلُولِ frames the earlier action.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UNIVERSITY LIFE AND HIGHER EDUCATION”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path?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online learning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studying for an exam</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57912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6"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38" name="Shape 29"/>
          <p:cNvSpPr/>
          <p:nvPr/>
        </p:nvSpPr>
        <p:spPr>
          <a:xfrm>
            <a:off x="295656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education to a job</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التَّعْلِيمُ يُسَاعِدُنِي عَلَى الحُصُولِ عَلَى وَظِيفَةٍ.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أَتَعَلَّمُ عَنْ بُعْدٍ.</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لِأَنْجَحَ فِي الاِمْتِحَانِ.</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online learning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أَتَعَلَّمُ عَنْ بُعْدٍ.</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learn online (at a distance).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studying for an exam</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لِأَنْجَحَ فِي الاِمْتِحَانِ.</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to pass the exam.</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57912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6"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8" name="Shape 39"/>
          <p:cNvSpPr/>
          <p:nvPr/>
        </p:nvSpPr>
        <p:spPr>
          <a:xfrm>
            <a:off x="295656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education to a job</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التَّعْلِيمُ يُسَاعِدُنِي عَلَى الحُصُولِ عَلَى وَظِيفَةٍ.</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Education helps me to get a job.</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PUT IT IN ORDER (WEBSITE LISTENING: LAYLA’S JOURNEY)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Who had done what — and before what?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رَتِّبِ الأَحْدَاثَ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0547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Later (qabla an + subjunctive)</a:t>
            </a:r>
            <a:endParaRPr lang="en-US" sz="1100" dirty="0"/>
          </a:p>
        </p:txBody>
      </p:sp>
      <p:sp>
        <p:nvSpPr>
          <p:cNvPr id="17" name="Text 14"/>
          <p:cNvSpPr txBox="1"/>
          <p:nvPr/>
        </p:nvSpPr>
        <p:spPr>
          <a:xfrm>
            <a:off x="24505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Earlier (kāna qad + past)</a:t>
            </a:r>
            <a:endParaRPr lang="en-US" sz="1100" dirty="0"/>
          </a:p>
        </p:txBody>
      </p:sp>
      <p:sp>
        <p:nvSpPr>
          <p:cNvPr id="18" name="Text 15"/>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223760" y="2267712"/>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قَبْلَ أَنْ أَلْتَحِقَ بِالجَامِعَةِ</a:t>
            </a:r>
            <a:endParaRPr lang="ar-SA" sz="1900" dirty="0"/>
          </a:p>
        </p:txBody>
      </p:sp>
      <p:sp>
        <p:nvSpPr>
          <p:cNvPr id="21" name="Text 18"/>
          <p:cNvSpPr txBox="1"/>
          <p:nvPr/>
        </p:nvSpPr>
        <p:spPr>
          <a:xfrm>
            <a:off x="2468880" y="2267712"/>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كُنْتُ قَدْ أَنْجَزْتُ مَشْرُوعًا بَحْثِيًّا</a:t>
            </a:r>
            <a:endParaRPr lang="ar-SA" sz="1900" dirty="0"/>
          </a:p>
        </p:txBody>
      </p:sp>
      <p:sp>
        <p:nvSpPr>
          <p:cNvPr id="22" name="Text 19"/>
          <p:cNvSpPr txBox="1"/>
          <p:nvPr/>
        </p:nvSpPr>
        <p:spPr>
          <a:xfrm>
            <a:off x="566928"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Layla (I)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223760" y="3054096"/>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قَبْلَ أَنْ تَبْدَأَ الفَصْلَ</a:t>
            </a:r>
            <a:endParaRPr lang="ar-SA" sz="1900" dirty="0"/>
          </a:p>
        </p:txBody>
      </p:sp>
      <p:sp>
        <p:nvSpPr>
          <p:cNvPr id="27" name="Text 24"/>
          <p:cNvSpPr txBox="1"/>
          <p:nvPr/>
        </p:nvSpPr>
        <p:spPr>
          <a:xfrm>
            <a:off x="2468880" y="3054096"/>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كَانَتْ زَمِيلَتِي قَدْ حَصَلَتْ عَلَى مِنْحَةٍ</a:t>
            </a:r>
            <a:endParaRPr lang="ar-SA" sz="1900" dirty="0"/>
          </a:p>
        </p:txBody>
      </p:sp>
      <p:sp>
        <p:nvSpPr>
          <p:cNvPr id="28" name="Text 25"/>
          <p:cNvSpPr txBox="1"/>
          <p:nvPr/>
        </p:nvSpPr>
        <p:spPr>
          <a:xfrm>
            <a:off x="566928"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classmate (she)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223760" y="3840480"/>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قَبْلَ أَنْ يُقَرِّرَ التَّخَصُّصَ</a:t>
            </a:r>
            <a:endParaRPr lang="ar-SA" sz="1900" dirty="0"/>
          </a:p>
        </p:txBody>
      </p:sp>
      <p:sp>
        <p:nvSpPr>
          <p:cNvPr id="33" name="Text 30"/>
          <p:cNvSpPr txBox="1"/>
          <p:nvPr/>
        </p:nvSpPr>
        <p:spPr>
          <a:xfrm>
            <a:off x="2468880" y="3840480"/>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كَانَ أَخِي قَدْ عَمِلَ سَنَةً كَامِلَةً</a:t>
            </a:r>
            <a:endParaRPr lang="ar-SA" sz="1900" dirty="0"/>
          </a:p>
        </p:txBody>
      </p:sp>
      <p:sp>
        <p:nvSpPr>
          <p:cNvPr id="34" name="Text 31"/>
          <p:cNvSpPr txBox="1"/>
          <p:nvPr/>
        </p:nvSpPr>
        <p:spPr>
          <a:xfrm>
            <a:off x="566928"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brother (he)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223760" y="4626864"/>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بِحُلُولِ التَّخَرُّجِ</a:t>
            </a:r>
            <a:endParaRPr lang="ar-SA" sz="1900" dirty="0"/>
          </a:p>
        </p:txBody>
      </p:sp>
      <p:sp>
        <p:nvSpPr>
          <p:cNvPr id="37" name="Text 34"/>
          <p:cNvSpPr txBox="1"/>
          <p:nvPr/>
        </p:nvSpPr>
        <p:spPr>
          <a:xfrm>
            <a:off x="2468880" y="4626864"/>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كُنَّا قَدْ حَضَرْنَا عَشَرَاتِ المُحَاضَرَاتِ</a:t>
            </a:r>
            <a:endParaRPr lang="ar-SA" sz="1900" dirty="0"/>
          </a:p>
        </p:txBody>
      </p:sp>
      <p:sp>
        <p:nvSpPr>
          <p:cNvPr id="38" name="Text 35"/>
          <p:cNvSpPr txBox="1"/>
          <p:nvPr/>
        </p:nvSpPr>
        <p:spPr>
          <a:xfrm>
            <a:off x="566928"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of them (we)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a column and rebuild it — then retell Layla’s story about Layla (she): kānat qad anjazat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kāna, kānat — or kuntu / kānū?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تَخَرَّجَ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أَنْهَى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تَخَصَّصَتْ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حَصَلَتْ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نَشَرَتْ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أَنْهَيْتُ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تَخَرَّجُوا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قَرَّرْتُ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كَانَ قَدْ (he)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كَانَتْ قَدْ (she)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كُنْتُ / كَانُوا قَدْ</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كَانَ قَدْ (he)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تَخَرَّجَ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أَنْهَى</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كَانَتْ قَدْ (she)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تَخَصَّصَتْ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حَصَلَتْ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نَشَرَتْ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كُنْتُ / كَانُوا قَدْ</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أَنْهَيْتُ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تَخَرَّجُوا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قَرَّرْتُ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a plural: ___ </a:t>
            </a:r>
            <a:pPr algn="l" indent="0" marL="0">
              <a:buNone/>
            </a:pPr>
            <a:r>
              <a:rPr lang="ar-SA" altLang="en-US" sz="1650" b="1" dirty="0">
                <a:solidFill>
                  <a:srgbClr val="1B3B6F"/>
                </a:solidFill>
                <a:latin typeface="Amiri" pitchFamily="34" charset="0"/>
                <a:ea typeface="Amiri" pitchFamily="34" charset="-122"/>
                <a:cs typeface="Amiri" pitchFamily="34" charset="-120"/>
              </a:rPr>
              <a:t>قَدْ تَخَرَّجُوا قَبْلَ الأَزْمَةِ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كَانُوا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links two past events correctly?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يَحْصُلُ عَلَى مِنْحَةٍ قَبْلَ أَنْ يُسَافِرَ.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حَصَلَ عَلَى مِنْحَةٍ قَبْلَ أَنْ يُسَافِرَ.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سَيَحْصُلُ عَلَى مِنْحَةٍ قَبْلَ أَنْ يُسَافِرَ.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بِحُلُولِ التَّخَرُّجِ، ___ قَدْ نَشَرَتْ بَحْثَيْنِ.</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temporal depth?</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أَنْهَيْتُ المُرَاجَعَةَ وَالامْتِحَانَ.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لِلِامْتِحَانِ.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أَنْهَيْتُ المُرَاجَعَةَ قَبْلَ الامْتِحَانِ.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a plural: ___ </a:t>
            </a:r>
            <a:pPr algn="l" indent="0" marL="0">
              <a:buNone/>
            </a:pPr>
            <a:r>
              <a:rPr lang="ar-SA" altLang="en-US" sz="1650" b="1" dirty="0">
                <a:solidFill>
                  <a:srgbClr val="1B3B6F"/>
                </a:solidFill>
                <a:latin typeface="Amiri" pitchFamily="34" charset="0"/>
                <a:ea typeface="Amiri" pitchFamily="34" charset="-122"/>
                <a:cs typeface="Amiri" pitchFamily="34" charset="-120"/>
              </a:rPr>
              <a:t>قَدْ تَخَرَّجُوا قَبْلَ الأَزْمَةِ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كَانُوا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كَانُوا</a:t>
            </a:r>
            <a:pPr algn="l" indent="0" marL="0">
              <a:buNone/>
            </a:pPr>
            <a:r>
              <a:rPr lang="en-US" sz="1050" i="1" dirty="0">
                <a:solidFill>
                  <a:srgbClr val="8A6D1E"/>
                </a:solidFill>
                <a:latin typeface="Calibri" pitchFamily="34" charset="0"/>
                <a:ea typeface="Calibri" pitchFamily="34" charset="-122"/>
                <a:cs typeface="Calibri" pitchFamily="34" charset="-120"/>
              </a:rPr>
              <a:t> agrees with the plural subject.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links two past events correctly?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يَحْصُلُ عَلَى مِنْحَةٍ قَبْلَ أَنْ يُسَافِرَ.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قَدْ حَصَلَ عَلَى مِنْحَةٍ قَبْلَ أَنْ يُسَافِرَ.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سَيَحْصُلُ عَلَى مِنْحَةٍ قَبْلَ أَنْ يُسَافِرَ.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earlier action uses </a:t>
            </a:r>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 +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بِحُلُولِ التَّخَرُّجِ، ___ قَدْ نَشَرَتْ بَحْثَيْنِ.</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agrees with the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temporal depth?</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أَنْهَيْتُ المُرَاجَعَةَ وَالامْتِحَانَ.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لِلِامْتِحَانِ.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أَنْهَيْتُ المُرَاجَعَةَ قَبْلَ الامْتِحَانِ.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places one past action before another with </a:t>
            </a:r>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كَانَ قَدْ يَدْرُسُ فِي القَاهِرَةِ.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qad: 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كَانَ قَدْ حَصَلَتْ عَلَى مِنْحَةٍ.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girl: kāna or kānat?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كُنْتُ قَدْ أَنْهَيْتُ بَحْثِي قَبْلَ أَنْ بَدَأْتُ العَمَلَ.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qabla an: past or subjunctive?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كَانَ قَدْ يَدْرُسُ فِي القَاهِرَةِ.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كَانَ قَدْ دَرَسَ فِي القَاهِرَةِ.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قَدْ</a:t>
            </a:r>
            <a:pPr algn="l" indent="0" marL="0">
              <a:buNone/>
            </a:pPr>
            <a:r>
              <a:rPr lang="en-US" sz="1150" b="1" dirty="0">
                <a:solidFill>
                  <a:srgbClr val="1B3B6F"/>
                </a:solidFill>
                <a:latin typeface="Calibri" pitchFamily="34" charset="0"/>
                <a:ea typeface="Calibri" pitchFamily="34" charset="-122"/>
                <a:cs typeface="Calibri" pitchFamily="34" charset="-120"/>
              </a:rPr>
              <a:t> must be past.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كَانَ قَدْ حَصَلَتْ عَلَى مِنْحَةٍ.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كَانَتْ قَدْ حَصَلَتْ عَلَى مِنْحَةٍ.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كَانَ</a:t>
            </a:r>
            <a:pPr algn="l" indent="0" marL="0">
              <a:buNone/>
            </a:pPr>
            <a:r>
              <a:rPr lang="en-US" sz="1150" b="1" dirty="0">
                <a:solidFill>
                  <a:srgbClr val="1B3B6F"/>
                </a:solidFill>
                <a:latin typeface="Calibri" pitchFamily="34" charset="0"/>
                <a:ea typeface="Calibri" pitchFamily="34" charset="-122"/>
                <a:cs typeface="Calibri" pitchFamily="34" charset="-120"/>
              </a:rPr>
              <a:t> must agree with the feminine subject: </a:t>
            </a:r>
            <a:pPr algn="l" indent="0" marL="0">
              <a:buNone/>
            </a:pPr>
            <a:r>
              <a:rPr lang="ar-SA" altLang="en-US" sz="1500" b="1" dirty="0">
                <a:solidFill>
                  <a:srgbClr val="1B3B6F"/>
                </a:solidFill>
                <a:latin typeface="Amiri" pitchFamily="34" charset="0"/>
                <a:ea typeface="Amiri" pitchFamily="34" charset="-122"/>
                <a:cs typeface="Amiri" pitchFamily="34" charset="-120"/>
              </a:rPr>
              <a:t>كَانَتْ</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كُنْتُ قَدْ أَنْهَيْتُ بَحْثِي قَبْلَ أَنْ بَدَأْتُ العَمَلَ.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كُنْتُ قَدْ أَنْهَيْتُ بَحْثِي قَبْلَ أَنْ أَبْدَأَ العَمَلَ.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قَبْلَ أَنْ</a:t>
            </a:r>
            <a:pPr algn="l" indent="0" marL="0">
              <a:buNone/>
            </a:pPr>
            <a:r>
              <a:rPr lang="en-US" sz="1150" b="1" dirty="0">
                <a:solidFill>
                  <a:srgbClr val="1B3B6F"/>
                </a:solidFill>
                <a:latin typeface="Calibri" pitchFamily="34" charset="0"/>
                <a:ea typeface="Calibri" pitchFamily="34" charset="-122"/>
                <a:cs typeface="Calibri" pitchFamily="34" charset="-120"/>
              </a:rPr>
              <a:t> is followed by a subjunctive, not a past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graduate's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Layla decided by the end of secondary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study medicine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she done before enrolling at university?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Started working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Completed a biology research project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her classmate done before the term began?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Failed an exam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Changed subject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Obtained a scholarship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her brother done before choosing a specialism?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Worked for a full year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Graduated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Travelled abroad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she realise about independence and pressure?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do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 less important than study itself</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the only thing that matters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kānat qad · kāna qad.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تَقُولُ لَيْلَى: بِحُلُولِ نِهَايَةِ المَرْحَلَةِ الثَّانَوِيَّةِ، كُنْتُ قَدْ قَرَّرْتُ دِرَاسَةَ الطِّبِّ.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says: by the end of secondary school, I had decided to study medicine.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كُنْتُ قَدْ أَنْجَزْتُ مَشْرُوعًا بَحْثِيًّا فِي عِلْمِ الأَحْيَاءِ قَبْلَ أَنْ أَلْتَحِقَ بِالجَامِعَةِ.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had completed a biology research project before I enrolled at university.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السَّنَةِ الأُولَى، كَانَتْ زَمِيلَتِي قَدْ حَصَلَتْ عَلَى مِنْحَةٍ دِرَاسِيَّةٍ قَبْلَ أَنْ تَبْدَأَ الفَصْلَ. أَمَّا أَخِي فَكَانَ قَدْ عَمِلَ سَنَةً كَامِلَةً قَبْلَ أَنْ يُقَرِّرَ التَّخَصُّصَ.</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year, my classmate had obtained a scholarship before the term began. My brother had worked a full year before deciding on a specialism.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وَبِحُلُولِ التَّخَرُّجِ، كُنَّا قَدْ حَضَرْنَا عَشَرَاتِ المُحَاضَرَاتِ وَالنَّدَوَاتِ.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graduation, we had attended dozens of lectures and seminars.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أَدْرَكْتُ حِينَهَا أَنَّ الاسْتِقْلَالِيَّةَ وَإِدَارَةَ الضَّغْطِ الأَكَادِيمِيِّ لَا تَقِلَّانِ أَهَمِّيَّةً عَنِ الدِّرَاسَةِ نَفْسِهَا.</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realised then that independence and managing academic pressure are no less important than the studying itself.</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Layla decided by the end of secondary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study medicine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leave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قَرَّرْتُ دِرَاسَةَ الطِّبِّ.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she done before enrolling at university?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Started working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Completed a biology research project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كُنْتُ قَدْ أَنْجَزْتُ مَشْرُوعًا بَحْثِيًّا … قَبْلَ أَنْ أَلْتَحِقَ بِالجَامِعَةِ.</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her classmate done before the term began?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Failed an exam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Changed subject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Obtained a scholarship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كَانَتْ زَمِيلَتِي قَدْ حَصَلَتْ عَلَى مِنْحَةٍ … قَبْلَ أَنْ تَبْدَأَ الفَصْلَ.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her brother done before choosing a specialism?</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Worked for a full year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Graduated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Travelled abroad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قَدْ عَمِلَ سَنَةً كَامِلَةً قَبْلَ أَنْ يُقَرِّرَ التَّخَصُّصَ.</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she realise about independence and pressure?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do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are no less important than study itself</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the only thing that matters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تَقِلَّانِ أَهَمِّيَّةً عَنِ الدِّرَاسَةِ نَفْسِهَا.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kānat qad · kāna qad.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Speaking: your educational timeline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كُنْتَ قَدْ حَقَّقْتَ بِحُلُولِ نِهَايَةِ الثَّانَوِيَّةِ؟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كُنْتَ قَدْ فَعَلْتَ قَبْلَ أَنْ تَخْتَارَ تَخَصُّصَكَ؟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تَتَعَامَلُ مَعَ الضَّغْطِ الأَكَادِيمِيِّ؟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بِحُلُولِ نِهَايَةِ ___ ، كُنْتُ قَدْ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كُنْتُ قَدْ ___ قَبْلَ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أُعَانِي مِنَ الضَّغْطِ أَحْيَانًا، لٰكِنْ إِذَا ___ ، سَأَتَغَلَّبُ عَلَيْهِ.</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كُنْتَ قَدْ حَقَّقْتَ بِحُلُولِ نِهَايَةِ الثَّانَوِيَّةِ؟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had you achieved by the end of secondary school?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بِحُلُولِ نِهَايَةِ الثَّانَوِيَّةِ، كُنْتُ قَدْ أَنْجَزْتُ مَشْرُوعًا بَحْثِيًّا وَقَرَّرْتُ تَخَصُّصِي.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By the end of secondary school, I had completed a research project and decided on my specialism.</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past-perfect sentences with correct </a:t>
            </a:r>
            <a:pPr algn="l" indent="0" marL="0">
              <a:buNone/>
            </a:pPr>
            <a:r>
              <a:rPr lang="ar-SA" altLang="en-US" sz="1800" b="1" dirty="0">
                <a:solidFill>
                  <a:srgbClr val="1F2A37"/>
                </a:solidFill>
                <a:latin typeface="Amiri" pitchFamily="34" charset="0"/>
                <a:ea typeface="Amiri" pitchFamily="34" charset="-122"/>
                <a:cs typeface="Amiri" pitchFamily="34" charset="-120"/>
              </a:rPr>
              <a:t>كَانَ</a:t>
            </a:r>
            <a:pPr algn="l" indent="0" marL="0">
              <a:buNone/>
            </a:pPr>
            <a:r>
              <a:rPr lang="en-US" sz="1400" b="1" dirty="0">
                <a:solidFill>
                  <a:srgbClr val="1F2A37"/>
                </a:solidFill>
                <a:latin typeface="Calibri" pitchFamily="34" charset="0"/>
                <a:ea typeface="Calibri" pitchFamily="34" charset="-122"/>
                <a:cs typeface="Calibri" pitchFamily="34" charset="-120"/>
              </a:rPr>
              <a:t>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past-perfect sentences with correct kāna agreement.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Link two of them to a later action with </a:t>
            </a:r>
            <a:pPr algn="l" indent="0" marL="0">
              <a:buNone/>
            </a:pPr>
            <a:r>
              <a:rPr lang="ar-SA" altLang="en-US" sz="1800" b="1" dirty="0">
                <a:solidFill>
                  <a:srgbClr val="1F2A37"/>
                </a:solidFill>
                <a:latin typeface="Amiri" pitchFamily="34" charset="0"/>
                <a:ea typeface="Amiri" pitchFamily="34" charset="-122"/>
                <a:cs typeface="Amiri" pitchFamily="34" charset="-120"/>
              </a:rPr>
              <a:t>قَبْلَ أَنْ</a:t>
            </a:r>
            <a:pPr algn="l" indent="0" marL="0">
              <a:buNone/>
            </a:pPr>
            <a:r>
              <a:rPr lang="en-US" sz="1400" b="1" dirty="0">
                <a:solidFill>
                  <a:srgbClr val="1F2A37"/>
                </a:solidFill>
                <a:latin typeface="Calibri" pitchFamily="34" charset="0"/>
                <a:ea typeface="Calibri" pitchFamily="34" charset="-122"/>
                <a:cs typeface="Calibri" pitchFamily="34" charset="-120"/>
              </a:rPr>
              <a:t> or </a:t>
            </a:r>
            <a:pPr algn="l" indent="0" marL="0">
              <a:buNone/>
            </a:pPr>
            <a:r>
              <a:rPr lang="ar-SA" altLang="en-US" sz="1800" b="1" dirty="0">
                <a:solidFill>
                  <a:srgbClr val="1F2A37"/>
                </a:solidFill>
                <a:latin typeface="Amiri" pitchFamily="34" charset="0"/>
                <a:ea typeface="Amiri" pitchFamily="34" charset="-122"/>
                <a:cs typeface="Amiri" pitchFamily="34" charset="-120"/>
              </a:rPr>
              <a:t>بِحُلُولِ</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link two of them to a later action with qabla an or bi-ḥulūli.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personal statement combining past perfect, reported speech and a conditional.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university personal statement with the past perfect, reported speech and a conditional.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بِحُلُولِ نِهَايَةِ ______ ، كُنْتُ قَدْ أَنْجَزْتُ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By the end of …, I had completed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كُنْتُ قَدْ حَصَلْتُ عَلَى ______ قَبْلَ أَنْ أَلْتَحِقَ بِالجَامِعَةِ.</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gained … before I enrolled at university.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 أُسْتَاذِي إِلَى أَنَّنِي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teacher pointed out that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قُبِلْتُ،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am accepted,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قَرَّرْتُ دِرَاسَةَ ______ مُنْذُ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decided to study … since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أُخْتِي قَدْ حَصَلَتْ عَلَى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had obtained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أَخِي قَدْ عَمِلَ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had worked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الآنَ ______ وَأَتَفَوَّقُ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I study … and I excel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الطِّبُّ  ·  الهَنْدَسَةُ  ·  مَشْرُوعٌ بَحْثِيٌّ  ·  خِبْرَةٌ عَمَلِيَّةٌ  ·  عَمَلٌ تَطَوُّعِيٌّ  ·  مِنْحَةٌ دِرَاسِيَّةٌ  ·  الجَامِعَةُ  ·  كُلِّيَّةُ الطِّبِّ  ·  مُجْتَهِدٌ  ·  الاسْتِقْلَالِيَّةُ  ·  الضَّغْطُ الأَكَادِيمِيُّ  ·  سَأُكَرِّسُ جُهْدِي</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one hundred to one hundred and ten words as a university personal statement. Use the past perfect (</a:t>
            </a:r>
            <a:pPr algn="l" indent="0" marL="0">
              <a:buNone/>
            </a:pPr>
            <a:r>
              <a:rPr lang="ar-SA" altLang="en-US" sz="1700" b="1" dirty="0">
                <a:solidFill>
                  <a:srgbClr val="1F2A37"/>
                </a:solidFill>
                <a:latin typeface="Amiri" pitchFamily="34" charset="0"/>
                <a:ea typeface="Amiri" pitchFamily="34" charset="-122"/>
                <a:cs typeface="Amiri" pitchFamily="34" charset="-120"/>
              </a:rPr>
              <a:t>كَانَ قَدْ</a:t>
            </a:r>
            <a:pPr algn="l" indent="0" marL="0">
              <a:buNone/>
            </a:pPr>
            <a:r>
              <a:rPr lang="en-US" sz="1300" b="1" dirty="0">
                <a:solidFill>
                  <a:srgbClr val="1F2A37"/>
                </a:solidFill>
                <a:latin typeface="Calibri" pitchFamily="34" charset="0"/>
                <a:ea typeface="Calibri" pitchFamily="34" charset="-122"/>
                <a:cs typeface="Calibri" pitchFamily="34" charset="-120"/>
              </a:rPr>
              <a:t>) at least twice for prior achievements, a reported-speech clause about what a teacher said, and a Type 1 conditional about the future.</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past-perfect sentences with correct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reported-speech clause (</a:t>
            </a:r>
            <a:pPr algn="l" indent="0" marL="0">
              <a:buNone/>
            </a:pPr>
            <a:r>
              <a:rPr lang="ar-SA" altLang="en-US" sz="1550" dirty="0">
                <a:solidFill>
                  <a:srgbClr val="1F2A37"/>
                </a:solidFill>
                <a:latin typeface="Amiri" pitchFamily="34" charset="0"/>
                <a:ea typeface="Amiri" pitchFamily="34" charset="-122"/>
                <a:cs typeface="Amiri" pitchFamily="34" charset="-120"/>
              </a:rPr>
              <a:t>قَالَ / أَشَارَ …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Type 1 conditional about the future.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Present-tense description of your current situation.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مُنْذُ المَرْحَلَةِ الإِعْدَادِيَّةِ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since middle school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حَصَلْتُ عَلَى خِبْرَةٍ فِي مُسْتَشْفًى مَحَلِّيٍّ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gained experience at a local hospital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الالْتِحَاقِ بِكُلِّيَّةِ الطِّبِّ</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aspire to join the faculty of medicine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سَأُكَرِّسُ جُهْدِي لِلْبَحْثِ العِلْمِيِّ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devote my effort to scientific research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ضَرُورِيَّتَانِ لِلنَّجَاحِ</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both essential for success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كُنْتُ قَدْ قَرَّرْتُ دِرَاسَةَ الطِّبِّ مُنْذُ المَرْحَلَةِ الإِعْدَادِيَّةِ. وَبِحُلُولِ نِهَايَةِ الثَّانَوِيَّةِ، كُنْتُ قَدْ أَنْجَزْتُ مَشْرُوعًا بَحْثِيًّا فِي عِلْمِ الأَحْيَاءِ وَحَصَلْتُ عَلَى خِبْرَةٍ فِي مُسْتَشْفًى مَحَلِّيٍّ. أَدْرُسُ الآنَ فِي السَّنَةِ الأَخِيرَةِ وَأَتَفَوَّقُ فِي العُلُومِ وَالرِّيَاضِيَّاتِ. أَشَارَ أُسْتَاذِي إِلَى أَنَّنِي مُجْتَهِدٌ وَأَكَّدَ أَنَّنِي سَأَكُونُ طَبِيبًا جَيِّدًا. أَطْمَحُ إِلَى الالْتِحَاقِ بِكُلِّيَّةِ الطِّبِّ فِي جَامِعَتِكُمْ، وَإِذَا قُبِلْتُ، سَأُكَرِّسُ جُهْدِي لِلْبَحْثِ العِلْمِيِّ. أُدْرِكُ أَنَّ الاسْتِقْلَالِيَّةَ وَإِدَارَةَ الضَّغْطِ الأَكَادِيمِيِّ ضَرُورِيَّتَانِ لِلنَّجَاحِ فِي الحَيَاةِ الجَامِعِيَّةِ.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had decided to study medicine back in middle school. By the end of secondary school, I had completed a research project in biology and gained experience at a local hospital. I am now in my final year and I excel in science and mathematics. My teacher pointed out that I am hard-working and stressed that I will be a good doctor. I aspire to join the faculty of medicine at your university, and if I am accepted, I will devote my effort to scientific research. I realise that independence and managing academic pressure are both essential for success at university.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past-perfect sentences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bi-ḥulūli framing an earlier action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reported speech (ashāra ilā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conditional about the future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qad my verb is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kāna agrees with the subject (kānat · kuntu · kānū).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earlier action has kāna qad; qabla an has a subjunctive.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framed one event with bi-ḥulūli.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moved through before · now · next with reported speech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دَرَسَ فِي القَاهِرَةِ.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يَدْرُسُ فِي القَاهِرَةِ.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سَيَدْرُسُ فِي القَاهِرَةِ.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a girl: ___ </a:t>
            </a:r>
            <a:pPr algn="l" indent="0" marL="0">
              <a:buNone/>
            </a:pPr>
            <a:r>
              <a:rPr lang="ar-SA" altLang="en-US" sz="1650" b="1" dirty="0">
                <a:solidFill>
                  <a:srgbClr val="1B3B6F"/>
                </a:solidFill>
                <a:latin typeface="Amiri" pitchFamily="34" charset="0"/>
                <a:ea typeface="Amiri" pitchFamily="34" charset="-122"/>
                <a:cs typeface="Amiri" pitchFamily="34" charset="-120"/>
              </a:rPr>
              <a:t>قَدْ تَخَصَّصَتْ فِي الطِّبِّ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temporal depth?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بِحُلُولِ التَّخَرُّجِ، كُنْتُ قَدْ نَشَرْتُ بَحْثَيْنِ.</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نَشَرْتُ بَحْثَيْنِ وَتَخَرَّجْتُ.</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أَنْشُرُ بَحْثًا الآنَ.</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كَانَ قَدْ دَرَسَ فِي القَاهِرَةِ.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كَانَ قَدْ يَدْرُسُ فِي القَاهِرَةِ.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كَانَ قَدْ سَيَدْرُسُ فِي القَاهِرَةِ.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قَدْ</a:t>
            </a:r>
            <a:pPr algn="l" indent="0" marL="0">
              <a:buNone/>
            </a:pPr>
            <a:r>
              <a:rPr lang="en-US" sz="1050" i="1" dirty="0">
                <a:solidFill>
                  <a:srgbClr val="8A6D1E"/>
                </a:solidFill>
                <a:latin typeface="Calibri" pitchFamily="34" charset="0"/>
                <a:ea typeface="Calibri" pitchFamily="34" charset="-122"/>
                <a:cs typeface="Calibri" pitchFamily="34" charset="-120"/>
              </a:rPr>
              <a:t> stays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a girl: ___ </a:t>
            </a:r>
            <a:pPr algn="l" indent="0" marL="0">
              <a:buNone/>
            </a:pPr>
            <a:r>
              <a:rPr lang="ar-SA" altLang="en-US" sz="1650" b="1" dirty="0">
                <a:solidFill>
                  <a:srgbClr val="1B3B6F"/>
                </a:solidFill>
                <a:latin typeface="Amiri" pitchFamily="34" charset="0"/>
                <a:ea typeface="Amiri" pitchFamily="34" charset="-122"/>
                <a:cs typeface="Amiri" pitchFamily="34" charset="-120"/>
              </a:rPr>
              <a:t>قَدْ تَخَصَّصَتْ فِي الطِّبِّ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كَانَتْ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كُنْتُ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agrees with the feminine subject.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temporal depth?</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بِحُلُولِ التَّخَرُّجِ، كُنْتُ قَدْ نَشَرْتُ بَحْثَيْنِ.</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نَشَرْتُ بَحْثَيْنِ وَتَخَرَّجْتُ.</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أَنْشُرُ بَحْثًا الآنَ.</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places one past action before another with </a:t>
            </a:r>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more than lectures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لَا تَقْتَصِرُ الحَيَاةُ الجَامِعِيَّةُ عَلَى المُحَاضَرَاتِ وَالبُحُوثِ. فَبِحُلُولِ نِهَايَةِ السَّنَةِ الأُولَى، يَكُونُ كَثِيرٌ مِنَ الطُّلَّابِ قَدِ اكْتَسَبُوا اسْتِقْلَالِيَّةً لَمْ تَكُنْ لَدَيْهِمْ سَابِقًا. كَثِيرُونَ كَانُوا قَدِ اعْتَمَدُوا عَلَى أُسَرِهِمْ فِي كُلِّ شَيْءٍ، ثُمَّ تَعَلَّمُوا إِدَارَةَ الوَقْتِ وَالمَالِ. وَالأَنْشِطَةُ اللَّامَنْهَجِيَّةُ وَالعَمَلُ التَّطَوُّعِيُّ يُضِيفَانِ خِبْرَةً عَمَلِيَّةً قَيِّمَةً. لٰكِنَّ الجَامِعَةَ تَحْمِلُ ضَغْطًا أَكَادِيمِيًّا حَقِيقِيًّا؛ فَمَنْ كَانَ قَدْ تَعَلَّمَ تَنْظِيمَ وَقْتِهِ مُبَكِّرًا وَاجَهَ الضَّغْطَ بِثِقَةٍ أَكْبَرَ. وَفِي رَأْيِي، إِذَا وَازَنَ الطَّالِبُ بَيْنَ الدِّرَاسَةِ وَالحَيَاةِ، فَسَيَنْجَحُ فِي كِلَيْهِمَا.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تَقْتَصِرُ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limited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اكْتَسَبُوا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gained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 تَكُنْ لَدَيْهِمْ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did not have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اعْتَمَدُوا عَلَى أُسَرِهِمْ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relied on their families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إِدَارَةَ الوَقْتِ وَالمَالِ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managing time and money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اللَّامَنْهَجِيَّةُ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extracurricular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قَيِّمَةً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valuable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وَاجَهَ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faced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بِثِقَةٍ أَكْبَرَ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greater confidence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كِلَيْهِمَا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both</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university life not limited to?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Lectures and research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Exams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have many students gained by the end of the first year?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new</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confidence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Independence they did not have before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extracurriculars and volunteering add?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Valuable work experience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Extra fees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lectures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faced academic pressure more confidently?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Those who never studied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Those who had learned to organise time early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Those who avoided university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conclude about balance?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Balancing study and life leads to success in both</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is impossible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study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university life not limited to?</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Lectures and research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Exams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تَقْتَصِرُ … عَلَى المُحَاضَرَاتِ وَالبُحُوثِ.</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have many students gained by the end of the first year?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new</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confidence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Independence they did not have before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 اكْتَسَبُوا اسْتِقْلَالِيَّةً لَمْ تَكُنْ لَدَيْهِمْ سَابِقًا.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extracurriculars and volunteering add?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Valuable work experience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Extra fees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lectures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يُضِيفَانِ خِبْرَةً عَمَلِيَّةً قَيِّمَةً.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faced academic pressure more confidently?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Those who never studied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Those who had learned to organise time early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Those who avoided university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مَنْ كَانَ قَدْ تَعَلَّمَ تَنْظِيمَ وَقْتِهِ مُبَكِّرًا وَاجَهَ الضَّغْطَ بِثِقَةٍ أَكْبَرَ.</a:t>
            </a:r>
            <a:endParaRPr lang="ar-SA" sz="12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conclude about balance?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Balancing study and life leads to success in both</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Balance is impossible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study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إِذَا وَازَنَ الطَّالِبُ بَيْنَ الدِّرَاسَةِ وَالحَيَاةِ، فَسَيَنْجَحُ فِي كِلَيْهِمَا.</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Past Perfect Mission — </a:t>
            </a:r>
            <a:pPr algn="l" indent="0" marL="0">
              <a:buNone/>
            </a:pPr>
            <a:r>
              <a:rPr lang="ar-SA" altLang="en-US" sz="2300" b="1" dirty="0">
                <a:solidFill>
                  <a:srgbClr val="1B3B6F"/>
                </a:solidFill>
                <a:latin typeface="Amiri" pitchFamily="34" charset="0"/>
                <a:ea typeface="Amiri" pitchFamily="34" charset="-122"/>
                <a:cs typeface="Amiri" pitchFamily="34" charset="-120"/>
              </a:rPr>
              <a:t>كَانَ قَدْ</a:t>
            </a:r>
            <a:pPr algn="l" indent="0" marL="0">
              <a:buNone/>
            </a:pPr>
            <a:r>
              <a:rPr lang="en-US" sz="1750" b="1" dirty="0">
                <a:solidFill>
                  <a:srgbClr val="1B3B6F"/>
                </a:solidFill>
                <a:latin typeface="Cambria" pitchFamily="34" charset="0"/>
                <a:ea typeface="Cambria" pitchFamily="34" charset="-122"/>
                <a:cs typeface="Cambria" pitchFamily="34" charset="-120"/>
              </a:rPr>
              <a:t>, Agreement and Sequence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كَانَ قَدْ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القَاهِرَةِ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سَيَدْرُسُ</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(she):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قَدْ حَصَلَتْ عَلَى مِنْحَةٍ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(I):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قَدْ أَنْهَيْتُ بَحْثِي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(they):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قَدْ تَخَرَّجُوا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كَانُوا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Sequence: which is the earlier action?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دَرَسَ قَبْلَ أَنْ يَعْمَلَ.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 ثُمَّ عَمِلَ فِي اليَوْمِ نَفْسِهِ.</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 وَيَعْمَلُ.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بَدَأَ</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سَيَبْدَأُ</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كَانَ قَدْ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القَاهِرَةِ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دَرَسَ</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سَيَدْرُسُ</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قَدْ</a:t>
            </a:r>
            <a:pPr algn="l" indent="0" marL="0">
              <a:buNone/>
            </a:pPr>
            <a:r>
              <a:rPr lang="en-US" sz="1050" i="1" dirty="0">
                <a:solidFill>
                  <a:srgbClr val="8A6D1E"/>
                </a:solidFill>
                <a:latin typeface="Calibri" pitchFamily="34" charset="0"/>
                <a:ea typeface="Calibri" pitchFamily="34" charset="-122"/>
                <a:cs typeface="Calibri" pitchFamily="34" charset="-120"/>
              </a:rPr>
              <a:t> is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(she):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قَدْ حَصَلَتْ عَلَى مِنْحَةٍ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agrees with the feminine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(I):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قَدْ أَنْهَيْتُ بَحْثِي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form.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(they):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قَدْ تَخَرَّجُوا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كَانُوا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كَانُوا</a:t>
            </a:r>
            <a:pPr algn="l" indent="0" marL="0">
              <a:buNone/>
            </a:pPr>
            <a:r>
              <a:rPr lang="en-US" sz="1050" i="1" dirty="0">
                <a:solidFill>
                  <a:srgbClr val="8A6D1E"/>
                </a:solidFill>
                <a:latin typeface="Calibri" pitchFamily="34" charset="0"/>
                <a:ea typeface="Calibri" pitchFamily="34" charset="-122"/>
                <a:cs typeface="Calibri" pitchFamily="34" charset="-120"/>
              </a:rPr>
              <a:t> agrees with the plural subject.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Sequence: which is the earlier action?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قَدْ دَرَسَ قَبْلَ أَنْ يَعْمَلَ.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 ثُمَّ عَمِلَ فِي اليَوْمِ نَفْسِهِ.</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 وَيَعْمَلُ.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 marks the earlier of two past actions.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بَدَأَ</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يَبْدَأَ</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سَيَبْدَأُ</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قَبْلَ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present verb.</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P2-L04 · Study Skills and Academic Success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مَهَارَاتُ الدِّرَاسَةِ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study skills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تَنْظِيمُ الوَقْتِ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time management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خَرِيطَةٌ ذِهْنِيَّةٌ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mind map</a:t>
            </a:r>
            <a:pPr indent="0" marL="0">
              <a:buNone/>
            </a:pPr>
            <a:r>
              <a:rPr lang="en-US" sz="1000" i="1" dirty="0">
                <a:solidFill>
                  <a:srgbClr val="5A6472"/>
                </a:solidFill>
                <a:latin typeface="Calibri" pitchFamily="34" charset="0"/>
                <a:ea typeface="Calibri" pitchFamily="34" charset="-122"/>
                <a:cs typeface="Calibri" pitchFamily="34" charset="-120"/>
              </a:rPr>
              <a:t>  pl. خَرَائِطُ ذِهْنِيَّةٌ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مُلَخَّصٌ</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summary</a:t>
            </a:r>
            <a:pPr indent="0" marL="0">
              <a:buNone/>
            </a:pPr>
            <a:r>
              <a:rPr lang="en-US" sz="1000" i="1" dirty="0">
                <a:solidFill>
                  <a:srgbClr val="5A6472"/>
                </a:solidFill>
                <a:latin typeface="Calibri" pitchFamily="34" charset="0"/>
                <a:ea typeface="Calibri" pitchFamily="34" charset="-122"/>
                <a:cs typeface="Calibri" pitchFamily="34" charset="-120"/>
              </a:rPr>
              <a:t>  pl. مُلَخَّصَاتٌ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التَّشْتِيتُ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distraction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 you revise for a test — and what distracts you most?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أُرَاجِعُ عَنْ طَرِيقِ ______ ، وَأَكْثَرُ شَيْءٍ يُشَتِّتُنِي هُوَ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kāna forms; write five past-perfect sentences about your school life.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60–80-word paragraph linking past events with qabla an and bi-ḥulūli.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university personal statement.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P2-L04 · Study Skills and Academic Success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مَهَارَاتُ الدِّرَاسَةِ وَالنَّجَاحُ الأَكَادِيمِيُّ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earlier action takes kāna qad + a past verb — kāna / kānat / kuntu / kānū agree, and so does the verb — qabla an + subjunctive for the later one — and bi-ḥulūli frames it all.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P2-L03 · University Life and Higher Education</dc:title>
  <dc:subject>PptxGenJS Presentation</dc:subject>
  <dc:creator>Al Madina Online School · Arabic Department</dc:creator>
  <cp:lastModifiedBy>Al Madina Online School · Arabic Department</cp:lastModifiedBy>
  <cp:revision>1</cp:revision>
  <dcterms:created xsi:type="dcterms:W3CDTF">2026-10-10T10:31:44Z</dcterms:created>
  <dcterms:modified xsi:type="dcterms:W3CDTF">2026-10-10T10:31:44Z</dcterms:modified>
</cp:coreProperties>
</file>