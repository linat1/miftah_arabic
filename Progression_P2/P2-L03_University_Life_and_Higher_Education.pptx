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Lst>
  <p:notesMasterIdLst>
    <p:notesMasterId r:id="rId51"/>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notesMaster" Target="notesMasters/notesMaster1.xml"/><Relationship Id="rId52" Type="http://schemas.openxmlformats.org/officeDocument/2006/relationships/presProps" Target="presProps.xml"/><Relationship Id="rId53" Type="http://schemas.openxmlformats.org/officeDocument/2006/relationships/viewProps" Target="viewProps.xml"/><Relationship Id="rId54" Type="http://schemas.openxmlformats.org/officeDocument/2006/relationships/theme" Target="theme/theme1.xml"/><Relationship Id="rId55"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Progression › P2 Education and Future Plans › P2-L03. The website lesson “University Life and Higher Education”: vocabulary, grammar rules and quiz, patterns, common mistakes, sorter, listening, reading, speaking prompts and model, writing task and model, differentiation, final check and the lesson mission. Picture match: website visual game “University Life and Higher Education”.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Core: five past-perfect sentences with the right form of كَانَ. Develop: link two of them to a later action with قَبْلَ أَنْ or بِحُلُولِ. Stretch: the website ~100–110-word university personal statement with the past perfect, reported speech (P2-L02) and a conditional.
• Sensitivity: university is not every student’s plan, and family finances differ. Students may write about an apprenticeship, a family member’s university experience or an imagined future; scholarships and fees are discussed neutrally.
• Grammar links: كَانَ and its forms (GM-NVS-03) · قَدْ + past (D units) · أَنْ + subjunctive (D units) · reported speech (P2-L02) · Type 1 conditional (P1-L03).
• TEACHER-WRITTEN ITEMS: waṣl alif shown without a kasra inside phrases (website spelling); website mistake 2 shown without its bracketed Arabic note (the hint names the girl); rule headings shown in English and transliteration; the timeline table is teacher-built from the website listening. All other website items are used as published.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1–3 test three of the five words prepared at the end of P2-L02. Question 4 retrieves reported speech (needed in today’s personal statement); question 5 the forms of كَانَ — the first half of the past perfect.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Two past events? The EARLIER one takes kāna qad + a past verb.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Website objectives (Arabic shown in transliteration on the slide so the lines read cleanly). The route statements turn them into this lesson’s concrete targets.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جامعہ and کلیہ are shared (جامعہ کراچی = University of Karachi). CAREFUL: Urdu بحث means a debate or argument, but Arabic بَحْثٌ عِلْمِيٌّ is scientific research. Urdu استاد is any teacher; Arabic أُسْتَاذٌ جَامِعِيٌّ is a university professor.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Campus and study (website vocabulary (1 of 2)). Hear → Say → See → Use. Transliteration is printed for Core students (cover it for Develop/Stretch).
Campus and study: the plurals are on the cards — note the broken plurals أَقْسَامٌ · بُحُوثٌ · أَسَاتِذَةٌ.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Campus and study (website vocabulary (2 of 2)). Hear → Say → See → Use. Transliteration is printed for Core students (cover it for Develop/Stretch).
Campus and study: the plurals are on the cards — note the broken plurals أَقْسَامٌ · بُحُوثٌ · أَسَاتِذَةٌ.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Degrees and finance (website vocabulary (1 of 2)). Hear → Say → See → Use. Transliteration is printed for Core students (cover it for Develop/Stretch).
Degrees and finance: international words take Arabic endings — البَكَالُورْيُوسُ · مَاجِسْتِيرٌ · دُكْتُورَاهْ. Fees and loans: رُسُومٌ (plural of things → رُسُومٌ دِرَاسِيَّةٌ).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Degrees and finance (website vocabulary (2 of 2)). Hear → Say → See → Use. Transliteration is printed for Core students (cover it for Develop/Stretch).
FLEX: teach if time allows; otherwise these are on the website vocabulary tab for homework.
Degrees and finance: international words take Arabic endings — البَكَالُورْيُوسُ · مَاجِسْتِيرٌ · دُكْتُورَاهْ. Fees and loans: رُسُومٌ (plural of things → رُسُومٌ دِرَاسِيَّةٌ).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University life and past-perfect helpers (website vocabulary (1 of 2)). Hear → Say → See → Use. Transliteration is printed for Core students (cover it for Develop/Stretch).
FLEX: teach if time allows; otherwise these are on the website vocabulary tab for homework.
University life and the past-perfect helpers: كَانَ قَدْ (had done) · بِحُلُولِ (by the time of) · قَبْلَ أَنْ + subjunctive (before doing) · سَابِقًا (previously).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University life and past-perfect helpers (website vocabulary (2 of 2)). Hear → Say → See → Use. Transliteration is printed for Core students (cover it for Develop/Stretch).
FLEX: teach if time allows; otherwise these are on the website vocabulary tab for homework.
University life and the past-perfect helpers: كَانَ قَدْ (had done) · بِحُلُولِ (by the time of) · قَبْلَ أَنْ + subjunctive (before doing) · سَابِقًا (previously).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1 — website rules “The form” (كَانَ / كَانَتْ + قَدْ + past verb; كَانَ agrees with the subject; the main verb stays past) and “All persons”, the website table and teaching point “Agree كَانَ and keep the verb past”.
Colour key: pink = the form of كَانَ, teal = the past verb. Both carry the same person ending — say them as a pair: kuntu … -tu · kānat … -at · kānū … -ū.
Website mistakes: كَانَ قَدْ يَدْرُسُ ✗ (present after qad) · كَانَ قَدْ حَصَلَتْ ✗ for a girl → كَانَتْ.
Row 6 (feminine plural) is for Stretch; the website asks for he / she / I / they (m.).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2 — website rule “Linking two past events” (the past-perfect clause is the earlier action) and teaching point “كَانَ قَدْ marks the earlier of two past actions” (كَانَ قَدْ أَنْهَى دِرَاسَتَهُ قَبْلَ أَنْ يَبْدَأَ العَمَلَ).
Draw a timeline on the board: ● (kāna qad) ─────► ● (qabla an …). The verb after أَنْ is subjunctive (fatḥa): يَبْدَأَ · تُسَافِرَ · أَلْتَحِقَ — even though the meaning is past.
Website quiz item 7: يَبْدَأَ (not بَدَأَ, not سَيَبْدَأُ).</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3 — website rule “Framing with بِحُلُولِ” (“By the time of …, he had already …”) and the website writing task (two past-perfect sentences, a reported-speech clause, a Type 1 conditional, the present for the current situation). All five models come from the website personal statement.
بِحُلُولِ + a genitive noun: بِحُلُولِ التَّخَرُّجِ · بِحُلُولِ نِهَايَةِ الثَّانَوِيَّةِ.
Row 5: قُبِلْتُ is the passive past of قَبِلَ (P1-L06 passive pattern: u … 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4 — website common error (“Using a present verb after قَدْ, or failing to agree كَانَ / كَانَتْ with the subject”) and the three website mistakes, plus two extra checks.
Row 5: before a waṣl alif, قَدْ takes a helping kasra — قَدِ اكْتَسَبُوا · قَدِ اعْتَمَدُوا (website reading).
Note: قَدْ + PAST = “already / had”; قَدْ + PRESENT = “may, might” (قَدْ يَدْرُسُ = he may study) — a different meaning, which is why كَانَ قَدْ يَدْرُسُ is wrong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GRAMMAR RULES AND EXAMPLES (FLEX — revision or homework). Website overview: “كَانَ قَدْ + a past verb expresses an action completed before another past action — the temporal-depth marker of strong narrative writing.”
• The form: كَانَ agrees with the subject; the main verb stays past.
• All persons: The كَانَ part inflects for person and number.
• Linking two past events: The past-perfect clause is the earlier action.
• Framing with bi-ḥulūli: “By the time of …, he had already …”.
Website common error: Using a present verb after قَدْ, or failing to agree كَانَ / كَانَتْ with the subject. The second verb is past, and كَانَ inflects.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grammar quiz questions 1, 2, 3, 7.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from the website writing model. Think aloud: “Earliest first: kuntu qad + qarrartu — both -tu. Frame with bi-ḥulūli. Now: present. Next: idhā + passive past qubiltu, then sa-.”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 website patterns. Students copy TWO that are useful for them.
• Core: copy one and change one word. • Develop: copy two and change the subject. • Stretch: combine two into one longer sentence with a connector.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(“Visual game — University Life and Higher Education”)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the website repeats the P2-L01 cards). Then put each one in the past perfect: كُنْتُ قَدْ تَعَلَّمْتُ عَنْ بُعْدٍ قَبْلَ أَنْ … · كُنْتُ قَدْ دَرَسْتُ كَثِيرًا قَبْلَ أَنْ أَنْجَحَ فِي الامْتِحَانِ.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(“Visual game — University Life and Higher Education”)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the website repeats the P2-L01 cards). Then put each one in the past perfect: كُنْتُ قَدْ تَعَلَّمْتُ عَنْ بُعْدٍ قَبْلَ أَنْ … · كُنْتُ قَدْ دَرَسْتُ كَثِيرًا قَبْلَ أَنْ أَنْجَحَ فِي الامْتِحَانِ.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(3 min) — built from the website listening (the website lesson has no builder). Read the listening first, then use this table as the support.
Core: rows 1–2 aloud. Develop: retell rows 1 and 4 in the third person (كَانَتْ لَيْلَى قَدْ أَنْجَزَتْ … · كَانُوا قَدْ حَضَرُوا …). Stretch: report it — قَالَتْ لَيْلَى إِنَّهَا كَانَتْ قَدْ أَنْجَزَتْ … (P2-L02 + today).
Translations: I had completed a research project before enrolling at university · my classmate had obtained a scholarship before the term began · my brother had worked a full year before deciding on a specialism · by graduation we had attended dozens of lectures.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item into the right group.
Then say each past verb in a full past-perfect sentence: كَانَ قَدْ دَرَسَ … · كَانَتْ قَدْ تَخَصَّصَتْ … · كُنْتُ قَدْ أَنْهَيْتُ … · كَانُوا قَدْ تَخَرَّجُوا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item into the right group.
Then say each past verb in a full past-perfect sentence: كَانَ قَدْ دَرَسَ … · كَانَتْ قَدْ تَخَصَّصَتْ … · كُنْتُ قَدْ أَنْهَيْتُ … · كَانُوا قَدْ تَخَرَّجُوا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quiz questions 4, 5, 6, 8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(4 min) — website script. Read it aloud yourself, twice, at natural speed with pauses.
Before listening: students read the questions (● 30s). Core: questions 1, 2 and 3. Develop / Stretch: all 5 — and note WHO had done each thing (I / she / he / we).
Listen 1: just listen. Listen 2: note answers. Then chat the letters.
Support: after the second listening, show the read-along slide (Arabic + English, line by line) for Core students.
SCRIPT (read aloud):
تَقُولُ لَيْلَى: بِحُلُولِ نِهَايَةِ المَرْحَلَةِ الثَّانَوِيَّةِ، كُنْتُ قَدْ قَرَّرْتُ دِرَاسَةَ الطِّبِّ. كُنْتُ قَدْ أَنْجَزْتُ مَشْرُوعًا بَحْثِيًّا فِي عِلْمِ الأَحْيَاءِ قَبْلَ أَنْ أَلْتَحِقَ بِالجَامِعَةِ. وَفِي السَّنَةِ الأُولَى، كَانَتْ زَمِيلَتِي قَدْ حَصَلَتْ عَلَى مِنْحَةٍ دِرَاسِيَّةٍ قَبْلَ أَنْ تَبْدَأَ الفَصْلَ. أَمَّا أَخِي فَكَانَ قَدْ عَمِلَ سَنَةً كَامِلَةً قَبْلَ أَنْ يُقَرِّرَ التَّخَصُّصَ. وَبِحُلُولِ التَّخَرُّجِ، كُنَّا قَدْ حَضَرْنَا عَشَرَاتِ المُحَاضَرَاتِ وَالنَّدَوَاتِ. أَدْرَكْتُ حِينَهَا أَنَّ الاسْتِقْلَالِيَّةَ وَإِدَارَةَ الضَّغْطِ الأَكَادِيمِيِّ لَا تَقِلَّانِ أَهَمِّيَّةً عَنِ الدِّرَاسَةِ نَفْسِهَا.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A: وَقَبْلَ أَنْ تَلْتَحِقَ بِالجَامِعَةِ؟ (Before another action)
B: كُنْتُ قَدْ حَصَلْتُ عَلَى خِبْرَةٍ عَمَلِيَّةٍ قَبْلَ أَنْ أَلْتَحِقَ بِالجَامِعَةِ. (Past perfect + قَبْلَ أَنْ)
Website prompts and model. Students who are not yet at the end of secondary school use “by the end of Year 8 / this year”: بِحُلُولِ نِهَايَةِ السَّنَةِ الثَّامِنَةِ، كُنْتُ قَدْ … To a girl: كُنْتِ قَدْ حَقَّقْتِ · فَعَلْتِ · تَخْتَارِي تَخَصُّصَكِ · تَتَعَامَلِينَ.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Write five past-perfect sentences with correct كَانَ agreement. · Develop — Link two of them to a later action with قَبْلَ أَنْ or بِحُلُولِ. · Stretch — Write a personal statement combining past perfect, reported speech and a conditional.
Website writing task (Stretch): Write one hundred to one hundred and ten words as a university personal statement. Use the past perfect (كَانَ قَدْ) at least twice for prior achievements, a reported-speech clause about what a teacher said, and a Type 1 conditional about the future.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website model answer, with an English translation for Core students.
Students find in the model (● 20s → ◎) the four items on the chips. Website writing model. Evidence: كُنْتُ قَدْ قَرَّرْتُ · بِحُلُولِ … كُنْتُ قَدْ أَنْجَزْتُ · أَدْرُسُ الآنَ · أَشَارَ أُسْتَاذِي إِلَى أَنَّنِي … وَأَكَّدَ أَنَّنِي سَأَكُونُ · إِذَا قُبِلْتُ، سَأُكَرِّسُ.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4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EXTENSION — website reading text. For fast finishers during You Do, or Stretch homework. “You don’t need every word; find the words the question asks about.”
The green key-words panel is a teacher-made glossary so Develop students can also attempt it.
SEND reading strategy (Toolkit 1): cover the text with a piece of paper and uncover one sentence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LESSON MISSION (FLEX) — fast finishers or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(P2-L04 · Study Skills and Academic Success) will spend class time USING this language, so students prepare it tonight — short, simple, easy to access (school guidance: “Simple, Short, Interesting, Relevant, Easy to access”). The five words come from the website P2-L04 vocabulary (study skills).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image" Target="../media/image-23-4.png"/><Relationship Id="rId5" Type="http://schemas.openxmlformats.org/officeDocument/2006/relationships/image" Target="../media/image-23-5.png"/><Relationship Id="rId6" Type="http://schemas.openxmlformats.org/officeDocument/2006/relationships/image" Target="../media/image-23-6.png"/><Relationship Id="rId7" Type="http://schemas.openxmlformats.org/officeDocument/2006/relationships/image" Target="../media/image-23-7.png"/><Relationship Id="rId8" Type="http://schemas.openxmlformats.org/officeDocument/2006/relationships/slideLayout" Target="../slideLayouts/slideLayout1.xml"/><Relationship Id="rId9"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image" Target="../media/image-24-4.png"/><Relationship Id="rId5" Type="http://schemas.openxmlformats.org/officeDocument/2006/relationships/image" Target="../media/image-24-5.png"/><Relationship Id="rId6" Type="http://schemas.openxmlformats.org/officeDocument/2006/relationships/image" Target="../media/image-24-6.png"/><Relationship Id="rId7" Type="http://schemas.openxmlformats.org/officeDocument/2006/relationships/image" Target="../media/image-24-7.png"/><Relationship Id="rId8" Type="http://schemas.openxmlformats.org/officeDocument/2006/relationships/slideLayout" Target="../slideLayouts/slideLayout1.xml"/><Relationship Id="rId9"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1.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1.xml"/><Relationship Id="rId3" Type="http://schemas.openxmlformats.org/officeDocument/2006/relationships/notesSlide" Target="../notesSlides/notesSlide4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YEAR 9  ·  PROGRESSION P2  ·  P2-L03</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P2-L03</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3000" b="1" dirty="0">
                <a:solidFill>
                  <a:srgbClr val="FFFFFF"/>
                </a:solidFill>
                <a:latin typeface="Cambria" pitchFamily="34" charset="0"/>
                <a:cs typeface="Amiri" pitchFamily="2" charset="-78"/>
              </a:rPr>
              <a:t>University Life and Higher Education</a:t>
            </a:r>
            <a:endParaRPr lang="en-US" sz="300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cs typeface="Amiri" pitchFamily="2" charset="-78"/>
              </a:rPr>
              <a:t>الحَيَاةُ الجَامِعِيَّةُ وَالتَّعْلِيمُ العَالِي</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Describe university life and add temporal depth with the past perfect — </a:t>
            </a:r>
            <a:pPr algn="l" indent="0" marL="0">
              <a:buNone/>
            </a:pPr>
            <a:r>
              <a:rPr lang="ar-SA" altLang="en-US" sz="1800" dirty="0">
                <a:solidFill>
                  <a:srgbClr val="C6D2E6"/>
                </a:solidFill>
                <a:latin typeface="Amiri" pitchFamily="2" charset="-78"/>
                <a:cs typeface="Amiri" pitchFamily="2" charset="-78"/>
              </a:rPr>
              <a:t>كَانَ قَدْ</a:t>
            </a:r>
            <a:pPr algn="l" indent="0" marL="0">
              <a:buNone/>
            </a:pPr>
            <a:r>
              <a:rPr lang="en-US" sz="1400" dirty="0">
                <a:solidFill>
                  <a:srgbClr val="C6D2E6"/>
                </a:solidFill>
                <a:latin typeface="Calibri" pitchFamily="34" charset="0"/>
                <a:cs typeface="Amiri" pitchFamily="2" charset="-78"/>
              </a:rPr>
              <a:t> + a past verb (</a:t>
            </a:r>
            <a:pPr algn="l" indent="0" marL="0">
              <a:buNone/>
            </a:pPr>
            <a:r>
              <a:rPr lang="ar-SA" altLang="en-US" sz="1800" dirty="0">
                <a:solidFill>
                  <a:srgbClr val="C6D2E6"/>
                </a:solidFill>
                <a:latin typeface="Amiri" pitchFamily="2" charset="-78"/>
                <a:cs typeface="Amiri" pitchFamily="2" charset="-78"/>
              </a:rPr>
              <a:t>كُنْتُ قَدْ أَنْجَزْتُ</a:t>
            </a:r>
            <a:pPr algn="l" indent="0" marL="0">
              <a:buNone/>
            </a:pPr>
            <a:r>
              <a:rPr lang="en-US" sz="1400" dirty="0">
                <a:solidFill>
                  <a:srgbClr val="C6D2E6"/>
                </a:solidFill>
                <a:latin typeface="Calibri" pitchFamily="34" charset="0"/>
                <a:cs typeface="Amiri" pitchFamily="2" charset="-78"/>
              </a:rPr>
              <a:t> · </a:t>
            </a:r>
            <a:pPr algn="l" indent="0" marL="0">
              <a:buNone/>
            </a:pPr>
            <a:r>
              <a:rPr lang="ar-SA" altLang="en-US" sz="1800" dirty="0">
                <a:solidFill>
                  <a:srgbClr val="C6D2E6"/>
                </a:solidFill>
                <a:latin typeface="Amiri" pitchFamily="2" charset="-78"/>
                <a:cs typeface="Amiri" pitchFamily="2" charset="-78"/>
              </a:rPr>
              <a:t>كَانَتْ قَدْ حَصَلَتْ</a:t>
            </a:r>
            <a:pPr algn="l" indent="0" marL="0">
              <a:buNone/>
            </a:pPr>
            <a:r>
              <a:rPr lang="en-US" sz="1400" dirty="0">
                <a:solidFill>
                  <a:srgbClr val="C6D2E6"/>
                </a:solidFill>
                <a:latin typeface="Calibri" pitchFamily="34" charset="0"/>
                <a:cs typeface="Amiri" pitchFamily="2" charset="-78"/>
              </a:rPr>
              <a:t>) — placing one past action before another (… </a:t>
            </a:r>
            <a:pPr algn="l" indent="0" marL="0">
              <a:buNone/>
            </a:pPr>
            <a:r>
              <a:rPr lang="ar-SA" altLang="en-US" sz="1800" dirty="0">
                <a:solidFill>
                  <a:srgbClr val="C6D2E6"/>
                </a:solidFill>
                <a:latin typeface="Amiri" pitchFamily="2" charset="-78"/>
                <a:cs typeface="Amiri" pitchFamily="2" charset="-78"/>
              </a:rPr>
              <a:t>قَبْلَ أَنْ أَلْتَحِقَ</a:t>
            </a:r>
            <a:pPr algn="l" indent="0" marL="0">
              <a:buNone/>
            </a:pPr>
            <a:r>
              <a:rPr lang="en-US" sz="1400" dirty="0">
                <a:solidFill>
                  <a:srgbClr val="C6D2E6"/>
                </a:solidFill>
                <a:latin typeface="Calibri" pitchFamily="34" charset="0"/>
                <a:cs typeface="Amiri" pitchFamily="2" charset="-78"/>
              </a:rPr>
              <a:t> · </a:t>
            </a:r>
            <a:pPr algn="l" indent="0" marL="0">
              <a:buNone/>
            </a:pPr>
            <a:r>
              <a:rPr lang="ar-SA" altLang="en-US" sz="1800" dirty="0">
                <a:solidFill>
                  <a:srgbClr val="C6D2E6"/>
                </a:solidFill>
                <a:latin typeface="Amiri" pitchFamily="2" charset="-78"/>
                <a:cs typeface="Amiri" pitchFamily="2" charset="-78"/>
              </a:rPr>
              <a:t>بِحُلُولِ التَّخَرُّجِ</a:t>
            </a:r>
            <a:pPr algn="l" indent="0" marL="0">
              <a:buNone/>
            </a:pPr>
            <a:r>
              <a:rPr lang="en-US" sz="1400" dirty="0">
                <a:solidFill>
                  <a:srgbClr val="C6D2E6"/>
                </a:solidFill>
                <a:latin typeface="Calibri" pitchFamily="34" charset="0"/>
                <a:cs typeface="Amiri" pitchFamily="2" charset="-78"/>
              </a:rPr>
              <a:t> …).</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P2-L03 · Progression P2 · Education and Future Plans</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Progression · B1 → B2</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Pathways › Progression › P2 › P2-L03</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P2-L03 · Grammar</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P2-L03</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49</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P2-L03 · Grammar</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P2-L03</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cs typeface="Amiri" pitchFamily="2" charset="-78"/>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University words, the past perfect for every person, two past events in order.</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cs typeface="Amiri" pitchFamily="2" charset="-78"/>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Sort by person, build a personal-statement timeline, match the route.</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cs typeface="Amiri" pitchFamily="2" charset="-78"/>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cs typeface="Amiri" pitchFamily="2" charset="-78"/>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cs typeface="Amiri" pitchFamily="2" charset="-78"/>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at home for P2-L04.</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49</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P2-L03 · Grammar</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مُحَاضَرَةٌ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seminar</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lecture</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faculty</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مِنْحَةٌ دِرَاسِيَّةٌ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scholarship</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tuition fees</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student loan</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كُلِّيَّةٌ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campus</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department</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faculty, college</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Report «</a:t>
            </a:r>
            <a:pPr algn="l" indent="0" marL="0">
              <a:buNone/>
            </a:pPr>
            <a:r>
              <a:rPr lang="ar-SA" altLang="en-US" sz="1650" b="1" dirty="0">
                <a:solidFill>
                  <a:srgbClr val="1B3B6F"/>
                </a:solidFill>
                <a:latin typeface="Amiri" pitchFamily="2" charset="-78"/>
                <a:cs typeface="Amiri" pitchFamily="2" charset="-78"/>
              </a:rPr>
              <a:t>سَأَدْرُسُ الطِّبَّ</a:t>
            </a:r>
            <a:pPr algn="l" indent="0" marL="0">
              <a:buNone/>
            </a:pPr>
            <a:r>
              <a:rPr lang="en-US" sz="1250" b="1" dirty="0">
                <a:solidFill>
                  <a:srgbClr val="1B3B6F"/>
                </a:solidFill>
                <a:latin typeface="Calibri" pitchFamily="34" charset="0"/>
                <a:cs typeface="Amiri" pitchFamily="2" charset="-78"/>
              </a:rPr>
              <a:t>» said by a girl.</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قَالَتْ أَنَّهَا سَتَدْرُسُ الطِّبَّ.</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قَالَتْ إِنَّهَا دَرَسَتِ الطِّبَّ.</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قَالَتْ إِنَّهَا سَتَدْرُسُ الطِّبَّ.</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“she” form of </a:t>
            </a:r>
            <a:pPr algn="l" indent="0" marL="0">
              <a:buNone/>
            </a:pPr>
            <a:r>
              <a:rPr lang="ar-SA" altLang="en-US" sz="1650" b="1" dirty="0">
                <a:solidFill>
                  <a:srgbClr val="1B3B6F"/>
                </a:solidFill>
                <a:latin typeface="Amiri" pitchFamily="2" charset="-78"/>
                <a:cs typeface="Amiri" pitchFamily="2" charset="-78"/>
              </a:rPr>
              <a:t>كَانَ</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كَانَتْ</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كَانَ</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كُنْتُ</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49</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P2-L03 · Grammar</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مُحَاضَرَةٌ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seminar</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lecture</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faculty</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(P2-L02).</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مِنْحَةٌ دِرَاسِيَّةٌ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scholarship</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tuition fees</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student loan</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(P2-L02).</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كُلِّيَّةٌ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campus</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department</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faculty, college</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(P2-L02).</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Report «</a:t>
            </a:r>
            <a:pPr algn="l" indent="0" marL="0">
              <a:buNone/>
            </a:pPr>
            <a:r>
              <a:rPr lang="ar-SA" altLang="en-US" sz="1650" b="1" dirty="0">
                <a:solidFill>
                  <a:srgbClr val="1B3B6F"/>
                </a:solidFill>
                <a:latin typeface="Amiri" pitchFamily="2" charset="-78"/>
                <a:cs typeface="Amiri" pitchFamily="2" charset="-78"/>
              </a:rPr>
              <a:t>سَأَدْرُسُ الطِّبَّ</a:t>
            </a:r>
            <a:pPr algn="l" indent="0" marL="0">
              <a:buNone/>
            </a:pPr>
            <a:r>
              <a:rPr lang="en-US" sz="1250" b="1" dirty="0">
                <a:solidFill>
                  <a:srgbClr val="1B3B6F"/>
                </a:solidFill>
                <a:latin typeface="Calibri" pitchFamily="34" charset="0"/>
                <a:cs typeface="Amiri" pitchFamily="2" charset="-78"/>
              </a:rPr>
              <a:t>» said by a girl.</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قَالَتْ أَنَّهَا سَتَدْرُسُ الطِّبَّ.</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قَالَتْ إِنَّهَا دَرَسَتِ الطِّبَّ.</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قَالَتْ إِنَّهَا سَتَدْرُسُ الطِّبَّ.</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P2-L02: reported speech.</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“she” form of </a:t>
            </a:r>
            <a:pPr algn="l" indent="0" marL="0">
              <a:buNone/>
            </a:pPr>
            <a:r>
              <a:rPr lang="ar-SA" altLang="en-US" sz="1650" b="1" dirty="0">
                <a:solidFill>
                  <a:srgbClr val="1B3B6F"/>
                </a:solidFill>
                <a:latin typeface="Amiri" pitchFamily="2" charset="-78"/>
                <a:cs typeface="Amiri" pitchFamily="2" charset="-78"/>
              </a:rPr>
              <a:t>كَانَ</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كَانَتْ</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كَانَ</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كُنْتُ</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GM-NVS-03: kāna and its forms.</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cs typeface="Amiri" pitchFamily="2" charset="-78"/>
              </a:rPr>
              <a:t>Two past events? The EARLIER one takes kāna qad + a past verb.</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1950" b="1" dirty="0">
                <a:solidFill>
                  <a:srgbClr val="D6336C"/>
                </a:solidFill>
                <a:latin typeface="Amiri" pitchFamily="2" charset="-78"/>
                <a:cs typeface="Amiri" pitchFamily="2" charset="-78"/>
              </a:rPr>
              <a:t>كُنْتُ قَدْ أَنْجَزْتُ</a:t>
            </a:r>
            <a:pPr rtl="1" algn="ctr" indent="0" marL="0">
              <a:lnSpc>
                <a:spcPct val="120000"/>
              </a:lnSpc>
              <a:buNone/>
            </a:pPr>
            <a:r>
              <a:rPr lang="ar-SA" altLang="en-US" sz="1950" b="1" dirty="0">
                <a:solidFill>
                  <a:srgbClr val="1B3B6F"/>
                </a:solidFill>
                <a:latin typeface="Amiri" pitchFamily="2" charset="-78"/>
                <a:cs typeface="Amiri" pitchFamily="2" charset="-78"/>
              </a:rPr>
              <a:t> مَشْرُوعًا </a:t>
            </a:r>
            <a:pPr rtl="1" algn="ctr" indent="0" marL="0">
              <a:lnSpc>
                <a:spcPct val="120000"/>
              </a:lnSpc>
              <a:buNone/>
            </a:pPr>
            <a:r>
              <a:rPr lang="ar-SA" altLang="en-US" sz="1950" b="1" dirty="0">
                <a:solidFill>
                  <a:srgbClr val="0E7C86"/>
                </a:solidFill>
                <a:latin typeface="Amiri" pitchFamily="2" charset="-78"/>
                <a:cs typeface="Amiri" pitchFamily="2" charset="-78"/>
              </a:rPr>
              <a:t>قَبْلَ أَنْ أَلْتَحِقَ</a:t>
            </a:r>
            <a:pPr rtl="1" algn="ctr" indent="0" marL="0">
              <a:lnSpc>
                <a:spcPct val="120000"/>
              </a:lnSpc>
              <a:buNone/>
            </a:pPr>
            <a:r>
              <a:rPr lang="ar-SA" altLang="en-US" sz="1950" b="1" dirty="0">
                <a:solidFill>
                  <a:srgbClr val="1B3B6F"/>
                </a:solidFill>
                <a:latin typeface="Amiri" pitchFamily="2" charset="-78"/>
                <a:cs typeface="Amiri" pitchFamily="2" charset="-78"/>
              </a:rPr>
              <a:t> بِالجَامِعَةِ</a:t>
            </a:r>
            <a:endParaRPr lang="ar-SA" sz="19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49</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P2-L03 · Grammar</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P2-L03</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Name the parts of university life in academic Arabic.</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Form the past perfect kāna qad + past for all persons.</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Agree kāna / kānat with the subject and keep the second verb past.</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Write a university personal statement using the past perfect.</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say 8 university words.</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form the past perfect for he / she / I.</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place one past action before another (qabla an).</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use bi-ḥulūli to frame it.</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write a personal statement across four times.</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add reported speech and a conditional.</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49</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cs typeface="Amiri" pitchFamily="2" charset="-78"/>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cs typeface="Amiri" pitchFamily="2" charset="-78"/>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2" charset="-78"/>
                <a:cs typeface="Amiri" pitchFamily="2" charset="-78"/>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cs typeface="Amiri" pitchFamily="2" charset="-78"/>
              </a:rPr>
              <a:t>25 words from the website in 3 groups. Learn the CORE words first. Hear it → say it → see it → use it.</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1</a:t>
            </a:r>
            <a:endParaRPr lang="en-US" sz="900" dirty="0"/>
          </a:p>
          <a:p>
            <a:pPr indent="0" marL="0">
              <a:buNone/>
            </a:pPr>
            <a:r>
              <a:rPr lang="en-US" sz="1200" b="1" dirty="0">
                <a:solidFill>
                  <a:srgbClr val="FFFFFF"/>
                </a:solidFill>
                <a:latin typeface="Calibri" pitchFamily="34" charset="0"/>
                <a:cs typeface="Amiri" pitchFamily="2" charset="-78"/>
              </a:rPr>
              <a:t>Campus and study · 9</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2</a:t>
            </a:r>
            <a:endParaRPr lang="en-US" sz="900" dirty="0"/>
          </a:p>
          <a:p>
            <a:pPr indent="0" marL="0">
              <a:buNone/>
            </a:pPr>
            <a:r>
              <a:rPr lang="en-US" sz="1200" b="1" dirty="0">
                <a:solidFill>
                  <a:srgbClr val="FFFFFF"/>
                </a:solidFill>
                <a:latin typeface="Calibri" pitchFamily="34" charset="0"/>
                <a:cs typeface="Amiri" pitchFamily="2" charset="-78"/>
              </a:rPr>
              <a:t>Degrees and finance · 8</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3</a:t>
            </a:r>
            <a:endParaRPr lang="en-US" sz="900" dirty="0"/>
          </a:p>
          <a:p>
            <a:pPr indent="0" marL="0">
              <a:buNone/>
            </a:pPr>
            <a:r>
              <a:rPr lang="en-US" sz="1200" b="1" dirty="0">
                <a:solidFill>
                  <a:srgbClr val="FFFFFF"/>
                </a:solidFill>
                <a:latin typeface="Calibri" pitchFamily="34" charset="0"/>
                <a:cs typeface="Amiri" pitchFamily="2" charset="-78"/>
              </a:rPr>
              <a:t>University life and past-perfect helpers · 8</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cs typeface="Amiri" pitchFamily="2" charset="-78"/>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جَامِعَةٌ</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‎جامعہ‎ </a:t>
            </a:r>
            <a:pPr indent="0" marL="0">
              <a:buNone/>
            </a:pPr>
            <a:r>
              <a:rPr lang="en-US" sz="950" b="1" dirty="0">
                <a:solidFill>
                  <a:srgbClr val="2E8B57"/>
                </a:solidFill>
                <a:latin typeface="Calibri" pitchFamily="34" charset="0"/>
                <a:cs typeface="Amiri" pitchFamily="2" charset="-78"/>
              </a:rPr>
              <a:t> jāmiʿa · university</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كُلِّيَّةٌ</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‎کلیہ‎ </a:t>
            </a:r>
            <a:pPr indent="0" marL="0">
              <a:buNone/>
            </a:pPr>
            <a:r>
              <a:rPr lang="en-US" sz="950" b="1" dirty="0">
                <a:solidFill>
                  <a:srgbClr val="2E8B57"/>
                </a:solidFill>
                <a:latin typeface="Calibri" pitchFamily="34" charset="0"/>
                <a:cs typeface="Amiri" pitchFamily="2" charset="-78"/>
              </a:rPr>
              <a:t> kulliya · faculty, college</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أُسْتَاذٌ</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‎استاد‎ </a:t>
            </a:r>
            <a:pPr indent="0" marL="0">
              <a:buNone/>
            </a:pPr>
            <a:r>
              <a:rPr lang="en-US" sz="950" b="1" dirty="0">
                <a:solidFill>
                  <a:srgbClr val="2E8B57"/>
                </a:solidFill>
                <a:latin typeface="Calibri" pitchFamily="34" charset="0"/>
                <a:cs typeface="Amiri" pitchFamily="2" charset="-78"/>
              </a:rPr>
              <a:t> ustād · Arabic: professor · Urdu: any teacher</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بَحْثٌ</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‎بحث‎ </a:t>
            </a:r>
            <a:pPr indent="0" marL="0">
              <a:buNone/>
            </a:pPr>
            <a:r>
              <a:rPr lang="en-US" sz="950" b="1" dirty="0">
                <a:solidFill>
                  <a:srgbClr val="2E8B57"/>
                </a:solidFill>
                <a:latin typeface="Calibri" pitchFamily="34" charset="0"/>
                <a:cs typeface="Amiri" pitchFamily="2" charset="-78"/>
              </a:rPr>
              <a:t> bahs · Arabic: research · Urdu: debate, argument</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مَقَالَةٌ · رِسَالَةٌ</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‎مقالہ‎ </a:t>
            </a:r>
            <a:pPr indent="0" marL="0">
              <a:buNone/>
            </a:pPr>
            <a:r>
              <a:rPr lang="en-US" sz="950" b="1" dirty="0">
                <a:solidFill>
                  <a:srgbClr val="2E8B57"/>
                </a:solidFill>
                <a:latin typeface="Calibri" pitchFamily="34" charset="0"/>
                <a:cs typeface="Amiri" pitchFamily="2" charset="-78"/>
              </a:rPr>
              <a:t> maqāla · a thesis (Urdu مقالہ = Arabic رِسَالَةٌ)</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49</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P2-L03 · Grammar</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Campus and study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P2-L03</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حَرَمٌ جَامِعِيٌّ</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 university campus</a:t>
            </a:r>
            <a:endParaRPr lang="en-US" sz="1350" dirty="0"/>
          </a:p>
          <a:p>
            <a:pPr indent="0" marL="0">
              <a:buNone/>
            </a:pPr>
            <a:r>
              <a:rPr lang="en-US" sz="1100" i="1" dirty="0">
                <a:solidFill>
                  <a:srgbClr val="5A6472"/>
                </a:solidFill>
                <a:latin typeface="Calibri" pitchFamily="34" charset="0"/>
                <a:cs typeface="Amiri" pitchFamily="2" charset="-78"/>
              </a:rPr>
              <a:t>ḥa-ra-mun jā-mi-ʿiy-yun</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25" name="Shape 22"/>
          <p:cNvSpPr/>
          <p:nvPr/>
        </p:nvSpPr>
        <p:spPr>
          <a:xfrm>
            <a:off x="4782312" y="1938528"/>
            <a:ext cx="709574" cy="256032"/>
          </a:xfrm>
          <a:prstGeom prst="roundRect">
            <a:avLst>
              <a:gd name="adj" fmla="val 50000"/>
            </a:avLst>
          </a:prstGeom>
          <a:solidFill>
            <a:srgbClr val="EFE7D2"/>
          </a:solidFill>
          <a:ln w="12700">
            <a:solidFill>
              <a:srgbClr val="EFE7D2"/>
            </a:solidFill>
            <a:prstDash val="solid"/>
          </a:ln>
        </p:spPr>
      </p:sp>
      <p:sp>
        <p:nvSpPr>
          <p:cNvPr id="26" name="Text 23"/>
          <p:cNvSpPr txBox="1"/>
          <p:nvPr/>
        </p:nvSpPr>
        <p:spPr>
          <a:xfrm>
            <a:off x="4782312"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27" name="Shape 24"/>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9" name="Text 26"/>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كُلِّيَّةٌ</a:t>
            </a:r>
            <a:endParaRPr lang="ar-SA" sz="3000" dirty="0"/>
          </a:p>
        </p:txBody>
      </p:sp>
      <p:sp>
        <p:nvSpPr>
          <p:cNvPr id="30" name="Text 27"/>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 faculty, college</a:t>
            </a:r>
            <a:endParaRPr lang="en-US" sz="1350" dirty="0"/>
          </a:p>
          <a:p>
            <a:pPr indent="0" marL="0">
              <a:buNone/>
            </a:pPr>
            <a:r>
              <a:rPr lang="en-US" sz="1100" i="1" dirty="0">
                <a:solidFill>
                  <a:srgbClr val="5A6472"/>
                </a:solidFill>
                <a:latin typeface="Calibri" pitchFamily="34" charset="0"/>
                <a:cs typeface="Amiri" pitchFamily="2" charset="-78"/>
              </a:rPr>
              <a:t>kul-liy-ya-tun</a:t>
            </a:r>
            <a:endParaRPr lang="en-US" sz="1350" dirty="0"/>
          </a:p>
        </p:txBody>
      </p:sp>
      <p:sp>
        <p:nvSpPr>
          <p:cNvPr id="31" name="Shape 28"/>
          <p:cNvSpPr/>
          <p:nvPr/>
        </p:nvSpPr>
        <p:spPr>
          <a:xfrm>
            <a:off x="4416552" y="3438144"/>
            <a:ext cx="3364992" cy="438912"/>
          </a:xfrm>
          <a:prstGeom prst="roundRect">
            <a:avLst>
              <a:gd name="adj" fmla="val 10417"/>
            </a:avLst>
          </a:prstGeom>
          <a:solidFill>
            <a:srgbClr val="F4F1EA"/>
          </a:solidFill>
          <a:ln w="9525">
            <a:solidFill>
              <a:srgbClr val="F4F1EA"/>
            </a:solidFill>
            <a:prstDash val="solid"/>
          </a:ln>
        </p:spPr>
      </p:sp>
      <p:sp>
        <p:nvSpPr>
          <p:cNvPr id="32" name="Text 29"/>
          <p:cNvSpPr txBox="1"/>
          <p:nvPr/>
        </p:nvSpPr>
        <p:spPr>
          <a:xfrm>
            <a:off x="4471416"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33" name="Text 30"/>
          <p:cNvSpPr txBox="1"/>
          <p:nvPr/>
        </p:nvSpPr>
        <p:spPr>
          <a:xfrm>
            <a:off x="4462272"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كُلِّيَّاتٌ</a:t>
            </a:r>
            <a:endParaRPr lang="ar-SA" sz="1500" dirty="0"/>
          </a:p>
        </p:txBody>
      </p:sp>
      <p:sp>
        <p:nvSpPr>
          <p:cNvPr id="34" name="Shape 31"/>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566928" y="1920240"/>
            <a:ext cx="310896" cy="310896"/>
          </a:xfrm>
          <a:prstGeom prst="ellipse">
            <a:avLst/>
          </a:prstGeom>
          <a:solidFill>
            <a:srgbClr val="F4F1EA"/>
          </a:solidFill>
          <a:ln w="12700">
            <a:solidFill>
              <a:srgbClr val="F4F1EA"/>
            </a:solidFill>
            <a:prstDash val="solid"/>
          </a:ln>
        </p:spPr>
      </p:sp>
      <p:sp>
        <p:nvSpPr>
          <p:cNvPr id="36" name="Text 33"/>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37" name="Shape 34"/>
          <p:cNvSpPr/>
          <p:nvPr/>
        </p:nvSpPr>
        <p:spPr>
          <a:xfrm>
            <a:off x="960120" y="1938528"/>
            <a:ext cx="709574" cy="256032"/>
          </a:xfrm>
          <a:prstGeom prst="roundRect">
            <a:avLst>
              <a:gd name="adj" fmla="val 50000"/>
            </a:avLst>
          </a:prstGeom>
          <a:solidFill>
            <a:srgbClr val="EFE7D2"/>
          </a:solidFill>
          <a:ln w="12700">
            <a:solidFill>
              <a:srgbClr val="EFE7D2"/>
            </a:solidFill>
            <a:prstDash val="solid"/>
          </a:ln>
        </p:spPr>
      </p:sp>
      <p:sp>
        <p:nvSpPr>
          <p:cNvPr id="38" name="Text 35"/>
          <p:cNvSpPr txBox="1"/>
          <p:nvPr/>
        </p:nvSpPr>
        <p:spPr>
          <a:xfrm>
            <a:off x="960120"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39" name="Text 36"/>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قِسْمٌ</a:t>
            </a:r>
            <a:endParaRPr lang="ar-SA" sz="3000" dirty="0"/>
          </a:p>
        </p:txBody>
      </p:sp>
      <p:sp>
        <p:nvSpPr>
          <p:cNvPr id="40" name="Text 37"/>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 department</a:t>
            </a:r>
            <a:endParaRPr lang="en-US" sz="1350" dirty="0"/>
          </a:p>
          <a:p>
            <a:pPr indent="0" marL="0">
              <a:buNone/>
            </a:pPr>
            <a:r>
              <a:rPr lang="en-US" sz="1100" i="1" dirty="0">
                <a:solidFill>
                  <a:srgbClr val="5A6472"/>
                </a:solidFill>
                <a:latin typeface="Calibri" pitchFamily="34" charset="0"/>
                <a:cs typeface="Amiri" pitchFamily="2" charset="-78"/>
              </a:rPr>
              <a:t>qis-mun</a:t>
            </a:r>
            <a:endParaRPr lang="en-US" sz="1350" dirty="0"/>
          </a:p>
        </p:txBody>
      </p:sp>
      <p:sp>
        <p:nvSpPr>
          <p:cNvPr id="41" name="Shape 38"/>
          <p:cNvSpPr/>
          <p:nvPr/>
        </p:nvSpPr>
        <p:spPr>
          <a:xfrm>
            <a:off x="594360" y="3438144"/>
            <a:ext cx="3364992" cy="438912"/>
          </a:xfrm>
          <a:prstGeom prst="roundRect">
            <a:avLst>
              <a:gd name="adj" fmla="val 10417"/>
            </a:avLst>
          </a:prstGeom>
          <a:solidFill>
            <a:srgbClr val="F4F1EA"/>
          </a:solidFill>
          <a:ln w="9525">
            <a:solidFill>
              <a:srgbClr val="F4F1EA"/>
            </a:solidFill>
            <a:prstDash val="solid"/>
          </a:ln>
        </p:spPr>
      </p:sp>
      <p:sp>
        <p:nvSpPr>
          <p:cNvPr id="42" name="Text 39"/>
          <p:cNvSpPr txBox="1"/>
          <p:nvPr/>
        </p:nvSpPr>
        <p:spPr>
          <a:xfrm>
            <a:off x="649224"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43" name="Text 40"/>
          <p:cNvSpPr txBox="1"/>
          <p:nvPr/>
        </p:nvSpPr>
        <p:spPr>
          <a:xfrm>
            <a:off x="640080"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أَقْسَامٌ</a:t>
            </a:r>
            <a:endParaRPr lang="ar-SA" sz="1500" dirty="0"/>
          </a:p>
        </p:txBody>
      </p:sp>
      <p:sp>
        <p:nvSpPr>
          <p:cNvPr id="44" name="Shape 41"/>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5" name="Shape 42"/>
          <p:cNvSpPr/>
          <p:nvPr/>
        </p:nvSpPr>
        <p:spPr>
          <a:xfrm>
            <a:off x="8211312" y="4261104"/>
            <a:ext cx="310896" cy="310896"/>
          </a:xfrm>
          <a:prstGeom prst="ellipse">
            <a:avLst/>
          </a:prstGeom>
          <a:solidFill>
            <a:srgbClr val="F4F1EA"/>
          </a:solidFill>
          <a:ln w="12700">
            <a:solidFill>
              <a:srgbClr val="F4F1EA"/>
            </a:solidFill>
            <a:prstDash val="solid"/>
          </a:ln>
        </p:spPr>
      </p:sp>
      <p:sp>
        <p:nvSpPr>
          <p:cNvPr id="46" name="Text 43"/>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47" name="Shape 44"/>
          <p:cNvSpPr/>
          <p:nvPr/>
        </p:nvSpPr>
        <p:spPr>
          <a:xfrm>
            <a:off x="8604504" y="4279392"/>
            <a:ext cx="896112" cy="256032"/>
          </a:xfrm>
          <a:prstGeom prst="roundRect">
            <a:avLst>
              <a:gd name="adj" fmla="val 50000"/>
            </a:avLst>
          </a:prstGeom>
          <a:solidFill>
            <a:srgbClr val="EFE7D2"/>
          </a:solidFill>
          <a:ln w="12700">
            <a:solidFill>
              <a:srgbClr val="EFE7D2"/>
            </a:solidFill>
            <a:prstDash val="solid"/>
          </a:ln>
        </p:spPr>
      </p:sp>
      <p:sp>
        <p:nvSpPr>
          <p:cNvPr id="48" name="Text 45"/>
          <p:cNvSpPr txBox="1"/>
          <p:nvPr/>
        </p:nvSpPr>
        <p:spPr>
          <a:xfrm>
            <a:off x="8604504"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49" name="Shape 46"/>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50" name="Text 47"/>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1" name="Text 48"/>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أُسْتَاذٌ جَامِعِيٌّ</a:t>
            </a:r>
            <a:endParaRPr lang="ar-SA" sz="3000" dirty="0"/>
          </a:p>
        </p:txBody>
      </p:sp>
      <p:sp>
        <p:nvSpPr>
          <p:cNvPr id="52" name="Text 49"/>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 university professor</a:t>
            </a:r>
            <a:endParaRPr lang="en-US" sz="1350" dirty="0"/>
          </a:p>
          <a:p>
            <a:pPr indent="0" marL="0">
              <a:buNone/>
            </a:pPr>
            <a:r>
              <a:rPr lang="en-US" sz="1100" i="1" dirty="0">
                <a:solidFill>
                  <a:srgbClr val="5A6472"/>
                </a:solidFill>
                <a:latin typeface="Calibri" pitchFamily="34" charset="0"/>
                <a:cs typeface="Amiri" pitchFamily="2" charset="-78"/>
              </a:rPr>
              <a:t>us-tā-dhun jā-mi-ʿiy-yun</a:t>
            </a:r>
            <a:endParaRPr lang="en-US" sz="1350" dirty="0"/>
          </a:p>
        </p:txBody>
      </p:sp>
      <p:sp>
        <p:nvSpPr>
          <p:cNvPr id="53" name="Shape 50"/>
          <p:cNvSpPr/>
          <p:nvPr/>
        </p:nvSpPr>
        <p:spPr>
          <a:xfrm>
            <a:off x="9966960" y="5779008"/>
            <a:ext cx="1636776" cy="438912"/>
          </a:xfrm>
          <a:prstGeom prst="roundRect">
            <a:avLst>
              <a:gd name="adj" fmla="val 10417"/>
            </a:avLst>
          </a:prstGeom>
          <a:solidFill>
            <a:srgbClr val="F4F1EA"/>
          </a:solidFill>
          <a:ln w="9525">
            <a:solidFill>
              <a:srgbClr val="F4F1EA"/>
            </a:solidFill>
            <a:prstDash val="solid"/>
          </a:ln>
        </p:spPr>
      </p:sp>
      <p:sp>
        <p:nvSpPr>
          <p:cNvPr id="54" name="Text 51"/>
          <p:cNvSpPr txBox="1"/>
          <p:nvPr/>
        </p:nvSpPr>
        <p:spPr>
          <a:xfrm>
            <a:off x="10021824"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55" name="Text 52"/>
          <p:cNvSpPr txBox="1"/>
          <p:nvPr/>
        </p:nvSpPr>
        <p:spPr>
          <a:xfrm>
            <a:off x="10012680"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أَسَاتِذَةٌ</a:t>
            </a:r>
            <a:endParaRPr lang="ar-SA" sz="1500" dirty="0"/>
          </a:p>
        </p:txBody>
      </p:sp>
      <p:sp>
        <p:nvSpPr>
          <p:cNvPr id="56" name="Shape 53"/>
          <p:cNvSpPr/>
          <p:nvPr/>
        </p:nvSpPr>
        <p:spPr>
          <a:xfrm>
            <a:off x="8238744" y="5779008"/>
            <a:ext cx="1636776" cy="438912"/>
          </a:xfrm>
          <a:prstGeom prst="roundRect">
            <a:avLst>
              <a:gd name="adj" fmla="val 10417"/>
            </a:avLst>
          </a:prstGeom>
          <a:solidFill>
            <a:srgbClr val="F4F1EA"/>
          </a:solidFill>
          <a:ln w="9525">
            <a:solidFill>
              <a:srgbClr val="F4F1EA"/>
            </a:solidFill>
            <a:prstDash val="solid"/>
          </a:ln>
        </p:spPr>
      </p:sp>
      <p:sp>
        <p:nvSpPr>
          <p:cNvPr id="57" name="Text 54"/>
          <p:cNvSpPr txBox="1"/>
          <p:nvPr/>
        </p:nvSpPr>
        <p:spPr>
          <a:xfrm>
            <a:off x="8293608"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58" name="Text 55"/>
          <p:cNvSpPr txBox="1"/>
          <p:nvPr/>
        </p:nvSpPr>
        <p:spPr>
          <a:xfrm>
            <a:off x="8284464"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أُسْتَاذَةٌ جَامِعِيَّةٌ</a:t>
            </a:r>
            <a:endParaRPr lang="ar-SA" sz="1500" dirty="0"/>
          </a:p>
        </p:txBody>
      </p:sp>
      <p:sp>
        <p:nvSpPr>
          <p:cNvPr id="59" name="Shape 56"/>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0" name="Shape 57"/>
          <p:cNvSpPr/>
          <p:nvPr/>
        </p:nvSpPr>
        <p:spPr>
          <a:xfrm>
            <a:off x="4389120" y="4261104"/>
            <a:ext cx="310896" cy="310896"/>
          </a:xfrm>
          <a:prstGeom prst="ellipse">
            <a:avLst/>
          </a:prstGeom>
          <a:solidFill>
            <a:srgbClr val="F4F1EA"/>
          </a:solidFill>
          <a:ln w="12700">
            <a:solidFill>
              <a:srgbClr val="F4F1EA"/>
            </a:solidFill>
            <a:prstDash val="solid"/>
          </a:ln>
        </p:spPr>
      </p:sp>
      <p:sp>
        <p:nvSpPr>
          <p:cNvPr id="61" name="Text 58"/>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62" name="Shape 59"/>
          <p:cNvSpPr/>
          <p:nvPr/>
        </p:nvSpPr>
        <p:spPr>
          <a:xfrm>
            <a:off x="4782312" y="4279392"/>
            <a:ext cx="709574" cy="256032"/>
          </a:xfrm>
          <a:prstGeom prst="roundRect">
            <a:avLst>
              <a:gd name="adj" fmla="val 50000"/>
            </a:avLst>
          </a:prstGeom>
          <a:solidFill>
            <a:srgbClr val="EFE7D2"/>
          </a:solidFill>
          <a:ln w="12700">
            <a:solidFill>
              <a:srgbClr val="EFE7D2"/>
            </a:solidFill>
            <a:prstDash val="solid"/>
          </a:ln>
        </p:spPr>
      </p:sp>
      <p:sp>
        <p:nvSpPr>
          <p:cNvPr id="63" name="Text 60"/>
          <p:cNvSpPr txBox="1"/>
          <p:nvPr/>
        </p:nvSpPr>
        <p:spPr>
          <a:xfrm>
            <a:off x="4782312" y="4279392"/>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64" name="Shape 61"/>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65" name="Text 62"/>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66" name="Text 63"/>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مُحَاضَرَةٌ</a:t>
            </a:r>
            <a:endParaRPr lang="ar-SA" sz="3000" dirty="0"/>
          </a:p>
        </p:txBody>
      </p:sp>
      <p:sp>
        <p:nvSpPr>
          <p:cNvPr id="67" name="Text 64"/>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 lecture</a:t>
            </a:r>
            <a:endParaRPr lang="en-US" sz="1350" dirty="0"/>
          </a:p>
          <a:p>
            <a:pPr indent="0" marL="0">
              <a:buNone/>
            </a:pPr>
            <a:r>
              <a:rPr lang="en-US" sz="1100" i="1" dirty="0">
                <a:solidFill>
                  <a:srgbClr val="5A6472"/>
                </a:solidFill>
                <a:latin typeface="Calibri" pitchFamily="34" charset="0"/>
                <a:cs typeface="Amiri" pitchFamily="2" charset="-78"/>
              </a:rPr>
              <a:t>mu-ḥā-ḍa-ra-tun</a:t>
            </a:r>
            <a:endParaRPr lang="en-US" sz="1350" dirty="0"/>
          </a:p>
        </p:txBody>
      </p:sp>
      <p:sp>
        <p:nvSpPr>
          <p:cNvPr id="68" name="Shape 65"/>
          <p:cNvSpPr/>
          <p:nvPr/>
        </p:nvSpPr>
        <p:spPr>
          <a:xfrm>
            <a:off x="4416552" y="5779008"/>
            <a:ext cx="3364992" cy="438912"/>
          </a:xfrm>
          <a:prstGeom prst="roundRect">
            <a:avLst>
              <a:gd name="adj" fmla="val 10417"/>
            </a:avLst>
          </a:prstGeom>
          <a:solidFill>
            <a:srgbClr val="F4F1EA"/>
          </a:solidFill>
          <a:ln w="9525">
            <a:solidFill>
              <a:srgbClr val="F4F1EA"/>
            </a:solidFill>
            <a:prstDash val="solid"/>
          </a:ln>
        </p:spPr>
      </p:sp>
      <p:sp>
        <p:nvSpPr>
          <p:cNvPr id="69" name="Text 66"/>
          <p:cNvSpPr txBox="1"/>
          <p:nvPr/>
        </p:nvSpPr>
        <p:spPr>
          <a:xfrm>
            <a:off x="4471416" y="5788152"/>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70" name="Text 67"/>
          <p:cNvSpPr txBox="1"/>
          <p:nvPr/>
        </p:nvSpPr>
        <p:spPr>
          <a:xfrm>
            <a:off x="4462272" y="5824728"/>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مُحَاضَرَاتٌ</a:t>
            </a:r>
            <a:endParaRPr lang="ar-SA" sz="1500" dirty="0"/>
          </a:p>
        </p:txBody>
      </p:sp>
      <p:sp>
        <p:nvSpPr>
          <p:cNvPr id="71" name="Text 6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49</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P2-L03 · Grammar</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Campus and study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P2-L03</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18" name="Shape 15"/>
          <p:cNvSpPr/>
          <p:nvPr/>
        </p:nvSpPr>
        <p:spPr>
          <a:xfrm>
            <a:off x="8604504" y="1938528"/>
            <a:ext cx="709574"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20" name="Text 17"/>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نَدْوَةٌ</a:t>
            </a:r>
            <a:endParaRPr lang="ar-SA" sz="3000" dirty="0"/>
          </a:p>
        </p:txBody>
      </p:sp>
      <p:sp>
        <p:nvSpPr>
          <p:cNvPr id="21" name="Text 18"/>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 seminar</a:t>
            </a:r>
            <a:endParaRPr lang="en-US" sz="1350" dirty="0"/>
          </a:p>
          <a:p>
            <a:pPr indent="0" marL="0">
              <a:buNone/>
            </a:pPr>
            <a:r>
              <a:rPr lang="en-US" sz="1100" i="1" dirty="0">
                <a:solidFill>
                  <a:srgbClr val="5A6472"/>
                </a:solidFill>
                <a:latin typeface="Calibri" pitchFamily="34" charset="0"/>
                <a:cs typeface="Amiri" pitchFamily="2" charset="-78"/>
              </a:rPr>
              <a:t>nad-wa-tun</a:t>
            </a:r>
            <a:endParaRPr lang="en-US" sz="1350" dirty="0"/>
          </a:p>
        </p:txBody>
      </p:sp>
      <p:sp>
        <p:nvSpPr>
          <p:cNvPr id="22" name="Shape 19"/>
          <p:cNvSpPr/>
          <p:nvPr/>
        </p:nvSpPr>
        <p:spPr>
          <a:xfrm>
            <a:off x="8238744" y="3438144"/>
            <a:ext cx="3364992" cy="438912"/>
          </a:xfrm>
          <a:prstGeom prst="roundRect">
            <a:avLst>
              <a:gd name="adj" fmla="val 10417"/>
            </a:avLst>
          </a:prstGeom>
          <a:solidFill>
            <a:srgbClr val="F4F1EA"/>
          </a:solidFill>
          <a:ln w="9525">
            <a:solidFill>
              <a:srgbClr val="F4F1EA"/>
            </a:solidFill>
            <a:prstDash val="solid"/>
          </a:ln>
        </p:spPr>
      </p:sp>
      <p:sp>
        <p:nvSpPr>
          <p:cNvPr id="23" name="Text 20"/>
          <p:cNvSpPr txBox="1"/>
          <p:nvPr/>
        </p:nvSpPr>
        <p:spPr>
          <a:xfrm>
            <a:off x="8293608"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24" name="Text 21"/>
          <p:cNvSpPr txBox="1"/>
          <p:nvPr/>
        </p:nvSpPr>
        <p:spPr>
          <a:xfrm>
            <a:off x="8284464"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نَدَوَاتٌ</a:t>
            </a:r>
            <a:endParaRPr lang="ar-SA" sz="1500" dirty="0"/>
          </a:p>
        </p:txBody>
      </p:sp>
      <p:sp>
        <p:nvSpPr>
          <p:cNvPr id="25" name="Shape 22"/>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4389120" y="1920240"/>
            <a:ext cx="310896" cy="310896"/>
          </a:xfrm>
          <a:prstGeom prst="ellipse">
            <a:avLst/>
          </a:prstGeom>
          <a:solidFill>
            <a:srgbClr val="F4F1EA"/>
          </a:solidFill>
          <a:ln w="12700">
            <a:solidFill>
              <a:srgbClr val="F4F1EA"/>
            </a:solidFill>
            <a:prstDash val="solid"/>
          </a:ln>
        </p:spPr>
      </p:sp>
      <p:sp>
        <p:nvSpPr>
          <p:cNvPr id="27" name="Text 24"/>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7</a:t>
            </a:r>
            <a:endParaRPr lang="en-US" sz="1000" dirty="0"/>
          </a:p>
        </p:txBody>
      </p:sp>
      <p:sp>
        <p:nvSpPr>
          <p:cNvPr id="28" name="Shape 25"/>
          <p:cNvSpPr/>
          <p:nvPr/>
        </p:nvSpPr>
        <p:spPr>
          <a:xfrm>
            <a:off x="4782312" y="1938528"/>
            <a:ext cx="709574" cy="256032"/>
          </a:xfrm>
          <a:prstGeom prst="roundRect">
            <a:avLst>
              <a:gd name="adj" fmla="val 50000"/>
            </a:avLst>
          </a:prstGeom>
          <a:solidFill>
            <a:srgbClr val="EFE7D2"/>
          </a:solidFill>
          <a:ln w="12700">
            <a:solidFill>
              <a:srgbClr val="EFE7D2"/>
            </a:solidFill>
            <a:prstDash val="solid"/>
          </a:ln>
        </p:spPr>
      </p:sp>
      <p:sp>
        <p:nvSpPr>
          <p:cNvPr id="29" name="Text 26"/>
          <p:cNvSpPr txBox="1"/>
          <p:nvPr/>
        </p:nvSpPr>
        <p:spPr>
          <a:xfrm>
            <a:off x="4782312"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30" name="Text 27"/>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وَرْشَةُ عَمَلٍ</a:t>
            </a:r>
            <a:endParaRPr lang="ar-SA" sz="3000" dirty="0"/>
          </a:p>
        </p:txBody>
      </p:sp>
      <p:sp>
        <p:nvSpPr>
          <p:cNvPr id="31" name="Text 28"/>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 workshop</a:t>
            </a:r>
            <a:endParaRPr lang="en-US" sz="1350" dirty="0"/>
          </a:p>
          <a:p>
            <a:pPr indent="0" marL="0">
              <a:buNone/>
            </a:pPr>
            <a:r>
              <a:rPr lang="en-US" sz="1100" i="1" dirty="0">
                <a:solidFill>
                  <a:srgbClr val="5A6472"/>
                </a:solidFill>
                <a:latin typeface="Calibri" pitchFamily="34" charset="0"/>
                <a:cs typeface="Amiri" pitchFamily="2" charset="-78"/>
              </a:rPr>
              <a:t>war-sha-tu ʿa-ma-lin</a:t>
            </a:r>
            <a:endParaRPr lang="en-US" sz="1350" dirty="0"/>
          </a:p>
        </p:txBody>
      </p:sp>
      <p:sp>
        <p:nvSpPr>
          <p:cNvPr id="32" name="Shape 29"/>
          <p:cNvSpPr/>
          <p:nvPr/>
        </p:nvSpPr>
        <p:spPr>
          <a:xfrm>
            <a:off x="4416552" y="3438144"/>
            <a:ext cx="3364992" cy="438912"/>
          </a:xfrm>
          <a:prstGeom prst="roundRect">
            <a:avLst>
              <a:gd name="adj" fmla="val 10417"/>
            </a:avLst>
          </a:prstGeom>
          <a:solidFill>
            <a:srgbClr val="F4F1EA"/>
          </a:solidFill>
          <a:ln w="9525">
            <a:solidFill>
              <a:srgbClr val="F4F1EA"/>
            </a:solidFill>
            <a:prstDash val="solid"/>
          </a:ln>
        </p:spPr>
      </p:sp>
      <p:sp>
        <p:nvSpPr>
          <p:cNvPr id="33" name="Text 30"/>
          <p:cNvSpPr txBox="1"/>
          <p:nvPr/>
        </p:nvSpPr>
        <p:spPr>
          <a:xfrm>
            <a:off x="4471416"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34" name="Text 31"/>
          <p:cNvSpPr txBox="1"/>
          <p:nvPr/>
        </p:nvSpPr>
        <p:spPr>
          <a:xfrm>
            <a:off x="4462272"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وِرَشُ عَمَلٍ</a:t>
            </a:r>
            <a:endParaRPr lang="ar-SA" sz="1500" dirty="0"/>
          </a:p>
        </p:txBody>
      </p:sp>
      <p:sp>
        <p:nvSpPr>
          <p:cNvPr id="35" name="Shape 32"/>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566928" y="1920240"/>
            <a:ext cx="310896" cy="310896"/>
          </a:xfrm>
          <a:prstGeom prst="ellipse">
            <a:avLst/>
          </a:prstGeom>
          <a:solidFill>
            <a:srgbClr val="F4F1EA"/>
          </a:solidFill>
          <a:ln w="12700">
            <a:solidFill>
              <a:srgbClr val="F4F1EA"/>
            </a:solidFill>
            <a:prstDash val="solid"/>
          </a:ln>
        </p:spPr>
      </p:sp>
      <p:sp>
        <p:nvSpPr>
          <p:cNvPr id="37" name="Text 34"/>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8</a:t>
            </a:r>
            <a:endParaRPr lang="en-US" sz="1000" dirty="0"/>
          </a:p>
        </p:txBody>
      </p:sp>
      <p:sp>
        <p:nvSpPr>
          <p:cNvPr id="38" name="Shape 35"/>
          <p:cNvSpPr/>
          <p:nvPr/>
        </p:nvSpPr>
        <p:spPr>
          <a:xfrm>
            <a:off x="960120" y="1938528"/>
            <a:ext cx="709574" cy="256032"/>
          </a:xfrm>
          <a:prstGeom prst="roundRect">
            <a:avLst>
              <a:gd name="adj" fmla="val 50000"/>
            </a:avLst>
          </a:prstGeom>
          <a:solidFill>
            <a:srgbClr val="EFE7D2"/>
          </a:solidFill>
          <a:ln w="12700">
            <a:solidFill>
              <a:srgbClr val="EFE7D2"/>
            </a:solidFill>
            <a:prstDash val="solid"/>
          </a:ln>
        </p:spPr>
      </p:sp>
      <p:sp>
        <p:nvSpPr>
          <p:cNvPr id="39" name="Text 36"/>
          <p:cNvSpPr txBox="1"/>
          <p:nvPr/>
        </p:nvSpPr>
        <p:spPr>
          <a:xfrm>
            <a:off x="960120"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40" name="Shape 37"/>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41" name="Text 38"/>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2" name="Text 39"/>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بَحْثٌ عِلْمِيٌّ</a:t>
            </a:r>
            <a:endParaRPr lang="ar-SA" sz="3000" dirty="0"/>
          </a:p>
        </p:txBody>
      </p:sp>
      <p:sp>
        <p:nvSpPr>
          <p:cNvPr id="43" name="Text 40"/>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scientific research</a:t>
            </a:r>
            <a:endParaRPr lang="en-US" sz="1350" dirty="0"/>
          </a:p>
          <a:p>
            <a:pPr indent="0" marL="0">
              <a:buNone/>
            </a:pPr>
            <a:r>
              <a:rPr lang="en-US" sz="1100" i="1" dirty="0">
                <a:solidFill>
                  <a:srgbClr val="5A6472"/>
                </a:solidFill>
                <a:latin typeface="Calibri" pitchFamily="34" charset="0"/>
                <a:cs typeface="Amiri" pitchFamily="2" charset="-78"/>
              </a:rPr>
              <a:t>baḥ-thun ʿil-miy-yun</a:t>
            </a:r>
            <a:endParaRPr lang="en-US" sz="1350" dirty="0"/>
          </a:p>
        </p:txBody>
      </p:sp>
      <p:sp>
        <p:nvSpPr>
          <p:cNvPr id="44" name="Shape 41"/>
          <p:cNvSpPr/>
          <p:nvPr/>
        </p:nvSpPr>
        <p:spPr>
          <a:xfrm>
            <a:off x="594360" y="3438144"/>
            <a:ext cx="3364992" cy="438912"/>
          </a:xfrm>
          <a:prstGeom prst="roundRect">
            <a:avLst>
              <a:gd name="adj" fmla="val 10417"/>
            </a:avLst>
          </a:prstGeom>
          <a:solidFill>
            <a:srgbClr val="F4F1EA"/>
          </a:solidFill>
          <a:ln w="9525">
            <a:solidFill>
              <a:srgbClr val="F4F1EA"/>
            </a:solidFill>
            <a:prstDash val="solid"/>
          </a:ln>
        </p:spPr>
      </p:sp>
      <p:sp>
        <p:nvSpPr>
          <p:cNvPr id="45" name="Text 42"/>
          <p:cNvSpPr txBox="1"/>
          <p:nvPr/>
        </p:nvSpPr>
        <p:spPr>
          <a:xfrm>
            <a:off x="649224"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46" name="Text 43"/>
          <p:cNvSpPr txBox="1"/>
          <p:nvPr/>
        </p:nvSpPr>
        <p:spPr>
          <a:xfrm>
            <a:off x="640080"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بُحُوثٌ عِلْمِيَّةٌ</a:t>
            </a:r>
            <a:endParaRPr lang="ar-SA" sz="1500" dirty="0"/>
          </a:p>
        </p:txBody>
      </p:sp>
      <p:sp>
        <p:nvSpPr>
          <p:cNvPr id="47" name="Shape 44"/>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211312" y="4261104"/>
            <a:ext cx="310896" cy="310896"/>
          </a:xfrm>
          <a:prstGeom prst="ellipse">
            <a:avLst/>
          </a:prstGeom>
          <a:solidFill>
            <a:srgbClr val="F4F1EA"/>
          </a:solidFill>
          <a:ln w="12700">
            <a:solidFill>
              <a:srgbClr val="F4F1EA"/>
            </a:solidFill>
            <a:prstDash val="solid"/>
          </a:ln>
        </p:spPr>
      </p:sp>
      <p:sp>
        <p:nvSpPr>
          <p:cNvPr id="49" name="Text 46"/>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9</a:t>
            </a:r>
            <a:endParaRPr lang="en-US" sz="1000" dirty="0"/>
          </a:p>
        </p:txBody>
      </p:sp>
      <p:sp>
        <p:nvSpPr>
          <p:cNvPr id="50" name="Text 47"/>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التَّسْجِيلُ</a:t>
            </a:r>
            <a:endParaRPr lang="ar-SA" sz="3000" dirty="0"/>
          </a:p>
        </p:txBody>
      </p:sp>
      <p:sp>
        <p:nvSpPr>
          <p:cNvPr id="51" name="Text 48"/>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enrolment, registration</a:t>
            </a:r>
            <a:endParaRPr lang="en-US" sz="1350" dirty="0"/>
          </a:p>
          <a:p>
            <a:pPr indent="0" marL="0">
              <a:buNone/>
            </a:pPr>
            <a:r>
              <a:rPr lang="en-US" sz="1100" i="1" dirty="0">
                <a:solidFill>
                  <a:srgbClr val="5A6472"/>
                </a:solidFill>
                <a:latin typeface="Calibri" pitchFamily="34" charset="0"/>
                <a:cs typeface="Amiri" pitchFamily="2" charset="-78"/>
              </a:rPr>
              <a:t>at-tas-jī-lu</a:t>
            </a:r>
            <a:endParaRPr lang="en-US" sz="1350" dirty="0"/>
          </a:p>
        </p:txBody>
      </p:sp>
      <p:sp>
        <p:nvSpPr>
          <p:cNvPr id="52"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49</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P2-L03 · Grammar</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Degrees and finance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P2-L03</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10</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شَهَادَةُ البَكَالُورْيُوسِ</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 bachelor's degree</a:t>
            </a:r>
            <a:endParaRPr lang="en-US" sz="1350" dirty="0"/>
          </a:p>
          <a:p>
            <a:pPr indent="0" marL="0">
              <a:buNone/>
            </a:pPr>
            <a:r>
              <a:rPr lang="en-US" sz="1100" i="1" dirty="0">
                <a:solidFill>
                  <a:srgbClr val="5A6472"/>
                </a:solidFill>
                <a:latin typeface="Calibri" pitchFamily="34" charset="0"/>
                <a:cs typeface="Amiri" pitchFamily="2" charset="-78"/>
              </a:rPr>
              <a:t>sha-hā-da-tu al-ba-kā-lūr-yū-si</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11</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رِسَالَةُ مَاجِسْتِيرٍ</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 master's thesis</a:t>
            </a:r>
            <a:endParaRPr lang="en-US" sz="1350" dirty="0"/>
          </a:p>
          <a:p>
            <a:pPr indent="0" marL="0">
              <a:buNone/>
            </a:pPr>
            <a:r>
              <a:rPr lang="en-US" sz="1100" i="1" dirty="0">
                <a:solidFill>
                  <a:srgbClr val="5A6472"/>
                </a:solidFill>
                <a:latin typeface="Calibri" pitchFamily="34" charset="0"/>
                <a:cs typeface="Amiri" pitchFamily="2" charset="-78"/>
              </a:rPr>
              <a:t>ri-sā-la-tu mā-jis-tī-rin</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12</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أُطْرُوحَةُ دُكْتُورَاهْ</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 doctoral thesis</a:t>
            </a:r>
            <a:endParaRPr lang="en-US" sz="1350" dirty="0"/>
          </a:p>
          <a:p>
            <a:pPr indent="0" marL="0">
              <a:buNone/>
            </a:pPr>
            <a:r>
              <a:rPr lang="en-US" sz="1100" i="1" dirty="0">
                <a:solidFill>
                  <a:srgbClr val="5A6472"/>
                </a:solidFill>
                <a:latin typeface="Calibri" pitchFamily="34" charset="0"/>
                <a:cs typeface="Amiri" pitchFamily="2" charset="-78"/>
              </a:rPr>
              <a:t>uṭ-rū-ḥa-tu duk-tū-rāh</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13</a:t>
            </a:r>
            <a:endParaRPr lang="en-US" sz="1000" dirty="0"/>
          </a:p>
        </p:txBody>
      </p:sp>
      <p:sp>
        <p:nvSpPr>
          <p:cNvPr id="35" name="Shape 32"/>
          <p:cNvSpPr/>
          <p:nvPr/>
        </p:nvSpPr>
        <p:spPr>
          <a:xfrm>
            <a:off x="8604504" y="4279392"/>
            <a:ext cx="709574" cy="256032"/>
          </a:xfrm>
          <a:prstGeom prst="roundRect">
            <a:avLst>
              <a:gd name="adj" fmla="val 50000"/>
            </a:avLst>
          </a:prstGeom>
          <a:solidFill>
            <a:srgbClr val="EFE7D2"/>
          </a:solidFill>
          <a:ln w="12700">
            <a:solidFill>
              <a:srgbClr val="EFE7D2"/>
            </a:solidFill>
            <a:prstDash val="solid"/>
          </a:ln>
        </p:spPr>
      </p:sp>
      <p:sp>
        <p:nvSpPr>
          <p:cNvPr id="36" name="Text 33"/>
          <p:cNvSpPr txBox="1"/>
          <p:nvPr/>
        </p:nvSpPr>
        <p:spPr>
          <a:xfrm>
            <a:off x="8604504" y="4279392"/>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37" name="Shape 34"/>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38" name="Text 35"/>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9" name="Text 36"/>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مِنْحَةٌ دِرَاسِيَّةٌ</a:t>
            </a:r>
            <a:endParaRPr lang="ar-SA" sz="3000" dirty="0"/>
          </a:p>
        </p:txBody>
      </p:sp>
      <p:sp>
        <p:nvSpPr>
          <p:cNvPr id="40" name="Text 37"/>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 scholarship</a:t>
            </a:r>
            <a:endParaRPr lang="en-US" sz="1350" dirty="0"/>
          </a:p>
          <a:p>
            <a:pPr indent="0" marL="0">
              <a:buNone/>
            </a:pPr>
            <a:r>
              <a:rPr lang="en-US" sz="1100" i="1" dirty="0">
                <a:solidFill>
                  <a:srgbClr val="5A6472"/>
                </a:solidFill>
                <a:latin typeface="Calibri" pitchFamily="34" charset="0"/>
                <a:cs typeface="Amiri" pitchFamily="2" charset="-78"/>
              </a:rPr>
              <a:t>min-ḥa-tun di-rā-siy-ya-tun</a:t>
            </a:r>
            <a:endParaRPr lang="en-US" sz="1350" dirty="0"/>
          </a:p>
        </p:txBody>
      </p:sp>
      <p:sp>
        <p:nvSpPr>
          <p:cNvPr id="41" name="Shape 38"/>
          <p:cNvSpPr/>
          <p:nvPr/>
        </p:nvSpPr>
        <p:spPr>
          <a:xfrm>
            <a:off x="8238744" y="5779008"/>
            <a:ext cx="3364992" cy="438912"/>
          </a:xfrm>
          <a:prstGeom prst="roundRect">
            <a:avLst>
              <a:gd name="adj" fmla="val 10417"/>
            </a:avLst>
          </a:prstGeom>
          <a:solidFill>
            <a:srgbClr val="F4F1EA"/>
          </a:solidFill>
          <a:ln w="9525">
            <a:solidFill>
              <a:srgbClr val="F4F1EA"/>
            </a:solidFill>
            <a:prstDash val="solid"/>
          </a:ln>
        </p:spPr>
      </p:sp>
      <p:sp>
        <p:nvSpPr>
          <p:cNvPr id="42" name="Text 39"/>
          <p:cNvSpPr txBox="1"/>
          <p:nvPr/>
        </p:nvSpPr>
        <p:spPr>
          <a:xfrm>
            <a:off x="8293608" y="5788152"/>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43" name="Text 40"/>
          <p:cNvSpPr txBox="1"/>
          <p:nvPr/>
        </p:nvSpPr>
        <p:spPr>
          <a:xfrm>
            <a:off x="8284464" y="5824728"/>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مِنَحٌ دِرَاسِيَّةٌ</a:t>
            </a:r>
            <a:endParaRPr lang="ar-SA" sz="15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49</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P2-L03 · Grammar</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Degrees and finance (2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P2-L03</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14</a:t>
            </a:r>
            <a:endParaRPr lang="en-US" sz="10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رُسُومٌ دِرَاسِيَّةٌ</a:t>
            </a:r>
            <a:endParaRPr lang="ar-SA" sz="3000" dirty="0"/>
          </a:p>
        </p:txBody>
      </p:sp>
      <p:sp>
        <p:nvSpPr>
          <p:cNvPr id="23" name="Text 20"/>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tuition fees</a:t>
            </a:r>
            <a:endParaRPr lang="en-US" sz="1350" dirty="0"/>
          </a:p>
          <a:p>
            <a:pPr indent="0" marL="0">
              <a:buNone/>
            </a:pPr>
            <a:r>
              <a:rPr lang="en-US" sz="1100" i="1" dirty="0">
                <a:solidFill>
                  <a:srgbClr val="5A6472"/>
                </a:solidFill>
                <a:latin typeface="Calibri" pitchFamily="34" charset="0"/>
                <a:cs typeface="Amiri" pitchFamily="2" charset="-78"/>
              </a:rPr>
              <a:t>ru-sū-mun di-rā-siy-ya-tun</a:t>
            </a:r>
            <a:endParaRPr lang="en-US" sz="1350" dirty="0"/>
          </a:p>
        </p:txBody>
      </p:sp>
      <p:sp>
        <p:nvSpPr>
          <p:cNvPr id="24" name="Shape 21"/>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Shape 22"/>
          <p:cNvSpPr/>
          <p:nvPr/>
        </p:nvSpPr>
        <p:spPr>
          <a:xfrm>
            <a:off x="4389120" y="1920240"/>
            <a:ext cx="310896" cy="310896"/>
          </a:xfrm>
          <a:prstGeom prst="ellipse">
            <a:avLst/>
          </a:prstGeom>
          <a:solidFill>
            <a:srgbClr val="F4F1EA"/>
          </a:solidFill>
          <a:ln w="12700">
            <a:solidFill>
              <a:srgbClr val="F4F1EA"/>
            </a:solidFill>
            <a:prstDash val="solid"/>
          </a:ln>
        </p:spPr>
      </p:sp>
      <p:sp>
        <p:nvSpPr>
          <p:cNvPr id="26" name="Text 23"/>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15</a:t>
            </a:r>
            <a:endParaRPr lang="en-US" sz="10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قَرْضٌ طُلَّابِيٌّ</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 student loan</a:t>
            </a:r>
            <a:endParaRPr lang="en-US" sz="1350" dirty="0"/>
          </a:p>
          <a:p>
            <a:pPr indent="0" marL="0">
              <a:buNone/>
            </a:pPr>
            <a:r>
              <a:rPr lang="en-US" sz="1100" i="1" dirty="0">
                <a:solidFill>
                  <a:srgbClr val="5A6472"/>
                </a:solidFill>
                <a:latin typeface="Calibri" pitchFamily="34" charset="0"/>
                <a:cs typeface="Amiri" pitchFamily="2" charset="-78"/>
              </a:rPr>
              <a:t>qar-ḍun ṭul-lā-biy-yun</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16</a:t>
            </a:r>
            <a:endParaRPr lang="en-US" sz="1000" dirty="0"/>
          </a:p>
        </p:txBody>
      </p:sp>
      <p:sp>
        <p:nvSpPr>
          <p:cNvPr id="32" name="Text 29"/>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مُعَدَّلٌ تَرَاكُمِيٌّ</a:t>
            </a:r>
            <a:endParaRPr lang="ar-SA" sz="3000" dirty="0"/>
          </a:p>
        </p:txBody>
      </p:sp>
      <p:sp>
        <p:nvSpPr>
          <p:cNvPr id="33" name="Text 30"/>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 cumulative GPA</a:t>
            </a:r>
            <a:endParaRPr lang="en-US" sz="1350" dirty="0"/>
          </a:p>
          <a:p>
            <a:pPr indent="0" marL="0">
              <a:buNone/>
            </a:pPr>
            <a:r>
              <a:rPr lang="en-US" sz="1100" i="1" dirty="0">
                <a:solidFill>
                  <a:srgbClr val="5A6472"/>
                </a:solidFill>
                <a:latin typeface="Calibri" pitchFamily="34" charset="0"/>
                <a:cs typeface="Amiri" pitchFamily="2" charset="-78"/>
              </a:rPr>
              <a:t>mu-ʿad-da-lun ta-rā-ku-miy-yun</a:t>
            </a:r>
            <a:endParaRPr lang="en-US" sz="1350" dirty="0"/>
          </a:p>
        </p:txBody>
      </p:sp>
      <p:sp>
        <p:nvSpPr>
          <p:cNvPr id="34" name="Shape 31"/>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8211312" y="4261104"/>
            <a:ext cx="310896" cy="310896"/>
          </a:xfrm>
          <a:prstGeom prst="ellipse">
            <a:avLst/>
          </a:prstGeom>
          <a:solidFill>
            <a:srgbClr val="F4F1EA"/>
          </a:solidFill>
          <a:ln w="12700">
            <a:solidFill>
              <a:srgbClr val="F4F1EA"/>
            </a:solidFill>
            <a:prstDash val="solid"/>
          </a:ln>
        </p:spPr>
      </p:sp>
      <p:sp>
        <p:nvSpPr>
          <p:cNvPr id="36" name="Text 33"/>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17</a:t>
            </a:r>
            <a:endParaRPr lang="en-US" sz="1000" dirty="0"/>
          </a:p>
        </p:txBody>
      </p:sp>
      <p:sp>
        <p:nvSpPr>
          <p:cNvPr id="37" name="Text 34"/>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خِبْرَةٌ عَمَلِيَّةٌ</a:t>
            </a:r>
            <a:endParaRPr lang="ar-SA" sz="3000" dirty="0"/>
          </a:p>
        </p:txBody>
      </p:sp>
      <p:sp>
        <p:nvSpPr>
          <p:cNvPr id="38" name="Text 35"/>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work experience</a:t>
            </a:r>
            <a:endParaRPr lang="en-US" sz="1350" dirty="0"/>
          </a:p>
          <a:p>
            <a:pPr indent="0" marL="0">
              <a:buNone/>
            </a:pPr>
            <a:r>
              <a:rPr lang="en-US" sz="1100" i="1" dirty="0">
                <a:solidFill>
                  <a:srgbClr val="5A6472"/>
                </a:solidFill>
                <a:latin typeface="Calibri" pitchFamily="34" charset="0"/>
                <a:cs typeface="Amiri" pitchFamily="2" charset="-78"/>
              </a:rPr>
              <a:t>khib-ra-tun ʿa-ma-liy-ya-tun</a:t>
            </a:r>
            <a:endParaRPr lang="en-US" sz="135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49</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P2-L03 · Grammar</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950" b="1" dirty="0">
                <a:solidFill>
                  <a:srgbClr val="1B3B6F"/>
                </a:solidFill>
                <a:latin typeface="Cambria" pitchFamily="34" charset="0"/>
                <a:cs typeface="Amiri" pitchFamily="2" charset="-78"/>
              </a:rPr>
              <a:t>University life and past-perfect helpers (1 of 2)</a:t>
            </a:r>
            <a:endParaRPr lang="en-US" sz="19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P2-L03</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18</a:t>
            </a:r>
            <a:endParaRPr lang="en-US" sz="10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الاسْتِقْلَالِيَّةُ</a:t>
            </a:r>
            <a:endParaRPr lang="ar-SA" sz="3000" dirty="0"/>
          </a:p>
        </p:txBody>
      </p:sp>
      <p:sp>
        <p:nvSpPr>
          <p:cNvPr id="23" name="Text 20"/>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independence</a:t>
            </a:r>
            <a:endParaRPr lang="en-US" sz="1350" dirty="0"/>
          </a:p>
          <a:p>
            <a:pPr indent="0" marL="0">
              <a:buNone/>
            </a:pPr>
            <a:r>
              <a:rPr lang="en-US" sz="1100" i="1" dirty="0">
                <a:solidFill>
                  <a:srgbClr val="5A6472"/>
                </a:solidFill>
                <a:latin typeface="Calibri" pitchFamily="34" charset="0"/>
                <a:cs typeface="Amiri" pitchFamily="2" charset="-78"/>
              </a:rPr>
              <a:t>als-tiq-lā-liy-ya-tu</a:t>
            </a:r>
            <a:endParaRPr lang="en-US" sz="1350" dirty="0"/>
          </a:p>
        </p:txBody>
      </p:sp>
      <p:sp>
        <p:nvSpPr>
          <p:cNvPr id="24" name="Shape 21"/>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Shape 22"/>
          <p:cNvSpPr/>
          <p:nvPr/>
        </p:nvSpPr>
        <p:spPr>
          <a:xfrm>
            <a:off x="4389120" y="1920240"/>
            <a:ext cx="310896" cy="310896"/>
          </a:xfrm>
          <a:prstGeom prst="ellipse">
            <a:avLst/>
          </a:prstGeom>
          <a:solidFill>
            <a:srgbClr val="F4F1EA"/>
          </a:solidFill>
          <a:ln w="12700">
            <a:solidFill>
              <a:srgbClr val="F4F1EA"/>
            </a:solidFill>
            <a:prstDash val="solid"/>
          </a:ln>
        </p:spPr>
      </p:sp>
      <p:sp>
        <p:nvSpPr>
          <p:cNvPr id="26" name="Text 23"/>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19</a:t>
            </a:r>
            <a:endParaRPr lang="en-US" sz="10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الضَّغْطُ الأَكَادِيمِيُّ</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academic pressure</a:t>
            </a:r>
            <a:endParaRPr lang="en-US" sz="1350" dirty="0"/>
          </a:p>
          <a:p>
            <a:pPr indent="0" marL="0">
              <a:buNone/>
            </a:pPr>
            <a:r>
              <a:rPr lang="en-US" sz="1100" i="1" dirty="0">
                <a:solidFill>
                  <a:srgbClr val="5A6472"/>
                </a:solidFill>
                <a:latin typeface="Calibri" pitchFamily="34" charset="0"/>
                <a:cs typeface="Amiri" pitchFamily="2" charset="-78"/>
              </a:rPr>
              <a:t>aḍ-ḍagh-ṭu al-a-kā-dī-miy-yu</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20</a:t>
            </a:r>
            <a:endParaRPr lang="en-US" sz="1000" dirty="0"/>
          </a:p>
        </p:txBody>
      </p:sp>
      <p:sp>
        <p:nvSpPr>
          <p:cNvPr id="32" name="Text 29"/>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نَشَاطٌ لَا مَنْهَجِيٌّ</a:t>
            </a:r>
            <a:endParaRPr lang="ar-SA" sz="3000" dirty="0"/>
          </a:p>
        </p:txBody>
      </p:sp>
      <p:sp>
        <p:nvSpPr>
          <p:cNvPr id="33" name="Text 30"/>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an extracurricular activity</a:t>
            </a:r>
            <a:endParaRPr lang="en-US" sz="1350" dirty="0"/>
          </a:p>
          <a:p>
            <a:pPr indent="0" marL="0">
              <a:buNone/>
            </a:pPr>
            <a:r>
              <a:rPr lang="en-US" sz="1100" i="1" dirty="0">
                <a:solidFill>
                  <a:srgbClr val="5A6472"/>
                </a:solidFill>
                <a:latin typeface="Calibri" pitchFamily="34" charset="0"/>
                <a:cs typeface="Amiri" pitchFamily="2" charset="-78"/>
              </a:rPr>
              <a:t>na-shā-ṭun lā man-ha-jiy-yun</a:t>
            </a:r>
            <a:endParaRPr lang="en-US" sz="1350" dirty="0"/>
          </a:p>
        </p:txBody>
      </p:sp>
      <p:sp>
        <p:nvSpPr>
          <p:cNvPr id="34" name="Shape 31"/>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8211312" y="4261104"/>
            <a:ext cx="310896" cy="310896"/>
          </a:xfrm>
          <a:prstGeom prst="ellipse">
            <a:avLst/>
          </a:prstGeom>
          <a:solidFill>
            <a:srgbClr val="F4F1EA"/>
          </a:solidFill>
          <a:ln w="12700">
            <a:solidFill>
              <a:srgbClr val="F4F1EA"/>
            </a:solidFill>
            <a:prstDash val="solid"/>
          </a:ln>
        </p:spPr>
      </p:sp>
      <p:sp>
        <p:nvSpPr>
          <p:cNvPr id="36" name="Text 33"/>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21</a:t>
            </a:r>
            <a:endParaRPr lang="en-US" sz="1000" dirty="0"/>
          </a:p>
        </p:txBody>
      </p:sp>
      <p:sp>
        <p:nvSpPr>
          <p:cNvPr id="37" name="Text 34"/>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عَمَلٌ تَطَوُّعِيٌّ</a:t>
            </a:r>
            <a:endParaRPr lang="ar-SA" sz="3000" dirty="0"/>
          </a:p>
        </p:txBody>
      </p:sp>
      <p:sp>
        <p:nvSpPr>
          <p:cNvPr id="38" name="Text 35"/>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volunteer work</a:t>
            </a:r>
            <a:endParaRPr lang="en-US" sz="1350" dirty="0"/>
          </a:p>
          <a:p>
            <a:pPr indent="0" marL="0">
              <a:buNone/>
            </a:pPr>
            <a:r>
              <a:rPr lang="en-US" sz="1100" i="1" dirty="0">
                <a:solidFill>
                  <a:srgbClr val="5A6472"/>
                </a:solidFill>
                <a:latin typeface="Calibri" pitchFamily="34" charset="0"/>
                <a:cs typeface="Amiri" pitchFamily="2" charset="-78"/>
              </a:rPr>
              <a:t>ʿa-ma-lun ta-ṭaw-wu-ʿiy-yun</a:t>
            </a:r>
            <a:endParaRPr lang="en-US" sz="135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49</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P2-L03 · Grammar</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950" b="1" dirty="0">
                <a:solidFill>
                  <a:srgbClr val="1B3B6F"/>
                </a:solidFill>
                <a:latin typeface="Cambria" pitchFamily="34" charset="0"/>
                <a:cs typeface="Amiri" pitchFamily="2" charset="-78"/>
              </a:rPr>
              <a:t>University life and past-perfect helpers (2 of 2)</a:t>
            </a:r>
            <a:endParaRPr lang="en-US" sz="19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P2-L03</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22</a:t>
            </a:r>
            <a:endParaRPr lang="en-US" sz="1000" dirty="0"/>
          </a:p>
        </p:txBody>
      </p:sp>
      <p:sp>
        <p:nvSpPr>
          <p:cNvPr id="20" name="Shape 17"/>
          <p:cNvSpPr/>
          <p:nvPr/>
        </p:nvSpPr>
        <p:spPr>
          <a:xfrm>
            <a:off x="8604504" y="1938528"/>
            <a:ext cx="1455725" cy="256032"/>
          </a:xfrm>
          <a:prstGeom prst="roundRect">
            <a:avLst>
              <a:gd name="adj" fmla="val 50000"/>
            </a:avLst>
          </a:prstGeom>
          <a:solidFill>
            <a:srgbClr val="EFE7D2"/>
          </a:solidFill>
          <a:ln w="12700">
            <a:solidFill>
              <a:srgbClr val="EFE7D2"/>
            </a:solidFill>
            <a:prstDash val="solid"/>
          </a:ln>
        </p:spPr>
      </p:sp>
      <p:sp>
        <p:nvSpPr>
          <p:cNvPr id="21" name="Text 18"/>
          <p:cNvSpPr txBox="1"/>
          <p:nvPr/>
        </p:nvSpPr>
        <p:spPr>
          <a:xfrm>
            <a:off x="8604504" y="1938528"/>
            <a:ext cx="1455725"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he · she · I · they</a:t>
            </a:r>
            <a:endParaRPr lang="en-US" sz="800" dirty="0"/>
          </a:p>
        </p:txBody>
      </p:sp>
      <p:sp>
        <p:nvSpPr>
          <p:cNvPr id="22" name="Shape 19"/>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3" name="Text 20"/>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4" name="Text 21"/>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كَانَ قَدْ</a:t>
            </a:r>
            <a:endParaRPr lang="ar-SA" sz="3000" dirty="0"/>
          </a:p>
        </p:txBody>
      </p:sp>
      <p:sp>
        <p:nvSpPr>
          <p:cNvPr id="25" name="Text 22"/>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had (done)</a:t>
            </a:r>
            <a:endParaRPr lang="en-US" sz="1350" dirty="0"/>
          </a:p>
          <a:p>
            <a:pPr indent="0" marL="0">
              <a:buNone/>
            </a:pPr>
            <a:r>
              <a:rPr lang="en-US" sz="1100" i="1" dirty="0">
                <a:solidFill>
                  <a:srgbClr val="5A6472"/>
                </a:solidFill>
                <a:latin typeface="Calibri" pitchFamily="34" charset="0"/>
                <a:cs typeface="Amiri" pitchFamily="2" charset="-78"/>
              </a:rPr>
              <a:t>kā-na qad</a:t>
            </a:r>
            <a:endParaRPr lang="en-US" sz="1350" dirty="0"/>
          </a:p>
        </p:txBody>
      </p:sp>
      <p:sp>
        <p:nvSpPr>
          <p:cNvPr id="26" name="Shape 23"/>
          <p:cNvSpPr/>
          <p:nvPr/>
        </p:nvSpPr>
        <p:spPr>
          <a:xfrm>
            <a:off x="10543032" y="3438144"/>
            <a:ext cx="1060704" cy="438912"/>
          </a:xfrm>
          <a:prstGeom prst="roundRect">
            <a:avLst>
              <a:gd name="adj" fmla="val 10417"/>
            </a:avLst>
          </a:prstGeom>
          <a:solidFill>
            <a:srgbClr val="F4F1EA"/>
          </a:solidFill>
          <a:ln w="9525">
            <a:solidFill>
              <a:srgbClr val="F4F1EA"/>
            </a:solidFill>
            <a:prstDash val="solid"/>
          </a:ln>
        </p:spPr>
      </p:sp>
      <p:sp>
        <p:nvSpPr>
          <p:cNvPr id="27" name="Text 24"/>
          <p:cNvSpPr txBox="1"/>
          <p:nvPr/>
        </p:nvSpPr>
        <p:spPr>
          <a:xfrm>
            <a:off x="10597896"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they</a:t>
            </a:r>
            <a:endParaRPr lang="en-US" sz="700" dirty="0"/>
          </a:p>
        </p:txBody>
      </p:sp>
      <p:sp>
        <p:nvSpPr>
          <p:cNvPr id="28" name="Text 25"/>
          <p:cNvSpPr txBox="1"/>
          <p:nvPr/>
        </p:nvSpPr>
        <p:spPr>
          <a:xfrm>
            <a:off x="10588752"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cs typeface="Amiri" pitchFamily="2" charset="-78"/>
              </a:rPr>
              <a:t>كَانُوا قَدْ</a:t>
            </a:r>
            <a:endParaRPr lang="ar-SA" sz="1350" dirty="0"/>
          </a:p>
        </p:txBody>
      </p:sp>
      <p:sp>
        <p:nvSpPr>
          <p:cNvPr id="29" name="Shape 26"/>
          <p:cNvSpPr/>
          <p:nvPr/>
        </p:nvSpPr>
        <p:spPr>
          <a:xfrm>
            <a:off x="9390888" y="3438144"/>
            <a:ext cx="1060704" cy="438912"/>
          </a:xfrm>
          <a:prstGeom prst="roundRect">
            <a:avLst>
              <a:gd name="adj" fmla="val 10417"/>
            </a:avLst>
          </a:prstGeom>
          <a:solidFill>
            <a:srgbClr val="F4F1EA"/>
          </a:solidFill>
          <a:ln w="9525">
            <a:solidFill>
              <a:srgbClr val="F4F1EA"/>
            </a:solidFill>
            <a:prstDash val="solid"/>
          </a:ln>
        </p:spPr>
      </p:sp>
      <p:sp>
        <p:nvSpPr>
          <p:cNvPr id="30" name="Text 27"/>
          <p:cNvSpPr txBox="1"/>
          <p:nvPr/>
        </p:nvSpPr>
        <p:spPr>
          <a:xfrm>
            <a:off x="944575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I</a:t>
            </a:r>
            <a:endParaRPr lang="en-US" sz="750" dirty="0"/>
          </a:p>
        </p:txBody>
      </p:sp>
      <p:sp>
        <p:nvSpPr>
          <p:cNvPr id="31" name="Text 28"/>
          <p:cNvSpPr txBox="1"/>
          <p:nvPr/>
        </p:nvSpPr>
        <p:spPr>
          <a:xfrm>
            <a:off x="943660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كُنْتُ قَدْ</a:t>
            </a:r>
            <a:endParaRPr lang="ar-SA" sz="1500" dirty="0"/>
          </a:p>
        </p:txBody>
      </p:sp>
      <p:sp>
        <p:nvSpPr>
          <p:cNvPr id="32" name="Shape 29"/>
          <p:cNvSpPr/>
          <p:nvPr/>
        </p:nvSpPr>
        <p:spPr>
          <a:xfrm>
            <a:off x="8238744" y="3438144"/>
            <a:ext cx="1060704" cy="438912"/>
          </a:xfrm>
          <a:prstGeom prst="roundRect">
            <a:avLst>
              <a:gd name="adj" fmla="val 10417"/>
            </a:avLst>
          </a:prstGeom>
          <a:solidFill>
            <a:srgbClr val="F4F1EA"/>
          </a:solidFill>
          <a:ln w="9525">
            <a:solidFill>
              <a:srgbClr val="F4F1EA"/>
            </a:solidFill>
            <a:prstDash val="solid"/>
          </a:ln>
        </p:spPr>
      </p:sp>
      <p:sp>
        <p:nvSpPr>
          <p:cNvPr id="33" name="Text 30"/>
          <p:cNvSpPr txBox="1"/>
          <p:nvPr/>
        </p:nvSpPr>
        <p:spPr>
          <a:xfrm>
            <a:off x="829360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34" name="Text 31"/>
          <p:cNvSpPr txBox="1"/>
          <p:nvPr/>
        </p:nvSpPr>
        <p:spPr>
          <a:xfrm>
            <a:off x="828446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كَانَتْ قَدْ</a:t>
            </a:r>
            <a:endParaRPr lang="ar-SA" sz="1500" dirty="0"/>
          </a:p>
        </p:txBody>
      </p:sp>
      <p:sp>
        <p:nvSpPr>
          <p:cNvPr id="35" name="Shape 32"/>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4389120" y="1920240"/>
            <a:ext cx="310896" cy="310896"/>
          </a:xfrm>
          <a:prstGeom prst="ellipse">
            <a:avLst/>
          </a:prstGeom>
          <a:solidFill>
            <a:srgbClr val="F4F1EA"/>
          </a:solidFill>
          <a:ln w="12700">
            <a:solidFill>
              <a:srgbClr val="F4F1EA"/>
            </a:solidFill>
            <a:prstDash val="solid"/>
          </a:ln>
        </p:spPr>
      </p:sp>
      <p:sp>
        <p:nvSpPr>
          <p:cNvPr id="37" name="Text 34"/>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23</a:t>
            </a:r>
            <a:endParaRPr lang="en-US" sz="1000" dirty="0"/>
          </a:p>
        </p:txBody>
      </p:sp>
      <p:sp>
        <p:nvSpPr>
          <p:cNvPr id="38" name="Shape 35"/>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9" name="Text 36"/>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0" name="Text 37"/>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بِحُلُولِ</a:t>
            </a:r>
            <a:endParaRPr lang="ar-SA" sz="3000" dirty="0"/>
          </a:p>
        </p:txBody>
      </p:sp>
      <p:sp>
        <p:nvSpPr>
          <p:cNvPr id="41" name="Text 38"/>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by (the time of)</a:t>
            </a:r>
            <a:endParaRPr lang="en-US" sz="1350" dirty="0"/>
          </a:p>
          <a:p>
            <a:pPr indent="0" marL="0">
              <a:buNone/>
            </a:pPr>
            <a:r>
              <a:rPr lang="en-US" sz="1100" i="1" dirty="0">
                <a:solidFill>
                  <a:srgbClr val="5A6472"/>
                </a:solidFill>
                <a:latin typeface="Calibri" pitchFamily="34" charset="0"/>
                <a:cs typeface="Amiri" pitchFamily="2" charset="-78"/>
              </a:rPr>
              <a:t>bi-ḥu-lū-li</a:t>
            </a:r>
            <a:endParaRPr lang="en-US" sz="1350" dirty="0"/>
          </a:p>
        </p:txBody>
      </p:sp>
      <p:sp>
        <p:nvSpPr>
          <p:cNvPr id="42" name="Text 39"/>
          <p:cNvSpPr txBox="1"/>
          <p:nvPr/>
        </p:nvSpPr>
        <p:spPr>
          <a:xfrm>
            <a:off x="4416552"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Frames a past-perfect clause.</a:t>
            </a:r>
            <a:endParaRPr lang="en-US" sz="1000" dirty="0"/>
          </a:p>
        </p:txBody>
      </p:sp>
      <p:sp>
        <p:nvSpPr>
          <p:cNvPr id="43" name="Shape 40"/>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66928" y="1920240"/>
            <a:ext cx="310896" cy="310896"/>
          </a:xfrm>
          <a:prstGeom prst="ellipse">
            <a:avLst/>
          </a:prstGeom>
          <a:solidFill>
            <a:srgbClr val="F4F1EA"/>
          </a:solidFill>
          <a:ln w="12700">
            <a:solidFill>
              <a:srgbClr val="F4F1EA"/>
            </a:solidFill>
            <a:prstDash val="solid"/>
          </a:ln>
        </p:spPr>
      </p:sp>
      <p:sp>
        <p:nvSpPr>
          <p:cNvPr id="45" name="Text 42"/>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24</a:t>
            </a:r>
            <a:endParaRPr lang="en-US" sz="1000" dirty="0"/>
          </a:p>
        </p:txBody>
      </p:sp>
      <p:sp>
        <p:nvSpPr>
          <p:cNvPr id="46" name="Shape 43"/>
          <p:cNvSpPr/>
          <p:nvPr/>
        </p:nvSpPr>
        <p:spPr>
          <a:xfrm>
            <a:off x="960120" y="1938528"/>
            <a:ext cx="1082650" cy="256032"/>
          </a:xfrm>
          <a:prstGeom prst="roundRect">
            <a:avLst>
              <a:gd name="adj" fmla="val 50000"/>
            </a:avLst>
          </a:prstGeom>
          <a:solidFill>
            <a:srgbClr val="EFE7D2"/>
          </a:solidFill>
          <a:ln w="12700">
            <a:solidFill>
              <a:srgbClr val="EFE7D2"/>
            </a:solidFill>
            <a:prstDash val="solid"/>
          </a:ln>
        </p:spPr>
      </p:sp>
      <p:sp>
        <p:nvSpPr>
          <p:cNvPr id="47" name="Text 44"/>
          <p:cNvSpPr txBox="1"/>
          <p:nvPr/>
        </p:nvSpPr>
        <p:spPr>
          <a:xfrm>
            <a:off x="960120" y="1938528"/>
            <a:ext cx="108265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 subjunctive</a:t>
            </a:r>
            <a:endParaRPr lang="en-US" sz="800" dirty="0"/>
          </a:p>
        </p:txBody>
      </p:sp>
      <p:sp>
        <p:nvSpPr>
          <p:cNvPr id="48" name="Shape 45"/>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49" name="Text 46"/>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0" name="Text 47"/>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قَبْلَ أَنْ</a:t>
            </a:r>
            <a:endParaRPr lang="ar-SA" sz="3000" dirty="0"/>
          </a:p>
        </p:txBody>
      </p:sp>
      <p:sp>
        <p:nvSpPr>
          <p:cNvPr id="51" name="Text 48"/>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before (doing)</a:t>
            </a:r>
            <a:endParaRPr lang="en-US" sz="1350" dirty="0"/>
          </a:p>
          <a:p>
            <a:pPr indent="0" marL="0">
              <a:buNone/>
            </a:pPr>
            <a:r>
              <a:rPr lang="en-US" sz="1100" i="1" dirty="0">
                <a:solidFill>
                  <a:srgbClr val="5A6472"/>
                </a:solidFill>
                <a:latin typeface="Calibri" pitchFamily="34" charset="0"/>
                <a:cs typeface="Amiri" pitchFamily="2" charset="-78"/>
              </a:rPr>
              <a:t>qab-la an</a:t>
            </a:r>
            <a:endParaRPr lang="en-US" sz="1350" dirty="0"/>
          </a:p>
        </p:txBody>
      </p:sp>
      <p:sp>
        <p:nvSpPr>
          <p:cNvPr id="52" name="Shape 49"/>
          <p:cNvSpPr/>
          <p:nvPr/>
        </p:nvSpPr>
        <p:spPr>
          <a:xfrm>
            <a:off x="594360" y="3438144"/>
            <a:ext cx="3364992" cy="438912"/>
          </a:xfrm>
          <a:prstGeom prst="roundRect">
            <a:avLst>
              <a:gd name="adj" fmla="val 10417"/>
            </a:avLst>
          </a:prstGeom>
          <a:solidFill>
            <a:srgbClr val="F4F1EA"/>
          </a:solidFill>
          <a:ln w="9525">
            <a:solidFill>
              <a:srgbClr val="F4F1EA"/>
            </a:solidFill>
            <a:prstDash val="solid"/>
          </a:ln>
        </p:spPr>
      </p:sp>
      <p:sp>
        <p:nvSpPr>
          <p:cNvPr id="53" name="Text 50"/>
          <p:cNvSpPr txBox="1"/>
          <p:nvPr/>
        </p:nvSpPr>
        <p:spPr>
          <a:xfrm>
            <a:off x="649224" y="3447288"/>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example</a:t>
            </a:r>
            <a:endParaRPr lang="en-US" sz="700" dirty="0"/>
          </a:p>
        </p:txBody>
      </p:sp>
      <p:sp>
        <p:nvSpPr>
          <p:cNvPr id="54" name="Text 51"/>
          <p:cNvSpPr txBox="1"/>
          <p:nvPr/>
        </p:nvSpPr>
        <p:spPr>
          <a:xfrm>
            <a:off x="640080" y="3575304"/>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cs typeface="Amiri" pitchFamily="2" charset="-78"/>
              </a:rPr>
              <a:t>قَبْلَ أَنْ أَبْدَأَ</a:t>
            </a:r>
            <a:endParaRPr lang="ar-SA" sz="1350" dirty="0"/>
          </a:p>
        </p:txBody>
      </p:sp>
      <p:sp>
        <p:nvSpPr>
          <p:cNvPr id="55" name="Shape 52"/>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211312" y="4261104"/>
            <a:ext cx="310896" cy="310896"/>
          </a:xfrm>
          <a:prstGeom prst="ellipse">
            <a:avLst/>
          </a:prstGeom>
          <a:solidFill>
            <a:srgbClr val="F4F1EA"/>
          </a:solidFill>
          <a:ln w="12700">
            <a:solidFill>
              <a:srgbClr val="F4F1EA"/>
            </a:solidFill>
            <a:prstDash val="solid"/>
          </a:ln>
        </p:spPr>
      </p:sp>
      <p:sp>
        <p:nvSpPr>
          <p:cNvPr id="57" name="Text 54"/>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25</a:t>
            </a:r>
            <a:endParaRPr lang="en-US" sz="1000" dirty="0"/>
          </a:p>
        </p:txBody>
      </p:sp>
      <p:sp>
        <p:nvSpPr>
          <p:cNvPr id="58" name="Text 55"/>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سَابِقًا</a:t>
            </a:r>
            <a:endParaRPr lang="ar-SA" sz="3000" dirty="0"/>
          </a:p>
        </p:txBody>
      </p:sp>
      <p:sp>
        <p:nvSpPr>
          <p:cNvPr id="59" name="Text 56"/>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previously</a:t>
            </a:r>
            <a:endParaRPr lang="en-US" sz="1350" dirty="0"/>
          </a:p>
          <a:p>
            <a:pPr indent="0" marL="0">
              <a:buNone/>
            </a:pPr>
            <a:r>
              <a:rPr lang="en-US" sz="1100" i="1" dirty="0">
                <a:solidFill>
                  <a:srgbClr val="5A6472"/>
                </a:solidFill>
                <a:latin typeface="Calibri" pitchFamily="34" charset="0"/>
                <a:cs typeface="Amiri" pitchFamily="2" charset="-78"/>
              </a:rPr>
              <a:t>sā-bi-qan</a:t>
            </a:r>
            <a:endParaRPr lang="en-US" sz="1350" dirty="0"/>
          </a:p>
        </p:txBody>
      </p:sp>
      <p:sp>
        <p:nvSpPr>
          <p:cNvPr id="60" name="Text 5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49</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P2-L03 · Grammar</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cs typeface="Amiri" pitchFamily="2" charset="-78"/>
              </a:rPr>
              <a:t>GRAMMAR FOCUS · PART 1 · THE PAST PERFECT FOR EVERY PERSON (WEBSITE RULES 1–2 + TABLE) · CORE</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kāna + qad + a past verb</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كَانَ قَدْ + المَاضِي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P2-L03</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674352" y="1810512"/>
            <a:ext cx="19842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17" name="Text 14"/>
          <p:cNvSpPr txBox="1"/>
          <p:nvPr/>
        </p:nvSpPr>
        <p:spPr>
          <a:xfrm>
            <a:off x="4553712" y="1810512"/>
            <a:ext cx="49743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Full past perfect</a:t>
            </a:r>
            <a:endParaRPr lang="en-US" sz="1100" dirty="0"/>
          </a:p>
        </p:txBody>
      </p:sp>
      <p:sp>
        <p:nvSpPr>
          <p:cNvPr id="18" name="Text 15"/>
          <p:cNvSpPr txBox="1"/>
          <p:nvPr/>
        </p:nvSpPr>
        <p:spPr>
          <a:xfrm>
            <a:off x="2542032" y="1810512"/>
            <a:ext cx="18653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kāna</a:t>
            </a:r>
            <a:endParaRPr lang="en-US" sz="1100" dirty="0"/>
          </a:p>
        </p:txBody>
      </p:sp>
      <p:sp>
        <p:nvSpPr>
          <p:cNvPr id="19" name="Text 16"/>
          <p:cNvSpPr txBox="1"/>
          <p:nvPr/>
        </p:nvSpPr>
        <p:spPr>
          <a:xfrm>
            <a:off x="530352" y="1810512"/>
            <a:ext cx="18653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Person</a:t>
            </a:r>
            <a:endParaRPr lang="en-US" sz="1100" dirty="0"/>
          </a:p>
        </p:txBody>
      </p:sp>
      <p:sp>
        <p:nvSpPr>
          <p:cNvPr id="20" name="Shape 17"/>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1" name="Text 18"/>
          <p:cNvSpPr txBox="1"/>
          <p:nvPr/>
        </p:nvSpPr>
        <p:spPr>
          <a:xfrm>
            <a:off x="9710928" y="2267712"/>
            <a:ext cx="194767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he had studied</a:t>
            </a:r>
            <a:endParaRPr lang="en-US" sz="1100" dirty="0"/>
          </a:p>
        </p:txBody>
      </p:sp>
      <p:sp>
        <p:nvSpPr>
          <p:cNvPr id="22" name="Text 19"/>
          <p:cNvSpPr txBox="1"/>
          <p:nvPr/>
        </p:nvSpPr>
        <p:spPr>
          <a:xfrm>
            <a:off x="4572000" y="2267712"/>
            <a:ext cx="4937760" cy="559308"/>
          </a:xfrm>
          <a:prstGeom prst="rect">
            <a:avLst/>
          </a:prstGeom>
          <a:noFill/>
          <a:ln/>
        </p:spPr>
        <p:txBody>
          <a:bodyPr wrap="square" lIns="0" tIns="0" rIns="0" bIns="0" rtlCol="0" anchor="ctr"/>
          <a:lstStyle/>
          <a:p>
            <a:pPr rtl="1" algn="ctr" indent="0" marL="0">
              <a:buNone/>
            </a:pPr>
            <a:r>
              <a:rPr lang="ar-SA" altLang="en-US" sz="2200" b="1" dirty="0">
                <a:solidFill>
                  <a:srgbClr val="D6336C"/>
                </a:solidFill>
                <a:latin typeface="Amiri" pitchFamily="2" charset="-78"/>
                <a:cs typeface="Amiri" pitchFamily="2" charset="-78"/>
              </a:rPr>
              <a:t>كَانَ</a:t>
            </a:r>
            <a:pPr rtl="1" algn="ctr" indent="0" marL="0">
              <a:buNone/>
            </a:pPr>
            <a:r>
              <a:rPr lang="ar-SA" altLang="en-US" sz="2200" b="1" dirty="0">
                <a:solidFill>
                  <a:srgbClr val="1B3B6F"/>
                </a:solidFill>
                <a:latin typeface="Amiri" pitchFamily="2" charset="-78"/>
                <a:cs typeface="Amiri" pitchFamily="2" charset="-78"/>
              </a:rPr>
              <a:t> قَدْ </a:t>
            </a:r>
            <a:pPr rtl="1" algn="ctr" indent="0" marL="0">
              <a:buNone/>
            </a:pPr>
            <a:r>
              <a:rPr lang="ar-SA" altLang="en-US" sz="2200" b="1" dirty="0">
                <a:solidFill>
                  <a:srgbClr val="0E7C86"/>
                </a:solidFill>
                <a:latin typeface="Amiri" pitchFamily="2" charset="-78"/>
                <a:cs typeface="Amiri" pitchFamily="2" charset="-78"/>
              </a:rPr>
              <a:t>دَرَسَ</a:t>
            </a:r>
            <a:pPr rtl="1" algn="ctr" indent="0" marL="0">
              <a:buNone/>
            </a:pPr>
            <a:r>
              <a:rPr lang="ar-SA" altLang="en-US" sz="2200" b="1" dirty="0">
                <a:solidFill>
                  <a:srgbClr val="1B3B6F"/>
                </a:solidFill>
                <a:latin typeface="Amiri" pitchFamily="2" charset="-78"/>
                <a:cs typeface="Amiri" pitchFamily="2" charset="-78"/>
              </a:rPr>
              <a:t> فِي القَاهِرَةِ.</a:t>
            </a:r>
            <a:endParaRPr lang="ar-SA" sz="2200" dirty="0"/>
          </a:p>
        </p:txBody>
      </p:sp>
      <p:sp>
        <p:nvSpPr>
          <p:cNvPr id="23" name="Text 20"/>
          <p:cNvSpPr txBox="1"/>
          <p:nvPr/>
        </p:nvSpPr>
        <p:spPr>
          <a:xfrm>
            <a:off x="2560320" y="2267712"/>
            <a:ext cx="1828800" cy="559308"/>
          </a:xfrm>
          <a:prstGeom prst="rect">
            <a:avLst/>
          </a:prstGeom>
          <a:noFill/>
          <a:ln/>
        </p:spPr>
        <p:txBody>
          <a:bodyPr wrap="square" lIns="0" tIns="0" rIns="0" bIns="0" rtlCol="0" anchor="ctr"/>
          <a:lstStyle/>
          <a:p>
            <a:pPr rtl="1" algn="ctr" indent="0" marL="0">
              <a:buNone/>
            </a:pPr>
            <a:r>
              <a:rPr lang="ar-SA" altLang="en-US" sz="2400" b="1" dirty="0">
                <a:solidFill>
                  <a:srgbClr val="D6336C"/>
                </a:solidFill>
                <a:latin typeface="Amiri" pitchFamily="2" charset="-78"/>
                <a:cs typeface="Amiri" pitchFamily="2" charset="-78"/>
              </a:rPr>
              <a:t>كَانَ</a:t>
            </a:r>
            <a:endParaRPr lang="ar-SA" sz="2400" dirty="0"/>
          </a:p>
        </p:txBody>
      </p:sp>
      <p:sp>
        <p:nvSpPr>
          <p:cNvPr id="24" name="Text 21"/>
          <p:cNvSpPr txBox="1"/>
          <p:nvPr/>
        </p:nvSpPr>
        <p:spPr>
          <a:xfrm>
            <a:off x="566928" y="2267712"/>
            <a:ext cx="18288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he</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8" name="Text 25"/>
          <p:cNvSpPr txBox="1"/>
          <p:nvPr/>
        </p:nvSpPr>
        <p:spPr>
          <a:xfrm>
            <a:off x="9710928" y="2881884"/>
            <a:ext cx="194767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she had specialised</a:t>
            </a:r>
            <a:endParaRPr lang="en-US" sz="1100" dirty="0"/>
          </a:p>
        </p:txBody>
      </p:sp>
      <p:sp>
        <p:nvSpPr>
          <p:cNvPr id="29" name="Text 26"/>
          <p:cNvSpPr txBox="1"/>
          <p:nvPr/>
        </p:nvSpPr>
        <p:spPr>
          <a:xfrm>
            <a:off x="4572000" y="2881884"/>
            <a:ext cx="4937760" cy="559308"/>
          </a:xfrm>
          <a:prstGeom prst="rect">
            <a:avLst/>
          </a:prstGeom>
          <a:noFill/>
          <a:ln/>
        </p:spPr>
        <p:txBody>
          <a:bodyPr wrap="square" lIns="0" tIns="0" rIns="0" bIns="0" rtlCol="0" anchor="ctr"/>
          <a:lstStyle/>
          <a:p>
            <a:pPr rtl="1" algn="ctr" indent="0" marL="0">
              <a:buNone/>
            </a:pPr>
            <a:r>
              <a:rPr lang="ar-SA" altLang="en-US" sz="2200" b="1" dirty="0">
                <a:solidFill>
                  <a:srgbClr val="D6336C"/>
                </a:solidFill>
                <a:latin typeface="Amiri" pitchFamily="2" charset="-78"/>
                <a:cs typeface="Amiri" pitchFamily="2" charset="-78"/>
              </a:rPr>
              <a:t>كَانَتْ</a:t>
            </a:r>
            <a:pPr rtl="1" algn="ctr" indent="0" marL="0">
              <a:buNone/>
            </a:pPr>
            <a:r>
              <a:rPr lang="ar-SA" altLang="en-US" sz="2200" b="1" dirty="0">
                <a:solidFill>
                  <a:srgbClr val="1B3B6F"/>
                </a:solidFill>
                <a:latin typeface="Amiri" pitchFamily="2" charset="-78"/>
                <a:cs typeface="Amiri" pitchFamily="2" charset="-78"/>
              </a:rPr>
              <a:t> قَدْ </a:t>
            </a:r>
            <a:pPr rtl="1" algn="ctr" indent="0" marL="0">
              <a:buNone/>
            </a:pPr>
            <a:r>
              <a:rPr lang="ar-SA" altLang="en-US" sz="2200" b="1" dirty="0">
                <a:solidFill>
                  <a:srgbClr val="0E7C86"/>
                </a:solidFill>
                <a:latin typeface="Amiri" pitchFamily="2" charset="-78"/>
                <a:cs typeface="Amiri" pitchFamily="2" charset="-78"/>
              </a:rPr>
              <a:t>تَخَصَّصَتْ</a:t>
            </a:r>
            <a:pPr rtl="1" algn="ctr" indent="0" marL="0">
              <a:buNone/>
            </a:pPr>
            <a:r>
              <a:rPr lang="ar-SA" altLang="en-US" sz="2200" b="1" dirty="0">
                <a:solidFill>
                  <a:srgbClr val="1B3B6F"/>
                </a:solidFill>
                <a:latin typeface="Amiri" pitchFamily="2" charset="-78"/>
                <a:cs typeface="Amiri" pitchFamily="2" charset="-78"/>
              </a:rPr>
              <a:t> فِي الطِّبِّ.</a:t>
            </a:r>
            <a:endParaRPr lang="ar-SA" sz="2200" dirty="0"/>
          </a:p>
        </p:txBody>
      </p:sp>
      <p:sp>
        <p:nvSpPr>
          <p:cNvPr id="30" name="Text 27"/>
          <p:cNvSpPr txBox="1"/>
          <p:nvPr/>
        </p:nvSpPr>
        <p:spPr>
          <a:xfrm>
            <a:off x="2560320" y="2881884"/>
            <a:ext cx="1828800" cy="559308"/>
          </a:xfrm>
          <a:prstGeom prst="rect">
            <a:avLst/>
          </a:prstGeom>
          <a:noFill/>
          <a:ln/>
        </p:spPr>
        <p:txBody>
          <a:bodyPr wrap="square" lIns="0" tIns="0" rIns="0" bIns="0" rtlCol="0" anchor="ctr"/>
          <a:lstStyle/>
          <a:p>
            <a:pPr rtl="1" algn="ctr" indent="0" marL="0">
              <a:buNone/>
            </a:pPr>
            <a:r>
              <a:rPr lang="ar-SA" altLang="en-US" sz="2400" b="1" dirty="0">
                <a:solidFill>
                  <a:srgbClr val="D6336C"/>
                </a:solidFill>
                <a:latin typeface="Amiri" pitchFamily="2" charset="-78"/>
                <a:cs typeface="Amiri" pitchFamily="2" charset="-78"/>
              </a:rPr>
              <a:t>كَانَتْ</a:t>
            </a:r>
            <a:endParaRPr lang="ar-SA" sz="2400" dirty="0"/>
          </a:p>
        </p:txBody>
      </p:sp>
      <p:sp>
        <p:nvSpPr>
          <p:cNvPr id="31" name="Text 28"/>
          <p:cNvSpPr txBox="1"/>
          <p:nvPr/>
        </p:nvSpPr>
        <p:spPr>
          <a:xfrm>
            <a:off x="566928" y="2881884"/>
            <a:ext cx="18288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she</a:t>
            </a:r>
            <a:endParaRPr lang="en-US" sz="1100" dirty="0"/>
          </a:p>
        </p:txBody>
      </p:sp>
      <p:sp>
        <p:nvSpPr>
          <p:cNvPr id="32" name="Shape 29"/>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5" name="Text 32"/>
          <p:cNvSpPr txBox="1"/>
          <p:nvPr/>
        </p:nvSpPr>
        <p:spPr>
          <a:xfrm>
            <a:off x="9710928" y="3496056"/>
            <a:ext cx="194767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 had finished</a:t>
            </a:r>
            <a:endParaRPr lang="en-US" sz="1100" dirty="0"/>
          </a:p>
        </p:txBody>
      </p:sp>
      <p:sp>
        <p:nvSpPr>
          <p:cNvPr id="36" name="Text 33"/>
          <p:cNvSpPr txBox="1"/>
          <p:nvPr/>
        </p:nvSpPr>
        <p:spPr>
          <a:xfrm>
            <a:off x="4572000" y="3496056"/>
            <a:ext cx="4937760" cy="559308"/>
          </a:xfrm>
          <a:prstGeom prst="rect">
            <a:avLst/>
          </a:prstGeom>
          <a:noFill/>
          <a:ln/>
        </p:spPr>
        <p:txBody>
          <a:bodyPr wrap="square" lIns="0" tIns="0" rIns="0" bIns="0" rtlCol="0" anchor="ctr"/>
          <a:lstStyle/>
          <a:p>
            <a:pPr rtl="1" algn="ctr" indent="0" marL="0">
              <a:buNone/>
            </a:pPr>
            <a:r>
              <a:rPr lang="ar-SA" altLang="en-US" sz="2200" b="1" dirty="0">
                <a:solidFill>
                  <a:srgbClr val="D6336C"/>
                </a:solidFill>
                <a:latin typeface="Amiri" pitchFamily="2" charset="-78"/>
                <a:cs typeface="Amiri" pitchFamily="2" charset="-78"/>
              </a:rPr>
              <a:t>كُنْتُ</a:t>
            </a:r>
            <a:pPr rtl="1" algn="ctr" indent="0" marL="0">
              <a:buNone/>
            </a:pPr>
            <a:r>
              <a:rPr lang="ar-SA" altLang="en-US" sz="2200" b="1" dirty="0">
                <a:solidFill>
                  <a:srgbClr val="1B3B6F"/>
                </a:solidFill>
                <a:latin typeface="Amiri" pitchFamily="2" charset="-78"/>
                <a:cs typeface="Amiri" pitchFamily="2" charset="-78"/>
              </a:rPr>
              <a:t> قَدْ </a:t>
            </a:r>
            <a:pPr rtl="1" algn="ctr" indent="0" marL="0">
              <a:buNone/>
            </a:pPr>
            <a:r>
              <a:rPr lang="ar-SA" altLang="en-US" sz="2200" b="1" dirty="0">
                <a:solidFill>
                  <a:srgbClr val="0E7C86"/>
                </a:solidFill>
                <a:latin typeface="Amiri" pitchFamily="2" charset="-78"/>
                <a:cs typeface="Amiri" pitchFamily="2" charset="-78"/>
              </a:rPr>
              <a:t>أَنْهَيْتُ</a:t>
            </a:r>
            <a:pPr rtl="1" algn="ctr" indent="0" marL="0">
              <a:buNone/>
            </a:pPr>
            <a:r>
              <a:rPr lang="ar-SA" altLang="en-US" sz="2200" b="1" dirty="0">
                <a:solidFill>
                  <a:srgbClr val="1B3B6F"/>
                </a:solidFill>
                <a:latin typeface="Amiri" pitchFamily="2" charset="-78"/>
                <a:cs typeface="Amiri" pitchFamily="2" charset="-78"/>
              </a:rPr>
              <a:t> بَحْثِي.</a:t>
            </a:r>
            <a:endParaRPr lang="ar-SA" sz="2200" dirty="0"/>
          </a:p>
        </p:txBody>
      </p:sp>
      <p:sp>
        <p:nvSpPr>
          <p:cNvPr id="37" name="Text 34"/>
          <p:cNvSpPr txBox="1"/>
          <p:nvPr/>
        </p:nvSpPr>
        <p:spPr>
          <a:xfrm>
            <a:off x="2560320" y="3496056"/>
            <a:ext cx="1828800" cy="559308"/>
          </a:xfrm>
          <a:prstGeom prst="rect">
            <a:avLst/>
          </a:prstGeom>
          <a:noFill/>
          <a:ln/>
        </p:spPr>
        <p:txBody>
          <a:bodyPr wrap="square" lIns="0" tIns="0" rIns="0" bIns="0" rtlCol="0" anchor="ctr"/>
          <a:lstStyle/>
          <a:p>
            <a:pPr rtl="1" algn="ctr" indent="0" marL="0">
              <a:buNone/>
            </a:pPr>
            <a:r>
              <a:rPr lang="ar-SA" altLang="en-US" sz="2400" b="1" dirty="0">
                <a:solidFill>
                  <a:srgbClr val="D6336C"/>
                </a:solidFill>
                <a:latin typeface="Amiri" pitchFamily="2" charset="-78"/>
                <a:cs typeface="Amiri" pitchFamily="2" charset="-78"/>
              </a:rPr>
              <a:t>كُنْتُ</a:t>
            </a:r>
            <a:endParaRPr lang="ar-SA" sz="2400" dirty="0"/>
          </a:p>
        </p:txBody>
      </p:sp>
      <p:sp>
        <p:nvSpPr>
          <p:cNvPr id="38" name="Text 35"/>
          <p:cNvSpPr txBox="1"/>
          <p:nvPr/>
        </p:nvSpPr>
        <p:spPr>
          <a:xfrm>
            <a:off x="566928" y="3496056"/>
            <a:ext cx="18288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a:t>
            </a:r>
            <a:endParaRPr lang="en-US" sz="1100" dirty="0"/>
          </a:p>
        </p:txBody>
      </p:sp>
      <p:sp>
        <p:nvSpPr>
          <p:cNvPr id="39" name="Shape 36"/>
          <p:cNvSpPr/>
          <p:nvPr/>
        </p:nvSpPr>
        <p:spPr>
          <a:xfrm>
            <a:off x="11091672" y="3541776"/>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354177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1" name="Shape 38"/>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42" name="Text 39"/>
          <p:cNvSpPr txBox="1"/>
          <p:nvPr/>
        </p:nvSpPr>
        <p:spPr>
          <a:xfrm>
            <a:off x="9710928" y="4110228"/>
            <a:ext cx="194767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we had attended</a:t>
            </a:r>
            <a:endParaRPr lang="en-US" sz="1100" dirty="0"/>
          </a:p>
        </p:txBody>
      </p:sp>
      <p:sp>
        <p:nvSpPr>
          <p:cNvPr id="43" name="Text 40"/>
          <p:cNvSpPr txBox="1"/>
          <p:nvPr/>
        </p:nvSpPr>
        <p:spPr>
          <a:xfrm>
            <a:off x="4572000" y="4110228"/>
            <a:ext cx="4937760" cy="559308"/>
          </a:xfrm>
          <a:prstGeom prst="rect">
            <a:avLst/>
          </a:prstGeom>
          <a:noFill/>
          <a:ln/>
        </p:spPr>
        <p:txBody>
          <a:bodyPr wrap="square" lIns="0" tIns="0" rIns="0" bIns="0" rtlCol="0" anchor="ctr"/>
          <a:lstStyle/>
          <a:p>
            <a:pPr rtl="1" algn="ctr" indent="0" marL="0">
              <a:buNone/>
            </a:pPr>
            <a:r>
              <a:rPr lang="ar-SA" altLang="en-US" sz="2200" b="1" dirty="0">
                <a:solidFill>
                  <a:srgbClr val="D6336C"/>
                </a:solidFill>
                <a:latin typeface="Amiri" pitchFamily="2" charset="-78"/>
                <a:cs typeface="Amiri" pitchFamily="2" charset="-78"/>
              </a:rPr>
              <a:t>كُنَّا</a:t>
            </a:r>
            <a:pPr rtl="1" algn="ctr" indent="0" marL="0">
              <a:buNone/>
            </a:pPr>
            <a:r>
              <a:rPr lang="ar-SA" altLang="en-US" sz="2200" b="1" dirty="0">
                <a:solidFill>
                  <a:srgbClr val="1B3B6F"/>
                </a:solidFill>
                <a:latin typeface="Amiri" pitchFamily="2" charset="-78"/>
                <a:cs typeface="Amiri" pitchFamily="2" charset="-78"/>
              </a:rPr>
              <a:t> قَدْ </a:t>
            </a:r>
            <a:pPr rtl="1" algn="ctr" indent="0" marL="0">
              <a:buNone/>
            </a:pPr>
            <a:r>
              <a:rPr lang="ar-SA" altLang="en-US" sz="2200" b="1" dirty="0">
                <a:solidFill>
                  <a:srgbClr val="0E7C86"/>
                </a:solidFill>
                <a:latin typeface="Amiri" pitchFamily="2" charset="-78"/>
                <a:cs typeface="Amiri" pitchFamily="2" charset="-78"/>
              </a:rPr>
              <a:t>حَضَرْنَا</a:t>
            </a:r>
            <a:pPr rtl="1" algn="ctr" indent="0" marL="0">
              <a:buNone/>
            </a:pPr>
            <a:r>
              <a:rPr lang="ar-SA" altLang="en-US" sz="2200" b="1" dirty="0">
                <a:solidFill>
                  <a:srgbClr val="1B3B6F"/>
                </a:solidFill>
                <a:latin typeface="Amiri" pitchFamily="2" charset="-78"/>
                <a:cs typeface="Amiri" pitchFamily="2" charset="-78"/>
              </a:rPr>
              <a:t> عَشَرَاتِ المُحَاضَرَاتِ.</a:t>
            </a:r>
            <a:endParaRPr lang="ar-SA" sz="2200" dirty="0"/>
          </a:p>
        </p:txBody>
      </p:sp>
      <p:sp>
        <p:nvSpPr>
          <p:cNvPr id="44" name="Text 41"/>
          <p:cNvSpPr txBox="1"/>
          <p:nvPr/>
        </p:nvSpPr>
        <p:spPr>
          <a:xfrm>
            <a:off x="2560320" y="4110228"/>
            <a:ext cx="1828800" cy="559308"/>
          </a:xfrm>
          <a:prstGeom prst="rect">
            <a:avLst/>
          </a:prstGeom>
          <a:noFill/>
          <a:ln/>
        </p:spPr>
        <p:txBody>
          <a:bodyPr wrap="square" lIns="0" tIns="0" rIns="0" bIns="0" rtlCol="0" anchor="ctr"/>
          <a:lstStyle/>
          <a:p>
            <a:pPr rtl="1" algn="ctr" indent="0" marL="0">
              <a:buNone/>
            </a:pPr>
            <a:r>
              <a:rPr lang="ar-SA" altLang="en-US" sz="2400" b="1" dirty="0">
                <a:solidFill>
                  <a:srgbClr val="D6336C"/>
                </a:solidFill>
                <a:latin typeface="Amiri" pitchFamily="2" charset="-78"/>
                <a:cs typeface="Amiri" pitchFamily="2" charset="-78"/>
              </a:rPr>
              <a:t>كُنَّا</a:t>
            </a:r>
            <a:endParaRPr lang="ar-SA" sz="2400" dirty="0"/>
          </a:p>
        </p:txBody>
      </p:sp>
      <p:sp>
        <p:nvSpPr>
          <p:cNvPr id="45" name="Text 42"/>
          <p:cNvSpPr txBox="1"/>
          <p:nvPr/>
        </p:nvSpPr>
        <p:spPr>
          <a:xfrm>
            <a:off x="566928" y="4110228"/>
            <a:ext cx="18288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we</a:t>
            </a:r>
            <a:endParaRPr lang="en-US" sz="1100" dirty="0"/>
          </a:p>
        </p:txBody>
      </p:sp>
      <p:sp>
        <p:nvSpPr>
          <p:cNvPr id="46" name="Shape 43"/>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7" name="Text 44"/>
          <p:cNvSpPr txBox="1"/>
          <p:nvPr/>
        </p:nvSpPr>
        <p:spPr>
          <a:xfrm>
            <a:off x="9710928" y="4724400"/>
            <a:ext cx="194767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they had graduated</a:t>
            </a:r>
            <a:endParaRPr lang="en-US" sz="1100" dirty="0"/>
          </a:p>
        </p:txBody>
      </p:sp>
      <p:sp>
        <p:nvSpPr>
          <p:cNvPr id="48" name="Text 45"/>
          <p:cNvSpPr txBox="1"/>
          <p:nvPr/>
        </p:nvSpPr>
        <p:spPr>
          <a:xfrm>
            <a:off x="4572000" y="4724400"/>
            <a:ext cx="4937760" cy="559308"/>
          </a:xfrm>
          <a:prstGeom prst="rect">
            <a:avLst/>
          </a:prstGeom>
          <a:noFill/>
          <a:ln/>
        </p:spPr>
        <p:txBody>
          <a:bodyPr wrap="square" lIns="0" tIns="0" rIns="0" bIns="0" rtlCol="0" anchor="ctr"/>
          <a:lstStyle/>
          <a:p>
            <a:pPr rtl="1" algn="ctr" indent="0" marL="0">
              <a:buNone/>
            </a:pPr>
            <a:r>
              <a:rPr lang="ar-SA" altLang="en-US" sz="2200" b="1" dirty="0">
                <a:solidFill>
                  <a:srgbClr val="D6336C"/>
                </a:solidFill>
                <a:latin typeface="Amiri" pitchFamily="2" charset="-78"/>
                <a:cs typeface="Amiri" pitchFamily="2" charset="-78"/>
              </a:rPr>
              <a:t>كَانُوا</a:t>
            </a:r>
            <a:pPr rtl="1" algn="ctr" indent="0" marL="0">
              <a:buNone/>
            </a:pPr>
            <a:r>
              <a:rPr lang="ar-SA" altLang="en-US" sz="2200" b="1" dirty="0">
                <a:solidFill>
                  <a:srgbClr val="1B3B6F"/>
                </a:solidFill>
                <a:latin typeface="Amiri" pitchFamily="2" charset="-78"/>
                <a:cs typeface="Amiri" pitchFamily="2" charset="-78"/>
              </a:rPr>
              <a:t> قَدْ </a:t>
            </a:r>
            <a:pPr rtl="1" algn="ctr" indent="0" marL="0">
              <a:buNone/>
            </a:pPr>
            <a:r>
              <a:rPr lang="ar-SA" altLang="en-US" sz="2200" b="1" dirty="0">
                <a:solidFill>
                  <a:srgbClr val="0E7C86"/>
                </a:solidFill>
                <a:latin typeface="Amiri" pitchFamily="2" charset="-78"/>
                <a:cs typeface="Amiri" pitchFamily="2" charset="-78"/>
              </a:rPr>
              <a:t>تَخَرَّجُوا</a:t>
            </a:r>
            <a:pPr rtl="1" algn="ctr" indent="0" marL="0">
              <a:buNone/>
            </a:pPr>
            <a:r>
              <a:rPr lang="ar-SA" altLang="en-US" sz="2200" b="1" dirty="0">
                <a:solidFill>
                  <a:srgbClr val="1B3B6F"/>
                </a:solidFill>
                <a:latin typeface="Amiri" pitchFamily="2" charset="-78"/>
                <a:cs typeface="Amiri" pitchFamily="2" charset="-78"/>
              </a:rPr>
              <a:t> قَبْلَ الأَزْمَةِ.</a:t>
            </a:r>
            <a:endParaRPr lang="ar-SA" sz="2200" dirty="0"/>
          </a:p>
        </p:txBody>
      </p:sp>
      <p:sp>
        <p:nvSpPr>
          <p:cNvPr id="49" name="Text 46"/>
          <p:cNvSpPr txBox="1"/>
          <p:nvPr/>
        </p:nvSpPr>
        <p:spPr>
          <a:xfrm>
            <a:off x="2560320" y="4724400"/>
            <a:ext cx="1828800" cy="559308"/>
          </a:xfrm>
          <a:prstGeom prst="rect">
            <a:avLst/>
          </a:prstGeom>
          <a:noFill/>
          <a:ln/>
        </p:spPr>
        <p:txBody>
          <a:bodyPr wrap="square" lIns="0" tIns="0" rIns="0" bIns="0" rtlCol="0" anchor="ctr"/>
          <a:lstStyle/>
          <a:p>
            <a:pPr rtl="1" algn="ctr" indent="0" marL="0">
              <a:buNone/>
            </a:pPr>
            <a:r>
              <a:rPr lang="ar-SA" altLang="en-US" sz="2400" b="1" dirty="0">
                <a:solidFill>
                  <a:srgbClr val="D6336C"/>
                </a:solidFill>
                <a:latin typeface="Amiri" pitchFamily="2" charset="-78"/>
                <a:cs typeface="Amiri" pitchFamily="2" charset="-78"/>
              </a:rPr>
              <a:t>كَانُوا</a:t>
            </a:r>
            <a:endParaRPr lang="ar-SA" sz="2400" dirty="0"/>
          </a:p>
        </p:txBody>
      </p:sp>
      <p:sp>
        <p:nvSpPr>
          <p:cNvPr id="50" name="Text 47"/>
          <p:cNvSpPr txBox="1"/>
          <p:nvPr/>
        </p:nvSpPr>
        <p:spPr>
          <a:xfrm>
            <a:off x="566928" y="4724400"/>
            <a:ext cx="18288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they (m.)</a:t>
            </a:r>
            <a:endParaRPr lang="en-US" sz="1100" dirty="0"/>
          </a:p>
        </p:txBody>
      </p:sp>
      <p:sp>
        <p:nvSpPr>
          <p:cNvPr id="51" name="Shape 48"/>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52" name="Text 49"/>
          <p:cNvSpPr txBox="1"/>
          <p:nvPr/>
        </p:nvSpPr>
        <p:spPr>
          <a:xfrm>
            <a:off x="9710928" y="5338572"/>
            <a:ext cx="194767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they had graduated</a:t>
            </a:r>
            <a:endParaRPr lang="en-US" sz="1100" dirty="0"/>
          </a:p>
        </p:txBody>
      </p:sp>
      <p:sp>
        <p:nvSpPr>
          <p:cNvPr id="53" name="Text 50"/>
          <p:cNvSpPr txBox="1"/>
          <p:nvPr/>
        </p:nvSpPr>
        <p:spPr>
          <a:xfrm>
            <a:off x="4572000" y="5338572"/>
            <a:ext cx="4937760" cy="559308"/>
          </a:xfrm>
          <a:prstGeom prst="rect">
            <a:avLst/>
          </a:prstGeom>
          <a:noFill/>
          <a:ln/>
        </p:spPr>
        <p:txBody>
          <a:bodyPr wrap="square" lIns="0" tIns="0" rIns="0" bIns="0" rtlCol="0" anchor="ctr"/>
          <a:lstStyle/>
          <a:p>
            <a:pPr rtl="1" algn="ctr" indent="0" marL="0">
              <a:buNone/>
            </a:pPr>
            <a:r>
              <a:rPr lang="ar-SA" altLang="en-US" sz="2200" b="1" dirty="0">
                <a:solidFill>
                  <a:srgbClr val="D6336C"/>
                </a:solidFill>
                <a:latin typeface="Amiri" pitchFamily="2" charset="-78"/>
                <a:cs typeface="Amiri" pitchFamily="2" charset="-78"/>
              </a:rPr>
              <a:t>كُنَّ</a:t>
            </a:r>
            <a:pPr rtl="1" algn="ctr" indent="0" marL="0">
              <a:buNone/>
            </a:pPr>
            <a:r>
              <a:rPr lang="ar-SA" altLang="en-US" sz="2200" b="1" dirty="0">
                <a:solidFill>
                  <a:srgbClr val="1B3B6F"/>
                </a:solidFill>
                <a:latin typeface="Amiri" pitchFamily="2" charset="-78"/>
                <a:cs typeface="Amiri" pitchFamily="2" charset="-78"/>
              </a:rPr>
              <a:t> قَدْ </a:t>
            </a:r>
            <a:pPr rtl="1" algn="ctr" indent="0" marL="0">
              <a:buNone/>
            </a:pPr>
            <a:r>
              <a:rPr lang="ar-SA" altLang="en-US" sz="2200" b="1" dirty="0">
                <a:solidFill>
                  <a:srgbClr val="0E7C86"/>
                </a:solidFill>
                <a:latin typeface="Amiri" pitchFamily="2" charset="-78"/>
                <a:cs typeface="Amiri" pitchFamily="2" charset="-78"/>
              </a:rPr>
              <a:t>تَخَرَّجْنَ</a:t>
            </a:r>
            <a:pPr rtl="1" algn="ctr" indent="0" marL="0">
              <a:buNone/>
            </a:pPr>
            <a:r>
              <a:rPr lang="ar-SA" altLang="en-US" sz="2200" b="1" dirty="0">
                <a:solidFill>
                  <a:srgbClr val="1B3B6F"/>
                </a:solidFill>
                <a:latin typeface="Amiri" pitchFamily="2" charset="-78"/>
                <a:cs typeface="Amiri" pitchFamily="2" charset="-78"/>
              </a:rPr>
              <a:t> قَبْلَ الأَزْمَةِ.</a:t>
            </a:r>
            <a:endParaRPr lang="ar-SA" sz="2200" dirty="0"/>
          </a:p>
        </p:txBody>
      </p:sp>
      <p:sp>
        <p:nvSpPr>
          <p:cNvPr id="54" name="Text 51"/>
          <p:cNvSpPr txBox="1"/>
          <p:nvPr/>
        </p:nvSpPr>
        <p:spPr>
          <a:xfrm>
            <a:off x="2560320" y="5338572"/>
            <a:ext cx="1828800" cy="559308"/>
          </a:xfrm>
          <a:prstGeom prst="rect">
            <a:avLst/>
          </a:prstGeom>
          <a:noFill/>
          <a:ln/>
        </p:spPr>
        <p:txBody>
          <a:bodyPr wrap="square" lIns="0" tIns="0" rIns="0" bIns="0" rtlCol="0" anchor="ctr"/>
          <a:lstStyle/>
          <a:p>
            <a:pPr rtl="1" algn="ctr" indent="0" marL="0">
              <a:buNone/>
            </a:pPr>
            <a:r>
              <a:rPr lang="ar-SA" altLang="en-US" sz="2400" b="1" dirty="0">
                <a:solidFill>
                  <a:srgbClr val="D6336C"/>
                </a:solidFill>
                <a:latin typeface="Amiri" pitchFamily="2" charset="-78"/>
                <a:cs typeface="Amiri" pitchFamily="2" charset="-78"/>
              </a:rPr>
              <a:t>كُنَّ</a:t>
            </a:r>
            <a:endParaRPr lang="ar-SA" sz="2400" dirty="0"/>
          </a:p>
        </p:txBody>
      </p:sp>
      <p:sp>
        <p:nvSpPr>
          <p:cNvPr id="55" name="Text 52"/>
          <p:cNvSpPr txBox="1"/>
          <p:nvPr/>
        </p:nvSpPr>
        <p:spPr>
          <a:xfrm>
            <a:off x="566928" y="5338572"/>
            <a:ext cx="18288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they (f.)</a:t>
            </a:r>
            <a:endParaRPr lang="en-US" sz="1100" dirty="0"/>
          </a:p>
        </p:txBody>
      </p:sp>
      <p:sp>
        <p:nvSpPr>
          <p:cNvPr id="56" name="Text 53"/>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BOTH verbs agree with the subject: kānat … ḥaṣalat · kuntu … anhaytu · kānū … takharrajū.</a:t>
            </a:r>
            <a:endParaRPr lang="en-US" sz="11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49</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P2-L03 · Grammar</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cs typeface="Amiri" pitchFamily="2" charset="-78"/>
              </a:rPr>
              <a:t>GRAMMAR FOCUS · PART 2 · TWO PAST EVENTS IN ORDER (WEBSITE RULE 3 + TEACHING POINT 1) · DEVELOP</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Which happened first?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كَانَ قَدْ … قَبْلَ أَنْ …</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P2-L03</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1028700" cy="274320"/>
          </a:xfrm>
          <a:prstGeom prst="roundRect">
            <a:avLst>
              <a:gd name="adj" fmla="val 50000"/>
            </a:avLst>
          </a:prstGeom>
          <a:solidFill>
            <a:srgbClr val="C0386B"/>
          </a:solidFill>
          <a:ln w="12700">
            <a:solidFill>
              <a:srgbClr val="C0386B"/>
            </a:solidFill>
            <a:prstDash val="solid"/>
          </a:ln>
        </p:spPr>
      </p:sp>
      <p:sp>
        <p:nvSpPr>
          <p:cNvPr id="17" name="Text 14"/>
          <p:cNvSpPr txBox="1"/>
          <p:nvPr/>
        </p:nvSpPr>
        <p:spPr>
          <a:xfrm>
            <a:off x="8232648" y="1920240"/>
            <a:ext cx="10287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1 · EARLIER</a:t>
            </a:r>
            <a:endParaRPr lang="en-US" sz="850" dirty="0"/>
          </a:p>
        </p:txBody>
      </p:sp>
      <p:sp>
        <p:nvSpPr>
          <p:cNvPr id="18" name="Text 15"/>
          <p:cNvSpPr txBox="1"/>
          <p:nvPr/>
        </p:nvSpPr>
        <p:spPr>
          <a:xfrm>
            <a:off x="9307068" y="1874520"/>
            <a:ext cx="2287524" cy="365760"/>
          </a:xfrm>
          <a:prstGeom prst="rect">
            <a:avLst/>
          </a:prstGeom>
          <a:noFill/>
          <a:ln/>
        </p:spPr>
        <p:txBody>
          <a:bodyPr wrap="square" lIns="0" tIns="0" rIns="0" bIns="0" rtlCol="0" anchor="ctr"/>
          <a:lstStyle/>
          <a:p>
            <a:pPr algn="l" indent="0" marL="0">
              <a:buNone/>
            </a:pPr>
            <a:r>
              <a:rPr lang="ar-SA" altLang="en-US" sz="2100" b="1" dirty="0">
                <a:solidFill>
                  <a:srgbClr val="8A6D1E"/>
                </a:solidFill>
                <a:latin typeface="Amiri" pitchFamily="2" charset="-78"/>
                <a:cs typeface="Amiri" pitchFamily="2" charset="-78"/>
              </a:rPr>
              <a:t>كَانَ قَدْ</a:t>
            </a:r>
            <a:pPr algn="l" indent="0" marL="0">
              <a:buNone/>
            </a:pPr>
            <a:r>
              <a:rPr lang="en-US" sz="1600" b="1" dirty="0">
                <a:solidFill>
                  <a:srgbClr val="8A6D1E"/>
                </a:solidFill>
                <a:latin typeface="Calibri" pitchFamily="34" charset="0"/>
                <a:cs typeface="Amiri" pitchFamily="2" charset="-78"/>
              </a:rPr>
              <a:t> + past</a:t>
            </a:r>
            <a:endParaRPr lang="en-US"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2" charset="-78"/>
                <a:cs typeface="Amiri" pitchFamily="2" charset="-78"/>
              </a:rPr>
              <a:t>كَانَ قَدْ أَنْهَى دِرَاسَتَهُ …</a:t>
            </a:r>
            <a:endParaRPr lang="ar-SA" sz="320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He had finished his studies …</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Happened first.</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891540" cy="274320"/>
          </a:xfrm>
          <a:prstGeom prst="roundRect">
            <a:avLst>
              <a:gd name="adj" fmla="val 50000"/>
            </a:avLst>
          </a:prstGeom>
          <a:solidFill>
            <a:srgbClr val="1E6B52"/>
          </a:solidFill>
          <a:ln w="12700">
            <a:solidFill>
              <a:srgbClr val="1E6B52"/>
            </a:solidFill>
            <a:prstDash val="solid"/>
          </a:ln>
        </p:spPr>
      </p:sp>
      <p:sp>
        <p:nvSpPr>
          <p:cNvPr id="25" name="Text 22"/>
          <p:cNvSpPr txBox="1"/>
          <p:nvPr/>
        </p:nvSpPr>
        <p:spPr>
          <a:xfrm>
            <a:off x="4413504" y="1920240"/>
            <a:ext cx="89154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2 · LATER</a:t>
            </a:r>
            <a:endParaRPr lang="en-US" sz="850" dirty="0"/>
          </a:p>
        </p:txBody>
      </p:sp>
      <p:sp>
        <p:nvSpPr>
          <p:cNvPr id="26" name="Text 23"/>
          <p:cNvSpPr txBox="1"/>
          <p:nvPr/>
        </p:nvSpPr>
        <p:spPr>
          <a:xfrm>
            <a:off x="5350764" y="1874520"/>
            <a:ext cx="2424684" cy="365760"/>
          </a:xfrm>
          <a:prstGeom prst="rect">
            <a:avLst/>
          </a:prstGeom>
          <a:noFill/>
          <a:ln/>
        </p:spPr>
        <p:txBody>
          <a:bodyPr wrap="square" lIns="0" tIns="0" rIns="0" bIns="0" rtlCol="0" anchor="ctr"/>
          <a:lstStyle/>
          <a:p>
            <a:pPr algn="l" indent="0" marL="0">
              <a:buNone/>
            </a:pPr>
            <a:r>
              <a:rPr lang="ar-SA" altLang="en-US" sz="2100" b="1" dirty="0">
                <a:solidFill>
                  <a:srgbClr val="8A6D1E"/>
                </a:solidFill>
                <a:latin typeface="Amiri" pitchFamily="2" charset="-78"/>
                <a:cs typeface="Amiri" pitchFamily="2" charset="-78"/>
              </a:rPr>
              <a:t>قَبْلَ أَنْ</a:t>
            </a:r>
            <a:pPr algn="l" indent="0" marL="0">
              <a:buNone/>
            </a:pPr>
            <a:r>
              <a:rPr lang="en-US" sz="1600" b="1" dirty="0">
                <a:solidFill>
                  <a:srgbClr val="8A6D1E"/>
                </a:solidFill>
                <a:latin typeface="Calibri" pitchFamily="34" charset="0"/>
                <a:cs typeface="Amiri" pitchFamily="2" charset="-78"/>
              </a:rPr>
              <a:t> + subjunctive</a:t>
            </a:r>
            <a:endParaRPr lang="en-US"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2" charset="-78"/>
                <a:cs typeface="Amiri" pitchFamily="2" charset="-78"/>
              </a:rPr>
              <a:t>… قَبْلَ أَنْ يَبْدَأَ العَمَلَ.</a:t>
            </a:r>
            <a:endParaRPr lang="ar-SA" sz="320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 before he started work.</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an + -a.</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234440" cy="274320"/>
          </a:xfrm>
          <a:prstGeom prst="roundRect">
            <a:avLst>
              <a:gd name="adj" fmla="val 50000"/>
            </a:avLst>
          </a:prstGeom>
          <a:solidFill>
            <a:srgbClr val="1D5FBF"/>
          </a:solidFill>
          <a:ln w="12700">
            <a:solidFill>
              <a:srgbClr val="1D5FBF"/>
            </a:solidFill>
            <a:prstDash val="solid"/>
          </a:ln>
        </p:spPr>
      </p:sp>
      <p:sp>
        <p:nvSpPr>
          <p:cNvPr id="33" name="Text 30"/>
          <p:cNvSpPr txBox="1"/>
          <p:nvPr/>
        </p:nvSpPr>
        <p:spPr>
          <a:xfrm>
            <a:off x="594360" y="1920240"/>
            <a:ext cx="123444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BOTH · STRETCH</a:t>
            </a:r>
            <a:endParaRPr lang="en-US" sz="850" dirty="0"/>
          </a:p>
        </p:txBody>
      </p:sp>
      <p:sp>
        <p:nvSpPr>
          <p:cNvPr id="34" name="Text 31"/>
          <p:cNvSpPr txBox="1"/>
          <p:nvPr/>
        </p:nvSpPr>
        <p:spPr>
          <a:xfrm>
            <a:off x="1874520" y="1874520"/>
            <a:ext cx="2081784" cy="365760"/>
          </a:xfrm>
          <a:prstGeom prst="rect">
            <a:avLst/>
          </a:prstGeom>
          <a:noFill/>
          <a:ln/>
        </p:spPr>
        <p:txBody>
          <a:bodyPr wrap="square" lIns="0" tIns="0" rIns="0" bIns="0" rtlCol="0" anchor="ctr"/>
          <a:lstStyle/>
          <a:p>
            <a:pPr algn="l" indent="0" marL="0">
              <a:buNone/>
            </a:pPr>
            <a:r>
              <a:rPr lang="en-US" sz="1600" b="1" dirty="0">
                <a:solidFill>
                  <a:srgbClr val="8A6D1E"/>
                </a:solidFill>
                <a:latin typeface="Calibri" pitchFamily="34" charset="0"/>
                <a:cs typeface="Amiri" pitchFamily="2" charset="-78"/>
              </a:rPr>
              <a:t>she · I</a:t>
            </a:r>
            <a:endParaRPr lang="en-US"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2" charset="-78"/>
                <a:cs typeface="Amiri" pitchFamily="2" charset="-78"/>
              </a:rPr>
              <a:t>كَانَتْ قَدْ حَصَلَتْ عَلَى مِنْحَةٍ قَبْلَ أَنْ تُسَافِرَ.</a:t>
            </a:r>
            <a:endParaRPr lang="ar-SA" sz="210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She had obtained a scholarship before she travelled.</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Agree both.</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cs typeface="Amiri" pitchFamily="2" charset="-78"/>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cs typeface="Amiri" pitchFamily="2" charset="-78"/>
              </a:rPr>
              <a:t>Website mistake 3: qabla an is followed by a subjunctive, never a past verb.</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900" b="1" dirty="0">
                <a:solidFill>
                  <a:srgbClr val="1B3B6F"/>
                </a:solidFill>
                <a:latin typeface="Amiri" pitchFamily="2" charset="-78"/>
                <a:cs typeface="Amiri" pitchFamily="2" charset="-78"/>
              </a:rPr>
              <a:t>قَبْلَ أَنْ أَبْدَأَ العَمَلَ</a:t>
            </a:r>
            <a:endParaRPr lang="ar-SA" sz="190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900" b="1" dirty="0">
                <a:solidFill>
                  <a:srgbClr val="B83227"/>
                </a:solidFill>
                <a:latin typeface="Amiri" pitchFamily="2" charset="-78"/>
                <a:cs typeface="Amiri" pitchFamily="2" charset="-78"/>
              </a:rPr>
              <a:t>قَبْلَ أَنْ بَدَأْتُ العَمَلَ</a:t>
            </a:r>
            <a:endParaRPr lang="ar-SA" sz="190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49</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P2-L03 · Grammar</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cs typeface="Amiri" pitchFamily="2" charset="-78"/>
              </a:rPr>
              <a:t>GRAMMAR FOCUS · PART 3 · THE PERSONAL-STATEMENT TIMELINE (WEBSITE RULE 4 + WRITING TASK) · DEVELOP / STRETCH</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Before · then · now · next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خَطُّ الزَّمَنِ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P2-L03</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4919472" y="1810512"/>
            <a:ext cx="67391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Model (website personal statement)</a:t>
            </a:r>
            <a:endParaRPr lang="en-US" sz="1100" dirty="0"/>
          </a:p>
        </p:txBody>
      </p:sp>
      <p:sp>
        <p:nvSpPr>
          <p:cNvPr id="17" name="Text 14"/>
          <p:cNvSpPr txBox="1"/>
          <p:nvPr/>
        </p:nvSpPr>
        <p:spPr>
          <a:xfrm>
            <a:off x="2724912" y="1810512"/>
            <a:ext cx="20482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Tool</a:t>
            </a:r>
            <a:endParaRPr lang="en-US" sz="1100" dirty="0"/>
          </a:p>
        </p:txBody>
      </p:sp>
      <p:sp>
        <p:nvSpPr>
          <p:cNvPr id="18" name="Text 15"/>
          <p:cNvSpPr txBox="1"/>
          <p:nvPr/>
        </p:nvSpPr>
        <p:spPr>
          <a:xfrm>
            <a:off x="530352" y="1810512"/>
            <a:ext cx="20482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Time</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4937760" y="2267712"/>
            <a:ext cx="6702552" cy="682142"/>
          </a:xfrm>
          <a:prstGeom prst="rect">
            <a:avLst/>
          </a:prstGeom>
          <a:noFill/>
          <a:ln/>
        </p:spPr>
        <p:txBody>
          <a:bodyPr wrap="square" lIns="0" tIns="0" rIns="0" bIns="0" rtlCol="0" anchor="ctr"/>
          <a:lstStyle/>
          <a:p>
            <a:pPr rtl="1" algn="ctr" indent="0" marL="0">
              <a:buNone/>
            </a:pPr>
            <a:r>
              <a:rPr lang="ar-SA" altLang="en-US" sz="2000" b="1" dirty="0">
                <a:solidFill>
                  <a:srgbClr val="7B3FA0"/>
                </a:solidFill>
                <a:latin typeface="Amiri" pitchFamily="2" charset="-78"/>
                <a:cs typeface="Amiri" pitchFamily="2" charset="-78"/>
              </a:rPr>
              <a:t>بِحُلُولِ</a:t>
            </a:r>
            <a:pPr rtl="1" algn="ctr" indent="0" marL="0">
              <a:buNone/>
            </a:pPr>
            <a:r>
              <a:rPr lang="ar-SA" altLang="en-US" sz="2000" b="1" dirty="0">
                <a:solidFill>
                  <a:srgbClr val="1B3B6F"/>
                </a:solidFill>
                <a:latin typeface="Amiri" pitchFamily="2" charset="-78"/>
                <a:cs typeface="Amiri" pitchFamily="2" charset="-78"/>
              </a:rPr>
              <a:t> نِهَايَةِ الثَّانَوِيَّةِ، </a:t>
            </a:r>
            <a:pPr rtl="1" algn="ctr" indent="0" marL="0">
              <a:buNone/>
            </a:pPr>
            <a:r>
              <a:rPr lang="ar-SA" altLang="en-US" sz="2000" b="1" dirty="0">
                <a:solidFill>
                  <a:srgbClr val="D6336C"/>
                </a:solidFill>
                <a:latin typeface="Amiri" pitchFamily="2" charset="-78"/>
                <a:cs typeface="Amiri" pitchFamily="2" charset="-78"/>
              </a:rPr>
              <a:t>كُنْتُ قَدْ أَنْجَزْتُ</a:t>
            </a:r>
            <a:pPr rtl="1" algn="ctr" indent="0" marL="0">
              <a:buNone/>
            </a:pPr>
            <a:r>
              <a:rPr lang="ar-SA" altLang="en-US" sz="2000" b="1" dirty="0">
                <a:solidFill>
                  <a:srgbClr val="1B3B6F"/>
                </a:solidFill>
                <a:latin typeface="Amiri" pitchFamily="2" charset="-78"/>
                <a:cs typeface="Amiri" pitchFamily="2" charset="-78"/>
              </a:rPr>
              <a:t> مَشْرُوعًا بَحْثِيًّا.</a:t>
            </a:r>
            <a:endParaRPr lang="ar-SA" sz="2000" dirty="0"/>
          </a:p>
        </p:txBody>
      </p:sp>
      <p:sp>
        <p:nvSpPr>
          <p:cNvPr id="21" name="Text 18"/>
          <p:cNvSpPr txBox="1"/>
          <p:nvPr/>
        </p:nvSpPr>
        <p:spPr>
          <a:xfrm>
            <a:off x="2761488" y="2267712"/>
            <a:ext cx="20116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bi-ḥulūli + kuntu qad</a:t>
            </a:r>
            <a:endParaRPr lang="en-US" sz="1100" dirty="0"/>
          </a:p>
        </p:txBody>
      </p:sp>
      <p:sp>
        <p:nvSpPr>
          <p:cNvPr id="22" name="Text 19"/>
          <p:cNvSpPr txBox="1"/>
          <p:nvPr/>
        </p:nvSpPr>
        <p:spPr>
          <a:xfrm>
            <a:off x="566928" y="2267712"/>
            <a:ext cx="20116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by a point in the past</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6" name="Text 23"/>
          <p:cNvSpPr txBox="1"/>
          <p:nvPr/>
        </p:nvSpPr>
        <p:spPr>
          <a:xfrm>
            <a:off x="4937760" y="3004718"/>
            <a:ext cx="6702552" cy="682142"/>
          </a:xfrm>
          <a:prstGeom prst="rect">
            <a:avLst/>
          </a:prstGeom>
          <a:noFill/>
          <a:ln/>
        </p:spPr>
        <p:txBody>
          <a:bodyPr wrap="square" lIns="0" tIns="0" rIns="0" bIns="0" rtlCol="0" anchor="ctr"/>
          <a:lstStyle/>
          <a:p>
            <a:pPr rtl="1" algn="ctr" indent="0" marL="0">
              <a:buNone/>
            </a:pPr>
            <a:r>
              <a:rPr lang="ar-SA" altLang="en-US" sz="2000" b="1" dirty="0">
                <a:solidFill>
                  <a:srgbClr val="D6336C"/>
                </a:solidFill>
                <a:latin typeface="Amiri" pitchFamily="2" charset="-78"/>
                <a:cs typeface="Amiri" pitchFamily="2" charset="-78"/>
              </a:rPr>
              <a:t>كُنْتُ قَدْ قَرَّرْتُ</a:t>
            </a:r>
            <a:pPr rtl="1" algn="ctr" indent="0" marL="0">
              <a:buNone/>
            </a:pPr>
            <a:r>
              <a:rPr lang="ar-SA" altLang="en-US" sz="2000" b="1" dirty="0">
                <a:solidFill>
                  <a:srgbClr val="1B3B6F"/>
                </a:solidFill>
                <a:latin typeface="Amiri" pitchFamily="2" charset="-78"/>
                <a:cs typeface="Amiri" pitchFamily="2" charset="-78"/>
              </a:rPr>
              <a:t> دِرَاسَةَ الطِّبِّ مُنْذُ المَرْحَلَةِ الإِعْدَادِيَّةِ.</a:t>
            </a:r>
            <a:endParaRPr lang="ar-SA" sz="2000" dirty="0"/>
          </a:p>
        </p:txBody>
      </p:sp>
      <p:sp>
        <p:nvSpPr>
          <p:cNvPr id="27" name="Text 24"/>
          <p:cNvSpPr txBox="1"/>
          <p:nvPr/>
        </p:nvSpPr>
        <p:spPr>
          <a:xfrm>
            <a:off x="2761488" y="3004718"/>
            <a:ext cx="20116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kuntu qad (+ mundhu)</a:t>
            </a:r>
            <a:endParaRPr lang="en-US" sz="1100" dirty="0"/>
          </a:p>
        </p:txBody>
      </p:sp>
      <p:sp>
        <p:nvSpPr>
          <p:cNvPr id="28" name="Text 25"/>
          <p:cNvSpPr txBox="1"/>
          <p:nvPr/>
        </p:nvSpPr>
        <p:spPr>
          <a:xfrm>
            <a:off x="566928" y="3004718"/>
            <a:ext cx="20116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earlier than that</a:t>
            </a:r>
            <a:endParaRPr lang="en-US" sz="1100" dirty="0"/>
          </a:p>
        </p:txBody>
      </p:sp>
      <p:sp>
        <p:nvSpPr>
          <p:cNvPr id="29" name="Shape 26"/>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2" name="Text 29"/>
          <p:cNvSpPr txBox="1"/>
          <p:nvPr/>
        </p:nvSpPr>
        <p:spPr>
          <a:xfrm>
            <a:off x="4937760" y="3741725"/>
            <a:ext cx="6702552" cy="682142"/>
          </a:xfrm>
          <a:prstGeom prst="rect">
            <a:avLst/>
          </a:prstGeom>
          <a:noFill/>
          <a:ln/>
        </p:spPr>
        <p:txBody>
          <a:bodyPr wrap="square" lIns="0" tIns="0" rIns="0" bIns="0" rtlCol="0" anchor="ctr"/>
          <a:lstStyle/>
          <a:p>
            <a:pPr rtl="1" algn="ctr" indent="0" marL="0">
              <a:buNone/>
            </a:pPr>
            <a:r>
              <a:rPr lang="ar-SA" altLang="en-US" sz="2000" b="1" dirty="0">
                <a:solidFill>
                  <a:srgbClr val="1D5FBF"/>
                </a:solidFill>
                <a:latin typeface="Amiri" pitchFamily="2" charset="-78"/>
                <a:cs typeface="Amiri" pitchFamily="2" charset="-78"/>
              </a:rPr>
              <a:t>أَدْرُسُ</a:t>
            </a:r>
            <a:pPr rtl="1" algn="ctr" indent="0" marL="0">
              <a:buNone/>
            </a:pPr>
            <a:r>
              <a:rPr lang="ar-SA" altLang="en-US" sz="2000" b="1" dirty="0">
                <a:solidFill>
                  <a:srgbClr val="1B3B6F"/>
                </a:solidFill>
                <a:latin typeface="Amiri" pitchFamily="2" charset="-78"/>
                <a:cs typeface="Amiri" pitchFamily="2" charset="-78"/>
              </a:rPr>
              <a:t> الآنَ فِي السَّنَةِ الأَخِيرَةِ </a:t>
            </a:r>
            <a:pPr rtl="1" algn="ctr" indent="0" marL="0">
              <a:buNone/>
            </a:pPr>
            <a:r>
              <a:rPr lang="ar-SA" altLang="en-US" sz="2000" b="1" dirty="0">
                <a:solidFill>
                  <a:srgbClr val="1D5FBF"/>
                </a:solidFill>
                <a:latin typeface="Amiri" pitchFamily="2" charset="-78"/>
                <a:cs typeface="Amiri" pitchFamily="2" charset="-78"/>
              </a:rPr>
              <a:t>وَأَتَفَوَّقُ</a:t>
            </a:r>
            <a:pPr rtl="1" algn="ctr" indent="0" marL="0">
              <a:buNone/>
            </a:pPr>
            <a:r>
              <a:rPr lang="ar-SA" altLang="en-US" sz="2000" b="1" dirty="0">
                <a:solidFill>
                  <a:srgbClr val="1B3B6F"/>
                </a:solidFill>
                <a:latin typeface="Amiri" pitchFamily="2" charset="-78"/>
                <a:cs typeface="Amiri" pitchFamily="2" charset="-78"/>
              </a:rPr>
              <a:t> فِي العُلُومِ.</a:t>
            </a:r>
            <a:endParaRPr lang="ar-SA" sz="2000" dirty="0"/>
          </a:p>
        </p:txBody>
      </p:sp>
      <p:sp>
        <p:nvSpPr>
          <p:cNvPr id="33" name="Text 30"/>
          <p:cNvSpPr txBox="1"/>
          <p:nvPr/>
        </p:nvSpPr>
        <p:spPr>
          <a:xfrm>
            <a:off x="2761488" y="3741725"/>
            <a:ext cx="20116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present</a:t>
            </a:r>
            <a:endParaRPr lang="en-US" sz="1100" dirty="0"/>
          </a:p>
        </p:txBody>
      </p:sp>
      <p:sp>
        <p:nvSpPr>
          <p:cNvPr id="34" name="Text 31"/>
          <p:cNvSpPr txBox="1"/>
          <p:nvPr/>
        </p:nvSpPr>
        <p:spPr>
          <a:xfrm>
            <a:off x="566928" y="3741725"/>
            <a:ext cx="20116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now</a:t>
            </a:r>
            <a:endParaRPr lang="en-US" sz="1100" dirty="0"/>
          </a:p>
        </p:txBody>
      </p:sp>
      <p:sp>
        <p:nvSpPr>
          <p:cNvPr id="35" name="Shape 32"/>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6" name="Text 33"/>
          <p:cNvSpPr txBox="1"/>
          <p:nvPr/>
        </p:nvSpPr>
        <p:spPr>
          <a:xfrm>
            <a:off x="4937760" y="4478731"/>
            <a:ext cx="6702552" cy="682142"/>
          </a:xfrm>
          <a:prstGeom prst="rect">
            <a:avLst/>
          </a:prstGeom>
          <a:noFill/>
          <a:ln/>
        </p:spPr>
        <p:txBody>
          <a:bodyPr wrap="square" lIns="0" tIns="0" rIns="0" bIns="0" rtlCol="0" anchor="ctr"/>
          <a:lstStyle/>
          <a:p>
            <a:pPr rtl="1" algn="ctr" indent="0" marL="0">
              <a:buNone/>
            </a:pPr>
            <a:r>
              <a:rPr lang="ar-SA" altLang="en-US" sz="2000" b="1" dirty="0">
                <a:solidFill>
                  <a:srgbClr val="C77700"/>
                </a:solidFill>
                <a:latin typeface="Amiri" pitchFamily="2" charset="-78"/>
                <a:cs typeface="Amiri" pitchFamily="2" charset="-78"/>
              </a:rPr>
              <a:t>أَشَارَ</a:t>
            </a:r>
            <a:pPr rtl="1" algn="ctr" indent="0" marL="0">
              <a:buNone/>
            </a:pPr>
            <a:r>
              <a:rPr lang="ar-SA" altLang="en-US" sz="2000" b="1" dirty="0">
                <a:solidFill>
                  <a:srgbClr val="1B3B6F"/>
                </a:solidFill>
                <a:latin typeface="Amiri" pitchFamily="2" charset="-78"/>
                <a:cs typeface="Amiri" pitchFamily="2" charset="-78"/>
              </a:rPr>
              <a:t> أُسْتَاذِي </a:t>
            </a:r>
            <a:pPr rtl="1" algn="ctr" indent="0" marL="0">
              <a:buNone/>
            </a:pPr>
            <a:r>
              <a:rPr lang="ar-SA" altLang="en-US" sz="2000" b="1" dirty="0">
                <a:solidFill>
                  <a:srgbClr val="C77700"/>
                </a:solidFill>
                <a:latin typeface="Amiri" pitchFamily="2" charset="-78"/>
                <a:cs typeface="Amiri" pitchFamily="2" charset="-78"/>
              </a:rPr>
              <a:t>إِلَى أَنَّنِي</a:t>
            </a:r>
            <a:pPr rtl="1" algn="ctr" indent="0" marL="0">
              <a:buNone/>
            </a:pPr>
            <a:r>
              <a:rPr lang="ar-SA" altLang="en-US" sz="2000" b="1" dirty="0">
                <a:solidFill>
                  <a:srgbClr val="1B3B6F"/>
                </a:solidFill>
                <a:latin typeface="Amiri" pitchFamily="2" charset="-78"/>
                <a:cs typeface="Amiri" pitchFamily="2" charset="-78"/>
              </a:rPr>
              <a:t> مُجْتَهِدٌ.</a:t>
            </a:r>
            <a:endParaRPr lang="ar-SA" sz="2000" dirty="0"/>
          </a:p>
        </p:txBody>
      </p:sp>
      <p:sp>
        <p:nvSpPr>
          <p:cNvPr id="37" name="Text 34"/>
          <p:cNvSpPr txBox="1"/>
          <p:nvPr/>
        </p:nvSpPr>
        <p:spPr>
          <a:xfrm>
            <a:off x="2761488" y="4478731"/>
            <a:ext cx="20116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reported speech (P2-L02)</a:t>
            </a:r>
            <a:endParaRPr lang="en-US" sz="1100" dirty="0"/>
          </a:p>
        </p:txBody>
      </p:sp>
      <p:sp>
        <p:nvSpPr>
          <p:cNvPr id="38" name="Text 35"/>
          <p:cNvSpPr txBox="1"/>
          <p:nvPr/>
        </p:nvSpPr>
        <p:spPr>
          <a:xfrm>
            <a:off x="566928" y="4478731"/>
            <a:ext cx="20116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what others said</a:t>
            </a:r>
            <a:endParaRPr lang="en-US" sz="1100" dirty="0"/>
          </a:p>
        </p:txBody>
      </p:sp>
      <p:sp>
        <p:nvSpPr>
          <p:cNvPr id="39" name="Shape 36"/>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0" name="Text 37"/>
          <p:cNvSpPr txBox="1"/>
          <p:nvPr/>
        </p:nvSpPr>
        <p:spPr>
          <a:xfrm>
            <a:off x="4937760" y="5215738"/>
            <a:ext cx="6702552" cy="682142"/>
          </a:xfrm>
          <a:prstGeom prst="rect">
            <a:avLst/>
          </a:prstGeom>
          <a:noFill/>
          <a:ln/>
        </p:spPr>
        <p:txBody>
          <a:bodyPr wrap="square" lIns="0" tIns="0" rIns="0" bIns="0" rtlCol="0" anchor="ctr"/>
          <a:lstStyle/>
          <a:p>
            <a:pPr rtl="1" algn="ctr" indent="0" marL="0">
              <a:buNone/>
            </a:pPr>
            <a:r>
              <a:rPr lang="ar-SA" altLang="en-US" sz="2000" b="1" dirty="0">
                <a:solidFill>
                  <a:srgbClr val="0E7C86"/>
                </a:solidFill>
                <a:latin typeface="Amiri" pitchFamily="2" charset="-78"/>
                <a:cs typeface="Amiri" pitchFamily="2" charset="-78"/>
              </a:rPr>
              <a:t>إِذَا قُبِلْتُ</a:t>
            </a:r>
            <a:pPr rtl="1" algn="ctr" indent="0" marL="0">
              <a:buNone/>
            </a:pPr>
            <a:r>
              <a:rPr lang="ar-SA" altLang="en-US" sz="2000" b="1" dirty="0">
                <a:solidFill>
                  <a:srgbClr val="1B3B6F"/>
                </a:solidFill>
                <a:latin typeface="Amiri" pitchFamily="2" charset="-78"/>
                <a:cs typeface="Amiri" pitchFamily="2" charset="-78"/>
              </a:rPr>
              <a:t>، </a:t>
            </a:r>
            <a:pPr rtl="1" algn="ctr" indent="0" marL="0">
              <a:buNone/>
            </a:pPr>
            <a:r>
              <a:rPr lang="ar-SA" altLang="en-US" sz="2000" b="1" dirty="0">
                <a:solidFill>
                  <a:srgbClr val="0E7C86"/>
                </a:solidFill>
                <a:latin typeface="Amiri" pitchFamily="2" charset="-78"/>
                <a:cs typeface="Amiri" pitchFamily="2" charset="-78"/>
              </a:rPr>
              <a:t>سَأُكَرِّسُ</a:t>
            </a:r>
            <a:pPr rtl="1" algn="ctr" indent="0" marL="0">
              <a:buNone/>
            </a:pPr>
            <a:r>
              <a:rPr lang="ar-SA" altLang="en-US" sz="2000" b="1" dirty="0">
                <a:solidFill>
                  <a:srgbClr val="1B3B6F"/>
                </a:solidFill>
                <a:latin typeface="Amiri" pitchFamily="2" charset="-78"/>
                <a:cs typeface="Amiri" pitchFamily="2" charset="-78"/>
              </a:rPr>
              <a:t> جُهْدِي لِلْبَحْثِ العِلْمِيِّ.</a:t>
            </a:r>
            <a:endParaRPr lang="ar-SA" sz="2000" dirty="0"/>
          </a:p>
        </p:txBody>
      </p:sp>
      <p:sp>
        <p:nvSpPr>
          <p:cNvPr id="41" name="Text 38"/>
          <p:cNvSpPr txBox="1"/>
          <p:nvPr/>
        </p:nvSpPr>
        <p:spPr>
          <a:xfrm>
            <a:off x="2761488" y="5215738"/>
            <a:ext cx="20116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conditional (P1-L03)</a:t>
            </a:r>
            <a:endParaRPr lang="en-US" sz="1100" dirty="0"/>
          </a:p>
        </p:txBody>
      </p:sp>
      <p:sp>
        <p:nvSpPr>
          <p:cNvPr id="42" name="Text 39"/>
          <p:cNvSpPr txBox="1"/>
          <p:nvPr/>
        </p:nvSpPr>
        <p:spPr>
          <a:xfrm>
            <a:off x="566928" y="5215738"/>
            <a:ext cx="20116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next</a:t>
            </a:r>
            <a:endParaRPr lang="en-US" sz="1100" dirty="0"/>
          </a:p>
        </p:txBody>
      </p:sp>
      <p:sp>
        <p:nvSpPr>
          <p:cNvPr id="43" name="Text 4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A strong personal statement moves through time: what I had done → what I do now → what I will do.</a:t>
            </a:r>
            <a:endParaRPr lang="en-US" sz="115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49</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P2-L03 · Grammar</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20" b="1" spc="150" kern="0" dirty="0">
                <a:solidFill>
                  <a:srgbClr val="1B3B6F"/>
                </a:solidFill>
                <a:latin typeface="Calibri" pitchFamily="34" charset="0"/>
                <a:cs typeface="Amiri" pitchFamily="2" charset="-78"/>
              </a:rPr>
              <a:t>GRAMMAR FOCUS · PART 4 · ACCURACY CHECK (WEBSITE COMMON ERROR + MISTAKES) · STRETCH</a:t>
            </a:r>
            <a:endParaRPr lang="en-US" sz="82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Find the slip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دَقِّقْ</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P2-L03</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577072" y="1810512"/>
            <a:ext cx="30815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Rule</a:t>
            </a:r>
            <a:endParaRPr lang="en-US" sz="1100" dirty="0"/>
          </a:p>
        </p:txBody>
      </p:sp>
      <p:sp>
        <p:nvSpPr>
          <p:cNvPr id="17" name="Text 14"/>
          <p:cNvSpPr txBox="1"/>
          <p:nvPr/>
        </p:nvSpPr>
        <p:spPr>
          <a:xfrm>
            <a:off x="4370832" y="1810512"/>
            <a:ext cx="40599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Correct</a:t>
            </a:r>
            <a:endParaRPr lang="en-US" sz="1100" dirty="0"/>
          </a:p>
        </p:txBody>
      </p:sp>
      <p:sp>
        <p:nvSpPr>
          <p:cNvPr id="18" name="Text 15"/>
          <p:cNvSpPr txBox="1"/>
          <p:nvPr/>
        </p:nvSpPr>
        <p:spPr>
          <a:xfrm>
            <a:off x="530352" y="1810512"/>
            <a:ext cx="36941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Slip</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8613648" y="2267712"/>
            <a:ext cx="30449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past after qad</a:t>
            </a:r>
            <a:endParaRPr lang="en-US" sz="1100" dirty="0"/>
          </a:p>
        </p:txBody>
      </p:sp>
      <p:sp>
        <p:nvSpPr>
          <p:cNvPr id="21" name="Text 18"/>
          <p:cNvSpPr txBox="1"/>
          <p:nvPr/>
        </p:nvSpPr>
        <p:spPr>
          <a:xfrm>
            <a:off x="4389120" y="2267712"/>
            <a:ext cx="402336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كَانَ قَدْ </a:t>
            </a:r>
            <a:pPr rtl="1" algn="ctr" indent="0" marL="0">
              <a:buNone/>
            </a:pPr>
            <a:r>
              <a:rPr lang="ar-SA" altLang="en-US" sz="2000" b="1" dirty="0">
                <a:solidFill>
                  <a:srgbClr val="0E7C86"/>
                </a:solidFill>
                <a:latin typeface="Amiri" pitchFamily="2" charset="-78"/>
                <a:cs typeface="Amiri" pitchFamily="2" charset="-78"/>
              </a:rPr>
              <a:t>دَرَسَ</a:t>
            </a:r>
            <a:pPr rtl="1" algn="ctr" indent="0" marL="0">
              <a:buNone/>
            </a:pPr>
            <a:r>
              <a:rPr lang="ar-SA" altLang="en-US" sz="2000" b="1" dirty="0">
                <a:solidFill>
                  <a:srgbClr val="1B3B6F"/>
                </a:solidFill>
                <a:latin typeface="Amiri" pitchFamily="2" charset="-78"/>
                <a:cs typeface="Amiri" pitchFamily="2" charset="-78"/>
              </a:rPr>
              <a:t> فِي القَاهِرَةِ.</a:t>
            </a:r>
            <a:endParaRPr lang="ar-SA" sz="2000" dirty="0"/>
          </a:p>
        </p:txBody>
      </p:sp>
      <p:sp>
        <p:nvSpPr>
          <p:cNvPr id="22" name="Text 19"/>
          <p:cNvSpPr txBox="1"/>
          <p:nvPr/>
        </p:nvSpPr>
        <p:spPr>
          <a:xfrm>
            <a:off x="548640" y="2267712"/>
            <a:ext cx="365760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كَانَ قَدْ يَدْرُسُ فِي القَاهِرَةِ.</a:t>
            </a:r>
            <a:endParaRPr lang="ar-SA" sz="20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6" name="Text 23"/>
          <p:cNvSpPr txBox="1"/>
          <p:nvPr/>
        </p:nvSpPr>
        <p:spPr>
          <a:xfrm>
            <a:off x="8613648" y="3004718"/>
            <a:ext cx="30449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kāna agrees</a:t>
            </a:r>
            <a:endParaRPr lang="en-US" sz="1100" dirty="0"/>
          </a:p>
        </p:txBody>
      </p:sp>
      <p:sp>
        <p:nvSpPr>
          <p:cNvPr id="27" name="Text 24"/>
          <p:cNvSpPr txBox="1"/>
          <p:nvPr/>
        </p:nvSpPr>
        <p:spPr>
          <a:xfrm>
            <a:off x="4389120" y="3004718"/>
            <a:ext cx="4023360" cy="682142"/>
          </a:xfrm>
          <a:prstGeom prst="rect">
            <a:avLst/>
          </a:prstGeom>
          <a:noFill/>
          <a:ln/>
        </p:spPr>
        <p:txBody>
          <a:bodyPr wrap="square" lIns="0" tIns="0" rIns="0" bIns="0" rtlCol="0" anchor="ctr"/>
          <a:lstStyle/>
          <a:p>
            <a:pPr rtl="1" algn="ctr" indent="0" marL="0">
              <a:buNone/>
            </a:pPr>
            <a:r>
              <a:rPr lang="ar-SA" altLang="en-US" sz="2000" b="1" dirty="0">
                <a:solidFill>
                  <a:srgbClr val="D6336C"/>
                </a:solidFill>
                <a:latin typeface="Amiri" pitchFamily="2" charset="-78"/>
                <a:cs typeface="Amiri" pitchFamily="2" charset="-78"/>
              </a:rPr>
              <a:t>كَانَتْ</a:t>
            </a:r>
            <a:pPr rtl="1" algn="ctr" indent="0" marL="0">
              <a:buNone/>
            </a:pPr>
            <a:r>
              <a:rPr lang="ar-SA" altLang="en-US" sz="2000" b="1" dirty="0">
                <a:solidFill>
                  <a:srgbClr val="1B3B6F"/>
                </a:solidFill>
                <a:latin typeface="Amiri" pitchFamily="2" charset="-78"/>
                <a:cs typeface="Amiri" pitchFamily="2" charset="-78"/>
              </a:rPr>
              <a:t> قَدْ حَصَلَتْ عَلَى مِنْحَةٍ.</a:t>
            </a:r>
            <a:endParaRPr lang="ar-SA" sz="2000" dirty="0"/>
          </a:p>
        </p:txBody>
      </p:sp>
      <p:sp>
        <p:nvSpPr>
          <p:cNvPr id="28" name="Text 25"/>
          <p:cNvSpPr txBox="1"/>
          <p:nvPr/>
        </p:nvSpPr>
        <p:spPr>
          <a:xfrm>
            <a:off x="548640" y="3004718"/>
            <a:ext cx="365760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كَانَ قَدْ حَصَلَتْ عَلَى مِنْحَةٍ.</a:t>
            </a:r>
            <a:endParaRPr lang="ar-SA" sz="2000" dirty="0"/>
          </a:p>
        </p:txBody>
      </p:sp>
      <p:sp>
        <p:nvSpPr>
          <p:cNvPr id="29" name="Shape 26"/>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2" name="Text 29"/>
          <p:cNvSpPr txBox="1"/>
          <p:nvPr/>
        </p:nvSpPr>
        <p:spPr>
          <a:xfrm>
            <a:off x="8613648" y="3741725"/>
            <a:ext cx="30449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both verbs agree</a:t>
            </a:r>
            <a:endParaRPr lang="en-US" sz="1100" dirty="0"/>
          </a:p>
        </p:txBody>
      </p:sp>
      <p:sp>
        <p:nvSpPr>
          <p:cNvPr id="33" name="Text 30"/>
          <p:cNvSpPr txBox="1"/>
          <p:nvPr/>
        </p:nvSpPr>
        <p:spPr>
          <a:xfrm>
            <a:off x="4389120" y="3741725"/>
            <a:ext cx="402336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كَانُوا قَدْ </a:t>
            </a:r>
            <a:pPr rtl="1" algn="ctr" indent="0" marL="0">
              <a:buNone/>
            </a:pPr>
            <a:r>
              <a:rPr lang="ar-SA" altLang="en-US" sz="2000" b="1" dirty="0">
                <a:solidFill>
                  <a:srgbClr val="0E7C86"/>
                </a:solidFill>
                <a:latin typeface="Amiri" pitchFamily="2" charset="-78"/>
                <a:cs typeface="Amiri" pitchFamily="2" charset="-78"/>
              </a:rPr>
              <a:t>تَخَرَّجُوا</a:t>
            </a:r>
            <a:pPr rtl="1" algn="ctr" indent="0" marL="0">
              <a:buNone/>
            </a:pPr>
            <a:r>
              <a:rPr lang="ar-SA" altLang="en-US" sz="2000" b="1" dirty="0">
                <a:solidFill>
                  <a:srgbClr val="1B3B6F"/>
                </a:solidFill>
                <a:latin typeface="Amiri" pitchFamily="2" charset="-78"/>
                <a:cs typeface="Amiri" pitchFamily="2" charset="-78"/>
              </a:rPr>
              <a:t>.</a:t>
            </a:r>
            <a:endParaRPr lang="ar-SA" sz="2000" dirty="0"/>
          </a:p>
        </p:txBody>
      </p:sp>
      <p:sp>
        <p:nvSpPr>
          <p:cNvPr id="34" name="Text 31"/>
          <p:cNvSpPr txBox="1"/>
          <p:nvPr/>
        </p:nvSpPr>
        <p:spPr>
          <a:xfrm>
            <a:off x="548640" y="3741725"/>
            <a:ext cx="365760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كَانُوا قَدْ تَخَرَّجَ.</a:t>
            </a:r>
            <a:endParaRPr lang="ar-SA" sz="2000" dirty="0"/>
          </a:p>
        </p:txBody>
      </p:sp>
      <p:sp>
        <p:nvSpPr>
          <p:cNvPr id="35" name="Shape 32"/>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6" name="Text 33"/>
          <p:cNvSpPr txBox="1"/>
          <p:nvPr/>
        </p:nvSpPr>
        <p:spPr>
          <a:xfrm>
            <a:off x="8613648" y="4478731"/>
            <a:ext cx="30449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an + subjunctive</a:t>
            </a:r>
            <a:endParaRPr lang="en-US" sz="1100" dirty="0"/>
          </a:p>
        </p:txBody>
      </p:sp>
      <p:sp>
        <p:nvSpPr>
          <p:cNvPr id="37" name="Text 34"/>
          <p:cNvSpPr txBox="1"/>
          <p:nvPr/>
        </p:nvSpPr>
        <p:spPr>
          <a:xfrm>
            <a:off x="4389120" y="4478731"/>
            <a:ext cx="402336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قَبْلَ أَنْ </a:t>
            </a:r>
            <a:pPr rtl="1" algn="ctr" indent="0" marL="0">
              <a:buNone/>
            </a:pPr>
            <a:r>
              <a:rPr lang="ar-SA" altLang="en-US" sz="2000" b="1" dirty="0">
                <a:solidFill>
                  <a:srgbClr val="1D5FBF"/>
                </a:solidFill>
                <a:latin typeface="Amiri" pitchFamily="2" charset="-78"/>
                <a:cs typeface="Amiri" pitchFamily="2" charset="-78"/>
              </a:rPr>
              <a:t>أَبْدَأَ</a:t>
            </a:r>
            <a:pPr rtl="1" algn="ctr" indent="0" marL="0">
              <a:buNone/>
            </a:pPr>
            <a:r>
              <a:rPr lang="ar-SA" altLang="en-US" sz="2000" b="1" dirty="0">
                <a:solidFill>
                  <a:srgbClr val="1B3B6F"/>
                </a:solidFill>
                <a:latin typeface="Amiri" pitchFamily="2" charset="-78"/>
                <a:cs typeface="Amiri" pitchFamily="2" charset="-78"/>
              </a:rPr>
              <a:t> العَمَلَ</a:t>
            </a:r>
            <a:endParaRPr lang="ar-SA" sz="2000" dirty="0"/>
          </a:p>
        </p:txBody>
      </p:sp>
      <p:sp>
        <p:nvSpPr>
          <p:cNvPr id="38" name="Text 35"/>
          <p:cNvSpPr txBox="1"/>
          <p:nvPr/>
        </p:nvSpPr>
        <p:spPr>
          <a:xfrm>
            <a:off x="548640" y="4478731"/>
            <a:ext cx="365760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قَبْلَ أَنْ بَدَأْتُ العَمَلَ</a:t>
            </a:r>
            <a:endParaRPr lang="ar-SA" sz="2000" dirty="0"/>
          </a:p>
        </p:txBody>
      </p:sp>
      <p:sp>
        <p:nvSpPr>
          <p:cNvPr id="39" name="Shape 36"/>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0" name="Text 37"/>
          <p:cNvSpPr txBox="1"/>
          <p:nvPr/>
        </p:nvSpPr>
        <p:spPr>
          <a:xfrm>
            <a:off x="8613648" y="5215738"/>
            <a:ext cx="30449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helping kasra</a:t>
            </a:r>
            <a:endParaRPr lang="en-US" sz="1100" dirty="0"/>
          </a:p>
        </p:txBody>
      </p:sp>
      <p:sp>
        <p:nvSpPr>
          <p:cNvPr id="41" name="Text 38"/>
          <p:cNvSpPr txBox="1"/>
          <p:nvPr/>
        </p:nvSpPr>
        <p:spPr>
          <a:xfrm>
            <a:off x="4389120" y="5215738"/>
            <a:ext cx="402336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قَدِ اكْتَسَبُوا</a:t>
            </a:r>
            <a:endParaRPr lang="ar-SA" sz="2000" dirty="0"/>
          </a:p>
        </p:txBody>
      </p:sp>
      <p:sp>
        <p:nvSpPr>
          <p:cNvPr id="42" name="Text 39"/>
          <p:cNvSpPr txBox="1"/>
          <p:nvPr/>
        </p:nvSpPr>
        <p:spPr>
          <a:xfrm>
            <a:off x="548640" y="5215738"/>
            <a:ext cx="365760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قَدْ اكْتَسَبُوا</a:t>
            </a:r>
            <a:endParaRPr lang="ar-SA" sz="2000" dirty="0"/>
          </a:p>
        </p:txBody>
      </p:sp>
      <p:sp>
        <p:nvSpPr>
          <p:cNvPr id="43" name="Text 4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Website common error: a present verb after qad, or kāna that does not agree with its subject.</a:t>
            </a:r>
            <a:endParaRPr lang="en-US" sz="115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49</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P2-L03 · Grammar</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FOCUS · THE WEBSITE RULES WITH EXAMPLES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The website grammar rules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المَاضِي التَّامُّ</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P2-L03</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1. The form</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cs typeface="Amiri" pitchFamily="2" charset="-78"/>
              </a:rPr>
              <a:t>kāna / kānat + qad + past verb</a:t>
            </a:r>
            <a:endParaRPr lang="en-US" sz="10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cs typeface="Amiri" pitchFamily="2" charset="-78"/>
              </a:rPr>
              <a:t>كَانَ قَدْ دَرَسَ فِي القَاهِرَةِ   ·   كَانَتْ قَدْ تَخَصَّصَتْ فِي الطِّبِّ</a:t>
            </a:r>
            <a:endParaRPr lang="ar-SA" sz="200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2. All persons</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cs typeface="Amiri" pitchFamily="2" charset="-78"/>
              </a:rPr>
              <a:t>kuntu / kunta / kānū qad …</a:t>
            </a:r>
            <a:endParaRPr lang="en-US" sz="10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cs typeface="Amiri" pitchFamily="2" charset="-78"/>
              </a:rPr>
              <a:t>كُنْتُ قَدْ أَنْهَيْتُ بَحْثِي   ·   كَانُوا قَدْ تَخَرَّجُوا قَبْلَ الأَزْمَةِ</a:t>
            </a:r>
            <a:endParaRPr lang="ar-SA" sz="200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3. Linking two past events</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cs typeface="Amiri" pitchFamily="2" charset="-78"/>
              </a:rPr>
              <a:t>kāna qad … qabla an …</a:t>
            </a:r>
            <a:endParaRPr lang="en-US" sz="10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cs typeface="Amiri" pitchFamily="2" charset="-78"/>
              </a:rPr>
              <a:t>كَانَ قَدْ حَصَلَ عَلَى مِنْحَةٍ قَبْلَ أَنْ يُسَافِرَ</a:t>
            </a:r>
            <a:endParaRPr lang="ar-SA" sz="200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4. Framing with bi-ḥulūli</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cs typeface="Amiri" pitchFamily="2" charset="-78"/>
              </a:rPr>
              <a:t>bi-ḥulūli … kāna qad …</a:t>
            </a:r>
            <a:endParaRPr lang="en-US" sz="10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cs typeface="Amiri" pitchFamily="2" charset="-78"/>
              </a:rPr>
              <a:t>بِحُلُولِ نِهَايَةِ الثَّانَوِيَّةِ، كُنْتُ قَدْ أَنْجَزْتُ مَشْرُوعًا بَحْثِيًّا</a:t>
            </a:r>
            <a:endParaRPr lang="ar-SA" sz="200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49</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P2-L03 · Grammar</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P2-L03</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past perfect.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كَانَ قَدْ يَدْرُسُ فِي القَاهِرَةِ.</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كَانَ قَدْ سَيَدْرُسُ فِي القَاهِرَةِ.</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كَانَ قَدْ دَرَسَ فِي القَاهِرَةِ.</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for a girl: ___ </a:t>
            </a:r>
            <a:pPr algn="l" indent="0" marL="0">
              <a:buNone/>
            </a:pPr>
            <a:r>
              <a:rPr lang="ar-SA" altLang="en-US" sz="1650" b="1" dirty="0">
                <a:solidFill>
                  <a:srgbClr val="1B3B6F"/>
                </a:solidFill>
                <a:latin typeface="Amiri" pitchFamily="2" charset="-78"/>
                <a:cs typeface="Amiri" pitchFamily="2" charset="-78"/>
              </a:rPr>
              <a:t>قَدْ حَصَلَتْ عَلَى مِنْحَةٍ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كَانَتْ</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كَانَ</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كُنْتُ</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for “I”: ___ </a:t>
            </a:r>
            <a:pPr algn="l" indent="0" marL="0">
              <a:buNone/>
            </a:pPr>
            <a:r>
              <a:rPr lang="ar-SA" altLang="en-US" sz="1650" b="1" dirty="0">
                <a:solidFill>
                  <a:srgbClr val="1B3B6F"/>
                </a:solidFill>
                <a:latin typeface="Amiri" pitchFamily="2" charset="-78"/>
                <a:cs typeface="Amiri" pitchFamily="2" charset="-78"/>
              </a:rPr>
              <a:t>قَدْ أَنْهَيْتُ بَحْثِي</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كَانَ</a:t>
            </a:r>
            <a:endParaRPr lang="ar-SA" sz="20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كُنْتُ</a:t>
            </a:r>
            <a:endParaRPr lang="ar-SA" sz="20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كَانَتْ</a:t>
            </a:r>
            <a:endParaRPr lang="ar-SA" sz="20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verb form follows </a:t>
            </a:r>
            <a:pPr algn="l" indent="0" marL="0">
              <a:buNone/>
            </a:pPr>
            <a:r>
              <a:rPr lang="ar-SA" altLang="en-US" sz="1650" b="1" dirty="0">
                <a:solidFill>
                  <a:srgbClr val="1B3B6F"/>
                </a:solidFill>
                <a:latin typeface="Amiri" pitchFamily="2" charset="-78"/>
                <a:cs typeface="Amiri" pitchFamily="2" charset="-78"/>
              </a:rPr>
              <a:t>قَبْلَ أَنْ</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58" name="Shape 55"/>
          <p:cNvSpPr/>
          <p:nvPr/>
        </p:nvSpPr>
        <p:spPr>
          <a:xfrm>
            <a:off x="6368796"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يَبْدَأَ</a:t>
            </a:r>
            <a:endParaRPr lang="ar-SA" sz="2050" dirty="0"/>
          </a:p>
        </p:txBody>
      </p:sp>
      <p:sp>
        <p:nvSpPr>
          <p:cNvPr id="61" name="Shape 58"/>
          <p:cNvSpPr/>
          <p:nvPr/>
        </p:nvSpPr>
        <p:spPr>
          <a:xfrm>
            <a:off x="6368796"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بَدَأَ</a:t>
            </a:r>
            <a:endParaRPr lang="ar-SA" sz="2050" dirty="0"/>
          </a:p>
        </p:txBody>
      </p:sp>
      <p:sp>
        <p:nvSpPr>
          <p:cNvPr id="64" name="Shape 61"/>
          <p:cNvSpPr/>
          <p:nvPr/>
        </p:nvSpPr>
        <p:spPr>
          <a:xfrm>
            <a:off x="6368796"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سَيَبْدَأُ</a:t>
            </a:r>
            <a:endParaRPr lang="ar-SA" sz="20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49</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P2-L03 · Grammar</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P2-L03</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past perfect.</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كَانَ قَدْ يَدْرُسُ فِي القَاهِرَةِ.</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كَانَ قَدْ سَيَدْرُسُ فِي القَاهِرَةِ.</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كَانَ قَدْ دَرَسَ فِي القَاهِرَةِ.</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verb after </a:t>
            </a:r>
            <a:pPr algn="l" indent="0" marL="0">
              <a:buNone/>
            </a:pPr>
            <a:r>
              <a:rPr lang="ar-SA" altLang="en-US" sz="1350" dirty="0">
                <a:solidFill>
                  <a:srgbClr val="8A6D1E"/>
                </a:solidFill>
                <a:latin typeface="Amiri" pitchFamily="2" charset="-78"/>
                <a:cs typeface="Amiri" pitchFamily="2" charset="-78"/>
              </a:rPr>
              <a:t>قَدْ</a:t>
            </a:r>
            <a:pPr algn="l" indent="0" marL="0">
              <a:buNone/>
            </a:pPr>
            <a:r>
              <a:rPr lang="en-US" sz="1050" i="1" dirty="0">
                <a:solidFill>
                  <a:srgbClr val="8A6D1E"/>
                </a:solidFill>
                <a:latin typeface="Calibri" pitchFamily="34" charset="0"/>
                <a:cs typeface="Amiri" pitchFamily="2" charset="-78"/>
              </a:rPr>
              <a:t> stays in the past.</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for a girl: ___ </a:t>
            </a:r>
            <a:pPr algn="l" indent="0" marL="0">
              <a:buNone/>
            </a:pPr>
            <a:r>
              <a:rPr lang="ar-SA" altLang="en-US" sz="1650" b="1" dirty="0">
                <a:solidFill>
                  <a:srgbClr val="1B3B6F"/>
                </a:solidFill>
                <a:latin typeface="Amiri" pitchFamily="2" charset="-78"/>
                <a:cs typeface="Amiri" pitchFamily="2" charset="-78"/>
              </a:rPr>
              <a:t>قَدْ حَصَلَتْ عَلَى مِنْحَةٍ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كَانَتْ</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كَانَ</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كُنْتُ</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كَانَتْ</a:t>
            </a:r>
            <a:pPr algn="l" indent="0" marL="0">
              <a:buNone/>
            </a:pPr>
            <a:r>
              <a:rPr lang="en-US" sz="1050" i="1" dirty="0">
                <a:solidFill>
                  <a:srgbClr val="8A6D1E"/>
                </a:solidFill>
                <a:latin typeface="Calibri" pitchFamily="34" charset="0"/>
                <a:cs typeface="Amiri" pitchFamily="2" charset="-78"/>
              </a:rPr>
              <a:t> agrees with the feminine subject.</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for “I”: ___ </a:t>
            </a:r>
            <a:pPr algn="l" indent="0" marL="0">
              <a:buNone/>
            </a:pPr>
            <a:r>
              <a:rPr lang="ar-SA" altLang="en-US" sz="1650" b="1" dirty="0">
                <a:solidFill>
                  <a:srgbClr val="1B3B6F"/>
                </a:solidFill>
                <a:latin typeface="Amiri" pitchFamily="2" charset="-78"/>
                <a:cs typeface="Amiri" pitchFamily="2" charset="-78"/>
              </a:rPr>
              <a:t>قَدْ أَنْهَيْتُ بَحْثِي</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كَانَ</a:t>
            </a:r>
            <a:endParaRPr lang="ar-SA" sz="170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كُنْتُ</a:t>
            </a:r>
            <a:endParaRPr lang="ar-SA" sz="170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كَانَتْ</a:t>
            </a:r>
            <a:endParaRPr lang="ar-SA" sz="170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كُنْتُ</a:t>
            </a:r>
            <a:pPr algn="l" indent="0" marL="0">
              <a:buNone/>
            </a:pPr>
            <a:r>
              <a:rPr lang="en-US" sz="1050" i="1" dirty="0">
                <a:solidFill>
                  <a:srgbClr val="8A6D1E"/>
                </a:solidFill>
                <a:latin typeface="Calibri" pitchFamily="34" charset="0"/>
                <a:cs typeface="Amiri" pitchFamily="2" charset="-78"/>
              </a:rPr>
              <a:t> is the first-person form.</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verb form follows </a:t>
            </a:r>
            <a:pPr algn="l" indent="0" marL="0">
              <a:buNone/>
            </a:pPr>
            <a:r>
              <a:rPr lang="ar-SA" altLang="en-US" sz="1650" b="1" dirty="0">
                <a:solidFill>
                  <a:srgbClr val="1B3B6F"/>
                </a:solidFill>
                <a:latin typeface="Amiri" pitchFamily="2" charset="-78"/>
                <a:cs typeface="Amiri" pitchFamily="2" charset="-78"/>
              </a:rPr>
              <a:t>قَبْلَ أَنْ</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64" name="Shape 61"/>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368796"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يَبْدَأَ</a:t>
            </a:r>
            <a:endParaRPr lang="ar-SA" sz="1700" dirty="0"/>
          </a:p>
        </p:txBody>
      </p:sp>
      <p:sp>
        <p:nvSpPr>
          <p:cNvPr id="68" name="Shape 65"/>
          <p:cNvSpPr/>
          <p:nvPr/>
        </p:nvSpPr>
        <p:spPr>
          <a:xfrm>
            <a:off x="6368796"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بَدَأَ</a:t>
            </a:r>
            <a:endParaRPr lang="ar-SA" sz="1700" dirty="0"/>
          </a:p>
        </p:txBody>
      </p:sp>
      <p:sp>
        <p:nvSpPr>
          <p:cNvPr id="71" name="Shape 68"/>
          <p:cNvSpPr/>
          <p:nvPr/>
        </p:nvSpPr>
        <p:spPr>
          <a:xfrm>
            <a:off x="6368796"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سَيَبْدَأُ</a:t>
            </a:r>
            <a:endParaRPr lang="ar-SA" sz="1700" dirty="0"/>
          </a:p>
        </p:txBody>
      </p:sp>
      <p:sp>
        <p:nvSpPr>
          <p:cNvPr id="74" name="Text 71"/>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قَبْلَ أَنْ</a:t>
            </a:r>
            <a:pPr algn="l" indent="0" marL="0">
              <a:buNone/>
            </a:pPr>
            <a:r>
              <a:rPr lang="en-US" sz="1050" i="1" dirty="0">
                <a:solidFill>
                  <a:srgbClr val="8A6D1E"/>
                </a:solidFill>
                <a:latin typeface="Calibri" pitchFamily="34" charset="0"/>
                <a:cs typeface="Amiri" pitchFamily="2" charset="-78"/>
              </a:rPr>
              <a:t> is followed by a subjunctive present verb.</a:t>
            </a:r>
            <a:endParaRPr lang="en-US" sz="10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49</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P2-L03 · Grammar</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50" b="1" dirty="0">
                <a:solidFill>
                  <a:srgbClr val="1B3B6F"/>
                </a:solidFill>
                <a:latin typeface="Cambria" pitchFamily="34" charset="0"/>
                <a:cs typeface="Amiri" pitchFamily="2" charset="-78"/>
              </a:rPr>
              <a:t>Watch me write a personal statement</a:t>
            </a:r>
            <a:endParaRPr lang="en-US" sz="24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P2-L03</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Earliest</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200" b="1" dirty="0">
                <a:solidFill>
                  <a:srgbClr val="D6336C"/>
                </a:solidFill>
                <a:latin typeface="Amiri" pitchFamily="2" charset="-78"/>
                <a:cs typeface="Amiri" pitchFamily="2" charset="-78"/>
              </a:rPr>
              <a:t>كُنْتُ قَدْ قَرَّرْتُ</a:t>
            </a:r>
            <a:pPr rtl="1" algn="ctr" indent="0" marL="0">
              <a:buNone/>
            </a:pPr>
            <a:r>
              <a:rPr lang="ar-SA" altLang="en-US" sz="2200" b="1" dirty="0">
                <a:solidFill>
                  <a:srgbClr val="1B3B6F"/>
                </a:solidFill>
                <a:latin typeface="Amiri" pitchFamily="2" charset="-78"/>
                <a:cs typeface="Amiri" pitchFamily="2" charset="-78"/>
              </a:rPr>
              <a:t> دِرَاسَةَ الطِّبِّ</a:t>
            </a:r>
            <a:endParaRPr lang="ar-SA" sz="22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kuntu … -tu.</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By then</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400" b="1" dirty="0">
                <a:solidFill>
                  <a:srgbClr val="7B3FA0"/>
                </a:solidFill>
                <a:latin typeface="Amiri" pitchFamily="2" charset="-78"/>
                <a:cs typeface="Amiri" pitchFamily="2" charset="-78"/>
              </a:rPr>
              <a:t>بِحُلُولِ</a:t>
            </a:r>
            <a:pPr rtl="1" algn="ctr" indent="0" marL="0">
              <a:buNone/>
            </a:pPr>
            <a:r>
              <a:rPr lang="ar-SA" altLang="en-US" sz="2400" b="1" dirty="0">
                <a:solidFill>
                  <a:srgbClr val="1B3B6F"/>
                </a:solidFill>
                <a:latin typeface="Amiri" pitchFamily="2" charset="-78"/>
                <a:cs typeface="Amiri" pitchFamily="2" charset="-78"/>
              </a:rPr>
              <a:t> نِهَايَةِ الثَّانَوِيَّةِ</a:t>
            </a:r>
            <a:endParaRPr lang="ar-SA" sz="24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Frame.</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Now</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D5FBF"/>
                </a:solidFill>
                <a:latin typeface="Amiri" pitchFamily="2" charset="-78"/>
                <a:cs typeface="Amiri" pitchFamily="2" charset="-78"/>
              </a:rPr>
              <a:t>أَدْرُسُ</a:t>
            </a:r>
            <a:pPr rtl="1" algn="ctr" indent="0" marL="0">
              <a:buNone/>
            </a:pPr>
            <a:r>
              <a:rPr lang="ar-SA" altLang="en-US" sz="2800" b="1" dirty="0">
                <a:solidFill>
                  <a:srgbClr val="1B3B6F"/>
                </a:solidFill>
                <a:latin typeface="Amiri" pitchFamily="2" charset="-78"/>
                <a:cs typeface="Amiri" pitchFamily="2" charset="-78"/>
              </a:rPr>
              <a:t> الآنَ وَأَتَفَوَّقُ</a:t>
            </a:r>
            <a:endParaRPr lang="ar-SA" sz="28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Present.</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Next</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buNone/>
            </a:pPr>
            <a:r>
              <a:rPr lang="ar-SA" altLang="en-US" sz="2400" b="1" dirty="0">
                <a:solidFill>
                  <a:srgbClr val="0E7C86"/>
                </a:solidFill>
                <a:latin typeface="Amiri" pitchFamily="2" charset="-78"/>
                <a:cs typeface="Amiri" pitchFamily="2" charset="-78"/>
              </a:rPr>
              <a:t>إِذَا قُبِلْتُ</a:t>
            </a:r>
            <a:pPr rtl="1" algn="ctr" indent="0" marL="0">
              <a:buNone/>
            </a:pPr>
            <a:r>
              <a:rPr lang="ar-SA" altLang="en-US" sz="2400" b="1" dirty="0">
                <a:solidFill>
                  <a:srgbClr val="1B3B6F"/>
                </a:solidFill>
                <a:latin typeface="Amiri" pitchFamily="2" charset="-78"/>
                <a:cs typeface="Amiri" pitchFamily="2" charset="-78"/>
              </a:rPr>
              <a:t>، سَأُكَرِّسُ جُهْدِي</a:t>
            </a:r>
            <a:endParaRPr lang="ar-SA" sz="24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Conditional.</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cs typeface="Amiri" pitchFamily="2" charset="-78"/>
              </a:rPr>
              <a:t>COPY THIS INTO YOUR BOOK</a:t>
            </a:r>
            <a:endParaRPr lang="en-US" sz="1200" dirty="0"/>
          </a:p>
        </p:txBody>
      </p:sp>
      <p:sp>
        <p:nvSpPr>
          <p:cNvPr id="45" name="Shape 41"/>
          <p:cNvSpPr/>
          <p:nvPr/>
        </p:nvSpPr>
        <p:spPr>
          <a:xfrm>
            <a:off x="7552944" y="4736592"/>
            <a:ext cx="914400" cy="237744"/>
          </a:xfrm>
          <a:prstGeom prst="roundRect">
            <a:avLst>
              <a:gd name="adj" fmla="val 50000"/>
            </a:avLst>
          </a:prstGeom>
          <a:solidFill>
            <a:srgbClr val="D6336C"/>
          </a:solidFill>
          <a:ln w="12700">
            <a:solidFill>
              <a:srgbClr val="D6336C"/>
            </a:solidFill>
            <a:prstDash val="solid"/>
          </a:ln>
        </p:spPr>
      </p:sp>
      <p:sp>
        <p:nvSpPr>
          <p:cNvPr id="46" name="Text 42"/>
          <p:cNvSpPr txBox="1"/>
          <p:nvPr/>
        </p:nvSpPr>
        <p:spPr>
          <a:xfrm>
            <a:off x="7552944"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PAST PERFECT</a:t>
            </a:r>
            <a:endParaRPr lang="en-US" sz="800" dirty="0"/>
          </a:p>
        </p:txBody>
      </p:sp>
      <p:sp>
        <p:nvSpPr>
          <p:cNvPr id="47" name="Shape 43"/>
          <p:cNvSpPr/>
          <p:nvPr/>
        </p:nvSpPr>
        <p:spPr>
          <a:xfrm>
            <a:off x="8540496" y="4736592"/>
            <a:ext cx="914400" cy="237744"/>
          </a:xfrm>
          <a:prstGeom prst="roundRect">
            <a:avLst>
              <a:gd name="adj" fmla="val 50000"/>
            </a:avLst>
          </a:prstGeom>
          <a:solidFill>
            <a:srgbClr val="7B3FA0"/>
          </a:solidFill>
          <a:ln w="12700">
            <a:solidFill>
              <a:srgbClr val="7B3FA0"/>
            </a:solidFill>
            <a:prstDash val="solid"/>
          </a:ln>
        </p:spPr>
      </p:sp>
      <p:sp>
        <p:nvSpPr>
          <p:cNvPr id="48" name="Text 44"/>
          <p:cNvSpPr txBox="1"/>
          <p:nvPr/>
        </p:nvSpPr>
        <p:spPr>
          <a:xfrm>
            <a:off x="8540496"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BY THE TIME</a:t>
            </a:r>
            <a:endParaRPr lang="en-US" sz="800" dirty="0"/>
          </a:p>
        </p:txBody>
      </p:sp>
      <p:sp>
        <p:nvSpPr>
          <p:cNvPr id="49" name="Shape 45"/>
          <p:cNvSpPr/>
          <p:nvPr/>
        </p:nvSpPr>
        <p:spPr>
          <a:xfrm>
            <a:off x="9528048" y="4736592"/>
            <a:ext cx="914400" cy="237744"/>
          </a:xfrm>
          <a:prstGeom prst="roundRect">
            <a:avLst>
              <a:gd name="adj" fmla="val 50000"/>
            </a:avLst>
          </a:prstGeom>
          <a:solidFill>
            <a:srgbClr val="1D5FBF"/>
          </a:solidFill>
          <a:ln w="12700">
            <a:solidFill>
              <a:srgbClr val="1D5FBF"/>
            </a:solidFill>
            <a:prstDash val="solid"/>
          </a:ln>
        </p:spPr>
      </p:sp>
      <p:sp>
        <p:nvSpPr>
          <p:cNvPr id="50" name="Text 46"/>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NOW</a:t>
            </a:r>
            <a:endParaRPr lang="en-US" sz="800" dirty="0"/>
          </a:p>
        </p:txBody>
      </p:sp>
      <p:sp>
        <p:nvSpPr>
          <p:cNvPr id="51" name="Shape 47"/>
          <p:cNvSpPr/>
          <p:nvPr/>
        </p:nvSpPr>
        <p:spPr>
          <a:xfrm>
            <a:off x="10515600" y="4736592"/>
            <a:ext cx="914400" cy="237744"/>
          </a:xfrm>
          <a:prstGeom prst="roundRect">
            <a:avLst>
              <a:gd name="adj" fmla="val 50000"/>
            </a:avLst>
          </a:prstGeom>
          <a:solidFill>
            <a:srgbClr val="0E7C86"/>
          </a:solidFill>
          <a:ln w="12700">
            <a:solidFill>
              <a:srgbClr val="0E7C86"/>
            </a:solidFill>
            <a:prstDash val="solid"/>
          </a:ln>
        </p:spPr>
      </p:sp>
      <p:sp>
        <p:nvSpPr>
          <p:cNvPr id="52" name="Text 48"/>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NEXT</a:t>
            </a:r>
            <a:endParaRPr lang="en-US" sz="800" dirty="0"/>
          </a:p>
        </p:txBody>
      </p:sp>
      <p:sp>
        <p:nvSpPr>
          <p:cNvPr id="53" name="Text 49"/>
          <p:cNvSpPr txBox="1"/>
          <p:nvPr/>
        </p:nvSpPr>
        <p:spPr>
          <a:xfrm>
            <a:off x="685800" y="5029200"/>
            <a:ext cx="10817352" cy="731520"/>
          </a:xfrm>
          <a:prstGeom prst="rect">
            <a:avLst/>
          </a:prstGeom>
          <a:noFill/>
          <a:ln/>
        </p:spPr>
        <p:txBody>
          <a:bodyPr wrap="square" lIns="0" tIns="0" rIns="0" bIns="0" rtlCol="0" anchor="ctr"/>
          <a:lstStyle/>
          <a:p>
            <a:pPr rtl="1" algn="r" indent="0" marL="0">
              <a:lnSpc>
                <a:spcPct val="120000"/>
              </a:lnSpc>
              <a:buNone/>
            </a:pPr>
            <a:r>
              <a:rPr lang="ar-SA" altLang="en-US" sz="1400" b="1" dirty="0">
                <a:solidFill>
                  <a:srgbClr val="D6336C"/>
                </a:solidFill>
                <a:latin typeface="Amiri" pitchFamily="2" charset="-78"/>
                <a:cs typeface="Amiri" pitchFamily="2" charset="-78"/>
              </a:rPr>
              <a:t>كُنْتُ قَدْ قَرَّرْتُ</a:t>
            </a:r>
            <a:pPr rtl="1" algn="r" indent="0" marL="0">
              <a:lnSpc>
                <a:spcPct val="120000"/>
              </a:lnSpc>
              <a:buNone/>
            </a:pPr>
            <a:r>
              <a:rPr lang="ar-SA" altLang="en-US" sz="1400" b="1" dirty="0">
                <a:solidFill>
                  <a:srgbClr val="1B3B6F"/>
                </a:solidFill>
                <a:latin typeface="Amiri" pitchFamily="2" charset="-78"/>
                <a:cs typeface="Amiri" pitchFamily="2" charset="-78"/>
              </a:rPr>
              <a:t> دِرَاسَةَ الطِّبِّ مُنْذُ المَرْحَلَةِ الإِعْدَادِيَّةِ. </a:t>
            </a:r>
            <a:pPr rtl="1" algn="r" indent="0" marL="0">
              <a:lnSpc>
                <a:spcPct val="120000"/>
              </a:lnSpc>
              <a:buNone/>
            </a:pPr>
            <a:r>
              <a:rPr lang="ar-SA" altLang="en-US" sz="1400" b="1" dirty="0">
                <a:solidFill>
                  <a:srgbClr val="7B3FA0"/>
                </a:solidFill>
                <a:latin typeface="Amiri" pitchFamily="2" charset="-78"/>
                <a:cs typeface="Amiri" pitchFamily="2" charset="-78"/>
              </a:rPr>
              <a:t>وَبِحُلُولِ</a:t>
            </a:r>
            <a:pPr rtl="1" algn="r" indent="0" marL="0">
              <a:lnSpc>
                <a:spcPct val="120000"/>
              </a:lnSpc>
              <a:buNone/>
            </a:pPr>
            <a:r>
              <a:rPr lang="ar-SA" altLang="en-US" sz="1400" b="1" dirty="0">
                <a:solidFill>
                  <a:srgbClr val="1B3B6F"/>
                </a:solidFill>
                <a:latin typeface="Amiri" pitchFamily="2" charset="-78"/>
                <a:cs typeface="Amiri" pitchFamily="2" charset="-78"/>
              </a:rPr>
              <a:t> نِهَايَةِ الثَّانَوِيَّةِ، </a:t>
            </a:r>
            <a:pPr rtl="1" algn="r" indent="0" marL="0">
              <a:lnSpc>
                <a:spcPct val="120000"/>
              </a:lnSpc>
              <a:buNone/>
            </a:pPr>
            <a:r>
              <a:rPr lang="ar-SA" altLang="en-US" sz="1400" b="1" dirty="0">
                <a:solidFill>
                  <a:srgbClr val="D6336C"/>
                </a:solidFill>
                <a:latin typeface="Amiri" pitchFamily="2" charset="-78"/>
                <a:cs typeface="Amiri" pitchFamily="2" charset="-78"/>
              </a:rPr>
              <a:t>كُنْتُ قَدْ أَنْجَزْتُ</a:t>
            </a:r>
            <a:pPr rtl="1" algn="r" indent="0" marL="0">
              <a:lnSpc>
                <a:spcPct val="120000"/>
              </a:lnSpc>
              <a:buNone/>
            </a:pPr>
            <a:r>
              <a:rPr lang="ar-SA" altLang="en-US" sz="1400" b="1" dirty="0">
                <a:solidFill>
                  <a:srgbClr val="1B3B6F"/>
                </a:solidFill>
                <a:latin typeface="Amiri" pitchFamily="2" charset="-78"/>
                <a:cs typeface="Amiri" pitchFamily="2" charset="-78"/>
              </a:rPr>
              <a:t> مَشْرُوعًا بَحْثِيًّا فِي عِلْمِ الأَحْيَاءِ. </a:t>
            </a:r>
            <a:pPr rtl="1" algn="r" indent="0" marL="0">
              <a:lnSpc>
                <a:spcPct val="120000"/>
              </a:lnSpc>
              <a:buNone/>
            </a:pPr>
            <a:r>
              <a:rPr lang="ar-SA" altLang="en-US" sz="1400" b="1" dirty="0">
                <a:solidFill>
                  <a:srgbClr val="1D5FBF"/>
                </a:solidFill>
                <a:latin typeface="Amiri" pitchFamily="2" charset="-78"/>
                <a:cs typeface="Amiri" pitchFamily="2" charset="-78"/>
              </a:rPr>
              <a:t>أَدْرُسُ</a:t>
            </a:r>
            <a:pPr rtl="1" algn="r" indent="0" marL="0">
              <a:lnSpc>
                <a:spcPct val="120000"/>
              </a:lnSpc>
              <a:buNone/>
            </a:pPr>
            <a:r>
              <a:rPr lang="ar-SA" altLang="en-US" sz="1400" b="1" dirty="0">
                <a:solidFill>
                  <a:srgbClr val="1B3B6F"/>
                </a:solidFill>
                <a:latin typeface="Amiri" pitchFamily="2" charset="-78"/>
                <a:cs typeface="Amiri" pitchFamily="2" charset="-78"/>
              </a:rPr>
              <a:t> الآنَ فِي السَّنَةِ الأَخِيرَةِ </a:t>
            </a:r>
            <a:pPr rtl="1" algn="r" indent="0" marL="0">
              <a:lnSpc>
                <a:spcPct val="120000"/>
              </a:lnSpc>
              <a:buNone/>
            </a:pPr>
            <a:r>
              <a:rPr lang="ar-SA" altLang="en-US" sz="1400" b="1" dirty="0">
                <a:solidFill>
                  <a:srgbClr val="1D5FBF"/>
                </a:solidFill>
                <a:latin typeface="Amiri" pitchFamily="2" charset="-78"/>
                <a:cs typeface="Amiri" pitchFamily="2" charset="-78"/>
              </a:rPr>
              <a:t>وَأَتَفَوَّقُ</a:t>
            </a:r>
            <a:pPr rtl="1" algn="r" indent="0" marL="0">
              <a:lnSpc>
                <a:spcPct val="120000"/>
              </a:lnSpc>
              <a:buNone/>
            </a:pPr>
            <a:r>
              <a:rPr lang="ar-SA" altLang="en-US" sz="1400" b="1" dirty="0">
                <a:solidFill>
                  <a:srgbClr val="1B3B6F"/>
                </a:solidFill>
                <a:latin typeface="Amiri" pitchFamily="2" charset="-78"/>
                <a:cs typeface="Amiri" pitchFamily="2" charset="-78"/>
              </a:rPr>
              <a:t> فِي العُلُومِ. </a:t>
            </a:r>
            <a:pPr rtl="1" algn="r" indent="0" marL="0">
              <a:lnSpc>
                <a:spcPct val="120000"/>
              </a:lnSpc>
              <a:buNone/>
            </a:pPr>
            <a:r>
              <a:rPr lang="ar-SA" altLang="en-US" sz="1400" b="1" dirty="0">
                <a:solidFill>
                  <a:srgbClr val="0E7C86"/>
                </a:solidFill>
                <a:latin typeface="Amiri" pitchFamily="2" charset="-78"/>
                <a:cs typeface="Amiri" pitchFamily="2" charset="-78"/>
              </a:rPr>
              <a:t>وَإِذَا قُبِلْتُ</a:t>
            </a:r>
            <a:pPr rtl="1" algn="r" indent="0" marL="0">
              <a:lnSpc>
                <a:spcPct val="120000"/>
              </a:lnSpc>
              <a:buNone/>
            </a:pPr>
            <a:r>
              <a:rPr lang="ar-SA" altLang="en-US" sz="1400" b="1" dirty="0">
                <a:solidFill>
                  <a:srgbClr val="1B3B6F"/>
                </a:solidFill>
                <a:latin typeface="Amiri" pitchFamily="2" charset="-78"/>
                <a:cs typeface="Amiri" pitchFamily="2" charset="-78"/>
              </a:rPr>
              <a:t>، </a:t>
            </a:r>
            <a:pPr rtl="1" algn="r" indent="0" marL="0">
              <a:lnSpc>
                <a:spcPct val="120000"/>
              </a:lnSpc>
              <a:buNone/>
            </a:pPr>
            <a:r>
              <a:rPr lang="ar-SA" altLang="en-US" sz="1400" b="1" dirty="0">
                <a:solidFill>
                  <a:srgbClr val="0E7C86"/>
                </a:solidFill>
                <a:latin typeface="Amiri" pitchFamily="2" charset="-78"/>
                <a:cs typeface="Amiri" pitchFamily="2" charset="-78"/>
              </a:rPr>
              <a:t>سَأُكَرِّسُ</a:t>
            </a:r>
            <a:pPr rtl="1" algn="r" indent="0" marL="0">
              <a:lnSpc>
                <a:spcPct val="120000"/>
              </a:lnSpc>
              <a:buNone/>
            </a:pPr>
            <a:r>
              <a:rPr lang="ar-SA" altLang="en-US" sz="1400" b="1" dirty="0">
                <a:solidFill>
                  <a:srgbClr val="1B3B6F"/>
                </a:solidFill>
                <a:latin typeface="Amiri" pitchFamily="2" charset="-78"/>
                <a:cs typeface="Amiri" pitchFamily="2" charset="-78"/>
              </a:rPr>
              <a:t> جُهْدِي لِلْبَحْثِ العِلْمِيِّ.</a:t>
            </a:r>
            <a:endParaRPr lang="ar-SA" sz="1400" dirty="0"/>
          </a:p>
        </p:txBody>
      </p:sp>
      <p:sp>
        <p:nvSpPr>
          <p:cNvPr id="54" name="Text 50"/>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cs typeface="Amiri" pitchFamily="2" charset="-78"/>
              </a:rPr>
              <a:t>I had decided to study medicine back in middle school. By the end of secondary school, I had completed a research project in biology. I am now in my final year and I excel in science. If I am accepted, I will devote my effort to scientific research.</a:t>
            </a:r>
            <a:endParaRPr lang="en-US" sz="1100" dirty="0"/>
          </a:p>
        </p:txBody>
      </p:sp>
      <p:sp>
        <p:nvSpPr>
          <p:cNvPr id="55" name="Text 5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49</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P2-L03 · Grammar</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MODEL SENTENCES FROM THE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P2-L03</a:t>
            </a:r>
            <a:endParaRPr lang="en-US" sz="850" dirty="0"/>
          </a:p>
        </p:txBody>
      </p:sp>
      <p:sp>
        <p:nvSpPr>
          <p:cNvPr id="15" name="Shape 12"/>
          <p:cNvSpPr/>
          <p:nvPr/>
        </p:nvSpPr>
        <p:spPr>
          <a:xfrm>
            <a:off x="457200" y="1810512"/>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316480"/>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31648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572000" y="1847088"/>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كَانَ قَدْ دَرَسَ فِي القَاهِرَةِ قَبْلَ أَنْ يَلْتَحِقَ بِجَامِعَةِ لَنْدَنَ</a:t>
            </a:r>
            <a:endParaRPr lang="ar-SA" sz="2600" dirty="0"/>
          </a:p>
        </p:txBody>
      </p:sp>
      <p:sp>
        <p:nvSpPr>
          <p:cNvPr id="19" name="Text 16"/>
          <p:cNvSpPr txBox="1"/>
          <p:nvPr/>
        </p:nvSpPr>
        <p:spPr>
          <a:xfrm>
            <a:off x="685800" y="1856232"/>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he had studied in Cairo before he enrolled at the University of London</a:t>
            </a:r>
            <a:endParaRPr lang="en-US" sz="1250" dirty="0"/>
          </a:p>
          <a:p>
            <a:pPr indent="0" marL="0">
              <a:buNone/>
            </a:pPr>
            <a:r>
              <a:rPr lang="en-US" sz="1050" i="1" dirty="0">
                <a:solidFill>
                  <a:srgbClr val="8A6D1E"/>
                </a:solidFill>
                <a:latin typeface="Calibri" pitchFamily="34" charset="0"/>
                <a:cs typeface="Amiri" pitchFamily="2" charset="-78"/>
              </a:rPr>
              <a:t>Past perfect + قَبْلَ أَنْ + subjunctive.</a:t>
            </a:r>
            <a:endParaRPr lang="en-US" sz="1250" dirty="0"/>
          </a:p>
        </p:txBody>
      </p:sp>
      <p:sp>
        <p:nvSpPr>
          <p:cNvPr id="20" name="Shape 17"/>
          <p:cNvSpPr/>
          <p:nvPr/>
        </p:nvSpPr>
        <p:spPr>
          <a:xfrm>
            <a:off x="457200" y="3352800"/>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858768"/>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85876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572000" y="3389376"/>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كَانَتْ قَدْ حَصَلَتْ عَلَى مِنْحَةٍ قَبْلَ أَنْ تُسَافِرَ</a:t>
            </a:r>
            <a:endParaRPr lang="ar-SA" sz="2600" dirty="0"/>
          </a:p>
        </p:txBody>
      </p:sp>
      <p:sp>
        <p:nvSpPr>
          <p:cNvPr id="24" name="Text 21"/>
          <p:cNvSpPr txBox="1"/>
          <p:nvPr/>
        </p:nvSpPr>
        <p:spPr>
          <a:xfrm>
            <a:off x="685800" y="3398520"/>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she had obtained a scholarship before she travelled</a:t>
            </a:r>
            <a:endParaRPr lang="en-US" sz="1250" dirty="0"/>
          </a:p>
          <a:p>
            <a:pPr indent="0" marL="0">
              <a:buNone/>
            </a:pPr>
            <a:r>
              <a:rPr lang="en-US" sz="1050" i="1" dirty="0">
                <a:solidFill>
                  <a:srgbClr val="8A6D1E"/>
                </a:solidFill>
                <a:latin typeface="Calibri" pitchFamily="34" charset="0"/>
                <a:cs typeface="Amiri" pitchFamily="2" charset="-78"/>
              </a:rPr>
              <a:t>كَانَتْ agrees; verb after قَدْ is past.</a:t>
            </a:r>
            <a:endParaRPr lang="en-US" sz="1250" dirty="0"/>
          </a:p>
        </p:txBody>
      </p:sp>
      <p:sp>
        <p:nvSpPr>
          <p:cNvPr id="25" name="Shape 22"/>
          <p:cNvSpPr/>
          <p:nvPr/>
        </p:nvSpPr>
        <p:spPr>
          <a:xfrm>
            <a:off x="457200" y="4895088"/>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540105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540105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572000" y="4931664"/>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بِحُلُولِ التَّخَرُّجِ، كُنْتُ قَدْ نَشَرْتُ بَحْثًا</a:t>
            </a:r>
            <a:endParaRPr lang="ar-SA" sz="2600" dirty="0"/>
          </a:p>
        </p:txBody>
      </p:sp>
      <p:sp>
        <p:nvSpPr>
          <p:cNvPr id="29" name="Text 26"/>
          <p:cNvSpPr txBox="1"/>
          <p:nvPr/>
        </p:nvSpPr>
        <p:spPr>
          <a:xfrm>
            <a:off x="685800" y="4940808"/>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by graduation, I had published a research paper</a:t>
            </a:r>
            <a:endParaRPr lang="en-US" sz="1250" dirty="0"/>
          </a:p>
          <a:p>
            <a:pPr indent="0" marL="0">
              <a:buNone/>
            </a:pPr>
            <a:r>
              <a:rPr lang="en-US" sz="1050" i="1" dirty="0">
                <a:solidFill>
                  <a:srgbClr val="8A6D1E"/>
                </a:solidFill>
                <a:latin typeface="Calibri" pitchFamily="34" charset="0"/>
                <a:cs typeface="Amiri" pitchFamily="2" charset="-78"/>
              </a:rPr>
              <a:t>بِحُلُولِ frames the earlier action.</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49</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P2-L03 · Grammar</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2F6FB0"/>
                </a:solidFill>
                <a:latin typeface="Calibri" pitchFamily="34" charset="0"/>
                <a:cs typeface="Amiri" pitchFamily="2" charset="-78"/>
              </a:rPr>
              <a:t>WE DO · PICTURE MATCH · WEBSITE GAME “VISUAL GAME — UNIVERSITY LIFE AND HIGHER EDUCATION”</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Which path? Match the picture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طَرِيقُ التَّعْلِيمِ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P2-L03</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online learning</a:t>
            </a:r>
            <a:endParaRPr lang="en-US" sz="1100" dirty="0"/>
          </a:p>
        </p:txBody>
      </p:sp>
      <p:sp>
        <p:nvSpPr>
          <p:cNvPr id="23" name="Shape 18"/>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4404360" y="1938528"/>
            <a:ext cx="365760" cy="365760"/>
          </a:xfrm>
          <a:prstGeom prst="ellipse">
            <a:avLst/>
          </a:prstGeom>
          <a:solidFill>
            <a:srgbClr val="1B3B6F"/>
          </a:solidFill>
          <a:ln w="12700">
            <a:solidFill>
              <a:srgbClr val="1B3B6F"/>
            </a:solidFill>
            <a:prstDash val="solid"/>
          </a:ln>
        </p:spPr>
      </p:sp>
      <p:sp>
        <p:nvSpPr>
          <p:cNvPr id="25" name="Text 20"/>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26" name="Shape 21"/>
          <p:cNvSpPr/>
          <p:nvPr/>
        </p:nvSpPr>
        <p:spPr>
          <a:xfrm>
            <a:off x="4992624" y="2066544"/>
            <a:ext cx="1014984" cy="1014984"/>
          </a:xfrm>
          <a:prstGeom prst="ellipse">
            <a:avLst/>
          </a:prstGeom>
          <a:solidFill>
            <a:srgbClr val="F4F1EA"/>
          </a:solidFill>
          <a:ln w="12700">
            <a:solidFill>
              <a:srgbClr val="F4F1EA"/>
            </a:solidFill>
            <a:prstDash val="solid"/>
          </a:ln>
        </p:spPr>
      </p:sp>
      <p:pic>
        <p:nvPicPr>
          <p:cNvPr id="27"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28" name="Shape 22"/>
          <p:cNvSpPr/>
          <p:nvPr/>
        </p:nvSpPr>
        <p:spPr>
          <a:xfrm>
            <a:off x="6181344" y="2066544"/>
            <a:ext cx="1014984" cy="1014984"/>
          </a:xfrm>
          <a:prstGeom prst="ellipse">
            <a:avLst/>
          </a:prstGeom>
          <a:solidFill>
            <a:srgbClr val="F4F1EA"/>
          </a:solidFill>
          <a:ln w="12700">
            <a:solidFill>
              <a:srgbClr val="F4F1EA"/>
            </a:solidFill>
            <a:prstDash val="solid"/>
          </a:ln>
        </p:spPr>
      </p:sp>
      <p:pic>
        <p:nvPicPr>
          <p:cNvPr id="29"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0" name="Text 23"/>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studying for an exam</a:t>
            </a:r>
            <a:endParaRPr lang="en-US" sz="1100" dirty="0"/>
          </a:p>
        </p:txBody>
      </p:sp>
      <p:sp>
        <p:nvSpPr>
          <p:cNvPr id="31" name="Shape 2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5"/>
          <p:cNvSpPr/>
          <p:nvPr/>
        </p:nvSpPr>
        <p:spPr>
          <a:xfrm>
            <a:off x="585216" y="1938528"/>
            <a:ext cx="365760" cy="365760"/>
          </a:xfrm>
          <a:prstGeom prst="ellipse">
            <a:avLst/>
          </a:prstGeom>
          <a:solidFill>
            <a:srgbClr val="1B3B6F"/>
          </a:solidFill>
          <a:ln w="12700">
            <a:solidFill>
              <a:srgbClr val="1B3B6F"/>
            </a:solidFill>
            <a:prstDash val="solid"/>
          </a:ln>
        </p:spPr>
      </p:sp>
      <p:sp>
        <p:nvSpPr>
          <p:cNvPr id="33" name="Text 2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34" name="Shape 27"/>
          <p:cNvSpPr/>
          <p:nvPr/>
        </p:nvSpPr>
        <p:spPr>
          <a:xfrm>
            <a:off x="579120" y="2066544"/>
            <a:ext cx="1014984" cy="1014984"/>
          </a:xfrm>
          <a:prstGeom prst="ellipse">
            <a:avLst/>
          </a:prstGeom>
          <a:solidFill>
            <a:srgbClr val="F4F1EA"/>
          </a:solidFill>
          <a:ln w="12700">
            <a:solidFill>
              <a:srgbClr val="F4F1EA"/>
            </a:solidFill>
            <a:prstDash val="solid"/>
          </a:ln>
        </p:spPr>
      </p:sp>
      <p:pic>
        <p:nvPicPr>
          <p:cNvPr id="35" name="Image 4" descr="preencoded.png">    </p:cNvPr>
          <p:cNvPicPr>
            <a:picLocks noChangeAspect="1"/>
          </p:cNvPicPr>
          <p:nvPr/>
        </p:nvPicPr>
        <p:blipFill>
          <a:blip r:embed="rId5"/>
          <a:stretch>
            <a:fillRect/>
          </a:stretch>
        </p:blipFill>
        <p:spPr>
          <a:xfrm>
            <a:off x="762000" y="2249424"/>
            <a:ext cx="649224" cy="649224"/>
          </a:xfrm>
          <a:prstGeom prst="rect">
            <a:avLst/>
          </a:prstGeom>
        </p:spPr>
      </p:pic>
      <p:sp>
        <p:nvSpPr>
          <p:cNvPr id="36" name="Shape 28"/>
          <p:cNvSpPr/>
          <p:nvPr/>
        </p:nvSpPr>
        <p:spPr>
          <a:xfrm>
            <a:off x="1767840" y="2066544"/>
            <a:ext cx="1014984" cy="1014984"/>
          </a:xfrm>
          <a:prstGeom prst="ellipse">
            <a:avLst/>
          </a:prstGeom>
          <a:solidFill>
            <a:srgbClr val="F4F1EA"/>
          </a:solidFill>
          <a:ln w="12700">
            <a:solidFill>
              <a:srgbClr val="F4F1EA"/>
            </a:solidFill>
            <a:prstDash val="solid"/>
          </a:ln>
        </p:spPr>
      </p:sp>
      <p:pic>
        <p:nvPicPr>
          <p:cNvPr id="37" name="Image 5" descr="preencoded.png">    </p:cNvPr>
          <p:cNvPicPr>
            <a:picLocks noChangeAspect="1"/>
          </p:cNvPicPr>
          <p:nvPr/>
        </p:nvPicPr>
        <p:blipFill>
          <a:blip r:embed="rId6"/>
          <a:stretch>
            <a:fillRect/>
          </a:stretch>
        </p:blipFill>
        <p:spPr>
          <a:xfrm>
            <a:off x="1950720" y="2249424"/>
            <a:ext cx="649224" cy="649224"/>
          </a:xfrm>
          <a:prstGeom prst="rect">
            <a:avLst/>
          </a:prstGeom>
        </p:spPr>
      </p:pic>
      <p:sp>
        <p:nvSpPr>
          <p:cNvPr id="38" name="Shape 29"/>
          <p:cNvSpPr/>
          <p:nvPr/>
        </p:nvSpPr>
        <p:spPr>
          <a:xfrm>
            <a:off x="2956560" y="2066544"/>
            <a:ext cx="1014984" cy="1014984"/>
          </a:xfrm>
          <a:prstGeom prst="ellipse">
            <a:avLst/>
          </a:prstGeom>
          <a:solidFill>
            <a:srgbClr val="F4F1EA"/>
          </a:solidFill>
          <a:ln w="12700">
            <a:solidFill>
              <a:srgbClr val="F4F1EA"/>
            </a:solidFill>
            <a:prstDash val="solid"/>
          </a:ln>
        </p:spPr>
      </p:sp>
      <p:pic>
        <p:nvPicPr>
          <p:cNvPr id="39" name="Image 6" descr="preencoded.png">    </p:cNvPr>
          <p:cNvPicPr>
            <a:picLocks noChangeAspect="1"/>
          </p:cNvPicPr>
          <p:nvPr/>
        </p:nvPicPr>
        <p:blipFill>
          <a:blip r:embed="rId7"/>
          <a:stretch>
            <a:fillRect/>
          </a:stretch>
        </p:blipFill>
        <p:spPr>
          <a:xfrm>
            <a:off x="3139440" y="2249424"/>
            <a:ext cx="649224" cy="649224"/>
          </a:xfrm>
          <a:prstGeom prst="rect">
            <a:avLst/>
          </a:prstGeom>
        </p:spPr>
      </p:pic>
      <p:sp>
        <p:nvSpPr>
          <p:cNvPr id="40" name="Text 30"/>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from education to a job</a:t>
            </a:r>
            <a:endParaRPr lang="en-US" sz="1100" dirty="0"/>
          </a:p>
        </p:txBody>
      </p:sp>
      <p:sp>
        <p:nvSpPr>
          <p:cNvPr id="41" name="Shape 31"/>
          <p:cNvSpPr/>
          <p:nvPr/>
        </p:nvSpPr>
        <p:spPr>
          <a:xfrm>
            <a:off x="457200" y="3730752"/>
            <a:ext cx="11274552" cy="493776"/>
          </a:xfrm>
          <a:prstGeom prst="roundRect">
            <a:avLst>
              <a:gd name="adj" fmla="val 11111"/>
            </a:avLst>
          </a:prstGeom>
          <a:solidFill>
            <a:srgbClr val="EEF3FA"/>
          </a:solidFill>
          <a:ln w="9525">
            <a:solidFill>
              <a:srgbClr val="C9D6EA"/>
            </a:solidFill>
            <a:prstDash val="solid"/>
          </a:ln>
        </p:spPr>
      </p:sp>
      <p:sp>
        <p:nvSpPr>
          <p:cNvPr id="42" name="Shape 32"/>
          <p:cNvSpPr/>
          <p:nvPr/>
        </p:nvSpPr>
        <p:spPr>
          <a:xfrm>
            <a:off x="11247120" y="3831336"/>
            <a:ext cx="292608" cy="292608"/>
          </a:xfrm>
          <a:prstGeom prst="ellipse">
            <a:avLst/>
          </a:prstGeom>
          <a:solidFill>
            <a:srgbClr val="2F6FB0"/>
          </a:solidFill>
          <a:ln w="12700">
            <a:solidFill>
              <a:srgbClr val="2F6FB0"/>
            </a:solidFill>
            <a:prstDash val="solid"/>
          </a:ln>
        </p:spPr>
      </p:sp>
      <p:sp>
        <p:nvSpPr>
          <p:cNvPr id="43" name="Text 33"/>
          <p:cNvSpPr txBox="1"/>
          <p:nvPr/>
        </p:nvSpPr>
        <p:spPr>
          <a:xfrm>
            <a:off x="11247120" y="383133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44" name="Text 34"/>
          <p:cNvSpPr txBox="1"/>
          <p:nvPr/>
        </p:nvSpPr>
        <p:spPr>
          <a:xfrm>
            <a:off x="731520" y="3730752"/>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التَّعْلِيمُ يُسَاعِدُنِي عَلَى الحُصُولِ عَلَى وَظِيفَةٍ.</a:t>
            </a:r>
            <a:endParaRPr lang="ar-SA" sz="2000" dirty="0"/>
          </a:p>
        </p:txBody>
      </p:sp>
      <p:sp>
        <p:nvSpPr>
          <p:cNvPr id="45" name="Shape 35"/>
          <p:cNvSpPr/>
          <p:nvPr/>
        </p:nvSpPr>
        <p:spPr>
          <a:xfrm>
            <a:off x="457200" y="4297680"/>
            <a:ext cx="11274552" cy="493776"/>
          </a:xfrm>
          <a:prstGeom prst="roundRect">
            <a:avLst>
              <a:gd name="adj" fmla="val 11111"/>
            </a:avLst>
          </a:prstGeom>
          <a:solidFill>
            <a:srgbClr val="EEF3FA"/>
          </a:solidFill>
          <a:ln w="9525">
            <a:solidFill>
              <a:srgbClr val="C9D6EA"/>
            </a:solidFill>
            <a:prstDash val="solid"/>
          </a:ln>
        </p:spPr>
      </p:sp>
      <p:sp>
        <p:nvSpPr>
          <p:cNvPr id="46" name="Shape 36"/>
          <p:cNvSpPr/>
          <p:nvPr/>
        </p:nvSpPr>
        <p:spPr>
          <a:xfrm>
            <a:off x="11247120" y="4398264"/>
            <a:ext cx="292608" cy="292608"/>
          </a:xfrm>
          <a:prstGeom prst="ellipse">
            <a:avLst/>
          </a:prstGeom>
          <a:solidFill>
            <a:srgbClr val="2F6FB0"/>
          </a:solidFill>
          <a:ln w="12700">
            <a:solidFill>
              <a:srgbClr val="2F6FB0"/>
            </a:solidFill>
            <a:prstDash val="solid"/>
          </a:ln>
        </p:spPr>
      </p:sp>
      <p:sp>
        <p:nvSpPr>
          <p:cNvPr id="47" name="Text 37"/>
          <p:cNvSpPr txBox="1"/>
          <p:nvPr/>
        </p:nvSpPr>
        <p:spPr>
          <a:xfrm>
            <a:off x="11247120" y="439826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48" name="Text 38"/>
          <p:cNvSpPr txBox="1"/>
          <p:nvPr/>
        </p:nvSpPr>
        <p:spPr>
          <a:xfrm>
            <a:off x="731520" y="4297680"/>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أَتَعَلَّمُ عَنْ بُعْدٍ.</a:t>
            </a:r>
            <a:endParaRPr lang="ar-SA" sz="2000" dirty="0"/>
          </a:p>
        </p:txBody>
      </p:sp>
      <p:sp>
        <p:nvSpPr>
          <p:cNvPr id="49" name="Shape 39"/>
          <p:cNvSpPr/>
          <p:nvPr/>
        </p:nvSpPr>
        <p:spPr>
          <a:xfrm>
            <a:off x="457200" y="4864608"/>
            <a:ext cx="11274552" cy="493776"/>
          </a:xfrm>
          <a:prstGeom prst="roundRect">
            <a:avLst>
              <a:gd name="adj" fmla="val 11111"/>
            </a:avLst>
          </a:prstGeom>
          <a:solidFill>
            <a:srgbClr val="EEF3FA"/>
          </a:solidFill>
          <a:ln w="9525">
            <a:solidFill>
              <a:srgbClr val="C9D6EA"/>
            </a:solidFill>
            <a:prstDash val="solid"/>
          </a:ln>
        </p:spPr>
      </p:sp>
      <p:sp>
        <p:nvSpPr>
          <p:cNvPr id="50" name="Shape 40"/>
          <p:cNvSpPr/>
          <p:nvPr/>
        </p:nvSpPr>
        <p:spPr>
          <a:xfrm>
            <a:off x="11247120" y="4965192"/>
            <a:ext cx="292608" cy="292608"/>
          </a:xfrm>
          <a:prstGeom prst="ellipse">
            <a:avLst/>
          </a:prstGeom>
          <a:solidFill>
            <a:srgbClr val="2F6FB0"/>
          </a:solidFill>
          <a:ln w="12700">
            <a:solidFill>
              <a:srgbClr val="2F6FB0"/>
            </a:solidFill>
            <a:prstDash val="solid"/>
          </a:ln>
        </p:spPr>
      </p:sp>
      <p:sp>
        <p:nvSpPr>
          <p:cNvPr id="51" name="Text 41"/>
          <p:cNvSpPr txBox="1"/>
          <p:nvPr/>
        </p:nvSpPr>
        <p:spPr>
          <a:xfrm>
            <a:off x="11247120" y="496519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C</a:t>
            </a:r>
            <a:endParaRPr lang="en-US" sz="1000" dirty="0"/>
          </a:p>
        </p:txBody>
      </p:sp>
      <p:sp>
        <p:nvSpPr>
          <p:cNvPr id="52" name="Text 42"/>
          <p:cNvSpPr txBox="1"/>
          <p:nvPr/>
        </p:nvSpPr>
        <p:spPr>
          <a:xfrm>
            <a:off x="731520" y="4864608"/>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أَدْرُسُ لِأَنْجَحَ فِي الاِمْتِحَانِ.</a:t>
            </a:r>
            <a:endParaRPr lang="ar-SA" sz="2000" dirty="0"/>
          </a:p>
        </p:txBody>
      </p:sp>
      <p:sp>
        <p:nvSpPr>
          <p:cNvPr id="53" name="Text 43"/>
          <p:cNvSpPr txBox="1"/>
          <p:nvPr/>
        </p:nvSpPr>
        <p:spPr>
          <a:xfrm>
            <a:off x="457200" y="5468112"/>
            <a:ext cx="11274552" cy="365760"/>
          </a:xfrm>
          <a:prstGeom prst="rect">
            <a:avLst/>
          </a:prstGeom>
          <a:noFill/>
          <a:ln/>
        </p:spPr>
        <p:txBody>
          <a:bodyPr wrap="square" lIns="0" tIns="0" rIns="0" bIns="0" rtlCol="0" anchor="ctr"/>
          <a:lstStyle/>
          <a:p>
            <a:pPr algn="l" indent="0" marL="0">
              <a:buNone/>
            </a:pPr>
            <a:r>
              <a:rPr lang="en-US" sz="1250" b="1" dirty="0">
                <a:solidFill>
                  <a:srgbClr val="2F6FB0"/>
                </a:solidFill>
                <a:latin typeface="Calibri" pitchFamily="34" charset="0"/>
                <a:cs typeface="Amiri" pitchFamily="2" charset="-78"/>
              </a:rPr>
              <a:t>Match each picture to a sentence. Type in the chat: 1_  2_  3_</a:t>
            </a:r>
            <a:endParaRPr lang="en-US" sz="1250" dirty="0"/>
          </a:p>
        </p:txBody>
      </p:sp>
      <p:sp>
        <p:nvSpPr>
          <p:cNvPr id="54" name="Text 44"/>
          <p:cNvSpPr txBox="1"/>
          <p:nvPr/>
        </p:nvSpPr>
        <p:spPr>
          <a:xfrm>
            <a:off x="457200" y="5852160"/>
            <a:ext cx="11274552" cy="36576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cs typeface="Amiri" pitchFamily="2" charset="-78"/>
              </a:rPr>
              <a:t>Core: find ONE key word you know in each sentence first.</a:t>
            </a:r>
            <a:endParaRPr lang="en-US" sz="1150" dirty="0"/>
          </a:p>
        </p:txBody>
      </p:sp>
      <p:sp>
        <p:nvSpPr>
          <p:cNvPr id="55"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49</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P2-L03 · Grammar</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PICTURE MATCH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Picture match: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طَرِيقُ التَّعْلِيمِ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P2-L03</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online learning</a:t>
            </a:r>
            <a:endParaRPr lang="en-US" sz="1100" dirty="0"/>
          </a:p>
        </p:txBody>
      </p:sp>
      <p:sp>
        <p:nvSpPr>
          <p:cNvPr id="23" name="Shape 18"/>
          <p:cNvSpPr/>
          <p:nvPr/>
        </p:nvSpPr>
        <p:spPr>
          <a:xfrm>
            <a:off x="8095488"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11256264" y="3785616"/>
            <a:ext cx="329184" cy="329184"/>
          </a:xfrm>
          <a:prstGeom prst="ellipse">
            <a:avLst/>
          </a:prstGeom>
          <a:solidFill>
            <a:srgbClr val="2E8B57"/>
          </a:solidFill>
          <a:ln w="12700">
            <a:solidFill>
              <a:srgbClr val="2E8B57"/>
            </a:solidFill>
            <a:prstDash val="solid"/>
          </a:ln>
        </p:spPr>
      </p:sp>
      <p:sp>
        <p:nvSpPr>
          <p:cNvPr id="25" name="Text 20"/>
          <p:cNvSpPr txBox="1"/>
          <p:nvPr/>
        </p:nvSpPr>
        <p:spPr>
          <a:xfrm>
            <a:off x="11256264"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a:t>
            </a:r>
            <a:endParaRPr lang="en-US" sz="1100" dirty="0"/>
          </a:p>
        </p:txBody>
      </p:sp>
      <p:sp>
        <p:nvSpPr>
          <p:cNvPr id="26" name="Text 21"/>
          <p:cNvSpPr txBox="1"/>
          <p:nvPr/>
        </p:nvSpPr>
        <p:spPr>
          <a:xfrm>
            <a:off x="8232648"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أَتَعَلَّمُ عَنْ بُعْدٍ.</a:t>
            </a:r>
            <a:endParaRPr lang="ar-SA" sz="2200" dirty="0"/>
          </a:p>
        </p:txBody>
      </p:sp>
      <p:sp>
        <p:nvSpPr>
          <p:cNvPr id="27" name="Text 22"/>
          <p:cNvSpPr txBox="1"/>
          <p:nvPr/>
        </p:nvSpPr>
        <p:spPr>
          <a:xfrm>
            <a:off x="8232648"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I learn online (at a distance).</a:t>
            </a:r>
            <a:endParaRPr lang="en-US" sz="1200" dirty="0"/>
          </a:p>
        </p:txBody>
      </p:sp>
      <p:sp>
        <p:nvSpPr>
          <p:cNvPr id="28" name="Shape 23"/>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4"/>
          <p:cNvSpPr/>
          <p:nvPr/>
        </p:nvSpPr>
        <p:spPr>
          <a:xfrm>
            <a:off x="4404360" y="1938528"/>
            <a:ext cx="365760" cy="365760"/>
          </a:xfrm>
          <a:prstGeom prst="ellipse">
            <a:avLst/>
          </a:prstGeom>
          <a:solidFill>
            <a:srgbClr val="1B3B6F"/>
          </a:solidFill>
          <a:ln w="12700">
            <a:solidFill>
              <a:srgbClr val="1B3B6F"/>
            </a:solidFill>
            <a:prstDash val="solid"/>
          </a:ln>
        </p:spPr>
      </p:sp>
      <p:sp>
        <p:nvSpPr>
          <p:cNvPr id="30" name="Text 25"/>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31" name="Shape 26"/>
          <p:cNvSpPr/>
          <p:nvPr/>
        </p:nvSpPr>
        <p:spPr>
          <a:xfrm>
            <a:off x="4992624" y="2066544"/>
            <a:ext cx="1014984" cy="1014984"/>
          </a:xfrm>
          <a:prstGeom prst="ellipse">
            <a:avLst/>
          </a:prstGeom>
          <a:solidFill>
            <a:srgbClr val="F4F1EA"/>
          </a:solidFill>
          <a:ln w="12700">
            <a:solidFill>
              <a:srgbClr val="F4F1EA"/>
            </a:solidFill>
            <a:prstDash val="solid"/>
          </a:ln>
        </p:spPr>
      </p:sp>
      <p:pic>
        <p:nvPicPr>
          <p:cNvPr id="32"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33" name="Shape 27"/>
          <p:cNvSpPr/>
          <p:nvPr/>
        </p:nvSpPr>
        <p:spPr>
          <a:xfrm>
            <a:off x="6181344" y="2066544"/>
            <a:ext cx="1014984" cy="1014984"/>
          </a:xfrm>
          <a:prstGeom prst="ellipse">
            <a:avLst/>
          </a:prstGeom>
          <a:solidFill>
            <a:srgbClr val="F4F1EA"/>
          </a:solidFill>
          <a:ln w="12700">
            <a:solidFill>
              <a:srgbClr val="F4F1EA"/>
            </a:solidFill>
            <a:prstDash val="solid"/>
          </a:ln>
        </p:spPr>
      </p:sp>
      <p:pic>
        <p:nvPicPr>
          <p:cNvPr id="34"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5" name="Text 28"/>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studying for an exam</a:t>
            </a:r>
            <a:endParaRPr lang="en-US" sz="1100" dirty="0"/>
          </a:p>
        </p:txBody>
      </p:sp>
      <p:sp>
        <p:nvSpPr>
          <p:cNvPr id="36" name="Shape 29"/>
          <p:cNvSpPr/>
          <p:nvPr/>
        </p:nvSpPr>
        <p:spPr>
          <a:xfrm>
            <a:off x="4276344"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7" name="Shape 30"/>
          <p:cNvSpPr/>
          <p:nvPr/>
        </p:nvSpPr>
        <p:spPr>
          <a:xfrm>
            <a:off x="7437120" y="3785616"/>
            <a:ext cx="329184" cy="329184"/>
          </a:xfrm>
          <a:prstGeom prst="ellipse">
            <a:avLst/>
          </a:prstGeom>
          <a:solidFill>
            <a:srgbClr val="2E8B57"/>
          </a:solidFill>
          <a:ln w="12700">
            <a:solidFill>
              <a:srgbClr val="2E8B57"/>
            </a:solidFill>
            <a:prstDash val="solid"/>
          </a:ln>
        </p:spPr>
      </p:sp>
      <p:sp>
        <p:nvSpPr>
          <p:cNvPr id="38" name="Text 31"/>
          <p:cNvSpPr txBox="1"/>
          <p:nvPr/>
        </p:nvSpPr>
        <p:spPr>
          <a:xfrm>
            <a:off x="7437120"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C</a:t>
            </a:r>
            <a:endParaRPr lang="en-US" sz="1100" dirty="0"/>
          </a:p>
        </p:txBody>
      </p:sp>
      <p:sp>
        <p:nvSpPr>
          <p:cNvPr id="39" name="Text 32"/>
          <p:cNvSpPr txBox="1"/>
          <p:nvPr/>
        </p:nvSpPr>
        <p:spPr>
          <a:xfrm>
            <a:off x="4413504"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أَدْرُسُ لِأَنْجَحَ فِي الاِمْتِحَانِ.</a:t>
            </a:r>
            <a:endParaRPr lang="ar-SA" sz="2200" dirty="0"/>
          </a:p>
        </p:txBody>
      </p:sp>
      <p:sp>
        <p:nvSpPr>
          <p:cNvPr id="40" name="Text 33"/>
          <p:cNvSpPr txBox="1"/>
          <p:nvPr/>
        </p:nvSpPr>
        <p:spPr>
          <a:xfrm>
            <a:off x="4413504"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I study to pass the exam.</a:t>
            </a:r>
            <a:endParaRPr lang="en-US" sz="1200" dirty="0"/>
          </a:p>
        </p:txBody>
      </p:sp>
      <p:sp>
        <p:nvSpPr>
          <p:cNvPr id="41" name="Shape 3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5"/>
          <p:cNvSpPr/>
          <p:nvPr/>
        </p:nvSpPr>
        <p:spPr>
          <a:xfrm>
            <a:off x="585216" y="1938528"/>
            <a:ext cx="365760" cy="365760"/>
          </a:xfrm>
          <a:prstGeom prst="ellipse">
            <a:avLst/>
          </a:prstGeom>
          <a:solidFill>
            <a:srgbClr val="1B3B6F"/>
          </a:solidFill>
          <a:ln w="12700">
            <a:solidFill>
              <a:srgbClr val="1B3B6F"/>
            </a:solidFill>
            <a:prstDash val="solid"/>
          </a:ln>
        </p:spPr>
      </p:sp>
      <p:sp>
        <p:nvSpPr>
          <p:cNvPr id="43" name="Text 3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44" name="Shape 37"/>
          <p:cNvSpPr/>
          <p:nvPr/>
        </p:nvSpPr>
        <p:spPr>
          <a:xfrm>
            <a:off x="579120" y="2066544"/>
            <a:ext cx="1014984" cy="1014984"/>
          </a:xfrm>
          <a:prstGeom prst="ellipse">
            <a:avLst/>
          </a:prstGeom>
          <a:solidFill>
            <a:srgbClr val="F4F1EA"/>
          </a:solidFill>
          <a:ln w="12700">
            <a:solidFill>
              <a:srgbClr val="F4F1EA"/>
            </a:solidFill>
            <a:prstDash val="solid"/>
          </a:ln>
        </p:spPr>
      </p:sp>
      <p:pic>
        <p:nvPicPr>
          <p:cNvPr id="45" name="Image 4" descr="preencoded.png">    </p:cNvPr>
          <p:cNvPicPr>
            <a:picLocks noChangeAspect="1"/>
          </p:cNvPicPr>
          <p:nvPr/>
        </p:nvPicPr>
        <p:blipFill>
          <a:blip r:embed="rId5"/>
          <a:stretch>
            <a:fillRect/>
          </a:stretch>
        </p:blipFill>
        <p:spPr>
          <a:xfrm>
            <a:off x="762000" y="2249424"/>
            <a:ext cx="649224" cy="649224"/>
          </a:xfrm>
          <a:prstGeom prst="rect">
            <a:avLst/>
          </a:prstGeom>
        </p:spPr>
      </p:pic>
      <p:sp>
        <p:nvSpPr>
          <p:cNvPr id="46" name="Shape 38"/>
          <p:cNvSpPr/>
          <p:nvPr/>
        </p:nvSpPr>
        <p:spPr>
          <a:xfrm>
            <a:off x="1767840" y="2066544"/>
            <a:ext cx="1014984" cy="1014984"/>
          </a:xfrm>
          <a:prstGeom prst="ellipse">
            <a:avLst/>
          </a:prstGeom>
          <a:solidFill>
            <a:srgbClr val="F4F1EA"/>
          </a:solidFill>
          <a:ln w="12700">
            <a:solidFill>
              <a:srgbClr val="F4F1EA"/>
            </a:solidFill>
            <a:prstDash val="solid"/>
          </a:ln>
        </p:spPr>
      </p:sp>
      <p:pic>
        <p:nvPicPr>
          <p:cNvPr id="47" name="Image 5" descr="preencoded.png">    </p:cNvPr>
          <p:cNvPicPr>
            <a:picLocks noChangeAspect="1"/>
          </p:cNvPicPr>
          <p:nvPr/>
        </p:nvPicPr>
        <p:blipFill>
          <a:blip r:embed="rId6"/>
          <a:stretch>
            <a:fillRect/>
          </a:stretch>
        </p:blipFill>
        <p:spPr>
          <a:xfrm>
            <a:off x="1950720" y="2249424"/>
            <a:ext cx="649224" cy="649224"/>
          </a:xfrm>
          <a:prstGeom prst="rect">
            <a:avLst/>
          </a:prstGeom>
        </p:spPr>
      </p:pic>
      <p:sp>
        <p:nvSpPr>
          <p:cNvPr id="48" name="Shape 39"/>
          <p:cNvSpPr/>
          <p:nvPr/>
        </p:nvSpPr>
        <p:spPr>
          <a:xfrm>
            <a:off x="2956560" y="2066544"/>
            <a:ext cx="1014984" cy="1014984"/>
          </a:xfrm>
          <a:prstGeom prst="ellipse">
            <a:avLst/>
          </a:prstGeom>
          <a:solidFill>
            <a:srgbClr val="F4F1EA"/>
          </a:solidFill>
          <a:ln w="12700">
            <a:solidFill>
              <a:srgbClr val="F4F1EA"/>
            </a:solidFill>
            <a:prstDash val="solid"/>
          </a:ln>
        </p:spPr>
      </p:sp>
      <p:pic>
        <p:nvPicPr>
          <p:cNvPr id="49" name="Image 6" descr="preencoded.png">    </p:cNvPr>
          <p:cNvPicPr>
            <a:picLocks noChangeAspect="1"/>
          </p:cNvPicPr>
          <p:nvPr/>
        </p:nvPicPr>
        <p:blipFill>
          <a:blip r:embed="rId7"/>
          <a:stretch>
            <a:fillRect/>
          </a:stretch>
        </p:blipFill>
        <p:spPr>
          <a:xfrm>
            <a:off x="3139440" y="2249424"/>
            <a:ext cx="649224" cy="649224"/>
          </a:xfrm>
          <a:prstGeom prst="rect">
            <a:avLst/>
          </a:prstGeom>
        </p:spPr>
      </p:pic>
      <p:sp>
        <p:nvSpPr>
          <p:cNvPr id="50" name="Text 40"/>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from education to a job</a:t>
            </a:r>
            <a:endParaRPr lang="en-US" sz="1100" dirty="0"/>
          </a:p>
        </p:txBody>
      </p:sp>
      <p:sp>
        <p:nvSpPr>
          <p:cNvPr id="51" name="Shape 41"/>
          <p:cNvSpPr/>
          <p:nvPr/>
        </p:nvSpPr>
        <p:spPr>
          <a:xfrm>
            <a:off x="457200"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2" name="Shape 42"/>
          <p:cNvSpPr/>
          <p:nvPr/>
        </p:nvSpPr>
        <p:spPr>
          <a:xfrm>
            <a:off x="3617976" y="3785616"/>
            <a:ext cx="329184" cy="329184"/>
          </a:xfrm>
          <a:prstGeom prst="ellipse">
            <a:avLst/>
          </a:prstGeom>
          <a:solidFill>
            <a:srgbClr val="2E8B57"/>
          </a:solidFill>
          <a:ln w="12700">
            <a:solidFill>
              <a:srgbClr val="2E8B57"/>
            </a:solidFill>
            <a:prstDash val="solid"/>
          </a:ln>
        </p:spPr>
      </p:sp>
      <p:sp>
        <p:nvSpPr>
          <p:cNvPr id="53" name="Text 43"/>
          <p:cNvSpPr txBox="1"/>
          <p:nvPr/>
        </p:nvSpPr>
        <p:spPr>
          <a:xfrm>
            <a:off x="3617976"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a:t>
            </a:r>
            <a:endParaRPr lang="en-US" sz="1100" dirty="0"/>
          </a:p>
        </p:txBody>
      </p:sp>
      <p:sp>
        <p:nvSpPr>
          <p:cNvPr id="54" name="Text 44"/>
          <p:cNvSpPr txBox="1"/>
          <p:nvPr/>
        </p:nvSpPr>
        <p:spPr>
          <a:xfrm>
            <a:off x="594360" y="4160520"/>
            <a:ext cx="3361944" cy="1143000"/>
          </a:xfrm>
          <a:prstGeom prst="rect">
            <a:avLst/>
          </a:prstGeom>
          <a:noFill/>
          <a:ln/>
        </p:spPr>
        <p:txBody>
          <a:bodyPr wrap="square" lIns="0" tIns="0" rIns="0" bIns="0" rtlCol="0" anchor="ctr"/>
          <a:lstStyle/>
          <a:p>
            <a:pPr rtl="1" algn="ctr" indent="0" marL="0">
              <a:lnSpc>
                <a:spcPct val="120000"/>
              </a:lnSpc>
              <a:buNone/>
            </a:pPr>
            <a:r>
              <a:rPr lang="ar-SA" altLang="en-US" sz="2200" b="1" dirty="0">
                <a:solidFill>
                  <a:srgbClr val="1B3B6F"/>
                </a:solidFill>
                <a:latin typeface="Amiri" pitchFamily="2" charset="-78"/>
                <a:cs typeface="Amiri" pitchFamily="2" charset="-78"/>
              </a:rPr>
              <a:t>التَّعْلِيمُ يُسَاعِدُنِي عَلَى الحُصُولِ عَلَى وَظِيفَةٍ.</a:t>
            </a:r>
            <a:endParaRPr lang="ar-SA" sz="2200" dirty="0"/>
          </a:p>
        </p:txBody>
      </p:sp>
      <p:sp>
        <p:nvSpPr>
          <p:cNvPr id="55" name="Text 45"/>
          <p:cNvSpPr txBox="1"/>
          <p:nvPr/>
        </p:nvSpPr>
        <p:spPr>
          <a:xfrm>
            <a:off x="594360"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Education helps me to get a job.</a:t>
            </a:r>
            <a:endParaRPr lang="en-US" sz="1200" dirty="0"/>
          </a:p>
        </p:txBody>
      </p:sp>
      <p:sp>
        <p:nvSpPr>
          <p:cNvPr id="56" name="Text 4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49</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P2-L03 · Grammar</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2F6FB0"/>
                </a:solidFill>
                <a:latin typeface="Calibri" pitchFamily="34" charset="0"/>
                <a:cs typeface="Amiri" pitchFamily="2" charset="-78"/>
              </a:rPr>
              <a:t>WE DO · PUT IT IN ORDER (WEBSITE LISTENING: LAYLA’S JOURNEY)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50" b="1" dirty="0">
                <a:solidFill>
                  <a:srgbClr val="1B3B6F"/>
                </a:solidFill>
                <a:latin typeface="Cambria" pitchFamily="34" charset="0"/>
                <a:cs typeface="Amiri" pitchFamily="2" charset="-78"/>
              </a:rPr>
              <a:t>Who had done what — and before what?</a:t>
            </a:r>
            <a:endParaRPr lang="en-US" sz="24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رَتِّبِ الأَحْدَاثَ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P2-L03</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205472" y="1810512"/>
            <a:ext cx="44531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Later (qabla an + subjunctive)</a:t>
            </a:r>
            <a:endParaRPr lang="en-US" sz="1100" dirty="0"/>
          </a:p>
        </p:txBody>
      </p:sp>
      <p:sp>
        <p:nvSpPr>
          <p:cNvPr id="17" name="Text 14"/>
          <p:cNvSpPr txBox="1"/>
          <p:nvPr/>
        </p:nvSpPr>
        <p:spPr>
          <a:xfrm>
            <a:off x="2450592" y="1810512"/>
            <a:ext cx="46085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Earlier (kāna qad + past)</a:t>
            </a:r>
            <a:endParaRPr lang="en-US" sz="1100" dirty="0"/>
          </a:p>
        </p:txBody>
      </p:sp>
      <p:sp>
        <p:nvSpPr>
          <p:cNvPr id="18" name="Text 15"/>
          <p:cNvSpPr txBox="1"/>
          <p:nvPr/>
        </p:nvSpPr>
        <p:spPr>
          <a:xfrm>
            <a:off x="530352" y="1810512"/>
            <a:ext cx="17739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Person</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7223760" y="2267712"/>
            <a:ext cx="4416552" cy="731520"/>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cs typeface="Amiri" pitchFamily="2" charset="-78"/>
              </a:rPr>
              <a:t>قَبْلَ أَنْ أَلْتَحِقَ بِالجَامِعَةِ</a:t>
            </a:r>
            <a:endParaRPr lang="ar-SA" sz="1900" dirty="0"/>
          </a:p>
        </p:txBody>
      </p:sp>
      <p:sp>
        <p:nvSpPr>
          <p:cNvPr id="21" name="Text 18"/>
          <p:cNvSpPr txBox="1"/>
          <p:nvPr/>
        </p:nvSpPr>
        <p:spPr>
          <a:xfrm>
            <a:off x="2468880" y="2267712"/>
            <a:ext cx="4572000" cy="731520"/>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cs typeface="Amiri" pitchFamily="2" charset="-78"/>
              </a:rPr>
              <a:t>كُنْتُ قَدْ أَنْجَزْتُ مَشْرُوعًا بَحْثِيًّا</a:t>
            </a:r>
            <a:endParaRPr lang="ar-SA" sz="1900" dirty="0"/>
          </a:p>
        </p:txBody>
      </p:sp>
      <p:sp>
        <p:nvSpPr>
          <p:cNvPr id="22" name="Text 19"/>
          <p:cNvSpPr txBox="1"/>
          <p:nvPr/>
        </p:nvSpPr>
        <p:spPr>
          <a:xfrm>
            <a:off x="566928" y="2267712"/>
            <a:ext cx="17373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Layla (I)</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6" name="Text 23"/>
          <p:cNvSpPr txBox="1"/>
          <p:nvPr/>
        </p:nvSpPr>
        <p:spPr>
          <a:xfrm>
            <a:off x="7223760" y="3054096"/>
            <a:ext cx="4416552" cy="731520"/>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cs typeface="Amiri" pitchFamily="2" charset="-78"/>
              </a:rPr>
              <a:t>قَبْلَ أَنْ تَبْدَأَ الفَصْلَ</a:t>
            </a:r>
            <a:endParaRPr lang="ar-SA" sz="1900" dirty="0"/>
          </a:p>
        </p:txBody>
      </p:sp>
      <p:sp>
        <p:nvSpPr>
          <p:cNvPr id="27" name="Text 24"/>
          <p:cNvSpPr txBox="1"/>
          <p:nvPr/>
        </p:nvSpPr>
        <p:spPr>
          <a:xfrm>
            <a:off x="2468880" y="3054096"/>
            <a:ext cx="4572000" cy="731520"/>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cs typeface="Amiri" pitchFamily="2" charset="-78"/>
              </a:rPr>
              <a:t>كَانَتْ زَمِيلَتِي قَدْ حَصَلَتْ عَلَى مِنْحَةٍ</a:t>
            </a:r>
            <a:endParaRPr lang="ar-SA" sz="1900" dirty="0"/>
          </a:p>
        </p:txBody>
      </p:sp>
      <p:sp>
        <p:nvSpPr>
          <p:cNvPr id="28" name="Text 25"/>
          <p:cNvSpPr txBox="1"/>
          <p:nvPr/>
        </p:nvSpPr>
        <p:spPr>
          <a:xfrm>
            <a:off x="566928" y="3054096"/>
            <a:ext cx="17373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her classmate (she)</a:t>
            </a:r>
            <a:endParaRPr lang="en-US" sz="1100" dirty="0"/>
          </a:p>
        </p:txBody>
      </p:sp>
      <p:sp>
        <p:nvSpPr>
          <p:cNvPr id="29" name="Shape 26"/>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2" name="Text 29"/>
          <p:cNvSpPr txBox="1"/>
          <p:nvPr/>
        </p:nvSpPr>
        <p:spPr>
          <a:xfrm>
            <a:off x="7223760" y="3840480"/>
            <a:ext cx="4416552" cy="731520"/>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cs typeface="Amiri" pitchFamily="2" charset="-78"/>
              </a:rPr>
              <a:t>قَبْلَ أَنْ يُقَرِّرَ التَّخَصُّصَ</a:t>
            </a:r>
            <a:endParaRPr lang="ar-SA" sz="1900" dirty="0"/>
          </a:p>
        </p:txBody>
      </p:sp>
      <p:sp>
        <p:nvSpPr>
          <p:cNvPr id="33" name="Text 30"/>
          <p:cNvSpPr txBox="1"/>
          <p:nvPr/>
        </p:nvSpPr>
        <p:spPr>
          <a:xfrm>
            <a:off x="2468880" y="3840480"/>
            <a:ext cx="4572000" cy="731520"/>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cs typeface="Amiri" pitchFamily="2" charset="-78"/>
              </a:rPr>
              <a:t>كَانَ أَخِي قَدْ عَمِلَ سَنَةً كَامِلَةً</a:t>
            </a:r>
            <a:endParaRPr lang="ar-SA" sz="1900" dirty="0"/>
          </a:p>
        </p:txBody>
      </p:sp>
      <p:sp>
        <p:nvSpPr>
          <p:cNvPr id="34" name="Text 31"/>
          <p:cNvSpPr txBox="1"/>
          <p:nvPr/>
        </p:nvSpPr>
        <p:spPr>
          <a:xfrm>
            <a:off x="566928" y="3840480"/>
            <a:ext cx="17373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her brother (he)</a:t>
            </a:r>
            <a:endParaRPr lang="en-US" sz="1100" dirty="0"/>
          </a:p>
        </p:txBody>
      </p:sp>
      <p:sp>
        <p:nvSpPr>
          <p:cNvPr id="35" name="Shape 32"/>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6" name="Text 33"/>
          <p:cNvSpPr txBox="1"/>
          <p:nvPr/>
        </p:nvSpPr>
        <p:spPr>
          <a:xfrm>
            <a:off x="7223760" y="4626864"/>
            <a:ext cx="4416552" cy="731520"/>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cs typeface="Amiri" pitchFamily="2" charset="-78"/>
              </a:rPr>
              <a:t>بِحُلُولِ التَّخَرُّجِ</a:t>
            </a:r>
            <a:endParaRPr lang="ar-SA" sz="1900" dirty="0"/>
          </a:p>
        </p:txBody>
      </p:sp>
      <p:sp>
        <p:nvSpPr>
          <p:cNvPr id="37" name="Text 34"/>
          <p:cNvSpPr txBox="1"/>
          <p:nvPr/>
        </p:nvSpPr>
        <p:spPr>
          <a:xfrm>
            <a:off x="2468880" y="4626864"/>
            <a:ext cx="4572000" cy="731520"/>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cs typeface="Amiri" pitchFamily="2" charset="-78"/>
              </a:rPr>
              <a:t>كُنَّا قَدْ حَضَرْنَا عَشَرَاتِ المُحَاضَرَاتِ</a:t>
            </a:r>
            <a:endParaRPr lang="ar-SA" sz="1900" dirty="0"/>
          </a:p>
        </p:txBody>
      </p:sp>
      <p:sp>
        <p:nvSpPr>
          <p:cNvPr id="38" name="Text 35"/>
          <p:cNvSpPr txBox="1"/>
          <p:nvPr/>
        </p:nvSpPr>
        <p:spPr>
          <a:xfrm>
            <a:off x="566928" y="4626864"/>
            <a:ext cx="17373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all of them (we)</a:t>
            </a:r>
            <a:endParaRPr lang="en-US" sz="1100" dirty="0"/>
          </a:p>
        </p:txBody>
      </p:sp>
      <p:sp>
        <p:nvSpPr>
          <p:cNvPr id="39" name="Text 3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Cover a column and rebuild it — then retell Layla’s story about Layla (she): kānat qad anjazat …</a:t>
            </a:r>
            <a:endParaRPr lang="en-US" sz="115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25 / 49</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P2-L03 · Grammar</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WEBSITE SORTER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kāna, kānat — or kuntu / kānū?</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P2-L03</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دَرَسَ</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تَخَرَّجَ</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أَنْهَى</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تَخَصَّصَتْ</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حَصَلَتْ</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نَشَرَتْ</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أَنْهَيْتُ</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تَخَرَّجُوا</a:t>
            </a:r>
            <a:endParaRPr lang="ar-SA" sz="1800" dirty="0"/>
          </a:p>
        </p:txBody>
      </p:sp>
      <p:sp>
        <p:nvSpPr>
          <p:cNvPr id="31" name="Shape 28"/>
          <p:cNvSpPr/>
          <p:nvPr/>
        </p:nvSpPr>
        <p:spPr>
          <a:xfrm>
            <a:off x="9015984" y="2834640"/>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2" name="Text 29"/>
          <p:cNvSpPr txBox="1"/>
          <p:nvPr/>
        </p:nvSpPr>
        <p:spPr>
          <a:xfrm>
            <a:off x="9107424" y="2834640"/>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قَرَّرْتُ</a:t>
            </a:r>
            <a:endParaRPr lang="ar-SA" sz="1800" dirty="0"/>
          </a:p>
        </p:txBody>
      </p:sp>
      <p:sp>
        <p:nvSpPr>
          <p:cNvPr id="33" name="Shape 30"/>
          <p:cNvSpPr/>
          <p:nvPr/>
        </p:nvSpPr>
        <p:spPr>
          <a:xfrm>
            <a:off x="8095488" y="3529584"/>
            <a:ext cx="3636264" cy="2779776"/>
          </a:xfrm>
          <a:prstGeom prst="roundRect">
            <a:avLst>
              <a:gd name="adj" fmla="val 2632"/>
            </a:avLst>
          </a:prstGeom>
          <a:solidFill>
            <a:srgbClr val="EEF3FA"/>
          </a:solidFill>
          <a:ln w="9525">
            <a:solidFill>
              <a:srgbClr val="C9D6EA"/>
            </a:solidFill>
            <a:prstDash val="solid"/>
          </a:ln>
        </p:spPr>
      </p:sp>
      <p:sp>
        <p:nvSpPr>
          <p:cNvPr id="34" name="Shape 31"/>
          <p:cNvSpPr/>
          <p:nvPr/>
        </p:nvSpPr>
        <p:spPr>
          <a:xfrm>
            <a:off x="8232648" y="3639312"/>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8232648"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كَانَ قَدْ (he)</a:t>
            </a:r>
            <a:endParaRPr lang="en-US" sz="950" dirty="0"/>
          </a:p>
        </p:txBody>
      </p:sp>
      <p:sp>
        <p:nvSpPr>
          <p:cNvPr id="36" name="Shape 33"/>
          <p:cNvSpPr/>
          <p:nvPr/>
        </p:nvSpPr>
        <p:spPr>
          <a:xfrm>
            <a:off x="4276344" y="3529584"/>
            <a:ext cx="3636264" cy="2779776"/>
          </a:xfrm>
          <a:prstGeom prst="roundRect">
            <a:avLst>
              <a:gd name="adj" fmla="val 2632"/>
            </a:avLst>
          </a:prstGeom>
          <a:solidFill>
            <a:srgbClr val="EEF3FA"/>
          </a:solidFill>
          <a:ln w="9525">
            <a:solidFill>
              <a:srgbClr val="C9D6EA"/>
            </a:solidFill>
            <a:prstDash val="solid"/>
          </a:ln>
        </p:spPr>
      </p:sp>
      <p:sp>
        <p:nvSpPr>
          <p:cNvPr id="37" name="Shape 34"/>
          <p:cNvSpPr/>
          <p:nvPr/>
        </p:nvSpPr>
        <p:spPr>
          <a:xfrm>
            <a:off x="4413504" y="3639312"/>
            <a:ext cx="3361944" cy="310896"/>
          </a:xfrm>
          <a:prstGeom prst="roundRect">
            <a:avLst>
              <a:gd name="adj" fmla="val 50000"/>
            </a:avLst>
          </a:prstGeom>
          <a:solidFill>
            <a:srgbClr val="2F6FB0"/>
          </a:solidFill>
          <a:ln w="12700">
            <a:solidFill>
              <a:srgbClr val="2F6FB0"/>
            </a:solidFill>
            <a:prstDash val="solid"/>
          </a:ln>
        </p:spPr>
      </p:sp>
      <p:sp>
        <p:nvSpPr>
          <p:cNvPr id="38" name="Text 35"/>
          <p:cNvSpPr txBox="1"/>
          <p:nvPr/>
        </p:nvSpPr>
        <p:spPr>
          <a:xfrm>
            <a:off x="4413504"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كَانَتْ قَدْ (she)</a:t>
            </a:r>
            <a:endParaRPr lang="en-US" sz="950" dirty="0"/>
          </a:p>
        </p:txBody>
      </p:sp>
      <p:sp>
        <p:nvSpPr>
          <p:cNvPr id="39" name="Shape 36"/>
          <p:cNvSpPr/>
          <p:nvPr/>
        </p:nvSpPr>
        <p:spPr>
          <a:xfrm>
            <a:off x="457200" y="3529584"/>
            <a:ext cx="3636264" cy="2779776"/>
          </a:xfrm>
          <a:prstGeom prst="roundRect">
            <a:avLst>
              <a:gd name="adj" fmla="val 2632"/>
            </a:avLst>
          </a:prstGeom>
          <a:solidFill>
            <a:srgbClr val="EEF3FA"/>
          </a:solidFill>
          <a:ln w="9525">
            <a:solidFill>
              <a:srgbClr val="C9D6EA"/>
            </a:solidFill>
            <a:prstDash val="solid"/>
          </a:ln>
        </p:spPr>
      </p:sp>
      <p:sp>
        <p:nvSpPr>
          <p:cNvPr id="40" name="Shape 37"/>
          <p:cNvSpPr/>
          <p:nvPr/>
        </p:nvSpPr>
        <p:spPr>
          <a:xfrm>
            <a:off x="594360" y="3639312"/>
            <a:ext cx="3361944" cy="310896"/>
          </a:xfrm>
          <a:prstGeom prst="roundRect">
            <a:avLst>
              <a:gd name="adj" fmla="val 50000"/>
            </a:avLst>
          </a:prstGeom>
          <a:solidFill>
            <a:srgbClr val="2F6FB0"/>
          </a:solidFill>
          <a:ln w="12700">
            <a:solidFill>
              <a:srgbClr val="2F6FB0"/>
            </a:solidFill>
            <a:prstDash val="solid"/>
          </a:ln>
        </p:spPr>
      </p:sp>
      <p:sp>
        <p:nvSpPr>
          <p:cNvPr id="41" name="Text 38"/>
          <p:cNvSpPr txBox="1"/>
          <p:nvPr/>
        </p:nvSpPr>
        <p:spPr>
          <a:xfrm>
            <a:off x="594360"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3 · كُنْتُ / كَانُوا قَدْ</a:t>
            </a:r>
            <a:endParaRPr lang="en-US" sz="9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26 / 49</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P2-L03 · Grammar</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P2-L03</a:t>
            </a:r>
            <a:endParaRPr lang="en-US" sz="850" dirty="0"/>
          </a:p>
        </p:txBody>
      </p:sp>
      <p:sp>
        <p:nvSpPr>
          <p:cNvPr id="15" name="Shape 12"/>
          <p:cNvSpPr/>
          <p:nvPr/>
        </p:nvSpPr>
        <p:spPr>
          <a:xfrm>
            <a:off x="8095488" y="1810512"/>
            <a:ext cx="3636264" cy="4498848"/>
          </a:xfrm>
          <a:prstGeom prst="roundRect">
            <a:avLst>
              <a:gd name="adj" fmla="val 2012"/>
            </a:avLst>
          </a:prstGeom>
          <a:solidFill>
            <a:srgbClr val="EEF3FA"/>
          </a:solidFill>
          <a:ln w="9525">
            <a:solidFill>
              <a:srgbClr val="C9D6EA"/>
            </a:solidFill>
            <a:prstDash val="solid"/>
          </a:ln>
        </p:spPr>
      </p:sp>
      <p:sp>
        <p:nvSpPr>
          <p:cNvPr id="16" name="Shape 13"/>
          <p:cNvSpPr/>
          <p:nvPr/>
        </p:nvSpPr>
        <p:spPr>
          <a:xfrm>
            <a:off x="8232648" y="1920240"/>
            <a:ext cx="3361944"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8232648"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كَانَ قَدْ (he)</a:t>
            </a:r>
            <a:endParaRPr lang="en-US" sz="950" dirty="0"/>
          </a:p>
        </p:txBody>
      </p:sp>
      <p:sp>
        <p:nvSpPr>
          <p:cNvPr id="18" name="Shape 15"/>
          <p:cNvSpPr/>
          <p:nvPr/>
        </p:nvSpPr>
        <p:spPr>
          <a:xfrm>
            <a:off x="8232648" y="2377440"/>
            <a:ext cx="3361944"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8324088"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دَرَسَ</a:t>
            </a:r>
            <a:endParaRPr lang="ar-SA" sz="1800" dirty="0"/>
          </a:p>
        </p:txBody>
      </p:sp>
      <p:sp>
        <p:nvSpPr>
          <p:cNvPr id="20" name="Shape 17"/>
          <p:cNvSpPr/>
          <p:nvPr/>
        </p:nvSpPr>
        <p:spPr>
          <a:xfrm>
            <a:off x="8232648" y="2889504"/>
            <a:ext cx="3361944"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8324088"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تَخَرَّجَ</a:t>
            </a:r>
            <a:endParaRPr lang="ar-SA" sz="1800" dirty="0"/>
          </a:p>
        </p:txBody>
      </p:sp>
      <p:sp>
        <p:nvSpPr>
          <p:cNvPr id="22" name="Shape 19"/>
          <p:cNvSpPr/>
          <p:nvPr/>
        </p:nvSpPr>
        <p:spPr>
          <a:xfrm>
            <a:off x="8232648" y="3401568"/>
            <a:ext cx="3361944"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8324088"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أَنْهَى</a:t>
            </a:r>
            <a:endParaRPr lang="ar-SA" sz="1800" dirty="0"/>
          </a:p>
        </p:txBody>
      </p:sp>
      <p:sp>
        <p:nvSpPr>
          <p:cNvPr id="24" name="Shape 21"/>
          <p:cNvSpPr/>
          <p:nvPr/>
        </p:nvSpPr>
        <p:spPr>
          <a:xfrm>
            <a:off x="4276344" y="1810512"/>
            <a:ext cx="3636264" cy="4498848"/>
          </a:xfrm>
          <a:prstGeom prst="roundRect">
            <a:avLst>
              <a:gd name="adj" fmla="val 2012"/>
            </a:avLst>
          </a:prstGeom>
          <a:solidFill>
            <a:srgbClr val="EEF3FA"/>
          </a:solidFill>
          <a:ln w="9525">
            <a:solidFill>
              <a:srgbClr val="C9D6EA"/>
            </a:solidFill>
            <a:prstDash val="solid"/>
          </a:ln>
        </p:spPr>
      </p:sp>
      <p:sp>
        <p:nvSpPr>
          <p:cNvPr id="25" name="Shape 22"/>
          <p:cNvSpPr/>
          <p:nvPr/>
        </p:nvSpPr>
        <p:spPr>
          <a:xfrm>
            <a:off x="4413504" y="1920240"/>
            <a:ext cx="3361944" cy="310896"/>
          </a:xfrm>
          <a:prstGeom prst="roundRect">
            <a:avLst>
              <a:gd name="adj" fmla="val 50000"/>
            </a:avLst>
          </a:prstGeom>
          <a:solidFill>
            <a:srgbClr val="2F6FB0"/>
          </a:solidFill>
          <a:ln w="12700">
            <a:solidFill>
              <a:srgbClr val="2F6FB0"/>
            </a:solidFill>
            <a:prstDash val="solid"/>
          </a:ln>
        </p:spPr>
      </p:sp>
      <p:sp>
        <p:nvSpPr>
          <p:cNvPr id="26" name="Text 23"/>
          <p:cNvSpPr txBox="1"/>
          <p:nvPr/>
        </p:nvSpPr>
        <p:spPr>
          <a:xfrm>
            <a:off x="4413504"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كَانَتْ قَدْ (she)</a:t>
            </a:r>
            <a:endParaRPr lang="en-US" sz="950" dirty="0"/>
          </a:p>
        </p:txBody>
      </p:sp>
      <p:sp>
        <p:nvSpPr>
          <p:cNvPr id="27" name="Shape 24"/>
          <p:cNvSpPr/>
          <p:nvPr/>
        </p:nvSpPr>
        <p:spPr>
          <a:xfrm>
            <a:off x="4413504" y="2377440"/>
            <a:ext cx="3361944" cy="438912"/>
          </a:xfrm>
          <a:prstGeom prst="roundRect">
            <a:avLst>
              <a:gd name="adj" fmla="val 12500"/>
            </a:avLst>
          </a:prstGeom>
          <a:solidFill>
            <a:srgbClr val="FFF4DC"/>
          </a:solidFill>
          <a:ln w="9525">
            <a:solidFill>
              <a:srgbClr val="E6C98A"/>
            </a:solidFill>
            <a:prstDash val="solid"/>
          </a:ln>
        </p:spPr>
      </p:sp>
      <p:sp>
        <p:nvSpPr>
          <p:cNvPr id="28" name="Text 25"/>
          <p:cNvSpPr txBox="1"/>
          <p:nvPr/>
        </p:nvSpPr>
        <p:spPr>
          <a:xfrm>
            <a:off x="4504944"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تَخَصَّصَتْ</a:t>
            </a:r>
            <a:endParaRPr lang="ar-SA" sz="1800" dirty="0"/>
          </a:p>
        </p:txBody>
      </p:sp>
      <p:sp>
        <p:nvSpPr>
          <p:cNvPr id="29" name="Shape 26"/>
          <p:cNvSpPr/>
          <p:nvPr/>
        </p:nvSpPr>
        <p:spPr>
          <a:xfrm>
            <a:off x="4413504" y="2889504"/>
            <a:ext cx="3361944"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4504944"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حَصَلَتْ</a:t>
            </a:r>
            <a:endParaRPr lang="ar-SA" sz="1800" dirty="0"/>
          </a:p>
        </p:txBody>
      </p:sp>
      <p:sp>
        <p:nvSpPr>
          <p:cNvPr id="31" name="Shape 28"/>
          <p:cNvSpPr/>
          <p:nvPr/>
        </p:nvSpPr>
        <p:spPr>
          <a:xfrm>
            <a:off x="4413504" y="3401568"/>
            <a:ext cx="3361944"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4504944"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نَشَرَتْ</a:t>
            </a:r>
            <a:endParaRPr lang="ar-SA" sz="1800" dirty="0"/>
          </a:p>
        </p:txBody>
      </p:sp>
      <p:sp>
        <p:nvSpPr>
          <p:cNvPr id="33" name="Shape 30"/>
          <p:cNvSpPr/>
          <p:nvPr/>
        </p:nvSpPr>
        <p:spPr>
          <a:xfrm>
            <a:off x="457200" y="1810512"/>
            <a:ext cx="3636264" cy="4498848"/>
          </a:xfrm>
          <a:prstGeom prst="roundRect">
            <a:avLst>
              <a:gd name="adj" fmla="val 2012"/>
            </a:avLst>
          </a:prstGeom>
          <a:solidFill>
            <a:srgbClr val="EEF3FA"/>
          </a:solidFill>
          <a:ln w="9525">
            <a:solidFill>
              <a:srgbClr val="C9D6EA"/>
            </a:solidFill>
            <a:prstDash val="solid"/>
          </a:ln>
        </p:spPr>
      </p:sp>
      <p:sp>
        <p:nvSpPr>
          <p:cNvPr id="34" name="Shape 31"/>
          <p:cNvSpPr/>
          <p:nvPr/>
        </p:nvSpPr>
        <p:spPr>
          <a:xfrm>
            <a:off x="594360" y="1920240"/>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594360"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3 · كُنْتُ / كَانُوا قَدْ</a:t>
            </a:r>
            <a:endParaRPr lang="en-US" sz="950" dirty="0"/>
          </a:p>
        </p:txBody>
      </p:sp>
      <p:sp>
        <p:nvSpPr>
          <p:cNvPr id="36" name="Shape 33"/>
          <p:cNvSpPr/>
          <p:nvPr/>
        </p:nvSpPr>
        <p:spPr>
          <a:xfrm>
            <a:off x="594360" y="2377440"/>
            <a:ext cx="3361944" cy="438912"/>
          </a:xfrm>
          <a:prstGeom prst="roundRect">
            <a:avLst>
              <a:gd name="adj" fmla="val 12500"/>
            </a:avLst>
          </a:prstGeom>
          <a:solidFill>
            <a:srgbClr val="FFF4DC"/>
          </a:solidFill>
          <a:ln w="9525">
            <a:solidFill>
              <a:srgbClr val="E6C98A"/>
            </a:solidFill>
            <a:prstDash val="solid"/>
          </a:ln>
        </p:spPr>
      </p:sp>
      <p:sp>
        <p:nvSpPr>
          <p:cNvPr id="37" name="Text 34"/>
          <p:cNvSpPr txBox="1"/>
          <p:nvPr/>
        </p:nvSpPr>
        <p:spPr>
          <a:xfrm>
            <a:off x="685800"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أَنْهَيْتُ</a:t>
            </a:r>
            <a:endParaRPr lang="ar-SA" sz="1800" dirty="0"/>
          </a:p>
        </p:txBody>
      </p:sp>
      <p:sp>
        <p:nvSpPr>
          <p:cNvPr id="38" name="Shape 35"/>
          <p:cNvSpPr/>
          <p:nvPr/>
        </p:nvSpPr>
        <p:spPr>
          <a:xfrm>
            <a:off x="594360" y="2889504"/>
            <a:ext cx="3361944" cy="438912"/>
          </a:xfrm>
          <a:prstGeom prst="roundRect">
            <a:avLst>
              <a:gd name="adj" fmla="val 12500"/>
            </a:avLst>
          </a:prstGeom>
          <a:solidFill>
            <a:srgbClr val="FFF4DC"/>
          </a:solidFill>
          <a:ln w="9525">
            <a:solidFill>
              <a:srgbClr val="E6C98A"/>
            </a:solidFill>
            <a:prstDash val="solid"/>
          </a:ln>
        </p:spPr>
      </p:sp>
      <p:sp>
        <p:nvSpPr>
          <p:cNvPr id="39" name="Text 36"/>
          <p:cNvSpPr txBox="1"/>
          <p:nvPr/>
        </p:nvSpPr>
        <p:spPr>
          <a:xfrm>
            <a:off x="685800"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تَخَرَّجُوا</a:t>
            </a:r>
            <a:endParaRPr lang="ar-SA" sz="1800" dirty="0"/>
          </a:p>
        </p:txBody>
      </p:sp>
      <p:sp>
        <p:nvSpPr>
          <p:cNvPr id="40" name="Shape 37"/>
          <p:cNvSpPr/>
          <p:nvPr/>
        </p:nvSpPr>
        <p:spPr>
          <a:xfrm>
            <a:off x="594360" y="3401568"/>
            <a:ext cx="3361944" cy="438912"/>
          </a:xfrm>
          <a:prstGeom prst="roundRect">
            <a:avLst>
              <a:gd name="adj" fmla="val 12500"/>
            </a:avLst>
          </a:prstGeom>
          <a:solidFill>
            <a:srgbClr val="FFF4DC"/>
          </a:solidFill>
          <a:ln w="9525">
            <a:solidFill>
              <a:srgbClr val="E6C98A"/>
            </a:solidFill>
            <a:prstDash val="solid"/>
          </a:ln>
        </p:spPr>
      </p:sp>
      <p:sp>
        <p:nvSpPr>
          <p:cNvPr id="41" name="Text 38"/>
          <p:cNvSpPr txBox="1"/>
          <p:nvPr/>
        </p:nvSpPr>
        <p:spPr>
          <a:xfrm>
            <a:off x="685800"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قَرَّرْتُ</a:t>
            </a:r>
            <a:endParaRPr lang="ar-SA" sz="180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27 / 49</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P2-L03 · Grammar</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GUIDED PRACTICE · WEBSITE QUIZ QUESTIONS 4, 5, 6, 8</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P2-L03</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for a plural: ___ </a:t>
            </a:r>
            <a:pPr algn="l" indent="0" marL="0">
              <a:buNone/>
            </a:pPr>
            <a:r>
              <a:rPr lang="ar-SA" altLang="en-US" sz="1650" b="1" dirty="0">
                <a:solidFill>
                  <a:srgbClr val="1B3B6F"/>
                </a:solidFill>
                <a:latin typeface="Amiri" pitchFamily="2" charset="-78"/>
                <a:cs typeface="Amiri" pitchFamily="2" charset="-78"/>
              </a:rPr>
              <a:t>قَدْ تَخَرَّجُوا قَبْلَ الأَزْمَةِ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كَانَ</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كَانَتْ</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كَانُوا</a:t>
            </a:r>
            <a:endParaRPr lang="ar-SA" sz="2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links two past events correctly?</a:t>
            </a:r>
            <a:endParaRPr lang="en-US" sz="125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كَانَ قَدْ يَحْصُلُ عَلَى مِنْحَةٍ قَبْلَ أَنْ يُسَافِرَ.</a:t>
            </a:r>
            <a:endParaRPr lang="ar-SA" sz="20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كَانَ قَدْ حَصَلَ عَلَى مِنْحَةٍ قَبْلَ أَنْ يُسَافِرَ.</a:t>
            </a:r>
            <a:endParaRPr lang="ar-SA" sz="20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كَانَ سَيَحْصُلُ عَلَى مِنْحَةٍ قَبْلَ أَنْ يُسَافِرَ.</a:t>
            </a:r>
            <a:endParaRPr lang="ar-SA" sz="20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46" name="Text 43"/>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47" name="Text 44"/>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cs typeface="Amiri" pitchFamily="2" charset="-78"/>
              </a:rPr>
              <a:t>بِحُلُولِ التَّخَرُّجِ، ___ قَدْ نَشَرَتْ بَحْثَيْنِ.</a:t>
            </a:r>
            <a:endParaRPr lang="ar-SA" sz="1500" dirty="0"/>
          </a:p>
        </p:txBody>
      </p:sp>
      <p:sp>
        <p:nvSpPr>
          <p:cNvPr id="48" name="Shape 45"/>
          <p:cNvSpPr/>
          <p:nvPr/>
        </p:nvSpPr>
        <p:spPr>
          <a:xfrm>
            <a:off x="640080" y="48737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0" name="Text 47"/>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كَانَ</a:t>
            </a:r>
            <a:endParaRPr lang="ar-SA" sz="2050" dirty="0"/>
          </a:p>
        </p:txBody>
      </p:sp>
      <p:sp>
        <p:nvSpPr>
          <p:cNvPr id="51" name="Shape 48"/>
          <p:cNvSpPr/>
          <p:nvPr/>
        </p:nvSpPr>
        <p:spPr>
          <a:xfrm>
            <a:off x="640080" y="53309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3" name="Text 50"/>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كَانَتْ</a:t>
            </a:r>
            <a:endParaRPr lang="ar-SA" sz="2050" dirty="0"/>
          </a:p>
        </p:txBody>
      </p:sp>
      <p:sp>
        <p:nvSpPr>
          <p:cNvPr id="54" name="Shape 51"/>
          <p:cNvSpPr/>
          <p:nvPr/>
        </p:nvSpPr>
        <p:spPr>
          <a:xfrm>
            <a:off x="640080" y="5788152"/>
            <a:ext cx="256032" cy="256032"/>
          </a:xfrm>
          <a:prstGeom prst="ellipse">
            <a:avLst/>
          </a:prstGeom>
          <a:solidFill>
            <a:srgbClr val="F4F1EA"/>
          </a:solidFill>
          <a:ln w="12700">
            <a:solidFill>
              <a:srgbClr val="F4F1EA"/>
            </a:solidFill>
            <a:prstDash val="solid"/>
          </a:ln>
        </p:spPr>
      </p:sp>
      <p:sp>
        <p:nvSpPr>
          <p:cNvPr id="55" name="Text 5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6" name="Text 53"/>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كُنْتُ</a:t>
            </a:r>
            <a:endParaRPr lang="ar-SA" sz="2050" dirty="0"/>
          </a:p>
        </p:txBody>
      </p:sp>
      <p:sp>
        <p:nvSpPr>
          <p:cNvPr id="57" name="Shape 54"/>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6313932" y="4288536"/>
            <a:ext cx="310896" cy="310896"/>
          </a:xfrm>
          <a:prstGeom prst="ellipse">
            <a:avLst/>
          </a:prstGeom>
          <a:solidFill>
            <a:srgbClr val="1B3B6F"/>
          </a:solidFill>
          <a:ln w="12700">
            <a:solidFill>
              <a:srgbClr val="1B3B6F"/>
            </a:solidFill>
            <a:prstDash val="solid"/>
          </a:ln>
        </p:spPr>
      </p:sp>
      <p:sp>
        <p:nvSpPr>
          <p:cNvPr id="59" name="Text 56"/>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60" name="Text 57"/>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shows temporal depth?</a:t>
            </a:r>
            <a:endParaRPr lang="en-US" sz="1250" dirty="0"/>
          </a:p>
        </p:txBody>
      </p:sp>
      <p:sp>
        <p:nvSpPr>
          <p:cNvPr id="61" name="Shape 58"/>
          <p:cNvSpPr/>
          <p:nvPr/>
        </p:nvSpPr>
        <p:spPr>
          <a:xfrm>
            <a:off x="6368796" y="48737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3" name="Text 60"/>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أَنْهَيْتُ المُرَاجَعَةَ وَالامْتِحَانَ.</a:t>
            </a:r>
            <a:endParaRPr lang="ar-SA" sz="2050" dirty="0"/>
          </a:p>
        </p:txBody>
      </p:sp>
      <p:sp>
        <p:nvSpPr>
          <p:cNvPr id="64" name="Shape 61"/>
          <p:cNvSpPr/>
          <p:nvPr/>
        </p:nvSpPr>
        <p:spPr>
          <a:xfrm>
            <a:off x="6368796" y="53309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6" name="Text 63"/>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أُرَاجِعُ لِلِامْتِحَانِ.</a:t>
            </a:r>
            <a:endParaRPr lang="ar-SA" sz="2050" dirty="0"/>
          </a:p>
        </p:txBody>
      </p:sp>
      <p:sp>
        <p:nvSpPr>
          <p:cNvPr id="67" name="Shape 64"/>
          <p:cNvSpPr/>
          <p:nvPr/>
        </p:nvSpPr>
        <p:spPr>
          <a:xfrm>
            <a:off x="6368796" y="5788152"/>
            <a:ext cx="256032" cy="256032"/>
          </a:xfrm>
          <a:prstGeom prst="ellipse">
            <a:avLst/>
          </a:prstGeom>
          <a:solidFill>
            <a:srgbClr val="F4F1EA"/>
          </a:solidFill>
          <a:ln w="12700">
            <a:solidFill>
              <a:srgbClr val="F4F1EA"/>
            </a:solidFill>
            <a:prstDash val="solid"/>
          </a:ln>
        </p:spPr>
      </p:sp>
      <p:sp>
        <p:nvSpPr>
          <p:cNvPr id="68" name="Text 65"/>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9" name="Text 66"/>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كُنْتُ قَدْ أَنْهَيْتُ المُرَاجَعَةَ قَبْلَ الامْتِحَانِ.</a:t>
            </a:r>
            <a:endParaRPr lang="ar-SA" sz="20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28 / 49</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P2-L03 · Grammar</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P2-L03</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for a plural: ___ </a:t>
            </a:r>
            <a:pPr algn="l" indent="0" marL="0">
              <a:buNone/>
            </a:pPr>
            <a:r>
              <a:rPr lang="ar-SA" altLang="en-US" sz="1650" b="1" dirty="0">
                <a:solidFill>
                  <a:srgbClr val="1B3B6F"/>
                </a:solidFill>
                <a:latin typeface="Amiri" pitchFamily="2" charset="-78"/>
                <a:cs typeface="Amiri" pitchFamily="2" charset="-78"/>
              </a:rPr>
              <a:t>قَدْ تَخَرَّجُوا قَبْلَ الأَزْمَةِ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كَانَ</a:t>
            </a:r>
            <a:endParaRPr lang="ar-SA" sz="170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كَانَتْ</a:t>
            </a:r>
            <a:endParaRPr lang="ar-SA" sz="1700" dirty="0"/>
          </a:p>
        </p:txBody>
      </p:sp>
      <p:sp>
        <p:nvSpPr>
          <p:cNvPr id="27" name="Shape 24"/>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23392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30" name="Text 27"/>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كَانُوا</a:t>
            </a:r>
            <a:endParaRPr lang="ar-SA" sz="1700" dirty="0"/>
          </a:p>
        </p:txBody>
      </p:sp>
      <p:sp>
        <p:nvSpPr>
          <p:cNvPr id="31" name="Text 28"/>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كَانُوا</a:t>
            </a:r>
            <a:pPr algn="l" indent="0" marL="0">
              <a:buNone/>
            </a:pPr>
            <a:r>
              <a:rPr lang="en-US" sz="1050" i="1" dirty="0">
                <a:solidFill>
                  <a:srgbClr val="8A6D1E"/>
                </a:solidFill>
                <a:latin typeface="Calibri" pitchFamily="34" charset="0"/>
                <a:cs typeface="Amiri" pitchFamily="2" charset="-78"/>
              </a:rPr>
              <a:t> agrees with the plural subject.</a:t>
            </a:r>
            <a:endParaRPr lang="en-US" sz="1050" dirty="0"/>
          </a:p>
        </p:txBody>
      </p:sp>
      <p:sp>
        <p:nvSpPr>
          <p:cNvPr id="32" name="Shape 29"/>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5" name="Text 32"/>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links two past events correctly?</a:t>
            </a:r>
            <a:endParaRPr lang="en-US" sz="1250" dirty="0"/>
          </a:p>
        </p:txBody>
      </p:sp>
      <p:sp>
        <p:nvSpPr>
          <p:cNvPr id="36" name="Shape 33"/>
          <p:cNvSpPr/>
          <p:nvPr/>
        </p:nvSpPr>
        <p:spPr>
          <a:xfrm>
            <a:off x="6368796"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كَانَ قَدْ يَحْصُلُ عَلَى مِنْحَةٍ قَبْلَ أَنْ يُسَافِرَ.</a:t>
            </a:r>
            <a:endParaRPr lang="ar-SA" sz="1700" dirty="0"/>
          </a:p>
        </p:txBody>
      </p:sp>
      <p:sp>
        <p:nvSpPr>
          <p:cNvPr id="39" name="Shape 36"/>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0" name="Shape 37"/>
          <p:cNvSpPr/>
          <p:nvPr/>
        </p:nvSpPr>
        <p:spPr>
          <a:xfrm>
            <a:off x="6368796" y="2862072"/>
            <a:ext cx="256032" cy="256032"/>
          </a:xfrm>
          <a:prstGeom prst="ellipse">
            <a:avLst/>
          </a:prstGeom>
          <a:solidFill>
            <a:srgbClr val="2E8B57"/>
          </a:solidFill>
          <a:ln w="12700">
            <a:solidFill>
              <a:srgbClr val="2E8B57"/>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كَانَ قَدْ حَصَلَ عَلَى مِنْحَةٍ قَبْلَ أَنْ يُسَافِرَ.</a:t>
            </a:r>
            <a:endParaRPr lang="ar-SA" sz="170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كَانَ سَيَحْصُلُ عَلَى مِنْحَةٍ قَبْلَ أَنْ يُسَافِرَ.</a:t>
            </a:r>
            <a:endParaRPr lang="ar-SA" sz="170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earlier action uses </a:t>
            </a:r>
            <a:pPr algn="l" indent="0" marL="0">
              <a:buNone/>
            </a:pPr>
            <a:r>
              <a:rPr lang="ar-SA" altLang="en-US" sz="1350" dirty="0">
                <a:solidFill>
                  <a:srgbClr val="8A6D1E"/>
                </a:solidFill>
                <a:latin typeface="Amiri" pitchFamily="2" charset="-78"/>
                <a:cs typeface="Amiri" pitchFamily="2" charset="-78"/>
              </a:rPr>
              <a:t>كَانَ قَدْ</a:t>
            </a:r>
            <a:pPr algn="l" indent="0" marL="0">
              <a:buNone/>
            </a:pPr>
            <a:r>
              <a:rPr lang="en-US" sz="1050" i="1" dirty="0">
                <a:solidFill>
                  <a:srgbClr val="8A6D1E"/>
                </a:solidFill>
                <a:latin typeface="Calibri" pitchFamily="34" charset="0"/>
                <a:cs typeface="Amiri" pitchFamily="2" charset="-78"/>
              </a:rPr>
              <a:t> + past.</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50" name="Text 47"/>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51" name="Text 48"/>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cs typeface="Amiri" pitchFamily="2" charset="-78"/>
              </a:rPr>
              <a:t>بِحُلُولِ التَّخَرُّجِ، ___ قَدْ نَشَرَتْ بَحْثَيْنِ.</a:t>
            </a:r>
            <a:endParaRPr lang="ar-SA" sz="1500" dirty="0"/>
          </a:p>
        </p:txBody>
      </p:sp>
      <p:sp>
        <p:nvSpPr>
          <p:cNvPr id="52" name="Shape 49"/>
          <p:cNvSpPr/>
          <p:nvPr/>
        </p:nvSpPr>
        <p:spPr>
          <a:xfrm>
            <a:off x="640080" y="4831080"/>
            <a:ext cx="256032" cy="256032"/>
          </a:xfrm>
          <a:prstGeom prst="ellipse">
            <a:avLst/>
          </a:prstGeom>
          <a:solidFill>
            <a:srgbClr val="C9CED6"/>
          </a:solidFill>
          <a:ln w="12700">
            <a:solidFill>
              <a:srgbClr val="C9CED6"/>
            </a:solidFill>
            <a:prstDash val="solid"/>
          </a:ln>
        </p:spPr>
      </p:sp>
      <p:sp>
        <p:nvSpPr>
          <p:cNvPr id="53" name="Text 50"/>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4" name="Text 51"/>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كَانَ</a:t>
            </a:r>
            <a:endParaRPr lang="ar-SA" sz="1700" dirty="0"/>
          </a:p>
        </p:txBody>
      </p:sp>
      <p:sp>
        <p:nvSpPr>
          <p:cNvPr id="55" name="Shape 52"/>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640080" y="5202936"/>
            <a:ext cx="256032" cy="256032"/>
          </a:xfrm>
          <a:prstGeom prst="ellipse">
            <a:avLst/>
          </a:prstGeom>
          <a:solidFill>
            <a:srgbClr val="2E8B57"/>
          </a:solidFill>
          <a:ln w="12700">
            <a:solidFill>
              <a:srgbClr val="2E8B57"/>
            </a:solidFill>
            <a:prstDash val="solid"/>
          </a:ln>
        </p:spPr>
      </p:sp>
      <p:sp>
        <p:nvSpPr>
          <p:cNvPr id="57" name="Text 54"/>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8" name="Text 55"/>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كَانَتْ</a:t>
            </a:r>
            <a:endParaRPr lang="ar-SA" sz="1700" dirty="0"/>
          </a:p>
        </p:txBody>
      </p:sp>
      <p:sp>
        <p:nvSpPr>
          <p:cNvPr id="59" name="Shape 56"/>
          <p:cNvSpPr/>
          <p:nvPr/>
        </p:nvSpPr>
        <p:spPr>
          <a:xfrm>
            <a:off x="640080" y="5574792"/>
            <a:ext cx="256032" cy="256032"/>
          </a:xfrm>
          <a:prstGeom prst="ellipse">
            <a:avLst/>
          </a:prstGeom>
          <a:solidFill>
            <a:srgbClr val="C9CED6"/>
          </a:solidFill>
          <a:ln w="12700">
            <a:solidFill>
              <a:srgbClr val="C9CED6"/>
            </a:solidFill>
            <a:prstDash val="solid"/>
          </a:ln>
        </p:spPr>
      </p:sp>
      <p:sp>
        <p:nvSpPr>
          <p:cNvPr id="60" name="Text 57"/>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1" name="Text 58"/>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كُنْتُ</a:t>
            </a:r>
            <a:endParaRPr lang="ar-SA" sz="1700" dirty="0"/>
          </a:p>
        </p:txBody>
      </p:sp>
      <p:sp>
        <p:nvSpPr>
          <p:cNvPr id="62" name="Text 59"/>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كَانَتْ</a:t>
            </a:r>
            <a:pPr algn="l" indent="0" marL="0">
              <a:buNone/>
            </a:pPr>
            <a:r>
              <a:rPr lang="en-US" sz="1050" i="1" dirty="0">
                <a:solidFill>
                  <a:srgbClr val="8A6D1E"/>
                </a:solidFill>
                <a:latin typeface="Calibri" pitchFamily="34" charset="0"/>
                <a:cs typeface="Amiri" pitchFamily="2" charset="-78"/>
              </a:rPr>
              <a:t> agrees with the feminine subject.</a:t>
            </a:r>
            <a:endParaRPr lang="en-US" sz="1050" dirty="0"/>
          </a:p>
        </p:txBody>
      </p:sp>
      <p:sp>
        <p:nvSpPr>
          <p:cNvPr id="63" name="Shape 60"/>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6313932" y="4288536"/>
            <a:ext cx="310896" cy="310896"/>
          </a:xfrm>
          <a:prstGeom prst="ellipse">
            <a:avLst/>
          </a:prstGeom>
          <a:solidFill>
            <a:srgbClr val="1B3B6F"/>
          </a:solidFill>
          <a:ln w="12700">
            <a:solidFill>
              <a:srgbClr val="1B3B6F"/>
            </a:solidFill>
            <a:prstDash val="solid"/>
          </a:ln>
        </p:spPr>
      </p:sp>
      <p:sp>
        <p:nvSpPr>
          <p:cNvPr id="65" name="Text 62"/>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66" name="Text 63"/>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shows temporal depth?</a:t>
            </a:r>
            <a:endParaRPr lang="en-US" sz="1250" dirty="0"/>
          </a:p>
        </p:txBody>
      </p:sp>
      <p:sp>
        <p:nvSpPr>
          <p:cNvPr id="67" name="Shape 64"/>
          <p:cNvSpPr/>
          <p:nvPr/>
        </p:nvSpPr>
        <p:spPr>
          <a:xfrm>
            <a:off x="6368796" y="4831080"/>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9" name="Text 66"/>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أَنْهَيْتُ المُرَاجَعَةَ وَالامْتِحَانَ.</a:t>
            </a:r>
            <a:endParaRPr lang="ar-SA" sz="1700" dirty="0"/>
          </a:p>
        </p:txBody>
      </p:sp>
      <p:sp>
        <p:nvSpPr>
          <p:cNvPr id="70" name="Shape 67"/>
          <p:cNvSpPr/>
          <p:nvPr/>
        </p:nvSpPr>
        <p:spPr>
          <a:xfrm>
            <a:off x="6368796" y="5202936"/>
            <a:ext cx="256032" cy="256032"/>
          </a:xfrm>
          <a:prstGeom prst="ellipse">
            <a:avLst/>
          </a:prstGeom>
          <a:solidFill>
            <a:srgbClr val="C9CED6"/>
          </a:solidFill>
          <a:ln w="12700">
            <a:solidFill>
              <a:srgbClr val="C9CED6"/>
            </a:solidFill>
            <a:prstDash val="solid"/>
          </a:ln>
        </p:spPr>
      </p:sp>
      <p:sp>
        <p:nvSpPr>
          <p:cNvPr id="71" name="Text 68"/>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2" name="Text 69"/>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أُرَاجِعُ لِلِامْتِحَانِ.</a:t>
            </a:r>
            <a:endParaRPr lang="ar-SA" sz="1700" dirty="0"/>
          </a:p>
        </p:txBody>
      </p:sp>
      <p:sp>
        <p:nvSpPr>
          <p:cNvPr id="73" name="Shape 70"/>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4" name="Shape 71"/>
          <p:cNvSpPr/>
          <p:nvPr/>
        </p:nvSpPr>
        <p:spPr>
          <a:xfrm>
            <a:off x="6368796" y="5574792"/>
            <a:ext cx="256032" cy="256032"/>
          </a:xfrm>
          <a:prstGeom prst="ellipse">
            <a:avLst/>
          </a:prstGeom>
          <a:solidFill>
            <a:srgbClr val="2E8B57"/>
          </a:solidFill>
          <a:ln w="12700">
            <a:solidFill>
              <a:srgbClr val="2E8B57"/>
            </a:solidFill>
            <a:prstDash val="solid"/>
          </a:ln>
        </p:spPr>
      </p:sp>
      <p:sp>
        <p:nvSpPr>
          <p:cNvPr id="75" name="Text 72"/>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6" name="Text 73"/>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كُنْتُ قَدْ أَنْهَيْتُ المُرَاجَعَةَ قَبْلَ الامْتِحَانِ.</a:t>
            </a:r>
            <a:endParaRPr lang="ar-SA" sz="1700" dirty="0"/>
          </a:p>
        </p:txBody>
      </p:sp>
      <p:sp>
        <p:nvSpPr>
          <p:cNvPr id="77" name="Text 74"/>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It places one past action before another with </a:t>
            </a:r>
            <a:pPr algn="l" indent="0" marL="0">
              <a:buNone/>
            </a:pPr>
            <a:r>
              <a:rPr lang="ar-SA" altLang="en-US" sz="1350" dirty="0">
                <a:solidFill>
                  <a:srgbClr val="8A6D1E"/>
                </a:solidFill>
                <a:latin typeface="Amiri" pitchFamily="2" charset="-78"/>
                <a:cs typeface="Amiri" pitchFamily="2" charset="-78"/>
              </a:rPr>
              <a:t>كَانَ قَدْ</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29 / 49</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P2-L03 · Grammar</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P2-L03</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cs typeface="Amiri" pitchFamily="2" charset="-78"/>
              </a:rPr>
              <a:t>كَانَ قَدْ يَدْرُسُ فِي القَاهِرَةِ.</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After qad: past or present?</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cs typeface="Amiri" pitchFamily="2" charset="-78"/>
              </a:rPr>
              <a:t>كَانَ قَدْ حَصَلَتْ عَلَى مِنْحَةٍ.</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A girl: kāna or kānat?</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cs typeface="Amiri" pitchFamily="2" charset="-78"/>
              </a:rPr>
              <a:t>كُنْتُ قَدْ أَنْهَيْتُ بَحْثِي قَبْلَ أَنْ بَدَأْتُ العَمَلَ.</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After qabla an: past or subjunctive?</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30 / 49</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P2-L03 · Grammar</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P2-L03</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كَانَ قَدْ يَدْرُسُ فِي القَاهِرَةِ.</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cs typeface="Amiri" pitchFamily="2" charset="-78"/>
              </a:rPr>
              <a:t>كَانَ قَدْ دَرَسَ فِي القَاهِرَةِ.</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The verb after </a:t>
            </a:r>
            <a:pPr algn="l" indent="0" marL="0">
              <a:buNone/>
            </a:pPr>
            <a:r>
              <a:rPr lang="ar-SA" altLang="en-US" sz="1500" b="1" dirty="0">
                <a:solidFill>
                  <a:srgbClr val="1B3B6F"/>
                </a:solidFill>
                <a:latin typeface="Amiri" pitchFamily="2" charset="-78"/>
                <a:cs typeface="Amiri" pitchFamily="2" charset="-78"/>
              </a:rPr>
              <a:t>قَدْ</a:t>
            </a:r>
            <a:pPr algn="l" indent="0" marL="0">
              <a:buNone/>
            </a:pPr>
            <a:r>
              <a:rPr lang="en-US" sz="1150" b="1" dirty="0">
                <a:solidFill>
                  <a:srgbClr val="1B3B6F"/>
                </a:solidFill>
                <a:latin typeface="Calibri" pitchFamily="34" charset="0"/>
                <a:cs typeface="Amiri" pitchFamily="2" charset="-78"/>
              </a:rPr>
              <a:t> must be past.</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كَانَ قَدْ حَصَلَتْ عَلَى مِنْحَةٍ.</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cs typeface="Amiri" pitchFamily="2" charset="-78"/>
              </a:rPr>
              <a:t>كَانَتْ قَدْ حَصَلَتْ عَلَى مِنْحَةٍ.</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2" charset="-78"/>
                <a:cs typeface="Amiri" pitchFamily="2" charset="-78"/>
              </a:rPr>
              <a:t>كَانَ</a:t>
            </a:r>
            <a:pPr algn="l" indent="0" marL="0">
              <a:buNone/>
            </a:pPr>
            <a:r>
              <a:rPr lang="en-US" sz="1150" b="1" dirty="0">
                <a:solidFill>
                  <a:srgbClr val="1B3B6F"/>
                </a:solidFill>
                <a:latin typeface="Calibri" pitchFamily="34" charset="0"/>
                <a:cs typeface="Amiri" pitchFamily="2" charset="-78"/>
              </a:rPr>
              <a:t> must agree with the feminine subject: </a:t>
            </a:r>
            <a:pPr algn="l" indent="0" marL="0">
              <a:buNone/>
            </a:pPr>
            <a:r>
              <a:rPr lang="ar-SA" altLang="en-US" sz="1500" b="1" dirty="0">
                <a:solidFill>
                  <a:srgbClr val="1B3B6F"/>
                </a:solidFill>
                <a:latin typeface="Amiri" pitchFamily="2" charset="-78"/>
                <a:cs typeface="Amiri" pitchFamily="2" charset="-78"/>
              </a:rPr>
              <a:t>كَانَتْ</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lnSpc>
                <a:spcPct val="120000"/>
              </a:lnSpc>
              <a:buNone/>
            </a:pPr>
            <a:r>
              <a:rPr lang="ar-SA" altLang="en-US" sz="1800" b="1" dirty="0">
                <a:solidFill>
                  <a:srgbClr val="B83227"/>
                </a:solidFill>
                <a:latin typeface="Amiri" pitchFamily="2" charset="-78"/>
                <a:cs typeface="Amiri" pitchFamily="2" charset="-78"/>
              </a:rPr>
              <a:t>كُنْتُ قَدْ أَنْهَيْتُ بَحْثِي قَبْلَ أَنْ بَدَأْتُ العَمَلَ.</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cs typeface="Amiri" pitchFamily="2" charset="-78"/>
              </a:rPr>
              <a:t>كُنْتُ قَدْ أَنْهَيْتُ بَحْثِي قَبْلَ أَنْ أَبْدَأَ العَمَلَ.</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2" charset="-78"/>
                <a:cs typeface="Amiri" pitchFamily="2" charset="-78"/>
              </a:rPr>
              <a:t>قَبْلَ أَنْ</a:t>
            </a:r>
            <a:pPr algn="l" indent="0" marL="0">
              <a:buNone/>
            </a:pPr>
            <a:r>
              <a:rPr lang="en-US" sz="1150" b="1" dirty="0">
                <a:solidFill>
                  <a:srgbClr val="1B3B6F"/>
                </a:solidFill>
                <a:latin typeface="Calibri" pitchFamily="34" charset="0"/>
                <a:cs typeface="Amiri" pitchFamily="2" charset="-78"/>
              </a:rPr>
              <a:t> is followed by a subjunctive, not a past verb.</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31 / 49</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P2-L03 · Grammar</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Listening: a graduate's journey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had Layla decided by the end of secondary school?</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To study medicine</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To leave school</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To travel</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had she done before enrolling at university?</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Nothing</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Started working</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Completed a biology research project</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had her classmate done before the term began?</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Failed an exam</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Changed subject</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Obtained a scholarship</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had her brother done before choosing a specialism?</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Worked for a full year</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Graduated</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Travelled abroad</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did she realise about independence and pressure?</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They do not matter</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They are no less important than study itself</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They are the only thing that matters</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2" name="Text 7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83" name="Text 8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Listen twice. Core: questions 1, 2 and 3.</a:t>
            </a:r>
            <a:endParaRPr lang="en-US" sz="1250" dirty="0"/>
          </a:p>
          <a:p>
            <a:pPr algn="l" indent="0" marL="0">
              <a:buNone/>
            </a:pPr>
            <a:r>
              <a:rPr lang="en-US" sz="1250" dirty="0">
                <a:solidFill>
                  <a:srgbClr val="1E6B52"/>
                </a:solidFill>
                <a:latin typeface="Calibri" pitchFamily="34" charset="0"/>
                <a:cs typeface="Amiri" pitchFamily="2" charset="-78"/>
              </a:rPr>
              <a:t>Listen for: kuntu qad · kānat qad · kāna qad.</a:t>
            </a:r>
            <a:endParaRPr lang="en-US" sz="12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32 / 49</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P2-L03 · Grammar</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P2-L03</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تَقُولُ لَيْلَى: بِحُلُولِ نِهَايَةِ المَرْحَلَةِ الثَّانَوِيَّةِ، كُنْتُ قَدْ قَرَّرْتُ دِرَاسَةَ الطِّبِّ.</a:t>
            </a:r>
            <a:endParaRPr lang="ar-SA" sz="200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Layla says: by the end of secondary school, I had decided to study medicine.</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كُنْتُ قَدْ أَنْجَزْتُ مَشْرُوعًا بَحْثِيًّا فِي عِلْمِ الأَحْيَاءِ قَبْلَ أَنْ أَلْتَحِقَ بِالجَامِعَةِ.</a:t>
            </a:r>
            <a:endParaRPr lang="ar-SA" sz="200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 had completed a biology research project before I enrolled at university.</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lnSpc>
                <a:spcPct val="120000"/>
              </a:lnSpc>
              <a:buNone/>
            </a:pPr>
            <a:r>
              <a:rPr lang="ar-SA" altLang="en-US" sz="1550" b="1" dirty="0">
                <a:solidFill>
                  <a:srgbClr val="1B3B6F"/>
                </a:solidFill>
                <a:latin typeface="Amiri" pitchFamily="2" charset="-78"/>
                <a:cs typeface="Amiri" pitchFamily="2" charset="-78"/>
              </a:rPr>
              <a:t>وَفِي السَّنَةِ الأُولَى، كَانَتْ زَمِيلَتِي قَدْ حَصَلَتْ عَلَى مِنْحَةٍ دِرَاسِيَّةٍ قَبْلَ أَنْ تَبْدَأَ الفَصْلَ. أَمَّا أَخِي فَكَانَ قَدْ عَمِلَ سَنَةً كَامِلَةً قَبْلَ أَنْ يُقَرِّرَ التَّخَصُّصَ.</a:t>
            </a:r>
            <a:endParaRPr lang="ar-SA" sz="155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 the first year, my classmate had obtained a scholarship before the term began. My brother had worked a full year before deciding on a specialism.</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وَبِحُلُولِ التَّخَرُّجِ، كُنَّا قَدْ حَضَرْنَا عَشَرَاتِ المُحَاضَرَاتِ وَالنَّدَوَاتِ.</a:t>
            </a:r>
            <a:endParaRPr lang="ar-SA" sz="200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By graduation, we had attended dozens of lectures and seminars.</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lnSpc>
                <a:spcPct val="120000"/>
              </a:lnSpc>
              <a:buNone/>
            </a:pPr>
            <a:r>
              <a:rPr lang="ar-SA" altLang="en-US" sz="1600" b="1" dirty="0">
                <a:solidFill>
                  <a:srgbClr val="1B3B6F"/>
                </a:solidFill>
                <a:latin typeface="Amiri" pitchFamily="2" charset="-78"/>
                <a:cs typeface="Amiri" pitchFamily="2" charset="-78"/>
              </a:rPr>
              <a:t>أَدْرَكْتُ حِينَهَا أَنَّ الاسْتِقْلَالِيَّةَ وَإِدَارَةَ الضَّغْطِ الأَكَادِيمِيِّ لَا تَقِلَّانِ أَهَمِّيَّةً عَنِ الدِّرَاسَةِ نَفْسِهَا.</a:t>
            </a:r>
            <a:endParaRPr lang="ar-SA" sz="160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 realised then that independence and managing academic pressure are no less important than the studying itself.</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33 / 49</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P2-L03 · Grammar</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had Layla decided by the end of secondary school?</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To study medicine</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To leave school</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To travel</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كُنْتُ قَدْ قَرَّرْتُ دِرَاسَةَ الطِّبِّ.</a:t>
            </a:r>
            <a:endParaRPr lang="ar-SA" sz="13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had she done before enrolling at university?</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Nothing</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Started working</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Completed a biology research project</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cs typeface="Amiri" pitchFamily="2" charset="-78"/>
              </a:rPr>
              <a:t>كُنْتُ قَدْ أَنْجَزْتُ مَشْرُوعًا بَحْثِيًّا … قَبْلَ أَنْ أَلْتَحِقَ بِالجَامِعَةِ.</a:t>
            </a:r>
            <a:endParaRPr lang="ar-SA" sz="130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had her classmate done before the term began?</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Failed an exam</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Changed subject</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Obtained a scholarship</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كَانَتْ زَمِيلَتِي قَدْ حَصَلَتْ عَلَى مِنْحَةٍ … قَبْلَ أَنْ تَبْدَأَ الفَصْلَ.</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had her brother done before choosing a specialism?</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Worked for a full year</a:t>
            </a:r>
            <a:endParaRPr lang="en-US" sz="12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Graduated</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Travelled abroad</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كَانَ قَدْ عَمِلَ سَنَةً كَامِلَةً قَبْلَ أَنْ يُقَرِّرَ التَّخَصُّصَ.</a:t>
            </a:r>
            <a:endParaRPr lang="ar-SA" sz="13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did she realise about independence and pressure?</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They do not matter</a:t>
            </a:r>
            <a:endParaRPr lang="en-US" sz="125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They are no less important than study itself</a:t>
            </a:r>
            <a:endParaRPr lang="en-US" sz="11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They are the only thing that matters</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لَا تَقِلَّانِ أَهَمِّيَّةً عَنِ الدِّرَاسَةِ نَفْسِهَا.</a:t>
            </a:r>
            <a:endParaRPr lang="ar-SA" sz="13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2" name="Text 8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93" name="Text 9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Listen twice. Core: questions 1, 2 and 3.</a:t>
            </a:r>
            <a:endParaRPr lang="en-US" sz="1250" dirty="0"/>
          </a:p>
          <a:p>
            <a:pPr algn="l" indent="0" marL="0">
              <a:buNone/>
            </a:pPr>
            <a:r>
              <a:rPr lang="en-US" sz="1250" dirty="0">
                <a:solidFill>
                  <a:srgbClr val="1E6B52"/>
                </a:solidFill>
                <a:latin typeface="Calibri" pitchFamily="34" charset="0"/>
                <a:cs typeface="Amiri" pitchFamily="2" charset="-78"/>
              </a:rPr>
              <a:t>Listen for: kuntu qad · kānat qad · kāna qad.</a:t>
            </a:r>
            <a:endParaRPr lang="en-US" sz="12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34 / 49</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P2-L03 · Grammar</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00" b="1" dirty="0">
                <a:solidFill>
                  <a:srgbClr val="1B3B6F"/>
                </a:solidFill>
                <a:latin typeface="Cambria" pitchFamily="34" charset="0"/>
                <a:cs typeface="Amiri" pitchFamily="2" charset="-78"/>
              </a:rPr>
              <a:t>Speaking: your educational timeline</a:t>
            </a:r>
            <a:endParaRPr lang="en-US" sz="27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P2-L03</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Think</a:t>
            </a:r>
            <a:endParaRPr lang="en-US" sz="1050" dirty="0"/>
          </a:p>
          <a:p>
            <a:pPr indent="0" marL="0">
              <a:buNone/>
            </a:pPr>
            <a:r>
              <a:rPr lang="en-US" sz="950" dirty="0">
                <a:solidFill>
                  <a:srgbClr val="5A6472"/>
                </a:solidFill>
                <a:latin typeface="Calibri" pitchFamily="34" charset="0"/>
                <a:cs typeface="Amiri" pitchFamily="2" charset="-78"/>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Rehearse</a:t>
            </a:r>
            <a:endParaRPr lang="en-US" sz="1050" dirty="0"/>
          </a:p>
          <a:p>
            <a:pPr indent="0" marL="0">
              <a:buNone/>
            </a:pPr>
            <a:r>
              <a:rPr lang="en-US" sz="950" dirty="0">
                <a:solidFill>
                  <a:srgbClr val="5A6472"/>
                </a:solidFill>
                <a:latin typeface="Calibri" pitchFamily="34" charset="0"/>
                <a:cs typeface="Amiri" pitchFamily="2" charset="-78"/>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Pairs share</a:t>
            </a:r>
            <a:endParaRPr lang="en-US" sz="1050" dirty="0"/>
          </a:p>
          <a:p>
            <a:pPr indent="0" marL="0">
              <a:buNone/>
            </a:pPr>
            <a:r>
              <a:rPr lang="en-US" sz="950" dirty="0">
                <a:solidFill>
                  <a:srgbClr val="5A6472"/>
                </a:solidFill>
                <a:latin typeface="Calibri" pitchFamily="34" charset="0"/>
                <a:cs typeface="Amiri" pitchFamily="2" charset="-78"/>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Build / ask</a:t>
            </a:r>
            <a:endParaRPr lang="en-US" sz="1050" dirty="0"/>
          </a:p>
          <a:p>
            <a:pPr indent="0" marL="0">
              <a:buNone/>
            </a:pPr>
            <a:r>
              <a:rPr lang="en-US" sz="950" dirty="0">
                <a:solidFill>
                  <a:srgbClr val="5A6472"/>
                </a:solidFill>
                <a:latin typeface="Calibri" pitchFamily="34" charset="0"/>
                <a:cs typeface="Amiri" pitchFamily="2" charset="-78"/>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Summarise</a:t>
            </a:r>
            <a:endParaRPr lang="en-US" sz="1050" dirty="0"/>
          </a:p>
          <a:p>
            <a:pPr indent="0" marL="0">
              <a:buNone/>
            </a:pPr>
            <a:r>
              <a:rPr lang="en-US" sz="950" dirty="0">
                <a:solidFill>
                  <a:srgbClr val="5A6472"/>
                </a:solidFill>
                <a:latin typeface="Calibri" pitchFamily="34" charset="0"/>
                <a:cs typeface="Amiri" pitchFamily="2" charset="-78"/>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مَاذَا كُنْتَ قَدْ حَقَّقْتَ بِحُلُولِ نِهَايَةِ الثَّانَوِيَّةِ؟</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مَاذَا كُنْتَ قَدْ فَعَلْتَ قَبْلَ أَنْ تَخْتَارَ تَخَصُّصَكَ؟</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B83227"/>
          </a:solidFill>
          <a:ln w="12700">
            <a:solidFill>
              <a:srgbClr val="B83227"/>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كَيْفَ تَتَعَامَلُ مَعَ الضَّغْطِ الأَكَادِيمِيِّ؟</a:t>
            </a:r>
            <a:endParaRPr lang="ar-SA" sz="1800" dirty="0"/>
          </a:p>
        </p:txBody>
      </p:sp>
      <p:sp>
        <p:nvSpPr>
          <p:cNvPr id="42" name="Shape 39"/>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SENTENCE STEMS</a:t>
            </a:r>
            <a:endParaRPr lang="en-US" sz="1000" dirty="0"/>
          </a:p>
        </p:txBody>
      </p:sp>
      <p:sp>
        <p:nvSpPr>
          <p:cNvPr id="44" name="Shape 41"/>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6" name="Text 43"/>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2" charset="-78"/>
                <a:cs typeface="Amiri" pitchFamily="2" charset="-78"/>
              </a:rPr>
              <a:t>بِحُلُولِ نِهَايَةِ ___ ، كُنْتُ قَدْ ___ .</a:t>
            </a:r>
            <a:endParaRPr lang="ar-SA" sz="1600" dirty="0"/>
          </a:p>
        </p:txBody>
      </p:sp>
      <p:sp>
        <p:nvSpPr>
          <p:cNvPr id="47" name="Shape 44"/>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48" name="Text 45"/>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49" name="Text 46"/>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cs typeface="Amiri" pitchFamily="2" charset="-78"/>
              </a:rPr>
              <a:t>كُنْتُ قَدْ ___ قَبْلَ أَنْ ___ .</a:t>
            </a:r>
            <a:endParaRPr lang="ar-SA" sz="1600" dirty="0"/>
          </a:p>
        </p:txBody>
      </p:sp>
      <p:sp>
        <p:nvSpPr>
          <p:cNvPr id="50" name="Shape 47"/>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1" name="Text 48"/>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52" name="Text 49"/>
          <p:cNvSpPr txBox="1"/>
          <p:nvPr/>
        </p:nvSpPr>
        <p:spPr>
          <a:xfrm>
            <a:off x="1783080" y="3968496"/>
            <a:ext cx="2697480" cy="557784"/>
          </a:xfrm>
          <a:prstGeom prst="rect">
            <a:avLst/>
          </a:prstGeom>
          <a:noFill/>
          <a:ln/>
        </p:spPr>
        <p:txBody>
          <a:bodyPr wrap="square" lIns="0" tIns="0" rIns="0" bIns="0" rtlCol="0" anchor="ctr"/>
          <a:lstStyle/>
          <a:p>
            <a:pPr rtl="1" algn="r" indent="0" marL="0">
              <a:lnSpc>
                <a:spcPct val="120000"/>
              </a:lnSpc>
              <a:buNone/>
            </a:pPr>
            <a:r>
              <a:rPr lang="ar-SA" altLang="en-US" sz="1050" b="1" dirty="0">
                <a:solidFill>
                  <a:srgbClr val="1F2A37"/>
                </a:solidFill>
                <a:latin typeface="Amiri" pitchFamily="2" charset="-78"/>
                <a:cs typeface="Amiri" pitchFamily="2" charset="-78"/>
              </a:rPr>
              <a:t>أُعَانِي مِنَ الضَّغْطِ أَحْيَانًا، لٰكِنْ إِذَا ___ ، سَأَتَغَلَّبُ عَلَيْهِ.</a:t>
            </a:r>
            <a:endParaRPr lang="ar-SA" sz="1050" dirty="0"/>
          </a:p>
        </p:txBody>
      </p:sp>
      <p:sp>
        <p:nvSpPr>
          <p:cNvPr id="53" name="Shape 50"/>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54" name="Text 51"/>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cs typeface="Amiri" pitchFamily="2" charset="-78"/>
              </a:rPr>
              <a:t>MODEL (WEBSITE)</a:t>
            </a:r>
            <a:endParaRPr lang="en-US" sz="950" dirty="0"/>
          </a:p>
        </p:txBody>
      </p:sp>
      <p:sp>
        <p:nvSpPr>
          <p:cNvPr id="55" name="Shape 52"/>
          <p:cNvSpPr/>
          <p:nvPr/>
        </p:nvSpPr>
        <p:spPr>
          <a:xfrm>
            <a:off x="11274552" y="5559552"/>
            <a:ext cx="292608" cy="292608"/>
          </a:xfrm>
          <a:prstGeom prst="ellipse">
            <a:avLst/>
          </a:prstGeom>
          <a:solidFill>
            <a:srgbClr val="1E6B52"/>
          </a:solidFill>
          <a:ln w="12700">
            <a:solidFill>
              <a:srgbClr val="1E6B52"/>
            </a:solidFill>
            <a:prstDash val="solid"/>
          </a:ln>
        </p:spPr>
      </p:sp>
      <p:sp>
        <p:nvSpPr>
          <p:cNvPr id="56" name="Text 53"/>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57" name="Text 54"/>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cs typeface="Amiri" pitchFamily="2" charset="-78"/>
              </a:rPr>
              <a:t>مَاذَا كُنْتَ قَدْ حَقَّقْتَ بِحُلُولِ نِهَايَةِ الثَّانَوِيَّةِ؟</a:t>
            </a:r>
            <a:endParaRPr lang="ar-SA" sz="1550" dirty="0"/>
          </a:p>
        </p:txBody>
      </p:sp>
      <p:sp>
        <p:nvSpPr>
          <p:cNvPr id="58" name="Text 55"/>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What had you achieved by the end of secondary school?</a:t>
            </a:r>
            <a:endParaRPr lang="en-US" sz="950" dirty="0"/>
          </a:p>
        </p:txBody>
      </p:sp>
      <p:sp>
        <p:nvSpPr>
          <p:cNvPr id="59" name="Shape 56"/>
          <p:cNvSpPr/>
          <p:nvPr/>
        </p:nvSpPr>
        <p:spPr>
          <a:xfrm>
            <a:off x="11274552" y="5925312"/>
            <a:ext cx="292608" cy="292608"/>
          </a:xfrm>
          <a:prstGeom prst="ellipse">
            <a:avLst/>
          </a:prstGeom>
          <a:solidFill>
            <a:srgbClr val="1E6B52"/>
          </a:solidFill>
          <a:ln w="12700">
            <a:solidFill>
              <a:srgbClr val="1E6B52"/>
            </a:solidFill>
            <a:prstDash val="solid"/>
          </a:ln>
        </p:spPr>
      </p:sp>
      <p:sp>
        <p:nvSpPr>
          <p:cNvPr id="60" name="Text 57"/>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61" name="Text 58"/>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cs typeface="Amiri" pitchFamily="2" charset="-78"/>
              </a:rPr>
              <a:t>بِحُلُولِ نِهَايَةِ الثَّانَوِيَّةِ، كُنْتُ قَدْ أَنْجَزْتُ مَشْرُوعًا بَحْثِيًّا وَقَرَّرْتُ تَخَصُّصِي.</a:t>
            </a:r>
            <a:endParaRPr lang="ar-SA" sz="1550" dirty="0"/>
          </a:p>
        </p:txBody>
      </p:sp>
      <p:sp>
        <p:nvSpPr>
          <p:cNvPr id="62" name="Text 59"/>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750" i="1" dirty="0">
                <a:solidFill>
                  <a:srgbClr val="5A6472"/>
                </a:solidFill>
                <a:latin typeface="Calibri" pitchFamily="34" charset="0"/>
                <a:cs typeface="Amiri" pitchFamily="2" charset="-78"/>
              </a:rPr>
              <a:t>By the end of secondary school, I had completed a research project and decided on my specialism.</a:t>
            </a:r>
            <a:endParaRPr lang="en-US" sz="7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35 / 49</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P2-L03 · Grammar</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P2-L03</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2" charset="-78"/>
                <a:cs typeface="Amiri" pitchFamily="2" charset="-78"/>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cs typeface="Amiri" pitchFamily="2" charset="-78"/>
              </a:rPr>
              <a:t>5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Write five past-perfect sentences with correct </a:t>
            </a:r>
            <a:pPr algn="l" indent="0" marL="0">
              <a:buNone/>
            </a:pPr>
            <a:r>
              <a:rPr lang="ar-SA" altLang="en-US" sz="1800" b="1" dirty="0">
                <a:solidFill>
                  <a:srgbClr val="1F2A37"/>
                </a:solidFill>
                <a:latin typeface="Amiri" pitchFamily="2" charset="-78"/>
                <a:cs typeface="Amiri" pitchFamily="2" charset="-78"/>
              </a:rPr>
              <a:t>كَانَ</a:t>
            </a:r>
            <a:pPr algn="l" indent="0" marL="0">
              <a:buNone/>
            </a:pPr>
            <a:r>
              <a:rPr lang="en-US" sz="1400" b="1" dirty="0">
                <a:solidFill>
                  <a:srgbClr val="1F2A37"/>
                </a:solidFill>
                <a:latin typeface="Calibri" pitchFamily="34" charset="0"/>
                <a:cs typeface="Amiri" pitchFamily="2" charset="-78"/>
              </a:rPr>
              <a:t> agreement.</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Website Core: five past-perfect sentences with correct kāna agreement.</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2" charset="-78"/>
                <a:cs typeface="Amiri" pitchFamily="2" charset="-78"/>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cs typeface="Amiri" pitchFamily="2" charset="-78"/>
              </a:rPr>
              <a:t>60–80 words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Link two of them to a later action with </a:t>
            </a:r>
            <a:pPr algn="l" indent="0" marL="0">
              <a:buNone/>
            </a:pPr>
            <a:r>
              <a:rPr lang="ar-SA" altLang="en-US" sz="1800" b="1" dirty="0">
                <a:solidFill>
                  <a:srgbClr val="1F2A37"/>
                </a:solidFill>
                <a:latin typeface="Amiri" pitchFamily="2" charset="-78"/>
                <a:cs typeface="Amiri" pitchFamily="2" charset="-78"/>
              </a:rPr>
              <a:t>قَبْلَ أَنْ</a:t>
            </a:r>
            <a:pPr algn="l" indent="0" marL="0">
              <a:buNone/>
            </a:pPr>
            <a:r>
              <a:rPr lang="en-US" sz="1400" b="1" dirty="0">
                <a:solidFill>
                  <a:srgbClr val="1F2A37"/>
                </a:solidFill>
                <a:latin typeface="Calibri" pitchFamily="34" charset="0"/>
                <a:cs typeface="Amiri" pitchFamily="2" charset="-78"/>
              </a:rPr>
              <a:t> or </a:t>
            </a:r>
            <a:pPr algn="l" indent="0" marL="0">
              <a:buNone/>
            </a:pPr>
            <a:r>
              <a:rPr lang="ar-SA" altLang="en-US" sz="1800" b="1" dirty="0">
                <a:solidFill>
                  <a:srgbClr val="1F2A37"/>
                </a:solidFill>
                <a:latin typeface="Amiri" pitchFamily="2" charset="-78"/>
                <a:cs typeface="Amiri" pitchFamily="2" charset="-78"/>
              </a:rPr>
              <a:t>بِحُلُولِ</a:t>
            </a:r>
            <a:pPr algn="l" indent="0" marL="0">
              <a:buNone/>
            </a:pPr>
            <a:r>
              <a:rPr lang="en-US" sz="1400" b="1" dirty="0">
                <a:solidFill>
                  <a:srgbClr val="1F2A37"/>
                </a:solidFill>
                <a:latin typeface="Calibri" pitchFamily="34" charset="0"/>
                <a:cs typeface="Amiri" pitchFamily="2" charset="-78"/>
              </a:rPr>
              <a:t>.</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Website Develop: link two of them to a later action with qabla an or bi-ḥulūli.</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cs typeface="Amiri" pitchFamily="2" charset="-78"/>
              </a:rPr>
              <a:t>100–110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Write a personal statement combining past perfect, reported speech and a conditional.</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Website task: a university personal statement with the past perfect, reported speech and a conditional.</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36 / 49</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P2-L03 · Grammar</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P2-L03</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550" b="1" dirty="0">
                <a:solidFill>
                  <a:srgbClr val="1B3B6F"/>
                </a:solidFill>
                <a:latin typeface="Amiri" pitchFamily="2" charset="-78"/>
                <a:cs typeface="Amiri" pitchFamily="2" charset="-78"/>
              </a:rPr>
              <a:t>بِحُلُولِ نِهَايَةِ ______ ، كُنْتُ قَدْ أَنْجَزْتُ ______ .</a:t>
            </a:r>
            <a:endParaRPr lang="ar-SA" sz="155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By the end of …, I had completed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450" b="1" dirty="0">
                <a:solidFill>
                  <a:srgbClr val="1B3B6F"/>
                </a:solidFill>
                <a:latin typeface="Amiri" pitchFamily="2" charset="-78"/>
                <a:cs typeface="Amiri" pitchFamily="2" charset="-78"/>
              </a:rPr>
              <a:t>كُنْتُ قَدْ حَصَلْتُ عَلَى ______ قَبْلَ أَنْ أَلْتَحِقَ بِالجَامِعَةِ.</a:t>
            </a:r>
            <a:endParaRPr lang="ar-SA" sz="145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had gained … before I enrolled at university.</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أَشَارَ أُسْتَاذِي إِلَى أَنَّنِي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My teacher pointed out that I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إِذَا قُبِلْتُ،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If I am accepted, I will …</a:t>
            </a:r>
            <a:endParaRPr lang="en-US" sz="1050" dirty="0"/>
          </a:p>
        </p:txBody>
      </p:sp>
      <p:sp>
        <p:nvSpPr>
          <p:cNvPr id="26" name="Shape 23"/>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29" name="Text 26"/>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كُنْتُ قَدْ قَرَّرْتُ دِرَاسَةَ ______ مُنْذُ ______ .</a:t>
            </a:r>
            <a:endParaRPr lang="ar-SA" sz="1800" dirty="0"/>
          </a:p>
        </p:txBody>
      </p:sp>
      <p:sp>
        <p:nvSpPr>
          <p:cNvPr id="30" name="Text 27"/>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had decided to study … since …</a:t>
            </a:r>
            <a:endParaRPr lang="en-US" sz="1050" dirty="0"/>
          </a:p>
        </p:txBody>
      </p:sp>
      <p:sp>
        <p:nvSpPr>
          <p:cNvPr id="31" name="Text 28"/>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كَانَتْ أُخْتِي قَدْ حَصَلَتْ عَلَى ______ .</a:t>
            </a:r>
            <a:endParaRPr lang="ar-SA" sz="1800" dirty="0"/>
          </a:p>
        </p:txBody>
      </p:sp>
      <p:sp>
        <p:nvSpPr>
          <p:cNvPr id="32" name="Text 29"/>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My sister had obtained …</a:t>
            </a:r>
            <a:endParaRPr lang="en-US" sz="1050" dirty="0"/>
          </a:p>
        </p:txBody>
      </p:sp>
      <p:sp>
        <p:nvSpPr>
          <p:cNvPr id="33" name="Text 30"/>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كَانَ أَخِي قَدْ عَمِلَ ______ .</a:t>
            </a:r>
            <a:endParaRPr lang="ar-SA" sz="1800" dirty="0"/>
          </a:p>
        </p:txBody>
      </p:sp>
      <p:sp>
        <p:nvSpPr>
          <p:cNvPr id="34" name="Text 31"/>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My brother had worked …</a:t>
            </a:r>
            <a:endParaRPr lang="en-US" sz="1050" dirty="0"/>
          </a:p>
        </p:txBody>
      </p:sp>
      <p:sp>
        <p:nvSpPr>
          <p:cNvPr id="35" name="Text 32"/>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أَدْرُسُ الآنَ ______ وَأَتَفَوَّقُ فِي ______ .</a:t>
            </a:r>
            <a:endParaRPr lang="ar-SA" sz="1800" dirty="0"/>
          </a:p>
        </p:txBody>
      </p:sp>
      <p:sp>
        <p:nvSpPr>
          <p:cNvPr id="36" name="Text 33"/>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Now I study … and I excel in …</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500" b="1" dirty="0">
                <a:solidFill>
                  <a:srgbClr val="1B3B6F"/>
                </a:solidFill>
                <a:latin typeface="Amiri" pitchFamily="2" charset="-78"/>
                <a:cs typeface="Amiri" pitchFamily="2" charset="-78"/>
              </a:rPr>
              <a:t>الطِّبُّ  ·  الهَنْدَسَةُ  ·  مَشْرُوعٌ بَحْثِيٌّ  ·  خِبْرَةٌ عَمَلِيَّةٌ  ·  عَمَلٌ تَطَوُّعِيٌّ  ·  مِنْحَةٌ دِرَاسِيَّةٌ  ·  الجَامِعَةُ  ·  كُلِّيَّةُ الطِّبِّ  ·  مُجْتَهِدٌ  ·  الاسْتِقْلَالِيَّةُ  ·  الضَّغْطُ الأَكَادِيمِيُّ  ·  سَأُكَرِّسُ جُهْدِي</a:t>
            </a:r>
            <a:endParaRPr lang="ar-SA" sz="15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37 / 49</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P2-L03 · Grammar</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P2-L03</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00" b="1" dirty="0">
                <a:solidFill>
                  <a:srgbClr val="1F2A37"/>
                </a:solidFill>
                <a:latin typeface="Calibri" pitchFamily="34" charset="0"/>
                <a:cs typeface="Amiri" pitchFamily="2" charset="-78"/>
              </a:rPr>
              <a:t>Write one hundred to one hundred and ten words as a university personal statement. Use the past perfect (</a:t>
            </a:r>
            <a:pPr algn="l" indent="0" marL="0">
              <a:buNone/>
            </a:pPr>
            <a:r>
              <a:rPr lang="ar-SA" altLang="en-US" sz="1700" b="1" dirty="0">
                <a:solidFill>
                  <a:srgbClr val="1F2A37"/>
                </a:solidFill>
                <a:latin typeface="Amiri" pitchFamily="2" charset="-78"/>
                <a:cs typeface="Amiri" pitchFamily="2" charset="-78"/>
              </a:rPr>
              <a:t>كَانَ قَدْ</a:t>
            </a:r>
            <a:pPr algn="l" indent="0" marL="0">
              <a:buNone/>
            </a:pPr>
            <a:r>
              <a:rPr lang="en-US" sz="1300" b="1" dirty="0">
                <a:solidFill>
                  <a:srgbClr val="1F2A37"/>
                </a:solidFill>
                <a:latin typeface="Calibri" pitchFamily="34" charset="0"/>
                <a:cs typeface="Amiri" pitchFamily="2" charset="-78"/>
              </a:rPr>
              <a:t>) at least twice for prior achievements, a reported-speech clause about what a teacher said, and a Type 1 conditional about the future.</a:t>
            </a:r>
            <a:endParaRPr lang="en-US" sz="130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Two past-perfect sentences with correct </a:t>
            </a:r>
            <a:pPr algn="l" indent="0" marL="0">
              <a:buNone/>
            </a:pPr>
            <a:r>
              <a:rPr lang="ar-SA" altLang="en-US" sz="1550" dirty="0">
                <a:solidFill>
                  <a:srgbClr val="1F2A37"/>
                </a:solidFill>
                <a:latin typeface="Amiri" pitchFamily="2" charset="-78"/>
                <a:cs typeface="Amiri" pitchFamily="2" charset="-78"/>
              </a:rPr>
              <a:t>كَانَ</a:t>
            </a:r>
            <a:pPr algn="l" indent="0" marL="0">
              <a:buNone/>
            </a:pPr>
            <a:r>
              <a:rPr lang="en-US" sz="1200" dirty="0">
                <a:solidFill>
                  <a:srgbClr val="1F2A37"/>
                </a:solidFill>
                <a:latin typeface="Calibri" pitchFamily="34" charset="0"/>
                <a:cs typeface="Amiri" pitchFamily="2" charset="-78"/>
              </a:rPr>
              <a:t> agreement.</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One reported-speech clause (</a:t>
            </a:r>
            <a:pPr algn="l" indent="0" marL="0">
              <a:buNone/>
            </a:pPr>
            <a:r>
              <a:rPr lang="ar-SA" altLang="en-US" sz="1550" dirty="0">
                <a:solidFill>
                  <a:srgbClr val="1F2A37"/>
                </a:solidFill>
                <a:latin typeface="Amiri" pitchFamily="2" charset="-78"/>
                <a:cs typeface="Amiri" pitchFamily="2" charset="-78"/>
              </a:rPr>
              <a:t>قَالَ / أَشَارَ … أَنَّ</a:t>
            </a:r>
            <a:pPr algn="l" indent="0" marL="0">
              <a:buNone/>
            </a:pPr>
            <a:r>
              <a:rPr lang="en-US" sz="1200" dirty="0">
                <a:solidFill>
                  <a:srgbClr val="1F2A37"/>
                </a:solidFill>
                <a:latin typeface="Calibri" pitchFamily="34" charset="0"/>
                <a:cs typeface="Amiri" pitchFamily="2" charset="-78"/>
              </a:rPr>
              <a:t>).</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One Type 1 conditional about the future.</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Present-tense description of your current situation.</a:t>
            </a:r>
            <a:endParaRPr lang="en-US" sz="1200" dirty="0"/>
          </a:p>
        </p:txBody>
      </p:sp>
      <p:sp>
        <p:nvSpPr>
          <p:cNvPr id="23" name="Shape 20"/>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PHRASE BANK — FROM THE WEBSITE TEXTS</a:t>
            </a:r>
            <a:endParaRPr lang="en-US" sz="950" dirty="0"/>
          </a:p>
        </p:txBody>
      </p:sp>
      <p:sp>
        <p:nvSpPr>
          <p:cNvPr id="25" name="Text 22"/>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مُنْذُ المَرْحَلَةِ الإِعْدَادِيَّةِ</a:t>
            </a:r>
            <a:endParaRPr lang="ar-SA" sz="1800" dirty="0"/>
          </a:p>
        </p:txBody>
      </p:sp>
      <p:sp>
        <p:nvSpPr>
          <p:cNvPr id="26" name="Text 23"/>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since middle school</a:t>
            </a:r>
            <a:endParaRPr lang="en-US" sz="1050" dirty="0"/>
          </a:p>
        </p:txBody>
      </p:sp>
      <p:sp>
        <p:nvSpPr>
          <p:cNvPr id="27" name="Text 24"/>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حَصَلْتُ عَلَى خِبْرَةٍ فِي مُسْتَشْفًى مَحَلِّيٍّ</a:t>
            </a:r>
            <a:endParaRPr lang="ar-SA" sz="1800" dirty="0"/>
          </a:p>
        </p:txBody>
      </p:sp>
      <p:sp>
        <p:nvSpPr>
          <p:cNvPr id="28" name="Text 25"/>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gained experience at a local hospital</a:t>
            </a:r>
            <a:endParaRPr lang="en-US" sz="1050" dirty="0"/>
          </a:p>
        </p:txBody>
      </p:sp>
      <p:sp>
        <p:nvSpPr>
          <p:cNvPr id="29" name="Text 26"/>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أَطْمَحُ إِلَى الالْتِحَاقِ بِكُلِّيَّةِ الطِّبِّ</a:t>
            </a:r>
            <a:endParaRPr lang="ar-SA" sz="1800" dirty="0"/>
          </a:p>
        </p:txBody>
      </p:sp>
      <p:sp>
        <p:nvSpPr>
          <p:cNvPr id="30" name="Text 27"/>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aspire to join the faculty of medicine</a:t>
            </a:r>
            <a:endParaRPr lang="en-US" sz="1050" dirty="0"/>
          </a:p>
        </p:txBody>
      </p:sp>
      <p:sp>
        <p:nvSpPr>
          <p:cNvPr id="31" name="Text 28"/>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سَأُكَرِّسُ جُهْدِي لِلْبَحْثِ العِلْمِيِّ</a:t>
            </a:r>
            <a:endParaRPr lang="ar-SA" sz="1800" dirty="0"/>
          </a:p>
        </p:txBody>
      </p:sp>
      <p:sp>
        <p:nvSpPr>
          <p:cNvPr id="32" name="Text 29"/>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will devote my effort to scientific research</a:t>
            </a:r>
            <a:endParaRPr lang="en-US" sz="1050" dirty="0"/>
          </a:p>
        </p:txBody>
      </p:sp>
      <p:sp>
        <p:nvSpPr>
          <p:cNvPr id="33" name="Text 30"/>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ضَرُورِيَّتَانِ لِلنَّجَاحِ</a:t>
            </a:r>
            <a:endParaRPr lang="ar-SA" sz="1800" dirty="0"/>
          </a:p>
        </p:txBody>
      </p:sp>
      <p:sp>
        <p:nvSpPr>
          <p:cNvPr id="34" name="Text 31"/>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both essential for success</a:t>
            </a:r>
            <a:endParaRPr lang="en-US" sz="10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38 / 49</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P2-L03 · Grammar</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P2-L03</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300" dirty="0">
                <a:solidFill>
                  <a:srgbClr val="1F2A37"/>
                </a:solidFill>
                <a:latin typeface="Amiri" pitchFamily="2" charset="-78"/>
                <a:cs typeface="Amiri" pitchFamily="2" charset="-78"/>
              </a:rPr>
              <a:t>كُنْتُ قَدْ قَرَّرْتُ دِرَاسَةَ الطِّبِّ مُنْذُ المَرْحَلَةِ الإِعْدَادِيَّةِ. وَبِحُلُولِ نِهَايَةِ الثَّانَوِيَّةِ، كُنْتُ قَدْ أَنْجَزْتُ مَشْرُوعًا بَحْثِيًّا فِي عِلْمِ الأَحْيَاءِ وَحَصَلْتُ عَلَى خِبْرَةٍ فِي مُسْتَشْفًى مَحَلِّيٍّ. أَدْرُسُ الآنَ فِي السَّنَةِ الأَخِيرَةِ وَأَتَفَوَّقُ فِي العُلُومِ وَالرِّيَاضِيَّاتِ. أَشَارَ أُسْتَاذِي إِلَى أَنَّنِي مُجْتَهِدٌ وَأَكَّدَ أَنَّنِي سَأَكُونُ طَبِيبًا جَيِّدًا. أَطْمَحُ إِلَى الالْتِحَاقِ بِكُلِّيَّةِ الطِّبِّ فِي جَامِعَتِكُمْ، وَإِذَا قُبِلْتُ، سَأُكَرِّسُ جُهْدِي لِلْبَحْثِ العِلْمِيِّ. أُدْرِكُ أَنَّ الاسْتِقْلَالِيَّةَ وَإِدَارَةَ الضَّغْطِ الأَكَادِيمِيِّ ضَرُورِيَّتَانِ لِلنَّجَاحِ فِي الحَيَاةِ الجَامِعِيَّةِ.</a:t>
            </a:r>
            <a:endParaRPr lang="ar-SA" sz="23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I had decided to study medicine back in middle school. By the end of secondary school, I had completed a research project in biology and gained experience at a local hospital. I am now in my final year and I excel in science and mathematics. My teacher pointed out that I am hard-working and stressed that I will be a good doctor. I aspire to join the faculty of medicine at your university, and if I am accepted, I will devote my effort to scientific research. I realise that independence and managing academic pressure are both essential for success at university.</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two past-perfect sentences (kuntu qad)</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bi-ḥulūli framing an earlier action</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reported speech (ashāra ilā anna)</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 conditional about the future</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39 / 49</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P2-L03 · Grammar</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P2-L03</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After qad my verb is past.</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kāna agrees with the subject (kānat · kuntu · kānū).</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The earlier action has kāna qad; qabla an has a subjunctive.</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framed one event with bi-ḥulūli.</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moved through before · now · next with reported speech and a conditional.</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40 / 49</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P2-L03 · Grammar</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P2-L03</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past perfect.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كَانَ قَدْ دَرَسَ فِي القَاهِرَةِ.</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كَانَ قَدْ يَدْرُسُ فِي القَاهِرَةِ.</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كَانَ قَدْ سَيَدْرُسُ فِي القَاهِرَةِ.</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for a girl: ___ </a:t>
            </a:r>
            <a:pPr algn="l" indent="0" marL="0">
              <a:buNone/>
            </a:pPr>
            <a:r>
              <a:rPr lang="ar-SA" altLang="en-US" sz="1650" b="1" dirty="0">
                <a:solidFill>
                  <a:srgbClr val="1B3B6F"/>
                </a:solidFill>
                <a:latin typeface="Amiri" pitchFamily="2" charset="-78"/>
                <a:cs typeface="Amiri" pitchFamily="2" charset="-78"/>
              </a:rPr>
              <a:t>قَدْ تَخَصَّصَتْ فِي الطِّبِّ</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كَانَ</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كَانَتْ</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كُنْتُ</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shows temporal depth?</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cs typeface="Amiri" pitchFamily="2" charset="-78"/>
              </a:rPr>
              <a:t>بِحُلُولِ التَّخَرُّجِ، كُنْتُ قَدْ نَشَرْتُ بَحْثَيْنِ.</a:t>
            </a:r>
            <a:endParaRPr lang="ar-SA" sz="180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cs typeface="Amiri" pitchFamily="2" charset="-78"/>
              </a:rPr>
              <a:t>نَشَرْتُ بَحْثَيْنِ وَتَخَرَّجْتُ.</a:t>
            </a:r>
            <a:endParaRPr lang="ar-SA" sz="180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cs typeface="Amiri" pitchFamily="2" charset="-78"/>
              </a:rPr>
              <a:t>أَنْشُرُ بَحْثًا الآنَ.</a:t>
            </a:r>
            <a:endParaRPr lang="ar-SA" sz="180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cs typeface="Amiri" pitchFamily="2" charset="-78"/>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41 / 49</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P2-L03 · Grammar</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P2-L03</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past perfect.</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cs typeface="Amiri" pitchFamily="2" charset="-78"/>
              </a:rPr>
              <a:t>كَانَ قَدْ دَرَسَ فِي القَاهِرَةِ.</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كَانَ قَدْ يَدْرُسُ فِي القَاهِرَةِ.</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كَانَ قَدْ سَيَدْرُسُ فِي القَاهِرَةِ.</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verb after </a:t>
            </a:r>
            <a:pPr algn="l" indent="0" marL="0">
              <a:buNone/>
            </a:pPr>
            <a:r>
              <a:rPr lang="ar-SA" altLang="en-US" sz="1350" dirty="0">
                <a:solidFill>
                  <a:srgbClr val="8A6D1E"/>
                </a:solidFill>
                <a:latin typeface="Amiri" pitchFamily="2" charset="-78"/>
                <a:cs typeface="Amiri" pitchFamily="2" charset="-78"/>
              </a:rPr>
              <a:t>قَدْ</a:t>
            </a:r>
            <a:pPr algn="l" indent="0" marL="0">
              <a:buNone/>
            </a:pPr>
            <a:r>
              <a:rPr lang="en-US" sz="1050" i="1" dirty="0">
                <a:solidFill>
                  <a:srgbClr val="8A6D1E"/>
                </a:solidFill>
                <a:latin typeface="Calibri" pitchFamily="34" charset="0"/>
                <a:cs typeface="Amiri" pitchFamily="2" charset="-78"/>
              </a:rPr>
              <a:t> stays past.</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for a girl: ___ </a:t>
            </a:r>
            <a:pPr algn="l" indent="0" marL="0">
              <a:buNone/>
            </a:pPr>
            <a:r>
              <a:rPr lang="ar-SA" altLang="en-US" sz="1650" b="1" dirty="0">
                <a:solidFill>
                  <a:srgbClr val="1B3B6F"/>
                </a:solidFill>
                <a:latin typeface="Amiri" pitchFamily="2" charset="-78"/>
                <a:cs typeface="Amiri" pitchFamily="2" charset="-78"/>
              </a:rPr>
              <a:t>قَدْ تَخَصَّصَتْ فِي الطِّبِّ</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كَانَ</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cs typeface="Amiri" pitchFamily="2" charset="-78"/>
              </a:rPr>
              <a:t>كَانَتْ</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كُنْتُ</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كَانَتْ</a:t>
            </a:r>
            <a:pPr algn="l" indent="0" marL="0">
              <a:buNone/>
            </a:pPr>
            <a:r>
              <a:rPr lang="en-US" sz="1050" i="1" dirty="0">
                <a:solidFill>
                  <a:srgbClr val="8A6D1E"/>
                </a:solidFill>
                <a:latin typeface="Calibri" pitchFamily="34" charset="0"/>
                <a:cs typeface="Amiri" pitchFamily="2" charset="-78"/>
              </a:rPr>
              <a:t> agrees with the feminine subject.</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shows temporal depth?</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1800" b="1" dirty="0">
                <a:solidFill>
                  <a:srgbClr val="1F2A37"/>
                </a:solidFill>
                <a:latin typeface="Amiri" pitchFamily="2" charset="-78"/>
                <a:cs typeface="Amiri" pitchFamily="2" charset="-78"/>
              </a:rPr>
              <a:t>بِحُلُولِ التَّخَرُّجِ، كُنْتُ قَدْ نَشَرْتُ بَحْثَيْنِ.</a:t>
            </a:r>
            <a:endParaRPr lang="ar-SA" sz="180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1800" dirty="0">
                <a:solidFill>
                  <a:srgbClr val="9AA1AB"/>
                </a:solidFill>
                <a:latin typeface="Amiri" pitchFamily="2" charset="-78"/>
                <a:cs typeface="Amiri" pitchFamily="2" charset="-78"/>
              </a:rPr>
              <a:t>نَشَرْتُ بَحْثَيْنِ وَتَخَرَّجْتُ.</a:t>
            </a:r>
            <a:endParaRPr lang="ar-SA" sz="180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1800" dirty="0">
                <a:solidFill>
                  <a:srgbClr val="9AA1AB"/>
                </a:solidFill>
                <a:latin typeface="Amiri" pitchFamily="2" charset="-78"/>
                <a:cs typeface="Amiri" pitchFamily="2" charset="-78"/>
              </a:rPr>
              <a:t>أَنْشُرُ بَحْثًا الآنَ.</a:t>
            </a:r>
            <a:endParaRPr lang="ar-SA" sz="180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It places one past action before another with </a:t>
            </a:r>
            <a:pPr algn="l" indent="0" marL="0">
              <a:buNone/>
            </a:pPr>
            <a:r>
              <a:rPr lang="ar-SA" altLang="en-US" sz="1350" dirty="0">
                <a:solidFill>
                  <a:srgbClr val="8A6D1E"/>
                </a:solidFill>
                <a:latin typeface="Amiri" pitchFamily="2" charset="-78"/>
                <a:cs typeface="Amiri" pitchFamily="2" charset="-78"/>
              </a:rPr>
              <a:t>كَانَ قَدْ</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cs typeface="Amiri" pitchFamily="2" charset="-78"/>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42 / 49</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P2-L03 · Grammar</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FAST FINISHERS OR HOMEWORK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more than lectures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P2-L03</a:t>
            </a:r>
            <a:endParaRPr lang="en-US" sz="850" dirty="0"/>
          </a:p>
        </p:txBody>
      </p:sp>
      <p:sp>
        <p:nvSpPr>
          <p:cNvPr id="17" name="Shape 14"/>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300" dirty="0">
                <a:solidFill>
                  <a:srgbClr val="1F2A37"/>
                </a:solidFill>
                <a:latin typeface="Amiri" pitchFamily="2" charset="-78"/>
                <a:cs typeface="Amiri" pitchFamily="2" charset="-78"/>
              </a:rPr>
              <a:t>لَا تَقْتَصِرُ الحَيَاةُ الجَامِعِيَّةُ عَلَى المُحَاضَرَاتِ وَالبُحُوثِ. فَبِحُلُولِ نِهَايَةِ السَّنَةِ الأُولَى، يَكُونُ كَثِيرٌ مِنَ الطُّلَّابِ قَدِ اكْتَسَبُوا اسْتِقْلَالِيَّةً لَمْ تَكُنْ لَدَيْهِمْ سَابِقًا. كَثِيرُونَ كَانُوا قَدِ اعْتَمَدُوا عَلَى أُسَرِهِمْ فِي كُلِّ شَيْءٍ، ثُمَّ تَعَلَّمُوا إِدَارَةَ الوَقْتِ وَالمَالِ. وَالأَنْشِطَةُ اللَّامَنْهَجِيَّةُ وَالعَمَلُ التَّطَوُّعِيُّ يُضِيفَانِ خِبْرَةً عَمَلِيَّةً قَيِّمَةً. لٰكِنَّ الجَامِعَةَ تَحْمِلُ ضَغْطًا أَكَادِيمِيًّا حَقِيقِيًّا؛ فَمَنْ كَانَ قَدْ تَعَلَّمَ تَنْظِيمَ وَقْتِهِ مُبَكِّرًا وَاجَهَ الضَّغْطَ بِثِقَةٍ أَكْبَرَ. وَفِي رَأْيِي، إِذَا وَازَنَ الطَّالِبُ بَيْنَ الدِّرَاسَةِ وَالحَيَاةِ، فَسَيَنْجَحُ فِي كِلَيْهِمَا.</a:t>
            </a:r>
            <a:endParaRPr lang="ar-SA" sz="2300" dirty="0"/>
          </a:p>
        </p:txBody>
      </p:sp>
      <p:sp>
        <p:nvSpPr>
          <p:cNvPr id="19" name="Shape 16"/>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KEY WORDS</a:t>
            </a:r>
            <a:endParaRPr lang="en-US" sz="1000" dirty="0"/>
          </a:p>
        </p:txBody>
      </p:sp>
      <p:sp>
        <p:nvSpPr>
          <p:cNvPr id="21" name="Text 18"/>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لَا تَقْتَصِرُ عَلَى</a:t>
            </a:r>
            <a:endParaRPr lang="ar-SA" sz="1600" dirty="0"/>
          </a:p>
        </p:txBody>
      </p:sp>
      <p:sp>
        <p:nvSpPr>
          <p:cNvPr id="22" name="Text 19"/>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is not limited to</a:t>
            </a:r>
            <a:endParaRPr lang="en-US" sz="1050" dirty="0"/>
          </a:p>
        </p:txBody>
      </p:sp>
      <p:sp>
        <p:nvSpPr>
          <p:cNvPr id="23" name="Text 20"/>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اكْتَسَبُوا</a:t>
            </a:r>
            <a:endParaRPr lang="ar-SA" sz="1600" dirty="0"/>
          </a:p>
        </p:txBody>
      </p:sp>
      <p:sp>
        <p:nvSpPr>
          <p:cNvPr id="24" name="Text 21"/>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they gained</a:t>
            </a:r>
            <a:endParaRPr lang="en-US" sz="1050" dirty="0"/>
          </a:p>
        </p:txBody>
      </p:sp>
      <p:sp>
        <p:nvSpPr>
          <p:cNvPr id="25" name="Text 22"/>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لَمْ تَكُنْ لَدَيْهِمْ</a:t>
            </a:r>
            <a:endParaRPr lang="ar-SA" sz="1600" dirty="0"/>
          </a:p>
        </p:txBody>
      </p:sp>
      <p:sp>
        <p:nvSpPr>
          <p:cNvPr id="26" name="Text 23"/>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they did not have</a:t>
            </a:r>
            <a:endParaRPr lang="en-US" sz="1050" dirty="0"/>
          </a:p>
        </p:txBody>
      </p:sp>
      <p:sp>
        <p:nvSpPr>
          <p:cNvPr id="27" name="Text 24"/>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اعْتَمَدُوا عَلَى أُسَرِهِمْ</a:t>
            </a:r>
            <a:endParaRPr lang="ar-SA" sz="1600" dirty="0"/>
          </a:p>
        </p:txBody>
      </p:sp>
      <p:sp>
        <p:nvSpPr>
          <p:cNvPr id="28" name="Text 25"/>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they relied on their families</a:t>
            </a:r>
            <a:endParaRPr lang="en-US" sz="1050" dirty="0"/>
          </a:p>
        </p:txBody>
      </p:sp>
      <p:sp>
        <p:nvSpPr>
          <p:cNvPr id="29" name="Text 26"/>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إِدَارَةَ الوَقْتِ وَالمَالِ</a:t>
            </a:r>
            <a:endParaRPr lang="ar-SA" sz="1600" dirty="0"/>
          </a:p>
        </p:txBody>
      </p:sp>
      <p:sp>
        <p:nvSpPr>
          <p:cNvPr id="30" name="Text 27"/>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managing time and money</a:t>
            </a:r>
            <a:endParaRPr lang="en-US" sz="1050" dirty="0"/>
          </a:p>
        </p:txBody>
      </p:sp>
      <p:sp>
        <p:nvSpPr>
          <p:cNvPr id="31" name="Text 28"/>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اللَّامَنْهَجِيَّةُ</a:t>
            </a:r>
            <a:endParaRPr lang="ar-SA" sz="1600" dirty="0"/>
          </a:p>
        </p:txBody>
      </p:sp>
      <p:sp>
        <p:nvSpPr>
          <p:cNvPr id="32" name="Text 29"/>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extracurricular</a:t>
            </a:r>
            <a:endParaRPr lang="en-US" sz="1050" dirty="0"/>
          </a:p>
        </p:txBody>
      </p:sp>
      <p:sp>
        <p:nvSpPr>
          <p:cNvPr id="33" name="Text 30"/>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قَيِّمَةً</a:t>
            </a:r>
            <a:endParaRPr lang="ar-SA" sz="1600" dirty="0"/>
          </a:p>
        </p:txBody>
      </p:sp>
      <p:sp>
        <p:nvSpPr>
          <p:cNvPr id="34" name="Text 31"/>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valuable</a:t>
            </a:r>
            <a:endParaRPr lang="en-US" sz="1050" dirty="0"/>
          </a:p>
        </p:txBody>
      </p:sp>
      <p:sp>
        <p:nvSpPr>
          <p:cNvPr id="35" name="Text 32"/>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وَاجَهَ</a:t>
            </a:r>
            <a:endParaRPr lang="ar-SA" sz="1600" dirty="0"/>
          </a:p>
        </p:txBody>
      </p:sp>
      <p:sp>
        <p:nvSpPr>
          <p:cNvPr id="36" name="Text 33"/>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faced</a:t>
            </a:r>
            <a:endParaRPr lang="en-US" sz="1050" dirty="0"/>
          </a:p>
        </p:txBody>
      </p:sp>
      <p:sp>
        <p:nvSpPr>
          <p:cNvPr id="37" name="Text 34"/>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بِثِقَةٍ أَكْبَرَ</a:t>
            </a:r>
            <a:endParaRPr lang="ar-SA" sz="1600" dirty="0"/>
          </a:p>
        </p:txBody>
      </p:sp>
      <p:sp>
        <p:nvSpPr>
          <p:cNvPr id="38" name="Text 35"/>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with greater confidence</a:t>
            </a:r>
            <a:endParaRPr lang="en-US" sz="1050" dirty="0"/>
          </a:p>
        </p:txBody>
      </p:sp>
      <p:sp>
        <p:nvSpPr>
          <p:cNvPr id="39" name="Text 36"/>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فِي كِلَيْهِمَا</a:t>
            </a:r>
            <a:endParaRPr lang="ar-SA" sz="1600" dirty="0"/>
          </a:p>
        </p:txBody>
      </p:sp>
      <p:sp>
        <p:nvSpPr>
          <p:cNvPr id="40" name="Text 37"/>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in both</a:t>
            </a:r>
            <a:endParaRPr lang="en-US" sz="10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43 / 49</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P2-L03 · Grammar</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QUESTIONS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questions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أَسْئِلَةُ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P2-L03</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university life not limited to?</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Sport only</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Lectures and research</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Exams only</a:t>
            </a:r>
            <a:endParaRPr lang="en-US" sz="12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have many students gained by the end of the first year?</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Nothing new</a:t>
            </a:r>
            <a:endParaRPr lang="en-US" sz="12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Less confidence</a:t>
            </a:r>
            <a:endParaRPr lang="en-US" sz="12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Independence they did not have before</a:t>
            </a:r>
            <a:endParaRPr lang="en-US" sz="12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 extracurriculars and volunteering add?</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Valuable work experience</a:t>
            </a:r>
            <a:endParaRPr lang="en-US" sz="12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Extra fees</a:t>
            </a:r>
            <a:endParaRPr lang="en-US" sz="12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More lectures</a:t>
            </a:r>
            <a:endParaRPr lang="en-US" sz="12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faced academic pressure more confidently?</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Those who never studied</a:t>
            </a:r>
            <a:endParaRPr lang="en-US" sz="12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Those who had learned to organise time early</a:t>
            </a:r>
            <a:endParaRPr lang="en-US" sz="12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Those who avoided university</a:t>
            </a:r>
            <a:endParaRPr lang="en-US" sz="12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the writer conclude about balance?</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Balancing study and life leads to success in both</a:t>
            </a:r>
            <a:endParaRPr lang="en-US" sz="12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Balance is impossible</a:t>
            </a:r>
            <a:endParaRPr lang="en-US" sz="12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Only study matters</a:t>
            </a:r>
            <a:endParaRPr lang="en-US" sz="1250" dirty="0"/>
          </a:p>
        </p:txBody>
      </p:sp>
      <p:sp>
        <p:nvSpPr>
          <p:cNvPr id="82" name="Shape 7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3" name="Text 8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84" name="Text 8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44 / 49</a:t>
            </a:r>
            <a:endParaRPr lang="en-US" sz="8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P2-L03 · Grammar</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إِجَابَاتُ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P2-L03</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university life not limited to?</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Sport only</a:t>
            </a:r>
            <a:endParaRPr lang="en-US" sz="1250" dirty="0"/>
          </a:p>
        </p:txBody>
      </p:sp>
      <p:sp>
        <p:nvSpPr>
          <p:cNvPr id="24"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5"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7" name="Text 24"/>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Lectures and research</a:t>
            </a:r>
            <a:endParaRPr lang="en-US" sz="1250" dirty="0"/>
          </a:p>
        </p:txBody>
      </p:sp>
      <p:sp>
        <p:nvSpPr>
          <p:cNvPr id="28"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30" name="Text 27"/>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Exams only</a:t>
            </a:r>
            <a:endParaRPr lang="en-US" sz="1250" dirty="0"/>
          </a:p>
        </p:txBody>
      </p:sp>
      <p:sp>
        <p:nvSpPr>
          <p:cNvPr id="31" name="Text 28"/>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لَا تَقْتَصِرُ … عَلَى المُحَاضَرَاتِ وَالبُحُوثِ.</a:t>
            </a:r>
            <a:endParaRPr lang="ar-SA" sz="1350" dirty="0"/>
          </a:p>
        </p:txBody>
      </p:sp>
      <p:sp>
        <p:nvSpPr>
          <p:cNvPr id="32"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5"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have many students gained by the end of the first year?</a:t>
            </a:r>
            <a:endParaRPr lang="en-US" sz="1250" dirty="0"/>
          </a:p>
        </p:txBody>
      </p:sp>
      <p:sp>
        <p:nvSpPr>
          <p:cNvPr id="36" name="Shape 33"/>
          <p:cNvSpPr/>
          <p:nvPr/>
        </p:nvSpPr>
        <p:spPr>
          <a:xfrm>
            <a:off x="4459224"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Nothing new</a:t>
            </a:r>
            <a:endParaRPr lang="en-US" sz="1250" dirty="0"/>
          </a:p>
        </p:txBody>
      </p:sp>
      <p:sp>
        <p:nvSpPr>
          <p:cNvPr id="39" name="Shape 36"/>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8"/>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Less confidence</a:t>
            </a:r>
            <a:endParaRPr lang="en-US" sz="1250" dirty="0"/>
          </a:p>
        </p:txBody>
      </p:sp>
      <p:sp>
        <p:nvSpPr>
          <p:cNvPr id="42" name="Shape 39"/>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4459224"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5" name="Text 42"/>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Independence they did not have before</a:t>
            </a:r>
            <a:endParaRPr lang="en-US" sz="1250" dirty="0"/>
          </a:p>
        </p:txBody>
      </p:sp>
      <p:sp>
        <p:nvSpPr>
          <p:cNvPr id="46" name="Text 43"/>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قَدِ اكْتَسَبُوا اسْتِقْلَالِيَّةً لَمْ تَكُنْ لَدَيْهِمْ سَابِقًا.</a:t>
            </a:r>
            <a:endParaRPr lang="ar-SA" sz="1350" dirty="0"/>
          </a:p>
        </p:txBody>
      </p:sp>
      <p:sp>
        <p:nvSpPr>
          <p:cNvPr id="47"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 extracurriculars and volunteering add?</a:t>
            </a:r>
            <a:endParaRPr lang="en-US" sz="1250" dirty="0"/>
          </a:p>
        </p:txBody>
      </p:sp>
      <p:sp>
        <p:nvSpPr>
          <p:cNvPr id="51" name="Shape 48"/>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2" name="Shape 49"/>
          <p:cNvSpPr/>
          <p:nvPr/>
        </p:nvSpPr>
        <p:spPr>
          <a:xfrm>
            <a:off x="8278368" y="2490216"/>
            <a:ext cx="256032" cy="256032"/>
          </a:xfrm>
          <a:prstGeom prst="ellipse">
            <a:avLst/>
          </a:prstGeom>
          <a:solidFill>
            <a:srgbClr val="2E8B57"/>
          </a:solidFill>
          <a:ln w="12700">
            <a:solidFill>
              <a:srgbClr val="2E8B57"/>
            </a:solidFill>
            <a:prstDash val="solid"/>
          </a:ln>
        </p:spPr>
      </p:sp>
      <p:sp>
        <p:nvSpPr>
          <p:cNvPr id="53" name="Text 50"/>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4" name="Text 51"/>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Valuable work experience</a:t>
            </a:r>
            <a:endParaRPr lang="en-US" sz="1250" dirty="0"/>
          </a:p>
        </p:txBody>
      </p:sp>
      <p:sp>
        <p:nvSpPr>
          <p:cNvPr id="55" name="Shape 52"/>
          <p:cNvSpPr/>
          <p:nvPr/>
        </p:nvSpPr>
        <p:spPr>
          <a:xfrm>
            <a:off x="8278368" y="2862072"/>
            <a:ext cx="256032" cy="256032"/>
          </a:xfrm>
          <a:prstGeom prst="ellipse">
            <a:avLst/>
          </a:prstGeom>
          <a:solidFill>
            <a:srgbClr val="C9CED6"/>
          </a:solidFill>
          <a:ln w="12700">
            <a:solidFill>
              <a:srgbClr val="C9CED6"/>
            </a:solidFill>
            <a:prstDash val="solid"/>
          </a:ln>
        </p:spPr>
      </p:sp>
      <p:sp>
        <p:nvSpPr>
          <p:cNvPr id="56" name="Text 53"/>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7" name="Text 54"/>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Extra fees</a:t>
            </a:r>
            <a:endParaRPr lang="en-US" sz="1250" dirty="0"/>
          </a:p>
        </p:txBody>
      </p:sp>
      <p:sp>
        <p:nvSpPr>
          <p:cNvPr id="58" name="Shape 55"/>
          <p:cNvSpPr/>
          <p:nvPr/>
        </p:nvSpPr>
        <p:spPr>
          <a:xfrm>
            <a:off x="8278368" y="323392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More lectures</a:t>
            </a:r>
            <a:endParaRPr lang="en-US" sz="1250" dirty="0"/>
          </a:p>
        </p:txBody>
      </p:sp>
      <p:sp>
        <p:nvSpPr>
          <p:cNvPr id="61" name="Text 58"/>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يُضِيفَانِ خِبْرَةً عَمَلِيَّةً قَيِّمَةً.</a:t>
            </a:r>
            <a:endParaRPr lang="ar-SA" sz="1350" dirty="0"/>
          </a:p>
        </p:txBody>
      </p:sp>
      <p:sp>
        <p:nvSpPr>
          <p:cNvPr id="62"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5"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faced academic pressure more confidently?</a:t>
            </a:r>
            <a:endParaRPr lang="en-US" sz="1250" dirty="0"/>
          </a:p>
        </p:txBody>
      </p:sp>
      <p:sp>
        <p:nvSpPr>
          <p:cNvPr id="66"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8" name="Text 65"/>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Those who never studied</a:t>
            </a:r>
            <a:endParaRPr lang="en-US" sz="1250" dirty="0"/>
          </a:p>
        </p:txBody>
      </p:sp>
      <p:sp>
        <p:nvSpPr>
          <p:cNvPr id="69" name="Shape 66"/>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70" name="Shape 67"/>
          <p:cNvSpPr/>
          <p:nvPr/>
        </p:nvSpPr>
        <p:spPr>
          <a:xfrm>
            <a:off x="640080" y="5202936"/>
            <a:ext cx="256032" cy="256032"/>
          </a:xfrm>
          <a:prstGeom prst="ellipse">
            <a:avLst/>
          </a:prstGeom>
          <a:solidFill>
            <a:srgbClr val="2E8B57"/>
          </a:solidFill>
          <a:ln w="12700">
            <a:solidFill>
              <a:srgbClr val="2E8B57"/>
            </a:solidFill>
            <a:prstDash val="solid"/>
          </a:ln>
        </p:spPr>
      </p:sp>
      <p:sp>
        <p:nvSpPr>
          <p:cNvPr id="71" name="Text 68"/>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2" name="Text 69"/>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Those who had learned to organise time early</a:t>
            </a:r>
            <a:endParaRPr lang="en-US" sz="1150" dirty="0"/>
          </a:p>
        </p:txBody>
      </p:sp>
      <p:sp>
        <p:nvSpPr>
          <p:cNvPr id="73" name="Shape 70"/>
          <p:cNvSpPr/>
          <p:nvPr/>
        </p:nvSpPr>
        <p:spPr>
          <a:xfrm>
            <a:off x="640080" y="5574792"/>
            <a:ext cx="256032" cy="256032"/>
          </a:xfrm>
          <a:prstGeom prst="ellipse">
            <a:avLst/>
          </a:prstGeom>
          <a:solidFill>
            <a:srgbClr val="C9CED6"/>
          </a:solidFill>
          <a:ln w="12700">
            <a:solidFill>
              <a:srgbClr val="C9CED6"/>
            </a:solidFill>
            <a:prstDash val="solid"/>
          </a:ln>
        </p:spPr>
      </p:sp>
      <p:sp>
        <p:nvSpPr>
          <p:cNvPr id="74"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5" name="Text 72"/>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Those who avoided university</a:t>
            </a:r>
            <a:endParaRPr lang="en-US" sz="1250" dirty="0"/>
          </a:p>
        </p:txBody>
      </p:sp>
      <p:sp>
        <p:nvSpPr>
          <p:cNvPr id="76" name="Text 73"/>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250" dirty="0">
                <a:solidFill>
                  <a:srgbClr val="8A6D1E"/>
                </a:solidFill>
                <a:latin typeface="Amiri" pitchFamily="2" charset="-78"/>
                <a:cs typeface="Amiri" pitchFamily="2" charset="-78"/>
              </a:rPr>
              <a:t>مَنْ كَانَ قَدْ تَعَلَّمَ تَنْظِيمَ وَقْتِهِ مُبَكِّرًا وَاجَهَ الضَّغْطَ بِثِقَةٍ أَكْبَرَ.</a:t>
            </a:r>
            <a:endParaRPr lang="ar-SA" sz="1250" dirty="0"/>
          </a:p>
        </p:txBody>
      </p:sp>
      <p:sp>
        <p:nvSpPr>
          <p:cNvPr id="77"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80"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the writer conclude about balance?</a:t>
            </a:r>
            <a:endParaRPr lang="en-US" sz="1250" dirty="0"/>
          </a:p>
        </p:txBody>
      </p:sp>
      <p:sp>
        <p:nvSpPr>
          <p:cNvPr id="81"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4" name="Text 81"/>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Balancing study and life leads to success in both</a:t>
            </a:r>
            <a:endParaRPr lang="en-US" sz="1150" dirty="0"/>
          </a:p>
        </p:txBody>
      </p:sp>
      <p:sp>
        <p:nvSpPr>
          <p:cNvPr id="85"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7" name="Text 84"/>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Balance is impossible</a:t>
            </a:r>
            <a:endParaRPr lang="en-US" sz="1250" dirty="0"/>
          </a:p>
        </p:txBody>
      </p:sp>
      <p:sp>
        <p:nvSpPr>
          <p:cNvPr id="88"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0" name="Text 87"/>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Only study matters</a:t>
            </a:r>
            <a:endParaRPr lang="en-US" sz="1250" dirty="0"/>
          </a:p>
        </p:txBody>
      </p:sp>
      <p:sp>
        <p:nvSpPr>
          <p:cNvPr id="91" name="Text 88"/>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200" dirty="0">
                <a:solidFill>
                  <a:srgbClr val="8A6D1E"/>
                </a:solidFill>
                <a:latin typeface="Amiri" pitchFamily="2" charset="-78"/>
                <a:cs typeface="Amiri" pitchFamily="2" charset="-78"/>
              </a:rPr>
              <a:t>إِذَا وَازَنَ الطَّالِبُ بَيْنَ الدِّرَاسَةِ وَالحَيَاةِ، فَسَيَنْجَحُ فِي كِلَيْهِمَا.</a:t>
            </a:r>
            <a:endParaRPr lang="ar-SA" sz="1200" dirty="0"/>
          </a:p>
        </p:txBody>
      </p:sp>
      <p:sp>
        <p:nvSpPr>
          <p:cNvPr id="92" name="Shape 8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3" name="Text 9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94" name="Text 9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45 / 49</a:t>
            </a:r>
            <a:endParaRPr lang="en-US" sz="85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P2-L03 · Grammar</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WEBSITE MISSION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750" b="1" dirty="0">
                <a:solidFill>
                  <a:srgbClr val="1B3B6F"/>
                </a:solidFill>
                <a:latin typeface="Cambria" pitchFamily="34" charset="0"/>
                <a:cs typeface="Amiri" pitchFamily="2" charset="-78"/>
              </a:rPr>
              <a:t>Past Perfect Mission — </a:t>
            </a:r>
            <a:pPr algn="l" indent="0" marL="0">
              <a:buNone/>
            </a:pPr>
            <a:r>
              <a:rPr lang="ar-SA" altLang="en-US" sz="2300" b="1" dirty="0">
                <a:solidFill>
                  <a:srgbClr val="1B3B6F"/>
                </a:solidFill>
                <a:latin typeface="Amiri" pitchFamily="2" charset="-78"/>
                <a:cs typeface="Amiri" pitchFamily="2" charset="-78"/>
              </a:rPr>
              <a:t>كَانَ قَدْ</a:t>
            </a:r>
            <a:pPr algn="l" indent="0" marL="0">
              <a:buNone/>
            </a:pPr>
            <a:r>
              <a:rPr lang="en-US" sz="1750" b="1" dirty="0">
                <a:solidFill>
                  <a:srgbClr val="1B3B6F"/>
                </a:solidFill>
                <a:latin typeface="Cambria" pitchFamily="34" charset="0"/>
                <a:cs typeface="Amiri" pitchFamily="2" charset="-78"/>
              </a:rPr>
              <a:t>, Agreement and Sequence</a:t>
            </a:r>
            <a:endParaRPr lang="en-US" sz="17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المُهِمَّةُ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P2-L03</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Form: complete — </a:t>
            </a:r>
            <a:pPr algn="l" indent="0" marL="0">
              <a:buNone/>
            </a:pPr>
            <a:r>
              <a:rPr lang="ar-SA" altLang="en-US" sz="1650" b="1" dirty="0">
                <a:solidFill>
                  <a:srgbClr val="1B3B6F"/>
                </a:solidFill>
                <a:latin typeface="Amiri" pitchFamily="2" charset="-78"/>
                <a:cs typeface="Amiri" pitchFamily="2" charset="-78"/>
              </a:rPr>
              <a:t>كَانَ قَدْ</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فِي القَاهِرَةِ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يَدْرُسُ</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دَرَسَ</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سَيَدْرُسُ</a:t>
            </a:r>
            <a:endParaRPr lang="ar-SA" sz="2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Agreement (she): complete — ___ </a:t>
            </a:r>
            <a:pPr algn="l" indent="0" marL="0">
              <a:buNone/>
            </a:pPr>
            <a:r>
              <a:rPr lang="ar-SA" altLang="en-US" sz="1650" b="1" dirty="0">
                <a:solidFill>
                  <a:srgbClr val="1B3B6F"/>
                </a:solidFill>
                <a:latin typeface="Amiri" pitchFamily="2" charset="-78"/>
                <a:cs typeface="Amiri" pitchFamily="2" charset="-78"/>
              </a:rPr>
              <a:t>قَدْ حَصَلَتْ عَلَى مِنْحَةٍ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كَانَتْ</a:t>
            </a:r>
            <a:endParaRPr lang="ar-SA" sz="20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كَانَ</a:t>
            </a:r>
            <a:endParaRPr lang="ar-SA" sz="20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كُنْتُ</a:t>
            </a:r>
            <a:endParaRPr lang="ar-SA" sz="20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Agreement (I): complete — ___ </a:t>
            </a:r>
            <a:pPr algn="l" indent="0" marL="0">
              <a:buNone/>
            </a:pPr>
            <a:r>
              <a:rPr lang="ar-SA" altLang="en-US" sz="1650" b="1" dirty="0">
                <a:solidFill>
                  <a:srgbClr val="1B3B6F"/>
                </a:solidFill>
                <a:latin typeface="Amiri" pitchFamily="2" charset="-78"/>
                <a:cs typeface="Amiri" pitchFamily="2" charset="-78"/>
              </a:rPr>
              <a:t>قَدْ أَنْهَيْتُ بَحْثِي</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كَانَ</a:t>
            </a:r>
            <a:endParaRPr lang="ar-SA" sz="20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كَانَتْ</a:t>
            </a:r>
            <a:endParaRPr lang="ar-SA" sz="20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كُنْتُ</a:t>
            </a:r>
            <a:endParaRPr lang="ar-SA" sz="20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Agreement (they): complete — ___ </a:t>
            </a:r>
            <a:pPr algn="l" indent="0" marL="0">
              <a:buNone/>
            </a:pPr>
            <a:r>
              <a:rPr lang="ar-SA" altLang="en-US" sz="1650" b="1" dirty="0">
                <a:solidFill>
                  <a:srgbClr val="1B3B6F"/>
                </a:solidFill>
                <a:latin typeface="Amiri" pitchFamily="2" charset="-78"/>
                <a:cs typeface="Amiri" pitchFamily="2" charset="-78"/>
              </a:rPr>
              <a:t>قَدْ تَخَرَّجُوا</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كَانَ</a:t>
            </a:r>
            <a:endParaRPr lang="ar-SA" sz="20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كَانَتْ</a:t>
            </a:r>
            <a:endParaRPr lang="ar-SA" sz="20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كَانُوا</a:t>
            </a:r>
            <a:endParaRPr lang="ar-SA" sz="20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Sequence: which is the earlier action?</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كَانَ قَدْ دَرَسَ قَبْلَ أَنْ يَعْمَلَ.</a:t>
            </a:r>
            <a:endParaRPr lang="ar-SA" sz="20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دَرَسَ ثُمَّ عَمِلَ فِي اليَوْمِ نَفْسِهِ.</a:t>
            </a:r>
            <a:endParaRPr lang="ar-SA" sz="20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يَدْرُسُ وَيَعْمَلُ.</a:t>
            </a:r>
            <a:endParaRPr lang="ar-SA" sz="2050" dirty="0"/>
          </a:p>
        </p:txBody>
      </p:sp>
      <p:sp>
        <p:nvSpPr>
          <p:cNvPr id="82" name="Shape 79"/>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3" name="Shape 80"/>
          <p:cNvSpPr/>
          <p:nvPr/>
        </p:nvSpPr>
        <p:spPr>
          <a:xfrm>
            <a:off x="8223504" y="4288536"/>
            <a:ext cx="310896" cy="310896"/>
          </a:xfrm>
          <a:prstGeom prst="ellipse">
            <a:avLst/>
          </a:prstGeom>
          <a:solidFill>
            <a:srgbClr val="1B3B6F"/>
          </a:solidFill>
          <a:ln w="12700">
            <a:solidFill>
              <a:srgbClr val="1B3B6F"/>
            </a:solidFill>
            <a:prstDash val="solid"/>
          </a:ln>
        </p:spPr>
      </p:sp>
      <p:sp>
        <p:nvSpPr>
          <p:cNvPr id="84" name="Text 81"/>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85" name="Text 82"/>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Subjunctive: complete — </a:t>
            </a:r>
            <a:pPr algn="l" indent="0" marL="0">
              <a:buNone/>
            </a:pPr>
            <a:r>
              <a:rPr lang="ar-SA" altLang="en-US" sz="1650" b="1" dirty="0">
                <a:solidFill>
                  <a:srgbClr val="1B3B6F"/>
                </a:solidFill>
                <a:latin typeface="Amiri" pitchFamily="2" charset="-78"/>
                <a:cs typeface="Amiri" pitchFamily="2" charset="-78"/>
              </a:rPr>
              <a:t>قَبْلَ أَنْ</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العَمَلَ</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86" name="Shape 83"/>
          <p:cNvSpPr/>
          <p:nvPr/>
        </p:nvSpPr>
        <p:spPr>
          <a:xfrm>
            <a:off x="8278368" y="4873752"/>
            <a:ext cx="256032" cy="256032"/>
          </a:xfrm>
          <a:prstGeom prst="ellipse">
            <a:avLst/>
          </a:prstGeom>
          <a:solidFill>
            <a:srgbClr val="F4F1EA"/>
          </a:solidFill>
          <a:ln w="12700">
            <a:solidFill>
              <a:srgbClr val="F4F1EA"/>
            </a:solidFill>
            <a:prstDash val="solid"/>
          </a:ln>
        </p:spPr>
      </p:sp>
      <p:sp>
        <p:nvSpPr>
          <p:cNvPr id="87" name="Text 84"/>
          <p:cNvSpPr txBox="1"/>
          <p:nvPr/>
        </p:nvSpPr>
        <p:spPr>
          <a:xfrm>
            <a:off x="827836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8" name="Text 85"/>
          <p:cNvSpPr txBox="1"/>
          <p:nvPr/>
        </p:nvSpPr>
        <p:spPr>
          <a:xfrm>
            <a:off x="8607552"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بَدَأَ</a:t>
            </a:r>
            <a:endParaRPr lang="ar-SA" sz="2050" dirty="0"/>
          </a:p>
        </p:txBody>
      </p:sp>
      <p:sp>
        <p:nvSpPr>
          <p:cNvPr id="89" name="Shape 86"/>
          <p:cNvSpPr/>
          <p:nvPr/>
        </p:nvSpPr>
        <p:spPr>
          <a:xfrm>
            <a:off x="8278368" y="5330952"/>
            <a:ext cx="256032" cy="256032"/>
          </a:xfrm>
          <a:prstGeom prst="ellipse">
            <a:avLst/>
          </a:prstGeom>
          <a:solidFill>
            <a:srgbClr val="F4F1EA"/>
          </a:solidFill>
          <a:ln w="12700">
            <a:solidFill>
              <a:srgbClr val="F4F1EA"/>
            </a:solidFill>
            <a:prstDash val="solid"/>
          </a:ln>
        </p:spPr>
      </p:sp>
      <p:sp>
        <p:nvSpPr>
          <p:cNvPr id="90" name="Text 87"/>
          <p:cNvSpPr txBox="1"/>
          <p:nvPr/>
        </p:nvSpPr>
        <p:spPr>
          <a:xfrm>
            <a:off x="827836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91" name="Text 88"/>
          <p:cNvSpPr txBox="1"/>
          <p:nvPr/>
        </p:nvSpPr>
        <p:spPr>
          <a:xfrm>
            <a:off x="8607552"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يَبْدَأَ</a:t>
            </a:r>
            <a:endParaRPr lang="ar-SA" sz="2050" dirty="0"/>
          </a:p>
        </p:txBody>
      </p:sp>
      <p:sp>
        <p:nvSpPr>
          <p:cNvPr id="92" name="Shape 89"/>
          <p:cNvSpPr/>
          <p:nvPr/>
        </p:nvSpPr>
        <p:spPr>
          <a:xfrm>
            <a:off x="8278368" y="5788152"/>
            <a:ext cx="256032" cy="256032"/>
          </a:xfrm>
          <a:prstGeom prst="ellipse">
            <a:avLst/>
          </a:prstGeom>
          <a:solidFill>
            <a:srgbClr val="F4F1EA"/>
          </a:solidFill>
          <a:ln w="12700">
            <a:solidFill>
              <a:srgbClr val="F4F1EA"/>
            </a:solidFill>
            <a:prstDash val="solid"/>
          </a:ln>
        </p:spPr>
      </p:sp>
      <p:sp>
        <p:nvSpPr>
          <p:cNvPr id="93" name="Text 90"/>
          <p:cNvSpPr txBox="1"/>
          <p:nvPr/>
        </p:nvSpPr>
        <p:spPr>
          <a:xfrm>
            <a:off x="827836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4" name="Text 91"/>
          <p:cNvSpPr txBox="1"/>
          <p:nvPr/>
        </p:nvSpPr>
        <p:spPr>
          <a:xfrm>
            <a:off x="8607552"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سَيَبْدَأُ</a:t>
            </a:r>
            <a:endParaRPr lang="ar-SA" sz="20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46 / 49</a:t>
            </a:r>
            <a:endParaRPr lang="en-US" sz="85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P2-L03 · Grammar</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MISSION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Mission: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P2-L03</a:t>
            </a:r>
            <a:endParaRPr lang="en-US" sz="850" dirty="0"/>
          </a:p>
        </p:txBody>
      </p:sp>
      <p:sp>
        <p:nvSpPr>
          <p:cNvPr id="16"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7"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8"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9"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Form: complete — </a:t>
            </a:r>
            <a:pPr algn="l" indent="0" marL="0">
              <a:buNone/>
            </a:pPr>
            <a:r>
              <a:rPr lang="ar-SA" altLang="en-US" sz="1650" b="1" dirty="0">
                <a:solidFill>
                  <a:srgbClr val="1B3B6F"/>
                </a:solidFill>
                <a:latin typeface="Amiri" pitchFamily="2" charset="-78"/>
                <a:cs typeface="Amiri" pitchFamily="2" charset="-78"/>
              </a:rPr>
              <a:t>كَانَ قَدْ</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فِي القَاهِرَةِ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20"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2" name="Text 20"/>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يَدْرُسُ</a:t>
            </a:r>
            <a:endParaRPr lang="ar-SA" sz="1700" dirty="0"/>
          </a:p>
        </p:txBody>
      </p:sp>
      <p:sp>
        <p:nvSpPr>
          <p:cNvPr id="23"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4"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5"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6" name="Text 24"/>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دَرَسَ</a:t>
            </a:r>
            <a:endParaRPr lang="ar-SA" sz="1700" dirty="0"/>
          </a:p>
        </p:txBody>
      </p:sp>
      <p:sp>
        <p:nvSpPr>
          <p:cNvPr id="27"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8"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7"/>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سَيَدْرُسُ</a:t>
            </a:r>
            <a:endParaRPr lang="ar-SA" sz="1700" dirty="0"/>
          </a:p>
        </p:txBody>
      </p:sp>
      <p:sp>
        <p:nvSpPr>
          <p:cNvPr id="30" name="Text 28"/>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verb after </a:t>
            </a:r>
            <a:pPr algn="l" indent="0" marL="0">
              <a:buNone/>
            </a:pPr>
            <a:r>
              <a:rPr lang="ar-SA" altLang="en-US" sz="1350" dirty="0">
                <a:solidFill>
                  <a:srgbClr val="8A6D1E"/>
                </a:solidFill>
                <a:latin typeface="Amiri" pitchFamily="2" charset="-78"/>
                <a:cs typeface="Amiri" pitchFamily="2" charset="-78"/>
              </a:rPr>
              <a:t>قَدْ</a:t>
            </a:r>
            <a:pPr algn="l" indent="0" marL="0">
              <a:buNone/>
            </a:pPr>
            <a:r>
              <a:rPr lang="en-US" sz="1050" i="1" dirty="0">
                <a:solidFill>
                  <a:srgbClr val="8A6D1E"/>
                </a:solidFill>
                <a:latin typeface="Calibri" pitchFamily="34" charset="0"/>
                <a:cs typeface="Amiri" pitchFamily="2" charset="-78"/>
              </a:rPr>
              <a:t> is past.</a:t>
            </a:r>
            <a:endParaRPr lang="en-US" sz="1050" dirty="0"/>
          </a:p>
        </p:txBody>
      </p:sp>
      <p:sp>
        <p:nvSpPr>
          <p:cNvPr id="31"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4"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Agreement (she): complete — ___ </a:t>
            </a:r>
            <a:pPr algn="l" indent="0" marL="0">
              <a:buNone/>
            </a:pPr>
            <a:r>
              <a:rPr lang="ar-SA" altLang="en-US" sz="1650" b="1" dirty="0">
                <a:solidFill>
                  <a:srgbClr val="1B3B6F"/>
                </a:solidFill>
                <a:latin typeface="Amiri" pitchFamily="2" charset="-78"/>
                <a:cs typeface="Amiri" pitchFamily="2" charset="-78"/>
              </a:rPr>
              <a:t>قَدْ حَصَلَتْ عَلَى مِنْحَةٍ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5" name="Shape 33"/>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6" name="Shape 34"/>
          <p:cNvSpPr/>
          <p:nvPr/>
        </p:nvSpPr>
        <p:spPr>
          <a:xfrm>
            <a:off x="4459224" y="2490216"/>
            <a:ext cx="256032" cy="256032"/>
          </a:xfrm>
          <a:prstGeom prst="ellipse">
            <a:avLst/>
          </a:prstGeom>
          <a:solidFill>
            <a:srgbClr val="2E8B57"/>
          </a:solidFill>
          <a:ln w="12700">
            <a:solidFill>
              <a:srgbClr val="2E8B57"/>
            </a:solidFill>
            <a:prstDash val="solid"/>
          </a:ln>
        </p:spPr>
      </p:sp>
      <p:sp>
        <p:nvSpPr>
          <p:cNvPr id="37" name="Text 35"/>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8" name="Text 36"/>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كَانَتْ</a:t>
            </a:r>
            <a:endParaRPr lang="ar-SA" sz="1700" dirty="0"/>
          </a:p>
        </p:txBody>
      </p:sp>
      <p:sp>
        <p:nvSpPr>
          <p:cNvPr id="39" name="Shape 37"/>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8"/>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9"/>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كَانَ</a:t>
            </a:r>
            <a:endParaRPr lang="ar-SA" sz="1700" dirty="0"/>
          </a:p>
        </p:txBody>
      </p:sp>
      <p:sp>
        <p:nvSpPr>
          <p:cNvPr id="42" name="Shape 40"/>
          <p:cNvSpPr/>
          <p:nvPr/>
        </p:nvSpPr>
        <p:spPr>
          <a:xfrm>
            <a:off x="4459224" y="3233928"/>
            <a:ext cx="256032" cy="256032"/>
          </a:xfrm>
          <a:prstGeom prst="ellipse">
            <a:avLst/>
          </a:prstGeom>
          <a:solidFill>
            <a:srgbClr val="C9CED6"/>
          </a:solidFill>
          <a:ln w="12700">
            <a:solidFill>
              <a:srgbClr val="C9CED6"/>
            </a:solidFill>
            <a:prstDash val="solid"/>
          </a:ln>
        </p:spPr>
      </p:sp>
      <p:sp>
        <p:nvSpPr>
          <p:cNvPr id="43"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4" name="Text 42"/>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كُنْتُ</a:t>
            </a:r>
            <a:endParaRPr lang="ar-SA" sz="1700" dirty="0"/>
          </a:p>
        </p:txBody>
      </p:sp>
      <p:sp>
        <p:nvSpPr>
          <p:cNvPr id="45" name="Text 43"/>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كَانَتْ</a:t>
            </a:r>
            <a:pPr algn="l" indent="0" marL="0">
              <a:buNone/>
            </a:pPr>
            <a:r>
              <a:rPr lang="en-US" sz="1050" i="1" dirty="0">
                <a:solidFill>
                  <a:srgbClr val="8A6D1E"/>
                </a:solidFill>
                <a:latin typeface="Calibri" pitchFamily="34" charset="0"/>
                <a:cs typeface="Amiri" pitchFamily="2" charset="-78"/>
              </a:rPr>
              <a:t> agrees with the feminine subject.</a:t>
            </a:r>
            <a:endParaRPr lang="en-US" sz="1050" dirty="0"/>
          </a:p>
        </p:txBody>
      </p:sp>
      <p:sp>
        <p:nvSpPr>
          <p:cNvPr id="46"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8"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9"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Agreement (I): complete — ___ </a:t>
            </a:r>
            <a:pPr algn="l" indent="0" marL="0">
              <a:buNone/>
            </a:pPr>
            <a:r>
              <a:rPr lang="ar-SA" altLang="en-US" sz="1650" b="1" dirty="0">
                <a:solidFill>
                  <a:srgbClr val="1B3B6F"/>
                </a:solidFill>
                <a:latin typeface="Amiri" pitchFamily="2" charset="-78"/>
                <a:cs typeface="Amiri" pitchFamily="2" charset="-78"/>
              </a:rPr>
              <a:t>قَدْ أَنْهَيْتُ بَحْثِي</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50" name="Shape 48"/>
          <p:cNvSpPr/>
          <p:nvPr/>
        </p:nvSpPr>
        <p:spPr>
          <a:xfrm>
            <a:off x="8278368" y="2490216"/>
            <a:ext cx="256032" cy="256032"/>
          </a:xfrm>
          <a:prstGeom prst="ellipse">
            <a:avLst/>
          </a:prstGeom>
          <a:solidFill>
            <a:srgbClr val="C9CED6"/>
          </a:solidFill>
          <a:ln w="12700">
            <a:solidFill>
              <a:srgbClr val="C9CED6"/>
            </a:solidFill>
            <a:prstDash val="solid"/>
          </a:ln>
        </p:spPr>
      </p:sp>
      <p:sp>
        <p:nvSpPr>
          <p:cNvPr id="51" name="Text 49"/>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2" name="Text 50"/>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كَانَ</a:t>
            </a:r>
            <a:endParaRPr lang="ar-SA" sz="1700" dirty="0"/>
          </a:p>
        </p:txBody>
      </p:sp>
      <p:sp>
        <p:nvSpPr>
          <p:cNvPr id="53" name="Shape 51"/>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2"/>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3"/>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كَانَتْ</a:t>
            </a:r>
            <a:endParaRPr lang="ar-SA" sz="1700" dirty="0"/>
          </a:p>
        </p:txBody>
      </p:sp>
      <p:sp>
        <p:nvSpPr>
          <p:cNvPr id="56" name="Shape 54"/>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7" name="Shape 55"/>
          <p:cNvSpPr/>
          <p:nvPr/>
        </p:nvSpPr>
        <p:spPr>
          <a:xfrm>
            <a:off x="8278368" y="3233928"/>
            <a:ext cx="256032" cy="256032"/>
          </a:xfrm>
          <a:prstGeom prst="ellipse">
            <a:avLst/>
          </a:prstGeom>
          <a:solidFill>
            <a:srgbClr val="2E8B57"/>
          </a:solidFill>
          <a:ln w="12700">
            <a:solidFill>
              <a:srgbClr val="2E8B57"/>
            </a:solidFill>
            <a:prstDash val="solid"/>
          </a:ln>
        </p:spPr>
      </p:sp>
      <p:sp>
        <p:nvSpPr>
          <p:cNvPr id="58"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9" name="Text 57"/>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كُنْتُ</a:t>
            </a:r>
            <a:endParaRPr lang="ar-SA" sz="1700" dirty="0"/>
          </a:p>
        </p:txBody>
      </p:sp>
      <p:sp>
        <p:nvSpPr>
          <p:cNvPr id="60" name="Text 58"/>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كُنْتُ</a:t>
            </a:r>
            <a:pPr algn="l" indent="0" marL="0">
              <a:buNone/>
            </a:pPr>
            <a:r>
              <a:rPr lang="en-US" sz="1050" i="1" dirty="0">
                <a:solidFill>
                  <a:srgbClr val="8A6D1E"/>
                </a:solidFill>
                <a:latin typeface="Calibri" pitchFamily="34" charset="0"/>
                <a:cs typeface="Amiri" pitchFamily="2" charset="-78"/>
              </a:rPr>
              <a:t> is the first-person form.</a:t>
            </a:r>
            <a:endParaRPr lang="en-US" sz="1050" dirty="0"/>
          </a:p>
        </p:txBody>
      </p:sp>
      <p:sp>
        <p:nvSpPr>
          <p:cNvPr id="61"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3"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4"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Agreement (they): complete — ___ </a:t>
            </a:r>
            <a:pPr algn="l" indent="0" marL="0">
              <a:buNone/>
            </a:pPr>
            <a:r>
              <a:rPr lang="ar-SA" altLang="en-US" sz="1650" b="1" dirty="0">
                <a:solidFill>
                  <a:srgbClr val="1B3B6F"/>
                </a:solidFill>
                <a:latin typeface="Amiri" pitchFamily="2" charset="-78"/>
                <a:cs typeface="Amiri" pitchFamily="2" charset="-78"/>
              </a:rPr>
              <a:t>قَدْ تَخَرَّجُوا</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65"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6"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7" name="Text 65"/>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كَانَ</a:t>
            </a:r>
            <a:endParaRPr lang="ar-SA" sz="1700" dirty="0"/>
          </a:p>
        </p:txBody>
      </p:sp>
      <p:sp>
        <p:nvSpPr>
          <p:cNvPr id="68" name="Shape 66"/>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7"/>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8"/>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كَانَتْ</a:t>
            </a:r>
            <a:endParaRPr lang="ar-SA" sz="1700" dirty="0"/>
          </a:p>
        </p:txBody>
      </p:sp>
      <p:sp>
        <p:nvSpPr>
          <p:cNvPr id="71" name="Shape 69"/>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2" name="Shape 70"/>
          <p:cNvSpPr/>
          <p:nvPr/>
        </p:nvSpPr>
        <p:spPr>
          <a:xfrm>
            <a:off x="640080" y="5574792"/>
            <a:ext cx="256032" cy="256032"/>
          </a:xfrm>
          <a:prstGeom prst="ellipse">
            <a:avLst/>
          </a:prstGeom>
          <a:solidFill>
            <a:srgbClr val="2E8B57"/>
          </a:solidFill>
          <a:ln w="12700">
            <a:solidFill>
              <a:srgbClr val="2E8B57"/>
            </a:solidFill>
            <a:prstDash val="solid"/>
          </a:ln>
        </p:spPr>
      </p:sp>
      <p:sp>
        <p:nvSpPr>
          <p:cNvPr id="73"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4" name="Text 72"/>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كَانُوا</a:t>
            </a:r>
            <a:endParaRPr lang="ar-SA" sz="1700" dirty="0"/>
          </a:p>
        </p:txBody>
      </p:sp>
      <p:sp>
        <p:nvSpPr>
          <p:cNvPr id="75" name="Text 73"/>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كَانُوا</a:t>
            </a:r>
            <a:pPr algn="l" indent="0" marL="0">
              <a:buNone/>
            </a:pPr>
            <a:r>
              <a:rPr lang="en-US" sz="1050" i="1" dirty="0">
                <a:solidFill>
                  <a:srgbClr val="8A6D1E"/>
                </a:solidFill>
                <a:latin typeface="Calibri" pitchFamily="34" charset="0"/>
                <a:cs typeface="Amiri" pitchFamily="2" charset="-78"/>
              </a:rPr>
              <a:t> agrees with the plural subject.</a:t>
            </a:r>
            <a:endParaRPr lang="en-US" sz="1050" dirty="0"/>
          </a:p>
        </p:txBody>
      </p:sp>
      <p:sp>
        <p:nvSpPr>
          <p:cNvPr id="76"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7"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8"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9"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Sequence: which is the earlier action?</a:t>
            </a:r>
            <a:endParaRPr lang="en-US" sz="1250" dirty="0"/>
          </a:p>
        </p:txBody>
      </p:sp>
      <p:sp>
        <p:nvSpPr>
          <p:cNvPr id="80"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1"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2"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3" name="Text 81"/>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كَانَ قَدْ دَرَسَ قَبْلَ أَنْ يَعْمَلَ.</a:t>
            </a:r>
            <a:endParaRPr lang="ar-SA" sz="1700" dirty="0"/>
          </a:p>
        </p:txBody>
      </p:sp>
      <p:sp>
        <p:nvSpPr>
          <p:cNvPr id="84"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5"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6" name="Text 84"/>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دَرَسَ ثُمَّ عَمِلَ فِي اليَوْمِ نَفْسِهِ.</a:t>
            </a:r>
            <a:endParaRPr lang="ar-SA" sz="1700" dirty="0"/>
          </a:p>
        </p:txBody>
      </p:sp>
      <p:sp>
        <p:nvSpPr>
          <p:cNvPr id="87"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8"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9" name="Text 87"/>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يَدْرُسُ وَيَعْمَلُ.</a:t>
            </a:r>
            <a:endParaRPr lang="ar-SA" sz="1700" dirty="0"/>
          </a:p>
        </p:txBody>
      </p:sp>
      <p:sp>
        <p:nvSpPr>
          <p:cNvPr id="90" name="Text 88"/>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كَانَ قَدْ</a:t>
            </a:r>
            <a:pPr algn="l" indent="0" marL="0">
              <a:buNone/>
            </a:pPr>
            <a:r>
              <a:rPr lang="en-US" sz="1050" i="1" dirty="0">
                <a:solidFill>
                  <a:srgbClr val="8A6D1E"/>
                </a:solidFill>
                <a:latin typeface="Calibri" pitchFamily="34" charset="0"/>
                <a:cs typeface="Amiri" pitchFamily="2" charset="-78"/>
              </a:rPr>
              <a:t> marks the earlier of two past actions.</a:t>
            </a:r>
            <a:endParaRPr lang="en-US" sz="1050" dirty="0"/>
          </a:p>
        </p:txBody>
      </p:sp>
      <p:sp>
        <p:nvSpPr>
          <p:cNvPr id="91" name="Shape 89"/>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2" name="Shape 90"/>
          <p:cNvSpPr/>
          <p:nvPr/>
        </p:nvSpPr>
        <p:spPr>
          <a:xfrm>
            <a:off x="8223504" y="4288536"/>
            <a:ext cx="310896" cy="310896"/>
          </a:xfrm>
          <a:prstGeom prst="ellipse">
            <a:avLst/>
          </a:prstGeom>
          <a:solidFill>
            <a:srgbClr val="1B3B6F"/>
          </a:solidFill>
          <a:ln w="12700">
            <a:solidFill>
              <a:srgbClr val="1B3B6F"/>
            </a:solidFill>
            <a:prstDash val="solid"/>
          </a:ln>
        </p:spPr>
      </p:sp>
      <p:sp>
        <p:nvSpPr>
          <p:cNvPr id="93" name="Text 91"/>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94" name="Text 92"/>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Subjunctive: complete — </a:t>
            </a:r>
            <a:pPr algn="l" indent="0" marL="0">
              <a:buNone/>
            </a:pPr>
            <a:r>
              <a:rPr lang="ar-SA" altLang="en-US" sz="1650" b="1" dirty="0">
                <a:solidFill>
                  <a:srgbClr val="1B3B6F"/>
                </a:solidFill>
                <a:latin typeface="Amiri" pitchFamily="2" charset="-78"/>
                <a:cs typeface="Amiri" pitchFamily="2" charset="-78"/>
              </a:rPr>
              <a:t>قَبْلَ أَنْ</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العَمَلَ</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95" name="Shape 93"/>
          <p:cNvSpPr/>
          <p:nvPr/>
        </p:nvSpPr>
        <p:spPr>
          <a:xfrm>
            <a:off x="8278368" y="4831080"/>
            <a:ext cx="256032" cy="256032"/>
          </a:xfrm>
          <a:prstGeom prst="ellipse">
            <a:avLst/>
          </a:prstGeom>
          <a:solidFill>
            <a:srgbClr val="C9CED6"/>
          </a:solidFill>
          <a:ln w="12700">
            <a:solidFill>
              <a:srgbClr val="C9CED6"/>
            </a:solidFill>
            <a:prstDash val="solid"/>
          </a:ln>
        </p:spPr>
      </p:sp>
      <p:sp>
        <p:nvSpPr>
          <p:cNvPr id="96" name="Text 94"/>
          <p:cNvSpPr txBox="1"/>
          <p:nvPr/>
        </p:nvSpPr>
        <p:spPr>
          <a:xfrm>
            <a:off x="827836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97" name="Text 95"/>
          <p:cNvSpPr txBox="1"/>
          <p:nvPr/>
        </p:nvSpPr>
        <p:spPr>
          <a:xfrm>
            <a:off x="8607552"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بَدَأَ</a:t>
            </a:r>
            <a:endParaRPr lang="ar-SA" sz="1700" dirty="0"/>
          </a:p>
        </p:txBody>
      </p:sp>
      <p:sp>
        <p:nvSpPr>
          <p:cNvPr id="98" name="Shape 96"/>
          <p:cNvSpPr/>
          <p:nvPr/>
        </p:nvSpPr>
        <p:spPr>
          <a:xfrm>
            <a:off x="8186928" y="5166360"/>
            <a:ext cx="3453384" cy="347472"/>
          </a:xfrm>
          <a:prstGeom prst="roundRect">
            <a:avLst>
              <a:gd name="adj" fmla="val 15789"/>
            </a:avLst>
          </a:prstGeom>
          <a:solidFill>
            <a:srgbClr val="E6F4EC"/>
          </a:solidFill>
          <a:ln w="9525">
            <a:solidFill>
              <a:srgbClr val="2E8B57"/>
            </a:solidFill>
            <a:prstDash val="solid"/>
          </a:ln>
        </p:spPr>
      </p:sp>
      <p:sp>
        <p:nvSpPr>
          <p:cNvPr id="99" name="Shape 97"/>
          <p:cNvSpPr/>
          <p:nvPr/>
        </p:nvSpPr>
        <p:spPr>
          <a:xfrm>
            <a:off x="8278368" y="5202936"/>
            <a:ext cx="256032" cy="256032"/>
          </a:xfrm>
          <a:prstGeom prst="ellipse">
            <a:avLst/>
          </a:prstGeom>
          <a:solidFill>
            <a:srgbClr val="2E8B57"/>
          </a:solidFill>
          <a:ln w="12700">
            <a:solidFill>
              <a:srgbClr val="2E8B57"/>
            </a:solidFill>
            <a:prstDash val="solid"/>
          </a:ln>
        </p:spPr>
      </p:sp>
      <p:sp>
        <p:nvSpPr>
          <p:cNvPr id="100" name="Text 98"/>
          <p:cNvSpPr txBox="1"/>
          <p:nvPr/>
        </p:nvSpPr>
        <p:spPr>
          <a:xfrm>
            <a:off x="8278368"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101" name="Text 99"/>
          <p:cNvSpPr txBox="1"/>
          <p:nvPr/>
        </p:nvSpPr>
        <p:spPr>
          <a:xfrm>
            <a:off x="8607552"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يَبْدَأَ</a:t>
            </a:r>
            <a:endParaRPr lang="ar-SA" sz="1700" dirty="0"/>
          </a:p>
        </p:txBody>
      </p:sp>
      <p:sp>
        <p:nvSpPr>
          <p:cNvPr id="102" name="Shape 100"/>
          <p:cNvSpPr/>
          <p:nvPr/>
        </p:nvSpPr>
        <p:spPr>
          <a:xfrm>
            <a:off x="8278368" y="5574792"/>
            <a:ext cx="256032" cy="256032"/>
          </a:xfrm>
          <a:prstGeom prst="ellipse">
            <a:avLst/>
          </a:prstGeom>
          <a:solidFill>
            <a:srgbClr val="C9CED6"/>
          </a:solidFill>
          <a:ln w="12700">
            <a:solidFill>
              <a:srgbClr val="C9CED6"/>
            </a:solidFill>
            <a:prstDash val="solid"/>
          </a:ln>
        </p:spPr>
      </p:sp>
      <p:sp>
        <p:nvSpPr>
          <p:cNvPr id="103" name="Text 101"/>
          <p:cNvSpPr txBox="1"/>
          <p:nvPr/>
        </p:nvSpPr>
        <p:spPr>
          <a:xfrm>
            <a:off x="827836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104" name="Text 102"/>
          <p:cNvSpPr txBox="1"/>
          <p:nvPr/>
        </p:nvSpPr>
        <p:spPr>
          <a:xfrm>
            <a:off x="8607552"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سَيَبْدَأُ</a:t>
            </a:r>
            <a:endParaRPr lang="ar-SA" sz="1700" dirty="0"/>
          </a:p>
        </p:txBody>
      </p:sp>
      <p:sp>
        <p:nvSpPr>
          <p:cNvPr id="105" name="Text 103"/>
          <p:cNvSpPr txBox="1"/>
          <p:nvPr/>
        </p:nvSpPr>
        <p:spPr>
          <a:xfrm>
            <a:off x="8223504"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قَبْلَ أَنْ</a:t>
            </a:r>
            <a:pPr algn="l" indent="0" marL="0">
              <a:buNone/>
            </a:pPr>
            <a:r>
              <a:rPr lang="en-US" sz="1050" i="1" dirty="0">
                <a:solidFill>
                  <a:srgbClr val="8A6D1E"/>
                </a:solidFill>
                <a:latin typeface="Calibri" pitchFamily="34" charset="0"/>
                <a:cs typeface="Amiri" pitchFamily="2" charset="-78"/>
              </a:rPr>
              <a:t> takes a subjunctive present verb.</a:t>
            </a:r>
            <a:endParaRPr lang="en-US" sz="1050" dirty="0"/>
          </a:p>
        </p:txBody>
      </p:sp>
      <p:sp>
        <p:nvSpPr>
          <p:cNvPr id="106" name="Text 10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47 / 49</a:t>
            </a:r>
            <a:endParaRPr lang="en-US" sz="85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P2-L03 · Grammar</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Before P2-L04: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P2-L03</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P2-L04 · Study Skills and Academic Success</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مَهَارَاتُ الدِّرَاسَةِ</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study skills</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تَنْظِيمُ الوَقْتِ</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time management</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خَرِيطَةٌ ذِهْنِيَّةٌ</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 mind map</a:t>
            </a:r>
            <a:pPr indent="0" marL="0">
              <a:buNone/>
            </a:pPr>
            <a:r>
              <a:rPr lang="en-US" sz="1000" i="1" dirty="0">
                <a:solidFill>
                  <a:srgbClr val="5A6472"/>
                </a:solidFill>
                <a:latin typeface="Calibri" pitchFamily="34" charset="0"/>
                <a:cs typeface="Amiri" pitchFamily="2" charset="-78"/>
              </a:rPr>
              <a:t>  pl. خَرَائِطُ ذِهْنِيَّةٌ</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مُلَخَّصٌ</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 summary</a:t>
            </a:r>
            <a:pPr indent="0" marL="0">
              <a:buNone/>
            </a:pPr>
            <a:r>
              <a:rPr lang="en-US" sz="1000" i="1" dirty="0">
                <a:solidFill>
                  <a:srgbClr val="5A6472"/>
                </a:solidFill>
                <a:latin typeface="Calibri" pitchFamily="34" charset="0"/>
                <a:cs typeface="Amiri" pitchFamily="2" charset="-78"/>
              </a:rPr>
              <a:t>  pl. مُلَخَّصَاتٌ</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التَّشْتِيتُ</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distraction</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How do you revise for a test — and what distracts you most?</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lnSpc>
                <a:spcPct val="120000"/>
              </a:lnSpc>
              <a:buNone/>
            </a:pPr>
            <a:r>
              <a:rPr lang="ar-SA" altLang="en-US" sz="1700" b="1" dirty="0">
                <a:solidFill>
                  <a:srgbClr val="1B3B6F"/>
                </a:solidFill>
                <a:latin typeface="Amiri" pitchFamily="2" charset="-78"/>
                <a:cs typeface="Amiri" pitchFamily="2" charset="-78"/>
              </a:rPr>
              <a:t>أُرَاجِعُ عَنْ طَرِيقِ ______ ، وَأَكْثَرُ شَيْءٍ يُشَتِّتُنِي هُوَ ______ .</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Learn the kāna forms; write five past-perfect sentences about your school life.</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A 60–80-word paragraph linking past events with qabla an and bi-ḥulūli.</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writing task: a 100–110-word university personal statement.</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48 / 49</a:t>
            </a:r>
            <a:endParaRPr lang="en-US" sz="85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P2-L03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250" b="1" dirty="0">
                <a:solidFill>
                  <a:srgbClr val="FFFFFF"/>
                </a:solidFill>
                <a:latin typeface="Cambria" pitchFamily="34" charset="0"/>
                <a:cs typeface="Amiri" pitchFamily="2" charset="-78"/>
              </a:rPr>
              <a:t>P2-L04 · Study Skills and Academic Success</a:t>
            </a:r>
            <a:endParaRPr lang="en-US" sz="22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cs typeface="Amiri" pitchFamily="2" charset="-78"/>
              </a:rPr>
              <a:t>مَهَارَاتُ الدِّرَاسَةِ وَالنَّجَاحُ الأَكَادِيمِيُّ</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the earlier action takes kāna qad + a past verb — kāna / kānat / kuntu / kānū agree, and so does the verb — qabla an + subjunctive for the later one — and bi-ḥulūli frames it all.</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49</Slides>
  <Notes>49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49</vt:i4>
      </vt:variant>
    </vt:vector>
  </HeadingPairs>
  <TitlesOfParts>
    <vt:vector size="5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P2-L03 · University Life and Higher Education</dc:title>
  <dc:subject>PptxGenJS Presentation</dc:subject>
  <dc:creator>Al Madina Online School · Arabic Department</dc:creator>
  <cp:lastModifiedBy>Al Madina Online School · Arabic Department</cp:lastModifiedBy>
  <cp:revision>1</cp:revision>
  <dcterms:created xsi:type="dcterms:W3CDTF">2026-10-11T06:43:00Z</dcterms:created>
  <dcterms:modified xsi:type="dcterms:W3CDTF">2026-10-11T06:43:00Z</dcterms:modified>
</cp:coreProperties>
</file>