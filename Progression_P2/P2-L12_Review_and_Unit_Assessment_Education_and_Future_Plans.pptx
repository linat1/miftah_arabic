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P3 target.
FLEX slides are optional. Use them if the class is moving quickly; otherwise the same activities are on the website for homework.
Content source: Miftah Arabic website, Pathways › Progression › P2 Education and Future Plans › P2-L12. The website P2-L12 is a four-skill, 60-mark unit assessment: a twelve-question grammar spine (revision, not counted), Part A listening (three texts — a student’s educational journey 8 · Sami and Layla: who said what 6 · a ministry official on reform 6 = 20), Part B1 reading (a university application statement: 10), Part B2 writing (five-field application form 5 + 140–155-word article 15, marked task / range / accuracy) and Part C speaking (role play: a university admissions interview 4 + topic conversation 6), then a P3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Futures are personal: the application form, article and role play may describe a fictional applicant. Do not press anyone about grades, family plans or finances.
• Accuracy focus today (the website mark scheme): qāla inna · all other verbs anna · kāna / kānat agreement with a past verb after qad · la- in the Type 2 result.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P2-L11.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إِنَّ · أَنَّ · قَالَ إِنَّهُ سَيَدْرُسُ الطِّبَّ · كَانَتْ قَدْ حَصَلَتْ · أَنْهَيْتُ · إِذَا دَرَسْتَ، سَتَنْجَحُ · لَوْ دَرَسَ، لَنَجَحَ · دَرَسَ · إِلَى · فِي · لِـ · أَنَّ التَّحْصِيلَ.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R / C / P / O and write the signal word (P2-L10). Question 2: إِنَّنِي = the speaker. Questions 3–4: idhā (real plan) vs law (counterfactual).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R / C / P / O and write the signal word (P2-L10). Question 5 is a statistic: سِتِّينَ بِالْمِئَةِ = 60%. Question 7 asks for the speaker’s OWN view (أَرَى أَنَّ).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R / C / P / O and write the signal word (P2-L10). Attribution: write S / L / both beside each question while listening — listen for the name before each line. Each recording may be played twice; students answer after the second reading.
SCRIPT: سَامِي: كَانَ العَالَمُ العَرَبِيُّ قَدْ أَسَّسَ أَرْقَى الأَنْظِمَةِ التَّعْلِيمِيَّةِ فِي العَصْرِ الذَّهَبِيِّ. لَيْلَى: أَتَّفِقُ، وَأَشَارَ المُؤَرِّخُونَ إِلَى أَنَّ دَارَ الحِكْمَةِ كَانَتْ قَدِ اسْتَقْطَبَتْ عُلَمَاءَ كَثِيرِينَ. سَامِي: لٰكِنَّ الإِصْلَاحَ اليَوْمَ ضَرُورِيٌّ؛ فَبَعْضُ المَنَاطِقِ تُعَانِي مِنْ أُمِّيَّةٍ. لَيْلَى: وَقَالَ خَبِيرٌ إِنَّ الاسْتِثْمَارَ فِي المُعَلِّمِ هُوَ الحَلُّ. سَامِي: وَلَوِ اسْتُثْمِرَ مُبَكِّرًا، لَتَغَيَّرَ الوَضْعُ كَثِيرًا. لَيْلَى: وَأَنَا أَرَى أَنَّ تَعْلِيمَ المَرْأَةِ أَوْلَوِيَّةٌ.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R / C / P / O and write the signal word (P2-L10). Listen for the reporting verbs (أَكَّدَ · أَشَارَ إِلَى · قَالَ إِنَّ · اعْتَرَفَ بِـ) and the two conditionals. Each recording may be played twice; students answer after the second reading.
SCRIPT: يَقُولُ مَسْؤُولٌ فِي الوِزَارَةِ: كَانَتِ الوِزَارَةُ قَدْ أَطْلَقَتْ خُطَّةَ إِصْلَاحٍ قَبْلَ ثَلَاثِ سَنَوَاتٍ. وَأَكَّدَ أَنَّ نِسْبَةَ الالْتِحَاقِ ارْتَفَعَتْ بَعْدَ الإِصْلَاحِ. وَأَشَارَ إِلَى أَنَّ الفَجْوَةَ بَيْنَ المَنَاطِقِ مَا زَالَتْ قَائِمَةً. وَقَالَ إِنَّهُ إِذَا اسْتَمَرَّ الاسْتِثْمَارُ، سَتَتَقَلَّصُ الفَجْوَةُ. وَاعْتَرَفَ بِأَنَّ تَدْرِيبَ المُعَلِّمِينَ يَحْتَاجُ إِلَى وَقْتٍ. وَلَوْ تَوَافَرَتْ مِيزَانِيَّةٌ أَكْبَرُ، لَكَانَ التَّقَدُّمُ أَسْرَعَ.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(P2-L08): the reporting verb tells you whose view it is · kāna qad = the background · idhā = a real plan · law =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R1 · R2 · R2 · R2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R3 · R3 · R3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2 must use كُنْتُ قَدْ + past; field 3 قَالَ إِنَّ (+ إِنَّنِي); field 4 a Type 1 conditional (إِذَا + past → سَـ). Students may describe a fictional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140–155-word article on education and future plans. Required: a past perfect, reported speech with a verb other than قَالَ, a Type 1 and a Type 2 conditional; formal connectors add credit. Mark scheme exactly as on the website (Accuracy: إِنَّ / أَنَّ 2 · كَانَ agreement 2 · the لَـ of the Type 2 result 1). The P2-L09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university admissions tutor: أَهْلًا وَسَهْلًا. حَدِّثْنِي عَنْ نَفْسِكَ وَعَنْ خَلْفِيَّتِكَ التَّعْلِيمِيَّةِ. Model answers: كُنْتُ قَدْ حَصَلْتُ عَلَى خِبْرَةٍ فِي البَرْمَجَةِ … · قَالَ أُسْتَاذِي إِنَّنِي مُجْتَهِدٌ … · إِذَا قُبِلْتُ، سَأَدْرُسُ الهَنْدَسَةَ … · مَا التَّخَصُّصُ الأَنْسَبُ لِطُمُوحِي؟ Website mark scheme: Communication (2): all four prompts are addressed clearly and relevantly. Accuracy (2): prompt 1 uses the past perfect and prompt 2 uses قَالَ إِنَّ, both formed correctly. The Type 1 plan in prompt 3 is accurate. To a girl: عَرِّفِي · صِفِي · قُولِي · اطْلُبِي · قُبِلْتِ.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(P2-L11). Website mark scheme: Communication (3): answers are developed with point, reason and example. Quality of language (3): the past perfect (Q1), reported speech (Q2) and a Type 2 conditional (Q3) all appear and are accurate. Record whether the candidate produces the Type 2 conditional spontaneously or avoids it. Allow time-buying and repair phrases (سُؤَالٌ مُهِمٌّ · دَعْنِي أُفَكِّرُ · عَفْوًا، أَقْصِدُ). To a girl: كُنْتِ قَدْ قَرَّرْتِهِ · مُسْتَقْبَلِكِ · مُعَلِّمُوكِ · طُمُوحَاتِكِ · لَدَيْكِ · سَتَخْتَارِينَ.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D-unit assessments. Return each student’s P2-L11 “priority error” sticky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(P3-L01 · Modes of Transport — Advanced Vocabulary and Formal Descriptions) will spend class time USING this language, so students prepare it tonight — short, simple, easy to access (school guidance: “Simple, Short, Interesting, Relevant, Easy to access”). Progression P3 begins with transport (website P3-L01 “Modes of Transport — Advanced Vocabulary and Formal Descriptions”).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Education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education and the future — qāla inna but akkada anna, kāna qad with full agreement, idhā … sa- for real plans and law … la- for the road not taken — then choose one precise target for Progression P3.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P2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P3: transport.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حَصَلَ عَلَى مِنْحَةٍ.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حَصَلَتْ عَلَى مِنْحَةٍ.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حَصَلَتْ عَلَى مِنْحَةٍ.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سَيَنْجَحُ.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دَرَسَ، 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يَتَفَوَّقُ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role play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 (for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قَدْ حَصَلَ عَلَى مِنْحَةٍ.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حَصَلَتْ عَلَى مِنْحَةٍ.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قَدْ حَصَلَتْ عَلَى مِنْحَةٍ.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دَرَسَ، 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دَرَسَ، سَيَنْجَحُ.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دَرَسَ، 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يَتَفَوَّقُ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قَالَ إِنَّ · كَانَتْ قَدْ … · إِذَا … سَـ · 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P2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قَالَ إِنَّهُ سَيَدْرُسُ الطِّبَّ · أَكَّدَ أَنَّ المَنَاهِجَ تَتَطَوَّرُ</a:t>
            </a:r>
            <a:endParaRPr lang="ar-SA" sz="21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كَانَتْ قَدْ حَصَلَتْ عَلَى مِنْحَةٍ · كُنْتُ قَدْ أَنْهَيْتُ بَحْثِي</a:t>
            </a:r>
            <a:endParaRPr lang="ar-SA" sz="21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 · P2-L06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إِذَا دَرَسْتَ، سَتَنْجَحُ · لَوْ دَرَسَ، لَنَجَحَ</a:t>
            </a:r>
            <a:endParaRPr lang="ar-SA" sz="21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P2-L01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أَشَارَ إِلَى أَنَّ · يَتَفَوَّقُ فِي · يُؤَهِّلُ لِـ</a:t>
            </a:r>
            <a:endParaRPr lang="ar-SA" sz="21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partner</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أَنَّ التَّحْصِيلَ يَتَحَسَّنُ</a:t>
            </a:r>
            <a:endParaRPr lang="ar-SA" sz="21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anna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student’s educational journey (8) · Sami and Layla (6) · a ministry official on reform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university application statement: main idea, detail, structure, source and reporting-verb gap-fills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form (5) + a 140–155-word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 university admissions interview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student’s educational journey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Decided on engineering and gained programming 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about the student?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Specialise in renewable energy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university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make no difference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better resources, the student would have progressed faster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refused help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A student’s educational journey (1):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Decided on engineering and gained programming 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about the student?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 is qualified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مُرْشِدِي إِنَّنِي مُؤَهَّلٌ.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Specialise in renewable energy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university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قُبِلْتُ … سَأَتَخَصَّصُ فِي الطَّاقَةِ المُتَجَدِّدَةِ.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make no difference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better resources, the student would have progressed faster</a:t>
            </a:r>
            <a:endParaRPr lang="en-US" sz="12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refused help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تَوَافَرَتْ لِي مَوَارِدُ أَفْضَلُ … لَكُنْتُ قَدْ تَقَدَّمْتُ أَسْرَعَ.</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student’s educational journey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acceptance rate does the report give?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student's effort will bear fruit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effort is useless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exams are easy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on exam pressure?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pleasant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great but drives them to work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future plan?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contribute to their field after graduating</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studying</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fields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A student’s educational journey (2):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acceptance rate does the report give?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نِسْبَةَ القَبُولِ … تَبْلُغُ سِتِّينَ بِالْمِئَةِ.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stress?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student's effort will bear fruit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effort is useless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exams are easy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on exam pressure?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pleasant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great but drives them to work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أَرَى أَنَّ ضَغْطَ الامْتِحَانَاتِ كَبِيرٌ، لٰكِنَّهُ يَدْفَعُنِي إِلَى العَمَلِ.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future plan?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contribute to their field after graduating</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studying</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fields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وَسَوْفَ أُسْهِمُ فِي مَجَالِي بَعْدَ التَّخَرُّجِ.</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Arab world had founded the finest systems in the Golden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historians about the House of Wisdom?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reform is necessary today?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reports an expert saying investment in the teacher is the solution?</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early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their own view that women's education is a priority?</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Arab world had founded the finest systems in the Golden Age?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كَانَ العَالَمُ العَرَبِيُّ قَدْ أَسَّسَ … فِي العَصْرِ الذَّهَبِيِّ.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historians about the House of Wisdom?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أَشَارَ المُؤَرِّخُونَ إِلَى أَنَّ دَارَ الحِكْمَةِ …</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reform is necessary today?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لٰكِنَّ الإِصْلَاحَ اليَوْمَ ضَرُورِيٌّ.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reports an expert saying investment in the teacher is the solution?</a:t>
            </a:r>
            <a:endParaRPr lang="en-US" sz="12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قَالَ خَبِيرٌ إِنَّ الاسْتِثْمَارَ فِي المُعَلِّمِ هُوَ الحَلُّ.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early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سَامِي: وَلَوِ اسْتُثْمِرَ مُبَكِّرًا، لَتَغَيَّرَ الوَضْعُ.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their own view that women's education is a priority?</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لَيْلَى: وَأَنَا أَرَى أَنَّ تَعْلِيمَ المَرْأَةِ أَوْلَوِيَّةٌ.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ministry official on reform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ministry did 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ministry had launched a reform plan three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rose after the reform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fell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was unchanged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has closed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never a gap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regional gap still exists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has stopped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cannot shrink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investment continues, the gap will shrink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concedes teacher training needs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finished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unnecessary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budget would slow progress</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larger budget, progress would have been faster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Budgets do not matter</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 ministry official on reform: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ministry did nothing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ministry had launched a reform plan three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الوِزَارَةُ قَدْ أَطْلَقَتْ خُطَّةَ إِصْلَاحٍ قَبْلَ ثَلَاثِ 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Enrolment rose after the reform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Enrolment fell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Enrolment was unchanged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أَكَّدَ أَنَّ نِسْبَةَ الالْتِحَاقِ ارْتَفَعَتْ بَعْدَ الإِصْلَاحِ.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has closed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never a gap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regional gap still exists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أَشَارَ إِلَى أَنَّ الفَجْوَةَ بَيْنَ المَنَاطِقِ مَا زَالَتْ قَائِمَةً.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has stopped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cannot shrink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investment continues, the gap will shrink</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اسْتَمَرَّ الاسْتِثْمَارُ، سَتَتَقَلَّصُ الفَجْوَةُ.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concedes teacher training needs time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finished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unnecessary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اعْتَرَفَ بِأَنَّ تَدْرِيبَ المُعَلِّمِينَ يَحْتَاجُ إِلَى وَقْتٍ.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larger budget would slow progress</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larger budget, progress would have been faster</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Budgets do not matter</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تَوَافَرَتْ مِيزَانِيَّةٌ أَكْبَرُ، لَكَانَ التَّقَدُّمُ أَسْرَعَ.</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university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الالْتِحَاقِ بِالجَامِعَةِ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أَتَقَدَّمُ بِطَلَبِ الالْتِحَاقِ بِكُلِّيَّةِ الطِّبِّ. كُنْتُ قَدْ قَرَّرْتُ هٰذَا المَسَارَ مُنْذُ المَرْحَلَةِ الإِعْدَادِيَّةِ، وَبِحُلُولِ الثَّانَوِيَّةِ كُنْتُ قَدْ أَنْجَزْتُ مَشْرُوعًا بَحْثِيًّا فِي عِلْمِ الأَحْيَاءِ. وَقَدْ قَالَ أُسْتَاذِي إِنَّنِي مُؤَهَّلٌ، وَأَكَّدَ أَنَّ اجْتِهَادِي سَيُثْمِرُ. إِذَا قُبِلْتُ، سَأُكَرِّسُ جُهْدِي لِلْبَحْثِ العِلْمِيِّ. وَلَوْ تَوَافَرَتْ لِي فُرَصٌ بَحْثِيَّةٌ مُبَكِّرًا، لَكُنْتُ قَدْ نَشَرْتُ دِرَاسَةً بِالفِعْلِ. أَطْمَحُ إِلَى خِدْمَةِ مُجْتَمَعِي، وَأَرَى أَنَّ الطِّبَّ رِسَالَةٌ لَا مِهْنَةٌ فَقَطْ. وَسَوْفَ أُوَاصِلُ تَطْوِيرَ مَهَارَاتِي طَوَالَ حَيَاتِي.</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applicant applying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at the faculty of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applicant completed by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medical degree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applicant do if accepted?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field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studying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effort to scientific research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applicant aspire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Serving their community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Becoming wealthy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Leaving the country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in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إِذَا قُبِلْتُ، سَأُكَرِّسُ جُهْدِي</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لَوْ تَوَافَرَتْ لِي فُرَصٌ بَحْثِيَّةٌ مُبَكِّرًا، لَكُنْتُ قَدْ نَشَرْتُ دِرَاسَةً</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كُنْتُ قَدْ أَنْجَزْتُ مَشْرُوعًا</a:t>
            </a:r>
            <a:endParaRPr lang="ar-SA" sz="120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applicant applying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place at the faculty of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أَتَقَدَّمُ بِطَلَبِ الالْتِحَاقِ بِكُلِّيَّةِ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applicant completed by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medical degree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بِحُلُولِ الثَّانَوِيَّةِ كُنْتُ قَدْ أَنْجَزْتُ مَشْرُوعًا بَحْثِيًّا فِي عِلْمِ الأَحْيَاءِ.</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applicant do if accepted?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field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studying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effort to scientific research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قُبِلْتُ، سَأُكَرِّسُ جُهْدِي لِلْبَحْثِ العِلْمِيِّ.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applicant aspire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Serving their community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Becoming wealthy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Leaving the country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أَطْمَحُ إِلَى خِدْمَةِ مُجْتَمَعِي.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in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إِذَا قُبِلْتُ، سَأُكَرِّسُ جُهْدِي</a:t>
            </a:r>
            <a:endParaRPr lang="ar-SA" sz="12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تَوَافَرَتْ لِي فُرَصٌ بَحْثِيَّةٌ مُبَكِّرًا، لَكُنْتُ قَدْ نَشَرْتُ دِرَاسَةً</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كُنْتُ قَدْ أَنْجَزْتُ مَشْرُوعًا</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hypothetical argument does that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Research is pointless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applicant refused research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Given earlier research chances, the applicant would already have published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past-perfect background in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إِذَا قُبِلْتُ سَأُكَرِّسُ جُهْدِي</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أَرَى أَنَّ الطِّبَّ رِسَالَةٌ</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كُنْتُ قَدْ قَرَّرْتُ هٰذَا المَسَارَ مُنْذُ الإِعْدَادِيَّةِ</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a:t>
            </a:r>
            <a:pPr algn="l" indent="0" marL="0">
              <a:buNone/>
            </a:pPr>
            <a:r>
              <a:rPr lang="ar-SA" altLang="en-US" sz="1650" b="1" dirty="0">
                <a:solidFill>
                  <a:srgbClr val="1B3B6F"/>
                </a:solidFill>
                <a:latin typeface="Amiri" pitchFamily="2" charset="-78"/>
                <a:cs typeface="Amiri" pitchFamily="2" charset="-78"/>
              </a:rPr>
              <a:t>مُؤَهَّلٌ</a:t>
            </a:r>
            <a:pPr algn="l" indent="0" marL="0">
              <a:buNone/>
            </a:pPr>
            <a:r>
              <a:rPr lang="en-US" sz="1250" b="1" dirty="0">
                <a:solidFill>
                  <a:srgbClr val="1B3B6F"/>
                </a:solidFill>
                <a:latin typeface="Calibri" pitchFamily="34" charset="0"/>
                <a:cs typeface="Amiri" pitchFamily="2" charset="-78"/>
              </a:rPr>
              <a:t>» — the applicant's or a cited source?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source: the teacher, via reported speech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applicant's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right reporting verb: ___ </a:t>
            </a:r>
            <a:pPr algn="l" indent="0" marL="0">
              <a:buNone/>
            </a:pPr>
            <a:r>
              <a:rPr lang="ar-SA" altLang="en-US" sz="1650" b="1" dirty="0">
                <a:solidFill>
                  <a:srgbClr val="1B3B6F"/>
                </a:solidFill>
                <a:latin typeface="Amiri" pitchFamily="2" charset="-78"/>
                <a:cs typeface="Amiri" pitchFamily="2" charset="-78"/>
              </a:rPr>
              <a:t>أُسْتَاذِي إِنَّنِي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اعْتَرَفَ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cs typeface="Amiri" pitchFamily="2" charset="-78"/>
              </a:rPr>
              <a:t>أَنَّ اجْتِهَادِي سَيُثْمِرُ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hypothetical argument does that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Research is pointless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applicant refused research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Given earlier research chances, the applicant would already have published</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 counterfactual: the early chances were not available, so nothing was published yet.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past-perfect background in the text.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إِذَا قُبِلْتُ سَأُكَرِّسُ جُهْدِي</a:t>
            </a:r>
            <a:endParaRPr lang="ar-SA" sz="16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أَرَى أَنَّ الطِّبَّ رِسَالَةٌ</a:t>
            </a:r>
            <a:endParaRPr lang="ar-SA" sz="16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قَدْ قَرَّرْتُ هٰذَا المَسَارَ مُنْذُ الإِعْدَادِيَّةِ</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a:t>
            </a:r>
            <a:pPr algn="l" indent="0" marL="0">
              <a:buNone/>
            </a:pPr>
            <a:r>
              <a:rPr lang="ar-SA" altLang="en-US" sz="1650" b="1" dirty="0">
                <a:solidFill>
                  <a:srgbClr val="1B3B6F"/>
                </a:solidFill>
                <a:latin typeface="Amiri" pitchFamily="2" charset="-78"/>
                <a:cs typeface="Amiri" pitchFamily="2" charset="-78"/>
              </a:rPr>
              <a:t>مُؤَهَّلٌ</a:t>
            </a:r>
            <a:pPr algn="l" indent="0" marL="0">
              <a:buNone/>
            </a:pPr>
            <a:r>
              <a:rPr lang="en-US" sz="1250" b="1" dirty="0">
                <a:solidFill>
                  <a:srgbClr val="1B3B6F"/>
                </a:solidFill>
                <a:latin typeface="Calibri" pitchFamily="34" charset="0"/>
                <a:cs typeface="Amiri" pitchFamily="2" charset="-78"/>
              </a:rPr>
              <a:t>» — the applicant's or a cited source?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cited source: the teacher, via reported speech</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applicant's own view</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 أُسْتَاذِي إِنَّنِي مُؤَهَّلٌ</a:t>
            </a:r>
            <a:pPr algn="l" indent="0" marL="0">
              <a:buNone/>
            </a:pPr>
            <a:r>
              <a:rPr lang="en-US" sz="1050" i="1" dirty="0">
                <a:solidFill>
                  <a:srgbClr val="8A6D1E"/>
                </a:solidFill>
                <a:latin typeface="Calibri" pitchFamily="34" charset="0"/>
                <a:cs typeface="Amiri" pitchFamily="2" charset="-78"/>
              </a:rPr>
              <a:t> — reported from the teacher.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right reporting verb: ___ </a:t>
            </a:r>
            <a:pPr algn="l" indent="0" marL="0">
              <a:buNone/>
            </a:pPr>
            <a:r>
              <a:rPr lang="ar-SA" altLang="en-US" sz="1650" b="1" dirty="0">
                <a:solidFill>
                  <a:srgbClr val="1B3B6F"/>
                </a:solidFill>
                <a:latin typeface="Amiri" pitchFamily="2" charset="-78"/>
                <a:cs typeface="Amiri" pitchFamily="2" charset="-78"/>
              </a:rPr>
              <a:t>أُسْتَاذِي إِنَّنِي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اعْتَرَفَ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follows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the other verbs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cs typeface="Amiri" pitchFamily="2" charset="-78"/>
              </a:rPr>
              <a:t>أَنَّ اجْتِهَادِي سَيُثْمِرُ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follows a reporting verb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such as </a:t>
            </a:r>
            <a:pPr algn="l" indent="0" marL="0">
              <a:buNone/>
            </a:pPr>
            <a:r>
              <a:rPr lang="ar-SA" altLang="en-US" sz="1350" dirty="0">
                <a:solidFill>
                  <a:srgbClr val="8A6D1E"/>
                </a:solidFill>
                <a:latin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APPLICATION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الالْتِحَاقِ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الشَّهَادَةُ أَوِ التَّخَصُّصُ الَّذِي تَسْعَى إِلَيْهِ</a:t>
            </a:r>
            <a:endParaRPr lang="ar-SA" sz="19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qualification or specialism you are seeking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إِنْجَازٌ سَابِقٌ بِاسْتِعْمَالِ «كُنْتُ قَدْ …»</a:t>
            </a:r>
            <a:endParaRPr lang="ar-SA" sz="19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prior achievement using the 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تَوْصِيَةُ مُعَلِّمِكَ بِاسْتِعْمَالِ الكَلَامِ المَنْقُولِ</a:t>
            </a:r>
            <a:endParaRPr lang="ar-SA" sz="19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Your teacher's recommendation using 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خُطَّةٌ شَرْطِيَّةٌ إِنْ قُبِلْتَ</a:t>
            </a:r>
            <a:endParaRPr lang="ar-SA" sz="19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conditional plan if accepted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طُمُوحٌ مُسْتَقْبَلِيٌّ وَاحِدٌ</a:t>
            </a:r>
            <a:endParaRPr lang="ar-SA" sz="19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future aspiration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بَكَالُورْيُوسُ الهَنْدَسَةِ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كُنْتُ قَدْ أَنْجَزْتُ مَشْرُوعًا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قَالَ أُسْتَاذِي إِنَّنِي مُؤَهَّلٌ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إِذَا قُبِلْتُ، سَأَتَخَصَّصُ</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cs typeface="Amiri" pitchFamily="2" charset="-78"/>
              </a:rPr>
              <a:t>أَطْمَحُ إِلَى</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140–155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التَّعْلِيمُ وَمُسْتَقْبَلِي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is described with academic vocabulary. · A past achievement is given with kāna qad, and a teacher/expert view with reported speech. · Both a Type 1 plan and a Type 2 hypothesis are present; 140-155 words, on topic.</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with a verb other than qāla (e.g. ashāra ilā anna, akkada anna). · A past perfect with correct agreement, and a Type 1 conditional (idhā + past → sa-). · A Type 2 conditional (law + past → la- + past) and a formal connector or academic verb.</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after qāla, anna after all other reporting verbs (2 marks). · kāna / kānat agreement in the past perfect (2 marks). · The la- prefix in the Type 2 result clause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the four moves (P2-L09): background · reality · analysis (idhā AND law) · conclusion.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 play: a university admissions interview</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مُقَابَلَةُ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background using the past perfect.</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عَرِّفْ بِنَفْسِكَ وَخَلْفِيَّتِكَ التَّعْلِيمِيَّةِ (كُنْتُ قَدْ حَصَلْتُ عَلَى …).</a:t>
            </a:r>
            <a:endParaRPr lang="ar-SA" sz="19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your teachers have said about you using reported speech.</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صِفْ مَا قَالَهُ مُعَلِّمُوكَ عَنْكَ (قَالَ أُسْتَاذِي إِنَّنِي …).</a:t>
            </a:r>
            <a:endParaRPr lang="ar-SA" sz="19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will study if accepted, using a Type 1 conditional.</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قُلْ مَاذَا سَتَدْرُسُ إِنْ قُبِلْتَ (إِذَا قُبِلْتُ، سَـ …).</a:t>
            </a:r>
            <a:endParaRPr lang="ar-SA" sz="19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advice about the specialism that best fits your ambition.</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اطْلُبْ نَصِيحَةً حَوْلَ التَّخَصُّصِ الأَنْسَبِ لِطُمُوحِكَ.</a:t>
            </a:r>
            <a:endParaRPr lang="ar-SA" sz="19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(prompt 1 past perfect · prompt 2 qāla inna · prompt 3 an accurate Type 1).</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had you decided about your future before this year?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مَا الَّذِي كُنْتَ قَدْ قَرَّرْتَهُ بِشَأْنِ مُسْتَقْبَلِكَ قَبْلَ هٰذَا العَامِ؟</a:t>
            </a:r>
            <a:endParaRPr lang="ar-SA" sz="19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your teachers say about your ambitions? → reported speech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مَاذَا قَالَ مُعَلِّمُوكَ عَنْ طُمُوحَاتِكَ؟</a:t>
            </a:r>
            <a:endParaRPr lang="ar-SA" sz="19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unlimited resources to learn anything, what would you choose?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كَانَتْ لَدَيْكَ مَوَارِدُ لَا نِهَائِيَّةٌ لِتَعَلُّمِ أَيِّ شَيْءٍ، مَاذَا سَتَخْتَارُ؟</a:t>
            </a:r>
            <a:endParaRPr lang="ar-SA" sz="19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is produced spontaneously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P2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academic Arabic about education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P2-L02, L03 and L06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report speech accurately (qāla inna · akkada anna · the right pronoun).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my background with kuntu qad +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make a real plan with idhā …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imagine the road not taken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an article with all five P2 structures and two formal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P3-L01 · Modes of Transport — Advanced Vocabulary and Formal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الخَطُّ الحَدِيدِيُّ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high-speed rail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مِتْرُو الأَنْفَاقِ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underground metro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يَسْتَغْرِقُ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takes (time)</a:t>
            </a:r>
            <a:pPr indent="0" marL="0">
              <a:buNone/>
            </a:pPr>
            <a:r>
              <a:rPr lang="en-US" sz="1000" i="1" dirty="0">
                <a:solidFill>
                  <a:srgbClr val="5A6472"/>
                </a:solidFill>
                <a:latin typeface="Calibri" pitchFamily="34" charset="0"/>
                <a:cs typeface="Amiri" pitchFamily="2" charset="-78"/>
              </a:rPr>
              <a:t>  تَسْتَغْرِقُ she / it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يَقْطَعُ مَسَافَةً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covers a distance</a:t>
            </a:r>
            <a:pPr indent="0" marL="0">
              <a:buNone/>
            </a:pPr>
            <a:r>
              <a:rPr lang="en-US" sz="1000" i="1" dirty="0">
                <a:solidFill>
                  <a:srgbClr val="5A6472"/>
                </a:solidFill>
                <a:latin typeface="Calibri" pitchFamily="34" charset="0"/>
                <a:cs typeface="Amiri" pitchFamily="2" charset="-78"/>
              </a:rPr>
              <a:t>  تَقْطَعُ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انْبِعَاثَاتُ الكَرْبُونِ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carbon emissions</a:t>
            </a:r>
            <a:pPr indent="0" marL="0">
              <a:buNone/>
            </a:pPr>
            <a:r>
              <a:rPr lang="en-US" sz="1000" i="1" dirty="0">
                <a:solidFill>
                  <a:srgbClr val="5A6472"/>
                </a:solidFill>
                <a:latin typeface="Calibri" pitchFamily="34" charset="0"/>
                <a:cs typeface="Amiri" pitchFamily="2" charset="-78"/>
              </a:rPr>
              <a:t>  sg. انْبِعَاثٌ</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travel to school or to the city, and how long does the journey take?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أُسَافِرُ إِلَى ______ بِوَاسِطَةِ ______ ، وَتَسْتَغْرِقُ الرِّحْلَةُ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P2-L12 section with your lowest score; learn the five P3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structure), then learn the five P3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comparing two ways to travel in your city,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P3-L01 · Modes of Transport — Advanced Vocabulary and Formal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وَسَائِلُ النَّقْلِ — المُفْرَدَاتُ المُتَقَدِّمَةُ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P2 complete — well done! Carry the P2 checklist into P3: qāla inna · others anna · kāna agrees, past after qad · idhā … sa- ·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P2-L12 · Review and Unit Assessment: Education and Future Plans</dc:title>
  <dc:subject>PptxGenJS Presentation</dc:subject>
  <dc:creator>Al Madina Online School · Arabic Department</dc:creator>
  <cp:lastModifiedBy>Al Madina Online School · Arabic Department</cp:lastModifiedBy>
  <cp:revision>1</cp:revision>
  <dcterms:created xsi:type="dcterms:W3CDTF">2026-10-11T06:43:06Z</dcterms:created>
  <dcterms:modified xsi:type="dcterms:W3CDTF">2026-10-11T06:43:06Z</dcterms:modified>
</cp:coreProperties>
</file>