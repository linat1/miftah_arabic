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spine (not marked) · 6–7 Assessment map · 7–21 Listening (20) · 21–29 Reading (10) · 29–46 Writing (20) · 46–56 Speaking (10, one-to-one or trusted pairs) · 56–60 Profile and P3 target.
FLEX slides are optional. Use them if the class is moving quickly; otherwise the same activities are on the website for homework.
Content source: Miftah Arabic website, Pathways › Progression › P2 Education and Future Plans › P2-L12. The website P2-L12 is a four-skill, 60-mark unit assessment: a twelve-question grammar spine (revision, not counted), Part A listening (three texts — a student’s educational journey 8 · Sami and Layla: who said what 6 · a ministry official on reform 6 = 20), Part B1 reading (a university application statement: 10), Part B2 writing (five-field application form 5 + 140–155-word article 15, marked task / range / accuracy) and Part C speaking (role play: a university admissions interview 4 + topic conversation 6), then a P3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Futures are personal: the application form, article and role play may describe a fictional applicant. Do not press anyone about grades, family plans or finances.
• Accuracy focus today (the website mark scheme): qāla inna · all other verbs anna · kāna / kānat agreement with a past verb after qad · la- in the Type 2 result.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P2-L11. Questions 2–5 are from the website twelve-question grammar spine (used diagnostically; the full spine is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twelve-question grammar spine, correct answers): إِنَّ · أَنَّ · قَالَ إِنَّهُ سَيَدْرُسُ الطِّبَّ · كَانَتْ قَدْ حَصَلَتْ · أَنْهَيْتُ · إِذَا دَرَسْتَ، سَتَنْجَحُ · لَوْ دَرَسَ، لَنَجَحَ · دَرَسَ · إِلَى · فِي · لِـ · أَنَّ التَّحْصِيلَ.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Part A, 20 marks). Before listening: label each question R / C / P / O and write the signal word (P2-L10). Question 2: إِنَّنِي = the speaker. Questions 3–4: idhā (real plan) vs law (counterfactual). Each recording may be played twice; students answer after the second reading.
SCRIPT: يَقُولُ الطَّالِبُ: بِحُلُولِ نِهَايَةِ الثَّانَوِيَّةِ، كُنْتُ قَدْ قَرَّرْتُ دِرَاسَةَ الهَنْدَسَةِ، وَكُنْتُ قَدْ حَصَلْتُ عَلَى خِبْرَةٍ عَمَلِيَّةٍ فِي البَرْمَجَةِ. قَالَ مُرْشِدِي إِنَّنِي مُؤَهَّلٌ، وَأَكَّدَ أَنَّ اجْتِهَادِي سَيُثْمِرُ. إِذَا قُبِلْتُ فِي الجَامِعَةِ الَّتِي أُرِيدُهَا، سَأَتَخَصَّصُ فِي الطَّاقَةِ المُتَجَدِّدَةِ. وَلَوْ تَوَافَرَتْ لِي مَوَارِدُ أَفْضَلُ مُبَكِّرًا، لَكُنْتُ قَدْ تَقَدَّمْتُ أَسْرَعَ. وَأَشَارَ تَقْرِيرٌ إِلَى أَنَّ نِسْبَةَ القَبُولِ فِي هٰذَا المَجَالِ تَبْلُغُ سِتِّينَ بِالْمِئَةِ. أَرَى أَنَّ ضَغْطَ الامْتِحَانَاتِ كَبِيرٌ، لٰكِنَّهُ يَدْفَعُنِي إِلَى العَمَلِ. وَسَوْفَ أُسْهِمُ فِي مَجَالِي بَعْدَ التَّخَرُّجِ.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/4. Reveal the script only after the attempt; ask which signal (a reporting verb + pronoun · كَانَ قَدْ · إِذَا / لَوْ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5–8 (website Part A, 20 marks). Before listening: label each question R / C / P / O and write the signal word (P2-L10). Question 5 is a statistic: سِتِّينَ بِالْمِئَةِ = 60%. Question 7 asks for the speaker’s OWN view (أَرَى أَنَّ). Each recording may be played twice; students answer after the second reading.
SCRIPT: يَقُولُ الطَّالِبُ: بِحُلُولِ نِهَايَةِ الثَّانَوِيَّةِ، كُنْتُ قَدْ قَرَّرْتُ دِرَاسَةَ الهَنْدَسَةِ، وَكُنْتُ قَدْ حَصَلْتُ عَلَى خِبْرَةٍ عَمَلِيَّةٍ فِي البَرْمَجَةِ. قَالَ مُرْشِدِي إِنَّنِي مُؤَهَّلٌ، وَأَكَّدَ أَنَّ اجْتِهَادِي سَيُثْمِرُ. إِذَا قُبِلْتُ فِي الجَامِعَةِ الَّتِي أُرِيدُهَا، سَأَتَخَصَّصُ فِي الطَّاقَةِ المُتَجَدِّدَةِ. وَلَوْ تَوَافَرَتْ لِي مَوَارِدُ أَفْضَلُ مُبَكِّرًا، لَكُنْتُ قَدْ تَقَدَّمْتُ أَسْرَعَ. وَأَشَارَ تَقْرِيرٌ إِلَى أَنَّ نِسْبَةَ القَبُولِ فِي هٰذَا المَجَالِ تَبْلُغُ سِتِّينَ بِالْمِئَةِ. أَرَى أَنَّ ضَغْطَ الامْتِحَانَاتِ كَبِيرٌ، لٰكِنَّهُ يَدْفَعُنِي إِلَى العَمَلِ. وَسَوْفَ أُسْهِمُ فِي مَجَالِي بَعْدَ التَّخَرُّجِ.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/4. Reveal the script only after the attempt; ask which signal (a reporting verb + pronoun · كَانَ قَدْ · إِذَا / لَوْ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Part A, 20 marks). Before listening: label each question R / C / P / O and write the signal word (P2-L10). Attribution: write S / L / both beside each question while listening — listen for the name before each line. Each recording may be played twice; students answer after the second reading.
SCRIPT: سَامِي: كَانَ العَالَمُ العَرَبِيُّ قَدْ أَسَّسَ أَرْقَى الأَنْظِمَةِ التَّعْلِيمِيَّةِ فِي العَصْرِ الذَّهَبِيِّ. لَيْلَى: أَتَّفِقُ، وَأَشَارَ المُؤَرِّخُونَ إِلَى أَنَّ دَارَ الحِكْمَةِ كَانَتْ قَدِ اسْتَقْطَبَتْ عُلَمَاءَ كَثِيرِينَ. سَامِي: لٰكِنَّ الإِصْلَاحَ اليَوْمَ ضَرُورِيٌّ؛ فَبَعْضُ المَنَاطِقِ تُعَانِي مِنْ أُمِّيَّةٍ. لَيْلَى: وَقَالَ خَبِيرٌ إِنَّ الاسْتِثْمَارَ فِي المُعَلِّمِ هُوَ الحَلُّ. سَامِي: وَلَوِ اسْتُثْمِرَ مُبَكِّرًا، لَتَغَيَّرَ الوَضْعُ كَثِيرًا. لَيْلَى: وَأَنَا أَرَى أَنَّ تَعْلِيمَ المَرْأَةِ أَوْلَوِيَّةٌ.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/6. Reveal the script only after the attempt; ask which signal (a reporting verb + pronoun · كَانَ قَدْ · إِذَا / لَوْ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6 QUESTIONS (website Part A, 20 marks). Before listening: label each question R / C / P / O and write the signal word (P2-L10). Listen for the reporting verbs (أَكَّدَ · أَشَارَ إِلَى · قَالَ إِنَّ · اعْتَرَفَ بِـ) and the two conditionals. Each recording may be played twice; students answer after the second reading.
SCRIPT: يَقُولُ مَسْؤُولٌ فِي الوِزَارَةِ: كَانَتِ الوِزَارَةُ قَدْ أَطْلَقَتْ خُطَّةَ إِصْلَاحٍ قَبْلَ ثَلَاثِ سَنَوَاتٍ. وَأَكَّدَ أَنَّ نِسْبَةَ الالْتِحَاقِ ارْتَفَعَتْ بَعْدَ الإِصْلَاحِ. وَأَشَارَ إِلَى أَنَّ الفَجْوَةَ بَيْنَ المَنَاطِقِ مَا زَالَتْ قَائِمَةً. وَقَالَ إِنَّهُ إِذَا اسْتَمَرَّ الاسْتِثْمَارُ، سَتَتَقَلَّصُ الفَجْوَةُ. وَاعْتَرَفَ بِأَنَّ تَدْرِيبَ المُعَلِّمِينَ يَحْتَاجُ إِلَى وَقْتٍ. وَلَوْ تَوَافَرَتْ مِيزَانِيَّةٌ أَكْبَرُ، لَكَانَ التَّقَدُّمُ أَسْرَعَ.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/6. Reveal the script only after the attempt; ask which signal (a reporting verb + pronoun · كَانَ قَدْ · إِذَا / لَوْ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B1). No English support on assessment texts. Strategy (P2-L08): the reporting verb tells you whose view it is · kāna qad = the background · idhā = a real plan · law = a counterfactual.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structure, source and argument · R4 reporting-verb gap-fill). Website skill labels for these questions: R1 · R2 · R2 · R2 · R3.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structure, source and argument · R4 reporting-verb gap-fill). Website skill labels for these questions: R3 · R3 · R3 · R4 · R4.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1 (website, 5 marks): one mark per field completed accurately in Arabic (a phrase is enough). Field 2 must use كُنْتُ قَدْ + past; field 3 قَالَ إِنَّ (+ إِنَّنِي); field 4 a Type 1 conditional (إِذَا + past → سَـ). Students may describe a fictional applicant.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2 (website, 15 marks): a 140–155-word article on education and future plans. Required: a past perfect, reported speech with a verb other than قَالَ, a Type 1 and a Type 2 conditional; formal connectors add credit. Mark scheme exactly as on the website (Accuracy: إِنَّ / أَنَّ 2 · كَانَ agreement 2 · the لَـ of the Type 2 result 1). The P2-L09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(website, 4 marks). Teacher plays a university admissions tutor: أَهْلًا وَسَهْلًا. حَدِّثْنِي عَنْ نَفْسِكَ وَعَنْ خَلْفِيَّتِكَ التَّعْلِيمِيَّةِ. Model answers: كُنْتُ قَدْ حَصَلْتُ عَلَى خِبْرَةٍ فِي البَرْمَجَةِ … · قَالَ أُسْتَاذِي إِنَّنِي مُجْتَهِدٌ … · إِذَا قُبِلْتُ، سَأَدْرُسُ الهَنْدَسَةَ … · مَا التَّخَصُّصُ الأَنْسَبُ لِطُمُوحِي؟ Website mark scheme: Communication (2): all four prompts are addressed clearly and relevantly. Accuracy (2): prompt 1 uses the past perfect and prompt 2 uses قَالَ إِنَّ, both formed correctly. The Type 1 plan in prompt 3 is accurate. To a girl: عَرِّفِي · صِفِي · قُولِي · اطْلُبِي · قُبِلْتِ.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(website, 6 marks): structure · reason · extra (P2-L11). Website mark scheme: Communication (3): answers are developed with point, reason and example. Quality of language (3): the past perfect (Q1), reported speech (Q2) and a Type 2 conditional (Q3) all appear and are accurate. Record whether the candidate produces the Type 2 conditional spontaneously or avoids it. Allow time-buying and repair phrases (سُؤَالٌ مُهِمٌّ · دَعْنِي أُفَكِّرُ · عَفْوًا، أَقْصِدُ). To a girl: كُنْتِ قَدْ قَرَّرْتِهِ · مُسْتَقْبَلِكِ · مُعَلِّمُوكِ · طُمُوحَاتِكِ · لَدَيْكِ · سَتَخْتَارِينَ.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P1 and D-unit assessments. Return each student’s P2-L11 “priority error” sticky note next to their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(P3-L01 · Modes of Transport — Advanced Vocabulary and Formal Descriptions) will spend class time USING this language, so students prepare it tonight — short, simple, easy to access (school guidance: “Simple, Short, Interesting, Relevant, Easy to access”). Progression P3 begins with transport (website P3-L01 “Modes of Transport — Advanced Vocabulary and Formal Descriptions”).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Education and Future Plans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education and the future — qāla inna but akkada anna, kāna qad with full agreement, idhā … sa- for real plans and law … la- for the road not taken — then choose one precise target for Progression P3.</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P2-L12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end of unit P2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P2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P3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P3: transport.</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comprehension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listening comprehension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role play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 (for a girl).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حَصَلَ عَلَى مِنْحَةٍ.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حَصَلَتْ عَلَى مِنْحَةٍ.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حَصَلَتْ عَلَى مِنْحَةٍ.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2 conditional.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نَجَحَ.</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سَيَنْجَحُ.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لَنَجَحَ.</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يَتَفَوَّقُ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comprehension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listening comprehension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role play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 (for a girl).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قَدْ حَصَلَ عَلَى مِنْحَةٍ.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حَصَلَتْ عَلَى مِنْحَةٍ.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قَدْ حَصَلَتْ عَلَى مِنْحَةٍ.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2 conditional.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دَرَسَ، نَجَحَ.</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دَرَسَ، سَيَنْجَحُ.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دَرَسَ، لَنَجَحَ.</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7.</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يَتَفَوَّقُ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10.</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قَالَ إِنَّ · كَانَتْ قَدْ … · إِذَا … سَـ · لَوْ … لَـ</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P2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P2 accuracy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P2-L02</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قَالَ إِنَّهُ سَيَدْرُسُ الطِّبَّ · أَكَّدَ أَنَّ المَنَاهِجَ تَتَطَوَّرُ</a:t>
            </a:r>
            <a:endParaRPr lang="ar-SA" sz="21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P2-L03</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كَانَتْ قَدْ حَصَلَتْ عَلَى مِنْحَةٍ · كُنْتُ قَدْ أَنْهَيْتُ بَحْثِي</a:t>
            </a:r>
            <a:endParaRPr lang="ar-SA" sz="21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 · P2-L06</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إِذَا دَرَسْتَ، سَتَنْجَحُ · لَوْ دَرَسَ، لَنَجَحَ</a:t>
            </a:r>
            <a:endParaRPr lang="ar-SA" sz="21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Type 2</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P2-L01 · L05</a:t>
            </a:r>
            <a:endParaRPr lang="en-US" sz="1100" dirty="0"/>
          </a:p>
        </p:txBody>
      </p:sp>
      <p:sp>
        <p:nvSpPr>
          <p:cNvPr id="39" name="Text 36"/>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أَشَارَ إِلَى أَنَّ · يَتَفَوَّقُ فِي · يُؤَهِّلُ لِـ</a:t>
            </a:r>
            <a:endParaRPr lang="ar-SA" sz="2100" dirty="0"/>
          </a:p>
        </p:txBody>
      </p:sp>
      <p:sp>
        <p:nvSpPr>
          <p:cNvPr id="40" name="Text 37"/>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partner</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P2-L02</a:t>
            </a:r>
            <a:endParaRPr lang="en-US" sz="1100" dirty="0"/>
          </a:p>
        </p:txBody>
      </p:sp>
      <p:sp>
        <p:nvSpPr>
          <p:cNvPr id="43" name="Text 40"/>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أَنَّ التَّحْصِيلَ يَتَحَسَّنُ</a:t>
            </a:r>
            <a:endParaRPr lang="ar-SA" sz="21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case after anna</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And one habit for every part today: name the structure the question needs before you answer.</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 student’s educational journey (8) · Sami and Layla (6) · a ministry official on reform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university application statement: main idea, detail, structure, source and reporting-verb gap-fills</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application form (5) + a 140–155-word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a university admissions interview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 student’s educational journey (1)</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done by the end of secondary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yet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Decided on engineering and gained programming experience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Started a job</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mentor say about the student?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student should stop</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field is closed</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student is qualified</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(Type 1) plan if accepted?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Specialise in renewable energy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university</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 about resources?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Resources make no difference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better resources, the student would have progressed faster</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refused help</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A student’s educational journey (1): answers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done by the end of secondary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yet</a:t>
            </a:r>
            <a:endParaRPr lang="en-US" sz="125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Decided on engineering and gained programming experience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Started a job</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قَرَّرْتُ … وَكُنْتُ قَدْ حَصَلْتُ عَلَى خِبْرَةٍ.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mentor say about the student?</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student should stop</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field is closed</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the student is qualified</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مُرْشِدِي إِنَّنِي مُؤَهَّلٌ.</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(Type 1) plan if accepted?</a:t>
            </a:r>
            <a:endParaRPr lang="en-US" sz="1250" dirty="0"/>
          </a:p>
        </p:txBody>
      </p:sp>
      <p:sp>
        <p:nvSpPr>
          <p:cNvPr id="49" name="Shape 46"/>
          <p:cNvSpPr/>
          <p:nvPr/>
        </p:nvSpPr>
        <p:spPr>
          <a:xfrm>
            <a:off x="548640" y="4794504"/>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4831080"/>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Specialise in renewable energy</a:t>
            </a:r>
            <a:endParaRPr lang="en-US" sz="125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university</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قُبِلْتُ … سَأَتَخَصَّصُ فِي الطَّاقَةِ المُتَجَدِّدَةِ.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 about resources?</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Resources make no difference</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With better resources, the student would have progressed faster</a:t>
            </a:r>
            <a:endParaRPr lang="en-US" sz="12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 refused help</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تَوَافَرَتْ لِي مَوَارِدُ أَفْضَلُ … لَكُنْتُ قَدْ تَقَدَّمْتُ أَسْرَعَ.</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 student’s educational journey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acceptance rate does the report give?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16%</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mentor stress?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student's effort will bear fruit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effort is useless</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exams are easy</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student's own view on exam pressure?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pleasant</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great but drives them to work</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exist</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student's future plan?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contribute to their field after graduating</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studying</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change fields</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A student’s educational journey (2): answers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acceptance rate does the report give?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16%</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نِسْبَةَ القَبُولِ … تَبْلُغُ سِتِّينَ بِالْمِئَةِ.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mentor stress?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the student's effort will bear fruit</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effort is useless</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exams are easy</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أَكَّدَ أَنَّ اجْتِهَادِي سَيُثْمِرُ.</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student's own view on exam pressure?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pleasant</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great but drives them to work</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exist</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أَرَى أَنَّ ضَغْطَ الامْتِحَانَاتِ كَبِيرٌ، لٰكِنَّهُ يَدْفَعُنِي إِلَى العَمَلِ.</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student's future plan?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contribute to their field after graduating</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studying</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change fields</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وَسَوْفَ أُسْهِمُ فِي مَجَالِي بَعْدَ التَّخَرُّجِ.</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 and Layla: 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the Arab world had founded the finest systems in the Golden 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cites historians about the House of Wisdom?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reform is necessary today?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 reports an expert saying investment in the teacher is the solution?</a:t>
            </a:r>
            <a:endParaRPr lang="en-US" sz="120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the Type 2 counterfactual about early investment?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gives their own view that women's education is a priority?</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Sami and Layla: who said what: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the Arab world had founded the finest systems in the Golden Age?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كَانَ العَالَمُ العَرَبِيُّ قَدْ أَسَّسَ … فِي العَصْرِ الذَّهَبِيِّ.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cites historians about the House of Wisdom?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أَشَارَ المُؤَرِّخُونَ إِلَى أَنَّ دَارَ الحِكْمَةِ …</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reform is necessary today?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لٰكِنَّ الإِصْلَاحَ اليَوْمَ ضَرُورِيٌّ.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 reports an expert saying investment in the teacher is the solution?</a:t>
            </a:r>
            <a:endParaRPr lang="en-US" sz="120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قَالَ خَبِيرٌ إِنَّ الاسْتِثْمَارَ فِي المُعَلِّمِ هُوَ الحَلُّ.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the Type 2 counterfactual about early investment?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وَلَوِ اسْتُثْمِرَ مُبَكِّرًا، لَتَغَيَّرَ الوَضْعُ.</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gives their own view that women's education is a priority?</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وَأَنَا أَرَى أَنَّ تَعْلِيمَ المَرْأَةِ أَوْلَوِيَّةٌ.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ministry official on reform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ministry did nothing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ministry had launched a reform plan three years earlier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 starts next year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Enrolment rose after the reform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Enrolment fell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Enrolment was unchanged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has closed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was never a gap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regional gap still exists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has stopped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cannot shrink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investment continues, the gap will shrink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official concedes teacher training needs time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is finished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is unnecessary</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larger budget would slow progress</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larger budget, progress would have been faster</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Budgets do not matter</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 ministry official on reform: answers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ministry did nothing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ministry had launched a reform plan three years earlier</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Reform starts next year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كَانَتِ الوِزَارَةُ قَدْ أَطْلَقَتْ خُطَّةَ إِصْلَاحٍ قَبْلَ ثَلَاثِ سَنَوَاتٍ.</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Enrolment rose after the reform</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Enrolment fell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Enrolment was unchanged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أَكَّدَ أَنَّ نِسْبَةَ الالْتِحَاقِ ارْتَفَعَتْ بَعْدَ الإِصْلَاحِ.</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has closed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was never a gap</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regional gap still exists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أَشَارَ إِلَى أَنَّ الفَجْوَةَ بَيْنَ المَنَاطِقِ مَا زَالَتْ قَائِمَةً.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has stopped</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cannot shrink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investment continues, the gap will shrink</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اسْتَمَرَّ الاسْتِثْمَارُ، سَتَتَقَلَّصُ الفَجْوَةُ.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official concedes teacher training needs time</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 is finished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 is unnecessary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اعْتَرَفَ بِأَنَّ تَدْرِيبَ المُعَلِّمِينَ يَحْتَاجُ إِلَى وَقْتٍ.</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larger budget would slow progress</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 larger budget, progress would have been faster</a:t>
            </a:r>
            <a:endParaRPr lang="en-US" sz="11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Budgets do not matter</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تَوَافَرَتْ مِيزَانِيَّةٌ أَكْبَرُ، لَكَانَ التَّقَدُّمُ أَسْرَعَ.</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university application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الالْتِحَاقِ بِالجَامِعَةِ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أَتَقَدَّمُ بِطَلَبِ الالْتِحَاقِ بِكُلِّيَّةِ الطِّبِّ. كُنْتُ قَدْ قَرَّرْتُ هٰذَا المَسَارَ مُنْذُ المَرْحَلَةِ الإِعْدَادِيَّةِ، وَبِحُلُولِ الثَّانَوِيَّةِ كُنْتُ قَدْ أَنْجَزْتُ مَشْرُوعًا بَحْثِيًّا فِي عِلْمِ الأَحْيَاءِ. وَقَدْ قَالَ أُسْتَاذِي إِنَّنِي مُؤَهَّلٌ، وَأَكَّدَ أَنَّ اجْتِهَادِي سَيُثْمِرُ. إِذَا قُبِلْتُ، سَأُكَرِّسُ جُهْدِي لِلْبَحْثِ العِلْمِيِّ. وَلَوْ تَوَافَرَتْ لِي فُرَصٌ بَحْثِيَّةٌ مُبَكِّرًا، لَكُنْتُ قَدْ نَشَرْتُ دِرَاسَةً بِالفِعْلِ. أَطْمَحُ إِلَى خِدْمَةِ مُجْتَمَعِي، وَأَرَى أَنَّ الطِّبَّ رِسَالَةٌ لَا مِهْنَةٌ فَقَطْ. وَسَوْفَ أُوَاصِلُ تَطْوِيرَ مَهَارَاتِي طَوَالَ حَيَاتِي.</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applicant applying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 at the faculty of medicine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teaching job</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 abroad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applicant completed by secondary school?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medical degree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biology research project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applicant do if accepted?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the field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studying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Devote effort to scientific research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applicant aspire to?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Serving their community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Becoming wealthy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Leaving the country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conditional in the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إِذَا قُبِلْتُ، سَأُكَرِّسُ جُهْدِي</a:t>
            </a:r>
            <a:endParaRPr lang="ar-SA" sz="12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لَوْ تَوَافَرَتْ لِي فُرَصٌ بَحْثِيَّةٌ مُبَكِّرًا، لَكُنْتُ قَدْ نَشَرْتُ دِرَاسَةً</a:t>
            </a:r>
            <a:endParaRPr lang="ar-SA" sz="1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كُنْتُ قَدْ أَنْجَزْتُ مَشْرُوعًا</a:t>
            </a:r>
            <a:endParaRPr lang="ar-SA" sz="120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applicant applying for?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place at the faculty of medicine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teaching job</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 abroad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أَتَقَدَّمُ بِطَلَبِ الالْتِحَاقِ بِكُلِّيَّةِ الطِّبِّ.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applicant completed by secondary school?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medical degree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biology research project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بِحُلُولِ الثَّانَوِيَّةِ كُنْتُ قَدْ أَنْجَزْتُ مَشْرُوعًا بَحْثِيًّا فِي عِلْمِ الأَحْيَاءِ.</a:t>
            </a:r>
            <a:endParaRPr lang="ar-SA" sz="11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applicant do if accepted?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the field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studying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Devote effort to scientific research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قُبِلْتُ، سَأُكَرِّسُ جُهْدِي لِلْبَحْثِ العِلْمِيِّ.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applicant aspire to?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Serving their community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Becoming wealthy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Leaving the country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أَطْمَحُ إِلَى خِدْمَةِ مُجْتَمَعِي.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conditional in the text.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إِذَا قُبِلْتُ، سَأُكَرِّسُ جُهْدِي</a:t>
            </a:r>
            <a:endParaRPr lang="ar-SA" sz="12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تَوَافَرَتْ لِي فُرَصٌ بَحْثِيَّةٌ مُبَكِّرًا، لَكُنْتُ قَدْ نَشَرْتُ دِرَاسَةً</a:t>
            </a:r>
            <a:endParaRPr lang="ar-SA"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كُنْتُ قَدْ أَنْجَزْتُ مَشْرُوعًا</a:t>
            </a:r>
            <a:endParaRPr lang="ar-SA" sz="12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Type 2 conditional.</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hypothetical argument does that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sentence make?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Research is pointless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applicant refused research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Given earlier research chances, the applicant would already have published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past-perfect background in the text.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إِذَا قُبِلْتُ سَأُكَرِّسُ جُهْدِي</a:t>
            </a:r>
            <a:endParaRPr lang="ar-SA" sz="16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أَرَى أَنَّ الطِّبَّ رِسَالَةٌ</a:t>
            </a:r>
            <a:endParaRPr lang="ar-SA" sz="16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كُنْتُ قَدْ قَرَّرْتُ هٰذَا المَسَارَ مُنْذُ الإِعْدَادِيَّةِ</a:t>
            </a:r>
            <a:endParaRPr lang="ar-SA" sz="160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view is «</a:t>
            </a:r>
            <a:pPr algn="l" indent="0" marL="0">
              <a:buNone/>
            </a:pPr>
            <a:r>
              <a:rPr lang="ar-SA" altLang="en-US" sz="1650" b="1" dirty="0">
                <a:solidFill>
                  <a:srgbClr val="1B3B6F"/>
                </a:solidFill>
                <a:latin typeface="Amiri" pitchFamily="2" charset="-78"/>
                <a:ea typeface="Amiri" pitchFamily="2" charset="-78"/>
                <a:cs typeface="Amiri" pitchFamily="2" charset="-78"/>
              </a:rPr>
              <a:t>مُؤَهَّلٌ</a:t>
            </a:r>
            <a:pPr algn="l" indent="0" marL="0">
              <a:buNone/>
            </a:pPr>
            <a:r>
              <a:rPr lang="en-US" sz="1250" b="1" dirty="0">
                <a:solidFill>
                  <a:srgbClr val="1B3B6F"/>
                </a:solidFill>
                <a:latin typeface="Calibri" pitchFamily="34" charset="0"/>
                <a:cs typeface="Amiri" pitchFamily="2" charset="-78"/>
              </a:rPr>
              <a:t>» — the applicant's or a cited source?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cited source: the teacher, via reported speech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applicant's own view</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with the right reporting verb: ___ </a:t>
            </a:r>
            <a:pPr algn="l" indent="0" marL="0">
              <a:buNone/>
            </a:pPr>
            <a:r>
              <a:rPr lang="ar-SA" altLang="en-US" sz="1650" b="1" dirty="0">
                <a:solidFill>
                  <a:srgbClr val="1B3B6F"/>
                </a:solidFill>
                <a:latin typeface="Amiri" pitchFamily="2" charset="-78"/>
                <a:ea typeface="Amiri" pitchFamily="2" charset="-78"/>
                <a:cs typeface="Amiri" pitchFamily="2" charset="-78"/>
              </a:rPr>
              <a:t>أُسْتَاذِي إِنَّنِي مُؤَهَّلٌ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اعْتَرَفَ</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___ </a:t>
            </a:r>
            <a:pPr algn="l" indent="0" marL="0">
              <a:buNone/>
            </a:pPr>
            <a:r>
              <a:rPr lang="ar-SA" altLang="en-US" sz="1650" b="1" dirty="0">
                <a:solidFill>
                  <a:srgbClr val="1B3B6F"/>
                </a:solidFill>
                <a:latin typeface="Amiri" pitchFamily="2" charset="-78"/>
                <a:ea typeface="Amiri" pitchFamily="2" charset="-78"/>
                <a:cs typeface="Amiri" pitchFamily="2" charset="-78"/>
              </a:rPr>
              <a:t>أَنَّ اجْتِهَادِي سَيُثْمِرُ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hypothetical argument does that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sentence make?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Research is pointless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applicant refused research</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Given earlier research chances, the applicant would already have published</a:t>
            </a:r>
            <a:endParaRPr lang="en-US" sz="11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a counterfactual: the early chances were not available, so nothing was published yet.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past-perfect background in the text.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إِذَا قُبِلْتُ سَأُكَرِّسُ جُهْدِي</a:t>
            </a:r>
            <a:endParaRPr lang="ar-SA" sz="16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أَرَى أَنَّ الطِّبَّ رِسَالَةٌ</a:t>
            </a:r>
            <a:endParaRPr lang="ar-SA" sz="16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كُنْتُ قَدْ قَرَّرْتُ هٰذَا المَسَارَ مُنْذُ الإِعْدَادِيَّةِ</a:t>
            </a:r>
            <a:endParaRPr lang="ar-SA" sz="16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 قَدْ</a:t>
            </a:r>
            <a:pPr algn="l" indent="0" marL="0">
              <a:buNone/>
            </a:pPr>
            <a:r>
              <a:rPr lang="en-US" sz="1050" i="1" dirty="0">
                <a:solidFill>
                  <a:srgbClr val="8A6D1E"/>
                </a:solidFill>
                <a:latin typeface="Calibri" pitchFamily="34" charset="0"/>
                <a:cs typeface="Amiri" pitchFamily="2" charset="-78"/>
              </a:rPr>
              <a:t> + past is the past perfect.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view is «</a:t>
            </a:r>
            <a:pPr algn="l" indent="0" marL="0">
              <a:buNone/>
            </a:pPr>
            <a:r>
              <a:rPr lang="ar-SA" altLang="en-US" sz="1650" b="1" dirty="0">
                <a:solidFill>
                  <a:srgbClr val="1B3B6F"/>
                </a:solidFill>
                <a:latin typeface="Amiri" pitchFamily="2" charset="-78"/>
                <a:ea typeface="Amiri" pitchFamily="2" charset="-78"/>
                <a:cs typeface="Amiri" pitchFamily="2" charset="-78"/>
              </a:rPr>
              <a:t>مُؤَهَّلٌ</a:t>
            </a:r>
            <a:pPr algn="l" indent="0" marL="0">
              <a:buNone/>
            </a:pPr>
            <a:r>
              <a:rPr lang="en-US" sz="1250" b="1" dirty="0">
                <a:solidFill>
                  <a:srgbClr val="1B3B6F"/>
                </a:solidFill>
                <a:latin typeface="Calibri" pitchFamily="34" charset="0"/>
                <a:cs typeface="Amiri" pitchFamily="2" charset="-78"/>
              </a:rPr>
              <a:t>» — the applicant's or a cited source?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cited source: the teacher, via reported speech</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applicant's own view</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 أُسْتَاذِي إِنَّنِي مُؤَهَّلٌ</a:t>
            </a:r>
            <a:pPr algn="l" indent="0" marL="0">
              <a:buNone/>
            </a:pPr>
            <a:r>
              <a:rPr lang="en-US" sz="1050" i="1" dirty="0">
                <a:solidFill>
                  <a:srgbClr val="8A6D1E"/>
                </a:solidFill>
                <a:latin typeface="Calibri" pitchFamily="34" charset="0"/>
                <a:cs typeface="Amiri" pitchFamily="2" charset="-78"/>
              </a:rPr>
              <a:t> — reported from the teacher.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with the right reporting verb: ___ </a:t>
            </a:r>
            <a:pPr algn="l" indent="0" marL="0">
              <a:buNone/>
            </a:pPr>
            <a:r>
              <a:rPr lang="ar-SA" altLang="en-US" sz="1650" b="1" dirty="0">
                <a:solidFill>
                  <a:srgbClr val="1B3B6F"/>
                </a:solidFill>
                <a:latin typeface="Amiri" pitchFamily="2" charset="-78"/>
                <a:ea typeface="Amiri" pitchFamily="2" charset="-78"/>
                <a:cs typeface="Amiri" pitchFamily="2" charset="-78"/>
              </a:rPr>
              <a:t>أُسْتَاذِي إِنَّنِي مُؤَهَّلٌ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اعْتَرَفَ</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 follows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the other verbs take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___ </a:t>
            </a:r>
            <a:pPr algn="l" indent="0" marL="0">
              <a:buNone/>
            </a:pPr>
            <a:r>
              <a:rPr lang="ar-SA" altLang="en-US" sz="1650" b="1" dirty="0">
                <a:solidFill>
                  <a:srgbClr val="1B3B6F"/>
                </a:solidFill>
                <a:latin typeface="Amiri" pitchFamily="2" charset="-78"/>
                <a:ea typeface="Amiri" pitchFamily="2" charset="-78"/>
                <a:cs typeface="Amiri" pitchFamily="2" charset="-78"/>
              </a:rPr>
              <a:t>أَنَّ اجْتِهَادِي سَيُثْمِرُ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follows a reporting verb other than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such as </a:t>
            </a:r>
            <a:pPr algn="l" indent="0" marL="0">
              <a:buNone/>
            </a:pPr>
            <a:r>
              <a:rPr lang="ar-SA" altLang="en-US" sz="1350" dirty="0">
                <a:solidFill>
                  <a:srgbClr val="8A6D1E"/>
                </a:solidFill>
                <a:latin typeface="Amiri" pitchFamily="2" charset="-78"/>
                <a:ea typeface="Amiri" pitchFamily="2" charset="-78"/>
                <a:cs typeface="Amiri" pitchFamily="2" charset="-78"/>
              </a:rPr>
              <a:t>أَكَّدَ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APPLICATION FORM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application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الالْتِحَاقِ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8404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الشَّهَادَةُ أَوِ التَّخَصُّصُ الَّذِي تَسْعَى إِلَيْهِ</a:t>
            </a:r>
            <a:endParaRPr lang="ar-SA" sz="19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qualification or specialism you are seeking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8404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إِنْجَازٌ سَابِقٌ بِاسْتِعْمَالِ «كُنْتُ قَدْ …»</a:t>
            </a:r>
            <a:endParaRPr lang="ar-SA" sz="19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 prior achievement using the past perfect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8404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تَوْصِيَةُ مُعَلِّمِكَ بِاسْتِعْمَالِ الكَلَامِ المَنْقُولِ</a:t>
            </a:r>
            <a:endParaRPr lang="ar-SA" sz="19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Your teacher's recommendation using reported speech</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8404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خُطَّةٌ شَرْطِيَّةٌ إِنْ قُبِلْتَ</a:t>
            </a:r>
            <a:endParaRPr lang="ar-SA" sz="19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 conditional plan if accepted</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8404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طُمُوحٌ مُسْتَقْبَلِيٌّ وَاحِدٌ</a:t>
            </a:r>
            <a:endParaRPr lang="ar-SA" sz="19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future aspiration</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ea typeface="Amiri" pitchFamily="2" charset="-78"/>
                <a:cs typeface="Amiri" pitchFamily="2" charset="-78"/>
              </a:rPr>
              <a:t>بَكَالُورْيُوسُ الهَنْدَسَةِ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كُنْتُ قَدْ أَنْجَزْتُ مَشْرُوعًا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قَالَ أُسْتَاذِي إِنَّنِي مُؤَهَّلٌ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إِذَا قُبِلْتُ، سَأَتَخَصَّصُ</a:t>
            </a:r>
            <a:pPr algn="l" indent="0" marL="0">
              <a:buNone/>
            </a:pPr>
            <a:r>
              <a:rPr lang="en-US" sz="1150" b="1" dirty="0">
                <a:solidFill>
                  <a:srgbClr val="1B3B6F"/>
                </a:solidFill>
                <a:latin typeface="Calibri" pitchFamily="34" charset="0"/>
                <a:cs typeface="Amiri" pitchFamily="2" charset="-78"/>
              </a:rPr>
              <a:t> … · </a:t>
            </a:r>
            <a:pPr algn="l" indent="0" marL="0">
              <a:buNone/>
            </a:pPr>
            <a:r>
              <a:rPr lang="ar-SA" altLang="en-US" sz="1500" b="1" dirty="0">
                <a:solidFill>
                  <a:srgbClr val="1B3B6F"/>
                </a:solidFill>
                <a:latin typeface="Amiri" pitchFamily="2" charset="-78"/>
                <a:ea typeface="Amiri" pitchFamily="2" charset="-78"/>
                <a:cs typeface="Amiri" pitchFamily="2" charset="-78"/>
              </a:rPr>
              <a:t>أَطْمَحُ إِلَى</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140–155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and my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التَّعْلِيمُ وَمُسْتَقْبَلِي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51636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(TC) /5</a:t>
            </a:r>
            <a:endParaRPr lang="en-US" sz="1100" dirty="0"/>
          </a:p>
        </p:txBody>
      </p:sp>
      <p:sp>
        <p:nvSpPr>
          <p:cNvPr id="20" name="Text 17"/>
          <p:cNvSpPr txBox="1"/>
          <p:nvPr/>
        </p:nvSpPr>
        <p:spPr>
          <a:xfrm>
            <a:off x="566928" y="2267712"/>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Education is described with academic vocabulary. · A past achievement is given with kāna qad, and a teacher/expert view with reported speech. · Both a Type 1 plan and a Type 2 hypothesis are present; 140-155 words, on topic.</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51636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 with a verb other than qāla (e.g. ashāra ilā anna, akkada anna). · A past perfect with correct agreement, and a Type 1 conditional (idhā + past → sa-). · A Type 2 conditional (law + past → la- + past) and a formal connector or academic verb.</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751636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 after qāla, anna after all other reporting verbs (2 marks). · kāna / kānat agreement in the past perfect (2 marks). · The la- prefix in the Type 2 result clause (1 mark).</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Plan the four moves (P2-L09): background · reality · analysis (idhā AND law) · conclusion.</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 play: a university admissions interview</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القَبُولِ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yourself and your background using the past perfect.</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عَرِّفْ بِنَفْسِكَ وَخَلْفِيَّتِكَ التَّعْلِيمِيَّةِ (كُنْتُ قَدْ حَصَلْتُ عَلَى …).</a:t>
            </a:r>
            <a:endParaRPr lang="ar-SA" sz="19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your teachers have said about you using reported speech.</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صِفْ مَا قَالَهُ مُعَلِّمُوكَ عَنْكَ (قَالَ أُسْتَاذِي إِنَّنِي …).</a:t>
            </a:r>
            <a:endParaRPr lang="ar-SA" sz="19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will study if accepted, using a Type 1 conditional.</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قُلْ مَاذَا سَتَدْرُسُ إِنْ قُبِلْتَ (إِذَا قُبِلْتُ، سَـ …).</a:t>
            </a:r>
            <a:endParaRPr lang="ar-SA" sz="19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advice about the specialism that best fits your ambition.</a:t>
            </a:r>
            <a:endParaRPr lang="en-US" sz="1100" dirty="0"/>
          </a:p>
        </p:txBody>
      </p:sp>
      <p:sp>
        <p:nvSpPr>
          <p:cNvPr id="35" name="Text 32"/>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اطْلُبْ نَصِيحَةً حَوْلَ التَّخَصُّصِ الأَنْسَبِ لِطُمُوحِكَ.</a:t>
            </a:r>
            <a:endParaRPr lang="ar-SA" sz="1900" dirty="0"/>
          </a:p>
        </p:txBody>
      </p:sp>
      <p:sp>
        <p:nvSpPr>
          <p:cNvPr id="36" name="Shape 3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2 · accuracy 2 (prompt 1 past perfect · prompt 2 qāla inna · prompt 3 an accurate Type 1).</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 → required</a:t>
            </a:r>
            <a:endParaRPr lang="en-US" sz="1100" dirty="0"/>
          </a:p>
        </p:txBody>
      </p:sp>
      <p:sp>
        <p:nvSpPr>
          <p:cNvPr id="17" name="Text 14"/>
          <p:cNvSpPr txBox="1"/>
          <p:nvPr/>
        </p:nvSpPr>
        <p:spPr>
          <a:xfrm>
            <a:off x="53035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327648" y="2267712"/>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had you decided about your future before this year? → past perfect required</a:t>
            </a:r>
            <a:endParaRPr lang="en-US" sz="1100" dirty="0"/>
          </a:p>
        </p:txBody>
      </p:sp>
      <p:sp>
        <p:nvSpPr>
          <p:cNvPr id="20" name="Text 17"/>
          <p:cNvSpPr txBox="1"/>
          <p:nvPr/>
        </p:nvSpPr>
        <p:spPr>
          <a:xfrm>
            <a:off x="548640" y="2267712"/>
            <a:ext cx="557784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الَّذِي كُنْتَ قَدْ قَرَّرْتَهُ بِشَأْنِ مُسْتَقْبَلِكَ قَبْلَ هٰذَا العَامِ؟</a:t>
            </a:r>
            <a:endParaRPr lang="ar-SA" sz="19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6327648" y="3054096"/>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your teachers say about your ambitions? → reported speech required</a:t>
            </a:r>
            <a:endParaRPr lang="en-US" sz="1100" dirty="0"/>
          </a:p>
        </p:txBody>
      </p:sp>
      <p:sp>
        <p:nvSpPr>
          <p:cNvPr id="23" name="Text 20"/>
          <p:cNvSpPr txBox="1"/>
          <p:nvPr/>
        </p:nvSpPr>
        <p:spPr>
          <a:xfrm>
            <a:off x="548640" y="3054096"/>
            <a:ext cx="557784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قَالَ مُعَلِّمُوكَ عَنْ طُمُوحَاتِكَ؟</a:t>
            </a:r>
            <a:endParaRPr lang="ar-SA" sz="19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6327648" y="3840480"/>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had unlimited resources to learn anything, what would you choose? → Type 2 conditional required</a:t>
            </a:r>
            <a:endParaRPr lang="en-US" sz="1100" dirty="0"/>
          </a:p>
        </p:txBody>
      </p:sp>
      <p:sp>
        <p:nvSpPr>
          <p:cNvPr id="26" name="Text 23"/>
          <p:cNvSpPr txBox="1"/>
          <p:nvPr/>
        </p:nvSpPr>
        <p:spPr>
          <a:xfrm>
            <a:off x="548640" y="3840480"/>
            <a:ext cx="557784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كَانَتْ لَدَيْكَ مَوَارِدُ لَا نِهَائِيَّةٌ لِتَعَلُّمِ أَيِّ شَيْءٍ، مَاذَا سَتَخْتَارُ؟</a:t>
            </a:r>
            <a:endParaRPr lang="ar-SA" sz="190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3 · quality of language 3 — the examiner records whether the Type 2 is produced spontaneously or avoided.</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P2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P2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accurate, varied, academic Arabic about education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P2-L02, L03 and L06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report speech accurately (qāla inna · akkada anna · the right pronoun).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my background with kuntu qad + past.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make a real plan with idhā … sa-.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imagine the road not taken with law … 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an article with all five P2 structures and two formal connectors.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P2-L12 · P2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P3-L01 · Modes of Transport — Advanced Vocabulary and Formal Descriptions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الخَطُّ الحَدِيدِيُّ السَّرِيعُ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high-speed rail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مِتْرُو الأَنْفَاقِ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underground metro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يَسْتَغْرِقُ</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takes (time)</a:t>
            </a:r>
            <a:pPr indent="0" marL="0">
              <a:buNone/>
            </a:pPr>
            <a:r>
              <a:rPr lang="ar-SA" sz="1000" i="1" dirty="0">
                <a:solidFill>
                  <a:srgbClr val="5A6472"/>
                </a:solidFill>
                <a:latin typeface="Calibri" pitchFamily="34" charset="0"/>
                <a:ea typeface="Amiri" pitchFamily="2" charset="-78"/>
                <a:cs typeface="Amiri" pitchFamily="2" charset="-78"/>
              </a:rPr>
              <a:t>  تَسْتَغْرِقُ she / it (f.)</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يَقْطَعُ مَسَافَةً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covers a distance</a:t>
            </a:r>
            <a:pPr indent="0" marL="0">
              <a:buNone/>
            </a:pPr>
            <a:r>
              <a:rPr lang="ar-SA" sz="1000" i="1" dirty="0">
                <a:solidFill>
                  <a:srgbClr val="5A6472"/>
                </a:solidFill>
                <a:latin typeface="Calibri" pitchFamily="34" charset="0"/>
                <a:ea typeface="Amiri" pitchFamily="2" charset="-78"/>
                <a:cs typeface="Amiri" pitchFamily="2" charset="-78"/>
              </a:rPr>
              <a:t>  تَقْطَعُ she / it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انْبِعَاثَاتُ الكَرْبُونِ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carbon emissions</a:t>
            </a:r>
            <a:pPr indent="0" marL="0">
              <a:buNone/>
            </a:pPr>
            <a:r>
              <a:rPr lang="ar-SA" sz="1000" i="1" dirty="0">
                <a:solidFill>
                  <a:srgbClr val="5A6472"/>
                </a:solidFill>
                <a:latin typeface="Calibri" pitchFamily="34" charset="0"/>
                <a:ea typeface="Amiri" pitchFamily="2" charset="-78"/>
                <a:cs typeface="Amiri" pitchFamily="2" charset="-78"/>
              </a:rPr>
              <a:t>  sg. انْبِعَاثٌ</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travel to school or to the city, and how long does the journey take?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أُسَافِرُ إِلَى ______ بِوَاسِطَةِ ______ ، وَتَسْتَغْرِقُ الرِّحْلَةُ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P2-L12 section with your lowest score; learn the five P3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(add a missing structure), then learn the five P3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comparing two ways to travel in your city, using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P3-L01 · Modes of Transport — Advanced Vocabulary and Formal Descriptions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وَسَائِلُ النَّقْلِ — المُفْرَدَاتُ المُتَقَدِّمَةُ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P2 complete — well done! Carry the P2 checklist into P3: qāla inna · others anna · kāna agrees, past after qad · idhā … sa- · law … la-.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P2-L12 · Review and Unit Assessment: Education and Future Plans</dc:title>
  <dc:subject>PptxGenJS Presentation</dc:subject>
  <dc:creator>Al Madina Online School · Arabic Department</dc:creator>
  <cp:lastModifiedBy>Al Madina Online School · Arabic Department</cp:lastModifiedBy>
  <cp:revision>1</cp:revision>
  <dcterms:created xsi:type="dcterms:W3CDTF">2026-10-11T06:43:06Z</dcterms:created>
  <dcterms:modified xsi:type="dcterms:W3CDTF">2026-10-11T06:43:06Z</dcterms:modified>
</cp:coreProperties>
</file>