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Lst>
  <p:notesMasterIdLst>
    <p:notesMasterId r:id="rId4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notesMaster" Target="notesMasters/notesMaster1.xml"/><Relationship Id="rId49" Type="http://schemas.openxmlformats.org/officeDocument/2006/relationships/presProps" Target="presProps.xml"/><Relationship Id="rId50" Type="http://schemas.openxmlformats.org/officeDocument/2006/relationships/viewProps" Target="viewProps.xml"/><Relationship Id="rId51" Type="http://schemas.openxmlformats.org/officeDocument/2006/relationships/theme" Target="theme/theme1.xml"/><Relationship Id="rId5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AT A GLANCE — planned for 56 minutes, leaving about 4 minutes for Teams delays.
0–1 Welcome · 1–2 Lesson map · 2–9 Do Now + answers · 9–10 Objectives · 10–17 Key words · 17–23 Grammar · 23–25 Quick check · 25–28 I Do · 28–37 We Do · 37–49 You Do (speaking 3 + writing 9, with live feedback) · 49–54 Feedback (model, self-check, exit ticket) · 54–56 Preparation for next lesson.
FLEX slides are optional. Use them if the class is moving quickly; otherwise the same activities are on the website for homework.
Content source: Miftah Arabic website, Pathways › Development › D1 Daily Routine and Time › D1-L03. The website lesson “How Often? — Frequency Adverbs in My Routine”: vocabulary, grammar rules and quiz, patterns, common mistakes, sorter, listening, reading, speaking prompts and model, writing task and model, differentiation, final check and the lesson mission. Picture match: website visual game “How Often? — Frequency Adverbs in My Routine”.
All vocabulary, grammar rules, quizzes, the listening script, the reading text, speaking prompts and model answers come from those pages, so students meet the same language in class and at home. Anything teacher-made (Core scaffolds, riddles, translations) is labelled in the notes.
SUPPORT FOR THIS CLASS (Arabic not yet secure; mixed levels):
• Core: a frequency LADDER (always → often → sometimes → rarely → never) + “every day / weekly”, attached to verbs from D1-L01. Develop: contrast two people with بَيْنَمَا (each verb keeps its own prefix!). Stretch: أَمَّا … فَـ and comparatives (أَكْثَرُ اِنْشِغَالًا مِنْ).
• The frequency ladder slide is visual (percentage bars) so that weaker readers can place words by meaning before reading them.
• Recycling: days of the week are assumed — show them on the whiteboard if needed (الاِثْنَيْنُ، الثُّلَاثَاءُ …).
• Urdu bridge: عادتاً، دائماً، ابد، معظم (a false friend)، مشغول.
• Colour code (same as all Miftah lessons): WHO = blue, MEANING = purple, ENDING = pink, PATTERN = orange, KEY WORD = teal.
• SEND “automatic doors”: lesson map, chunked tasks, read-along scripts with English, cover-the-text reading and “pass” for reading aloud are built in for everyone, so no one is singled out.
ROUTES: Core (green) = students whose Arabic is not yet secure; Develop (amber) = on track; Stretch (red) = confident. Same objective for everyone — the task changes, not the goal (EAL Guide: adapt the task, not the objective).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Questions 1–2 test two of the five words prepared at home. Questions 3–5 retrieve D1-L02 (time, schedule verbs) and D1-L01 (prefixes).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Frequency words say HOW OFTEN. بَيْنَمَا joins two complete sentences — check each verb’s prefix separately.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The route statements turn the website objectives into this lesson’s concrete targets.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HOW TO TEACH EACH GROUP (EAL pre-teaching routine, 7 min)
1. HEAR IT: say the word twice, clearly, with a gesture where possible.
2. SAY IT: choral repetition — “I say, you say” — then two volunteers.
3. SEE IT: point out the part of the word that carries today’s grammar (colour code).
4. USE IT: quick check — “Type the NUMBER of the word that means …” in the chat.
Transliteration is printed for Core students. Develop/Stretch students should cover it and read the Arabic.
FLEX groups are for fast classes or homework — every word is on the website vocabulary tab.
URDU BRIDGE: عادتاً (usually), دائماً (always — formal Urdu), ابد (eternity → لَا … أَبَدًا never), معظم (FALSE FRIEND: Urdu “great, honoured”; Arabic فِي مُعْظَمِ الأَيَّامِ = on most days), مشغول (busy → اِنْشِغَالًا, busier).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Week and schedule (website vocabulary (1 of 2)). Hear → Say → See → Use. Transliteration is printed for Core students (cover it for Develop/Stretch).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Week and schedule (website vocabulary (2 of 2)). Hear → Say → See → Use. Transliteration is printed for Core students (cover it for Develop/Stretch).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Contrast and comparison (website vocabulary (1 of 2)). Hear → Say → See → Use. Transliteration is printed for Core students (cover it for Develop/Stretch).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Contrast and comparison (website vocabulary (2 of 2)). Hear → Say → See → Use. Transliteration is printed for Core students (cover it for Develop/Stretch).
FLEX: teach if time allows; otherwise these are on the website vocabulary tab for homework.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Frequency range (website vocabulary (1 of 2)). Hear → Say → See → Use. Transliteration is printed for Core students (cover it for Develop/Stretch).
FLEX: teach if time allows; otherwise these are on the website vocabulary tab for homework.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Frequency range (website vocabulary (2 of 2)). Hear → Say → See → Use. Transliteration is printed for Core students (cover it for Develop/Stretch).
FLEX: teach if time allows; otherwise these are on the website vocabulary tab for homework.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FREQUENCY LADDER (website “Frequency range” + rule “Place frequency accurately”): frequency may follow the verb, or a phrase such as كَثِيرًا مَا may introduce the clause; لَا … أَبَدًا wraps the verb.
Quick-fire: say an activity; students show fingers 5 (always) → 0 (never), then say the Arabic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2 — website rules “Use بَيْنَمَا between two contrasting clauses”, “Use أَمَّا … فَـ to organise a comparison”, “Compare how busy days are” (website patterns 1, 2 and 4).
Website teaching point: “A weekly description should reveal patterns, contrasts and priorities rather than repeat seven separate lists.”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GRAMMAR RULES AND EXAMPLES (FLEX — revision or homework). Website overview: “Frequency is more than دَائِمًا and أَحْيَانًا. Control single-word adverbs, numerical frequency phrases and negative frames, then place each expression where it reads naturally.”
• Use بَيْنَمَا between two contrasting clauses: Both sides are complete clauses. The subjects may differ, so check each verb prefix independently.
• Use أَمَّا ... فَـ to organise a comparison: أَمَّا introduces the topic and فَـ begins the comment.
• Place frequency accurately: Frequency may follow the verb, or a phrase such as كَثِيرًا مَا may introduce the clause.
• Compare how busy days are: The comparative phrase describes the difference between two days or schedules.
Website common error: Do not write بَيْنَمَا أَخِي أَذْهَبُ. If the subject is أَخِي, the verb is يَذْهَبُ.</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website grammar quiz questions 1, 3, 4, 5.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(3 min) — website patterns combined into one short comparison, with a think-aloud. Students copy it and underline every frequency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SENTENCES (1 min) — website patterns. Students copy TWO that are useful for them.
• Core: copy one and change one word. • Develop: copy two and change the subject. • Stretch: combine two into one longer sentence with a connector.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the website’s interactive lesson game (“Visual game — How Often? — Frequency Adverbs in My Routine”)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Website visual game (3 of 6: always, sometimes, never). Other cards for homework: غَالِبًا (often), نَادِرًا (rarely), كُلَّ يَوْمٍ (every 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the website’s interactive lesson game (“Visual game — How Often? — Frequency Adverbs in My Routine”)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Website visual game (3 of 6: always, sometimes, never). Other cards for homework: غَالِبًا (often), نَادِرًا (rarely), كُلَّ يَوْمٍ (every 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Website instruction: Place each phrase on the correct frequency scale.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Website instruction: Place each phrase on the correct frequency scale.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quiz questions 2, 6, 7, 8 (FLEX, 2 min). If time is short these are homework on the website.
“Show me” alternative: students hold up A/B/C fingers to camera.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link each to the grammar rule or vocabulary card it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LISTENING (4 min) — website script. Read it aloud yourself, twice, at natural speed with pauses.
Before listening: students read the questions (● 30s). Core: questions 1, 2 and 4. Develop / Stretch: all 5.
Listen 1: just listen. Listen 2: note answers. Then chat the letters.
Support: after the second listening, show the read-along slide (Arabic + English, line by line) for Core students.
SCRIPT (read aloud):
يَقُولُ عُمَرُ: يَوْمُ الاِثْنَيْنِ أَكْثَرُ أَيَّامِي اِنْشِغَالًا؛ فَبَعْدَ المَدْرَسَةِ أَذْهَبُ إِلَى دَرْسٍ إِضَافِيٍّ، ثُمَّ أَتَمَرَّنُ فِي المَسَاءِ. أَمَّا يَوْمُ الثُّلَاثَاءِ فَهُوَ أَهْدَأُ، وَغَالِبًا مَا أُكْمِلُ وَاجِبِي مُبَكِّرًا. وَتَقُولُ هَنَاءُ: أَنَا أَتَمَرَّنُ مَرَّتَيْنِ فِي الأُسْبُوعِ، بَيْنَمَا يَتَمَرَّنُ أَخِي يَوْمِيًّا. نِهَايَةُ أُسْبُوعِي أَقَلُّ تَنْظِيمًا مِنْ أَيَّامِ الدِّرَاسَةِ، لِأَنَّ مَوَاعِيدِي تَتَغَيَّرُ.</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READ-ALONG (Core support) — show AFTER the second listening. The Arabic is the website script, line by line; the English is a teacher translation.
Read it once more while Core students follow. Annotate the words that gave each answer.
Stretch: cover the English column and translate one line aloud.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answers. For each, ask “Which Arabic words gave you the answer?” — the evidence line is under each card.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SPEAKING REHEARSAL (3 min) — website speaking prompts (the Core prompt is teacher-made). No breakout rooms (saves setup time).
Sequence: ● 10s think → ↔ 45s everyone rehearses their answer aloud with mic muted → ◎ pairs on open mic: name two students (warned in advance); A asks, B answers; the rest of the class types one follow-up question in chat (+ / ?) → ↺ one student summarises the answer they heard.
Routes: Core uses the Core prompt and stem; Develop the Develop prompts; Stretch the last prompt.
Model (website) at the bottom — read it with a confident student first. The website model continues:
Core prompt (teacher-made): “What do you do every day? What do you never do?” Website Stretch goal: a 30–45-second answer with contrast, evidence and a balanced judgement.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(9 min writing). Steer routes using the Do Now and quick-check results.
Website differentiation tasks: Core — Describe three regular weekly activities. · Develop — Compare two days using بَيْنَمَا and a comparative. · Stretch — Produce a 45-second answer with contrast, evidence and a balanced judgement.
Website writing task (Stretch): Write 100–120 words comparing how often you complete school-day and weekend activities.
LIVE FEEDBACK: students post their first two sentences in the chat (or OneNote) after 3 minutes. Scan and correct misconceptions immediately — use private chat for individual corrections (Behaviour: quiet, individual).
Work with the less able: stay with Core students for the first 3 minutes; Develop/Stretch continue independently. SEND: chunk the Core task — “two sentences, then show me”.
Extension (fast finishers): the reading on the Extension slides. Pastoral: Self-Management point for students who work without prompting.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Stretch students work from this slide. Checklist = website writing checklist; phrase bank = phrases from the website model, reading text and listening script. Live feedback for Stretch: check the target structures appear and are accurate.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FEEDBACK (1 min) — website model answer, with an English translation for Core students.
Students find in the model (● 20s → ◎) the four items on the chips. Evidence: يَوْمِيًّا · مَرَّتَيْنِ فِي الأُسْبُوعِ · فَقَطْ · مِنْ حِينٍ إِلَى آخَرَ · بَيْنَمَا أَزُورُ · أَمَّا نِهَايَةُ الأُسْبُوعِ فَهِيَ · أَكْثَرُ اِنْشِغَالًا مِنْ.
Then each student chooses ONE thing from the model to add to their own writing (specific, actionable feedback on the success criteria).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6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EXTENSION — website reading text. For fast finishers during You Do, or Stretch homework. “You don’t need every word; find the words the question asks about.”
The green key-words panel is a teacher-made glossary so Develop students can also attempt it.
SEND reading strategy (Toolkit 1): cover the text with a piece of paper and uncover one sentence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questions from the website. The detective steps follow the SEND “modular reading” strategy: read one part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from the website, with the evidence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LESSON MISSION (FLEX) — fast finishers or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(D1-L04 · Before and After — Sequencing My Day) will spend class time USING this language, so students prepare it tonight — short, simple, easy to access (school guidance: “Simple, Short, Interesting, Relevant, Easy to access”). The five words come from the website D1-L04 vocabulary (sequence structures and afternoon actions).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image" Target="../media/image-21-3.png"/><Relationship Id="rId4" Type="http://schemas.openxmlformats.org/officeDocument/2006/relationships/image" Target="../media/image-21-4.png"/><Relationship Id="rId5" Type="http://schemas.openxmlformats.org/officeDocument/2006/relationships/image" Target="../media/image-21-5.png"/><Relationship Id="rId6" Type="http://schemas.openxmlformats.org/officeDocument/2006/relationships/image" Target="../media/image-21-6.png"/><Relationship Id="rId7" Type="http://schemas.openxmlformats.org/officeDocument/2006/relationships/slideLayout" Target="../slideLayouts/slideLayout1.xml"/><Relationship Id="rId8"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image" Target="../media/image-22-3.png"/><Relationship Id="rId4" Type="http://schemas.openxmlformats.org/officeDocument/2006/relationships/image" Target="../media/image-22-4.png"/><Relationship Id="rId5" Type="http://schemas.openxmlformats.org/officeDocument/2006/relationships/image" Target="../media/image-22-5.png"/><Relationship Id="rId6" Type="http://schemas.openxmlformats.org/officeDocument/2006/relationships/image" Target="../media/image-22-6.png"/><Relationship Id="rId7" Type="http://schemas.openxmlformats.org/officeDocument/2006/relationships/slideLayout" Target="../slideLayouts/slideLayout1.xml"/><Relationship Id="rId8"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1.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1.xml"/><Relationship Id="rId3" Type="http://schemas.openxmlformats.org/officeDocument/2006/relationships/notesSlide" Target="../notesSlides/notesSlide4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34" charset="0"/>
                <a:ea typeface="Amiri" pitchFamily="34" charset="-122"/>
                <a:cs typeface="Amiri" pitchFamily="34" charset="-120"/>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ea typeface="Cambria" pitchFamily="34" charset="-122"/>
                <a:cs typeface="Cambria" pitchFamily="34" charset="-120"/>
              </a:rPr>
              <a:t>Al Madina Online School</a:t>
            </a:r>
            <a:endParaRPr lang="en-US" sz="1400" dirty="0"/>
          </a:p>
          <a:p>
            <a:pPr indent="0" marL="0">
              <a:buNone/>
            </a:pPr>
            <a:r>
              <a:rPr lang="en-US" sz="800" b="1" spc="200" kern="0" dirty="0">
                <a:solidFill>
                  <a:srgbClr val="D4AF37"/>
                </a:solidFill>
                <a:latin typeface="Calibri" pitchFamily="34" charset="0"/>
                <a:ea typeface="Calibri" pitchFamily="34" charset="-122"/>
                <a:cs typeface="Calibri" pitchFamily="34" charset="-120"/>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ea typeface="Calibri" pitchFamily="34" charset="-122"/>
                <a:cs typeface="Calibri" pitchFamily="34" charset="-120"/>
              </a:rPr>
              <a:t>CAMBRIDGE IGCSE ARABIC 0544  ·  YEAR 8  ·  DEVELOPMENT D1  ·  D1-L03</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ea typeface="Cambria" pitchFamily="34" charset="-122"/>
                <a:cs typeface="Cambria" pitchFamily="34" charset="-120"/>
              </a:rPr>
              <a:t>D1-L03</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2650" b="1" dirty="0">
                <a:solidFill>
                  <a:srgbClr val="FFFFFF"/>
                </a:solidFill>
                <a:latin typeface="Cambria" pitchFamily="34" charset="0"/>
                <a:ea typeface="Cambria" pitchFamily="34" charset="-122"/>
                <a:cs typeface="Cambria" pitchFamily="34" charset="-120"/>
              </a:rPr>
              <a:t>How Often? — Frequency Adverbs in My Routine</a:t>
            </a:r>
            <a:endParaRPr lang="en-US" sz="265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34" charset="0"/>
                <a:ea typeface="Amiri" pitchFamily="34" charset="-122"/>
                <a:cs typeface="Amiri" pitchFamily="34" charset="-120"/>
              </a:rPr>
              <a:t>كَمْ مَرَّةً؟ — ظُرُوفُ التَّكْرَارِ فِي رُوتِينِي</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ea typeface="Calibri" pitchFamily="34" charset="-122"/>
                <a:cs typeface="Calibri" pitchFamily="34" charset="-120"/>
              </a:rPr>
              <a:t>Say how often routines happen, place frequency expressions naturally, and compare two days or two people with </a:t>
            </a:r>
            <a:pPr algn="l" indent="0" marL="0">
              <a:buNone/>
            </a:pPr>
            <a:r>
              <a:rPr lang="ar-SA" altLang="en-US" sz="1800" dirty="0">
                <a:solidFill>
                  <a:srgbClr val="C6D2E6"/>
                </a:solidFill>
                <a:latin typeface="Amiri" pitchFamily="34" charset="0"/>
                <a:ea typeface="Amiri" pitchFamily="34" charset="-122"/>
                <a:cs typeface="Amiri" pitchFamily="34" charset="-120"/>
              </a:rPr>
              <a:t>بَيْنَمَا</a:t>
            </a:r>
            <a:pPr algn="l" indent="0" marL="0">
              <a:buNone/>
            </a:pPr>
            <a:r>
              <a:rPr lang="en-US" sz="1400" dirty="0">
                <a:solidFill>
                  <a:srgbClr val="C6D2E6"/>
                </a:solidFill>
                <a:latin typeface="Calibri" pitchFamily="34" charset="0"/>
                <a:ea typeface="Calibri" pitchFamily="34" charset="-122"/>
                <a:cs typeface="Calibri" pitchFamily="34" charset="-120"/>
              </a:rPr>
              <a:t>, </a:t>
            </a:r>
            <a:pPr algn="l" indent="0" marL="0">
              <a:buNone/>
            </a:pPr>
            <a:r>
              <a:rPr lang="ar-SA" altLang="en-US" sz="1800" dirty="0">
                <a:solidFill>
                  <a:srgbClr val="C6D2E6"/>
                </a:solidFill>
                <a:latin typeface="Amiri" pitchFamily="34" charset="0"/>
                <a:ea typeface="Amiri" pitchFamily="34" charset="-122"/>
                <a:cs typeface="Amiri" pitchFamily="34" charset="-120"/>
              </a:rPr>
              <a:t>أَمَّا … فَـ</a:t>
            </a:r>
            <a:pPr algn="l" indent="0" marL="0">
              <a:buNone/>
            </a:pPr>
            <a:r>
              <a:rPr lang="en-US" sz="1400" dirty="0">
                <a:solidFill>
                  <a:srgbClr val="C6D2E6"/>
                </a:solidFill>
                <a:latin typeface="Calibri" pitchFamily="34" charset="0"/>
                <a:ea typeface="Calibri" pitchFamily="34" charset="-122"/>
                <a:cs typeface="Calibri" pitchFamily="34" charset="-120"/>
              </a:rPr>
              <a:t> and </a:t>
            </a:r>
            <a:pPr algn="l" indent="0" marL="0">
              <a:buNone/>
            </a:pPr>
            <a:r>
              <a:rPr lang="ar-SA" altLang="en-US" sz="1800" dirty="0">
                <a:solidFill>
                  <a:srgbClr val="C6D2E6"/>
                </a:solidFill>
                <a:latin typeface="Amiri" pitchFamily="34" charset="0"/>
                <a:ea typeface="Amiri" pitchFamily="34" charset="-122"/>
                <a:cs typeface="Amiri" pitchFamily="34" charset="-120"/>
              </a:rPr>
              <a:t>أَكْثَرُ … مِنْ</a:t>
            </a:r>
            <a:pPr algn="l" indent="0" marL="0">
              <a:buNone/>
            </a:pPr>
            <a:r>
              <a:rPr lang="en-US" sz="1400" dirty="0">
                <a:solidFill>
                  <a:srgbClr val="C6D2E6"/>
                </a:solidFill>
                <a:latin typeface="Calibri" pitchFamily="34" charset="0"/>
                <a:ea typeface="Calibri" pitchFamily="34" charset="-122"/>
                <a:cs typeface="Calibri" pitchFamily="34" charset="-120"/>
              </a:rPr>
              <a:t>.</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LESSON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D1-L03 · Development D1 · Daily Routine and Time</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DURATION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LEVEL</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Development · A2 → B1</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ON THE WEBSITE</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Pathways › Development › D1 › D1-L03</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D1-L03 · How Often?</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D1-L03</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Camera on</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Mic muted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Chat for learning</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Raise your hand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ea typeface="Calibri" pitchFamily="34" charset="-122"/>
                <a:cs typeface="Calibri" pitchFamily="34" charset="-120"/>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Think</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Rehearse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Build</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Challenge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Share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Summarise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ea typeface="Calibri" pitchFamily="34" charset="-122"/>
                <a:cs typeface="Calibri" pitchFamily="34" charset="-120"/>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 / 46</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D1-L03 · How Often?</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D1-L03</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34" charset="0"/>
                <a:ea typeface="Amiri" pitchFamily="34" charset="-122"/>
                <a:cs typeface="Amiri" pitchFamily="34" charset="-120"/>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The frequency ladder, then contrast two people or two days.</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34" charset="0"/>
                <a:ea typeface="Amiri" pitchFamily="34" charset="-122"/>
                <a:cs typeface="Amiri" pitchFamily="34" charset="-120"/>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Picture match, sort by frequency, fix and listen.</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34" charset="0"/>
                <a:ea typeface="Amiri" pitchFamily="34" charset="-122"/>
                <a:cs typeface="Amiri" pitchFamily="34" charset="-120"/>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34" charset="0"/>
                <a:ea typeface="Amiri" pitchFamily="34" charset="-122"/>
                <a:cs typeface="Amiri" pitchFamily="34" charset="-120"/>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34" charset="0"/>
                <a:ea typeface="Amiri" pitchFamily="34" charset="-122"/>
                <a:cs typeface="Amiri" pitchFamily="34" charset="-120"/>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Get ready at home for D1-L04.</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34" charset="0"/>
                <a:ea typeface="Amiri" pitchFamily="34" charset="-122"/>
                <a:cs typeface="Amiri" pitchFamily="34" charset="-120"/>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 / 46</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D1-L03 · How Often?</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D1-L03</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يَوْمِيًّا</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weekly</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daily</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never</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بَيْنَمَا</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whereas, while</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because</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after that</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Which is 7:45?</a:t>
            </a:r>
            <a:endParaRPr lang="en-US" sz="1200" dirty="0"/>
          </a:p>
        </p:txBody>
      </p:sp>
      <p:sp>
        <p:nvSpPr>
          <p:cNvPr id="45" name="Text 42"/>
          <p:cNvSpPr txBox="1"/>
          <p:nvPr/>
        </p:nvSpPr>
        <p:spPr>
          <a:xfrm>
            <a:off x="10044989" y="1883664"/>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34" charset="0"/>
                <a:ea typeface="Amiri" pitchFamily="34" charset="-122"/>
                <a:cs typeface="Amiri" pitchFamily="34" charset="-120"/>
              </a:rPr>
              <a:t>٧:٤٥</a:t>
            </a:r>
            <a:endParaRPr lang="ar-SA" sz="2200" dirty="0"/>
          </a:p>
        </p:txBody>
      </p:sp>
      <p:sp>
        <p:nvSpPr>
          <p:cNvPr id="46" name="Shape 43"/>
          <p:cNvSpPr/>
          <p:nvPr/>
        </p:nvSpPr>
        <p:spPr>
          <a:xfrm>
            <a:off x="8278368" y="2532888"/>
            <a:ext cx="256032" cy="256032"/>
          </a:xfrm>
          <a:prstGeom prst="ellipse">
            <a:avLst/>
          </a:prstGeom>
          <a:solidFill>
            <a:srgbClr val="F4F1EA"/>
          </a:solidFill>
          <a:ln w="12700">
            <a:solidFill>
              <a:srgbClr val="F4F1EA"/>
            </a:solidFill>
            <a:prstDash val="solid"/>
          </a:ln>
        </p:spPr>
      </p:sp>
      <p:sp>
        <p:nvSpPr>
          <p:cNvPr id="47" name="Text 44"/>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8" name="Text 45"/>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السَّابِعَةُ إِلَّا الرُّبْعَ</a:t>
            </a:r>
            <a:endParaRPr lang="ar-SA" sz="2050" dirty="0"/>
          </a:p>
        </p:txBody>
      </p:sp>
      <p:sp>
        <p:nvSpPr>
          <p:cNvPr id="49" name="Shape 46"/>
          <p:cNvSpPr/>
          <p:nvPr/>
        </p:nvSpPr>
        <p:spPr>
          <a:xfrm>
            <a:off x="8278368" y="2990088"/>
            <a:ext cx="256032" cy="256032"/>
          </a:xfrm>
          <a:prstGeom prst="ellipse">
            <a:avLst/>
          </a:prstGeom>
          <a:solidFill>
            <a:srgbClr val="F4F1EA"/>
          </a:solidFill>
          <a:ln w="12700">
            <a:solidFill>
              <a:srgbClr val="F4F1EA"/>
            </a:solidFill>
            <a:prstDash val="solid"/>
          </a:ln>
        </p:spPr>
      </p:sp>
      <p:sp>
        <p:nvSpPr>
          <p:cNvPr id="50" name="Text 47"/>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1" name="Text 48"/>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السَّابِعَةُ وَالرُّبْعُ</a:t>
            </a:r>
            <a:endParaRPr lang="ar-SA" sz="2050" dirty="0"/>
          </a:p>
        </p:txBody>
      </p:sp>
      <p:sp>
        <p:nvSpPr>
          <p:cNvPr id="52" name="Shape 49"/>
          <p:cNvSpPr/>
          <p:nvPr/>
        </p:nvSpPr>
        <p:spPr>
          <a:xfrm>
            <a:off x="8278368" y="3447288"/>
            <a:ext cx="256032" cy="256032"/>
          </a:xfrm>
          <a:prstGeom prst="ellipse">
            <a:avLst/>
          </a:prstGeom>
          <a:solidFill>
            <a:srgbClr val="F4F1EA"/>
          </a:solidFill>
          <a:ln w="12700">
            <a:solidFill>
              <a:srgbClr val="F4F1EA"/>
            </a:solidFill>
            <a:prstDash val="solid"/>
          </a:ln>
        </p:spPr>
      </p:sp>
      <p:sp>
        <p:nvSpPr>
          <p:cNvPr id="53" name="Text 50"/>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4" name="Text 51"/>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الثَّامِنَةُ إِلَّا الرُّبْعَ</a:t>
            </a:r>
            <a:endParaRPr lang="ar-SA" sz="2050" dirty="0"/>
          </a:p>
        </p:txBody>
      </p:sp>
      <p:sp>
        <p:nvSpPr>
          <p:cNvPr id="55" name="Shape 52"/>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585216" y="4288536"/>
            <a:ext cx="310896" cy="310896"/>
          </a:xfrm>
          <a:prstGeom prst="ellipse">
            <a:avLst/>
          </a:prstGeom>
          <a:solidFill>
            <a:srgbClr val="1B3B6F"/>
          </a:solidFill>
          <a:ln w="12700">
            <a:solidFill>
              <a:srgbClr val="1B3B6F"/>
            </a:solidFill>
            <a:prstDash val="solid"/>
          </a:ln>
        </p:spPr>
      </p:sp>
      <p:sp>
        <p:nvSpPr>
          <p:cNvPr id="57" name="Text 5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8" name="Text 55"/>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verb means “lasts”?</a:t>
            </a:r>
            <a:endParaRPr lang="en-US" sz="1250" dirty="0"/>
          </a:p>
        </p:txBody>
      </p:sp>
      <p:sp>
        <p:nvSpPr>
          <p:cNvPr id="59" name="Shape 56"/>
          <p:cNvSpPr/>
          <p:nvPr/>
        </p:nvSpPr>
        <p:spPr>
          <a:xfrm>
            <a:off x="640080" y="4873752"/>
            <a:ext cx="256032" cy="256032"/>
          </a:xfrm>
          <a:prstGeom prst="ellipse">
            <a:avLst/>
          </a:prstGeom>
          <a:solidFill>
            <a:srgbClr val="F4F1EA"/>
          </a:solidFill>
          <a:ln w="12700">
            <a:solidFill>
              <a:srgbClr val="F4F1EA"/>
            </a:solidFill>
            <a:prstDash val="solid"/>
          </a:ln>
        </p:spPr>
      </p:sp>
      <p:sp>
        <p:nvSpPr>
          <p:cNvPr id="60" name="Text 57"/>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1" name="Text 58"/>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يَبْدَأُ</a:t>
            </a:r>
            <a:endParaRPr lang="ar-SA" sz="2050" dirty="0"/>
          </a:p>
        </p:txBody>
      </p:sp>
      <p:sp>
        <p:nvSpPr>
          <p:cNvPr id="62" name="Shape 59"/>
          <p:cNvSpPr/>
          <p:nvPr/>
        </p:nvSpPr>
        <p:spPr>
          <a:xfrm>
            <a:off x="640080" y="5330952"/>
            <a:ext cx="256032" cy="256032"/>
          </a:xfrm>
          <a:prstGeom prst="ellipse">
            <a:avLst/>
          </a:prstGeom>
          <a:solidFill>
            <a:srgbClr val="F4F1EA"/>
          </a:solidFill>
          <a:ln w="12700">
            <a:solidFill>
              <a:srgbClr val="F4F1EA"/>
            </a:solidFill>
            <a:prstDash val="solid"/>
          </a:ln>
        </p:spPr>
      </p:sp>
      <p:sp>
        <p:nvSpPr>
          <p:cNvPr id="63" name="Text 60"/>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4" name="Text 61"/>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يَنْتَهِي</a:t>
            </a:r>
            <a:endParaRPr lang="ar-SA" sz="2050" dirty="0"/>
          </a:p>
        </p:txBody>
      </p:sp>
      <p:sp>
        <p:nvSpPr>
          <p:cNvPr id="65" name="Shape 62"/>
          <p:cNvSpPr/>
          <p:nvPr/>
        </p:nvSpPr>
        <p:spPr>
          <a:xfrm>
            <a:off x="640080" y="5788152"/>
            <a:ext cx="256032" cy="256032"/>
          </a:xfrm>
          <a:prstGeom prst="ellipse">
            <a:avLst/>
          </a:prstGeom>
          <a:solidFill>
            <a:srgbClr val="F4F1EA"/>
          </a:solidFill>
          <a:ln w="12700">
            <a:solidFill>
              <a:srgbClr val="F4F1EA"/>
            </a:solidFill>
            <a:prstDash val="solid"/>
          </a:ln>
        </p:spPr>
      </p:sp>
      <p:sp>
        <p:nvSpPr>
          <p:cNvPr id="66" name="Text 63"/>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7" name="Text 64"/>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يَسْتَمِرُّ</a:t>
            </a:r>
            <a:endParaRPr lang="ar-SA" sz="2050" dirty="0"/>
          </a:p>
        </p:txBody>
      </p:sp>
      <p:sp>
        <p:nvSpPr>
          <p:cNvPr id="68" name="Shape 65"/>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9" name="Shape 66"/>
          <p:cNvSpPr/>
          <p:nvPr/>
        </p:nvSpPr>
        <p:spPr>
          <a:xfrm>
            <a:off x="4404360" y="4288536"/>
            <a:ext cx="310896" cy="310896"/>
          </a:xfrm>
          <a:prstGeom prst="ellipse">
            <a:avLst/>
          </a:prstGeom>
          <a:solidFill>
            <a:srgbClr val="1B3B6F"/>
          </a:solidFill>
          <a:ln w="12700">
            <a:solidFill>
              <a:srgbClr val="1B3B6F"/>
            </a:solidFill>
            <a:prstDash val="solid"/>
          </a:ln>
        </p:spPr>
      </p:sp>
      <p:sp>
        <p:nvSpPr>
          <p:cNvPr id="70" name="Text 67"/>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1" name="Text 68"/>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sentence.</a:t>
            </a:r>
            <a:endParaRPr lang="en-US" sz="1250" dirty="0"/>
          </a:p>
        </p:txBody>
      </p:sp>
      <p:sp>
        <p:nvSpPr>
          <p:cNvPr id="72" name="Shape 69"/>
          <p:cNvSpPr/>
          <p:nvPr/>
        </p:nvSpPr>
        <p:spPr>
          <a:xfrm>
            <a:off x="4459224" y="4873752"/>
            <a:ext cx="256032" cy="256032"/>
          </a:xfrm>
          <a:prstGeom prst="ellipse">
            <a:avLst/>
          </a:prstGeom>
          <a:solidFill>
            <a:srgbClr val="F4F1EA"/>
          </a:solidFill>
          <a:ln w="12700">
            <a:solidFill>
              <a:srgbClr val="F4F1EA"/>
            </a:solidFill>
            <a:prstDash val="solid"/>
          </a:ln>
        </p:spPr>
      </p:sp>
      <p:sp>
        <p:nvSpPr>
          <p:cNvPr id="73" name="Text 70"/>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4" name="Text 71"/>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أَخِي يَسْتَيْقِظُ مُبَكِّرًا.</a:t>
            </a:r>
            <a:endParaRPr lang="ar-SA" sz="2050" dirty="0"/>
          </a:p>
        </p:txBody>
      </p:sp>
      <p:sp>
        <p:nvSpPr>
          <p:cNvPr id="75" name="Shape 72"/>
          <p:cNvSpPr/>
          <p:nvPr/>
        </p:nvSpPr>
        <p:spPr>
          <a:xfrm>
            <a:off x="4459224" y="5330952"/>
            <a:ext cx="256032" cy="256032"/>
          </a:xfrm>
          <a:prstGeom prst="ellipse">
            <a:avLst/>
          </a:prstGeom>
          <a:solidFill>
            <a:srgbClr val="F4F1EA"/>
          </a:solidFill>
          <a:ln w="12700">
            <a:solidFill>
              <a:srgbClr val="F4F1EA"/>
            </a:solidFill>
            <a:prstDash val="solid"/>
          </a:ln>
        </p:spPr>
      </p:sp>
      <p:sp>
        <p:nvSpPr>
          <p:cNvPr id="76" name="Text 73"/>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7" name="Text 74"/>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أَخِي أَسْتَيْقِظُ مُبَكِّرًا.</a:t>
            </a:r>
            <a:endParaRPr lang="ar-SA" sz="2050" dirty="0"/>
          </a:p>
        </p:txBody>
      </p:sp>
      <p:sp>
        <p:nvSpPr>
          <p:cNvPr id="78" name="Shape 75"/>
          <p:cNvSpPr/>
          <p:nvPr/>
        </p:nvSpPr>
        <p:spPr>
          <a:xfrm>
            <a:off x="4459224" y="5788152"/>
            <a:ext cx="256032" cy="256032"/>
          </a:xfrm>
          <a:prstGeom prst="ellipse">
            <a:avLst/>
          </a:prstGeom>
          <a:solidFill>
            <a:srgbClr val="F4F1EA"/>
          </a:solidFill>
          <a:ln w="12700">
            <a:solidFill>
              <a:srgbClr val="F4F1EA"/>
            </a:solidFill>
            <a:prstDash val="solid"/>
          </a:ln>
        </p:spPr>
      </p:sp>
      <p:sp>
        <p:nvSpPr>
          <p:cNvPr id="79" name="Text 76"/>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0" name="Text 77"/>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أَخِي تَسْتَيْقِظُ مُبَكِّرًا.</a:t>
            </a:r>
            <a:endParaRPr lang="ar-SA" sz="2050" dirty="0"/>
          </a:p>
        </p:txBody>
      </p:sp>
      <p:sp>
        <p:nvSpPr>
          <p:cNvPr id="81" name="Shape 78"/>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2" name="Text 79"/>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ea typeface="Calibri" pitchFamily="34" charset="-122"/>
                <a:cs typeface="Calibri" pitchFamily="34" charset="-120"/>
              </a:rPr>
              <a:t>HOW TO ANSWER</a:t>
            </a:r>
            <a:endParaRPr lang="en-US" sz="1100" dirty="0"/>
          </a:p>
        </p:txBody>
      </p:sp>
      <p:sp>
        <p:nvSpPr>
          <p:cNvPr id="83" name="Text 80"/>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ea typeface="Calibri" pitchFamily="34" charset="-122"/>
                <a:cs typeface="Calibri" pitchFamily="34" charset="-120"/>
              </a:rPr>
              <a:t>Work on your own in silence.</a:t>
            </a:r>
            <a:endParaRPr lang="en-US" sz="1350" dirty="0"/>
          </a:p>
          <a:p>
            <a:pPr algn="l" indent="0" marL="0">
              <a:buNone/>
            </a:pPr>
            <a:r>
              <a:rPr lang="en-US" sz="1350" dirty="0">
                <a:solidFill>
                  <a:srgbClr val="1F2A37"/>
                </a:solidFill>
                <a:latin typeface="Calibri" pitchFamily="34" charset="0"/>
                <a:ea typeface="Calibri" pitchFamily="34" charset="-122"/>
                <a:cs typeface="Calibri" pitchFamily="34" charset="-120"/>
              </a:rPr>
              <a:t>When the timer ends, type in the chat:</a:t>
            </a:r>
            <a:endParaRPr lang="en-US" sz="1350" dirty="0"/>
          </a:p>
        </p:txBody>
      </p:sp>
      <p:sp>
        <p:nvSpPr>
          <p:cNvPr id="84" name="Text 81"/>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ea typeface="Consolas" pitchFamily="34" charset="-122"/>
                <a:cs typeface="Consolas" pitchFamily="34" charset="-120"/>
              </a:rPr>
              <a:t>1_  2_  3_  4_  5_</a:t>
            </a:r>
            <a:endParaRPr lang="en-US" sz="1400" dirty="0"/>
          </a:p>
        </p:txBody>
      </p:sp>
      <p:sp>
        <p:nvSpPr>
          <p:cNvPr id="85" name="Text 82"/>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ea typeface="Calibri" pitchFamily="34" charset="-122"/>
                <a:cs typeface="Calibri" pitchFamily="34" charset="-120"/>
              </a:rPr>
              <a:t>⏱  5 : 00</a:t>
            </a:r>
            <a:endParaRPr lang="en-US" sz="1800" dirty="0"/>
          </a:p>
        </p:txBody>
      </p:sp>
      <p:sp>
        <p:nvSpPr>
          <p:cNvPr id="86" name="Text 8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 / 46</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D1-L03 · How Often?</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D1-L03</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يَوْمِيًّا</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weekly</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daily</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never</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Prepared at home.</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بَيْنَمَا</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whereas, while</a:t>
            </a:r>
            <a:endParaRPr lang="en-US" sz="125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because</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after that</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Prepared at home.</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Which is 7:45?</a:t>
            </a:r>
            <a:endParaRPr lang="en-US" sz="1200" dirty="0"/>
          </a:p>
        </p:txBody>
      </p:sp>
      <p:sp>
        <p:nvSpPr>
          <p:cNvPr id="49" name="Text 46"/>
          <p:cNvSpPr txBox="1"/>
          <p:nvPr/>
        </p:nvSpPr>
        <p:spPr>
          <a:xfrm>
            <a:off x="10044989" y="1883664"/>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34" charset="0"/>
                <a:ea typeface="Amiri" pitchFamily="34" charset="-122"/>
                <a:cs typeface="Amiri" pitchFamily="34" charset="-120"/>
              </a:rPr>
              <a:t>٧:٤٥</a:t>
            </a:r>
            <a:endParaRPr lang="ar-SA" sz="2200" dirty="0"/>
          </a:p>
        </p:txBody>
      </p:sp>
      <p:sp>
        <p:nvSpPr>
          <p:cNvPr id="50" name="Shape 47"/>
          <p:cNvSpPr/>
          <p:nvPr/>
        </p:nvSpPr>
        <p:spPr>
          <a:xfrm>
            <a:off x="8278368" y="2490216"/>
            <a:ext cx="256032" cy="256032"/>
          </a:xfrm>
          <a:prstGeom prst="ellipse">
            <a:avLst/>
          </a:prstGeom>
          <a:solidFill>
            <a:srgbClr val="C9CED6"/>
          </a:solidFill>
          <a:ln w="12700">
            <a:solidFill>
              <a:srgbClr val="C9CED6"/>
            </a:solidFill>
            <a:prstDash val="solid"/>
          </a:ln>
        </p:spPr>
      </p:sp>
      <p:sp>
        <p:nvSpPr>
          <p:cNvPr id="51" name="Text 48"/>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2" name="Text 49"/>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السَّابِعَةُ إِلَّا الرُّبْعَ</a:t>
            </a:r>
            <a:endParaRPr lang="ar-SA" sz="1700" dirty="0"/>
          </a:p>
        </p:txBody>
      </p:sp>
      <p:sp>
        <p:nvSpPr>
          <p:cNvPr id="53" name="Shape 50"/>
          <p:cNvSpPr/>
          <p:nvPr/>
        </p:nvSpPr>
        <p:spPr>
          <a:xfrm>
            <a:off x="8278368" y="2862072"/>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السَّابِعَةُ وَالرُّبْعُ</a:t>
            </a:r>
            <a:endParaRPr lang="ar-SA" sz="1700" dirty="0"/>
          </a:p>
        </p:txBody>
      </p:sp>
      <p:sp>
        <p:nvSpPr>
          <p:cNvPr id="56" name="Shape 53"/>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7" name="Shape 54"/>
          <p:cNvSpPr/>
          <p:nvPr/>
        </p:nvSpPr>
        <p:spPr>
          <a:xfrm>
            <a:off x="8278368" y="3233928"/>
            <a:ext cx="256032" cy="256032"/>
          </a:xfrm>
          <a:prstGeom prst="ellipse">
            <a:avLst/>
          </a:prstGeom>
          <a:solidFill>
            <a:srgbClr val="2E8B57"/>
          </a:solidFill>
          <a:ln w="12700">
            <a:solidFill>
              <a:srgbClr val="2E8B57"/>
            </a:solidFill>
            <a:prstDash val="solid"/>
          </a:ln>
        </p:spPr>
      </p:sp>
      <p:sp>
        <p:nvSpPr>
          <p:cNvPr id="58" name="Text 55"/>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9" name="Text 56"/>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الثَّامِنَةُ إِلَّا الرُّبْعَ</a:t>
            </a:r>
            <a:endParaRPr lang="ar-SA" sz="1700" dirty="0"/>
          </a:p>
        </p:txBody>
      </p:sp>
      <p:sp>
        <p:nvSpPr>
          <p:cNvPr id="60" name="Text 57"/>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D1-L02: the NEXT hour with </a:t>
            </a:r>
            <a:pPr algn="l" indent="0" marL="0">
              <a:buNone/>
            </a:pPr>
            <a:r>
              <a:rPr lang="ar-SA" altLang="en-US" sz="1350" dirty="0">
                <a:solidFill>
                  <a:srgbClr val="8A6D1E"/>
                </a:solidFill>
                <a:latin typeface="Amiri" pitchFamily="34" charset="0"/>
                <a:ea typeface="Amiri" pitchFamily="34" charset="-122"/>
                <a:cs typeface="Amiri" pitchFamily="34" charset="-120"/>
              </a:rPr>
              <a:t>إِلَّا</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61" name="Shape 58"/>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2" name="Shape 59"/>
          <p:cNvSpPr/>
          <p:nvPr/>
        </p:nvSpPr>
        <p:spPr>
          <a:xfrm>
            <a:off x="585216" y="4288536"/>
            <a:ext cx="310896" cy="310896"/>
          </a:xfrm>
          <a:prstGeom prst="ellipse">
            <a:avLst/>
          </a:prstGeom>
          <a:solidFill>
            <a:srgbClr val="1B3B6F"/>
          </a:solidFill>
          <a:ln w="12700">
            <a:solidFill>
              <a:srgbClr val="1B3B6F"/>
            </a:solidFill>
            <a:prstDash val="solid"/>
          </a:ln>
        </p:spPr>
      </p:sp>
      <p:sp>
        <p:nvSpPr>
          <p:cNvPr id="63" name="Text 6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4" name="Text 61"/>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verb means “lasts”?</a:t>
            </a:r>
            <a:endParaRPr lang="en-US" sz="1250" dirty="0"/>
          </a:p>
        </p:txBody>
      </p:sp>
      <p:sp>
        <p:nvSpPr>
          <p:cNvPr id="65" name="Shape 62"/>
          <p:cNvSpPr/>
          <p:nvPr/>
        </p:nvSpPr>
        <p:spPr>
          <a:xfrm>
            <a:off x="640080" y="4831080"/>
            <a:ext cx="256032" cy="256032"/>
          </a:xfrm>
          <a:prstGeom prst="ellipse">
            <a:avLst/>
          </a:prstGeom>
          <a:solidFill>
            <a:srgbClr val="C9CED6"/>
          </a:solidFill>
          <a:ln w="12700">
            <a:solidFill>
              <a:srgbClr val="C9CED6"/>
            </a:solidFill>
            <a:prstDash val="solid"/>
          </a:ln>
        </p:spPr>
      </p:sp>
      <p:sp>
        <p:nvSpPr>
          <p:cNvPr id="66" name="Text 63"/>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7" name="Text 64"/>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يَبْدَأُ</a:t>
            </a:r>
            <a:endParaRPr lang="ar-SA" sz="1700" dirty="0"/>
          </a:p>
        </p:txBody>
      </p:sp>
      <p:sp>
        <p:nvSpPr>
          <p:cNvPr id="68" name="Shape 65"/>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يَنْتَهِي</a:t>
            </a:r>
            <a:endParaRPr lang="ar-SA" sz="1700" dirty="0"/>
          </a:p>
        </p:txBody>
      </p:sp>
      <p:sp>
        <p:nvSpPr>
          <p:cNvPr id="71" name="Shape 68"/>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2" name="Shape 69"/>
          <p:cNvSpPr/>
          <p:nvPr/>
        </p:nvSpPr>
        <p:spPr>
          <a:xfrm>
            <a:off x="640080" y="5574792"/>
            <a:ext cx="256032" cy="256032"/>
          </a:xfrm>
          <a:prstGeom prst="ellipse">
            <a:avLst/>
          </a:prstGeom>
          <a:solidFill>
            <a:srgbClr val="2E8B57"/>
          </a:solidFill>
          <a:ln w="12700">
            <a:solidFill>
              <a:srgbClr val="2E8B57"/>
            </a:solidFill>
            <a:prstDash val="solid"/>
          </a:ln>
        </p:spPr>
      </p:sp>
      <p:sp>
        <p:nvSpPr>
          <p:cNvPr id="73" name="Text 70"/>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4" name="Text 71"/>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يَسْتَمِرُّ</a:t>
            </a:r>
            <a:endParaRPr lang="ar-SA" sz="1700" dirty="0"/>
          </a:p>
        </p:txBody>
      </p:sp>
      <p:sp>
        <p:nvSpPr>
          <p:cNvPr id="75" name="Text 72"/>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D1-L02 schedule verbs.</a:t>
            </a:r>
            <a:endParaRPr lang="en-US" sz="1050" dirty="0"/>
          </a:p>
        </p:txBody>
      </p:sp>
      <p:sp>
        <p:nvSpPr>
          <p:cNvPr id="76" name="Shape 73"/>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7" name="Shape 74"/>
          <p:cNvSpPr/>
          <p:nvPr/>
        </p:nvSpPr>
        <p:spPr>
          <a:xfrm>
            <a:off x="4404360" y="4288536"/>
            <a:ext cx="310896" cy="310896"/>
          </a:xfrm>
          <a:prstGeom prst="ellipse">
            <a:avLst/>
          </a:prstGeom>
          <a:solidFill>
            <a:srgbClr val="1B3B6F"/>
          </a:solidFill>
          <a:ln w="12700">
            <a:solidFill>
              <a:srgbClr val="1B3B6F"/>
            </a:solidFill>
            <a:prstDash val="solid"/>
          </a:ln>
        </p:spPr>
      </p:sp>
      <p:sp>
        <p:nvSpPr>
          <p:cNvPr id="78" name="Text 75"/>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9" name="Text 76"/>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sentence.</a:t>
            </a:r>
            <a:endParaRPr lang="en-US" sz="1250" dirty="0"/>
          </a:p>
        </p:txBody>
      </p:sp>
      <p:sp>
        <p:nvSpPr>
          <p:cNvPr id="80" name="Shape 77"/>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1" name="Shape 78"/>
          <p:cNvSpPr/>
          <p:nvPr/>
        </p:nvSpPr>
        <p:spPr>
          <a:xfrm>
            <a:off x="4459224" y="4831080"/>
            <a:ext cx="256032" cy="256032"/>
          </a:xfrm>
          <a:prstGeom prst="ellipse">
            <a:avLst/>
          </a:prstGeom>
          <a:solidFill>
            <a:srgbClr val="2E8B57"/>
          </a:solidFill>
          <a:ln w="12700">
            <a:solidFill>
              <a:srgbClr val="2E8B57"/>
            </a:solidFill>
            <a:prstDash val="solid"/>
          </a:ln>
        </p:spPr>
      </p:sp>
      <p:sp>
        <p:nvSpPr>
          <p:cNvPr id="82" name="Text 79"/>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3" name="Text 80"/>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أَخِي يَسْتَيْقِظُ مُبَكِّرًا.</a:t>
            </a:r>
            <a:endParaRPr lang="ar-SA" sz="1700" dirty="0"/>
          </a:p>
        </p:txBody>
      </p:sp>
      <p:sp>
        <p:nvSpPr>
          <p:cNvPr id="84" name="Shape 81"/>
          <p:cNvSpPr/>
          <p:nvPr/>
        </p:nvSpPr>
        <p:spPr>
          <a:xfrm>
            <a:off x="4459224" y="5202936"/>
            <a:ext cx="256032" cy="256032"/>
          </a:xfrm>
          <a:prstGeom prst="ellipse">
            <a:avLst/>
          </a:prstGeom>
          <a:solidFill>
            <a:srgbClr val="C9CED6"/>
          </a:solidFill>
          <a:ln w="12700">
            <a:solidFill>
              <a:srgbClr val="C9CED6"/>
            </a:solidFill>
            <a:prstDash val="solid"/>
          </a:ln>
        </p:spPr>
      </p:sp>
      <p:sp>
        <p:nvSpPr>
          <p:cNvPr id="85" name="Text 82"/>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6" name="Text 83"/>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أَخِي أَسْتَيْقِظُ مُبَكِّرًا.</a:t>
            </a:r>
            <a:endParaRPr lang="ar-SA" sz="1700" dirty="0"/>
          </a:p>
        </p:txBody>
      </p:sp>
      <p:sp>
        <p:nvSpPr>
          <p:cNvPr id="87" name="Shape 84"/>
          <p:cNvSpPr/>
          <p:nvPr/>
        </p:nvSpPr>
        <p:spPr>
          <a:xfrm>
            <a:off x="4459224" y="5574792"/>
            <a:ext cx="256032" cy="256032"/>
          </a:xfrm>
          <a:prstGeom prst="ellipse">
            <a:avLst/>
          </a:prstGeom>
          <a:solidFill>
            <a:srgbClr val="C9CED6"/>
          </a:solidFill>
          <a:ln w="12700">
            <a:solidFill>
              <a:srgbClr val="C9CED6"/>
            </a:solidFill>
            <a:prstDash val="solid"/>
          </a:ln>
        </p:spPr>
      </p:sp>
      <p:sp>
        <p:nvSpPr>
          <p:cNvPr id="88" name="Text 85"/>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9" name="Text 86"/>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أَخِي تَسْتَيْقِظُ مُبَكِّرًا.</a:t>
            </a:r>
            <a:endParaRPr lang="ar-SA" sz="1700" dirty="0"/>
          </a:p>
        </p:txBody>
      </p:sp>
      <p:sp>
        <p:nvSpPr>
          <p:cNvPr id="90" name="Text 87"/>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D1-L01: my brother → he → </a:t>
            </a:r>
            <a:pPr algn="l" indent="0" marL="0">
              <a:buNone/>
            </a:pPr>
            <a:r>
              <a:rPr lang="ar-SA" altLang="en-US" sz="1350" dirty="0">
                <a:solidFill>
                  <a:srgbClr val="8A6D1E"/>
                </a:solidFill>
                <a:latin typeface="Amiri" pitchFamily="34" charset="0"/>
                <a:ea typeface="Amiri" pitchFamily="34" charset="-122"/>
                <a:cs typeface="Amiri" pitchFamily="34" charset="-120"/>
              </a:rPr>
              <a:t>يَـ</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91" name="Shape 88"/>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2" name="Text 89"/>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ea typeface="Calibri" pitchFamily="34" charset="-122"/>
                <a:cs typeface="Calibri" pitchFamily="34" charset="-120"/>
              </a:rPr>
              <a:t>THE KEY IDEA FOR TODAY</a:t>
            </a:r>
            <a:endParaRPr lang="en-US" sz="1000" dirty="0"/>
          </a:p>
        </p:txBody>
      </p:sp>
      <p:sp>
        <p:nvSpPr>
          <p:cNvPr id="93" name="Text 90"/>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ea typeface="Calibri" pitchFamily="34" charset="-122"/>
                <a:cs typeface="Calibri" pitchFamily="34" charset="-120"/>
              </a:rPr>
              <a:t>Frequency words say HOW OFTEN. </a:t>
            </a:r>
            <a:pPr algn="l" indent="0" marL="0">
              <a:buNone/>
            </a:pPr>
            <a:r>
              <a:rPr lang="ar-SA" altLang="en-US" sz="1700" b="1" dirty="0">
                <a:solidFill>
                  <a:srgbClr val="1F2A37"/>
                </a:solidFill>
                <a:latin typeface="Amiri" pitchFamily="34" charset="0"/>
                <a:ea typeface="Amiri" pitchFamily="34" charset="-122"/>
                <a:cs typeface="Amiri" pitchFamily="34" charset="-120"/>
              </a:rPr>
              <a:t>بَيْنَمَا</a:t>
            </a:r>
            <a:pPr algn="l" indent="0" marL="0">
              <a:buNone/>
            </a:pPr>
            <a:r>
              <a:rPr lang="en-US" sz="1300" b="1" dirty="0">
                <a:solidFill>
                  <a:srgbClr val="1F2A37"/>
                </a:solidFill>
                <a:latin typeface="Calibri" pitchFamily="34" charset="0"/>
                <a:ea typeface="Calibri" pitchFamily="34" charset="-122"/>
                <a:cs typeface="Calibri" pitchFamily="34" charset="-120"/>
              </a:rPr>
              <a:t> joins two complete sentences — check each verb’s prefix separately.</a:t>
            </a:r>
            <a:endParaRPr lang="en-US" sz="1300" dirty="0"/>
          </a:p>
        </p:txBody>
      </p:sp>
      <p:sp>
        <p:nvSpPr>
          <p:cNvPr id="94" name="Text 91"/>
          <p:cNvSpPr txBox="1"/>
          <p:nvPr/>
        </p:nvSpPr>
        <p:spPr>
          <a:xfrm>
            <a:off x="8278368" y="5202936"/>
            <a:ext cx="3270504" cy="1014984"/>
          </a:xfrm>
          <a:prstGeom prst="rect">
            <a:avLst/>
          </a:prstGeom>
          <a:noFill/>
          <a:ln/>
        </p:spPr>
        <p:txBody>
          <a:bodyPr wrap="square" lIns="0" tIns="0" rIns="0" bIns="0" rtlCol="0" anchor="ctr"/>
          <a:lstStyle/>
          <a:p>
            <a:pPr rtl="1" algn="ctr" indent="0" marL="0">
              <a:lnSpc>
                <a:spcPct val="120000"/>
              </a:lnSpc>
              <a:buNone/>
            </a:pPr>
            <a:r>
              <a:rPr lang="ar-SA" altLang="en-US" sz="1950" b="1" dirty="0">
                <a:solidFill>
                  <a:srgbClr val="1B3B6F"/>
                </a:solidFill>
                <a:latin typeface="Amiri" pitchFamily="34" charset="0"/>
                <a:ea typeface="Amiri" pitchFamily="34" charset="-122"/>
                <a:cs typeface="Amiri" pitchFamily="34" charset="-120"/>
              </a:rPr>
              <a:t>أَتَمَرَّنُ يَوْمِيًّا، </a:t>
            </a:r>
            <a:pPr rtl="1" algn="ctr" indent="0" marL="0">
              <a:lnSpc>
                <a:spcPct val="120000"/>
              </a:lnSpc>
              <a:buNone/>
            </a:pPr>
            <a:r>
              <a:rPr lang="ar-SA" altLang="en-US" sz="1950" b="1" dirty="0">
                <a:solidFill>
                  <a:srgbClr val="0E7C86"/>
                </a:solidFill>
                <a:latin typeface="Amiri" pitchFamily="34" charset="0"/>
                <a:ea typeface="Amiri" pitchFamily="34" charset="-122"/>
                <a:cs typeface="Amiri" pitchFamily="34" charset="-120"/>
              </a:rPr>
              <a:t>بَيْنَمَا</a:t>
            </a:r>
            <a:pPr rtl="1" algn="ctr" indent="0" marL="0">
              <a:lnSpc>
                <a:spcPct val="120000"/>
              </a:lnSpc>
              <a:buNone/>
            </a:pPr>
            <a:r>
              <a:rPr lang="ar-SA" altLang="en-US" sz="1950" b="1" dirty="0">
                <a:solidFill>
                  <a:srgbClr val="1B3B6F"/>
                </a:solidFill>
                <a:latin typeface="Amiri" pitchFamily="34" charset="0"/>
                <a:ea typeface="Amiri" pitchFamily="34" charset="-122"/>
                <a:cs typeface="Amiri" pitchFamily="34" charset="-120"/>
              </a:rPr>
              <a:t> </a:t>
            </a:r>
            <a:pPr rtl="1" algn="ctr" indent="0" marL="0">
              <a:lnSpc>
                <a:spcPct val="120000"/>
              </a:lnSpc>
              <a:buNone/>
            </a:pPr>
            <a:r>
              <a:rPr lang="ar-SA" altLang="en-US" sz="1950" b="1" dirty="0">
                <a:solidFill>
                  <a:srgbClr val="D6336C"/>
                </a:solidFill>
                <a:latin typeface="Amiri" pitchFamily="34" charset="0"/>
                <a:ea typeface="Amiri" pitchFamily="34" charset="-122"/>
                <a:cs typeface="Amiri" pitchFamily="34" charset="-120"/>
              </a:rPr>
              <a:t>تَ</a:t>
            </a:r>
            <a:pPr rtl="1" algn="ctr" indent="0" marL="0">
              <a:lnSpc>
                <a:spcPct val="120000"/>
              </a:lnSpc>
              <a:buNone/>
            </a:pPr>
            <a:r>
              <a:rPr lang="ar-SA" altLang="en-US" sz="1950" b="1" dirty="0">
                <a:solidFill>
                  <a:srgbClr val="1B3B6F"/>
                </a:solidFill>
                <a:latin typeface="Amiri" pitchFamily="34" charset="0"/>
                <a:ea typeface="Amiri" pitchFamily="34" charset="-122"/>
                <a:cs typeface="Amiri" pitchFamily="34" charset="-120"/>
              </a:rPr>
              <a:t>تَمَرَّنُ أُخْتِي أُسْبُوعِيًّا.</a:t>
            </a:r>
            <a:endParaRPr lang="ar-SA" sz="1950" dirty="0"/>
          </a:p>
        </p:txBody>
      </p:sp>
      <p:sp>
        <p:nvSpPr>
          <p:cNvPr id="95" name="Text 9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5 / 46</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D1-L03 · How Often?</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D1-L03</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ea typeface="Calibri" pitchFamily="34" charset="-122"/>
                <a:cs typeface="Calibri" pitchFamily="34" charset="-120"/>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34" charset="0"/>
                <a:ea typeface="Amiri" pitchFamily="34" charset="-122"/>
                <a:cs typeface="Amiri" pitchFamily="34" charset="-120"/>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Describe a complete weekly schedule.</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Use varied frequency expressions accurately.</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Contrast two routines with correct verb agreement.</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Compare busy and quiet days.</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ea typeface="Calibri" pitchFamily="34" charset="-122"/>
                <a:cs typeface="Calibri" pitchFamily="34" charset="-120"/>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ea typeface="Calibri" pitchFamily="34" charset="-122"/>
                <a:cs typeface="Calibri" pitchFamily="34" charset="-120"/>
              </a:rPr>
              <a:t>☐  I can say how often I do five activities.</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ea typeface="Calibri" pitchFamily="34" charset="-122"/>
                <a:cs typeface="Calibri" pitchFamily="34" charset="-120"/>
              </a:rPr>
              <a:t>☐  I can use always, sometimes, rarely and never.</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ea typeface="Calibri" pitchFamily="34" charset="-122"/>
                <a:cs typeface="Calibri" pitchFamily="34" charset="-120"/>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ea typeface="Calibri" pitchFamily="34" charset="-122"/>
                <a:cs typeface="Calibri" pitchFamily="34" charset="-120"/>
              </a:rPr>
              <a:t>☐  I can contrast two people with </a:t>
            </a:r>
            <a:pPr algn="l" indent="0" marL="0">
              <a:buNone/>
            </a:pPr>
            <a:r>
              <a:rPr lang="ar-SA" altLang="en-US" sz="1700" b="1" dirty="0">
                <a:solidFill>
                  <a:srgbClr val="C9780A"/>
                </a:solidFill>
                <a:latin typeface="Amiri" pitchFamily="34" charset="0"/>
                <a:ea typeface="Amiri" pitchFamily="34" charset="-122"/>
                <a:cs typeface="Amiri" pitchFamily="34" charset="-120"/>
              </a:rPr>
              <a:t>بَيْنَمَا</a:t>
            </a:r>
            <a:pPr algn="l" indent="0" marL="0">
              <a:buNone/>
            </a:pPr>
            <a:r>
              <a:rPr lang="en-US" sz="1300" b="1" dirty="0">
                <a:solidFill>
                  <a:srgbClr val="C9780A"/>
                </a:solidFill>
                <a:latin typeface="Calibri" pitchFamily="34" charset="0"/>
                <a:ea typeface="Calibri" pitchFamily="34" charset="-122"/>
                <a:cs typeface="Calibri" pitchFamily="34" charset="-120"/>
              </a:rPr>
              <a:t>.</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ea typeface="Calibri" pitchFamily="34" charset="-122"/>
                <a:cs typeface="Calibri" pitchFamily="34" charset="-120"/>
              </a:rPr>
              <a:t>☐  I can use numerical frequency (twice a week).</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ea typeface="Calibri" pitchFamily="34" charset="-122"/>
                <a:cs typeface="Calibri" pitchFamily="34" charset="-120"/>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ea typeface="Calibri" pitchFamily="34" charset="-122"/>
                <a:cs typeface="Calibri" pitchFamily="34" charset="-120"/>
              </a:rPr>
              <a:t>☐  I can organise a comparison with </a:t>
            </a:r>
            <a:pPr algn="l" indent="0" marL="0">
              <a:buNone/>
            </a:pPr>
            <a:r>
              <a:rPr lang="ar-SA" altLang="en-US" sz="1700" b="1" dirty="0">
                <a:solidFill>
                  <a:srgbClr val="B83227"/>
                </a:solidFill>
                <a:latin typeface="Amiri" pitchFamily="34" charset="0"/>
                <a:ea typeface="Amiri" pitchFamily="34" charset="-122"/>
                <a:cs typeface="Amiri" pitchFamily="34" charset="-120"/>
              </a:rPr>
              <a:t>أَمَّا … فَـ</a:t>
            </a:r>
            <a:pPr algn="l" indent="0" marL="0">
              <a:buNone/>
            </a:pPr>
            <a:r>
              <a:rPr lang="en-US" sz="1300" b="1" dirty="0">
                <a:solidFill>
                  <a:srgbClr val="B83227"/>
                </a:solidFill>
                <a:latin typeface="Calibri" pitchFamily="34" charset="0"/>
                <a:ea typeface="Calibri" pitchFamily="34" charset="-122"/>
                <a:cs typeface="Calibri" pitchFamily="34" charset="-120"/>
              </a:rPr>
              <a:t>.</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ea typeface="Calibri" pitchFamily="34" charset="-122"/>
                <a:cs typeface="Calibri" pitchFamily="34" charset="-120"/>
              </a:rPr>
              <a:t>☐  I can compare two days with </a:t>
            </a:r>
            <a:pPr algn="l" indent="0" marL="0">
              <a:buNone/>
            </a:pPr>
            <a:r>
              <a:rPr lang="ar-SA" altLang="en-US" sz="1700" b="1" dirty="0">
                <a:solidFill>
                  <a:srgbClr val="B83227"/>
                </a:solidFill>
                <a:latin typeface="Amiri" pitchFamily="34" charset="0"/>
                <a:ea typeface="Amiri" pitchFamily="34" charset="-122"/>
                <a:cs typeface="Amiri" pitchFamily="34" charset="-120"/>
              </a:rPr>
              <a:t>أَكْثَرُ / أَقَلُّ … مِنْ</a:t>
            </a:r>
            <a:pPr algn="l" indent="0" marL="0">
              <a:buNone/>
            </a:pPr>
            <a:r>
              <a:rPr lang="en-US" sz="1300" b="1" dirty="0">
                <a:solidFill>
                  <a:srgbClr val="B83227"/>
                </a:solidFill>
                <a:latin typeface="Calibri" pitchFamily="34" charset="0"/>
                <a:ea typeface="Calibri" pitchFamily="34" charset="-122"/>
                <a:cs typeface="Calibri" pitchFamily="34" charset="-120"/>
              </a:rPr>
              <a:t>.</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6 / 46</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8412480" y="1005840"/>
            <a:ext cx="4754880" cy="4754880"/>
          </a:xfrm>
          <a:prstGeom prst="ellipse">
            <a:avLst/>
          </a:prstGeom>
          <a:solidFill>
            <a:srgbClr val="22477F"/>
          </a:solidFill>
          <a:ln w="12700">
            <a:solidFill>
              <a:srgbClr val="22477F"/>
            </a:solidFill>
            <a:prstDash val="solid"/>
          </a:ln>
        </p:spPr>
      </p:sp>
      <p:sp>
        <p:nvSpPr>
          <p:cNvPr id="3" name="Shape 1"/>
          <p:cNvSpPr/>
          <p:nvPr/>
        </p:nvSpPr>
        <p:spPr>
          <a:xfrm>
            <a:off x="457200" y="1097280"/>
            <a:ext cx="3108960" cy="365760"/>
          </a:xfrm>
          <a:prstGeom prst="roundRect">
            <a:avLst>
              <a:gd name="adj" fmla="val 50000"/>
            </a:avLst>
          </a:prstGeom>
          <a:solidFill>
            <a:srgbClr val="D4AF37"/>
          </a:solidFill>
          <a:ln w="12700">
            <a:solidFill>
              <a:srgbClr val="D4AF37"/>
            </a:solidFill>
            <a:prstDash val="solid"/>
          </a:ln>
        </p:spPr>
      </p:sp>
      <p:sp>
        <p:nvSpPr>
          <p:cNvPr id="4" name="Text 2"/>
          <p:cNvSpPr txBox="1"/>
          <p:nvPr/>
        </p:nvSpPr>
        <p:spPr>
          <a:xfrm>
            <a:off x="457200" y="1097280"/>
            <a:ext cx="3108960" cy="365760"/>
          </a:xfrm>
          <a:prstGeom prst="rect">
            <a:avLst/>
          </a:prstGeom>
          <a:noFill/>
          <a:ln/>
        </p:spPr>
        <p:txBody>
          <a:bodyPr wrap="square" lIns="0" tIns="0" rIns="0" bIns="0" rtlCol="0" anchor="ctr"/>
          <a:lstStyle/>
          <a:p>
            <a:pPr algn="ctr" indent="0" marL="0">
              <a:buNone/>
            </a:pPr>
            <a:r>
              <a:rPr lang="en-US" sz="1000" b="1" spc="100" kern="0" dirty="0">
                <a:solidFill>
                  <a:srgbClr val="0D1F3C"/>
                </a:solidFill>
                <a:latin typeface="Calibri" pitchFamily="34" charset="0"/>
                <a:ea typeface="Calibri" pitchFamily="34" charset="-122"/>
                <a:cs typeface="Calibri" pitchFamily="34" charset="-120"/>
              </a:rPr>
              <a:t>TEACHER INSTRUCTION · 7 MIN</a:t>
            </a:r>
            <a:endParaRPr lang="en-US" sz="1000" dirty="0"/>
          </a:p>
        </p:txBody>
      </p:sp>
      <p:sp>
        <p:nvSpPr>
          <p:cNvPr id="5" name="Text 3"/>
          <p:cNvSpPr txBox="1"/>
          <p:nvPr/>
        </p:nvSpPr>
        <p:spPr>
          <a:xfrm>
            <a:off x="457200" y="1783080"/>
            <a:ext cx="7863840" cy="82296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ea typeface="Cambria" pitchFamily="34" charset="-122"/>
                <a:cs typeface="Cambria" pitchFamily="34" charset="-120"/>
              </a:rPr>
              <a:t>Key words for today</a:t>
            </a:r>
            <a:endParaRPr lang="en-US" sz="4000" dirty="0"/>
          </a:p>
        </p:txBody>
      </p:sp>
      <p:sp>
        <p:nvSpPr>
          <p:cNvPr id="6" name="Text 4"/>
          <p:cNvSpPr txBox="1"/>
          <p:nvPr/>
        </p:nvSpPr>
        <p:spPr>
          <a:xfrm>
            <a:off x="457200" y="2606040"/>
            <a:ext cx="7863840" cy="822960"/>
          </a:xfrm>
          <a:prstGeom prst="rect">
            <a:avLst/>
          </a:prstGeom>
          <a:noFill/>
          <a:ln/>
        </p:spPr>
        <p:txBody>
          <a:bodyPr wrap="square" lIns="0" tIns="0" rIns="0" bIns="0" rtlCol="0" anchor="ctr"/>
          <a:lstStyle/>
          <a:p>
            <a:pPr rtl="1" algn="l" indent="0" marL="0">
              <a:buNone/>
            </a:pPr>
            <a:r>
              <a:rPr lang="ar-SA" altLang="en-US" sz="3800" b="1" dirty="0">
                <a:solidFill>
                  <a:srgbClr val="D4AF37"/>
                </a:solidFill>
                <a:latin typeface="Amiri" pitchFamily="34" charset="0"/>
                <a:ea typeface="Amiri" pitchFamily="34" charset="-122"/>
                <a:cs typeface="Amiri" pitchFamily="34" charset="-120"/>
              </a:rPr>
              <a:t>كَلِمَاتُ الدَّرْسِ</a:t>
            </a:r>
            <a:endParaRPr lang="ar-SA" sz="3800" dirty="0"/>
          </a:p>
        </p:txBody>
      </p:sp>
      <p:sp>
        <p:nvSpPr>
          <p:cNvPr id="7" name="Text 5"/>
          <p:cNvSpPr txBox="1"/>
          <p:nvPr/>
        </p:nvSpPr>
        <p:spPr>
          <a:xfrm>
            <a:off x="457200" y="3566160"/>
            <a:ext cx="7680960" cy="822960"/>
          </a:xfrm>
          <a:prstGeom prst="rect">
            <a:avLst/>
          </a:prstGeom>
          <a:noFill/>
          <a:ln/>
        </p:spPr>
        <p:txBody>
          <a:bodyPr wrap="square" lIns="0" tIns="0" rIns="0" bIns="0" rtlCol="0" anchor="t"/>
          <a:lstStyle/>
          <a:p>
            <a:pPr algn="l" indent="0" marL="0">
              <a:buNone/>
            </a:pPr>
            <a:r>
              <a:rPr lang="en-US" sz="1600" dirty="0">
                <a:solidFill>
                  <a:srgbClr val="C6D2E6"/>
                </a:solidFill>
                <a:latin typeface="Calibri" pitchFamily="34" charset="0"/>
                <a:ea typeface="Calibri" pitchFamily="34" charset="-122"/>
                <a:cs typeface="Calibri" pitchFamily="34" charset="-120"/>
              </a:rPr>
              <a:t>25 words from the website in 3 groups. Learn the CORE words first. Hear it → say it → see it → use it.</a:t>
            </a:r>
            <a:endParaRPr lang="en-US" sz="1600" dirty="0"/>
          </a:p>
        </p:txBody>
      </p:sp>
      <p:sp>
        <p:nvSpPr>
          <p:cNvPr id="8" name="Shape 6"/>
          <p:cNvSpPr/>
          <p:nvPr/>
        </p:nvSpPr>
        <p:spPr>
          <a:xfrm>
            <a:off x="457200" y="4572000"/>
            <a:ext cx="2529840" cy="960120"/>
          </a:xfrm>
          <a:prstGeom prst="roundRect">
            <a:avLst>
              <a:gd name="adj" fmla="val 7619"/>
            </a:avLst>
          </a:prstGeom>
          <a:solidFill>
            <a:srgbClr val="16335F"/>
          </a:solidFill>
          <a:ln w="12700">
            <a:solidFill>
              <a:srgbClr val="2A4B7C"/>
            </a:solidFill>
            <a:prstDash val="solid"/>
          </a:ln>
        </p:spPr>
      </p:sp>
      <p:sp>
        <p:nvSpPr>
          <p:cNvPr id="9" name="Text 7"/>
          <p:cNvSpPr txBox="1"/>
          <p:nvPr/>
        </p:nvSpPr>
        <p:spPr>
          <a:xfrm>
            <a:off x="594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1</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Week and schedule · 10</a:t>
            </a:r>
            <a:endParaRPr lang="en-US" sz="900" dirty="0"/>
          </a:p>
        </p:txBody>
      </p:sp>
      <p:sp>
        <p:nvSpPr>
          <p:cNvPr id="10" name="Shape 8"/>
          <p:cNvSpPr/>
          <p:nvPr/>
        </p:nvSpPr>
        <p:spPr>
          <a:xfrm>
            <a:off x="3124200" y="4572000"/>
            <a:ext cx="2529840" cy="960120"/>
          </a:xfrm>
          <a:prstGeom prst="roundRect">
            <a:avLst>
              <a:gd name="adj" fmla="val 7619"/>
            </a:avLst>
          </a:prstGeom>
          <a:solidFill>
            <a:srgbClr val="16335F"/>
          </a:solidFill>
          <a:ln w="12700">
            <a:solidFill>
              <a:srgbClr val="2A4B7C"/>
            </a:solidFill>
            <a:prstDash val="solid"/>
          </a:ln>
        </p:spPr>
      </p:sp>
      <p:sp>
        <p:nvSpPr>
          <p:cNvPr id="11" name="Text 9"/>
          <p:cNvSpPr txBox="1"/>
          <p:nvPr/>
        </p:nvSpPr>
        <p:spPr>
          <a:xfrm>
            <a:off x="3261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2</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Contrast and comparison · 7</a:t>
            </a:r>
            <a:endParaRPr lang="en-US" sz="900" dirty="0"/>
          </a:p>
        </p:txBody>
      </p:sp>
      <p:sp>
        <p:nvSpPr>
          <p:cNvPr id="12" name="Shape 10"/>
          <p:cNvSpPr/>
          <p:nvPr/>
        </p:nvSpPr>
        <p:spPr>
          <a:xfrm>
            <a:off x="5791200" y="4572000"/>
            <a:ext cx="2529840" cy="960120"/>
          </a:xfrm>
          <a:prstGeom prst="roundRect">
            <a:avLst>
              <a:gd name="adj" fmla="val 7619"/>
            </a:avLst>
          </a:prstGeom>
          <a:solidFill>
            <a:srgbClr val="16335F"/>
          </a:solidFill>
          <a:ln w="12700">
            <a:solidFill>
              <a:srgbClr val="2A4B7C"/>
            </a:solidFill>
            <a:prstDash val="solid"/>
          </a:ln>
        </p:spPr>
      </p:sp>
      <p:sp>
        <p:nvSpPr>
          <p:cNvPr id="13" name="Text 11"/>
          <p:cNvSpPr txBox="1"/>
          <p:nvPr/>
        </p:nvSpPr>
        <p:spPr>
          <a:xfrm>
            <a:off x="5928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3</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Frequency range · 8</a:t>
            </a:r>
            <a:endParaRPr lang="en-US" sz="900" dirty="0"/>
          </a:p>
        </p:txBody>
      </p:sp>
      <p:sp>
        <p:nvSpPr>
          <p:cNvPr id="14" name="Shape 12"/>
          <p:cNvSpPr/>
          <p:nvPr/>
        </p:nvSpPr>
        <p:spPr>
          <a:xfrm>
            <a:off x="8732520" y="1371600"/>
            <a:ext cx="3017520" cy="3291840"/>
          </a:xfrm>
          <a:prstGeom prst="roundRect">
            <a:avLst>
              <a:gd name="adj" fmla="val 2424"/>
            </a:avLst>
          </a:prstGeom>
          <a:solidFill>
            <a:srgbClr val="EAF6EF"/>
          </a:solidFill>
          <a:ln w="12700">
            <a:solidFill>
              <a:srgbClr val="9CCFB0"/>
            </a:solidFill>
            <a:prstDash val="solid"/>
          </a:ln>
        </p:spPr>
      </p:sp>
      <p:sp>
        <p:nvSpPr>
          <p:cNvPr id="15" name="Text 13"/>
          <p:cNvSpPr txBox="1"/>
          <p:nvPr/>
        </p:nvSpPr>
        <p:spPr>
          <a:xfrm>
            <a:off x="8915400" y="1426464"/>
            <a:ext cx="2651760" cy="310896"/>
          </a:xfrm>
          <a:prstGeom prst="rect">
            <a:avLst/>
          </a:prstGeom>
          <a:noFill/>
          <a:ln/>
        </p:spPr>
        <p:txBody>
          <a:bodyPr wrap="square" lIns="0" tIns="0" rIns="0" bIns="0" rtlCol="0" anchor="ctr"/>
          <a:lstStyle/>
          <a:p>
            <a:pPr algn="l" indent="0" marL="0">
              <a:buNone/>
            </a:pPr>
            <a:r>
              <a:rPr lang="en-US" sz="1000" b="1" spc="200" kern="0" dirty="0">
                <a:solidFill>
                  <a:srgbClr val="2E8B57"/>
                </a:solidFill>
                <a:latin typeface="Calibri" pitchFamily="34" charset="0"/>
                <a:ea typeface="Calibri" pitchFamily="34" charset="-122"/>
                <a:cs typeface="Calibri" pitchFamily="34" charset="-120"/>
              </a:rPr>
              <a:t>BRIDGE FROM URDU</a:t>
            </a:r>
            <a:endParaRPr lang="en-US" sz="1000" dirty="0"/>
          </a:p>
        </p:txBody>
      </p:sp>
      <p:sp>
        <p:nvSpPr>
          <p:cNvPr id="16" name="Text 14"/>
          <p:cNvSpPr txBox="1"/>
          <p:nvPr/>
        </p:nvSpPr>
        <p:spPr>
          <a:xfrm>
            <a:off x="10241280" y="1810512"/>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عَادَةً</a:t>
            </a:r>
            <a:endParaRPr lang="ar-SA" sz="1900" dirty="0"/>
          </a:p>
        </p:txBody>
      </p:sp>
      <p:sp>
        <p:nvSpPr>
          <p:cNvPr id="17" name="Text 15"/>
          <p:cNvSpPr txBox="1"/>
          <p:nvPr/>
        </p:nvSpPr>
        <p:spPr>
          <a:xfrm>
            <a:off x="8842248" y="1810512"/>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‎عادتاً‎ </a:t>
            </a:r>
            <a:pPr indent="0" marL="0">
              <a:buNone/>
            </a:pPr>
            <a:r>
              <a:rPr lang="en-US" sz="950" b="1" dirty="0">
                <a:solidFill>
                  <a:srgbClr val="2E8B57"/>
                </a:solidFill>
                <a:latin typeface="Calibri" pitchFamily="34" charset="0"/>
                <a:ea typeface="Calibri" pitchFamily="34" charset="-122"/>
                <a:cs typeface="Calibri" pitchFamily="34" charset="-120"/>
              </a:rPr>
              <a:t> ādatan · usually</a:t>
            </a:r>
            <a:endParaRPr lang="en-US" sz="1400" dirty="0"/>
          </a:p>
        </p:txBody>
      </p:sp>
      <p:sp>
        <p:nvSpPr>
          <p:cNvPr id="18" name="Text 16"/>
          <p:cNvSpPr txBox="1"/>
          <p:nvPr/>
        </p:nvSpPr>
        <p:spPr>
          <a:xfrm>
            <a:off x="10241280" y="2377440"/>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دَائِمًا</a:t>
            </a:r>
            <a:endParaRPr lang="ar-SA" sz="1900" dirty="0"/>
          </a:p>
        </p:txBody>
      </p:sp>
      <p:sp>
        <p:nvSpPr>
          <p:cNvPr id="19" name="Text 17"/>
          <p:cNvSpPr txBox="1"/>
          <p:nvPr/>
        </p:nvSpPr>
        <p:spPr>
          <a:xfrm>
            <a:off x="8842248" y="2377440"/>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‎دائماً‎ </a:t>
            </a:r>
            <a:pPr indent="0" marL="0">
              <a:buNone/>
            </a:pPr>
            <a:r>
              <a:rPr lang="en-US" sz="950" b="1" dirty="0">
                <a:solidFill>
                  <a:srgbClr val="2E8B57"/>
                </a:solidFill>
                <a:latin typeface="Calibri" pitchFamily="34" charset="0"/>
                <a:ea typeface="Calibri" pitchFamily="34" charset="-122"/>
                <a:cs typeface="Calibri" pitchFamily="34" charset="-120"/>
              </a:rPr>
              <a:t> dāiman · always (formal Urdu)</a:t>
            </a:r>
            <a:endParaRPr lang="en-US" sz="1400" dirty="0"/>
          </a:p>
        </p:txBody>
      </p:sp>
      <p:sp>
        <p:nvSpPr>
          <p:cNvPr id="20" name="Text 18"/>
          <p:cNvSpPr txBox="1"/>
          <p:nvPr/>
        </p:nvSpPr>
        <p:spPr>
          <a:xfrm>
            <a:off x="10241280" y="2944368"/>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أَبَدًا</a:t>
            </a:r>
            <a:endParaRPr lang="ar-SA" sz="1900" dirty="0"/>
          </a:p>
        </p:txBody>
      </p:sp>
      <p:sp>
        <p:nvSpPr>
          <p:cNvPr id="21" name="Text 19"/>
          <p:cNvSpPr txBox="1"/>
          <p:nvPr/>
        </p:nvSpPr>
        <p:spPr>
          <a:xfrm>
            <a:off x="8842248" y="2944368"/>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‎ابد‎ </a:t>
            </a:r>
            <a:pPr indent="0" marL="0">
              <a:buNone/>
            </a:pPr>
            <a:r>
              <a:rPr lang="en-US" sz="950" b="1" dirty="0">
                <a:solidFill>
                  <a:srgbClr val="2E8B57"/>
                </a:solidFill>
                <a:latin typeface="Calibri" pitchFamily="34" charset="0"/>
                <a:ea typeface="Calibri" pitchFamily="34" charset="-122"/>
                <a:cs typeface="Calibri" pitchFamily="34" charset="-120"/>
              </a:rPr>
              <a:t> abad · eternity (→ never)</a:t>
            </a:r>
            <a:endParaRPr lang="en-US" sz="1400" dirty="0"/>
          </a:p>
        </p:txBody>
      </p:sp>
      <p:sp>
        <p:nvSpPr>
          <p:cNvPr id="22" name="Text 20"/>
          <p:cNvSpPr txBox="1"/>
          <p:nvPr/>
        </p:nvSpPr>
        <p:spPr>
          <a:xfrm>
            <a:off x="10241280" y="3511296"/>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مُعْظَمُ</a:t>
            </a:r>
            <a:endParaRPr lang="ar-SA" sz="1900" dirty="0"/>
          </a:p>
        </p:txBody>
      </p:sp>
      <p:sp>
        <p:nvSpPr>
          <p:cNvPr id="23" name="Text 21"/>
          <p:cNvSpPr txBox="1"/>
          <p:nvPr/>
        </p:nvSpPr>
        <p:spPr>
          <a:xfrm>
            <a:off x="8842248" y="3511296"/>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‎معظم‎ </a:t>
            </a:r>
            <a:pPr indent="0" marL="0">
              <a:buNone/>
            </a:pPr>
            <a:r>
              <a:rPr lang="en-US" sz="950" b="1" dirty="0">
                <a:solidFill>
                  <a:srgbClr val="2E8B57"/>
                </a:solidFill>
                <a:latin typeface="Calibri" pitchFamily="34" charset="0"/>
                <a:ea typeface="Calibri" pitchFamily="34" charset="-122"/>
                <a:cs typeface="Calibri" pitchFamily="34" charset="-120"/>
              </a:rPr>
              <a:t> muazzam · Urdu: great · Arabic: most</a:t>
            </a:r>
            <a:endParaRPr lang="en-US" sz="1400" dirty="0"/>
          </a:p>
        </p:txBody>
      </p:sp>
      <p:sp>
        <p:nvSpPr>
          <p:cNvPr id="24" name="Text 22"/>
          <p:cNvSpPr txBox="1"/>
          <p:nvPr/>
        </p:nvSpPr>
        <p:spPr>
          <a:xfrm>
            <a:off x="10241280" y="4078224"/>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اِنْشِغَالٌ</a:t>
            </a:r>
            <a:endParaRPr lang="ar-SA" sz="1900" dirty="0"/>
          </a:p>
        </p:txBody>
      </p:sp>
      <p:sp>
        <p:nvSpPr>
          <p:cNvPr id="25" name="Text 23"/>
          <p:cNvSpPr txBox="1"/>
          <p:nvPr/>
        </p:nvSpPr>
        <p:spPr>
          <a:xfrm>
            <a:off x="8842248" y="4078224"/>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‎مشغول‎ </a:t>
            </a:r>
            <a:pPr indent="0" marL="0">
              <a:buNone/>
            </a:pPr>
            <a:r>
              <a:rPr lang="en-US" sz="950" b="1" dirty="0">
                <a:solidFill>
                  <a:srgbClr val="2E8B57"/>
                </a:solidFill>
                <a:latin typeface="Calibri" pitchFamily="34" charset="0"/>
                <a:ea typeface="Calibri" pitchFamily="34" charset="-122"/>
                <a:cs typeface="Calibri" pitchFamily="34" charset="-120"/>
              </a:rPr>
              <a:t> mashghūl · busy</a:t>
            </a:r>
            <a:endParaRPr lang="en-US" sz="1400" dirty="0"/>
          </a:p>
        </p:txBody>
      </p:sp>
      <p:sp>
        <p:nvSpPr>
          <p:cNvPr id="27" name="Text 2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7 / 46</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D1-L03 · How Often?</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Week and schedule (1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D1-L03</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أَيَّامُ الأُسْبُوعِ</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days of the week</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ay-yā-mu al-us-bū-ʿi</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a:t>
            </a:r>
            <a:endParaRPr lang="en-US" sz="1000" dirty="0"/>
          </a:p>
        </p:txBody>
      </p:sp>
      <p:sp>
        <p:nvSpPr>
          <p:cNvPr id="25" name="Text 2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أَيَّامُ الدِّرَاسَةِ</a:t>
            </a:r>
            <a:endParaRPr lang="ar-SA" sz="3000" dirty="0"/>
          </a:p>
        </p:txBody>
      </p:sp>
      <p:sp>
        <p:nvSpPr>
          <p:cNvPr id="26" name="Text 2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school days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ay-yā-mu ad-di-rā-sa-ti</a:t>
            </a:r>
            <a:endParaRPr lang="en-US" sz="1350" dirty="0"/>
          </a:p>
        </p:txBody>
      </p:sp>
      <p:sp>
        <p:nvSpPr>
          <p:cNvPr id="27" name="Shape 2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566928"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3</a:t>
            </a:r>
            <a:endParaRPr lang="en-US" sz="1000" dirty="0"/>
          </a:p>
        </p:txBody>
      </p:sp>
      <p:sp>
        <p:nvSpPr>
          <p:cNvPr id="30" name="Shape 27"/>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1" name="Text 28"/>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2" name="Text 29"/>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نِهَايَةُ الأُسْبُوعِ</a:t>
            </a:r>
            <a:endParaRPr lang="ar-SA" sz="3000" dirty="0"/>
          </a:p>
        </p:txBody>
      </p:sp>
      <p:sp>
        <p:nvSpPr>
          <p:cNvPr id="33" name="Text 30"/>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weekend</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ni-hā-ya-tu al-us-bū-ʿi</a:t>
            </a:r>
            <a:endParaRPr lang="en-US" sz="1350" dirty="0"/>
          </a:p>
        </p:txBody>
      </p:sp>
      <p:sp>
        <p:nvSpPr>
          <p:cNvPr id="34" name="Shape 31"/>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8211312" y="4261104"/>
            <a:ext cx="310896" cy="310896"/>
          </a:xfrm>
          <a:prstGeom prst="ellipse">
            <a:avLst/>
          </a:prstGeom>
          <a:solidFill>
            <a:srgbClr val="F4F1EA"/>
          </a:solidFill>
          <a:ln w="12700">
            <a:solidFill>
              <a:srgbClr val="F4F1EA"/>
            </a:solidFill>
            <a:prstDash val="solid"/>
          </a:ln>
        </p:spPr>
      </p:sp>
      <p:sp>
        <p:nvSpPr>
          <p:cNvPr id="36" name="Text 33"/>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4</a:t>
            </a:r>
            <a:endParaRPr lang="en-US" sz="1000" dirty="0"/>
          </a:p>
        </p:txBody>
      </p:sp>
      <p:sp>
        <p:nvSpPr>
          <p:cNvPr id="37" name="Text 34"/>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الجَدْوَلُ الأُسْبُوعِيُّ</a:t>
            </a:r>
            <a:endParaRPr lang="ar-SA" sz="3000" dirty="0"/>
          </a:p>
        </p:txBody>
      </p:sp>
      <p:sp>
        <p:nvSpPr>
          <p:cNvPr id="38" name="Text 35"/>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weekly schedule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al-jad-wa-lu al-us-bū-ʿiy-yu</a:t>
            </a:r>
            <a:endParaRPr lang="en-US" sz="1350" dirty="0"/>
          </a:p>
        </p:txBody>
      </p:sp>
      <p:sp>
        <p:nvSpPr>
          <p:cNvPr id="39" name="Shape 36"/>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4389120" y="4261104"/>
            <a:ext cx="310896" cy="310896"/>
          </a:xfrm>
          <a:prstGeom prst="ellipse">
            <a:avLst/>
          </a:prstGeom>
          <a:solidFill>
            <a:srgbClr val="F4F1EA"/>
          </a:solidFill>
          <a:ln w="12700">
            <a:solidFill>
              <a:srgbClr val="F4F1EA"/>
            </a:solidFill>
            <a:prstDash val="solid"/>
          </a:ln>
        </p:spPr>
      </p:sp>
      <p:sp>
        <p:nvSpPr>
          <p:cNvPr id="41" name="Text 38"/>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5</a:t>
            </a:r>
            <a:endParaRPr lang="en-US" sz="1000" dirty="0"/>
          </a:p>
        </p:txBody>
      </p:sp>
      <p:sp>
        <p:nvSpPr>
          <p:cNvPr id="42" name="Shape 39"/>
          <p:cNvSpPr/>
          <p:nvPr/>
        </p:nvSpPr>
        <p:spPr>
          <a:xfrm>
            <a:off x="4782312" y="4279392"/>
            <a:ext cx="709574" cy="256032"/>
          </a:xfrm>
          <a:prstGeom prst="roundRect">
            <a:avLst>
              <a:gd name="adj" fmla="val 50000"/>
            </a:avLst>
          </a:prstGeom>
          <a:solidFill>
            <a:srgbClr val="EFE7D2"/>
          </a:solidFill>
          <a:ln w="12700">
            <a:solidFill>
              <a:srgbClr val="EFE7D2"/>
            </a:solidFill>
            <a:prstDash val="solid"/>
          </a:ln>
        </p:spPr>
      </p:sp>
      <p:sp>
        <p:nvSpPr>
          <p:cNvPr id="43" name="Text 40"/>
          <p:cNvSpPr txBox="1"/>
          <p:nvPr/>
        </p:nvSpPr>
        <p:spPr>
          <a:xfrm>
            <a:off x="4782312" y="4279392"/>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sg · pl</a:t>
            </a:r>
            <a:endParaRPr lang="en-US" sz="800" dirty="0"/>
          </a:p>
        </p:txBody>
      </p:sp>
      <p:sp>
        <p:nvSpPr>
          <p:cNvPr id="44" name="Text 41"/>
          <p:cNvSpPr txBox="1"/>
          <p:nvPr/>
        </p:nvSpPr>
        <p:spPr>
          <a:xfrm>
            <a:off x="4389120"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حِصَّةٌ إِضَافِيَّةٌ</a:t>
            </a:r>
            <a:endParaRPr lang="ar-SA" sz="3000" dirty="0"/>
          </a:p>
        </p:txBody>
      </p:sp>
      <p:sp>
        <p:nvSpPr>
          <p:cNvPr id="45" name="Text 42"/>
          <p:cNvSpPr txBox="1"/>
          <p:nvPr/>
        </p:nvSpPr>
        <p:spPr>
          <a:xfrm>
            <a:off x="4416552"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extra lesson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ḥiṣ-ṣa-tun i-ḍā-fiy-ya-tun</a:t>
            </a:r>
            <a:endParaRPr lang="en-US" sz="1350" dirty="0"/>
          </a:p>
        </p:txBody>
      </p:sp>
      <p:sp>
        <p:nvSpPr>
          <p:cNvPr id="46" name="Shape 43"/>
          <p:cNvSpPr/>
          <p:nvPr/>
        </p:nvSpPr>
        <p:spPr>
          <a:xfrm>
            <a:off x="6144768" y="5779008"/>
            <a:ext cx="1636776" cy="438912"/>
          </a:xfrm>
          <a:prstGeom prst="roundRect">
            <a:avLst>
              <a:gd name="adj" fmla="val 10417"/>
            </a:avLst>
          </a:prstGeom>
          <a:solidFill>
            <a:srgbClr val="F4F1EA"/>
          </a:solidFill>
          <a:ln w="9525">
            <a:solidFill>
              <a:srgbClr val="F4F1EA"/>
            </a:solidFill>
            <a:prstDash val="solid"/>
          </a:ln>
        </p:spPr>
      </p:sp>
      <p:sp>
        <p:nvSpPr>
          <p:cNvPr id="47" name="Text 44"/>
          <p:cNvSpPr txBox="1"/>
          <p:nvPr/>
        </p:nvSpPr>
        <p:spPr>
          <a:xfrm>
            <a:off x="6199632"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one</a:t>
            </a:r>
            <a:endParaRPr lang="en-US" sz="750" dirty="0"/>
          </a:p>
        </p:txBody>
      </p:sp>
      <p:sp>
        <p:nvSpPr>
          <p:cNvPr id="48" name="Text 45"/>
          <p:cNvSpPr txBox="1"/>
          <p:nvPr/>
        </p:nvSpPr>
        <p:spPr>
          <a:xfrm>
            <a:off x="6190488"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حِصَّةٌ</a:t>
            </a:r>
            <a:endParaRPr lang="ar-SA" sz="1500" dirty="0"/>
          </a:p>
        </p:txBody>
      </p:sp>
      <p:sp>
        <p:nvSpPr>
          <p:cNvPr id="49" name="Shape 46"/>
          <p:cNvSpPr/>
          <p:nvPr/>
        </p:nvSpPr>
        <p:spPr>
          <a:xfrm>
            <a:off x="4416552" y="5779008"/>
            <a:ext cx="1636776" cy="438912"/>
          </a:xfrm>
          <a:prstGeom prst="roundRect">
            <a:avLst>
              <a:gd name="adj" fmla="val 10417"/>
            </a:avLst>
          </a:prstGeom>
          <a:solidFill>
            <a:srgbClr val="F4F1EA"/>
          </a:solidFill>
          <a:ln w="9525">
            <a:solidFill>
              <a:srgbClr val="F4F1EA"/>
            </a:solidFill>
            <a:prstDash val="solid"/>
          </a:ln>
        </p:spPr>
      </p:sp>
      <p:sp>
        <p:nvSpPr>
          <p:cNvPr id="50" name="Text 47"/>
          <p:cNvSpPr txBox="1"/>
          <p:nvPr/>
        </p:nvSpPr>
        <p:spPr>
          <a:xfrm>
            <a:off x="4471416"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51" name="Text 48"/>
          <p:cNvSpPr txBox="1"/>
          <p:nvPr/>
        </p:nvSpPr>
        <p:spPr>
          <a:xfrm>
            <a:off x="4462272"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حِصَصٌ</a:t>
            </a:r>
            <a:endParaRPr lang="ar-SA" sz="1500" dirty="0"/>
          </a:p>
        </p:txBody>
      </p:sp>
      <p:sp>
        <p:nvSpPr>
          <p:cNvPr id="52" name="Shape 49"/>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3" name="Shape 50"/>
          <p:cNvSpPr/>
          <p:nvPr/>
        </p:nvSpPr>
        <p:spPr>
          <a:xfrm>
            <a:off x="566928" y="4261104"/>
            <a:ext cx="310896" cy="310896"/>
          </a:xfrm>
          <a:prstGeom prst="ellipse">
            <a:avLst/>
          </a:prstGeom>
          <a:solidFill>
            <a:srgbClr val="F4F1EA"/>
          </a:solidFill>
          <a:ln w="12700">
            <a:solidFill>
              <a:srgbClr val="F4F1EA"/>
            </a:solidFill>
            <a:prstDash val="solid"/>
          </a:ln>
        </p:spPr>
      </p:sp>
      <p:sp>
        <p:nvSpPr>
          <p:cNvPr id="54" name="Text 51"/>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6</a:t>
            </a:r>
            <a:endParaRPr lang="en-US" sz="1000" dirty="0"/>
          </a:p>
        </p:txBody>
      </p:sp>
      <p:sp>
        <p:nvSpPr>
          <p:cNvPr id="55" name="Shape 52"/>
          <p:cNvSpPr/>
          <p:nvPr/>
        </p:nvSpPr>
        <p:spPr>
          <a:xfrm>
            <a:off x="960120" y="4279392"/>
            <a:ext cx="709574" cy="256032"/>
          </a:xfrm>
          <a:prstGeom prst="roundRect">
            <a:avLst>
              <a:gd name="adj" fmla="val 50000"/>
            </a:avLst>
          </a:prstGeom>
          <a:solidFill>
            <a:srgbClr val="EFE7D2"/>
          </a:solidFill>
          <a:ln w="12700">
            <a:solidFill>
              <a:srgbClr val="EFE7D2"/>
            </a:solidFill>
            <a:prstDash val="solid"/>
          </a:ln>
        </p:spPr>
      </p:sp>
      <p:sp>
        <p:nvSpPr>
          <p:cNvPr id="56" name="Text 53"/>
          <p:cNvSpPr txBox="1"/>
          <p:nvPr/>
        </p:nvSpPr>
        <p:spPr>
          <a:xfrm>
            <a:off x="960120" y="4279392"/>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sg · pl</a:t>
            </a:r>
            <a:endParaRPr lang="en-US" sz="800" dirty="0"/>
          </a:p>
        </p:txBody>
      </p:sp>
      <p:sp>
        <p:nvSpPr>
          <p:cNvPr id="57" name="Text 54"/>
          <p:cNvSpPr txBox="1"/>
          <p:nvPr/>
        </p:nvSpPr>
        <p:spPr>
          <a:xfrm>
            <a:off x="566928"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نَادٍ</a:t>
            </a:r>
            <a:endParaRPr lang="ar-SA" sz="3000" dirty="0"/>
          </a:p>
        </p:txBody>
      </p:sp>
      <p:sp>
        <p:nvSpPr>
          <p:cNvPr id="58" name="Text 55"/>
          <p:cNvSpPr txBox="1"/>
          <p:nvPr/>
        </p:nvSpPr>
        <p:spPr>
          <a:xfrm>
            <a:off x="594360"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club</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nā-din</a:t>
            </a:r>
            <a:endParaRPr lang="en-US" sz="1350" dirty="0"/>
          </a:p>
        </p:txBody>
      </p:sp>
      <p:sp>
        <p:nvSpPr>
          <p:cNvPr id="59" name="Shape 56"/>
          <p:cNvSpPr/>
          <p:nvPr/>
        </p:nvSpPr>
        <p:spPr>
          <a:xfrm>
            <a:off x="2898648" y="5779008"/>
            <a:ext cx="1060704" cy="438912"/>
          </a:xfrm>
          <a:prstGeom prst="roundRect">
            <a:avLst>
              <a:gd name="adj" fmla="val 10417"/>
            </a:avLst>
          </a:prstGeom>
          <a:solidFill>
            <a:srgbClr val="F4F1EA"/>
          </a:solidFill>
          <a:ln w="9525">
            <a:solidFill>
              <a:srgbClr val="F4F1EA"/>
            </a:solidFill>
            <a:prstDash val="solid"/>
          </a:ln>
        </p:spPr>
      </p:sp>
      <p:sp>
        <p:nvSpPr>
          <p:cNvPr id="60" name="Text 57"/>
          <p:cNvSpPr txBox="1"/>
          <p:nvPr/>
        </p:nvSpPr>
        <p:spPr>
          <a:xfrm>
            <a:off x="2953512"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one</a:t>
            </a:r>
            <a:endParaRPr lang="en-US" sz="750" dirty="0"/>
          </a:p>
        </p:txBody>
      </p:sp>
      <p:sp>
        <p:nvSpPr>
          <p:cNvPr id="61" name="Text 58"/>
          <p:cNvSpPr txBox="1"/>
          <p:nvPr/>
        </p:nvSpPr>
        <p:spPr>
          <a:xfrm>
            <a:off x="2944368"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نَادٍ</a:t>
            </a:r>
            <a:endParaRPr lang="ar-SA" sz="1500" dirty="0"/>
          </a:p>
        </p:txBody>
      </p:sp>
      <p:sp>
        <p:nvSpPr>
          <p:cNvPr id="62" name="Shape 59"/>
          <p:cNvSpPr/>
          <p:nvPr/>
        </p:nvSpPr>
        <p:spPr>
          <a:xfrm>
            <a:off x="1746504" y="5779008"/>
            <a:ext cx="1060704" cy="438912"/>
          </a:xfrm>
          <a:prstGeom prst="roundRect">
            <a:avLst>
              <a:gd name="adj" fmla="val 10417"/>
            </a:avLst>
          </a:prstGeom>
          <a:solidFill>
            <a:srgbClr val="F4F1EA"/>
          </a:solidFill>
          <a:ln w="9525">
            <a:solidFill>
              <a:srgbClr val="F4F1EA"/>
            </a:solidFill>
            <a:prstDash val="solid"/>
          </a:ln>
        </p:spPr>
      </p:sp>
      <p:sp>
        <p:nvSpPr>
          <p:cNvPr id="63" name="Text 60"/>
          <p:cNvSpPr txBox="1"/>
          <p:nvPr/>
        </p:nvSpPr>
        <p:spPr>
          <a:xfrm>
            <a:off x="1801368"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the</a:t>
            </a:r>
            <a:endParaRPr lang="en-US" sz="750" dirty="0"/>
          </a:p>
        </p:txBody>
      </p:sp>
      <p:sp>
        <p:nvSpPr>
          <p:cNvPr id="64" name="Text 61"/>
          <p:cNvSpPr txBox="1"/>
          <p:nvPr/>
        </p:nvSpPr>
        <p:spPr>
          <a:xfrm>
            <a:off x="1792224"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النَّادِي</a:t>
            </a:r>
            <a:endParaRPr lang="ar-SA" sz="1500" dirty="0"/>
          </a:p>
        </p:txBody>
      </p:sp>
      <p:sp>
        <p:nvSpPr>
          <p:cNvPr id="65" name="Shape 62"/>
          <p:cNvSpPr/>
          <p:nvPr/>
        </p:nvSpPr>
        <p:spPr>
          <a:xfrm>
            <a:off x="594360" y="5779008"/>
            <a:ext cx="1060704" cy="438912"/>
          </a:xfrm>
          <a:prstGeom prst="roundRect">
            <a:avLst>
              <a:gd name="adj" fmla="val 10417"/>
            </a:avLst>
          </a:prstGeom>
          <a:solidFill>
            <a:srgbClr val="F4F1EA"/>
          </a:solidFill>
          <a:ln w="9525">
            <a:solidFill>
              <a:srgbClr val="F4F1EA"/>
            </a:solidFill>
            <a:prstDash val="solid"/>
          </a:ln>
        </p:spPr>
      </p:sp>
      <p:sp>
        <p:nvSpPr>
          <p:cNvPr id="66" name="Text 63"/>
          <p:cNvSpPr txBox="1"/>
          <p:nvPr/>
        </p:nvSpPr>
        <p:spPr>
          <a:xfrm>
            <a:off x="649224"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67" name="Text 64"/>
          <p:cNvSpPr txBox="1"/>
          <p:nvPr/>
        </p:nvSpPr>
        <p:spPr>
          <a:xfrm>
            <a:off x="640080"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نَوَادٍ</a:t>
            </a:r>
            <a:endParaRPr lang="ar-SA" sz="1500" dirty="0"/>
          </a:p>
        </p:txBody>
      </p:sp>
      <p:sp>
        <p:nvSpPr>
          <p:cNvPr id="68" name="Text 6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8 / 46</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D1-L03 · How Often?</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Week and schedule (2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D1-L03</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7</a:t>
            </a:r>
            <a:endParaRPr lang="en-US" sz="1000" dirty="0"/>
          </a:p>
        </p:txBody>
      </p:sp>
      <p:sp>
        <p:nvSpPr>
          <p:cNvPr id="18" name="Text 15"/>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مَوْعِدٌ ثَابِتٌ</a:t>
            </a:r>
            <a:endParaRPr lang="ar-SA" sz="3000" dirty="0"/>
          </a:p>
        </p:txBody>
      </p:sp>
      <p:sp>
        <p:nvSpPr>
          <p:cNvPr id="19" name="Text 16"/>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fixed appointment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maw-ʿi-dun thā-bi-tun</a:t>
            </a:r>
            <a:endParaRPr lang="en-US" sz="1350" dirty="0"/>
          </a:p>
        </p:txBody>
      </p:sp>
      <p:sp>
        <p:nvSpPr>
          <p:cNvPr id="20" name="Shape 17"/>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4389120" y="1920240"/>
            <a:ext cx="310896" cy="310896"/>
          </a:xfrm>
          <a:prstGeom prst="ellipse">
            <a:avLst/>
          </a:prstGeom>
          <a:solidFill>
            <a:srgbClr val="F4F1EA"/>
          </a:solidFill>
          <a:ln w="12700">
            <a:solidFill>
              <a:srgbClr val="F4F1EA"/>
            </a:solidFill>
            <a:prstDash val="solid"/>
          </a:ln>
        </p:spPr>
      </p:sp>
      <p:sp>
        <p:nvSpPr>
          <p:cNvPr id="22" name="Text 19"/>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8</a:t>
            </a:r>
            <a:endParaRPr lang="en-US" sz="1000" dirty="0"/>
          </a:p>
        </p:txBody>
      </p:sp>
      <p:sp>
        <p:nvSpPr>
          <p:cNvPr id="23" name="Text 20"/>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مَوْعِدٌ مُتَغَيِّرٌ</a:t>
            </a:r>
            <a:endParaRPr lang="ar-SA" sz="3000" dirty="0"/>
          </a:p>
        </p:txBody>
      </p:sp>
      <p:sp>
        <p:nvSpPr>
          <p:cNvPr id="24" name="Text 21"/>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changing appointment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maw-ʿi-dun mu-ta-ghay-yi-run</a:t>
            </a:r>
            <a:endParaRPr lang="en-US" sz="1350" dirty="0"/>
          </a:p>
        </p:txBody>
      </p:sp>
      <p:sp>
        <p:nvSpPr>
          <p:cNvPr id="25" name="Shape 22"/>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566928" y="1920240"/>
            <a:ext cx="310896" cy="310896"/>
          </a:xfrm>
          <a:prstGeom prst="ellipse">
            <a:avLst/>
          </a:prstGeom>
          <a:solidFill>
            <a:srgbClr val="F4F1EA"/>
          </a:solidFill>
          <a:ln w="12700">
            <a:solidFill>
              <a:srgbClr val="F4F1EA"/>
            </a:solidFill>
            <a:prstDash val="solid"/>
          </a:ln>
        </p:spPr>
      </p:sp>
      <p:sp>
        <p:nvSpPr>
          <p:cNvPr id="27" name="Text 24"/>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9</a:t>
            </a:r>
            <a:endParaRPr lang="en-US" sz="1000" dirty="0"/>
          </a:p>
        </p:txBody>
      </p:sp>
      <p:sp>
        <p:nvSpPr>
          <p:cNvPr id="28" name="Shape 25"/>
          <p:cNvSpPr/>
          <p:nvPr/>
        </p:nvSpPr>
        <p:spPr>
          <a:xfrm>
            <a:off x="960120" y="1938528"/>
            <a:ext cx="896112" cy="256032"/>
          </a:xfrm>
          <a:prstGeom prst="roundRect">
            <a:avLst>
              <a:gd name="adj" fmla="val 50000"/>
            </a:avLst>
          </a:prstGeom>
          <a:solidFill>
            <a:srgbClr val="EFE7D2"/>
          </a:solidFill>
          <a:ln w="12700">
            <a:solidFill>
              <a:srgbClr val="EFE7D2"/>
            </a:solidFill>
            <a:prstDash val="solid"/>
          </a:ln>
        </p:spPr>
      </p:sp>
      <p:sp>
        <p:nvSpPr>
          <p:cNvPr id="29" name="Text 26"/>
          <p:cNvSpPr txBox="1"/>
          <p:nvPr/>
        </p:nvSpPr>
        <p:spPr>
          <a:xfrm>
            <a:off x="960120"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 · f · pl</a:t>
            </a:r>
            <a:endParaRPr lang="en-US" sz="800" dirty="0"/>
          </a:p>
        </p:txBody>
      </p:sp>
      <p:sp>
        <p:nvSpPr>
          <p:cNvPr id="30" name="Shape 27"/>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1" name="Text 28"/>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2" name="Text 29"/>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يَوْمٌ مُزْدَحِمٌ</a:t>
            </a:r>
            <a:endParaRPr lang="ar-SA" sz="3000" dirty="0"/>
          </a:p>
        </p:txBody>
      </p:sp>
      <p:sp>
        <p:nvSpPr>
          <p:cNvPr id="33" name="Text 30"/>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busy day</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yaw-mun muz-da-ḥi-mun</a:t>
            </a:r>
            <a:endParaRPr lang="en-US" sz="1350" dirty="0"/>
          </a:p>
        </p:txBody>
      </p:sp>
      <p:sp>
        <p:nvSpPr>
          <p:cNvPr id="34" name="Shape 31"/>
          <p:cNvSpPr/>
          <p:nvPr/>
        </p:nvSpPr>
        <p:spPr>
          <a:xfrm>
            <a:off x="2898648" y="3438144"/>
            <a:ext cx="1060704" cy="438912"/>
          </a:xfrm>
          <a:prstGeom prst="roundRect">
            <a:avLst>
              <a:gd name="adj" fmla="val 10417"/>
            </a:avLst>
          </a:prstGeom>
          <a:solidFill>
            <a:srgbClr val="F4F1EA"/>
          </a:solidFill>
          <a:ln w="9525">
            <a:solidFill>
              <a:srgbClr val="F4F1EA"/>
            </a:solidFill>
            <a:prstDash val="solid"/>
          </a:ln>
        </p:spPr>
      </p:sp>
      <p:sp>
        <p:nvSpPr>
          <p:cNvPr id="35" name="Text 32"/>
          <p:cNvSpPr txBox="1"/>
          <p:nvPr/>
        </p:nvSpPr>
        <p:spPr>
          <a:xfrm>
            <a:off x="2953512"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m.</a:t>
            </a:r>
            <a:endParaRPr lang="en-US" sz="750" dirty="0"/>
          </a:p>
        </p:txBody>
      </p:sp>
      <p:sp>
        <p:nvSpPr>
          <p:cNvPr id="36" name="Text 33"/>
          <p:cNvSpPr txBox="1"/>
          <p:nvPr/>
        </p:nvSpPr>
        <p:spPr>
          <a:xfrm>
            <a:off x="2944368"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مُزْدَحِمٌ</a:t>
            </a:r>
            <a:endParaRPr lang="ar-SA" sz="1500" dirty="0"/>
          </a:p>
        </p:txBody>
      </p:sp>
      <p:sp>
        <p:nvSpPr>
          <p:cNvPr id="37" name="Shape 34"/>
          <p:cNvSpPr/>
          <p:nvPr/>
        </p:nvSpPr>
        <p:spPr>
          <a:xfrm>
            <a:off x="1746504" y="3438144"/>
            <a:ext cx="1060704" cy="438912"/>
          </a:xfrm>
          <a:prstGeom prst="roundRect">
            <a:avLst>
              <a:gd name="adj" fmla="val 10417"/>
            </a:avLst>
          </a:prstGeom>
          <a:solidFill>
            <a:srgbClr val="F4F1EA"/>
          </a:solidFill>
          <a:ln w="9525">
            <a:solidFill>
              <a:srgbClr val="F4F1EA"/>
            </a:solidFill>
            <a:prstDash val="solid"/>
          </a:ln>
        </p:spPr>
      </p:sp>
      <p:sp>
        <p:nvSpPr>
          <p:cNvPr id="38" name="Text 35"/>
          <p:cNvSpPr txBox="1"/>
          <p:nvPr/>
        </p:nvSpPr>
        <p:spPr>
          <a:xfrm>
            <a:off x="1801368"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f.</a:t>
            </a:r>
            <a:endParaRPr lang="en-US" sz="750" dirty="0"/>
          </a:p>
        </p:txBody>
      </p:sp>
      <p:sp>
        <p:nvSpPr>
          <p:cNvPr id="39" name="Text 36"/>
          <p:cNvSpPr txBox="1"/>
          <p:nvPr/>
        </p:nvSpPr>
        <p:spPr>
          <a:xfrm>
            <a:off x="1792224"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مُزْدَحِمَةٌ</a:t>
            </a:r>
            <a:endParaRPr lang="ar-SA" sz="1500" dirty="0"/>
          </a:p>
        </p:txBody>
      </p:sp>
      <p:sp>
        <p:nvSpPr>
          <p:cNvPr id="40" name="Shape 37"/>
          <p:cNvSpPr/>
          <p:nvPr/>
        </p:nvSpPr>
        <p:spPr>
          <a:xfrm>
            <a:off x="594360" y="3438144"/>
            <a:ext cx="1060704" cy="438912"/>
          </a:xfrm>
          <a:prstGeom prst="roundRect">
            <a:avLst>
              <a:gd name="adj" fmla="val 10417"/>
            </a:avLst>
          </a:prstGeom>
          <a:solidFill>
            <a:srgbClr val="F4F1EA"/>
          </a:solidFill>
          <a:ln w="9525">
            <a:solidFill>
              <a:srgbClr val="F4F1EA"/>
            </a:solidFill>
            <a:prstDash val="solid"/>
          </a:ln>
        </p:spPr>
      </p:sp>
      <p:sp>
        <p:nvSpPr>
          <p:cNvPr id="41" name="Text 38"/>
          <p:cNvSpPr txBox="1"/>
          <p:nvPr/>
        </p:nvSpPr>
        <p:spPr>
          <a:xfrm>
            <a:off x="649224" y="3447288"/>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days</a:t>
            </a:r>
            <a:endParaRPr lang="en-US" sz="700" dirty="0"/>
          </a:p>
        </p:txBody>
      </p:sp>
      <p:sp>
        <p:nvSpPr>
          <p:cNvPr id="42" name="Text 39"/>
          <p:cNvSpPr txBox="1"/>
          <p:nvPr/>
        </p:nvSpPr>
        <p:spPr>
          <a:xfrm>
            <a:off x="640080" y="3575304"/>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أَيَّامٌ مُزْدَحِمَةٌ</a:t>
            </a:r>
            <a:endParaRPr lang="ar-SA" sz="1350" dirty="0"/>
          </a:p>
        </p:txBody>
      </p:sp>
      <p:sp>
        <p:nvSpPr>
          <p:cNvPr id="43" name="Shape 40"/>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8211312" y="4261104"/>
            <a:ext cx="310896" cy="310896"/>
          </a:xfrm>
          <a:prstGeom prst="ellipse">
            <a:avLst/>
          </a:prstGeom>
          <a:solidFill>
            <a:srgbClr val="F4F1EA"/>
          </a:solidFill>
          <a:ln w="12700">
            <a:solidFill>
              <a:srgbClr val="F4F1EA"/>
            </a:solidFill>
            <a:prstDash val="solid"/>
          </a:ln>
        </p:spPr>
      </p:sp>
      <p:sp>
        <p:nvSpPr>
          <p:cNvPr id="45" name="Text 42"/>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10</a:t>
            </a:r>
            <a:endParaRPr lang="en-US" sz="1000" dirty="0"/>
          </a:p>
        </p:txBody>
      </p:sp>
      <p:sp>
        <p:nvSpPr>
          <p:cNvPr id="46" name="Shape 43"/>
          <p:cNvSpPr/>
          <p:nvPr/>
        </p:nvSpPr>
        <p:spPr>
          <a:xfrm>
            <a:off x="8604504" y="4279392"/>
            <a:ext cx="896112" cy="256032"/>
          </a:xfrm>
          <a:prstGeom prst="roundRect">
            <a:avLst>
              <a:gd name="adj" fmla="val 50000"/>
            </a:avLst>
          </a:prstGeom>
          <a:solidFill>
            <a:srgbClr val="EFE7D2"/>
          </a:solidFill>
          <a:ln w="12700">
            <a:solidFill>
              <a:srgbClr val="EFE7D2"/>
            </a:solidFill>
            <a:prstDash val="solid"/>
          </a:ln>
        </p:spPr>
      </p:sp>
      <p:sp>
        <p:nvSpPr>
          <p:cNvPr id="47" name="Text 44"/>
          <p:cNvSpPr txBox="1"/>
          <p:nvPr/>
        </p:nvSpPr>
        <p:spPr>
          <a:xfrm>
            <a:off x="8604504" y="4279392"/>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 · f · pl</a:t>
            </a:r>
            <a:endParaRPr lang="en-US" sz="800" dirty="0"/>
          </a:p>
        </p:txBody>
      </p:sp>
      <p:sp>
        <p:nvSpPr>
          <p:cNvPr id="48" name="Shape 45"/>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49" name="Text 46"/>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50" name="Text 47"/>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يَوْمٌ هَادِئٌ</a:t>
            </a:r>
            <a:endParaRPr lang="ar-SA" sz="3000" dirty="0"/>
          </a:p>
        </p:txBody>
      </p:sp>
      <p:sp>
        <p:nvSpPr>
          <p:cNvPr id="51" name="Text 48"/>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quiet day</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yaw-mun hā-di-ʾun</a:t>
            </a:r>
            <a:endParaRPr lang="en-US" sz="1350" dirty="0"/>
          </a:p>
        </p:txBody>
      </p:sp>
      <p:sp>
        <p:nvSpPr>
          <p:cNvPr id="52" name="Shape 49"/>
          <p:cNvSpPr/>
          <p:nvPr/>
        </p:nvSpPr>
        <p:spPr>
          <a:xfrm>
            <a:off x="10543032" y="5779008"/>
            <a:ext cx="1060704" cy="438912"/>
          </a:xfrm>
          <a:prstGeom prst="roundRect">
            <a:avLst>
              <a:gd name="adj" fmla="val 10417"/>
            </a:avLst>
          </a:prstGeom>
          <a:solidFill>
            <a:srgbClr val="F4F1EA"/>
          </a:solidFill>
          <a:ln w="9525">
            <a:solidFill>
              <a:srgbClr val="F4F1EA"/>
            </a:solidFill>
            <a:prstDash val="solid"/>
          </a:ln>
        </p:spPr>
      </p:sp>
      <p:sp>
        <p:nvSpPr>
          <p:cNvPr id="53" name="Text 50"/>
          <p:cNvSpPr txBox="1"/>
          <p:nvPr/>
        </p:nvSpPr>
        <p:spPr>
          <a:xfrm>
            <a:off x="10597896"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m.</a:t>
            </a:r>
            <a:endParaRPr lang="en-US" sz="750" dirty="0"/>
          </a:p>
        </p:txBody>
      </p:sp>
      <p:sp>
        <p:nvSpPr>
          <p:cNvPr id="54" name="Text 51"/>
          <p:cNvSpPr txBox="1"/>
          <p:nvPr/>
        </p:nvSpPr>
        <p:spPr>
          <a:xfrm>
            <a:off x="10588752"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هَادِئٌ</a:t>
            </a:r>
            <a:endParaRPr lang="ar-SA" sz="1500" dirty="0"/>
          </a:p>
        </p:txBody>
      </p:sp>
      <p:sp>
        <p:nvSpPr>
          <p:cNvPr id="55" name="Shape 52"/>
          <p:cNvSpPr/>
          <p:nvPr/>
        </p:nvSpPr>
        <p:spPr>
          <a:xfrm>
            <a:off x="9390888" y="5779008"/>
            <a:ext cx="1060704" cy="438912"/>
          </a:xfrm>
          <a:prstGeom prst="roundRect">
            <a:avLst>
              <a:gd name="adj" fmla="val 10417"/>
            </a:avLst>
          </a:prstGeom>
          <a:solidFill>
            <a:srgbClr val="F4F1EA"/>
          </a:solidFill>
          <a:ln w="9525">
            <a:solidFill>
              <a:srgbClr val="F4F1EA"/>
            </a:solidFill>
            <a:prstDash val="solid"/>
          </a:ln>
        </p:spPr>
      </p:sp>
      <p:sp>
        <p:nvSpPr>
          <p:cNvPr id="56" name="Text 53"/>
          <p:cNvSpPr txBox="1"/>
          <p:nvPr/>
        </p:nvSpPr>
        <p:spPr>
          <a:xfrm>
            <a:off x="9445752"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f.</a:t>
            </a:r>
            <a:endParaRPr lang="en-US" sz="750" dirty="0"/>
          </a:p>
        </p:txBody>
      </p:sp>
      <p:sp>
        <p:nvSpPr>
          <p:cNvPr id="57" name="Text 54"/>
          <p:cNvSpPr txBox="1"/>
          <p:nvPr/>
        </p:nvSpPr>
        <p:spPr>
          <a:xfrm>
            <a:off x="9436608"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هَادِئَةٌ</a:t>
            </a:r>
            <a:endParaRPr lang="ar-SA" sz="1500" dirty="0"/>
          </a:p>
        </p:txBody>
      </p:sp>
      <p:sp>
        <p:nvSpPr>
          <p:cNvPr id="58" name="Shape 55"/>
          <p:cNvSpPr/>
          <p:nvPr/>
        </p:nvSpPr>
        <p:spPr>
          <a:xfrm>
            <a:off x="8238744" y="5779008"/>
            <a:ext cx="1060704" cy="438912"/>
          </a:xfrm>
          <a:prstGeom prst="roundRect">
            <a:avLst>
              <a:gd name="adj" fmla="val 10417"/>
            </a:avLst>
          </a:prstGeom>
          <a:solidFill>
            <a:srgbClr val="F4F1EA"/>
          </a:solidFill>
          <a:ln w="9525">
            <a:solidFill>
              <a:srgbClr val="F4F1EA"/>
            </a:solidFill>
            <a:prstDash val="solid"/>
          </a:ln>
        </p:spPr>
      </p:sp>
      <p:sp>
        <p:nvSpPr>
          <p:cNvPr id="59" name="Text 56"/>
          <p:cNvSpPr txBox="1"/>
          <p:nvPr/>
        </p:nvSpPr>
        <p:spPr>
          <a:xfrm>
            <a:off x="8293608" y="5788152"/>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days</a:t>
            </a:r>
            <a:endParaRPr lang="en-US" sz="700" dirty="0"/>
          </a:p>
        </p:txBody>
      </p:sp>
      <p:sp>
        <p:nvSpPr>
          <p:cNvPr id="60" name="Text 57"/>
          <p:cNvSpPr txBox="1"/>
          <p:nvPr/>
        </p:nvSpPr>
        <p:spPr>
          <a:xfrm>
            <a:off x="8284464" y="5916168"/>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أَيَّامٌ هَادِئَةٌ</a:t>
            </a:r>
            <a:endParaRPr lang="ar-SA" sz="1350" dirty="0"/>
          </a:p>
        </p:txBody>
      </p:sp>
      <p:sp>
        <p:nvSpPr>
          <p:cNvPr id="61" name="Text 5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9 / 46</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D1-L03 · How Often?</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Contrast and comparison (1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D1-L03</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11</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بَيْنَمَا</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whereas / while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bay-na-mā</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12</a:t>
            </a:r>
            <a:endParaRPr lang="en-US" sz="1000" dirty="0"/>
          </a:p>
        </p:txBody>
      </p:sp>
      <p:sp>
        <p:nvSpPr>
          <p:cNvPr id="25" name="Text 2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أَمَّا ... فَـ</a:t>
            </a:r>
            <a:endParaRPr lang="ar-SA" sz="3000" dirty="0"/>
          </a:p>
        </p:txBody>
      </p:sp>
      <p:sp>
        <p:nvSpPr>
          <p:cNvPr id="26" name="Text 2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as for ...</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am-mā ... fa</a:t>
            </a:r>
            <a:endParaRPr lang="en-US" sz="1350" dirty="0"/>
          </a:p>
        </p:txBody>
      </p:sp>
      <p:sp>
        <p:nvSpPr>
          <p:cNvPr id="27" name="Shape 2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566928"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13</a:t>
            </a:r>
            <a:endParaRPr lang="en-US" sz="1000" dirty="0"/>
          </a:p>
        </p:txBody>
      </p:sp>
      <p:sp>
        <p:nvSpPr>
          <p:cNvPr id="30" name="Text 27"/>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فِي المُقَابِلِ</a:t>
            </a:r>
            <a:endParaRPr lang="ar-SA" sz="3000" dirty="0"/>
          </a:p>
        </p:txBody>
      </p:sp>
      <p:sp>
        <p:nvSpPr>
          <p:cNvPr id="31" name="Text 28"/>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by contrast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fī al-mu-qā-bi-li</a:t>
            </a:r>
            <a:endParaRPr lang="en-US" sz="1350" dirty="0"/>
          </a:p>
        </p:txBody>
      </p:sp>
      <p:sp>
        <p:nvSpPr>
          <p:cNvPr id="32" name="Shape 29"/>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8211312" y="4261104"/>
            <a:ext cx="310896" cy="310896"/>
          </a:xfrm>
          <a:prstGeom prst="ellipse">
            <a:avLst/>
          </a:prstGeom>
          <a:solidFill>
            <a:srgbClr val="F4F1EA"/>
          </a:solidFill>
          <a:ln w="12700">
            <a:solidFill>
              <a:srgbClr val="F4F1EA"/>
            </a:solidFill>
            <a:prstDash val="solid"/>
          </a:ln>
        </p:spPr>
      </p:sp>
      <p:sp>
        <p:nvSpPr>
          <p:cNvPr id="34" name="Text 31"/>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14</a:t>
            </a:r>
            <a:endParaRPr lang="en-US" sz="1000" dirty="0"/>
          </a:p>
        </p:txBody>
      </p:sp>
      <p:sp>
        <p:nvSpPr>
          <p:cNvPr id="35" name="Text 32"/>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عَلَى العَكْسِ</a:t>
            </a:r>
            <a:endParaRPr lang="ar-SA" sz="3000" dirty="0"/>
          </a:p>
        </p:txBody>
      </p:sp>
      <p:sp>
        <p:nvSpPr>
          <p:cNvPr id="36" name="Text 33"/>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on the contrary / conversely</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ʿa-lā al-ʿak-si</a:t>
            </a:r>
            <a:endParaRPr lang="en-US" sz="1350" dirty="0"/>
          </a:p>
        </p:txBody>
      </p:sp>
      <p:sp>
        <p:nvSpPr>
          <p:cNvPr id="37" name="Shape 34"/>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Shape 35"/>
          <p:cNvSpPr/>
          <p:nvPr/>
        </p:nvSpPr>
        <p:spPr>
          <a:xfrm>
            <a:off x="4389120" y="4261104"/>
            <a:ext cx="310896" cy="310896"/>
          </a:xfrm>
          <a:prstGeom prst="ellipse">
            <a:avLst/>
          </a:prstGeom>
          <a:solidFill>
            <a:srgbClr val="F4F1EA"/>
          </a:solidFill>
          <a:ln w="12700">
            <a:solidFill>
              <a:srgbClr val="F4F1EA"/>
            </a:solidFill>
            <a:prstDash val="solid"/>
          </a:ln>
        </p:spPr>
      </p:sp>
      <p:sp>
        <p:nvSpPr>
          <p:cNvPr id="39" name="Text 36"/>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15</a:t>
            </a:r>
            <a:endParaRPr lang="en-US" sz="1000" dirty="0"/>
          </a:p>
        </p:txBody>
      </p:sp>
      <p:sp>
        <p:nvSpPr>
          <p:cNvPr id="40" name="Text 37"/>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2450" b="1" dirty="0">
                <a:solidFill>
                  <a:srgbClr val="1B3B6F"/>
                </a:solidFill>
                <a:latin typeface="Amiri" pitchFamily="34" charset="0"/>
                <a:ea typeface="Amiri" pitchFamily="34" charset="-122"/>
                <a:cs typeface="Amiri" pitchFamily="34" charset="-120"/>
              </a:rPr>
              <a:t>مِنْ نَاحِيَةٍ ... وَمِنْ نَاحِيَةٍ أُخْرَى</a:t>
            </a:r>
            <a:endParaRPr lang="ar-SA" sz="2450" dirty="0"/>
          </a:p>
        </p:txBody>
      </p:sp>
      <p:sp>
        <p:nvSpPr>
          <p:cNvPr id="41" name="Text 38"/>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on one hand ... on the other</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min nā-ḥi-ya-tin ... wa-min nā-ḥi-ya-tin ukh-rā</a:t>
            </a:r>
            <a:endParaRPr lang="en-US" sz="1350" dirty="0"/>
          </a:p>
        </p:txBody>
      </p:sp>
      <p:sp>
        <p:nvSpPr>
          <p:cNvPr id="42" name="Shape 39"/>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566928" y="4261104"/>
            <a:ext cx="310896" cy="310896"/>
          </a:xfrm>
          <a:prstGeom prst="ellipse">
            <a:avLst/>
          </a:prstGeom>
          <a:solidFill>
            <a:srgbClr val="F4F1EA"/>
          </a:solidFill>
          <a:ln w="12700">
            <a:solidFill>
              <a:srgbClr val="F4F1EA"/>
            </a:solidFill>
            <a:prstDash val="solid"/>
          </a:ln>
        </p:spPr>
      </p:sp>
      <p:sp>
        <p:nvSpPr>
          <p:cNvPr id="44" name="Text 41"/>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16</a:t>
            </a:r>
            <a:endParaRPr lang="en-US" sz="1000" dirty="0"/>
          </a:p>
        </p:txBody>
      </p:sp>
      <p:sp>
        <p:nvSpPr>
          <p:cNvPr id="45" name="Text 42"/>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أَكْثَرُ اِنْشِغَالًا مِنْ</a:t>
            </a:r>
            <a:endParaRPr lang="ar-SA" sz="3000" dirty="0"/>
          </a:p>
        </p:txBody>
      </p:sp>
      <p:sp>
        <p:nvSpPr>
          <p:cNvPr id="46" name="Text 43"/>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busier than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ak-tha-ru in-shi-ghā-lan min</a:t>
            </a:r>
            <a:endParaRPr lang="en-US" sz="1350" dirty="0"/>
          </a:p>
        </p:txBody>
      </p:sp>
      <p:sp>
        <p:nvSpPr>
          <p:cNvPr id="47" name="Text 4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10 / 46</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D1-L03 · How Often?</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2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Contrast and comparison (2 of 2)</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D1-L03</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17</a:t>
            </a:r>
            <a:endParaRPr lang="en-US" sz="10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أَقَلُّ اِزْدِحَامًا مِنْ</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less busy than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a-qal-lu iz-di-ḥā-man min</a:t>
            </a:r>
            <a:endParaRPr lang="en-US" sz="1350" dirty="0"/>
          </a:p>
        </p:txBody>
      </p:sp>
      <p:sp>
        <p:nvSpPr>
          <p:cNvPr id="22" name="Text 1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11 / 46</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D1-L03 · How Often?</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3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Frequency range (1 of 2)</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D1-L03</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18</a:t>
            </a:r>
            <a:endParaRPr lang="en-US" sz="10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2" name="Text 19"/>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يَوْمِيًّا</a:t>
            </a:r>
            <a:endParaRPr lang="ar-SA" sz="3000" dirty="0"/>
          </a:p>
        </p:txBody>
      </p:sp>
      <p:sp>
        <p:nvSpPr>
          <p:cNvPr id="23" name="Text 20"/>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daily</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yaw-miy-yan</a:t>
            </a:r>
            <a:endParaRPr lang="en-US" sz="1350" dirty="0"/>
          </a:p>
        </p:txBody>
      </p:sp>
      <p:sp>
        <p:nvSpPr>
          <p:cNvPr id="24" name="Shape 21"/>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5" name="Shape 22"/>
          <p:cNvSpPr/>
          <p:nvPr/>
        </p:nvSpPr>
        <p:spPr>
          <a:xfrm>
            <a:off x="4389120" y="1920240"/>
            <a:ext cx="310896" cy="310896"/>
          </a:xfrm>
          <a:prstGeom prst="ellipse">
            <a:avLst/>
          </a:prstGeom>
          <a:solidFill>
            <a:srgbClr val="F4F1EA"/>
          </a:solidFill>
          <a:ln w="12700">
            <a:solidFill>
              <a:srgbClr val="F4F1EA"/>
            </a:solidFill>
            <a:prstDash val="solid"/>
          </a:ln>
        </p:spPr>
      </p:sp>
      <p:sp>
        <p:nvSpPr>
          <p:cNvPr id="26" name="Text 23"/>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19</a:t>
            </a:r>
            <a:endParaRPr lang="en-US" sz="1000" dirty="0"/>
          </a:p>
        </p:txBody>
      </p:sp>
      <p:sp>
        <p:nvSpPr>
          <p:cNvPr id="27" name="Shape 24"/>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9" name="Text 26"/>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أُسْبُوعِيًّا</a:t>
            </a:r>
            <a:endParaRPr lang="ar-SA" sz="3000" dirty="0"/>
          </a:p>
        </p:txBody>
      </p:sp>
      <p:sp>
        <p:nvSpPr>
          <p:cNvPr id="30" name="Text 27"/>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weekly</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us-bū-ʿiy-yan</a:t>
            </a:r>
            <a:endParaRPr lang="en-US" sz="1350" dirty="0"/>
          </a:p>
        </p:txBody>
      </p:sp>
      <p:sp>
        <p:nvSpPr>
          <p:cNvPr id="31" name="Shape 28"/>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66928" y="1920240"/>
            <a:ext cx="310896" cy="310896"/>
          </a:xfrm>
          <a:prstGeom prst="ellipse">
            <a:avLst/>
          </a:prstGeom>
          <a:solidFill>
            <a:srgbClr val="F4F1EA"/>
          </a:solidFill>
          <a:ln w="12700">
            <a:solidFill>
              <a:srgbClr val="F4F1EA"/>
            </a:solidFill>
            <a:prstDash val="solid"/>
          </a:ln>
        </p:spPr>
      </p:sp>
      <p:sp>
        <p:nvSpPr>
          <p:cNvPr id="33" name="Text 30"/>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20</a:t>
            </a:r>
            <a:endParaRPr lang="en-US" sz="1000" dirty="0"/>
          </a:p>
        </p:txBody>
      </p:sp>
      <p:sp>
        <p:nvSpPr>
          <p:cNvPr id="34" name="Text 31"/>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كُلَّ يَوْمَيْنِ</a:t>
            </a:r>
            <a:endParaRPr lang="ar-SA" sz="3000" dirty="0"/>
          </a:p>
        </p:txBody>
      </p:sp>
      <p:sp>
        <p:nvSpPr>
          <p:cNvPr id="35" name="Text 32"/>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every two days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kul-la yaw-may-ni</a:t>
            </a:r>
            <a:endParaRPr lang="en-US" sz="1350" dirty="0"/>
          </a:p>
        </p:txBody>
      </p:sp>
      <p:sp>
        <p:nvSpPr>
          <p:cNvPr id="36" name="Shape 33"/>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8211312" y="4261104"/>
            <a:ext cx="310896" cy="310896"/>
          </a:xfrm>
          <a:prstGeom prst="ellipse">
            <a:avLst/>
          </a:prstGeom>
          <a:solidFill>
            <a:srgbClr val="F4F1EA"/>
          </a:solidFill>
          <a:ln w="12700">
            <a:solidFill>
              <a:srgbClr val="F4F1EA"/>
            </a:solidFill>
            <a:prstDash val="solid"/>
          </a:ln>
        </p:spPr>
      </p:sp>
      <p:sp>
        <p:nvSpPr>
          <p:cNvPr id="38" name="Text 35"/>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21</a:t>
            </a:r>
            <a:endParaRPr lang="en-US" sz="1000" dirty="0"/>
          </a:p>
        </p:txBody>
      </p:sp>
      <p:sp>
        <p:nvSpPr>
          <p:cNvPr id="39" name="Text 36"/>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مَرَّةً كُلَّ شَهْرٍ</a:t>
            </a:r>
            <a:endParaRPr lang="ar-SA" sz="3000" dirty="0"/>
          </a:p>
        </p:txBody>
      </p:sp>
      <p:sp>
        <p:nvSpPr>
          <p:cNvPr id="40" name="Text 37"/>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once a month</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mar-ra-tan kul-la shah-rin</a:t>
            </a:r>
            <a:endParaRPr lang="en-US" sz="1350" dirty="0"/>
          </a:p>
        </p:txBody>
      </p:sp>
      <p:sp>
        <p:nvSpPr>
          <p:cNvPr id="41" name="Shape 38"/>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4389120" y="4261104"/>
            <a:ext cx="310896" cy="310896"/>
          </a:xfrm>
          <a:prstGeom prst="ellipse">
            <a:avLst/>
          </a:prstGeom>
          <a:solidFill>
            <a:srgbClr val="F4F1EA"/>
          </a:solidFill>
          <a:ln w="12700">
            <a:solidFill>
              <a:srgbClr val="F4F1EA"/>
            </a:solidFill>
            <a:prstDash val="solid"/>
          </a:ln>
        </p:spPr>
      </p:sp>
      <p:sp>
        <p:nvSpPr>
          <p:cNvPr id="43" name="Text 40"/>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22</a:t>
            </a:r>
            <a:endParaRPr lang="en-US" sz="1000" dirty="0"/>
          </a:p>
        </p:txBody>
      </p:sp>
      <p:sp>
        <p:nvSpPr>
          <p:cNvPr id="44" name="Text 41"/>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فِي مُعْظَمِ الأَيَّامِ</a:t>
            </a:r>
            <a:endParaRPr lang="ar-SA" sz="3000" dirty="0"/>
          </a:p>
        </p:txBody>
      </p:sp>
      <p:sp>
        <p:nvSpPr>
          <p:cNvPr id="45" name="Text 42"/>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on most days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fī muʿ-ẓa-mi al-ay-yā-mi</a:t>
            </a:r>
            <a:endParaRPr lang="en-US" sz="1350" dirty="0"/>
          </a:p>
        </p:txBody>
      </p:sp>
      <p:sp>
        <p:nvSpPr>
          <p:cNvPr id="46" name="Shape 43"/>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7" name="Shape 44"/>
          <p:cNvSpPr/>
          <p:nvPr/>
        </p:nvSpPr>
        <p:spPr>
          <a:xfrm>
            <a:off x="566928" y="4261104"/>
            <a:ext cx="310896" cy="310896"/>
          </a:xfrm>
          <a:prstGeom prst="ellipse">
            <a:avLst/>
          </a:prstGeom>
          <a:solidFill>
            <a:srgbClr val="F4F1EA"/>
          </a:solidFill>
          <a:ln w="12700">
            <a:solidFill>
              <a:srgbClr val="F4F1EA"/>
            </a:solidFill>
            <a:prstDash val="solid"/>
          </a:ln>
        </p:spPr>
      </p:sp>
      <p:sp>
        <p:nvSpPr>
          <p:cNvPr id="48" name="Text 45"/>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23</a:t>
            </a:r>
            <a:endParaRPr lang="en-US" sz="1000" dirty="0"/>
          </a:p>
        </p:txBody>
      </p:sp>
      <p:sp>
        <p:nvSpPr>
          <p:cNvPr id="49" name="Shape 46"/>
          <p:cNvSpPr/>
          <p:nvPr/>
        </p:nvSpPr>
        <p:spPr>
          <a:xfrm>
            <a:off x="3227832" y="4279392"/>
            <a:ext cx="731520" cy="256032"/>
          </a:xfrm>
          <a:prstGeom prst="roundRect">
            <a:avLst>
              <a:gd name="adj" fmla="val 50000"/>
            </a:avLst>
          </a:prstGeom>
          <a:solidFill>
            <a:srgbClr val="2E8B57"/>
          </a:solidFill>
          <a:ln w="12700">
            <a:solidFill>
              <a:srgbClr val="2E8B57"/>
            </a:solidFill>
            <a:prstDash val="solid"/>
          </a:ln>
        </p:spPr>
      </p:sp>
      <p:sp>
        <p:nvSpPr>
          <p:cNvPr id="50" name="Text 47"/>
          <p:cNvSpPr txBox="1"/>
          <p:nvPr/>
        </p:nvSpPr>
        <p:spPr>
          <a:xfrm>
            <a:off x="3227832"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51" name="Text 48"/>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لَا ... أَبَدًا</a:t>
            </a:r>
            <a:endParaRPr lang="ar-SA" sz="3000" dirty="0"/>
          </a:p>
        </p:txBody>
      </p:sp>
      <p:sp>
        <p:nvSpPr>
          <p:cNvPr id="52" name="Text 49"/>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never</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lā ... a-ba-dan</a:t>
            </a:r>
            <a:endParaRPr lang="en-US" sz="1350" dirty="0"/>
          </a:p>
        </p:txBody>
      </p:sp>
      <p:sp>
        <p:nvSpPr>
          <p:cNvPr id="53" name="Text 5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12 / 46</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D1-L03 · How Often?</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3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Frequency range (2 of 2)</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D1-L03</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24</a:t>
            </a:r>
            <a:endParaRPr lang="en-US" sz="10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2" name="Text 19"/>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كَثِيرًا مَا</a:t>
            </a:r>
            <a:endParaRPr lang="ar-SA" sz="3000" dirty="0"/>
          </a:p>
        </p:txBody>
      </p:sp>
      <p:sp>
        <p:nvSpPr>
          <p:cNvPr id="23" name="Text 20"/>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often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ka-thī-ran mā</a:t>
            </a:r>
            <a:endParaRPr lang="en-US" sz="1350" dirty="0"/>
          </a:p>
        </p:txBody>
      </p:sp>
      <p:sp>
        <p:nvSpPr>
          <p:cNvPr id="24" name="Shape 21"/>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5" name="Shape 22"/>
          <p:cNvSpPr/>
          <p:nvPr/>
        </p:nvSpPr>
        <p:spPr>
          <a:xfrm>
            <a:off x="4389120" y="1920240"/>
            <a:ext cx="310896" cy="310896"/>
          </a:xfrm>
          <a:prstGeom prst="ellipse">
            <a:avLst/>
          </a:prstGeom>
          <a:solidFill>
            <a:srgbClr val="F4F1EA"/>
          </a:solidFill>
          <a:ln w="12700">
            <a:solidFill>
              <a:srgbClr val="F4F1EA"/>
            </a:solidFill>
            <a:prstDash val="solid"/>
          </a:ln>
        </p:spPr>
      </p:sp>
      <p:sp>
        <p:nvSpPr>
          <p:cNvPr id="26" name="Text 23"/>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25</a:t>
            </a:r>
            <a:endParaRPr lang="en-US" sz="1000" dirty="0"/>
          </a:p>
        </p:txBody>
      </p:sp>
      <p:sp>
        <p:nvSpPr>
          <p:cNvPr id="27" name="Text 24"/>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قَلِيلًا مَا</a:t>
            </a:r>
            <a:endParaRPr lang="ar-SA" sz="3000" dirty="0"/>
          </a:p>
        </p:txBody>
      </p:sp>
      <p:sp>
        <p:nvSpPr>
          <p:cNvPr id="28" name="Text 25"/>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seldom</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qa-lī-lan mā</a:t>
            </a:r>
            <a:endParaRPr lang="en-US" sz="1350" dirty="0"/>
          </a:p>
        </p:txBody>
      </p:sp>
      <p:sp>
        <p:nvSpPr>
          <p:cNvPr id="29" name="Text 2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13 / 46</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D1-L03 · How Often?</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B3B6F"/>
                </a:solidFill>
                <a:latin typeface="Calibri" pitchFamily="34" charset="0"/>
                <a:ea typeface="Calibri" pitchFamily="34" charset="-122"/>
                <a:cs typeface="Calibri" pitchFamily="34" charset="-120"/>
              </a:rPr>
              <a:t>GRAMMAR FOCUS · PART 1 · THE FREQUENCY LADDER (WEBSITE EXPRESSIONS)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How often? From always to never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كَمْ مَرَّةً؟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D1-L03</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793224" y="1810512"/>
            <a:ext cx="18653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How often</a:t>
            </a:r>
            <a:endParaRPr lang="en-US" sz="1100" dirty="0"/>
          </a:p>
        </p:txBody>
      </p:sp>
      <p:sp>
        <p:nvSpPr>
          <p:cNvPr id="17" name="Text 14"/>
          <p:cNvSpPr txBox="1"/>
          <p:nvPr/>
        </p:nvSpPr>
        <p:spPr>
          <a:xfrm>
            <a:off x="6409944" y="1810512"/>
            <a:ext cx="32369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Expression</a:t>
            </a:r>
            <a:endParaRPr lang="en-US" sz="1100" dirty="0"/>
          </a:p>
        </p:txBody>
      </p:sp>
      <p:sp>
        <p:nvSpPr>
          <p:cNvPr id="18" name="Text 15"/>
          <p:cNvSpPr txBox="1"/>
          <p:nvPr/>
        </p:nvSpPr>
        <p:spPr>
          <a:xfrm>
            <a:off x="530352" y="1810512"/>
            <a:ext cx="57332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Website-style example</a:t>
            </a:r>
            <a:endParaRPr lang="en-US" sz="1100" dirty="0"/>
          </a:p>
        </p:txBody>
      </p:sp>
      <p:sp>
        <p:nvSpPr>
          <p:cNvPr id="19" name="Shape 16"/>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0" name="Text 17"/>
          <p:cNvSpPr txBox="1"/>
          <p:nvPr/>
        </p:nvSpPr>
        <p:spPr>
          <a:xfrm>
            <a:off x="9829800" y="2267712"/>
            <a:ext cx="18288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100% ▰▰▰▰▰</a:t>
            </a:r>
            <a:endParaRPr lang="en-US" sz="1100" dirty="0"/>
          </a:p>
        </p:txBody>
      </p:sp>
      <p:sp>
        <p:nvSpPr>
          <p:cNvPr id="21" name="Text 18"/>
          <p:cNvSpPr txBox="1"/>
          <p:nvPr/>
        </p:nvSpPr>
        <p:spPr>
          <a:xfrm>
            <a:off x="6428232" y="2267712"/>
            <a:ext cx="320040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دَائِمًا · يَوْمِيًّا · كُلَّ يَوْمٍ</a:t>
            </a:r>
            <a:endParaRPr lang="ar-SA" sz="2400" dirty="0"/>
          </a:p>
        </p:txBody>
      </p:sp>
      <p:sp>
        <p:nvSpPr>
          <p:cNvPr id="22" name="Text 19"/>
          <p:cNvSpPr txBox="1"/>
          <p:nvPr/>
        </p:nvSpPr>
        <p:spPr>
          <a:xfrm>
            <a:off x="548640" y="2286000"/>
            <a:ext cx="5696712" cy="422928"/>
          </a:xfrm>
          <a:prstGeom prst="rect">
            <a:avLst/>
          </a:prstGeom>
          <a:noFill/>
          <a:ln/>
        </p:spPr>
        <p:txBody>
          <a:bodyPr wrap="square" lIns="0" tIns="0" rIns="0" bIns="0" rtlCol="0" anchor="ctr"/>
          <a:lstStyle/>
          <a:p>
            <a:pPr rtl="1" algn="ctr" indent="0" marL="0">
              <a:buNone/>
            </a:pPr>
            <a:r>
              <a:rPr lang="ar-SA" altLang="en-US" sz="1950" b="1" dirty="0">
                <a:solidFill>
                  <a:srgbClr val="1B3B6F"/>
                </a:solidFill>
                <a:latin typeface="Amiri" pitchFamily="34" charset="0"/>
                <a:ea typeface="Amiri" pitchFamily="34" charset="-122"/>
                <a:cs typeface="Amiri" pitchFamily="34" charset="-120"/>
              </a:rPr>
              <a:t>أُرَاجِعُ دُرُوسِي يَوْمِيًّا.</a:t>
            </a:r>
            <a:endParaRPr lang="ar-SA" sz="1950" dirty="0"/>
          </a:p>
        </p:txBody>
      </p:sp>
      <p:sp>
        <p:nvSpPr>
          <p:cNvPr id="23" name="Text 20"/>
          <p:cNvSpPr txBox="1"/>
          <p:nvPr/>
        </p:nvSpPr>
        <p:spPr>
          <a:xfrm>
            <a:off x="502920" y="2676997"/>
            <a:ext cx="5788152"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I revise my lessons daily.</a:t>
            </a:r>
            <a:endParaRPr lang="en-US" sz="950" dirty="0"/>
          </a:p>
        </p:txBody>
      </p:sp>
      <p:sp>
        <p:nvSpPr>
          <p:cNvPr id="24" name="Shape 21"/>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5" name="Text 22"/>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6" name="Shape 23"/>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7" name="Text 24"/>
          <p:cNvSpPr txBox="1"/>
          <p:nvPr/>
        </p:nvSpPr>
        <p:spPr>
          <a:xfrm>
            <a:off x="9829800" y="3004718"/>
            <a:ext cx="18288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80% ▰▰▰▰▱</a:t>
            </a:r>
            <a:endParaRPr lang="en-US" sz="1100" dirty="0"/>
          </a:p>
        </p:txBody>
      </p:sp>
      <p:sp>
        <p:nvSpPr>
          <p:cNvPr id="28" name="Text 25"/>
          <p:cNvSpPr txBox="1"/>
          <p:nvPr/>
        </p:nvSpPr>
        <p:spPr>
          <a:xfrm>
            <a:off x="6428232" y="3004718"/>
            <a:ext cx="3200400" cy="682142"/>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34" charset="0"/>
                <a:ea typeface="Amiri" pitchFamily="34" charset="-122"/>
                <a:cs typeface="Amiri" pitchFamily="34" charset="-120"/>
              </a:rPr>
              <a:t>كَثِيرًا مَا · غَالِبًا · فِي مُعْظَمِ الأَيَّامِ</a:t>
            </a:r>
            <a:endParaRPr lang="ar-SA" sz="1900" dirty="0"/>
          </a:p>
        </p:txBody>
      </p:sp>
      <p:sp>
        <p:nvSpPr>
          <p:cNvPr id="29" name="Text 26"/>
          <p:cNvSpPr txBox="1"/>
          <p:nvPr/>
        </p:nvSpPr>
        <p:spPr>
          <a:xfrm>
            <a:off x="548640" y="3023006"/>
            <a:ext cx="5696712" cy="422928"/>
          </a:xfrm>
          <a:prstGeom prst="rect">
            <a:avLst/>
          </a:prstGeom>
          <a:noFill/>
          <a:ln/>
        </p:spPr>
        <p:txBody>
          <a:bodyPr wrap="square" lIns="0" tIns="0" rIns="0" bIns="0" rtlCol="0" anchor="ctr"/>
          <a:lstStyle/>
          <a:p>
            <a:pPr rtl="1" algn="ctr" indent="0" marL="0">
              <a:buNone/>
            </a:pPr>
            <a:r>
              <a:rPr lang="ar-SA" altLang="en-US" sz="1950" b="1" dirty="0">
                <a:solidFill>
                  <a:srgbClr val="1B3B6F"/>
                </a:solidFill>
                <a:latin typeface="Amiri" pitchFamily="34" charset="0"/>
                <a:ea typeface="Amiri" pitchFamily="34" charset="-122"/>
                <a:cs typeface="Amiri" pitchFamily="34" charset="-120"/>
              </a:rPr>
              <a:t>كَثِيرًا مَا أَزُورُ جَدَّتِي يَوْمَ السَّبْتِ.</a:t>
            </a:r>
            <a:endParaRPr lang="ar-SA" sz="1950" dirty="0"/>
          </a:p>
        </p:txBody>
      </p:sp>
      <p:sp>
        <p:nvSpPr>
          <p:cNvPr id="30" name="Text 27"/>
          <p:cNvSpPr txBox="1"/>
          <p:nvPr/>
        </p:nvSpPr>
        <p:spPr>
          <a:xfrm>
            <a:off x="502920" y="3414004"/>
            <a:ext cx="5788152"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I often visit my grandmother on Saturday.</a:t>
            </a:r>
            <a:endParaRPr lang="en-US" sz="950" dirty="0"/>
          </a:p>
        </p:txBody>
      </p:sp>
      <p:sp>
        <p:nvSpPr>
          <p:cNvPr id="31" name="Shape 28"/>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3" name="Shape 30"/>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4" name="Text 31"/>
          <p:cNvSpPr txBox="1"/>
          <p:nvPr/>
        </p:nvSpPr>
        <p:spPr>
          <a:xfrm>
            <a:off x="9829800" y="3741725"/>
            <a:ext cx="18288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50% ▰▰▰▱▱</a:t>
            </a:r>
            <a:endParaRPr lang="en-US" sz="1100" dirty="0"/>
          </a:p>
        </p:txBody>
      </p:sp>
      <p:sp>
        <p:nvSpPr>
          <p:cNvPr id="35" name="Text 32"/>
          <p:cNvSpPr txBox="1"/>
          <p:nvPr/>
        </p:nvSpPr>
        <p:spPr>
          <a:xfrm>
            <a:off x="6428232" y="3741725"/>
            <a:ext cx="320040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أَحْيَانًا · مِنْ حِينٍ إِلَى آخَرَ</a:t>
            </a:r>
            <a:endParaRPr lang="ar-SA" sz="2400" dirty="0"/>
          </a:p>
        </p:txBody>
      </p:sp>
      <p:sp>
        <p:nvSpPr>
          <p:cNvPr id="36" name="Text 33"/>
          <p:cNvSpPr txBox="1"/>
          <p:nvPr/>
        </p:nvSpPr>
        <p:spPr>
          <a:xfrm>
            <a:off x="548640" y="3760013"/>
            <a:ext cx="5696712" cy="422928"/>
          </a:xfrm>
          <a:prstGeom prst="rect">
            <a:avLst/>
          </a:prstGeom>
          <a:noFill/>
          <a:ln/>
        </p:spPr>
        <p:txBody>
          <a:bodyPr wrap="square" lIns="0" tIns="0" rIns="0" bIns="0" rtlCol="0" anchor="ctr"/>
          <a:lstStyle/>
          <a:p>
            <a:pPr rtl="1" algn="ctr" indent="0" marL="0">
              <a:buNone/>
            </a:pPr>
            <a:r>
              <a:rPr lang="ar-SA" altLang="en-US" sz="1950" b="1" dirty="0">
                <a:solidFill>
                  <a:srgbClr val="1B3B6F"/>
                </a:solidFill>
                <a:latin typeface="Amiri" pitchFamily="34" charset="0"/>
                <a:ea typeface="Amiri" pitchFamily="34" charset="-122"/>
                <a:cs typeface="Amiri" pitchFamily="34" charset="-120"/>
              </a:rPr>
              <a:t>أَحْيَانًا أَلْعَبُ بَعْدَ المَدْرَسَةِ.</a:t>
            </a:r>
            <a:endParaRPr lang="ar-SA" sz="1950" dirty="0"/>
          </a:p>
        </p:txBody>
      </p:sp>
      <p:sp>
        <p:nvSpPr>
          <p:cNvPr id="37" name="Text 34"/>
          <p:cNvSpPr txBox="1"/>
          <p:nvPr/>
        </p:nvSpPr>
        <p:spPr>
          <a:xfrm>
            <a:off x="502920" y="4151010"/>
            <a:ext cx="5788152"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Sometimes I play after school.</a:t>
            </a:r>
            <a:endParaRPr lang="en-US" sz="950" dirty="0"/>
          </a:p>
        </p:txBody>
      </p:sp>
      <p:sp>
        <p:nvSpPr>
          <p:cNvPr id="38" name="Shape 35"/>
          <p:cNvSpPr/>
          <p:nvPr/>
        </p:nvSpPr>
        <p:spPr>
          <a:xfrm>
            <a:off x="11091672" y="3787445"/>
            <a:ext cx="548640" cy="182880"/>
          </a:xfrm>
          <a:prstGeom prst="roundRect">
            <a:avLst>
              <a:gd name="adj" fmla="val 50000"/>
            </a:avLst>
          </a:prstGeom>
          <a:solidFill>
            <a:srgbClr val="2E8B57"/>
          </a:solidFill>
          <a:ln w="12700">
            <a:solidFill>
              <a:srgbClr val="2E8B57"/>
            </a:solidFill>
            <a:prstDash val="solid"/>
          </a:ln>
        </p:spPr>
      </p:sp>
      <p:sp>
        <p:nvSpPr>
          <p:cNvPr id="39" name="Text 36"/>
          <p:cNvSpPr txBox="1"/>
          <p:nvPr/>
        </p:nvSpPr>
        <p:spPr>
          <a:xfrm>
            <a:off x="11091672" y="3787445"/>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40" name="Shape 37"/>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41" name="Text 38"/>
          <p:cNvSpPr txBox="1"/>
          <p:nvPr/>
        </p:nvSpPr>
        <p:spPr>
          <a:xfrm>
            <a:off x="9829800" y="4478731"/>
            <a:ext cx="18288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20% ▰▱▱▱▱</a:t>
            </a:r>
            <a:endParaRPr lang="en-US" sz="1100" dirty="0"/>
          </a:p>
        </p:txBody>
      </p:sp>
      <p:sp>
        <p:nvSpPr>
          <p:cNvPr id="42" name="Text 39"/>
          <p:cNvSpPr txBox="1"/>
          <p:nvPr/>
        </p:nvSpPr>
        <p:spPr>
          <a:xfrm>
            <a:off x="6428232" y="4478731"/>
            <a:ext cx="3200400" cy="682142"/>
          </a:xfrm>
          <a:prstGeom prst="rect">
            <a:avLst/>
          </a:prstGeom>
          <a:noFill/>
          <a:ln/>
        </p:spPr>
        <p:txBody>
          <a:bodyPr wrap="square" lIns="0" tIns="0" rIns="0" bIns="0" rtlCol="0" anchor="ctr"/>
          <a:lstStyle/>
          <a:p>
            <a:pPr rtl="1" algn="ctr" indent="0" marL="0">
              <a:buNone/>
            </a:pPr>
            <a:r>
              <a:rPr lang="ar-SA" altLang="en-US" sz="2150" b="1" dirty="0">
                <a:solidFill>
                  <a:srgbClr val="1B3B6F"/>
                </a:solidFill>
                <a:latin typeface="Amiri" pitchFamily="34" charset="0"/>
                <a:ea typeface="Amiri" pitchFamily="34" charset="-122"/>
                <a:cs typeface="Amiri" pitchFamily="34" charset="-120"/>
              </a:rPr>
              <a:t>نَادِرًا · قَلِيلًا مَا · مَرَّةً كُلَّ شَهْرٍ</a:t>
            </a:r>
            <a:endParaRPr lang="ar-SA" sz="2150" dirty="0"/>
          </a:p>
        </p:txBody>
      </p:sp>
      <p:sp>
        <p:nvSpPr>
          <p:cNvPr id="43" name="Text 40"/>
          <p:cNvSpPr txBox="1"/>
          <p:nvPr/>
        </p:nvSpPr>
        <p:spPr>
          <a:xfrm>
            <a:off x="548640" y="4497019"/>
            <a:ext cx="5696712" cy="422928"/>
          </a:xfrm>
          <a:prstGeom prst="rect">
            <a:avLst/>
          </a:prstGeom>
          <a:noFill/>
          <a:ln/>
        </p:spPr>
        <p:txBody>
          <a:bodyPr wrap="square" lIns="0" tIns="0" rIns="0" bIns="0" rtlCol="0" anchor="ctr"/>
          <a:lstStyle/>
          <a:p>
            <a:pPr rtl="1" algn="ctr" indent="0" marL="0">
              <a:buNone/>
            </a:pPr>
            <a:r>
              <a:rPr lang="ar-SA" altLang="en-US" sz="1950" b="1" dirty="0">
                <a:solidFill>
                  <a:srgbClr val="1B3B6F"/>
                </a:solidFill>
                <a:latin typeface="Amiri" pitchFamily="34" charset="0"/>
                <a:ea typeface="Amiri" pitchFamily="34" charset="-122"/>
                <a:cs typeface="Amiri" pitchFamily="34" charset="-120"/>
              </a:rPr>
              <a:t>نَادِرًا مَا أَخْرُجُ لَيْلَةَ الجُمُعَةِ.</a:t>
            </a:r>
            <a:endParaRPr lang="ar-SA" sz="1950" dirty="0"/>
          </a:p>
        </p:txBody>
      </p:sp>
      <p:sp>
        <p:nvSpPr>
          <p:cNvPr id="44" name="Text 41"/>
          <p:cNvSpPr txBox="1"/>
          <p:nvPr/>
        </p:nvSpPr>
        <p:spPr>
          <a:xfrm>
            <a:off x="502920" y="4888017"/>
            <a:ext cx="5788152"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I rarely go out on Friday night.</a:t>
            </a:r>
            <a:endParaRPr lang="en-US" sz="950" dirty="0"/>
          </a:p>
        </p:txBody>
      </p:sp>
      <p:sp>
        <p:nvSpPr>
          <p:cNvPr id="45" name="Shape 42"/>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6" name="Text 43"/>
          <p:cNvSpPr txBox="1"/>
          <p:nvPr/>
        </p:nvSpPr>
        <p:spPr>
          <a:xfrm>
            <a:off x="9829800" y="5215738"/>
            <a:ext cx="18288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0% ▱▱▱▱▱</a:t>
            </a:r>
            <a:endParaRPr lang="en-US" sz="1100" dirty="0"/>
          </a:p>
        </p:txBody>
      </p:sp>
      <p:sp>
        <p:nvSpPr>
          <p:cNvPr id="47" name="Text 44"/>
          <p:cNvSpPr txBox="1"/>
          <p:nvPr/>
        </p:nvSpPr>
        <p:spPr>
          <a:xfrm>
            <a:off x="6428232" y="5215738"/>
            <a:ext cx="320040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لَا … أَبَدًا</a:t>
            </a:r>
            <a:endParaRPr lang="ar-SA" sz="2400" dirty="0"/>
          </a:p>
        </p:txBody>
      </p:sp>
      <p:sp>
        <p:nvSpPr>
          <p:cNvPr id="48" name="Text 45"/>
          <p:cNvSpPr txBox="1"/>
          <p:nvPr/>
        </p:nvSpPr>
        <p:spPr>
          <a:xfrm>
            <a:off x="548640" y="5234026"/>
            <a:ext cx="5696712" cy="422928"/>
          </a:xfrm>
          <a:prstGeom prst="rect">
            <a:avLst/>
          </a:prstGeom>
          <a:noFill/>
          <a:ln/>
        </p:spPr>
        <p:txBody>
          <a:bodyPr wrap="square" lIns="0" tIns="0" rIns="0" bIns="0" rtlCol="0" anchor="ctr"/>
          <a:lstStyle/>
          <a:p>
            <a:pPr rtl="1" algn="ctr" indent="0" marL="0">
              <a:buNone/>
            </a:pPr>
            <a:r>
              <a:rPr lang="ar-SA" altLang="en-US" sz="1950" b="1" dirty="0">
                <a:solidFill>
                  <a:srgbClr val="0E7C86"/>
                </a:solidFill>
                <a:latin typeface="Amiri" pitchFamily="34" charset="0"/>
                <a:ea typeface="Amiri" pitchFamily="34" charset="-122"/>
                <a:cs typeface="Amiri" pitchFamily="34" charset="-120"/>
              </a:rPr>
              <a:t>لَا</a:t>
            </a:r>
            <a:pPr rtl="1" algn="ctr" indent="0" marL="0">
              <a:buNone/>
            </a:pPr>
            <a:r>
              <a:rPr lang="ar-SA" altLang="en-US" sz="1950" b="1" dirty="0">
                <a:solidFill>
                  <a:srgbClr val="1B3B6F"/>
                </a:solidFill>
                <a:latin typeface="Amiri" pitchFamily="34" charset="0"/>
                <a:ea typeface="Amiri" pitchFamily="34" charset="-122"/>
                <a:cs typeface="Amiri" pitchFamily="34" charset="-120"/>
              </a:rPr>
              <a:t> أَتَأَخَّرُ </a:t>
            </a:r>
            <a:pPr rtl="1" algn="ctr" indent="0" marL="0">
              <a:buNone/>
            </a:pPr>
            <a:r>
              <a:rPr lang="ar-SA" altLang="en-US" sz="1950" b="1" dirty="0">
                <a:solidFill>
                  <a:srgbClr val="0E7C86"/>
                </a:solidFill>
                <a:latin typeface="Amiri" pitchFamily="34" charset="0"/>
                <a:ea typeface="Amiri" pitchFamily="34" charset="-122"/>
                <a:cs typeface="Amiri" pitchFamily="34" charset="-120"/>
              </a:rPr>
              <a:t>أَبَدًا</a:t>
            </a:r>
            <a:pPr rtl="1" algn="ctr" indent="0" marL="0">
              <a:buNone/>
            </a:pPr>
            <a:r>
              <a:rPr lang="ar-SA" altLang="en-US" sz="1950" b="1" dirty="0">
                <a:solidFill>
                  <a:srgbClr val="1B3B6F"/>
                </a:solidFill>
                <a:latin typeface="Amiri" pitchFamily="34" charset="0"/>
                <a:ea typeface="Amiri" pitchFamily="34" charset="-122"/>
                <a:cs typeface="Amiri" pitchFamily="34" charset="-120"/>
              </a:rPr>
              <a:t> عَنِ الحِصَّةِ.</a:t>
            </a:r>
            <a:endParaRPr lang="ar-SA" sz="1950" dirty="0"/>
          </a:p>
        </p:txBody>
      </p:sp>
      <p:sp>
        <p:nvSpPr>
          <p:cNvPr id="49" name="Text 46"/>
          <p:cNvSpPr txBox="1"/>
          <p:nvPr/>
        </p:nvSpPr>
        <p:spPr>
          <a:xfrm>
            <a:off x="502920" y="5625023"/>
            <a:ext cx="5788152"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I am never late for the lesson.</a:t>
            </a:r>
            <a:endParaRPr lang="en-US" sz="950" dirty="0"/>
          </a:p>
        </p:txBody>
      </p:sp>
      <p:sp>
        <p:nvSpPr>
          <p:cNvPr id="50" name="Shape 47"/>
          <p:cNvSpPr/>
          <p:nvPr/>
        </p:nvSpPr>
        <p:spPr>
          <a:xfrm>
            <a:off x="11091672" y="5261458"/>
            <a:ext cx="548640" cy="182880"/>
          </a:xfrm>
          <a:prstGeom prst="roundRect">
            <a:avLst>
              <a:gd name="adj" fmla="val 50000"/>
            </a:avLst>
          </a:prstGeom>
          <a:solidFill>
            <a:srgbClr val="2E8B57"/>
          </a:solidFill>
          <a:ln w="12700">
            <a:solidFill>
              <a:srgbClr val="2E8B57"/>
            </a:solidFill>
            <a:prstDash val="solid"/>
          </a:ln>
        </p:spPr>
      </p:sp>
      <p:sp>
        <p:nvSpPr>
          <p:cNvPr id="51" name="Text 48"/>
          <p:cNvSpPr txBox="1"/>
          <p:nvPr/>
        </p:nvSpPr>
        <p:spPr>
          <a:xfrm>
            <a:off x="11091672" y="526145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52" name="Text 49"/>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Numbers: </a:t>
            </a:r>
            <a:pPr algn="l" indent="0" marL="0">
              <a:buNone/>
            </a:pPr>
            <a:r>
              <a:rPr lang="ar-SA" altLang="en-US" sz="1500" b="1" dirty="0">
                <a:solidFill>
                  <a:srgbClr val="1B3B6F"/>
                </a:solidFill>
                <a:latin typeface="Amiri" pitchFamily="34" charset="0"/>
                <a:ea typeface="Amiri" pitchFamily="34" charset="-122"/>
                <a:cs typeface="Amiri" pitchFamily="34" charset="-120"/>
              </a:rPr>
              <a:t>مَرَّةً</a:t>
            </a:r>
            <a:pPr algn="l" indent="0" marL="0">
              <a:buNone/>
            </a:pPr>
            <a:r>
              <a:rPr lang="en-US" sz="1150" b="1" dirty="0">
                <a:solidFill>
                  <a:srgbClr val="1B3B6F"/>
                </a:solidFill>
                <a:latin typeface="Calibri" pitchFamily="34" charset="0"/>
                <a:ea typeface="Calibri" pitchFamily="34" charset="-122"/>
                <a:cs typeface="Calibri" pitchFamily="34" charset="-120"/>
              </a:rPr>
              <a:t> · </a:t>
            </a:r>
            <a:pPr algn="l" indent="0" marL="0">
              <a:buNone/>
            </a:pPr>
            <a:r>
              <a:rPr lang="ar-SA" altLang="en-US" sz="1500" b="1" dirty="0">
                <a:solidFill>
                  <a:srgbClr val="1B3B6F"/>
                </a:solidFill>
                <a:latin typeface="Amiri" pitchFamily="34" charset="0"/>
                <a:ea typeface="Amiri" pitchFamily="34" charset="-122"/>
                <a:cs typeface="Amiri" pitchFamily="34" charset="-120"/>
              </a:rPr>
              <a:t>مَرَّتَيْنِ</a:t>
            </a:r>
            <a:pPr algn="l" indent="0" marL="0">
              <a:buNone/>
            </a:pPr>
            <a:r>
              <a:rPr lang="en-US" sz="1150" b="1" dirty="0">
                <a:solidFill>
                  <a:srgbClr val="1B3B6F"/>
                </a:solidFill>
                <a:latin typeface="Calibri" pitchFamily="34" charset="0"/>
                <a:ea typeface="Calibri" pitchFamily="34" charset="-122"/>
                <a:cs typeface="Calibri" pitchFamily="34" charset="-120"/>
              </a:rPr>
              <a:t> · </a:t>
            </a:r>
            <a:pPr algn="l" indent="0" marL="0">
              <a:buNone/>
            </a:pPr>
            <a:r>
              <a:rPr lang="ar-SA" altLang="en-US" sz="1500" b="1" dirty="0">
                <a:solidFill>
                  <a:srgbClr val="1B3B6F"/>
                </a:solidFill>
                <a:latin typeface="Amiri" pitchFamily="34" charset="0"/>
                <a:ea typeface="Amiri" pitchFamily="34" charset="-122"/>
                <a:cs typeface="Amiri" pitchFamily="34" charset="-120"/>
              </a:rPr>
              <a:t>ثَلَاثَ مَرَّاتٍ فِي الأُسْبُوعِ</a:t>
            </a:r>
            <a:pPr algn="l" indent="0" marL="0">
              <a:buNone/>
            </a:pPr>
            <a:r>
              <a:rPr lang="en-US" sz="1150" b="1" dirty="0">
                <a:solidFill>
                  <a:srgbClr val="1B3B6F"/>
                </a:solidFill>
                <a:latin typeface="Calibri" pitchFamily="34" charset="0"/>
                <a:ea typeface="Calibri" pitchFamily="34" charset="-122"/>
                <a:cs typeface="Calibri" pitchFamily="34" charset="-120"/>
              </a:rPr>
              <a:t> (once · twice · three times a week).</a:t>
            </a:r>
            <a:endParaRPr lang="en-US" sz="1150" dirty="0"/>
          </a:p>
        </p:txBody>
      </p:sp>
      <p:sp>
        <p:nvSpPr>
          <p:cNvPr id="53" name="Text 5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14 / 46</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D1-L03 · How Often?</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GRAMMAR FOCUS · PART 2 · CONTRAST AND COMPARE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Whereas, as for, busier than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بَيْنَمَا · أَمَّا … فَـ · أَكْثَرُ … مِنْ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D1-L03</a:t>
            </a:r>
            <a:endParaRPr lang="en-US" sz="850" dirty="0"/>
          </a:p>
        </p:txBody>
      </p:sp>
      <p:sp>
        <p:nvSpPr>
          <p:cNvPr id="15" name="Shape 12"/>
          <p:cNvSpPr/>
          <p:nvPr/>
        </p:nvSpPr>
        <p:spPr>
          <a:xfrm>
            <a:off x="8095488"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32648" y="1920240"/>
            <a:ext cx="1508760" cy="274320"/>
          </a:xfrm>
          <a:prstGeom prst="roundRect">
            <a:avLst>
              <a:gd name="adj" fmla="val 50000"/>
            </a:avLst>
          </a:prstGeom>
          <a:solidFill>
            <a:srgbClr val="1D5FBF"/>
          </a:solidFill>
          <a:ln w="12700">
            <a:solidFill>
              <a:srgbClr val="1D5FBF"/>
            </a:solidFill>
            <a:prstDash val="solid"/>
          </a:ln>
        </p:spPr>
      </p:sp>
      <p:sp>
        <p:nvSpPr>
          <p:cNvPr id="17" name="Text 14"/>
          <p:cNvSpPr txBox="1"/>
          <p:nvPr/>
        </p:nvSpPr>
        <p:spPr>
          <a:xfrm>
            <a:off x="8232648" y="1920240"/>
            <a:ext cx="15087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CONTRAST · DEVELOP</a:t>
            </a:r>
            <a:endParaRPr lang="en-US" sz="850" dirty="0"/>
          </a:p>
        </p:txBody>
      </p:sp>
      <p:sp>
        <p:nvSpPr>
          <p:cNvPr id="18" name="Text 15"/>
          <p:cNvSpPr txBox="1"/>
          <p:nvPr/>
        </p:nvSpPr>
        <p:spPr>
          <a:xfrm>
            <a:off x="9787128" y="1874520"/>
            <a:ext cx="180746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34" charset="0"/>
                <a:ea typeface="Amiri" pitchFamily="34" charset="-122"/>
                <a:cs typeface="Amiri" pitchFamily="34" charset="-120"/>
              </a:rPr>
              <a:t>بَيْنَمَا</a:t>
            </a:r>
            <a:endParaRPr lang="ar-SA" sz="1600" dirty="0"/>
          </a:p>
        </p:txBody>
      </p:sp>
      <p:sp>
        <p:nvSpPr>
          <p:cNvPr id="19" name="Text 16"/>
          <p:cNvSpPr txBox="1"/>
          <p:nvPr/>
        </p:nvSpPr>
        <p:spPr>
          <a:xfrm>
            <a:off x="8232648"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100" b="1" dirty="0">
                <a:solidFill>
                  <a:srgbClr val="1B3B6F"/>
                </a:solidFill>
                <a:latin typeface="Amiri" pitchFamily="34" charset="0"/>
                <a:ea typeface="Amiri" pitchFamily="34" charset="-122"/>
                <a:cs typeface="Amiri" pitchFamily="34" charset="-120"/>
              </a:rPr>
              <a:t>أَتَمَرَّنُ يَوْمَ الثُّلَاثَاءِ، بَيْنَمَا يَتَمَرَّنُ أَخِي يَوْمَ الخَمِيسِ.</a:t>
            </a:r>
            <a:endParaRPr lang="ar-SA" sz="2100" dirty="0"/>
          </a:p>
        </p:txBody>
      </p:sp>
      <p:sp>
        <p:nvSpPr>
          <p:cNvPr id="20" name="Text 17"/>
          <p:cNvSpPr txBox="1"/>
          <p:nvPr/>
        </p:nvSpPr>
        <p:spPr>
          <a:xfrm>
            <a:off x="8232648"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I train on Tuesday, whereas my brother trains on Thursday.</a:t>
            </a:r>
            <a:endParaRPr lang="en-US" sz="1200" dirty="0"/>
          </a:p>
        </p:txBody>
      </p:sp>
      <p:sp>
        <p:nvSpPr>
          <p:cNvPr id="21" name="Shape 18"/>
          <p:cNvSpPr/>
          <p:nvPr/>
        </p:nvSpPr>
        <p:spPr>
          <a:xfrm>
            <a:off x="8205216" y="3913632"/>
            <a:ext cx="3416808" cy="804672"/>
          </a:xfrm>
          <a:prstGeom prst="roundRect">
            <a:avLst>
              <a:gd name="adj" fmla="val 5682"/>
            </a:avLst>
          </a:prstGeom>
          <a:solidFill>
            <a:srgbClr val="FFF4E0"/>
          </a:solidFill>
          <a:ln w="9525">
            <a:solidFill>
              <a:srgbClr val="FFF4E0"/>
            </a:solidFill>
            <a:prstDash val="solid"/>
          </a:ln>
        </p:spPr>
      </p:sp>
      <p:sp>
        <p:nvSpPr>
          <p:cNvPr id="22" name="Text 19"/>
          <p:cNvSpPr txBox="1"/>
          <p:nvPr/>
        </p:nvSpPr>
        <p:spPr>
          <a:xfrm>
            <a:off x="8296656"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Two clauses, two agreements.</a:t>
            </a:r>
            <a:endParaRPr lang="en-US" sz="1100" dirty="0"/>
          </a:p>
        </p:txBody>
      </p:sp>
      <p:sp>
        <p:nvSpPr>
          <p:cNvPr id="23" name="Shape 20"/>
          <p:cNvSpPr/>
          <p:nvPr/>
        </p:nvSpPr>
        <p:spPr>
          <a:xfrm>
            <a:off x="4276344"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13504" y="1920240"/>
            <a:ext cx="1783080" cy="274320"/>
          </a:xfrm>
          <a:prstGeom prst="roundRect">
            <a:avLst>
              <a:gd name="adj" fmla="val 50000"/>
            </a:avLst>
          </a:prstGeom>
          <a:solidFill>
            <a:srgbClr val="6B4C9A"/>
          </a:solidFill>
          <a:ln w="12700">
            <a:solidFill>
              <a:srgbClr val="6B4C9A"/>
            </a:solidFill>
            <a:prstDash val="solid"/>
          </a:ln>
        </p:spPr>
      </p:sp>
      <p:sp>
        <p:nvSpPr>
          <p:cNvPr id="25" name="Text 22"/>
          <p:cNvSpPr txBox="1"/>
          <p:nvPr/>
        </p:nvSpPr>
        <p:spPr>
          <a:xfrm>
            <a:off x="4413504" y="1920240"/>
            <a:ext cx="178308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CHANGE TOPIC · STRETCH</a:t>
            </a:r>
            <a:endParaRPr lang="en-US" sz="850" dirty="0"/>
          </a:p>
        </p:txBody>
      </p:sp>
      <p:sp>
        <p:nvSpPr>
          <p:cNvPr id="26" name="Text 23"/>
          <p:cNvSpPr txBox="1"/>
          <p:nvPr/>
        </p:nvSpPr>
        <p:spPr>
          <a:xfrm>
            <a:off x="6242304" y="1874520"/>
            <a:ext cx="153314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34" charset="0"/>
                <a:ea typeface="Amiri" pitchFamily="34" charset="-122"/>
                <a:cs typeface="Amiri" pitchFamily="34" charset="-120"/>
              </a:rPr>
              <a:t>أَمَّا … فَـ</a:t>
            </a:r>
            <a:endParaRPr lang="ar-SA" sz="1600" dirty="0"/>
          </a:p>
        </p:txBody>
      </p:sp>
      <p:sp>
        <p:nvSpPr>
          <p:cNvPr id="27" name="Text 24"/>
          <p:cNvSpPr txBox="1"/>
          <p:nvPr/>
        </p:nvSpPr>
        <p:spPr>
          <a:xfrm>
            <a:off x="4413504" y="2286000"/>
            <a:ext cx="3361944" cy="1097280"/>
          </a:xfrm>
          <a:prstGeom prst="rect">
            <a:avLst/>
          </a:prstGeom>
          <a:noFill/>
          <a:ln/>
        </p:spPr>
        <p:txBody>
          <a:bodyPr wrap="square" lIns="0" tIns="0" rIns="0" bIns="0" rtlCol="0" anchor="ctr"/>
          <a:lstStyle/>
          <a:p>
            <a:pPr rtl="1" algn="ctr" indent="0" marL="0">
              <a:buNone/>
            </a:pPr>
            <a:r>
              <a:rPr lang="ar-SA" altLang="en-US" sz="2650" b="1" dirty="0">
                <a:solidFill>
                  <a:srgbClr val="1B3B6F"/>
                </a:solidFill>
                <a:latin typeface="Amiri" pitchFamily="34" charset="0"/>
                <a:ea typeface="Amiri" pitchFamily="34" charset="-122"/>
                <a:cs typeface="Amiri" pitchFamily="34" charset="-120"/>
              </a:rPr>
              <a:t>أَمَّا السَّبْتُ فَهُوَ يَوْمُ الرَّاحَةِ.</a:t>
            </a:r>
            <a:endParaRPr lang="ar-SA" sz="2650" dirty="0"/>
          </a:p>
        </p:txBody>
      </p:sp>
      <p:sp>
        <p:nvSpPr>
          <p:cNvPr id="28" name="Text 25"/>
          <p:cNvSpPr txBox="1"/>
          <p:nvPr/>
        </p:nvSpPr>
        <p:spPr>
          <a:xfrm>
            <a:off x="4413504"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As for Saturday, it is a rest day.</a:t>
            </a:r>
            <a:endParaRPr lang="en-US" sz="1200" dirty="0"/>
          </a:p>
        </p:txBody>
      </p:sp>
      <p:sp>
        <p:nvSpPr>
          <p:cNvPr id="29" name="Shape 26"/>
          <p:cNvSpPr/>
          <p:nvPr/>
        </p:nvSpPr>
        <p:spPr>
          <a:xfrm>
            <a:off x="4386072" y="3913632"/>
            <a:ext cx="3416808" cy="804672"/>
          </a:xfrm>
          <a:prstGeom prst="roundRect">
            <a:avLst>
              <a:gd name="adj" fmla="val 5682"/>
            </a:avLst>
          </a:prstGeom>
          <a:solidFill>
            <a:srgbClr val="FFF4E0"/>
          </a:solidFill>
          <a:ln w="9525">
            <a:solidFill>
              <a:srgbClr val="FFF4E0"/>
            </a:solidFill>
            <a:prstDash val="solid"/>
          </a:ln>
        </p:spPr>
      </p:sp>
      <p:sp>
        <p:nvSpPr>
          <p:cNvPr id="30" name="Text 27"/>
          <p:cNvSpPr txBox="1"/>
          <p:nvPr/>
        </p:nvSpPr>
        <p:spPr>
          <a:xfrm>
            <a:off x="4477512"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Topic + </a:t>
            </a:r>
            <a:pPr algn="l" indent="0" marL="0">
              <a:buNone/>
            </a:pPr>
            <a:r>
              <a:rPr lang="ar-SA" altLang="en-US" sz="1450" dirty="0">
                <a:solidFill>
                  <a:srgbClr val="1F2A37"/>
                </a:solidFill>
                <a:latin typeface="Amiri" pitchFamily="34" charset="0"/>
                <a:ea typeface="Amiri" pitchFamily="34" charset="-122"/>
                <a:cs typeface="Amiri" pitchFamily="34" charset="-120"/>
              </a:rPr>
              <a:t>فَـ</a:t>
            </a:r>
            <a:pPr algn="l" indent="0" marL="0">
              <a:buNone/>
            </a:pPr>
            <a:r>
              <a:rPr lang="en-US" sz="1100" dirty="0">
                <a:solidFill>
                  <a:srgbClr val="1F2A37"/>
                </a:solidFill>
                <a:latin typeface="Calibri" pitchFamily="34" charset="0"/>
                <a:ea typeface="Calibri" pitchFamily="34" charset="-122"/>
                <a:cs typeface="Calibri" pitchFamily="34" charset="-120"/>
              </a:rPr>
              <a:t> + the comment.</a:t>
            </a:r>
            <a:endParaRPr lang="en-US" sz="1100" dirty="0"/>
          </a:p>
        </p:txBody>
      </p:sp>
      <p:sp>
        <p:nvSpPr>
          <p:cNvPr id="31" name="Shape 28"/>
          <p:cNvSpPr/>
          <p:nvPr/>
        </p:nvSpPr>
        <p:spPr>
          <a:xfrm>
            <a:off x="457200"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94360" y="1920240"/>
            <a:ext cx="1440180" cy="274320"/>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594360" y="1920240"/>
            <a:ext cx="144018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COMPARE · STRETCH</a:t>
            </a:r>
            <a:endParaRPr lang="en-US" sz="850" dirty="0"/>
          </a:p>
        </p:txBody>
      </p:sp>
      <p:sp>
        <p:nvSpPr>
          <p:cNvPr id="34" name="Text 31"/>
          <p:cNvSpPr txBox="1"/>
          <p:nvPr/>
        </p:nvSpPr>
        <p:spPr>
          <a:xfrm>
            <a:off x="2080260" y="1874520"/>
            <a:ext cx="187604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34" charset="0"/>
                <a:ea typeface="Amiri" pitchFamily="34" charset="-122"/>
                <a:cs typeface="Amiri" pitchFamily="34" charset="-120"/>
              </a:rPr>
              <a:t>أَكْثَرُ … مِنْ</a:t>
            </a:r>
            <a:endParaRPr lang="ar-SA" sz="1600" dirty="0"/>
          </a:p>
        </p:txBody>
      </p:sp>
      <p:sp>
        <p:nvSpPr>
          <p:cNvPr id="35" name="Text 32"/>
          <p:cNvSpPr txBox="1"/>
          <p:nvPr/>
        </p:nvSpPr>
        <p:spPr>
          <a:xfrm>
            <a:off x="594360"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100" b="1" dirty="0">
                <a:solidFill>
                  <a:srgbClr val="1B3B6F"/>
                </a:solidFill>
                <a:latin typeface="Amiri" pitchFamily="34" charset="0"/>
                <a:ea typeface="Amiri" pitchFamily="34" charset="-122"/>
                <a:cs typeface="Amiri" pitchFamily="34" charset="-120"/>
              </a:rPr>
              <a:t>الأَرْبِعَاءُ أَكْثَرُ اِنْشِغَالًا مِنَ الخَمِيسِ.</a:t>
            </a:r>
            <a:endParaRPr lang="ar-SA" sz="2100" dirty="0"/>
          </a:p>
        </p:txBody>
      </p:sp>
      <p:sp>
        <p:nvSpPr>
          <p:cNvPr id="36" name="Text 33"/>
          <p:cNvSpPr txBox="1"/>
          <p:nvPr/>
        </p:nvSpPr>
        <p:spPr>
          <a:xfrm>
            <a:off x="594360"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Wednesday is busier than Thursday.</a:t>
            </a:r>
            <a:endParaRPr lang="en-US" sz="1200" dirty="0"/>
          </a:p>
        </p:txBody>
      </p:sp>
      <p:sp>
        <p:nvSpPr>
          <p:cNvPr id="37" name="Shape 34"/>
          <p:cNvSpPr/>
          <p:nvPr/>
        </p:nvSpPr>
        <p:spPr>
          <a:xfrm>
            <a:off x="566928" y="3913632"/>
            <a:ext cx="3416808" cy="804672"/>
          </a:xfrm>
          <a:prstGeom prst="roundRect">
            <a:avLst>
              <a:gd name="adj" fmla="val 5682"/>
            </a:avLst>
          </a:prstGeom>
          <a:solidFill>
            <a:srgbClr val="FFF4E0"/>
          </a:solidFill>
          <a:ln w="9525">
            <a:solidFill>
              <a:srgbClr val="FFF4E0"/>
            </a:solidFill>
            <a:prstDash val="solid"/>
          </a:ln>
        </p:spPr>
      </p:sp>
      <p:sp>
        <p:nvSpPr>
          <p:cNvPr id="38" name="Text 35"/>
          <p:cNvSpPr txBox="1"/>
          <p:nvPr/>
        </p:nvSpPr>
        <p:spPr>
          <a:xfrm>
            <a:off x="658368"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more / less + noun + </a:t>
            </a:r>
            <a:pPr algn="l" indent="0" marL="0">
              <a:buNone/>
            </a:pPr>
            <a:r>
              <a:rPr lang="ar-SA" altLang="en-US" sz="1450" dirty="0">
                <a:solidFill>
                  <a:srgbClr val="1F2A37"/>
                </a:solidFill>
                <a:latin typeface="Amiri" pitchFamily="34" charset="0"/>
                <a:ea typeface="Amiri" pitchFamily="34" charset="-122"/>
                <a:cs typeface="Amiri" pitchFamily="34" charset="-120"/>
              </a:rPr>
              <a:t>مِنْ</a:t>
            </a:r>
            <a:pPr algn="l" indent="0" marL="0">
              <a:buNone/>
            </a:pPr>
            <a:r>
              <a:rPr lang="en-US" sz="1100" dirty="0">
                <a:solidFill>
                  <a:srgbClr val="1F2A37"/>
                </a:solidFill>
                <a:latin typeface="Calibri" pitchFamily="34" charset="0"/>
                <a:ea typeface="Calibri" pitchFamily="34" charset="-122"/>
                <a:cs typeface="Calibri" pitchFamily="34" charset="-120"/>
              </a:rPr>
              <a:t>.</a:t>
            </a:r>
            <a:endParaRPr lang="en-US" sz="1100" dirty="0"/>
          </a:p>
        </p:txBody>
      </p:sp>
      <p:sp>
        <p:nvSpPr>
          <p:cNvPr id="39" name="Shape 36"/>
          <p:cNvSpPr/>
          <p:nvPr/>
        </p:nvSpPr>
        <p:spPr>
          <a:xfrm>
            <a:off x="457200" y="50109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40" name="Text 37"/>
          <p:cNvSpPr txBox="1"/>
          <p:nvPr/>
        </p:nvSpPr>
        <p:spPr>
          <a:xfrm>
            <a:off x="685800" y="5102352"/>
            <a:ext cx="2743200" cy="274320"/>
          </a:xfrm>
          <a:prstGeom prst="rect">
            <a:avLst/>
          </a:prstGeom>
          <a:noFill/>
          <a:ln/>
        </p:spPr>
        <p:txBody>
          <a:bodyPr wrap="square" lIns="0" tIns="0" rIns="0" bIns="0" rtlCol="0" anchor="ctr"/>
          <a:lstStyle/>
          <a:p>
            <a:pPr algn="l" indent="0" marL="0">
              <a:buNone/>
            </a:pPr>
            <a:r>
              <a:rPr lang="en-US" sz="1000" b="1" spc="200" kern="0" dirty="0">
                <a:solidFill>
                  <a:srgbClr val="B83227"/>
                </a:solidFill>
                <a:latin typeface="Calibri" pitchFamily="34" charset="0"/>
                <a:ea typeface="Calibri" pitchFamily="34" charset="-122"/>
                <a:cs typeface="Calibri" pitchFamily="34" charset="-120"/>
              </a:rPr>
              <a:t>COMMON ERROR</a:t>
            </a:r>
            <a:endParaRPr lang="en-US" sz="1000" dirty="0"/>
          </a:p>
        </p:txBody>
      </p:sp>
      <p:sp>
        <p:nvSpPr>
          <p:cNvPr id="41" name="Text 38"/>
          <p:cNvSpPr txBox="1"/>
          <p:nvPr/>
        </p:nvSpPr>
        <p:spPr>
          <a:xfrm>
            <a:off x="685800" y="5394960"/>
            <a:ext cx="3291840" cy="822960"/>
          </a:xfrm>
          <a:prstGeom prst="rect">
            <a:avLst/>
          </a:prstGeom>
          <a:noFill/>
          <a:ln/>
        </p:spPr>
        <p:txBody>
          <a:bodyPr wrap="square" lIns="0" tIns="0" rIns="0" bIns="0" rtlCol="0" anchor="t"/>
          <a:lstStyle/>
          <a:p>
            <a:pPr algn="l" indent="0" marL="0">
              <a:buNone/>
            </a:pPr>
            <a:r>
              <a:rPr lang="en-US" sz="1150" dirty="0">
                <a:solidFill>
                  <a:srgbClr val="1F2A37"/>
                </a:solidFill>
                <a:latin typeface="Calibri" pitchFamily="34" charset="0"/>
                <a:ea typeface="Calibri" pitchFamily="34" charset="-122"/>
                <a:cs typeface="Calibri" pitchFamily="34" charset="-120"/>
              </a:rPr>
              <a:t>Website common error: after </a:t>
            </a:r>
            <a:pPr algn="l" indent="0" marL="0">
              <a:buNone/>
            </a:pPr>
            <a:r>
              <a:rPr lang="ar-SA" altLang="en-US" sz="1500" dirty="0">
                <a:solidFill>
                  <a:srgbClr val="1F2A37"/>
                </a:solidFill>
                <a:latin typeface="Amiri" pitchFamily="34" charset="0"/>
                <a:ea typeface="Amiri" pitchFamily="34" charset="-122"/>
                <a:cs typeface="Amiri" pitchFamily="34" charset="-120"/>
              </a:rPr>
              <a:t>بَيْنَمَا</a:t>
            </a:r>
            <a:pPr algn="l" indent="0" marL="0">
              <a:buNone/>
            </a:pPr>
            <a:r>
              <a:rPr lang="en-US" sz="1150" dirty="0">
                <a:solidFill>
                  <a:srgbClr val="1F2A37"/>
                </a:solidFill>
                <a:latin typeface="Calibri" pitchFamily="34" charset="0"/>
                <a:ea typeface="Calibri" pitchFamily="34" charset="-122"/>
                <a:cs typeface="Calibri" pitchFamily="34" charset="-120"/>
              </a:rPr>
              <a:t> the verb matches ITS OWN subject.</a:t>
            </a:r>
            <a:endParaRPr lang="en-US" sz="1150" dirty="0"/>
          </a:p>
        </p:txBody>
      </p:sp>
      <p:sp>
        <p:nvSpPr>
          <p:cNvPr id="42" name="Text 39"/>
          <p:cNvSpPr txBox="1"/>
          <p:nvPr/>
        </p:nvSpPr>
        <p:spPr>
          <a:xfrm>
            <a:off x="9966960" y="5230368"/>
            <a:ext cx="1645920" cy="868680"/>
          </a:xfrm>
          <a:prstGeom prst="rect">
            <a:avLst/>
          </a:prstGeom>
          <a:noFill/>
          <a:ln/>
        </p:spPr>
        <p:txBody>
          <a:bodyPr wrap="square" lIns="0" tIns="0" rIns="0" bIns="0" rtlCol="0" anchor="ctr"/>
          <a:lstStyle/>
          <a:p>
            <a:pPr rtl="1" algn="ctr" indent="0" marL="0">
              <a:buNone/>
            </a:pPr>
            <a:r>
              <a:rPr lang="ar-SA" altLang="en-US" sz="2300" b="1" dirty="0">
                <a:solidFill>
                  <a:srgbClr val="1B3B6F"/>
                </a:solidFill>
                <a:latin typeface="Amiri" pitchFamily="34" charset="0"/>
                <a:ea typeface="Amiri" pitchFamily="34" charset="-122"/>
                <a:cs typeface="Amiri" pitchFamily="34" charset="-120"/>
              </a:rPr>
              <a:t>بَيْنَمَا يَذْهَبُ أَخِي</a:t>
            </a:r>
            <a:endParaRPr lang="ar-SA" sz="2300" dirty="0"/>
          </a:p>
        </p:txBody>
      </p:sp>
      <p:sp>
        <p:nvSpPr>
          <p:cNvPr id="43" name="Text 40"/>
          <p:cNvSpPr txBox="1"/>
          <p:nvPr/>
        </p:nvSpPr>
        <p:spPr>
          <a:xfrm>
            <a:off x="9601200" y="5230368"/>
            <a:ext cx="365760" cy="8686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44" name="Text 41"/>
          <p:cNvSpPr txBox="1"/>
          <p:nvPr/>
        </p:nvSpPr>
        <p:spPr>
          <a:xfrm>
            <a:off x="8001000" y="5230368"/>
            <a:ext cx="1645920" cy="868680"/>
          </a:xfrm>
          <a:prstGeom prst="rect">
            <a:avLst/>
          </a:prstGeom>
          <a:noFill/>
          <a:ln/>
        </p:spPr>
        <p:txBody>
          <a:bodyPr wrap="square" lIns="0" tIns="0" rIns="0" bIns="0" rtlCol="0" anchor="ctr"/>
          <a:lstStyle/>
          <a:p>
            <a:pPr rtl="1" algn="ctr" indent="0" marL="0">
              <a:buNone/>
            </a:pPr>
            <a:r>
              <a:rPr lang="ar-SA" altLang="en-US" sz="2300" b="1" dirty="0">
                <a:solidFill>
                  <a:srgbClr val="B83227"/>
                </a:solidFill>
                <a:latin typeface="Amiri" pitchFamily="34" charset="0"/>
                <a:ea typeface="Amiri" pitchFamily="34" charset="-122"/>
                <a:cs typeface="Amiri" pitchFamily="34" charset="-120"/>
              </a:rPr>
              <a:t>بَيْنَمَا أَخِي أَذْهَبُ</a:t>
            </a:r>
            <a:endParaRPr lang="ar-SA" sz="2300" dirty="0"/>
          </a:p>
        </p:txBody>
      </p:sp>
      <p:sp>
        <p:nvSpPr>
          <p:cNvPr id="45" name="Shape 42"/>
          <p:cNvSpPr/>
          <p:nvPr/>
        </p:nvSpPr>
        <p:spPr>
          <a:xfrm>
            <a:off x="8138160" y="5669280"/>
            <a:ext cx="1371600" cy="0"/>
          </a:xfrm>
          <a:prstGeom prst="line">
            <a:avLst/>
          </a:prstGeom>
          <a:noFill/>
          <a:ln w="25400">
            <a:solidFill>
              <a:srgbClr val="B83227"/>
            </a:solidFill>
            <a:prstDash val="solid"/>
          </a:ln>
        </p:spPr>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15 / 46</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D1-L03 · How Often?</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GRAMMAR FOCUS · THE WEBSITE RULES WITH EXAMPLES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ea typeface="Cambria" pitchFamily="34" charset="-122"/>
                <a:cs typeface="Cambria" pitchFamily="34" charset="-120"/>
              </a:rPr>
              <a:t>Frequency adverbs and expressions</a:t>
            </a:r>
            <a:endParaRPr lang="en-US" sz="265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ظُرُوفُ التَّكْرَارِ وَتَعْبِيرَاتُهُ</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D1-L03</a:t>
            </a:r>
            <a:endParaRPr lang="en-US" sz="850" dirty="0"/>
          </a:p>
        </p:txBody>
      </p:sp>
      <p:sp>
        <p:nvSpPr>
          <p:cNvPr id="17" name="Shape 14"/>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40080" y="1883664"/>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1. Use </a:t>
            </a:r>
            <a:pPr algn="l" indent="0" marL="0">
              <a:buNone/>
            </a:pPr>
            <a:r>
              <a:rPr lang="ar-SA" altLang="en-US" sz="1650" b="1" dirty="0">
                <a:solidFill>
                  <a:srgbClr val="1B3B6F"/>
                </a:solidFill>
                <a:latin typeface="Amiri" pitchFamily="34" charset="0"/>
                <a:ea typeface="Amiri" pitchFamily="34" charset="-122"/>
                <a:cs typeface="Amiri" pitchFamily="34" charset="-120"/>
              </a:rPr>
              <a:t>بَيْنَمَا</a:t>
            </a:r>
            <a:pPr algn="l" indent="0" marL="0">
              <a:buNone/>
            </a:pPr>
            <a:r>
              <a:rPr lang="en-US" sz="1250" b="1" dirty="0">
                <a:solidFill>
                  <a:srgbClr val="1B3B6F"/>
                </a:solidFill>
                <a:latin typeface="Calibri" pitchFamily="34" charset="0"/>
                <a:ea typeface="Calibri" pitchFamily="34" charset="-122"/>
                <a:cs typeface="Calibri" pitchFamily="34" charset="-120"/>
              </a:rPr>
              <a:t> between two contrasting clauses</a:t>
            </a:r>
            <a:endParaRPr lang="en-US" sz="1250" dirty="0"/>
          </a:p>
        </p:txBody>
      </p:sp>
      <p:sp>
        <p:nvSpPr>
          <p:cNvPr id="19" name="Text 16"/>
          <p:cNvSpPr txBox="1"/>
          <p:nvPr/>
        </p:nvSpPr>
        <p:spPr>
          <a:xfrm>
            <a:off x="640080" y="2345436"/>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34" charset="0"/>
                <a:ea typeface="Amiri" pitchFamily="34" charset="-122"/>
                <a:cs typeface="Amiri" pitchFamily="34" charset="-120"/>
              </a:rPr>
              <a:t>جُمْلَةٌ، بَيْنَمَا + جُمْلَةٌ</a:t>
            </a:r>
            <a:endParaRPr lang="ar-SA" sz="1350" dirty="0"/>
          </a:p>
        </p:txBody>
      </p:sp>
      <p:sp>
        <p:nvSpPr>
          <p:cNvPr id="20" name="Text 17"/>
          <p:cNvSpPr txBox="1"/>
          <p:nvPr/>
        </p:nvSpPr>
        <p:spPr>
          <a:xfrm>
            <a:off x="4297680" y="1847088"/>
            <a:ext cx="7269480" cy="955548"/>
          </a:xfrm>
          <a:prstGeom prst="rect">
            <a:avLst/>
          </a:prstGeom>
          <a:noFill/>
          <a:ln/>
        </p:spPr>
        <p:txBody>
          <a:bodyPr wrap="square" lIns="0" tIns="0" rIns="0" bIns="0" rtlCol="0" anchor="ctr"/>
          <a:lstStyle/>
          <a:p>
            <a:pPr rtl="1" algn="r" indent="0" marL="0">
              <a:lnSpc>
                <a:spcPct val="120000"/>
              </a:lnSpc>
              <a:buNone/>
            </a:pPr>
            <a:r>
              <a:rPr lang="ar-SA" altLang="en-US" sz="1850" b="1" dirty="0">
                <a:solidFill>
                  <a:srgbClr val="1F2A37"/>
                </a:solidFill>
                <a:latin typeface="Amiri" pitchFamily="34" charset="0"/>
                <a:ea typeface="Amiri" pitchFamily="34" charset="-122"/>
                <a:cs typeface="Amiri" pitchFamily="34" charset="-120"/>
              </a:rPr>
              <a:t>أَتَمَرَّنُ يَوْمَ الاِثْنَيْنِ، بَيْنَمَا تَتَمَرَّنُ أُخْتِي يَوْمَ الثُّلَاثَاءِ.   ·   أَسْتَيْقِظُ مُبَكِّرًا فِي الأُسْبُوعِ، بَيْنَمَا أَنَامُ أَطْوَلَ فِي العُطْلَةِ.</a:t>
            </a:r>
            <a:endParaRPr lang="ar-SA" sz="1850" dirty="0"/>
          </a:p>
        </p:txBody>
      </p:sp>
      <p:sp>
        <p:nvSpPr>
          <p:cNvPr id="21" name="Shape 18"/>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640080" y="3040380"/>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2. Use </a:t>
            </a:r>
            <a:pPr algn="l" indent="0" marL="0">
              <a:buNone/>
            </a:pPr>
            <a:r>
              <a:rPr lang="ar-SA" altLang="en-US" sz="1650" b="1" dirty="0">
                <a:solidFill>
                  <a:srgbClr val="1B3B6F"/>
                </a:solidFill>
                <a:latin typeface="Amiri" pitchFamily="34" charset="0"/>
                <a:ea typeface="Amiri" pitchFamily="34" charset="-122"/>
                <a:cs typeface="Amiri" pitchFamily="34" charset="-120"/>
              </a:rPr>
              <a:t>أَمَّا</a:t>
            </a:r>
            <a:pPr algn="l" indent="0" marL="0">
              <a:buNone/>
            </a:pPr>
            <a:r>
              <a:rPr lang="en-US" sz="1250" b="1" dirty="0">
                <a:solidFill>
                  <a:srgbClr val="1B3B6F"/>
                </a:solidFill>
                <a:latin typeface="Calibri" pitchFamily="34" charset="0"/>
                <a:ea typeface="Calibri" pitchFamily="34" charset="-122"/>
                <a:cs typeface="Calibri" pitchFamily="34" charset="-120"/>
              </a:rPr>
              <a:t> ... </a:t>
            </a:r>
            <a:pPr algn="l" indent="0" marL="0">
              <a:buNone/>
            </a:pPr>
            <a:r>
              <a:rPr lang="ar-SA" altLang="en-US" sz="1650" b="1" dirty="0">
                <a:solidFill>
                  <a:srgbClr val="1B3B6F"/>
                </a:solidFill>
                <a:latin typeface="Amiri" pitchFamily="34" charset="0"/>
                <a:ea typeface="Amiri" pitchFamily="34" charset="-122"/>
                <a:cs typeface="Amiri" pitchFamily="34" charset="-120"/>
              </a:rPr>
              <a:t>فَـ</a:t>
            </a:r>
            <a:pPr algn="l" indent="0" marL="0">
              <a:buNone/>
            </a:pPr>
            <a:r>
              <a:rPr lang="en-US" sz="1250" b="1" dirty="0">
                <a:solidFill>
                  <a:srgbClr val="1B3B6F"/>
                </a:solidFill>
                <a:latin typeface="Calibri" pitchFamily="34" charset="0"/>
                <a:ea typeface="Calibri" pitchFamily="34" charset="-122"/>
                <a:cs typeface="Calibri" pitchFamily="34" charset="-120"/>
              </a:rPr>
              <a:t> to organise a comparison</a:t>
            </a:r>
            <a:endParaRPr lang="en-US" sz="1250" dirty="0"/>
          </a:p>
        </p:txBody>
      </p:sp>
      <p:sp>
        <p:nvSpPr>
          <p:cNvPr id="23" name="Text 20"/>
          <p:cNvSpPr txBox="1"/>
          <p:nvPr/>
        </p:nvSpPr>
        <p:spPr>
          <a:xfrm>
            <a:off x="640080" y="3502152"/>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34" charset="0"/>
                <a:ea typeface="Amiri" pitchFamily="34" charset="-122"/>
                <a:cs typeface="Amiri" pitchFamily="34" charset="-120"/>
              </a:rPr>
              <a:t>أَمَّا + المَوْضُوعُ + فَـ + الجُمْلَةُ</a:t>
            </a:r>
            <a:endParaRPr lang="ar-SA" sz="1350" dirty="0"/>
          </a:p>
        </p:txBody>
      </p:sp>
      <p:sp>
        <p:nvSpPr>
          <p:cNvPr id="24" name="Text 21"/>
          <p:cNvSpPr txBox="1"/>
          <p:nvPr/>
        </p:nvSpPr>
        <p:spPr>
          <a:xfrm>
            <a:off x="4297680" y="3003804"/>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أَمَّا يَوْمُ الجُمُعَةِ فَهُوَ أَهْدَأُ.   ·   أَمَّا أَخِي فَيَذْهَبُ إِلَى النَّادِي ثَلَاثَ مَرَّاتٍ.</a:t>
            </a:r>
            <a:endParaRPr lang="ar-SA" sz="200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40080" y="4197096"/>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3. Place frequency accurately</a:t>
            </a:r>
            <a:endParaRPr lang="en-US" sz="1250" dirty="0"/>
          </a:p>
        </p:txBody>
      </p:sp>
      <p:sp>
        <p:nvSpPr>
          <p:cNvPr id="27" name="Text 24"/>
          <p:cNvSpPr txBox="1"/>
          <p:nvPr/>
        </p:nvSpPr>
        <p:spPr>
          <a:xfrm>
            <a:off x="640080" y="4658868"/>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34" charset="0"/>
                <a:ea typeface="Amiri" pitchFamily="34" charset="-122"/>
                <a:cs typeface="Amiri" pitchFamily="34" charset="-120"/>
              </a:rPr>
              <a:t>فِعْلٌ + ظَرْفُ تَكْرَارٍ · كَثِيرًا مَا + فِعْلٌ</a:t>
            </a:r>
            <a:endParaRPr lang="ar-SA" sz="1350" dirty="0"/>
          </a:p>
        </p:txBody>
      </p:sp>
      <p:sp>
        <p:nvSpPr>
          <p:cNvPr id="28" name="Text 25"/>
          <p:cNvSpPr txBox="1"/>
          <p:nvPr/>
        </p:nvSpPr>
        <p:spPr>
          <a:xfrm>
            <a:off x="4297680" y="4160520"/>
            <a:ext cx="7269480" cy="955548"/>
          </a:xfrm>
          <a:prstGeom prst="rect">
            <a:avLst/>
          </a:prstGeom>
          <a:noFill/>
          <a:ln/>
        </p:spPr>
        <p:txBody>
          <a:bodyPr wrap="square" lIns="0" tIns="0" rIns="0" bIns="0" rtlCol="0" anchor="ctr"/>
          <a:lstStyle/>
          <a:p>
            <a:pPr rtl="1" algn="r" indent="0" marL="0">
              <a:lnSpc>
                <a:spcPct val="120000"/>
              </a:lnSpc>
              <a:buNone/>
            </a:pPr>
            <a:r>
              <a:rPr lang="ar-SA" altLang="en-US" sz="1850" b="1" dirty="0">
                <a:solidFill>
                  <a:srgbClr val="1F2A37"/>
                </a:solidFill>
                <a:latin typeface="Amiri" pitchFamily="34" charset="0"/>
                <a:ea typeface="Amiri" pitchFamily="34" charset="-122"/>
                <a:cs typeface="Amiri" pitchFamily="34" charset="-120"/>
              </a:rPr>
              <a:t>أُرَاجِعُ دُرُوسِي يَوْمِيًّا.   ·   كَثِيرًا مَا أَزُورُ جَدَّتِي يَوْمَ السَّبْتِ.   ·   لَا أَتَأَخَّرُ أَبَدًا عَنِ المَوْعِدِ.</a:t>
            </a:r>
            <a:endParaRPr lang="ar-SA" sz="1850" dirty="0"/>
          </a:p>
        </p:txBody>
      </p:sp>
      <p:sp>
        <p:nvSpPr>
          <p:cNvPr id="29" name="Shape 26"/>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640080" y="5353812"/>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4. Compare how busy days are</a:t>
            </a:r>
            <a:endParaRPr lang="en-US" sz="1250" dirty="0"/>
          </a:p>
        </p:txBody>
      </p:sp>
      <p:sp>
        <p:nvSpPr>
          <p:cNvPr id="31" name="Text 28"/>
          <p:cNvSpPr txBox="1"/>
          <p:nvPr/>
        </p:nvSpPr>
        <p:spPr>
          <a:xfrm>
            <a:off x="640080" y="5815584"/>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34" charset="0"/>
                <a:ea typeface="Amiri" pitchFamily="34" charset="-122"/>
                <a:cs typeface="Amiri" pitchFamily="34" charset="-120"/>
              </a:rPr>
              <a:t>أَكْثَرُ / أَقَلُّ + صِفَةً + مِنْ</a:t>
            </a:r>
            <a:endParaRPr lang="ar-SA" sz="1350" dirty="0"/>
          </a:p>
        </p:txBody>
      </p:sp>
      <p:sp>
        <p:nvSpPr>
          <p:cNvPr id="32" name="Text 29"/>
          <p:cNvSpPr txBox="1"/>
          <p:nvPr/>
        </p:nvSpPr>
        <p:spPr>
          <a:xfrm>
            <a:off x="4297680" y="5317236"/>
            <a:ext cx="7269480" cy="955548"/>
          </a:xfrm>
          <a:prstGeom prst="rect">
            <a:avLst/>
          </a:prstGeom>
          <a:noFill/>
          <a:ln/>
        </p:spPr>
        <p:txBody>
          <a:bodyPr wrap="square" lIns="0" tIns="0" rIns="0" bIns="0" rtlCol="0" anchor="ctr"/>
          <a:lstStyle/>
          <a:p>
            <a:pPr rtl="1" algn="r" indent="0" marL="0">
              <a:lnSpc>
                <a:spcPct val="120000"/>
              </a:lnSpc>
              <a:buNone/>
            </a:pPr>
            <a:r>
              <a:rPr lang="ar-SA" altLang="en-US" sz="1850" b="1" dirty="0">
                <a:solidFill>
                  <a:srgbClr val="1F2A37"/>
                </a:solidFill>
                <a:latin typeface="Amiri" pitchFamily="34" charset="0"/>
                <a:ea typeface="Amiri" pitchFamily="34" charset="-122"/>
                <a:cs typeface="Amiri" pitchFamily="34" charset="-120"/>
              </a:rPr>
              <a:t>يَوْمُ الأَرْبِعَاءِ أَكْثَرُ اِنْشِغَالًا مِنْ يَوْمِ الخَمِيسِ.   ·   نِهَايَةُ الأُسْبُوعِ أَقَلُّ اِزْدِحَامًا مِنْ أَيَّامِ الدِّرَاسَةِ.</a:t>
            </a:r>
            <a:endParaRPr lang="ar-SA" sz="18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16 / 46</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D1-L03 · How Often?</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D1-L03</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contrast.</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أَتَمَرَّنُ، بَيْنَمَا يَقْرَأُ أُخْتِي.</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أَتَمَرَّنُ بَيْنَمَا أُخْتِي أَقْرَأُ.</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أَتَمَرَّنُ، بَيْنَمَا تَقْرَأُ أُخْتِي.</a:t>
            </a:r>
            <a:endParaRPr lang="ar-SA" sz="2050" dirty="0"/>
          </a:p>
        </p:txBody>
      </p:sp>
      <p:sp>
        <p:nvSpPr>
          <p:cNvPr id="28" name="Shape 25"/>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6313932"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means “daily”?</a:t>
            </a:r>
            <a:endParaRPr lang="en-US" sz="1250" dirty="0"/>
          </a:p>
        </p:txBody>
      </p:sp>
      <p:sp>
        <p:nvSpPr>
          <p:cNvPr id="32" name="Shape 29"/>
          <p:cNvSpPr/>
          <p:nvPr/>
        </p:nvSpPr>
        <p:spPr>
          <a:xfrm>
            <a:off x="6368796"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يَوْمِيًّا</a:t>
            </a:r>
            <a:endParaRPr lang="ar-SA" sz="2050" dirty="0"/>
          </a:p>
        </p:txBody>
      </p:sp>
      <p:sp>
        <p:nvSpPr>
          <p:cNvPr id="35" name="Shape 32"/>
          <p:cNvSpPr/>
          <p:nvPr/>
        </p:nvSpPr>
        <p:spPr>
          <a:xfrm>
            <a:off x="6368796"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أُسْبُوعِيًّا</a:t>
            </a:r>
            <a:endParaRPr lang="ar-SA" sz="2050" dirty="0"/>
          </a:p>
        </p:txBody>
      </p:sp>
      <p:sp>
        <p:nvSpPr>
          <p:cNvPr id="38" name="Shape 35"/>
          <p:cNvSpPr/>
          <p:nvPr/>
        </p:nvSpPr>
        <p:spPr>
          <a:xfrm>
            <a:off x="6368796"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شَهْرِيًّا</a:t>
            </a:r>
            <a:endParaRPr lang="ar-SA" sz="2050" dirty="0"/>
          </a:p>
        </p:txBody>
      </p:sp>
      <p:sp>
        <p:nvSpPr>
          <p:cNvPr id="41" name="Shape 38"/>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585216" y="4288536"/>
            <a:ext cx="310896" cy="310896"/>
          </a:xfrm>
          <a:prstGeom prst="ellipse">
            <a:avLst/>
          </a:prstGeom>
          <a:solidFill>
            <a:srgbClr val="1B3B6F"/>
          </a:solidFill>
          <a:ln w="12700">
            <a:solidFill>
              <a:srgbClr val="1B3B6F"/>
            </a:solidFill>
            <a:prstDash val="solid"/>
          </a:ln>
        </p:spPr>
      </p:sp>
      <p:sp>
        <p:nvSpPr>
          <p:cNvPr id="43" name="Text 4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“never”.</a:t>
            </a:r>
            <a:endParaRPr lang="en-US" sz="1250" dirty="0"/>
          </a:p>
        </p:txBody>
      </p:sp>
      <p:sp>
        <p:nvSpPr>
          <p:cNvPr id="45" name="Shape 42"/>
          <p:cNvSpPr/>
          <p:nvPr/>
        </p:nvSpPr>
        <p:spPr>
          <a:xfrm>
            <a:off x="640080" y="4873752"/>
            <a:ext cx="256032" cy="256032"/>
          </a:xfrm>
          <a:prstGeom prst="ellipse">
            <a:avLst/>
          </a:prstGeom>
          <a:solidFill>
            <a:srgbClr val="F4F1EA"/>
          </a:solidFill>
          <a:ln w="12700">
            <a:solidFill>
              <a:srgbClr val="F4F1EA"/>
            </a:solidFill>
            <a:prstDash val="solid"/>
          </a:ln>
        </p:spPr>
      </p:sp>
      <p:sp>
        <p:nvSpPr>
          <p:cNvPr id="46" name="Text 43"/>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كَثِيرًا مَا</a:t>
            </a:r>
            <a:endParaRPr lang="ar-SA" sz="2050" dirty="0"/>
          </a:p>
        </p:txBody>
      </p:sp>
      <p:sp>
        <p:nvSpPr>
          <p:cNvPr id="48" name="Shape 45"/>
          <p:cNvSpPr/>
          <p:nvPr/>
        </p:nvSpPr>
        <p:spPr>
          <a:xfrm>
            <a:off x="640080" y="53309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لَا ... أَبَدًا</a:t>
            </a:r>
            <a:endParaRPr lang="ar-SA" sz="2050" dirty="0"/>
          </a:p>
        </p:txBody>
      </p:sp>
      <p:sp>
        <p:nvSpPr>
          <p:cNvPr id="51" name="Shape 48"/>
          <p:cNvSpPr/>
          <p:nvPr/>
        </p:nvSpPr>
        <p:spPr>
          <a:xfrm>
            <a:off x="640080" y="57881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مِنْ حِينٍ إِلَى آخَرَ</a:t>
            </a:r>
            <a:endParaRPr lang="ar-SA" sz="2050" dirty="0"/>
          </a:p>
        </p:txBody>
      </p:sp>
      <p:sp>
        <p:nvSpPr>
          <p:cNvPr id="54" name="Shape 51"/>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6313932"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6679692"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 the comparison:</a:t>
            </a:r>
            <a:endParaRPr lang="en-US" sz="1200" dirty="0"/>
          </a:p>
        </p:txBody>
      </p:sp>
      <p:sp>
        <p:nvSpPr>
          <p:cNvPr id="58" name="Text 55"/>
          <p:cNvSpPr txBox="1"/>
          <p:nvPr/>
        </p:nvSpPr>
        <p:spPr>
          <a:xfrm>
            <a:off x="9052011" y="4224528"/>
            <a:ext cx="2570013" cy="475488"/>
          </a:xfrm>
          <a:prstGeom prst="rect">
            <a:avLst/>
          </a:prstGeom>
          <a:noFill/>
          <a:ln/>
        </p:spPr>
        <p:txBody>
          <a:bodyPr wrap="square" lIns="0" tIns="0" rIns="0" bIns="0" rtlCol="0" anchor="ctr"/>
          <a:lstStyle/>
          <a:p>
            <a:pPr rtl="1" algn="r" indent="0" marL="0">
              <a:buNone/>
            </a:pPr>
            <a:r>
              <a:rPr lang="ar-SA" altLang="en-US" sz="1450" b="1" dirty="0">
                <a:solidFill>
                  <a:srgbClr val="1F2A37"/>
                </a:solidFill>
                <a:latin typeface="Amiri" pitchFamily="34" charset="0"/>
                <a:ea typeface="Amiri" pitchFamily="34" charset="-122"/>
                <a:cs typeface="Amiri" pitchFamily="34" charset="-120"/>
              </a:rPr>
              <a:t>الثُّلَاثَاءُ أَكْثَرُ اِنْشِغَالًا ___ الاِثْنَيْنِ.</a:t>
            </a:r>
            <a:endParaRPr lang="ar-SA" sz="1450" dirty="0"/>
          </a:p>
        </p:txBody>
      </p:sp>
      <p:sp>
        <p:nvSpPr>
          <p:cNvPr id="59" name="Shape 56"/>
          <p:cNvSpPr/>
          <p:nvPr/>
        </p:nvSpPr>
        <p:spPr>
          <a:xfrm>
            <a:off x="6368796" y="4873752"/>
            <a:ext cx="256032" cy="256032"/>
          </a:xfrm>
          <a:prstGeom prst="ellipse">
            <a:avLst/>
          </a:prstGeom>
          <a:solidFill>
            <a:srgbClr val="F4F1EA"/>
          </a:solidFill>
          <a:ln w="12700">
            <a:solidFill>
              <a:srgbClr val="F4F1EA"/>
            </a:solidFill>
            <a:prstDash val="solid"/>
          </a:ln>
        </p:spPr>
      </p:sp>
      <p:sp>
        <p:nvSpPr>
          <p:cNvPr id="60" name="Text 57"/>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1" name="Text 58"/>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مِنْ</a:t>
            </a:r>
            <a:endParaRPr lang="ar-SA" sz="2050" dirty="0"/>
          </a:p>
        </p:txBody>
      </p:sp>
      <p:sp>
        <p:nvSpPr>
          <p:cNvPr id="62" name="Shape 59"/>
          <p:cNvSpPr/>
          <p:nvPr/>
        </p:nvSpPr>
        <p:spPr>
          <a:xfrm>
            <a:off x="6368796" y="5330952"/>
            <a:ext cx="256032" cy="256032"/>
          </a:xfrm>
          <a:prstGeom prst="ellipse">
            <a:avLst/>
          </a:prstGeom>
          <a:solidFill>
            <a:srgbClr val="F4F1EA"/>
          </a:solidFill>
          <a:ln w="12700">
            <a:solidFill>
              <a:srgbClr val="F4F1EA"/>
            </a:solidFill>
            <a:prstDash val="solid"/>
          </a:ln>
        </p:spPr>
      </p:sp>
      <p:sp>
        <p:nvSpPr>
          <p:cNvPr id="63" name="Text 60"/>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4" name="Text 61"/>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فِي</a:t>
            </a:r>
            <a:endParaRPr lang="ar-SA" sz="2050" dirty="0"/>
          </a:p>
        </p:txBody>
      </p:sp>
      <p:sp>
        <p:nvSpPr>
          <p:cNvPr id="65" name="Shape 62"/>
          <p:cNvSpPr/>
          <p:nvPr/>
        </p:nvSpPr>
        <p:spPr>
          <a:xfrm>
            <a:off x="6368796" y="5788152"/>
            <a:ext cx="256032" cy="256032"/>
          </a:xfrm>
          <a:prstGeom prst="ellipse">
            <a:avLst/>
          </a:prstGeom>
          <a:solidFill>
            <a:srgbClr val="F4F1EA"/>
          </a:solidFill>
          <a:ln w="12700">
            <a:solidFill>
              <a:srgbClr val="F4F1EA"/>
            </a:solidFill>
            <a:prstDash val="solid"/>
          </a:ln>
        </p:spPr>
      </p:sp>
      <p:sp>
        <p:nvSpPr>
          <p:cNvPr id="66" name="Text 63"/>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7" name="Text 64"/>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إِلَى</a:t>
            </a:r>
            <a:endParaRPr lang="ar-SA" sz="2050" dirty="0"/>
          </a:p>
        </p:txBody>
      </p:sp>
      <p:sp>
        <p:nvSpPr>
          <p:cNvPr id="68" name="Text 6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17 / 46</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D1-L03 · How Often?</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D1-L03</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contrast.</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أَتَمَرَّنُ، بَيْنَمَا يَقْرَأُ أُخْتِي.</a:t>
            </a:r>
            <a:endParaRPr lang="ar-SA" sz="170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أَتَمَرَّنُ بَيْنَمَا أُخْتِي أَقْرَأُ.</a:t>
            </a:r>
            <a:endParaRPr lang="ar-SA" sz="1700" dirty="0"/>
          </a:p>
        </p:txBody>
      </p:sp>
      <p:sp>
        <p:nvSpPr>
          <p:cNvPr id="25" name="Shape 22"/>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أَتَمَرَّنُ، بَيْنَمَا تَقْرَأُ أُخْتِي.</a:t>
            </a:r>
            <a:endParaRPr lang="ar-SA" sz="1700" dirty="0"/>
          </a:p>
        </p:txBody>
      </p:sp>
      <p:sp>
        <p:nvSpPr>
          <p:cNvPr id="29" name="Text 26"/>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أُخْتِي</a:t>
            </a:r>
            <a:pPr algn="l" indent="0" marL="0">
              <a:buNone/>
            </a:pPr>
            <a:r>
              <a:rPr lang="en-US" sz="1050" i="1" dirty="0">
                <a:solidFill>
                  <a:srgbClr val="8A6D1E"/>
                </a:solidFill>
                <a:latin typeface="Calibri" pitchFamily="34" charset="0"/>
                <a:ea typeface="Calibri" pitchFamily="34" charset="-122"/>
                <a:cs typeface="Calibri" pitchFamily="34" charset="-120"/>
              </a:rPr>
              <a:t> is feminine, so </a:t>
            </a:r>
            <a:pPr algn="l" indent="0" marL="0">
              <a:buNone/>
            </a:pPr>
            <a:r>
              <a:rPr lang="ar-SA" altLang="en-US" sz="1350" dirty="0">
                <a:solidFill>
                  <a:srgbClr val="8A6D1E"/>
                </a:solidFill>
                <a:latin typeface="Amiri" pitchFamily="34" charset="0"/>
                <a:ea typeface="Amiri" pitchFamily="34" charset="-122"/>
                <a:cs typeface="Amiri" pitchFamily="34" charset="-120"/>
              </a:rPr>
              <a:t>تَقْرَأُ</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means “daily”?</a:t>
            </a:r>
            <a:endParaRPr lang="en-US" sz="1250" dirty="0"/>
          </a:p>
        </p:txBody>
      </p:sp>
      <p:sp>
        <p:nvSpPr>
          <p:cNvPr id="34" name="Shape 31"/>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6368796"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يَوْمِيًّا</a:t>
            </a:r>
            <a:endParaRPr lang="ar-SA" sz="1700" dirty="0"/>
          </a:p>
        </p:txBody>
      </p:sp>
      <p:sp>
        <p:nvSpPr>
          <p:cNvPr id="38" name="Shape 35"/>
          <p:cNvSpPr/>
          <p:nvPr/>
        </p:nvSpPr>
        <p:spPr>
          <a:xfrm>
            <a:off x="6368796"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أُسْبُوعِيًّا</a:t>
            </a:r>
            <a:endParaRPr lang="ar-SA" sz="1700" dirty="0"/>
          </a:p>
        </p:txBody>
      </p:sp>
      <p:sp>
        <p:nvSpPr>
          <p:cNvPr id="41" name="Shape 38"/>
          <p:cNvSpPr/>
          <p:nvPr/>
        </p:nvSpPr>
        <p:spPr>
          <a:xfrm>
            <a:off x="6368796"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شَهْرِيًّا</a:t>
            </a:r>
            <a:endParaRPr lang="ar-SA" sz="1700" dirty="0"/>
          </a:p>
        </p:txBody>
      </p:sp>
      <p:sp>
        <p:nvSpPr>
          <p:cNvPr id="44" name="Text 41"/>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يَوْمِيًّا</a:t>
            </a:r>
            <a:pPr algn="l" indent="0" marL="0">
              <a:buNone/>
            </a:pPr>
            <a:r>
              <a:rPr lang="en-US" sz="1050" i="1" dirty="0">
                <a:solidFill>
                  <a:srgbClr val="8A6D1E"/>
                </a:solidFill>
                <a:latin typeface="Calibri" pitchFamily="34" charset="0"/>
                <a:ea typeface="Calibri" pitchFamily="34" charset="-122"/>
                <a:cs typeface="Calibri" pitchFamily="34" charset="-120"/>
              </a:rPr>
              <a:t> = daily.</a:t>
            </a:r>
            <a:endParaRPr lang="en-US" sz="1050" dirty="0"/>
          </a:p>
        </p:txBody>
      </p:sp>
      <p:sp>
        <p:nvSpPr>
          <p:cNvPr id="45" name="Shape 42"/>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85216" y="4288536"/>
            <a:ext cx="310896" cy="310896"/>
          </a:xfrm>
          <a:prstGeom prst="ellipse">
            <a:avLst/>
          </a:prstGeom>
          <a:solidFill>
            <a:srgbClr val="1B3B6F"/>
          </a:solidFill>
          <a:ln w="12700">
            <a:solidFill>
              <a:srgbClr val="1B3B6F"/>
            </a:solidFill>
            <a:prstDash val="solid"/>
          </a:ln>
        </p:spPr>
      </p:sp>
      <p:sp>
        <p:nvSpPr>
          <p:cNvPr id="47" name="Text 4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“never”.</a:t>
            </a:r>
            <a:endParaRPr lang="en-US" sz="1250" dirty="0"/>
          </a:p>
        </p:txBody>
      </p:sp>
      <p:sp>
        <p:nvSpPr>
          <p:cNvPr id="49" name="Shape 46"/>
          <p:cNvSpPr/>
          <p:nvPr/>
        </p:nvSpPr>
        <p:spPr>
          <a:xfrm>
            <a:off x="640080" y="4831080"/>
            <a:ext cx="256032" cy="256032"/>
          </a:xfrm>
          <a:prstGeom prst="ellipse">
            <a:avLst/>
          </a:prstGeom>
          <a:solidFill>
            <a:srgbClr val="C9CED6"/>
          </a:solidFill>
          <a:ln w="12700">
            <a:solidFill>
              <a:srgbClr val="C9CED6"/>
            </a:solidFill>
            <a:prstDash val="solid"/>
          </a:ln>
        </p:spPr>
      </p:sp>
      <p:sp>
        <p:nvSpPr>
          <p:cNvPr id="50" name="Text 47"/>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كَثِيرًا مَا</a:t>
            </a:r>
            <a:endParaRPr lang="ar-SA" sz="1700" dirty="0"/>
          </a:p>
        </p:txBody>
      </p:sp>
      <p:sp>
        <p:nvSpPr>
          <p:cNvPr id="52" name="Shape 49"/>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3" name="Shape 50"/>
          <p:cNvSpPr/>
          <p:nvPr/>
        </p:nvSpPr>
        <p:spPr>
          <a:xfrm>
            <a:off x="640080" y="5202936"/>
            <a:ext cx="256032" cy="256032"/>
          </a:xfrm>
          <a:prstGeom prst="ellipse">
            <a:avLst/>
          </a:prstGeom>
          <a:solidFill>
            <a:srgbClr val="2E8B57"/>
          </a:solidFill>
          <a:ln w="12700">
            <a:solidFill>
              <a:srgbClr val="2E8B57"/>
            </a:solidFill>
            <a:prstDash val="solid"/>
          </a:ln>
        </p:spPr>
      </p:sp>
      <p:sp>
        <p:nvSpPr>
          <p:cNvPr id="54" name="Text 51"/>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لَا ... أَبَدًا</a:t>
            </a:r>
            <a:endParaRPr lang="ar-SA" sz="1700" dirty="0"/>
          </a:p>
        </p:txBody>
      </p:sp>
      <p:sp>
        <p:nvSpPr>
          <p:cNvPr id="56" name="Shape 53"/>
          <p:cNvSpPr/>
          <p:nvPr/>
        </p:nvSpPr>
        <p:spPr>
          <a:xfrm>
            <a:off x="640080" y="5574792"/>
            <a:ext cx="256032" cy="256032"/>
          </a:xfrm>
          <a:prstGeom prst="ellipse">
            <a:avLst/>
          </a:prstGeom>
          <a:solidFill>
            <a:srgbClr val="C9CED6"/>
          </a:solidFill>
          <a:ln w="12700">
            <a:solidFill>
              <a:srgbClr val="C9CED6"/>
            </a:solidFill>
            <a:prstDash val="solid"/>
          </a:ln>
        </p:spPr>
      </p:sp>
      <p:sp>
        <p:nvSpPr>
          <p:cNvPr id="57" name="Text 54"/>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مِنْ حِينٍ إِلَى آخَرَ</a:t>
            </a:r>
            <a:endParaRPr lang="ar-SA" sz="1700" dirty="0"/>
          </a:p>
        </p:txBody>
      </p:sp>
      <p:sp>
        <p:nvSpPr>
          <p:cNvPr id="59" name="Text 56"/>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لَا</a:t>
            </a:r>
            <a:pPr algn="l" indent="0" marL="0">
              <a:buNone/>
            </a:pPr>
            <a:r>
              <a:rPr lang="en-US" sz="1050" i="1" dirty="0">
                <a:solidFill>
                  <a:srgbClr val="8A6D1E"/>
                </a:solidFill>
                <a:latin typeface="Calibri" pitchFamily="34" charset="0"/>
                <a:ea typeface="Calibri" pitchFamily="34" charset="-122"/>
                <a:cs typeface="Calibri" pitchFamily="34" charset="-120"/>
              </a:rPr>
              <a:t> ... </a:t>
            </a:r>
            <a:pPr algn="l" indent="0" marL="0">
              <a:buNone/>
            </a:pPr>
            <a:r>
              <a:rPr lang="ar-SA" altLang="en-US" sz="1350" dirty="0">
                <a:solidFill>
                  <a:srgbClr val="8A6D1E"/>
                </a:solidFill>
                <a:latin typeface="Amiri" pitchFamily="34" charset="0"/>
                <a:ea typeface="Amiri" pitchFamily="34" charset="-122"/>
                <a:cs typeface="Amiri" pitchFamily="34" charset="-120"/>
              </a:rPr>
              <a:t>أَبَدًا</a:t>
            </a:r>
            <a:pPr algn="l" indent="0" marL="0">
              <a:buNone/>
            </a:pPr>
            <a:r>
              <a:rPr lang="en-US" sz="1050" i="1" dirty="0">
                <a:solidFill>
                  <a:srgbClr val="8A6D1E"/>
                </a:solidFill>
                <a:latin typeface="Calibri" pitchFamily="34" charset="0"/>
                <a:ea typeface="Calibri" pitchFamily="34" charset="-122"/>
                <a:cs typeface="Calibri" pitchFamily="34" charset="-120"/>
              </a:rPr>
              <a:t> expresses never.</a:t>
            </a:r>
            <a:endParaRPr lang="en-US" sz="1050" dirty="0"/>
          </a:p>
        </p:txBody>
      </p:sp>
      <p:sp>
        <p:nvSpPr>
          <p:cNvPr id="60" name="Shape 57"/>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6313932"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6679692"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 the comparison:</a:t>
            </a:r>
            <a:endParaRPr lang="en-US" sz="1200" dirty="0"/>
          </a:p>
        </p:txBody>
      </p:sp>
      <p:sp>
        <p:nvSpPr>
          <p:cNvPr id="64" name="Text 61"/>
          <p:cNvSpPr txBox="1"/>
          <p:nvPr/>
        </p:nvSpPr>
        <p:spPr>
          <a:xfrm>
            <a:off x="9052011" y="4224528"/>
            <a:ext cx="2570013" cy="475488"/>
          </a:xfrm>
          <a:prstGeom prst="rect">
            <a:avLst/>
          </a:prstGeom>
          <a:noFill/>
          <a:ln/>
        </p:spPr>
        <p:txBody>
          <a:bodyPr wrap="square" lIns="0" tIns="0" rIns="0" bIns="0" rtlCol="0" anchor="ctr"/>
          <a:lstStyle/>
          <a:p>
            <a:pPr rtl="1" algn="r" indent="0" marL="0">
              <a:buNone/>
            </a:pPr>
            <a:r>
              <a:rPr lang="ar-SA" altLang="en-US" sz="1450" b="1" dirty="0">
                <a:solidFill>
                  <a:srgbClr val="1F2A37"/>
                </a:solidFill>
                <a:latin typeface="Amiri" pitchFamily="34" charset="0"/>
                <a:ea typeface="Amiri" pitchFamily="34" charset="-122"/>
                <a:cs typeface="Amiri" pitchFamily="34" charset="-120"/>
              </a:rPr>
              <a:t>الثُّلَاثَاءُ أَكْثَرُ اِنْشِغَالًا ___ الاِثْنَيْنِ.</a:t>
            </a:r>
            <a:endParaRPr lang="ar-SA" sz="1450" dirty="0"/>
          </a:p>
        </p:txBody>
      </p:sp>
      <p:sp>
        <p:nvSpPr>
          <p:cNvPr id="65" name="Shape 62"/>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6" name="Shape 63"/>
          <p:cNvSpPr/>
          <p:nvPr/>
        </p:nvSpPr>
        <p:spPr>
          <a:xfrm>
            <a:off x="6368796" y="4831080"/>
            <a:ext cx="256032" cy="256032"/>
          </a:xfrm>
          <a:prstGeom prst="ellipse">
            <a:avLst/>
          </a:prstGeom>
          <a:solidFill>
            <a:srgbClr val="2E8B57"/>
          </a:solidFill>
          <a:ln w="12700">
            <a:solidFill>
              <a:srgbClr val="2E8B57"/>
            </a:solidFill>
            <a:prstDash val="solid"/>
          </a:ln>
        </p:spPr>
      </p:sp>
      <p:sp>
        <p:nvSpPr>
          <p:cNvPr id="67" name="Text 64"/>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68" name="Text 65"/>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مِنْ</a:t>
            </a:r>
            <a:endParaRPr lang="ar-SA" sz="1700" dirty="0"/>
          </a:p>
        </p:txBody>
      </p:sp>
      <p:sp>
        <p:nvSpPr>
          <p:cNvPr id="69" name="Shape 66"/>
          <p:cNvSpPr/>
          <p:nvPr/>
        </p:nvSpPr>
        <p:spPr>
          <a:xfrm>
            <a:off x="6368796" y="5202936"/>
            <a:ext cx="256032" cy="256032"/>
          </a:xfrm>
          <a:prstGeom prst="ellipse">
            <a:avLst/>
          </a:prstGeom>
          <a:solidFill>
            <a:srgbClr val="C9CED6"/>
          </a:solidFill>
          <a:ln w="12700">
            <a:solidFill>
              <a:srgbClr val="C9CED6"/>
            </a:solidFill>
            <a:prstDash val="solid"/>
          </a:ln>
        </p:spPr>
      </p:sp>
      <p:sp>
        <p:nvSpPr>
          <p:cNvPr id="70" name="Text 67"/>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1" name="Text 68"/>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فِي</a:t>
            </a:r>
            <a:endParaRPr lang="ar-SA" sz="1700" dirty="0"/>
          </a:p>
        </p:txBody>
      </p:sp>
      <p:sp>
        <p:nvSpPr>
          <p:cNvPr id="72" name="Shape 69"/>
          <p:cNvSpPr/>
          <p:nvPr/>
        </p:nvSpPr>
        <p:spPr>
          <a:xfrm>
            <a:off x="6368796" y="5574792"/>
            <a:ext cx="256032" cy="256032"/>
          </a:xfrm>
          <a:prstGeom prst="ellipse">
            <a:avLst/>
          </a:prstGeom>
          <a:solidFill>
            <a:srgbClr val="C9CED6"/>
          </a:solidFill>
          <a:ln w="12700">
            <a:solidFill>
              <a:srgbClr val="C9CED6"/>
            </a:solidFill>
            <a:prstDash val="solid"/>
          </a:ln>
        </p:spPr>
      </p:sp>
      <p:sp>
        <p:nvSpPr>
          <p:cNvPr id="73" name="Text 70"/>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4" name="Text 71"/>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إِلَى</a:t>
            </a:r>
            <a:endParaRPr lang="ar-SA" sz="1700" dirty="0"/>
          </a:p>
        </p:txBody>
      </p:sp>
      <p:sp>
        <p:nvSpPr>
          <p:cNvPr id="75" name="Text 72"/>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Comparatives use </a:t>
            </a:r>
            <a:pPr algn="l" indent="0" marL="0">
              <a:buNone/>
            </a:pPr>
            <a:r>
              <a:rPr lang="ar-SA" altLang="en-US" sz="1350" dirty="0">
                <a:solidFill>
                  <a:srgbClr val="8A6D1E"/>
                </a:solidFill>
                <a:latin typeface="Amiri" pitchFamily="34" charset="0"/>
                <a:ea typeface="Amiri" pitchFamily="34" charset="-122"/>
                <a:cs typeface="Amiri" pitchFamily="34" charset="-120"/>
              </a:rPr>
              <a:t>مِنْ</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76" name="Text 7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18 / 46</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D1-L03 · How Often?</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ea typeface="Calibri" pitchFamily="34" charset="-122"/>
                <a:cs typeface="Calibri" pitchFamily="34" charset="-120"/>
              </a:rPr>
              <a:t>I DO · WATCH, THEN COPY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Watch me compare my week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D1-L03</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How often (me)</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rtl="1" algn="ctr" indent="0" marL="0">
              <a:buNone/>
            </a:pPr>
            <a:r>
              <a:rPr lang="ar-SA" altLang="en-US" sz="2700" b="1" dirty="0">
                <a:solidFill>
                  <a:srgbClr val="1B3B6F"/>
                </a:solidFill>
                <a:latin typeface="Amiri" pitchFamily="34" charset="0"/>
                <a:ea typeface="Amiri" pitchFamily="34" charset="-122"/>
                <a:cs typeface="Amiri" pitchFamily="34" charset="-120"/>
              </a:rPr>
              <a:t>أُرَاجِعُ دُرُوسِي </a:t>
            </a:r>
            <a:pPr rtl="1" algn="ctr" indent="0" marL="0">
              <a:buNone/>
            </a:pPr>
            <a:r>
              <a:rPr lang="ar-SA" altLang="en-US" sz="2700" b="1" dirty="0">
                <a:solidFill>
                  <a:srgbClr val="0E7C86"/>
                </a:solidFill>
                <a:latin typeface="Amiri" pitchFamily="34" charset="0"/>
                <a:ea typeface="Amiri" pitchFamily="34" charset="-122"/>
                <a:cs typeface="Amiri" pitchFamily="34" charset="-120"/>
              </a:rPr>
              <a:t>يَوْمِيًّا</a:t>
            </a:r>
            <a:pPr rtl="1" algn="ctr" indent="0" marL="0">
              <a:buNone/>
            </a:pPr>
            <a:r>
              <a:rPr lang="ar-SA" altLang="en-US" sz="2700" b="1" dirty="0">
                <a:solidFill>
                  <a:srgbClr val="1B3B6F"/>
                </a:solidFill>
                <a:latin typeface="Amiri" pitchFamily="34" charset="0"/>
                <a:ea typeface="Amiri" pitchFamily="34" charset="-122"/>
                <a:cs typeface="Amiri" pitchFamily="34" charset="-120"/>
              </a:rPr>
              <a:t>.</a:t>
            </a:r>
            <a:endParaRPr lang="ar-SA" sz="270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Frequency after the verb.</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Contrast (her)</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750" b="1" dirty="0">
                <a:solidFill>
                  <a:srgbClr val="1B3B6F"/>
                </a:solidFill>
                <a:latin typeface="Amiri" pitchFamily="34" charset="0"/>
                <a:ea typeface="Amiri" pitchFamily="34" charset="-122"/>
                <a:cs typeface="Amiri" pitchFamily="34" charset="-120"/>
              </a:rPr>
              <a:t>أَتَمَرَّنُ مَرَّتَيْنِ، </a:t>
            </a:r>
            <a:pPr rtl="1" algn="ctr" indent="0" marL="0">
              <a:lnSpc>
                <a:spcPct val="120000"/>
              </a:lnSpc>
              <a:buNone/>
            </a:pPr>
            <a:r>
              <a:rPr lang="ar-SA" altLang="en-US" sz="1750" b="1" dirty="0">
                <a:solidFill>
                  <a:srgbClr val="0E7C86"/>
                </a:solidFill>
                <a:latin typeface="Amiri" pitchFamily="34" charset="0"/>
                <a:ea typeface="Amiri" pitchFamily="34" charset="-122"/>
                <a:cs typeface="Amiri" pitchFamily="34" charset="-120"/>
              </a:rPr>
              <a:t>بَيْنَمَا</a:t>
            </a:r>
            <a:pPr rtl="1" algn="ctr" indent="0" marL="0">
              <a:lnSpc>
                <a:spcPct val="120000"/>
              </a:lnSpc>
              <a:buNone/>
            </a:pPr>
            <a:r>
              <a:rPr lang="ar-SA" altLang="en-US" sz="1750" b="1" dirty="0">
                <a:solidFill>
                  <a:srgbClr val="1B3B6F"/>
                </a:solidFill>
                <a:latin typeface="Amiri" pitchFamily="34" charset="0"/>
                <a:ea typeface="Amiri" pitchFamily="34" charset="-122"/>
                <a:cs typeface="Amiri" pitchFamily="34" charset="-120"/>
              </a:rPr>
              <a:t> </a:t>
            </a:r>
            <a:pPr rtl="1" algn="ctr" indent="0" marL="0">
              <a:lnSpc>
                <a:spcPct val="120000"/>
              </a:lnSpc>
              <a:buNone/>
            </a:pPr>
            <a:r>
              <a:rPr lang="ar-SA" altLang="en-US" sz="1750" b="1" dirty="0">
                <a:solidFill>
                  <a:srgbClr val="D6336C"/>
                </a:solidFill>
                <a:latin typeface="Amiri" pitchFamily="34" charset="0"/>
                <a:ea typeface="Amiri" pitchFamily="34" charset="-122"/>
                <a:cs typeface="Amiri" pitchFamily="34" charset="-120"/>
              </a:rPr>
              <a:t>تَ</a:t>
            </a:r>
            <a:pPr rtl="1" algn="ctr" indent="0" marL="0">
              <a:lnSpc>
                <a:spcPct val="120000"/>
              </a:lnSpc>
              <a:buNone/>
            </a:pPr>
            <a:r>
              <a:rPr lang="ar-SA" altLang="en-US" sz="1750" b="1" dirty="0">
                <a:solidFill>
                  <a:srgbClr val="1B3B6F"/>
                </a:solidFill>
                <a:latin typeface="Amiri" pitchFamily="34" charset="0"/>
                <a:ea typeface="Amiri" pitchFamily="34" charset="-122"/>
                <a:cs typeface="Amiri" pitchFamily="34" charset="-120"/>
              </a:rPr>
              <a:t>تَمَرَّنُ أُخْتِي يَوْمِيًّا.</a:t>
            </a:r>
            <a:endParaRPr lang="ar-SA" sz="175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Second clause: </a:t>
            </a:r>
            <a:pPr algn="l" indent="0" marL="0">
              <a:buNone/>
            </a:pPr>
            <a:r>
              <a:rPr lang="ar-SA" altLang="en-US" sz="1500" dirty="0">
                <a:solidFill>
                  <a:srgbClr val="1F2A37"/>
                </a:solidFill>
                <a:latin typeface="Amiri" pitchFamily="34" charset="0"/>
                <a:ea typeface="Amiri" pitchFamily="34" charset="-122"/>
                <a:cs typeface="Amiri" pitchFamily="34" charset="-120"/>
              </a:rPr>
              <a:t>أُخْتِي</a:t>
            </a:r>
            <a:pPr algn="l" indent="0" marL="0">
              <a:buNone/>
            </a:pPr>
            <a:r>
              <a:rPr lang="en-US" sz="1150" dirty="0">
                <a:solidFill>
                  <a:srgbClr val="1F2A37"/>
                </a:solidFill>
                <a:latin typeface="Calibri" pitchFamily="34" charset="0"/>
                <a:ea typeface="Calibri" pitchFamily="34" charset="-122"/>
                <a:cs typeface="Calibri" pitchFamily="34" charset="-120"/>
              </a:rPr>
              <a:t> → </a:t>
            </a:r>
            <a:pPr algn="l" indent="0" marL="0">
              <a:buNone/>
            </a:pPr>
            <a:r>
              <a:rPr lang="ar-SA" altLang="en-US" sz="1500" dirty="0">
                <a:solidFill>
                  <a:srgbClr val="1F2A37"/>
                </a:solidFill>
                <a:latin typeface="Amiri" pitchFamily="34" charset="0"/>
                <a:ea typeface="Amiri" pitchFamily="34" charset="-122"/>
                <a:cs typeface="Amiri" pitchFamily="34" charset="-120"/>
              </a:rPr>
              <a:t>تَـ</a:t>
            </a:r>
            <a:pPr algn="l" indent="0" marL="0">
              <a:buNone/>
            </a:pPr>
            <a:r>
              <a:rPr lang="en-US" sz="1150" dirty="0">
                <a:solidFill>
                  <a:srgbClr val="1F2A37"/>
                </a:solidFill>
                <a:latin typeface="Calibri" pitchFamily="34" charset="0"/>
                <a:ea typeface="Calibri" pitchFamily="34" charset="-122"/>
                <a:cs typeface="Calibri" pitchFamily="34" charset="-120"/>
              </a:rPr>
              <a:t>.</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Compare days</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750" b="1" dirty="0">
                <a:solidFill>
                  <a:srgbClr val="1B3B6F"/>
                </a:solidFill>
                <a:latin typeface="Amiri" pitchFamily="34" charset="0"/>
                <a:ea typeface="Amiri" pitchFamily="34" charset="-122"/>
                <a:cs typeface="Amiri" pitchFamily="34" charset="-120"/>
              </a:rPr>
              <a:t>الاِثْنَيْنُ </a:t>
            </a:r>
            <a:pPr rtl="1" algn="ctr" indent="0" marL="0">
              <a:lnSpc>
                <a:spcPct val="120000"/>
              </a:lnSpc>
              <a:buNone/>
            </a:pPr>
            <a:r>
              <a:rPr lang="ar-SA" altLang="en-US" sz="1750" b="1" dirty="0">
                <a:solidFill>
                  <a:srgbClr val="1D5FBF"/>
                </a:solidFill>
                <a:latin typeface="Amiri" pitchFamily="34" charset="0"/>
                <a:ea typeface="Amiri" pitchFamily="34" charset="-122"/>
                <a:cs typeface="Amiri" pitchFamily="34" charset="-120"/>
              </a:rPr>
              <a:t>أَكْثَرُ</a:t>
            </a:r>
            <a:pPr rtl="1" algn="ctr" indent="0" marL="0">
              <a:lnSpc>
                <a:spcPct val="120000"/>
              </a:lnSpc>
              <a:buNone/>
            </a:pPr>
            <a:r>
              <a:rPr lang="ar-SA" altLang="en-US" sz="1750" b="1" dirty="0">
                <a:solidFill>
                  <a:srgbClr val="1B3B6F"/>
                </a:solidFill>
                <a:latin typeface="Amiri" pitchFamily="34" charset="0"/>
                <a:ea typeface="Amiri" pitchFamily="34" charset="-122"/>
                <a:cs typeface="Amiri" pitchFamily="34" charset="-120"/>
              </a:rPr>
              <a:t> اِنْشِغَالًا </a:t>
            </a:r>
            <a:pPr rtl="1" algn="ctr" indent="0" marL="0">
              <a:lnSpc>
                <a:spcPct val="120000"/>
              </a:lnSpc>
              <a:buNone/>
            </a:pPr>
            <a:r>
              <a:rPr lang="ar-SA" altLang="en-US" sz="1750" b="1" dirty="0">
                <a:solidFill>
                  <a:srgbClr val="1D5FBF"/>
                </a:solidFill>
                <a:latin typeface="Amiri" pitchFamily="34" charset="0"/>
                <a:ea typeface="Amiri" pitchFamily="34" charset="-122"/>
                <a:cs typeface="Amiri" pitchFamily="34" charset="-120"/>
              </a:rPr>
              <a:t>مِنَ</a:t>
            </a:r>
            <a:pPr rtl="1" algn="ctr" indent="0" marL="0">
              <a:lnSpc>
                <a:spcPct val="120000"/>
              </a:lnSpc>
              <a:buNone/>
            </a:pPr>
            <a:r>
              <a:rPr lang="ar-SA" altLang="en-US" sz="1750" b="1" dirty="0">
                <a:solidFill>
                  <a:srgbClr val="1B3B6F"/>
                </a:solidFill>
                <a:latin typeface="Amiri" pitchFamily="34" charset="0"/>
                <a:ea typeface="Amiri" pitchFamily="34" charset="-122"/>
                <a:cs typeface="Amiri" pitchFamily="34" charset="-120"/>
              </a:rPr>
              <a:t> السَّبْتِ.</a:t>
            </a:r>
            <a:endParaRPr lang="ar-SA" sz="175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busier + </a:t>
            </a:r>
            <a:pPr algn="l" indent="0" marL="0">
              <a:buNone/>
            </a:pPr>
            <a:r>
              <a:rPr lang="ar-SA" altLang="en-US" sz="1500" dirty="0">
                <a:solidFill>
                  <a:srgbClr val="1F2A37"/>
                </a:solidFill>
                <a:latin typeface="Amiri" pitchFamily="34" charset="0"/>
                <a:ea typeface="Amiri" pitchFamily="34" charset="-122"/>
                <a:cs typeface="Amiri" pitchFamily="34" charset="-120"/>
              </a:rPr>
              <a:t>مِنْ</a:t>
            </a:r>
            <a:pPr algn="l" indent="0" marL="0">
              <a:buNone/>
            </a:pPr>
            <a:r>
              <a:rPr lang="en-US" sz="1150" dirty="0">
                <a:solidFill>
                  <a:srgbClr val="1F2A37"/>
                </a:solidFill>
                <a:latin typeface="Calibri" pitchFamily="34" charset="0"/>
                <a:ea typeface="Calibri" pitchFamily="34" charset="-122"/>
                <a:cs typeface="Calibri" pitchFamily="34" charset="-120"/>
              </a:rPr>
              <a:t>.</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Never</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2000" b="1" dirty="0">
                <a:solidFill>
                  <a:srgbClr val="0E7C86"/>
                </a:solidFill>
                <a:latin typeface="Amiri" pitchFamily="34" charset="0"/>
                <a:ea typeface="Amiri" pitchFamily="34" charset="-122"/>
                <a:cs typeface="Amiri" pitchFamily="34" charset="-120"/>
              </a:rPr>
              <a:t>لَا</a:t>
            </a:r>
            <a:pPr rtl="1" algn="ctr" indent="0" marL="0">
              <a:lnSpc>
                <a:spcPct val="120000"/>
              </a:lnSpc>
              <a:buNone/>
            </a:pPr>
            <a:r>
              <a:rPr lang="ar-SA" altLang="en-US" sz="2000" b="1" dirty="0">
                <a:solidFill>
                  <a:srgbClr val="1B3B6F"/>
                </a:solidFill>
                <a:latin typeface="Amiri" pitchFamily="34" charset="0"/>
                <a:ea typeface="Amiri" pitchFamily="34" charset="-122"/>
                <a:cs typeface="Amiri" pitchFamily="34" charset="-120"/>
              </a:rPr>
              <a:t> أَتَأَخَّرُ </a:t>
            </a:r>
            <a:pPr rtl="1" algn="ctr" indent="0" marL="0">
              <a:lnSpc>
                <a:spcPct val="120000"/>
              </a:lnSpc>
              <a:buNone/>
            </a:pPr>
            <a:r>
              <a:rPr lang="ar-SA" altLang="en-US" sz="2000" b="1" dirty="0">
                <a:solidFill>
                  <a:srgbClr val="0E7C86"/>
                </a:solidFill>
                <a:latin typeface="Amiri" pitchFamily="34" charset="0"/>
                <a:ea typeface="Amiri" pitchFamily="34" charset="-122"/>
                <a:cs typeface="Amiri" pitchFamily="34" charset="-120"/>
              </a:rPr>
              <a:t>أَبَدًا</a:t>
            </a:r>
            <a:pPr rtl="1" algn="ctr" indent="0" marL="0">
              <a:lnSpc>
                <a:spcPct val="120000"/>
              </a:lnSpc>
              <a:buNone/>
            </a:pPr>
            <a:r>
              <a:rPr lang="ar-SA" altLang="en-US" sz="2000" b="1" dirty="0">
                <a:solidFill>
                  <a:srgbClr val="1B3B6F"/>
                </a:solidFill>
                <a:latin typeface="Amiri" pitchFamily="34" charset="0"/>
                <a:ea typeface="Amiri" pitchFamily="34" charset="-122"/>
                <a:cs typeface="Amiri" pitchFamily="34" charset="-120"/>
              </a:rPr>
              <a:t> عَنِ المَوْعِدِ.</a:t>
            </a:r>
            <a:endParaRPr lang="ar-SA" sz="200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ar-SA" altLang="en-US" sz="1500" dirty="0">
                <a:solidFill>
                  <a:srgbClr val="1F2A37"/>
                </a:solidFill>
                <a:latin typeface="Amiri" pitchFamily="34" charset="0"/>
                <a:ea typeface="Amiri" pitchFamily="34" charset="-122"/>
                <a:cs typeface="Amiri" pitchFamily="34" charset="-120"/>
              </a:rPr>
              <a:t>لَا</a:t>
            </a:r>
            <a:pPr algn="l" indent="0" marL="0">
              <a:buNone/>
            </a:pPr>
            <a:r>
              <a:rPr lang="en-US" sz="1150" dirty="0">
                <a:solidFill>
                  <a:srgbClr val="1F2A37"/>
                </a:solidFill>
                <a:latin typeface="Calibri" pitchFamily="34" charset="0"/>
                <a:ea typeface="Calibri" pitchFamily="34" charset="-122"/>
                <a:cs typeface="Calibri" pitchFamily="34" charset="-120"/>
              </a:rPr>
              <a:t> before the verb, </a:t>
            </a:r>
            <a:pPr algn="l" indent="0" marL="0">
              <a:buNone/>
            </a:pPr>
            <a:r>
              <a:rPr lang="ar-SA" altLang="en-US" sz="1500" dirty="0">
                <a:solidFill>
                  <a:srgbClr val="1F2A37"/>
                </a:solidFill>
                <a:latin typeface="Amiri" pitchFamily="34" charset="0"/>
                <a:ea typeface="Amiri" pitchFamily="34" charset="-122"/>
                <a:cs typeface="Amiri" pitchFamily="34" charset="-120"/>
              </a:rPr>
              <a:t>أَبَدًا</a:t>
            </a:r>
            <a:pPr algn="l" indent="0" marL="0">
              <a:buNone/>
            </a:pPr>
            <a:r>
              <a:rPr lang="en-US" sz="1150" dirty="0">
                <a:solidFill>
                  <a:srgbClr val="1F2A37"/>
                </a:solidFill>
                <a:latin typeface="Calibri" pitchFamily="34" charset="0"/>
                <a:ea typeface="Calibri" pitchFamily="34" charset="-122"/>
                <a:cs typeface="Calibri" pitchFamily="34" charset="-120"/>
              </a:rPr>
              <a:t> after.</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ea typeface="Calibri" pitchFamily="34" charset="-122"/>
                <a:cs typeface="Calibri" pitchFamily="34" charset="-120"/>
              </a:rPr>
              <a:t>COPY THIS INTO YOUR BOOK</a:t>
            </a:r>
            <a:endParaRPr lang="en-US" sz="1200" dirty="0"/>
          </a:p>
        </p:txBody>
      </p:sp>
      <p:sp>
        <p:nvSpPr>
          <p:cNvPr id="45" name="Shape 41"/>
          <p:cNvSpPr/>
          <p:nvPr/>
        </p:nvSpPr>
        <p:spPr>
          <a:xfrm>
            <a:off x="8540496" y="4736592"/>
            <a:ext cx="914400" cy="237744"/>
          </a:xfrm>
          <a:prstGeom prst="roundRect">
            <a:avLst>
              <a:gd name="adj" fmla="val 50000"/>
            </a:avLst>
          </a:prstGeom>
          <a:solidFill>
            <a:srgbClr val="0E7C86"/>
          </a:solidFill>
          <a:ln w="12700">
            <a:solidFill>
              <a:srgbClr val="0E7C86"/>
            </a:solidFill>
            <a:prstDash val="solid"/>
          </a:ln>
        </p:spPr>
      </p:sp>
      <p:sp>
        <p:nvSpPr>
          <p:cNvPr id="46" name="Text 42"/>
          <p:cNvSpPr txBox="1"/>
          <p:nvPr/>
        </p:nvSpPr>
        <p:spPr>
          <a:xfrm>
            <a:off x="8540496"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FREQUENCY / CONTRAST</a:t>
            </a:r>
            <a:endParaRPr lang="en-US" sz="800" dirty="0"/>
          </a:p>
        </p:txBody>
      </p:sp>
      <p:sp>
        <p:nvSpPr>
          <p:cNvPr id="47" name="Shape 43"/>
          <p:cNvSpPr/>
          <p:nvPr/>
        </p:nvSpPr>
        <p:spPr>
          <a:xfrm>
            <a:off x="9528048" y="4736592"/>
            <a:ext cx="914400" cy="237744"/>
          </a:xfrm>
          <a:prstGeom prst="roundRect">
            <a:avLst>
              <a:gd name="adj" fmla="val 50000"/>
            </a:avLst>
          </a:prstGeom>
          <a:solidFill>
            <a:srgbClr val="D6336C"/>
          </a:solidFill>
          <a:ln w="12700">
            <a:solidFill>
              <a:srgbClr val="D6336C"/>
            </a:solidFill>
            <a:prstDash val="solid"/>
          </a:ln>
        </p:spPr>
      </p:sp>
      <p:sp>
        <p:nvSpPr>
          <p:cNvPr id="48" name="Text 44"/>
          <p:cNvSpPr txBox="1"/>
          <p:nvPr/>
        </p:nvSpPr>
        <p:spPr>
          <a:xfrm>
            <a:off x="9528048"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SHE</a:t>
            </a:r>
            <a:endParaRPr lang="en-US" sz="800" dirty="0"/>
          </a:p>
        </p:txBody>
      </p:sp>
      <p:sp>
        <p:nvSpPr>
          <p:cNvPr id="49" name="Shape 45"/>
          <p:cNvSpPr/>
          <p:nvPr/>
        </p:nvSpPr>
        <p:spPr>
          <a:xfrm>
            <a:off x="10515600" y="4736592"/>
            <a:ext cx="914400" cy="237744"/>
          </a:xfrm>
          <a:prstGeom prst="roundRect">
            <a:avLst>
              <a:gd name="adj" fmla="val 50000"/>
            </a:avLst>
          </a:prstGeom>
          <a:solidFill>
            <a:srgbClr val="1D5FBF"/>
          </a:solidFill>
          <a:ln w="12700">
            <a:solidFill>
              <a:srgbClr val="1D5FBF"/>
            </a:solidFill>
            <a:prstDash val="solid"/>
          </a:ln>
        </p:spPr>
      </p:sp>
      <p:sp>
        <p:nvSpPr>
          <p:cNvPr id="50" name="Text 46"/>
          <p:cNvSpPr txBox="1"/>
          <p:nvPr/>
        </p:nvSpPr>
        <p:spPr>
          <a:xfrm>
            <a:off x="10515600"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COMPARE</a:t>
            </a:r>
            <a:endParaRPr lang="en-US" sz="800" dirty="0"/>
          </a:p>
        </p:txBody>
      </p:sp>
      <p:sp>
        <p:nvSpPr>
          <p:cNvPr id="51" name="Text 47"/>
          <p:cNvSpPr txBox="1"/>
          <p:nvPr/>
        </p:nvSpPr>
        <p:spPr>
          <a:xfrm>
            <a:off x="685800" y="5029200"/>
            <a:ext cx="10817352" cy="731520"/>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34" charset="0"/>
                <a:ea typeface="Amiri" pitchFamily="34" charset="-122"/>
                <a:cs typeface="Amiri" pitchFamily="34" charset="-120"/>
              </a:rPr>
              <a:t>أُرَاجِعُ دُرُوسِي </a:t>
            </a:r>
            <a:pPr rtl="1" algn="r" indent="0" marL="0">
              <a:buNone/>
            </a:pPr>
            <a:r>
              <a:rPr lang="ar-SA" altLang="en-US" sz="1700" b="1" dirty="0">
                <a:solidFill>
                  <a:srgbClr val="0E7C86"/>
                </a:solidFill>
                <a:latin typeface="Amiri" pitchFamily="34" charset="0"/>
                <a:ea typeface="Amiri" pitchFamily="34" charset="-122"/>
                <a:cs typeface="Amiri" pitchFamily="34" charset="-120"/>
              </a:rPr>
              <a:t>يَوْمِيًّا</a:t>
            </a:r>
            <a:pPr rtl="1" algn="r" indent="0" marL="0">
              <a:buNone/>
            </a:pPr>
            <a:r>
              <a:rPr lang="ar-SA" altLang="en-US" sz="1700" b="1" dirty="0">
                <a:solidFill>
                  <a:srgbClr val="1B3B6F"/>
                </a:solidFill>
                <a:latin typeface="Amiri" pitchFamily="34" charset="0"/>
                <a:ea typeface="Amiri" pitchFamily="34" charset="-122"/>
                <a:cs typeface="Amiri" pitchFamily="34" charset="-120"/>
              </a:rPr>
              <a:t>، وَأَتَمَرَّنُ مَرَّتَيْنِ فِي الأُسْبُوعِ، </a:t>
            </a:r>
            <a:pPr rtl="1" algn="r" indent="0" marL="0">
              <a:buNone/>
            </a:pPr>
            <a:r>
              <a:rPr lang="ar-SA" altLang="en-US" sz="1700" b="1" dirty="0">
                <a:solidFill>
                  <a:srgbClr val="0E7C86"/>
                </a:solidFill>
                <a:latin typeface="Amiri" pitchFamily="34" charset="0"/>
                <a:ea typeface="Amiri" pitchFamily="34" charset="-122"/>
                <a:cs typeface="Amiri" pitchFamily="34" charset="-120"/>
              </a:rPr>
              <a:t>بَيْنَمَا</a:t>
            </a:r>
            <a:pPr rtl="1" algn="r" indent="0" marL="0">
              <a:buNone/>
            </a:pPr>
            <a:r>
              <a:rPr lang="ar-SA" altLang="en-US" sz="1700" b="1" dirty="0">
                <a:solidFill>
                  <a:srgbClr val="1B3B6F"/>
                </a:solidFill>
                <a:latin typeface="Amiri" pitchFamily="34" charset="0"/>
                <a:ea typeface="Amiri" pitchFamily="34" charset="-122"/>
                <a:cs typeface="Amiri" pitchFamily="34" charset="-120"/>
              </a:rPr>
              <a:t> </a:t>
            </a:r>
            <a:pPr rtl="1" algn="r" indent="0" marL="0">
              <a:buNone/>
            </a:pPr>
            <a:r>
              <a:rPr lang="ar-SA" altLang="en-US" sz="1700" b="1" dirty="0">
                <a:solidFill>
                  <a:srgbClr val="D6336C"/>
                </a:solidFill>
                <a:latin typeface="Amiri" pitchFamily="34" charset="0"/>
                <a:ea typeface="Amiri" pitchFamily="34" charset="-122"/>
                <a:cs typeface="Amiri" pitchFamily="34" charset="-120"/>
              </a:rPr>
              <a:t>تَ</a:t>
            </a:r>
            <a:pPr rtl="1" algn="r" indent="0" marL="0">
              <a:buNone/>
            </a:pPr>
            <a:r>
              <a:rPr lang="ar-SA" altLang="en-US" sz="1700" b="1" dirty="0">
                <a:solidFill>
                  <a:srgbClr val="1B3B6F"/>
                </a:solidFill>
                <a:latin typeface="Amiri" pitchFamily="34" charset="0"/>
                <a:ea typeface="Amiri" pitchFamily="34" charset="-122"/>
                <a:cs typeface="Amiri" pitchFamily="34" charset="-120"/>
              </a:rPr>
              <a:t>تَمَرَّنُ أُخْتِي يَوْمِيًّا. الاِثْنَيْنُ </a:t>
            </a:r>
            <a:pPr rtl="1" algn="r" indent="0" marL="0">
              <a:buNone/>
            </a:pPr>
            <a:r>
              <a:rPr lang="ar-SA" altLang="en-US" sz="1700" b="1" dirty="0">
                <a:solidFill>
                  <a:srgbClr val="1D5FBF"/>
                </a:solidFill>
                <a:latin typeface="Amiri" pitchFamily="34" charset="0"/>
                <a:ea typeface="Amiri" pitchFamily="34" charset="-122"/>
                <a:cs typeface="Amiri" pitchFamily="34" charset="-120"/>
              </a:rPr>
              <a:t>أَكْثَرُ</a:t>
            </a:r>
            <a:pPr rtl="1" algn="r" indent="0" marL="0">
              <a:buNone/>
            </a:pPr>
            <a:r>
              <a:rPr lang="ar-SA" altLang="en-US" sz="1700" b="1" dirty="0">
                <a:solidFill>
                  <a:srgbClr val="1B3B6F"/>
                </a:solidFill>
                <a:latin typeface="Amiri" pitchFamily="34" charset="0"/>
                <a:ea typeface="Amiri" pitchFamily="34" charset="-122"/>
                <a:cs typeface="Amiri" pitchFamily="34" charset="-120"/>
              </a:rPr>
              <a:t> اِنْشِغَالًا </a:t>
            </a:r>
            <a:pPr rtl="1" algn="r" indent="0" marL="0">
              <a:buNone/>
            </a:pPr>
            <a:r>
              <a:rPr lang="ar-SA" altLang="en-US" sz="1700" b="1" dirty="0">
                <a:solidFill>
                  <a:srgbClr val="1D5FBF"/>
                </a:solidFill>
                <a:latin typeface="Amiri" pitchFamily="34" charset="0"/>
                <a:ea typeface="Amiri" pitchFamily="34" charset="-122"/>
                <a:cs typeface="Amiri" pitchFamily="34" charset="-120"/>
              </a:rPr>
              <a:t>مِنَ</a:t>
            </a:r>
            <a:pPr rtl="1" algn="r" indent="0" marL="0">
              <a:buNone/>
            </a:pPr>
            <a:r>
              <a:rPr lang="ar-SA" altLang="en-US" sz="1700" b="1" dirty="0">
                <a:solidFill>
                  <a:srgbClr val="1B3B6F"/>
                </a:solidFill>
                <a:latin typeface="Amiri" pitchFamily="34" charset="0"/>
                <a:ea typeface="Amiri" pitchFamily="34" charset="-122"/>
                <a:cs typeface="Amiri" pitchFamily="34" charset="-120"/>
              </a:rPr>
              <a:t> السَّبْتِ. </a:t>
            </a:r>
            <a:pPr rtl="1" algn="r" indent="0" marL="0">
              <a:buNone/>
            </a:pPr>
            <a:r>
              <a:rPr lang="ar-SA" altLang="en-US" sz="1700" b="1" dirty="0">
                <a:solidFill>
                  <a:srgbClr val="0E7C86"/>
                </a:solidFill>
                <a:latin typeface="Amiri" pitchFamily="34" charset="0"/>
                <a:ea typeface="Amiri" pitchFamily="34" charset="-122"/>
                <a:cs typeface="Amiri" pitchFamily="34" charset="-120"/>
              </a:rPr>
              <a:t>لَا</a:t>
            </a:r>
            <a:pPr rtl="1" algn="r" indent="0" marL="0">
              <a:buNone/>
            </a:pPr>
            <a:r>
              <a:rPr lang="ar-SA" altLang="en-US" sz="1700" b="1" dirty="0">
                <a:solidFill>
                  <a:srgbClr val="1B3B6F"/>
                </a:solidFill>
                <a:latin typeface="Amiri" pitchFamily="34" charset="0"/>
                <a:ea typeface="Amiri" pitchFamily="34" charset="-122"/>
                <a:cs typeface="Amiri" pitchFamily="34" charset="-120"/>
              </a:rPr>
              <a:t> أَتَأَخَّرُ </a:t>
            </a:r>
            <a:pPr rtl="1" algn="r" indent="0" marL="0">
              <a:buNone/>
            </a:pPr>
            <a:r>
              <a:rPr lang="ar-SA" altLang="en-US" sz="1700" b="1" dirty="0">
                <a:solidFill>
                  <a:srgbClr val="0E7C86"/>
                </a:solidFill>
                <a:latin typeface="Amiri" pitchFamily="34" charset="0"/>
                <a:ea typeface="Amiri" pitchFamily="34" charset="-122"/>
                <a:cs typeface="Amiri" pitchFamily="34" charset="-120"/>
              </a:rPr>
              <a:t>أَبَدًا</a:t>
            </a:r>
            <a:pPr rtl="1" algn="r" indent="0" marL="0">
              <a:buNone/>
            </a:pPr>
            <a:r>
              <a:rPr lang="ar-SA" altLang="en-US" sz="1700" b="1" dirty="0">
                <a:solidFill>
                  <a:srgbClr val="1B3B6F"/>
                </a:solidFill>
                <a:latin typeface="Amiri" pitchFamily="34" charset="0"/>
                <a:ea typeface="Amiri" pitchFamily="34" charset="-122"/>
                <a:cs typeface="Amiri" pitchFamily="34" charset="-120"/>
              </a:rPr>
              <a:t> عَنِ المَوْعِدِ.</a:t>
            </a:r>
            <a:endParaRPr lang="ar-SA" sz="1700" dirty="0"/>
          </a:p>
        </p:txBody>
      </p:sp>
      <p:sp>
        <p:nvSpPr>
          <p:cNvPr id="52" name="Text 48"/>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1150" i="1" dirty="0">
                <a:solidFill>
                  <a:srgbClr val="5A6472"/>
                </a:solidFill>
                <a:latin typeface="Calibri" pitchFamily="34" charset="0"/>
                <a:ea typeface="Calibri" pitchFamily="34" charset="-122"/>
                <a:cs typeface="Calibri" pitchFamily="34" charset="-120"/>
              </a:rPr>
              <a:t>I revise my lessons daily, and I train twice a week, whereas my sister trains every day. Monday is busier than Saturday. I am never late for an appointment.</a:t>
            </a:r>
            <a:endParaRPr lang="en-US" sz="1150" dirty="0"/>
          </a:p>
        </p:txBody>
      </p:sp>
      <p:sp>
        <p:nvSpPr>
          <p:cNvPr id="53" name="Text 4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19 / 46</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D1-L03 · How Often?</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ea typeface="Calibri" pitchFamily="34" charset="-122"/>
                <a:cs typeface="Calibri" pitchFamily="34" charset="-120"/>
              </a:rPr>
              <a:t>I DO · MODEL SENTENCES FROM THE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Sentences to borrow</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جُمَلٌ نَمُوذَجِيَّةٌ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D1-L03</a:t>
            </a:r>
            <a:endParaRPr lang="en-US" sz="850" dirty="0"/>
          </a:p>
        </p:txBody>
      </p:sp>
      <p:sp>
        <p:nvSpPr>
          <p:cNvPr id="15" name="Shape 12"/>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01400" y="2123694"/>
            <a:ext cx="402336" cy="402336"/>
          </a:xfrm>
          <a:prstGeom prst="ellipse">
            <a:avLst/>
          </a:prstGeom>
          <a:solidFill>
            <a:srgbClr val="1B3B6F"/>
          </a:solidFill>
          <a:ln w="12700">
            <a:solidFill>
              <a:srgbClr val="1B3B6F"/>
            </a:solidFill>
            <a:prstDash val="solid"/>
          </a:ln>
        </p:spPr>
      </p:sp>
      <p:sp>
        <p:nvSpPr>
          <p:cNvPr id="17" name="Text 14"/>
          <p:cNvSpPr txBox="1"/>
          <p:nvPr/>
        </p:nvSpPr>
        <p:spPr>
          <a:xfrm>
            <a:off x="11201400" y="212369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8" name="Text 15"/>
          <p:cNvSpPr txBox="1"/>
          <p:nvPr/>
        </p:nvSpPr>
        <p:spPr>
          <a:xfrm>
            <a:off x="4572000" y="1847088"/>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أَتَمَرَّنُ يَوْمَ الثُّلَاثَاءِ، بَيْنَمَا يَتَمَرَّنُ أَخِي يَوْمَ الخَمِيسِ.</a:t>
            </a:r>
            <a:endParaRPr lang="ar-SA" sz="2600" dirty="0"/>
          </a:p>
        </p:txBody>
      </p:sp>
      <p:sp>
        <p:nvSpPr>
          <p:cNvPr id="19" name="Text 16"/>
          <p:cNvSpPr txBox="1"/>
          <p:nvPr/>
        </p:nvSpPr>
        <p:spPr>
          <a:xfrm>
            <a:off x="685800" y="1856232"/>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I train Tuesday, whereas my brother trains Thursday.</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Two clauses, two agreements.</a:t>
            </a:r>
            <a:endParaRPr lang="en-US" sz="1250" dirty="0"/>
          </a:p>
        </p:txBody>
      </p:sp>
      <p:sp>
        <p:nvSpPr>
          <p:cNvPr id="20" name="Shape 17"/>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201400" y="3280410"/>
            <a:ext cx="402336" cy="402336"/>
          </a:xfrm>
          <a:prstGeom prst="ellipse">
            <a:avLst/>
          </a:prstGeom>
          <a:solidFill>
            <a:srgbClr val="1B3B6F"/>
          </a:solidFill>
          <a:ln w="12700">
            <a:solidFill>
              <a:srgbClr val="1B3B6F"/>
            </a:solidFill>
            <a:prstDash val="solid"/>
          </a:ln>
        </p:spPr>
      </p:sp>
      <p:sp>
        <p:nvSpPr>
          <p:cNvPr id="22" name="Text 19"/>
          <p:cNvSpPr txBox="1"/>
          <p:nvPr/>
        </p:nvSpPr>
        <p:spPr>
          <a:xfrm>
            <a:off x="11201400" y="328041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23" name="Text 20"/>
          <p:cNvSpPr txBox="1"/>
          <p:nvPr/>
        </p:nvSpPr>
        <p:spPr>
          <a:xfrm>
            <a:off x="4572000" y="3003804"/>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أَمَّا السَّبْتُ فَهُوَ يَوْمُ الرَّاحَةِ.</a:t>
            </a:r>
            <a:endParaRPr lang="ar-SA" sz="2600" dirty="0"/>
          </a:p>
        </p:txBody>
      </p:sp>
      <p:sp>
        <p:nvSpPr>
          <p:cNvPr id="24" name="Text 21"/>
          <p:cNvSpPr txBox="1"/>
          <p:nvPr/>
        </p:nvSpPr>
        <p:spPr>
          <a:xfrm>
            <a:off x="685800" y="3012948"/>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As for Saturday, it is a rest day.</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Topic + فَـ comment.</a:t>
            </a:r>
            <a:endParaRPr lang="en-US" sz="125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201400" y="4437126"/>
            <a:ext cx="402336" cy="402336"/>
          </a:xfrm>
          <a:prstGeom prst="ellipse">
            <a:avLst/>
          </a:prstGeom>
          <a:solidFill>
            <a:srgbClr val="1B3B6F"/>
          </a:solidFill>
          <a:ln w="12700">
            <a:solidFill>
              <a:srgbClr val="1B3B6F"/>
            </a:solidFill>
            <a:prstDash val="solid"/>
          </a:ln>
        </p:spPr>
      </p:sp>
      <p:sp>
        <p:nvSpPr>
          <p:cNvPr id="27" name="Text 24"/>
          <p:cNvSpPr txBox="1"/>
          <p:nvPr/>
        </p:nvSpPr>
        <p:spPr>
          <a:xfrm>
            <a:off x="11201400" y="443712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8" name="Text 25"/>
          <p:cNvSpPr txBox="1"/>
          <p:nvPr/>
        </p:nvSpPr>
        <p:spPr>
          <a:xfrm>
            <a:off x="4572000" y="4160520"/>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لَا أَتَأَخَّرُ أَبَدًا عَنِ الحِصَّةِ.</a:t>
            </a:r>
            <a:endParaRPr lang="ar-SA" sz="2600" dirty="0"/>
          </a:p>
        </p:txBody>
      </p:sp>
      <p:sp>
        <p:nvSpPr>
          <p:cNvPr id="29" name="Text 26"/>
          <p:cNvSpPr txBox="1"/>
          <p:nvPr/>
        </p:nvSpPr>
        <p:spPr>
          <a:xfrm>
            <a:off x="685800" y="4169664"/>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I am never late for the lesson.</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Negative frequency frame.</a:t>
            </a:r>
            <a:endParaRPr lang="en-US" sz="1250" dirty="0"/>
          </a:p>
        </p:txBody>
      </p:sp>
      <p:sp>
        <p:nvSpPr>
          <p:cNvPr id="30" name="Shape 27"/>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11201400" y="5593842"/>
            <a:ext cx="402336" cy="402336"/>
          </a:xfrm>
          <a:prstGeom prst="ellipse">
            <a:avLst/>
          </a:prstGeom>
          <a:solidFill>
            <a:srgbClr val="1B3B6F"/>
          </a:solidFill>
          <a:ln w="12700">
            <a:solidFill>
              <a:srgbClr val="1B3B6F"/>
            </a:solidFill>
            <a:prstDash val="solid"/>
          </a:ln>
        </p:spPr>
      </p:sp>
      <p:sp>
        <p:nvSpPr>
          <p:cNvPr id="32" name="Text 29"/>
          <p:cNvSpPr txBox="1"/>
          <p:nvPr/>
        </p:nvSpPr>
        <p:spPr>
          <a:xfrm>
            <a:off x="11201400" y="5593842"/>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4</a:t>
            </a:r>
            <a:endParaRPr lang="en-US" sz="1300" dirty="0"/>
          </a:p>
        </p:txBody>
      </p:sp>
      <p:sp>
        <p:nvSpPr>
          <p:cNvPr id="33" name="Text 30"/>
          <p:cNvSpPr txBox="1"/>
          <p:nvPr/>
        </p:nvSpPr>
        <p:spPr>
          <a:xfrm>
            <a:off x="4572000" y="5317236"/>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الأَرْبِعَاءُ أَكْثَرُ اِنْشِغَالًا مِنَ الخَمِيسِ.</a:t>
            </a:r>
            <a:endParaRPr lang="ar-SA" sz="2600" dirty="0"/>
          </a:p>
        </p:txBody>
      </p:sp>
      <p:sp>
        <p:nvSpPr>
          <p:cNvPr id="34" name="Text 31"/>
          <p:cNvSpPr txBox="1"/>
          <p:nvPr/>
        </p:nvSpPr>
        <p:spPr>
          <a:xfrm>
            <a:off x="685800" y="5326380"/>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Wednesday is busier than Thursday.</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Comparative + مِنْ.</a:t>
            </a:r>
            <a:endParaRPr lang="en-US" sz="12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20 / 46</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D1-L03 · How Often?</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2F6FB0"/>
                </a:solidFill>
                <a:latin typeface="Calibri" pitchFamily="34" charset="0"/>
                <a:ea typeface="Calibri" pitchFamily="34" charset="-122"/>
                <a:cs typeface="Calibri" pitchFamily="34" charset="-120"/>
              </a:rPr>
              <a:t>WE DO · PICTURE MATCH · WEBSITE GAME “VISUAL GAME — HOW OFTEN? — FREQUENCY ADVERBS IN MY ROUTINE”</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How often? Match the picture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كَمْ مَرَّةً؟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D1-L03</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18" name="Shape 15"/>
          <p:cNvSpPr/>
          <p:nvPr/>
        </p:nvSpPr>
        <p:spPr>
          <a:xfrm>
            <a:off x="881176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8994648" y="2249424"/>
            <a:ext cx="649224" cy="649224"/>
          </a:xfrm>
          <a:prstGeom prst="rect">
            <a:avLst/>
          </a:prstGeom>
        </p:spPr>
      </p:pic>
      <p:sp>
        <p:nvSpPr>
          <p:cNvPr id="20" name="Shape 16"/>
          <p:cNvSpPr/>
          <p:nvPr/>
        </p:nvSpPr>
        <p:spPr>
          <a:xfrm>
            <a:off x="10000488" y="2066544"/>
            <a:ext cx="1014984" cy="1014984"/>
          </a:xfrm>
          <a:prstGeom prst="ellipse">
            <a:avLst/>
          </a:prstGeom>
          <a:solidFill>
            <a:srgbClr val="F4F1EA"/>
          </a:solidFill>
          <a:ln w="12700">
            <a:solidFill>
              <a:srgbClr val="F4F1EA"/>
            </a:solidFill>
            <a:prstDash val="solid"/>
          </a:ln>
        </p:spPr>
      </p:sp>
      <p:pic>
        <p:nvPicPr>
          <p:cNvPr id="21" name="Image 1" descr="preencoded.png">    </p:cNvPr>
          <p:cNvPicPr>
            <a:picLocks noChangeAspect="1"/>
          </p:cNvPicPr>
          <p:nvPr/>
        </p:nvPicPr>
        <p:blipFill>
          <a:blip r:embed="rId2"/>
          <a:stretch>
            <a:fillRect/>
          </a:stretch>
        </p:blipFill>
        <p:spPr>
          <a:xfrm>
            <a:off x="10183368" y="2249424"/>
            <a:ext cx="649224" cy="649224"/>
          </a:xfrm>
          <a:prstGeom prst="rect">
            <a:avLst/>
          </a:prstGeom>
        </p:spPr>
      </p:pic>
      <p:sp>
        <p:nvSpPr>
          <p:cNvPr id="22" name="Text 17"/>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reading — 100%</a:t>
            </a:r>
            <a:endParaRPr lang="en-US" sz="1100" dirty="0"/>
          </a:p>
        </p:txBody>
      </p:sp>
      <p:sp>
        <p:nvSpPr>
          <p:cNvPr id="23" name="Shape 18"/>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4404360" y="1938528"/>
            <a:ext cx="365760" cy="365760"/>
          </a:xfrm>
          <a:prstGeom prst="ellipse">
            <a:avLst/>
          </a:prstGeom>
          <a:solidFill>
            <a:srgbClr val="1B3B6F"/>
          </a:solidFill>
          <a:ln w="12700">
            <a:solidFill>
              <a:srgbClr val="1B3B6F"/>
            </a:solidFill>
            <a:prstDash val="solid"/>
          </a:ln>
        </p:spPr>
      </p:sp>
      <p:sp>
        <p:nvSpPr>
          <p:cNvPr id="25" name="Text 20"/>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26" name="Shape 21"/>
          <p:cNvSpPr/>
          <p:nvPr/>
        </p:nvSpPr>
        <p:spPr>
          <a:xfrm>
            <a:off x="4992624" y="2066544"/>
            <a:ext cx="1014984" cy="1014984"/>
          </a:xfrm>
          <a:prstGeom prst="ellipse">
            <a:avLst/>
          </a:prstGeom>
          <a:solidFill>
            <a:srgbClr val="F4F1EA"/>
          </a:solidFill>
          <a:ln w="12700">
            <a:solidFill>
              <a:srgbClr val="F4F1EA"/>
            </a:solidFill>
            <a:prstDash val="solid"/>
          </a:ln>
        </p:spPr>
      </p:sp>
      <p:pic>
        <p:nvPicPr>
          <p:cNvPr id="27" name="Image 2" descr="preencoded.png">    </p:cNvPr>
          <p:cNvPicPr>
            <a:picLocks noChangeAspect="1"/>
          </p:cNvPicPr>
          <p:nvPr/>
        </p:nvPicPr>
        <p:blipFill>
          <a:blip r:embed="rId3"/>
          <a:stretch>
            <a:fillRect/>
          </a:stretch>
        </p:blipFill>
        <p:spPr>
          <a:xfrm>
            <a:off x="5175504" y="2249424"/>
            <a:ext cx="649224" cy="649224"/>
          </a:xfrm>
          <a:prstGeom prst="rect">
            <a:avLst/>
          </a:prstGeom>
        </p:spPr>
      </p:pic>
      <p:sp>
        <p:nvSpPr>
          <p:cNvPr id="28" name="Shape 22"/>
          <p:cNvSpPr/>
          <p:nvPr/>
        </p:nvSpPr>
        <p:spPr>
          <a:xfrm>
            <a:off x="6181344" y="2066544"/>
            <a:ext cx="1014984" cy="1014984"/>
          </a:xfrm>
          <a:prstGeom prst="ellipse">
            <a:avLst/>
          </a:prstGeom>
          <a:solidFill>
            <a:srgbClr val="F4F1EA"/>
          </a:solidFill>
          <a:ln w="12700">
            <a:solidFill>
              <a:srgbClr val="F4F1EA"/>
            </a:solidFill>
            <a:prstDash val="solid"/>
          </a:ln>
        </p:spPr>
      </p:sp>
      <p:pic>
        <p:nvPicPr>
          <p:cNvPr id="29" name="Image 3" descr="preencoded.png">    </p:cNvPr>
          <p:cNvPicPr>
            <a:picLocks noChangeAspect="1"/>
          </p:cNvPicPr>
          <p:nvPr/>
        </p:nvPicPr>
        <p:blipFill>
          <a:blip r:embed="rId4"/>
          <a:stretch>
            <a:fillRect/>
          </a:stretch>
        </p:blipFill>
        <p:spPr>
          <a:xfrm>
            <a:off x="6364224" y="2249424"/>
            <a:ext cx="649224" cy="649224"/>
          </a:xfrm>
          <a:prstGeom prst="rect">
            <a:avLst/>
          </a:prstGeom>
        </p:spPr>
      </p:pic>
      <p:sp>
        <p:nvSpPr>
          <p:cNvPr id="30" name="Text 23"/>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games — 50%</a:t>
            </a:r>
            <a:endParaRPr lang="en-US" sz="1100" dirty="0"/>
          </a:p>
        </p:txBody>
      </p:sp>
      <p:sp>
        <p:nvSpPr>
          <p:cNvPr id="31" name="Shape 24"/>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5"/>
          <p:cNvSpPr/>
          <p:nvPr/>
        </p:nvSpPr>
        <p:spPr>
          <a:xfrm>
            <a:off x="585216" y="1938528"/>
            <a:ext cx="365760" cy="365760"/>
          </a:xfrm>
          <a:prstGeom prst="ellipse">
            <a:avLst/>
          </a:prstGeom>
          <a:solidFill>
            <a:srgbClr val="1B3B6F"/>
          </a:solidFill>
          <a:ln w="12700">
            <a:solidFill>
              <a:srgbClr val="1B3B6F"/>
            </a:solidFill>
            <a:prstDash val="solid"/>
          </a:ln>
        </p:spPr>
      </p:sp>
      <p:sp>
        <p:nvSpPr>
          <p:cNvPr id="33" name="Text 26"/>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34" name="Shape 27"/>
          <p:cNvSpPr/>
          <p:nvPr/>
        </p:nvSpPr>
        <p:spPr>
          <a:xfrm>
            <a:off x="1173480" y="2066544"/>
            <a:ext cx="1014984" cy="1014984"/>
          </a:xfrm>
          <a:prstGeom prst="ellipse">
            <a:avLst/>
          </a:prstGeom>
          <a:solidFill>
            <a:srgbClr val="F4F1EA"/>
          </a:solidFill>
          <a:ln w="12700">
            <a:solidFill>
              <a:srgbClr val="F4F1EA"/>
            </a:solidFill>
            <a:prstDash val="solid"/>
          </a:ln>
        </p:spPr>
      </p:sp>
      <p:pic>
        <p:nvPicPr>
          <p:cNvPr id="35" name="Image 4" descr="preencoded.png">    </p:cNvPr>
          <p:cNvPicPr>
            <a:picLocks noChangeAspect="1"/>
          </p:cNvPicPr>
          <p:nvPr/>
        </p:nvPicPr>
        <p:blipFill>
          <a:blip r:embed="rId5"/>
          <a:stretch>
            <a:fillRect/>
          </a:stretch>
        </p:blipFill>
        <p:spPr>
          <a:xfrm>
            <a:off x="1356360" y="2249424"/>
            <a:ext cx="649224" cy="649224"/>
          </a:xfrm>
          <a:prstGeom prst="rect">
            <a:avLst/>
          </a:prstGeom>
        </p:spPr>
      </p:pic>
      <p:sp>
        <p:nvSpPr>
          <p:cNvPr id="36" name="Shape 28"/>
          <p:cNvSpPr/>
          <p:nvPr/>
        </p:nvSpPr>
        <p:spPr>
          <a:xfrm>
            <a:off x="2362200" y="2066544"/>
            <a:ext cx="1014984" cy="1014984"/>
          </a:xfrm>
          <a:prstGeom prst="ellipse">
            <a:avLst/>
          </a:prstGeom>
          <a:solidFill>
            <a:srgbClr val="F4F1EA"/>
          </a:solidFill>
          <a:ln w="12700">
            <a:solidFill>
              <a:srgbClr val="F4F1EA"/>
            </a:solidFill>
            <a:prstDash val="solid"/>
          </a:ln>
        </p:spPr>
      </p:sp>
      <p:pic>
        <p:nvPicPr>
          <p:cNvPr id="37" name="Image 5" descr="preencoded.png">    </p:cNvPr>
          <p:cNvPicPr>
            <a:picLocks noChangeAspect="1"/>
          </p:cNvPicPr>
          <p:nvPr/>
        </p:nvPicPr>
        <p:blipFill>
          <a:blip r:embed="rId6"/>
          <a:stretch>
            <a:fillRect/>
          </a:stretch>
        </p:blipFill>
        <p:spPr>
          <a:xfrm>
            <a:off x="2545080" y="2249424"/>
            <a:ext cx="649224" cy="649224"/>
          </a:xfrm>
          <a:prstGeom prst="rect">
            <a:avLst/>
          </a:prstGeom>
        </p:spPr>
      </p:pic>
      <p:sp>
        <p:nvSpPr>
          <p:cNvPr id="38" name="Text 29"/>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coffee — 0%</a:t>
            </a:r>
            <a:endParaRPr lang="en-US" sz="1100" dirty="0"/>
          </a:p>
        </p:txBody>
      </p:sp>
      <p:sp>
        <p:nvSpPr>
          <p:cNvPr id="39" name="Shape 30"/>
          <p:cNvSpPr/>
          <p:nvPr/>
        </p:nvSpPr>
        <p:spPr>
          <a:xfrm>
            <a:off x="457200" y="3730752"/>
            <a:ext cx="11274552" cy="493776"/>
          </a:xfrm>
          <a:prstGeom prst="roundRect">
            <a:avLst>
              <a:gd name="adj" fmla="val 11111"/>
            </a:avLst>
          </a:prstGeom>
          <a:solidFill>
            <a:srgbClr val="EEF3FA"/>
          </a:solidFill>
          <a:ln w="9525">
            <a:solidFill>
              <a:srgbClr val="C9D6EA"/>
            </a:solidFill>
            <a:prstDash val="solid"/>
          </a:ln>
        </p:spPr>
      </p:sp>
      <p:sp>
        <p:nvSpPr>
          <p:cNvPr id="40" name="Shape 31"/>
          <p:cNvSpPr/>
          <p:nvPr/>
        </p:nvSpPr>
        <p:spPr>
          <a:xfrm>
            <a:off x="11247120" y="3831336"/>
            <a:ext cx="292608" cy="292608"/>
          </a:xfrm>
          <a:prstGeom prst="ellipse">
            <a:avLst/>
          </a:prstGeom>
          <a:solidFill>
            <a:srgbClr val="2F6FB0"/>
          </a:solidFill>
          <a:ln w="12700">
            <a:solidFill>
              <a:srgbClr val="2F6FB0"/>
            </a:solidFill>
            <a:prstDash val="solid"/>
          </a:ln>
        </p:spPr>
      </p:sp>
      <p:sp>
        <p:nvSpPr>
          <p:cNvPr id="41" name="Text 32"/>
          <p:cNvSpPr txBox="1"/>
          <p:nvPr/>
        </p:nvSpPr>
        <p:spPr>
          <a:xfrm>
            <a:off x="11247120" y="3831336"/>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A</a:t>
            </a:r>
            <a:endParaRPr lang="en-US" sz="1000" dirty="0"/>
          </a:p>
        </p:txBody>
      </p:sp>
      <p:sp>
        <p:nvSpPr>
          <p:cNvPr id="42" name="Text 33"/>
          <p:cNvSpPr txBox="1"/>
          <p:nvPr/>
        </p:nvSpPr>
        <p:spPr>
          <a:xfrm>
            <a:off x="731520" y="3730752"/>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لَا أَشْرَبُ القَهْوَةَ أَبَدًا.</a:t>
            </a:r>
            <a:endParaRPr lang="ar-SA" sz="2000" dirty="0"/>
          </a:p>
        </p:txBody>
      </p:sp>
      <p:sp>
        <p:nvSpPr>
          <p:cNvPr id="43" name="Shape 34"/>
          <p:cNvSpPr/>
          <p:nvPr/>
        </p:nvSpPr>
        <p:spPr>
          <a:xfrm>
            <a:off x="457200" y="4297680"/>
            <a:ext cx="11274552" cy="493776"/>
          </a:xfrm>
          <a:prstGeom prst="roundRect">
            <a:avLst>
              <a:gd name="adj" fmla="val 11111"/>
            </a:avLst>
          </a:prstGeom>
          <a:solidFill>
            <a:srgbClr val="EEF3FA"/>
          </a:solidFill>
          <a:ln w="9525">
            <a:solidFill>
              <a:srgbClr val="C9D6EA"/>
            </a:solidFill>
            <a:prstDash val="solid"/>
          </a:ln>
        </p:spPr>
      </p:sp>
      <p:sp>
        <p:nvSpPr>
          <p:cNvPr id="44" name="Shape 35"/>
          <p:cNvSpPr/>
          <p:nvPr/>
        </p:nvSpPr>
        <p:spPr>
          <a:xfrm>
            <a:off x="11247120" y="4398264"/>
            <a:ext cx="292608" cy="292608"/>
          </a:xfrm>
          <a:prstGeom prst="ellipse">
            <a:avLst/>
          </a:prstGeom>
          <a:solidFill>
            <a:srgbClr val="2F6FB0"/>
          </a:solidFill>
          <a:ln w="12700">
            <a:solidFill>
              <a:srgbClr val="2F6FB0"/>
            </a:solidFill>
            <a:prstDash val="solid"/>
          </a:ln>
        </p:spPr>
      </p:sp>
      <p:sp>
        <p:nvSpPr>
          <p:cNvPr id="45" name="Text 36"/>
          <p:cNvSpPr txBox="1"/>
          <p:nvPr/>
        </p:nvSpPr>
        <p:spPr>
          <a:xfrm>
            <a:off x="11247120" y="4398264"/>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B</a:t>
            </a:r>
            <a:endParaRPr lang="en-US" sz="1000" dirty="0"/>
          </a:p>
        </p:txBody>
      </p:sp>
      <p:sp>
        <p:nvSpPr>
          <p:cNvPr id="46" name="Text 37"/>
          <p:cNvSpPr txBox="1"/>
          <p:nvPr/>
        </p:nvSpPr>
        <p:spPr>
          <a:xfrm>
            <a:off x="731520" y="4297680"/>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أَقْرَأُ دَائِمًا.</a:t>
            </a:r>
            <a:endParaRPr lang="ar-SA" sz="2000" dirty="0"/>
          </a:p>
        </p:txBody>
      </p:sp>
      <p:sp>
        <p:nvSpPr>
          <p:cNvPr id="47" name="Shape 38"/>
          <p:cNvSpPr/>
          <p:nvPr/>
        </p:nvSpPr>
        <p:spPr>
          <a:xfrm>
            <a:off x="457200" y="4864608"/>
            <a:ext cx="11274552" cy="493776"/>
          </a:xfrm>
          <a:prstGeom prst="roundRect">
            <a:avLst>
              <a:gd name="adj" fmla="val 11111"/>
            </a:avLst>
          </a:prstGeom>
          <a:solidFill>
            <a:srgbClr val="EEF3FA"/>
          </a:solidFill>
          <a:ln w="9525">
            <a:solidFill>
              <a:srgbClr val="C9D6EA"/>
            </a:solidFill>
            <a:prstDash val="solid"/>
          </a:ln>
        </p:spPr>
      </p:sp>
      <p:sp>
        <p:nvSpPr>
          <p:cNvPr id="48" name="Shape 39"/>
          <p:cNvSpPr/>
          <p:nvPr/>
        </p:nvSpPr>
        <p:spPr>
          <a:xfrm>
            <a:off x="11247120" y="4965192"/>
            <a:ext cx="292608" cy="292608"/>
          </a:xfrm>
          <a:prstGeom prst="ellipse">
            <a:avLst/>
          </a:prstGeom>
          <a:solidFill>
            <a:srgbClr val="2F6FB0"/>
          </a:solidFill>
          <a:ln w="12700">
            <a:solidFill>
              <a:srgbClr val="2F6FB0"/>
            </a:solidFill>
            <a:prstDash val="solid"/>
          </a:ln>
        </p:spPr>
      </p:sp>
      <p:sp>
        <p:nvSpPr>
          <p:cNvPr id="49" name="Text 40"/>
          <p:cNvSpPr txBox="1"/>
          <p:nvPr/>
        </p:nvSpPr>
        <p:spPr>
          <a:xfrm>
            <a:off x="11247120" y="496519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C</a:t>
            </a:r>
            <a:endParaRPr lang="en-US" sz="1000" dirty="0"/>
          </a:p>
        </p:txBody>
      </p:sp>
      <p:sp>
        <p:nvSpPr>
          <p:cNvPr id="50" name="Text 41"/>
          <p:cNvSpPr txBox="1"/>
          <p:nvPr/>
        </p:nvSpPr>
        <p:spPr>
          <a:xfrm>
            <a:off x="731520" y="4864608"/>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أَلْعَبُ أَحْيَانًا.</a:t>
            </a:r>
            <a:endParaRPr lang="ar-SA" sz="2000" dirty="0"/>
          </a:p>
        </p:txBody>
      </p:sp>
      <p:sp>
        <p:nvSpPr>
          <p:cNvPr id="51" name="Text 42"/>
          <p:cNvSpPr txBox="1"/>
          <p:nvPr/>
        </p:nvSpPr>
        <p:spPr>
          <a:xfrm>
            <a:off x="457200" y="5468112"/>
            <a:ext cx="11274552" cy="365760"/>
          </a:xfrm>
          <a:prstGeom prst="rect">
            <a:avLst/>
          </a:prstGeom>
          <a:noFill/>
          <a:ln/>
        </p:spPr>
        <p:txBody>
          <a:bodyPr wrap="square" lIns="0" tIns="0" rIns="0" bIns="0" rtlCol="0" anchor="ctr"/>
          <a:lstStyle/>
          <a:p>
            <a:pPr algn="l" indent="0" marL="0">
              <a:buNone/>
            </a:pPr>
            <a:r>
              <a:rPr lang="en-US" sz="1250" b="1" dirty="0">
                <a:solidFill>
                  <a:srgbClr val="2F6FB0"/>
                </a:solidFill>
                <a:latin typeface="Calibri" pitchFamily="34" charset="0"/>
                <a:ea typeface="Calibri" pitchFamily="34" charset="-122"/>
                <a:cs typeface="Calibri" pitchFamily="34" charset="-120"/>
              </a:rPr>
              <a:t>Match each picture to a sentence. Type in the chat: 1_  2_  3_</a:t>
            </a:r>
            <a:endParaRPr lang="en-US" sz="1250" dirty="0"/>
          </a:p>
        </p:txBody>
      </p:sp>
      <p:sp>
        <p:nvSpPr>
          <p:cNvPr id="52" name="Text 43"/>
          <p:cNvSpPr txBox="1"/>
          <p:nvPr/>
        </p:nvSpPr>
        <p:spPr>
          <a:xfrm>
            <a:off x="457200" y="5852160"/>
            <a:ext cx="11274552" cy="365760"/>
          </a:xfrm>
          <a:prstGeom prst="rect">
            <a:avLst/>
          </a:prstGeom>
          <a:noFill/>
          <a:ln/>
        </p:spPr>
        <p:txBody>
          <a:bodyPr wrap="square" lIns="0" tIns="0" rIns="0" bIns="0" rtlCol="0" anchor="ctr"/>
          <a:lstStyle/>
          <a:p>
            <a:pPr algn="l" indent="0" marL="0">
              <a:buNone/>
            </a:pPr>
            <a:r>
              <a:rPr lang="en-US" sz="1150" i="1" dirty="0">
                <a:solidFill>
                  <a:srgbClr val="5A6472"/>
                </a:solidFill>
                <a:latin typeface="Calibri" pitchFamily="34" charset="0"/>
                <a:ea typeface="Calibri" pitchFamily="34" charset="-122"/>
                <a:cs typeface="Calibri" pitchFamily="34" charset="-120"/>
              </a:rPr>
              <a:t>Core: find ONE key word you know in each sentence first.</a:t>
            </a:r>
            <a:endParaRPr lang="en-US" sz="1150" dirty="0"/>
          </a:p>
        </p:txBody>
      </p:sp>
      <p:sp>
        <p:nvSpPr>
          <p:cNvPr id="53" name="Text 4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21 / 46</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D1-L03 · How Often?</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PICTURE MATCH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Picture match: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كَمْ مَرَّةً؟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D1-L03</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18" name="Shape 15"/>
          <p:cNvSpPr/>
          <p:nvPr/>
        </p:nvSpPr>
        <p:spPr>
          <a:xfrm>
            <a:off x="881176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8994648" y="2249424"/>
            <a:ext cx="649224" cy="649224"/>
          </a:xfrm>
          <a:prstGeom prst="rect">
            <a:avLst/>
          </a:prstGeom>
        </p:spPr>
      </p:pic>
      <p:sp>
        <p:nvSpPr>
          <p:cNvPr id="20" name="Shape 16"/>
          <p:cNvSpPr/>
          <p:nvPr/>
        </p:nvSpPr>
        <p:spPr>
          <a:xfrm>
            <a:off x="10000488" y="2066544"/>
            <a:ext cx="1014984" cy="1014984"/>
          </a:xfrm>
          <a:prstGeom prst="ellipse">
            <a:avLst/>
          </a:prstGeom>
          <a:solidFill>
            <a:srgbClr val="F4F1EA"/>
          </a:solidFill>
          <a:ln w="12700">
            <a:solidFill>
              <a:srgbClr val="F4F1EA"/>
            </a:solidFill>
            <a:prstDash val="solid"/>
          </a:ln>
        </p:spPr>
      </p:sp>
      <p:pic>
        <p:nvPicPr>
          <p:cNvPr id="21" name="Image 1" descr="preencoded.png">    </p:cNvPr>
          <p:cNvPicPr>
            <a:picLocks noChangeAspect="1"/>
          </p:cNvPicPr>
          <p:nvPr/>
        </p:nvPicPr>
        <p:blipFill>
          <a:blip r:embed="rId2"/>
          <a:stretch>
            <a:fillRect/>
          </a:stretch>
        </p:blipFill>
        <p:spPr>
          <a:xfrm>
            <a:off x="10183368" y="2249424"/>
            <a:ext cx="649224" cy="649224"/>
          </a:xfrm>
          <a:prstGeom prst="rect">
            <a:avLst/>
          </a:prstGeom>
        </p:spPr>
      </p:pic>
      <p:sp>
        <p:nvSpPr>
          <p:cNvPr id="22" name="Text 17"/>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reading — 100%</a:t>
            </a:r>
            <a:endParaRPr lang="en-US" sz="1100" dirty="0"/>
          </a:p>
        </p:txBody>
      </p:sp>
      <p:sp>
        <p:nvSpPr>
          <p:cNvPr id="23" name="Shape 18"/>
          <p:cNvSpPr/>
          <p:nvPr/>
        </p:nvSpPr>
        <p:spPr>
          <a:xfrm>
            <a:off x="8095488"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11256264" y="3785616"/>
            <a:ext cx="329184" cy="329184"/>
          </a:xfrm>
          <a:prstGeom prst="ellipse">
            <a:avLst/>
          </a:prstGeom>
          <a:solidFill>
            <a:srgbClr val="2E8B57"/>
          </a:solidFill>
          <a:ln w="12700">
            <a:solidFill>
              <a:srgbClr val="2E8B57"/>
            </a:solidFill>
            <a:prstDash val="solid"/>
          </a:ln>
        </p:spPr>
      </p:sp>
      <p:sp>
        <p:nvSpPr>
          <p:cNvPr id="25" name="Text 20"/>
          <p:cNvSpPr txBox="1"/>
          <p:nvPr/>
        </p:nvSpPr>
        <p:spPr>
          <a:xfrm>
            <a:off x="11256264"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B</a:t>
            </a:r>
            <a:endParaRPr lang="en-US" sz="1100" dirty="0"/>
          </a:p>
        </p:txBody>
      </p:sp>
      <p:sp>
        <p:nvSpPr>
          <p:cNvPr id="26" name="Text 21"/>
          <p:cNvSpPr txBox="1"/>
          <p:nvPr/>
        </p:nvSpPr>
        <p:spPr>
          <a:xfrm>
            <a:off x="8232648"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أَقْرَأُ دَائِمًا.</a:t>
            </a:r>
            <a:endParaRPr lang="ar-SA" sz="2200" dirty="0"/>
          </a:p>
        </p:txBody>
      </p:sp>
      <p:sp>
        <p:nvSpPr>
          <p:cNvPr id="27" name="Text 22"/>
          <p:cNvSpPr txBox="1"/>
          <p:nvPr/>
        </p:nvSpPr>
        <p:spPr>
          <a:xfrm>
            <a:off x="8232648"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ea typeface="Calibri" pitchFamily="34" charset="-122"/>
                <a:cs typeface="Calibri" pitchFamily="34" charset="-120"/>
              </a:rPr>
              <a:t>I always read.</a:t>
            </a:r>
            <a:endParaRPr lang="en-US" sz="1200" dirty="0"/>
          </a:p>
        </p:txBody>
      </p:sp>
      <p:sp>
        <p:nvSpPr>
          <p:cNvPr id="28" name="Shape 23"/>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4"/>
          <p:cNvSpPr/>
          <p:nvPr/>
        </p:nvSpPr>
        <p:spPr>
          <a:xfrm>
            <a:off x="4404360" y="1938528"/>
            <a:ext cx="365760" cy="365760"/>
          </a:xfrm>
          <a:prstGeom prst="ellipse">
            <a:avLst/>
          </a:prstGeom>
          <a:solidFill>
            <a:srgbClr val="1B3B6F"/>
          </a:solidFill>
          <a:ln w="12700">
            <a:solidFill>
              <a:srgbClr val="1B3B6F"/>
            </a:solidFill>
            <a:prstDash val="solid"/>
          </a:ln>
        </p:spPr>
      </p:sp>
      <p:sp>
        <p:nvSpPr>
          <p:cNvPr id="30" name="Text 25"/>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31" name="Shape 26"/>
          <p:cNvSpPr/>
          <p:nvPr/>
        </p:nvSpPr>
        <p:spPr>
          <a:xfrm>
            <a:off x="4992624" y="2066544"/>
            <a:ext cx="1014984" cy="1014984"/>
          </a:xfrm>
          <a:prstGeom prst="ellipse">
            <a:avLst/>
          </a:prstGeom>
          <a:solidFill>
            <a:srgbClr val="F4F1EA"/>
          </a:solidFill>
          <a:ln w="12700">
            <a:solidFill>
              <a:srgbClr val="F4F1EA"/>
            </a:solidFill>
            <a:prstDash val="solid"/>
          </a:ln>
        </p:spPr>
      </p:sp>
      <p:pic>
        <p:nvPicPr>
          <p:cNvPr id="32" name="Image 2" descr="preencoded.png">    </p:cNvPr>
          <p:cNvPicPr>
            <a:picLocks noChangeAspect="1"/>
          </p:cNvPicPr>
          <p:nvPr/>
        </p:nvPicPr>
        <p:blipFill>
          <a:blip r:embed="rId3"/>
          <a:stretch>
            <a:fillRect/>
          </a:stretch>
        </p:blipFill>
        <p:spPr>
          <a:xfrm>
            <a:off x="5175504" y="2249424"/>
            <a:ext cx="649224" cy="649224"/>
          </a:xfrm>
          <a:prstGeom prst="rect">
            <a:avLst/>
          </a:prstGeom>
        </p:spPr>
      </p:pic>
      <p:sp>
        <p:nvSpPr>
          <p:cNvPr id="33" name="Shape 27"/>
          <p:cNvSpPr/>
          <p:nvPr/>
        </p:nvSpPr>
        <p:spPr>
          <a:xfrm>
            <a:off x="6181344" y="2066544"/>
            <a:ext cx="1014984" cy="1014984"/>
          </a:xfrm>
          <a:prstGeom prst="ellipse">
            <a:avLst/>
          </a:prstGeom>
          <a:solidFill>
            <a:srgbClr val="F4F1EA"/>
          </a:solidFill>
          <a:ln w="12700">
            <a:solidFill>
              <a:srgbClr val="F4F1EA"/>
            </a:solidFill>
            <a:prstDash val="solid"/>
          </a:ln>
        </p:spPr>
      </p:sp>
      <p:pic>
        <p:nvPicPr>
          <p:cNvPr id="34" name="Image 3" descr="preencoded.png">    </p:cNvPr>
          <p:cNvPicPr>
            <a:picLocks noChangeAspect="1"/>
          </p:cNvPicPr>
          <p:nvPr/>
        </p:nvPicPr>
        <p:blipFill>
          <a:blip r:embed="rId4"/>
          <a:stretch>
            <a:fillRect/>
          </a:stretch>
        </p:blipFill>
        <p:spPr>
          <a:xfrm>
            <a:off x="6364224" y="2249424"/>
            <a:ext cx="649224" cy="649224"/>
          </a:xfrm>
          <a:prstGeom prst="rect">
            <a:avLst/>
          </a:prstGeom>
        </p:spPr>
      </p:pic>
      <p:sp>
        <p:nvSpPr>
          <p:cNvPr id="35" name="Text 28"/>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games — 50%</a:t>
            </a:r>
            <a:endParaRPr lang="en-US" sz="1100" dirty="0"/>
          </a:p>
        </p:txBody>
      </p:sp>
      <p:sp>
        <p:nvSpPr>
          <p:cNvPr id="36" name="Shape 29"/>
          <p:cNvSpPr/>
          <p:nvPr/>
        </p:nvSpPr>
        <p:spPr>
          <a:xfrm>
            <a:off x="4276344"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37" name="Shape 30"/>
          <p:cNvSpPr/>
          <p:nvPr/>
        </p:nvSpPr>
        <p:spPr>
          <a:xfrm>
            <a:off x="7437120" y="3785616"/>
            <a:ext cx="329184" cy="329184"/>
          </a:xfrm>
          <a:prstGeom prst="ellipse">
            <a:avLst/>
          </a:prstGeom>
          <a:solidFill>
            <a:srgbClr val="2E8B57"/>
          </a:solidFill>
          <a:ln w="12700">
            <a:solidFill>
              <a:srgbClr val="2E8B57"/>
            </a:solidFill>
            <a:prstDash val="solid"/>
          </a:ln>
        </p:spPr>
      </p:sp>
      <p:sp>
        <p:nvSpPr>
          <p:cNvPr id="38" name="Text 31"/>
          <p:cNvSpPr txBox="1"/>
          <p:nvPr/>
        </p:nvSpPr>
        <p:spPr>
          <a:xfrm>
            <a:off x="7437120"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C</a:t>
            </a:r>
            <a:endParaRPr lang="en-US" sz="1100" dirty="0"/>
          </a:p>
        </p:txBody>
      </p:sp>
      <p:sp>
        <p:nvSpPr>
          <p:cNvPr id="39" name="Text 32"/>
          <p:cNvSpPr txBox="1"/>
          <p:nvPr/>
        </p:nvSpPr>
        <p:spPr>
          <a:xfrm>
            <a:off x="4413504"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أَلْعَبُ أَحْيَانًا.</a:t>
            </a:r>
            <a:endParaRPr lang="ar-SA" sz="2200" dirty="0"/>
          </a:p>
        </p:txBody>
      </p:sp>
      <p:sp>
        <p:nvSpPr>
          <p:cNvPr id="40" name="Text 33"/>
          <p:cNvSpPr txBox="1"/>
          <p:nvPr/>
        </p:nvSpPr>
        <p:spPr>
          <a:xfrm>
            <a:off x="4413504"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ea typeface="Calibri" pitchFamily="34" charset="-122"/>
                <a:cs typeface="Calibri" pitchFamily="34" charset="-120"/>
              </a:rPr>
              <a:t>I play sometimes.</a:t>
            </a:r>
            <a:endParaRPr lang="en-US" sz="1200" dirty="0"/>
          </a:p>
        </p:txBody>
      </p:sp>
      <p:sp>
        <p:nvSpPr>
          <p:cNvPr id="41" name="Shape 34"/>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5"/>
          <p:cNvSpPr/>
          <p:nvPr/>
        </p:nvSpPr>
        <p:spPr>
          <a:xfrm>
            <a:off x="585216" y="1938528"/>
            <a:ext cx="365760" cy="365760"/>
          </a:xfrm>
          <a:prstGeom prst="ellipse">
            <a:avLst/>
          </a:prstGeom>
          <a:solidFill>
            <a:srgbClr val="1B3B6F"/>
          </a:solidFill>
          <a:ln w="12700">
            <a:solidFill>
              <a:srgbClr val="1B3B6F"/>
            </a:solidFill>
            <a:prstDash val="solid"/>
          </a:ln>
        </p:spPr>
      </p:sp>
      <p:sp>
        <p:nvSpPr>
          <p:cNvPr id="43" name="Text 36"/>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44" name="Shape 37"/>
          <p:cNvSpPr/>
          <p:nvPr/>
        </p:nvSpPr>
        <p:spPr>
          <a:xfrm>
            <a:off x="1173480" y="2066544"/>
            <a:ext cx="1014984" cy="1014984"/>
          </a:xfrm>
          <a:prstGeom prst="ellipse">
            <a:avLst/>
          </a:prstGeom>
          <a:solidFill>
            <a:srgbClr val="F4F1EA"/>
          </a:solidFill>
          <a:ln w="12700">
            <a:solidFill>
              <a:srgbClr val="F4F1EA"/>
            </a:solidFill>
            <a:prstDash val="solid"/>
          </a:ln>
        </p:spPr>
      </p:sp>
      <p:pic>
        <p:nvPicPr>
          <p:cNvPr id="45" name="Image 4" descr="preencoded.png">    </p:cNvPr>
          <p:cNvPicPr>
            <a:picLocks noChangeAspect="1"/>
          </p:cNvPicPr>
          <p:nvPr/>
        </p:nvPicPr>
        <p:blipFill>
          <a:blip r:embed="rId5"/>
          <a:stretch>
            <a:fillRect/>
          </a:stretch>
        </p:blipFill>
        <p:spPr>
          <a:xfrm>
            <a:off x="1356360" y="2249424"/>
            <a:ext cx="649224" cy="649224"/>
          </a:xfrm>
          <a:prstGeom prst="rect">
            <a:avLst/>
          </a:prstGeom>
        </p:spPr>
      </p:pic>
      <p:sp>
        <p:nvSpPr>
          <p:cNvPr id="46" name="Shape 38"/>
          <p:cNvSpPr/>
          <p:nvPr/>
        </p:nvSpPr>
        <p:spPr>
          <a:xfrm>
            <a:off x="2362200" y="2066544"/>
            <a:ext cx="1014984" cy="1014984"/>
          </a:xfrm>
          <a:prstGeom prst="ellipse">
            <a:avLst/>
          </a:prstGeom>
          <a:solidFill>
            <a:srgbClr val="F4F1EA"/>
          </a:solidFill>
          <a:ln w="12700">
            <a:solidFill>
              <a:srgbClr val="F4F1EA"/>
            </a:solidFill>
            <a:prstDash val="solid"/>
          </a:ln>
        </p:spPr>
      </p:sp>
      <p:pic>
        <p:nvPicPr>
          <p:cNvPr id="47" name="Image 5" descr="preencoded.png">    </p:cNvPr>
          <p:cNvPicPr>
            <a:picLocks noChangeAspect="1"/>
          </p:cNvPicPr>
          <p:nvPr/>
        </p:nvPicPr>
        <p:blipFill>
          <a:blip r:embed="rId6"/>
          <a:stretch>
            <a:fillRect/>
          </a:stretch>
        </p:blipFill>
        <p:spPr>
          <a:xfrm>
            <a:off x="2545080" y="2249424"/>
            <a:ext cx="649224" cy="649224"/>
          </a:xfrm>
          <a:prstGeom prst="rect">
            <a:avLst/>
          </a:prstGeom>
        </p:spPr>
      </p:pic>
      <p:sp>
        <p:nvSpPr>
          <p:cNvPr id="48" name="Text 39"/>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coffee — 0%</a:t>
            </a:r>
            <a:endParaRPr lang="en-US" sz="1100" dirty="0"/>
          </a:p>
        </p:txBody>
      </p:sp>
      <p:sp>
        <p:nvSpPr>
          <p:cNvPr id="49" name="Shape 40"/>
          <p:cNvSpPr/>
          <p:nvPr/>
        </p:nvSpPr>
        <p:spPr>
          <a:xfrm>
            <a:off x="457200"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50" name="Shape 41"/>
          <p:cNvSpPr/>
          <p:nvPr/>
        </p:nvSpPr>
        <p:spPr>
          <a:xfrm>
            <a:off x="3617976" y="3785616"/>
            <a:ext cx="329184" cy="329184"/>
          </a:xfrm>
          <a:prstGeom prst="ellipse">
            <a:avLst/>
          </a:prstGeom>
          <a:solidFill>
            <a:srgbClr val="2E8B57"/>
          </a:solidFill>
          <a:ln w="12700">
            <a:solidFill>
              <a:srgbClr val="2E8B57"/>
            </a:solidFill>
            <a:prstDash val="solid"/>
          </a:ln>
        </p:spPr>
      </p:sp>
      <p:sp>
        <p:nvSpPr>
          <p:cNvPr id="51" name="Text 42"/>
          <p:cNvSpPr txBox="1"/>
          <p:nvPr/>
        </p:nvSpPr>
        <p:spPr>
          <a:xfrm>
            <a:off x="3617976"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A</a:t>
            </a:r>
            <a:endParaRPr lang="en-US" sz="1100" dirty="0"/>
          </a:p>
        </p:txBody>
      </p:sp>
      <p:sp>
        <p:nvSpPr>
          <p:cNvPr id="52" name="Text 43"/>
          <p:cNvSpPr txBox="1"/>
          <p:nvPr/>
        </p:nvSpPr>
        <p:spPr>
          <a:xfrm>
            <a:off x="594360"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لَا أَشْرَبُ القَهْوَةَ أَبَدًا.</a:t>
            </a:r>
            <a:endParaRPr lang="ar-SA" sz="2200" dirty="0"/>
          </a:p>
        </p:txBody>
      </p:sp>
      <p:sp>
        <p:nvSpPr>
          <p:cNvPr id="53" name="Text 44"/>
          <p:cNvSpPr txBox="1"/>
          <p:nvPr/>
        </p:nvSpPr>
        <p:spPr>
          <a:xfrm>
            <a:off x="594360"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ea typeface="Calibri" pitchFamily="34" charset="-122"/>
                <a:cs typeface="Calibri" pitchFamily="34" charset="-120"/>
              </a:rPr>
              <a:t>I never drink coffee.</a:t>
            </a:r>
            <a:endParaRPr lang="en-US" sz="1200" dirty="0"/>
          </a:p>
        </p:txBody>
      </p:sp>
      <p:sp>
        <p:nvSpPr>
          <p:cNvPr id="54"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22 / 46</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D1-L03 · How Often?</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WEBSITE SORTER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How often?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صَنِّفْ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D1-L03</a:t>
            </a:r>
            <a:endParaRPr lang="en-US" sz="850" dirty="0"/>
          </a:p>
        </p:txBody>
      </p:sp>
      <p:sp>
        <p:nvSpPr>
          <p:cNvPr id="15" name="Shape 12"/>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يَوْمِيًّا</a:t>
            </a:r>
            <a:endParaRPr lang="ar-SA" sz="1800" dirty="0"/>
          </a:p>
        </p:txBody>
      </p:sp>
      <p:sp>
        <p:nvSpPr>
          <p:cNvPr id="17" name="Shape 14"/>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أُسْبُوعِيًّا</a:t>
            </a:r>
            <a:endParaRPr lang="ar-SA" sz="1800" dirty="0"/>
          </a:p>
        </p:txBody>
      </p:sp>
      <p:sp>
        <p:nvSpPr>
          <p:cNvPr id="19" name="Shape 16"/>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فِي مُعْظَمِ الأَيَّامِ</a:t>
            </a:r>
            <a:endParaRPr lang="ar-SA" sz="1800" dirty="0"/>
          </a:p>
        </p:txBody>
      </p:sp>
      <p:sp>
        <p:nvSpPr>
          <p:cNvPr id="21" name="Shape 18"/>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كَثِيرًا مَا</a:t>
            </a:r>
            <a:endParaRPr lang="ar-SA" sz="1800" dirty="0"/>
          </a:p>
        </p:txBody>
      </p:sp>
      <p:sp>
        <p:nvSpPr>
          <p:cNvPr id="23" name="Shape 20"/>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مِنْ حِينٍ إِلَى آخَرَ</a:t>
            </a:r>
            <a:endParaRPr lang="ar-SA" sz="1800" dirty="0"/>
          </a:p>
        </p:txBody>
      </p:sp>
      <p:sp>
        <p:nvSpPr>
          <p:cNvPr id="25" name="Shape 22"/>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مَرَّةً كُلَّ شَهْرٍ</a:t>
            </a:r>
            <a:endParaRPr lang="ar-SA" sz="1800" dirty="0"/>
          </a:p>
        </p:txBody>
      </p:sp>
      <p:sp>
        <p:nvSpPr>
          <p:cNvPr id="27" name="Shape 24"/>
          <p:cNvSpPr/>
          <p:nvPr/>
        </p:nvSpPr>
        <p:spPr>
          <a:xfrm>
            <a:off x="3310128"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3401568"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قَلِيلًا مَا</a:t>
            </a:r>
            <a:endParaRPr lang="ar-SA" sz="1800" dirty="0"/>
          </a:p>
        </p:txBody>
      </p:sp>
      <p:sp>
        <p:nvSpPr>
          <p:cNvPr id="29" name="Shape 26"/>
          <p:cNvSpPr/>
          <p:nvPr/>
        </p:nvSpPr>
        <p:spPr>
          <a:xfrm>
            <a:off x="457200"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548640"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لَا ... أَبَدًا</a:t>
            </a:r>
            <a:endParaRPr lang="ar-SA" sz="1800" dirty="0"/>
          </a:p>
        </p:txBody>
      </p:sp>
      <p:sp>
        <p:nvSpPr>
          <p:cNvPr id="31" name="Shape 28"/>
          <p:cNvSpPr/>
          <p:nvPr/>
        </p:nvSpPr>
        <p:spPr>
          <a:xfrm>
            <a:off x="6185916" y="3017520"/>
            <a:ext cx="5545836" cy="3291840"/>
          </a:xfrm>
          <a:prstGeom prst="roundRect">
            <a:avLst>
              <a:gd name="adj" fmla="val 2222"/>
            </a:avLst>
          </a:prstGeom>
          <a:solidFill>
            <a:srgbClr val="EEF3FA"/>
          </a:solidFill>
          <a:ln w="9525">
            <a:solidFill>
              <a:srgbClr val="C9D6EA"/>
            </a:solidFill>
            <a:prstDash val="solid"/>
          </a:ln>
        </p:spPr>
      </p:sp>
      <p:sp>
        <p:nvSpPr>
          <p:cNvPr id="32" name="Shape 29"/>
          <p:cNvSpPr/>
          <p:nvPr/>
        </p:nvSpPr>
        <p:spPr>
          <a:xfrm>
            <a:off x="6323076" y="3127248"/>
            <a:ext cx="5271516" cy="310896"/>
          </a:xfrm>
          <a:prstGeom prst="roundRect">
            <a:avLst>
              <a:gd name="adj" fmla="val 50000"/>
            </a:avLst>
          </a:prstGeom>
          <a:solidFill>
            <a:srgbClr val="2F6FB0"/>
          </a:solidFill>
          <a:ln w="12700">
            <a:solidFill>
              <a:srgbClr val="2F6FB0"/>
            </a:solidFill>
            <a:prstDash val="solid"/>
          </a:ln>
        </p:spPr>
      </p:sp>
      <p:sp>
        <p:nvSpPr>
          <p:cNvPr id="33" name="Text 30"/>
          <p:cNvSpPr txBox="1"/>
          <p:nvPr/>
        </p:nvSpPr>
        <p:spPr>
          <a:xfrm>
            <a:off x="6323076" y="3127248"/>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1 · Frequent / regular</a:t>
            </a:r>
            <a:endParaRPr lang="en-US" sz="950" dirty="0"/>
          </a:p>
        </p:txBody>
      </p:sp>
      <p:sp>
        <p:nvSpPr>
          <p:cNvPr id="34" name="Shape 31"/>
          <p:cNvSpPr/>
          <p:nvPr/>
        </p:nvSpPr>
        <p:spPr>
          <a:xfrm>
            <a:off x="457200" y="3017520"/>
            <a:ext cx="5545836" cy="3291840"/>
          </a:xfrm>
          <a:prstGeom prst="roundRect">
            <a:avLst>
              <a:gd name="adj" fmla="val 2222"/>
            </a:avLst>
          </a:prstGeom>
          <a:solidFill>
            <a:srgbClr val="EEF3FA"/>
          </a:solidFill>
          <a:ln w="9525">
            <a:solidFill>
              <a:srgbClr val="C9D6EA"/>
            </a:solidFill>
            <a:prstDash val="solid"/>
          </a:ln>
        </p:spPr>
      </p:sp>
      <p:sp>
        <p:nvSpPr>
          <p:cNvPr id="35" name="Shape 32"/>
          <p:cNvSpPr/>
          <p:nvPr/>
        </p:nvSpPr>
        <p:spPr>
          <a:xfrm>
            <a:off x="594360" y="3127248"/>
            <a:ext cx="5271516" cy="310896"/>
          </a:xfrm>
          <a:prstGeom prst="roundRect">
            <a:avLst>
              <a:gd name="adj" fmla="val 50000"/>
            </a:avLst>
          </a:prstGeom>
          <a:solidFill>
            <a:srgbClr val="2F6FB0"/>
          </a:solidFill>
          <a:ln w="12700">
            <a:solidFill>
              <a:srgbClr val="2F6FB0"/>
            </a:solidFill>
            <a:prstDash val="solid"/>
          </a:ln>
        </p:spPr>
      </p:sp>
      <p:sp>
        <p:nvSpPr>
          <p:cNvPr id="36" name="Text 33"/>
          <p:cNvSpPr txBox="1"/>
          <p:nvPr/>
        </p:nvSpPr>
        <p:spPr>
          <a:xfrm>
            <a:off x="594360" y="3127248"/>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2 · Occasional / rare</a:t>
            </a:r>
            <a:endParaRPr lang="en-US" sz="95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23 / 46</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D1-L03 · How Often?</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SORTER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Sorted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D1-L03</a:t>
            </a:r>
            <a:endParaRPr lang="en-US" sz="850" dirty="0"/>
          </a:p>
        </p:txBody>
      </p:sp>
      <p:sp>
        <p:nvSpPr>
          <p:cNvPr id="15" name="Shape 12"/>
          <p:cNvSpPr/>
          <p:nvPr/>
        </p:nvSpPr>
        <p:spPr>
          <a:xfrm>
            <a:off x="6185916" y="1810512"/>
            <a:ext cx="5545836" cy="4498848"/>
          </a:xfrm>
          <a:prstGeom prst="roundRect">
            <a:avLst>
              <a:gd name="adj" fmla="val 1626"/>
            </a:avLst>
          </a:prstGeom>
          <a:solidFill>
            <a:srgbClr val="EEF3FA"/>
          </a:solidFill>
          <a:ln w="9525">
            <a:solidFill>
              <a:srgbClr val="C9D6EA"/>
            </a:solidFill>
            <a:prstDash val="solid"/>
          </a:ln>
        </p:spPr>
      </p:sp>
      <p:sp>
        <p:nvSpPr>
          <p:cNvPr id="16" name="Shape 13"/>
          <p:cNvSpPr/>
          <p:nvPr/>
        </p:nvSpPr>
        <p:spPr>
          <a:xfrm>
            <a:off x="6323076" y="1920240"/>
            <a:ext cx="5271516" cy="310896"/>
          </a:xfrm>
          <a:prstGeom prst="roundRect">
            <a:avLst>
              <a:gd name="adj" fmla="val 50000"/>
            </a:avLst>
          </a:prstGeom>
          <a:solidFill>
            <a:srgbClr val="2F6FB0"/>
          </a:solidFill>
          <a:ln w="12700">
            <a:solidFill>
              <a:srgbClr val="2F6FB0"/>
            </a:solidFill>
            <a:prstDash val="solid"/>
          </a:ln>
        </p:spPr>
      </p:sp>
      <p:sp>
        <p:nvSpPr>
          <p:cNvPr id="17" name="Text 14"/>
          <p:cNvSpPr txBox="1"/>
          <p:nvPr/>
        </p:nvSpPr>
        <p:spPr>
          <a:xfrm>
            <a:off x="6323076" y="1920240"/>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1 · Frequent / regular</a:t>
            </a:r>
            <a:endParaRPr lang="en-US" sz="950" dirty="0"/>
          </a:p>
        </p:txBody>
      </p:sp>
      <p:sp>
        <p:nvSpPr>
          <p:cNvPr id="18" name="Shape 15"/>
          <p:cNvSpPr/>
          <p:nvPr/>
        </p:nvSpPr>
        <p:spPr>
          <a:xfrm>
            <a:off x="6323076" y="2377440"/>
            <a:ext cx="5271516" cy="438912"/>
          </a:xfrm>
          <a:prstGeom prst="roundRect">
            <a:avLst>
              <a:gd name="adj" fmla="val 12500"/>
            </a:avLst>
          </a:prstGeom>
          <a:solidFill>
            <a:srgbClr val="FFF4DC"/>
          </a:solidFill>
          <a:ln w="9525">
            <a:solidFill>
              <a:srgbClr val="E6C98A"/>
            </a:solidFill>
            <a:prstDash val="solid"/>
          </a:ln>
        </p:spPr>
      </p:sp>
      <p:sp>
        <p:nvSpPr>
          <p:cNvPr id="19" name="Text 16"/>
          <p:cNvSpPr txBox="1"/>
          <p:nvPr/>
        </p:nvSpPr>
        <p:spPr>
          <a:xfrm>
            <a:off x="6414516" y="2377440"/>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يَوْمِيًّا</a:t>
            </a:r>
            <a:endParaRPr lang="ar-SA" sz="1800" dirty="0"/>
          </a:p>
        </p:txBody>
      </p:sp>
      <p:sp>
        <p:nvSpPr>
          <p:cNvPr id="20" name="Shape 17"/>
          <p:cNvSpPr/>
          <p:nvPr/>
        </p:nvSpPr>
        <p:spPr>
          <a:xfrm>
            <a:off x="6323076" y="2889504"/>
            <a:ext cx="5271516" cy="438912"/>
          </a:xfrm>
          <a:prstGeom prst="roundRect">
            <a:avLst>
              <a:gd name="adj" fmla="val 12500"/>
            </a:avLst>
          </a:prstGeom>
          <a:solidFill>
            <a:srgbClr val="FFF4DC"/>
          </a:solidFill>
          <a:ln w="9525">
            <a:solidFill>
              <a:srgbClr val="E6C98A"/>
            </a:solidFill>
            <a:prstDash val="solid"/>
          </a:ln>
        </p:spPr>
      </p:sp>
      <p:sp>
        <p:nvSpPr>
          <p:cNvPr id="21" name="Text 18"/>
          <p:cNvSpPr txBox="1"/>
          <p:nvPr/>
        </p:nvSpPr>
        <p:spPr>
          <a:xfrm>
            <a:off x="6414516" y="2889504"/>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أُسْبُوعِيًّا</a:t>
            </a:r>
            <a:endParaRPr lang="ar-SA" sz="1800" dirty="0"/>
          </a:p>
        </p:txBody>
      </p:sp>
      <p:sp>
        <p:nvSpPr>
          <p:cNvPr id="22" name="Shape 19"/>
          <p:cNvSpPr/>
          <p:nvPr/>
        </p:nvSpPr>
        <p:spPr>
          <a:xfrm>
            <a:off x="6323076" y="3401568"/>
            <a:ext cx="5271516" cy="438912"/>
          </a:xfrm>
          <a:prstGeom prst="roundRect">
            <a:avLst>
              <a:gd name="adj" fmla="val 12500"/>
            </a:avLst>
          </a:prstGeom>
          <a:solidFill>
            <a:srgbClr val="FFF4DC"/>
          </a:solidFill>
          <a:ln w="9525">
            <a:solidFill>
              <a:srgbClr val="E6C98A"/>
            </a:solidFill>
            <a:prstDash val="solid"/>
          </a:ln>
        </p:spPr>
      </p:sp>
      <p:sp>
        <p:nvSpPr>
          <p:cNvPr id="23" name="Text 20"/>
          <p:cNvSpPr txBox="1"/>
          <p:nvPr/>
        </p:nvSpPr>
        <p:spPr>
          <a:xfrm>
            <a:off x="6414516" y="3401568"/>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فِي مُعْظَمِ الأَيَّامِ</a:t>
            </a:r>
            <a:endParaRPr lang="ar-SA" sz="1800" dirty="0"/>
          </a:p>
        </p:txBody>
      </p:sp>
      <p:sp>
        <p:nvSpPr>
          <p:cNvPr id="24" name="Shape 21"/>
          <p:cNvSpPr/>
          <p:nvPr/>
        </p:nvSpPr>
        <p:spPr>
          <a:xfrm>
            <a:off x="6323076" y="3913632"/>
            <a:ext cx="5271516" cy="438912"/>
          </a:xfrm>
          <a:prstGeom prst="roundRect">
            <a:avLst>
              <a:gd name="adj" fmla="val 12500"/>
            </a:avLst>
          </a:prstGeom>
          <a:solidFill>
            <a:srgbClr val="FFF4DC"/>
          </a:solidFill>
          <a:ln w="9525">
            <a:solidFill>
              <a:srgbClr val="E6C98A"/>
            </a:solidFill>
            <a:prstDash val="solid"/>
          </a:ln>
        </p:spPr>
      </p:sp>
      <p:sp>
        <p:nvSpPr>
          <p:cNvPr id="25" name="Text 22"/>
          <p:cNvSpPr txBox="1"/>
          <p:nvPr/>
        </p:nvSpPr>
        <p:spPr>
          <a:xfrm>
            <a:off x="6414516" y="3913632"/>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كَثِيرًا مَا</a:t>
            </a:r>
            <a:endParaRPr lang="ar-SA" sz="1800" dirty="0"/>
          </a:p>
        </p:txBody>
      </p:sp>
      <p:sp>
        <p:nvSpPr>
          <p:cNvPr id="26" name="Shape 23"/>
          <p:cNvSpPr/>
          <p:nvPr/>
        </p:nvSpPr>
        <p:spPr>
          <a:xfrm>
            <a:off x="457200" y="1810512"/>
            <a:ext cx="5545836" cy="4498848"/>
          </a:xfrm>
          <a:prstGeom prst="roundRect">
            <a:avLst>
              <a:gd name="adj" fmla="val 1626"/>
            </a:avLst>
          </a:prstGeom>
          <a:solidFill>
            <a:srgbClr val="EEF3FA"/>
          </a:solidFill>
          <a:ln w="9525">
            <a:solidFill>
              <a:srgbClr val="C9D6EA"/>
            </a:solidFill>
            <a:prstDash val="solid"/>
          </a:ln>
        </p:spPr>
      </p:sp>
      <p:sp>
        <p:nvSpPr>
          <p:cNvPr id="27" name="Shape 24"/>
          <p:cNvSpPr/>
          <p:nvPr/>
        </p:nvSpPr>
        <p:spPr>
          <a:xfrm>
            <a:off x="594360" y="1920240"/>
            <a:ext cx="5271516" cy="310896"/>
          </a:xfrm>
          <a:prstGeom prst="roundRect">
            <a:avLst>
              <a:gd name="adj" fmla="val 50000"/>
            </a:avLst>
          </a:prstGeom>
          <a:solidFill>
            <a:srgbClr val="2F6FB0"/>
          </a:solidFill>
          <a:ln w="12700">
            <a:solidFill>
              <a:srgbClr val="2F6FB0"/>
            </a:solidFill>
            <a:prstDash val="solid"/>
          </a:ln>
        </p:spPr>
      </p:sp>
      <p:sp>
        <p:nvSpPr>
          <p:cNvPr id="28" name="Text 25"/>
          <p:cNvSpPr txBox="1"/>
          <p:nvPr/>
        </p:nvSpPr>
        <p:spPr>
          <a:xfrm>
            <a:off x="594360" y="1920240"/>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2 · Occasional / rare</a:t>
            </a:r>
            <a:endParaRPr lang="en-US" sz="950" dirty="0"/>
          </a:p>
        </p:txBody>
      </p:sp>
      <p:sp>
        <p:nvSpPr>
          <p:cNvPr id="29" name="Shape 26"/>
          <p:cNvSpPr/>
          <p:nvPr/>
        </p:nvSpPr>
        <p:spPr>
          <a:xfrm>
            <a:off x="594360" y="2377440"/>
            <a:ext cx="5271516" cy="438912"/>
          </a:xfrm>
          <a:prstGeom prst="roundRect">
            <a:avLst>
              <a:gd name="adj" fmla="val 12500"/>
            </a:avLst>
          </a:prstGeom>
          <a:solidFill>
            <a:srgbClr val="FFF4DC"/>
          </a:solidFill>
          <a:ln w="9525">
            <a:solidFill>
              <a:srgbClr val="E6C98A"/>
            </a:solidFill>
            <a:prstDash val="solid"/>
          </a:ln>
        </p:spPr>
      </p:sp>
      <p:sp>
        <p:nvSpPr>
          <p:cNvPr id="30" name="Text 27"/>
          <p:cNvSpPr txBox="1"/>
          <p:nvPr/>
        </p:nvSpPr>
        <p:spPr>
          <a:xfrm>
            <a:off x="685800" y="2377440"/>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مِنْ حِينٍ إِلَى آخَرَ</a:t>
            </a:r>
            <a:endParaRPr lang="ar-SA" sz="1800" dirty="0"/>
          </a:p>
        </p:txBody>
      </p:sp>
      <p:sp>
        <p:nvSpPr>
          <p:cNvPr id="31" name="Shape 28"/>
          <p:cNvSpPr/>
          <p:nvPr/>
        </p:nvSpPr>
        <p:spPr>
          <a:xfrm>
            <a:off x="594360" y="2889504"/>
            <a:ext cx="5271516" cy="438912"/>
          </a:xfrm>
          <a:prstGeom prst="roundRect">
            <a:avLst>
              <a:gd name="adj" fmla="val 12500"/>
            </a:avLst>
          </a:prstGeom>
          <a:solidFill>
            <a:srgbClr val="FFF4DC"/>
          </a:solidFill>
          <a:ln w="9525">
            <a:solidFill>
              <a:srgbClr val="E6C98A"/>
            </a:solidFill>
            <a:prstDash val="solid"/>
          </a:ln>
        </p:spPr>
      </p:sp>
      <p:sp>
        <p:nvSpPr>
          <p:cNvPr id="32" name="Text 29"/>
          <p:cNvSpPr txBox="1"/>
          <p:nvPr/>
        </p:nvSpPr>
        <p:spPr>
          <a:xfrm>
            <a:off x="685800" y="2889504"/>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مَرَّةً كُلَّ شَهْرٍ</a:t>
            </a:r>
            <a:endParaRPr lang="ar-SA" sz="1800" dirty="0"/>
          </a:p>
        </p:txBody>
      </p:sp>
      <p:sp>
        <p:nvSpPr>
          <p:cNvPr id="33" name="Shape 30"/>
          <p:cNvSpPr/>
          <p:nvPr/>
        </p:nvSpPr>
        <p:spPr>
          <a:xfrm>
            <a:off x="594360" y="3401568"/>
            <a:ext cx="5271516" cy="438912"/>
          </a:xfrm>
          <a:prstGeom prst="roundRect">
            <a:avLst>
              <a:gd name="adj" fmla="val 12500"/>
            </a:avLst>
          </a:prstGeom>
          <a:solidFill>
            <a:srgbClr val="FFF4DC"/>
          </a:solidFill>
          <a:ln w="9525">
            <a:solidFill>
              <a:srgbClr val="E6C98A"/>
            </a:solidFill>
            <a:prstDash val="solid"/>
          </a:ln>
        </p:spPr>
      </p:sp>
      <p:sp>
        <p:nvSpPr>
          <p:cNvPr id="34" name="Text 31"/>
          <p:cNvSpPr txBox="1"/>
          <p:nvPr/>
        </p:nvSpPr>
        <p:spPr>
          <a:xfrm>
            <a:off x="685800" y="3401568"/>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قَلِيلًا مَا</a:t>
            </a:r>
            <a:endParaRPr lang="ar-SA" sz="1800" dirty="0"/>
          </a:p>
        </p:txBody>
      </p:sp>
      <p:sp>
        <p:nvSpPr>
          <p:cNvPr id="35" name="Shape 32"/>
          <p:cNvSpPr/>
          <p:nvPr/>
        </p:nvSpPr>
        <p:spPr>
          <a:xfrm>
            <a:off x="594360" y="3913632"/>
            <a:ext cx="5271516" cy="438912"/>
          </a:xfrm>
          <a:prstGeom prst="roundRect">
            <a:avLst>
              <a:gd name="adj" fmla="val 12500"/>
            </a:avLst>
          </a:prstGeom>
          <a:solidFill>
            <a:srgbClr val="FFF4DC"/>
          </a:solidFill>
          <a:ln w="9525">
            <a:solidFill>
              <a:srgbClr val="E6C98A"/>
            </a:solidFill>
            <a:prstDash val="solid"/>
          </a:ln>
        </p:spPr>
      </p:sp>
      <p:sp>
        <p:nvSpPr>
          <p:cNvPr id="36" name="Text 33"/>
          <p:cNvSpPr txBox="1"/>
          <p:nvPr/>
        </p:nvSpPr>
        <p:spPr>
          <a:xfrm>
            <a:off x="685800" y="3913632"/>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لَا ... أَبَدًا</a:t>
            </a:r>
            <a:endParaRPr lang="ar-SA" sz="180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24 / 46</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D1-L03 · How Often?</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GUIDED PRACTICE · WEBSITE QUIZ QUESTIONS 2, 6, 7, 8</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More practice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تَدْرِيبٌ إِضَافِيٌّ</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D1-L03</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20" name="Text 17"/>
          <p:cNvSpPr txBox="1"/>
          <p:nvPr/>
        </p:nvSpPr>
        <p:spPr>
          <a:xfrm>
            <a:off x="950976"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21" name="Text 18"/>
          <p:cNvSpPr txBox="1"/>
          <p:nvPr/>
        </p:nvSpPr>
        <p:spPr>
          <a:xfrm>
            <a:off x="3323295"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أَمَّا يَوْمُ الجُمُعَةِ ___ يَوْمٌ هَادِئٌ.</a:t>
            </a:r>
            <a:endParaRPr lang="ar-SA" sz="1500" dirty="0"/>
          </a:p>
        </p:txBody>
      </p:sp>
      <p:sp>
        <p:nvSpPr>
          <p:cNvPr id="22" name="Shape 19"/>
          <p:cNvSpPr/>
          <p:nvPr/>
        </p:nvSpPr>
        <p:spPr>
          <a:xfrm>
            <a:off x="640080" y="25328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4" name="Text 21"/>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وَهِيَ</a:t>
            </a:r>
            <a:endParaRPr lang="ar-SA" sz="2050" dirty="0"/>
          </a:p>
        </p:txBody>
      </p:sp>
      <p:sp>
        <p:nvSpPr>
          <p:cNvPr id="25" name="Shape 22"/>
          <p:cNvSpPr/>
          <p:nvPr/>
        </p:nvSpPr>
        <p:spPr>
          <a:xfrm>
            <a:off x="640080" y="29900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7" name="Text 24"/>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فَأَنَا</a:t>
            </a:r>
            <a:endParaRPr lang="ar-SA" sz="2050" dirty="0"/>
          </a:p>
        </p:txBody>
      </p:sp>
      <p:sp>
        <p:nvSpPr>
          <p:cNvPr id="28" name="Shape 25"/>
          <p:cNvSpPr/>
          <p:nvPr/>
        </p:nvSpPr>
        <p:spPr>
          <a:xfrm>
            <a:off x="640080" y="3447288"/>
            <a:ext cx="256032" cy="256032"/>
          </a:xfrm>
          <a:prstGeom prst="ellipse">
            <a:avLst/>
          </a:prstGeom>
          <a:solidFill>
            <a:srgbClr val="F4F1EA"/>
          </a:solidFill>
          <a:ln w="12700">
            <a:solidFill>
              <a:srgbClr val="F4F1EA"/>
            </a:solidFill>
            <a:prstDash val="solid"/>
          </a:ln>
        </p:spPr>
      </p:sp>
      <p:sp>
        <p:nvSpPr>
          <p:cNvPr id="29" name="Text 26"/>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30" name="Text 27"/>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فَهُوَ</a:t>
            </a:r>
            <a:endParaRPr lang="ar-SA" sz="2050" dirty="0"/>
          </a:p>
        </p:txBody>
      </p:sp>
      <p:sp>
        <p:nvSpPr>
          <p:cNvPr id="31" name="Shape 28"/>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6313932" y="1947672"/>
            <a:ext cx="310896" cy="310896"/>
          </a:xfrm>
          <a:prstGeom prst="ellipse">
            <a:avLst/>
          </a:prstGeom>
          <a:solidFill>
            <a:srgbClr val="1B3B6F"/>
          </a:solidFill>
          <a:ln w="12700">
            <a:solidFill>
              <a:srgbClr val="1B3B6F"/>
            </a:solidFill>
            <a:prstDash val="solid"/>
          </a:ln>
        </p:spPr>
      </p:sp>
      <p:sp>
        <p:nvSpPr>
          <p:cNvPr id="33" name="Text 30"/>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34" name="Text 31"/>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sentence is organised with </a:t>
            </a:r>
            <a:pPr algn="l" indent="0" marL="0">
              <a:buNone/>
            </a:pPr>
            <a:r>
              <a:rPr lang="ar-SA" altLang="en-US" sz="1650" b="1" dirty="0">
                <a:solidFill>
                  <a:srgbClr val="1B3B6F"/>
                </a:solidFill>
                <a:latin typeface="Amiri" pitchFamily="34" charset="0"/>
                <a:ea typeface="Amiri" pitchFamily="34" charset="-122"/>
                <a:cs typeface="Amiri" pitchFamily="34" charset="-120"/>
              </a:rPr>
              <a:t>أَمَّا</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35" name="Shape 32"/>
          <p:cNvSpPr/>
          <p:nvPr/>
        </p:nvSpPr>
        <p:spPr>
          <a:xfrm>
            <a:off x="6368796" y="25328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أَمَّا أَخِي يَذْهَبُ فِي النَّادِي.</a:t>
            </a:r>
            <a:endParaRPr lang="ar-SA" sz="2050" dirty="0"/>
          </a:p>
        </p:txBody>
      </p:sp>
      <p:sp>
        <p:nvSpPr>
          <p:cNvPr id="38" name="Shape 35"/>
          <p:cNvSpPr/>
          <p:nvPr/>
        </p:nvSpPr>
        <p:spPr>
          <a:xfrm>
            <a:off x="6368796" y="29900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أَمَّا أَخِي فَيَذْهَبُ إِلَى النَّادِي.</a:t>
            </a:r>
            <a:endParaRPr lang="ar-SA" sz="2050" dirty="0"/>
          </a:p>
        </p:txBody>
      </p:sp>
      <p:sp>
        <p:nvSpPr>
          <p:cNvPr id="41" name="Shape 38"/>
          <p:cNvSpPr/>
          <p:nvPr/>
        </p:nvSpPr>
        <p:spPr>
          <a:xfrm>
            <a:off x="6368796" y="3447288"/>
            <a:ext cx="256032" cy="256032"/>
          </a:xfrm>
          <a:prstGeom prst="ellipse">
            <a:avLst/>
          </a:prstGeom>
          <a:solidFill>
            <a:srgbClr val="F4F1EA"/>
          </a:solidFill>
          <a:ln w="12700">
            <a:solidFill>
              <a:srgbClr val="F4F1EA"/>
            </a:solidFill>
            <a:prstDash val="solid"/>
          </a:ln>
        </p:spPr>
      </p:sp>
      <p:sp>
        <p:nvSpPr>
          <p:cNvPr id="42" name="Text 39"/>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أَخِي أَمَّا فَيَذْهَبُ.</a:t>
            </a:r>
            <a:endParaRPr lang="ar-SA" sz="2050" dirty="0"/>
          </a:p>
        </p:txBody>
      </p:sp>
      <p:sp>
        <p:nvSpPr>
          <p:cNvPr id="44" name="Shape 41"/>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5" name="Shape 42"/>
          <p:cNvSpPr/>
          <p:nvPr/>
        </p:nvSpPr>
        <p:spPr>
          <a:xfrm>
            <a:off x="585216" y="4288536"/>
            <a:ext cx="310896" cy="310896"/>
          </a:xfrm>
          <a:prstGeom prst="ellipse">
            <a:avLst/>
          </a:prstGeom>
          <a:solidFill>
            <a:srgbClr val="1B3B6F"/>
          </a:solidFill>
          <a:ln w="12700">
            <a:solidFill>
              <a:srgbClr val="1B3B6F"/>
            </a:solidFill>
            <a:prstDash val="solid"/>
          </a:ln>
        </p:spPr>
      </p:sp>
      <p:sp>
        <p:nvSpPr>
          <p:cNvPr id="46" name="Text 4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7</a:t>
            </a:r>
            <a:endParaRPr lang="en-US" sz="1100" dirty="0"/>
          </a:p>
        </p:txBody>
      </p:sp>
      <p:sp>
        <p:nvSpPr>
          <p:cNvPr id="47" name="Text 44"/>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plural agreement.</a:t>
            </a:r>
            <a:endParaRPr lang="en-US" sz="1250" dirty="0"/>
          </a:p>
        </p:txBody>
      </p:sp>
      <p:sp>
        <p:nvSpPr>
          <p:cNvPr id="48" name="Shape 45"/>
          <p:cNvSpPr/>
          <p:nvPr/>
        </p:nvSpPr>
        <p:spPr>
          <a:xfrm>
            <a:off x="640080" y="48737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0" name="Text 47"/>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أَصْدِقَائِي يَذْهَبُ بَيْنَمَا أَبْقَى.</a:t>
            </a:r>
            <a:endParaRPr lang="ar-SA" sz="2050" dirty="0"/>
          </a:p>
        </p:txBody>
      </p:sp>
      <p:sp>
        <p:nvSpPr>
          <p:cNvPr id="51" name="Shape 48"/>
          <p:cNvSpPr/>
          <p:nvPr/>
        </p:nvSpPr>
        <p:spPr>
          <a:xfrm>
            <a:off x="640080" y="53309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3" name="Text 50"/>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أَصْدِقَائِي يَذْهَبُونَ بَيْنَمَا أَبْقَى.</a:t>
            </a:r>
            <a:endParaRPr lang="ar-SA" sz="2050" dirty="0"/>
          </a:p>
        </p:txBody>
      </p:sp>
      <p:sp>
        <p:nvSpPr>
          <p:cNvPr id="54" name="Shape 51"/>
          <p:cNvSpPr/>
          <p:nvPr/>
        </p:nvSpPr>
        <p:spPr>
          <a:xfrm>
            <a:off x="640080" y="5788152"/>
            <a:ext cx="256032" cy="256032"/>
          </a:xfrm>
          <a:prstGeom prst="ellipse">
            <a:avLst/>
          </a:prstGeom>
          <a:solidFill>
            <a:srgbClr val="F4F1EA"/>
          </a:solidFill>
          <a:ln w="12700">
            <a:solidFill>
              <a:srgbClr val="F4F1EA"/>
            </a:solidFill>
            <a:prstDash val="solid"/>
          </a:ln>
        </p:spPr>
      </p:sp>
      <p:sp>
        <p:nvSpPr>
          <p:cNvPr id="55" name="Text 5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6" name="Text 53"/>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أَصْدِقَائِي تَذْهَبُونَ بَيْنَمَا أَبْقَى.</a:t>
            </a:r>
            <a:endParaRPr lang="ar-SA" sz="2050" dirty="0"/>
          </a:p>
        </p:txBody>
      </p:sp>
      <p:sp>
        <p:nvSpPr>
          <p:cNvPr id="57" name="Shape 54"/>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8" name="Shape 55"/>
          <p:cNvSpPr/>
          <p:nvPr/>
        </p:nvSpPr>
        <p:spPr>
          <a:xfrm>
            <a:off x="6313932" y="4288536"/>
            <a:ext cx="310896" cy="310896"/>
          </a:xfrm>
          <a:prstGeom prst="ellipse">
            <a:avLst/>
          </a:prstGeom>
          <a:solidFill>
            <a:srgbClr val="1B3B6F"/>
          </a:solidFill>
          <a:ln w="12700">
            <a:solidFill>
              <a:srgbClr val="1B3B6F"/>
            </a:solidFill>
            <a:prstDash val="solid"/>
          </a:ln>
        </p:spPr>
      </p:sp>
      <p:sp>
        <p:nvSpPr>
          <p:cNvPr id="59" name="Text 56"/>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8</a:t>
            </a:r>
            <a:endParaRPr lang="en-US" sz="1100" dirty="0"/>
          </a:p>
        </p:txBody>
      </p:sp>
      <p:sp>
        <p:nvSpPr>
          <p:cNvPr id="60" name="Text 57"/>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phrase means “on most days”?</a:t>
            </a:r>
            <a:endParaRPr lang="en-US" sz="1250" dirty="0"/>
          </a:p>
        </p:txBody>
      </p:sp>
      <p:sp>
        <p:nvSpPr>
          <p:cNvPr id="61" name="Shape 58"/>
          <p:cNvSpPr/>
          <p:nvPr/>
        </p:nvSpPr>
        <p:spPr>
          <a:xfrm>
            <a:off x="6368796" y="48737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3" name="Text 60"/>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فِي يَوْمٍ وَاحِدٍ</a:t>
            </a:r>
            <a:endParaRPr lang="ar-SA" sz="2050" dirty="0"/>
          </a:p>
        </p:txBody>
      </p:sp>
      <p:sp>
        <p:nvSpPr>
          <p:cNvPr id="64" name="Shape 61"/>
          <p:cNvSpPr/>
          <p:nvPr/>
        </p:nvSpPr>
        <p:spPr>
          <a:xfrm>
            <a:off x="6368796" y="53309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6" name="Text 63"/>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مَرَّةً كُلَّ شَهْرٍ</a:t>
            </a:r>
            <a:endParaRPr lang="ar-SA" sz="2050" dirty="0"/>
          </a:p>
        </p:txBody>
      </p:sp>
      <p:sp>
        <p:nvSpPr>
          <p:cNvPr id="67" name="Shape 64"/>
          <p:cNvSpPr/>
          <p:nvPr/>
        </p:nvSpPr>
        <p:spPr>
          <a:xfrm>
            <a:off x="6368796" y="5788152"/>
            <a:ext cx="256032" cy="256032"/>
          </a:xfrm>
          <a:prstGeom prst="ellipse">
            <a:avLst/>
          </a:prstGeom>
          <a:solidFill>
            <a:srgbClr val="F4F1EA"/>
          </a:solidFill>
          <a:ln w="12700">
            <a:solidFill>
              <a:srgbClr val="F4F1EA"/>
            </a:solidFill>
            <a:prstDash val="solid"/>
          </a:ln>
        </p:spPr>
      </p:sp>
      <p:sp>
        <p:nvSpPr>
          <p:cNvPr id="68" name="Text 65"/>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9" name="Text 66"/>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فِي مُعْظَمِ الأَيَّامِ</a:t>
            </a:r>
            <a:endParaRPr lang="ar-SA" sz="20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25 / 46</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D1-L03 · How Often?</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Answers and reasons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D1-L03</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20" name="Text 17"/>
          <p:cNvSpPr txBox="1"/>
          <p:nvPr/>
        </p:nvSpPr>
        <p:spPr>
          <a:xfrm>
            <a:off x="950976"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21" name="Text 18"/>
          <p:cNvSpPr txBox="1"/>
          <p:nvPr/>
        </p:nvSpPr>
        <p:spPr>
          <a:xfrm>
            <a:off x="3323295"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أَمَّا يَوْمُ الجُمُعَةِ ___ يَوْمٌ هَادِئٌ.</a:t>
            </a:r>
            <a:endParaRPr lang="ar-SA" sz="1500" dirty="0"/>
          </a:p>
        </p:txBody>
      </p:sp>
      <p:sp>
        <p:nvSpPr>
          <p:cNvPr id="22" name="Shape 19"/>
          <p:cNvSpPr/>
          <p:nvPr/>
        </p:nvSpPr>
        <p:spPr>
          <a:xfrm>
            <a:off x="640080" y="2490216"/>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4" name="Text 21"/>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وَهِيَ</a:t>
            </a:r>
            <a:endParaRPr lang="ar-SA" sz="1700" dirty="0"/>
          </a:p>
        </p:txBody>
      </p:sp>
      <p:sp>
        <p:nvSpPr>
          <p:cNvPr id="25" name="Shape 22"/>
          <p:cNvSpPr/>
          <p:nvPr/>
        </p:nvSpPr>
        <p:spPr>
          <a:xfrm>
            <a:off x="640080" y="2862072"/>
            <a:ext cx="256032" cy="256032"/>
          </a:xfrm>
          <a:prstGeom prst="ellipse">
            <a:avLst/>
          </a:prstGeom>
          <a:solidFill>
            <a:srgbClr val="C9CED6"/>
          </a:solidFill>
          <a:ln w="12700">
            <a:solidFill>
              <a:srgbClr val="C9CED6"/>
            </a:solidFill>
            <a:prstDash val="solid"/>
          </a:ln>
        </p:spPr>
      </p:sp>
      <p:sp>
        <p:nvSpPr>
          <p:cNvPr id="26"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7" name="Text 24"/>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فَأَنَا</a:t>
            </a:r>
            <a:endParaRPr lang="ar-SA" sz="1700" dirty="0"/>
          </a:p>
        </p:txBody>
      </p:sp>
      <p:sp>
        <p:nvSpPr>
          <p:cNvPr id="28" name="Shape 25"/>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9" name="Shape 26"/>
          <p:cNvSpPr/>
          <p:nvPr/>
        </p:nvSpPr>
        <p:spPr>
          <a:xfrm>
            <a:off x="640080" y="3233928"/>
            <a:ext cx="256032" cy="256032"/>
          </a:xfrm>
          <a:prstGeom prst="ellipse">
            <a:avLst/>
          </a:prstGeom>
          <a:solidFill>
            <a:srgbClr val="2E8B57"/>
          </a:solidFill>
          <a:ln w="12700">
            <a:solidFill>
              <a:srgbClr val="2E8B57"/>
            </a:solidFill>
            <a:prstDash val="solid"/>
          </a:ln>
        </p:spPr>
      </p:sp>
      <p:sp>
        <p:nvSpPr>
          <p:cNvPr id="30" name="Text 27"/>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31" name="Text 28"/>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فَهُوَ</a:t>
            </a:r>
            <a:endParaRPr lang="ar-SA" sz="1700" dirty="0"/>
          </a:p>
        </p:txBody>
      </p:sp>
      <p:sp>
        <p:nvSpPr>
          <p:cNvPr id="32" name="Text 29"/>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masculine topic is resumed by </a:t>
            </a:r>
            <a:pPr algn="l" indent="0" marL="0">
              <a:buNone/>
            </a:pPr>
            <a:r>
              <a:rPr lang="ar-SA" altLang="en-US" sz="1350" dirty="0">
                <a:solidFill>
                  <a:srgbClr val="8A6D1E"/>
                </a:solidFill>
                <a:latin typeface="Amiri" pitchFamily="34" charset="0"/>
                <a:ea typeface="Amiri" pitchFamily="34" charset="-122"/>
                <a:cs typeface="Amiri" pitchFamily="34" charset="-120"/>
              </a:rPr>
              <a:t>هُوَ</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33" name="Shape 30"/>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6313932" y="1947672"/>
            <a:ext cx="310896" cy="310896"/>
          </a:xfrm>
          <a:prstGeom prst="ellipse">
            <a:avLst/>
          </a:prstGeom>
          <a:solidFill>
            <a:srgbClr val="1B3B6F"/>
          </a:solidFill>
          <a:ln w="12700">
            <a:solidFill>
              <a:srgbClr val="1B3B6F"/>
            </a:solidFill>
            <a:prstDash val="solid"/>
          </a:ln>
        </p:spPr>
      </p:sp>
      <p:sp>
        <p:nvSpPr>
          <p:cNvPr id="35" name="Text 32"/>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36" name="Text 33"/>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sentence is organised with </a:t>
            </a:r>
            <a:pPr algn="l" indent="0" marL="0">
              <a:buNone/>
            </a:pPr>
            <a:r>
              <a:rPr lang="ar-SA" altLang="en-US" sz="1650" b="1" dirty="0">
                <a:solidFill>
                  <a:srgbClr val="1B3B6F"/>
                </a:solidFill>
                <a:latin typeface="Amiri" pitchFamily="34" charset="0"/>
                <a:ea typeface="Amiri" pitchFamily="34" charset="-122"/>
                <a:cs typeface="Amiri" pitchFamily="34" charset="-120"/>
              </a:rPr>
              <a:t>أَمَّا</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37" name="Shape 34"/>
          <p:cNvSpPr/>
          <p:nvPr/>
        </p:nvSpPr>
        <p:spPr>
          <a:xfrm>
            <a:off x="6368796" y="2490216"/>
            <a:ext cx="256032" cy="256032"/>
          </a:xfrm>
          <a:prstGeom prst="ellipse">
            <a:avLst/>
          </a:prstGeom>
          <a:solidFill>
            <a:srgbClr val="C9CED6"/>
          </a:solidFill>
          <a:ln w="12700">
            <a:solidFill>
              <a:srgbClr val="C9CED6"/>
            </a:solidFill>
            <a:prstDash val="solid"/>
          </a:ln>
        </p:spPr>
      </p:sp>
      <p:sp>
        <p:nvSpPr>
          <p:cNvPr id="38" name="Text 35"/>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9" name="Text 36"/>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أَمَّا أَخِي يَذْهَبُ فِي النَّادِي.</a:t>
            </a:r>
            <a:endParaRPr lang="ar-SA" sz="1700" dirty="0"/>
          </a:p>
        </p:txBody>
      </p:sp>
      <p:sp>
        <p:nvSpPr>
          <p:cNvPr id="40" name="Shape 37"/>
          <p:cNvSpPr/>
          <p:nvPr/>
        </p:nvSpPr>
        <p:spPr>
          <a:xfrm>
            <a:off x="6277356" y="2825496"/>
            <a:ext cx="5362956"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6368796" y="2862072"/>
            <a:ext cx="256032" cy="256032"/>
          </a:xfrm>
          <a:prstGeom prst="ellipse">
            <a:avLst/>
          </a:prstGeom>
          <a:solidFill>
            <a:srgbClr val="2E8B57"/>
          </a:solidFill>
          <a:ln w="12700">
            <a:solidFill>
              <a:srgbClr val="2E8B57"/>
            </a:solidFill>
            <a:prstDash val="solid"/>
          </a:ln>
        </p:spPr>
      </p:sp>
      <p:sp>
        <p:nvSpPr>
          <p:cNvPr id="42" name="Text 39"/>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43" name="Text 40"/>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أَمَّا أَخِي فَيَذْهَبُ إِلَى النَّادِي.</a:t>
            </a:r>
            <a:endParaRPr lang="ar-SA" sz="1700" dirty="0"/>
          </a:p>
        </p:txBody>
      </p:sp>
      <p:sp>
        <p:nvSpPr>
          <p:cNvPr id="44" name="Shape 41"/>
          <p:cNvSpPr/>
          <p:nvPr/>
        </p:nvSpPr>
        <p:spPr>
          <a:xfrm>
            <a:off x="6368796" y="3233928"/>
            <a:ext cx="256032" cy="256032"/>
          </a:xfrm>
          <a:prstGeom prst="ellipse">
            <a:avLst/>
          </a:prstGeom>
          <a:solidFill>
            <a:srgbClr val="C9CED6"/>
          </a:solidFill>
          <a:ln w="12700">
            <a:solidFill>
              <a:srgbClr val="C9CED6"/>
            </a:solidFill>
            <a:prstDash val="solid"/>
          </a:ln>
        </p:spPr>
      </p:sp>
      <p:sp>
        <p:nvSpPr>
          <p:cNvPr id="45" name="Text 42"/>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6" name="Text 43"/>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أَخِي أَمَّا فَيَذْهَبُ.</a:t>
            </a:r>
            <a:endParaRPr lang="ar-SA" sz="1700" dirty="0"/>
          </a:p>
        </p:txBody>
      </p:sp>
      <p:sp>
        <p:nvSpPr>
          <p:cNvPr id="47" name="Text 44"/>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أَمَّا</a:t>
            </a:r>
            <a:pPr algn="l" indent="0" marL="0">
              <a:buNone/>
            </a:pPr>
            <a:r>
              <a:rPr lang="en-US" sz="1050" i="1" dirty="0">
                <a:solidFill>
                  <a:srgbClr val="8A6D1E"/>
                </a:solidFill>
                <a:latin typeface="Calibri" pitchFamily="34" charset="0"/>
                <a:ea typeface="Calibri" pitchFamily="34" charset="-122"/>
                <a:cs typeface="Calibri" pitchFamily="34" charset="-120"/>
              </a:rPr>
              <a:t> topic + </a:t>
            </a:r>
            <a:pPr algn="l" indent="0" marL="0">
              <a:buNone/>
            </a:pPr>
            <a:r>
              <a:rPr lang="ar-SA" altLang="en-US" sz="1350" dirty="0">
                <a:solidFill>
                  <a:srgbClr val="8A6D1E"/>
                </a:solidFill>
                <a:latin typeface="Amiri" pitchFamily="34" charset="0"/>
                <a:ea typeface="Amiri" pitchFamily="34" charset="-122"/>
                <a:cs typeface="Amiri" pitchFamily="34" charset="-120"/>
              </a:rPr>
              <a:t>فَـ</a:t>
            </a:r>
            <a:pPr algn="l" indent="0" marL="0">
              <a:buNone/>
            </a:pPr>
            <a:r>
              <a:rPr lang="en-US" sz="1050" i="1" dirty="0">
                <a:solidFill>
                  <a:srgbClr val="8A6D1E"/>
                </a:solidFill>
                <a:latin typeface="Calibri" pitchFamily="34" charset="0"/>
                <a:ea typeface="Calibri" pitchFamily="34" charset="-122"/>
                <a:cs typeface="Calibri" pitchFamily="34" charset="-120"/>
              </a:rPr>
              <a:t> comment.</a:t>
            </a:r>
            <a:endParaRPr lang="en-US" sz="1050" dirty="0"/>
          </a:p>
        </p:txBody>
      </p:sp>
      <p:sp>
        <p:nvSpPr>
          <p:cNvPr id="48" name="Shape 45"/>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9" name="Shape 46"/>
          <p:cNvSpPr/>
          <p:nvPr/>
        </p:nvSpPr>
        <p:spPr>
          <a:xfrm>
            <a:off x="585216" y="4288536"/>
            <a:ext cx="310896" cy="310896"/>
          </a:xfrm>
          <a:prstGeom prst="ellipse">
            <a:avLst/>
          </a:prstGeom>
          <a:solidFill>
            <a:srgbClr val="1B3B6F"/>
          </a:solidFill>
          <a:ln w="12700">
            <a:solidFill>
              <a:srgbClr val="1B3B6F"/>
            </a:solidFill>
            <a:prstDash val="solid"/>
          </a:ln>
        </p:spPr>
      </p:sp>
      <p:sp>
        <p:nvSpPr>
          <p:cNvPr id="50" name="Text 47"/>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7</a:t>
            </a:r>
            <a:endParaRPr lang="en-US" sz="1100" dirty="0"/>
          </a:p>
        </p:txBody>
      </p:sp>
      <p:sp>
        <p:nvSpPr>
          <p:cNvPr id="51" name="Text 48"/>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plural agreement.</a:t>
            </a:r>
            <a:endParaRPr lang="en-US" sz="1250" dirty="0"/>
          </a:p>
        </p:txBody>
      </p:sp>
      <p:sp>
        <p:nvSpPr>
          <p:cNvPr id="52" name="Shape 49"/>
          <p:cNvSpPr/>
          <p:nvPr/>
        </p:nvSpPr>
        <p:spPr>
          <a:xfrm>
            <a:off x="640080" y="4831080"/>
            <a:ext cx="256032" cy="256032"/>
          </a:xfrm>
          <a:prstGeom prst="ellipse">
            <a:avLst/>
          </a:prstGeom>
          <a:solidFill>
            <a:srgbClr val="C9CED6"/>
          </a:solidFill>
          <a:ln w="12700">
            <a:solidFill>
              <a:srgbClr val="C9CED6"/>
            </a:solidFill>
            <a:prstDash val="solid"/>
          </a:ln>
        </p:spPr>
      </p:sp>
      <p:sp>
        <p:nvSpPr>
          <p:cNvPr id="53" name="Text 50"/>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4" name="Text 51"/>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أَصْدِقَائِي يَذْهَبُ بَيْنَمَا أَبْقَى.</a:t>
            </a:r>
            <a:endParaRPr lang="ar-SA" sz="1700" dirty="0"/>
          </a:p>
        </p:txBody>
      </p:sp>
      <p:sp>
        <p:nvSpPr>
          <p:cNvPr id="55" name="Shape 52"/>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640080" y="5202936"/>
            <a:ext cx="256032" cy="256032"/>
          </a:xfrm>
          <a:prstGeom prst="ellipse">
            <a:avLst/>
          </a:prstGeom>
          <a:solidFill>
            <a:srgbClr val="2E8B57"/>
          </a:solidFill>
          <a:ln w="12700">
            <a:solidFill>
              <a:srgbClr val="2E8B57"/>
            </a:solidFill>
            <a:prstDash val="solid"/>
          </a:ln>
        </p:spPr>
      </p:sp>
      <p:sp>
        <p:nvSpPr>
          <p:cNvPr id="57" name="Text 54"/>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58" name="Text 55"/>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أَصْدِقَائِي يَذْهَبُونَ بَيْنَمَا أَبْقَى.</a:t>
            </a:r>
            <a:endParaRPr lang="ar-SA" sz="1700" dirty="0"/>
          </a:p>
        </p:txBody>
      </p:sp>
      <p:sp>
        <p:nvSpPr>
          <p:cNvPr id="59" name="Shape 56"/>
          <p:cNvSpPr/>
          <p:nvPr/>
        </p:nvSpPr>
        <p:spPr>
          <a:xfrm>
            <a:off x="640080" y="5574792"/>
            <a:ext cx="256032" cy="256032"/>
          </a:xfrm>
          <a:prstGeom prst="ellipse">
            <a:avLst/>
          </a:prstGeom>
          <a:solidFill>
            <a:srgbClr val="C9CED6"/>
          </a:solidFill>
          <a:ln w="12700">
            <a:solidFill>
              <a:srgbClr val="C9CED6"/>
            </a:solidFill>
            <a:prstDash val="solid"/>
          </a:ln>
        </p:spPr>
      </p:sp>
      <p:sp>
        <p:nvSpPr>
          <p:cNvPr id="60" name="Text 57"/>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1" name="Text 58"/>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أَصْدِقَائِي تَذْهَبُونَ بَيْنَمَا أَبْقَى.</a:t>
            </a:r>
            <a:endParaRPr lang="ar-SA" sz="1700" dirty="0"/>
          </a:p>
        </p:txBody>
      </p:sp>
      <p:sp>
        <p:nvSpPr>
          <p:cNvPr id="62" name="Text 59"/>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 human masculine plural takes </a:t>
            </a:r>
            <a:pPr algn="l" indent="0" marL="0">
              <a:buNone/>
            </a:pPr>
            <a:r>
              <a:rPr lang="ar-SA" altLang="en-US" sz="1350" dirty="0">
                <a:solidFill>
                  <a:srgbClr val="8A6D1E"/>
                </a:solidFill>
                <a:latin typeface="Amiri" pitchFamily="34" charset="0"/>
                <a:ea typeface="Amiri" pitchFamily="34" charset="-122"/>
                <a:cs typeface="Amiri" pitchFamily="34" charset="-120"/>
              </a:rPr>
              <a:t>يَذْهَبُونَ</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63" name="Shape 60"/>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6313932" y="4288536"/>
            <a:ext cx="310896" cy="310896"/>
          </a:xfrm>
          <a:prstGeom prst="ellipse">
            <a:avLst/>
          </a:prstGeom>
          <a:solidFill>
            <a:srgbClr val="1B3B6F"/>
          </a:solidFill>
          <a:ln w="12700">
            <a:solidFill>
              <a:srgbClr val="1B3B6F"/>
            </a:solidFill>
            <a:prstDash val="solid"/>
          </a:ln>
        </p:spPr>
      </p:sp>
      <p:sp>
        <p:nvSpPr>
          <p:cNvPr id="65" name="Text 62"/>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8</a:t>
            </a:r>
            <a:endParaRPr lang="en-US" sz="1100" dirty="0"/>
          </a:p>
        </p:txBody>
      </p:sp>
      <p:sp>
        <p:nvSpPr>
          <p:cNvPr id="66" name="Text 63"/>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phrase means “on most days”?</a:t>
            </a:r>
            <a:endParaRPr lang="en-US" sz="1250" dirty="0"/>
          </a:p>
        </p:txBody>
      </p:sp>
      <p:sp>
        <p:nvSpPr>
          <p:cNvPr id="67" name="Shape 64"/>
          <p:cNvSpPr/>
          <p:nvPr/>
        </p:nvSpPr>
        <p:spPr>
          <a:xfrm>
            <a:off x="6368796" y="4831080"/>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9" name="Text 66"/>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فِي يَوْمٍ وَاحِدٍ</a:t>
            </a:r>
            <a:endParaRPr lang="ar-SA" sz="1700" dirty="0"/>
          </a:p>
        </p:txBody>
      </p:sp>
      <p:sp>
        <p:nvSpPr>
          <p:cNvPr id="70" name="Shape 67"/>
          <p:cNvSpPr/>
          <p:nvPr/>
        </p:nvSpPr>
        <p:spPr>
          <a:xfrm>
            <a:off x="6368796" y="5202936"/>
            <a:ext cx="256032" cy="256032"/>
          </a:xfrm>
          <a:prstGeom prst="ellipse">
            <a:avLst/>
          </a:prstGeom>
          <a:solidFill>
            <a:srgbClr val="C9CED6"/>
          </a:solidFill>
          <a:ln w="12700">
            <a:solidFill>
              <a:srgbClr val="C9CED6"/>
            </a:solidFill>
            <a:prstDash val="solid"/>
          </a:ln>
        </p:spPr>
      </p:sp>
      <p:sp>
        <p:nvSpPr>
          <p:cNvPr id="71" name="Text 68"/>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2" name="Text 69"/>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مَرَّةً كُلَّ شَهْرٍ</a:t>
            </a:r>
            <a:endParaRPr lang="ar-SA" sz="1700" dirty="0"/>
          </a:p>
        </p:txBody>
      </p:sp>
      <p:sp>
        <p:nvSpPr>
          <p:cNvPr id="73" name="Shape 70"/>
          <p:cNvSpPr/>
          <p:nvPr/>
        </p:nvSpPr>
        <p:spPr>
          <a:xfrm>
            <a:off x="6277356" y="5538216"/>
            <a:ext cx="5362956" cy="347472"/>
          </a:xfrm>
          <a:prstGeom prst="roundRect">
            <a:avLst>
              <a:gd name="adj" fmla="val 15789"/>
            </a:avLst>
          </a:prstGeom>
          <a:solidFill>
            <a:srgbClr val="E6F4EC"/>
          </a:solidFill>
          <a:ln w="9525">
            <a:solidFill>
              <a:srgbClr val="2E8B57"/>
            </a:solidFill>
            <a:prstDash val="solid"/>
          </a:ln>
        </p:spPr>
      </p:sp>
      <p:sp>
        <p:nvSpPr>
          <p:cNvPr id="74" name="Shape 71"/>
          <p:cNvSpPr/>
          <p:nvPr/>
        </p:nvSpPr>
        <p:spPr>
          <a:xfrm>
            <a:off x="6368796" y="5574792"/>
            <a:ext cx="256032" cy="256032"/>
          </a:xfrm>
          <a:prstGeom prst="ellipse">
            <a:avLst/>
          </a:prstGeom>
          <a:solidFill>
            <a:srgbClr val="2E8B57"/>
          </a:solidFill>
          <a:ln w="12700">
            <a:solidFill>
              <a:srgbClr val="2E8B57"/>
            </a:solidFill>
            <a:prstDash val="solid"/>
          </a:ln>
        </p:spPr>
      </p:sp>
      <p:sp>
        <p:nvSpPr>
          <p:cNvPr id="75" name="Text 72"/>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6" name="Text 73"/>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فِي مُعْظَمِ الأَيَّامِ</a:t>
            </a:r>
            <a:endParaRPr lang="ar-SA" sz="1700" dirty="0"/>
          </a:p>
        </p:txBody>
      </p:sp>
      <p:sp>
        <p:nvSpPr>
          <p:cNvPr id="77" name="Text 74"/>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فِي مُعْظَمِ الأَيَّامِ</a:t>
            </a:r>
            <a:pPr algn="l" indent="0" marL="0">
              <a:buNone/>
            </a:pPr>
            <a:r>
              <a:rPr lang="en-US" sz="1050" i="1" dirty="0">
                <a:solidFill>
                  <a:srgbClr val="8A6D1E"/>
                </a:solidFill>
                <a:latin typeface="Calibri" pitchFamily="34" charset="0"/>
                <a:ea typeface="Calibri" pitchFamily="34" charset="-122"/>
                <a:cs typeface="Calibri" pitchFamily="34" charset="-120"/>
              </a:rPr>
              <a:t> = on most days.</a:t>
            </a:r>
            <a:endParaRPr lang="en-US" sz="1050" dirty="0"/>
          </a:p>
        </p:txBody>
      </p:sp>
      <p:sp>
        <p:nvSpPr>
          <p:cNvPr id="78" name="Text 7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26 / 46</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D1-L03 · How Often?</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D1-L03</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أُخْتِي يَذْهَبُ يَوْمِيًّا.</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ar-SA" altLang="en-US" sz="1700" dirty="0">
                <a:solidFill>
                  <a:srgbClr val="5A6472"/>
                </a:solidFill>
                <a:latin typeface="Amiri" pitchFamily="34" charset="0"/>
                <a:ea typeface="Amiri" pitchFamily="34" charset="-122"/>
                <a:cs typeface="Amiri" pitchFamily="34" charset="-120"/>
              </a:rPr>
              <a:t>أُخْتِي</a:t>
            </a:r>
            <a:pPr algn="l" indent="0" marL="0">
              <a:buNone/>
            </a:pPr>
            <a:r>
              <a:rPr lang="en-US" sz="1300" i="1" dirty="0">
                <a:solidFill>
                  <a:srgbClr val="5A6472"/>
                </a:solidFill>
                <a:latin typeface="Calibri" pitchFamily="34" charset="0"/>
                <a:ea typeface="Calibri" pitchFamily="34" charset="-122"/>
                <a:cs typeface="Calibri" pitchFamily="34" charset="-120"/>
              </a:rPr>
              <a:t> is feminine. Which prefix?</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أَمَّا الجُمُعَةُ هُوَ هَادِئٌ.</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What must follow </a:t>
            </a:r>
            <a:pPr algn="l" indent="0" marL="0">
              <a:buNone/>
            </a:pPr>
            <a:r>
              <a:rPr lang="ar-SA" altLang="en-US" sz="1700" dirty="0">
                <a:solidFill>
                  <a:srgbClr val="5A6472"/>
                </a:solidFill>
                <a:latin typeface="Amiri" pitchFamily="34" charset="0"/>
                <a:ea typeface="Amiri" pitchFamily="34" charset="-122"/>
                <a:cs typeface="Amiri" pitchFamily="34" charset="-120"/>
              </a:rPr>
              <a:t>أَمَّا</a:t>
            </a:r>
            <a:pPr algn="l" indent="0" marL="0">
              <a:buNone/>
            </a:pPr>
            <a:r>
              <a:rPr lang="en-US" sz="1300" i="1" dirty="0">
                <a:solidFill>
                  <a:srgbClr val="5A6472"/>
                </a:solidFill>
                <a:latin typeface="Calibri" pitchFamily="34" charset="0"/>
                <a:ea typeface="Calibri" pitchFamily="34" charset="-122"/>
                <a:cs typeface="Calibri" pitchFamily="34" charset="-120"/>
              </a:rPr>
              <a:t> …?</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الثُّلَاثَاءُ أَكْثَرُ اِنْشِغَالًا فِي الاِثْنَيْنِ.</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Which little word follows a comparative?</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27 / 46</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D1-L03 · How Often?</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D1-L03</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أُخْتِي يَذْهَبُ يَوْمِيًّا.</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أُخْتِي تَذْهَبُ يَوْمِيًّا.</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Feminine subject takes </a:t>
            </a:r>
            <a:pPr algn="l" indent="0" marL="0">
              <a:buNone/>
            </a:pPr>
            <a:r>
              <a:rPr lang="ar-SA" altLang="en-US" sz="1500" b="1" dirty="0">
                <a:solidFill>
                  <a:srgbClr val="1B3B6F"/>
                </a:solidFill>
                <a:latin typeface="Amiri" pitchFamily="34" charset="0"/>
                <a:ea typeface="Amiri" pitchFamily="34" charset="-122"/>
                <a:cs typeface="Amiri" pitchFamily="34" charset="-120"/>
              </a:rPr>
              <a:t>تَـ</a:t>
            </a:r>
            <a:pPr algn="l" indent="0" marL="0">
              <a:buNone/>
            </a:pPr>
            <a:r>
              <a:rPr lang="en-US" sz="1150" b="1" dirty="0">
                <a:solidFill>
                  <a:srgbClr val="1B3B6F"/>
                </a:solidFill>
                <a:latin typeface="Calibri" pitchFamily="34" charset="0"/>
                <a:ea typeface="Calibri" pitchFamily="34" charset="-122"/>
                <a:cs typeface="Calibri" pitchFamily="34" charset="-120"/>
              </a:rPr>
              <a:t>.</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أَمَّا الجُمُعَةُ هُوَ هَادِئٌ.</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أَمَّا يَوْمُ الجُمُعَةِ فَهُوَ هَادِئٌ.</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Use </a:t>
            </a:r>
            <a:pPr algn="l" indent="0" marL="0">
              <a:buNone/>
            </a:pPr>
            <a:r>
              <a:rPr lang="ar-SA" altLang="en-US" sz="1500" b="1" dirty="0">
                <a:solidFill>
                  <a:srgbClr val="1B3B6F"/>
                </a:solidFill>
                <a:latin typeface="Amiri" pitchFamily="34" charset="0"/>
                <a:ea typeface="Amiri" pitchFamily="34" charset="-122"/>
                <a:cs typeface="Amiri" pitchFamily="34" charset="-120"/>
              </a:rPr>
              <a:t>فَـ</a:t>
            </a:r>
            <a:pPr algn="l" indent="0" marL="0">
              <a:buNone/>
            </a:pPr>
            <a:r>
              <a:rPr lang="en-US" sz="1150" b="1" dirty="0">
                <a:solidFill>
                  <a:srgbClr val="1B3B6F"/>
                </a:solidFill>
                <a:latin typeface="Calibri" pitchFamily="34" charset="0"/>
                <a:ea typeface="Calibri" pitchFamily="34" charset="-122"/>
                <a:cs typeface="Calibri" pitchFamily="34" charset="-120"/>
              </a:rPr>
              <a:t> after </a:t>
            </a:r>
            <a:pPr algn="l" indent="0" marL="0">
              <a:buNone/>
            </a:pPr>
            <a:r>
              <a:rPr lang="ar-SA" altLang="en-US" sz="1500" b="1" dirty="0">
                <a:solidFill>
                  <a:srgbClr val="1B3B6F"/>
                </a:solidFill>
                <a:latin typeface="Amiri" pitchFamily="34" charset="0"/>
                <a:ea typeface="Amiri" pitchFamily="34" charset="-122"/>
                <a:cs typeface="Amiri" pitchFamily="34" charset="-120"/>
              </a:rPr>
              <a:t>أَمَّا</a:t>
            </a:r>
            <a:pPr algn="l" indent="0" marL="0">
              <a:buNone/>
            </a:pPr>
            <a:r>
              <a:rPr lang="en-US" sz="1150" b="1" dirty="0">
                <a:solidFill>
                  <a:srgbClr val="1B3B6F"/>
                </a:solidFill>
                <a:latin typeface="Calibri" pitchFamily="34" charset="0"/>
                <a:ea typeface="Calibri" pitchFamily="34" charset="-122"/>
                <a:cs typeface="Calibri" pitchFamily="34" charset="-120"/>
              </a:rPr>
              <a:t> and match the masculine topic.</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الثُّلَاثَاءُ أَكْثَرُ اِنْشِغَالًا فِي الاِثْنَيْنِ.</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الثُّلَاثَاءُ أَكْثَرُ اِنْشِغَالًا مِنَ الاِثْنَيْنِ.</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Comparatives take </a:t>
            </a:r>
            <a:pPr algn="l" indent="0" marL="0">
              <a:buNone/>
            </a:pPr>
            <a:r>
              <a:rPr lang="ar-SA" altLang="en-US" sz="1500" b="1" dirty="0">
                <a:solidFill>
                  <a:srgbClr val="1B3B6F"/>
                </a:solidFill>
                <a:latin typeface="Amiri" pitchFamily="34" charset="0"/>
                <a:ea typeface="Amiri" pitchFamily="34" charset="-122"/>
                <a:cs typeface="Amiri" pitchFamily="34" charset="-120"/>
              </a:rPr>
              <a:t>مِنْ</a:t>
            </a:r>
            <a:pPr algn="l" indent="0" marL="0">
              <a:buNone/>
            </a:pPr>
            <a:r>
              <a:rPr lang="en-US" sz="1150" b="1" dirty="0">
                <a:solidFill>
                  <a:srgbClr val="1B3B6F"/>
                </a:solidFill>
                <a:latin typeface="Calibri" pitchFamily="34" charset="0"/>
                <a:ea typeface="Calibri" pitchFamily="34" charset="-122"/>
                <a:cs typeface="Calibri" pitchFamily="34" charset="-120"/>
              </a:rPr>
              <a:t>.</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28 / 46</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D1-L03 · How Often?</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 TEACHER READS ALOUD TWICE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Two different weeks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D1-L03</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is Omar’s busiest day?</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Monday</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Tuesday</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Friday</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he do after the extra lesson?</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rests</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visits family</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trains</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Why is Tuesday calmer?</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there is no school</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he travels</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homework is often completed early</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often does Hanaa train?</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twice weekly</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daily</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monthly</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Why is her weekend less organised?</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she never sleeps</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appointments change</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school is longer</a:t>
            </a:r>
            <a:endParaRPr lang="en-US" sz="1250" dirty="0"/>
          </a:p>
        </p:txBody>
      </p:sp>
      <p:sp>
        <p:nvSpPr>
          <p:cNvPr id="80" name="Shape 7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1" name="Shape 7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82" name="Text 7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83" name="Text 80"/>
          <p:cNvSpPr txBox="1"/>
          <p:nvPr/>
        </p:nvSpPr>
        <p:spPr>
          <a:xfrm>
            <a:off x="8296656" y="4791456"/>
            <a:ext cx="3270504" cy="1380744"/>
          </a:xfrm>
          <a:prstGeom prst="rect">
            <a:avLst/>
          </a:prstGeom>
          <a:noFill/>
          <a:ln/>
        </p:spPr>
        <p:txBody>
          <a:bodyPr wrap="square" lIns="0" tIns="0" rIns="0" bIns="0" rtlCol="0" anchor="t"/>
          <a:lstStyle/>
          <a:p>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Listen twice. Core: questions 1, 2 and 4.</a:t>
            </a:r>
            <a:endParaRPr lang="en-US" sz="1250" dirty="0"/>
          </a:p>
          <a:p>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Listen for: </a:t>
            </a:r>
            <a:pPr algn="l" indent="0" marL="0">
              <a:lnSpc>
                <a:spcPct val="115000"/>
              </a:lnSpc>
              <a:buNone/>
            </a:pPr>
            <a:r>
              <a:rPr lang="ar-SA" altLang="en-US" sz="1650" dirty="0">
                <a:solidFill>
                  <a:srgbClr val="1E6B52"/>
                </a:solidFill>
                <a:latin typeface="Amiri" pitchFamily="34" charset="0"/>
                <a:ea typeface="Amiri" pitchFamily="34" charset="-122"/>
                <a:cs typeface="Amiri" pitchFamily="34" charset="-120"/>
              </a:rPr>
              <a:t>الاِثْنَيْنِ</a:t>
            </a:r>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 · </a:t>
            </a:r>
            <a:pPr algn="l" indent="0" marL="0">
              <a:lnSpc>
                <a:spcPct val="115000"/>
              </a:lnSpc>
              <a:buNone/>
            </a:pPr>
            <a:r>
              <a:rPr lang="ar-SA" altLang="en-US" sz="1650" dirty="0">
                <a:solidFill>
                  <a:srgbClr val="1E6B52"/>
                </a:solidFill>
                <a:latin typeface="Amiri" pitchFamily="34" charset="0"/>
                <a:ea typeface="Amiri" pitchFamily="34" charset="-122"/>
                <a:cs typeface="Amiri" pitchFamily="34" charset="-120"/>
              </a:rPr>
              <a:t>أَتَمَرَّنُ</a:t>
            </a:r>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 · </a:t>
            </a:r>
            <a:pPr algn="l" indent="0" marL="0">
              <a:lnSpc>
                <a:spcPct val="115000"/>
              </a:lnSpc>
              <a:buNone/>
            </a:pPr>
            <a:r>
              <a:rPr lang="ar-SA" altLang="en-US" sz="1650" dirty="0">
                <a:solidFill>
                  <a:srgbClr val="1E6B52"/>
                </a:solidFill>
                <a:latin typeface="Amiri" pitchFamily="34" charset="0"/>
                <a:ea typeface="Amiri" pitchFamily="34" charset="-122"/>
                <a:cs typeface="Amiri" pitchFamily="34" charset="-120"/>
              </a:rPr>
              <a:t>مَرَّتَيْنِ</a:t>
            </a:r>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a:t>
            </a:r>
            <a:endParaRPr lang="en-US" sz="1250" dirty="0"/>
          </a:p>
        </p:txBody>
      </p:sp>
      <p:sp>
        <p:nvSpPr>
          <p:cNvPr id="84" name="Text 8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29 / 46</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D1-L03 · How Often?</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SUPPORT · READ ALONG (CORE)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ea typeface="Cambria" pitchFamily="34" charset="-122"/>
                <a:cs typeface="Cambria" pitchFamily="34" charset="-120"/>
              </a:rPr>
              <a:t>The script — read along with English</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نَصُّ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D1-L03</a:t>
            </a:r>
            <a:endParaRPr lang="en-US" sz="850" dirty="0"/>
          </a:p>
        </p:txBody>
      </p:sp>
      <p:sp>
        <p:nvSpPr>
          <p:cNvPr id="15" name="Shape 12"/>
          <p:cNvSpPr/>
          <p:nvPr/>
        </p:nvSpPr>
        <p:spPr>
          <a:xfrm>
            <a:off x="457200" y="1810512"/>
            <a:ext cx="11274552" cy="841248"/>
          </a:xfrm>
          <a:prstGeom prst="roundRect">
            <a:avLst>
              <a:gd name="adj" fmla="val 5435"/>
            </a:avLst>
          </a:prstGeom>
          <a:solidFill>
            <a:srgbClr val="FFFFFF"/>
          </a:solidFill>
          <a:ln w="9525">
            <a:solidFill>
              <a:srgbClr val="D8D0BF"/>
            </a:solidFill>
            <a:prstDash val="solid"/>
          </a:ln>
        </p:spPr>
      </p:sp>
      <p:sp>
        <p:nvSpPr>
          <p:cNvPr id="16" name="Text 13"/>
          <p:cNvSpPr txBox="1"/>
          <p:nvPr/>
        </p:nvSpPr>
        <p:spPr>
          <a:xfrm>
            <a:off x="4937760" y="18288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يَقُولُ عُمَرُ: يَوْمُ الاِثْنَيْنِ أَكْثَرُ أَيَّامِي اِنْشِغَالًا؛</a:t>
            </a:r>
            <a:endParaRPr lang="ar-SA" sz="2000" dirty="0"/>
          </a:p>
        </p:txBody>
      </p:sp>
      <p:sp>
        <p:nvSpPr>
          <p:cNvPr id="17" name="Text 14"/>
          <p:cNvSpPr txBox="1"/>
          <p:nvPr/>
        </p:nvSpPr>
        <p:spPr>
          <a:xfrm>
            <a:off x="640080" y="18288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Omar says: Monday is my busiest day;</a:t>
            </a:r>
            <a:endParaRPr lang="en-US" sz="1250" dirty="0"/>
          </a:p>
        </p:txBody>
      </p:sp>
      <p:sp>
        <p:nvSpPr>
          <p:cNvPr id="18" name="Shape 15"/>
          <p:cNvSpPr/>
          <p:nvPr/>
        </p:nvSpPr>
        <p:spPr>
          <a:xfrm>
            <a:off x="457200" y="2724912"/>
            <a:ext cx="11274552" cy="841248"/>
          </a:xfrm>
          <a:prstGeom prst="roundRect">
            <a:avLst>
              <a:gd name="adj" fmla="val 5435"/>
            </a:avLst>
          </a:prstGeom>
          <a:solidFill>
            <a:srgbClr val="F4F1EA"/>
          </a:solidFill>
          <a:ln w="9525">
            <a:solidFill>
              <a:srgbClr val="D8D0BF"/>
            </a:solidFill>
            <a:prstDash val="solid"/>
          </a:ln>
        </p:spPr>
      </p:sp>
      <p:sp>
        <p:nvSpPr>
          <p:cNvPr id="19" name="Text 16"/>
          <p:cNvSpPr txBox="1"/>
          <p:nvPr/>
        </p:nvSpPr>
        <p:spPr>
          <a:xfrm>
            <a:off x="4937760" y="27432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فَبَعْدَ المَدْرَسَةِ أَذْهَبُ إِلَى دَرْسٍ إِضَافِيٍّ، ثُمَّ أَتَمَرَّنُ فِي المَسَاءِ.</a:t>
            </a:r>
            <a:endParaRPr lang="ar-SA" sz="2000" dirty="0"/>
          </a:p>
        </p:txBody>
      </p:sp>
      <p:sp>
        <p:nvSpPr>
          <p:cNvPr id="20" name="Text 17"/>
          <p:cNvSpPr txBox="1"/>
          <p:nvPr/>
        </p:nvSpPr>
        <p:spPr>
          <a:xfrm>
            <a:off x="640080" y="27432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after school I go to an extra lesson, then I train in the evening.</a:t>
            </a:r>
            <a:endParaRPr lang="en-US" sz="1250" dirty="0"/>
          </a:p>
        </p:txBody>
      </p:sp>
      <p:sp>
        <p:nvSpPr>
          <p:cNvPr id="21" name="Shape 18"/>
          <p:cNvSpPr/>
          <p:nvPr/>
        </p:nvSpPr>
        <p:spPr>
          <a:xfrm>
            <a:off x="457200" y="3639312"/>
            <a:ext cx="11274552" cy="841248"/>
          </a:xfrm>
          <a:prstGeom prst="roundRect">
            <a:avLst>
              <a:gd name="adj" fmla="val 5435"/>
            </a:avLst>
          </a:prstGeom>
          <a:solidFill>
            <a:srgbClr val="FFFFFF"/>
          </a:solidFill>
          <a:ln w="9525">
            <a:solidFill>
              <a:srgbClr val="D8D0BF"/>
            </a:solidFill>
            <a:prstDash val="solid"/>
          </a:ln>
        </p:spPr>
      </p:sp>
      <p:sp>
        <p:nvSpPr>
          <p:cNvPr id="22" name="Text 19"/>
          <p:cNvSpPr txBox="1"/>
          <p:nvPr/>
        </p:nvSpPr>
        <p:spPr>
          <a:xfrm>
            <a:off x="4937760" y="36576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أَمَّا يَوْمُ الثُّلَاثَاءِ فَهُوَ أَهْدَأُ، وَغَالِبًا مَا أُكْمِلُ وَاجِبِي مُبَكِّرًا.</a:t>
            </a:r>
            <a:endParaRPr lang="ar-SA" sz="2000" dirty="0"/>
          </a:p>
        </p:txBody>
      </p:sp>
      <p:sp>
        <p:nvSpPr>
          <p:cNvPr id="23" name="Text 20"/>
          <p:cNvSpPr txBox="1"/>
          <p:nvPr/>
        </p:nvSpPr>
        <p:spPr>
          <a:xfrm>
            <a:off x="640080" y="36576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As for Tuesday, it is calmer, and I often finish my homework early.</a:t>
            </a:r>
            <a:endParaRPr lang="en-US" sz="1250" dirty="0"/>
          </a:p>
        </p:txBody>
      </p:sp>
      <p:sp>
        <p:nvSpPr>
          <p:cNvPr id="24" name="Shape 21"/>
          <p:cNvSpPr/>
          <p:nvPr/>
        </p:nvSpPr>
        <p:spPr>
          <a:xfrm>
            <a:off x="457200" y="4553712"/>
            <a:ext cx="11274552" cy="841248"/>
          </a:xfrm>
          <a:prstGeom prst="roundRect">
            <a:avLst>
              <a:gd name="adj" fmla="val 5435"/>
            </a:avLst>
          </a:prstGeom>
          <a:solidFill>
            <a:srgbClr val="F4F1EA"/>
          </a:solidFill>
          <a:ln w="9525">
            <a:solidFill>
              <a:srgbClr val="D8D0BF"/>
            </a:solidFill>
            <a:prstDash val="solid"/>
          </a:ln>
        </p:spPr>
      </p:sp>
      <p:sp>
        <p:nvSpPr>
          <p:cNvPr id="25" name="Text 22"/>
          <p:cNvSpPr txBox="1"/>
          <p:nvPr/>
        </p:nvSpPr>
        <p:spPr>
          <a:xfrm>
            <a:off x="4937760" y="45720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وَتَقُولُ هَنَاءُ: أَنَا أَتَمَرَّنُ مَرَّتَيْنِ فِي الأُسْبُوعِ، بَيْنَمَا يَتَمَرَّنُ أَخِي يَوْمِيًّا.</a:t>
            </a:r>
            <a:endParaRPr lang="ar-SA" sz="2000" dirty="0"/>
          </a:p>
        </p:txBody>
      </p:sp>
      <p:sp>
        <p:nvSpPr>
          <p:cNvPr id="26" name="Text 23"/>
          <p:cNvSpPr txBox="1"/>
          <p:nvPr/>
        </p:nvSpPr>
        <p:spPr>
          <a:xfrm>
            <a:off x="640080" y="45720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And Hanaa says: I train twice a week, whereas my brother trains every day.</a:t>
            </a:r>
            <a:endParaRPr lang="en-US" sz="1250" dirty="0"/>
          </a:p>
        </p:txBody>
      </p:sp>
      <p:sp>
        <p:nvSpPr>
          <p:cNvPr id="27" name="Shape 24"/>
          <p:cNvSpPr/>
          <p:nvPr/>
        </p:nvSpPr>
        <p:spPr>
          <a:xfrm>
            <a:off x="457200" y="5468112"/>
            <a:ext cx="11274552" cy="841248"/>
          </a:xfrm>
          <a:prstGeom prst="roundRect">
            <a:avLst>
              <a:gd name="adj" fmla="val 5435"/>
            </a:avLst>
          </a:prstGeom>
          <a:solidFill>
            <a:srgbClr val="FFFFFF"/>
          </a:solidFill>
          <a:ln w="9525">
            <a:solidFill>
              <a:srgbClr val="D8D0BF"/>
            </a:solidFill>
            <a:prstDash val="solid"/>
          </a:ln>
        </p:spPr>
      </p:sp>
      <p:sp>
        <p:nvSpPr>
          <p:cNvPr id="28" name="Text 25"/>
          <p:cNvSpPr txBox="1"/>
          <p:nvPr/>
        </p:nvSpPr>
        <p:spPr>
          <a:xfrm>
            <a:off x="4937760" y="54864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نِهَايَةُ أُسْبُوعِي أَقَلُّ تَنْظِيمًا مِنْ أَيَّامِ الدِّرَاسَةِ، لِأَنَّ مَوَاعِيدِي تَتَغَيَّرُ.</a:t>
            </a:r>
            <a:endParaRPr lang="ar-SA" sz="2000" dirty="0"/>
          </a:p>
        </p:txBody>
      </p:sp>
      <p:sp>
        <p:nvSpPr>
          <p:cNvPr id="29" name="Text 26"/>
          <p:cNvSpPr txBox="1"/>
          <p:nvPr/>
        </p:nvSpPr>
        <p:spPr>
          <a:xfrm>
            <a:off x="640080" y="54864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My weekend is less organised than school days, because my appointments change.</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30 / 46</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D1-L03 · How Often?</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Listening: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D1-L03</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is Omar’s busiest day?</a:t>
            </a:r>
            <a:endParaRPr lang="en-US" sz="1250" dirty="0"/>
          </a:p>
        </p:txBody>
      </p:sp>
      <p:sp>
        <p:nvSpPr>
          <p:cNvPr id="19" name="Shape 16"/>
          <p:cNvSpPr/>
          <p:nvPr/>
        </p:nvSpPr>
        <p:spPr>
          <a:xfrm>
            <a:off x="548640" y="2453640"/>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490216"/>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Monday</a:t>
            </a:r>
            <a:endParaRPr lang="en-US" sz="125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Tuesday</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Friday</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يَوْمُ الاِثْنَيْنِ أَكْثَرُ أَيَّامِي اِنْشِغَالًا.</a:t>
            </a:r>
            <a:endParaRPr lang="ar-SA" sz="13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he do after the extra lesson?</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rests</a:t>
            </a:r>
            <a:endParaRPr lang="en-US" sz="125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visits family</a:t>
            </a:r>
            <a:endParaRPr lang="en-US" sz="125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trains</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ثُمَّ أَتَمَرَّنُ.</a:t>
            </a:r>
            <a:endParaRPr lang="ar-SA" sz="13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Why is Tuesday calmer?</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there is no school</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he travels</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homework is often completed early</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غَالِبًا مَا أُكْمِلُ وَاجِبِي مُبَكِّرًا.</a:t>
            </a:r>
            <a:endParaRPr lang="ar-SA" sz="13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often does Hanaa train?</a:t>
            </a:r>
            <a:endParaRPr lang="en-US" sz="1250" dirty="0"/>
          </a:p>
        </p:txBody>
      </p:sp>
      <p:sp>
        <p:nvSpPr>
          <p:cNvPr id="64" name="Shape 61"/>
          <p:cNvSpPr/>
          <p:nvPr/>
        </p:nvSpPr>
        <p:spPr>
          <a:xfrm>
            <a:off x="548640" y="4794504"/>
            <a:ext cx="3453384"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40080"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67" name="Text 64"/>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twice weekly</a:t>
            </a:r>
            <a:endParaRPr lang="en-US" sz="1250" dirty="0"/>
          </a:p>
        </p:txBody>
      </p:sp>
      <p:sp>
        <p:nvSpPr>
          <p:cNvPr id="68" name="Shape 65"/>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daily</a:t>
            </a:r>
            <a:endParaRPr lang="en-US" sz="125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monthly</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مَرَّتَيْنِ فِي الأُسْبُوعِ.</a:t>
            </a:r>
            <a:endParaRPr lang="ar-SA" sz="13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Why is her weekend less organised?</a:t>
            </a:r>
            <a:endParaRPr lang="en-US" sz="1250" dirty="0"/>
          </a:p>
        </p:txBody>
      </p:sp>
      <p:sp>
        <p:nvSpPr>
          <p:cNvPr id="79" name="Shape 76"/>
          <p:cNvSpPr/>
          <p:nvPr/>
        </p:nvSpPr>
        <p:spPr>
          <a:xfrm>
            <a:off x="4459224" y="4831080"/>
            <a:ext cx="256032" cy="256032"/>
          </a:xfrm>
          <a:prstGeom prst="ellipse">
            <a:avLst/>
          </a:prstGeom>
          <a:solidFill>
            <a:srgbClr val="C9CED6"/>
          </a:solidFill>
          <a:ln w="12700">
            <a:solidFill>
              <a:srgbClr val="C9CED6"/>
            </a:solidFill>
            <a:prstDash val="solid"/>
          </a:ln>
        </p:spPr>
      </p:sp>
      <p:sp>
        <p:nvSpPr>
          <p:cNvPr id="80" name="Text 77"/>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81" name="Text 78"/>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she never sleeps</a:t>
            </a:r>
            <a:endParaRPr lang="en-US" sz="1250" dirty="0"/>
          </a:p>
        </p:txBody>
      </p:sp>
      <p:sp>
        <p:nvSpPr>
          <p:cNvPr id="82" name="Shape 79"/>
          <p:cNvSpPr/>
          <p:nvPr/>
        </p:nvSpPr>
        <p:spPr>
          <a:xfrm>
            <a:off x="4367784" y="5166360"/>
            <a:ext cx="3453384" cy="347472"/>
          </a:xfrm>
          <a:prstGeom prst="roundRect">
            <a:avLst>
              <a:gd name="adj" fmla="val 15789"/>
            </a:avLst>
          </a:prstGeom>
          <a:solidFill>
            <a:srgbClr val="E6F4EC"/>
          </a:solidFill>
          <a:ln w="9525">
            <a:solidFill>
              <a:srgbClr val="2E8B57"/>
            </a:solidFill>
            <a:prstDash val="solid"/>
          </a:ln>
        </p:spPr>
      </p:sp>
      <p:sp>
        <p:nvSpPr>
          <p:cNvPr id="83" name="Shape 80"/>
          <p:cNvSpPr/>
          <p:nvPr/>
        </p:nvSpPr>
        <p:spPr>
          <a:xfrm>
            <a:off x="4459224" y="5202936"/>
            <a:ext cx="256032" cy="256032"/>
          </a:xfrm>
          <a:prstGeom prst="ellipse">
            <a:avLst/>
          </a:prstGeom>
          <a:solidFill>
            <a:srgbClr val="2E8B57"/>
          </a:solidFill>
          <a:ln w="12700">
            <a:solidFill>
              <a:srgbClr val="2E8B57"/>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appointments change</a:t>
            </a:r>
            <a:endParaRPr lang="en-US" sz="125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school is longer</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لِأَنَّ مَوَاعِيدِي تَتَغَيَّرُ.</a:t>
            </a:r>
            <a:endParaRPr lang="ar-SA" sz="1350" dirty="0"/>
          </a:p>
        </p:txBody>
      </p:sp>
      <p:sp>
        <p:nvSpPr>
          <p:cNvPr id="90" name="Shape 8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92" name="Text 8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93" name="Text 90"/>
          <p:cNvSpPr txBox="1"/>
          <p:nvPr/>
        </p:nvSpPr>
        <p:spPr>
          <a:xfrm>
            <a:off x="8296656" y="4791456"/>
            <a:ext cx="3270504" cy="1380744"/>
          </a:xfrm>
          <a:prstGeom prst="rect">
            <a:avLst/>
          </a:prstGeom>
          <a:noFill/>
          <a:ln/>
        </p:spPr>
        <p:txBody>
          <a:bodyPr wrap="square" lIns="0" tIns="0" rIns="0" bIns="0" rtlCol="0" anchor="t"/>
          <a:lstStyle/>
          <a:p>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Listen twice. Core: questions 1, 2 and 4.</a:t>
            </a:r>
            <a:endParaRPr lang="en-US" sz="1250" dirty="0"/>
          </a:p>
          <a:p>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Listen for: </a:t>
            </a:r>
            <a:pPr algn="l" indent="0" marL="0">
              <a:lnSpc>
                <a:spcPct val="115000"/>
              </a:lnSpc>
              <a:buNone/>
            </a:pPr>
            <a:r>
              <a:rPr lang="ar-SA" altLang="en-US" sz="1650" dirty="0">
                <a:solidFill>
                  <a:srgbClr val="1E6B52"/>
                </a:solidFill>
                <a:latin typeface="Amiri" pitchFamily="34" charset="0"/>
                <a:ea typeface="Amiri" pitchFamily="34" charset="-122"/>
                <a:cs typeface="Amiri" pitchFamily="34" charset="-120"/>
              </a:rPr>
              <a:t>الاِثْنَيْنِ</a:t>
            </a:r>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 · </a:t>
            </a:r>
            <a:pPr algn="l" indent="0" marL="0">
              <a:lnSpc>
                <a:spcPct val="115000"/>
              </a:lnSpc>
              <a:buNone/>
            </a:pPr>
            <a:r>
              <a:rPr lang="ar-SA" altLang="en-US" sz="1650" dirty="0">
                <a:solidFill>
                  <a:srgbClr val="1E6B52"/>
                </a:solidFill>
                <a:latin typeface="Amiri" pitchFamily="34" charset="0"/>
                <a:ea typeface="Amiri" pitchFamily="34" charset="-122"/>
                <a:cs typeface="Amiri" pitchFamily="34" charset="-120"/>
              </a:rPr>
              <a:t>أَتَمَرَّنُ</a:t>
            </a:r>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 · </a:t>
            </a:r>
            <a:pPr algn="l" indent="0" marL="0">
              <a:lnSpc>
                <a:spcPct val="115000"/>
              </a:lnSpc>
              <a:buNone/>
            </a:pPr>
            <a:r>
              <a:rPr lang="ar-SA" altLang="en-US" sz="1650" dirty="0">
                <a:solidFill>
                  <a:srgbClr val="1E6B52"/>
                </a:solidFill>
                <a:latin typeface="Amiri" pitchFamily="34" charset="0"/>
                <a:ea typeface="Amiri" pitchFamily="34" charset="-122"/>
                <a:cs typeface="Amiri" pitchFamily="34" charset="-120"/>
              </a:rPr>
              <a:t>مَرَّتَيْنِ</a:t>
            </a:r>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a:t>
            </a:r>
            <a:endParaRPr lang="en-US" sz="12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31 / 46</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D1-L03 · How Often?</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SAY IT BEFORE YOU WRITE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350" b="1" dirty="0">
                <a:solidFill>
                  <a:srgbClr val="1B3B6F"/>
                </a:solidFill>
                <a:latin typeface="Cambria" pitchFamily="34" charset="0"/>
                <a:ea typeface="Cambria" pitchFamily="34" charset="-122"/>
                <a:cs typeface="Cambria" pitchFamily="34" charset="-120"/>
              </a:rPr>
              <a:t>Compare your school week and weekend</a:t>
            </a:r>
            <a:endParaRPr lang="en-US" sz="23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التَّحَدُّثُ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D1-L03</a:t>
            </a:r>
            <a:endParaRPr lang="en-US" sz="850" dirty="0"/>
          </a:p>
        </p:txBody>
      </p:sp>
      <p:sp>
        <p:nvSpPr>
          <p:cNvPr id="15" name="Shape 12"/>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6" name="Text 13"/>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17" name="Text 14"/>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Think</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10 seconds</a:t>
            </a:r>
            <a:endParaRPr lang="en-US" sz="1050" dirty="0"/>
          </a:p>
        </p:txBody>
      </p:sp>
      <p:sp>
        <p:nvSpPr>
          <p:cNvPr id="18" name="Shape 15"/>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19" name="Text 16"/>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0" name="Text 17"/>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Rehearse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muted · 45 s</a:t>
            </a:r>
            <a:endParaRPr lang="en-US" sz="1050" dirty="0"/>
          </a:p>
        </p:txBody>
      </p:sp>
      <p:sp>
        <p:nvSpPr>
          <p:cNvPr id="21" name="Shape 18"/>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2" name="Text 19"/>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3" name="Text 20"/>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Pairs share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open mic</a:t>
            </a:r>
            <a:endParaRPr lang="en-US" sz="1050" dirty="0"/>
          </a:p>
        </p:txBody>
      </p:sp>
      <p:sp>
        <p:nvSpPr>
          <p:cNvPr id="24" name="Shape 21"/>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5" name="Text 22"/>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 ?</a:t>
            </a:r>
            <a:endParaRPr lang="en-US" sz="1800" dirty="0"/>
          </a:p>
        </p:txBody>
      </p:sp>
      <p:sp>
        <p:nvSpPr>
          <p:cNvPr id="26" name="Text 23"/>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Build / ask</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in the chat</a:t>
            </a:r>
            <a:endParaRPr lang="en-US" sz="1050" dirty="0"/>
          </a:p>
        </p:txBody>
      </p:sp>
      <p:sp>
        <p:nvSpPr>
          <p:cNvPr id="27" name="Shape 24"/>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28" name="Text 25"/>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9" name="Text 26"/>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Summarise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he / she …</a:t>
            </a:r>
            <a:endParaRPr lang="en-US" sz="1050" dirty="0"/>
          </a:p>
        </p:txBody>
      </p:sp>
      <p:sp>
        <p:nvSpPr>
          <p:cNvPr id="30" name="Shape 27"/>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3" name="Text 30"/>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مَاذَا تَفْعَلُ يَوْمِيًّا؟ وَمَاذَا لَا تَفْعَلُ أَبَدًا؟</a:t>
            </a:r>
            <a:endParaRPr lang="ar-SA" sz="1800" dirty="0"/>
          </a:p>
        </p:txBody>
      </p:sp>
      <p:sp>
        <p:nvSpPr>
          <p:cNvPr id="34" name="Shape 31"/>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4846320" y="3264408"/>
            <a:ext cx="960120" cy="256032"/>
          </a:xfrm>
          <a:prstGeom prst="roundRect">
            <a:avLst>
              <a:gd name="adj" fmla="val 50000"/>
            </a:avLst>
          </a:prstGeom>
          <a:solidFill>
            <a:srgbClr val="C9780A"/>
          </a:solidFill>
          <a:ln w="12700">
            <a:solidFill>
              <a:srgbClr val="C9780A"/>
            </a:solidFill>
            <a:prstDash val="solid"/>
          </a:ln>
        </p:spPr>
      </p:sp>
      <p:sp>
        <p:nvSpPr>
          <p:cNvPr id="36" name="Text 33"/>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7" name="Text 34"/>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مَا أَكْثَرُ يَوْمٍ اِنْشِغَالًا فِي أُسْبُوعِكَ؟</a:t>
            </a:r>
            <a:endParaRPr lang="ar-SA" sz="1800" dirty="0"/>
          </a:p>
        </p:txBody>
      </p:sp>
      <p:sp>
        <p:nvSpPr>
          <p:cNvPr id="38" name="Shape 35"/>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4846320" y="3886200"/>
            <a:ext cx="960120" cy="256032"/>
          </a:xfrm>
          <a:prstGeom prst="roundRect">
            <a:avLst>
              <a:gd name="adj" fmla="val 50000"/>
            </a:avLst>
          </a:prstGeom>
          <a:solidFill>
            <a:srgbClr val="C9780A"/>
          </a:solidFill>
          <a:ln w="12700">
            <a:solidFill>
              <a:srgbClr val="C9780A"/>
            </a:solidFill>
            <a:prstDash val="solid"/>
          </a:ln>
        </p:spPr>
      </p:sp>
      <p:sp>
        <p:nvSpPr>
          <p:cNvPr id="40" name="Text 37"/>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41" name="Text 38"/>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قَارِنْ بَيْنَ يَوْمَيْنِ فِي جَدْوَلِكَ.</a:t>
            </a:r>
            <a:endParaRPr lang="ar-SA" sz="1800" dirty="0"/>
          </a:p>
        </p:txBody>
      </p:sp>
      <p:sp>
        <p:nvSpPr>
          <p:cNvPr id="42" name="Shape 39"/>
          <p:cNvSpPr/>
          <p:nvPr/>
        </p:nvSpPr>
        <p:spPr>
          <a:xfrm>
            <a:off x="4754880" y="4352544"/>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4846320" y="4507992"/>
            <a:ext cx="960120" cy="256032"/>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4846320" y="4507992"/>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45" name="Text 42"/>
          <p:cNvSpPr txBox="1"/>
          <p:nvPr/>
        </p:nvSpPr>
        <p:spPr>
          <a:xfrm>
            <a:off x="5897880" y="4352544"/>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هَلْ تُفَضِّلُ جَدْوَلًا مُزْدَحِمًا أَمْ هَادِئًا؟ عَلِّلْ وَأَعْطِ مِثَالًا.</a:t>
            </a:r>
            <a:endParaRPr lang="ar-SA" sz="1800" dirty="0"/>
          </a:p>
        </p:txBody>
      </p:sp>
      <p:sp>
        <p:nvSpPr>
          <p:cNvPr id="46" name="Shape 43"/>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7" name="Text 44"/>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SENTENCE STEMS</a:t>
            </a:r>
            <a:endParaRPr lang="en-US" sz="1000" dirty="0"/>
          </a:p>
        </p:txBody>
      </p:sp>
      <p:sp>
        <p:nvSpPr>
          <p:cNvPr id="48" name="Shape 45"/>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49" name="Text 46"/>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50" name="Text 47"/>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D5FBF"/>
                </a:solidFill>
                <a:latin typeface="Amiri" pitchFamily="34" charset="0"/>
                <a:ea typeface="Amiri" pitchFamily="34" charset="-122"/>
                <a:cs typeface="Amiri" pitchFamily="34" charset="-120"/>
              </a:rPr>
              <a:t>___ يَوْمِيًّا، وَلَا ___ أَبَدًا.</a:t>
            </a:r>
            <a:endParaRPr lang="ar-SA" sz="1600" dirty="0"/>
          </a:p>
        </p:txBody>
      </p:sp>
      <p:sp>
        <p:nvSpPr>
          <p:cNvPr id="51" name="Shape 48"/>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52" name="Text 49"/>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53" name="Text 50"/>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34" charset="0"/>
                <a:ea typeface="Amiri" pitchFamily="34" charset="-122"/>
                <a:cs typeface="Amiri" pitchFamily="34" charset="-120"/>
              </a:rPr>
              <a:t>___ ، بَيْنَمَا ___ أَخِي / أُخْتِي ___ .</a:t>
            </a:r>
            <a:endParaRPr lang="ar-SA" sz="1600" dirty="0"/>
          </a:p>
        </p:txBody>
      </p:sp>
      <p:sp>
        <p:nvSpPr>
          <p:cNvPr id="54" name="Shape 51"/>
          <p:cNvSpPr/>
          <p:nvPr/>
        </p:nvSpPr>
        <p:spPr>
          <a:xfrm>
            <a:off x="640080" y="4123944"/>
            <a:ext cx="1051560" cy="256032"/>
          </a:xfrm>
          <a:prstGeom prst="roundRect">
            <a:avLst>
              <a:gd name="adj" fmla="val 50000"/>
            </a:avLst>
          </a:prstGeom>
          <a:solidFill>
            <a:srgbClr val="B83227"/>
          </a:solidFill>
          <a:ln w="12700">
            <a:solidFill>
              <a:srgbClr val="B83227"/>
            </a:solidFill>
            <a:prstDash val="solid"/>
          </a:ln>
        </p:spPr>
      </p:sp>
      <p:sp>
        <p:nvSpPr>
          <p:cNvPr id="55" name="Text 52"/>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56" name="Text 53"/>
          <p:cNvSpPr txBox="1"/>
          <p:nvPr/>
        </p:nvSpPr>
        <p:spPr>
          <a:xfrm>
            <a:off x="1783080" y="3968496"/>
            <a:ext cx="2697480" cy="557784"/>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أَمَّا ___ فَـ ___ ؛ … أَكْثَرُ اِنْشِغَالًا مِنْ …</a:t>
            </a:r>
            <a:endParaRPr lang="ar-SA" sz="1500" dirty="0"/>
          </a:p>
        </p:txBody>
      </p:sp>
      <p:sp>
        <p:nvSpPr>
          <p:cNvPr id="57" name="Shape 54"/>
          <p:cNvSpPr/>
          <p:nvPr/>
        </p:nvSpPr>
        <p:spPr>
          <a:xfrm>
            <a:off x="640080" y="4681728"/>
            <a:ext cx="1051560" cy="256032"/>
          </a:xfrm>
          <a:prstGeom prst="roundRect">
            <a:avLst>
              <a:gd name="adj" fmla="val 50000"/>
            </a:avLst>
          </a:prstGeom>
          <a:solidFill>
            <a:srgbClr val="1B3B6F"/>
          </a:solidFill>
          <a:ln w="12700">
            <a:solidFill>
              <a:srgbClr val="1B3B6F"/>
            </a:solidFill>
            <a:prstDash val="solid"/>
          </a:ln>
        </p:spPr>
      </p:sp>
      <p:sp>
        <p:nvSpPr>
          <p:cNvPr id="58" name="Text 55"/>
          <p:cNvSpPr txBox="1"/>
          <p:nvPr/>
        </p:nvSpPr>
        <p:spPr>
          <a:xfrm>
            <a:off x="640080" y="4681728"/>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 SUM UP</a:t>
            </a:r>
            <a:endParaRPr lang="en-US" sz="800" dirty="0"/>
          </a:p>
        </p:txBody>
      </p:sp>
      <p:sp>
        <p:nvSpPr>
          <p:cNvPr id="59" name="Text 56"/>
          <p:cNvSpPr txBox="1"/>
          <p:nvPr/>
        </p:nvSpPr>
        <p:spPr>
          <a:xfrm>
            <a:off x="1783080" y="4526280"/>
            <a:ext cx="2697480" cy="557784"/>
          </a:xfrm>
          <a:prstGeom prst="rect">
            <a:avLst/>
          </a:prstGeom>
          <a:noFill/>
          <a:ln/>
        </p:spPr>
        <p:txBody>
          <a:bodyPr wrap="square" lIns="0" tIns="0" rIns="0" bIns="0" rtlCol="0" anchor="ctr"/>
          <a:lstStyle/>
          <a:p>
            <a:pPr rtl="1" algn="r" indent="0" marL="0">
              <a:buNone/>
            </a:pPr>
            <a:r>
              <a:rPr lang="ar-SA" altLang="en-US" sz="1550" b="1" dirty="0">
                <a:solidFill>
                  <a:srgbClr val="1F2A37"/>
                </a:solidFill>
                <a:latin typeface="Amiri" pitchFamily="34" charset="0"/>
                <a:ea typeface="Amiri" pitchFamily="34" charset="-122"/>
                <a:cs typeface="Amiri" pitchFamily="34" charset="-120"/>
              </a:rPr>
              <a:t>يَتَمَرَّنُ / تَتَمَرَّنُ ___ مَرَّاتٍ فِي الأُسْبُوعِ.</a:t>
            </a:r>
            <a:endParaRPr lang="ar-SA" sz="1550" dirty="0"/>
          </a:p>
        </p:txBody>
      </p:sp>
      <p:sp>
        <p:nvSpPr>
          <p:cNvPr id="60" name="Shape 57"/>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ea typeface="Calibri" pitchFamily="34" charset="-122"/>
                <a:cs typeface="Calibri" pitchFamily="34" charset="-120"/>
              </a:rPr>
              <a:t>MODEL (WEBSITE)</a:t>
            </a:r>
            <a:endParaRPr lang="en-US" sz="950" dirty="0"/>
          </a:p>
        </p:txBody>
      </p:sp>
      <p:sp>
        <p:nvSpPr>
          <p:cNvPr id="62" name="Shape 59"/>
          <p:cNvSpPr/>
          <p:nvPr/>
        </p:nvSpPr>
        <p:spPr>
          <a:xfrm>
            <a:off x="11274552" y="5559552"/>
            <a:ext cx="292608" cy="292608"/>
          </a:xfrm>
          <a:prstGeom prst="ellipse">
            <a:avLst/>
          </a:prstGeom>
          <a:solidFill>
            <a:srgbClr val="1E6B52"/>
          </a:solidFill>
          <a:ln w="12700">
            <a:solidFill>
              <a:srgbClr val="1E6B52"/>
            </a:solidFill>
            <a:prstDash val="solid"/>
          </a:ln>
        </p:spPr>
      </p:sp>
      <p:sp>
        <p:nvSpPr>
          <p:cNvPr id="63" name="Text 60"/>
          <p:cNvSpPr txBox="1"/>
          <p:nvPr/>
        </p:nvSpPr>
        <p:spPr>
          <a:xfrm>
            <a:off x="11274552" y="555955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A</a:t>
            </a:r>
            <a:endParaRPr lang="en-US" sz="1000" dirty="0"/>
          </a:p>
        </p:txBody>
      </p:sp>
      <p:sp>
        <p:nvSpPr>
          <p:cNvPr id="64" name="Text 61"/>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34" charset="0"/>
                <a:ea typeface="Amiri" pitchFamily="34" charset="-122"/>
                <a:cs typeface="Amiri" pitchFamily="34" charset="-120"/>
              </a:rPr>
              <a:t>قَارِنْ بَيْنَ الاِثْنَيْنِ وَالسَّبْتِ.</a:t>
            </a:r>
            <a:endParaRPr lang="ar-SA" sz="1550" dirty="0"/>
          </a:p>
        </p:txBody>
      </p:sp>
      <p:sp>
        <p:nvSpPr>
          <p:cNvPr id="65" name="Text 62"/>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ea typeface="Calibri" pitchFamily="34" charset="-122"/>
                <a:cs typeface="Calibri" pitchFamily="34" charset="-120"/>
              </a:rPr>
              <a:t>Compare Monday and Saturday.</a:t>
            </a:r>
            <a:endParaRPr lang="en-US" sz="950" dirty="0"/>
          </a:p>
        </p:txBody>
      </p:sp>
      <p:sp>
        <p:nvSpPr>
          <p:cNvPr id="66" name="Shape 63"/>
          <p:cNvSpPr/>
          <p:nvPr/>
        </p:nvSpPr>
        <p:spPr>
          <a:xfrm>
            <a:off x="11274552" y="5925312"/>
            <a:ext cx="292608" cy="292608"/>
          </a:xfrm>
          <a:prstGeom prst="ellipse">
            <a:avLst/>
          </a:prstGeom>
          <a:solidFill>
            <a:srgbClr val="1E6B52"/>
          </a:solidFill>
          <a:ln w="12700">
            <a:solidFill>
              <a:srgbClr val="1E6B52"/>
            </a:solidFill>
            <a:prstDash val="solid"/>
          </a:ln>
        </p:spPr>
      </p:sp>
      <p:sp>
        <p:nvSpPr>
          <p:cNvPr id="67" name="Text 64"/>
          <p:cNvSpPr txBox="1"/>
          <p:nvPr/>
        </p:nvSpPr>
        <p:spPr>
          <a:xfrm>
            <a:off x="11274552" y="592531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B</a:t>
            </a:r>
            <a:endParaRPr lang="en-US" sz="1000" dirty="0"/>
          </a:p>
        </p:txBody>
      </p:sp>
      <p:sp>
        <p:nvSpPr>
          <p:cNvPr id="68" name="Text 65"/>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34" charset="0"/>
                <a:ea typeface="Amiri" pitchFamily="34" charset="-122"/>
                <a:cs typeface="Amiri" pitchFamily="34" charset="-120"/>
              </a:rPr>
              <a:t>الاِثْنَيْنُ أَكْثَرُ اِنْشِغَالًا مِنَ السَّبْتِ؛ فَأَنَا أَدْرُسُ وَأَتَمَرَّنُ، بَيْنَمَا أَسْتَرِيحُ وَأَزُورُ أُسْرَتِي يَوْمَ السَّبْتِ.</a:t>
            </a:r>
            <a:endParaRPr lang="ar-SA" sz="1550" dirty="0"/>
          </a:p>
        </p:txBody>
      </p:sp>
      <p:sp>
        <p:nvSpPr>
          <p:cNvPr id="69" name="Text 66"/>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750" i="1" dirty="0">
                <a:solidFill>
                  <a:srgbClr val="5A6472"/>
                </a:solidFill>
                <a:latin typeface="Calibri" pitchFamily="34" charset="0"/>
                <a:ea typeface="Calibri" pitchFamily="34" charset="-122"/>
                <a:cs typeface="Calibri" pitchFamily="34" charset="-120"/>
              </a:rPr>
              <a:t>Monday is busier than Saturday; I study and train, whereas I rest and visit my family on Saturday.</a:t>
            </a:r>
            <a:endParaRPr lang="en-US" sz="7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32 / 46</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D1-L03 · How Often?</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D1-L03</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34" charset="0"/>
                <a:ea typeface="Amiri" pitchFamily="34" charset="-122"/>
                <a:cs typeface="Amiri" pitchFamily="34" charset="-120"/>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ea typeface="Cambria" pitchFamily="34" charset="-122"/>
                <a:cs typeface="Cambria" pitchFamily="34" charset="-120"/>
              </a:rPr>
              <a:t>5 sentences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Describe three regular weekly activities.</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Five activities with a frequency word each (use the ladder).</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34" charset="0"/>
                <a:ea typeface="Amiri" pitchFamily="34" charset="-122"/>
                <a:cs typeface="Amiri" pitchFamily="34" charset="-120"/>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ea typeface="Cambria" pitchFamily="34" charset="-122"/>
                <a:cs typeface="Cambria" pitchFamily="34" charset="-120"/>
              </a:rPr>
              <a:t>8 sentences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Compare two days using </a:t>
            </a:r>
            <a:pPr algn="l" indent="0" marL="0">
              <a:buNone/>
            </a:pPr>
            <a:r>
              <a:rPr lang="ar-SA" altLang="en-US" sz="1800" b="1" dirty="0">
                <a:solidFill>
                  <a:srgbClr val="1F2A37"/>
                </a:solidFill>
                <a:latin typeface="Amiri" pitchFamily="34" charset="0"/>
                <a:ea typeface="Amiri" pitchFamily="34" charset="-122"/>
                <a:cs typeface="Amiri" pitchFamily="34" charset="-120"/>
              </a:rPr>
              <a:t>بَيْنَمَا</a:t>
            </a:r>
            <a:pPr algn="l" indent="0" marL="0">
              <a:buNone/>
            </a:pPr>
            <a:r>
              <a:rPr lang="en-US" sz="1400" b="1" dirty="0">
                <a:solidFill>
                  <a:srgbClr val="1F2A37"/>
                </a:solidFill>
                <a:latin typeface="Calibri" pitchFamily="34" charset="0"/>
                <a:ea typeface="Calibri" pitchFamily="34" charset="-122"/>
                <a:cs typeface="Calibri" pitchFamily="34" charset="-120"/>
              </a:rPr>
              <a:t> and a comparative.</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Compare two days and two people with بَيْنَمَا and مَرَّتَيْنِ / ثَلَاثَ مَرَّاتٍ.</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ea typeface="Cambria" pitchFamily="34" charset="-122"/>
                <a:cs typeface="Cambria" pitchFamily="34" charset="-120"/>
              </a:rPr>
              <a:t>100–120 words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Produce a 45-second answer with contrast, evidence and a balanced judgement.</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Website task: school days vs weekend, with أَمَّا … فَـ, a comparative and a balanced preference.</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33 / 46</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D1-L03 · How Often?</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D1-L03</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أَتَمَرَّنُ ______ فِي الأُسْبُوعِ.</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 train twice a week.</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______ ، بَيْنَمَا يَـ ______ أَخِي ______ .</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 whereas my brother …</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______ ، بَيْنَمَا تَـ ______ أُخْتِي ______ .</a:t>
            </a:r>
            <a:endParaRPr lang="ar-SA" sz="18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 whereas my sister …</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أَمَّا السَّبْتُ فَهُوَ ______ .</a:t>
            </a:r>
            <a:endParaRPr lang="ar-SA" sz="180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As for Saturday, it is …</a:t>
            </a:r>
            <a:endParaRPr lang="en-US" sz="1050" dirty="0"/>
          </a:p>
        </p:txBody>
      </p:sp>
      <p:sp>
        <p:nvSpPr>
          <p:cNvPr id="26" name="Text 23"/>
          <p:cNvSpPr txBox="1"/>
          <p:nvPr/>
        </p:nvSpPr>
        <p:spPr>
          <a:xfrm>
            <a:off x="2468880" y="4517136"/>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______ أَكْثَرُ اِنْشِغَالًا مِنْ ______ .</a:t>
            </a:r>
            <a:endParaRPr lang="ar-SA" sz="1800" dirty="0"/>
          </a:p>
        </p:txBody>
      </p:sp>
      <p:sp>
        <p:nvSpPr>
          <p:cNvPr id="27" name="Text 24"/>
          <p:cNvSpPr txBox="1"/>
          <p:nvPr/>
        </p:nvSpPr>
        <p:spPr>
          <a:xfrm>
            <a:off x="594360" y="4517136"/>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 is busier than …</a:t>
            </a:r>
            <a:endParaRPr lang="en-US" sz="1050" dirty="0"/>
          </a:p>
        </p:txBody>
      </p:sp>
      <p:sp>
        <p:nvSpPr>
          <p:cNvPr id="28" name="Shape 25"/>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31" name="Text 28"/>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______ كُلَّ يَوْمٍ.</a:t>
            </a:r>
            <a:endParaRPr lang="ar-SA" sz="1800" dirty="0"/>
          </a:p>
        </p:txBody>
      </p:sp>
      <p:sp>
        <p:nvSpPr>
          <p:cNvPr id="32" name="Text 29"/>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 … every day.</a:t>
            </a:r>
            <a:endParaRPr lang="en-US" sz="1050" dirty="0"/>
          </a:p>
        </p:txBody>
      </p:sp>
      <p:sp>
        <p:nvSpPr>
          <p:cNvPr id="33" name="Text 30"/>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دَائِمًا ______ .</a:t>
            </a:r>
            <a:endParaRPr lang="ar-SA" sz="1800" dirty="0"/>
          </a:p>
        </p:txBody>
      </p:sp>
      <p:sp>
        <p:nvSpPr>
          <p:cNvPr id="34" name="Text 31"/>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 always …</a:t>
            </a:r>
            <a:endParaRPr lang="en-US" sz="1050" dirty="0"/>
          </a:p>
        </p:txBody>
      </p:sp>
      <p:sp>
        <p:nvSpPr>
          <p:cNvPr id="35" name="Text 32"/>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أَحْيَانًا ______ .</a:t>
            </a:r>
            <a:endParaRPr lang="ar-SA" sz="1800" dirty="0"/>
          </a:p>
        </p:txBody>
      </p:sp>
      <p:sp>
        <p:nvSpPr>
          <p:cNvPr id="36" name="Text 33"/>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Sometimes I …</a:t>
            </a:r>
            <a:endParaRPr lang="en-US" sz="1050" dirty="0"/>
          </a:p>
        </p:txBody>
      </p:sp>
      <p:sp>
        <p:nvSpPr>
          <p:cNvPr id="37" name="Text 34"/>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نَادِرًا مَا ______ .</a:t>
            </a:r>
            <a:endParaRPr lang="ar-SA" sz="1800" dirty="0"/>
          </a:p>
        </p:txBody>
      </p:sp>
      <p:sp>
        <p:nvSpPr>
          <p:cNvPr id="38" name="Text 35"/>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 rarely …</a:t>
            </a:r>
            <a:endParaRPr lang="en-US" sz="1050" dirty="0"/>
          </a:p>
        </p:txBody>
      </p:sp>
      <p:sp>
        <p:nvSpPr>
          <p:cNvPr id="39" name="Text 36"/>
          <p:cNvSpPr txBox="1"/>
          <p:nvPr/>
        </p:nvSpPr>
        <p:spPr>
          <a:xfrm>
            <a:off x="8202168" y="4517136"/>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لَا ______ أَبَدًا.</a:t>
            </a:r>
            <a:endParaRPr lang="ar-SA" sz="1800" dirty="0"/>
          </a:p>
        </p:txBody>
      </p:sp>
      <p:sp>
        <p:nvSpPr>
          <p:cNvPr id="40" name="Text 37"/>
          <p:cNvSpPr txBox="1"/>
          <p:nvPr/>
        </p:nvSpPr>
        <p:spPr>
          <a:xfrm>
            <a:off x="6327648" y="4517136"/>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 never …</a:t>
            </a:r>
            <a:endParaRPr lang="en-US" sz="1050" dirty="0"/>
          </a:p>
        </p:txBody>
      </p:sp>
      <p:sp>
        <p:nvSpPr>
          <p:cNvPr id="41" name="Shape 38"/>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Text 39"/>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WORD BANK</a:t>
            </a:r>
            <a:endParaRPr lang="en-US" sz="950" dirty="0"/>
          </a:p>
        </p:txBody>
      </p:sp>
      <p:sp>
        <p:nvSpPr>
          <p:cNvPr id="43" name="Text 40"/>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دَائِمًا  ·  يَوْمِيًّا  ·  أُسْبُوعِيًّا  ·  كَثِيرًا مَا  ·  أَحْيَانًا  ·  نَادِرًا  ·  لَا ... أَبَدًا  ·  مَرَّةً  ·  مَرَّتَيْنِ  ·  بَيْنَمَا  ·  أَمَّا ... فَـ  ·  أَتَمَرَّنُ  ·  أُرَاجِعُ  ·  أَزُورُ</a:t>
            </a:r>
            <a:endParaRPr lang="ar-SA" sz="16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34 / 46</a:t>
            </a:r>
            <a:endParaRPr lang="en-US" sz="8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D1-L03 · How Often?</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STRETCH · THE WEBSITE WRITING TASK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Stretch: the full writing task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مُهِمَّةُ التَّحَدِّي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D1-L03</a:t>
            </a:r>
            <a:endParaRPr lang="en-US" sz="850" dirty="0"/>
          </a:p>
        </p:txBody>
      </p:sp>
      <p:sp>
        <p:nvSpPr>
          <p:cNvPr id="15" name="Shape 12"/>
          <p:cNvSpPr/>
          <p:nvPr/>
        </p:nvSpPr>
        <p:spPr>
          <a:xfrm>
            <a:off x="457200" y="1810512"/>
            <a:ext cx="5577840" cy="4498848"/>
          </a:xfrm>
          <a:prstGeom prst="roundRect">
            <a:avLst>
              <a:gd name="adj" fmla="val 1626"/>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292608"/>
          </a:xfrm>
          <a:prstGeom prst="roundRect">
            <a:avLst>
              <a:gd name="adj" fmla="val 50000"/>
            </a:avLst>
          </a:prstGeom>
          <a:solidFill>
            <a:srgbClr val="B83227"/>
          </a:solidFill>
          <a:ln w="12700">
            <a:solidFill>
              <a:srgbClr val="B83227"/>
            </a:solidFill>
            <a:prstDash val="solid"/>
          </a:ln>
        </p:spPr>
      </p:sp>
      <p:sp>
        <p:nvSpPr>
          <p:cNvPr id="17" name="Text 14"/>
          <p:cNvSpPr txBox="1"/>
          <p:nvPr/>
        </p:nvSpPr>
        <p:spPr>
          <a:xfrm>
            <a:off x="640080" y="1938528"/>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STRETCH</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350" b="1" dirty="0">
                <a:solidFill>
                  <a:srgbClr val="1F2A37"/>
                </a:solidFill>
                <a:latin typeface="Calibri" pitchFamily="34" charset="0"/>
                <a:ea typeface="Calibri" pitchFamily="34" charset="-122"/>
                <a:cs typeface="Calibri" pitchFamily="34" charset="-120"/>
              </a:rPr>
              <a:t>Write 100–120 words comparing how often you complete school-day and weekend activities.</a:t>
            </a:r>
            <a:endParaRPr lang="en-US" sz="135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Use </a:t>
            </a:r>
            <a:pPr algn="l" indent="0" marL="0">
              <a:buNone/>
            </a:pPr>
            <a:r>
              <a:rPr lang="ar-SA" altLang="en-US" sz="1550" dirty="0">
                <a:solidFill>
                  <a:srgbClr val="1F2A37"/>
                </a:solidFill>
                <a:latin typeface="Amiri" pitchFamily="34" charset="0"/>
                <a:ea typeface="Amiri" pitchFamily="34" charset="-122"/>
                <a:cs typeface="Amiri" pitchFamily="34" charset="-120"/>
              </a:rPr>
              <a:t>بَيْنَمَا</a:t>
            </a:r>
            <a:pPr algn="l" indent="0" marL="0">
              <a:buNone/>
            </a:pPr>
            <a:r>
              <a:rPr lang="en-US" sz="1200" dirty="0">
                <a:solidFill>
                  <a:srgbClr val="1F2A37"/>
                </a:solidFill>
                <a:latin typeface="Calibri" pitchFamily="34" charset="0"/>
                <a:ea typeface="Calibri" pitchFamily="34" charset="-122"/>
                <a:cs typeface="Calibri" pitchFamily="34" charset="-120"/>
              </a:rPr>
              <a:t> and </a:t>
            </a:r>
            <a:pPr algn="l" indent="0" marL="0">
              <a:buNone/>
            </a:pPr>
            <a:r>
              <a:rPr lang="ar-SA" altLang="en-US" sz="1550" dirty="0">
                <a:solidFill>
                  <a:srgbClr val="1F2A37"/>
                </a:solidFill>
                <a:latin typeface="Amiri" pitchFamily="34" charset="0"/>
                <a:ea typeface="Amiri" pitchFamily="34" charset="-122"/>
                <a:cs typeface="Amiri" pitchFamily="34" charset="-120"/>
              </a:rPr>
              <a:t>أَمَّا</a:t>
            </a:r>
            <a:pPr algn="l" indent="0" marL="0">
              <a:buNone/>
            </a:pPr>
            <a:r>
              <a:rPr lang="en-US" sz="1200" dirty="0">
                <a:solidFill>
                  <a:srgbClr val="1F2A37"/>
                </a:solidFill>
                <a:latin typeface="Calibri" pitchFamily="34" charset="0"/>
                <a:ea typeface="Calibri" pitchFamily="34" charset="-122"/>
                <a:cs typeface="Calibri" pitchFamily="34" charset="-120"/>
              </a:rPr>
              <a:t> ... </a:t>
            </a:r>
            <a:pPr algn="l" indent="0" marL="0">
              <a:buNone/>
            </a:pPr>
            <a:r>
              <a:rPr lang="ar-SA" altLang="en-US" sz="1550" dirty="0">
                <a:solidFill>
                  <a:srgbClr val="1F2A37"/>
                </a:solidFill>
                <a:latin typeface="Amiri" pitchFamily="34" charset="0"/>
                <a:ea typeface="Amiri" pitchFamily="34" charset="-122"/>
                <a:cs typeface="Amiri" pitchFamily="34" charset="-120"/>
              </a:rPr>
              <a:t>فَـ</a:t>
            </a:r>
            <a:pPr algn="l" indent="0" marL="0">
              <a:buNone/>
            </a:pPr>
            <a:r>
              <a:rPr lang="en-US" sz="1200" dirty="0">
                <a:solidFill>
                  <a:srgbClr val="1F2A37"/>
                </a:solidFill>
                <a:latin typeface="Calibri" pitchFamily="34" charset="0"/>
                <a:ea typeface="Calibri" pitchFamily="34" charset="-122"/>
                <a:cs typeface="Calibri" pitchFamily="34" charset="-120"/>
              </a:rPr>
              <a:t>.</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Include four different frequency expressions.</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Compare two days with </a:t>
            </a:r>
            <a:pPr algn="l" indent="0" marL="0">
              <a:buNone/>
            </a:pPr>
            <a:r>
              <a:rPr lang="ar-SA" altLang="en-US" sz="1550" dirty="0">
                <a:solidFill>
                  <a:srgbClr val="1F2A37"/>
                </a:solidFill>
                <a:latin typeface="Amiri" pitchFamily="34" charset="0"/>
                <a:ea typeface="Amiri" pitchFamily="34" charset="-122"/>
                <a:cs typeface="Amiri" pitchFamily="34" charset="-120"/>
              </a:rPr>
              <a:t>أَكْثَرُ</a:t>
            </a:r>
            <a:pPr algn="l" indent="0" marL="0">
              <a:buNone/>
            </a:pPr>
            <a:r>
              <a:rPr lang="en-US" sz="1200" dirty="0">
                <a:solidFill>
                  <a:srgbClr val="1F2A37"/>
                </a:solidFill>
                <a:latin typeface="Calibri" pitchFamily="34" charset="0"/>
                <a:ea typeface="Calibri" pitchFamily="34" charset="-122"/>
                <a:cs typeface="Calibri" pitchFamily="34" charset="-120"/>
              </a:rPr>
              <a:t> or </a:t>
            </a:r>
            <a:pPr algn="l" indent="0" marL="0">
              <a:buNone/>
            </a:pPr>
            <a:r>
              <a:rPr lang="ar-SA" altLang="en-US" sz="1550" dirty="0">
                <a:solidFill>
                  <a:srgbClr val="1F2A37"/>
                </a:solidFill>
                <a:latin typeface="Amiri" pitchFamily="34" charset="0"/>
                <a:ea typeface="Amiri" pitchFamily="34" charset="-122"/>
                <a:cs typeface="Amiri" pitchFamily="34" charset="-120"/>
              </a:rPr>
              <a:t>أَقَلُّ</a:t>
            </a:r>
            <a:pPr algn="l" indent="0" marL="0">
              <a:buNone/>
            </a:pPr>
            <a:r>
              <a:rPr lang="en-US" sz="1200" dirty="0">
                <a:solidFill>
                  <a:srgbClr val="1F2A37"/>
                </a:solidFill>
                <a:latin typeface="Calibri" pitchFamily="34" charset="0"/>
                <a:ea typeface="Calibri" pitchFamily="34" charset="-122"/>
                <a:cs typeface="Calibri" pitchFamily="34" charset="-120"/>
              </a:rPr>
              <a:t>.</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Mention exact times and one fixed appointment.</a:t>
            </a:r>
            <a:endParaRPr lang="en-US" sz="1200" dirty="0"/>
          </a:p>
        </p:txBody>
      </p:sp>
      <p:sp>
        <p:nvSpPr>
          <p:cNvPr id="23" name="Text 20"/>
          <p:cNvSpPr txBox="1"/>
          <p:nvPr/>
        </p:nvSpPr>
        <p:spPr>
          <a:xfrm>
            <a:off x="685800" y="5431536"/>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Give a balanced preference with evidence.</a:t>
            </a:r>
            <a:endParaRPr lang="en-US" sz="1200" dirty="0"/>
          </a:p>
        </p:txBody>
      </p:sp>
      <p:sp>
        <p:nvSpPr>
          <p:cNvPr id="24" name="Shape 21"/>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5" name="Text 22"/>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ea typeface="Calibri" pitchFamily="34" charset="-122"/>
                <a:cs typeface="Calibri" pitchFamily="34" charset="-120"/>
              </a:rPr>
              <a:t>PHRASE BANK — FROM THE WEBSITE TEXTS</a:t>
            </a:r>
            <a:endParaRPr lang="en-US" sz="950" dirty="0"/>
          </a:p>
        </p:txBody>
      </p:sp>
      <p:sp>
        <p:nvSpPr>
          <p:cNvPr id="26" name="Text 23"/>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أَتَّبِعُ جَدْوَلًا ثَابِتًا</a:t>
            </a:r>
            <a:endParaRPr lang="ar-SA" sz="1800" dirty="0"/>
          </a:p>
        </p:txBody>
      </p:sp>
      <p:sp>
        <p:nvSpPr>
          <p:cNvPr id="27" name="Text 24"/>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I follow a fixed timetable</a:t>
            </a:r>
            <a:endParaRPr lang="en-US" sz="1050" dirty="0"/>
          </a:p>
        </p:txBody>
      </p:sp>
      <p:sp>
        <p:nvSpPr>
          <p:cNvPr id="28" name="Text 25"/>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أَزُورُ المَكْتَبَةَ يَوْمَ الخَمِيسِ فَقَطْ</a:t>
            </a:r>
            <a:endParaRPr lang="ar-SA" sz="1800" dirty="0"/>
          </a:p>
        </p:txBody>
      </p:sp>
      <p:sp>
        <p:nvSpPr>
          <p:cNvPr id="29" name="Text 26"/>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I visit the library on Thursday only</a:t>
            </a:r>
            <a:endParaRPr lang="en-US" sz="1050" dirty="0"/>
          </a:p>
        </p:txBody>
      </p:sp>
      <p:sp>
        <p:nvSpPr>
          <p:cNvPr id="30" name="Text 27"/>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أَمَّا نِهَايَةُ الأُسْبُوعِ فَهِيَ أَقَلُّ تَنْظِيمًا</a:t>
            </a:r>
            <a:endParaRPr lang="ar-SA" sz="1800" dirty="0"/>
          </a:p>
        </p:txBody>
      </p:sp>
      <p:sp>
        <p:nvSpPr>
          <p:cNvPr id="31" name="Text 28"/>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as for the weekend, it is less organised</a:t>
            </a:r>
            <a:endParaRPr lang="en-US" sz="1050" dirty="0"/>
          </a:p>
        </p:txBody>
      </p:sp>
      <p:sp>
        <p:nvSpPr>
          <p:cNvPr id="32" name="Text 29"/>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مِنْ حِينٍ إِلَى آخَرَ</a:t>
            </a:r>
            <a:endParaRPr lang="ar-SA" sz="1800" dirty="0"/>
          </a:p>
        </p:txBody>
      </p:sp>
      <p:sp>
        <p:nvSpPr>
          <p:cNvPr id="33" name="Text 30"/>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from time to time</a:t>
            </a:r>
            <a:endParaRPr lang="en-US" sz="1050" dirty="0"/>
          </a:p>
        </p:txBody>
      </p:sp>
      <p:sp>
        <p:nvSpPr>
          <p:cNvPr id="34" name="Text 31"/>
          <p:cNvSpPr txBox="1"/>
          <p:nvPr/>
        </p:nvSpPr>
        <p:spPr>
          <a:xfrm>
            <a:off x="8412480" y="4864608"/>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وَلٰكِنَّ الرَّاحَةَ ضَرُورِيَّةٌ أَيْضًا</a:t>
            </a:r>
            <a:endParaRPr lang="ar-SA" sz="1800" dirty="0"/>
          </a:p>
        </p:txBody>
      </p:sp>
      <p:sp>
        <p:nvSpPr>
          <p:cNvPr id="35" name="Text 32"/>
          <p:cNvSpPr txBox="1"/>
          <p:nvPr/>
        </p:nvSpPr>
        <p:spPr>
          <a:xfrm>
            <a:off x="6400800" y="5193792"/>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but rest is also necessary</a:t>
            </a:r>
            <a:endParaRPr lang="en-US" sz="1050" dirty="0"/>
          </a:p>
        </p:txBody>
      </p:sp>
      <p:sp>
        <p:nvSpPr>
          <p:cNvPr id="36" name="Text 3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35 / 46</a:t>
            </a:r>
            <a:endParaRPr lang="en-US" sz="8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D1-L03 · How Often?</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D1-L03</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550" dirty="0">
                <a:solidFill>
                  <a:srgbClr val="1F2A37"/>
                </a:solidFill>
                <a:latin typeface="Amiri" pitchFamily="34" charset="0"/>
                <a:ea typeface="Amiri" pitchFamily="34" charset="-122"/>
                <a:cs typeface="Amiri" pitchFamily="34" charset="-120"/>
              </a:rPr>
              <a:t>فِي أَيَّامِ الدِّرَاسَةِ أَسْتَيْقِظُ مُبَكِّرًا وَأَتَّبِعُ جَدْوَلًا ثَابِتًا. أَدْرُسُ يَوْمِيًّا، وَأَتَمَرَّنُ مَرَّتَيْنِ فِي الأُسْبُوعِ، بَيْنَمَا أَزُورُ المَكْتَبَةَ يَوْمَ الخَمِيسِ فَقَطْ. يَوْمُ الأَرْبِعَاءِ أَكْثَرُ اِنْشِغَالًا مِنْ بَقِيَّةِ الأَيَّامِ لِأَنَّ التَّمْرِينَ يَنْتَهِي فِي الثَّامِنَةِ إِلَّا الرُّبْعَ. أَمَّا نِهَايَةُ الأُسْبُوعِ فَهِيَ أَقَلُّ تَنْظِيمًا؛ أَسْتَيْقِظُ مُتَأَخِّرًا وَمِنْ حِينٍ إِلَى آخَرَ أَخْرُجُ مَعَ أُسْرَتِي. أُفَضِّلُ التَّوَازُنَ: الجَدْوَلُ المُزْدَحِمُ يُسَاعِدُنِي عَلَى الإِنْجَازِ، وَلٰكِنَّ الرَّاحَةَ ضَرُورِيَّةٌ أَيْضًا.</a:t>
            </a:r>
            <a:endParaRPr lang="ar-SA" sz="255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ea typeface="Calibri" pitchFamily="34" charset="-122"/>
                <a:cs typeface="Calibri" pitchFamily="34" charset="-120"/>
              </a:rPr>
              <a:t>On school days I wake up early and follow a fixed timetable. I study daily and train twice a week, whereas I visit the library on Thursday only. Wednesday is busier than the other days because training ends at quarter to eight. As for the weekend, it is less organised: I wake up late and from time to time I go out with my family. I prefer balance: a busy timetable helps me achieve, but rest is also necessary.</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four frequency expressions</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بَيْنَمَا</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أَمَّا … فَـ</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a comparative + مِنْ</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36 / 46</a:t>
            </a:r>
            <a:endParaRPr lang="en-US" sz="8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D1-L03 · How Often?</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D1-L03</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used five different frequency words.</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can say “never” with </a:t>
            </a:r>
            <a:pPr algn="l" indent="0" marL="0">
              <a:buNone/>
            </a:pPr>
            <a:r>
              <a:rPr lang="ar-SA" altLang="en-US" sz="1700" dirty="0">
                <a:solidFill>
                  <a:srgbClr val="1F2A37"/>
                </a:solidFill>
                <a:latin typeface="Amiri" pitchFamily="34" charset="0"/>
                <a:ea typeface="Amiri" pitchFamily="34" charset="-122"/>
                <a:cs typeface="Amiri" pitchFamily="34" charset="-120"/>
              </a:rPr>
              <a:t>لَا … أَبَدًا</a:t>
            </a:r>
            <a:pPr algn="l" indent="0" marL="0">
              <a:buNone/>
            </a:pPr>
            <a:r>
              <a:rPr lang="en-US" sz="1300" dirty="0">
                <a:solidFill>
                  <a:srgbClr val="1F2A37"/>
                </a:solidFill>
                <a:latin typeface="Calibri" pitchFamily="34" charset="0"/>
                <a:ea typeface="Calibri" pitchFamily="34" charset="-122"/>
                <a:cs typeface="Calibri" pitchFamily="34" charset="-120"/>
              </a:rPr>
              <a:t>.</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After </a:t>
            </a:r>
            <a:pPr algn="l" indent="0" marL="0">
              <a:buNone/>
            </a:pPr>
            <a:r>
              <a:rPr lang="ar-SA" altLang="en-US" sz="1700" dirty="0">
                <a:solidFill>
                  <a:srgbClr val="1F2A37"/>
                </a:solidFill>
                <a:latin typeface="Amiri" pitchFamily="34" charset="0"/>
                <a:ea typeface="Amiri" pitchFamily="34" charset="-122"/>
                <a:cs typeface="Amiri" pitchFamily="34" charset="-120"/>
              </a:rPr>
              <a:t>بَيْنَمَا</a:t>
            </a:r>
            <a:pPr algn="l" indent="0" marL="0">
              <a:buNone/>
            </a:pPr>
            <a:r>
              <a:rPr lang="en-US" sz="1300" dirty="0">
                <a:solidFill>
                  <a:srgbClr val="1F2A37"/>
                </a:solidFill>
                <a:latin typeface="Calibri" pitchFamily="34" charset="0"/>
                <a:ea typeface="Calibri" pitchFamily="34" charset="-122"/>
                <a:cs typeface="Calibri" pitchFamily="34" charset="-120"/>
              </a:rPr>
              <a:t>, my second verb matches its own subject.</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used twice / three times a week.</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used </a:t>
            </a:r>
            <a:pPr algn="l" indent="0" marL="0">
              <a:buNone/>
            </a:pPr>
            <a:r>
              <a:rPr lang="ar-SA" altLang="en-US" sz="1700" dirty="0">
                <a:solidFill>
                  <a:srgbClr val="1F2A37"/>
                </a:solidFill>
                <a:latin typeface="Amiri" pitchFamily="34" charset="0"/>
                <a:ea typeface="Amiri" pitchFamily="34" charset="-122"/>
                <a:cs typeface="Amiri" pitchFamily="34" charset="-120"/>
              </a:rPr>
              <a:t>أَمَّا … فَـ</a:t>
            </a:r>
            <a:pPr algn="l" indent="0" marL="0">
              <a:buNone/>
            </a:pPr>
            <a:r>
              <a:rPr lang="en-US" sz="1300" dirty="0">
                <a:solidFill>
                  <a:srgbClr val="1F2A37"/>
                </a:solidFill>
                <a:latin typeface="Calibri" pitchFamily="34" charset="0"/>
                <a:ea typeface="Calibri" pitchFamily="34" charset="-122"/>
                <a:cs typeface="Calibri" pitchFamily="34" charset="-120"/>
              </a:rPr>
              <a:t> and a comparative with </a:t>
            </a:r>
            <a:pPr algn="l" indent="0" marL="0">
              <a:buNone/>
            </a:pPr>
            <a:r>
              <a:rPr lang="ar-SA" altLang="en-US" sz="1700" dirty="0">
                <a:solidFill>
                  <a:srgbClr val="1F2A37"/>
                </a:solidFill>
                <a:latin typeface="Amiri" pitchFamily="34" charset="0"/>
                <a:ea typeface="Amiri" pitchFamily="34" charset="-122"/>
                <a:cs typeface="Amiri" pitchFamily="34" charset="-120"/>
              </a:rPr>
              <a:t>مِنْ</a:t>
            </a:r>
            <a:pPr algn="l" indent="0" marL="0">
              <a:buNone/>
            </a:pPr>
            <a:r>
              <a:rPr lang="en-US" sz="1300" dirty="0">
                <a:solidFill>
                  <a:srgbClr val="1F2A37"/>
                </a:solidFill>
                <a:latin typeface="Calibri" pitchFamily="34" charset="0"/>
                <a:ea typeface="Calibri" pitchFamily="34" charset="-122"/>
                <a:cs typeface="Calibri" pitchFamily="34" charset="-120"/>
              </a:rPr>
              <a:t>.</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ea typeface="Calibri" pitchFamily="34" charset="-122"/>
                <a:cs typeface="Calibri" pitchFamily="34" charset="-120"/>
              </a:rPr>
              <a:t>WWW</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ea typeface="Calibri" pitchFamily="34" charset="-122"/>
                <a:cs typeface="Calibri" pitchFamily="34" charset="-120"/>
              </a:rPr>
              <a:t>EBI</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37 / 46</a:t>
            </a:r>
            <a:endParaRPr lang="en-US" sz="85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D1-L03 · How Often?</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D1-L03</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بَيْنَمَا</a:t>
            </a:r>
            <a:pPr algn="l" indent="0" marL="0">
              <a:buNone/>
            </a:pPr>
            <a:r>
              <a:rPr lang="en-US" sz="1250" b="1" dirty="0">
                <a:solidFill>
                  <a:srgbClr val="1B3B6F"/>
                </a:solidFill>
                <a:latin typeface="Calibri" pitchFamily="34" charset="0"/>
                <a:ea typeface="Calibri" pitchFamily="34" charset="-122"/>
                <a:cs typeface="Calibri" pitchFamily="34" charset="-120"/>
              </a:rPr>
              <a:t> do?</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contrasts two clauses</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gives a date</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asks a price</a:t>
            </a:r>
            <a:endParaRPr lang="en-US" sz="125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means weekly?</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يَوْمِيًّا</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أُسْبُوعِيًّا</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شَهْرِيًّا</a:t>
            </a:r>
            <a:endParaRPr lang="ar-SA" sz="2050" dirty="0"/>
          </a:p>
        </p:txBody>
      </p:sp>
      <p:sp>
        <p:nvSpPr>
          <p:cNvPr id="41" name="Shape 38"/>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correct agreement.</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أُخْتِي تَذْهَبُ، بَيْنَمَا أَخِي يَبْقَى.</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أُخْتِي يَذْهَبُ، بَيْنَمَا أَخِي تَبْقَى.</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أُخْتِي أَذْهَبُ، بَيْنَمَا أَخِي أَبْقَى.</a:t>
            </a:r>
            <a:endParaRPr lang="ar-SA" sz="2050" dirty="0"/>
          </a:p>
        </p:txBody>
      </p:sp>
      <p:sp>
        <p:nvSpPr>
          <p:cNvPr id="54" name="Shape 51"/>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5" name="Text 52"/>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ea typeface="Calibri" pitchFamily="34" charset="-122"/>
                <a:cs typeface="Calibri" pitchFamily="34" charset="-120"/>
              </a:rPr>
              <a:t>ON YOUR OWN · 2 MINUTES</a:t>
            </a:r>
            <a:endParaRPr lang="en-US" sz="1200" dirty="0"/>
          </a:p>
        </p:txBody>
      </p:sp>
      <p:sp>
        <p:nvSpPr>
          <p:cNvPr id="56" name="Text 53"/>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Answer silently. When the timer ends, type your three letters in the chat: 1_ 2_ 3_. The other end-of-lesson questions are on the website.</a:t>
            </a:r>
            <a:endParaRPr lang="en-US" sz="12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38 / 46</a:t>
            </a:r>
            <a:endParaRPr lang="en-US" sz="85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D1-L03 · How Often?</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D1-L03</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بَيْنَمَا</a:t>
            </a:r>
            <a:pPr algn="l" indent="0" marL="0">
              <a:buNone/>
            </a:pPr>
            <a:r>
              <a:rPr lang="en-US" sz="1250" b="1" dirty="0">
                <a:solidFill>
                  <a:srgbClr val="1B3B6F"/>
                </a:solidFill>
                <a:latin typeface="Calibri" pitchFamily="34" charset="0"/>
                <a:ea typeface="Calibri" pitchFamily="34" charset="-122"/>
                <a:cs typeface="Calibri" pitchFamily="34" charset="-120"/>
              </a:rPr>
              <a:t> do?</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contrasts two clauses</a:t>
            </a:r>
            <a:endParaRPr lang="en-US" sz="12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gives a date</a:t>
            </a:r>
            <a:endParaRPr lang="en-US" sz="12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asks a price</a:t>
            </a:r>
            <a:endParaRPr lang="en-US" sz="125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بَيْنَمَا</a:t>
            </a:r>
            <a:pPr algn="l" indent="0" marL="0">
              <a:buNone/>
            </a:pPr>
            <a:r>
              <a:rPr lang="en-US" sz="1050" i="1" dirty="0">
                <a:solidFill>
                  <a:srgbClr val="8A6D1E"/>
                </a:solidFill>
                <a:latin typeface="Calibri" pitchFamily="34" charset="0"/>
                <a:ea typeface="Calibri" pitchFamily="34" charset="-122"/>
                <a:cs typeface="Calibri" pitchFamily="34" charset="-120"/>
              </a:rPr>
              <a:t> contrasts simultaneous or differing situations.</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means weekly?</a:t>
            </a:r>
            <a:endParaRPr lang="en-US" sz="1250" dirty="0"/>
          </a:p>
        </p:txBody>
      </p:sp>
      <p:sp>
        <p:nvSpPr>
          <p:cNvPr id="34" name="Shape 31"/>
          <p:cNvSpPr/>
          <p:nvPr/>
        </p:nvSpPr>
        <p:spPr>
          <a:xfrm>
            <a:off x="4459224" y="2532888"/>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يَوْمِيًّا</a:t>
            </a:r>
            <a:endParaRPr lang="ar-SA" sz="2050" dirty="0"/>
          </a:p>
        </p:txBody>
      </p:sp>
      <p:sp>
        <p:nvSpPr>
          <p:cNvPr id="37" name="Shape 34"/>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990088"/>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أُسْبُوعِيًّا</a:t>
            </a:r>
            <a:endParaRPr lang="ar-SA" sz="2050" dirty="0"/>
          </a:p>
        </p:txBody>
      </p:sp>
      <p:sp>
        <p:nvSpPr>
          <p:cNvPr id="41" name="Shape 38"/>
          <p:cNvSpPr/>
          <p:nvPr/>
        </p:nvSpPr>
        <p:spPr>
          <a:xfrm>
            <a:off x="4459224" y="344728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شَهْرِيًّا</a:t>
            </a:r>
            <a:endParaRPr lang="ar-SA" sz="2050" dirty="0"/>
          </a:p>
        </p:txBody>
      </p:sp>
      <p:sp>
        <p:nvSpPr>
          <p:cNvPr id="44" name="Text 41"/>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أُسْبُوعِيًّا</a:t>
            </a:r>
            <a:pPr algn="l" indent="0" marL="0">
              <a:buNone/>
            </a:pPr>
            <a:r>
              <a:rPr lang="en-US" sz="1050" i="1" dirty="0">
                <a:solidFill>
                  <a:srgbClr val="8A6D1E"/>
                </a:solidFill>
                <a:latin typeface="Calibri" pitchFamily="34" charset="0"/>
                <a:ea typeface="Calibri" pitchFamily="34" charset="-122"/>
                <a:cs typeface="Calibri" pitchFamily="34" charset="-120"/>
              </a:rPr>
              <a:t> = weekly.</a:t>
            </a:r>
            <a:endParaRPr lang="en-US" sz="1050" dirty="0"/>
          </a:p>
        </p:txBody>
      </p:sp>
      <p:sp>
        <p:nvSpPr>
          <p:cNvPr id="45" name="Shape 42"/>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correct agreement.</a:t>
            </a:r>
            <a:endParaRPr lang="en-US" sz="1250" dirty="0"/>
          </a:p>
        </p:txBody>
      </p:sp>
      <p:sp>
        <p:nvSpPr>
          <p:cNvPr id="49" name="Shape 46"/>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532888"/>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52" name="Text 49"/>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أُخْتِي تَذْهَبُ، بَيْنَمَا أَخِي يَبْقَى.</a:t>
            </a:r>
            <a:endParaRPr lang="ar-SA" sz="2050" dirty="0"/>
          </a:p>
        </p:txBody>
      </p:sp>
      <p:sp>
        <p:nvSpPr>
          <p:cNvPr id="53" name="Shape 50"/>
          <p:cNvSpPr/>
          <p:nvPr/>
        </p:nvSpPr>
        <p:spPr>
          <a:xfrm>
            <a:off x="8278368" y="2990088"/>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أُخْتِي يَذْهَبُ، بَيْنَمَا أَخِي تَبْقَى.</a:t>
            </a:r>
            <a:endParaRPr lang="ar-SA" sz="2050" dirty="0"/>
          </a:p>
        </p:txBody>
      </p:sp>
      <p:sp>
        <p:nvSpPr>
          <p:cNvPr id="56" name="Shape 53"/>
          <p:cNvSpPr/>
          <p:nvPr/>
        </p:nvSpPr>
        <p:spPr>
          <a:xfrm>
            <a:off x="8278368" y="344728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أُخْتِي أَذْهَبُ، بَيْنَمَا أَخِي أَبْقَى.</a:t>
            </a:r>
            <a:endParaRPr lang="ar-SA" sz="2050" dirty="0"/>
          </a:p>
        </p:txBody>
      </p:sp>
      <p:sp>
        <p:nvSpPr>
          <p:cNvPr id="59" name="Text 56"/>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Each verb matches its subject.</a:t>
            </a:r>
            <a:endParaRPr lang="en-US" sz="1050" dirty="0"/>
          </a:p>
        </p:txBody>
      </p:sp>
      <p:sp>
        <p:nvSpPr>
          <p:cNvPr id="60" name="Shape 57"/>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ea typeface="Calibri" pitchFamily="34" charset="-122"/>
                <a:cs typeface="Calibri" pitchFamily="34" charset="-120"/>
              </a:rPr>
              <a:t>SCORE</a:t>
            </a:r>
            <a:endParaRPr lang="en-US" sz="1200" dirty="0"/>
          </a:p>
        </p:txBody>
      </p:sp>
      <p:sp>
        <p:nvSpPr>
          <p:cNvPr id="62" name="Text 59"/>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3/3 → aim for Stretch next lesson  ·  2/3 → Develop  ·  0–1 → Core route and a quick check-in during the next Do Now.</a:t>
            </a:r>
            <a:endParaRPr lang="en-US" sz="12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39 / 46</a:t>
            </a:r>
            <a:endParaRPr lang="en-US" sz="85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D1-L03 · How Often?</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FAST FINISHERS OR HOMEWORK (STRETCH)</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My week at a glance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D1-L03</a:t>
            </a:r>
            <a:endParaRPr lang="en-US" sz="850" dirty="0"/>
          </a:p>
        </p:txBody>
      </p:sp>
      <p:sp>
        <p:nvSpPr>
          <p:cNvPr id="17" name="Shape 14"/>
          <p:cNvSpPr/>
          <p:nvPr/>
        </p:nvSpPr>
        <p:spPr>
          <a:xfrm>
            <a:off x="457200" y="1810512"/>
            <a:ext cx="80741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85800" y="1965960"/>
            <a:ext cx="7616952" cy="4206240"/>
          </a:xfrm>
          <a:prstGeom prst="rect">
            <a:avLst/>
          </a:prstGeom>
          <a:noFill/>
          <a:ln/>
        </p:spPr>
        <p:txBody>
          <a:bodyPr wrap="square" lIns="0" tIns="0" rIns="0" bIns="0" rtlCol="0" anchor="t"/>
          <a:lstStyle/>
          <a:p>
            <a:pPr rtl="1" algn="r" indent="0" marL="0">
              <a:lnSpc>
                <a:spcPct val="120000"/>
              </a:lnSpc>
              <a:buNone/>
            </a:pPr>
            <a:r>
              <a:rPr lang="ar-SA" altLang="en-US" sz="2600" dirty="0">
                <a:solidFill>
                  <a:srgbClr val="1F2A37"/>
                </a:solidFill>
                <a:latin typeface="Amiri" pitchFamily="34" charset="0"/>
                <a:ea typeface="Amiri" pitchFamily="34" charset="-122"/>
                <a:cs typeface="Amiri" pitchFamily="34" charset="-120"/>
              </a:rPr>
              <a:t>يَخْتَلِفُ جَدْوَلِي مِنْ يَوْمٍ إِلَى آخَرَ. أَدْرُسُ اللُّغَةَ العَرَبِيَّةَ يَوْمَيِ الاِثْنَيْنِ وَالأَرْبِعَاءِ، بَيْنَمَا أُشَارِكُ فِي نَادِي العُلُومِ يَوْمَ الخَمِيسِ. أَمَّا يَوْمُ الثُّلَاثَاءِ فَأَذْهَبُ فِيهِ إِلَى السِّبَاحَةِ، وَهُوَ أَطْوَلُ يَوْمٍ لِأَنَّنِي أَعُودُ بَعْدَ السَّابِعَةِ مَسَاءً. فِي مُعْظَمِ الأَيَّامِ أُرَاجِعُ دُرُوسِي قَبْلَ العَشَاءِ. نَادِرًا مَا أَخْرُجُ فِي لَيْلَةِ الجُمُعَةِ، لٰكِنَّنِي أَزُورُ جَدَّتِي مَرَّةً كُلَّ شَهْرٍ. فِي رَأْيِي، الجَدْوَلُ المُنَوَّعُ مُمْتِعٌ وَلٰكِنَّهُ يَحْتَاجُ إِلَى تَنْظِيمٍ.</a:t>
            </a:r>
            <a:endParaRPr lang="ar-SA" sz="2600" dirty="0"/>
          </a:p>
        </p:txBody>
      </p:sp>
      <p:sp>
        <p:nvSpPr>
          <p:cNvPr id="19" name="Shape 16"/>
          <p:cNvSpPr/>
          <p:nvPr/>
        </p:nvSpPr>
        <p:spPr>
          <a:xfrm>
            <a:off x="8714232" y="1810512"/>
            <a:ext cx="3017520" cy="4498848"/>
          </a:xfrm>
          <a:prstGeom prst="roundRect">
            <a:avLst>
              <a:gd name="adj" fmla="val 2424"/>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8897112" y="1883664"/>
            <a:ext cx="2651760" cy="292608"/>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KEY WORDS</a:t>
            </a:r>
            <a:endParaRPr lang="en-US" sz="1000" dirty="0"/>
          </a:p>
        </p:txBody>
      </p:sp>
      <p:sp>
        <p:nvSpPr>
          <p:cNvPr id="21" name="Text 18"/>
          <p:cNvSpPr txBox="1"/>
          <p:nvPr/>
        </p:nvSpPr>
        <p:spPr>
          <a:xfrm>
            <a:off x="10102291" y="221284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يَخْتَلِفُ</a:t>
            </a:r>
            <a:endParaRPr lang="ar-SA" sz="1600" dirty="0"/>
          </a:p>
        </p:txBody>
      </p:sp>
      <p:sp>
        <p:nvSpPr>
          <p:cNvPr id="22" name="Text 19"/>
          <p:cNvSpPr txBox="1"/>
          <p:nvPr/>
        </p:nvSpPr>
        <p:spPr>
          <a:xfrm>
            <a:off x="8851392" y="221284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differs</a:t>
            </a:r>
            <a:endParaRPr lang="en-US" sz="1050" dirty="0"/>
          </a:p>
        </p:txBody>
      </p:sp>
      <p:sp>
        <p:nvSpPr>
          <p:cNvPr id="23" name="Text 20"/>
          <p:cNvSpPr txBox="1"/>
          <p:nvPr/>
        </p:nvSpPr>
        <p:spPr>
          <a:xfrm>
            <a:off x="10102291" y="261518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جَدْوَلِي</a:t>
            </a:r>
            <a:endParaRPr lang="ar-SA" sz="1600" dirty="0"/>
          </a:p>
        </p:txBody>
      </p:sp>
      <p:sp>
        <p:nvSpPr>
          <p:cNvPr id="24" name="Text 21"/>
          <p:cNvSpPr txBox="1"/>
          <p:nvPr/>
        </p:nvSpPr>
        <p:spPr>
          <a:xfrm>
            <a:off x="8851392" y="261518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my timetable</a:t>
            </a:r>
            <a:endParaRPr lang="en-US" sz="1050" dirty="0"/>
          </a:p>
        </p:txBody>
      </p:sp>
      <p:sp>
        <p:nvSpPr>
          <p:cNvPr id="25" name="Text 22"/>
          <p:cNvSpPr txBox="1"/>
          <p:nvPr/>
        </p:nvSpPr>
        <p:spPr>
          <a:xfrm>
            <a:off x="10102291" y="3017520"/>
            <a:ext cx="1508760" cy="402336"/>
          </a:xfrm>
          <a:prstGeom prst="rect">
            <a:avLst/>
          </a:prstGeom>
          <a:noFill/>
          <a:ln/>
        </p:spPr>
        <p:txBody>
          <a:bodyPr wrap="square" lIns="0" tIns="0" rIns="0" bIns="0" rtlCol="0" anchor="ctr"/>
          <a:lstStyle/>
          <a:p>
            <a:pPr rtl="1" algn="r" indent="0" marL="0">
              <a:buNone/>
            </a:pPr>
            <a:r>
              <a:rPr lang="ar-SA" altLang="en-US" sz="1350" b="1" dirty="0">
                <a:solidFill>
                  <a:srgbClr val="1B3B6F"/>
                </a:solidFill>
                <a:latin typeface="Amiri" pitchFamily="34" charset="0"/>
                <a:ea typeface="Amiri" pitchFamily="34" charset="-122"/>
                <a:cs typeface="Amiri" pitchFamily="34" charset="-120"/>
              </a:rPr>
              <a:t>يَوْمَيِ الاِثْنَيْنِ وَالأَرْبِعَاءِ</a:t>
            </a:r>
            <a:endParaRPr lang="ar-SA" sz="1350" dirty="0"/>
          </a:p>
        </p:txBody>
      </p:sp>
      <p:sp>
        <p:nvSpPr>
          <p:cNvPr id="26" name="Text 23"/>
          <p:cNvSpPr txBox="1"/>
          <p:nvPr/>
        </p:nvSpPr>
        <p:spPr>
          <a:xfrm>
            <a:off x="8851392" y="301752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on Mondays and Wednesdays</a:t>
            </a:r>
            <a:endParaRPr lang="en-US" sz="1050" dirty="0"/>
          </a:p>
        </p:txBody>
      </p:sp>
      <p:sp>
        <p:nvSpPr>
          <p:cNvPr id="27" name="Text 24"/>
          <p:cNvSpPr txBox="1"/>
          <p:nvPr/>
        </p:nvSpPr>
        <p:spPr>
          <a:xfrm>
            <a:off x="10102291" y="341985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أُشَارِكُ فِي</a:t>
            </a:r>
            <a:endParaRPr lang="ar-SA" sz="1600" dirty="0"/>
          </a:p>
        </p:txBody>
      </p:sp>
      <p:sp>
        <p:nvSpPr>
          <p:cNvPr id="28" name="Text 25"/>
          <p:cNvSpPr txBox="1"/>
          <p:nvPr/>
        </p:nvSpPr>
        <p:spPr>
          <a:xfrm>
            <a:off x="8851392" y="341985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I take part in</a:t>
            </a:r>
            <a:endParaRPr lang="en-US" sz="1050" dirty="0"/>
          </a:p>
        </p:txBody>
      </p:sp>
      <p:sp>
        <p:nvSpPr>
          <p:cNvPr id="29" name="Text 26"/>
          <p:cNvSpPr txBox="1"/>
          <p:nvPr/>
        </p:nvSpPr>
        <p:spPr>
          <a:xfrm>
            <a:off x="10102291" y="382219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نَادِي العُلُومِ</a:t>
            </a:r>
            <a:endParaRPr lang="ar-SA" sz="1600" dirty="0"/>
          </a:p>
        </p:txBody>
      </p:sp>
      <p:sp>
        <p:nvSpPr>
          <p:cNvPr id="30" name="Text 27"/>
          <p:cNvSpPr txBox="1"/>
          <p:nvPr/>
        </p:nvSpPr>
        <p:spPr>
          <a:xfrm>
            <a:off x="8851392" y="382219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science club</a:t>
            </a:r>
            <a:endParaRPr lang="en-US" sz="1050" dirty="0"/>
          </a:p>
        </p:txBody>
      </p:sp>
      <p:sp>
        <p:nvSpPr>
          <p:cNvPr id="31" name="Text 28"/>
          <p:cNvSpPr txBox="1"/>
          <p:nvPr/>
        </p:nvSpPr>
        <p:spPr>
          <a:xfrm>
            <a:off x="10102291" y="422452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أَطْوَلُ يَوْمٍ</a:t>
            </a:r>
            <a:endParaRPr lang="ar-SA" sz="1600" dirty="0"/>
          </a:p>
        </p:txBody>
      </p:sp>
      <p:sp>
        <p:nvSpPr>
          <p:cNvPr id="32" name="Text 29"/>
          <p:cNvSpPr txBox="1"/>
          <p:nvPr/>
        </p:nvSpPr>
        <p:spPr>
          <a:xfrm>
            <a:off x="8851392" y="422452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the longest day</a:t>
            </a:r>
            <a:endParaRPr lang="en-US" sz="1050" dirty="0"/>
          </a:p>
        </p:txBody>
      </p:sp>
      <p:sp>
        <p:nvSpPr>
          <p:cNvPr id="33" name="Text 30"/>
          <p:cNvSpPr txBox="1"/>
          <p:nvPr/>
        </p:nvSpPr>
        <p:spPr>
          <a:xfrm>
            <a:off x="10102291" y="462686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أَعُودُ</a:t>
            </a:r>
            <a:endParaRPr lang="ar-SA" sz="1600" dirty="0"/>
          </a:p>
        </p:txBody>
      </p:sp>
      <p:sp>
        <p:nvSpPr>
          <p:cNvPr id="34" name="Text 31"/>
          <p:cNvSpPr txBox="1"/>
          <p:nvPr/>
        </p:nvSpPr>
        <p:spPr>
          <a:xfrm>
            <a:off x="8851392" y="462686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I return</a:t>
            </a:r>
            <a:endParaRPr lang="en-US" sz="1050" dirty="0"/>
          </a:p>
        </p:txBody>
      </p:sp>
      <p:sp>
        <p:nvSpPr>
          <p:cNvPr id="35" name="Text 32"/>
          <p:cNvSpPr txBox="1"/>
          <p:nvPr/>
        </p:nvSpPr>
        <p:spPr>
          <a:xfrm>
            <a:off x="10102291" y="502920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قَبْلَ العَشَاءِ</a:t>
            </a:r>
            <a:endParaRPr lang="ar-SA" sz="1600" dirty="0"/>
          </a:p>
        </p:txBody>
      </p:sp>
      <p:sp>
        <p:nvSpPr>
          <p:cNvPr id="36" name="Text 33"/>
          <p:cNvSpPr txBox="1"/>
          <p:nvPr/>
        </p:nvSpPr>
        <p:spPr>
          <a:xfrm>
            <a:off x="8851392" y="502920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before dinner</a:t>
            </a:r>
            <a:endParaRPr lang="en-US" sz="1050" dirty="0"/>
          </a:p>
        </p:txBody>
      </p:sp>
      <p:sp>
        <p:nvSpPr>
          <p:cNvPr id="37" name="Text 34"/>
          <p:cNvSpPr txBox="1"/>
          <p:nvPr/>
        </p:nvSpPr>
        <p:spPr>
          <a:xfrm>
            <a:off x="10102291" y="543153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جَدَّتِي</a:t>
            </a:r>
            <a:endParaRPr lang="ar-SA" sz="1600" dirty="0"/>
          </a:p>
        </p:txBody>
      </p:sp>
      <p:sp>
        <p:nvSpPr>
          <p:cNvPr id="38" name="Text 35"/>
          <p:cNvSpPr txBox="1"/>
          <p:nvPr/>
        </p:nvSpPr>
        <p:spPr>
          <a:xfrm>
            <a:off x="8851392" y="543153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my grandmother</a:t>
            </a:r>
            <a:endParaRPr lang="en-US" sz="1050" dirty="0"/>
          </a:p>
        </p:txBody>
      </p:sp>
      <p:sp>
        <p:nvSpPr>
          <p:cNvPr id="39" name="Text 36"/>
          <p:cNvSpPr txBox="1"/>
          <p:nvPr/>
        </p:nvSpPr>
        <p:spPr>
          <a:xfrm>
            <a:off x="10102291" y="583387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يَحْتَاجُ إِلَى تَنْظِيمٍ</a:t>
            </a:r>
            <a:endParaRPr lang="ar-SA" sz="1600" dirty="0"/>
          </a:p>
        </p:txBody>
      </p:sp>
      <p:sp>
        <p:nvSpPr>
          <p:cNvPr id="40" name="Text 37"/>
          <p:cNvSpPr txBox="1"/>
          <p:nvPr/>
        </p:nvSpPr>
        <p:spPr>
          <a:xfrm>
            <a:off x="8851392" y="583387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needs organisation</a:t>
            </a:r>
            <a:endParaRPr lang="en-US" sz="1050" dirty="0"/>
          </a:p>
        </p:txBody>
      </p:sp>
      <p:sp>
        <p:nvSpPr>
          <p:cNvPr id="41" name="Text 3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40 / 46</a:t>
            </a:r>
            <a:endParaRPr lang="en-US" sz="85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D1-L03 · How Often?</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READING QUESTIONS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Reading: questions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أَسْئِلَةُ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D1-L03</a:t>
            </a:r>
            <a:endParaRPr lang="en-US" sz="850" dirty="0"/>
          </a:p>
        </p:txBody>
      </p:sp>
      <p:sp>
        <p:nvSpPr>
          <p:cNvPr id="17" name="Shape 14"/>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0" name="Text 17"/>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On which two days is Arabic studied?</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Tuesday and Thursday</a:t>
            </a:r>
            <a:endParaRPr lang="en-US" sz="12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Monday and Wednesday</a:t>
            </a:r>
            <a:endParaRPr lang="en-US" sz="12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6"/>
          <p:cNvSpPr txBox="1"/>
          <p:nvPr/>
        </p:nvSpPr>
        <p:spPr>
          <a:xfrm>
            <a:off x="969264"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Friday and Saturday</a:t>
            </a:r>
            <a:endParaRPr lang="en-US" sz="1250" dirty="0"/>
          </a:p>
        </p:txBody>
      </p:sp>
      <p:sp>
        <p:nvSpPr>
          <p:cNvPr id="30" name="Shape 27"/>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3449574"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happens Thursday?</a:t>
            </a:r>
            <a:endParaRPr lang="en-US" sz="1250" dirty="0"/>
          </a:p>
        </p:txBody>
      </p:sp>
      <p:sp>
        <p:nvSpPr>
          <p:cNvPr id="34" name="Shape 31"/>
          <p:cNvSpPr/>
          <p:nvPr/>
        </p:nvSpPr>
        <p:spPr>
          <a:xfrm>
            <a:off x="3504438"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350443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3833622"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swimming</a:t>
            </a:r>
            <a:endParaRPr lang="en-US" sz="1250" dirty="0"/>
          </a:p>
        </p:txBody>
      </p:sp>
      <p:sp>
        <p:nvSpPr>
          <p:cNvPr id="37" name="Shape 34"/>
          <p:cNvSpPr/>
          <p:nvPr/>
        </p:nvSpPr>
        <p:spPr>
          <a:xfrm>
            <a:off x="3504438"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350443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3833622"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family visit</a:t>
            </a:r>
            <a:endParaRPr lang="en-US" sz="1250" dirty="0"/>
          </a:p>
        </p:txBody>
      </p:sp>
      <p:sp>
        <p:nvSpPr>
          <p:cNvPr id="40" name="Shape 37"/>
          <p:cNvSpPr/>
          <p:nvPr/>
        </p:nvSpPr>
        <p:spPr>
          <a:xfrm>
            <a:off x="3504438"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350443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2" name="Text 39"/>
          <p:cNvSpPr txBox="1"/>
          <p:nvPr/>
        </p:nvSpPr>
        <p:spPr>
          <a:xfrm>
            <a:off x="3833622"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science club</a:t>
            </a:r>
            <a:endParaRPr lang="en-US" sz="1250" dirty="0"/>
          </a:p>
        </p:txBody>
      </p:sp>
      <p:sp>
        <p:nvSpPr>
          <p:cNvPr id="43" name="Shape 40"/>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6313932"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6" name="Text 43"/>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Why is Tuesday the longest day?</a:t>
            </a:r>
            <a:endParaRPr lang="en-US" sz="1250" dirty="0"/>
          </a:p>
        </p:txBody>
      </p:sp>
      <p:sp>
        <p:nvSpPr>
          <p:cNvPr id="47" name="Shape 44"/>
          <p:cNvSpPr/>
          <p:nvPr/>
        </p:nvSpPr>
        <p:spPr>
          <a:xfrm>
            <a:off x="6368796"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9" name="Text 46"/>
          <p:cNvSpPr txBox="1"/>
          <p:nvPr/>
        </p:nvSpPr>
        <p:spPr>
          <a:xfrm>
            <a:off x="6697980"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writer returns after 7 p.m.</a:t>
            </a:r>
            <a:endParaRPr lang="en-US" sz="1250" dirty="0"/>
          </a:p>
        </p:txBody>
      </p:sp>
      <p:sp>
        <p:nvSpPr>
          <p:cNvPr id="50" name="Shape 47"/>
          <p:cNvSpPr/>
          <p:nvPr/>
        </p:nvSpPr>
        <p:spPr>
          <a:xfrm>
            <a:off x="6368796"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2" name="Text 49"/>
          <p:cNvSpPr txBox="1"/>
          <p:nvPr/>
        </p:nvSpPr>
        <p:spPr>
          <a:xfrm>
            <a:off x="6697980"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there are two Arabic lessons</a:t>
            </a:r>
            <a:endParaRPr lang="en-US" sz="1250" dirty="0"/>
          </a:p>
        </p:txBody>
      </p:sp>
      <p:sp>
        <p:nvSpPr>
          <p:cNvPr id="53" name="Shape 50"/>
          <p:cNvSpPr/>
          <p:nvPr/>
        </p:nvSpPr>
        <p:spPr>
          <a:xfrm>
            <a:off x="6368796"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5" name="Text 52"/>
          <p:cNvSpPr txBox="1"/>
          <p:nvPr/>
        </p:nvSpPr>
        <p:spPr>
          <a:xfrm>
            <a:off x="6697980"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writer wakes at 5</a:t>
            </a:r>
            <a:endParaRPr lang="en-US" sz="1250" dirty="0"/>
          </a:p>
        </p:txBody>
      </p:sp>
      <p:sp>
        <p:nvSpPr>
          <p:cNvPr id="56" name="Shape 53"/>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9178290" y="1947672"/>
            <a:ext cx="310896" cy="310896"/>
          </a:xfrm>
          <a:prstGeom prst="ellipse">
            <a:avLst/>
          </a:prstGeom>
          <a:solidFill>
            <a:srgbClr val="1B3B6F"/>
          </a:solidFill>
          <a:ln w="12700">
            <a:solidFill>
              <a:srgbClr val="1B3B6F"/>
            </a:solidFill>
            <a:prstDash val="solid"/>
          </a:ln>
        </p:spPr>
      </p:sp>
      <p:sp>
        <p:nvSpPr>
          <p:cNvPr id="58" name="Text 55"/>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9" name="Text 56"/>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When is revision usually done?</a:t>
            </a:r>
            <a:endParaRPr lang="en-US" sz="1250" dirty="0"/>
          </a:p>
        </p:txBody>
      </p:sp>
      <p:sp>
        <p:nvSpPr>
          <p:cNvPr id="60" name="Shape 57"/>
          <p:cNvSpPr/>
          <p:nvPr/>
        </p:nvSpPr>
        <p:spPr>
          <a:xfrm>
            <a:off x="9233154" y="2532888"/>
            <a:ext cx="256032" cy="256032"/>
          </a:xfrm>
          <a:prstGeom prst="ellipse">
            <a:avLst/>
          </a:prstGeom>
          <a:solidFill>
            <a:srgbClr val="F4F1EA"/>
          </a:solidFill>
          <a:ln w="12700">
            <a:solidFill>
              <a:srgbClr val="F4F1EA"/>
            </a:solidFill>
            <a:prstDash val="solid"/>
          </a:ln>
        </p:spPr>
      </p:sp>
      <p:sp>
        <p:nvSpPr>
          <p:cNvPr id="61" name="Text 58"/>
          <p:cNvSpPr txBox="1"/>
          <p:nvPr/>
        </p:nvSpPr>
        <p:spPr>
          <a:xfrm>
            <a:off x="923315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2" name="Text 59"/>
          <p:cNvSpPr txBox="1"/>
          <p:nvPr/>
        </p:nvSpPr>
        <p:spPr>
          <a:xfrm>
            <a:off x="9562338"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after midnight</a:t>
            </a:r>
            <a:endParaRPr lang="en-US" sz="1250" dirty="0"/>
          </a:p>
        </p:txBody>
      </p:sp>
      <p:sp>
        <p:nvSpPr>
          <p:cNvPr id="63" name="Shape 60"/>
          <p:cNvSpPr/>
          <p:nvPr/>
        </p:nvSpPr>
        <p:spPr>
          <a:xfrm>
            <a:off x="9233154" y="2990088"/>
            <a:ext cx="256032" cy="256032"/>
          </a:xfrm>
          <a:prstGeom prst="ellipse">
            <a:avLst/>
          </a:prstGeom>
          <a:solidFill>
            <a:srgbClr val="F4F1EA"/>
          </a:solidFill>
          <a:ln w="12700">
            <a:solidFill>
              <a:srgbClr val="F4F1EA"/>
            </a:solidFill>
            <a:prstDash val="solid"/>
          </a:ln>
        </p:spPr>
      </p:sp>
      <p:sp>
        <p:nvSpPr>
          <p:cNvPr id="64" name="Text 61"/>
          <p:cNvSpPr txBox="1"/>
          <p:nvPr/>
        </p:nvSpPr>
        <p:spPr>
          <a:xfrm>
            <a:off x="923315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5" name="Text 62"/>
          <p:cNvSpPr txBox="1"/>
          <p:nvPr/>
        </p:nvSpPr>
        <p:spPr>
          <a:xfrm>
            <a:off x="9562338"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before dinner</a:t>
            </a:r>
            <a:endParaRPr lang="en-US" sz="1250" dirty="0"/>
          </a:p>
        </p:txBody>
      </p:sp>
      <p:sp>
        <p:nvSpPr>
          <p:cNvPr id="66" name="Shape 63"/>
          <p:cNvSpPr/>
          <p:nvPr/>
        </p:nvSpPr>
        <p:spPr>
          <a:xfrm>
            <a:off x="9233154" y="3447288"/>
            <a:ext cx="256032" cy="256032"/>
          </a:xfrm>
          <a:prstGeom prst="ellipse">
            <a:avLst/>
          </a:prstGeom>
          <a:solidFill>
            <a:srgbClr val="F4F1EA"/>
          </a:solidFill>
          <a:ln w="12700">
            <a:solidFill>
              <a:srgbClr val="F4F1EA"/>
            </a:solidFill>
            <a:prstDash val="solid"/>
          </a:ln>
        </p:spPr>
      </p:sp>
      <p:sp>
        <p:nvSpPr>
          <p:cNvPr id="67" name="Text 64"/>
          <p:cNvSpPr txBox="1"/>
          <p:nvPr/>
        </p:nvSpPr>
        <p:spPr>
          <a:xfrm>
            <a:off x="923315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8" name="Text 65"/>
          <p:cNvSpPr txBox="1"/>
          <p:nvPr/>
        </p:nvSpPr>
        <p:spPr>
          <a:xfrm>
            <a:off x="9562338"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on the bus</a:t>
            </a:r>
            <a:endParaRPr lang="en-US" sz="1250" dirty="0"/>
          </a:p>
        </p:txBody>
      </p:sp>
      <p:sp>
        <p:nvSpPr>
          <p:cNvPr id="69" name="Shape 66"/>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585216"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2" name="Text 69"/>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often is grandmother visited?</a:t>
            </a:r>
            <a:endParaRPr lang="en-US" sz="1250" dirty="0"/>
          </a:p>
        </p:txBody>
      </p:sp>
      <p:sp>
        <p:nvSpPr>
          <p:cNvPr id="73" name="Shape 70"/>
          <p:cNvSpPr/>
          <p:nvPr/>
        </p:nvSpPr>
        <p:spPr>
          <a:xfrm>
            <a:off x="640080" y="4873752"/>
            <a:ext cx="256032" cy="256032"/>
          </a:xfrm>
          <a:prstGeom prst="ellipse">
            <a:avLst/>
          </a:prstGeom>
          <a:solidFill>
            <a:srgbClr val="F4F1EA"/>
          </a:solidFill>
          <a:ln w="12700">
            <a:solidFill>
              <a:srgbClr val="F4F1EA"/>
            </a:solidFill>
            <a:prstDash val="solid"/>
          </a:ln>
        </p:spPr>
      </p:sp>
      <p:sp>
        <p:nvSpPr>
          <p:cNvPr id="74" name="Text 71"/>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5" name="Text 72"/>
          <p:cNvSpPr txBox="1"/>
          <p:nvPr/>
        </p:nvSpPr>
        <p:spPr>
          <a:xfrm>
            <a:off x="969264"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once a month</a:t>
            </a:r>
            <a:endParaRPr lang="en-US" sz="1250" dirty="0"/>
          </a:p>
        </p:txBody>
      </p:sp>
      <p:sp>
        <p:nvSpPr>
          <p:cNvPr id="76" name="Shape 73"/>
          <p:cNvSpPr/>
          <p:nvPr/>
        </p:nvSpPr>
        <p:spPr>
          <a:xfrm>
            <a:off x="640080" y="53309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8" name="Text 75"/>
          <p:cNvSpPr txBox="1"/>
          <p:nvPr/>
        </p:nvSpPr>
        <p:spPr>
          <a:xfrm>
            <a:off x="969264"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every Friday</a:t>
            </a:r>
            <a:endParaRPr lang="en-US" sz="1250" dirty="0"/>
          </a:p>
        </p:txBody>
      </p:sp>
      <p:sp>
        <p:nvSpPr>
          <p:cNvPr id="79" name="Shape 76"/>
          <p:cNvSpPr/>
          <p:nvPr/>
        </p:nvSpPr>
        <p:spPr>
          <a:xfrm>
            <a:off x="640080" y="57881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1" name="Text 78"/>
          <p:cNvSpPr txBox="1"/>
          <p:nvPr/>
        </p:nvSpPr>
        <p:spPr>
          <a:xfrm>
            <a:off x="969264" y="56875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daily</a:t>
            </a:r>
            <a:endParaRPr lang="en-US" sz="1250" dirty="0"/>
          </a:p>
        </p:txBody>
      </p:sp>
      <p:sp>
        <p:nvSpPr>
          <p:cNvPr id="82" name="Shape 79"/>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3" name="Shape 80"/>
          <p:cNvSpPr/>
          <p:nvPr/>
        </p:nvSpPr>
        <p:spPr>
          <a:xfrm>
            <a:off x="3449574" y="4288536"/>
            <a:ext cx="310896" cy="310896"/>
          </a:xfrm>
          <a:prstGeom prst="ellipse">
            <a:avLst/>
          </a:prstGeom>
          <a:solidFill>
            <a:srgbClr val="1B3B6F"/>
          </a:solidFill>
          <a:ln w="12700">
            <a:solidFill>
              <a:srgbClr val="1B3B6F"/>
            </a:solidFill>
            <a:prstDash val="solid"/>
          </a:ln>
        </p:spPr>
      </p:sp>
      <p:sp>
        <p:nvSpPr>
          <p:cNvPr id="84" name="Text 81"/>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85" name="Text 82"/>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the writer’s balanced opinion?</a:t>
            </a:r>
            <a:endParaRPr lang="en-US" sz="1250" dirty="0"/>
          </a:p>
        </p:txBody>
      </p:sp>
      <p:sp>
        <p:nvSpPr>
          <p:cNvPr id="86" name="Shape 83"/>
          <p:cNvSpPr/>
          <p:nvPr/>
        </p:nvSpPr>
        <p:spPr>
          <a:xfrm>
            <a:off x="3504438" y="4873752"/>
            <a:ext cx="256032" cy="256032"/>
          </a:xfrm>
          <a:prstGeom prst="ellipse">
            <a:avLst/>
          </a:prstGeom>
          <a:solidFill>
            <a:srgbClr val="F4F1EA"/>
          </a:solidFill>
          <a:ln w="12700">
            <a:solidFill>
              <a:srgbClr val="F4F1EA"/>
            </a:solidFill>
            <a:prstDash val="solid"/>
          </a:ln>
        </p:spPr>
      </p:sp>
      <p:sp>
        <p:nvSpPr>
          <p:cNvPr id="87" name="Text 84"/>
          <p:cNvSpPr txBox="1"/>
          <p:nvPr/>
        </p:nvSpPr>
        <p:spPr>
          <a:xfrm>
            <a:off x="350443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88" name="Text 85"/>
          <p:cNvSpPr txBox="1"/>
          <p:nvPr/>
        </p:nvSpPr>
        <p:spPr>
          <a:xfrm>
            <a:off x="3833622"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schedule is always boring</a:t>
            </a:r>
            <a:endParaRPr lang="en-US" sz="1250" dirty="0"/>
          </a:p>
        </p:txBody>
      </p:sp>
      <p:sp>
        <p:nvSpPr>
          <p:cNvPr id="89" name="Shape 86"/>
          <p:cNvSpPr/>
          <p:nvPr/>
        </p:nvSpPr>
        <p:spPr>
          <a:xfrm>
            <a:off x="3504438" y="5330952"/>
            <a:ext cx="256032" cy="256032"/>
          </a:xfrm>
          <a:prstGeom prst="ellipse">
            <a:avLst/>
          </a:prstGeom>
          <a:solidFill>
            <a:srgbClr val="F4F1EA"/>
          </a:solidFill>
          <a:ln w="12700">
            <a:solidFill>
              <a:srgbClr val="F4F1EA"/>
            </a:solidFill>
            <a:prstDash val="solid"/>
          </a:ln>
        </p:spPr>
      </p:sp>
      <p:sp>
        <p:nvSpPr>
          <p:cNvPr id="90" name="Text 87"/>
          <p:cNvSpPr txBox="1"/>
          <p:nvPr/>
        </p:nvSpPr>
        <p:spPr>
          <a:xfrm>
            <a:off x="350443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91" name="Text 88"/>
          <p:cNvSpPr txBox="1"/>
          <p:nvPr/>
        </p:nvSpPr>
        <p:spPr>
          <a:xfrm>
            <a:off x="3833622"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all clubs should stop</a:t>
            </a:r>
            <a:endParaRPr lang="en-US" sz="1250" dirty="0"/>
          </a:p>
        </p:txBody>
      </p:sp>
      <p:sp>
        <p:nvSpPr>
          <p:cNvPr id="92" name="Shape 89"/>
          <p:cNvSpPr/>
          <p:nvPr/>
        </p:nvSpPr>
        <p:spPr>
          <a:xfrm>
            <a:off x="3504438" y="5788152"/>
            <a:ext cx="256032" cy="256032"/>
          </a:xfrm>
          <a:prstGeom prst="ellipse">
            <a:avLst/>
          </a:prstGeom>
          <a:solidFill>
            <a:srgbClr val="F4F1EA"/>
          </a:solidFill>
          <a:ln w="12700">
            <a:solidFill>
              <a:srgbClr val="F4F1EA"/>
            </a:solidFill>
            <a:prstDash val="solid"/>
          </a:ln>
        </p:spPr>
      </p:sp>
      <p:sp>
        <p:nvSpPr>
          <p:cNvPr id="93" name="Text 90"/>
          <p:cNvSpPr txBox="1"/>
          <p:nvPr/>
        </p:nvSpPr>
        <p:spPr>
          <a:xfrm>
            <a:off x="350443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94" name="Text 91"/>
          <p:cNvSpPr txBox="1"/>
          <p:nvPr/>
        </p:nvSpPr>
        <p:spPr>
          <a:xfrm>
            <a:off x="3833622" y="56875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variety is enjoyable but requires organisation</a:t>
            </a:r>
            <a:endParaRPr lang="en-US" sz="1250" dirty="0"/>
          </a:p>
        </p:txBody>
      </p:sp>
      <p:sp>
        <p:nvSpPr>
          <p:cNvPr id="95" name="Shape 92"/>
          <p:cNvSpPr/>
          <p:nvPr/>
        </p:nvSpPr>
        <p:spPr>
          <a:xfrm>
            <a:off x="6185916" y="4151376"/>
            <a:ext cx="2681478"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6" name="Text 93"/>
          <p:cNvSpPr txBox="1"/>
          <p:nvPr/>
        </p:nvSpPr>
        <p:spPr>
          <a:xfrm>
            <a:off x="6368796" y="4279392"/>
            <a:ext cx="2315718"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READ LIKE A DETECTIVE</a:t>
            </a:r>
            <a:endParaRPr lang="en-US" sz="1000" dirty="0"/>
          </a:p>
        </p:txBody>
      </p:sp>
      <p:sp>
        <p:nvSpPr>
          <p:cNvPr id="97" name="Text 94"/>
          <p:cNvSpPr txBox="1"/>
          <p:nvPr/>
        </p:nvSpPr>
        <p:spPr>
          <a:xfrm>
            <a:off x="6368796" y="4590288"/>
            <a:ext cx="2315718"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1. Read the question first.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2. Find ONE key word from the question in the text.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3. Read only that sentence again, then choose.</a:t>
            </a:r>
            <a:endParaRPr lang="en-US" sz="1250" dirty="0"/>
          </a:p>
        </p:txBody>
      </p:sp>
      <p:sp>
        <p:nvSpPr>
          <p:cNvPr id="98" name="Text 9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41 / 46</a:t>
            </a:r>
            <a:endParaRPr lang="en-US" sz="85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D1-L03 · How Often?</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READING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Reading: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D1-L03</a:t>
            </a:r>
            <a:endParaRPr lang="en-US" sz="850" dirty="0"/>
          </a:p>
        </p:txBody>
      </p:sp>
      <p:sp>
        <p:nvSpPr>
          <p:cNvPr id="17" name="Shape 14"/>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0" name="Text 17"/>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On which two days is Arabic studied?</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Tuesday and Thursday</a:t>
            </a:r>
            <a:endParaRPr lang="en-US" sz="1250" dirty="0"/>
          </a:p>
        </p:txBody>
      </p:sp>
      <p:sp>
        <p:nvSpPr>
          <p:cNvPr id="24" name="Shape 21"/>
          <p:cNvSpPr/>
          <p:nvPr/>
        </p:nvSpPr>
        <p:spPr>
          <a:xfrm>
            <a:off x="548640" y="2825496"/>
            <a:ext cx="2498598" cy="347472"/>
          </a:xfrm>
          <a:prstGeom prst="roundRect">
            <a:avLst>
              <a:gd name="adj" fmla="val 15789"/>
            </a:avLst>
          </a:prstGeom>
          <a:solidFill>
            <a:srgbClr val="E6F4EC"/>
          </a:solidFill>
          <a:ln w="9525">
            <a:solidFill>
              <a:srgbClr val="2E8B57"/>
            </a:solidFill>
            <a:prstDash val="solid"/>
          </a:ln>
        </p:spPr>
      </p:sp>
      <p:sp>
        <p:nvSpPr>
          <p:cNvPr id="25"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6"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7" name="Text 24"/>
          <p:cNvSpPr txBox="1"/>
          <p:nvPr/>
        </p:nvSpPr>
        <p:spPr>
          <a:xfrm>
            <a:off x="969264" y="2804160"/>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Monday and Wednesday</a:t>
            </a:r>
            <a:endParaRPr lang="en-US" sz="1250" dirty="0"/>
          </a:p>
        </p:txBody>
      </p:sp>
      <p:sp>
        <p:nvSpPr>
          <p:cNvPr id="28"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30" name="Text 27"/>
          <p:cNvSpPr txBox="1"/>
          <p:nvPr/>
        </p:nvSpPr>
        <p:spPr>
          <a:xfrm>
            <a:off x="969264"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Friday and Saturday</a:t>
            </a:r>
            <a:endParaRPr lang="en-US" sz="1250" dirty="0"/>
          </a:p>
        </p:txBody>
      </p:sp>
      <p:sp>
        <p:nvSpPr>
          <p:cNvPr id="31" name="Text 28"/>
          <p:cNvSpPr txBox="1"/>
          <p:nvPr/>
        </p:nvSpPr>
        <p:spPr>
          <a:xfrm>
            <a:off x="585216"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يَوْمَيِ الاِثْنَيْنِ وَالأَرْبِعَاءِ.</a:t>
            </a:r>
            <a:endParaRPr lang="ar-SA" sz="1350" dirty="0"/>
          </a:p>
        </p:txBody>
      </p:sp>
      <p:sp>
        <p:nvSpPr>
          <p:cNvPr id="32" name="Shape 29"/>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3449574"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5" name="Text 32"/>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happens Thursday?</a:t>
            </a:r>
            <a:endParaRPr lang="en-US" sz="1250" dirty="0"/>
          </a:p>
        </p:txBody>
      </p:sp>
      <p:sp>
        <p:nvSpPr>
          <p:cNvPr id="36" name="Shape 33"/>
          <p:cNvSpPr/>
          <p:nvPr/>
        </p:nvSpPr>
        <p:spPr>
          <a:xfrm>
            <a:off x="3504438"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350443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8" name="Text 35"/>
          <p:cNvSpPr txBox="1"/>
          <p:nvPr/>
        </p:nvSpPr>
        <p:spPr>
          <a:xfrm>
            <a:off x="3833622"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swimming</a:t>
            </a:r>
            <a:endParaRPr lang="en-US" sz="1250" dirty="0"/>
          </a:p>
        </p:txBody>
      </p:sp>
      <p:sp>
        <p:nvSpPr>
          <p:cNvPr id="39" name="Shape 36"/>
          <p:cNvSpPr/>
          <p:nvPr/>
        </p:nvSpPr>
        <p:spPr>
          <a:xfrm>
            <a:off x="3504438" y="2862072"/>
            <a:ext cx="256032" cy="256032"/>
          </a:xfrm>
          <a:prstGeom prst="ellipse">
            <a:avLst/>
          </a:prstGeom>
          <a:solidFill>
            <a:srgbClr val="C9CED6"/>
          </a:solidFill>
          <a:ln w="12700">
            <a:solidFill>
              <a:srgbClr val="C9CED6"/>
            </a:solidFill>
            <a:prstDash val="solid"/>
          </a:ln>
        </p:spPr>
      </p:sp>
      <p:sp>
        <p:nvSpPr>
          <p:cNvPr id="40" name="Text 37"/>
          <p:cNvSpPr txBox="1"/>
          <p:nvPr/>
        </p:nvSpPr>
        <p:spPr>
          <a:xfrm>
            <a:off x="350443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1" name="Text 38"/>
          <p:cNvSpPr txBox="1"/>
          <p:nvPr/>
        </p:nvSpPr>
        <p:spPr>
          <a:xfrm>
            <a:off x="3833622"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family visit</a:t>
            </a:r>
            <a:endParaRPr lang="en-US" sz="1250" dirty="0"/>
          </a:p>
        </p:txBody>
      </p:sp>
      <p:sp>
        <p:nvSpPr>
          <p:cNvPr id="42" name="Shape 39"/>
          <p:cNvSpPr/>
          <p:nvPr/>
        </p:nvSpPr>
        <p:spPr>
          <a:xfrm>
            <a:off x="3412998" y="3197352"/>
            <a:ext cx="2498598" cy="347472"/>
          </a:xfrm>
          <a:prstGeom prst="roundRect">
            <a:avLst>
              <a:gd name="adj" fmla="val 15789"/>
            </a:avLst>
          </a:prstGeom>
          <a:solidFill>
            <a:srgbClr val="E6F4EC"/>
          </a:solidFill>
          <a:ln w="9525">
            <a:solidFill>
              <a:srgbClr val="2E8B57"/>
            </a:solidFill>
            <a:prstDash val="solid"/>
          </a:ln>
        </p:spPr>
      </p:sp>
      <p:sp>
        <p:nvSpPr>
          <p:cNvPr id="43" name="Shape 40"/>
          <p:cNvSpPr/>
          <p:nvPr/>
        </p:nvSpPr>
        <p:spPr>
          <a:xfrm>
            <a:off x="3504438" y="3233928"/>
            <a:ext cx="256032" cy="256032"/>
          </a:xfrm>
          <a:prstGeom prst="ellipse">
            <a:avLst/>
          </a:prstGeom>
          <a:solidFill>
            <a:srgbClr val="2E8B57"/>
          </a:solidFill>
          <a:ln w="12700">
            <a:solidFill>
              <a:srgbClr val="2E8B57"/>
            </a:solidFill>
            <a:prstDash val="solid"/>
          </a:ln>
        </p:spPr>
      </p:sp>
      <p:sp>
        <p:nvSpPr>
          <p:cNvPr id="44" name="Text 41"/>
          <p:cNvSpPr txBox="1"/>
          <p:nvPr/>
        </p:nvSpPr>
        <p:spPr>
          <a:xfrm>
            <a:off x="350443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45" name="Text 42"/>
          <p:cNvSpPr txBox="1"/>
          <p:nvPr/>
        </p:nvSpPr>
        <p:spPr>
          <a:xfrm>
            <a:off x="3833622" y="3176016"/>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science club</a:t>
            </a:r>
            <a:endParaRPr lang="en-US" sz="1250" dirty="0"/>
          </a:p>
        </p:txBody>
      </p:sp>
      <p:sp>
        <p:nvSpPr>
          <p:cNvPr id="46" name="Text 43"/>
          <p:cNvSpPr txBox="1"/>
          <p:nvPr/>
        </p:nvSpPr>
        <p:spPr>
          <a:xfrm>
            <a:off x="3449574"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نَادِي العُلُومِ.</a:t>
            </a:r>
            <a:endParaRPr lang="ar-SA" sz="1350" dirty="0"/>
          </a:p>
        </p:txBody>
      </p:sp>
      <p:sp>
        <p:nvSpPr>
          <p:cNvPr id="47" name="Shape 44"/>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6313932" y="1947672"/>
            <a:ext cx="310896" cy="310896"/>
          </a:xfrm>
          <a:prstGeom prst="ellipse">
            <a:avLst/>
          </a:prstGeom>
          <a:solidFill>
            <a:srgbClr val="1B3B6F"/>
          </a:solidFill>
          <a:ln w="12700">
            <a:solidFill>
              <a:srgbClr val="1B3B6F"/>
            </a:solidFill>
            <a:prstDash val="solid"/>
          </a:ln>
        </p:spPr>
      </p:sp>
      <p:sp>
        <p:nvSpPr>
          <p:cNvPr id="49" name="Text 46"/>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50" name="Text 47"/>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Why is Tuesday the longest day?</a:t>
            </a:r>
            <a:endParaRPr lang="en-US" sz="1250" dirty="0"/>
          </a:p>
        </p:txBody>
      </p:sp>
      <p:sp>
        <p:nvSpPr>
          <p:cNvPr id="51" name="Shape 48"/>
          <p:cNvSpPr/>
          <p:nvPr/>
        </p:nvSpPr>
        <p:spPr>
          <a:xfrm>
            <a:off x="6277356" y="2453640"/>
            <a:ext cx="2498598" cy="347472"/>
          </a:xfrm>
          <a:prstGeom prst="roundRect">
            <a:avLst>
              <a:gd name="adj" fmla="val 15789"/>
            </a:avLst>
          </a:prstGeom>
          <a:solidFill>
            <a:srgbClr val="E6F4EC"/>
          </a:solidFill>
          <a:ln w="9525">
            <a:solidFill>
              <a:srgbClr val="2E8B57"/>
            </a:solidFill>
            <a:prstDash val="solid"/>
          </a:ln>
        </p:spPr>
      </p:sp>
      <p:sp>
        <p:nvSpPr>
          <p:cNvPr id="52" name="Shape 49"/>
          <p:cNvSpPr/>
          <p:nvPr/>
        </p:nvSpPr>
        <p:spPr>
          <a:xfrm>
            <a:off x="6368796" y="2490216"/>
            <a:ext cx="256032" cy="256032"/>
          </a:xfrm>
          <a:prstGeom prst="ellipse">
            <a:avLst/>
          </a:prstGeom>
          <a:solidFill>
            <a:srgbClr val="2E8B57"/>
          </a:solidFill>
          <a:ln w="12700">
            <a:solidFill>
              <a:srgbClr val="2E8B57"/>
            </a:solidFill>
            <a:prstDash val="solid"/>
          </a:ln>
        </p:spPr>
      </p:sp>
      <p:sp>
        <p:nvSpPr>
          <p:cNvPr id="53" name="Text 50"/>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54" name="Text 51"/>
          <p:cNvSpPr txBox="1"/>
          <p:nvPr/>
        </p:nvSpPr>
        <p:spPr>
          <a:xfrm>
            <a:off x="6697980" y="2432304"/>
            <a:ext cx="2023110"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the writer returns after 7 p.m.</a:t>
            </a:r>
            <a:endParaRPr lang="en-US" sz="1150" dirty="0"/>
          </a:p>
        </p:txBody>
      </p:sp>
      <p:sp>
        <p:nvSpPr>
          <p:cNvPr id="55" name="Shape 52"/>
          <p:cNvSpPr/>
          <p:nvPr/>
        </p:nvSpPr>
        <p:spPr>
          <a:xfrm>
            <a:off x="6368796" y="2862072"/>
            <a:ext cx="256032" cy="256032"/>
          </a:xfrm>
          <a:prstGeom prst="ellipse">
            <a:avLst/>
          </a:prstGeom>
          <a:solidFill>
            <a:srgbClr val="C9CED6"/>
          </a:solidFill>
          <a:ln w="12700">
            <a:solidFill>
              <a:srgbClr val="C9CED6"/>
            </a:solidFill>
            <a:prstDash val="solid"/>
          </a:ln>
        </p:spPr>
      </p:sp>
      <p:sp>
        <p:nvSpPr>
          <p:cNvPr id="56" name="Text 53"/>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7" name="Text 54"/>
          <p:cNvSpPr txBox="1"/>
          <p:nvPr/>
        </p:nvSpPr>
        <p:spPr>
          <a:xfrm>
            <a:off x="6697980" y="2804160"/>
            <a:ext cx="2023110" cy="371856"/>
          </a:xfrm>
          <a:prstGeom prst="rect">
            <a:avLst/>
          </a:prstGeom>
          <a:noFill/>
          <a:ln/>
        </p:spPr>
        <p:txBody>
          <a:bodyPr wrap="square" lIns="0" tIns="0" rIns="0" bIns="0" rtlCol="0" anchor="ctr"/>
          <a:lstStyle/>
          <a:p>
            <a:pPr algn="l" indent="0" marL="0">
              <a:buNone/>
            </a:pPr>
            <a:r>
              <a:rPr lang="en-US" sz="1150" dirty="0">
                <a:solidFill>
                  <a:srgbClr val="9AA1AB"/>
                </a:solidFill>
                <a:latin typeface="Calibri" pitchFamily="34" charset="0"/>
                <a:ea typeface="Calibri" pitchFamily="34" charset="-122"/>
                <a:cs typeface="Calibri" pitchFamily="34" charset="-120"/>
              </a:rPr>
              <a:t>there are two Arabic lessons</a:t>
            </a:r>
            <a:endParaRPr lang="en-US" sz="1150" dirty="0"/>
          </a:p>
        </p:txBody>
      </p:sp>
      <p:sp>
        <p:nvSpPr>
          <p:cNvPr id="58" name="Shape 55"/>
          <p:cNvSpPr/>
          <p:nvPr/>
        </p:nvSpPr>
        <p:spPr>
          <a:xfrm>
            <a:off x="6368796" y="3233928"/>
            <a:ext cx="256032" cy="256032"/>
          </a:xfrm>
          <a:prstGeom prst="ellipse">
            <a:avLst/>
          </a:prstGeom>
          <a:solidFill>
            <a:srgbClr val="C9CED6"/>
          </a:solidFill>
          <a:ln w="12700">
            <a:solidFill>
              <a:srgbClr val="C9CED6"/>
            </a:solidFill>
            <a:prstDash val="solid"/>
          </a:ln>
        </p:spPr>
      </p:sp>
      <p:sp>
        <p:nvSpPr>
          <p:cNvPr id="59" name="Text 56"/>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0" name="Text 57"/>
          <p:cNvSpPr txBox="1"/>
          <p:nvPr/>
        </p:nvSpPr>
        <p:spPr>
          <a:xfrm>
            <a:off x="6697980"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writer wakes at 5</a:t>
            </a:r>
            <a:endParaRPr lang="en-US" sz="1250" dirty="0"/>
          </a:p>
        </p:txBody>
      </p:sp>
      <p:sp>
        <p:nvSpPr>
          <p:cNvPr id="61" name="Text 58"/>
          <p:cNvSpPr txBox="1"/>
          <p:nvPr/>
        </p:nvSpPr>
        <p:spPr>
          <a:xfrm>
            <a:off x="6313932"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أَعُودُ بَعْدَ السَّابِعَةِ مَسَاءً.</a:t>
            </a:r>
            <a:endParaRPr lang="ar-SA" sz="1350" dirty="0"/>
          </a:p>
        </p:txBody>
      </p:sp>
      <p:sp>
        <p:nvSpPr>
          <p:cNvPr id="62" name="Shape 59"/>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9178290" y="1947672"/>
            <a:ext cx="310896" cy="310896"/>
          </a:xfrm>
          <a:prstGeom prst="ellipse">
            <a:avLst/>
          </a:prstGeom>
          <a:solidFill>
            <a:srgbClr val="1B3B6F"/>
          </a:solidFill>
          <a:ln w="12700">
            <a:solidFill>
              <a:srgbClr val="1B3B6F"/>
            </a:solidFill>
            <a:prstDash val="solid"/>
          </a:ln>
        </p:spPr>
      </p:sp>
      <p:sp>
        <p:nvSpPr>
          <p:cNvPr id="64" name="Text 61"/>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5" name="Text 62"/>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When is revision usually done?</a:t>
            </a:r>
            <a:endParaRPr lang="en-US" sz="1250" dirty="0"/>
          </a:p>
        </p:txBody>
      </p:sp>
      <p:sp>
        <p:nvSpPr>
          <p:cNvPr id="66" name="Shape 63"/>
          <p:cNvSpPr/>
          <p:nvPr/>
        </p:nvSpPr>
        <p:spPr>
          <a:xfrm>
            <a:off x="9233154" y="2490216"/>
            <a:ext cx="256032" cy="256032"/>
          </a:xfrm>
          <a:prstGeom prst="ellipse">
            <a:avLst/>
          </a:prstGeom>
          <a:solidFill>
            <a:srgbClr val="C9CED6"/>
          </a:solidFill>
          <a:ln w="12700">
            <a:solidFill>
              <a:srgbClr val="C9CED6"/>
            </a:solidFill>
            <a:prstDash val="solid"/>
          </a:ln>
        </p:spPr>
      </p:sp>
      <p:sp>
        <p:nvSpPr>
          <p:cNvPr id="67" name="Text 64"/>
          <p:cNvSpPr txBox="1"/>
          <p:nvPr/>
        </p:nvSpPr>
        <p:spPr>
          <a:xfrm>
            <a:off x="923315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8" name="Text 65"/>
          <p:cNvSpPr txBox="1"/>
          <p:nvPr/>
        </p:nvSpPr>
        <p:spPr>
          <a:xfrm>
            <a:off x="9562338"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after midnight</a:t>
            </a:r>
            <a:endParaRPr lang="en-US" sz="1250" dirty="0"/>
          </a:p>
        </p:txBody>
      </p:sp>
      <p:sp>
        <p:nvSpPr>
          <p:cNvPr id="69" name="Shape 66"/>
          <p:cNvSpPr/>
          <p:nvPr/>
        </p:nvSpPr>
        <p:spPr>
          <a:xfrm>
            <a:off x="9141714" y="2825496"/>
            <a:ext cx="2498598" cy="347472"/>
          </a:xfrm>
          <a:prstGeom prst="roundRect">
            <a:avLst>
              <a:gd name="adj" fmla="val 15789"/>
            </a:avLst>
          </a:prstGeom>
          <a:solidFill>
            <a:srgbClr val="E6F4EC"/>
          </a:solidFill>
          <a:ln w="9525">
            <a:solidFill>
              <a:srgbClr val="2E8B57"/>
            </a:solidFill>
            <a:prstDash val="solid"/>
          </a:ln>
        </p:spPr>
      </p:sp>
      <p:sp>
        <p:nvSpPr>
          <p:cNvPr id="70" name="Shape 67"/>
          <p:cNvSpPr/>
          <p:nvPr/>
        </p:nvSpPr>
        <p:spPr>
          <a:xfrm>
            <a:off x="9233154" y="2862072"/>
            <a:ext cx="256032" cy="256032"/>
          </a:xfrm>
          <a:prstGeom prst="ellipse">
            <a:avLst/>
          </a:prstGeom>
          <a:solidFill>
            <a:srgbClr val="2E8B57"/>
          </a:solidFill>
          <a:ln w="12700">
            <a:solidFill>
              <a:srgbClr val="2E8B57"/>
            </a:solidFill>
            <a:prstDash val="solid"/>
          </a:ln>
        </p:spPr>
      </p:sp>
      <p:sp>
        <p:nvSpPr>
          <p:cNvPr id="71" name="Text 68"/>
          <p:cNvSpPr txBox="1"/>
          <p:nvPr/>
        </p:nvSpPr>
        <p:spPr>
          <a:xfrm>
            <a:off x="9233154"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72" name="Text 69"/>
          <p:cNvSpPr txBox="1"/>
          <p:nvPr/>
        </p:nvSpPr>
        <p:spPr>
          <a:xfrm>
            <a:off x="9562338" y="2804160"/>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before dinner</a:t>
            </a:r>
            <a:endParaRPr lang="en-US" sz="1250" dirty="0"/>
          </a:p>
        </p:txBody>
      </p:sp>
      <p:sp>
        <p:nvSpPr>
          <p:cNvPr id="73" name="Shape 70"/>
          <p:cNvSpPr/>
          <p:nvPr/>
        </p:nvSpPr>
        <p:spPr>
          <a:xfrm>
            <a:off x="9233154" y="3233928"/>
            <a:ext cx="256032" cy="256032"/>
          </a:xfrm>
          <a:prstGeom prst="ellipse">
            <a:avLst/>
          </a:prstGeom>
          <a:solidFill>
            <a:srgbClr val="C9CED6"/>
          </a:solidFill>
          <a:ln w="12700">
            <a:solidFill>
              <a:srgbClr val="C9CED6"/>
            </a:solidFill>
            <a:prstDash val="solid"/>
          </a:ln>
        </p:spPr>
      </p:sp>
      <p:sp>
        <p:nvSpPr>
          <p:cNvPr id="74" name="Text 71"/>
          <p:cNvSpPr txBox="1"/>
          <p:nvPr/>
        </p:nvSpPr>
        <p:spPr>
          <a:xfrm>
            <a:off x="923315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5" name="Text 72"/>
          <p:cNvSpPr txBox="1"/>
          <p:nvPr/>
        </p:nvSpPr>
        <p:spPr>
          <a:xfrm>
            <a:off x="9562338"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on the bus</a:t>
            </a:r>
            <a:endParaRPr lang="en-US" sz="1250" dirty="0"/>
          </a:p>
        </p:txBody>
      </p:sp>
      <p:sp>
        <p:nvSpPr>
          <p:cNvPr id="76" name="Text 73"/>
          <p:cNvSpPr txBox="1"/>
          <p:nvPr/>
        </p:nvSpPr>
        <p:spPr>
          <a:xfrm>
            <a:off x="9178290"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قَبْلَ العَشَاءِ.</a:t>
            </a:r>
            <a:endParaRPr lang="ar-SA" sz="1350" dirty="0"/>
          </a:p>
        </p:txBody>
      </p:sp>
      <p:sp>
        <p:nvSpPr>
          <p:cNvPr id="77" name="Shape 74"/>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8" name="Shape 75"/>
          <p:cNvSpPr/>
          <p:nvPr/>
        </p:nvSpPr>
        <p:spPr>
          <a:xfrm>
            <a:off x="585216" y="4288536"/>
            <a:ext cx="310896" cy="310896"/>
          </a:xfrm>
          <a:prstGeom prst="ellipse">
            <a:avLst/>
          </a:prstGeom>
          <a:solidFill>
            <a:srgbClr val="1B3B6F"/>
          </a:solidFill>
          <a:ln w="12700">
            <a:solidFill>
              <a:srgbClr val="1B3B6F"/>
            </a:solidFill>
            <a:prstDash val="solid"/>
          </a:ln>
        </p:spPr>
      </p:sp>
      <p:sp>
        <p:nvSpPr>
          <p:cNvPr id="79" name="Text 7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80" name="Text 77"/>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often is grandmother visited?</a:t>
            </a:r>
            <a:endParaRPr lang="en-US" sz="1250" dirty="0"/>
          </a:p>
        </p:txBody>
      </p:sp>
      <p:sp>
        <p:nvSpPr>
          <p:cNvPr id="81" name="Shape 78"/>
          <p:cNvSpPr/>
          <p:nvPr/>
        </p:nvSpPr>
        <p:spPr>
          <a:xfrm>
            <a:off x="548640" y="4794504"/>
            <a:ext cx="2498598" cy="347472"/>
          </a:xfrm>
          <a:prstGeom prst="roundRect">
            <a:avLst>
              <a:gd name="adj" fmla="val 15789"/>
            </a:avLst>
          </a:prstGeom>
          <a:solidFill>
            <a:srgbClr val="E6F4EC"/>
          </a:solidFill>
          <a:ln w="9525">
            <a:solidFill>
              <a:srgbClr val="2E8B57"/>
            </a:solidFill>
            <a:prstDash val="solid"/>
          </a:ln>
        </p:spPr>
      </p:sp>
      <p:sp>
        <p:nvSpPr>
          <p:cNvPr id="82" name="Shape 79"/>
          <p:cNvSpPr/>
          <p:nvPr/>
        </p:nvSpPr>
        <p:spPr>
          <a:xfrm>
            <a:off x="640080" y="4831080"/>
            <a:ext cx="256032" cy="256032"/>
          </a:xfrm>
          <a:prstGeom prst="ellipse">
            <a:avLst/>
          </a:prstGeom>
          <a:solidFill>
            <a:srgbClr val="2E8B57"/>
          </a:solidFill>
          <a:ln w="12700">
            <a:solidFill>
              <a:srgbClr val="2E8B57"/>
            </a:solidFill>
            <a:prstDash val="solid"/>
          </a:ln>
        </p:spPr>
      </p:sp>
      <p:sp>
        <p:nvSpPr>
          <p:cNvPr id="83" name="Text 80"/>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4" name="Text 81"/>
          <p:cNvSpPr txBox="1"/>
          <p:nvPr/>
        </p:nvSpPr>
        <p:spPr>
          <a:xfrm>
            <a:off x="969264" y="4773168"/>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once a month</a:t>
            </a:r>
            <a:endParaRPr lang="en-US" sz="1250" dirty="0"/>
          </a:p>
        </p:txBody>
      </p:sp>
      <p:sp>
        <p:nvSpPr>
          <p:cNvPr id="85" name="Shape 82"/>
          <p:cNvSpPr/>
          <p:nvPr/>
        </p:nvSpPr>
        <p:spPr>
          <a:xfrm>
            <a:off x="640080" y="5202936"/>
            <a:ext cx="256032" cy="256032"/>
          </a:xfrm>
          <a:prstGeom prst="ellipse">
            <a:avLst/>
          </a:prstGeom>
          <a:solidFill>
            <a:srgbClr val="C9CED6"/>
          </a:solidFill>
          <a:ln w="12700">
            <a:solidFill>
              <a:srgbClr val="C9CED6"/>
            </a:solidFill>
            <a:prstDash val="solid"/>
          </a:ln>
        </p:spPr>
      </p:sp>
      <p:sp>
        <p:nvSpPr>
          <p:cNvPr id="86" name="Text 83"/>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7" name="Text 84"/>
          <p:cNvSpPr txBox="1"/>
          <p:nvPr/>
        </p:nvSpPr>
        <p:spPr>
          <a:xfrm>
            <a:off x="969264" y="514502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every Friday</a:t>
            </a:r>
            <a:endParaRPr lang="en-US" sz="1250" dirty="0"/>
          </a:p>
        </p:txBody>
      </p:sp>
      <p:sp>
        <p:nvSpPr>
          <p:cNvPr id="88" name="Shape 85"/>
          <p:cNvSpPr/>
          <p:nvPr/>
        </p:nvSpPr>
        <p:spPr>
          <a:xfrm>
            <a:off x="640080" y="5574792"/>
            <a:ext cx="256032" cy="256032"/>
          </a:xfrm>
          <a:prstGeom prst="ellipse">
            <a:avLst/>
          </a:prstGeom>
          <a:solidFill>
            <a:srgbClr val="C9CED6"/>
          </a:solidFill>
          <a:ln w="12700">
            <a:solidFill>
              <a:srgbClr val="C9CED6"/>
            </a:solidFill>
            <a:prstDash val="solid"/>
          </a:ln>
        </p:spPr>
      </p:sp>
      <p:sp>
        <p:nvSpPr>
          <p:cNvPr id="89" name="Text 86"/>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90" name="Text 87"/>
          <p:cNvSpPr txBox="1"/>
          <p:nvPr/>
        </p:nvSpPr>
        <p:spPr>
          <a:xfrm>
            <a:off x="969264" y="551688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daily</a:t>
            </a:r>
            <a:endParaRPr lang="en-US" sz="1250" dirty="0"/>
          </a:p>
        </p:txBody>
      </p:sp>
      <p:sp>
        <p:nvSpPr>
          <p:cNvPr id="91" name="Text 88"/>
          <p:cNvSpPr txBox="1"/>
          <p:nvPr/>
        </p:nvSpPr>
        <p:spPr>
          <a:xfrm>
            <a:off x="585216" y="5907024"/>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مَرَّةً كُلَّ شَهْرٍ.</a:t>
            </a:r>
            <a:endParaRPr lang="ar-SA" sz="1350" dirty="0"/>
          </a:p>
        </p:txBody>
      </p:sp>
      <p:sp>
        <p:nvSpPr>
          <p:cNvPr id="92" name="Shape 89"/>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3" name="Shape 90"/>
          <p:cNvSpPr/>
          <p:nvPr/>
        </p:nvSpPr>
        <p:spPr>
          <a:xfrm>
            <a:off x="3449574" y="4288536"/>
            <a:ext cx="310896" cy="310896"/>
          </a:xfrm>
          <a:prstGeom prst="ellipse">
            <a:avLst/>
          </a:prstGeom>
          <a:solidFill>
            <a:srgbClr val="1B3B6F"/>
          </a:solidFill>
          <a:ln w="12700">
            <a:solidFill>
              <a:srgbClr val="1B3B6F"/>
            </a:solidFill>
            <a:prstDash val="solid"/>
          </a:ln>
        </p:spPr>
      </p:sp>
      <p:sp>
        <p:nvSpPr>
          <p:cNvPr id="94" name="Text 91"/>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95" name="Text 92"/>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the writer’s balanced opinion?</a:t>
            </a:r>
            <a:endParaRPr lang="en-US" sz="1250" dirty="0"/>
          </a:p>
        </p:txBody>
      </p:sp>
      <p:sp>
        <p:nvSpPr>
          <p:cNvPr id="96" name="Shape 93"/>
          <p:cNvSpPr/>
          <p:nvPr/>
        </p:nvSpPr>
        <p:spPr>
          <a:xfrm>
            <a:off x="3504438" y="4831080"/>
            <a:ext cx="256032" cy="256032"/>
          </a:xfrm>
          <a:prstGeom prst="ellipse">
            <a:avLst/>
          </a:prstGeom>
          <a:solidFill>
            <a:srgbClr val="C9CED6"/>
          </a:solidFill>
          <a:ln w="12700">
            <a:solidFill>
              <a:srgbClr val="C9CED6"/>
            </a:solidFill>
            <a:prstDash val="solid"/>
          </a:ln>
        </p:spPr>
      </p:sp>
      <p:sp>
        <p:nvSpPr>
          <p:cNvPr id="97" name="Text 94"/>
          <p:cNvSpPr txBox="1"/>
          <p:nvPr/>
        </p:nvSpPr>
        <p:spPr>
          <a:xfrm>
            <a:off x="3504438"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98" name="Text 95"/>
          <p:cNvSpPr txBox="1"/>
          <p:nvPr/>
        </p:nvSpPr>
        <p:spPr>
          <a:xfrm>
            <a:off x="3833622" y="4773168"/>
            <a:ext cx="2023110" cy="371856"/>
          </a:xfrm>
          <a:prstGeom prst="rect">
            <a:avLst/>
          </a:prstGeom>
          <a:noFill/>
          <a:ln/>
        </p:spPr>
        <p:txBody>
          <a:bodyPr wrap="square" lIns="0" tIns="0" rIns="0" bIns="0" rtlCol="0" anchor="ctr"/>
          <a:lstStyle/>
          <a:p>
            <a:pPr algn="l" indent="0" marL="0">
              <a:buNone/>
            </a:pPr>
            <a:r>
              <a:rPr lang="en-US" sz="1150" dirty="0">
                <a:solidFill>
                  <a:srgbClr val="9AA1AB"/>
                </a:solidFill>
                <a:latin typeface="Calibri" pitchFamily="34" charset="0"/>
                <a:ea typeface="Calibri" pitchFamily="34" charset="-122"/>
                <a:cs typeface="Calibri" pitchFamily="34" charset="-120"/>
              </a:rPr>
              <a:t>the schedule is always boring</a:t>
            </a:r>
            <a:endParaRPr lang="en-US" sz="1150" dirty="0"/>
          </a:p>
        </p:txBody>
      </p:sp>
      <p:sp>
        <p:nvSpPr>
          <p:cNvPr id="99" name="Shape 96"/>
          <p:cNvSpPr/>
          <p:nvPr/>
        </p:nvSpPr>
        <p:spPr>
          <a:xfrm>
            <a:off x="3504438" y="5202936"/>
            <a:ext cx="256032" cy="256032"/>
          </a:xfrm>
          <a:prstGeom prst="ellipse">
            <a:avLst/>
          </a:prstGeom>
          <a:solidFill>
            <a:srgbClr val="C9CED6"/>
          </a:solidFill>
          <a:ln w="12700">
            <a:solidFill>
              <a:srgbClr val="C9CED6"/>
            </a:solidFill>
            <a:prstDash val="solid"/>
          </a:ln>
        </p:spPr>
      </p:sp>
      <p:sp>
        <p:nvSpPr>
          <p:cNvPr id="100" name="Text 97"/>
          <p:cNvSpPr txBox="1"/>
          <p:nvPr/>
        </p:nvSpPr>
        <p:spPr>
          <a:xfrm>
            <a:off x="3504438"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101" name="Text 98"/>
          <p:cNvSpPr txBox="1"/>
          <p:nvPr/>
        </p:nvSpPr>
        <p:spPr>
          <a:xfrm>
            <a:off x="3833622" y="514502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all clubs should stop</a:t>
            </a:r>
            <a:endParaRPr lang="en-US" sz="1250" dirty="0"/>
          </a:p>
        </p:txBody>
      </p:sp>
      <p:sp>
        <p:nvSpPr>
          <p:cNvPr id="102" name="Shape 99"/>
          <p:cNvSpPr/>
          <p:nvPr/>
        </p:nvSpPr>
        <p:spPr>
          <a:xfrm>
            <a:off x="3412998" y="5538216"/>
            <a:ext cx="2498598" cy="347472"/>
          </a:xfrm>
          <a:prstGeom prst="roundRect">
            <a:avLst>
              <a:gd name="adj" fmla="val 15789"/>
            </a:avLst>
          </a:prstGeom>
          <a:solidFill>
            <a:srgbClr val="E6F4EC"/>
          </a:solidFill>
          <a:ln w="9525">
            <a:solidFill>
              <a:srgbClr val="2E8B57"/>
            </a:solidFill>
            <a:prstDash val="solid"/>
          </a:ln>
        </p:spPr>
      </p:sp>
      <p:sp>
        <p:nvSpPr>
          <p:cNvPr id="103" name="Shape 100"/>
          <p:cNvSpPr/>
          <p:nvPr/>
        </p:nvSpPr>
        <p:spPr>
          <a:xfrm>
            <a:off x="3504438" y="5574792"/>
            <a:ext cx="256032" cy="256032"/>
          </a:xfrm>
          <a:prstGeom prst="ellipse">
            <a:avLst/>
          </a:prstGeom>
          <a:solidFill>
            <a:srgbClr val="2E8B57"/>
          </a:solidFill>
          <a:ln w="12700">
            <a:solidFill>
              <a:srgbClr val="2E8B57"/>
            </a:solidFill>
            <a:prstDash val="solid"/>
          </a:ln>
        </p:spPr>
      </p:sp>
      <p:sp>
        <p:nvSpPr>
          <p:cNvPr id="104" name="Text 101"/>
          <p:cNvSpPr txBox="1"/>
          <p:nvPr/>
        </p:nvSpPr>
        <p:spPr>
          <a:xfrm>
            <a:off x="3504438"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105" name="Text 102"/>
          <p:cNvSpPr txBox="1"/>
          <p:nvPr/>
        </p:nvSpPr>
        <p:spPr>
          <a:xfrm>
            <a:off x="3833622" y="5516880"/>
            <a:ext cx="2023110"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variety is enjoyable but requires organisation</a:t>
            </a:r>
            <a:endParaRPr lang="en-US" sz="1150" dirty="0"/>
          </a:p>
        </p:txBody>
      </p:sp>
      <p:sp>
        <p:nvSpPr>
          <p:cNvPr id="106" name="Text 103"/>
          <p:cNvSpPr txBox="1"/>
          <p:nvPr/>
        </p:nvSpPr>
        <p:spPr>
          <a:xfrm>
            <a:off x="3449574" y="5907024"/>
            <a:ext cx="2425446"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final sentence gives both benefit and condition.</a:t>
            </a:r>
            <a:endParaRPr lang="en-US" sz="1050" dirty="0"/>
          </a:p>
        </p:txBody>
      </p:sp>
      <p:sp>
        <p:nvSpPr>
          <p:cNvPr id="107" name="Shape 104"/>
          <p:cNvSpPr/>
          <p:nvPr/>
        </p:nvSpPr>
        <p:spPr>
          <a:xfrm>
            <a:off x="6185916" y="4151376"/>
            <a:ext cx="2681478"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08" name="Text 105"/>
          <p:cNvSpPr txBox="1"/>
          <p:nvPr/>
        </p:nvSpPr>
        <p:spPr>
          <a:xfrm>
            <a:off x="6368796" y="4279392"/>
            <a:ext cx="2315718"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READ LIKE A DETECTIVE</a:t>
            </a:r>
            <a:endParaRPr lang="en-US" sz="1000" dirty="0"/>
          </a:p>
        </p:txBody>
      </p:sp>
      <p:sp>
        <p:nvSpPr>
          <p:cNvPr id="109" name="Text 106"/>
          <p:cNvSpPr txBox="1"/>
          <p:nvPr/>
        </p:nvSpPr>
        <p:spPr>
          <a:xfrm>
            <a:off x="6368796" y="4590288"/>
            <a:ext cx="2315718"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1. Read the question first.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2. Find ONE key word from the question in the text.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3. Read only that sentence again, then choose.</a:t>
            </a:r>
            <a:endParaRPr lang="en-US" sz="1250" dirty="0"/>
          </a:p>
        </p:txBody>
      </p:sp>
      <p:sp>
        <p:nvSpPr>
          <p:cNvPr id="110" name="Text 10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42 / 46</a:t>
            </a:r>
            <a:endParaRPr lang="en-US" sz="85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D1-L03 · How Often?</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WEBSITE MISSION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Frequency and contrast challenge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المُهِمَّةُ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D1-L03</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Arabic for “I exercise three times a week.”</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يَتَمَرَّنُ ثَلَاثَةُ أُسْبُوعٍ.</a:t>
            </a:r>
            <a:endParaRPr lang="ar-SA" sz="20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أَتَمَرَّنُ ثَلَاثَ مَرَّاتٍ فِي الأُسْبُوعِ.</a:t>
            </a:r>
            <a:endParaRPr lang="ar-SA" sz="20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6"/>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أَتَمَرَّنُ يَوْمٌ ثَلَاثَةٌ.</a:t>
            </a:r>
            <a:endParaRPr lang="ar-SA" sz="2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sentence for “I never arrive late.”</a:t>
            </a:r>
            <a:endParaRPr lang="en-US" sz="1250" dirty="0"/>
          </a:p>
        </p:txBody>
      </p:sp>
      <p:sp>
        <p:nvSpPr>
          <p:cNvPr id="34" name="Shape 31"/>
          <p:cNvSpPr/>
          <p:nvPr/>
        </p:nvSpPr>
        <p:spPr>
          <a:xfrm>
            <a:off x="4459224"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لَا أَتَأَخَّرُ أَبَدًا.</a:t>
            </a:r>
            <a:endParaRPr lang="ar-SA" sz="2050" dirty="0"/>
          </a:p>
        </p:txBody>
      </p:sp>
      <p:sp>
        <p:nvSpPr>
          <p:cNvPr id="37" name="Shape 34"/>
          <p:cNvSpPr/>
          <p:nvPr/>
        </p:nvSpPr>
        <p:spPr>
          <a:xfrm>
            <a:off x="4459224"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أَتَأَخَّرُ أَبَدًا.</a:t>
            </a:r>
            <a:endParaRPr lang="ar-SA" sz="2050" dirty="0"/>
          </a:p>
        </p:txBody>
      </p:sp>
      <p:sp>
        <p:nvSpPr>
          <p:cNvPr id="40" name="Shape 37"/>
          <p:cNvSpPr/>
          <p:nvPr/>
        </p:nvSpPr>
        <p:spPr>
          <a:xfrm>
            <a:off x="4459224"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2" name="Text 39"/>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نَادِرًا يَتَأَخَّرُ دَائِمًا.</a:t>
            </a:r>
            <a:endParaRPr lang="ar-SA" sz="2050" dirty="0"/>
          </a:p>
        </p:txBody>
      </p:sp>
      <p:sp>
        <p:nvSpPr>
          <p:cNvPr id="43" name="Shape 40"/>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8223504"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6" name="Text 43"/>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sentence with accurate subject–verb agreement.</a:t>
            </a:r>
            <a:endParaRPr lang="en-US" sz="1250" dirty="0"/>
          </a:p>
        </p:txBody>
      </p:sp>
      <p:sp>
        <p:nvSpPr>
          <p:cNvPr id="47" name="Shape 44"/>
          <p:cNvSpPr/>
          <p:nvPr/>
        </p:nvSpPr>
        <p:spPr>
          <a:xfrm>
            <a:off x="8278368"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9" name="Text 46"/>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1100" dirty="0">
                <a:solidFill>
                  <a:srgbClr val="1F2A37"/>
                </a:solidFill>
                <a:latin typeface="Amiri" pitchFamily="34" charset="0"/>
                <a:ea typeface="Amiri" pitchFamily="34" charset="-122"/>
                <a:cs typeface="Amiri" pitchFamily="34" charset="-120"/>
              </a:rPr>
              <a:t>أُخْتِي يَذْهَبُ يَوْمَ الثُّلَاثَاءِ، بَيْنَمَا أَخِي تَذْهَبُ يَوْمَ الأَرْبِعَاءِ.</a:t>
            </a:r>
            <a:endParaRPr lang="ar-SA" sz="1100" dirty="0"/>
          </a:p>
        </p:txBody>
      </p:sp>
      <p:sp>
        <p:nvSpPr>
          <p:cNvPr id="50" name="Shape 47"/>
          <p:cNvSpPr/>
          <p:nvPr/>
        </p:nvSpPr>
        <p:spPr>
          <a:xfrm>
            <a:off x="8278368"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2" name="Text 49"/>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1100" dirty="0">
                <a:solidFill>
                  <a:srgbClr val="1F2A37"/>
                </a:solidFill>
                <a:latin typeface="Amiri" pitchFamily="34" charset="0"/>
                <a:ea typeface="Amiri" pitchFamily="34" charset="-122"/>
                <a:cs typeface="Amiri" pitchFamily="34" charset="-120"/>
              </a:rPr>
              <a:t>أُخْتِي أَذْهَبُ، بَيْنَمَا أَخِي أَذْهَبُ.</a:t>
            </a:r>
            <a:endParaRPr lang="ar-SA" sz="1100" dirty="0"/>
          </a:p>
        </p:txBody>
      </p:sp>
      <p:sp>
        <p:nvSpPr>
          <p:cNvPr id="53" name="Shape 50"/>
          <p:cNvSpPr/>
          <p:nvPr/>
        </p:nvSpPr>
        <p:spPr>
          <a:xfrm>
            <a:off x="8278368"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5" name="Text 52"/>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1100" dirty="0">
                <a:solidFill>
                  <a:srgbClr val="1F2A37"/>
                </a:solidFill>
                <a:latin typeface="Amiri" pitchFamily="34" charset="0"/>
                <a:ea typeface="Amiri" pitchFamily="34" charset="-122"/>
                <a:cs typeface="Amiri" pitchFamily="34" charset="-120"/>
              </a:rPr>
              <a:t>أُخْتِي تَذْهَبُ يَوْمَ الثُّلَاثَاءِ، بَيْنَمَا أَخِي يَذْهَبُ يَوْمَ الأَرْبِعَاءِ.</a:t>
            </a:r>
            <a:endParaRPr lang="ar-SA" sz="1100" dirty="0"/>
          </a:p>
        </p:txBody>
      </p:sp>
      <p:sp>
        <p:nvSpPr>
          <p:cNvPr id="56" name="Shape 53"/>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585216"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9" name="Text 56"/>
          <p:cNvSpPr txBox="1"/>
          <p:nvPr/>
        </p:nvSpPr>
        <p:spPr>
          <a:xfrm>
            <a:off x="950976"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60" name="Text 57"/>
          <p:cNvSpPr txBox="1"/>
          <p:nvPr/>
        </p:nvSpPr>
        <p:spPr>
          <a:xfrm>
            <a:off x="2406701" y="4224528"/>
            <a:ext cx="1577035" cy="475488"/>
          </a:xfrm>
          <a:prstGeom prst="rect">
            <a:avLst/>
          </a:prstGeom>
          <a:noFill/>
          <a:ln/>
        </p:spPr>
        <p:txBody>
          <a:bodyPr wrap="square" lIns="0" tIns="0" rIns="0" bIns="0" rtlCol="0" anchor="ctr"/>
          <a:lstStyle/>
          <a:p>
            <a:pPr rtl="1" algn="r" indent="0" marL="0">
              <a:lnSpc>
                <a:spcPct val="120000"/>
              </a:lnSpc>
              <a:buNone/>
            </a:pPr>
            <a:r>
              <a:rPr lang="ar-SA" altLang="en-US" sz="1000" b="1" dirty="0">
                <a:solidFill>
                  <a:srgbClr val="1F2A37"/>
                </a:solidFill>
                <a:latin typeface="Amiri" pitchFamily="34" charset="0"/>
                <a:ea typeface="Amiri" pitchFamily="34" charset="-122"/>
                <a:cs typeface="Amiri" pitchFamily="34" charset="-120"/>
              </a:rPr>
              <a:t>أَمَّا يَوْمُ الخَمِيسِ ___ أَقَلُّ اِزْدِحَامًا.</a:t>
            </a:r>
            <a:endParaRPr lang="ar-SA" sz="1000" dirty="0"/>
          </a:p>
        </p:txBody>
      </p:sp>
      <p:sp>
        <p:nvSpPr>
          <p:cNvPr id="61" name="Shape 58"/>
          <p:cNvSpPr/>
          <p:nvPr/>
        </p:nvSpPr>
        <p:spPr>
          <a:xfrm>
            <a:off x="640080" y="48737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3" name="Text 60"/>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لِأَنَّهُ</a:t>
            </a:r>
            <a:endParaRPr lang="ar-SA" sz="2050" dirty="0"/>
          </a:p>
        </p:txBody>
      </p:sp>
      <p:sp>
        <p:nvSpPr>
          <p:cNvPr id="64" name="Shape 61"/>
          <p:cNvSpPr/>
          <p:nvPr/>
        </p:nvSpPr>
        <p:spPr>
          <a:xfrm>
            <a:off x="640080" y="53309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6" name="Text 63"/>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بَيْنَمَا</a:t>
            </a:r>
            <a:endParaRPr lang="ar-SA" sz="2050" dirty="0"/>
          </a:p>
        </p:txBody>
      </p:sp>
      <p:sp>
        <p:nvSpPr>
          <p:cNvPr id="67" name="Shape 64"/>
          <p:cNvSpPr/>
          <p:nvPr/>
        </p:nvSpPr>
        <p:spPr>
          <a:xfrm>
            <a:off x="640080" y="5788152"/>
            <a:ext cx="256032" cy="256032"/>
          </a:xfrm>
          <a:prstGeom prst="ellipse">
            <a:avLst/>
          </a:prstGeom>
          <a:solidFill>
            <a:srgbClr val="F4F1EA"/>
          </a:solidFill>
          <a:ln w="12700">
            <a:solidFill>
              <a:srgbClr val="F4F1EA"/>
            </a:solidFill>
            <a:prstDash val="solid"/>
          </a:ln>
        </p:spPr>
      </p:sp>
      <p:sp>
        <p:nvSpPr>
          <p:cNvPr id="68" name="Text 65"/>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9" name="Text 66"/>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فَهُوَ</a:t>
            </a:r>
            <a:endParaRPr lang="ar-SA" sz="2050" dirty="0"/>
          </a:p>
        </p:txBody>
      </p:sp>
      <p:sp>
        <p:nvSpPr>
          <p:cNvPr id="70" name="Shape 67"/>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1" name="Shape 68"/>
          <p:cNvSpPr/>
          <p:nvPr/>
        </p:nvSpPr>
        <p:spPr>
          <a:xfrm>
            <a:off x="4404360" y="4288536"/>
            <a:ext cx="310896" cy="310896"/>
          </a:xfrm>
          <a:prstGeom prst="ellipse">
            <a:avLst/>
          </a:prstGeom>
          <a:solidFill>
            <a:srgbClr val="1B3B6F"/>
          </a:solidFill>
          <a:ln w="12700">
            <a:solidFill>
              <a:srgbClr val="1B3B6F"/>
            </a:solidFill>
            <a:prstDash val="solid"/>
          </a:ln>
        </p:spPr>
      </p:sp>
      <p:sp>
        <p:nvSpPr>
          <p:cNvPr id="72" name="Text 69"/>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3" name="Text 70"/>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comparison.</a:t>
            </a:r>
            <a:endParaRPr lang="en-US" sz="1250" dirty="0"/>
          </a:p>
        </p:txBody>
      </p:sp>
      <p:sp>
        <p:nvSpPr>
          <p:cNvPr id="74" name="Shape 71"/>
          <p:cNvSpPr/>
          <p:nvPr/>
        </p:nvSpPr>
        <p:spPr>
          <a:xfrm>
            <a:off x="4459224" y="48737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6" name="Text 73"/>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1450" dirty="0">
                <a:solidFill>
                  <a:srgbClr val="1F2A37"/>
                </a:solidFill>
                <a:latin typeface="Amiri" pitchFamily="34" charset="0"/>
                <a:ea typeface="Amiri" pitchFamily="34" charset="-122"/>
                <a:cs typeface="Amiri" pitchFamily="34" charset="-120"/>
              </a:rPr>
              <a:t>يَوْمُ الأَرْبِعَاءِ أَكْثَرُ اِنْشِغَالًا مِنْ يَوْمِ الخَمِيسِ.</a:t>
            </a:r>
            <a:endParaRPr lang="ar-SA" sz="1450" dirty="0"/>
          </a:p>
        </p:txBody>
      </p:sp>
      <p:sp>
        <p:nvSpPr>
          <p:cNvPr id="77" name="Shape 74"/>
          <p:cNvSpPr/>
          <p:nvPr/>
        </p:nvSpPr>
        <p:spPr>
          <a:xfrm>
            <a:off x="4459224" y="53309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9" name="Text 76"/>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1450" dirty="0">
                <a:solidFill>
                  <a:srgbClr val="1F2A37"/>
                </a:solidFill>
                <a:latin typeface="Amiri" pitchFamily="34" charset="0"/>
                <a:ea typeface="Amiri" pitchFamily="34" charset="-122"/>
                <a:cs typeface="Amiri" pitchFamily="34" charset="-120"/>
              </a:rPr>
              <a:t>يَوْمُ الأَرْبِعَاءِ اِنْشِغَالًا فِي الخَمِيسِ.</a:t>
            </a:r>
            <a:endParaRPr lang="ar-SA" sz="1450" dirty="0"/>
          </a:p>
        </p:txBody>
      </p:sp>
      <p:sp>
        <p:nvSpPr>
          <p:cNvPr id="80" name="Shape 77"/>
          <p:cNvSpPr/>
          <p:nvPr/>
        </p:nvSpPr>
        <p:spPr>
          <a:xfrm>
            <a:off x="4459224" y="5788152"/>
            <a:ext cx="256032" cy="256032"/>
          </a:xfrm>
          <a:prstGeom prst="ellipse">
            <a:avLst/>
          </a:prstGeom>
          <a:solidFill>
            <a:srgbClr val="F4F1EA"/>
          </a:solidFill>
          <a:ln w="12700">
            <a:solidFill>
              <a:srgbClr val="F4F1EA"/>
            </a:solidFill>
            <a:prstDash val="solid"/>
          </a:ln>
        </p:spPr>
      </p:sp>
      <p:sp>
        <p:nvSpPr>
          <p:cNvPr id="81" name="Text 78"/>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2" name="Text 79"/>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1450" dirty="0">
                <a:solidFill>
                  <a:srgbClr val="1F2A37"/>
                </a:solidFill>
                <a:latin typeface="Amiri" pitchFamily="34" charset="0"/>
                <a:ea typeface="Amiri" pitchFamily="34" charset="-122"/>
                <a:cs typeface="Amiri" pitchFamily="34" charset="-120"/>
              </a:rPr>
              <a:t>يَوْمُ الأَرْبِعَاءِ بَيْنَمَا الخَمِيسِ.</a:t>
            </a:r>
            <a:endParaRPr lang="ar-SA" sz="1450" dirty="0"/>
          </a:p>
        </p:txBody>
      </p:sp>
      <p:sp>
        <p:nvSpPr>
          <p:cNvPr id="83" name="Shape 80"/>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4" name="Shape 81"/>
          <p:cNvSpPr/>
          <p:nvPr/>
        </p:nvSpPr>
        <p:spPr>
          <a:xfrm>
            <a:off x="8223504" y="4288536"/>
            <a:ext cx="310896" cy="310896"/>
          </a:xfrm>
          <a:prstGeom prst="ellipse">
            <a:avLst/>
          </a:prstGeom>
          <a:solidFill>
            <a:srgbClr val="1B3B6F"/>
          </a:solidFill>
          <a:ln w="12700">
            <a:solidFill>
              <a:srgbClr val="1B3B6F"/>
            </a:solidFill>
            <a:prstDash val="solid"/>
          </a:ln>
        </p:spPr>
      </p:sp>
      <p:sp>
        <p:nvSpPr>
          <p:cNvPr id="85" name="Text 82"/>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86" name="Text 83"/>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ar-SA" altLang="en-US" sz="1250" b="1" dirty="0">
                <a:solidFill>
                  <a:srgbClr val="1B3B6F"/>
                </a:solidFill>
                <a:latin typeface="Amiri" pitchFamily="34" charset="0"/>
                <a:ea typeface="Amiri" pitchFamily="34" charset="-122"/>
                <a:cs typeface="Amiri" pitchFamily="34" charset="-120"/>
              </a:rPr>
              <a:t>عَلِيٌّ يَتَمَرَّنُ يَوْمَ الاِثْنَيْنِ وَالأَرْبِعَاءِ وَالجُمُعَةِ</a:t>
            </a:r>
            <a:pPr algn="l" indent="0" marL="0">
              <a:buNone/>
            </a:pPr>
            <a:r>
              <a:rPr lang="en-US" sz="950" b="1" dirty="0">
                <a:solidFill>
                  <a:srgbClr val="1B3B6F"/>
                </a:solidFill>
                <a:latin typeface="Calibri" pitchFamily="34" charset="0"/>
                <a:ea typeface="Calibri" pitchFamily="34" charset="-122"/>
                <a:cs typeface="Calibri" pitchFamily="34" charset="-120"/>
              </a:rPr>
              <a:t>. How should he answer </a:t>
            </a:r>
            <a:pPr algn="l" indent="0" marL="0">
              <a:buNone/>
            </a:pPr>
            <a:r>
              <a:rPr lang="ar-SA" altLang="en-US" sz="1250" b="1" dirty="0">
                <a:solidFill>
                  <a:srgbClr val="1B3B6F"/>
                </a:solidFill>
                <a:latin typeface="Amiri" pitchFamily="34" charset="0"/>
                <a:ea typeface="Amiri" pitchFamily="34" charset="-122"/>
                <a:cs typeface="Amiri" pitchFamily="34" charset="-120"/>
              </a:rPr>
              <a:t>كَمْ مَرَّةً تَتَمَرَّنُ؟</a:t>
            </a:r>
            <a:endParaRPr lang="en-US" sz="950" dirty="0"/>
          </a:p>
        </p:txBody>
      </p:sp>
      <p:sp>
        <p:nvSpPr>
          <p:cNvPr id="87" name="Shape 84"/>
          <p:cNvSpPr/>
          <p:nvPr/>
        </p:nvSpPr>
        <p:spPr>
          <a:xfrm>
            <a:off x="8278368" y="4873752"/>
            <a:ext cx="256032" cy="256032"/>
          </a:xfrm>
          <a:prstGeom prst="ellipse">
            <a:avLst/>
          </a:prstGeom>
          <a:solidFill>
            <a:srgbClr val="F4F1EA"/>
          </a:solidFill>
          <a:ln w="12700">
            <a:solidFill>
              <a:srgbClr val="F4F1EA"/>
            </a:solidFill>
            <a:prstDash val="solid"/>
          </a:ln>
        </p:spPr>
      </p:sp>
      <p:sp>
        <p:nvSpPr>
          <p:cNvPr id="88" name="Text 85"/>
          <p:cNvSpPr txBox="1"/>
          <p:nvPr/>
        </p:nvSpPr>
        <p:spPr>
          <a:xfrm>
            <a:off x="827836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89" name="Text 86"/>
          <p:cNvSpPr txBox="1"/>
          <p:nvPr/>
        </p:nvSpPr>
        <p:spPr>
          <a:xfrm>
            <a:off x="8607552"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يَوْمَ الاِثْنَيْنِ.</a:t>
            </a:r>
            <a:endParaRPr lang="ar-SA" sz="2050" dirty="0"/>
          </a:p>
        </p:txBody>
      </p:sp>
      <p:sp>
        <p:nvSpPr>
          <p:cNvPr id="90" name="Shape 87"/>
          <p:cNvSpPr/>
          <p:nvPr/>
        </p:nvSpPr>
        <p:spPr>
          <a:xfrm>
            <a:off x="8278368" y="5330952"/>
            <a:ext cx="256032" cy="256032"/>
          </a:xfrm>
          <a:prstGeom prst="ellipse">
            <a:avLst/>
          </a:prstGeom>
          <a:solidFill>
            <a:srgbClr val="F4F1EA"/>
          </a:solidFill>
          <a:ln w="12700">
            <a:solidFill>
              <a:srgbClr val="F4F1EA"/>
            </a:solidFill>
            <a:prstDash val="solid"/>
          </a:ln>
        </p:spPr>
      </p:sp>
      <p:sp>
        <p:nvSpPr>
          <p:cNvPr id="91" name="Text 88"/>
          <p:cNvSpPr txBox="1"/>
          <p:nvPr/>
        </p:nvSpPr>
        <p:spPr>
          <a:xfrm>
            <a:off x="827836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92" name="Text 89"/>
          <p:cNvSpPr txBox="1"/>
          <p:nvPr/>
        </p:nvSpPr>
        <p:spPr>
          <a:xfrm>
            <a:off x="8607552"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ثَلَاثَ مَرَّاتٍ فِي الأُسْبُوعِ.</a:t>
            </a:r>
            <a:endParaRPr lang="ar-SA" sz="2050" dirty="0"/>
          </a:p>
        </p:txBody>
      </p:sp>
      <p:sp>
        <p:nvSpPr>
          <p:cNvPr id="93" name="Shape 90"/>
          <p:cNvSpPr/>
          <p:nvPr/>
        </p:nvSpPr>
        <p:spPr>
          <a:xfrm>
            <a:off x="8278368" y="5788152"/>
            <a:ext cx="256032" cy="256032"/>
          </a:xfrm>
          <a:prstGeom prst="ellipse">
            <a:avLst/>
          </a:prstGeom>
          <a:solidFill>
            <a:srgbClr val="F4F1EA"/>
          </a:solidFill>
          <a:ln w="12700">
            <a:solidFill>
              <a:srgbClr val="F4F1EA"/>
            </a:solidFill>
            <a:prstDash val="solid"/>
          </a:ln>
        </p:spPr>
      </p:sp>
      <p:sp>
        <p:nvSpPr>
          <p:cNvPr id="94" name="Text 91"/>
          <p:cNvSpPr txBox="1"/>
          <p:nvPr/>
        </p:nvSpPr>
        <p:spPr>
          <a:xfrm>
            <a:off x="827836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95" name="Text 92"/>
          <p:cNvSpPr txBox="1"/>
          <p:nvPr/>
        </p:nvSpPr>
        <p:spPr>
          <a:xfrm>
            <a:off x="8607552"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لِأَنَّ الرِّيَاضَةَ مُفِيدَةٌ.</a:t>
            </a:r>
            <a:endParaRPr lang="ar-SA" sz="2050" dirty="0"/>
          </a:p>
        </p:txBody>
      </p:sp>
      <p:sp>
        <p:nvSpPr>
          <p:cNvPr id="96" name="Text 9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43 / 46</a:t>
            </a:r>
            <a:endParaRPr lang="en-US" sz="85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D1-L03 · How Often?</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MISSION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Mission: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D1-L03</a:t>
            </a:r>
            <a:endParaRPr lang="en-US" sz="850" dirty="0"/>
          </a:p>
        </p:txBody>
      </p:sp>
      <p:sp>
        <p:nvSpPr>
          <p:cNvPr id="16"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7"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8"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9"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Arabic for “I exercise three times a week.”</a:t>
            </a:r>
            <a:endParaRPr lang="en-US" sz="1250" dirty="0"/>
          </a:p>
        </p:txBody>
      </p:sp>
      <p:sp>
        <p:nvSpPr>
          <p:cNvPr id="20"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1"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2" name="Text 20"/>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يَتَمَرَّنُ ثَلَاثَةُ أُسْبُوعٍ.</a:t>
            </a:r>
            <a:endParaRPr lang="ar-SA" sz="1700" dirty="0"/>
          </a:p>
        </p:txBody>
      </p:sp>
      <p:sp>
        <p:nvSpPr>
          <p:cNvPr id="23" name="Shape 21"/>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4"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5"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6" name="Text 24"/>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أَتَمَرَّنُ ثَلَاثَ مَرَّاتٍ فِي الأُسْبُوعِ.</a:t>
            </a:r>
            <a:endParaRPr lang="ar-SA" sz="1700" dirty="0"/>
          </a:p>
        </p:txBody>
      </p:sp>
      <p:sp>
        <p:nvSpPr>
          <p:cNvPr id="27"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8"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7"/>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أَتَمَرَّنُ يَوْمٌ ثَلَاثَةٌ.</a:t>
            </a:r>
            <a:endParaRPr lang="ar-SA" sz="1700" dirty="0"/>
          </a:p>
        </p:txBody>
      </p:sp>
      <p:sp>
        <p:nvSpPr>
          <p:cNvPr id="30" name="Text 28"/>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frequency frame is </a:t>
            </a:r>
            <a:pPr algn="l" indent="0" marL="0">
              <a:buNone/>
            </a:pPr>
            <a:r>
              <a:rPr lang="ar-SA" altLang="en-US" sz="1350" dirty="0">
                <a:solidFill>
                  <a:srgbClr val="8A6D1E"/>
                </a:solidFill>
                <a:latin typeface="Amiri" pitchFamily="34" charset="0"/>
                <a:ea typeface="Amiri" pitchFamily="34" charset="-122"/>
                <a:cs typeface="Amiri" pitchFamily="34" charset="-120"/>
              </a:rPr>
              <a:t>ثَلَاثَ مَرَّاتٍ فِي الأُسْبُوعِ</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31" name="Shape 29"/>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30"/>
          <p:cNvSpPr/>
          <p:nvPr/>
        </p:nvSpPr>
        <p:spPr>
          <a:xfrm>
            <a:off x="4404360" y="1947672"/>
            <a:ext cx="310896" cy="310896"/>
          </a:xfrm>
          <a:prstGeom prst="ellipse">
            <a:avLst/>
          </a:prstGeom>
          <a:solidFill>
            <a:srgbClr val="1B3B6F"/>
          </a:solidFill>
          <a:ln w="12700">
            <a:solidFill>
              <a:srgbClr val="1B3B6F"/>
            </a:solidFill>
            <a:prstDash val="solid"/>
          </a:ln>
        </p:spPr>
      </p:sp>
      <p:sp>
        <p:nvSpPr>
          <p:cNvPr id="33" name="Text 31"/>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4" name="Text 32"/>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sentence for “I never arrive late.”</a:t>
            </a:r>
            <a:endParaRPr lang="en-US" sz="1250" dirty="0"/>
          </a:p>
        </p:txBody>
      </p:sp>
      <p:sp>
        <p:nvSpPr>
          <p:cNvPr id="35" name="Shape 33"/>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6" name="Shape 34"/>
          <p:cNvSpPr/>
          <p:nvPr/>
        </p:nvSpPr>
        <p:spPr>
          <a:xfrm>
            <a:off x="4459224" y="2490216"/>
            <a:ext cx="256032" cy="256032"/>
          </a:xfrm>
          <a:prstGeom prst="ellipse">
            <a:avLst/>
          </a:prstGeom>
          <a:solidFill>
            <a:srgbClr val="2E8B57"/>
          </a:solidFill>
          <a:ln w="12700">
            <a:solidFill>
              <a:srgbClr val="2E8B57"/>
            </a:solidFill>
            <a:prstDash val="solid"/>
          </a:ln>
        </p:spPr>
      </p:sp>
      <p:sp>
        <p:nvSpPr>
          <p:cNvPr id="37" name="Text 35"/>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8" name="Text 36"/>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لَا أَتَأَخَّرُ أَبَدًا.</a:t>
            </a:r>
            <a:endParaRPr lang="ar-SA" sz="1700" dirty="0"/>
          </a:p>
        </p:txBody>
      </p:sp>
      <p:sp>
        <p:nvSpPr>
          <p:cNvPr id="39" name="Shape 37"/>
          <p:cNvSpPr/>
          <p:nvPr/>
        </p:nvSpPr>
        <p:spPr>
          <a:xfrm>
            <a:off x="4459224" y="2862072"/>
            <a:ext cx="256032" cy="256032"/>
          </a:xfrm>
          <a:prstGeom prst="ellipse">
            <a:avLst/>
          </a:prstGeom>
          <a:solidFill>
            <a:srgbClr val="C9CED6"/>
          </a:solidFill>
          <a:ln w="12700">
            <a:solidFill>
              <a:srgbClr val="C9CED6"/>
            </a:solidFill>
            <a:prstDash val="solid"/>
          </a:ln>
        </p:spPr>
      </p:sp>
      <p:sp>
        <p:nvSpPr>
          <p:cNvPr id="40" name="Text 38"/>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1" name="Text 39"/>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أَتَأَخَّرُ أَبَدًا.</a:t>
            </a:r>
            <a:endParaRPr lang="ar-SA" sz="1700" dirty="0"/>
          </a:p>
        </p:txBody>
      </p:sp>
      <p:sp>
        <p:nvSpPr>
          <p:cNvPr id="42" name="Shape 40"/>
          <p:cNvSpPr/>
          <p:nvPr/>
        </p:nvSpPr>
        <p:spPr>
          <a:xfrm>
            <a:off x="4459224" y="3233928"/>
            <a:ext cx="256032" cy="256032"/>
          </a:xfrm>
          <a:prstGeom prst="ellipse">
            <a:avLst/>
          </a:prstGeom>
          <a:solidFill>
            <a:srgbClr val="C9CED6"/>
          </a:solidFill>
          <a:ln w="12700">
            <a:solidFill>
              <a:srgbClr val="C9CED6"/>
            </a:solidFill>
            <a:prstDash val="solid"/>
          </a:ln>
        </p:spPr>
      </p:sp>
      <p:sp>
        <p:nvSpPr>
          <p:cNvPr id="43" name="Text 41"/>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4" name="Text 42"/>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نَادِرًا يَتَأَخَّرُ دَائِمًا.</a:t>
            </a:r>
            <a:endParaRPr lang="ar-SA" sz="1700" dirty="0"/>
          </a:p>
        </p:txBody>
      </p:sp>
      <p:sp>
        <p:nvSpPr>
          <p:cNvPr id="45" name="Text 43"/>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“Never” requires the negative frame </a:t>
            </a:r>
            <a:pPr algn="l" indent="0" marL="0">
              <a:buNone/>
            </a:pPr>
            <a:r>
              <a:rPr lang="ar-SA" altLang="en-US" sz="1350" dirty="0">
                <a:solidFill>
                  <a:srgbClr val="8A6D1E"/>
                </a:solidFill>
                <a:latin typeface="Amiri" pitchFamily="34" charset="0"/>
                <a:ea typeface="Amiri" pitchFamily="34" charset="-122"/>
                <a:cs typeface="Amiri" pitchFamily="34" charset="-120"/>
              </a:rPr>
              <a:t>لَا</a:t>
            </a:r>
            <a:pPr algn="l" indent="0" marL="0">
              <a:buNone/>
            </a:pPr>
            <a:r>
              <a:rPr lang="en-US" sz="1050" i="1" dirty="0">
                <a:solidFill>
                  <a:srgbClr val="8A6D1E"/>
                </a:solidFill>
                <a:latin typeface="Calibri" pitchFamily="34" charset="0"/>
                <a:ea typeface="Calibri" pitchFamily="34" charset="-122"/>
                <a:cs typeface="Calibri" pitchFamily="34" charset="-120"/>
              </a:rPr>
              <a:t> ... </a:t>
            </a:r>
            <a:pPr algn="l" indent="0" marL="0">
              <a:buNone/>
            </a:pPr>
            <a:r>
              <a:rPr lang="ar-SA" altLang="en-US" sz="1350" dirty="0">
                <a:solidFill>
                  <a:srgbClr val="8A6D1E"/>
                </a:solidFill>
                <a:latin typeface="Amiri" pitchFamily="34" charset="0"/>
                <a:ea typeface="Amiri" pitchFamily="34" charset="-122"/>
                <a:cs typeface="Amiri" pitchFamily="34" charset="-120"/>
              </a:rPr>
              <a:t>أَبَدًا</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46" name="Shape 44"/>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7" name="Shape 45"/>
          <p:cNvSpPr/>
          <p:nvPr/>
        </p:nvSpPr>
        <p:spPr>
          <a:xfrm>
            <a:off x="8223504" y="1947672"/>
            <a:ext cx="310896" cy="310896"/>
          </a:xfrm>
          <a:prstGeom prst="ellipse">
            <a:avLst/>
          </a:prstGeom>
          <a:solidFill>
            <a:srgbClr val="1B3B6F"/>
          </a:solidFill>
          <a:ln w="12700">
            <a:solidFill>
              <a:srgbClr val="1B3B6F"/>
            </a:solidFill>
            <a:prstDash val="solid"/>
          </a:ln>
        </p:spPr>
      </p:sp>
      <p:sp>
        <p:nvSpPr>
          <p:cNvPr id="48" name="Text 46"/>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9" name="Text 47"/>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sentence with accurate subject–verb agreement.</a:t>
            </a:r>
            <a:endParaRPr lang="en-US" sz="1250" dirty="0"/>
          </a:p>
        </p:txBody>
      </p:sp>
      <p:sp>
        <p:nvSpPr>
          <p:cNvPr id="50" name="Shape 48"/>
          <p:cNvSpPr/>
          <p:nvPr/>
        </p:nvSpPr>
        <p:spPr>
          <a:xfrm>
            <a:off x="8278368" y="2490216"/>
            <a:ext cx="256032" cy="256032"/>
          </a:xfrm>
          <a:prstGeom prst="ellipse">
            <a:avLst/>
          </a:prstGeom>
          <a:solidFill>
            <a:srgbClr val="C9CED6"/>
          </a:solidFill>
          <a:ln w="12700">
            <a:solidFill>
              <a:srgbClr val="C9CED6"/>
            </a:solidFill>
            <a:prstDash val="solid"/>
          </a:ln>
        </p:spPr>
      </p:sp>
      <p:sp>
        <p:nvSpPr>
          <p:cNvPr id="51" name="Text 49"/>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2" name="Text 50"/>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100" dirty="0">
                <a:solidFill>
                  <a:srgbClr val="9AA1AB"/>
                </a:solidFill>
                <a:latin typeface="Amiri" pitchFamily="34" charset="0"/>
                <a:ea typeface="Amiri" pitchFamily="34" charset="-122"/>
                <a:cs typeface="Amiri" pitchFamily="34" charset="-120"/>
              </a:rPr>
              <a:t>أُخْتِي يَذْهَبُ يَوْمَ الثُّلَاثَاءِ، بَيْنَمَا أَخِي تَذْهَبُ يَوْمَ الأَرْبِعَاءِ.</a:t>
            </a:r>
            <a:endParaRPr lang="ar-SA" sz="1100" dirty="0"/>
          </a:p>
        </p:txBody>
      </p:sp>
      <p:sp>
        <p:nvSpPr>
          <p:cNvPr id="53" name="Shape 51"/>
          <p:cNvSpPr/>
          <p:nvPr/>
        </p:nvSpPr>
        <p:spPr>
          <a:xfrm>
            <a:off x="8278368" y="2862072"/>
            <a:ext cx="256032" cy="256032"/>
          </a:xfrm>
          <a:prstGeom prst="ellipse">
            <a:avLst/>
          </a:prstGeom>
          <a:solidFill>
            <a:srgbClr val="C9CED6"/>
          </a:solidFill>
          <a:ln w="12700">
            <a:solidFill>
              <a:srgbClr val="C9CED6"/>
            </a:solidFill>
            <a:prstDash val="solid"/>
          </a:ln>
        </p:spPr>
      </p:sp>
      <p:sp>
        <p:nvSpPr>
          <p:cNvPr id="54" name="Text 52"/>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5" name="Text 53"/>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100" dirty="0">
                <a:solidFill>
                  <a:srgbClr val="9AA1AB"/>
                </a:solidFill>
                <a:latin typeface="Amiri" pitchFamily="34" charset="0"/>
                <a:ea typeface="Amiri" pitchFamily="34" charset="-122"/>
                <a:cs typeface="Amiri" pitchFamily="34" charset="-120"/>
              </a:rPr>
              <a:t>أُخْتِي أَذْهَبُ، بَيْنَمَا أَخِي أَذْهَبُ.</a:t>
            </a:r>
            <a:endParaRPr lang="ar-SA" sz="1100" dirty="0"/>
          </a:p>
        </p:txBody>
      </p:sp>
      <p:sp>
        <p:nvSpPr>
          <p:cNvPr id="56" name="Shape 54"/>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7" name="Shape 55"/>
          <p:cNvSpPr/>
          <p:nvPr/>
        </p:nvSpPr>
        <p:spPr>
          <a:xfrm>
            <a:off x="8278368" y="3233928"/>
            <a:ext cx="256032" cy="256032"/>
          </a:xfrm>
          <a:prstGeom prst="ellipse">
            <a:avLst/>
          </a:prstGeom>
          <a:solidFill>
            <a:srgbClr val="2E8B57"/>
          </a:solidFill>
          <a:ln w="12700">
            <a:solidFill>
              <a:srgbClr val="2E8B57"/>
            </a:solidFill>
            <a:prstDash val="solid"/>
          </a:ln>
        </p:spPr>
      </p:sp>
      <p:sp>
        <p:nvSpPr>
          <p:cNvPr id="58" name="Text 56"/>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9" name="Text 57"/>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100" b="1" dirty="0">
                <a:solidFill>
                  <a:srgbClr val="1F2A37"/>
                </a:solidFill>
                <a:latin typeface="Amiri" pitchFamily="34" charset="0"/>
                <a:ea typeface="Amiri" pitchFamily="34" charset="-122"/>
                <a:cs typeface="Amiri" pitchFamily="34" charset="-120"/>
              </a:rPr>
              <a:t>أُخْتِي تَذْهَبُ يَوْمَ الثُّلَاثَاءِ، بَيْنَمَا أَخِي يَذْهَبُ يَوْمَ الأَرْبِعَاءِ.</a:t>
            </a:r>
            <a:endParaRPr lang="ar-SA" sz="1100" dirty="0"/>
          </a:p>
        </p:txBody>
      </p:sp>
      <p:sp>
        <p:nvSpPr>
          <p:cNvPr id="60" name="Text 58"/>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أُخْتِي</a:t>
            </a:r>
            <a:pPr algn="l" indent="0" marL="0">
              <a:buNone/>
            </a:pPr>
            <a:r>
              <a:rPr lang="en-US" sz="1050" i="1" dirty="0">
                <a:solidFill>
                  <a:srgbClr val="8A6D1E"/>
                </a:solidFill>
                <a:latin typeface="Calibri" pitchFamily="34" charset="0"/>
                <a:ea typeface="Calibri" pitchFamily="34" charset="-122"/>
                <a:cs typeface="Calibri" pitchFamily="34" charset="-120"/>
              </a:rPr>
              <a:t> takes </a:t>
            </a:r>
            <a:pPr algn="l" indent="0" marL="0">
              <a:buNone/>
            </a:pPr>
            <a:r>
              <a:rPr lang="ar-SA" altLang="en-US" sz="1350" dirty="0">
                <a:solidFill>
                  <a:srgbClr val="8A6D1E"/>
                </a:solidFill>
                <a:latin typeface="Amiri" pitchFamily="34" charset="0"/>
                <a:ea typeface="Amiri" pitchFamily="34" charset="-122"/>
                <a:cs typeface="Amiri" pitchFamily="34" charset="-120"/>
              </a:rPr>
              <a:t>تَذْهَبُ</a:t>
            </a:r>
            <a:pPr algn="l" indent="0" marL="0">
              <a:buNone/>
            </a:pPr>
            <a:r>
              <a:rPr lang="en-US" sz="1050" i="1" dirty="0">
                <a:solidFill>
                  <a:srgbClr val="8A6D1E"/>
                </a:solidFill>
                <a:latin typeface="Calibri" pitchFamily="34" charset="0"/>
                <a:ea typeface="Calibri" pitchFamily="34" charset="-122"/>
                <a:cs typeface="Calibri" pitchFamily="34" charset="-120"/>
              </a:rPr>
              <a:t> and </a:t>
            </a:r>
            <a:pPr algn="l" indent="0" marL="0">
              <a:buNone/>
            </a:pPr>
            <a:r>
              <a:rPr lang="ar-SA" altLang="en-US" sz="1350" dirty="0">
                <a:solidFill>
                  <a:srgbClr val="8A6D1E"/>
                </a:solidFill>
                <a:latin typeface="Amiri" pitchFamily="34" charset="0"/>
                <a:ea typeface="Amiri" pitchFamily="34" charset="-122"/>
                <a:cs typeface="Amiri" pitchFamily="34" charset="-120"/>
              </a:rPr>
              <a:t>أَخِي</a:t>
            </a:r>
            <a:pPr algn="l" indent="0" marL="0">
              <a:buNone/>
            </a:pPr>
            <a:r>
              <a:rPr lang="en-US" sz="1050" i="1" dirty="0">
                <a:solidFill>
                  <a:srgbClr val="8A6D1E"/>
                </a:solidFill>
                <a:latin typeface="Calibri" pitchFamily="34" charset="0"/>
                <a:ea typeface="Calibri" pitchFamily="34" charset="-122"/>
                <a:cs typeface="Calibri" pitchFamily="34" charset="-120"/>
              </a:rPr>
              <a:t> takes </a:t>
            </a:r>
            <a:pPr algn="l" indent="0" marL="0">
              <a:buNone/>
            </a:pPr>
            <a:r>
              <a:rPr lang="ar-SA" altLang="en-US" sz="1350" dirty="0">
                <a:solidFill>
                  <a:srgbClr val="8A6D1E"/>
                </a:solidFill>
                <a:latin typeface="Amiri" pitchFamily="34" charset="0"/>
                <a:ea typeface="Amiri" pitchFamily="34" charset="-122"/>
                <a:cs typeface="Amiri" pitchFamily="34" charset="-120"/>
              </a:rPr>
              <a:t>يَذْهَبُ</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61" name="Shape 59"/>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2" name="Shape 60"/>
          <p:cNvSpPr/>
          <p:nvPr/>
        </p:nvSpPr>
        <p:spPr>
          <a:xfrm>
            <a:off x="585216" y="4288536"/>
            <a:ext cx="310896" cy="310896"/>
          </a:xfrm>
          <a:prstGeom prst="ellipse">
            <a:avLst/>
          </a:prstGeom>
          <a:solidFill>
            <a:srgbClr val="1B3B6F"/>
          </a:solidFill>
          <a:ln w="12700">
            <a:solidFill>
              <a:srgbClr val="1B3B6F"/>
            </a:solidFill>
            <a:prstDash val="solid"/>
          </a:ln>
        </p:spPr>
      </p:sp>
      <p:sp>
        <p:nvSpPr>
          <p:cNvPr id="63" name="Text 61"/>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4" name="Text 62"/>
          <p:cNvSpPr txBox="1"/>
          <p:nvPr/>
        </p:nvSpPr>
        <p:spPr>
          <a:xfrm>
            <a:off x="950976"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65" name="Text 63"/>
          <p:cNvSpPr txBox="1"/>
          <p:nvPr/>
        </p:nvSpPr>
        <p:spPr>
          <a:xfrm>
            <a:off x="2406701" y="4224528"/>
            <a:ext cx="1577035" cy="475488"/>
          </a:xfrm>
          <a:prstGeom prst="rect">
            <a:avLst/>
          </a:prstGeom>
          <a:noFill/>
          <a:ln/>
        </p:spPr>
        <p:txBody>
          <a:bodyPr wrap="square" lIns="0" tIns="0" rIns="0" bIns="0" rtlCol="0" anchor="ctr"/>
          <a:lstStyle/>
          <a:p>
            <a:pPr rtl="1" algn="r" indent="0" marL="0">
              <a:lnSpc>
                <a:spcPct val="120000"/>
              </a:lnSpc>
              <a:buNone/>
            </a:pPr>
            <a:r>
              <a:rPr lang="ar-SA" altLang="en-US" sz="1000" b="1" dirty="0">
                <a:solidFill>
                  <a:srgbClr val="1F2A37"/>
                </a:solidFill>
                <a:latin typeface="Amiri" pitchFamily="34" charset="0"/>
                <a:ea typeface="Amiri" pitchFamily="34" charset="-122"/>
                <a:cs typeface="Amiri" pitchFamily="34" charset="-120"/>
              </a:rPr>
              <a:t>أَمَّا يَوْمُ الخَمِيسِ ___ أَقَلُّ اِزْدِحَامًا.</a:t>
            </a:r>
            <a:endParaRPr lang="ar-SA" sz="1000" dirty="0"/>
          </a:p>
        </p:txBody>
      </p:sp>
      <p:sp>
        <p:nvSpPr>
          <p:cNvPr id="66" name="Shape 64"/>
          <p:cNvSpPr/>
          <p:nvPr/>
        </p:nvSpPr>
        <p:spPr>
          <a:xfrm>
            <a:off x="640080" y="4831080"/>
            <a:ext cx="256032" cy="256032"/>
          </a:xfrm>
          <a:prstGeom prst="ellipse">
            <a:avLst/>
          </a:prstGeom>
          <a:solidFill>
            <a:srgbClr val="C9CED6"/>
          </a:solidFill>
          <a:ln w="12700">
            <a:solidFill>
              <a:srgbClr val="C9CED6"/>
            </a:solidFill>
            <a:prstDash val="solid"/>
          </a:ln>
        </p:spPr>
      </p:sp>
      <p:sp>
        <p:nvSpPr>
          <p:cNvPr id="67" name="Text 65"/>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8" name="Text 66"/>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لِأَنَّهُ</a:t>
            </a:r>
            <a:endParaRPr lang="ar-SA" sz="1700" dirty="0"/>
          </a:p>
        </p:txBody>
      </p:sp>
      <p:sp>
        <p:nvSpPr>
          <p:cNvPr id="69" name="Shape 67"/>
          <p:cNvSpPr/>
          <p:nvPr/>
        </p:nvSpPr>
        <p:spPr>
          <a:xfrm>
            <a:off x="640080" y="5202936"/>
            <a:ext cx="256032" cy="256032"/>
          </a:xfrm>
          <a:prstGeom prst="ellipse">
            <a:avLst/>
          </a:prstGeom>
          <a:solidFill>
            <a:srgbClr val="C9CED6"/>
          </a:solidFill>
          <a:ln w="12700">
            <a:solidFill>
              <a:srgbClr val="C9CED6"/>
            </a:solidFill>
            <a:prstDash val="solid"/>
          </a:ln>
        </p:spPr>
      </p:sp>
      <p:sp>
        <p:nvSpPr>
          <p:cNvPr id="70" name="Text 68"/>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1" name="Text 69"/>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بَيْنَمَا</a:t>
            </a:r>
            <a:endParaRPr lang="ar-SA" sz="1700" dirty="0"/>
          </a:p>
        </p:txBody>
      </p:sp>
      <p:sp>
        <p:nvSpPr>
          <p:cNvPr id="72" name="Shape 70"/>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3" name="Shape 71"/>
          <p:cNvSpPr/>
          <p:nvPr/>
        </p:nvSpPr>
        <p:spPr>
          <a:xfrm>
            <a:off x="640080" y="5574792"/>
            <a:ext cx="256032" cy="256032"/>
          </a:xfrm>
          <a:prstGeom prst="ellipse">
            <a:avLst/>
          </a:prstGeom>
          <a:solidFill>
            <a:srgbClr val="2E8B57"/>
          </a:solidFill>
          <a:ln w="12700">
            <a:solidFill>
              <a:srgbClr val="2E8B57"/>
            </a:solidFill>
            <a:prstDash val="solid"/>
          </a:ln>
        </p:spPr>
      </p:sp>
      <p:sp>
        <p:nvSpPr>
          <p:cNvPr id="74" name="Text 72"/>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5" name="Text 73"/>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فَهُوَ</a:t>
            </a:r>
            <a:endParaRPr lang="ar-SA" sz="1700" dirty="0"/>
          </a:p>
        </p:txBody>
      </p:sp>
      <p:sp>
        <p:nvSpPr>
          <p:cNvPr id="76" name="Text 74"/>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أَمَّا</a:t>
            </a:r>
            <a:pPr algn="l" indent="0" marL="0">
              <a:buNone/>
            </a:pPr>
            <a:r>
              <a:rPr lang="en-US" sz="1050" i="1" dirty="0">
                <a:solidFill>
                  <a:srgbClr val="8A6D1E"/>
                </a:solidFill>
                <a:latin typeface="Calibri" pitchFamily="34" charset="0"/>
                <a:ea typeface="Calibri" pitchFamily="34" charset="-122"/>
                <a:cs typeface="Calibri" pitchFamily="34" charset="-120"/>
              </a:rPr>
              <a:t> introduces the topic and </a:t>
            </a:r>
            <a:pPr algn="l" indent="0" marL="0">
              <a:buNone/>
            </a:pPr>
            <a:r>
              <a:rPr lang="ar-SA" altLang="en-US" sz="1350" dirty="0">
                <a:solidFill>
                  <a:srgbClr val="8A6D1E"/>
                </a:solidFill>
                <a:latin typeface="Amiri" pitchFamily="34" charset="0"/>
                <a:ea typeface="Amiri" pitchFamily="34" charset="-122"/>
                <a:cs typeface="Amiri" pitchFamily="34" charset="-120"/>
              </a:rPr>
              <a:t>فَـ</a:t>
            </a:r>
            <a:pPr algn="l" indent="0" marL="0">
              <a:buNone/>
            </a:pPr>
            <a:r>
              <a:rPr lang="en-US" sz="1050" i="1" dirty="0">
                <a:solidFill>
                  <a:srgbClr val="8A6D1E"/>
                </a:solidFill>
                <a:latin typeface="Calibri" pitchFamily="34" charset="0"/>
                <a:ea typeface="Calibri" pitchFamily="34" charset="-122"/>
                <a:cs typeface="Calibri" pitchFamily="34" charset="-120"/>
              </a:rPr>
              <a:t> begins the comment: </a:t>
            </a:r>
            <a:pPr algn="l" indent="0" marL="0">
              <a:buNone/>
            </a:pPr>
            <a:r>
              <a:rPr lang="ar-SA" altLang="en-US" sz="1350" dirty="0">
                <a:solidFill>
                  <a:srgbClr val="8A6D1E"/>
                </a:solidFill>
                <a:latin typeface="Amiri" pitchFamily="34" charset="0"/>
                <a:ea typeface="Amiri" pitchFamily="34" charset="-122"/>
                <a:cs typeface="Amiri" pitchFamily="34" charset="-120"/>
              </a:rPr>
              <a:t>أَمَّا</a:t>
            </a:r>
            <a:pPr algn="l" indent="0" marL="0">
              <a:buNone/>
            </a:pPr>
            <a:r>
              <a:rPr lang="en-US" sz="1050" i="1" dirty="0">
                <a:solidFill>
                  <a:srgbClr val="8A6D1E"/>
                </a:solidFill>
                <a:latin typeface="Calibri" pitchFamily="34" charset="0"/>
                <a:ea typeface="Calibri" pitchFamily="34" charset="-122"/>
                <a:cs typeface="Calibri" pitchFamily="34" charset="-120"/>
              </a:rPr>
              <a:t> ... </a:t>
            </a:r>
            <a:pPr algn="l" indent="0" marL="0">
              <a:buNone/>
            </a:pPr>
            <a:r>
              <a:rPr lang="ar-SA" altLang="en-US" sz="1350" dirty="0">
                <a:solidFill>
                  <a:srgbClr val="8A6D1E"/>
                </a:solidFill>
                <a:latin typeface="Amiri" pitchFamily="34" charset="0"/>
                <a:ea typeface="Amiri" pitchFamily="34" charset="-122"/>
                <a:cs typeface="Amiri" pitchFamily="34" charset="-120"/>
              </a:rPr>
              <a:t>فَهُوَ</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77" name="Shape 75"/>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8" name="Shape 76"/>
          <p:cNvSpPr/>
          <p:nvPr/>
        </p:nvSpPr>
        <p:spPr>
          <a:xfrm>
            <a:off x="4404360" y="4288536"/>
            <a:ext cx="310896" cy="310896"/>
          </a:xfrm>
          <a:prstGeom prst="ellipse">
            <a:avLst/>
          </a:prstGeom>
          <a:solidFill>
            <a:srgbClr val="1B3B6F"/>
          </a:solidFill>
          <a:ln w="12700">
            <a:solidFill>
              <a:srgbClr val="1B3B6F"/>
            </a:solidFill>
            <a:prstDash val="solid"/>
          </a:ln>
        </p:spPr>
      </p:sp>
      <p:sp>
        <p:nvSpPr>
          <p:cNvPr id="79" name="Text 77"/>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80" name="Text 78"/>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comparison.</a:t>
            </a:r>
            <a:endParaRPr lang="en-US" sz="1250" dirty="0"/>
          </a:p>
        </p:txBody>
      </p:sp>
      <p:sp>
        <p:nvSpPr>
          <p:cNvPr id="81" name="Shape 79"/>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2" name="Shape 80"/>
          <p:cNvSpPr/>
          <p:nvPr/>
        </p:nvSpPr>
        <p:spPr>
          <a:xfrm>
            <a:off x="4459224" y="4831080"/>
            <a:ext cx="256032" cy="256032"/>
          </a:xfrm>
          <a:prstGeom prst="ellipse">
            <a:avLst/>
          </a:prstGeom>
          <a:solidFill>
            <a:srgbClr val="2E8B57"/>
          </a:solidFill>
          <a:ln w="12700">
            <a:solidFill>
              <a:srgbClr val="2E8B57"/>
            </a:solidFill>
            <a:prstDash val="solid"/>
          </a:ln>
        </p:spPr>
      </p:sp>
      <p:sp>
        <p:nvSpPr>
          <p:cNvPr id="83" name="Text 81"/>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4" name="Text 82"/>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450" b="1" dirty="0">
                <a:solidFill>
                  <a:srgbClr val="1F2A37"/>
                </a:solidFill>
                <a:latin typeface="Amiri" pitchFamily="34" charset="0"/>
                <a:ea typeface="Amiri" pitchFamily="34" charset="-122"/>
                <a:cs typeface="Amiri" pitchFamily="34" charset="-120"/>
              </a:rPr>
              <a:t>يَوْمُ الأَرْبِعَاءِ أَكْثَرُ اِنْشِغَالًا مِنْ يَوْمِ الخَمِيسِ.</a:t>
            </a:r>
            <a:endParaRPr lang="ar-SA" sz="1450" dirty="0"/>
          </a:p>
        </p:txBody>
      </p:sp>
      <p:sp>
        <p:nvSpPr>
          <p:cNvPr id="85" name="Shape 83"/>
          <p:cNvSpPr/>
          <p:nvPr/>
        </p:nvSpPr>
        <p:spPr>
          <a:xfrm>
            <a:off x="4459224" y="5202936"/>
            <a:ext cx="256032" cy="256032"/>
          </a:xfrm>
          <a:prstGeom prst="ellipse">
            <a:avLst/>
          </a:prstGeom>
          <a:solidFill>
            <a:srgbClr val="C9CED6"/>
          </a:solidFill>
          <a:ln w="12700">
            <a:solidFill>
              <a:srgbClr val="C9CED6"/>
            </a:solidFill>
            <a:prstDash val="solid"/>
          </a:ln>
        </p:spPr>
      </p:sp>
      <p:sp>
        <p:nvSpPr>
          <p:cNvPr id="86" name="Text 84"/>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7" name="Text 85"/>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450" dirty="0">
                <a:solidFill>
                  <a:srgbClr val="9AA1AB"/>
                </a:solidFill>
                <a:latin typeface="Amiri" pitchFamily="34" charset="0"/>
                <a:ea typeface="Amiri" pitchFamily="34" charset="-122"/>
                <a:cs typeface="Amiri" pitchFamily="34" charset="-120"/>
              </a:rPr>
              <a:t>يَوْمُ الأَرْبِعَاءِ اِنْشِغَالًا فِي الخَمِيسِ.</a:t>
            </a:r>
            <a:endParaRPr lang="ar-SA" sz="1450" dirty="0"/>
          </a:p>
        </p:txBody>
      </p:sp>
      <p:sp>
        <p:nvSpPr>
          <p:cNvPr id="88" name="Shape 86"/>
          <p:cNvSpPr/>
          <p:nvPr/>
        </p:nvSpPr>
        <p:spPr>
          <a:xfrm>
            <a:off x="4459224" y="5574792"/>
            <a:ext cx="256032" cy="256032"/>
          </a:xfrm>
          <a:prstGeom prst="ellipse">
            <a:avLst/>
          </a:prstGeom>
          <a:solidFill>
            <a:srgbClr val="C9CED6"/>
          </a:solidFill>
          <a:ln w="12700">
            <a:solidFill>
              <a:srgbClr val="C9CED6"/>
            </a:solidFill>
            <a:prstDash val="solid"/>
          </a:ln>
        </p:spPr>
      </p:sp>
      <p:sp>
        <p:nvSpPr>
          <p:cNvPr id="89" name="Text 87"/>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90" name="Text 88"/>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450" dirty="0">
                <a:solidFill>
                  <a:srgbClr val="9AA1AB"/>
                </a:solidFill>
                <a:latin typeface="Amiri" pitchFamily="34" charset="0"/>
                <a:ea typeface="Amiri" pitchFamily="34" charset="-122"/>
                <a:cs typeface="Amiri" pitchFamily="34" charset="-120"/>
              </a:rPr>
              <a:t>يَوْمُ الأَرْبِعَاءِ بَيْنَمَا الخَمِيسِ.</a:t>
            </a:r>
            <a:endParaRPr lang="ar-SA" sz="1450" dirty="0"/>
          </a:p>
        </p:txBody>
      </p:sp>
      <p:sp>
        <p:nvSpPr>
          <p:cNvPr id="91" name="Text 89"/>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comparison frame is </a:t>
            </a:r>
            <a:pPr algn="l" indent="0" marL="0">
              <a:buNone/>
            </a:pPr>
            <a:r>
              <a:rPr lang="ar-SA" altLang="en-US" sz="1350" dirty="0">
                <a:solidFill>
                  <a:srgbClr val="8A6D1E"/>
                </a:solidFill>
                <a:latin typeface="Amiri" pitchFamily="34" charset="0"/>
                <a:ea typeface="Amiri" pitchFamily="34" charset="-122"/>
                <a:cs typeface="Amiri" pitchFamily="34" charset="-120"/>
              </a:rPr>
              <a:t>أَكْثَرُ</a:t>
            </a:r>
            <a:pPr algn="l" indent="0" marL="0">
              <a:buNone/>
            </a:pPr>
            <a:r>
              <a:rPr lang="en-US" sz="1050" i="1" dirty="0">
                <a:solidFill>
                  <a:srgbClr val="8A6D1E"/>
                </a:solidFill>
                <a:latin typeface="Calibri" pitchFamily="34" charset="0"/>
                <a:ea typeface="Calibri" pitchFamily="34" charset="-122"/>
                <a:cs typeface="Calibri" pitchFamily="34" charset="-120"/>
              </a:rPr>
              <a:t> + adjective + </a:t>
            </a:r>
            <a:pPr algn="l" indent="0" marL="0">
              <a:buNone/>
            </a:pPr>
            <a:r>
              <a:rPr lang="ar-SA" altLang="en-US" sz="1350" dirty="0">
                <a:solidFill>
                  <a:srgbClr val="8A6D1E"/>
                </a:solidFill>
                <a:latin typeface="Amiri" pitchFamily="34" charset="0"/>
                <a:ea typeface="Amiri" pitchFamily="34" charset="-122"/>
                <a:cs typeface="Amiri" pitchFamily="34" charset="-120"/>
              </a:rPr>
              <a:t>مِنْ</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92" name="Shape 90"/>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3" name="Shape 91"/>
          <p:cNvSpPr/>
          <p:nvPr/>
        </p:nvSpPr>
        <p:spPr>
          <a:xfrm>
            <a:off x="8223504" y="4288536"/>
            <a:ext cx="310896" cy="310896"/>
          </a:xfrm>
          <a:prstGeom prst="ellipse">
            <a:avLst/>
          </a:prstGeom>
          <a:solidFill>
            <a:srgbClr val="1B3B6F"/>
          </a:solidFill>
          <a:ln w="12700">
            <a:solidFill>
              <a:srgbClr val="1B3B6F"/>
            </a:solidFill>
            <a:prstDash val="solid"/>
          </a:ln>
        </p:spPr>
      </p:sp>
      <p:sp>
        <p:nvSpPr>
          <p:cNvPr id="94" name="Text 92"/>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95" name="Text 93"/>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ar-SA" altLang="en-US" sz="1250" b="1" dirty="0">
                <a:solidFill>
                  <a:srgbClr val="1B3B6F"/>
                </a:solidFill>
                <a:latin typeface="Amiri" pitchFamily="34" charset="0"/>
                <a:ea typeface="Amiri" pitchFamily="34" charset="-122"/>
                <a:cs typeface="Amiri" pitchFamily="34" charset="-120"/>
              </a:rPr>
              <a:t>عَلِيٌّ يَتَمَرَّنُ يَوْمَ الاِثْنَيْنِ وَالأَرْبِعَاءِ وَالجُمُعَةِ</a:t>
            </a:r>
            <a:pPr algn="l" indent="0" marL="0">
              <a:buNone/>
            </a:pPr>
            <a:r>
              <a:rPr lang="en-US" sz="950" b="1" dirty="0">
                <a:solidFill>
                  <a:srgbClr val="1B3B6F"/>
                </a:solidFill>
                <a:latin typeface="Calibri" pitchFamily="34" charset="0"/>
                <a:ea typeface="Calibri" pitchFamily="34" charset="-122"/>
                <a:cs typeface="Calibri" pitchFamily="34" charset="-120"/>
              </a:rPr>
              <a:t>. How should he answer </a:t>
            </a:r>
            <a:pPr algn="l" indent="0" marL="0">
              <a:buNone/>
            </a:pPr>
            <a:r>
              <a:rPr lang="ar-SA" altLang="en-US" sz="1250" b="1" dirty="0">
                <a:solidFill>
                  <a:srgbClr val="1B3B6F"/>
                </a:solidFill>
                <a:latin typeface="Amiri" pitchFamily="34" charset="0"/>
                <a:ea typeface="Amiri" pitchFamily="34" charset="-122"/>
                <a:cs typeface="Amiri" pitchFamily="34" charset="-120"/>
              </a:rPr>
              <a:t>كَمْ مَرَّةً تَتَمَرَّنُ؟</a:t>
            </a:r>
            <a:endParaRPr lang="en-US" sz="950" dirty="0"/>
          </a:p>
        </p:txBody>
      </p:sp>
      <p:sp>
        <p:nvSpPr>
          <p:cNvPr id="96" name="Shape 94"/>
          <p:cNvSpPr/>
          <p:nvPr/>
        </p:nvSpPr>
        <p:spPr>
          <a:xfrm>
            <a:off x="8278368" y="4831080"/>
            <a:ext cx="256032" cy="256032"/>
          </a:xfrm>
          <a:prstGeom prst="ellipse">
            <a:avLst/>
          </a:prstGeom>
          <a:solidFill>
            <a:srgbClr val="C9CED6"/>
          </a:solidFill>
          <a:ln w="12700">
            <a:solidFill>
              <a:srgbClr val="C9CED6"/>
            </a:solidFill>
            <a:prstDash val="solid"/>
          </a:ln>
        </p:spPr>
      </p:sp>
      <p:sp>
        <p:nvSpPr>
          <p:cNvPr id="97" name="Text 95"/>
          <p:cNvSpPr txBox="1"/>
          <p:nvPr/>
        </p:nvSpPr>
        <p:spPr>
          <a:xfrm>
            <a:off x="8278368"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98" name="Text 96"/>
          <p:cNvSpPr txBox="1"/>
          <p:nvPr/>
        </p:nvSpPr>
        <p:spPr>
          <a:xfrm>
            <a:off x="8607552"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يَوْمَ الاِثْنَيْنِ.</a:t>
            </a:r>
            <a:endParaRPr lang="ar-SA" sz="1700" dirty="0"/>
          </a:p>
        </p:txBody>
      </p:sp>
      <p:sp>
        <p:nvSpPr>
          <p:cNvPr id="99" name="Shape 97"/>
          <p:cNvSpPr/>
          <p:nvPr/>
        </p:nvSpPr>
        <p:spPr>
          <a:xfrm>
            <a:off x="8186928" y="5166360"/>
            <a:ext cx="3453384" cy="347472"/>
          </a:xfrm>
          <a:prstGeom prst="roundRect">
            <a:avLst>
              <a:gd name="adj" fmla="val 15789"/>
            </a:avLst>
          </a:prstGeom>
          <a:solidFill>
            <a:srgbClr val="E6F4EC"/>
          </a:solidFill>
          <a:ln w="9525">
            <a:solidFill>
              <a:srgbClr val="2E8B57"/>
            </a:solidFill>
            <a:prstDash val="solid"/>
          </a:ln>
        </p:spPr>
      </p:sp>
      <p:sp>
        <p:nvSpPr>
          <p:cNvPr id="100" name="Shape 98"/>
          <p:cNvSpPr/>
          <p:nvPr/>
        </p:nvSpPr>
        <p:spPr>
          <a:xfrm>
            <a:off x="8278368" y="5202936"/>
            <a:ext cx="256032" cy="256032"/>
          </a:xfrm>
          <a:prstGeom prst="ellipse">
            <a:avLst/>
          </a:prstGeom>
          <a:solidFill>
            <a:srgbClr val="2E8B57"/>
          </a:solidFill>
          <a:ln w="12700">
            <a:solidFill>
              <a:srgbClr val="2E8B57"/>
            </a:solidFill>
            <a:prstDash val="solid"/>
          </a:ln>
        </p:spPr>
      </p:sp>
      <p:sp>
        <p:nvSpPr>
          <p:cNvPr id="101" name="Text 99"/>
          <p:cNvSpPr txBox="1"/>
          <p:nvPr/>
        </p:nvSpPr>
        <p:spPr>
          <a:xfrm>
            <a:off x="8278368"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102" name="Text 100"/>
          <p:cNvSpPr txBox="1"/>
          <p:nvPr/>
        </p:nvSpPr>
        <p:spPr>
          <a:xfrm>
            <a:off x="8607552" y="514502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ثَلَاثَ مَرَّاتٍ فِي الأُسْبُوعِ.</a:t>
            </a:r>
            <a:endParaRPr lang="ar-SA" sz="1700" dirty="0"/>
          </a:p>
        </p:txBody>
      </p:sp>
      <p:sp>
        <p:nvSpPr>
          <p:cNvPr id="103" name="Shape 101"/>
          <p:cNvSpPr/>
          <p:nvPr/>
        </p:nvSpPr>
        <p:spPr>
          <a:xfrm>
            <a:off x="8278368" y="5574792"/>
            <a:ext cx="256032" cy="256032"/>
          </a:xfrm>
          <a:prstGeom prst="ellipse">
            <a:avLst/>
          </a:prstGeom>
          <a:solidFill>
            <a:srgbClr val="C9CED6"/>
          </a:solidFill>
          <a:ln w="12700">
            <a:solidFill>
              <a:srgbClr val="C9CED6"/>
            </a:solidFill>
            <a:prstDash val="solid"/>
          </a:ln>
        </p:spPr>
      </p:sp>
      <p:sp>
        <p:nvSpPr>
          <p:cNvPr id="104" name="Text 102"/>
          <p:cNvSpPr txBox="1"/>
          <p:nvPr/>
        </p:nvSpPr>
        <p:spPr>
          <a:xfrm>
            <a:off x="8278368"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105" name="Text 103"/>
          <p:cNvSpPr txBox="1"/>
          <p:nvPr/>
        </p:nvSpPr>
        <p:spPr>
          <a:xfrm>
            <a:off x="8607552"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لِأَنَّ الرِّيَاضَةَ مُفِيدَةٌ.</a:t>
            </a:r>
            <a:endParaRPr lang="ar-SA" sz="1700" dirty="0"/>
          </a:p>
        </p:txBody>
      </p:sp>
      <p:sp>
        <p:nvSpPr>
          <p:cNvPr id="106" name="Text 104"/>
          <p:cNvSpPr txBox="1"/>
          <p:nvPr/>
        </p:nvSpPr>
        <p:spPr>
          <a:xfrm>
            <a:off x="8223504"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كَمْ مَرَّةً</a:t>
            </a:r>
            <a:pPr algn="l" indent="0" marL="0">
              <a:buNone/>
            </a:pPr>
            <a:r>
              <a:rPr lang="en-US" sz="1050" i="1" dirty="0">
                <a:solidFill>
                  <a:srgbClr val="8A6D1E"/>
                </a:solidFill>
                <a:latin typeface="Calibri" pitchFamily="34" charset="0"/>
                <a:ea typeface="Calibri" pitchFamily="34" charset="-122"/>
                <a:cs typeface="Calibri" pitchFamily="34" charset="-120"/>
              </a:rPr>
              <a:t> asks for frequency, so the answer must give the number of times.</a:t>
            </a:r>
            <a:endParaRPr lang="en-US" sz="1050" dirty="0"/>
          </a:p>
        </p:txBody>
      </p:sp>
      <p:sp>
        <p:nvSpPr>
          <p:cNvPr id="107" name="Text 10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44 / 46</a:t>
            </a:r>
            <a:endParaRPr lang="en-US" sz="85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D1-L03 · How Often?</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ea typeface="Calibri" pitchFamily="34" charset="-122"/>
                <a:cs typeface="Calibri" pitchFamily="34" charset="-120"/>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Before D1-L04: get ready at home</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D1-L03</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ea typeface="Calibri" pitchFamily="34" charset="-122"/>
                <a:cs typeface="Calibri" pitchFamily="34" charset="-120"/>
              </a:rPr>
              <a:t>LEARN THESE 5 WORDS</a:t>
            </a:r>
            <a:endParaRPr lang="en-US" sz="1100" dirty="0"/>
          </a:p>
          <a:p>
            <a:pPr indent="0" marL="0">
              <a:buNone/>
            </a:pPr>
            <a:r>
              <a:rPr lang="en-US" sz="1000" dirty="0">
                <a:solidFill>
                  <a:srgbClr val="5A6472"/>
                </a:solidFill>
                <a:latin typeface="Calibri" pitchFamily="34" charset="0"/>
                <a:ea typeface="Calibri" pitchFamily="34" charset="-122"/>
                <a:cs typeface="Calibri" pitchFamily="34" charset="-120"/>
              </a:rPr>
              <a:t>for D1-L04 · Before and After — Sequencing My Day</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قَبْلَ أَنْ</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before (+ verb)</a:t>
            </a:r>
            <a:pPr indent="0" marL="0">
              <a:buNone/>
            </a:pP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بَعْدَ أَنْ</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after (+ verb)</a:t>
            </a:r>
            <a:pPr indent="0" marL="0">
              <a:buNone/>
            </a:pP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عِنْدَمَا</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when</a:t>
            </a:r>
            <a:pPr indent="0" marL="0">
              <a:buNone/>
            </a:pP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أُكْمِلُ وَاجِبِي</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I complete my homework</a:t>
            </a:r>
            <a:pPr indent="0" marL="0">
              <a:buNone/>
            </a:pPr>
            <a:r>
              <a:rPr lang="en-US" sz="1000" i="1" dirty="0">
                <a:solidFill>
                  <a:srgbClr val="5A6472"/>
                </a:solidFill>
                <a:latin typeface="Calibri" pitchFamily="34" charset="0"/>
                <a:ea typeface="Calibri" pitchFamily="34" charset="-122"/>
                <a:cs typeface="Calibri" pitchFamily="34" charset="-120"/>
              </a:rPr>
              <a:t>  he: يُكْمِلُ</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أَسْتَرِيحُ</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I rest</a:t>
            </a:r>
            <a:pPr indent="0" marL="0">
              <a:buNone/>
            </a:pPr>
            <a:r>
              <a:rPr lang="en-US" sz="1000" i="1" dirty="0">
                <a:solidFill>
                  <a:srgbClr val="5A6472"/>
                </a:solidFill>
                <a:latin typeface="Calibri" pitchFamily="34" charset="0"/>
                <a:ea typeface="Calibri" pitchFamily="34" charset="-122"/>
                <a:cs typeface="Calibri" pitchFamily="34" charset="-120"/>
              </a:rPr>
              <a:t>  he: يَسْتَرِيحُ</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ea typeface="Calibri" pitchFamily="34" charset="-122"/>
                <a:cs typeface="Calibri" pitchFamily="34" charset="-120"/>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ea typeface="Calibri" pitchFamily="34" charset="-122"/>
                <a:cs typeface="Calibri" pitchFamily="34" charset="-120"/>
              </a:rPr>
              <a:t>What do you do straight after school, and what do you do before you sleep?</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34" charset="0"/>
                <a:ea typeface="Amiri" pitchFamily="34" charset="-122"/>
                <a:cs typeface="Amiri" pitchFamily="34" charset="-120"/>
              </a:rPr>
              <a:t>مَاذَا تَفْعَلُ بَعْدَ المَدْرَسَةِ؟</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Website D1-L03: the picture game “How often?” and the sorter.</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Write 8 sentences comparing your week with a family member’s (</a:t>
            </a:r>
            <a:pPr algn="l" indent="0" marL="0">
              <a:buNone/>
            </a:pPr>
            <a:r>
              <a:rPr lang="ar-SA" altLang="en-US" sz="1550" dirty="0">
                <a:solidFill>
                  <a:srgbClr val="1F2A37"/>
                </a:solidFill>
                <a:latin typeface="Amiri" pitchFamily="34" charset="0"/>
                <a:ea typeface="Amiri" pitchFamily="34" charset="-122"/>
                <a:cs typeface="Amiri" pitchFamily="34" charset="-120"/>
              </a:rPr>
              <a:t>بَيْنَمَا</a:t>
            </a:r>
            <a:pPr algn="l" indent="0" marL="0">
              <a:buNone/>
            </a:pPr>
            <a:r>
              <a:rPr lang="en-US" sz="1200" dirty="0">
                <a:solidFill>
                  <a:srgbClr val="1F2A37"/>
                </a:solidFill>
                <a:latin typeface="Calibri" pitchFamily="34" charset="0"/>
                <a:ea typeface="Calibri" pitchFamily="34" charset="-122"/>
                <a:cs typeface="Calibri" pitchFamily="34" charset="-120"/>
              </a:rPr>
              <a:t>).</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Website writing task: 100–120 words, school days vs weekend.</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45 / 46</a:t>
            </a:r>
            <a:endParaRPr lang="en-US" sz="85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D1-L03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34" charset="0"/>
                <a:ea typeface="Amiri" pitchFamily="34" charset="-122"/>
                <a:cs typeface="Amiri" pitchFamily="34" charset="-120"/>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ea typeface="Calibri" pitchFamily="34" charset="-122"/>
                <a:cs typeface="Calibri" pitchFamily="34" charset="-120"/>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2050" b="1" dirty="0">
                <a:solidFill>
                  <a:srgbClr val="FFFFFF"/>
                </a:solidFill>
                <a:latin typeface="Cambria" pitchFamily="34" charset="0"/>
                <a:ea typeface="Cambria" pitchFamily="34" charset="-122"/>
                <a:cs typeface="Cambria" pitchFamily="34" charset="-120"/>
              </a:rPr>
              <a:t>D1-L04 · Before and After — Sequencing My Day</a:t>
            </a:r>
            <a:endParaRPr lang="en-US" sz="205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34" charset="0"/>
                <a:ea typeface="Amiri" pitchFamily="34" charset="-122"/>
                <a:cs typeface="Amiri" pitchFamily="34" charset="-120"/>
              </a:rPr>
              <a:t>قَبْلَ وَبَعْدَ</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ea typeface="Calibri" pitchFamily="34" charset="-122"/>
                <a:cs typeface="Calibri" pitchFamily="34" charset="-120"/>
              </a:rPr>
              <a:t>Remember: every verb after </a:t>
            </a:r>
            <a:pPr algn="l" indent="0" marL="0">
              <a:buNone/>
            </a:pPr>
            <a:r>
              <a:rPr lang="ar-SA" altLang="en-US" sz="1700" b="1" dirty="0">
                <a:solidFill>
                  <a:srgbClr val="FFFFFF"/>
                </a:solidFill>
                <a:latin typeface="Amiri" pitchFamily="34" charset="0"/>
                <a:ea typeface="Amiri" pitchFamily="34" charset="-122"/>
                <a:cs typeface="Amiri" pitchFamily="34" charset="-120"/>
              </a:rPr>
              <a:t>بَيْنَمَا</a:t>
            </a:r>
            <a:pPr algn="l" indent="0" marL="0">
              <a:buNone/>
            </a:pPr>
            <a:r>
              <a:rPr lang="en-US" sz="1300" b="1" dirty="0">
                <a:solidFill>
                  <a:srgbClr val="FFFFFF"/>
                </a:solidFill>
                <a:latin typeface="Calibri" pitchFamily="34" charset="0"/>
                <a:ea typeface="Calibri" pitchFamily="34" charset="-122"/>
                <a:cs typeface="Calibri" pitchFamily="34" charset="-120"/>
              </a:rPr>
              <a:t> matches its OWN subject.</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46</Slides>
  <Notes>46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46</vt:i4>
      </vt:variant>
    </vt:vector>
  </HeadingPairs>
  <TitlesOfParts>
    <vt:vector size="4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D1-L03 · How Often? — Frequency Adverbs in My Routine</dc:title>
  <dc:subject>PptxGenJS Presentation</dc:subject>
  <dc:creator>Al Madina Online School · Arabic Department</dc:creator>
  <cp:lastModifiedBy>Al Madina Online School · Arabic Department</cp:lastModifiedBy>
  <cp:revision>1</cp:revision>
  <dcterms:created xsi:type="dcterms:W3CDTF">2026-09-27T11:03:05Z</dcterms:created>
  <dcterms:modified xsi:type="dcterms:W3CDTF">2026-09-27T11:03:05Z</dcterms:modified>
</cp:coreProperties>
</file>