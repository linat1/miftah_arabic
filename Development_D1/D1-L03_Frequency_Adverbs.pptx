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D1 Daily Routine and Time › D1-L03. The website lesson “How Often? — Frequency Adverbs in My Routine”: vocabulary, grammar rules and quiz, patterns, common mistakes, sorter, listening, reading, speaking prompts and model, writing task and model, differentiation, final check and the lesson mission. Picture match: website visual game “How Often? — Frequency Adverbs in My Routine”.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a frequency LADDER (always → often → sometimes → rarely → never) + “every day / weekly”, attached to verbs from D1-L01. Develop: contrast two people with بَيْنَمَا (each verb keeps its own prefix!). Stretch: أَمَّا … فَـ and comparatives (أَكْثَرُ اِنْشِغَالًا مِنْ).
• The frequency ladder slide is visual (percentage bars) so that weaker readers can place words by meaning before reading them.
• Recycling: days of the week are assumed — show them on the whiteboard if needed (الاِثْنَيْنُ، الثُّلَاثَاءُ …).
• Urdu bridge: عادتاً، دائماً، ابد، معظم (a false friend)، مشغول.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Questions 3–5 retrieve D1-L02 (time, schedule verbs) and D1-L01 (prefixes).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Frequency words say HOW OFTEN. بَيْنَمَا joins two complete sentences — check each verb’s prefix separately.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عادتاً (usually), دائماً (always — formal Urdu), ابد (eternity → لَا … أَبَدًا never), معظم (FALSE FRIEND: Urdu “great, honoured”; Arabic فِي مُعْظَمِ الأَيَّامِ = on most days), مشغول (busy → اِنْشِغَالًا, busier).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Week and schedule (website vocabulary (1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Week and schedule (website vocabulary (2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Contrast and comparison (website vocabulary (1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Contrast and comparison (website vocabulary (2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Frequency range (website vocabulary (1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Frequency range (website vocabulary (2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FREQUENCY LADDER (website “Frequency range” + rule “Place frequency accurately”): frequency may follow the verb, or a phrase such as كَثِيرًا مَا may introduce the clause; لَا … أَبَدًا wraps the verb.
Quick-fire: say an activity; students show fingers 5 (always) → 0 (never), then say the Arabic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“Use بَيْنَمَا between two contrasting clauses”, “Use أَمَّا … فَـ to organise a comparison”, “Compare how busy days are” (website patterns 1, 2 and 4).
Website teaching point: “A weekly description should reveal patterns, contrasts and priorities rather than repeat seven separate lists.”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“Frequency is more than دَائِمًا and أَحْيَانًا. Control single-word adverbs, numerical frequency phrases and negative frames, then place each expression where it reads naturally.”
• Use بَيْنَمَا between two contrasting clauses: Both sides are complete clauses. The subjects may differ, so check each verb prefix independently.
• Use أَمَّا ... فَـ to organise a comparison: أَمَّا introduces the topic and فَـ begins the comment.
• Place frequency accurately: Frequency may follow the verb, or a phrase such as كَثِيرًا مَا may introduce the clause.
• Compare how busy days are: The comparative phrase describes the difference between two days or schedules.
Website common error: Do not write بَيْنَمَا أَخِي أَذْهَبُ. If the subject is أَخِي, the verb is يَذْهَبُ.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4,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website patterns combined into one short comparison, with a think-aloud. Students copy it and underline every frequency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How Often? — Frequency Adverbs in My Routine”)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always, sometimes, never). Other cards for homework: غَالِبًا (often), نَادِرًا (rarely), كُلَّ يَوْمٍ (every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How Often? — Frequency Adverbs in My Routine”)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always, sometimes, never). Other cards for homework: غَالِبًا (often), نَادِرًا (rarely), كُلَّ يَوْمٍ (every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Place each phrase on the correct frequency scale.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Place each phrase on the correct frequency scale.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4. Develop / Stretch: all 5.
Listen 1: just listen. Listen 2: note answers. Then chat the letters.
Support: after the second listening, show the read-along slide (Arabic + English, line by line) for Core students.
SCRIPT (read aloud):
يَقُولُ عُمَرُ: يَوْمُ الاِثْنَيْنِ أَكْثَرُ أَيَّامِي اِنْشِغَالًا؛ فَبَعْدَ المَدْرَسَةِ أَذْهَبُ إِلَى دَرْسٍ إِضَافِيٍّ، ثُمَّ أَتَمَرَّنُ فِي المَسَاءِ. أَمَّا يَوْمُ الثُّلَاثَاءِ فَهُوَ أَهْدَأُ، وَغَالِبًا مَا أُكْمِلُ وَاجِبِي مُبَكِّرًا. وَتَقُولُ هَنَاءُ: أَنَا أَتَمَرَّنُ مَرَّتَيْنِ فِي الأُسْبُوعِ، بَيْنَمَا يَتَمَرَّنُ أَخِي يَوْمِيًّا. نِهَايَةُ أُسْبُوعِي أَقَلُّ تَنْظِيمًا مِنْ أَيَّامِ الدِّرَاسَةِ، لِأَنَّ مَوَاعِيدِي تَتَغَيَّرُ.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Core prompt (teacher-made): “What do you do every day? What do you never do?” Website Stretch goal: a 30–45-second answer with contrast, evidence and a balanced judgement.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Describe three regular weekly activities. · Develop — Compare two days using بَيْنَمَا and a comparative. · Stretch — Produce a 45-second answer with contrast, evidence and a balanced judgement.
Website writing task (Stretch): Write 100–120 words comparing how often you complete school-day and weekend activities.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يَوْمِيًّا · مَرَّتَيْنِ فِي الأُسْبُوعِ · فَقَطْ · مِنْ حِينٍ إِلَى آخَرَ · بَيْنَمَا أَزُورُ · أَمَّا نِهَايَةُ الأُسْبُوعِ فَهِيَ · أَكْثَرُ اِنْشِغَالًا مِنْ.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(D1-L04 · Before and After — Sequencing My Day) will spend class time USING this language, so students prepare it tonight — short, simple, easy to access (school guidance: “Simple, Short, Interesting, Relevant, Easy to access”). The five words come from the website D1-L04 vocabulary (sequence structures and afternoon actions).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D1  ·  D1-L03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D1-L03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How Often? — Frequency Adverbs in My Routine</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كَمْ مَرَّةً؟ — ظُرُوفُ التَّكْرَارِ فِي رُوتِينِي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Say how often routines happen, place frequency expressions naturally, and compare two days or two people with </a:t>
            </a:r>
            <a:pPr algn="l" indent="0" marL="0">
              <a:buNone/>
            </a:pPr>
            <a:r>
              <a:rPr lang="ar-SA" altLang="en-US" sz="1800" dirty="0">
                <a:solidFill>
                  <a:srgbClr val="C6D2E6"/>
                </a:solidFill>
                <a:latin typeface="Amiri" pitchFamily="34" charset="0"/>
                <a:ea typeface="Amiri" pitchFamily="34" charset="-122"/>
                <a:cs typeface="Amiri" pitchFamily="34" charset="-120"/>
              </a:rPr>
              <a:t>بَيْنَمَا</a:t>
            </a:r>
            <a:pPr algn="l" indent="0" marL="0">
              <a:buNone/>
            </a:pPr>
            <a:r>
              <a:rPr lang="en-US" sz="1400" dirty="0">
                <a:solidFill>
                  <a:srgbClr val="C6D2E6"/>
                </a:solidFill>
                <a:latin typeface="Calibri" pitchFamily="34" charset="0"/>
                <a:ea typeface="Calibri" pitchFamily="34" charset="-122"/>
                <a:cs typeface="Calibri" pitchFamily="34" charset="-120"/>
              </a:rPr>
              <a:t>, </a:t>
            </a:r>
            <a:pPr algn="l" indent="0" marL="0">
              <a:buNone/>
            </a:pPr>
            <a:r>
              <a:rPr lang="ar-SA" altLang="en-US" sz="1800" dirty="0">
                <a:solidFill>
                  <a:srgbClr val="C6D2E6"/>
                </a:solidFill>
                <a:latin typeface="Amiri" pitchFamily="34" charset="0"/>
                <a:ea typeface="Amiri" pitchFamily="34" charset="-122"/>
                <a:cs typeface="Amiri" pitchFamily="34" charset="-120"/>
              </a:rPr>
              <a:t>أَمَّا … فَـ</a:t>
            </a:r>
            <a:pPr algn="l" indent="0" marL="0">
              <a:buNone/>
            </a:pPr>
            <a:r>
              <a:rPr lang="en-US" sz="1400" dirty="0">
                <a:solidFill>
                  <a:srgbClr val="C6D2E6"/>
                </a:solidFill>
                <a:latin typeface="Calibri" pitchFamily="34" charset="0"/>
                <a:ea typeface="Calibri" pitchFamily="34" charset="-122"/>
                <a:cs typeface="Calibri" pitchFamily="34" charset="-120"/>
              </a:rPr>
              <a:t> and </a:t>
            </a:r>
            <a:pPr algn="l" indent="0" marL="0">
              <a:buNone/>
            </a:pPr>
            <a:r>
              <a:rPr lang="ar-SA" altLang="en-US" sz="1800" dirty="0">
                <a:solidFill>
                  <a:srgbClr val="C6D2E6"/>
                </a:solidFill>
                <a:latin typeface="Amiri" pitchFamily="34" charset="0"/>
                <a:ea typeface="Amiri" pitchFamily="34" charset="-122"/>
                <a:cs typeface="Amiri" pitchFamily="34" charset="-120"/>
              </a:rPr>
              <a:t>أَكْثَرُ … مِنْ</a:t>
            </a:r>
            <a:pPr algn="l" indent="0" marL="0">
              <a:buNone/>
            </a:pPr>
            <a:r>
              <a:rPr lang="en-US" sz="1400" dirty="0">
                <a:solidFill>
                  <a:srgbClr val="C6D2E6"/>
                </a:solidFill>
                <a:latin typeface="Calibri" pitchFamily="34" charset="0"/>
                <a:ea typeface="Calibri" pitchFamily="34" charset="-122"/>
                <a:cs typeface="Calibri" pitchFamily="34" charset="-120"/>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D1-L03 · Development D1 · Daily Routine and Time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D1 › D1-L03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frequency ladder, then contrast two people or two days.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sort by frequency,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D1-L04.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يَوْمِيًّا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weekly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daily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never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بَيْنَمَا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whereas, while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because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that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7:45?</a:t>
            </a:r>
            <a:endParaRPr lang="en-US" sz="1200" dirty="0"/>
          </a:p>
        </p:txBody>
      </p:sp>
      <p:sp>
        <p:nvSpPr>
          <p:cNvPr id="45" name="Text 42"/>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٧:٤٥</a:t>
            </a:r>
            <a:endParaRPr lang="ar-SA" sz="220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السَّابِعَةُ إِلَّا الرُّبْعَ</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السَّابِعَةُ وَالرُّبْعُ</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الثَّامِنَةُ إِلَّا الرُّبْعَ</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“lasts”?</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يَبْدَأُ</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يَنْتَهِي</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يَسْتَمِرُّ</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أَخِي يَسْتَيْقِظُ مُبَكِّرًا.</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أَخِي أَسْتَيْقِظُ مُبَكِّرًا.</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أَخِي تَسْتَيْقِظُ مُبَكِّرًا.</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يَوْمِيًّا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weekly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daily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never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بَيْنَمَا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whereas, while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because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after that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7:45?</a:t>
            </a:r>
            <a:endParaRPr lang="en-US" sz="1200" dirty="0"/>
          </a:p>
        </p:txBody>
      </p:sp>
      <p:sp>
        <p:nvSpPr>
          <p:cNvPr id="49" name="Text 46"/>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٧:٤٥</a:t>
            </a:r>
            <a:endParaRPr lang="ar-SA" sz="220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السَّابِعَةُ إِلَّا الرُّبْعَ</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السَّابِعَةُ وَالرُّبْعُ</a:t>
            </a:r>
            <a:endParaRPr lang="ar-SA" sz="170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الثَّامِنَةُ إِلَّا الرُّبْعَ</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D1-L02: the NEXT hour with </a:t>
            </a:r>
            <a:pPr algn="l" indent="0" marL="0">
              <a:buNone/>
            </a:pPr>
            <a:r>
              <a:rPr lang="ar-SA" altLang="en-US" sz="1350" dirty="0">
                <a:solidFill>
                  <a:srgbClr val="8A6D1E"/>
                </a:solidFill>
                <a:latin typeface="Amiri" pitchFamily="34" charset="0"/>
                <a:ea typeface="Amiri" pitchFamily="34" charset="-122"/>
                <a:cs typeface="Amiri" pitchFamily="34" charset="-120"/>
              </a:rPr>
              <a:t>إِلَّا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“lasts”?</a:t>
            </a:r>
            <a:endParaRPr lang="en-US" sz="12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يَبْدَأُ</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يَنْتَهِي</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يَسْتَمِرُّ</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D1-L02 schedule verbs.</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أَخِي يَسْتَيْقِظُ مُبَكِّرًا.</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أَخِي أَسْتَيْقِظُ مُبَكِّرًا.</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أَخِي تَسْتَيْقِظُ مُبَكِّرًا.</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D1-L01: my brother → he → </a:t>
            </a:r>
            <a:pPr algn="l" indent="0" marL="0">
              <a:buNone/>
            </a:pPr>
            <a:r>
              <a:rPr lang="ar-SA" altLang="en-US" sz="1350" dirty="0">
                <a:solidFill>
                  <a:srgbClr val="8A6D1E"/>
                </a:solidFill>
                <a:latin typeface="Amiri" pitchFamily="34" charset="0"/>
                <a:ea typeface="Amiri" pitchFamily="34" charset="-122"/>
                <a:cs typeface="Amiri" pitchFamily="34" charset="-120"/>
              </a:rPr>
              <a:t>يَـ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Frequency words say HOW OFTEN. </a:t>
            </a:r>
            <a:pPr algn="l" indent="0" marL="0">
              <a:buNone/>
            </a:pPr>
            <a:r>
              <a:rPr lang="ar-SA" altLang="en-US" sz="1700" b="1" dirty="0">
                <a:solidFill>
                  <a:srgbClr val="1F2A37"/>
                </a:solidFill>
                <a:latin typeface="Amiri" pitchFamily="34" charset="0"/>
                <a:ea typeface="Amiri" pitchFamily="34" charset="-122"/>
                <a:cs typeface="Amiri" pitchFamily="34" charset="-120"/>
              </a:rPr>
              <a:t>بَيْنَمَا</a:t>
            </a:r>
            <a:pPr algn="l" indent="0" marL="0">
              <a:buNone/>
            </a:pPr>
            <a:r>
              <a:rPr lang="en-US" sz="1300" b="1" dirty="0">
                <a:solidFill>
                  <a:srgbClr val="1F2A37"/>
                </a:solidFill>
                <a:latin typeface="Calibri" pitchFamily="34" charset="0"/>
                <a:ea typeface="Calibri" pitchFamily="34" charset="-122"/>
                <a:cs typeface="Calibri" pitchFamily="34" charset="-120"/>
              </a:rPr>
              <a:t> joins two complete sentences — check each verb’s prefix separately.</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أَتَمَرَّنُ يَوْمِيًّا،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بَيْنَمَا</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تَ</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تَمَرَّنُ أُخْتِي أُسْبُوعِيًّا.</a:t>
            </a:r>
            <a:endParaRPr lang="ar-SA" sz="19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Describe a complete weekly schedule.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varied frequency expressions accurately.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Contrast two routines with correct verb agreement.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Compare busy and quiet days.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how often I do five activities.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use always, sometimes, rarely and never.</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contrast two people with </a:t>
            </a:r>
            <a:pPr algn="l" indent="0" marL="0">
              <a:buNone/>
            </a:pPr>
            <a:r>
              <a:rPr lang="ar-SA" altLang="en-US" sz="1700" b="1" dirty="0">
                <a:solidFill>
                  <a:srgbClr val="C9780A"/>
                </a:solidFill>
                <a:latin typeface="Amiri" pitchFamily="34" charset="0"/>
                <a:ea typeface="Amiri" pitchFamily="34" charset="-122"/>
                <a:cs typeface="Amiri" pitchFamily="34" charset="-120"/>
              </a:rPr>
              <a:t>بَيْنَمَا</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numerical frequency (twice a week).</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organise a comparison with </a:t>
            </a:r>
            <a:pPr algn="l" indent="0" marL="0">
              <a:buNone/>
            </a:pPr>
            <a:r>
              <a:rPr lang="ar-SA" altLang="en-US" sz="1700" b="1" dirty="0">
                <a:solidFill>
                  <a:srgbClr val="B83227"/>
                </a:solidFill>
                <a:latin typeface="Amiri" pitchFamily="34" charset="0"/>
                <a:ea typeface="Amiri" pitchFamily="34" charset="-122"/>
                <a:cs typeface="Amiri" pitchFamily="34" charset="-120"/>
              </a:rPr>
              <a:t>أَمَّا … فَـ</a:t>
            </a:r>
            <a:pPr algn="l" indent="0" marL="0">
              <a:buNone/>
            </a:pPr>
            <a:r>
              <a:rPr lang="en-US" sz="1300" b="1" dirty="0">
                <a:solidFill>
                  <a:srgbClr val="B83227"/>
                </a:solidFill>
                <a:latin typeface="Calibri" pitchFamily="34" charset="0"/>
                <a:ea typeface="Calibri" pitchFamily="34" charset="-122"/>
                <a:cs typeface="Calibri" pitchFamily="34" charset="-120"/>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compare two days with </a:t>
            </a:r>
            <a:pPr algn="l" indent="0" marL="0">
              <a:buNone/>
            </a:pPr>
            <a:r>
              <a:rPr lang="ar-SA" altLang="en-US" sz="1700" b="1" dirty="0">
                <a:solidFill>
                  <a:srgbClr val="B83227"/>
                </a:solidFill>
                <a:latin typeface="Amiri" pitchFamily="34" charset="0"/>
                <a:ea typeface="Amiri" pitchFamily="34" charset="-122"/>
                <a:cs typeface="Amiri" pitchFamily="34" charset="-120"/>
              </a:rPr>
              <a:t>أَكْثَرُ / أَقَلُّ … مِنْ</a:t>
            </a:r>
            <a:pPr algn="l" indent="0" marL="0">
              <a:buNone/>
            </a:pPr>
            <a:r>
              <a:rPr lang="en-US" sz="1300" b="1" dirty="0">
                <a:solidFill>
                  <a:srgbClr val="B83227"/>
                </a:solidFill>
                <a:latin typeface="Calibri" pitchFamily="34" charset="0"/>
                <a:ea typeface="Calibri" pitchFamily="34" charset="-122"/>
                <a:cs typeface="Calibri" pitchFamily="34" charset="-120"/>
              </a:rPr>
              <a: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25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Week and schedule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Contrast and comparison · 7</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Frequency range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عَادَةً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‎عادتاً‎ </a:t>
            </a:r>
            <a:pPr indent="0" marL="0">
              <a:buNone/>
            </a:pPr>
            <a:r>
              <a:rPr lang="en-US" sz="950" b="1" dirty="0">
                <a:solidFill>
                  <a:srgbClr val="2E8B57"/>
                </a:solidFill>
                <a:latin typeface="Calibri" pitchFamily="34" charset="0"/>
                <a:ea typeface="Calibri" pitchFamily="34" charset="-122"/>
                <a:cs typeface="Calibri" pitchFamily="34" charset="-120"/>
              </a:rPr>
              <a:t> ādatan · usually</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دَائِمًا</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‎دائماً‎ </a:t>
            </a:r>
            <a:pPr indent="0" marL="0">
              <a:buNone/>
            </a:pPr>
            <a:r>
              <a:rPr lang="en-US" sz="950" b="1" dirty="0">
                <a:solidFill>
                  <a:srgbClr val="2E8B57"/>
                </a:solidFill>
                <a:latin typeface="Calibri" pitchFamily="34" charset="0"/>
                <a:ea typeface="Calibri" pitchFamily="34" charset="-122"/>
                <a:cs typeface="Calibri" pitchFamily="34" charset="-120"/>
              </a:rPr>
              <a:t> dāiman · always (formal Urdu)</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أَبَدًا</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‎ابد‎ </a:t>
            </a:r>
            <a:pPr indent="0" marL="0">
              <a:buNone/>
            </a:pPr>
            <a:r>
              <a:rPr lang="en-US" sz="950" b="1" dirty="0">
                <a:solidFill>
                  <a:srgbClr val="2E8B57"/>
                </a:solidFill>
                <a:latin typeface="Calibri" pitchFamily="34" charset="0"/>
                <a:ea typeface="Calibri" pitchFamily="34" charset="-122"/>
                <a:cs typeface="Calibri" pitchFamily="34" charset="-120"/>
              </a:rPr>
              <a:t> abad · eternity (→ never)</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مُعْظَمُ</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‎معظم‎ </a:t>
            </a:r>
            <a:pPr indent="0" marL="0">
              <a:buNone/>
            </a:pPr>
            <a:r>
              <a:rPr lang="en-US" sz="950" b="1" dirty="0">
                <a:solidFill>
                  <a:srgbClr val="2E8B57"/>
                </a:solidFill>
                <a:latin typeface="Calibri" pitchFamily="34" charset="0"/>
                <a:ea typeface="Calibri" pitchFamily="34" charset="-122"/>
                <a:cs typeface="Calibri" pitchFamily="34" charset="-120"/>
              </a:rPr>
              <a:t> muazzam · Urdu: great · Arabic: most</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اِنْشِغَالٌ</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‎مشغول‎ </a:t>
            </a:r>
            <a:pPr indent="0" marL="0">
              <a:buNone/>
            </a:pPr>
            <a:r>
              <a:rPr lang="en-US" sz="950" b="1" dirty="0">
                <a:solidFill>
                  <a:srgbClr val="2E8B57"/>
                </a:solidFill>
                <a:latin typeface="Calibri" pitchFamily="34" charset="0"/>
                <a:ea typeface="Calibri" pitchFamily="34" charset="-122"/>
                <a:cs typeface="Calibri" pitchFamily="34" charset="-120"/>
              </a:rPr>
              <a:t> mashghūl · busy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Week and schedule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أَيَّامُ الأُسْبُوعِ</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days of the week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ay-yā-mu al-us-bū-ʿi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أَيَّامُ الدِّرَاسَةِ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school days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ay-yā-mu ad-di-rā-sa-ti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نِهَايَةُ الأُسْبُوعِ</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weekend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ni-hā-ya-tu al-us-bū-ʿi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الجَدْوَلُ الأُسْبُوعِيُّ</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weekly schedule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al-jad-wa-lu al-us-bū-ʿiy-yu</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42" name="Shape 39"/>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44" name="Text 41"/>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حِصَّةٌ إِضَافِيَّةٌ</a:t>
            </a:r>
            <a:endParaRPr lang="ar-SA" sz="3000" dirty="0"/>
          </a:p>
        </p:txBody>
      </p:sp>
      <p:sp>
        <p:nvSpPr>
          <p:cNvPr id="45" name="Text 42"/>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extra lesson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ḥiṣ-ṣa-tun i-ḍā-fiy-ya-tun</a:t>
            </a:r>
            <a:endParaRPr lang="en-US" sz="1350" dirty="0"/>
          </a:p>
        </p:txBody>
      </p:sp>
      <p:sp>
        <p:nvSpPr>
          <p:cNvPr id="46" name="Shape 43"/>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48" name="Text 45"/>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حِصَّةٌ</a:t>
            </a:r>
            <a:endParaRPr lang="ar-SA" sz="1500" dirty="0"/>
          </a:p>
        </p:txBody>
      </p:sp>
      <p:sp>
        <p:nvSpPr>
          <p:cNvPr id="49" name="Shape 46"/>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1" name="Text 48"/>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حِصَصٌ</a:t>
            </a:r>
            <a:endParaRPr lang="ar-SA" sz="150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Week and schedule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نَادٍ</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club</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nā-din</a:t>
            </a:r>
            <a:endParaRPr lang="en-US" sz="1350" dirty="0"/>
          </a:p>
        </p:txBody>
      </p:sp>
      <p:sp>
        <p:nvSpPr>
          <p:cNvPr id="22" name="Shape 19"/>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24" name="Text 21"/>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نَادٍ</a:t>
            </a:r>
            <a:endParaRPr lang="ar-SA" sz="1500" dirty="0"/>
          </a:p>
        </p:txBody>
      </p:sp>
      <p:sp>
        <p:nvSpPr>
          <p:cNvPr id="25" name="Shape 22"/>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the</a:t>
            </a:r>
            <a:endParaRPr lang="en-US" sz="750" dirty="0"/>
          </a:p>
        </p:txBody>
      </p:sp>
      <p:sp>
        <p:nvSpPr>
          <p:cNvPr id="27" name="Text 24"/>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النَّادِي</a:t>
            </a:r>
            <a:endParaRPr lang="ar-SA" sz="1500" dirty="0"/>
          </a:p>
        </p:txBody>
      </p:sp>
      <p:sp>
        <p:nvSpPr>
          <p:cNvPr id="28" name="Shape 25"/>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29" name="Text 26"/>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0" name="Text 27"/>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نَوَادٍ</a:t>
            </a:r>
            <a:endParaRPr lang="ar-SA" sz="1500" dirty="0"/>
          </a:p>
        </p:txBody>
      </p:sp>
      <p:sp>
        <p:nvSpPr>
          <p:cNvPr id="31" name="Shape 2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89120"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4" name="Text 31"/>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مَوْعِدٌ ثَابِتٌ</a:t>
            </a:r>
            <a:endParaRPr lang="ar-SA" sz="3000" dirty="0"/>
          </a:p>
        </p:txBody>
      </p:sp>
      <p:sp>
        <p:nvSpPr>
          <p:cNvPr id="35" name="Text 32"/>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fixed appointment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maw-ʿi-dun thā-bi-tun</a:t>
            </a:r>
            <a:endParaRPr lang="en-US" sz="1350" dirty="0"/>
          </a:p>
        </p:txBody>
      </p:sp>
      <p:sp>
        <p:nvSpPr>
          <p:cNvPr id="36" name="Shape 33"/>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566928" y="1920240"/>
            <a:ext cx="310896" cy="310896"/>
          </a:xfrm>
          <a:prstGeom prst="ellipse">
            <a:avLst/>
          </a:prstGeom>
          <a:solidFill>
            <a:srgbClr val="F4F1EA"/>
          </a:solidFill>
          <a:ln w="12700">
            <a:solidFill>
              <a:srgbClr val="F4F1EA"/>
            </a:solidFill>
            <a:prstDash val="solid"/>
          </a:ln>
        </p:spPr>
      </p:sp>
      <p:sp>
        <p:nvSpPr>
          <p:cNvPr id="38" name="Text 35"/>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9" name="Text 36"/>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مَوْعِدٌ مُتَغَيِّرٌ</a:t>
            </a:r>
            <a:endParaRPr lang="ar-SA" sz="3000" dirty="0"/>
          </a:p>
        </p:txBody>
      </p:sp>
      <p:sp>
        <p:nvSpPr>
          <p:cNvPr id="40" name="Text 37"/>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changing appointment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maw-ʿi-dun mu-ta-ghay-yi-run</a:t>
            </a:r>
            <a:endParaRPr lang="en-US" sz="135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44" name="Shape 41"/>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45" name="Text 42"/>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46" name="Shape 4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8" name="Text 4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يَوْمٌ مُزْدَحِمٌ</a:t>
            </a:r>
            <a:endParaRPr lang="ar-SA" sz="3000" dirty="0"/>
          </a:p>
        </p:txBody>
      </p:sp>
      <p:sp>
        <p:nvSpPr>
          <p:cNvPr id="49" name="Text 4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busy day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yaw-mun muz-da-ḥi-mun</a:t>
            </a:r>
            <a:endParaRPr lang="en-US" sz="1350" dirty="0"/>
          </a:p>
        </p:txBody>
      </p:sp>
      <p:sp>
        <p:nvSpPr>
          <p:cNvPr id="50" name="Shape 47"/>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52" name="Text 49"/>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مُزْدَحِمٌ</a:t>
            </a:r>
            <a:endParaRPr lang="ar-SA" sz="1500" dirty="0"/>
          </a:p>
        </p:txBody>
      </p:sp>
      <p:sp>
        <p:nvSpPr>
          <p:cNvPr id="53" name="Shape 50"/>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55" name="Text 52"/>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مُزْدَحِمَةٌ</a:t>
            </a:r>
            <a:endParaRPr lang="ar-SA" sz="1500" dirty="0"/>
          </a:p>
        </p:txBody>
      </p:sp>
      <p:sp>
        <p:nvSpPr>
          <p:cNvPr id="56" name="Shape 53"/>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days</a:t>
            </a:r>
            <a:endParaRPr lang="en-US" sz="700" dirty="0"/>
          </a:p>
        </p:txBody>
      </p:sp>
      <p:sp>
        <p:nvSpPr>
          <p:cNvPr id="58" name="Text 55"/>
          <p:cNvSpPr txBox="1"/>
          <p:nvPr/>
        </p:nvSpPr>
        <p:spPr>
          <a:xfrm>
            <a:off x="8284464"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أَيَّامٌ مُزْدَحِمَةٌ</a:t>
            </a:r>
            <a:endParaRPr lang="ar-SA" sz="1350" dirty="0"/>
          </a:p>
        </p:txBody>
      </p:sp>
      <p:sp>
        <p:nvSpPr>
          <p:cNvPr id="59" name="Shape 5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4389120" y="4261104"/>
            <a:ext cx="310896" cy="310896"/>
          </a:xfrm>
          <a:prstGeom prst="ellipse">
            <a:avLst/>
          </a:prstGeom>
          <a:solidFill>
            <a:srgbClr val="F4F1EA"/>
          </a:solidFill>
          <a:ln w="12700">
            <a:solidFill>
              <a:srgbClr val="F4F1EA"/>
            </a:solidFill>
            <a:prstDash val="solid"/>
          </a:ln>
        </p:spPr>
      </p:sp>
      <p:sp>
        <p:nvSpPr>
          <p:cNvPr id="61" name="Text 5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62" name="Shape 59"/>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63" name="Text 60"/>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64" name="Shape 6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5" name="Text 6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6" name="Text 6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يَوْمٌ هَادِئٌ</a:t>
            </a:r>
            <a:endParaRPr lang="ar-SA" sz="3000" dirty="0"/>
          </a:p>
        </p:txBody>
      </p:sp>
      <p:sp>
        <p:nvSpPr>
          <p:cNvPr id="67" name="Text 6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quiet day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yaw-mun hā-di-ʾun</a:t>
            </a:r>
            <a:endParaRPr lang="en-US" sz="1350" dirty="0"/>
          </a:p>
        </p:txBody>
      </p:sp>
      <p:sp>
        <p:nvSpPr>
          <p:cNvPr id="68" name="Shape 65"/>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70" name="Text 67"/>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هَادِئٌ</a:t>
            </a:r>
            <a:endParaRPr lang="ar-SA" sz="1500" dirty="0"/>
          </a:p>
        </p:txBody>
      </p:sp>
      <p:sp>
        <p:nvSpPr>
          <p:cNvPr id="71" name="Shape 68"/>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72" name="Text 69"/>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73" name="Text 70"/>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هَادِئَةٌ</a:t>
            </a:r>
            <a:endParaRPr lang="ar-SA" sz="1500" dirty="0"/>
          </a:p>
        </p:txBody>
      </p:sp>
      <p:sp>
        <p:nvSpPr>
          <p:cNvPr id="74" name="Shape 71"/>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days</a:t>
            </a:r>
            <a:endParaRPr lang="en-US" sz="700" dirty="0"/>
          </a:p>
        </p:txBody>
      </p:sp>
      <p:sp>
        <p:nvSpPr>
          <p:cNvPr id="76" name="Text 73"/>
          <p:cNvSpPr txBox="1"/>
          <p:nvPr/>
        </p:nvSpPr>
        <p:spPr>
          <a:xfrm>
            <a:off x="446227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أَيَّامٌ هَادِئَةٌ</a:t>
            </a:r>
            <a:endParaRPr lang="ar-SA" sz="13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Contrast and comparison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بَيْنَمَا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whereas / while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bay-na-mā</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أَمَّا ... فَـ</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as for ...</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am-mā ... fa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المُقَابِلِ</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by contrast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al-mu-qā-bi-li</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عَلَى العَكْسِ</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the contrary / conversely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 al-ʿak-si</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Contrast and comparison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2450" b="1" dirty="0">
                <a:solidFill>
                  <a:srgbClr val="1B3B6F"/>
                </a:solidFill>
                <a:latin typeface="Amiri" pitchFamily="34" charset="0"/>
                <a:ea typeface="Amiri" pitchFamily="34" charset="-122"/>
                <a:cs typeface="Amiri" pitchFamily="34" charset="-120"/>
              </a:rPr>
              <a:t>مِنْ نَاحِيَةٍ ... وَمِنْ نَاحِيَةٍ أُخْرَى</a:t>
            </a:r>
            <a:endParaRPr lang="ar-SA" sz="245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one hand ... on the other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nā-ḥi-ya-tin ... wa-min nā-ḥi-ya-tin ukh-rā</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أَكْثَرُ اِنْشِغَالًا مِنْ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busier than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ak-tha-ru in-shi-ghā-lan min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أَقَلُّ اِزْدِحَامًا مِنْ</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less busy than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a-qal-lu iz-di-ḥā-man min</a:t>
            </a:r>
            <a:endParaRPr lang="en-US" sz="13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Frequency range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يَوْمِيًّا</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daily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yaw-miy-yan</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أُسْبُوعِيًّا</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weekly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us-bū-ʿiy-yan</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كُلَّ يَوْمَيْنِ</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every two days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kul-la yaw-may-ni</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مَرَّةً كُلَّ شَهْرٍ</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once a month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mar-ra-tan kul-la shah-rin</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Frequency range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مُعْظَمِ الأَيَّامِ</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most days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muʿ-ẓa-mi al-ay-yā-mi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لَا ... أَبَدًا</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never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lā ... a-ba-dan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كَثِيرًا مَا</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often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ka-thī-ran mā</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قَلِيلًا مَا</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seldom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qa-lī-lan mā</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THE FREQUENCY LADDER (WEBSITE EXPRESSIONS)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How often? From always to never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كَمْ مَرَّةً؟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9322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How often</a:t>
            </a:r>
            <a:endParaRPr lang="en-US" sz="1100" dirty="0"/>
          </a:p>
        </p:txBody>
      </p:sp>
      <p:sp>
        <p:nvSpPr>
          <p:cNvPr id="17" name="Text 14"/>
          <p:cNvSpPr txBox="1"/>
          <p:nvPr/>
        </p:nvSpPr>
        <p:spPr>
          <a:xfrm>
            <a:off x="6409944" y="1810512"/>
            <a:ext cx="3236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Expression</a:t>
            </a:r>
            <a:endParaRPr lang="en-US" sz="1100" dirty="0"/>
          </a:p>
        </p:txBody>
      </p:sp>
      <p:sp>
        <p:nvSpPr>
          <p:cNvPr id="18" name="Text 15"/>
          <p:cNvSpPr txBox="1"/>
          <p:nvPr/>
        </p:nvSpPr>
        <p:spPr>
          <a:xfrm>
            <a:off x="530352" y="1810512"/>
            <a:ext cx="5733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Website-style example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829800" y="2267712"/>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100% ▰▰▰▰▰</a:t>
            </a:r>
            <a:endParaRPr lang="en-US" sz="1100" dirty="0"/>
          </a:p>
        </p:txBody>
      </p:sp>
      <p:sp>
        <p:nvSpPr>
          <p:cNvPr id="21" name="Text 18"/>
          <p:cNvSpPr txBox="1"/>
          <p:nvPr/>
        </p:nvSpPr>
        <p:spPr>
          <a:xfrm>
            <a:off x="6428232" y="2267712"/>
            <a:ext cx="32004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دَائِمًا · يَوْمِيًّا · كُلَّ يَوْمٍ</a:t>
            </a:r>
            <a:endParaRPr lang="ar-SA" sz="2400" dirty="0"/>
          </a:p>
        </p:txBody>
      </p:sp>
      <p:sp>
        <p:nvSpPr>
          <p:cNvPr id="22" name="Text 19"/>
          <p:cNvSpPr txBox="1"/>
          <p:nvPr/>
        </p:nvSpPr>
        <p:spPr>
          <a:xfrm>
            <a:off x="548640" y="2286000"/>
            <a:ext cx="5696712"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أُرَاجِعُ دُرُوسِي يَوْمِيًّا.</a:t>
            </a:r>
            <a:endParaRPr lang="ar-SA" sz="1950" dirty="0"/>
          </a:p>
        </p:txBody>
      </p:sp>
      <p:sp>
        <p:nvSpPr>
          <p:cNvPr id="23" name="Text 20"/>
          <p:cNvSpPr txBox="1"/>
          <p:nvPr/>
        </p:nvSpPr>
        <p:spPr>
          <a:xfrm>
            <a:off x="502920" y="2676997"/>
            <a:ext cx="5788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revise my lessons daily.</a:t>
            </a:r>
            <a:endParaRPr lang="en-US" sz="95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9829800" y="300471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80% ▰▰▰▰▱</a:t>
            </a:r>
            <a:endParaRPr lang="en-US" sz="1100" dirty="0"/>
          </a:p>
        </p:txBody>
      </p:sp>
      <p:sp>
        <p:nvSpPr>
          <p:cNvPr id="28" name="Text 25"/>
          <p:cNvSpPr txBox="1"/>
          <p:nvPr/>
        </p:nvSpPr>
        <p:spPr>
          <a:xfrm>
            <a:off x="6428232" y="3004718"/>
            <a:ext cx="320040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كَثِيرًا مَا · غَالِبًا · فِي مُعْظَمِ الأَيَّامِ</a:t>
            </a:r>
            <a:endParaRPr lang="ar-SA" sz="1900" dirty="0"/>
          </a:p>
        </p:txBody>
      </p:sp>
      <p:sp>
        <p:nvSpPr>
          <p:cNvPr id="29" name="Text 26"/>
          <p:cNvSpPr txBox="1"/>
          <p:nvPr/>
        </p:nvSpPr>
        <p:spPr>
          <a:xfrm>
            <a:off x="548640" y="3023006"/>
            <a:ext cx="5696712"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كَثِيرًا مَا أَزُورُ جَدَّتِي يَوْمَ السَّبْتِ.</a:t>
            </a:r>
            <a:endParaRPr lang="ar-SA" sz="1950" dirty="0"/>
          </a:p>
        </p:txBody>
      </p:sp>
      <p:sp>
        <p:nvSpPr>
          <p:cNvPr id="30" name="Text 27"/>
          <p:cNvSpPr txBox="1"/>
          <p:nvPr/>
        </p:nvSpPr>
        <p:spPr>
          <a:xfrm>
            <a:off x="502920" y="3414004"/>
            <a:ext cx="5788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often visit my grandmother on Saturday.</a:t>
            </a:r>
            <a:endParaRPr lang="en-US" sz="95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9829800" y="3741725"/>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50% ▰▰▰▱▱</a:t>
            </a:r>
            <a:endParaRPr lang="en-US" sz="1100" dirty="0"/>
          </a:p>
        </p:txBody>
      </p:sp>
      <p:sp>
        <p:nvSpPr>
          <p:cNvPr id="35" name="Text 32"/>
          <p:cNvSpPr txBox="1"/>
          <p:nvPr/>
        </p:nvSpPr>
        <p:spPr>
          <a:xfrm>
            <a:off x="6428232" y="3741725"/>
            <a:ext cx="32004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أَحْيَانًا · مِنْ حِينٍ إِلَى آخَرَ</a:t>
            </a:r>
            <a:endParaRPr lang="ar-SA" sz="2400" dirty="0"/>
          </a:p>
        </p:txBody>
      </p:sp>
      <p:sp>
        <p:nvSpPr>
          <p:cNvPr id="36" name="Text 33"/>
          <p:cNvSpPr txBox="1"/>
          <p:nvPr/>
        </p:nvSpPr>
        <p:spPr>
          <a:xfrm>
            <a:off x="548640" y="3760013"/>
            <a:ext cx="5696712"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أَحْيَانًا أَلْعَبُ بَعْدَ المَدْرَسَةِ.</a:t>
            </a:r>
            <a:endParaRPr lang="ar-SA" sz="1950" dirty="0"/>
          </a:p>
        </p:txBody>
      </p:sp>
      <p:sp>
        <p:nvSpPr>
          <p:cNvPr id="37" name="Text 34"/>
          <p:cNvSpPr txBox="1"/>
          <p:nvPr/>
        </p:nvSpPr>
        <p:spPr>
          <a:xfrm>
            <a:off x="502920" y="4151010"/>
            <a:ext cx="5788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Sometimes I play after school.</a:t>
            </a:r>
            <a:endParaRPr lang="en-US" sz="950" dirty="0"/>
          </a:p>
        </p:txBody>
      </p:sp>
      <p:sp>
        <p:nvSpPr>
          <p:cNvPr id="38" name="Shape 35"/>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0" name="Shape 37"/>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1" name="Text 38"/>
          <p:cNvSpPr txBox="1"/>
          <p:nvPr/>
        </p:nvSpPr>
        <p:spPr>
          <a:xfrm>
            <a:off x="9829800" y="4478731"/>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 ▰▱▱▱▱</a:t>
            </a:r>
            <a:endParaRPr lang="en-US" sz="1100" dirty="0"/>
          </a:p>
        </p:txBody>
      </p:sp>
      <p:sp>
        <p:nvSpPr>
          <p:cNvPr id="42" name="Text 39"/>
          <p:cNvSpPr txBox="1"/>
          <p:nvPr/>
        </p:nvSpPr>
        <p:spPr>
          <a:xfrm>
            <a:off x="6428232" y="4478731"/>
            <a:ext cx="3200400" cy="682142"/>
          </a:xfrm>
          <a:prstGeom prst="rect">
            <a:avLst/>
          </a:prstGeom>
          <a:noFill/>
          <a:ln/>
        </p:spPr>
        <p:txBody>
          <a:bodyPr wrap="square" lIns="0" tIns="0" rIns="0" bIns="0" rtlCol="0" anchor="ctr"/>
          <a:lstStyle/>
          <a:p>
            <a:pPr rtl="1" algn="ctr" indent="0" marL="0">
              <a:buNone/>
            </a:pPr>
            <a:r>
              <a:rPr lang="ar-SA" altLang="en-US" sz="2150" b="1" dirty="0">
                <a:solidFill>
                  <a:srgbClr val="1B3B6F"/>
                </a:solidFill>
                <a:latin typeface="Amiri" pitchFamily="34" charset="0"/>
                <a:ea typeface="Amiri" pitchFamily="34" charset="-122"/>
                <a:cs typeface="Amiri" pitchFamily="34" charset="-120"/>
              </a:rPr>
              <a:t>نَادِرًا · قَلِيلًا مَا · مَرَّةً كُلَّ شَهْرٍ</a:t>
            </a:r>
            <a:endParaRPr lang="ar-SA" sz="2150" dirty="0"/>
          </a:p>
        </p:txBody>
      </p:sp>
      <p:sp>
        <p:nvSpPr>
          <p:cNvPr id="43" name="Text 40"/>
          <p:cNvSpPr txBox="1"/>
          <p:nvPr/>
        </p:nvSpPr>
        <p:spPr>
          <a:xfrm>
            <a:off x="548640" y="4497019"/>
            <a:ext cx="5696712"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نَادِرًا مَا أَخْرُجُ لَيْلَةَ الجُمُعَةِ.</a:t>
            </a:r>
            <a:endParaRPr lang="ar-SA" sz="1950" dirty="0"/>
          </a:p>
        </p:txBody>
      </p:sp>
      <p:sp>
        <p:nvSpPr>
          <p:cNvPr id="44" name="Text 41"/>
          <p:cNvSpPr txBox="1"/>
          <p:nvPr/>
        </p:nvSpPr>
        <p:spPr>
          <a:xfrm>
            <a:off x="502920" y="4888017"/>
            <a:ext cx="5788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rarely go out on Friday night.</a:t>
            </a:r>
            <a:endParaRPr lang="en-US" sz="950" dirty="0"/>
          </a:p>
        </p:txBody>
      </p:sp>
      <p:sp>
        <p:nvSpPr>
          <p:cNvPr id="45" name="Shape 4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6" name="Text 43"/>
          <p:cNvSpPr txBox="1"/>
          <p:nvPr/>
        </p:nvSpPr>
        <p:spPr>
          <a:xfrm>
            <a:off x="9829800" y="521573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0% ▱▱▱▱▱</a:t>
            </a:r>
            <a:endParaRPr lang="en-US" sz="1100" dirty="0"/>
          </a:p>
        </p:txBody>
      </p:sp>
      <p:sp>
        <p:nvSpPr>
          <p:cNvPr id="47" name="Text 44"/>
          <p:cNvSpPr txBox="1"/>
          <p:nvPr/>
        </p:nvSpPr>
        <p:spPr>
          <a:xfrm>
            <a:off x="6428232" y="5215738"/>
            <a:ext cx="32004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لَا … أَبَدًا</a:t>
            </a:r>
            <a:endParaRPr lang="ar-SA" sz="2400" dirty="0"/>
          </a:p>
        </p:txBody>
      </p:sp>
      <p:sp>
        <p:nvSpPr>
          <p:cNvPr id="48" name="Text 45"/>
          <p:cNvSpPr txBox="1"/>
          <p:nvPr/>
        </p:nvSpPr>
        <p:spPr>
          <a:xfrm>
            <a:off x="548640" y="5234026"/>
            <a:ext cx="5696712"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34" charset="0"/>
                <a:ea typeface="Amiri" pitchFamily="34" charset="-122"/>
                <a:cs typeface="Amiri" pitchFamily="34" charset="-120"/>
              </a:rPr>
              <a:t>لَا</a:t>
            </a:r>
            <a:pPr rtl="1" algn="ctr" indent="0" marL="0">
              <a:buNone/>
            </a:pPr>
            <a:r>
              <a:rPr lang="ar-SA" altLang="en-US" sz="1950" b="1" dirty="0">
                <a:solidFill>
                  <a:srgbClr val="1B3B6F"/>
                </a:solidFill>
                <a:latin typeface="Amiri" pitchFamily="34" charset="0"/>
                <a:ea typeface="Amiri" pitchFamily="34" charset="-122"/>
                <a:cs typeface="Amiri" pitchFamily="34" charset="-120"/>
              </a:rPr>
              <a:t> أَتَأَخَّرُ </a:t>
            </a:r>
            <a:pPr rtl="1" algn="ctr" indent="0" marL="0">
              <a:buNone/>
            </a:pPr>
            <a:r>
              <a:rPr lang="ar-SA" altLang="en-US" sz="1950" b="1" dirty="0">
                <a:solidFill>
                  <a:srgbClr val="0E7C86"/>
                </a:solidFill>
                <a:latin typeface="Amiri" pitchFamily="34" charset="0"/>
                <a:ea typeface="Amiri" pitchFamily="34" charset="-122"/>
                <a:cs typeface="Amiri" pitchFamily="34" charset="-120"/>
              </a:rPr>
              <a:t>أَبَدًا</a:t>
            </a:r>
            <a:pPr rtl="1" algn="ctr" indent="0" marL="0">
              <a:buNone/>
            </a:pPr>
            <a:r>
              <a:rPr lang="ar-SA" altLang="en-US" sz="1950" b="1" dirty="0">
                <a:solidFill>
                  <a:srgbClr val="1B3B6F"/>
                </a:solidFill>
                <a:latin typeface="Amiri" pitchFamily="34" charset="0"/>
                <a:ea typeface="Amiri" pitchFamily="34" charset="-122"/>
                <a:cs typeface="Amiri" pitchFamily="34" charset="-120"/>
              </a:rPr>
              <a:t> عَنِ الحِصَّةِ.</a:t>
            </a:r>
            <a:endParaRPr lang="ar-SA" sz="1950" dirty="0"/>
          </a:p>
        </p:txBody>
      </p:sp>
      <p:sp>
        <p:nvSpPr>
          <p:cNvPr id="49" name="Text 46"/>
          <p:cNvSpPr txBox="1"/>
          <p:nvPr/>
        </p:nvSpPr>
        <p:spPr>
          <a:xfrm>
            <a:off x="502920" y="5625023"/>
            <a:ext cx="5788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am never late for the lesson.</a:t>
            </a:r>
            <a:endParaRPr lang="en-US" sz="950" dirty="0"/>
          </a:p>
        </p:txBody>
      </p:sp>
      <p:sp>
        <p:nvSpPr>
          <p:cNvPr id="50" name="Shape 47"/>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2" name="Text 4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Numbers: </a:t>
            </a:r>
            <a:pPr algn="l" indent="0" marL="0">
              <a:buNone/>
            </a:pPr>
            <a:r>
              <a:rPr lang="ar-SA" altLang="en-US" sz="1500" b="1" dirty="0">
                <a:solidFill>
                  <a:srgbClr val="1B3B6F"/>
                </a:solidFill>
                <a:latin typeface="Amiri" pitchFamily="34" charset="0"/>
                <a:ea typeface="Amiri" pitchFamily="34" charset="-122"/>
                <a:cs typeface="Amiri" pitchFamily="34" charset="-120"/>
              </a:rPr>
              <a:t>مَرَّةً</a:t>
            </a:r>
            <a:pPr algn="l" indent="0" marL="0">
              <a:buNone/>
            </a:pPr>
            <a:r>
              <a:rPr lang="en-US" sz="1150" b="1" dirty="0">
                <a:solidFill>
                  <a:srgbClr val="1B3B6F"/>
                </a:solidFill>
                <a:latin typeface="Calibri" pitchFamily="34" charset="0"/>
                <a:ea typeface="Calibri" pitchFamily="34" charset="-122"/>
                <a:cs typeface="Calibri" pitchFamily="34" charset="-120"/>
              </a:rPr>
              <a:t> · </a:t>
            </a:r>
            <a:pPr algn="l" indent="0" marL="0">
              <a:buNone/>
            </a:pPr>
            <a:r>
              <a:rPr lang="ar-SA" altLang="en-US" sz="1500" b="1" dirty="0">
                <a:solidFill>
                  <a:srgbClr val="1B3B6F"/>
                </a:solidFill>
                <a:latin typeface="Amiri" pitchFamily="34" charset="0"/>
                <a:ea typeface="Amiri" pitchFamily="34" charset="-122"/>
                <a:cs typeface="Amiri" pitchFamily="34" charset="-120"/>
              </a:rPr>
              <a:t>مَرَّتَيْنِ</a:t>
            </a:r>
            <a:pPr algn="l" indent="0" marL="0">
              <a:buNone/>
            </a:pPr>
            <a:r>
              <a:rPr lang="en-US" sz="1150" b="1" dirty="0">
                <a:solidFill>
                  <a:srgbClr val="1B3B6F"/>
                </a:solidFill>
                <a:latin typeface="Calibri" pitchFamily="34" charset="0"/>
                <a:ea typeface="Calibri" pitchFamily="34" charset="-122"/>
                <a:cs typeface="Calibri" pitchFamily="34" charset="-120"/>
              </a:rPr>
              <a:t> · </a:t>
            </a:r>
            <a:pPr algn="l" indent="0" marL="0">
              <a:buNone/>
            </a:pPr>
            <a:r>
              <a:rPr lang="ar-SA" altLang="en-US" sz="1500" b="1" dirty="0">
                <a:solidFill>
                  <a:srgbClr val="1B3B6F"/>
                </a:solidFill>
                <a:latin typeface="Amiri" pitchFamily="34" charset="0"/>
                <a:ea typeface="Amiri" pitchFamily="34" charset="-122"/>
                <a:cs typeface="Amiri" pitchFamily="34" charset="-120"/>
              </a:rPr>
              <a:t>ثَلَاثَ مَرَّاتٍ فِي الأُسْبُوعِ</a:t>
            </a:r>
            <a:pPr algn="l" indent="0" marL="0">
              <a:buNone/>
            </a:pPr>
            <a:r>
              <a:rPr lang="en-US" sz="1150" b="1" dirty="0">
                <a:solidFill>
                  <a:srgbClr val="1B3B6F"/>
                </a:solidFill>
                <a:latin typeface="Calibri" pitchFamily="34" charset="0"/>
                <a:ea typeface="Calibri" pitchFamily="34" charset="-122"/>
                <a:cs typeface="Calibri" pitchFamily="34" charset="-120"/>
              </a:rPr>
              <a:t> (once · twice · three times a week).</a:t>
            </a:r>
            <a:endParaRPr lang="en-US" sz="11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2 · CONTRAST AND COMPARE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Whereas, as for, busier than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بَيْنَمَا · أَمَّا … فَـ · أَكْثَرُ … مِنْ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0876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CONTRAST · DEVELOP</a:t>
            </a:r>
            <a:endParaRPr lang="en-US" sz="850" dirty="0"/>
          </a:p>
        </p:txBody>
      </p:sp>
      <p:sp>
        <p:nvSpPr>
          <p:cNvPr id="18" name="Text 15"/>
          <p:cNvSpPr txBox="1"/>
          <p:nvPr/>
        </p:nvSpPr>
        <p:spPr>
          <a:xfrm>
            <a:off x="9787128"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بَيْنَمَا</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أَتَمَرَّنُ يَوْمَ الثُّلَاثَاءِ، بَيْنَمَا يَتَمَرَّنُ أَخِي يَوْمَ الخَمِيسِ.</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train on Tuesday, whereas my brother trains on Thursday.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Two clauses, two agreements.</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78308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7830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CHANGE TOPIC · STRETCH</a:t>
            </a:r>
            <a:endParaRPr lang="en-US" sz="850" dirty="0"/>
          </a:p>
        </p:txBody>
      </p:sp>
      <p:sp>
        <p:nvSpPr>
          <p:cNvPr id="26" name="Text 23"/>
          <p:cNvSpPr txBox="1"/>
          <p:nvPr/>
        </p:nvSpPr>
        <p:spPr>
          <a:xfrm>
            <a:off x="6242304" y="1874520"/>
            <a:ext cx="15331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أَمَّا … فَـ</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34" charset="0"/>
                <a:ea typeface="Amiri" pitchFamily="34" charset="-122"/>
                <a:cs typeface="Amiri" pitchFamily="34" charset="-120"/>
              </a:rPr>
              <a:t>أَمَّا السَّبْتُ فَهُوَ يَوْمُ الرَّاحَةِ.</a:t>
            </a:r>
            <a:endParaRPr lang="ar-SA" sz="26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As for Saturday, it is a rest day.</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Topic + </a:t>
            </a:r>
            <a:pPr algn="l" indent="0" marL="0">
              <a:buNone/>
            </a:pPr>
            <a:r>
              <a:rPr lang="ar-SA" altLang="en-US" sz="1450" dirty="0">
                <a:solidFill>
                  <a:srgbClr val="1F2A37"/>
                </a:solidFill>
                <a:latin typeface="Amiri" pitchFamily="34" charset="0"/>
                <a:ea typeface="Amiri" pitchFamily="34" charset="-122"/>
                <a:cs typeface="Amiri" pitchFamily="34" charset="-120"/>
              </a:rPr>
              <a:t>فَـ</a:t>
            </a:r>
            <a:pPr algn="l" indent="0" marL="0">
              <a:buNone/>
            </a:pPr>
            <a:r>
              <a:rPr lang="en-US" sz="1100" dirty="0">
                <a:solidFill>
                  <a:srgbClr val="1F2A37"/>
                </a:solidFill>
                <a:latin typeface="Calibri" pitchFamily="34" charset="0"/>
                <a:ea typeface="Calibri" pitchFamily="34" charset="-122"/>
                <a:cs typeface="Calibri" pitchFamily="34" charset="-120"/>
              </a:rPr>
              <a:t> + the comment.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COMPARE · STRETCH</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أَكْثَرُ … مِنْ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الأَرْبِعَاءُ أَكْثَرُ اِنْشِغَالًا مِنَ الخَمِيسِ.</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Wednesday is busier than Thursday.</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more / less + noun + </a:t>
            </a:r>
            <a:pPr algn="l" indent="0" marL="0">
              <a:buNone/>
            </a:pPr>
            <a:r>
              <a:rPr lang="ar-SA" altLang="en-US" sz="1450" dirty="0">
                <a:solidFill>
                  <a:srgbClr val="1F2A37"/>
                </a:solidFill>
                <a:latin typeface="Amiri" pitchFamily="34" charset="0"/>
                <a:ea typeface="Amiri" pitchFamily="34" charset="-122"/>
                <a:cs typeface="Amiri" pitchFamily="34" charset="-120"/>
              </a:rPr>
              <a:t>مِنْ</a:t>
            </a:r>
            <a:pPr algn="l" indent="0" marL="0">
              <a:buNone/>
            </a:pPr>
            <a:r>
              <a:rPr lang="en-US" sz="1100" dirty="0">
                <a:solidFill>
                  <a:srgbClr val="1F2A37"/>
                </a:solidFill>
                <a:latin typeface="Calibri" pitchFamily="34" charset="0"/>
                <a:ea typeface="Calibri" pitchFamily="34" charset="-122"/>
                <a:cs typeface="Calibri" pitchFamily="34" charset="-120"/>
              </a:rPr>
              <a: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common error: after </a:t>
            </a:r>
            <a:pPr algn="l" indent="0" marL="0">
              <a:buNone/>
            </a:pPr>
            <a:r>
              <a:rPr lang="ar-SA" altLang="en-US" sz="1500" dirty="0">
                <a:solidFill>
                  <a:srgbClr val="1F2A37"/>
                </a:solidFill>
                <a:latin typeface="Amiri" pitchFamily="34" charset="0"/>
                <a:ea typeface="Amiri" pitchFamily="34" charset="-122"/>
                <a:cs typeface="Amiri" pitchFamily="34" charset="-120"/>
              </a:rPr>
              <a:t>بَيْنَمَا</a:t>
            </a:r>
            <a:pPr algn="l" indent="0" marL="0">
              <a:buNone/>
            </a:pPr>
            <a:r>
              <a:rPr lang="en-US" sz="1150" dirty="0">
                <a:solidFill>
                  <a:srgbClr val="1F2A37"/>
                </a:solidFill>
                <a:latin typeface="Calibri" pitchFamily="34" charset="0"/>
                <a:ea typeface="Calibri" pitchFamily="34" charset="-122"/>
                <a:cs typeface="Calibri" pitchFamily="34" charset="-120"/>
              </a:rPr>
              <a:t> the verb matches ITS OWN subject.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34" charset="0"/>
                <a:ea typeface="Amiri" pitchFamily="34" charset="-122"/>
                <a:cs typeface="Amiri" pitchFamily="34" charset="-120"/>
              </a:rPr>
              <a:t>بَيْنَمَا يَذْهَبُ أَخِي</a:t>
            </a:r>
            <a:endParaRPr lang="ar-SA" sz="23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B83227"/>
                </a:solidFill>
                <a:latin typeface="Amiri" pitchFamily="34" charset="0"/>
                <a:ea typeface="Amiri" pitchFamily="34" charset="-122"/>
                <a:cs typeface="Amiri" pitchFamily="34" charset="-120"/>
              </a:rPr>
              <a:t>بَيْنَمَا أَخِي أَذْهَبُ</a:t>
            </a:r>
            <a:endParaRPr lang="ar-SA" sz="23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Frequency adverbs and expressions</a:t>
            </a:r>
            <a:endParaRPr lang="en-US" sz="26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ظُرُوفُ التَّكْرَارِ وَتَعْبِيرَاتُهُ</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Use </a:t>
            </a:r>
            <a:pPr algn="l" indent="0" marL="0">
              <a:buNone/>
            </a:pPr>
            <a:r>
              <a:rPr lang="ar-SA" altLang="en-US" sz="1650" b="1" dirty="0">
                <a:solidFill>
                  <a:srgbClr val="1B3B6F"/>
                </a:solidFill>
                <a:latin typeface="Amiri" pitchFamily="34" charset="0"/>
                <a:ea typeface="Amiri" pitchFamily="34" charset="-122"/>
                <a:cs typeface="Amiri" pitchFamily="34" charset="-120"/>
              </a:rPr>
              <a:t>بَيْنَمَا</a:t>
            </a:r>
            <a:pPr algn="l" indent="0" marL="0">
              <a:buNone/>
            </a:pPr>
            <a:r>
              <a:rPr lang="en-US" sz="1250" b="1" dirty="0">
                <a:solidFill>
                  <a:srgbClr val="1B3B6F"/>
                </a:solidFill>
                <a:latin typeface="Calibri" pitchFamily="34" charset="0"/>
                <a:ea typeface="Calibri" pitchFamily="34" charset="-122"/>
                <a:cs typeface="Calibri" pitchFamily="34" charset="-120"/>
              </a:rPr>
              <a:t> between two contrasting clauses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جُمْلَةٌ، بَيْنَمَا + جُمْلَةٌ</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أَتَمَرَّنُ يَوْمَ الاِثْنَيْنِ، بَيْنَمَا تَتَمَرَّنُ أُخْتِي يَوْمَ الثُّلَاثَاءِ.   ·   أَسْتَيْقِظُ مُبَكِّرًا فِي الأُسْبُوعِ، بَيْنَمَا أَنَامُ أَطْوَلَ فِي العُطْلَةِ.</a:t>
            </a:r>
            <a:endParaRPr lang="ar-SA" sz="185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Use </a:t>
            </a:r>
            <a:pPr algn="l" indent="0" marL="0">
              <a:buNone/>
            </a:pPr>
            <a:r>
              <a:rPr lang="ar-SA" altLang="en-US" sz="1650" b="1" dirty="0">
                <a:solidFill>
                  <a:srgbClr val="1B3B6F"/>
                </a:solidFill>
                <a:latin typeface="Amiri" pitchFamily="34" charset="0"/>
                <a:ea typeface="Amiri" pitchFamily="34" charset="-122"/>
                <a:cs typeface="Amiri" pitchFamily="34" charset="-120"/>
              </a:rPr>
              <a:t>أَمَّا</a:t>
            </a:r>
            <a:pPr algn="l" indent="0" marL="0">
              <a:buNone/>
            </a:pPr>
            <a:r>
              <a:rPr lang="en-US" sz="1250" b="1" dirty="0">
                <a:solidFill>
                  <a:srgbClr val="1B3B6F"/>
                </a:solidFill>
                <a:latin typeface="Calibri" pitchFamily="34" charset="0"/>
                <a:ea typeface="Calibri" pitchFamily="34" charset="-122"/>
                <a:cs typeface="Calibri" pitchFamily="34" charset="-120"/>
              </a:rPr>
              <a:t> ... </a:t>
            </a:r>
            <a:pPr algn="l" indent="0" marL="0">
              <a:buNone/>
            </a:pPr>
            <a:r>
              <a:rPr lang="ar-SA" altLang="en-US" sz="1650" b="1" dirty="0">
                <a:solidFill>
                  <a:srgbClr val="1B3B6F"/>
                </a:solidFill>
                <a:latin typeface="Amiri" pitchFamily="34" charset="0"/>
                <a:ea typeface="Amiri" pitchFamily="34" charset="-122"/>
                <a:cs typeface="Amiri" pitchFamily="34" charset="-120"/>
              </a:rPr>
              <a:t>فَـ</a:t>
            </a:r>
            <a:pPr algn="l" indent="0" marL="0">
              <a:buNone/>
            </a:pPr>
            <a:r>
              <a:rPr lang="en-US" sz="1250" b="1" dirty="0">
                <a:solidFill>
                  <a:srgbClr val="1B3B6F"/>
                </a:solidFill>
                <a:latin typeface="Calibri" pitchFamily="34" charset="0"/>
                <a:ea typeface="Calibri" pitchFamily="34" charset="-122"/>
                <a:cs typeface="Calibri" pitchFamily="34" charset="-120"/>
              </a:rPr>
              <a:t> to organise a comparison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أَمَّا + المَوْضُوعُ + فَـ + الجُمْلَةُ</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أَمَّا يَوْمُ الجُمُعَةِ فَهُوَ أَهْدَأُ.   ·   أَمَّا أَخِي فَيَذْهَبُ إِلَى النَّادِي ثَلَاثَ مَرَّاتٍ.</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Place frequency accurately</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فِعْلٌ + ظَرْفُ تَكْرَارٍ · كَثِيرًا مَا + فِعْلٌ</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أُرَاجِعُ دُرُوسِي يَوْمِيًّا.   ·   كَثِيرًا مَا أَزُورُ جَدَّتِي يَوْمَ السَّبْتِ.   ·   لَا أَتَأَخَّرُ أَبَدًا عَنِ المَوْعِدِ.</a:t>
            </a:r>
            <a:endParaRPr lang="ar-SA" sz="185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Compare how busy days are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أَكْثَرُ / أَقَلُّ + صِفَةً + مِنْ</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يَوْمُ الأَرْبِعَاءِ أَكْثَرُ اِنْشِغَالًا مِنْ يَوْمِ الخَمِيسِ.   ·   نِهَايَةُ الأُسْبُوعِ أَقَلُّ اِزْدِحَامًا مِنْ أَيَّامِ الدِّرَاسَةِ.</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contrast.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أَتَمَرَّنُ، بَيْنَمَا يَقْرَأُ أُخْتِي.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أَتَمَرَّنُ بَيْنَمَا أُخْتِي أَقْرَأُ.</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أَتَمَرَّنُ، بَيْنَمَا تَقْرَأُ أُخْتِي.</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“daily”?</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يَوْمِيًّا</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أُسْبُوعِيًّا</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شَهْرِيًّا</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“never”.</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كَثِيرًا مَا</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 أَبَدًا</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حِينٍ إِلَى آخَرَ</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comparison:</a:t>
            </a:r>
            <a:endParaRPr lang="en-US" sz="1200" dirty="0"/>
          </a:p>
        </p:txBody>
      </p:sp>
      <p:sp>
        <p:nvSpPr>
          <p:cNvPr id="58" name="Text 5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الثُّلَاثَاءُ أَكْثَرُ اِنْشِغَالًا ___ الاِثْنَيْنِ.</a:t>
            </a:r>
            <a:endParaRPr lang="ar-SA" sz="14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contrast.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أَتَمَرَّنُ، بَيْنَمَا يَقْرَأُ أُخْتِي.</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أَتَمَرَّنُ بَيْنَمَا أُخْتِي أَقْرَأُ.</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أَتَمَرَّنُ، بَيْنَمَا تَقْرَأُ أُخْتِي.</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أُخْتِي</a:t>
            </a:r>
            <a:pPr algn="l" indent="0" marL="0">
              <a:buNone/>
            </a:pPr>
            <a:r>
              <a:rPr lang="en-US" sz="1050" i="1" dirty="0">
                <a:solidFill>
                  <a:srgbClr val="8A6D1E"/>
                </a:solidFill>
                <a:latin typeface="Calibri" pitchFamily="34" charset="0"/>
                <a:ea typeface="Calibri" pitchFamily="34" charset="-122"/>
                <a:cs typeface="Calibri" pitchFamily="34" charset="-120"/>
              </a:rPr>
              <a:t> is feminine, so </a:t>
            </a:r>
            <a:pPr algn="l" indent="0" marL="0">
              <a:buNone/>
            </a:pPr>
            <a:r>
              <a:rPr lang="ar-SA" altLang="en-US" sz="1350" dirty="0">
                <a:solidFill>
                  <a:srgbClr val="8A6D1E"/>
                </a:solidFill>
                <a:latin typeface="Amiri" pitchFamily="34" charset="0"/>
                <a:ea typeface="Amiri" pitchFamily="34" charset="-122"/>
                <a:cs typeface="Amiri" pitchFamily="34" charset="-120"/>
              </a:rPr>
              <a:t>تَقْرَأُ</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“daily”?</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يَوْمِيًّا</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أُسْبُوعِيًّا</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شَهْرِيًّا</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يَوْمِيًّا</a:t>
            </a:r>
            <a:pPr algn="l" indent="0" marL="0">
              <a:buNone/>
            </a:pPr>
            <a:r>
              <a:rPr lang="en-US" sz="1050" i="1" dirty="0">
                <a:solidFill>
                  <a:srgbClr val="8A6D1E"/>
                </a:solidFill>
                <a:latin typeface="Calibri" pitchFamily="34" charset="0"/>
                <a:ea typeface="Calibri" pitchFamily="34" charset="-122"/>
                <a:cs typeface="Calibri" pitchFamily="34" charset="-120"/>
              </a:rPr>
              <a:t> = daily.</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“never”.</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كَثِيرًا مَا</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لَا ... أَبَدًا</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حِينٍ إِلَى آخَرَ</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لَا</a:t>
            </a:r>
            <a:pPr algn="l" indent="0" marL="0">
              <a:buNone/>
            </a:pPr>
            <a:r>
              <a:rPr lang="en-US" sz="1050" i="1" dirty="0">
                <a:solidFill>
                  <a:srgbClr val="8A6D1E"/>
                </a:solidFill>
                <a:latin typeface="Calibri" pitchFamily="34" charset="0"/>
                <a:ea typeface="Calibri" pitchFamily="34" charset="-122"/>
                <a:cs typeface="Calibri" pitchFamily="34" charset="-120"/>
              </a:rPr>
              <a:t> ... </a:t>
            </a:r>
            <a:pPr algn="l" indent="0" marL="0">
              <a:buNone/>
            </a:pPr>
            <a:r>
              <a:rPr lang="ar-SA" altLang="en-US" sz="1350" dirty="0">
                <a:solidFill>
                  <a:srgbClr val="8A6D1E"/>
                </a:solidFill>
                <a:latin typeface="Amiri" pitchFamily="34" charset="0"/>
                <a:ea typeface="Amiri" pitchFamily="34" charset="-122"/>
                <a:cs typeface="Amiri" pitchFamily="34" charset="-120"/>
              </a:rPr>
              <a:t>أَبَدًا</a:t>
            </a:r>
            <a:pPr algn="l" indent="0" marL="0">
              <a:buNone/>
            </a:pPr>
            <a:r>
              <a:rPr lang="en-US" sz="1050" i="1" dirty="0">
                <a:solidFill>
                  <a:srgbClr val="8A6D1E"/>
                </a:solidFill>
                <a:latin typeface="Calibri" pitchFamily="34" charset="0"/>
                <a:ea typeface="Calibri" pitchFamily="34" charset="-122"/>
                <a:cs typeface="Calibri" pitchFamily="34" charset="-120"/>
              </a:rPr>
              <a:t> expresses never.</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comparison:</a:t>
            </a:r>
            <a:endParaRPr lang="en-US" sz="1200" dirty="0"/>
          </a:p>
        </p:txBody>
      </p:sp>
      <p:sp>
        <p:nvSpPr>
          <p:cNvPr id="64" name="Text 61"/>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الثُّلَاثَاءُ أَكْثَرُ اِنْشِغَالًا ___ الاِثْنَيْنِ.</a:t>
            </a:r>
            <a:endParaRPr lang="ar-SA" sz="14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Comparatives use </a:t>
            </a:r>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compare my week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How often (me)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B3B6F"/>
                </a:solidFill>
                <a:latin typeface="Amiri" pitchFamily="34" charset="0"/>
                <a:ea typeface="Amiri" pitchFamily="34" charset="-122"/>
                <a:cs typeface="Amiri" pitchFamily="34" charset="-120"/>
              </a:rPr>
              <a:t>أُرَاجِعُ دُرُوسِي </a:t>
            </a:r>
            <a:pPr rtl="1" algn="ctr" indent="0" marL="0">
              <a:buNone/>
            </a:pPr>
            <a:r>
              <a:rPr lang="ar-SA" altLang="en-US" sz="2700" b="1" dirty="0">
                <a:solidFill>
                  <a:srgbClr val="0E7C86"/>
                </a:solidFill>
                <a:latin typeface="Amiri" pitchFamily="34" charset="0"/>
                <a:ea typeface="Amiri" pitchFamily="34" charset="-122"/>
                <a:cs typeface="Amiri" pitchFamily="34" charset="-120"/>
              </a:rPr>
              <a:t>يَوْمِيًّا</a:t>
            </a:r>
            <a:pPr rtl="1" algn="ctr" indent="0" marL="0">
              <a:buNone/>
            </a:pPr>
            <a:r>
              <a:rPr lang="ar-SA" altLang="en-US" sz="2700" b="1" dirty="0">
                <a:solidFill>
                  <a:srgbClr val="1B3B6F"/>
                </a:solidFill>
                <a:latin typeface="Amiri" pitchFamily="34" charset="0"/>
                <a:ea typeface="Amiri" pitchFamily="34" charset="-122"/>
                <a:cs typeface="Amiri" pitchFamily="34" charset="-120"/>
              </a:rPr>
              <a:t>.</a:t>
            </a:r>
            <a:endParaRPr lang="ar-SA" sz="27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Frequency after the verb.</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Contrast (her)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أَتَمَرَّنُ مَرَّتَيْنِ،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بَيْنَمَا</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تَ</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تَمَرَّنُ أُخْتِي يَوْمِيًّا.</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Second clause: </a:t>
            </a:r>
            <a:pPr algn="l" indent="0" marL="0">
              <a:buNone/>
            </a:pPr>
            <a:r>
              <a:rPr lang="ar-SA" altLang="en-US" sz="1500" dirty="0">
                <a:solidFill>
                  <a:srgbClr val="1F2A37"/>
                </a:solidFill>
                <a:latin typeface="Amiri" pitchFamily="34" charset="0"/>
                <a:ea typeface="Amiri" pitchFamily="34" charset="-122"/>
                <a:cs typeface="Amiri" pitchFamily="34" charset="-120"/>
              </a:rPr>
              <a:t>أُخْتِي</a:t>
            </a:r>
            <a:pPr algn="l" indent="0" marL="0">
              <a:buNone/>
            </a:pPr>
            <a:r>
              <a:rPr lang="en-US" sz="1150" dirty="0">
                <a:solidFill>
                  <a:srgbClr val="1F2A37"/>
                </a:solidFill>
                <a:latin typeface="Calibri" pitchFamily="34" charset="0"/>
                <a:ea typeface="Calibri" pitchFamily="34" charset="-122"/>
                <a:cs typeface="Calibri" pitchFamily="34" charset="-120"/>
              </a:rPr>
              <a:t> → </a:t>
            </a:r>
            <a:pPr algn="l" indent="0" marL="0">
              <a:buNone/>
            </a:pPr>
            <a:r>
              <a:rPr lang="ar-SA" altLang="en-US" sz="1500" dirty="0">
                <a:solidFill>
                  <a:srgbClr val="1F2A37"/>
                </a:solidFill>
                <a:latin typeface="Amiri" pitchFamily="34" charset="0"/>
                <a:ea typeface="Amiri" pitchFamily="34" charset="-122"/>
                <a:cs typeface="Amiri" pitchFamily="34" charset="-120"/>
              </a:rPr>
              <a:t>تَـ</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Compare days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الاِثْنَيْنُ </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أَكْثَرُ</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اِنْشِغَالًا </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مِنَ</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السَّبْتِ.</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busier + </a:t>
            </a:r>
            <a:pPr algn="l" indent="0" marL="0">
              <a:buNone/>
            </a:pPr>
            <a:r>
              <a:rPr lang="ar-SA" altLang="en-US" sz="1500" dirty="0">
                <a:solidFill>
                  <a:srgbClr val="1F2A37"/>
                </a:solidFill>
                <a:latin typeface="Amiri" pitchFamily="34" charset="0"/>
                <a:ea typeface="Amiri" pitchFamily="34" charset="-122"/>
                <a:cs typeface="Amiri" pitchFamily="34" charset="-120"/>
              </a:rPr>
              <a:t>مِنْ</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Never</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0E7C86"/>
                </a:solidFill>
                <a:latin typeface="Amiri" pitchFamily="34" charset="0"/>
                <a:ea typeface="Amiri" pitchFamily="34" charset="-122"/>
                <a:cs typeface="Amiri" pitchFamily="34" charset="-120"/>
              </a:rPr>
              <a:t>لَا</a:t>
            </a:r>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 أَتَأَخَّرُ </a:t>
            </a:r>
            <a:pPr rtl="1" algn="ctr" indent="0" marL="0">
              <a:lnSpc>
                <a:spcPct val="120000"/>
              </a:lnSpc>
              <a:buNone/>
            </a:pPr>
            <a:r>
              <a:rPr lang="ar-SA" altLang="en-US" sz="2000" b="1" dirty="0">
                <a:solidFill>
                  <a:srgbClr val="0E7C86"/>
                </a:solidFill>
                <a:latin typeface="Amiri" pitchFamily="34" charset="0"/>
                <a:ea typeface="Amiri" pitchFamily="34" charset="-122"/>
                <a:cs typeface="Amiri" pitchFamily="34" charset="-120"/>
              </a:rPr>
              <a:t>أَبَدًا</a:t>
            </a:r>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 عَنِ المَوْعِدِ.</a:t>
            </a:r>
            <a:endParaRPr lang="ar-SA" sz="20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لَا</a:t>
            </a:r>
            <a:pPr algn="l" indent="0" marL="0">
              <a:buNone/>
            </a:pPr>
            <a:r>
              <a:rPr lang="en-US" sz="1150" dirty="0">
                <a:solidFill>
                  <a:srgbClr val="1F2A37"/>
                </a:solidFill>
                <a:latin typeface="Calibri" pitchFamily="34" charset="0"/>
                <a:ea typeface="Calibri" pitchFamily="34" charset="-122"/>
                <a:cs typeface="Calibri" pitchFamily="34" charset="-120"/>
              </a:rPr>
              <a:t> before the verb, </a:t>
            </a:r>
            <a:pPr algn="l" indent="0" marL="0">
              <a:buNone/>
            </a:pPr>
            <a:r>
              <a:rPr lang="ar-SA" altLang="en-US" sz="1500" dirty="0">
                <a:solidFill>
                  <a:srgbClr val="1F2A37"/>
                </a:solidFill>
                <a:latin typeface="Amiri" pitchFamily="34" charset="0"/>
                <a:ea typeface="Amiri" pitchFamily="34" charset="-122"/>
                <a:cs typeface="Amiri" pitchFamily="34" charset="-120"/>
              </a:rPr>
              <a:t>أَبَدًا</a:t>
            </a:r>
            <a:pPr algn="l" indent="0" marL="0">
              <a:buNone/>
            </a:pPr>
            <a:r>
              <a:rPr lang="en-US" sz="1150" dirty="0">
                <a:solidFill>
                  <a:srgbClr val="1F2A37"/>
                </a:solidFill>
                <a:latin typeface="Calibri" pitchFamily="34" charset="0"/>
                <a:ea typeface="Calibri" pitchFamily="34" charset="-122"/>
                <a:cs typeface="Calibri" pitchFamily="34" charset="-120"/>
              </a:rPr>
              <a:t> after.</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FREQUENCY / CONTRAST</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SHE</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COMPARE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أُرَاجِعُ دُرُوسِي </a:t>
            </a:r>
            <a:pPr rtl="1" algn="r" indent="0" marL="0">
              <a:buNone/>
            </a:pPr>
            <a:r>
              <a:rPr lang="ar-SA" altLang="en-US" sz="1700" b="1" dirty="0">
                <a:solidFill>
                  <a:srgbClr val="0E7C86"/>
                </a:solidFill>
                <a:latin typeface="Amiri" pitchFamily="34" charset="0"/>
                <a:ea typeface="Amiri" pitchFamily="34" charset="-122"/>
                <a:cs typeface="Amiri" pitchFamily="34" charset="-120"/>
              </a:rPr>
              <a:t>يَوْمِيًّا</a:t>
            </a:r>
            <a:pPr rtl="1" algn="r" indent="0" marL="0">
              <a:buNone/>
            </a:pPr>
            <a:r>
              <a:rPr lang="ar-SA" altLang="en-US" sz="1700" b="1" dirty="0">
                <a:solidFill>
                  <a:srgbClr val="1B3B6F"/>
                </a:solidFill>
                <a:latin typeface="Amiri" pitchFamily="34" charset="0"/>
                <a:ea typeface="Amiri" pitchFamily="34" charset="-122"/>
                <a:cs typeface="Amiri" pitchFamily="34" charset="-120"/>
              </a:rPr>
              <a:t>، وَأَتَمَرَّنُ مَرَّتَيْنِ فِي الأُسْبُوعِ، </a:t>
            </a:r>
            <a:pPr rtl="1" algn="r" indent="0" marL="0">
              <a:buNone/>
            </a:pPr>
            <a:r>
              <a:rPr lang="ar-SA" altLang="en-US" sz="1700" b="1" dirty="0">
                <a:solidFill>
                  <a:srgbClr val="0E7C86"/>
                </a:solidFill>
                <a:latin typeface="Amiri" pitchFamily="34" charset="0"/>
                <a:ea typeface="Amiri" pitchFamily="34" charset="-122"/>
                <a:cs typeface="Amiri" pitchFamily="34" charset="-120"/>
              </a:rPr>
              <a:t>بَيْنَمَا</a:t>
            </a:r>
            <a:pPr rtl="1" algn="r" indent="0" marL="0">
              <a:buNone/>
            </a:pPr>
            <a:r>
              <a:rPr lang="ar-SA" altLang="en-US" sz="1700" b="1" dirty="0">
                <a:solidFill>
                  <a:srgbClr val="1B3B6F"/>
                </a:solidFill>
                <a:latin typeface="Amiri" pitchFamily="34" charset="0"/>
                <a:ea typeface="Amiri" pitchFamily="34" charset="-122"/>
                <a:cs typeface="Amiri" pitchFamily="34" charset="-120"/>
              </a:rPr>
              <a:t> </a:t>
            </a:r>
            <a:pPr rtl="1" algn="r" indent="0" marL="0">
              <a:buNone/>
            </a:pPr>
            <a:r>
              <a:rPr lang="ar-SA" altLang="en-US" sz="1700" b="1" dirty="0">
                <a:solidFill>
                  <a:srgbClr val="D6336C"/>
                </a:solidFill>
                <a:latin typeface="Amiri" pitchFamily="34" charset="0"/>
                <a:ea typeface="Amiri" pitchFamily="34" charset="-122"/>
                <a:cs typeface="Amiri" pitchFamily="34" charset="-120"/>
              </a:rPr>
              <a:t>تَ</a:t>
            </a:r>
            <a:pPr rtl="1" algn="r" indent="0" marL="0">
              <a:buNone/>
            </a:pPr>
            <a:r>
              <a:rPr lang="ar-SA" altLang="en-US" sz="1700" b="1" dirty="0">
                <a:solidFill>
                  <a:srgbClr val="1B3B6F"/>
                </a:solidFill>
                <a:latin typeface="Amiri" pitchFamily="34" charset="0"/>
                <a:ea typeface="Amiri" pitchFamily="34" charset="-122"/>
                <a:cs typeface="Amiri" pitchFamily="34" charset="-120"/>
              </a:rPr>
              <a:t>تَمَرَّنُ أُخْتِي يَوْمِيًّا. الاِثْنَيْنُ </a:t>
            </a:r>
            <a:pPr rtl="1" algn="r" indent="0" marL="0">
              <a:buNone/>
            </a:pPr>
            <a:r>
              <a:rPr lang="ar-SA" altLang="en-US" sz="1700" b="1" dirty="0">
                <a:solidFill>
                  <a:srgbClr val="1D5FBF"/>
                </a:solidFill>
                <a:latin typeface="Amiri" pitchFamily="34" charset="0"/>
                <a:ea typeface="Amiri" pitchFamily="34" charset="-122"/>
                <a:cs typeface="Amiri" pitchFamily="34" charset="-120"/>
              </a:rPr>
              <a:t>أَكْثَرُ</a:t>
            </a:r>
            <a:pPr rtl="1" algn="r" indent="0" marL="0">
              <a:buNone/>
            </a:pPr>
            <a:r>
              <a:rPr lang="ar-SA" altLang="en-US" sz="1700" b="1" dirty="0">
                <a:solidFill>
                  <a:srgbClr val="1B3B6F"/>
                </a:solidFill>
                <a:latin typeface="Amiri" pitchFamily="34" charset="0"/>
                <a:ea typeface="Amiri" pitchFamily="34" charset="-122"/>
                <a:cs typeface="Amiri" pitchFamily="34" charset="-120"/>
              </a:rPr>
              <a:t> اِنْشِغَالًا </a:t>
            </a:r>
            <a:pPr rtl="1" algn="r" indent="0" marL="0">
              <a:buNone/>
            </a:pPr>
            <a:r>
              <a:rPr lang="ar-SA" altLang="en-US" sz="1700" b="1" dirty="0">
                <a:solidFill>
                  <a:srgbClr val="1D5FBF"/>
                </a:solidFill>
                <a:latin typeface="Amiri" pitchFamily="34" charset="0"/>
                <a:ea typeface="Amiri" pitchFamily="34" charset="-122"/>
                <a:cs typeface="Amiri" pitchFamily="34" charset="-120"/>
              </a:rPr>
              <a:t>مِنَ</a:t>
            </a:r>
            <a:pPr rtl="1" algn="r" indent="0" marL="0">
              <a:buNone/>
            </a:pPr>
            <a:r>
              <a:rPr lang="ar-SA" altLang="en-US" sz="1700" b="1" dirty="0">
                <a:solidFill>
                  <a:srgbClr val="1B3B6F"/>
                </a:solidFill>
                <a:latin typeface="Amiri" pitchFamily="34" charset="0"/>
                <a:ea typeface="Amiri" pitchFamily="34" charset="-122"/>
                <a:cs typeface="Amiri" pitchFamily="34" charset="-120"/>
              </a:rPr>
              <a:t> السَّبْتِ. </a:t>
            </a:r>
            <a:pPr rtl="1" algn="r" indent="0" marL="0">
              <a:buNone/>
            </a:pPr>
            <a:r>
              <a:rPr lang="ar-SA" altLang="en-US" sz="1700" b="1" dirty="0">
                <a:solidFill>
                  <a:srgbClr val="0E7C86"/>
                </a:solidFill>
                <a:latin typeface="Amiri" pitchFamily="34" charset="0"/>
                <a:ea typeface="Amiri" pitchFamily="34" charset="-122"/>
                <a:cs typeface="Amiri" pitchFamily="34" charset="-120"/>
              </a:rPr>
              <a:t>لَا</a:t>
            </a:r>
            <a:pPr rtl="1" algn="r" indent="0" marL="0">
              <a:buNone/>
            </a:pPr>
            <a:r>
              <a:rPr lang="ar-SA" altLang="en-US" sz="1700" b="1" dirty="0">
                <a:solidFill>
                  <a:srgbClr val="1B3B6F"/>
                </a:solidFill>
                <a:latin typeface="Amiri" pitchFamily="34" charset="0"/>
                <a:ea typeface="Amiri" pitchFamily="34" charset="-122"/>
                <a:cs typeface="Amiri" pitchFamily="34" charset="-120"/>
              </a:rPr>
              <a:t> أَتَأَخَّرُ </a:t>
            </a:r>
            <a:pPr rtl="1" algn="r" indent="0" marL="0">
              <a:buNone/>
            </a:pPr>
            <a:r>
              <a:rPr lang="ar-SA" altLang="en-US" sz="1700" b="1" dirty="0">
                <a:solidFill>
                  <a:srgbClr val="0E7C86"/>
                </a:solidFill>
                <a:latin typeface="Amiri" pitchFamily="34" charset="0"/>
                <a:ea typeface="Amiri" pitchFamily="34" charset="-122"/>
                <a:cs typeface="Amiri" pitchFamily="34" charset="-120"/>
              </a:rPr>
              <a:t>أَبَدًا</a:t>
            </a:r>
            <a:pPr rtl="1" algn="r" indent="0" marL="0">
              <a:buNone/>
            </a:pPr>
            <a:r>
              <a:rPr lang="ar-SA" altLang="en-US" sz="1700" b="1" dirty="0">
                <a:solidFill>
                  <a:srgbClr val="1B3B6F"/>
                </a:solidFill>
                <a:latin typeface="Amiri" pitchFamily="34" charset="0"/>
                <a:ea typeface="Amiri" pitchFamily="34" charset="-122"/>
                <a:cs typeface="Amiri" pitchFamily="34" charset="-120"/>
              </a:rPr>
              <a:t> عَنِ المَوْعِدِ.</a:t>
            </a:r>
            <a:endParaRPr lang="ar-SA" sz="17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50" i="1" dirty="0">
                <a:solidFill>
                  <a:srgbClr val="5A6472"/>
                </a:solidFill>
                <a:latin typeface="Calibri" pitchFamily="34" charset="0"/>
                <a:ea typeface="Calibri" pitchFamily="34" charset="-122"/>
                <a:cs typeface="Calibri" pitchFamily="34" charset="-120"/>
              </a:rPr>
              <a:t>I revise my lessons daily, and I train twice a week, whereas my sister trains every day. Monday is busier than Saturday. I am never late for an appointment.</a:t>
            </a:r>
            <a:endParaRPr lang="en-US" sz="115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أَتَمَرَّنُ يَوْمَ الثُّلَاثَاءِ، بَيْنَمَا يَتَمَرَّنُ أَخِي يَوْمَ الخَمِيسِ.</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train Tuesday, whereas my brother trains Thursday.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Two clauses, two agreements.</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أَمَّا السَّبْتُ فَهُوَ يَوْمُ الرَّاحَةِ.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As for Saturday, it is a rest day.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Topic + فَـ comment.</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لَا أَتَأَخَّرُ أَبَدًا عَنِ الحِصَّةِ.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am never late for the lesson.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Negative frequency frame.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الأَرْبِعَاءُ أَكْثَرُ اِنْشِغَالًا مِنَ الخَمِيسِ.</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Wednesday is busier than Thursday.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Comparative + مِنْ.</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HOW OFTEN? — FREQUENCY ADVERBS IN MY ROUTINE”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How often?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كَمْ مَرَّةً؟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reading — 100%</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games — 50%</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coffee — 0%</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لَا أَشْرَبُ القَهْوَةَ أَبَدًا.</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أَقْرَأُ دَائِمًا.</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أَلْعَبُ أَحْيَانًا.</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كَمْ مَرَّةً؟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reading — 100%</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أَقْرَأُ دَائِمًا.</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always read.</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games — 50%</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أَلْعَبُ أَحْيَانًا.</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play sometimes.</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coffee — 0%</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لَا أَشْرَبُ القَهْوَةَ أَبَدًا.</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never drink coffee.</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How often?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يَوْمِيًّا</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أُسْبُوعِيًّا</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فِي مُعْظَمِ الأَيَّامِ</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كَثِيرًا مَا</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مِنْ حِينٍ إِلَى آخَرَ</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مَرَّةً كُلَّ شَهْرٍ</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قَلِيلًا مَا</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لَا ... أَبَدًا</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Frequent / regular</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Occasional / rare</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Frequent / regular</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يَوْمِيًّا</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أُسْبُوعِيًّا</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فِي مُعْظَمِ الأَيَّامِ</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كَثِيرًا مَا</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Occasional / rare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مِنْ حِينٍ إِلَى آخَرَ</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مَرَّةً كُلَّ شَهْرٍ</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قَلِيلًا مَا</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لَا ... أَبَدًا</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2,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أَمَّا يَوْمُ الجُمُعَةِ ___ يَوْمٌ هَادِئٌ.</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وَهِيَ</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فَأَنَا</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فَهُوَ</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organised with </a:t>
            </a:r>
            <a:pPr algn="l" indent="0" marL="0">
              <a:buNone/>
            </a:pPr>
            <a:r>
              <a:rPr lang="ar-SA" altLang="en-US" sz="1650" b="1" dirty="0">
                <a:solidFill>
                  <a:srgbClr val="1B3B6F"/>
                </a:solidFill>
                <a:latin typeface="Amiri" pitchFamily="34" charset="0"/>
                <a:ea typeface="Amiri" pitchFamily="34" charset="-122"/>
                <a:cs typeface="Amiri" pitchFamily="34" charset="-120"/>
              </a:rPr>
              <a:t>أَمَّا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أَمَّا أَخِي يَذْهَبُ فِي النَّادِي.</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أَمَّا أَخِي فَيَذْهَبُ إِلَى النَّادِي.</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أَخِي أَمَّا فَيَذْهَبُ.</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plural agreement.</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أَصْدِقَائِي يَذْهَبُ بَيْنَمَا أَبْقَى.</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أَصْدِقَائِي يَذْهَبُونَ بَيْنَمَا أَبْقَى.</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أَصْدِقَائِي تَذْهَبُونَ بَيْنَمَا أَبْقَى.</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“on most days”?</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يَوْمٍ وَاحِدٍ</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مَرَّةً كُلَّ شَهْرٍ</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مُعْظَمِ الأَيَّامِ</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أَمَّا يَوْمُ الجُمُعَةِ ___ يَوْمٌ هَادِئٌ.</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وَهِيَ</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فَأَنَا</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فَهُوَ</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masculine topic is resumed by </a:t>
            </a:r>
            <a:pPr algn="l" indent="0" marL="0">
              <a:buNone/>
            </a:pPr>
            <a:r>
              <a:rPr lang="ar-SA" altLang="en-US" sz="1350" dirty="0">
                <a:solidFill>
                  <a:srgbClr val="8A6D1E"/>
                </a:solidFill>
                <a:latin typeface="Amiri" pitchFamily="34" charset="0"/>
                <a:ea typeface="Amiri" pitchFamily="34" charset="-122"/>
                <a:cs typeface="Amiri" pitchFamily="34" charset="-120"/>
              </a:rPr>
              <a:t>هُوَ</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organised with </a:t>
            </a:r>
            <a:pPr algn="l" indent="0" marL="0">
              <a:buNone/>
            </a:pPr>
            <a:r>
              <a:rPr lang="ar-SA" altLang="en-US" sz="1650" b="1" dirty="0">
                <a:solidFill>
                  <a:srgbClr val="1B3B6F"/>
                </a:solidFill>
                <a:latin typeface="Amiri" pitchFamily="34" charset="0"/>
                <a:ea typeface="Amiri" pitchFamily="34" charset="-122"/>
                <a:cs typeface="Amiri" pitchFamily="34" charset="-120"/>
              </a:rPr>
              <a:t>أَمَّا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أَمَّا أَخِي يَذْهَبُ فِي النَّادِي.</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أَمَّا أَخِي فَيَذْهَبُ إِلَى النَّادِي.</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أَخِي أَمَّا فَيَذْهَبُ.</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أَمَّا</a:t>
            </a:r>
            <a:pPr algn="l" indent="0" marL="0">
              <a:buNone/>
            </a:pPr>
            <a:r>
              <a:rPr lang="en-US" sz="1050" i="1" dirty="0">
                <a:solidFill>
                  <a:srgbClr val="8A6D1E"/>
                </a:solidFill>
                <a:latin typeface="Calibri" pitchFamily="34" charset="0"/>
                <a:ea typeface="Calibri" pitchFamily="34" charset="-122"/>
                <a:cs typeface="Calibri" pitchFamily="34" charset="-120"/>
              </a:rPr>
              <a:t> topic + </a:t>
            </a:r>
            <a:pPr algn="l" indent="0" marL="0">
              <a:buNone/>
            </a:pPr>
            <a:r>
              <a:rPr lang="ar-SA" altLang="en-US" sz="1350" dirty="0">
                <a:solidFill>
                  <a:srgbClr val="8A6D1E"/>
                </a:solidFill>
                <a:latin typeface="Amiri" pitchFamily="34" charset="0"/>
                <a:ea typeface="Amiri" pitchFamily="34" charset="-122"/>
                <a:cs typeface="Amiri" pitchFamily="34" charset="-120"/>
              </a:rPr>
              <a:t>فَـ</a:t>
            </a:r>
            <a:pPr algn="l" indent="0" marL="0">
              <a:buNone/>
            </a:pPr>
            <a:r>
              <a:rPr lang="en-US" sz="1050" i="1" dirty="0">
                <a:solidFill>
                  <a:srgbClr val="8A6D1E"/>
                </a:solidFill>
                <a:latin typeface="Calibri" pitchFamily="34" charset="0"/>
                <a:ea typeface="Calibri" pitchFamily="34" charset="-122"/>
                <a:cs typeface="Calibri" pitchFamily="34" charset="-120"/>
              </a:rPr>
              <a:t> comment.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plural agreement.</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أَصْدِقَائِي يَذْهَبُ بَيْنَمَا أَبْقَى.</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أَصْدِقَائِي يَذْهَبُونَ بَيْنَمَا أَبْقَى.</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أَصْدِقَائِي تَذْهَبُونَ بَيْنَمَا أَبْقَى.</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human masculine plural takes </a:t>
            </a:r>
            <a:pPr algn="l" indent="0" marL="0">
              <a:buNone/>
            </a:pPr>
            <a:r>
              <a:rPr lang="ar-SA" altLang="en-US" sz="1350" dirty="0">
                <a:solidFill>
                  <a:srgbClr val="8A6D1E"/>
                </a:solidFill>
                <a:latin typeface="Amiri" pitchFamily="34" charset="0"/>
                <a:ea typeface="Amiri" pitchFamily="34" charset="-122"/>
                <a:cs typeface="Amiri" pitchFamily="34" charset="-120"/>
              </a:rPr>
              <a:t>يَذْهَبُونَ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“on most days”?</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يَوْمٍ وَاحِدٍ</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مَرَّةً كُلَّ شَهْرٍ</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 مُعْظَمِ الأَيَّامِ</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فِي مُعْظَمِ الأَيَّامِ</a:t>
            </a:r>
            <a:pPr algn="l" indent="0" marL="0">
              <a:buNone/>
            </a:pPr>
            <a:r>
              <a:rPr lang="en-US" sz="1050" i="1" dirty="0">
                <a:solidFill>
                  <a:srgbClr val="8A6D1E"/>
                </a:solidFill>
                <a:latin typeface="Calibri" pitchFamily="34" charset="0"/>
                <a:ea typeface="Calibri" pitchFamily="34" charset="-122"/>
                <a:cs typeface="Calibri" pitchFamily="34" charset="-120"/>
              </a:rPr>
              <a:t> = on most days.</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أُخْتِي يَذْهَبُ يَوْمِيًّا.</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34" charset="0"/>
                <a:ea typeface="Amiri" pitchFamily="34" charset="-122"/>
                <a:cs typeface="Amiri" pitchFamily="34" charset="-120"/>
              </a:rPr>
              <a:t>أُخْتِي</a:t>
            </a:r>
            <a:pPr algn="l" indent="0" marL="0">
              <a:buNone/>
            </a:pPr>
            <a:r>
              <a:rPr lang="en-US" sz="1300" i="1" dirty="0">
                <a:solidFill>
                  <a:srgbClr val="5A6472"/>
                </a:solidFill>
                <a:latin typeface="Calibri" pitchFamily="34" charset="0"/>
                <a:ea typeface="Calibri" pitchFamily="34" charset="-122"/>
                <a:cs typeface="Calibri" pitchFamily="34" charset="-120"/>
              </a:rPr>
              <a:t> is feminine. Which prefix?</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أَمَّا الجُمُعَةُ هُوَ هَادِئٌ.</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must follow </a:t>
            </a:r>
            <a:pPr algn="l" indent="0" marL="0">
              <a:buNone/>
            </a:pPr>
            <a:r>
              <a:rPr lang="ar-SA" altLang="en-US" sz="1700" dirty="0">
                <a:solidFill>
                  <a:srgbClr val="5A6472"/>
                </a:solidFill>
                <a:latin typeface="Amiri" pitchFamily="34" charset="0"/>
                <a:ea typeface="Amiri" pitchFamily="34" charset="-122"/>
                <a:cs typeface="Amiri" pitchFamily="34" charset="-120"/>
              </a:rPr>
              <a:t>أَمَّا</a:t>
            </a:r>
            <a:pPr algn="l" indent="0" marL="0">
              <a:buNone/>
            </a:pPr>
            <a:r>
              <a:rPr lang="en-US" sz="1300" i="1" dirty="0">
                <a:solidFill>
                  <a:srgbClr val="5A6472"/>
                </a:solidFill>
                <a:latin typeface="Calibri" pitchFamily="34" charset="0"/>
                <a:ea typeface="Calibri" pitchFamily="34" charset="-122"/>
                <a:cs typeface="Calibri" pitchFamily="34" charset="-120"/>
              </a:rPr>
              <a:t> …?</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الثُّلَاثَاءُ أَكْثَرُ اِنْشِغَالًا فِي الاِثْنَيْنِ.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Which little word follows a comparative?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أُخْتِي يَذْهَبُ يَوْمِيًّا.</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أُخْتِي تَذْهَبُ يَوْمِيًّا.</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Feminine subject takes </a:t>
            </a:r>
            <a:pPr algn="l" indent="0" marL="0">
              <a:buNone/>
            </a:pPr>
            <a:r>
              <a:rPr lang="ar-SA" altLang="en-US" sz="1500" b="1" dirty="0">
                <a:solidFill>
                  <a:srgbClr val="1B3B6F"/>
                </a:solidFill>
                <a:latin typeface="Amiri" pitchFamily="34" charset="0"/>
                <a:ea typeface="Amiri" pitchFamily="34" charset="-122"/>
                <a:cs typeface="Amiri" pitchFamily="34" charset="-120"/>
              </a:rPr>
              <a:t>تَـ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أَمَّا الجُمُعَةُ هُوَ هَادِئٌ.</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أَمَّا يَوْمُ الجُمُعَةِ فَهُوَ هَادِئٌ.</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Use </a:t>
            </a:r>
            <a:pPr algn="l" indent="0" marL="0">
              <a:buNone/>
            </a:pPr>
            <a:r>
              <a:rPr lang="ar-SA" altLang="en-US" sz="1500" b="1" dirty="0">
                <a:solidFill>
                  <a:srgbClr val="1B3B6F"/>
                </a:solidFill>
                <a:latin typeface="Amiri" pitchFamily="34" charset="0"/>
                <a:ea typeface="Amiri" pitchFamily="34" charset="-122"/>
                <a:cs typeface="Amiri" pitchFamily="34" charset="-120"/>
              </a:rPr>
              <a:t>فَـ</a:t>
            </a:r>
            <a:pPr algn="l" indent="0" marL="0">
              <a:buNone/>
            </a:pPr>
            <a:r>
              <a:rPr lang="en-US" sz="1150" b="1" dirty="0">
                <a:solidFill>
                  <a:srgbClr val="1B3B6F"/>
                </a:solidFill>
                <a:latin typeface="Calibri" pitchFamily="34" charset="0"/>
                <a:ea typeface="Calibri" pitchFamily="34" charset="-122"/>
                <a:cs typeface="Calibri" pitchFamily="34" charset="-120"/>
              </a:rPr>
              <a:t> after </a:t>
            </a:r>
            <a:pPr algn="l" indent="0" marL="0">
              <a:buNone/>
            </a:pPr>
            <a:r>
              <a:rPr lang="ar-SA" altLang="en-US" sz="1500" b="1" dirty="0">
                <a:solidFill>
                  <a:srgbClr val="1B3B6F"/>
                </a:solidFill>
                <a:latin typeface="Amiri" pitchFamily="34" charset="0"/>
                <a:ea typeface="Amiri" pitchFamily="34" charset="-122"/>
                <a:cs typeface="Amiri" pitchFamily="34" charset="-120"/>
              </a:rPr>
              <a:t>أَمَّا</a:t>
            </a:r>
            <a:pPr algn="l" indent="0" marL="0">
              <a:buNone/>
            </a:pPr>
            <a:r>
              <a:rPr lang="en-US" sz="1150" b="1" dirty="0">
                <a:solidFill>
                  <a:srgbClr val="1B3B6F"/>
                </a:solidFill>
                <a:latin typeface="Calibri" pitchFamily="34" charset="0"/>
                <a:ea typeface="Calibri" pitchFamily="34" charset="-122"/>
                <a:cs typeface="Calibri" pitchFamily="34" charset="-120"/>
              </a:rPr>
              <a:t> and match the masculine topic.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الثُّلَاثَاءُ أَكْثَرُ اِنْشِغَالًا فِي الاِثْنَيْنِ.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الثُّلَاثَاءُ أَكْثَرُ اِنْشِغَالًا مِنَ الاِثْنَيْنِ.</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Comparatives take </a:t>
            </a:r>
            <a:pPr algn="l" indent="0" marL="0">
              <a:buNone/>
            </a:pPr>
            <a:r>
              <a:rPr lang="ar-SA" altLang="en-US" sz="1500" b="1" dirty="0">
                <a:solidFill>
                  <a:srgbClr val="1B3B6F"/>
                </a:solidFill>
                <a:latin typeface="Amiri" pitchFamily="34" charset="0"/>
                <a:ea typeface="Amiri" pitchFamily="34" charset="-122"/>
                <a:cs typeface="Amiri" pitchFamily="34" charset="-120"/>
              </a:rPr>
              <a:t>مِنْ</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Two different weeks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Omar’s busiest day?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Monday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Tuesday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Friday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he do after the extra lesson?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rests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visits family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trains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Tuesday calmer?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there is no school</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travels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homework is often completed early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does Hanaa train?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twice weekly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daily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monthly</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her weekend less organised?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never sleeps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appointments change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school is longer</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الاِثْنَيْنِ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أَتَمَرَّنُ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مَرَّتَيْنِ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يَقُولُ عُمَرُ: يَوْمُ الاِثْنَيْنِ أَكْثَرُ أَيَّامِي اِنْشِغَالًا؛</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Omar says: Monday is my busiest day;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فَبَعْدَ المَدْرَسَةِ أَذْهَبُ إِلَى دَرْسٍ إِضَافِيٍّ، ثُمَّ أَتَمَرَّنُ فِي المَسَاءِ.</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school I go to an extra lesson, then I train in the evening.</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أَمَّا يَوْمُ الثُّلَاثَاءِ فَهُوَ أَهْدَأُ، وَغَالِبًا مَا أُكْمِلُ وَاجِبِي مُبَكِّرًا.</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for Tuesday, it is calmer, and I often finish my homework early.</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وَتَقُولُ هَنَاءُ: أَنَا أَتَمَرَّنُ مَرَّتَيْنِ فِي الأُسْبُوعِ، بَيْنَمَا يَتَمَرَّنُ أَخِي يَوْمِيًّا.</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Hanaa says: I train twice a week, whereas my brother trains every day.</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نِهَايَةُ أُسْبُوعِي أَقَلُّ تَنْظِيمًا مِنْ أَيَّامِ الدِّرَاسَةِ، لِأَنَّ مَوَاعِيدِي تَتَغَيَّرُ.</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My weekend is less organised than school days, because my appointments change.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Omar’s busiest day?</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Monday</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Tuesday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Friday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يَوْمُ الاِثْنَيْنِ أَكْثَرُ أَيَّامِي اِنْشِغَالًا.</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he do after the extra lesson?</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rests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visits family</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trains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ثُمَّ أَتَمَرَّنُ.</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Tuesday calmer?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there is no school</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travels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homework is often completed early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غَالِبًا مَا أُكْمِلُ وَاجِبِي مُبَكِّرًا.</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does Hanaa train?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twice weekly</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daily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monthly</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مَرَّتَيْنِ فِي الأُسْبُوعِ.</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her weekend less organised?</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never sleeps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appointments change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school is longer</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لِأَنَّ مَوَاعِيدِي تَتَغَيَّرُ.</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الاِثْنَيْنِ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أَتَمَرَّنُ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مَرَّتَيْنِ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Compare your school week and weekend</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تَفْعَلُ يَوْمِيًّا؟ وَمَاذَا لَا تَفْعَلُ أَبَدًا؟</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أَكْثَرُ يَوْمٍ اِنْشِغَالًا فِي أُسْبُوعِكَ؟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قَارِنْ بَيْنَ يَوْمَيْنِ فِي جَدْوَلِكَ.</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تُفَضِّلُ جَدْوَلًا مُزْدَحِمًا أَمْ هَادِئًا؟ عَلِّلْ وَأَعْطِ مِثَالًا.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___ يَوْمِيًّا، وَلَا ___ أَبَدًا.</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___ ، بَيْنَمَا ___ أَخِي / أُخْتِي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أَمَّا ___ فَـ ___ ؛ … أَكْثَرُ اِنْشِغَالًا مِنْ …</a:t>
            </a:r>
            <a:endParaRPr lang="ar-SA" sz="15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34" charset="0"/>
                <a:ea typeface="Amiri" pitchFamily="34" charset="-122"/>
                <a:cs typeface="Amiri" pitchFamily="34" charset="-120"/>
              </a:rPr>
              <a:t>يَتَمَرَّنُ / تَتَمَرَّنُ ___ مَرَّاتٍ فِي الأُسْبُوعِ.</a:t>
            </a:r>
            <a:endParaRPr lang="ar-SA" sz="155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قَارِنْ بَيْنَ الاِثْنَيْنِ وَالسَّبْتِ.</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Compare Monday and Saturday.</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الاِثْنَيْنُ أَكْثَرُ اِنْشِغَالًا مِنَ السَّبْتِ؛ فَأَنَا أَدْرُسُ وَأَتَمَرَّنُ، بَيْنَمَا أَسْتَرِيحُ وَأَزُورُ أُسْرَتِي يَوْمَ السَّبْتِ.</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Monday is busier than Saturday; I study and train, whereas I rest and visit my family on Saturday.</a:t>
            </a:r>
            <a:endParaRPr lang="en-US" sz="7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Describe three regular weekly activities.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Five activities with a frequency word each (use the ladder).</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Compare two days using </a:t>
            </a:r>
            <a:pPr algn="l" indent="0" marL="0">
              <a:buNone/>
            </a:pPr>
            <a:r>
              <a:rPr lang="ar-SA" altLang="en-US" sz="1800" b="1" dirty="0">
                <a:solidFill>
                  <a:srgbClr val="1F2A37"/>
                </a:solidFill>
                <a:latin typeface="Amiri" pitchFamily="34" charset="0"/>
                <a:ea typeface="Amiri" pitchFamily="34" charset="-122"/>
                <a:cs typeface="Amiri" pitchFamily="34" charset="-120"/>
              </a:rPr>
              <a:t>بَيْنَمَا</a:t>
            </a:r>
            <a:pPr algn="l" indent="0" marL="0">
              <a:buNone/>
            </a:pPr>
            <a:r>
              <a:rPr lang="en-US" sz="1400" b="1" dirty="0">
                <a:solidFill>
                  <a:srgbClr val="1F2A37"/>
                </a:solidFill>
                <a:latin typeface="Calibri" pitchFamily="34" charset="0"/>
                <a:ea typeface="Calibri" pitchFamily="34" charset="-122"/>
                <a:cs typeface="Calibri" pitchFamily="34" charset="-120"/>
              </a:rPr>
              <a:t> and a comparative.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Compare two days and two people with بَيْنَمَا and مَرَّتَيْنِ / ثَلَاثَ مَرَّاتٍ.</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Produce a 45-second answer with contrast, evidence and a balanced judgement.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school days vs weekend, with أَمَّا … فَـ, a comparative and a balanced preference.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أَتَمَرَّنُ ______ فِي الأُسْبُوعِ.</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train twice a week.</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 بَيْنَمَا يَـ ______ أَخِي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whereas my brother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 بَيْنَمَا تَـ ______ أُخْتِي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whereas my sister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أَمَّا السَّبْتُ فَهُوَ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As for Saturday, it is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أَكْثَرُ اِنْشِغَالًا مِنْ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busier than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كُلَّ يَوْمٍ.</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 every day.</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دَائِمًا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always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أَحْيَانًا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Sometimes I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نَادِرًا مَا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rarely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______ أَبَدًا.</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never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دَائِمًا  ·  يَوْمِيًّا  ·  أُسْبُوعِيًّا  ·  كَثِيرًا مَا  ·  أَحْيَانًا  ·  نَادِرًا  ·  لَا ... أَبَدًا  ·  مَرَّةً  ·  مَرَّتَيْنِ  ·  بَيْنَمَا  ·  أَمَّا ... فَـ  ·  أَتَمَرَّنُ  ·  أُرَاجِعُ  ·  أَزُورُ</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100–120 words comparing how often you complete school-day and weekend activities.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a:r>
            <a:pPr algn="l" indent="0" marL="0">
              <a:buNone/>
            </a:pPr>
            <a:r>
              <a:rPr lang="ar-SA" altLang="en-US" sz="1550" dirty="0">
                <a:solidFill>
                  <a:srgbClr val="1F2A37"/>
                </a:solidFill>
                <a:latin typeface="Amiri" pitchFamily="34" charset="0"/>
                <a:ea typeface="Amiri" pitchFamily="34" charset="-122"/>
                <a:cs typeface="Amiri" pitchFamily="34" charset="-120"/>
              </a:rPr>
              <a:t>بَيْنَمَا</a:t>
            </a:r>
            <a:pPr algn="l" indent="0" marL="0">
              <a:buNone/>
            </a:pPr>
            <a:r>
              <a:rPr lang="en-US" sz="1200" dirty="0">
                <a:solidFill>
                  <a:srgbClr val="1F2A37"/>
                </a:solidFill>
                <a:latin typeface="Calibri" pitchFamily="34" charset="0"/>
                <a:ea typeface="Calibri" pitchFamily="34" charset="-122"/>
                <a:cs typeface="Calibri" pitchFamily="34" charset="-120"/>
              </a:rPr>
              <a:t> and </a:t>
            </a:r>
            <a:pPr algn="l" indent="0" marL="0">
              <a:buNone/>
            </a:pPr>
            <a:r>
              <a:rPr lang="ar-SA" altLang="en-US" sz="1550" dirty="0">
                <a:solidFill>
                  <a:srgbClr val="1F2A37"/>
                </a:solidFill>
                <a:latin typeface="Amiri" pitchFamily="34" charset="0"/>
                <a:ea typeface="Amiri" pitchFamily="34" charset="-122"/>
                <a:cs typeface="Amiri" pitchFamily="34" charset="-120"/>
              </a:rPr>
              <a:t>أَمَّا</a:t>
            </a:r>
            <a:pPr algn="l" indent="0" marL="0">
              <a:buNone/>
            </a:pPr>
            <a:r>
              <a:rPr lang="en-US" sz="1200" dirty="0">
                <a:solidFill>
                  <a:srgbClr val="1F2A37"/>
                </a:solidFill>
                <a:latin typeface="Calibri" pitchFamily="34" charset="0"/>
                <a:ea typeface="Calibri" pitchFamily="34" charset="-122"/>
                <a:cs typeface="Calibri" pitchFamily="34" charset="-120"/>
              </a:rPr>
              <a:t> ... </a:t>
            </a:r>
            <a:pPr algn="l" indent="0" marL="0">
              <a:buNone/>
            </a:pPr>
            <a:r>
              <a:rPr lang="ar-SA" altLang="en-US" sz="1550" dirty="0">
                <a:solidFill>
                  <a:srgbClr val="1F2A37"/>
                </a:solidFill>
                <a:latin typeface="Amiri" pitchFamily="34" charset="0"/>
                <a:ea typeface="Amiri" pitchFamily="34" charset="-122"/>
                <a:cs typeface="Amiri" pitchFamily="34" charset="-120"/>
              </a:rPr>
              <a:t>فَـ</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four different frequency expressions.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Compare two days with </a:t>
            </a:r>
            <a:pPr algn="l" indent="0" marL="0">
              <a:buNone/>
            </a:pPr>
            <a:r>
              <a:rPr lang="ar-SA" altLang="en-US" sz="1550" dirty="0">
                <a:solidFill>
                  <a:srgbClr val="1F2A37"/>
                </a:solidFill>
                <a:latin typeface="Amiri" pitchFamily="34" charset="0"/>
                <a:ea typeface="Amiri" pitchFamily="34" charset="-122"/>
                <a:cs typeface="Amiri" pitchFamily="34" charset="-120"/>
              </a:rPr>
              <a:t>أَكْثَرُ</a:t>
            </a:r>
            <a:pPr algn="l" indent="0" marL="0">
              <a:buNone/>
            </a:pPr>
            <a:r>
              <a:rPr lang="en-US" sz="1200" dirty="0">
                <a:solidFill>
                  <a:srgbClr val="1F2A37"/>
                </a:solidFill>
                <a:latin typeface="Calibri" pitchFamily="34" charset="0"/>
                <a:ea typeface="Calibri" pitchFamily="34" charset="-122"/>
                <a:cs typeface="Calibri" pitchFamily="34" charset="-120"/>
              </a:rPr>
              <a:t> or </a:t>
            </a:r>
            <a:pPr algn="l" indent="0" marL="0">
              <a:buNone/>
            </a:pPr>
            <a:r>
              <a:rPr lang="ar-SA" altLang="en-US" sz="1550" dirty="0">
                <a:solidFill>
                  <a:srgbClr val="1F2A37"/>
                </a:solidFill>
                <a:latin typeface="Amiri" pitchFamily="34" charset="0"/>
                <a:ea typeface="Amiri" pitchFamily="34" charset="-122"/>
                <a:cs typeface="Amiri" pitchFamily="34" charset="-120"/>
              </a:rPr>
              <a:t>أَقَلُّ</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Mention exact times and one fixed appointment.</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Give a balanced preference with evidence.</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أَتَّبِعُ جَدْوَلًا ثَابِتًا</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follow a fixed timetable</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أَزُورُ المَكْتَبَةَ يَوْمَ الخَمِيسِ فَقَطْ</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visit the library on Thursday only</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أَمَّا نِهَايَةُ الأُسْبُوعِ فَهِيَ أَقَلُّ تَنْظِيمًا</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as for the weekend, it is less organised</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حِينٍ إِلَى آخَرَ</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from time to time</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وَلٰكِنَّ الرَّاحَةَ ضَرُورِيَّةٌ أَيْضًا</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but rest is also necessary</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550" dirty="0">
                <a:solidFill>
                  <a:srgbClr val="1F2A37"/>
                </a:solidFill>
                <a:latin typeface="Amiri" pitchFamily="34" charset="0"/>
                <a:ea typeface="Amiri" pitchFamily="34" charset="-122"/>
                <a:cs typeface="Amiri" pitchFamily="34" charset="-120"/>
              </a:rPr>
              <a:t>فِي أَيَّامِ الدِّرَاسَةِ أَسْتَيْقِظُ مُبَكِّرًا وَأَتَّبِعُ جَدْوَلًا ثَابِتًا. أَدْرُسُ يَوْمِيًّا، وَأَتَمَرَّنُ مَرَّتَيْنِ فِي الأُسْبُوعِ، بَيْنَمَا أَزُورُ المَكْتَبَةَ يَوْمَ الخَمِيسِ فَقَطْ. يَوْمُ الأَرْبِعَاءِ أَكْثَرُ اِنْشِغَالًا مِنْ بَقِيَّةِ الأَيَّامِ لِأَنَّ التَّمْرِينَ يَنْتَهِي فِي الثَّامِنَةِ إِلَّا الرُّبْعَ. أَمَّا نِهَايَةُ الأُسْبُوعِ فَهِيَ أَقَلُّ تَنْظِيمًا؛ أَسْتَيْقِظُ مُتَأَخِّرًا وَمِنْ حِينٍ إِلَى آخَرَ أَخْرُجُ مَعَ أُسْرَتِي. أُفَضِّلُ التَّوَازُنَ: الجَدْوَلُ المُزْدَحِمُ يُسَاعِدُنِي عَلَى الإِنْجَازِ، وَلٰكِنَّ الرَّاحَةَ ضَرُورِيَّةٌ أَيْضًا.</a:t>
            </a:r>
            <a:endParaRPr lang="ar-SA" sz="25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On school days I wake up early and follow a fixed timetable. I study daily and train twice a week, whereas I visit the library on Thursday only. Wednesday is busier than the other days because training ends at quarter to eight. As for the weekend, it is less organised: I wake up late and from time to time I go out with my family. I prefer balance: a busy timetable helps me achieve, but rest is also necessary.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four frequency expressions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بَيْنَمَا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أَمَّا … فَـ</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comparative + مِنْ</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five different frequency words.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say “never” with </a:t>
            </a:r>
            <a:pPr algn="l" indent="0" marL="0">
              <a:buNone/>
            </a:pPr>
            <a:r>
              <a:rPr lang="ar-SA" altLang="en-US" sz="1700" dirty="0">
                <a:solidFill>
                  <a:srgbClr val="1F2A37"/>
                </a:solidFill>
                <a:latin typeface="Amiri" pitchFamily="34" charset="0"/>
                <a:ea typeface="Amiri" pitchFamily="34" charset="-122"/>
                <a:cs typeface="Amiri" pitchFamily="34" charset="-120"/>
              </a:rPr>
              <a:t>لَا … أَبَدًا</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a:t>
            </a:r>
            <a:pPr algn="l" indent="0" marL="0">
              <a:buNone/>
            </a:pPr>
            <a:r>
              <a:rPr lang="ar-SA" altLang="en-US" sz="1700" dirty="0">
                <a:solidFill>
                  <a:srgbClr val="1F2A37"/>
                </a:solidFill>
                <a:latin typeface="Amiri" pitchFamily="34" charset="0"/>
                <a:ea typeface="Amiri" pitchFamily="34" charset="-122"/>
                <a:cs typeface="Amiri" pitchFamily="34" charset="-120"/>
              </a:rPr>
              <a:t>بَيْنَمَا</a:t>
            </a:r>
            <a:pPr algn="l" indent="0" marL="0">
              <a:buNone/>
            </a:pPr>
            <a:r>
              <a:rPr lang="en-US" sz="1300" dirty="0">
                <a:solidFill>
                  <a:srgbClr val="1F2A37"/>
                </a:solidFill>
                <a:latin typeface="Calibri" pitchFamily="34" charset="0"/>
                <a:ea typeface="Calibri" pitchFamily="34" charset="-122"/>
                <a:cs typeface="Calibri" pitchFamily="34" charset="-120"/>
              </a:rPr>
              <a:t>, my second verb matches its own subject.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twice / three times a week.</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t>
            </a:r>
            <a:pPr algn="l" indent="0" marL="0">
              <a:buNone/>
            </a:pPr>
            <a:r>
              <a:rPr lang="ar-SA" altLang="en-US" sz="1700" dirty="0">
                <a:solidFill>
                  <a:srgbClr val="1F2A37"/>
                </a:solidFill>
                <a:latin typeface="Amiri" pitchFamily="34" charset="0"/>
                <a:ea typeface="Amiri" pitchFamily="34" charset="-122"/>
                <a:cs typeface="Amiri" pitchFamily="34" charset="-120"/>
              </a:rPr>
              <a:t>أَمَّا … فَـ</a:t>
            </a:r>
            <a:pPr algn="l" indent="0" marL="0">
              <a:buNone/>
            </a:pPr>
            <a:r>
              <a:rPr lang="en-US" sz="1300" dirty="0">
                <a:solidFill>
                  <a:srgbClr val="1F2A37"/>
                </a:solidFill>
                <a:latin typeface="Calibri" pitchFamily="34" charset="0"/>
                <a:ea typeface="Calibri" pitchFamily="34" charset="-122"/>
                <a:cs typeface="Calibri" pitchFamily="34" charset="-120"/>
              </a:rPr>
              <a:t> and a comparative with </a:t>
            </a:r>
            <a:pPr algn="l" indent="0" marL="0">
              <a:buNone/>
            </a:pPr>
            <a:r>
              <a:rPr lang="ar-SA" altLang="en-US" sz="1700" dirty="0">
                <a:solidFill>
                  <a:srgbClr val="1F2A37"/>
                </a:solidFill>
                <a:latin typeface="Amiri" pitchFamily="34" charset="0"/>
                <a:ea typeface="Amiri" pitchFamily="34" charset="-122"/>
                <a:cs typeface="Amiri" pitchFamily="34" charset="-120"/>
              </a:rPr>
              <a:t>مِنْ</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بَيْنَمَا</a:t>
            </a:r>
            <a:pPr algn="l" indent="0" marL="0">
              <a:buNone/>
            </a:pPr>
            <a:r>
              <a:rPr lang="en-US" sz="1250" b="1" dirty="0">
                <a:solidFill>
                  <a:srgbClr val="1B3B6F"/>
                </a:solidFill>
                <a:latin typeface="Calibri" pitchFamily="34" charset="0"/>
                <a:ea typeface="Calibri" pitchFamily="34" charset="-122"/>
                <a:cs typeface="Calibri" pitchFamily="34" charset="-120"/>
              </a:rPr>
              <a:t> do?</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contrasts two clauses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gives a date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asks a price</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weekly?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يَوْمِيًّا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أُسْبُوعِيًّا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شَهْرِيًّا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agreement.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أُخْتِي تَذْهَبُ، بَيْنَمَا أَخِي يَبْقَى.</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أُخْتِي يَذْهَبُ، بَيْنَمَا أَخِي تَبْقَى.</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أُخْتِي أَذْهَبُ، بَيْنَمَا أَخِي أَبْقَى.</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46</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بَيْنَمَا</a:t>
            </a:r>
            <a:pPr algn="l" indent="0" marL="0">
              <a:buNone/>
            </a:pPr>
            <a:r>
              <a:rPr lang="en-US" sz="1250" b="1" dirty="0">
                <a:solidFill>
                  <a:srgbClr val="1B3B6F"/>
                </a:solidFill>
                <a:latin typeface="Calibri" pitchFamily="34" charset="0"/>
                <a:ea typeface="Calibri" pitchFamily="34" charset="-122"/>
                <a:cs typeface="Calibri" pitchFamily="34" charset="-120"/>
              </a:rPr>
              <a:t> do?</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contrasts two clauses</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gives a date</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asks a price</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بَيْنَمَا</a:t>
            </a:r>
            <a:pPr algn="l" indent="0" marL="0">
              <a:buNone/>
            </a:pPr>
            <a:r>
              <a:rPr lang="en-US" sz="1050" i="1" dirty="0">
                <a:solidFill>
                  <a:srgbClr val="8A6D1E"/>
                </a:solidFill>
                <a:latin typeface="Calibri" pitchFamily="34" charset="0"/>
                <a:ea typeface="Calibri" pitchFamily="34" charset="-122"/>
                <a:cs typeface="Calibri" pitchFamily="34" charset="-120"/>
              </a:rPr>
              <a:t> contrasts simultaneous or differing situations.</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weekly?</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يَوْمِيًّا</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أُسْبُوعِيًّا</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شَهْرِيًّا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أُسْبُوعِيًّا</a:t>
            </a:r>
            <a:pPr algn="l" indent="0" marL="0">
              <a:buNone/>
            </a:pPr>
            <a:r>
              <a:rPr lang="en-US" sz="1050" i="1" dirty="0">
                <a:solidFill>
                  <a:srgbClr val="8A6D1E"/>
                </a:solidFill>
                <a:latin typeface="Calibri" pitchFamily="34" charset="0"/>
                <a:ea typeface="Calibri" pitchFamily="34" charset="-122"/>
                <a:cs typeface="Calibri" pitchFamily="34" charset="-120"/>
              </a:rPr>
              <a:t> = weekly.</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agreement.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أُخْتِي تَذْهَبُ، بَيْنَمَا أَخِي يَبْقَى.</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أُخْتِي يَذْهَبُ، بَيْنَمَا أَخِي تَبْقَى.</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أُخْتِي أَذْهَبُ، بَيْنَمَا أَخِي أَبْقَى.</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Each verb matches its subject.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46</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My week at a glance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يَخْتَلِفُ جَدْوَلِي مِنْ يَوْمٍ إِلَى آخَرَ. أَدْرُسُ اللُّغَةَ العَرَبِيَّةَ يَوْمَيِ الاِثْنَيْنِ وَالأَرْبِعَاءِ، بَيْنَمَا أُشَارِكُ فِي نَادِي العُلُومِ يَوْمَ الخَمِيسِ. أَمَّا يَوْمُ الثُّلَاثَاءِ فَأَذْهَبُ فِيهِ إِلَى السِّبَاحَةِ، وَهُوَ أَطْوَلُ يَوْمٍ لِأَنَّنِي أَعُودُ بَعْدَ السَّابِعَةِ مَسَاءً. فِي مُعْظَمِ الأَيَّامِ أُرَاجِعُ دُرُوسِي قَبْلَ العَشَاءِ. نَادِرًا مَا أَخْرُجُ فِي لَيْلَةِ الجُمُعَةِ، لٰكِنَّنِي أَزُورُ جَدَّتِي مَرَّةً كُلَّ شَهْرٍ. فِي رَأْيِي، الجَدْوَلُ المُنَوَّعُ مُمْتِعٌ وَلٰكِنَّهُ يَحْتَاجُ إِلَى تَنْظِيمٍ.</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يَخْتَلِفُ</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differs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جَدْوَلِي</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my timetable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350" b="1" dirty="0">
                <a:solidFill>
                  <a:srgbClr val="1B3B6F"/>
                </a:solidFill>
                <a:latin typeface="Amiri" pitchFamily="34" charset="0"/>
                <a:ea typeface="Amiri" pitchFamily="34" charset="-122"/>
                <a:cs typeface="Amiri" pitchFamily="34" charset="-120"/>
              </a:rPr>
              <a:t>يَوْمَيِ الاِثْنَيْنِ وَالأَرْبِعَاءِ</a:t>
            </a:r>
            <a:endParaRPr lang="ar-SA" sz="135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on Mondays and Wednesdays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أُشَارِكُ فِي</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take part in</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نَادِي العُلُومِ</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science club</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أَطْوَلُ يَوْمٍ</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longest day</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أَعُودُ</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return</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قَبْلَ العَشَاءِ</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before dinner</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جَدَّتِي</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my grandmother</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يَحْتَاجُ إِلَى تَنْظِيمٍ</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needs organisation</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46</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On which two days is Arabic studied?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Tuesday and Thursday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Monday and Wednesday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Friday and Saturday</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Thursday?</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swimming</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family visit</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science club</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Tuesday the longest day?</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writer returns after 7 p.m.</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there are two Arabic lessons</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writer wakes at 5</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is revision usually done?</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midnight</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before dinner</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the bus</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is grandmother visited?</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once a month</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Friday</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daily</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writer’s balanced opinion?</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schedule is always boring</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all clubs should stop</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variety is enjoyable but requires organisation</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46</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On which two days is Arabic studied?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Tuesday and Thursday</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Monday and Wednesday</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Friday and Saturday</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يَوْمَيِ الاِثْنَيْنِ وَالأَرْبِعَاءِ.</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Thursday?</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swimming</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family visit</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science club</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نَادِي العُلُومِ.</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Tuesday the longest day?</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writer returns after 7 p.m.</a:t>
            </a:r>
            <a:endParaRPr lang="en-US" sz="11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there are two Arabic lessons</a:t>
            </a:r>
            <a:endParaRPr lang="en-US" sz="11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writer wakes at 5</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أَعُودُ بَعْدَ السَّابِعَةِ مَسَاءً.</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is revision usually done?</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after midnight</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before dinner</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 the bus</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قَبْلَ العَشَاءِ.</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is grandmother visited?</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once a month</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Friday</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daily</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مَرَّةً كُلَّ شَهْرٍ.</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writer’s balanced opinion?</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the schedule is always boring</a:t>
            </a:r>
            <a:endParaRPr lang="en-US" sz="11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all clubs should stop</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variety is enjoyable but requires organisation</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final sentence gives both benefit and condition.</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46</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Frequency and contrast challenge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Arabic for “I exercise three times a week.”</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يَتَمَرَّنُ ثَلَاثَةُ أُسْبُوعٍ.</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أَتَمَرَّنُ ثَلَاثَ مَرَّاتٍ فِي الأُسْبُوعِ.</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أَتَمَرَّنُ يَوْمٌ ثَلَاثَةٌ.</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for “I never arrive late.”</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أَتَأَخَّرُ أَبَدًا.</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أَتَأَخَّرُ أَبَدًا.</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نَادِرًا يَتَأَخَّرُ دَائِمًا.</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sentence with accurate subject–verb agreement.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100" dirty="0">
                <a:solidFill>
                  <a:srgbClr val="1F2A37"/>
                </a:solidFill>
                <a:latin typeface="Amiri" pitchFamily="34" charset="0"/>
                <a:ea typeface="Amiri" pitchFamily="34" charset="-122"/>
                <a:cs typeface="Amiri" pitchFamily="34" charset="-120"/>
              </a:rPr>
              <a:t>أُخْتِي يَذْهَبُ يَوْمَ الثُّلَاثَاءِ، بَيْنَمَا أَخِي تَذْهَبُ يَوْمَ الأَرْبِعَاءِ.</a:t>
            </a:r>
            <a:endParaRPr lang="ar-SA" sz="110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100" dirty="0">
                <a:solidFill>
                  <a:srgbClr val="1F2A37"/>
                </a:solidFill>
                <a:latin typeface="Amiri" pitchFamily="34" charset="0"/>
                <a:ea typeface="Amiri" pitchFamily="34" charset="-122"/>
                <a:cs typeface="Amiri" pitchFamily="34" charset="-120"/>
              </a:rPr>
              <a:t>أُخْتِي أَذْهَبُ، بَيْنَمَا أَخِي أَذْهَبُ.</a:t>
            </a:r>
            <a:endParaRPr lang="ar-SA" sz="110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100" dirty="0">
                <a:solidFill>
                  <a:srgbClr val="1F2A37"/>
                </a:solidFill>
                <a:latin typeface="Amiri" pitchFamily="34" charset="0"/>
                <a:ea typeface="Amiri" pitchFamily="34" charset="-122"/>
                <a:cs typeface="Amiri" pitchFamily="34" charset="-120"/>
              </a:rPr>
              <a:t>أُخْتِي تَذْهَبُ يَوْمَ الثُّلَاثَاءِ، بَيْنَمَا أَخِي يَذْهَبُ يَوْمَ الأَرْبِعَاءِ.</a:t>
            </a:r>
            <a:endParaRPr lang="ar-SA" sz="110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0" name="Text 57"/>
          <p:cNvSpPr txBox="1"/>
          <p:nvPr/>
        </p:nvSpPr>
        <p:spPr>
          <a:xfrm>
            <a:off x="2406701" y="4224528"/>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أَمَّا يَوْمُ الخَمِيسِ ___ أَقَلُّ اِزْدِحَامًا.</a:t>
            </a:r>
            <a:endParaRPr lang="ar-SA" sz="100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a:t>
            </a:r>
            <a:endParaRPr lang="ar-SA" sz="205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بَيْنَمَا</a:t>
            </a:r>
            <a:endParaRPr lang="ar-SA" sz="205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فَهُوَ</a:t>
            </a:r>
            <a:endParaRPr lang="ar-SA" sz="205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3" name="Text 70"/>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comparison.</a:t>
            </a:r>
            <a:endParaRPr lang="en-US" sz="125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34" charset="0"/>
                <a:ea typeface="Amiri" pitchFamily="34" charset="-122"/>
                <a:cs typeface="Amiri" pitchFamily="34" charset="-120"/>
              </a:rPr>
              <a:t>يَوْمُ الأَرْبِعَاءِ أَكْثَرُ اِنْشِغَالًا مِنْ يَوْمِ الخَمِيسِ.</a:t>
            </a:r>
            <a:endParaRPr lang="ar-SA" sz="145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34" charset="0"/>
                <a:ea typeface="Amiri" pitchFamily="34" charset="-122"/>
                <a:cs typeface="Amiri" pitchFamily="34" charset="-120"/>
              </a:rPr>
              <a:t>يَوْمُ الأَرْبِعَاءِ اِنْشِغَالًا فِي الخَمِيسِ.</a:t>
            </a:r>
            <a:endParaRPr lang="ar-SA" sz="145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34" charset="0"/>
                <a:ea typeface="Amiri" pitchFamily="34" charset="-122"/>
                <a:cs typeface="Amiri" pitchFamily="34" charset="-120"/>
              </a:rPr>
              <a:t>يَوْمُ الأَرْبِعَاءِ بَيْنَمَا الخَمِيسِ.</a:t>
            </a:r>
            <a:endParaRPr lang="ar-SA" sz="1450" dirty="0"/>
          </a:p>
        </p:txBody>
      </p:sp>
      <p:sp>
        <p:nvSpPr>
          <p:cNvPr id="83" name="Shape 8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8223504" y="4288536"/>
            <a:ext cx="310896" cy="310896"/>
          </a:xfrm>
          <a:prstGeom prst="ellipse">
            <a:avLst/>
          </a:prstGeom>
          <a:solidFill>
            <a:srgbClr val="1B3B6F"/>
          </a:solidFill>
          <a:ln w="12700">
            <a:solidFill>
              <a:srgbClr val="1B3B6F"/>
            </a:solidFill>
            <a:prstDash val="solid"/>
          </a:ln>
        </p:spPr>
      </p:sp>
      <p:sp>
        <p:nvSpPr>
          <p:cNvPr id="85" name="Text 8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6" name="Text 8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ar-SA" altLang="en-US" sz="1250" b="1" dirty="0">
                <a:solidFill>
                  <a:srgbClr val="1B3B6F"/>
                </a:solidFill>
                <a:latin typeface="Amiri" pitchFamily="34" charset="0"/>
                <a:ea typeface="Amiri" pitchFamily="34" charset="-122"/>
                <a:cs typeface="Amiri" pitchFamily="34" charset="-120"/>
              </a:rPr>
              <a:t>عَلِيٌّ يَتَمَرَّنُ يَوْمَ الاِثْنَيْنِ وَالأَرْبِعَاءِ وَالجُمُعَةِ</a:t>
            </a:r>
            <a:pPr algn="l" indent="0" marL="0">
              <a:buNone/>
            </a:pPr>
            <a:r>
              <a:rPr lang="en-US" sz="950" b="1" dirty="0">
                <a:solidFill>
                  <a:srgbClr val="1B3B6F"/>
                </a:solidFill>
                <a:latin typeface="Calibri" pitchFamily="34" charset="0"/>
                <a:ea typeface="Calibri" pitchFamily="34" charset="-122"/>
                <a:cs typeface="Calibri" pitchFamily="34" charset="-120"/>
              </a:rPr>
              <a:t>. How should he answer </a:t>
            </a:r>
            <a:pPr algn="l" indent="0" marL="0">
              <a:buNone/>
            </a:pPr>
            <a:r>
              <a:rPr lang="ar-SA" altLang="en-US" sz="1250" b="1" dirty="0">
                <a:solidFill>
                  <a:srgbClr val="1B3B6F"/>
                </a:solidFill>
                <a:latin typeface="Amiri" pitchFamily="34" charset="0"/>
                <a:ea typeface="Amiri" pitchFamily="34" charset="-122"/>
                <a:cs typeface="Amiri" pitchFamily="34" charset="-120"/>
              </a:rPr>
              <a:t>كَمْ مَرَّةً تَتَمَرَّنُ؟</a:t>
            </a:r>
            <a:endParaRPr lang="en-US" sz="950" dirty="0"/>
          </a:p>
        </p:txBody>
      </p:sp>
      <p:sp>
        <p:nvSpPr>
          <p:cNvPr id="87" name="Shape 84"/>
          <p:cNvSpPr/>
          <p:nvPr/>
        </p:nvSpPr>
        <p:spPr>
          <a:xfrm>
            <a:off x="8278368" y="48737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9" name="Text 86"/>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يَوْمَ الاِثْنَيْنِ.</a:t>
            </a:r>
            <a:endParaRPr lang="ar-SA" sz="2050" dirty="0"/>
          </a:p>
        </p:txBody>
      </p:sp>
      <p:sp>
        <p:nvSpPr>
          <p:cNvPr id="90" name="Shape 87"/>
          <p:cNvSpPr/>
          <p:nvPr/>
        </p:nvSpPr>
        <p:spPr>
          <a:xfrm>
            <a:off x="8278368" y="53309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2" name="Text 89"/>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ثَلَاثَ مَرَّاتٍ فِي الأُسْبُوعِ.</a:t>
            </a:r>
            <a:endParaRPr lang="ar-SA" sz="2050" dirty="0"/>
          </a:p>
        </p:txBody>
      </p:sp>
      <p:sp>
        <p:nvSpPr>
          <p:cNvPr id="93" name="Shape 90"/>
          <p:cNvSpPr/>
          <p:nvPr/>
        </p:nvSpPr>
        <p:spPr>
          <a:xfrm>
            <a:off x="8278368" y="5788152"/>
            <a:ext cx="256032" cy="256032"/>
          </a:xfrm>
          <a:prstGeom prst="ellipse">
            <a:avLst/>
          </a:prstGeom>
          <a:solidFill>
            <a:srgbClr val="F4F1EA"/>
          </a:solidFill>
          <a:ln w="12700">
            <a:solidFill>
              <a:srgbClr val="F4F1EA"/>
            </a:solidFill>
            <a:prstDash val="solid"/>
          </a:ln>
        </p:spPr>
      </p:sp>
      <p:sp>
        <p:nvSpPr>
          <p:cNvPr id="94" name="Text 91"/>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5" name="Text 92"/>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 الرِّيَاضَةَ مُفِيدَةٌ.</a:t>
            </a:r>
            <a:endParaRPr lang="ar-SA" sz="20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46</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Arabic for “I exercise three times a week.”</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يَتَمَرَّنُ ثَلَاثَةُ أُسْبُوعٍ.</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أَتَمَرَّنُ ثَلَاثَ مَرَّاتٍ فِي الأُسْبُوعِ.</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أَتَمَرَّنُ يَوْمٌ ثَلَاثَةٌ.</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frequency frame is </a:t>
            </a:r>
            <a:pPr algn="l" indent="0" marL="0">
              <a:buNone/>
            </a:pPr>
            <a:r>
              <a:rPr lang="ar-SA" altLang="en-US" sz="1350" dirty="0">
                <a:solidFill>
                  <a:srgbClr val="8A6D1E"/>
                </a:solidFill>
                <a:latin typeface="Amiri" pitchFamily="34" charset="0"/>
                <a:ea typeface="Amiri" pitchFamily="34" charset="-122"/>
                <a:cs typeface="Amiri" pitchFamily="34" charset="-120"/>
              </a:rPr>
              <a:t>ثَلَاثَ مَرَّاتٍ فِي الأُسْبُوعِ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for “I never arrive late.”</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لَا أَتَأَخَّرُ أَبَدًا.</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أَتَأَخَّرُ أَبَدًا.</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نَادِرًا يَتَأَخَّرُ دَائِمًا.</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“Never” requires the negative frame </a:t>
            </a:r>
            <a:pPr algn="l" indent="0" marL="0">
              <a:buNone/>
            </a:pPr>
            <a:r>
              <a:rPr lang="ar-SA" altLang="en-US" sz="1350" dirty="0">
                <a:solidFill>
                  <a:srgbClr val="8A6D1E"/>
                </a:solidFill>
                <a:latin typeface="Amiri" pitchFamily="34" charset="0"/>
                <a:ea typeface="Amiri" pitchFamily="34" charset="-122"/>
                <a:cs typeface="Amiri" pitchFamily="34" charset="-120"/>
              </a:rPr>
              <a:t>لَا</a:t>
            </a:r>
            <a:pPr algn="l" indent="0" marL="0">
              <a:buNone/>
            </a:pPr>
            <a:r>
              <a:rPr lang="en-US" sz="1050" i="1" dirty="0">
                <a:solidFill>
                  <a:srgbClr val="8A6D1E"/>
                </a:solidFill>
                <a:latin typeface="Calibri" pitchFamily="34" charset="0"/>
                <a:ea typeface="Calibri" pitchFamily="34" charset="-122"/>
                <a:cs typeface="Calibri" pitchFamily="34" charset="-120"/>
              </a:rPr>
              <a:t> ... </a:t>
            </a:r>
            <a:pPr algn="l" indent="0" marL="0">
              <a:buNone/>
            </a:pPr>
            <a:r>
              <a:rPr lang="ar-SA" altLang="en-US" sz="1350" dirty="0">
                <a:solidFill>
                  <a:srgbClr val="8A6D1E"/>
                </a:solidFill>
                <a:latin typeface="Amiri" pitchFamily="34" charset="0"/>
                <a:ea typeface="Amiri" pitchFamily="34" charset="-122"/>
                <a:cs typeface="Amiri" pitchFamily="34" charset="-120"/>
              </a:rPr>
              <a:t>أَبَدًا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sentence with accurate subject–verb agreement.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100" dirty="0">
                <a:solidFill>
                  <a:srgbClr val="9AA1AB"/>
                </a:solidFill>
                <a:latin typeface="Amiri" pitchFamily="34" charset="0"/>
                <a:ea typeface="Amiri" pitchFamily="34" charset="-122"/>
                <a:cs typeface="Amiri" pitchFamily="34" charset="-120"/>
              </a:rPr>
              <a:t>أُخْتِي يَذْهَبُ يَوْمَ الثُّلَاثَاءِ، بَيْنَمَا أَخِي تَذْهَبُ يَوْمَ الأَرْبِعَاءِ.</a:t>
            </a:r>
            <a:endParaRPr lang="ar-SA" sz="11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100" dirty="0">
                <a:solidFill>
                  <a:srgbClr val="9AA1AB"/>
                </a:solidFill>
                <a:latin typeface="Amiri" pitchFamily="34" charset="0"/>
                <a:ea typeface="Amiri" pitchFamily="34" charset="-122"/>
                <a:cs typeface="Amiri" pitchFamily="34" charset="-120"/>
              </a:rPr>
              <a:t>أُخْتِي أَذْهَبُ، بَيْنَمَا أَخِي أَذْهَبُ.</a:t>
            </a:r>
            <a:endParaRPr lang="ar-SA" sz="11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100" b="1" dirty="0">
                <a:solidFill>
                  <a:srgbClr val="1F2A37"/>
                </a:solidFill>
                <a:latin typeface="Amiri" pitchFamily="34" charset="0"/>
                <a:ea typeface="Amiri" pitchFamily="34" charset="-122"/>
                <a:cs typeface="Amiri" pitchFamily="34" charset="-120"/>
              </a:rPr>
              <a:t>أُخْتِي تَذْهَبُ يَوْمَ الثُّلَاثَاءِ، بَيْنَمَا أَخِي يَذْهَبُ يَوْمَ الأَرْبِعَاءِ.</a:t>
            </a:r>
            <a:endParaRPr lang="ar-SA" sz="11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أُخْتِي</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تَذْهَبُ</a:t>
            </a:r>
            <a:pPr algn="l" indent="0" marL="0">
              <a:buNone/>
            </a:pPr>
            <a:r>
              <a:rPr lang="en-US" sz="1050" i="1" dirty="0">
                <a:solidFill>
                  <a:srgbClr val="8A6D1E"/>
                </a:solidFill>
                <a:latin typeface="Calibri" pitchFamily="34" charset="0"/>
                <a:ea typeface="Calibri" pitchFamily="34" charset="-122"/>
                <a:cs typeface="Calibri" pitchFamily="34" charset="-120"/>
              </a:rPr>
              <a:t> and </a:t>
            </a:r>
            <a:pPr algn="l" indent="0" marL="0">
              <a:buNone/>
            </a:pPr>
            <a:r>
              <a:rPr lang="ar-SA" altLang="en-US" sz="1350" dirty="0">
                <a:solidFill>
                  <a:srgbClr val="8A6D1E"/>
                </a:solidFill>
                <a:latin typeface="Amiri" pitchFamily="34" charset="0"/>
                <a:ea typeface="Amiri" pitchFamily="34" charset="-122"/>
                <a:cs typeface="Amiri" pitchFamily="34" charset="-120"/>
              </a:rPr>
              <a:t>أَخِي</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يَذْهَبُ</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5" name="Text 63"/>
          <p:cNvSpPr txBox="1"/>
          <p:nvPr/>
        </p:nvSpPr>
        <p:spPr>
          <a:xfrm>
            <a:off x="2406701" y="4224528"/>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أَمَّا يَوْمُ الخَمِيسِ ___ أَقَلُّ اِزْدِحَامًا.</a:t>
            </a:r>
            <a:endParaRPr lang="ar-SA" sz="100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لِأَنَّهُ</a:t>
            </a:r>
            <a:endParaRPr lang="ar-SA" sz="170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بَيْنَمَا</a:t>
            </a:r>
            <a:endParaRPr lang="ar-SA" sz="170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فَهُوَ</a:t>
            </a:r>
            <a:endParaRPr lang="ar-SA" sz="170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أَمَّا</a:t>
            </a:r>
            <a:pPr algn="l" indent="0" marL="0">
              <a:buNone/>
            </a:pPr>
            <a:r>
              <a:rPr lang="en-US" sz="1050" i="1" dirty="0">
                <a:solidFill>
                  <a:srgbClr val="8A6D1E"/>
                </a:solidFill>
                <a:latin typeface="Calibri" pitchFamily="34" charset="0"/>
                <a:ea typeface="Calibri" pitchFamily="34" charset="-122"/>
                <a:cs typeface="Calibri" pitchFamily="34" charset="-120"/>
              </a:rPr>
              <a:t> introduces the topic and </a:t>
            </a:r>
            <a:pPr algn="l" indent="0" marL="0">
              <a:buNone/>
            </a:pPr>
            <a:r>
              <a:rPr lang="ar-SA" altLang="en-US" sz="1350" dirty="0">
                <a:solidFill>
                  <a:srgbClr val="8A6D1E"/>
                </a:solidFill>
                <a:latin typeface="Amiri" pitchFamily="34" charset="0"/>
                <a:ea typeface="Amiri" pitchFamily="34" charset="-122"/>
                <a:cs typeface="Amiri" pitchFamily="34" charset="-120"/>
              </a:rPr>
              <a:t>فَـ</a:t>
            </a:r>
            <a:pPr algn="l" indent="0" marL="0">
              <a:buNone/>
            </a:pPr>
            <a:r>
              <a:rPr lang="en-US" sz="1050" i="1" dirty="0">
                <a:solidFill>
                  <a:srgbClr val="8A6D1E"/>
                </a:solidFill>
                <a:latin typeface="Calibri" pitchFamily="34" charset="0"/>
                <a:ea typeface="Calibri" pitchFamily="34" charset="-122"/>
                <a:cs typeface="Calibri" pitchFamily="34" charset="-120"/>
              </a:rPr>
              <a:t> begins the comment: </a:t>
            </a:r>
            <a:pPr algn="l" indent="0" marL="0">
              <a:buNone/>
            </a:pPr>
            <a:r>
              <a:rPr lang="ar-SA" altLang="en-US" sz="1350" dirty="0">
                <a:solidFill>
                  <a:srgbClr val="8A6D1E"/>
                </a:solidFill>
                <a:latin typeface="Amiri" pitchFamily="34" charset="0"/>
                <a:ea typeface="Amiri" pitchFamily="34" charset="-122"/>
                <a:cs typeface="Amiri" pitchFamily="34" charset="-120"/>
              </a:rPr>
              <a:t>أَمَّا</a:t>
            </a:r>
            <a:pPr algn="l" indent="0" marL="0">
              <a:buNone/>
            </a:pPr>
            <a:r>
              <a:rPr lang="en-US" sz="1050" i="1" dirty="0">
                <a:solidFill>
                  <a:srgbClr val="8A6D1E"/>
                </a:solidFill>
                <a:latin typeface="Calibri" pitchFamily="34" charset="0"/>
                <a:ea typeface="Calibri" pitchFamily="34" charset="-122"/>
                <a:cs typeface="Calibri" pitchFamily="34" charset="-120"/>
              </a:rPr>
              <a:t> ... </a:t>
            </a:r>
            <a:pPr algn="l" indent="0" marL="0">
              <a:buNone/>
            </a:pPr>
            <a:r>
              <a:rPr lang="ar-SA" altLang="en-US" sz="1350" dirty="0">
                <a:solidFill>
                  <a:srgbClr val="8A6D1E"/>
                </a:solidFill>
                <a:latin typeface="Amiri" pitchFamily="34" charset="0"/>
                <a:ea typeface="Amiri" pitchFamily="34" charset="-122"/>
                <a:cs typeface="Amiri" pitchFamily="34" charset="-120"/>
              </a:rPr>
              <a:t>فَهُوَ</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comparison.</a:t>
            </a:r>
            <a:endParaRPr lang="en-US" sz="1250" dirty="0"/>
          </a:p>
        </p:txBody>
      </p:sp>
      <p:sp>
        <p:nvSpPr>
          <p:cNvPr id="81" name="Shape 79"/>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80"/>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يَوْمُ الأَرْبِعَاءِ أَكْثَرُ اِنْشِغَالًا مِنْ يَوْمِ الخَمِيسِ.</a:t>
            </a:r>
            <a:endParaRPr lang="ar-SA" sz="1450" dirty="0"/>
          </a:p>
        </p:txBody>
      </p:sp>
      <p:sp>
        <p:nvSpPr>
          <p:cNvPr id="85" name="Shape 83"/>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4"/>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5"/>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34" charset="0"/>
                <a:ea typeface="Amiri" pitchFamily="34" charset="-122"/>
                <a:cs typeface="Amiri" pitchFamily="34" charset="-120"/>
              </a:rPr>
              <a:t>يَوْمُ الأَرْبِعَاءِ اِنْشِغَالًا فِي الخَمِيسِ.</a:t>
            </a:r>
            <a:endParaRPr lang="ar-SA" sz="1450" dirty="0"/>
          </a:p>
        </p:txBody>
      </p:sp>
      <p:sp>
        <p:nvSpPr>
          <p:cNvPr id="88" name="Shape 86"/>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8"/>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34" charset="0"/>
                <a:ea typeface="Amiri" pitchFamily="34" charset="-122"/>
                <a:cs typeface="Amiri" pitchFamily="34" charset="-120"/>
              </a:rPr>
              <a:t>يَوْمُ الأَرْبِعَاءِ بَيْنَمَا الخَمِيسِ.</a:t>
            </a:r>
            <a:endParaRPr lang="ar-SA" sz="1450" dirty="0"/>
          </a:p>
        </p:txBody>
      </p:sp>
      <p:sp>
        <p:nvSpPr>
          <p:cNvPr id="91"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comparison frame is </a:t>
            </a:r>
            <a:pPr algn="l" indent="0" marL="0">
              <a:buNone/>
            </a:pPr>
            <a:r>
              <a:rPr lang="ar-SA" altLang="en-US" sz="1350" dirty="0">
                <a:solidFill>
                  <a:srgbClr val="8A6D1E"/>
                </a:solidFill>
                <a:latin typeface="Amiri" pitchFamily="34" charset="0"/>
                <a:ea typeface="Amiri" pitchFamily="34" charset="-122"/>
                <a:cs typeface="Amiri" pitchFamily="34" charset="-120"/>
              </a:rPr>
              <a:t>أَكْثَرُ</a:t>
            </a:r>
            <a:pPr algn="l" indent="0" marL="0">
              <a:buNone/>
            </a:pPr>
            <a:r>
              <a:rPr lang="en-US" sz="1050" i="1" dirty="0">
                <a:solidFill>
                  <a:srgbClr val="8A6D1E"/>
                </a:solidFill>
                <a:latin typeface="Calibri" pitchFamily="34" charset="0"/>
                <a:ea typeface="Calibri" pitchFamily="34" charset="-122"/>
                <a:cs typeface="Calibri" pitchFamily="34" charset="-120"/>
              </a:rPr>
              <a:t> + adjective + </a:t>
            </a:r>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2" name="Shape 9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1"/>
          <p:cNvSpPr/>
          <p:nvPr/>
        </p:nvSpPr>
        <p:spPr>
          <a:xfrm>
            <a:off x="8223504" y="4288536"/>
            <a:ext cx="310896" cy="310896"/>
          </a:xfrm>
          <a:prstGeom prst="ellipse">
            <a:avLst/>
          </a:prstGeom>
          <a:solidFill>
            <a:srgbClr val="1B3B6F"/>
          </a:solidFill>
          <a:ln w="12700">
            <a:solidFill>
              <a:srgbClr val="1B3B6F"/>
            </a:solidFill>
            <a:prstDash val="solid"/>
          </a:ln>
        </p:spPr>
      </p:sp>
      <p:sp>
        <p:nvSpPr>
          <p:cNvPr id="94" name="Text 9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ar-SA" altLang="en-US" sz="1250" b="1" dirty="0">
                <a:solidFill>
                  <a:srgbClr val="1B3B6F"/>
                </a:solidFill>
                <a:latin typeface="Amiri" pitchFamily="34" charset="0"/>
                <a:ea typeface="Amiri" pitchFamily="34" charset="-122"/>
                <a:cs typeface="Amiri" pitchFamily="34" charset="-120"/>
              </a:rPr>
              <a:t>عَلِيٌّ يَتَمَرَّنُ يَوْمَ الاِثْنَيْنِ وَالأَرْبِعَاءِ وَالجُمُعَةِ</a:t>
            </a:r>
            <a:pPr algn="l" indent="0" marL="0">
              <a:buNone/>
            </a:pPr>
            <a:r>
              <a:rPr lang="en-US" sz="950" b="1" dirty="0">
                <a:solidFill>
                  <a:srgbClr val="1B3B6F"/>
                </a:solidFill>
                <a:latin typeface="Calibri" pitchFamily="34" charset="0"/>
                <a:ea typeface="Calibri" pitchFamily="34" charset="-122"/>
                <a:cs typeface="Calibri" pitchFamily="34" charset="-120"/>
              </a:rPr>
              <a:t>. How should he answer </a:t>
            </a:r>
            <a:pPr algn="l" indent="0" marL="0">
              <a:buNone/>
            </a:pPr>
            <a:r>
              <a:rPr lang="ar-SA" altLang="en-US" sz="1250" b="1" dirty="0">
                <a:solidFill>
                  <a:srgbClr val="1B3B6F"/>
                </a:solidFill>
                <a:latin typeface="Amiri" pitchFamily="34" charset="0"/>
                <a:ea typeface="Amiri" pitchFamily="34" charset="-122"/>
                <a:cs typeface="Amiri" pitchFamily="34" charset="-120"/>
              </a:rPr>
              <a:t>كَمْ مَرَّةً تَتَمَرَّنُ؟</a:t>
            </a:r>
            <a:endParaRPr lang="en-US" sz="950" dirty="0"/>
          </a:p>
        </p:txBody>
      </p:sp>
      <p:sp>
        <p:nvSpPr>
          <p:cNvPr id="96" name="Shape 94"/>
          <p:cNvSpPr/>
          <p:nvPr/>
        </p:nvSpPr>
        <p:spPr>
          <a:xfrm>
            <a:off x="8278368" y="4831080"/>
            <a:ext cx="256032" cy="256032"/>
          </a:xfrm>
          <a:prstGeom prst="ellipse">
            <a:avLst/>
          </a:prstGeom>
          <a:solidFill>
            <a:srgbClr val="C9CED6"/>
          </a:solidFill>
          <a:ln w="12700">
            <a:solidFill>
              <a:srgbClr val="C9CED6"/>
            </a:solidFill>
            <a:prstDash val="solid"/>
          </a:ln>
        </p:spPr>
      </p:sp>
      <p:sp>
        <p:nvSpPr>
          <p:cNvPr id="97" name="Text 95"/>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6"/>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يَوْمَ الاِثْنَيْنِ.</a:t>
            </a:r>
            <a:endParaRPr lang="ar-SA" sz="1700" dirty="0"/>
          </a:p>
        </p:txBody>
      </p:sp>
      <p:sp>
        <p:nvSpPr>
          <p:cNvPr id="99" name="Shape 97"/>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0" name="Shape 98"/>
          <p:cNvSpPr/>
          <p:nvPr/>
        </p:nvSpPr>
        <p:spPr>
          <a:xfrm>
            <a:off x="8278368" y="5202936"/>
            <a:ext cx="256032" cy="256032"/>
          </a:xfrm>
          <a:prstGeom prst="ellipse">
            <a:avLst/>
          </a:prstGeom>
          <a:solidFill>
            <a:srgbClr val="2E8B57"/>
          </a:solidFill>
          <a:ln w="12700">
            <a:solidFill>
              <a:srgbClr val="2E8B57"/>
            </a:solidFill>
            <a:prstDash val="solid"/>
          </a:ln>
        </p:spPr>
      </p:sp>
      <p:sp>
        <p:nvSpPr>
          <p:cNvPr id="101" name="Text 99"/>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2" name="Text 100"/>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ثَلَاثَ مَرَّاتٍ فِي الأُسْبُوعِ.</a:t>
            </a:r>
            <a:endParaRPr lang="ar-SA" sz="1700" dirty="0"/>
          </a:p>
        </p:txBody>
      </p:sp>
      <p:sp>
        <p:nvSpPr>
          <p:cNvPr id="103" name="Shape 101"/>
          <p:cNvSpPr/>
          <p:nvPr/>
        </p:nvSpPr>
        <p:spPr>
          <a:xfrm>
            <a:off x="8278368" y="5574792"/>
            <a:ext cx="256032" cy="256032"/>
          </a:xfrm>
          <a:prstGeom prst="ellipse">
            <a:avLst/>
          </a:prstGeom>
          <a:solidFill>
            <a:srgbClr val="C9CED6"/>
          </a:solidFill>
          <a:ln w="12700">
            <a:solidFill>
              <a:srgbClr val="C9CED6"/>
            </a:solidFill>
            <a:prstDash val="solid"/>
          </a:ln>
        </p:spPr>
      </p:sp>
      <p:sp>
        <p:nvSpPr>
          <p:cNvPr id="104" name="Text 102"/>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5" name="Text 103"/>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 الرِّيَاضَةَ مُفِيدَةٌ.</a:t>
            </a:r>
            <a:endParaRPr lang="ar-SA" sz="1700" dirty="0"/>
          </a:p>
        </p:txBody>
      </p:sp>
      <p:sp>
        <p:nvSpPr>
          <p:cNvPr id="106" name="Text 104"/>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كَمْ مَرَّةً</a:t>
            </a:r>
            <a:pPr algn="l" indent="0" marL="0">
              <a:buNone/>
            </a:pPr>
            <a:r>
              <a:rPr lang="en-US" sz="1050" i="1" dirty="0">
                <a:solidFill>
                  <a:srgbClr val="8A6D1E"/>
                </a:solidFill>
                <a:latin typeface="Calibri" pitchFamily="34" charset="0"/>
                <a:ea typeface="Calibri" pitchFamily="34" charset="-122"/>
                <a:cs typeface="Calibri" pitchFamily="34" charset="-120"/>
              </a:rPr>
              <a:t> asks for frequency, so the answer must give the number of times.</a:t>
            </a:r>
            <a:endParaRPr lang="en-US" sz="1050" dirty="0"/>
          </a:p>
        </p:txBody>
      </p:sp>
      <p:sp>
        <p:nvSpPr>
          <p:cNvPr id="107"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46</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D1-L04: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D1-L04 · Before and After — Sequencing My Day</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قَبْلَ أَنْ</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before (+ verb)</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بَعْدَ أَنْ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after (+ verb)</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عِنْدَمَا</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when</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أُكْمِلُ وَاجِبِي</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complete my homework</a:t>
            </a:r>
            <a:pPr indent="0" marL="0">
              <a:buNone/>
            </a:pPr>
            <a:r>
              <a:rPr lang="en-US" sz="1000" i="1" dirty="0">
                <a:solidFill>
                  <a:srgbClr val="5A6472"/>
                </a:solidFill>
                <a:latin typeface="Calibri" pitchFamily="34" charset="0"/>
                <a:ea typeface="Calibri" pitchFamily="34" charset="-122"/>
                <a:cs typeface="Calibri" pitchFamily="34" charset="-120"/>
              </a:rPr>
              <a:t>  he: يُكْمِلُ</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أَسْتَرِيحُ</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rest</a:t>
            </a:r>
            <a:pPr indent="0" marL="0">
              <a:buNone/>
            </a:pPr>
            <a:r>
              <a:rPr lang="en-US" sz="1000" i="1" dirty="0">
                <a:solidFill>
                  <a:srgbClr val="5A6472"/>
                </a:solidFill>
                <a:latin typeface="Calibri" pitchFamily="34" charset="0"/>
                <a:ea typeface="Calibri" pitchFamily="34" charset="-122"/>
                <a:cs typeface="Calibri" pitchFamily="34" charset="-120"/>
              </a:rPr>
              <a:t>  he: يَسْتَرِيحُ</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What do you do straight after school, and what do you do before you sleep?</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مَاذَا تَفْعَلُ بَعْدَ المَدْرَسَةِ؟</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D1-L03: the picture game “How often?” and the sorter.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8 sentences comparing your week with a family member’s (</a:t>
            </a:r>
            <a:pPr algn="l" indent="0" marL="0">
              <a:buNone/>
            </a:pPr>
            <a:r>
              <a:rPr lang="ar-SA" altLang="en-US" sz="1550" dirty="0">
                <a:solidFill>
                  <a:srgbClr val="1F2A37"/>
                </a:solidFill>
                <a:latin typeface="Amiri" pitchFamily="34" charset="0"/>
                <a:ea typeface="Amiri" pitchFamily="34" charset="-122"/>
                <a:cs typeface="Amiri" pitchFamily="34" charset="-120"/>
              </a:rPr>
              <a:t>بَيْنَمَا</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100–120 words, school days vs weekend.</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46</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D1-L03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50" b="1" dirty="0">
                <a:solidFill>
                  <a:srgbClr val="FFFFFF"/>
                </a:solidFill>
                <a:latin typeface="Cambria" pitchFamily="34" charset="0"/>
                <a:ea typeface="Cambria" pitchFamily="34" charset="-122"/>
                <a:cs typeface="Cambria" pitchFamily="34" charset="-120"/>
              </a:rPr>
              <a:t>D1-L04 · Before and After — Sequencing My Day</a:t>
            </a:r>
            <a:endParaRPr lang="en-US" sz="20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قَبْلَ وَبَعْدَ</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every verb after </a:t>
            </a:r>
            <a:pPr algn="l" indent="0" marL="0">
              <a:buNone/>
            </a:pPr>
            <a:r>
              <a:rPr lang="ar-SA" altLang="en-US" sz="1700" b="1" dirty="0">
                <a:solidFill>
                  <a:srgbClr val="FFFFFF"/>
                </a:solidFill>
                <a:latin typeface="Amiri" pitchFamily="34" charset="0"/>
                <a:ea typeface="Amiri" pitchFamily="34" charset="-122"/>
                <a:cs typeface="Amiri" pitchFamily="34" charset="-120"/>
              </a:rPr>
              <a:t>بَيْنَمَا</a:t>
            </a:r>
            <a:pPr algn="l" indent="0" marL="0">
              <a:buNone/>
            </a:pPr>
            <a:r>
              <a:rPr lang="en-US" sz="1300" b="1" dirty="0">
                <a:solidFill>
                  <a:srgbClr val="FFFFFF"/>
                </a:solidFill>
                <a:latin typeface="Calibri" pitchFamily="34" charset="0"/>
                <a:ea typeface="Calibri" pitchFamily="34" charset="-122"/>
                <a:cs typeface="Calibri" pitchFamily="34" charset="-120"/>
              </a:rPr>
              <a:t> matches its OWN subject.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D1-L03 · How Often? — Frequency Adverbs in My Routine</dc:title>
  <dc:subject>PptxGenJS Presentation</dc:subject>
  <dc:creator>Al Madina Online School · Arabic Department</dc:creator>
  <cp:lastModifiedBy>Al Madina Online School · Arabic Department</cp:lastModifiedBy>
  <cp:revision>1</cp:revision>
  <dcterms:created xsi:type="dcterms:W3CDTF">2026-09-27T11:07:03Z</dcterms:created>
  <dcterms:modified xsi:type="dcterms:W3CDTF">2026-09-27T11:07:03Z</dcterms:modified>
</cp:coreProperties>
</file>