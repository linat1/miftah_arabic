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often routines happen, place frequency expressions naturally, and compare two days or two people with </a:t>
            </a:r>
            <a:pPr algn="l" indent="0" marL="0">
              <a:buNone/>
            </a:pPr>
            <a:r>
              <a:rPr lang="ar-SA" altLang="en-US" sz="1800" dirty="0">
                <a:solidFill>
                  <a:srgbClr val="C6D2E6"/>
                </a:solidFill>
                <a:latin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cs typeface="Amiri" pitchFamily="2" charset="-78"/>
              </a:rPr>
              <a:t>أَمَّا … فَـ</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أَكْثَرُ …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my brother → he → </a:t>
            </a:r>
            <a:pPr algn="l" indent="0" marL="0">
              <a:buNone/>
            </a:pPr>
            <a:r>
              <a:rPr lang="ar-SA" altLang="en-US" sz="1350" dirty="0">
                <a:solidFill>
                  <a:srgbClr val="8A6D1E"/>
                </a:solidFill>
                <a:latin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Frequency words say HOW OFTEN. </a:t>
            </a:r>
            <a:pPr algn="l" indent="0" marL="0">
              <a:buNone/>
            </a:pPr>
            <a:r>
              <a:rPr lang="ar-SA" altLang="en-US" sz="1700" b="1" dirty="0">
                <a:solidFill>
                  <a:srgbClr val="1F2A37"/>
                </a:solidFill>
                <a:latin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أَتَمَرَّنُ يَوْمِيًّا، </a:t>
            </a:r>
            <a:pPr rtl="1" algn="ctr" indent="0" marL="0">
              <a:lnSpc>
                <a:spcPct val="120000"/>
              </a:lnSpc>
              <a:buNone/>
            </a:pPr>
            <a:r>
              <a:rPr lang="ar-SA" altLang="en-US" sz="1950" b="1" dirty="0">
                <a:solidFill>
                  <a:srgbClr val="0E7C86"/>
                </a:solidFill>
                <a:latin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cs typeface="Amiri" pitchFamily="2" charset="-78"/>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people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organise a comparison with </a:t>
            </a:r>
            <a:pPr algn="l" indent="0" marL="0">
              <a:buNone/>
            </a:pPr>
            <a:r>
              <a:rPr lang="ar-SA" altLang="en-US" sz="1700" b="1" dirty="0">
                <a:solidFill>
                  <a:srgbClr val="B83227"/>
                </a:solidFill>
                <a:latin typeface="Amiri" pitchFamily="2" charset="-78"/>
                <a:cs typeface="Amiri" pitchFamily="2" charset="-78"/>
              </a:rPr>
              <a:t>أَمَّا … فَـ</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days with </a:t>
            </a:r>
            <a:pPr algn="l" indent="0" marL="0">
              <a:buNone/>
            </a:pPr>
            <a:r>
              <a:rPr lang="ar-SA" altLang="en-US" sz="1700" b="1" dirty="0">
                <a:solidFill>
                  <a:srgbClr val="B83227"/>
                </a:solidFill>
                <a:latin typeface="Amiri" pitchFamily="2" charset="-78"/>
                <a:cs typeface="Amiri" pitchFamily="2" charset="-78"/>
              </a:rPr>
              <a:t>أَكْثَرُ / أَقَلُّ … مِنْ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‎عادتاً‎ </a:t>
            </a:r>
            <a:pPr indent="0" marL="0">
              <a:buNone/>
            </a:pPr>
            <a:r>
              <a:rPr lang="en-US" sz="950" b="1" dirty="0">
                <a:solidFill>
                  <a:srgbClr val="2E8B57"/>
                </a:solidFill>
                <a:latin typeface="Calibri" pitchFamily="34" charset="0"/>
                <a:cs typeface="Amiri" pitchFamily="2" charset="-78"/>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‎دائماً‎ </a:t>
            </a:r>
            <a:pPr indent="0" marL="0">
              <a:buNone/>
            </a:pPr>
            <a:r>
              <a:rPr lang="en-US" sz="950" b="1" dirty="0">
                <a:solidFill>
                  <a:srgbClr val="2E8B57"/>
                </a:solidFill>
                <a:latin typeface="Calibri" pitchFamily="34" charset="0"/>
                <a:cs typeface="Amiri" pitchFamily="2" charset="-78"/>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‎ابد‎ </a:t>
            </a:r>
            <a:pPr indent="0" marL="0">
              <a:buNone/>
            </a:pPr>
            <a:r>
              <a:rPr lang="en-US" sz="950" b="1" dirty="0">
                <a:solidFill>
                  <a:srgbClr val="2E8B57"/>
                </a:solidFill>
                <a:latin typeface="Calibri" pitchFamily="34" charset="0"/>
                <a:cs typeface="Amiri" pitchFamily="2" charset="-78"/>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‎معظم‎ </a:t>
            </a:r>
            <a:pPr indent="0" marL="0">
              <a:buNone/>
            </a:pPr>
            <a:r>
              <a:rPr lang="en-US" sz="950" b="1" dirty="0">
                <a:solidFill>
                  <a:srgbClr val="2E8B57"/>
                </a:solidFill>
                <a:latin typeface="Calibri" pitchFamily="34" charset="0"/>
                <a:cs typeface="Amiri" pitchFamily="2" charset="-78"/>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‎مشغول‎ </a:t>
            </a:r>
            <a:pPr indent="0" marL="0">
              <a:buNone/>
            </a:pPr>
            <a:r>
              <a:rPr lang="en-US" sz="950" b="1" dirty="0">
                <a:solidFill>
                  <a:srgbClr val="2E8B57"/>
                </a:solidFill>
                <a:latin typeface="Calibri" pitchFamily="34" charset="0"/>
                <a:cs typeface="Amiri" pitchFamily="2" charset="-78"/>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days</a:t>
            </a:r>
            <a:endParaRPr lang="en-US" sz="1350" dirty="0"/>
          </a:p>
          <a:p>
            <a:pPr indent="0" marL="0">
              <a:buNone/>
            </a:pPr>
            <a:r>
              <a:rPr lang="en-US" sz="1100" i="1" dirty="0">
                <a:solidFill>
                  <a:srgbClr val="5A6472"/>
                </a:solidFill>
                <a:latin typeface="Calibri" pitchFamily="34" charset="0"/>
                <a:cs typeface="Amiri" pitchFamily="2" charset="-78"/>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a:t>
            </a:r>
            <a:endParaRPr lang="en-US" sz="1350" dirty="0"/>
          </a:p>
          <a:p>
            <a:pPr indent="0" marL="0">
              <a:buNone/>
            </a:pPr>
            <a:r>
              <a:rPr lang="en-US" sz="1100" i="1" dirty="0">
                <a:solidFill>
                  <a:srgbClr val="5A6472"/>
                </a:solidFill>
                <a:latin typeface="Calibri" pitchFamily="34" charset="0"/>
                <a:cs typeface="Amiri" pitchFamily="2" charset="-78"/>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extra lesson</a:t>
            </a:r>
            <a:endParaRPr lang="en-US" sz="1350" dirty="0"/>
          </a:p>
          <a:p>
            <a:pPr indent="0" marL="0">
              <a:buNone/>
            </a:pPr>
            <a:r>
              <a:rPr lang="en-US" sz="1100" i="1" dirty="0">
                <a:solidFill>
                  <a:srgbClr val="5A6472"/>
                </a:solidFill>
                <a:latin typeface="Calibri" pitchFamily="34" charset="0"/>
                <a:cs typeface="Amiri" pitchFamily="2" charset="-78"/>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club</a:t>
            </a:r>
            <a:endParaRPr lang="en-US" sz="1350" dirty="0"/>
          </a:p>
          <a:p>
            <a:pPr indent="0" marL="0">
              <a:buNone/>
            </a:pPr>
            <a:r>
              <a:rPr lang="en-US" sz="1100" i="1" dirty="0">
                <a:solidFill>
                  <a:srgbClr val="5A6472"/>
                </a:solidFill>
                <a:latin typeface="Calibri" pitchFamily="34" charset="0"/>
                <a:cs typeface="Amiri" pitchFamily="2" charset="-78"/>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fixed appointment</a:t>
            </a:r>
            <a:endParaRPr lang="en-US" sz="1350" dirty="0"/>
          </a:p>
          <a:p>
            <a:pPr indent="0" marL="0">
              <a:buNone/>
            </a:pPr>
            <a:r>
              <a:rPr lang="en-US" sz="1100" i="1" dirty="0">
                <a:solidFill>
                  <a:srgbClr val="5A6472"/>
                </a:solidFill>
                <a:latin typeface="Calibri" pitchFamily="34" charset="0"/>
                <a:cs typeface="Amiri" pitchFamily="2" charset="-78"/>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appointment</a:t>
            </a:r>
            <a:endParaRPr lang="en-US" sz="1350" dirty="0"/>
          </a:p>
          <a:p>
            <a:pPr indent="0" marL="0">
              <a:buNone/>
            </a:pPr>
            <a:r>
              <a:rPr lang="en-US" sz="1100" i="1" dirty="0">
                <a:solidFill>
                  <a:srgbClr val="5A6472"/>
                </a:solidFill>
                <a:latin typeface="Calibri" pitchFamily="34" charset="0"/>
                <a:cs typeface="Amiri" pitchFamily="2" charset="-78"/>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day</a:t>
            </a:r>
            <a:endParaRPr lang="en-US" sz="1350" dirty="0"/>
          </a:p>
          <a:p>
            <a:pPr indent="0" marL="0">
              <a:buNone/>
            </a:pPr>
            <a:r>
              <a:rPr lang="en-US" sz="1100" i="1" dirty="0">
                <a:solidFill>
                  <a:srgbClr val="5A6472"/>
                </a:solidFill>
                <a:latin typeface="Calibri" pitchFamily="34" charset="0"/>
                <a:cs typeface="Amiri" pitchFamily="2" charset="-78"/>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contrast</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contrary / conversely</a:t>
            </a:r>
            <a:endParaRPr lang="en-US" sz="1350" dirty="0"/>
          </a:p>
          <a:p>
            <a:pPr indent="0" marL="0">
              <a:buNone/>
            </a:pPr>
            <a:r>
              <a:rPr lang="en-US" sz="1100" i="1" dirty="0">
                <a:solidFill>
                  <a:srgbClr val="5A6472"/>
                </a:solidFill>
                <a:latin typeface="Calibri" pitchFamily="34" charset="0"/>
                <a:cs typeface="Amiri" pitchFamily="2" charset="-78"/>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cs typeface="Amiri" pitchFamily="2" charset="-78"/>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busier than</a:t>
            </a:r>
            <a:endParaRPr lang="en-US" sz="1350" dirty="0"/>
          </a:p>
          <a:p>
            <a:pPr indent="0" marL="0">
              <a:buNone/>
            </a:pPr>
            <a:r>
              <a:rPr lang="en-US" sz="1100" i="1" dirty="0">
                <a:solidFill>
                  <a:srgbClr val="5A6472"/>
                </a:solidFill>
                <a:latin typeface="Calibri" pitchFamily="34" charset="0"/>
                <a:cs typeface="Amiri" pitchFamily="2" charset="-78"/>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busy than</a:t>
            </a:r>
            <a:endParaRPr lang="en-US" sz="1350" dirty="0"/>
          </a:p>
          <a:p>
            <a:pPr indent="0" marL="0">
              <a:buNone/>
            </a:pPr>
            <a:r>
              <a:rPr lang="en-US" sz="1100" i="1" dirty="0">
                <a:solidFill>
                  <a:srgbClr val="5A6472"/>
                </a:solidFill>
                <a:latin typeface="Calibri" pitchFamily="34" charset="0"/>
                <a:cs typeface="Amiri" pitchFamily="2" charset="-78"/>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two days</a:t>
            </a:r>
            <a:endParaRPr lang="en-US" sz="1350" dirty="0"/>
          </a:p>
          <a:p>
            <a:pPr indent="0" marL="0">
              <a:buNone/>
            </a:pPr>
            <a:r>
              <a:rPr lang="en-US" sz="1100" i="1" dirty="0">
                <a:solidFill>
                  <a:srgbClr val="5A6472"/>
                </a:solidFill>
                <a:latin typeface="Calibri" pitchFamily="34" charset="0"/>
                <a:cs typeface="Amiri" pitchFamily="2" charset="-78"/>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month</a:t>
            </a:r>
            <a:endParaRPr lang="en-US" sz="1350" dirty="0"/>
          </a:p>
          <a:p>
            <a:pPr indent="0" marL="0">
              <a:buNone/>
            </a:pPr>
            <a:r>
              <a:rPr lang="en-US" sz="1100" i="1" dirty="0">
                <a:solidFill>
                  <a:srgbClr val="5A6472"/>
                </a:solidFill>
                <a:latin typeface="Calibri" pitchFamily="34" charset="0"/>
                <a:cs typeface="Amiri" pitchFamily="2" charset="-78"/>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most days</a:t>
            </a:r>
            <a:endParaRPr lang="en-US" sz="1350" dirty="0"/>
          </a:p>
          <a:p>
            <a:pPr indent="0" marL="0">
              <a:buNone/>
            </a:pPr>
            <a:r>
              <a:rPr lang="en-US" sz="1100" i="1" dirty="0">
                <a:solidFill>
                  <a:srgbClr val="5A6472"/>
                </a:solidFill>
                <a:latin typeface="Calibri" pitchFamily="34" charset="0"/>
                <a:cs typeface="Amiri" pitchFamily="2" charset="-78"/>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a:t>
            </a:r>
            <a:endParaRPr lang="en-US" sz="1350" dirty="0"/>
          </a:p>
          <a:p>
            <a:pPr indent="0" marL="0">
              <a:buNone/>
            </a:pPr>
            <a:r>
              <a:rPr lang="en-US" sz="1100" i="1" dirty="0">
                <a:solidFill>
                  <a:srgbClr val="5A6472"/>
                </a:solidFill>
                <a:latin typeface="Calibri" pitchFamily="34" charset="0"/>
                <a:cs typeface="Amiri" pitchFamily="2" charset="-78"/>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لَا</a:t>
            </a:r>
            <a:pPr rtl="1" algn="ctr" indent="0" marL="0">
              <a:buNone/>
            </a:pPr>
            <a:r>
              <a:rPr lang="ar-SA" altLang="en-US" sz="1950" b="1" dirty="0">
                <a:solidFill>
                  <a:srgbClr val="1B3B6F"/>
                </a:solidFill>
                <a:latin typeface="Amiri" pitchFamily="2" charset="-78"/>
                <a:cs typeface="Amiri" pitchFamily="2" charset="-78"/>
              </a:rPr>
              <a:t> أَتَأَخَّرُ </a:t>
            </a:r>
            <a:pPr rtl="1" algn="ctr" indent="0" marL="0">
              <a:buNone/>
            </a:pPr>
            <a:r>
              <a:rPr lang="ar-SA" altLang="en-US" sz="1950" b="1" dirty="0">
                <a:solidFill>
                  <a:srgbClr val="0E7C86"/>
                </a:solidFill>
                <a:latin typeface="Amiri" pitchFamily="2" charset="-78"/>
                <a:cs typeface="Amiri" pitchFamily="2" charset="-78"/>
              </a:rPr>
              <a:t>أَبَدًا</a:t>
            </a:r>
            <a:pPr rtl="1" algn="ctr" indent="0" marL="0">
              <a:buNone/>
            </a:pPr>
            <a:r>
              <a:rPr lang="ar-SA" altLang="en-US" sz="1950" b="1" dirty="0">
                <a:solidFill>
                  <a:srgbClr val="1B3B6F"/>
                </a:solidFill>
                <a:latin typeface="Amiri" pitchFamily="2" charset="-78"/>
                <a:cs typeface="Amiri" pitchFamily="2" charset="-78"/>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t>
            </a:r>
            <a:pPr algn="l" indent="0" marL="0">
              <a:buNone/>
            </a:pPr>
            <a:r>
              <a:rPr lang="ar-SA" altLang="en-US" sz="1500" b="1" dirty="0">
                <a:solidFill>
                  <a:srgbClr val="1B3B6F"/>
                </a:solidFill>
                <a:latin typeface="Amiri" pitchFamily="2" charset="-78"/>
                <a:cs typeface="Amiri" pitchFamily="2" charset="-78"/>
              </a:rPr>
              <a:t>مَرَّةً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ثَلَاثَ مَرَّاتٍ فِي الأُسْبُوعِ</a:t>
            </a:r>
            <a:pPr algn="l" indent="0" marL="0">
              <a:buNone/>
            </a:pPr>
            <a:r>
              <a:rPr lang="en-US" sz="1150" b="1" dirty="0">
                <a:solidFill>
                  <a:srgbClr val="1B3B6F"/>
                </a:solidFill>
                <a:latin typeface="Calibri" pitchFamily="34" charset="0"/>
                <a:cs typeface="Amiri" pitchFamily="2" charset="-78"/>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 </a:t>
            </a:r>
            <a:pPr algn="l" indent="0" marL="0">
              <a:buNone/>
            </a:pPr>
            <a:r>
              <a:rPr lang="ar-SA" altLang="en-US" sz="1450" dirty="0">
                <a:solidFill>
                  <a:srgbClr val="1F2A37"/>
                </a:solidFill>
                <a:latin typeface="Amiri" pitchFamily="2" charset="-78"/>
                <a:cs typeface="Amiri" pitchFamily="2" charset="-78"/>
              </a:rPr>
              <a:t>فَـ</a:t>
            </a:r>
            <a:pPr algn="l" indent="0" marL="0">
              <a:buNone/>
            </a:pPr>
            <a:r>
              <a:rPr lang="en-US" sz="1100" dirty="0">
                <a:solidFill>
                  <a:srgbClr val="1F2A37"/>
                </a:solidFill>
                <a:latin typeface="Calibri" pitchFamily="34" charset="0"/>
                <a:cs typeface="Amiri" pitchFamily="2" charset="-78"/>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more / less + noun + </a:t>
            </a:r>
            <a:pPr algn="l" indent="0" marL="0">
              <a:buNone/>
            </a:pPr>
            <a:r>
              <a:rPr lang="ar-SA" altLang="en-US" sz="1450" dirty="0">
                <a:solidFill>
                  <a:srgbClr val="1F2A37"/>
                </a:solidFill>
                <a:latin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a:t>
            </a:r>
            <a:pPr algn="l" indent="0" marL="0">
              <a:buNone/>
            </a:pPr>
            <a:r>
              <a:rPr lang="ar-SA" altLang="en-US" sz="1500" dirty="0">
                <a:solidFill>
                  <a:srgbClr val="1F2A37"/>
                </a:solidFill>
                <a:latin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فَـ</a:t>
            </a:r>
            <a:pPr algn="l" indent="0" marL="0">
              <a:buNone/>
            </a:pPr>
            <a:r>
              <a:rPr lang="en-US" sz="1250" b="1" dirty="0">
                <a:solidFill>
                  <a:srgbClr val="1B3B6F"/>
                </a:solidFill>
                <a:latin typeface="Calibri" pitchFamily="34" charset="0"/>
                <a:cs typeface="Amiri" pitchFamily="2" charset="-78"/>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تَقْرَأُ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يَوْمِيًّا</a:t>
            </a:r>
            <a:pPr algn="l" indent="0" marL="0">
              <a:buNone/>
            </a:pPr>
            <a:r>
              <a:rPr lang="en-US" sz="1050" i="1" dirty="0">
                <a:solidFill>
                  <a:srgbClr val="8A6D1E"/>
                </a:solidFill>
                <a:latin typeface="Calibri" pitchFamily="34" charset="0"/>
                <a:cs typeface="Amiri" pitchFamily="2" charset="-78"/>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use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أُرَاجِعُ دُرُوسِي </a:t>
            </a:r>
            <a:pPr rtl="1" algn="ctr" indent="0" marL="0">
              <a:buNone/>
            </a:pPr>
            <a:r>
              <a:rPr lang="ar-SA" altLang="en-US" sz="2700" b="1" dirty="0">
                <a:solidFill>
                  <a:srgbClr val="0E7C86"/>
                </a:solidFill>
                <a:latin typeface="Amiri" pitchFamily="2" charset="-78"/>
                <a:cs typeface="Amiri" pitchFamily="2" charset="-78"/>
              </a:rPr>
              <a:t>يَوْمِيًّا</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أَتَمَرَّنُ مَرَّتَيْنِ، </a:t>
            </a:r>
            <a:pPr rtl="1" algn="ctr" indent="0" marL="0">
              <a:lnSpc>
                <a:spcPct val="120000"/>
              </a:lnSpc>
              <a:buNone/>
            </a:pPr>
            <a:r>
              <a:rPr lang="ar-SA" altLang="en-US" sz="1750" b="1" dirty="0">
                <a:solidFill>
                  <a:srgbClr val="0E7C86"/>
                </a:solidFill>
                <a:latin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D6336C"/>
                </a:solidFill>
                <a:latin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cs typeface="Amiri" pitchFamily="2" charset="-78"/>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clause: </a:t>
            </a:r>
            <a:pPr algn="l" indent="0" marL="0">
              <a:buNone/>
            </a:pPr>
            <a:r>
              <a:rPr lang="ar-SA" altLang="en-US" sz="1500" dirty="0">
                <a:solidFill>
                  <a:srgbClr val="1F2A37"/>
                </a:solidFill>
                <a:latin typeface="Amiri" pitchFamily="2" charset="-78"/>
                <a:cs typeface="Amiri" pitchFamily="2" charset="-78"/>
              </a:rPr>
              <a:t>أُخْتِي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الاِثْنَيْنُ </a:t>
            </a:r>
            <a:pPr rtl="1" algn="ctr" indent="0" marL="0">
              <a:lnSpc>
                <a:spcPct val="120000"/>
              </a:lnSpc>
              <a:buNone/>
            </a:pPr>
            <a:r>
              <a:rPr lang="ar-SA" altLang="en-US" sz="1750" b="1" dirty="0">
                <a:solidFill>
                  <a:srgbClr val="1D5FBF"/>
                </a:solidFill>
                <a:latin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cs typeface="Amiri" pitchFamily="2" charset="-78"/>
              </a:rPr>
              <a:t> اِنْشِغَالًا </a:t>
            </a:r>
            <a:pPr rtl="1" algn="ctr" indent="0" marL="0">
              <a:lnSpc>
                <a:spcPct val="120000"/>
              </a:lnSpc>
              <a:buNone/>
            </a:pPr>
            <a:r>
              <a:rPr lang="ar-SA" altLang="en-US" sz="1750" b="1" dirty="0">
                <a:solidFill>
                  <a:srgbClr val="1D5FBF"/>
                </a:solidFill>
                <a:latin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cs typeface="Amiri" pitchFamily="2" charset="-78"/>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busier + </a:t>
            </a:r>
            <a:pPr algn="l" indent="0" marL="0">
              <a:buNone/>
            </a:pPr>
            <a:r>
              <a:rPr lang="ar-SA" altLang="en-US" sz="1500" dirty="0">
                <a:solidFill>
                  <a:srgbClr val="1F2A37"/>
                </a:solidFill>
                <a:latin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cs typeface="Amiri" pitchFamily="2" charset="-78"/>
              </a:rPr>
              <a:t> أَتَأَخَّرُ </a:t>
            </a:r>
            <a:pPr rtl="1" algn="ctr" indent="0" marL="0">
              <a:lnSpc>
                <a:spcPct val="120000"/>
              </a:lnSpc>
              <a:buNone/>
            </a:pPr>
            <a:r>
              <a:rPr lang="ar-SA" altLang="en-US" sz="2000" b="1" dirty="0">
                <a:solidFill>
                  <a:srgbClr val="0E7C86"/>
                </a:solidFill>
                <a:latin typeface="Amiri" pitchFamily="2" charset="-78"/>
                <a:cs typeface="Amiri" pitchFamily="2" charset="-78"/>
              </a:rPr>
              <a:t>أَبَدًا</a:t>
            </a:r>
            <a:pPr rtl="1" algn="ctr" indent="0" marL="0">
              <a:lnSpc>
                <a:spcPct val="120000"/>
              </a:lnSpc>
              <a:buNone/>
            </a:pPr>
            <a:r>
              <a:rPr lang="ar-SA" altLang="en-US" sz="2000" b="1" dirty="0">
                <a:solidFill>
                  <a:srgbClr val="1B3B6F"/>
                </a:solidFill>
                <a:latin typeface="Amiri" pitchFamily="2" charset="-78"/>
                <a:cs typeface="Amiri" pitchFamily="2" charset="-78"/>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before the verb, </a:t>
            </a:r>
            <a:pPr algn="l" indent="0" marL="0">
              <a:buNone/>
            </a:pPr>
            <a:r>
              <a:rPr lang="ar-SA" altLang="en-US" sz="1500" dirty="0">
                <a:solidFill>
                  <a:srgbClr val="1F2A37"/>
                </a:solidFill>
                <a:latin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أُرَاجِعُ دُرُوسِي </a:t>
            </a:r>
            <a:pPr rtl="1" algn="r" indent="0" marL="0">
              <a:buNone/>
            </a:pPr>
            <a:r>
              <a:rPr lang="ar-SA" altLang="en-US" sz="1700" b="1" dirty="0">
                <a:solidFill>
                  <a:srgbClr val="0E7C86"/>
                </a:solidFill>
                <a:latin typeface="Amiri" pitchFamily="2" charset="-78"/>
                <a:cs typeface="Amiri" pitchFamily="2" charset="-78"/>
              </a:rPr>
              <a:t>يَوْمِيًّا</a:t>
            </a:r>
            <a:pPr rtl="1" algn="r" indent="0" marL="0">
              <a:buNone/>
            </a:pPr>
            <a:r>
              <a:rPr lang="ar-SA" altLang="en-US" sz="1700" b="1" dirty="0">
                <a:solidFill>
                  <a:srgbClr val="1B3B6F"/>
                </a:solidFill>
                <a:latin typeface="Amiri" pitchFamily="2" charset="-78"/>
                <a:cs typeface="Amiri" pitchFamily="2" charset="-78"/>
              </a:rPr>
              <a:t>، وَأَتَمَرَّنُ مَرَّتَيْنِ فِي الأُسْبُوعِ، </a:t>
            </a:r>
            <a:pPr rtl="1" algn="r" indent="0" marL="0">
              <a:buNone/>
            </a:pPr>
            <a:r>
              <a:rPr lang="ar-SA" altLang="en-US" sz="1700" b="1" dirty="0">
                <a:solidFill>
                  <a:srgbClr val="0E7C86"/>
                </a:solidFill>
                <a:latin typeface="Amiri" pitchFamily="2" charset="-78"/>
                <a:cs typeface="Amiri" pitchFamily="2" charset="-78"/>
              </a:rPr>
              <a:t>بَيْنَمَا</a:t>
            </a:r>
            <a:pPr rtl="1" algn="r" indent="0" marL="0">
              <a:buNone/>
            </a:pPr>
            <a:r>
              <a:rPr lang="ar-SA" altLang="en-US" sz="1700" b="1" dirty="0">
                <a:solidFill>
                  <a:srgbClr val="1B3B6F"/>
                </a:solidFill>
                <a:latin typeface="Amiri" pitchFamily="2" charset="-78"/>
                <a:cs typeface="Amiri" pitchFamily="2" charset="-78"/>
              </a:rPr>
              <a:t> </a:t>
            </a:r>
            <a:pPr rtl="1" algn="r" indent="0" marL="0">
              <a:buNone/>
            </a:pPr>
            <a:r>
              <a:rPr lang="ar-SA" altLang="en-US" sz="1700" b="1" dirty="0">
                <a:solidFill>
                  <a:srgbClr val="D6336C"/>
                </a:solidFill>
                <a:latin typeface="Amiri" pitchFamily="2" charset="-78"/>
                <a:cs typeface="Amiri" pitchFamily="2" charset="-78"/>
              </a:rPr>
              <a:t>تَ</a:t>
            </a:r>
            <a:pPr rtl="1" algn="r" indent="0" marL="0">
              <a:buNone/>
            </a:pPr>
            <a:r>
              <a:rPr lang="ar-SA" altLang="en-US" sz="1700" b="1" dirty="0">
                <a:solidFill>
                  <a:srgbClr val="1B3B6F"/>
                </a:solidFill>
                <a:latin typeface="Amiri" pitchFamily="2" charset="-78"/>
                <a:cs typeface="Amiri" pitchFamily="2" charset="-78"/>
              </a:rPr>
              <a:t>تَمَرَّنُ أُخْتِي يَوْمِيًّا. الاِثْنَيْنُ </a:t>
            </a:r>
            <a:pPr rtl="1" algn="r" indent="0" marL="0">
              <a:buNone/>
            </a:pPr>
            <a:r>
              <a:rPr lang="ar-SA" altLang="en-US" sz="1700" b="1" dirty="0">
                <a:solidFill>
                  <a:srgbClr val="1D5FBF"/>
                </a:solidFill>
                <a:latin typeface="Amiri" pitchFamily="2" charset="-78"/>
                <a:cs typeface="Amiri" pitchFamily="2" charset="-78"/>
              </a:rPr>
              <a:t>أَكْثَرُ</a:t>
            </a:r>
            <a:pPr rtl="1" algn="r" indent="0" marL="0">
              <a:buNone/>
            </a:pPr>
            <a:r>
              <a:rPr lang="ar-SA" altLang="en-US" sz="1700" b="1" dirty="0">
                <a:solidFill>
                  <a:srgbClr val="1B3B6F"/>
                </a:solidFill>
                <a:latin typeface="Amiri" pitchFamily="2" charset="-78"/>
                <a:cs typeface="Amiri" pitchFamily="2" charset="-78"/>
              </a:rPr>
              <a:t> اِنْشِغَالًا </a:t>
            </a:r>
            <a:pPr rtl="1" algn="r" indent="0" marL="0">
              <a:buNone/>
            </a:pPr>
            <a:r>
              <a:rPr lang="ar-SA" altLang="en-US" sz="1700" b="1" dirty="0">
                <a:solidFill>
                  <a:srgbClr val="1D5FBF"/>
                </a:solidFill>
                <a:latin typeface="Amiri" pitchFamily="2" charset="-78"/>
                <a:cs typeface="Amiri" pitchFamily="2" charset="-78"/>
              </a:rPr>
              <a:t>مِنَ</a:t>
            </a:r>
            <a:pPr rtl="1" algn="r" indent="0" marL="0">
              <a:buNone/>
            </a:pPr>
            <a:r>
              <a:rPr lang="ar-SA" altLang="en-US" sz="1700" b="1" dirty="0">
                <a:solidFill>
                  <a:srgbClr val="1B3B6F"/>
                </a:solidFill>
                <a:latin typeface="Amiri" pitchFamily="2" charset="-78"/>
                <a:cs typeface="Amiri" pitchFamily="2" charset="-78"/>
              </a:rPr>
              <a:t> السَّبْتِ. </a:t>
            </a:r>
            <a:pPr rtl="1" algn="r" indent="0" marL="0">
              <a:buNone/>
            </a:pPr>
            <a:r>
              <a:rPr lang="ar-SA" altLang="en-US" sz="1700" b="1" dirty="0">
                <a:solidFill>
                  <a:srgbClr val="0E7C86"/>
                </a:solidFill>
                <a:latin typeface="Amiri" pitchFamily="2" charset="-78"/>
                <a:cs typeface="Amiri" pitchFamily="2" charset="-78"/>
              </a:rPr>
              <a:t>لَا</a:t>
            </a:r>
            <a:pPr rtl="1" algn="r" indent="0" marL="0">
              <a:buNone/>
            </a:pPr>
            <a:r>
              <a:rPr lang="ar-SA" altLang="en-US" sz="1700" b="1" dirty="0">
                <a:solidFill>
                  <a:srgbClr val="1B3B6F"/>
                </a:solidFill>
                <a:latin typeface="Amiri" pitchFamily="2" charset="-78"/>
                <a:cs typeface="Amiri" pitchFamily="2" charset="-78"/>
              </a:rPr>
              <a:t> أَتَأَخَّرُ </a:t>
            </a:r>
            <a:pPr rtl="1" algn="r" indent="0" marL="0">
              <a:buNone/>
            </a:pPr>
            <a:r>
              <a:rPr lang="ar-SA" altLang="en-US" sz="1700" b="1" dirty="0">
                <a:solidFill>
                  <a:srgbClr val="0E7C86"/>
                </a:solidFill>
                <a:latin typeface="Amiri" pitchFamily="2" charset="-78"/>
                <a:cs typeface="Amiri" pitchFamily="2" charset="-78"/>
              </a:rPr>
              <a:t>أَبَدًا</a:t>
            </a:r>
            <a:pPr rtl="1" algn="r" indent="0" marL="0">
              <a:buNone/>
            </a:pPr>
            <a:r>
              <a:rPr lang="ar-SA" altLang="en-US" sz="1700" b="1" dirty="0">
                <a:solidFill>
                  <a:srgbClr val="1B3B6F"/>
                </a:solidFill>
                <a:latin typeface="Amiri" pitchFamily="2" charset="-78"/>
                <a:cs typeface="Amiri" pitchFamily="2" charset="-78"/>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Tuesday, whereas my brother trains Thursday.</a:t>
            </a:r>
            <a:endParaRPr lang="en-US" sz="1250" dirty="0"/>
          </a:p>
          <a:p>
            <a:pPr indent="0" marL="0">
              <a:buNone/>
            </a:pPr>
            <a:r>
              <a:rPr lang="en-US" sz="1050" i="1" dirty="0">
                <a:solidFill>
                  <a:srgbClr val="8A6D1E"/>
                </a:solidFill>
                <a:latin typeface="Calibri" pitchFamily="34" charset="0"/>
                <a:cs typeface="Amiri" pitchFamily="2" charset="-78"/>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it is a rest day.</a:t>
            </a:r>
            <a:endParaRPr lang="en-US" sz="1250" dirty="0"/>
          </a:p>
          <a:p>
            <a:pPr indent="0" marL="0">
              <a:buNone/>
            </a:pPr>
            <a:r>
              <a:rPr lang="en-US" sz="1050" i="1" dirty="0">
                <a:solidFill>
                  <a:srgbClr val="8A6D1E"/>
                </a:solidFill>
                <a:latin typeface="Calibri" pitchFamily="34" charset="0"/>
                <a:cs typeface="Amiri" pitchFamily="2" charset="-78"/>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never late for the lesson.</a:t>
            </a:r>
            <a:endParaRPr lang="en-US" sz="1250" dirty="0"/>
          </a:p>
          <a:p>
            <a:pPr indent="0" marL="0">
              <a:buNone/>
            </a:pPr>
            <a:r>
              <a:rPr lang="en-US" sz="1050" i="1" dirty="0">
                <a:solidFill>
                  <a:srgbClr val="8A6D1E"/>
                </a:solidFill>
                <a:latin typeface="Calibri" pitchFamily="34" charset="0"/>
                <a:cs typeface="Amiri" pitchFamily="2" charset="-78"/>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Wednesday is busier than Thursday.</a:t>
            </a:r>
            <a:endParaRPr lang="en-US" sz="1250" dirty="0"/>
          </a:p>
          <a:p>
            <a:pPr indent="0" marL="0">
              <a:buNone/>
            </a:pPr>
            <a:r>
              <a:rPr lang="en-US" sz="1050" i="1" dirty="0">
                <a:solidFill>
                  <a:srgbClr val="8A6D1E"/>
                </a:solidFill>
                <a:latin typeface="Calibri" pitchFamily="34" charset="0"/>
                <a:cs typeface="Amiri" pitchFamily="2" charset="-78"/>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topic is resumed by </a:t>
            </a:r>
            <a:pPr algn="l" indent="0" marL="0">
              <a:buNone/>
            </a:pPr>
            <a:r>
              <a:rPr lang="ar-SA" altLang="en-US" sz="1350" dirty="0">
                <a:solidFill>
                  <a:srgbClr val="8A6D1E"/>
                </a:solidFill>
                <a:latin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topic +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human masculine plural takes </a:t>
            </a:r>
            <a:pPr algn="l" indent="0" marL="0">
              <a:buNone/>
            </a:pPr>
            <a:r>
              <a:rPr lang="ar-SA" altLang="en-US" sz="1350" dirty="0">
                <a:solidFill>
                  <a:srgbClr val="8A6D1E"/>
                </a:solidFill>
                <a:latin typeface="Amiri" pitchFamily="2" charset="-78"/>
                <a:cs typeface="Amiri" pitchFamily="2" charset="-78"/>
              </a:rPr>
              <a:t>يَذْهَبُونَ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مُعْظَمِ الأَيَّامِ</a:t>
            </a:r>
            <a:pPr algn="l" indent="0" marL="0">
              <a:buNone/>
            </a:pPr>
            <a:r>
              <a:rPr lang="en-US" sz="1050" i="1" dirty="0">
                <a:solidFill>
                  <a:srgbClr val="8A6D1E"/>
                </a:solidFill>
                <a:latin typeface="Calibri" pitchFamily="34" charset="0"/>
                <a:cs typeface="Amiri" pitchFamily="2" charset="-78"/>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t>
            </a:r>
            <a:pPr algn="l" indent="0" marL="0">
              <a:buNone/>
            </a:pPr>
            <a:r>
              <a:rPr lang="ar-SA" altLang="en-US" sz="1700" dirty="0">
                <a:solidFill>
                  <a:srgbClr val="5A6472"/>
                </a:solidFill>
                <a:latin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takes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Comparatives take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days using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two days with </a:t>
            </a:r>
            <a:pPr algn="l" indent="0" marL="0">
              <a:buNone/>
            </a:pPr>
            <a:r>
              <a:rPr lang="ar-SA" altLang="en-US" sz="1550" dirty="0">
                <a:solidFill>
                  <a:srgbClr val="1F2A37"/>
                </a:solidFill>
                <a:latin typeface="Amiri" pitchFamily="2" charset="-78"/>
                <a:cs typeface="Amiri" pitchFamily="2" charset="-78"/>
              </a:rPr>
              <a:t>أَكْثَرُ</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أَقَلُّ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“never” with </a:t>
            </a:r>
            <a:pPr algn="l" indent="0" marL="0">
              <a:buNone/>
            </a:pPr>
            <a:r>
              <a:rPr lang="ar-SA" altLang="en-US" sz="1700" dirty="0">
                <a:solidFill>
                  <a:srgbClr val="1F2A37"/>
                </a:solidFill>
                <a:latin typeface="Amiri" pitchFamily="2" charset="-78"/>
                <a:cs typeface="Amiri" pitchFamily="2" charset="-78"/>
              </a:rPr>
              <a:t>لَا … أَبَدًا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a comparative with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أُسْبُوعِيًّا</a:t>
            </a:r>
            <a:pPr algn="l" indent="0" marL="0">
              <a:buNone/>
            </a:pPr>
            <a:r>
              <a:rPr lang="en-US" sz="1050" i="1" dirty="0">
                <a:solidFill>
                  <a:srgbClr val="8A6D1E"/>
                </a:solidFill>
                <a:latin typeface="Calibri" pitchFamily="34" charset="0"/>
                <a:cs typeface="Amiri" pitchFamily="2" charset="-78"/>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cs typeface="Amiri" pitchFamily="2" charset="-78"/>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frequency frame is </a:t>
            </a:r>
            <a:pPr algn="l" indent="0" marL="0">
              <a:buNone/>
            </a:pPr>
            <a:r>
              <a:rPr lang="ar-SA" altLang="en-US" sz="1350" dirty="0">
                <a:solidFill>
                  <a:srgbClr val="8A6D1E"/>
                </a:solidFill>
                <a:latin typeface="Amiri" pitchFamily="2" charset="-78"/>
                <a:cs typeface="Amiri" pitchFamily="2" charset="-78"/>
              </a:rPr>
              <a:t>ثَلَاثَ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 requires the negative frame </a:t>
            </a:r>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تَذْهَبُ</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يَذْهَبُ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comment: </a:t>
            </a:r>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فَهُوَ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comparison frame is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adjective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cs typeface="Amiri" pitchFamily="2" charset="-78"/>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complete my homework</a:t>
            </a:r>
            <a:pPr indent="0" marL="0">
              <a:buNone/>
            </a:pPr>
            <a:r>
              <a:rPr lang="en-US" sz="1000" i="1" dirty="0">
                <a:solidFill>
                  <a:srgbClr val="5A6472"/>
                </a:solidFill>
                <a:latin typeface="Calibri" pitchFamily="34" charset="0"/>
                <a:cs typeface="Amiri" pitchFamily="2" charset="-78"/>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rest</a:t>
            </a:r>
            <a:pPr indent="0" marL="0">
              <a:buNone/>
            </a:pPr>
            <a:r>
              <a:rPr lang="en-US" sz="1000" i="1" dirty="0">
                <a:solidFill>
                  <a:srgbClr val="5A6472"/>
                </a:solidFill>
                <a:latin typeface="Calibri" pitchFamily="34" charset="0"/>
                <a:cs typeface="Amiri" pitchFamily="2" charset="-78"/>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comparing your week with a family member’s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every verb after </a:t>
            </a:r>
            <a:pPr algn="l" indent="0" marL="0">
              <a:buNone/>
            </a:pPr>
            <a:r>
              <a:rPr lang="ar-SA" altLang="en-US" sz="1700" b="1" dirty="0">
                <a:solidFill>
                  <a:srgbClr val="FFFFFF"/>
                </a:solidFill>
                <a:latin typeface="Amiri" pitchFamily="2" charset="-78"/>
                <a:cs typeface="Amiri" pitchFamily="2" charset="-78"/>
              </a:rPr>
              <a:t>بَيْنَمَا</a:t>
            </a:r>
            <a:pPr algn="l" indent="0" marL="0">
              <a:buNone/>
            </a:pPr>
            <a:r>
              <a:rPr lang="en-US" sz="1300" b="1" dirty="0">
                <a:solidFill>
                  <a:srgbClr val="FFFFFF"/>
                </a:solidFill>
                <a:latin typeface="Calibri" pitchFamily="34" charset="0"/>
                <a:cs typeface="Amiri" pitchFamily="2" charset="-78"/>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2026-10-11T06:40:26Z</dcterms:created>
  <dcterms:modified xsi:type="dcterms:W3CDTF">2026-10-11T06:40:26Z</dcterms:modified>
</cp:coreProperties>
</file>