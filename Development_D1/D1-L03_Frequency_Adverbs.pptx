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how often routines happen, place frequency expressions naturally, and compare two days or two people with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أَكْثَرُ … مِنْ</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يَوْمِيًّا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my brother → he →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Frequency words say HOW OFTEN.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أَتَمَرَّنُ يَوْمِيًّا،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people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organise a comparison with </a:t>
            </a:r>
            <a:pPr algn="l" indent="0" marL="0">
              <a:buNone/>
            </a:pPr>
            <a:r>
              <a:rPr lang="ar-SA" altLang="en-US" sz="1700" b="1" dirty="0">
                <a:solidFill>
                  <a:srgbClr val="B83227"/>
                </a:solidFill>
                <a:latin typeface="Amiri" pitchFamily="34" charset="0"/>
                <a:ea typeface="Amiri" pitchFamily="34" charset="-122"/>
                <a:cs typeface="Amiri" pitchFamily="34" charset="-120"/>
              </a:rPr>
              <a:t>أَمَّا … فَـ</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days with </a:t>
            </a:r>
            <a:pPr algn="l" indent="0" marL="0">
              <a:buNone/>
            </a:pPr>
            <a:r>
              <a:rPr lang="ar-SA" altLang="en-US" sz="1700" b="1" dirty="0">
                <a:solidFill>
                  <a:srgbClr val="B83227"/>
                </a:solidFill>
                <a:latin typeface="Amiri" pitchFamily="34" charset="0"/>
                <a:ea typeface="Amiri" pitchFamily="34" charset="-122"/>
                <a:cs typeface="Amiri" pitchFamily="34" charset="-120"/>
              </a:rPr>
              <a:t>أَكْثَرُ / أَقَلُّ … مِنْ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‎عادتاً‎ </a:t>
            </a:r>
            <a:pPr indent="0" marL="0">
              <a:buNone/>
            </a:pPr>
            <a:r>
              <a:rPr lang="en-US" sz="950" b="1" dirty="0">
                <a:solidFill>
                  <a:srgbClr val="2E8B57"/>
                </a:solidFill>
                <a:latin typeface="Calibri" pitchFamily="34" charset="0"/>
                <a:ea typeface="Calibri" pitchFamily="34" charset="-122"/>
                <a:cs typeface="Calibri" pitchFamily="34" charset="-120"/>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‎دائماً‎ </a:t>
            </a:r>
            <a:pPr indent="0" marL="0">
              <a:buNone/>
            </a:pPr>
            <a:r>
              <a:rPr lang="en-US" sz="950" b="1" dirty="0">
                <a:solidFill>
                  <a:srgbClr val="2E8B57"/>
                </a:solidFill>
                <a:latin typeface="Calibri" pitchFamily="34" charset="0"/>
                <a:ea typeface="Calibri" pitchFamily="34" charset="-122"/>
                <a:cs typeface="Calibri" pitchFamily="34" charset="-120"/>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 </a:t>
            </a:r>
            <a:pPr indent="0" marL="0">
              <a:buNone/>
            </a:pPr>
            <a:r>
              <a:rPr lang="en-US" sz="950" b="1" dirty="0">
                <a:solidFill>
                  <a:srgbClr val="2E8B57"/>
                </a:solidFill>
                <a:latin typeface="Calibri" pitchFamily="34" charset="0"/>
                <a:ea typeface="Calibri" pitchFamily="34" charset="-122"/>
                <a:cs typeface="Calibri" pitchFamily="34" charset="-120"/>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‎معظم‎ </a:t>
            </a:r>
            <a:pPr indent="0" marL="0">
              <a:buNone/>
            </a:pPr>
            <a:r>
              <a:rPr lang="en-US" sz="950" b="1" dirty="0">
                <a:solidFill>
                  <a:srgbClr val="2E8B57"/>
                </a:solidFill>
                <a:latin typeface="Calibri" pitchFamily="34" charset="0"/>
                <a:ea typeface="Calibri" pitchFamily="34" charset="-122"/>
                <a:cs typeface="Calibri" pitchFamily="34" charset="-120"/>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‎مشغول‎ </a:t>
            </a:r>
            <a:pPr indent="0" marL="0">
              <a:buNone/>
            </a:pPr>
            <a:r>
              <a:rPr lang="en-US" sz="950" b="1" dirty="0">
                <a:solidFill>
                  <a:srgbClr val="2E8B57"/>
                </a:solidFill>
                <a:latin typeface="Calibri" pitchFamily="34" charset="0"/>
                <a:ea typeface="Calibri" pitchFamily="34" charset="-122"/>
                <a:cs typeface="Calibri" pitchFamily="34" charset="-120"/>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days of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 schedule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extra lesson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fixed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changing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busy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quiet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for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contrast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contrary / conversely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busier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busy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every two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most days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لَا</a:t>
            </a:r>
            <a:pPr rtl="1" algn="ctr" indent="0" marL="0">
              <a:buNone/>
            </a:pPr>
            <a:r>
              <a:rPr lang="ar-SA" altLang="en-US" sz="1950" b="1" dirty="0">
                <a:solidFill>
                  <a:srgbClr val="1B3B6F"/>
                </a:solidFill>
                <a:latin typeface="Amiri" pitchFamily="34" charset="0"/>
                <a:ea typeface="Amiri" pitchFamily="34" charset="-122"/>
                <a:cs typeface="Amiri" pitchFamily="34" charset="-120"/>
              </a:rPr>
              <a:t> أَتَأَخَّرُ </a:t>
            </a:r>
            <a:pPr rtl="1" algn="ctr" indent="0" marL="0">
              <a:buNone/>
            </a:pPr>
            <a:r>
              <a:rPr lang="ar-SA" altLang="en-US" sz="1950" b="1" dirty="0">
                <a:solidFill>
                  <a:srgbClr val="0E7C86"/>
                </a:solidFill>
                <a:latin typeface="Amiri" pitchFamily="34" charset="0"/>
                <a:ea typeface="Amiri" pitchFamily="34" charset="-122"/>
                <a:cs typeface="Amiri" pitchFamily="34" charset="-120"/>
              </a:rPr>
              <a:t>أَبَدًا</a:t>
            </a:r>
            <a:pPr rtl="1" algn="ctr" indent="0" marL="0">
              <a:buNone/>
            </a:pPr>
            <a:r>
              <a:rPr lang="ar-SA" altLang="en-US" sz="1950" b="1" dirty="0">
                <a:solidFill>
                  <a:srgbClr val="1B3B6F"/>
                </a:solidFill>
                <a:latin typeface="Amiri" pitchFamily="34" charset="0"/>
                <a:ea typeface="Amiri" pitchFamily="34" charset="-122"/>
                <a:cs typeface="Amiri" pitchFamily="34" charset="-120"/>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t>
            </a:r>
            <a:pPr algn="l" indent="0" marL="0">
              <a:buNone/>
            </a:pPr>
            <a:r>
              <a:rPr lang="ar-SA" altLang="en-US" sz="1500" b="1" dirty="0">
                <a:solidFill>
                  <a:srgbClr val="1B3B6F"/>
                </a:solidFill>
                <a:latin typeface="Amiri" pitchFamily="34" charset="0"/>
                <a:ea typeface="Amiri" pitchFamily="34" charset="-122"/>
                <a:cs typeface="Amiri" pitchFamily="34" charset="-120"/>
              </a:rPr>
              <a:t>مَرَّةً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ثَلَاثَ مَرَّاتٍ فِي الأُسْبُوعِ</a:t>
            </a:r>
            <a:pPr algn="l" indent="0" marL="0">
              <a:buNone/>
            </a:pPr>
            <a:r>
              <a:rPr lang="en-US" sz="1150" b="1" dirty="0">
                <a:solidFill>
                  <a:srgbClr val="1B3B6F"/>
                </a:solidFill>
                <a:latin typeface="Calibri" pitchFamily="34" charset="0"/>
                <a:ea typeface="Calibri" pitchFamily="34" charset="-122"/>
                <a:cs typeface="Calibri" pitchFamily="34" charset="-120"/>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Topic + </a:t>
            </a:r>
            <a:pPr algn="l" indent="0" marL="0">
              <a:buNone/>
            </a:pPr>
            <a:r>
              <a:rPr lang="ar-SA" altLang="en-US" sz="1450" dirty="0">
                <a:solidFill>
                  <a:srgbClr val="1F2A37"/>
                </a:solidFill>
                <a:latin typeface="Amiri" pitchFamily="34" charset="0"/>
                <a:ea typeface="Amiri" pitchFamily="34" charset="-122"/>
                <a:cs typeface="Amiri" pitchFamily="34" charset="-120"/>
              </a:rPr>
              <a:t>فَـ</a:t>
            </a:r>
            <a:pPr algn="l" indent="0" marL="0">
              <a:buNone/>
            </a:pPr>
            <a:r>
              <a:rPr lang="en-US" sz="1100" dirty="0">
                <a:solidFill>
                  <a:srgbClr val="1F2A37"/>
                </a:solidFill>
                <a:latin typeface="Calibri" pitchFamily="34" charset="0"/>
                <a:ea typeface="Calibri" pitchFamily="34" charset="-122"/>
                <a:cs typeface="Calibri" pitchFamily="34" charset="-120"/>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more / less + noun + </a:t>
            </a:r>
            <a:pPr algn="l" indent="0" marL="0">
              <a:buNone/>
            </a:pPr>
            <a:r>
              <a:rPr lang="ar-SA" altLang="en-US" sz="1450" dirty="0">
                <a:solidFill>
                  <a:srgbClr val="1F2A37"/>
                </a:solidFill>
                <a:latin typeface="Amiri" pitchFamily="34" charset="0"/>
                <a:ea typeface="Amiri" pitchFamily="34" charset="-122"/>
                <a:cs typeface="Amiri" pitchFamily="34" charset="-120"/>
              </a:rPr>
              <a:t>مِنْ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a:t>
            </a:r>
            <a:pPr algn="l" indent="0" marL="0">
              <a:buNone/>
            </a:pPr>
            <a:r>
              <a:rPr lang="ar-SA" altLang="en-US" sz="1500" dirty="0">
                <a:solidFill>
                  <a:srgbClr val="1F2A37"/>
                </a:solidFill>
                <a:latin typeface="Amiri" pitchFamily="34" charset="0"/>
                <a:ea typeface="Amiri" pitchFamily="34" charset="-122"/>
                <a:cs typeface="Amiri" pitchFamily="34" charset="-120"/>
              </a:rPr>
              <a:t>بَيْنَمَا</a:t>
            </a:r>
            <a:pPr algn="l" indent="0" marL="0">
              <a:buNone/>
            </a:pPr>
            <a:r>
              <a:rPr lang="en-US" sz="1150" dirty="0">
                <a:solidFill>
                  <a:srgbClr val="1F2A37"/>
                </a:solidFill>
                <a:latin typeface="Calibri" pitchFamily="34" charset="0"/>
                <a:ea typeface="Calibri" pitchFamily="34" charset="-122"/>
                <a:cs typeface="Calibri" pitchFamily="34" charset="-120"/>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 ... </a:t>
            </a:r>
            <a:pPr algn="l" indent="0" marL="0">
              <a:buNone/>
            </a:pPr>
            <a:r>
              <a:rPr lang="ar-SA" altLang="en-US" sz="1650" b="1" dirty="0">
                <a:solidFill>
                  <a:srgbClr val="1B3B6F"/>
                </a:solidFill>
                <a:latin typeface="Amiri" pitchFamily="34" charset="0"/>
                <a:ea typeface="Amiri" pitchFamily="34" charset="-122"/>
                <a:cs typeface="Amiri" pitchFamily="34" charset="-120"/>
              </a:rPr>
              <a:t>فَـ</a:t>
            </a:r>
            <a:pPr algn="l" indent="0" marL="0">
              <a:buNone/>
            </a:pPr>
            <a:r>
              <a:rPr lang="en-US" sz="1250" b="1" dirty="0">
                <a:solidFill>
                  <a:srgbClr val="1B3B6F"/>
                </a:solidFill>
                <a:latin typeface="Calibri" pitchFamily="34" charset="0"/>
                <a:ea typeface="Calibri" pitchFamily="34" charset="-122"/>
                <a:cs typeface="Calibri" pitchFamily="34" charset="-120"/>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تَقْرَأُ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يَوْمِيًّا</a:t>
            </a:r>
            <a:pPr algn="l" indent="0" marL="0">
              <a:buNone/>
            </a:pPr>
            <a:r>
              <a:rPr lang="en-US" sz="1050" i="1" dirty="0">
                <a:solidFill>
                  <a:srgbClr val="8A6D1E"/>
                </a:solidFill>
                <a:latin typeface="Calibri" pitchFamily="34" charset="0"/>
                <a:ea typeface="Calibri" pitchFamily="34" charset="-122"/>
                <a:cs typeface="Calibri" pitchFamily="34" charset="-120"/>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Comparatives use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أُرَاجِعُ دُرُوسِي </a:t>
            </a:r>
            <a:pPr rtl="1" algn="ctr" indent="0" marL="0">
              <a:buNone/>
            </a:pPr>
            <a:r>
              <a:rPr lang="ar-SA" altLang="en-US" sz="2700" b="1" dirty="0">
                <a:solidFill>
                  <a:srgbClr val="0E7C86"/>
                </a:solidFill>
                <a:latin typeface="Amiri" pitchFamily="34" charset="0"/>
                <a:ea typeface="Amiri" pitchFamily="34" charset="-122"/>
                <a:cs typeface="Amiri" pitchFamily="34" charset="-120"/>
              </a:rPr>
              <a:t>يَوْمِيًّا</a:t>
            </a:r>
            <a:pPr rtl="1" algn="ctr" indent="0" marL="0">
              <a:buNone/>
            </a:pPr>
            <a:r>
              <a:rPr lang="ar-SA" altLang="en-US" sz="2700" b="1" dirty="0">
                <a:solidFill>
                  <a:srgbClr val="1B3B6F"/>
                </a:solidFill>
                <a:latin typeface="Amiri" pitchFamily="34" charset="0"/>
                <a:ea typeface="Amiri" pitchFamily="34" charset="-122"/>
                <a:cs typeface="Amiri" pitchFamily="34" charset="-120"/>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أَتَمَرَّنُ مَرَّتَيْنِ،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clause: </a:t>
            </a:r>
            <a:pPr algn="l" indent="0" marL="0">
              <a:buNone/>
            </a:pPr>
            <a:r>
              <a:rPr lang="ar-SA" altLang="en-US" sz="1500" dirty="0">
                <a:solidFill>
                  <a:srgbClr val="1F2A37"/>
                </a:solidFill>
                <a:latin typeface="Amiri" pitchFamily="34" charset="0"/>
                <a:ea typeface="Amiri" pitchFamily="34" charset="-122"/>
                <a:cs typeface="Amiri" pitchFamily="34" charset="-120"/>
              </a:rPr>
              <a:t>أُخْتِي</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الاِثْنَيْنُ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اِنْشِغَالًا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busier +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أَتَأَخَّرُ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أَبَدًا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لَا</a:t>
            </a:r>
            <a:pPr algn="l" indent="0" marL="0">
              <a:buNone/>
            </a:pPr>
            <a:r>
              <a:rPr lang="en-US" sz="1150" dirty="0">
                <a:solidFill>
                  <a:srgbClr val="1F2A37"/>
                </a:solidFill>
                <a:latin typeface="Calibri" pitchFamily="34" charset="0"/>
                <a:ea typeface="Calibri" pitchFamily="34" charset="-122"/>
                <a:cs typeface="Calibri" pitchFamily="34" charset="-120"/>
              </a:rPr>
              <a:t> before the verb, </a:t>
            </a:r>
            <a:pPr algn="l" indent="0" marL="0">
              <a:buNone/>
            </a:pPr>
            <a:r>
              <a:rPr lang="ar-SA" altLang="en-US" sz="1500" dirty="0">
                <a:solidFill>
                  <a:srgbClr val="1F2A37"/>
                </a:solidFill>
                <a:latin typeface="Amiri" pitchFamily="34" charset="0"/>
                <a:ea typeface="Amiri" pitchFamily="34" charset="-122"/>
                <a:cs typeface="Amiri" pitchFamily="34" charset="-120"/>
              </a:rPr>
              <a:t>أَبَدًا</a:t>
            </a:r>
            <a:pPr algn="l" indent="0" marL="0">
              <a:buNone/>
            </a:pPr>
            <a:r>
              <a:rPr lang="en-US" sz="1150" dirty="0">
                <a:solidFill>
                  <a:srgbClr val="1F2A37"/>
                </a:solidFill>
                <a:latin typeface="Calibri" pitchFamily="34" charset="0"/>
                <a:ea typeface="Calibri" pitchFamily="34" charset="-122"/>
                <a:cs typeface="Calibri" pitchFamily="34" charset="-120"/>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أُرَاجِعُ دُرُوسِي </a:t>
            </a:r>
            <a:pPr rtl="1" algn="r" indent="0" marL="0">
              <a:buNone/>
            </a:pPr>
            <a:r>
              <a:rPr lang="ar-SA" altLang="en-US" sz="1700" b="1" dirty="0">
                <a:solidFill>
                  <a:srgbClr val="0E7C86"/>
                </a:solidFill>
                <a:latin typeface="Amiri" pitchFamily="34" charset="0"/>
                <a:ea typeface="Amiri" pitchFamily="34" charset="-122"/>
                <a:cs typeface="Amiri" pitchFamily="34" charset="-120"/>
              </a:rPr>
              <a:t>يَوْمِيًّا</a:t>
            </a:r>
            <a:pPr rtl="1" algn="r" indent="0" marL="0">
              <a:buNone/>
            </a:pPr>
            <a:r>
              <a:rPr lang="ar-SA" altLang="en-US" sz="1700" b="1" dirty="0">
                <a:solidFill>
                  <a:srgbClr val="1B3B6F"/>
                </a:solidFill>
                <a:latin typeface="Amiri" pitchFamily="34" charset="0"/>
                <a:ea typeface="Amiri" pitchFamily="34" charset="-122"/>
                <a:cs typeface="Amiri" pitchFamily="34" charset="-120"/>
              </a:rPr>
              <a:t>، وَأَتَمَرَّنُ مَرَّتَيْنِ فِي الأُسْبُوعِ، </a:t>
            </a:r>
            <a:pPr rtl="1" algn="r" indent="0" marL="0">
              <a:buNone/>
            </a:pPr>
            <a:r>
              <a:rPr lang="ar-SA" altLang="en-US" sz="1700" b="1" dirty="0">
                <a:solidFill>
                  <a:srgbClr val="0E7C86"/>
                </a:solidFill>
                <a:latin typeface="Amiri" pitchFamily="34" charset="0"/>
                <a:ea typeface="Amiri" pitchFamily="34" charset="-122"/>
                <a:cs typeface="Amiri" pitchFamily="34" charset="-120"/>
              </a:rPr>
              <a:t>بَيْنَمَا</a:t>
            </a:r>
            <a:pPr rtl="1" algn="r" indent="0" marL="0">
              <a:buNone/>
            </a:pPr>
            <a:r>
              <a:rPr lang="ar-SA" altLang="en-US" sz="1700" b="1" dirty="0">
                <a:solidFill>
                  <a:srgbClr val="1B3B6F"/>
                </a:solidFill>
                <a:latin typeface="Amiri" pitchFamily="34" charset="0"/>
                <a:ea typeface="Amiri" pitchFamily="34" charset="-122"/>
                <a:cs typeface="Amiri" pitchFamily="34" charset="-120"/>
              </a:rPr>
              <a:t> </a:t>
            </a:r>
            <a:pPr rtl="1" algn="r" indent="0" marL="0">
              <a:buNone/>
            </a:pPr>
            <a:r>
              <a:rPr lang="ar-SA" altLang="en-US" sz="1700" b="1" dirty="0">
                <a:solidFill>
                  <a:srgbClr val="D6336C"/>
                </a:solidFill>
                <a:latin typeface="Amiri" pitchFamily="34" charset="0"/>
                <a:ea typeface="Amiri" pitchFamily="34" charset="-122"/>
                <a:cs typeface="Amiri" pitchFamily="34" charset="-120"/>
              </a:rPr>
              <a:t>تَ</a:t>
            </a:r>
            <a:pPr rtl="1" algn="r" indent="0" marL="0">
              <a:buNone/>
            </a:pPr>
            <a:r>
              <a:rPr lang="ar-SA" altLang="en-US" sz="1700" b="1" dirty="0">
                <a:solidFill>
                  <a:srgbClr val="1B3B6F"/>
                </a:solidFill>
                <a:latin typeface="Amiri" pitchFamily="34" charset="0"/>
                <a:ea typeface="Amiri" pitchFamily="34" charset="-122"/>
                <a:cs typeface="Amiri" pitchFamily="34" charset="-120"/>
              </a:rPr>
              <a:t>تَمَرَّنُ أُخْتِي يَوْمِيًّا. الاِثْنَيْنُ </a:t>
            </a:r>
            <a:pPr rtl="1" algn="r" indent="0" marL="0">
              <a:buNone/>
            </a:pPr>
            <a:r>
              <a:rPr lang="ar-SA" altLang="en-US" sz="1700" b="1" dirty="0">
                <a:solidFill>
                  <a:srgbClr val="1D5FBF"/>
                </a:solidFill>
                <a:latin typeface="Amiri" pitchFamily="34" charset="0"/>
                <a:ea typeface="Amiri" pitchFamily="34" charset="-122"/>
                <a:cs typeface="Amiri" pitchFamily="34" charset="-120"/>
              </a:rPr>
              <a:t>أَكْثَرُ</a:t>
            </a:r>
            <a:pPr rtl="1" algn="r" indent="0" marL="0">
              <a:buNone/>
            </a:pPr>
            <a:r>
              <a:rPr lang="ar-SA" altLang="en-US" sz="1700" b="1" dirty="0">
                <a:solidFill>
                  <a:srgbClr val="1B3B6F"/>
                </a:solidFill>
                <a:latin typeface="Amiri" pitchFamily="34" charset="0"/>
                <a:ea typeface="Amiri" pitchFamily="34" charset="-122"/>
                <a:cs typeface="Amiri" pitchFamily="34" charset="-120"/>
              </a:rPr>
              <a:t> اِنْشِغَالًا </a:t>
            </a:r>
            <a:pPr rtl="1" algn="r" indent="0" marL="0">
              <a:buNone/>
            </a:pPr>
            <a:r>
              <a:rPr lang="ar-SA" altLang="en-US" sz="1700" b="1" dirty="0">
                <a:solidFill>
                  <a:srgbClr val="1D5FBF"/>
                </a:solidFill>
                <a:latin typeface="Amiri" pitchFamily="34" charset="0"/>
                <a:ea typeface="Amiri" pitchFamily="34" charset="-122"/>
                <a:cs typeface="Amiri" pitchFamily="34" charset="-120"/>
              </a:rPr>
              <a:t>مِنَ</a:t>
            </a:r>
            <a:pPr rtl="1" algn="r" indent="0" marL="0">
              <a:buNone/>
            </a:pPr>
            <a:r>
              <a:rPr lang="ar-SA" altLang="en-US" sz="1700" b="1" dirty="0">
                <a:solidFill>
                  <a:srgbClr val="1B3B6F"/>
                </a:solidFill>
                <a:latin typeface="Amiri" pitchFamily="34" charset="0"/>
                <a:ea typeface="Amiri" pitchFamily="34" charset="-122"/>
                <a:cs typeface="Amiri" pitchFamily="34" charset="-120"/>
              </a:rPr>
              <a:t> السَّبْتِ. </a:t>
            </a:r>
            <a:pPr rtl="1" algn="r" indent="0" marL="0">
              <a:buNone/>
            </a:pPr>
            <a:r>
              <a:rPr lang="ar-SA" altLang="en-US" sz="1700" b="1" dirty="0">
                <a:solidFill>
                  <a:srgbClr val="0E7C86"/>
                </a:solidFill>
                <a:latin typeface="Amiri" pitchFamily="34" charset="0"/>
                <a:ea typeface="Amiri" pitchFamily="34" charset="-122"/>
                <a:cs typeface="Amiri" pitchFamily="34" charset="-120"/>
              </a:rPr>
              <a:t>لَا</a:t>
            </a:r>
            <a:pPr rtl="1" algn="r" indent="0" marL="0">
              <a:buNone/>
            </a:pPr>
            <a:r>
              <a:rPr lang="ar-SA" altLang="en-US" sz="1700" b="1" dirty="0">
                <a:solidFill>
                  <a:srgbClr val="1B3B6F"/>
                </a:solidFill>
                <a:latin typeface="Amiri" pitchFamily="34" charset="0"/>
                <a:ea typeface="Amiri" pitchFamily="34" charset="-122"/>
                <a:cs typeface="Amiri" pitchFamily="34" charset="-120"/>
              </a:rPr>
              <a:t> أَتَأَخَّرُ </a:t>
            </a:r>
            <a:pPr rtl="1" algn="r" indent="0" marL="0">
              <a:buNone/>
            </a:pPr>
            <a:r>
              <a:rPr lang="ar-SA" altLang="en-US" sz="1700" b="1" dirty="0">
                <a:solidFill>
                  <a:srgbClr val="0E7C86"/>
                </a:solidFill>
                <a:latin typeface="Amiri" pitchFamily="34" charset="0"/>
                <a:ea typeface="Amiri" pitchFamily="34" charset="-122"/>
                <a:cs typeface="Amiri" pitchFamily="34" charset="-120"/>
              </a:rPr>
              <a:t>أَبَدًا</a:t>
            </a:r>
            <a:pPr rtl="1" algn="r" indent="0" marL="0">
              <a:buNone/>
            </a:pPr>
            <a:r>
              <a:rPr lang="ar-SA" altLang="en-US" sz="1700" b="1" dirty="0">
                <a:solidFill>
                  <a:srgbClr val="1B3B6F"/>
                </a:solidFill>
                <a:latin typeface="Amiri" pitchFamily="34" charset="0"/>
                <a:ea typeface="Amiri" pitchFamily="34" charset="-122"/>
                <a:cs typeface="Amiri" pitchFamily="34" charset="-120"/>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Tuesday, whereas my brother trains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Saturday, it is a rest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never late for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Wednesday is busier than Thursday.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topic is resumed by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organised with </a:t>
            </a:r>
            <a:pPr algn="l" indent="0" marL="0">
              <a:buNone/>
            </a:pPr>
            <a:r>
              <a:rPr lang="ar-SA" altLang="en-US" sz="1650" b="1" dirty="0">
                <a:solidFill>
                  <a:srgbClr val="1B3B6F"/>
                </a:solidFill>
                <a:latin typeface="Amiri" pitchFamily="34" charset="0"/>
                <a:ea typeface="Amiri" pitchFamily="34" charset="-122"/>
                <a:cs typeface="Amiri" pitchFamily="34" charset="-120"/>
              </a:rPr>
              <a:t>أَمَّا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topic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human masculine plural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يَذْهَبُونَ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مُعْظَمِ الأَيَّامِ</a:t>
            </a:r>
            <a:pPr algn="l" indent="0" marL="0">
              <a:buNone/>
            </a:pPr>
            <a:r>
              <a:rPr lang="en-US" sz="1050" i="1" dirty="0">
                <a:solidFill>
                  <a:srgbClr val="8A6D1E"/>
                </a:solidFill>
                <a:latin typeface="Calibri" pitchFamily="34" charset="0"/>
                <a:ea typeface="Calibri" pitchFamily="34" charset="-122"/>
                <a:cs typeface="Calibri" pitchFamily="34" charset="-120"/>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must follow </a:t>
            </a:r>
            <a:pPr algn="l" indent="0" marL="0">
              <a:buNone/>
            </a:pPr>
            <a:r>
              <a:rPr lang="ar-SA" altLang="en-US" sz="1700" dirty="0">
                <a:solidFill>
                  <a:srgbClr val="5A6472"/>
                </a:solidFill>
                <a:latin typeface="Amiri" pitchFamily="34" charset="0"/>
                <a:ea typeface="Amiri" pitchFamily="34" charset="-122"/>
                <a:cs typeface="Amiri" pitchFamily="34" charset="-120"/>
              </a:rPr>
              <a:t>أَمَّا</a:t>
            </a:r>
            <a:pPr algn="l" indent="0" marL="0">
              <a:buNone/>
            </a:pPr>
            <a:r>
              <a:rPr lang="en-US" sz="1300" i="1" dirty="0">
                <a:solidFill>
                  <a:srgbClr val="5A6472"/>
                </a:solidFill>
                <a:latin typeface="Calibri" pitchFamily="34" charset="0"/>
                <a:ea typeface="Calibri" pitchFamily="34" charset="-122"/>
                <a:cs typeface="Calibri" pitchFamily="34" charset="-120"/>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500" b="1" dirty="0">
                <a:solidFill>
                  <a:srgbClr val="1B3B6F"/>
                </a:solidFill>
                <a:latin typeface="Amiri" pitchFamily="34" charset="0"/>
                <a:ea typeface="Amiri" pitchFamily="34" charset="-122"/>
                <a:cs typeface="Amiri" pitchFamily="34" charset="-120"/>
              </a:rPr>
              <a:t>أَمَّا</a:t>
            </a:r>
            <a:pPr algn="l" indent="0" marL="0">
              <a:buNone/>
            </a:pPr>
            <a:r>
              <a:rPr lang="en-US" sz="1150" b="1" dirty="0">
                <a:solidFill>
                  <a:srgbClr val="1B3B6F"/>
                </a:solidFill>
                <a:latin typeface="Calibri" pitchFamily="34" charset="0"/>
                <a:ea typeface="Calibri" pitchFamily="34" charset="-122"/>
                <a:cs typeface="Calibri" pitchFamily="34" charset="-120"/>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Comparatives take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الاِثْنَيْنِ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أَتَمَرَّنُ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days using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Compare two days with </a:t>
            </a:r>
            <a:pPr algn="l" indent="0" marL="0">
              <a:buNone/>
            </a:pPr>
            <a:r>
              <a:rPr lang="ar-SA" altLang="en-US" sz="1550" dirty="0">
                <a:solidFill>
                  <a:srgbClr val="1F2A37"/>
                </a:solidFill>
                <a:latin typeface="Amiri" pitchFamily="34" charset="0"/>
                <a:ea typeface="Amiri" pitchFamily="34" charset="-122"/>
                <a:cs typeface="Amiri" pitchFamily="34" charset="-120"/>
              </a:rPr>
              <a:t>أَكْثَرُ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أَقَلُّ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“never” with </a:t>
            </a:r>
            <a:pPr algn="l" indent="0" marL="0">
              <a:buNone/>
            </a:pPr>
            <a:r>
              <a:rPr lang="ar-SA" altLang="en-US" sz="1700" dirty="0">
                <a:solidFill>
                  <a:srgbClr val="1F2A37"/>
                </a:solidFill>
                <a:latin typeface="Amiri" pitchFamily="34" charset="0"/>
                <a:ea typeface="Amiri" pitchFamily="34" charset="-122"/>
                <a:cs typeface="Amiri" pitchFamily="34" charset="-120"/>
              </a:rPr>
              <a:t>لَا … أَبَدًا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أَمَّا … فَـ</a:t>
            </a:r>
            <a:pPr algn="l" indent="0" marL="0">
              <a:buNone/>
            </a:pPr>
            <a:r>
              <a:rPr lang="en-US" sz="1300" dirty="0">
                <a:solidFill>
                  <a:srgbClr val="1F2A37"/>
                </a:solidFill>
                <a:latin typeface="Calibri" pitchFamily="34" charset="0"/>
                <a:ea typeface="Calibri" pitchFamily="34" charset="-122"/>
                <a:cs typeface="Calibri" pitchFamily="34" charset="-120"/>
              </a:rPr>
              <a:t> and a comparative with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أُسْبُوعِيًّا</a:t>
            </a:r>
            <a:pPr algn="l" indent="0" marL="0">
              <a:buNone/>
            </a:pPr>
            <a:r>
              <a:rPr lang="en-US" sz="1050" i="1" dirty="0">
                <a:solidFill>
                  <a:srgbClr val="8A6D1E"/>
                </a:solidFill>
                <a:latin typeface="Calibri" pitchFamily="34" charset="0"/>
                <a:ea typeface="Calibri" pitchFamily="34" charset="-122"/>
                <a:cs typeface="Calibri" pitchFamily="34" charset="-120"/>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frequency frame is </a:t>
            </a:r>
            <a:pPr algn="l"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 requires the negative frame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أَبَدًا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34" charset="0"/>
                <a:ea typeface="Amiri" pitchFamily="34" charset="-122"/>
                <a:cs typeface="Amiri" pitchFamily="34" charset="-120"/>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أُخْتِي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تَذْهَبُ</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يَذْهَبُ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comment: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فَهُوَ</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comparison frame is </a:t>
            </a:r>
            <a:pPr algn="l" indent="0" marL="0">
              <a:buNone/>
            </a:pPr>
            <a:r>
              <a:rPr lang="ar-SA" altLang="en-US" sz="1350" dirty="0">
                <a:solidFill>
                  <a:srgbClr val="8A6D1E"/>
                </a:solidFill>
                <a:latin typeface="Amiri" pitchFamily="34" charset="0"/>
                <a:ea typeface="Amiri" pitchFamily="34" charset="-122"/>
                <a:cs typeface="Amiri" pitchFamily="34" charset="-120"/>
              </a:rPr>
              <a:t>أَكْثَرُ</a:t>
            </a:r>
            <a:pPr algn="l" indent="0" marL="0">
              <a:buNone/>
            </a:pPr>
            <a:r>
              <a:rPr lang="en-US" sz="1050" i="1" dirty="0">
                <a:solidFill>
                  <a:srgbClr val="8A6D1E"/>
                </a:solidFill>
                <a:latin typeface="Calibri" pitchFamily="34" charset="0"/>
                <a:ea typeface="Calibri" pitchFamily="34" charset="-122"/>
                <a:cs typeface="Calibri" pitchFamily="34" charset="-120"/>
              </a:rPr>
              <a:t> + adjective +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34" charset="0"/>
                <a:ea typeface="Amiri" pitchFamily="34" charset="-122"/>
                <a:cs typeface="Amiri" pitchFamily="34" charset="-120"/>
              </a:rPr>
              <a:t>عَلِيٌّ يَتَمَرَّنُ يَوْمَ الاِثْنَيْنِ وَالأَرْبِعَاءِ وَالجُمُعَةِ</a:t>
            </a:r>
            <a:pPr algn="l" indent="0" marL="0">
              <a:buNone/>
            </a:pPr>
            <a:r>
              <a:rPr lang="en-US" sz="950" b="1" dirty="0">
                <a:solidFill>
                  <a:srgbClr val="1B3B6F"/>
                </a:solidFill>
                <a:latin typeface="Calibri" pitchFamily="34" charset="0"/>
                <a:ea typeface="Calibri" pitchFamily="34" charset="-122"/>
                <a:cs typeface="Calibri" pitchFamily="34" charset="-120"/>
              </a:rPr>
              <a:t>. How should he answer </a:t>
            </a:r>
            <a:pPr algn="l" indent="0" marL="0">
              <a:buNone/>
            </a:pPr>
            <a:r>
              <a:rPr lang="ar-SA" altLang="en-US" sz="1250" b="1" dirty="0">
                <a:solidFill>
                  <a:srgbClr val="1B3B6F"/>
                </a:solidFill>
                <a:latin typeface="Amiri" pitchFamily="34" charset="0"/>
                <a:ea typeface="Amiri" pitchFamily="34" charset="-122"/>
                <a:cs typeface="Amiri" pitchFamily="34" charset="-120"/>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complete my homework</a:t>
            </a:r>
            <a:pPr indent="0" marL="0">
              <a:buNone/>
            </a:pPr>
            <a:r>
              <a:rPr lang="en-US" sz="1000" i="1" dirty="0">
                <a:solidFill>
                  <a:srgbClr val="5A6472"/>
                </a:solidFill>
                <a:latin typeface="Calibri" pitchFamily="34" charset="0"/>
                <a:ea typeface="Calibri" pitchFamily="34" charset="-122"/>
                <a:cs typeface="Calibri" pitchFamily="34" charset="-120"/>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rest</a:t>
            </a:r>
            <a:pPr indent="0" marL="0">
              <a:buNone/>
            </a:pPr>
            <a:r>
              <a:rPr lang="en-US" sz="1000" i="1" dirty="0">
                <a:solidFill>
                  <a:srgbClr val="5A6472"/>
                </a:solidFill>
                <a:latin typeface="Calibri" pitchFamily="34" charset="0"/>
                <a:ea typeface="Calibri" pitchFamily="34" charset="-122"/>
                <a:cs typeface="Calibri" pitchFamily="34" charset="-120"/>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comparing your week with a family member’s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every verb after </a:t>
            </a:r>
            <a:pPr algn="l" indent="0" marL="0">
              <a:buNone/>
            </a:pPr>
            <a:r>
              <a:rPr lang="ar-SA" altLang="en-US" sz="1700" b="1" dirty="0">
                <a:solidFill>
                  <a:srgbClr val="FFFFFF"/>
                </a:solidFill>
                <a:latin typeface="Amiri" pitchFamily="34" charset="0"/>
                <a:ea typeface="Amiri" pitchFamily="34" charset="-122"/>
                <a:cs typeface="Amiri" pitchFamily="34" charset="-120"/>
              </a:rPr>
              <a:t>بَيْنَمَا</a:t>
            </a:r>
            <a:pPr algn="l" indent="0" marL="0">
              <a:buNone/>
            </a:pPr>
            <a:r>
              <a:rPr lang="en-US" sz="1300" b="1" dirty="0">
                <a:solidFill>
                  <a:srgbClr val="FFFFFF"/>
                </a:solidFill>
                <a:latin typeface="Calibri" pitchFamily="34" charset="0"/>
                <a:ea typeface="Calibri" pitchFamily="34" charset="-122"/>
                <a:cs typeface="Calibri" pitchFamily="34" charset="-120"/>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2026-09-27T12:02:32Z</dcterms:created>
  <dcterms:modified xsi:type="dcterms:W3CDTF">2026-09-27T12:02:32Z</dcterms:modified>
</cp:coreProperties>
</file>