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D1-L03. The website lesson “How Often? — Frequency Adverbs in My Routine”: vocabulary, grammar rules and quiz, patterns, common mistakes, sorter, listening, reading, speaking prompts and model, writing task and model, differentiation, final check and the lesson mission. Picture match: website visual game “How Often? — Frequency Adverbs in My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frequency LADDER (always → often → sometimes → rarely → never) + “every day / weekly”, attached to verbs from D1-L01. Develop: contrast two people with بَيْنَمَا (each verb keeps its own prefix!). Stretch: أَمَّا … فَـ and comparatives (أَكْثَرُ اِنْشِغَالًا مِنْ).
• The frequency ladder slide is visual (percentage bars) so that weaker readers can place words by meaning before reading them.
• Recycling: days of the week are assumed — show them on the whiteboard if needed (الاِثْنَيْنُ، الثُّلَاثَاءُ …).
• Urdu bridge: عادتاً، دائماً، ابد، معظم (a false friend)، مشغول.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D1-L02 (time, schedule verbs) and D1-L01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Frequency words say HOW OFTEN. بَيْنَمَا joins two complete sentences — check each verb’s prefix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عادتاً (usually), دائماً (always — formal Urdu), ابد (eternity → لَا … أَبَدًا never), معظم (FALSE FRIEND: Urdu “great, honoured”; Arabic فِي مُعْظَمِ الأَيَّامِ = on most days), مشغول (busy → اِنْشِغَالًا, busier).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 and schedule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Contrast and comparison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Frequency range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FREQUENCY LADDER (website “Frequency range” + rule “Place frequency accurately”): frequency may follow the verb, or a phrase such as كَثِيرًا مَا may introduce the clause; لَا … أَبَدًا wraps the verb.
Quick-fire: say an activity; students show fingers 5 (always) → 0 (never), then say the Arabic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“Use بَيْنَمَا between two contrasting clauses”, “Use أَمَّا … فَـ to organise a comparison”, “Compare how busy days are” (website patterns 1, 2 and 4).
Website teaching point: “A weekly description should reveal patterns, contrasts and priorities rather than repeat seven separate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“Frequency is more than دَائِمًا and أَحْيَانًا. Control single-word adverbs, numerical frequency phrases and negative frames, then place each expression where it reads naturally.”
• Use بَيْنَمَا between two contrasting clauses: Both sides are complete clauses. The subjects may differ, so check each verb prefix independently.
• Use أَمَّا ... فَـ to organise a comparison: أَمَّا introduces the topic and فَـ begins the comment.
• Place frequency accurately: Frequency may follow the verb, or a phrase such as كَثِيرًا مَا may introduce the clause.
• Compare how busy days are: The comparative phrase describes the difference between two days or schedules.
Website common error: Do not write بَيْنَمَا أَخِي أَذْهَبُ. If the subject is أَخِي, the verb is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one short comparison, with a think-aloud. Students copy it and underline every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How Often? — Frequency Adverbs in My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always, sometimes, never). Other cards for homework: غَالِبًا (often), نَادِرًا (rarely), كُلَّ يَوْمٍ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phrase on the correct frequency scale.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يَقُولُ عُمَرُ: يَوْمُ الاِثْنَيْنِ أَكْثَرُ أَيَّامِي اِنْشِغَالًا؛ فَبَعْدَ المَدْرَسَةِ أَذْهَبُ إِلَى دَرْسٍ إِضَافِيٍّ، ثُمَّ أَتَمَرَّنُ فِي المَسَاءِ. أَمَّا يَوْمُ الثُّلَاثَاءِ فَهُوَ أَهْدَأُ، وَغَالِبًا مَا أُكْمِلُ وَاجِبِي مُبَكِّرًا. وَتَقُولُ هَنَاءُ: أَنَا أَتَمَرَّنُ مَرَّتَيْنِ فِي الأُسْبُوعِ، بَيْنَمَا يَتَمَرَّنُ أَخِي يَوْمِيًّا. نِهَايَةُ أُسْبُوعِي أَقَلُّ تَنْظِيمًا مِنْ أَيَّامِ الدِّرَاسَةِ، لِأَنَّ مَوَاعِيدِي تَتَغَيَّرُ.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every day? What do you never do?” Website Stretch goal: a 30–45-second answer with contrast, evidence and a balanced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Describe three regular weekly activities. · Develop — Compare two days using بَيْنَمَا and a comparative. · Stretch — Produce a 45-second answer with contrast, evidence and a balanced judgement.
Website writing task (Stretch): Write 100–120 words comparing how often you complete school-day and weekend activities.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يَوْمِيًّا · مَرَّتَيْنِ فِي الأُسْبُوعِ · فَقَطْ · مِنْ حِينٍ إِلَى آخَرَ · بَيْنَمَا أَزُورُ · أَمَّا نِهَايَةُ الأُسْبُوعِ فَهِيَ · أَكْثَرُ اِنْشِغَالًا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(D1-L04 · Before and After — Sequencing My Day) will spend class time USING this language, so students prepare it tonight — short, simple, easy to access (school guidance: “Simple, Short, Interesting, Relevant, Easy to access”). The five words come from the website D1-L04 vocabulary (sequence structures and afternoon actions).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How Often? — Frequency Adverbs in My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كَمْ مَرَّةً؟ — ظُرُوفُ التَّكْرَارِ فِي رُوتِينِي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Say how often routines happen, place frequency expressions naturally, and compare two days or two people with </a:t>
            </a:r>
            <a:pPr algn="l" indent="0" marL="0">
              <a:buNone/>
            </a:pPr>
            <a:r>
              <a:rPr lang="ar-SA" altLang="en-US" sz="1800" dirty="0">
                <a:solidFill>
                  <a:srgbClr val="C6D2E6"/>
                </a:solidFill>
                <a:latin typeface="Amiri" pitchFamily="2" charset="-78"/>
                <a:ea typeface="Amiri" pitchFamily="2" charset="-78"/>
                <a:cs typeface="Amiri" pitchFamily="2" charset="-78"/>
              </a:rPr>
              <a:t>بَيْنَمَا</a:t>
            </a:r>
            <a:pPr algn="l" indent="0" marL="0">
              <a:buNone/>
            </a:pPr>
            <a:r>
              <a:rPr lang="en-US" sz="1400" dirty="0">
                <a:solidFill>
                  <a:srgbClr val="C6D2E6"/>
                </a:solidFill>
                <a:latin typeface="Calibri" pitchFamily="34" charset="0"/>
                <a:cs typeface="Amiri" pitchFamily="2" charset="-78"/>
              </a:rPr>
              <a:t>, </a:t>
            </a:r>
            <a:pPr algn="l" indent="0" marL="0">
              <a:buNone/>
            </a:pPr>
            <a:r>
              <a:rPr lang="ar-SA" altLang="en-US" sz="1800" dirty="0">
                <a:solidFill>
                  <a:srgbClr val="C6D2E6"/>
                </a:solidFill>
                <a:latin typeface="Amiri" pitchFamily="2" charset="-78"/>
                <a:ea typeface="Amiri" pitchFamily="2" charset="-78"/>
                <a:cs typeface="Amiri" pitchFamily="2" charset="-78"/>
              </a:rPr>
              <a:t>أَمَّا … فَـ</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ea typeface="Amiri" pitchFamily="2" charset="-78"/>
                <a:cs typeface="Amiri" pitchFamily="2" charset="-78"/>
              </a:rPr>
              <a:t>أَكْثَرُ … مِنْ</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D1-L03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frequency ladder, then contrast two people or two days.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by frequency,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يَوْمِيًّا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whereas, while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7:45?</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٧:٤٥</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الرُّبْعَ</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وَالرُّبْعُ</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إِلَّا الرُّبْعَ</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“lasts”?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يَسْتَيْقِظُ مُبَكِّرًا.</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أَسْتَيْقِظُ مُبَكِّرًا.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تَسْتَيْقِظُ مُبَكِّرًا.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يَوْمِيًّا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weekly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whereas, while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7:45?</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٧:٤٥</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السَّابِعَةُ إِلَّا الرُّبْعَ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السَّابِعَةُ وَالرُّبْعُ</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الثَّامِنَةُ إِلَّا الرُّبْعَ</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D1-L02: the NEXT hour with </a:t>
            </a:r>
            <a:pPr algn="l" indent="0" marL="0">
              <a:buNone/>
            </a:pPr>
            <a:r>
              <a:rPr lang="ar-SA" altLang="en-US" sz="1350" dirty="0">
                <a:solidFill>
                  <a:srgbClr val="8A6D1E"/>
                </a:solidFill>
                <a:latin typeface="Amiri" pitchFamily="2" charset="-78"/>
                <a:ea typeface="Amiri" pitchFamily="2" charset="-78"/>
                <a:cs typeface="Amiri" pitchFamily="2" charset="-78"/>
              </a:rPr>
              <a:t>إِلَّا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“lasts”?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يَبْدَأُ</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يَسْتَمِرُّ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D1-L02 schedule verbs.</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أَخِي يَسْتَيْقِظُ مُبَكِّرًا.</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 أَسْتَيْقِظُ مُبَكِّرًا.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 تَسْتَيْقِظُ مُبَكِّرًا.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D1-L01: my brother → he → </a:t>
            </a:r>
            <a:pPr algn="l" indent="0" marL="0">
              <a:buNone/>
            </a:pPr>
            <a:r>
              <a:rPr lang="ar-SA" altLang="en-US" sz="1350" dirty="0">
                <a:solidFill>
                  <a:srgbClr val="8A6D1E"/>
                </a:solidFill>
                <a:latin typeface="Amiri" pitchFamily="2" charset="-78"/>
                <a:ea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Frequency words say HOW OFTEN. </a:t>
            </a:r>
            <a:pPr algn="l" indent="0" marL="0">
              <a:buNone/>
            </a:pPr>
            <a:r>
              <a:rPr lang="ar-SA" altLang="en-US" sz="1700" b="1" dirty="0">
                <a:solidFill>
                  <a:srgbClr val="1F2A37"/>
                </a:solidFill>
                <a:latin typeface="Amiri" pitchFamily="2" charset="-78"/>
                <a:ea typeface="Amiri" pitchFamily="2" charset="-78"/>
                <a:cs typeface="Amiri" pitchFamily="2" charset="-78"/>
              </a:rPr>
              <a:t>بَيْنَمَا</a:t>
            </a:r>
            <a:pPr algn="l" indent="0" marL="0">
              <a:buNone/>
            </a:pPr>
            <a:r>
              <a:rPr lang="en-US" sz="1300" b="1" dirty="0">
                <a:solidFill>
                  <a:srgbClr val="1F2A37"/>
                </a:solidFill>
                <a:latin typeface="Calibri" pitchFamily="34" charset="0"/>
                <a:cs typeface="Amiri" pitchFamily="2" charset="-78"/>
              </a:rPr>
              <a:t> joins two complete sentences — check each verb’s prefix separately.</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أَتَمَرَّنُ يَوْمِيًّا،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بَيْنَمَا</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تَمَرَّنُ أُخْتِي أُسْبُوعِيًّا.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complete weekly schedule.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varied frequency expressions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two routines with correct verb agreement.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busy and quiet days.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how often I do five activities.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always, sometimes, rarely and never.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two people with </a:t>
            </a:r>
            <a:pPr algn="l" indent="0" marL="0">
              <a:buNone/>
            </a:pPr>
            <a:r>
              <a:rPr lang="ar-SA" altLang="en-US" sz="1700" b="1" dirty="0">
                <a:solidFill>
                  <a:srgbClr val="C9780A"/>
                </a:solidFill>
                <a:latin typeface="Amiri" pitchFamily="2" charset="-78"/>
                <a:ea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numerical frequency (twice a week).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organise a comparison with </a:t>
            </a:r>
            <a:pPr algn="l" indent="0" marL="0">
              <a:buNone/>
            </a:pPr>
            <a:r>
              <a:rPr lang="ar-SA" altLang="en-US" sz="1700" b="1" dirty="0">
                <a:solidFill>
                  <a:srgbClr val="B83227"/>
                </a:solidFill>
                <a:latin typeface="Amiri" pitchFamily="2" charset="-78"/>
                <a:ea typeface="Amiri" pitchFamily="2" charset="-78"/>
                <a:cs typeface="Amiri" pitchFamily="2" charset="-78"/>
              </a:rPr>
              <a:t>أَمَّا … فَـ</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days with </a:t>
            </a:r>
            <a:pPr algn="l" indent="0" marL="0">
              <a:buNone/>
            </a:pPr>
            <a:r>
              <a:rPr lang="ar-SA" altLang="en-US" sz="1700" b="1" dirty="0">
                <a:solidFill>
                  <a:srgbClr val="B83227"/>
                </a:solidFill>
                <a:latin typeface="Amiri" pitchFamily="2" charset="-78"/>
                <a:ea typeface="Amiri" pitchFamily="2" charset="-78"/>
                <a:cs typeface="Amiri" pitchFamily="2" charset="-78"/>
              </a:rPr>
              <a:t>أَكْثَرُ / أَقَلُّ … مِنْ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Week and schedule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Contrast and comparison · 7</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Frequency range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‎عادتاً‎ </a:t>
            </a:r>
            <a:pPr indent="0" marL="0">
              <a:buNone/>
            </a:pPr>
            <a:r>
              <a:rPr lang="en-US" sz="950" b="1" dirty="0">
                <a:solidFill>
                  <a:srgbClr val="2E8B57"/>
                </a:solidFill>
                <a:latin typeface="Calibri" pitchFamily="34" charset="0"/>
                <a:cs typeface="Amiri" pitchFamily="2" charset="-78"/>
              </a:rPr>
              <a:t> ādatan · usually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دَائِمًا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‎دائماً‎ </a:t>
            </a:r>
            <a:pPr indent="0" marL="0">
              <a:buNone/>
            </a:pPr>
            <a:r>
              <a:rPr lang="en-US" sz="950" b="1" dirty="0">
                <a:solidFill>
                  <a:srgbClr val="2E8B57"/>
                </a:solidFill>
                <a:latin typeface="Calibri" pitchFamily="34" charset="0"/>
                <a:cs typeface="Amiri" pitchFamily="2" charset="-78"/>
              </a:rPr>
              <a:t> dāiman · always (formal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أَبَدًا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‎ابد‎ </a:t>
            </a:r>
            <a:pPr indent="0" marL="0">
              <a:buNone/>
            </a:pPr>
            <a:r>
              <a:rPr lang="en-US" sz="950" b="1" dirty="0">
                <a:solidFill>
                  <a:srgbClr val="2E8B57"/>
                </a:solidFill>
                <a:latin typeface="Calibri" pitchFamily="34" charset="0"/>
                <a:cs typeface="Amiri" pitchFamily="2" charset="-78"/>
              </a:rPr>
              <a:t> abad · eternity (→ never)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مُعْظَمُ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‎معظم‎ </a:t>
            </a:r>
            <a:pPr indent="0" marL="0">
              <a:buNone/>
            </a:pPr>
            <a:r>
              <a:rPr lang="en-US" sz="950" b="1" dirty="0">
                <a:solidFill>
                  <a:srgbClr val="2E8B57"/>
                </a:solidFill>
                <a:latin typeface="Calibri" pitchFamily="34" charset="0"/>
                <a:cs typeface="Amiri" pitchFamily="2" charset="-78"/>
              </a:rPr>
              <a:t> muazzam · Urdu: great · Arabic: most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اِنْشِغَالٌ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‎مشغول‎ </a:t>
            </a:r>
            <a:pPr indent="0" marL="0">
              <a:buNone/>
            </a:pPr>
            <a:r>
              <a:rPr lang="en-US" sz="950" b="1" dirty="0">
                <a:solidFill>
                  <a:srgbClr val="2E8B57"/>
                </a:solidFill>
                <a:latin typeface="Calibri" pitchFamily="34" charset="0"/>
                <a:cs typeface="Amiri" pitchFamily="2" charset="-78"/>
              </a:rPr>
              <a:t> mashghūl · busy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 and schedule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أَيَّامُ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days of the week</a:t>
            </a:r>
            <a:endParaRPr lang="en-US" sz="1350" dirty="0"/>
          </a:p>
          <a:p>
            <a:pPr indent="0" marL="0">
              <a:buNone/>
            </a:pPr>
            <a:r>
              <a:rPr lang="en-US" sz="1100" i="1" dirty="0">
                <a:solidFill>
                  <a:srgbClr val="5A6472"/>
                </a:solidFill>
                <a:latin typeface="Calibri" pitchFamily="34" charset="0"/>
                <a:cs typeface="Amiri" pitchFamily="2" charset="-78"/>
              </a:rPr>
              <a:t>ay-yā-mu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أَيَّامُ الدِّرَاسَةِ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days</a:t>
            </a:r>
            <a:endParaRPr lang="en-US" sz="1350" dirty="0"/>
          </a:p>
          <a:p>
            <a:pPr indent="0" marL="0">
              <a:buNone/>
            </a:pPr>
            <a:r>
              <a:rPr lang="en-US" sz="1100" i="1" dirty="0">
                <a:solidFill>
                  <a:srgbClr val="5A6472"/>
                </a:solidFill>
                <a:latin typeface="Calibri" pitchFamily="34" charset="0"/>
                <a:cs typeface="Amiri" pitchFamily="2" charset="-78"/>
              </a:rPr>
              <a:t>ay-yā-mu ad-di-rā-sa-ti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نِهَايَةُ الأُسْبُوعِ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weekend</a:t>
            </a:r>
            <a:endParaRPr lang="en-US" sz="1350" dirty="0"/>
          </a:p>
          <a:p>
            <a:pPr indent="0" marL="0">
              <a:buNone/>
            </a:pPr>
            <a:r>
              <a:rPr lang="en-US" sz="1100" i="1" dirty="0">
                <a:solidFill>
                  <a:srgbClr val="5A6472"/>
                </a:solidFill>
                <a:latin typeface="Calibri" pitchFamily="34" charset="0"/>
                <a:cs typeface="Amiri" pitchFamily="2" charset="-78"/>
              </a:rPr>
              <a:t>ni-hā-ya-tu al-us-bū-ʿi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الجَدْوَلُ الأُسْبُوعِيُّ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 schedule</a:t>
            </a:r>
            <a:endParaRPr lang="en-US" sz="1350" dirty="0"/>
          </a:p>
          <a:p>
            <a:pPr indent="0" marL="0">
              <a:buNone/>
            </a:pPr>
            <a:r>
              <a:rPr lang="en-US" sz="1100" i="1" dirty="0">
                <a:solidFill>
                  <a:srgbClr val="5A6472"/>
                </a:solidFill>
                <a:latin typeface="Calibri" pitchFamily="34" charset="0"/>
                <a:cs typeface="Amiri" pitchFamily="2" charset="-78"/>
              </a:rPr>
              <a:t>al-jad-wa-lu al-us-bū-ʿiy-yu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Shape 3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Text 4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حِصَّةٌ إِضَافِيَّةٌ</a:t>
            </a:r>
            <a:endParaRPr lang="ar-SA" sz="3000" dirty="0"/>
          </a:p>
        </p:txBody>
      </p:sp>
      <p:sp>
        <p:nvSpPr>
          <p:cNvPr id="45" name="Text 4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extra lesson</a:t>
            </a:r>
            <a:endParaRPr lang="en-US" sz="1350" dirty="0"/>
          </a:p>
          <a:p>
            <a:pPr indent="0" marL="0">
              <a:buNone/>
            </a:pPr>
            <a:r>
              <a:rPr lang="en-US" sz="1100" i="1" dirty="0">
                <a:solidFill>
                  <a:srgbClr val="5A6472"/>
                </a:solidFill>
                <a:latin typeface="Calibri" pitchFamily="34" charset="0"/>
                <a:cs typeface="Amiri" pitchFamily="2" charset="-78"/>
              </a:rPr>
              <a:t>ḥiṣ-ṣa-tun i-ḍā-fiy-ya-tun</a:t>
            </a:r>
            <a:endParaRPr lang="en-US" sz="1350" dirty="0"/>
          </a:p>
        </p:txBody>
      </p:sp>
      <p:sp>
        <p:nvSpPr>
          <p:cNvPr id="46" name="Shape 4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8" name="Text 4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حِصَّةٌ</a:t>
            </a:r>
            <a:endParaRPr lang="ar-SA" sz="1500" dirty="0"/>
          </a:p>
        </p:txBody>
      </p:sp>
      <p:sp>
        <p:nvSpPr>
          <p:cNvPr id="49" name="Shape 4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حِصَصٌ</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Week and schedule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نَادٍ</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club</a:t>
            </a:r>
            <a:endParaRPr lang="en-US" sz="1350" dirty="0"/>
          </a:p>
          <a:p>
            <a:pPr indent="0" marL="0">
              <a:buNone/>
            </a:pPr>
            <a:r>
              <a:rPr lang="en-US" sz="1100" i="1" dirty="0">
                <a:solidFill>
                  <a:srgbClr val="5A6472"/>
                </a:solidFill>
                <a:latin typeface="Calibri" pitchFamily="34" charset="0"/>
                <a:cs typeface="Amiri" pitchFamily="2" charset="-78"/>
              </a:rPr>
              <a:t>nā-din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نَادٍ</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the</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النَّادِي</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نَوَادٍ</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ثَابِتٌ</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fixed appointment</a:t>
            </a:r>
            <a:endParaRPr lang="en-US" sz="1350" dirty="0"/>
          </a:p>
          <a:p>
            <a:pPr indent="0" marL="0">
              <a:buNone/>
            </a:pPr>
            <a:r>
              <a:rPr lang="en-US" sz="1100" i="1" dirty="0">
                <a:solidFill>
                  <a:srgbClr val="5A6472"/>
                </a:solidFill>
                <a:latin typeface="Calibri" pitchFamily="34" charset="0"/>
                <a:cs typeface="Amiri" pitchFamily="2" charset="-78"/>
              </a:rPr>
              <a:t>maw-ʿi-dun thā-bi-tun</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مُتَغَيِّرٌ</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changing appointment</a:t>
            </a:r>
            <a:endParaRPr lang="en-US" sz="1350" dirty="0"/>
          </a:p>
          <a:p>
            <a:pPr indent="0" marL="0">
              <a:buNone/>
            </a:pPr>
            <a:r>
              <a:rPr lang="en-US" sz="1100" i="1" dirty="0">
                <a:solidFill>
                  <a:srgbClr val="5A6472"/>
                </a:solidFill>
                <a:latin typeface="Calibri" pitchFamily="34" charset="0"/>
                <a:cs typeface="Amiri" pitchFamily="2" charset="-78"/>
              </a:rPr>
              <a:t>maw-ʿi-dun mu-ta-ghay-yi-run</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 مُزْدَحِمٌ</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busy day</a:t>
            </a:r>
            <a:endParaRPr lang="en-US" sz="1350" dirty="0"/>
          </a:p>
          <a:p>
            <a:pPr indent="0" marL="0">
              <a:buNone/>
            </a:pPr>
            <a:r>
              <a:rPr lang="en-US" sz="1100" i="1" dirty="0">
                <a:solidFill>
                  <a:srgbClr val="5A6472"/>
                </a:solidFill>
                <a:latin typeface="Calibri" pitchFamily="34" charset="0"/>
                <a:cs typeface="Amiri" pitchFamily="2" charset="-78"/>
              </a:rPr>
              <a:t>yaw-mun muz-da-ḥi-mun</a:t>
            </a:r>
            <a:endParaRPr lang="en-US" sz="1350" dirty="0"/>
          </a:p>
        </p:txBody>
      </p:sp>
      <p:sp>
        <p:nvSpPr>
          <p:cNvPr id="50" name="Shape 4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2" name="Text 4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مُزْدَحِمٌ</a:t>
            </a:r>
            <a:endParaRPr lang="ar-SA" sz="1500" dirty="0"/>
          </a:p>
        </p:txBody>
      </p:sp>
      <p:sp>
        <p:nvSpPr>
          <p:cNvPr id="53" name="Shape 5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5" name="Text 5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مُزْدَحِمَةٌ</a:t>
            </a:r>
            <a:endParaRPr lang="ar-SA" sz="1500" dirty="0"/>
          </a:p>
        </p:txBody>
      </p:sp>
      <p:sp>
        <p:nvSpPr>
          <p:cNvPr id="56" name="Shape 5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days</a:t>
            </a:r>
            <a:endParaRPr lang="en-US" sz="700" dirty="0"/>
          </a:p>
        </p:txBody>
      </p:sp>
      <p:sp>
        <p:nvSpPr>
          <p:cNvPr id="58" name="Text 55"/>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أَيَّامٌ مُزْدَحِمَةٌ</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2" name="Shape 5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 هَادِئٌ</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quiet day</a:t>
            </a:r>
            <a:endParaRPr lang="en-US" sz="1350" dirty="0"/>
          </a:p>
          <a:p>
            <a:pPr indent="0" marL="0">
              <a:buNone/>
            </a:pPr>
            <a:r>
              <a:rPr lang="en-US" sz="1100" i="1" dirty="0">
                <a:solidFill>
                  <a:srgbClr val="5A6472"/>
                </a:solidFill>
                <a:latin typeface="Calibri" pitchFamily="34" charset="0"/>
                <a:cs typeface="Amiri" pitchFamily="2" charset="-78"/>
              </a:rPr>
              <a:t>yaw-mun hā-di-ʾun</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days</a:t>
            </a:r>
            <a:endParaRPr lang="en-US" sz="700" dirty="0"/>
          </a:p>
        </p:txBody>
      </p:sp>
      <p:sp>
        <p:nvSpPr>
          <p:cNvPr id="76" name="Text 73"/>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أَيَّامٌ هَادِئَةٌ</a:t>
            </a:r>
            <a:endParaRPr lang="ar-SA"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Contrast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 / 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أَمَّا ... فَـ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for ...</a:t>
            </a:r>
            <a:endParaRPr lang="en-US" sz="1350" dirty="0"/>
          </a:p>
          <a:p>
            <a:pPr indent="0" marL="0">
              <a:buNone/>
            </a:pPr>
            <a:r>
              <a:rPr lang="en-US" sz="1100" i="1" dirty="0">
                <a:solidFill>
                  <a:srgbClr val="5A6472"/>
                </a:solidFill>
                <a:latin typeface="Calibri" pitchFamily="34" charset="0"/>
                <a:cs typeface="Amiri" pitchFamily="2" charset="-78"/>
              </a:rPr>
              <a:t>am-mā ... fa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المُقَابِلِ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contrast</a:t>
            </a:r>
            <a:endParaRPr lang="en-US" sz="1350" dirty="0"/>
          </a:p>
          <a:p>
            <a:pPr indent="0" marL="0">
              <a:buNone/>
            </a:pPr>
            <a:r>
              <a:rPr lang="en-US" sz="1100" i="1" dirty="0">
                <a:solidFill>
                  <a:srgbClr val="5A6472"/>
                </a:solidFill>
                <a:latin typeface="Calibri" pitchFamily="34" charset="0"/>
                <a:cs typeface="Amiri" pitchFamily="2" charset="-78"/>
              </a:rPr>
              <a:t>fī al-mu-qā-bi-li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العَكْسِ</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contrary / conversely</a:t>
            </a:r>
            <a:endParaRPr lang="en-US" sz="1350" dirty="0"/>
          </a:p>
          <a:p>
            <a:pPr indent="0" marL="0">
              <a:buNone/>
            </a:pPr>
            <a:r>
              <a:rPr lang="en-US" sz="1100" i="1" dirty="0">
                <a:solidFill>
                  <a:srgbClr val="5A6472"/>
                </a:solidFill>
                <a:latin typeface="Calibri" pitchFamily="34" charset="0"/>
                <a:cs typeface="Amiri" pitchFamily="2" charset="-78"/>
              </a:rPr>
              <a:t>ʿa-lā al-ʿak-si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Contrast and comparison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2" charset="-78"/>
                <a:ea typeface="Amiri" pitchFamily="2" charset="-78"/>
                <a:cs typeface="Amiri" pitchFamily="2" charset="-78"/>
              </a:rPr>
              <a:t>مِنْ نَاحِيَةٍ ... وَمِنْ نَاحِيَةٍ أُخْرَى</a:t>
            </a:r>
            <a:endParaRPr lang="ar-SA" sz="245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 ... on the other</a:t>
            </a:r>
            <a:endParaRPr lang="en-US" sz="1350" dirty="0"/>
          </a:p>
          <a:p>
            <a:pPr indent="0" marL="0">
              <a:buNone/>
            </a:pPr>
            <a:r>
              <a:rPr lang="en-US" sz="1100" i="1" dirty="0">
                <a:solidFill>
                  <a:srgbClr val="5A6472"/>
                </a:solidFill>
                <a:latin typeface="Calibri" pitchFamily="34" charset="0"/>
                <a:cs typeface="Amiri" pitchFamily="2" charset="-78"/>
              </a:rPr>
              <a:t>min nā-ḥi-ya-tin ... wa-min nā-ḥi-ya-tin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اِنْشِغَالًا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busier than</a:t>
            </a:r>
            <a:endParaRPr lang="en-US" sz="1350" dirty="0"/>
          </a:p>
          <a:p>
            <a:pPr indent="0" marL="0">
              <a:buNone/>
            </a:pPr>
            <a:r>
              <a:rPr lang="en-US" sz="1100" i="1" dirty="0">
                <a:solidFill>
                  <a:srgbClr val="5A6472"/>
                </a:solidFill>
                <a:latin typeface="Calibri" pitchFamily="34" charset="0"/>
                <a:cs typeface="Amiri" pitchFamily="2" charset="-78"/>
              </a:rPr>
              <a:t>ak-tha-ru in-shi-ghā-lan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 اِزْدِحَامًا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busy than</a:t>
            </a:r>
            <a:endParaRPr lang="en-US" sz="1350" dirty="0"/>
          </a:p>
          <a:p>
            <a:pPr indent="0" marL="0">
              <a:buNone/>
            </a:pPr>
            <a:r>
              <a:rPr lang="en-US" sz="1100" i="1" dirty="0">
                <a:solidFill>
                  <a:srgbClr val="5A6472"/>
                </a:solidFill>
                <a:latin typeface="Calibri" pitchFamily="34" charset="0"/>
                <a:cs typeface="Amiri" pitchFamily="2" charset="-78"/>
              </a:rPr>
              <a:t>a-qal-lu iz-di-ḥā-man min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range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يَوْمِيًّا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daily</a:t>
            </a:r>
            <a:endParaRPr lang="en-US" sz="1350" dirty="0"/>
          </a:p>
          <a:p>
            <a:pPr indent="0" marL="0">
              <a:buNone/>
            </a:pPr>
            <a:r>
              <a:rPr lang="en-US" sz="1100" i="1" dirty="0">
                <a:solidFill>
                  <a:srgbClr val="5A6472"/>
                </a:solidFill>
                <a:latin typeface="Calibri" pitchFamily="34" charset="0"/>
                <a:cs typeface="Amiri" pitchFamily="2" charset="-78"/>
              </a:rPr>
              <a:t>yaw-miy-yan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أُسْبُوعِيًّا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a:t>
            </a:r>
            <a:endParaRPr lang="en-US" sz="1350" dirty="0"/>
          </a:p>
          <a:p>
            <a:pPr indent="0" marL="0">
              <a:buNone/>
            </a:pPr>
            <a:r>
              <a:rPr lang="en-US" sz="1100" i="1" dirty="0">
                <a:solidFill>
                  <a:srgbClr val="5A6472"/>
                </a:solidFill>
                <a:latin typeface="Calibri" pitchFamily="34" charset="0"/>
                <a:cs typeface="Amiri" pitchFamily="2" charset="-78"/>
              </a:rPr>
              <a:t>us-bū-ʿiy-yan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 يَوْمَيْنِ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every two days</a:t>
            </a:r>
            <a:endParaRPr lang="en-US" sz="1350" dirty="0"/>
          </a:p>
          <a:p>
            <a:pPr indent="0" marL="0">
              <a:buNone/>
            </a:pPr>
            <a:r>
              <a:rPr lang="en-US" sz="1100" i="1" dirty="0">
                <a:solidFill>
                  <a:srgbClr val="5A6472"/>
                </a:solidFill>
                <a:latin typeface="Calibri" pitchFamily="34" charset="0"/>
                <a:cs typeface="Amiri" pitchFamily="2" charset="-78"/>
              </a:rPr>
              <a:t>kul-la yaw-may-ni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كُلَّ شَهْرٍ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a month</a:t>
            </a:r>
            <a:endParaRPr lang="en-US" sz="1350" dirty="0"/>
          </a:p>
          <a:p>
            <a:pPr indent="0" marL="0">
              <a:buNone/>
            </a:pPr>
            <a:r>
              <a:rPr lang="en-US" sz="1100" i="1" dirty="0">
                <a:solidFill>
                  <a:srgbClr val="5A6472"/>
                </a:solidFill>
                <a:latin typeface="Calibri" pitchFamily="34" charset="0"/>
                <a:cs typeface="Amiri" pitchFamily="2" charset="-78"/>
              </a:rPr>
              <a:t>mar-ra-tan kul-la shah-rin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range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مُعْظَمِ الأَيَّامِ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most days</a:t>
            </a:r>
            <a:endParaRPr lang="en-US" sz="1350" dirty="0"/>
          </a:p>
          <a:p>
            <a:pPr indent="0" marL="0">
              <a:buNone/>
            </a:pPr>
            <a:r>
              <a:rPr lang="en-US" sz="1100" i="1" dirty="0">
                <a:solidFill>
                  <a:srgbClr val="5A6472"/>
                </a:solidFill>
                <a:latin typeface="Calibri" pitchFamily="34" charset="0"/>
                <a:cs typeface="Amiri" pitchFamily="2" charset="-78"/>
              </a:rPr>
              <a:t>fī muʿ-ẓa-mi al-ay-yā-mi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 أَبَدًا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a:t>
            </a:r>
            <a:endParaRPr lang="en-US" sz="1350" dirty="0"/>
          </a:p>
          <a:p>
            <a:pPr indent="0" marL="0">
              <a:buNone/>
            </a:pPr>
            <a:r>
              <a:rPr lang="en-US" sz="1100" i="1" dirty="0">
                <a:solidFill>
                  <a:srgbClr val="5A6472"/>
                </a:solidFill>
                <a:latin typeface="Calibri" pitchFamily="34" charset="0"/>
                <a:cs typeface="Amiri" pitchFamily="2" charset="-78"/>
              </a:rPr>
              <a:t>lā ... a-ba-dan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كَثِيرًا 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often</a:t>
            </a:r>
            <a:endParaRPr lang="en-US" sz="1350" dirty="0"/>
          </a:p>
          <a:p>
            <a:pPr indent="0" marL="0">
              <a:buNone/>
            </a:pPr>
            <a:r>
              <a:rPr lang="en-US" sz="1100" i="1" dirty="0">
                <a:solidFill>
                  <a:srgbClr val="5A6472"/>
                </a:solidFill>
                <a:latin typeface="Calibri" pitchFamily="34" charset="0"/>
                <a:cs typeface="Amiri" pitchFamily="2" charset="-78"/>
              </a:rPr>
              <a:t>ka-thī-ran mā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قَلِيلًا 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seldom</a:t>
            </a:r>
            <a:endParaRPr lang="en-US" sz="1350" dirty="0"/>
          </a:p>
          <a:p>
            <a:pPr indent="0" marL="0">
              <a:buNone/>
            </a:pPr>
            <a:r>
              <a:rPr lang="en-US" sz="1100" i="1" dirty="0">
                <a:solidFill>
                  <a:srgbClr val="5A6472"/>
                </a:solidFill>
                <a:latin typeface="Calibri" pitchFamily="34" charset="0"/>
                <a:cs typeface="Amiri" pitchFamily="2" charset="-78"/>
              </a:rPr>
              <a:t>qa-lī-lan mā</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FREQUENCY LADDER (WEBSITE EXPRESSIONS)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How often? From always to never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often</a:t>
            </a:r>
            <a:endParaRPr lang="en-US" sz="1100" dirty="0"/>
          </a:p>
        </p:txBody>
      </p:sp>
      <p:sp>
        <p:nvSpPr>
          <p:cNvPr id="17" name="Text 14"/>
          <p:cNvSpPr txBox="1"/>
          <p:nvPr/>
        </p:nvSpPr>
        <p:spPr>
          <a:xfrm>
            <a:off x="640994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Expression</a:t>
            </a:r>
            <a:endParaRPr lang="en-US" sz="1100" dirty="0"/>
          </a:p>
        </p:txBody>
      </p:sp>
      <p:sp>
        <p:nvSpPr>
          <p:cNvPr id="18" name="Text 15"/>
          <p:cNvSpPr txBox="1"/>
          <p:nvPr/>
        </p:nvSpPr>
        <p:spPr>
          <a:xfrm>
            <a:off x="53035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Website-style example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29800"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 ▰▰▰▰▰</a:t>
            </a:r>
            <a:endParaRPr lang="en-US" sz="1100" dirty="0"/>
          </a:p>
        </p:txBody>
      </p:sp>
      <p:sp>
        <p:nvSpPr>
          <p:cNvPr id="21" name="Text 18"/>
          <p:cNvSpPr txBox="1"/>
          <p:nvPr/>
        </p:nvSpPr>
        <p:spPr>
          <a:xfrm>
            <a:off x="6428232" y="2267712"/>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دَائِمًا · يَوْمِيًّا · كُلَّ يَوْمٍ</a:t>
            </a:r>
            <a:endParaRPr lang="ar-SA" sz="2400" dirty="0"/>
          </a:p>
        </p:txBody>
      </p:sp>
      <p:sp>
        <p:nvSpPr>
          <p:cNvPr id="22" name="Text 19"/>
          <p:cNvSpPr txBox="1"/>
          <p:nvPr/>
        </p:nvSpPr>
        <p:spPr>
          <a:xfrm>
            <a:off x="548640" y="2286000"/>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أُرَاجِعُ دُرُوسِي يَوْمِيًّا.</a:t>
            </a:r>
            <a:endParaRPr lang="ar-SA" sz="1950" dirty="0"/>
          </a:p>
        </p:txBody>
      </p:sp>
      <p:sp>
        <p:nvSpPr>
          <p:cNvPr id="23" name="Text 20"/>
          <p:cNvSpPr txBox="1"/>
          <p:nvPr/>
        </p:nvSpPr>
        <p:spPr>
          <a:xfrm>
            <a:off x="502920" y="267699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revise my lessons daily.</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829800"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80% ▰▰▰▰▱</a:t>
            </a:r>
            <a:endParaRPr lang="en-US" sz="1100" dirty="0"/>
          </a:p>
        </p:txBody>
      </p:sp>
      <p:sp>
        <p:nvSpPr>
          <p:cNvPr id="28" name="Text 25"/>
          <p:cNvSpPr txBox="1"/>
          <p:nvPr/>
        </p:nvSpPr>
        <p:spPr>
          <a:xfrm>
            <a:off x="6428232" y="3004718"/>
            <a:ext cx="32004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كَثِيرًا مَا · غَالِبًا · فِي مُعْظَمِ الأَيَّامِ</a:t>
            </a:r>
            <a:endParaRPr lang="ar-SA" sz="1900" dirty="0"/>
          </a:p>
        </p:txBody>
      </p:sp>
      <p:sp>
        <p:nvSpPr>
          <p:cNvPr id="29" name="Text 26"/>
          <p:cNvSpPr txBox="1"/>
          <p:nvPr/>
        </p:nvSpPr>
        <p:spPr>
          <a:xfrm>
            <a:off x="548640" y="302300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كَثِيرًا مَا أَزُورُ جَدَّتِي يَوْمَ السَّبْتِ.</a:t>
            </a:r>
            <a:endParaRPr lang="ar-SA" sz="1950" dirty="0"/>
          </a:p>
        </p:txBody>
      </p:sp>
      <p:sp>
        <p:nvSpPr>
          <p:cNvPr id="30" name="Text 27"/>
          <p:cNvSpPr txBox="1"/>
          <p:nvPr/>
        </p:nvSpPr>
        <p:spPr>
          <a:xfrm>
            <a:off x="502920" y="3414004"/>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often visit my grandmother on Saturday.</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829800"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 ▰▰▰▱▱</a:t>
            </a:r>
            <a:endParaRPr lang="en-US" sz="1100" dirty="0"/>
          </a:p>
        </p:txBody>
      </p:sp>
      <p:sp>
        <p:nvSpPr>
          <p:cNvPr id="35" name="Text 32"/>
          <p:cNvSpPr txBox="1"/>
          <p:nvPr/>
        </p:nvSpPr>
        <p:spPr>
          <a:xfrm>
            <a:off x="6428232" y="3741725"/>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أَحْيَانًا · مِنْ حِينٍ إِلَى آخَرَ</a:t>
            </a:r>
            <a:endParaRPr lang="ar-SA" sz="2400" dirty="0"/>
          </a:p>
        </p:txBody>
      </p:sp>
      <p:sp>
        <p:nvSpPr>
          <p:cNvPr id="36" name="Text 33"/>
          <p:cNvSpPr txBox="1"/>
          <p:nvPr/>
        </p:nvSpPr>
        <p:spPr>
          <a:xfrm>
            <a:off x="548640" y="3760013"/>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أَحْيَانًا أَلْعَبُ بَعْدَ المَدْرَسَةِ.</a:t>
            </a:r>
            <a:endParaRPr lang="ar-SA" sz="1950" dirty="0"/>
          </a:p>
        </p:txBody>
      </p:sp>
      <p:sp>
        <p:nvSpPr>
          <p:cNvPr id="37" name="Text 34"/>
          <p:cNvSpPr txBox="1"/>
          <p:nvPr/>
        </p:nvSpPr>
        <p:spPr>
          <a:xfrm>
            <a:off x="502920" y="4151010"/>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Sometimes I play after school.</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829800"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 ▰▱▱▱▱</a:t>
            </a:r>
            <a:endParaRPr lang="en-US" sz="1100" dirty="0"/>
          </a:p>
        </p:txBody>
      </p:sp>
      <p:sp>
        <p:nvSpPr>
          <p:cNvPr id="42" name="Text 39"/>
          <p:cNvSpPr txBox="1"/>
          <p:nvPr/>
        </p:nvSpPr>
        <p:spPr>
          <a:xfrm>
            <a:off x="6428232" y="4478731"/>
            <a:ext cx="3200400" cy="682142"/>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نَادِرًا · قَلِيلًا مَا · مَرَّةً كُلَّ شَهْرٍ</a:t>
            </a:r>
            <a:endParaRPr lang="ar-SA" sz="2150" dirty="0"/>
          </a:p>
        </p:txBody>
      </p:sp>
      <p:sp>
        <p:nvSpPr>
          <p:cNvPr id="43" name="Text 40"/>
          <p:cNvSpPr txBox="1"/>
          <p:nvPr/>
        </p:nvSpPr>
        <p:spPr>
          <a:xfrm>
            <a:off x="548640" y="4497019"/>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نَادِرًا مَا أَخْرُجُ لَيْلَةَ الجُمُعَةِ.</a:t>
            </a:r>
            <a:endParaRPr lang="ar-SA" sz="1950" dirty="0"/>
          </a:p>
        </p:txBody>
      </p:sp>
      <p:sp>
        <p:nvSpPr>
          <p:cNvPr id="44" name="Text 41"/>
          <p:cNvSpPr txBox="1"/>
          <p:nvPr/>
        </p:nvSpPr>
        <p:spPr>
          <a:xfrm>
            <a:off x="502920" y="4888017"/>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rarely go out on Friday night.</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829800"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 ▱▱▱▱▱</a:t>
            </a:r>
            <a:endParaRPr lang="en-US" sz="1100" dirty="0"/>
          </a:p>
        </p:txBody>
      </p:sp>
      <p:sp>
        <p:nvSpPr>
          <p:cNvPr id="47" name="Text 44"/>
          <p:cNvSpPr txBox="1"/>
          <p:nvPr/>
        </p:nvSpPr>
        <p:spPr>
          <a:xfrm>
            <a:off x="6428232" y="5215738"/>
            <a:ext cx="32004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 أَبَدًا</a:t>
            </a:r>
            <a:endParaRPr lang="ar-SA" sz="2400" dirty="0"/>
          </a:p>
        </p:txBody>
      </p:sp>
      <p:sp>
        <p:nvSpPr>
          <p:cNvPr id="48" name="Text 45"/>
          <p:cNvSpPr txBox="1"/>
          <p:nvPr/>
        </p:nvSpPr>
        <p:spPr>
          <a:xfrm>
            <a:off x="548640" y="5234026"/>
            <a:ext cx="569671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لَا</a:t>
            </a:r>
            <a:pPr rtl="1" algn="ctr" indent="0" marL="0">
              <a:buNone/>
            </a:pPr>
            <a:r>
              <a:rPr lang="ar-SA" altLang="en-US" sz="1950" b="1" dirty="0">
                <a:solidFill>
                  <a:srgbClr val="1B3B6F"/>
                </a:solidFill>
                <a:latin typeface="Amiri" pitchFamily="2" charset="-78"/>
                <a:ea typeface="Amiri" pitchFamily="2" charset="-78"/>
                <a:cs typeface="Amiri" pitchFamily="2" charset="-78"/>
              </a:rPr>
              <a:t> أَتَأَخَّرُ </a:t>
            </a:r>
            <a:pPr rtl="1" algn="ctr" indent="0" marL="0">
              <a:buNone/>
            </a:pPr>
            <a:r>
              <a:rPr lang="ar-SA" altLang="en-US" sz="1950" b="1" dirty="0">
                <a:solidFill>
                  <a:srgbClr val="0E7C86"/>
                </a:solidFill>
                <a:latin typeface="Amiri" pitchFamily="2" charset="-78"/>
                <a:ea typeface="Amiri" pitchFamily="2" charset="-78"/>
                <a:cs typeface="Amiri" pitchFamily="2" charset="-78"/>
              </a:rPr>
              <a:t>أَبَدًا</a:t>
            </a:r>
            <a:pPr rtl="1" algn="ctr" indent="0" marL="0">
              <a:buNone/>
            </a:pPr>
            <a:r>
              <a:rPr lang="ar-SA" altLang="en-US" sz="1950" b="1" dirty="0">
                <a:solidFill>
                  <a:srgbClr val="1B3B6F"/>
                </a:solidFill>
                <a:latin typeface="Amiri" pitchFamily="2" charset="-78"/>
                <a:ea typeface="Amiri" pitchFamily="2" charset="-78"/>
                <a:cs typeface="Amiri" pitchFamily="2" charset="-78"/>
              </a:rPr>
              <a:t> عَنِ الحِصَّةِ.</a:t>
            </a:r>
            <a:endParaRPr lang="ar-SA" sz="1950" dirty="0"/>
          </a:p>
        </p:txBody>
      </p:sp>
      <p:sp>
        <p:nvSpPr>
          <p:cNvPr id="49" name="Text 46"/>
          <p:cNvSpPr txBox="1"/>
          <p:nvPr/>
        </p:nvSpPr>
        <p:spPr>
          <a:xfrm>
            <a:off x="502920" y="5625023"/>
            <a:ext cx="5788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never late for the lesson.</a:t>
            </a:r>
            <a:endParaRPr lang="en-US" sz="950" dirty="0"/>
          </a:p>
        </p:txBody>
      </p:sp>
      <p:sp>
        <p:nvSpPr>
          <p:cNvPr id="50" name="Shape 47"/>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Numbers: </a:t>
            </a:r>
            <a:pPr algn="l" indent="0" marL="0">
              <a:buNone/>
            </a:pPr>
            <a:r>
              <a:rPr lang="ar-SA" altLang="en-US" sz="1500" b="1" dirty="0">
                <a:solidFill>
                  <a:srgbClr val="1B3B6F"/>
                </a:solidFill>
                <a:latin typeface="Amiri" pitchFamily="2" charset="-78"/>
                <a:ea typeface="Amiri" pitchFamily="2" charset="-78"/>
                <a:cs typeface="Amiri" pitchFamily="2" charset="-78"/>
              </a:rPr>
              <a:t>مَرَّةً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مَرَّتَيْنِ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ثَلَاثَ مَرَّاتٍ فِي الأُسْبُوعِ</a:t>
            </a:r>
            <a:pPr algn="l" indent="0" marL="0">
              <a:buNone/>
            </a:pPr>
            <a:r>
              <a:rPr lang="en-US" sz="1150" b="1" dirty="0">
                <a:solidFill>
                  <a:srgbClr val="1B3B6F"/>
                </a:solidFill>
                <a:latin typeface="Calibri" pitchFamily="34" charset="0"/>
                <a:cs typeface="Amiri" pitchFamily="2" charset="-78"/>
              </a:rPr>
              <a:t> (once · twice · three times a week).</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CONTRAST AND COMPARE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Whereas, as for, busier than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بَيْنَمَا · أَمَّا … فَـ · أَكْثَرُ …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أَتَمَرَّنُ يَوْمَ الثُّلَاثَاءِ، بَيْنَمَا يَتَمَرَّنُ أَخِي يَوْمَ الخَمِيسِ.</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train on Tuesday, whereas my brother trains on Thursday.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clauses, two agreements.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CHANGE TOPIC · STRETCH</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أَمَّا السَّبْتُ فَهُوَ يَوْمُ الرَّاحَةِ.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 for Saturday, it is a rest 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Topic + </a:t>
            </a:r>
            <a:pPr algn="l" indent="0" marL="0">
              <a:buNone/>
            </a:pPr>
            <a:r>
              <a:rPr lang="ar-SA" altLang="en-US" sz="1450" dirty="0">
                <a:solidFill>
                  <a:srgbClr val="1F2A37"/>
                </a:solidFill>
                <a:latin typeface="Amiri" pitchFamily="2" charset="-78"/>
                <a:ea typeface="Amiri" pitchFamily="2" charset="-78"/>
                <a:cs typeface="Amiri" pitchFamily="2" charset="-78"/>
              </a:rPr>
              <a:t>فَـ</a:t>
            </a:r>
            <a:pPr algn="l" indent="0" marL="0">
              <a:buNone/>
            </a:pPr>
            <a:r>
              <a:rPr lang="en-US" sz="1100" dirty="0">
                <a:solidFill>
                  <a:srgbClr val="1F2A37"/>
                </a:solidFill>
                <a:latin typeface="Calibri" pitchFamily="34" charset="0"/>
                <a:cs typeface="Amiri" pitchFamily="2" charset="-78"/>
              </a:rPr>
              <a:t>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COMPARE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أَكْثَرُ …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الأَرْبِعَاءُ أَكْثَرُ اِنْشِغَالًا مِنَ الخَمِيسِ.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Wednesday is busier than Thursday.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more / less + noun + </a:t>
            </a:r>
            <a:pPr algn="l" indent="0" marL="0">
              <a:buNone/>
            </a:pPr>
            <a:r>
              <a:rPr lang="ar-SA" altLang="en-US" sz="1450" dirty="0">
                <a:solidFill>
                  <a:srgbClr val="1F2A37"/>
                </a:solidFill>
                <a:latin typeface="Amiri" pitchFamily="2" charset="-78"/>
                <a:ea typeface="Amiri" pitchFamily="2" charset="-78"/>
                <a:cs typeface="Amiri" pitchFamily="2" charset="-78"/>
              </a:rPr>
              <a:t>مِنْ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after </a:t>
            </a:r>
            <a:pPr algn="l" indent="0" marL="0">
              <a:buNone/>
            </a:pPr>
            <a:r>
              <a:rPr lang="ar-SA" altLang="en-US" sz="1500" dirty="0">
                <a:solidFill>
                  <a:srgbClr val="1F2A37"/>
                </a:solidFill>
                <a:latin typeface="Amiri" pitchFamily="2" charset="-78"/>
                <a:ea typeface="Amiri" pitchFamily="2" charset="-78"/>
                <a:cs typeface="Amiri" pitchFamily="2" charset="-78"/>
              </a:rPr>
              <a:t>بَيْنَمَا</a:t>
            </a:r>
            <a:pPr algn="l" indent="0" marL="0">
              <a:buNone/>
            </a:pPr>
            <a:r>
              <a:rPr lang="en-US" sz="1150" dirty="0">
                <a:solidFill>
                  <a:srgbClr val="1F2A37"/>
                </a:solidFill>
                <a:latin typeface="Calibri" pitchFamily="34" charset="0"/>
                <a:cs typeface="Amiri" pitchFamily="2" charset="-78"/>
              </a:rPr>
              <a:t> the verb matches ITS OWN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بَيْنَمَا يَذْهَبُ أَخِي</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بَيْنَمَا أَخِي أَذْهَبُ</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Frequency adverbs and expressions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ظُرُوفُ التَّكْرَارِ وَتَعْبِيرَاتُهُ</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between two contrasting clauses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جُمْلَةٌ، بَيْنَمَا + جُمْلَةٌ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أَتَمَرَّنُ يَوْمَ الاِثْنَيْنِ، بَيْنَمَا تَتَمَرَّنُ أُخْتِي يَوْمَ الثُّلَاثَاءِ.   ·   أَسْتَيْقِظُ مُبَكِّرًا فِي الأُسْبُوعِ، بَيْنَمَا أَنَامُ أَطْوَلَ فِي العُطْلَةِ.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ea typeface="Amiri" pitchFamily="2" charset="-78"/>
                <a:cs typeface="Amiri" pitchFamily="2" charset="-78"/>
              </a:rPr>
              <a:t>أَمَّا</a:t>
            </a:r>
            <a:pPr algn="l" indent="0" marL="0">
              <a:buNone/>
            </a:pPr>
            <a:r>
              <a:rPr lang="en-US" sz="1250" b="1" dirty="0">
                <a:solidFill>
                  <a:srgbClr val="1B3B6F"/>
                </a:solidFill>
                <a:latin typeface="Calibri" pitchFamily="34" charset="0"/>
                <a:cs typeface="Amiri" pitchFamily="2" charset="-78"/>
              </a:rPr>
              <a:t> ... </a:t>
            </a:r>
            <a:pPr algn="l" indent="0" marL="0">
              <a:buNone/>
            </a:pPr>
            <a:r>
              <a:rPr lang="ar-SA" altLang="en-US" sz="1650" b="1" dirty="0">
                <a:solidFill>
                  <a:srgbClr val="1B3B6F"/>
                </a:solidFill>
                <a:latin typeface="Amiri" pitchFamily="2" charset="-78"/>
                <a:ea typeface="Amiri" pitchFamily="2" charset="-78"/>
                <a:cs typeface="Amiri" pitchFamily="2" charset="-78"/>
              </a:rPr>
              <a:t>فَـ</a:t>
            </a:r>
            <a:pPr algn="l" indent="0" marL="0">
              <a:buNone/>
            </a:pPr>
            <a:r>
              <a:rPr lang="en-US" sz="1250" b="1" dirty="0">
                <a:solidFill>
                  <a:srgbClr val="1B3B6F"/>
                </a:solidFill>
                <a:latin typeface="Calibri" pitchFamily="34" charset="0"/>
                <a:cs typeface="Amiri" pitchFamily="2" charset="-78"/>
              </a:rPr>
              <a:t> to organise a comparison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أَمَّا + المَوْضُوعُ + فَـ + الجُمْلَةُ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أَمَّا يَوْمُ الجُمُعَةِ فَهُوَ أَهْدَأُ.   ·   أَمَّا أَخِي فَيَذْهَبُ إِلَى النَّادِي ثَلَاثَ مَرَّاتٍ.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Place frequency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فِعْلٌ + ظَرْفُ تَكْرَارٍ · كَثِيرًا مَا + فِعْلٌ</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أُرَاجِعُ دُرُوسِي يَوْمِيًّا.   ·   كَثِيرًا مَا أَزُورُ جَدَّتِي يَوْمَ السَّبْتِ.   ·   لَا أَتَأَخَّرُ أَبَدًا عَنِ المَوْعِدِ.</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Compare how busy days are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أَكْثَرُ / أَقَلُّ + صِفَةً +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يَوْمُ الأَرْبِعَاءِ أَكْثَرُ اِنْشِغَالًا مِنْ يَوْمِ الخَمِيسِ.   ·   نِهَايَةُ الأُسْبُوعِ أَقَلُّ اِزْدِحَامًا مِنْ أَيَّامِ الدِّرَاسَةِ.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أَتَمَرَّنُ، بَيْنَمَا يَقْرَأُ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أَتَمَرَّنُ بَيْنَمَا أُخْتِي أَقْرَأُ.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أَتَمَرَّنُ، بَيْنَمَا تَقْرَأُ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“daily”?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يَوْمِيًّا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أُسْبُوعِيًّا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شَهْرِيًّا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“never”.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كَثِيرًا مَا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 أَبَدًا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حِينٍ إِلَى آخَرَ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الثُّلَاثَاءُ أَكْثَرُ اِنْشِغَالًا ___ الاِثْنَيْنِ.</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أَتَمَرَّنُ، بَيْنَمَا يَقْرَأُ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أَتَمَرَّنُ بَيْنَمَا أُخْتِي أَقْرَأُ.</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أَتَمَرَّنُ، بَيْنَمَا تَقْرَأُ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أُخْتِي</a:t>
            </a:r>
            <a:pPr algn="l" indent="0" marL="0">
              <a:buNone/>
            </a:pPr>
            <a:r>
              <a:rPr lang="en-US" sz="1050" i="1" dirty="0">
                <a:solidFill>
                  <a:srgbClr val="8A6D1E"/>
                </a:solidFill>
                <a:latin typeface="Calibri" pitchFamily="34" charset="0"/>
                <a:cs typeface="Amiri" pitchFamily="2" charset="-78"/>
              </a:rPr>
              <a:t> is feminine, so </a:t>
            </a:r>
            <a:pPr algn="l" indent="0" marL="0">
              <a:buNone/>
            </a:pPr>
            <a:r>
              <a:rPr lang="ar-SA" altLang="en-US" sz="1350" dirty="0">
                <a:solidFill>
                  <a:srgbClr val="8A6D1E"/>
                </a:solidFill>
                <a:latin typeface="Amiri" pitchFamily="2" charset="-78"/>
                <a:ea typeface="Amiri" pitchFamily="2" charset="-78"/>
                <a:cs typeface="Amiri" pitchFamily="2" charset="-78"/>
              </a:rPr>
              <a:t>تَقْرَأُ</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“daily”?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يَوْمِيًّا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أُسْبُوعِيًّا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شَهْرِيًّا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يَوْمِيًّا</a:t>
            </a:r>
            <a:pPr algn="l" indent="0" marL="0">
              <a:buNone/>
            </a:pPr>
            <a:r>
              <a:rPr lang="en-US" sz="1050" i="1" dirty="0">
                <a:solidFill>
                  <a:srgbClr val="8A6D1E"/>
                </a:solidFill>
                <a:latin typeface="Calibri" pitchFamily="34" charset="0"/>
                <a:cs typeface="Amiri" pitchFamily="2" charset="-78"/>
              </a:rPr>
              <a:t> = daily.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“never”.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كَثِيرًا مَا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 أَبَدًا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حِينٍ إِلَى آخَرَ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أَبَدًا</a:t>
            </a:r>
            <a:pPr algn="l" indent="0" marL="0">
              <a:buNone/>
            </a:pPr>
            <a:r>
              <a:rPr lang="en-US" sz="1050" i="1" dirty="0">
                <a:solidFill>
                  <a:srgbClr val="8A6D1E"/>
                </a:solidFill>
                <a:latin typeface="Calibri" pitchFamily="34" charset="0"/>
                <a:cs typeface="Amiri" pitchFamily="2" charset="-78"/>
              </a:rPr>
              <a:t> expresses never.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الثُّلَاثَاءُ أَكْثَرُ اِنْشِغَالًا ___ الاِثْنَيْنِ.</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Comparatives use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compare my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 often (me)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أُرَاجِعُ دُرُوسِي </a:t>
            </a:r>
            <a:pPr rtl="1" algn="ctr" indent="0" marL="0">
              <a:buNone/>
            </a:pPr>
            <a:r>
              <a:rPr lang="ar-SA" altLang="en-US" sz="2700" b="1" dirty="0">
                <a:solidFill>
                  <a:srgbClr val="0E7C86"/>
                </a:solidFill>
                <a:latin typeface="Amiri" pitchFamily="2" charset="-78"/>
                <a:ea typeface="Amiri" pitchFamily="2" charset="-78"/>
                <a:cs typeface="Amiri" pitchFamily="2" charset="-78"/>
              </a:rPr>
              <a:t>يَوْمِيًّا</a:t>
            </a:r>
            <a:pPr rtl="1" algn="ctr" indent="0" marL="0">
              <a:buNone/>
            </a:pPr>
            <a:r>
              <a:rPr lang="ar-SA" altLang="en-US" sz="2700" b="1" dirty="0">
                <a:solidFill>
                  <a:srgbClr val="1B3B6F"/>
                </a:solidFill>
                <a:latin typeface="Amiri" pitchFamily="2" charset="-78"/>
                <a:cs typeface="Amiri" pitchFamily="2" charset="-78"/>
              </a:rPr>
              <a:t>.</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Frequency after the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 (her)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أَتَمَرَّنُ مَرَّتَيْنِ،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بَيْنَمَا</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تَمَرَّنُ أُخْتِي يَوْمِيًّا.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Second clause: </a:t>
            </a:r>
            <a:pPr algn="l" indent="0" marL="0">
              <a:buNone/>
            </a:pPr>
            <a:r>
              <a:rPr lang="ar-SA" altLang="en-US" sz="1500" dirty="0">
                <a:solidFill>
                  <a:srgbClr val="1F2A37"/>
                </a:solidFill>
                <a:latin typeface="Amiri" pitchFamily="2" charset="-78"/>
                <a:ea typeface="Amiri" pitchFamily="2" charset="-78"/>
                <a:cs typeface="Amiri" pitchFamily="2" charset="-78"/>
              </a:rPr>
              <a:t>أُخْتِي</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تَـ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 days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الاِثْنَيْنُ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أَكْثَرُ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اِنْشِغَالًا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السَّبْتِ.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busier + </a:t>
            </a:r>
            <a:pPr algn="l" indent="0" marL="0">
              <a:buNone/>
            </a:pPr>
            <a:r>
              <a:rPr lang="ar-SA" altLang="en-US" sz="1500" dirty="0">
                <a:solidFill>
                  <a:srgbClr val="1F2A37"/>
                </a:solidFill>
                <a:latin typeface="Amiri" pitchFamily="2" charset="-78"/>
                <a:ea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لَا</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أَتَأَخَّرُ </a:t>
            </a:r>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أَبَدًا</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عَنِ المَوْعِدِ.</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لَا</a:t>
            </a:r>
            <a:pPr algn="l" indent="0" marL="0">
              <a:buNone/>
            </a:pPr>
            <a:r>
              <a:rPr lang="en-US" sz="1150" dirty="0">
                <a:solidFill>
                  <a:srgbClr val="1F2A37"/>
                </a:solidFill>
                <a:latin typeface="Calibri" pitchFamily="34" charset="0"/>
                <a:cs typeface="Amiri" pitchFamily="2" charset="-78"/>
              </a:rPr>
              <a:t> before the verb, </a:t>
            </a:r>
            <a:pPr algn="l" indent="0" marL="0">
              <a:buNone/>
            </a:pPr>
            <a:r>
              <a:rPr lang="ar-SA" altLang="en-US" sz="1500" dirty="0">
                <a:solidFill>
                  <a:srgbClr val="1F2A37"/>
                </a:solidFill>
                <a:latin typeface="Amiri" pitchFamily="2" charset="-78"/>
                <a:ea typeface="Amiri" pitchFamily="2" charset="-78"/>
                <a:cs typeface="Amiri" pitchFamily="2" charset="-78"/>
              </a:rPr>
              <a:t>أَبَدًا</a:t>
            </a:r>
            <a:pPr algn="l" indent="0" marL="0">
              <a:buNone/>
            </a:pPr>
            <a:r>
              <a:rPr lang="en-US" sz="1150" dirty="0">
                <a:solidFill>
                  <a:srgbClr val="1F2A37"/>
                </a:solidFill>
                <a:latin typeface="Calibri" pitchFamily="34" charset="0"/>
                <a:cs typeface="Amiri" pitchFamily="2" charset="-78"/>
              </a:rPr>
              <a:t> after.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FREQUENCY / CONTRAST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أُرَاجِعُ دُرُوسِي </a:t>
            </a:r>
            <a:pPr rtl="1" algn="r" indent="0" marL="0">
              <a:buNone/>
            </a:pPr>
            <a:r>
              <a:rPr lang="ar-SA" altLang="en-US" sz="1700" b="1" dirty="0">
                <a:solidFill>
                  <a:srgbClr val="0E7C86"/>
                </a:solidFill>
                <a:latin typeface="Amiri" pitchFamily="2" charset="-78"/>
                <a:ea typeface="Amiri" pitchFamily="2" charset="-78"/>
                <a:cs typeface="Amiri" pitchFamily="2" charset="-78"/>
              </a:rPr>
              <a:t>يَوْمِيًّا</a:t>
            </a:r>
            <a:pPr rtl="1" algn="r" indent="0" marL="0">
              <a:buNone/>
            </a:pPr>
            <a:r>
              <a:rPr lang="ar-SA" altLang="en-US" sz="1700" b="1" dirty="0">
                <a:solidFill>
                  <a:srgbClr val="1B3B6F"/>
                </a:solidFill>
                <a:latin typeface="Amiri" pitchFamily="2" charset="-78"/>
                <a:ea typeface="Amiri" pitchFamily="2" charset="-78"/>
                <a:cs typeface="Amiri" pitchFamily="2" charset="-78"/>
              </a:rPr>
              <a:t>، وَأَتَمَرَّنُ مَرَّتَيْنِ فِي الأُسْبُوعِ، </a:t>
            </a:r>
            <a:pPr rtl="1" algn="r" indent="0" marL="0">
              <a:buNone/>
            </a:pPr>
            <a:r>
              <a:rPr lang="ar-SA" altLang="en-US" sz="1700" b="1" dirty="0">
                <a:solidFill>
                  <a:srgbClr val="0E7C86"/>
                </a:solidFill>
                <a:latin typeface="Amiri" pitchFamily="2" charset="-78"/>
                <a:ea typeface="Amiri" pitchFamily="2" charset="-78"/>
                <a:cs typeface="Amiri" pitchFamily="2" charset="-78"/>
              </a:rPr>
              <a:t>بَيْنَمَا</a:t>
            </a:r>
            <a:pPr rtl="1" algn="r" indent="0" marL="0">
              <a:buNone/>
            </a:pPr>
            <a:r>
              <a:rPr lang="ar-SA" altLang="en-US" sz="1700" b="1" dirty="0">
                <a:solidFill>
                  <a:srgbClr val="1B3B6F"/>
                </a:solidFill>
                <a:latin typeface="Amiri" pitchFamily="2" charset="-78"/>
                <a:cs typeface="Amiri" pitchFamily="2" charset="-78"/>
              </a:rPr>
              <a:t> </a:t>
            </a:r>
            <a:pPr rtl="1" algn="r" indent="0" marL="0">
              <a:buNone/>
            </a:pPr>
            <a:r>
              <a:rPr lang="ar-SA" altLang="en-US" sz="1700" b="1" dirty="0">
                <a:solidFill>
                  <a:srgbClr val="D6336C"/>
                </a:solidFill>
                <a:latin typeface="Amiri" pitchFamily="2" charset="-78"/>
                <a:ea typeface="Amiri" pitchFamily="2" charset="-78"/>
                <a:cs typeface="Amiri" pitchFamily="2" charset="-78"/>
              </a:rPr>
              <a:t>تَ</a:t>
            </a:r>
            <a:pPr rtl="1" algn="r" indent="0" marL="0">
              <a:buNone/>
            </a:pPr>
            <a:r>
              <a:rPr lang="ar-SA" altLang="en-US" sz="1700" b="1" dirty="0">
                <a:solidFill>
                  <a:srgbClr val="1B3B6F"/>
                </a:solidFill>
                <a:latin typeface="Amiri" pitchFamily="2" charset="-78"/>
                <a:ea typeface="Amiri" pitchFamily="2" charset="-78"/>
                <a:cs typeface="Amiri" pitchFamily="2" charset="-78"/>
              </a:rPr>
              <a:t>تَمَرَّنُ أُخْتِي يَوْمِيًّا. الاِثْنَيْنُ </a:t>
            </a:r>
            <a:pPr rtl="1" algn="r" indent="0" marL="0">
              <a:buNone/>
            </a:pPr>
            <a:r>
              <a:rPr lang="ar-SA" altLang="en-US" sz="1700" b="1" dirty="0">
                <a:solidFill>
                  <a:srgbClr val="1D5FBF"/>
                </a:solidFill>
                <a:latin typeface="Amiri" pitchFamily="2" charset="-78"/>
                <a:ea typeface="Amiri" pitchFamily="2" charset="-78"/>
                <a:cs typeface="Amiri" pitchFamily="2" charset="-78"/>
              </a:rPr>
              <a:t>أَكْثَرُ</a:t>
            </a:r>
            <a:pPr rtl="1" algn="r" indent="0" marL="0">
              <a:buNone/>
            </a:pPr>
            <a:r>
              <a:rPr lang="ar-SA" altLang="en-US" sz="1700" b="1" dirty="0">
                <a:solidFill>
                  <a:srgbClr val="1B3B6F"/>
                </a:solidFill>
                <a:latin typeface="Amiri" pitchFamily="2" charset="-78"/>
                <a:ea typeface="Amiri" pitchFamily="2" charset="-78"/>
                <a:cs typeface="Amiri" pitchFamily="2" charset="-78"/>
              </a:rPr>
              <a:t> اِنْشِغَالًا </a:t>
            </a:r>
            <a:pPr rtl="1" algn="r" indent="0" marL="0">
              <a:buNone/>
            </a:pPr>
            <a:r>
              <a:rPr lang="ar-SA" altLang="en-US" sz="1700" b="1" dirty="0">
                <a:solidFill>
                  <a:srgbClr val="1D5FBF"/>
                </a:solidFill>
                <a:latin typeface="Amiri" pitchFamily="2" charset="-78"/>
                <a:ea typeface="Amiri" pitchFamily="2" charset="-78"/>
                <a:cs typeface="Amiri" pitchFamily="2" charset="-78"/>
              </a:rPr>
              <a:t>مِنَ</a:t>
            </a:r>
            <a:pPr rtl="1" algn="r" indent="0" marL="0">
              <a:buNone/>
            </a:pPr>
            <a:r>
              <a:rPr lang="ar-SA" altLang="en-US" sz="1700" b="1" dirty="0">
                <a:solidFill>
                  <a:srgbClr val="1B3B6F"/>
                </a:solidFill>
                <a:latin typeface="Amiri" pitchFamily="2" charset="-78"/>
                <a:ea typeface="Amiri" pitchFamily="2" charset="-78"/>
                <a:cs typeface="Amiri" pitchFamily="2" charset="-78"/>
              </a:rPr>
              <a:t> السَّبْتِ. </a:t>
            </a:r>
            <a:pPr rtl="1" algn="r" indent="0" marL="0">
              <a:buNone/>
            </a:pPr>
            <a:r>
              <a:rPr lang="ar-SA" altLang="en-US" sz="1700" b="1" dirty="0">
                <a:solidFill>
                  <a:srgbClr val="0E7C86"/>
                </a:solidFill>
                <a:latin typeface="Amiri" pitchFamily="2" charset="-78"/>
                <a:ea typeface="Amiri" pitchFamily="2" charset="-78"/>
                <a:cs typeface="Amiri" pitchFamily="2" charset="-78"/>
              </a:rPr>
              <a:t>لَا</a:t>
            </a:r>
            <a:pPr rtl="1" algn="r" indent="0" marL="0">
              <a:buNone/>
            </a:pPr>
            <a:r>
              <a:rPr lang="ar-SA" altLang="en-US" sz="1700" b="1" dirty="0">
                <a:solidFill>
                  <a:srgbClr val="1B3B6F"/>
                </a:solidFill>
                <a:latin typeface="Amiri" pitchFamily="2" charset="-78"/>
                <a:ea typeface="Amiri" pitchFamily="2" charset="-78"/>
                <a:cs typeface="Amiri" pitchFamily="2" charset="-78"/>
              </a:rPr>
              <a:t> أَتَأَخَّرُ </a:t>
            </a:r>
            <a:pPr rtl="1" algn="r" indent="0" marL="0">
              <a:buNone/>
            </a:pPr>
            <a:r>
              <a:rPr lang="ar-SA" altLang="en-US" sz="1700" b="1" dirty="0">
                <a:solidFill>
                  <a:srgbClr val="0E7C86"/>
                </a:solidFill>
                <a:latin typeface="Amiri" pitchFamily="2" charset="-78"/>
                <a:ea typeface="Amiri" pitchFamily="2" charset="-78"/>
                <a:cs typeface="Amiri" pitchFamily="2" charset="-78"/>
              </a:rPr>
              <a:t>أَبَدًا</a:t>
            </a:r>
            <a:pPr rtl="1" algn="r" indent="0" marL="0">
              <a:buNone/>
            </a:pPr>
            <a:r>
              <a:rPr lang="ar-SA" altLang="en-US" sz="1700" b="1" dirty="0">
                <a:solidFill>
                  <a:srgbClr val="1B3B6F"/>
                </a:solidFill>
                <a:latin typeface="Amiri" pitchFamily="2" charset="-78"/>
                <a:ea typeface="Amiri" pitchFamily="2" charset="-78"/>
                <a:cs typeface="Amiri" pitchFamily="2" charset="-78"/>
              </a:rPr>
              <a:t> عَنِ المَوْعِدِ.</a:t>
            </a:r>
            <a:endParaRPr lang="ar-SA" sz="17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cs typeface="Amiri" pitchFamily="2" charset="-78"/>
              </a:rPr>
              <a:t>I revise my lessons daily, and I train twice a week, whereas my sister trains every day. Monday is busier than Saturday. I am never late for an appointment.</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أَتَمَرَّنُ يَوْمَ الثُّلَاثَاءِ، بَيْنَمَا يَتَمَرَّنُ أَخِي يَوْمَ الخَمِيسِ.</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train Tuesday, whereas my brother trains Thursday.</a:t>
            </a:r>
            <a:endParaRPr lang="en-US" sz="1250" dirty="0"/>
          </a:p>
          <a:p>
            <a:pPr indent="0" marL="0">
              <a:buNone/>
            </a:pPr>
            <a:r>
              <a:rPr lang="en-US" sz="1050" i="1" dirty="0">
                <a:solidFill>
                  <a:srgbClr val="8A6D1E"/>
                </a:solidFill>
                <a:latin typeface="Calibri" pitchFamily="34" charset="0"/>
                <a:cs typeface="Amiri" pitchFamily="2" charset="-78"/>
              </a:rPr>
              <a:t>Two clauses, two agreements.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أَمَّا السَّبْتُ فَهُوَ يَوْمُ الرَّاحَةِ.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As for Saturday, it is a rest day.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Topic + فَـ comment.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 أَتَأَخَّرُ أَبَدًا عَنِ الحِصَّةِ.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never late for the lesson.</a:t>
            </a:r>
            <a:endParaRPr lang="en-US" sz="1250" dirty="0"/>
          </a:p>
          <a:p>
            <a:pPr indent="0" marL="0">
              <a:buNone/>
            </a:pPr>
            <a:r>
              <a:rPr lang="en-US" sz="1050" i="1" dirty="0">
                <a:solidFill>
                  <a:srgbClr val="8A6D1E"/>
                </a:solidFill>
                <a:latin typeface="Calibri" pitchFamily="34" charset="0"/>
                <a:cs typeface="Amiri" pitchFamily="2" charset="-78"/>
              </a:rPr>
              <a:t>Negative frequency frame.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الأَرْبِعَاءُ أَكْثَرُ اِنْشِغَالًا مِنَ الخَمِيسِ.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Wednesday is busier than Thursday.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Comparative + مِنْ.</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HOW OFTEN? — FREQUENCY ADVERBS IN MY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 100%</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games — 50%</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0%</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أَشْرَبُ القَهْوَةَ أَبَدًا.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أَقْرَأُ دَائِمًا.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أَلْعَبُ أَحْيَانًا.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مَرَّةً؟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reading — 100%</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أَقْرَأُ دَائِمًا.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always read.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games — 50%</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أَلْعَبُ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play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0%</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أَشْرَبُ القَهْوَةَ أَبَدًا.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never drink coffee.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يَوْمِيًّا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أُسْبُوعِيًّا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مُعْظَمِ الأَيَّامِ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كَثِيرًا 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حِينٍ إِلَى آخَرَ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مَرَّةً كُلَّ شَهْرٍ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قَلِيلًا مَا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 أَبَدًا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Frequent / regular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Occasional / rare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Frequent / regular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يَوْمِيًّا</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أُسْبُوعِيًّا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مُعْظَمِ الأَيَّامِ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كَثِيرًا مَا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Occasional / rare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حِينٍ إِلَى آخَرَ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مَرَّةً كُلَّ شَهْرٍ</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قَلِيلًا مَا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 أَبَدًا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أَمَّا يَوْمُ الجُمُعَةِ ___ يَوْمٌ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وَهِيَ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فَأَنَا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فَهُوَ</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organised with </a:t>
            </a:r>
            <a:pPr algn="l" indent="0" marL="0">
              <a:buNone/>
            </a:pPr>
            <a:r>
              <a:rPr lang="ar-SA" altLang="en-US" sz="1650" b="1" dirty="0">
                <a:solidFill>
                  <a:srgbClr val="1B3B6F"/>
                </a:solidFill>
                <a:latin typeface="Amiri" pitchFamily="2" charset="-78"/>
                <a:ea typeface="Amiri" pitchFamily="2" charset="-78"/>
                <a:cs typeface="Amiri" pitchFamily="2" charset="-78"/>
              </a:rPr>
              <a:t>أَمَّا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أَخِي يَذْهَبُ فِي النَّادِي.</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أَخِي فَيَذْهَبُ إِلَى النَّادِي.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أَمَّا فَيَذْهَبُ.</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plural agreement.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أَصْدِقَائِي يَذْهَبُ بَيْنَمَا أَبْقَى.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أَصْدِقَائِي يَذْهَبُونَ بَيْنَمَا أَبْقَى.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أَصْدِقَائِي تَذْهَبُونَ بَيْنَمَا أَبْقَى.</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“on most days”?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يَوْمٍ وَاحِدٍ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مَرَّةً كُلَّ شَهْرٍ</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مُعْظَمِ الأَيَّامِ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أَمَّا يَوْمُ الجُمُعَةِ ___ يَوْمٌ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وَهِيَ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فَأَنَا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فَهُوَ</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topic is resumed by </a:t>
            </a:r>
            <a:pPr algn="l" indent="0" marL="0">
              <a:buNone/>
            </a:pPr>
            <a:r>
              <a:rPr lang="ar-SA" altLang="en-US" sz="1350" dirty="0">
                <a:solidFill>
                  <a:srgbClr val="8A6D1E"/>
                </a:solidFill>
                <a:latin typeface="Amiri" pitchFamily="2" charset="-78"/>
                <a:ea typeface="Amiri" pitchFamily="2" charset="-78"/>
                <a:cs typeface="Amiri" pitchFamily="2" charset="-78"/>
              </a:rPr>
              <a:t>هُوَ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organised with </a:t>
            </a:r>
            <a:pPr algn="l" indent="0" marL="0">
              <a:buNone/>
            </a:pPr>
            <a:r>
              <a:rPr lang="ar-SA" altLang="en-US" sz="1650" b="1" dirty="0">
                <a:solidFill>
                  <a:srgbClr val="1B3B6F"/>
                </a:solidFill>
                <a:latin typeface="Amiri" pitchFamily="2" charset="-78"/>
                <a:ea typeface="Amiri" pitchFamily="2" charset="-78"/>
                <a:cs typeface="Amiri" pitchFamily="2" charset="-78"/>
              </a:rPr>
              <a:t>أَمَّا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 أَخِي يَذْهَبُ فِي النَّادِي.</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أَخِي فَيَذْهَبُ إِلَى النَّادِي.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 أَمَّا فَيَذْهَبُ.</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topic +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comment.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plural agreement.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أَصْدِقَائِي يَذْهَبُ بَيْنَمَا أَبْقَى.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أَصْدِقَائِي يَذْهَبُونَ بَيْنَمَا أَبْقَى.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أَصْدِقَائِي تَذْهَبُونَ بَيْنَمَا أَبْقَى.</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human masculine plural takes </a:t>
            </a:r>
            <a:pPr algn="l" indent="0" marL="0">
              <a:buNone/>
            </a:pPr>
            <a:r>
              <a:rPr lang="ar-SA" altLang="en-US" sz="1350" dirty="0">
                <a:solidFill>
                  <a:srgbClr val="8A6D1E"/>
                </a:solidFill>
                <a:latin typeface="Amiri" pitchFamily="2" charset="-78"/>
                <a:ea typeface="Amiri" pitchFamily="2" charset="-78"/>
                <a:cs typeface="Amiri" pitchFamily="2" charset="-78"/>
              </a:rPr>
              <a:t>يَذْهَبُونَ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“on most days”?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يَوْمٍ وَاحِدٍ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مَرَّةً كُلَّ شَهْرٍ</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مُعْظَمِ الأَيَّامِ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مُعْظَمِ الأَيَّامِ</a:t>
            </a:r>
            <a:pPr algn="l" indent="0" marL="0">
              <a:buNone/>
            </a:pPr>
            <a:r>
              <a:rPr lang="en-US" sz="1050" i="1" dirty="0">
                <a:solidFill>
                  <a:srgbClr val="8A6D1E"/>
                </a:solidFill>
                <a:latin typeface="Calibri" pitchFamily="34" charset="0"/>
                <a:cs typeface="Amiri" pitchFamily="2" charset="-78"/>
              </a:rPr>
              <a:t> = on most days.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يَذْهَبُ يَوْمِيًّا.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أُخْتِي</a:t>
            </a:r>
            <a:pPr algn="l" indent="0" marL="0">
              <a:buNone/>
            </a:pPr>
            <a:r>
              <a:rPr lang="en-US" sz="1300" i="1" dirty="0">
                <a:solidFill>
                  <a:srgbClr val="5A6472"/>
                </a:solidFill>
                <a:latin typeface="Calibri" pitchFamily="34" charset="0"/>
                <a:cs typeface="Amiri" pitchFamily="2" charset="-78"/>
              </a:rPr>
              <a:t> is feminine.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أَمَّا الجُمُعَةُ هُوَ هَادِئٌ.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must follow </a:t>
            </a:r>
            <a:pPr algn="l" indent="0" marL="0">
              <a:buNone/>
            </a:pPr>
            <a:r>
              <a:rPr lang="ar-SA" altLang="en-US" sz="1700" dirty="0">
                <a:solidFill>
                  <a:srgbClr val="5A6472"/>
                </a:solidFill>
                <a:latin typeface="Amiri" pitchFamily="2" charset="-78"/>
                <a:ea typeface="Amiri" pitchFamily="2" charset="-78"/>
                <a:cs typeface="Amiri" pitchFamily="2" charset="-78"/>
              </a:rPr>
              <a:t>أَمَّا</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الثُّلَاثَاءُ أَكْثَرُ اِنْشِغَالًا فِي الاِثْنَيْنِ.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little word follows a comparative?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يَذْهَبُ يَوْمِيًّا.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تَذْهَبُ يَوْمِيًّا.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subject takes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أَمَّا الجُمُعَةُ هُوَ هَادِئٌ.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أَمَّا يَوْمُ الجُمُعَةِ فَهُوَ هَادِئٌ.</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فَـ</a:t>
            </a:r>
            <a:pPr algn="l" indent="0" marL="0">
              <a:buNone/>
            </a:pPr>
            <a:r>
              <a:rPr lang="en-US" sz="1150" b="1" dirty="0">
                <a:solidFill>
                  <a:srgbClr val="1B3B6F"/>
                </a:solidFill>
                <a:latin typeface="Calibri" pitchFamily="34" charset="0"/>
                <a:cs typeface="Amiri" pitchFamily="2" charset="-78"/>
              </a:rPr>
              <a:t> after </a:t>
            </a:r>
            <a:pPr algn="l" indent="0" marL="0">
              <a:buNone/>
            </a:pPr>
            <a:r>
              <a:rPr lang="ar-SA" altLang="en-US" sz="1500" b="1" dirty="0">
                <a:solidFill>
                  <a:srgbClr val="1B3B6F"/>
                </a:solidFill>
                <a:latin typeface="Amiri" pitchFamily="2" charset="-78"/>
                <a:ea typeface="Amiri" pitchFamily="2" charset="-78"/>
                <a:cs typeface="Amiri" pitchFamily="2" charset="-78"/>
              </a:rPr>
              <a:t>أَمَّا</a:t>
            </a:r>
            <a:pPr algn="l" indent="0" marL="0">
              <a:buNone/>
            </a:pPr>
            <a:r>
              <a:rPr lang="en-US" sz="1150" b="1" dirty="0">
                <a:solidFill>
                  <a:srgbClr val="1B3B6F"/>
                </a:solidFill>
                <a:latin typeface="Calibri" pitchFamily="34" charset="0"/>
                <a:cs typeface="Amiri" pitchFamily="2" charset="-78"/>
              </a:rPr>
              <a:t> and match the masculine topic.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الثُّلَاثَاءُ أَكْثَرُ اِنْشِغَالًا فِي الاِثْنَيْنِ.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الثُّلَاثَاءُ أَكْثَرُ اِنْشِغَالًا مِنَ الاِثْنَيْنِ.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Comparatives take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different weeks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Omar’s busiest 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extra lesson?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visits family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calmer?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school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travels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 is often completed early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Hanaa train?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weekly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monthly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her weekend less organised?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never sleeps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appointments change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is longer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الاِثْنَيْنِ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أَتَمَرَّنُ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يَقُولُ عُمَرُ: يَوْمُ الاِثْنَيْنِ أَكْثَرُ أَيَّامِي اِنْشِغَالًا؛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says: Monday is my busiest day;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فَبَعْدَ المَدْرَسَةِ أَذْهَبُ إِلَى دَرْسٍ إِضَافِيٍّ، ثُمَّ أَتَمَرَّنُ فِي المَسَاءِ.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go to an extra lesson, then I train in the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يَوْمُ الثُّلَاثَاءِ فَهُوَ أَهْدَأُ، وَغَالِبًا مَا أُكْمِلُ وَاجِبِي مُبَكِّرًا.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Tuesday, it is calmer, and I often finish my homework early.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وَتَقُولُ هَنَاءُ: أَنَا أَتَمَرَّنُ مَرَّتَيْنِ فِي الأُسْبُوعِ، بَيْنَمَا يَتَمَرَّنُ أَخِي يَوْمِيًّا.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Hanaa says: I train twice a week, whereas my brother trains every 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نِهَايَةُ أُسْبُوعِي أَقَلُّ تَنْظِيمًا مِنْ أَيَّامِ الدِّرَاسَةِ، لِأَنَّ مَوَاعِيدِي تَتَغَيَّرُ.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weekend is less organised than school days, because my appointments change.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Omar’s busiest 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Monday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يَوْمُ الاِثْنَيْنِ أَكْثَرُ أَيَّامِي اِنْشِغَالًا.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extra lesson?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visits family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أَتَمَرَّنُ.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calmer?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school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travels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homework is often completed early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غَالِبًا مَا أُكْمِلُ وَاجِبِي مُبَكِّرًا.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Hanaa train?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weekly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monthly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مَرَّتَيْنِ فِي الأُسْبُوعِ.</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her weekend less organised?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never sleeps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appointments change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is longer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 مَوَاعِيدِي تَتَغَيَّرُ.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الاِثْنَيْنِ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أَتَمَرَّنُ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Compare your school week and weekend</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يَوْمِيًّا؟ وَمَاذَا لَا تَفْعَلُ أَبَدًا؟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أَكْثَرُ يَوْمٍ اِنْشِغَالًا فِي أُسْبُوعِكَ؟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يَوْمَيْنِ فِي جَدْوَلِكَ.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تُفَضِّلُ جَدْوَلًا مُزْدَحِمًا أَمْ هَادِئًا؟ عَلِّلْ وَأَعْطِ مِثَالًا.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___ يَوْمِيًّا، وَلَا ___ أَبَدًا.</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 بَيْنَمَا ___ أَخِي / أُخْتِي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أَمَّا ___ فَـ ___ ؛ … أَكْثَرُ اِنْشِغَالًا مِنْ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يَتَمَرَّنُ / تَتَمَرَّنُ ___ مَرَّاتٍ فِي الأُسْبُوعِ.</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قَارِنْ بَيْنَ الاِثْنَيْنِ وَالسَّبْتِ.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Compare Monday and Saturday.</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الاِثْنَيْنُ أَكْثَرُ اِنْشِغَالًا مِنَ السَّبْتِ؛ فَأَنَا أَدْرُسُ وَأَتَمَرَّنُ، بَيْنَمَا أَسْتَرِيحُ وَأَزُورُ أُسْرَتِي يَوْمَ السَّبْتِ.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Monday is busier than Saturday; I study and train, whereas I rest and visit my family on Saturday.</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three regular weekly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activities with a frequency word each (use the ladder).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days using </a:t>
            </a:r>
            <a:pPr algn="l" indent="0" marL="0">
              <a:buNone/>
            </a:pPr>
            <a:r>
              <a:rPr lang="ar-SA" altLang="en-US" sz="1800" b="1" dirty="0">
                <a:solidFill>
                  <a:srgbClr val="1F2A37"/>
                </a:solidFill>
                <a:latin typeface="Amiri" pitchFamily="2" charset="-78"/>
                <a:ea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 and a comparative.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Compare two days and two people with بَيْنَمَا and مَرَّتَيْنِ / ثَلَاثَ مَرَّاتٍ.</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Produce a 45-second answer with contrast, evidence and a balanced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school days vs weekend, with أَمَّا … فَـ, a comparative and a balanced preference.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أَتَمَرَّنُ ______ فِي الأُسْبُوعِ.</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train twice a week.</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يَـ ______ أَخِي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my brother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تَـ ______ أُخْتِي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my sister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السَّبْتُ فَهُوَ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Saturday, it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أَكْثَرُ اِنْشِغَالًا مِنْ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busier than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كُلَّ يَوْمٍ.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 every day.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دَائِمًا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always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أَحْيَانًا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Sometimes I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نَادِرًا مَا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rarely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______ أَبَدًا.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never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دَائِمًا  ·  يَوْمِيًّا  ·  أُسْبُوعِيًّا  ·  كَثِيرًا مَا  ·  أَحْيَانًا  ·  نَادِرًا  ·  لَا ... أَبَدًا  ·  مَرَّةً  ·  مَرَّتَيْنِ  ·  بَيْنَمَا  ·  أَمَّا ... فَـ  ·  أَتَمَرَّنُ  ·  أُرَاجِعُ  ·  أَزُورُ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comparing how often you complete school-day and weekend activities.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أَمَّا</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فَـ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four different frequency expressions.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Compare two days with </a:t>
            </a:r>
            <a:pPr algn="l" indent="0" marL="0">
              <a:buNone/>
            </a:pPr>
            <a:r>
              <a:rPr lang="ar-SA" altLang="en-US" sz="1550" dirty="0">
                <a:solidFill>
                  <a:srgbClr val="1F2A37"/>
                </a:solidFill>
                <a:latin typeface="Amiri" pitchFamily="2" charset="-78"/>
                <a:ea typeface="Amiri" pitchFamily="2" charset="-78"/>
                <a:cs typeface="Amiri" pitchFamily="2" charset="-78"/>
              </a:rPr>
              <a:t>أَكْثَرُ</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أَقَلُّ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Mention exact times and one fixed appointment.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balanced preference with evidence.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أَتَّبِعُ جَدْوَلًا ثَابِتًا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follow a fixed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أَزُورُ المَكْتَبَةَ يَوْمَ الخَمِيسِ فَقَطْ</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visit the library on Thursday only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نِهَايَةُ الأُسْبُوعِ فَهِيَ أَقَلُّ تَنْظِيمًا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the weekend, it is less organised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حِينٍ إِلَى آخَرَ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time to time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الرَّاحَةَ ضَرُورِيَّةٌ أَيْضًا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rest is also necessary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فِي أَيَّامِ الدِّرَاسَةِ أَسْتَيْقِظُ مُبَكِّرًا وَأَتَّبِعُ جَدْوَلًا ثَابِتًا. أَدْرُسُ يَوْمِيًّا، وَأَتَمَرَّنُ مَرَّتَيْنِ فِي الأُسْبُوعِ، بَيْنَمَا أَزُورُ المَكْتَبَةَ يَوْمَ الخَمِيسِ فَقَطْ. يَوْمُ الأَرْبِعَاءِ أَكْثَرُ اِنْشِغَالًا مِنْ بَقِيَّةِ الأَيَّامِ لِأَنَّ التَّمْرِينَ يَنْتَهِي فِي الثَّامِنَةِ إِلَّا الرُّبْعَ. أَمَّا نِهَايَةُ الأُسْبُوعِ فَهِيَ أَقَلُّ تَنْظِيمًا؛ أَسْتَيْقِظُ مُتَأَخِّرًا وَمِنْ حِينٍ إِلَى آخَرَ أَخْرُجُ مَعَ أُسْرَتِي. أُفَضِّلُ التَّوَازُنَ: الجَدْوَلُ المُزْدَحِمُ يُسَاعِدُنِي عَلَى الإِنْجَازِ، وَلٰكِنَّ الرَّاحَةَ ضَرُورِيَّةٌ أَيْضًا.</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On school days I wake up early and follow a fixed timetable. I study daily and train twice a week, whereas I visit the library on Thursday only. Wednesday is busier than the other days because training ends at quarter to eight. As for the weekend, it is less organised: I wake up late and from time to time I go out with my family. I prefer balance: a busy timetable helps me achieve, but rest is also necessary.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frequency expressions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comparative +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five different frequency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“never” with </a:t>
            </a:r>
            <a:pPr algn="l" indent="0" marL="0">
              <a:buNone/>
            </a:pPr>
            <a:r>
              <a:rPr lang="ar-SA" altLang="en-US" sz="1700" dirty="0">
                <a:solidFill>
                  <a:srgbClr val="1F2A37"/>
                </a:solidFill>
                <a:latin typeface="Amiri" pitchFamily="2" charset="-78"/>
                <a:ea typeface="Amiri" pitchFamily="2" charset="-78"/>
                <a:cs typeface="Amiri" pitchFamily="2" charset="-78"/>
              </a:rPr>
              <a:t>لَا … أَبَدًا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my second verb matches its own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twice / three times a week.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أَمَّا … فَـ</a:t>
            </a:r>
            <a:pPr algn="l" indent="0" marL="0">
              <a:buNone/>
            </a:pPr>
            <a:r>
              <a:rPr lang="en-US" sz="1300" dirty="0">
                <a:solidFill>
                  <a:srgbClr val="1F2A37"/>
                </a:solidFill>
                <a:latin typeface="Calibri" pitchFamily="34" charset="0"/>
                <a:cs typeface="Amiri" pitchFamily="2" charset="-78"/>
              </a:rPr>
              <a:t> and a comparative with </a:t>
            </a:r>
            <a:pPr algn="l" indent="0" marL="0">
              <a:buNone/>
            </a:pPr>
            <a:r>
              <a:rPr lang="ar-SA" altLang="en-US" sz="1700" dirty="0">
                <a:solidFill>
                  <a:srgbClr val="1F2A37"/>
                </a:solidFill>
                <a:latin typeface="Amiri" pitchFamily="2" charset="-78"/>
                <a:ea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contrasts two clauses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gives a date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asks a price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weekly?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أُسْبُوعِيًّا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شَهْرِيًّا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تَذْهَبُ، بَيْنَمَا أَخِي يَبْقَى.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يَذْهَبُ، بَيْنَمَا أَخِي تَبْقَى.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أَذْهَبُ، بَيْنَمَا أَخِي أَبْقَى.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contrasts two clauses</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gives a date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asks a price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contrasts simultaneous or differing situations.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weekly?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يَوْمِيًّا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أُسْبُوعِيًّا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شَهْرِيًّا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أُسْبُوعِيًّا</a:t>
            </a:r>
            <a:pPr algn="l" indent="0" marL="0">
              <a:buNone/>
            </a:pPr>
            <a:r>
              <a:rPr lang="en-US" sz="1050" i="1" dirty="0">
                <a:solidFill>
                  <a:srgbClr val="8A6D1E"/>
                </a:solidFill>
                <a:latin typeface="Calibri" pitchFamily="34" charset="0"/>
                <a:cs typeface="Amiri" pitchFamily="2" charset="-78"/>
              </a:rPr>
              <a:t> = weekly.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أُخْتِي تَذْهَبُ، بَيْنَمَا أَخِي يَبْقَى.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أُخْتِي يَذْهَبُ، بَيْنَمَا أَخِي تَبْقَى.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أُخْتِي أَذْهَبُ، بَيْنَمَا أَخِي أَبْقَى.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verb matches its subject.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week at a glance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يَخْتَلِفُ جَدْوَلِي مِنْ يَوْمٍ إِلَى آخَرَ. أَدْرُسُ اللُّغَةَ العَرَبِيَّةَ يَوْمَيِ الاِثْنَيْنِ وَالأَرْبِعَاءِ، بَيْنَمَا أُشَارِكُ فِي نَادِي العُلُومِ يَوْمَ الخَمِيسِ. أَمَّا يَوْمُ الثُّلَاثَاءِ فَأَذْهَبُ فِيهِ إِلَى السِّبَاحَةِ، وَهُوَ أَطْوَلُ يَوْمٍ لِأَنَّنِي أَعُودُ بَعْدَ السَّابِعَةِ مَسَاءً. فِي مُعْظَمِ الأَيَّامِ أُرَاجِعُ دُرُوسِي قَبْلَ العَشَاءِ. نَادِرًا مَا أَخْرُجُ فِي لَيْلَةِ الجُمُعَةِ، لٰكِنَّنِي أَزُورُ جَدَّتِي مَرَّةً كُلَّ شَهْرٍ. فِي رَأْيِي، الجَدْوَلُ المُنَوَّعُ مُمْتِعٌ وَلٰكِنَّهُ يَحْتَاجُ إِلَى تَنْظِيمٍ.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يَخْتَلِفُ</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جَدْوَلِي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timetable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يَوْمَيِ الاِثْنَيْنِ وَالأَرْبِعَاءِ</a:t>
            </a:r>
            <a:endParaRPr lang="ar-SA" sz="13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Mondays and Wednesdays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أُشَارِكُ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take part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نَادِي العُلُومِ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science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أَطْوَلُ يَوْمٍ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longest day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أَعُودُ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return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العَشَاءِ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dinner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جَدَّتِي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grandmother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يَحْتَاجُ إِلَى تَنْظِيمٍ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needs organisation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two days is Arabic studied?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 and Thursday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 and Wednesday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Friday and Saturday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Thursday?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visit</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 club</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the longest day?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returns after 7 p.m.</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two Arabic lessons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wakes at 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revision usually done?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midnight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dinner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bus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grandmother visited?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Friday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balanced opinion?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schedule is always boring</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clubs should stop</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variety is enjoyable but requires organisation</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two days is Arabic studied?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 and Thursday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Monday and Wednesday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Friday and Saturday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يَوْمَيِ الاِثْنَيْنِ وَالأَرْبِعَاءِ.</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Thursday?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swimming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visit</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 club</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نَادِي العُلُومِ.</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the longest day?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writer returns after 7 p.m.</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there are two Arabic lessons</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wakes at 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أَعُودُ بَعْدَ السَّابِعَةِ مَسَاءً.</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revision usually done?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midnight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before dinner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bus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قَبْلَ العَشَاءِ.</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is grandmother visited?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once a month</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Friday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مَرَّةً كُلَّ شَهْرٍ.</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balanced opinion?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schedule is always boring</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clubs should stop</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variety is enjoyable but requires organisation</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gives both benefit and condition.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Frequency and contrast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exercise three times a week.”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يَتَمَرَّنُ ثَلَاثَةُ أُسْبُوعٍ.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أَتَمَرَّنُ ثَلَاثَ مَرَّاتٍ فِي الأُسْبُوعِ.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أَتَمَرَّنُ يَوْمٌ ثَلَاثَةٌ.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“I never arrive late.”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أَتَأَخَّرُ أَبَدًا.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أَتَأَخَّرُ أَبَدًا.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نَادِرًا يَتَأَخَّرُ دَائِمًا.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subject–verb agreement.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ea typeface="Amiri" pitchFamily="2" charset="-78"/>
                <a:cs typeface="Amiri" pitchFamily="2" charset="-78"/>
              </a:rPr>
              <a:t>أُخْتِي يَذْهَبُ يَوْمَ الثُّلَاثَاءِ، بَيْنَمَا أَخِي تَذْهَبُ يَوْمَ الأَرْبِعَاءِ.</a:t>
            </a:r>
            <a:endParaRPr lang="ar-SA" sz="11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ea typeface="Amiri" pitchFamily="2" charset="-78"/>
                <a:cs typeface="Amiri" pitchFamily="2" charset="-78"/>
              </a:rPr>
              <a:t>أُخْتِي أَذْهَبُ، بَيْنَمَا أَخِي أَذْهَبُ.</a:t>
            </a:r>
            <a:endParaRPr lang="ar-SA" sz="11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ea typeface="Amiri" pitchFamily="2" charset="-78"/>
                <a:cs typeface="Amiri" pitchFamily="2" charset="-78"/>
              </a:rPr>
              <a:t>أُخْتِي تَذْهَبُ يَوْمَ الثُّلَاثَاءِ، بَيْنَمَا أَخِي يَذْهَبُ يَوْمَ الأَرْبِعَاءِ.</a:t>
            </a:r>
            <a:endParaRPr lang="ar-SA" sz="11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أَمَّا يَوْمُ الخَمِيسِ ___ أَقَلُّ اِزْدِحَامًا.</a:t>
            </a:r>
            <a:endParaRPr lang="ar-SA"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فَهُوَ</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يَوْمُ الأَرْبِعَاءِ أَكْثَرُ اِنْشِغَالًا مِنْ يَوْمِ الخَمِيسِ.</a:t>
            </a:r>
            <a:endParaRPr lang="ar-SA" sz="14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يَوْمُ الأَرْبِعَاءِ اِنْشِغَالًا فِي الخَمِيسِ.</a:t>
            </a:r>
            <a:endParaRPr lang="ar-SA" sz="14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يَوْمُ الأَرْبِعَاءِ بَيْنَمَا الخَمِيسِ.</a:t>
            </a:r>
            <a:endParaRPr lang="ar-SA" sz="14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2" charset="-78"/>
                <a:ea typeface="Amiri" pitchFamily="2" charset="-78"/>
                <a:cs typeface="Amiri" pitchFamily="2" charset="-78"/>
              </a:rPr>
              <a:t>عَلِيٌّ يَتَمَرَّنُ يَوْمَ الاِثْنَيْنِ وَالأَرْبِعَاءِ وَالجُمُعَةِ</a:t>
            </a:r>
            <a:pPr algn="l" indent="0" marL="0">
              <a:buNone/>
            </a:pPr>
            <a:r>
              <a:rPr lang="en-US" sz="950" b="1" dirty="0">
                <a:solidFill>
                  <a:srgbClr val="1B3B6F"/>
                </a:solidFill>
                <a:latin typeface="Calibri" pitchFamily="34" charset="0"/>
                <a:cs typeface="Amiri" pitchFamily="2" charset="-78"/>
              </a:rPr>
              <a:t>. How should he answer </a:t>
            </a:r>
            <a:pPr algn="l" indent="0" marL="0">
              <a:buNone/>
            </a:pPr>
            <a:r>
              <a:rPr lang="ar-SA" altLang="en-US" sz="1250" b="1" dirty="0">
                <a:solidFill>
                  <a:srgbClr val="1B3B6F"/>
                </a:solidFill>
                <a:latin typeface="Amiri" pitchFamily="2" charset="-78"/>
                <a:ea typeface="Amiri" pitchFamily="2" charset="-78"/>
                <a:cs typeface="Amiri" pitchFamily="2" charset="-78"/>
              </a:rPr>
              <a:t>كَمْ مَرَّةً تَتَمَرَّنُ؟</a:t>
            </a:r>
            <a:endParaRPr lang="en-US" sz="9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 الاِثْنَيْنِ.</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مَرَّاتٍ فِي الأُسْبُوعِ.</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الرِّيَاضَةَ مُفِيدَةٌ.</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Arabic for “I exercise three times a week.”</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يَتَمَرَّنُ ثَلَاثَةُ أُسْبُوعٍ.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أَتَمَرَّنُ ثَلَاثَ مَرَّاتٍ فِي الأُسْبُوعِ.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أَتَمَرَّنُ يَوْمٌ ثَلَاثَةٌ.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frequency frame is </a:t>
            </a:r>
            <a:pPr algn="l" indent="0" marL="0">
              <a:buNone/>
            </a:pPr>
            <a:r>
              <a:rPr lang="ar-SA" altLang="en-US" sz="1350" dirty="0">
                <a:solidFill>
                  <a:srgbClr val="8A6D1E"/>
                </a:solidFill>
                <a:latin typeface="Amiri" pitchFamily="2" charset="-78"/>
                <a:ea typeface="Amiri" pitchFamily="2" charset="-78"/>
                <a:cs typeface="Amiri" pitchFamily="2" charset="-78"/>
              </a:rPr>
              <a:t>ثَلَاثَ مَرَّاتٍ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“I never arrive late.”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أَتَأَخَّرُ أَبَدًا.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أَتَأَخَّرُ أَبَدًا.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نَادِرًا يَتَأَخَّرُ دَائِمًا.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“Never” requires the negative frame </a:t>
            </a:r>
            <a:pPr algn="l" indent="0" marL="0">
              <a:buNone/>
            </a:pPr>
            <a:r>
              <a:rPr lang="ar-SA" altLang="en-US" sz="1350" dirty="0">
                <a:solidFill>
                  <a:srgbClr val="8A6D1E"/>
                </a:solidFill>
                <a:latin typeface="Amiri" pitchFamily="2" charset="-78"/>
                <a:ea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أَبَدًا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subject–verb agreement.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ea typeface="Amiri" pitchFamily="2" charset="-78"/>
                <a:cs typeface="Amiri" pitchFamily="2" charset="-78"/>
              </a:rPr>
              <a:t>أُخْتِي يَذْهَبُ يَوْمَ الثُّلَاثَاءِ، بَيْنَمَا أَخِي تَذْهَبُ يَوْمَ الأَرْبِعَاءِ.</a:t>
            </a:r>
            <a:endParaRPr lang="ar-SA" sz="11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ea typeface="Amiri" pitchFamily="2" charset="-78"/>
                <a:cs typeface="Amiri" pitchFamily="2" charset="-78"/>
              </a:rPr>
              <a:t>أُخْتِي أَذْهَبُ، بَيْنَمَا أَخِي أَذْهَبُ.</a:t>
            </a:r>
            <a:endParaRPr lang="ar-SA" sz="11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أُخْتِي تَذْهَبُ يَوْمَ الثُّلَاثَاءِ، بَيْنَمَا أَخِي يَذْهَبُ يَوْمَ الأَرْبِعَاءِ.</a:t>
            </a:r>
            <a:endParaRPr lang="ar-SA" sz="11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أُخْتِي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تَذْهَبُ</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أَخِي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يَذْهَبُ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أَمَّا يَوْمُ الخَمِيسِ ___ أَقَلُّ اِزْدِحَامًا.</a:t>
            </a:r>
            <a:endParaRPr lang="ar-SA"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فَهُوَ</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introduces the topic and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begins the comment: </a:t>
            </a:r>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فَهُوَ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يَوْمُ الأَرْبِعَاءِ أَكْثَرُ اِنْشِغَالًا مِنْ يَوْمِ الخَمِيسِ.</a:t>
            </a:r>
            <a:endParaRPr lang="ar-SA" sz="145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يَوْمُ الأَرْبِعَاءِ اِنْشِغَالًا فِي الخَمِيسِ.</a:t>
            </a:r>
            <a:endParaRPr lang="ar-SA" sz="145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يَوْمُ الأَرْبِعَاءِ بَيْنَمَا الخَمِيسِ.</a:t>
            </a:r>
            <a:endParaRPr lang="ar-SA" sz="145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comparison frame is </a:t>
            </a:r>
            <a:pPr algn="l" indent="0" marL="0">
              <a:buNone/>
            </a:pPr>
            <a:r>
              <a:rPr lang="ar-SA" altLang="en-US" sz="1350" dirty="0">
                <a:solidFill>
                  <a:srgbClr val="8A6D1E"/>
                </a:solidFill>
                <a:latin typeface="Amiri" pitchFamily="2" charset="-78"/>
                <a:ea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 adjective +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ar-SA" altLang="en-US" sz="1250" b="1" dirty="0">
                <a:solidFill>
                  <a:srgbClr val="1B3B6F"/>
                </a:solidFill>
                <a:latin typeface="Amiri" pitchFamily="2" charset="-78"/>
                <a:ea typeface="Amiri" pitchFamily="2" charset="-78"/>
                <a:cs typeface="Amiri" pitchFamily="2" charset="-78"/>
              </a:rPr>
              <a:t>عَلِيٌّ يَتَمَرَّنُ يَوْمَ الاِثْنَيْنِ وَالأَرْبِعَاءِ وَالجُمُعَةِ</a:t>
            </a:r>
            <a:pPr algn="l" indent="0" marL="0">
              <a:buNone/>
            </a:pPr>
            <a:r>
              <a:rPr lang="en-US" sz="950" b="1" dirty="0">
                <a:solidFill>
                  <a:srgbClr val="1B3B6F"/>
                </a:solidFill>
                <a:latin typeface="Calibri" pitchFamily="34" charset="0"/>
                <a:cs typeface="Amiri" pitchFamily="2" charset="-78"/>
              </a:rPr>
              <a:t>. How should he answer </a:t>
            </a:r>
            <a:pPr algn="l" indent="0" marL="0">
              <a:buNone/>
            </a:pPr>
            <a:r>
              <a:rPr lang="ar-SA" altLang="en-US" sz="1250" b="1" dirty="0">
                <a:solidFill>
                  <a:srgbClr val="1B3B6F"/>
                </a:solidFill>
                <a:latin typeface="Amiri" pitchFamily="2" charset="-78"/>
                <a:ea typeface="Amiri" pitchFamily="2" charset="-78"/>
                <a:cs typeface="Amiri" pitchFamily="2" charset="-78"/>
              </a:rPr>
              <a:t>كَمْ مَرَّةً تَتَمَرَّنُ؟</a:t>
            </a:r>
            <a:endParaRPr lang="en-US" sz="9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يَوْمَ الاِثْنَيْنِ.</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 مَرَّاتٍ فِي الأُسْبُوعِ.</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الرِّيَاضَةَ مُفِيدَةٌ.</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 asks for frequency, so the answer must give the number of times.</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D1-L03 · How Often?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D1-L04 · Before and After — Sequencing My Day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 أَنْ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before (+ verb)</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after (+ verb)</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عِنْدَمَا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أُكْمِلُ وَاجِبِي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complete my homework</a:t>
            </a:r>
            <a:pPr indent="0" marL="0">
              <a:buNone/>
            </a:pPr>
            <a:r>
              <a:rPr lang="ar-SA" sz="1000" i="1" dirty="0">
                <a:solidFill>
                  <a:srgbClr val="5A6472"/>
                </a:solidFill>
                <a:latin typeface="Calibri" pitchFamily="34" charset="0"/>
                <a:ea typeface="Amiri" pitchFamily="2" charset="-78"/>
                <a:cs typeface="Amiri" pitchFamily="2" charset="-78"/>
              </a:rPr>
              <a:t>  he: يُكْمِلُ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أَسْتَرِيحُ</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rest</a:t>
            </a:r>
            <a:pPr indent="0" marL="0">
              <a:buNone/>
            </a:pPr>
            <a:r>
              <a:rPr lang="ar-SA" sz="1000" i="1" dirty="0">
                <a:solidFill>
                  <a:srgbClr val="5A6472"/>
                </a:solidFill>
                <a:latin typeface="Calibri" pitchFamily="34" charset="0"/>
                <a:ea typeface="Amiri" pitchFamily="2" charset="-78"/>
                <a:cs typeface="Amiri" pitchFamily="2" charset="-78"/>
              </a:rPr>
              <a:t>  he: يَسْتَرِيحُ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straight after school, and what do you do before you sleep?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تَفْعَلُ بَعْدَ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D1-L03: the picture game “How often?” and the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comparing your week with a family member’s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school days vs weekend.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D1-L04 · Before and After — Sequencing My Day</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قَبْلَ وَبَعْدَ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every verb after </a:t>
            </a:r>
            <a:pPr algn="l" indent="0" marL="0">
              <a:buNone/>
            </a:pPr>
            <a:r>
              <a:rPr lang="ar-SA" altLang="en-US" sz="1700" b="1" dirty="0">
                <a:solidFill>
                  <a:srgbClr val="FFFFFF"/>
                </a:solidFill>
                <a:latin typeface="Amiri" pitchFamily="2" charset="-78"/>
                <a:ea typeface="Amiri" pitchFamily="2" charset="-78"/>
                <a:cs typeface="Amiri" pitchFamily="2" charset="-78"/>
              </a:rPr>
              <a:t>بَيْنَمَا</a:t>
            </a:r>
            <a:pPr algn="l" indent="0" marL="0">
              <a:buNone/>
            </a:pPr>
            <a:r>
              <a:rPr lang="en-US" sz="1300" b="1" dirty="0">
                <a:solidFill>
                  <a:srgbClr val="FFFFFF"/>
                </a:solidFill>
                <a:latin typeface="Calibri" pitchFamily="34" charset="0"/>
                <a:cs typeface="Amiri" pitchFamily="2" charset="-78"/>
              </a:rPr>
              <a:t> matches its OWN subject.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D1-L03 · How Often? — Frequency Adverbs in My Routine</dc:title>
  <dc:subject>PptxGenJS Presentation</dc:subject>
  <dc:creator>Al Madina Online School · Arabic Department</dc:creator>
  <cp:lastModifiedBy>Al Madina Online School · Arabic Department</cp:lastModifiedBy>
  <cp:revision>1</cp:revision>
  <dcterms:created xsi:type="dcterms:W3CDTF">2026-10-11T06:40:26Z</dcterms:created>
  <dcterms:modified xsi:type="dcterms:W3CDTF">2026-10-11T06:40:26Z</dcterms:modified>
</cp:coreProperties>
</file>