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D1-L05. The website lesson “After School and Evening Routine”: vocabulary, grammar rules and quiz, patterns, common mistakes, sorter, listening, reading, speaking prompts and model, writing task and model, differentiation, final check and the lesson mission. Picture match: website visual game “After School and Evening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evening in THREE phases (arrive → jobs → rest) using the vocabulary chunks as they are (أُرَتِّبُ غُرْفَتِي, أُحَضِّرُ حَقِيبَتِي) + one time and one “for half an hour”.
• Develop: change the suffix to talk about someone else (حَقِيبَتُهُ / حَقِيبَتُهَا) and use one object suffix (أُسَاعِدُهَا). Stretch: purpose with لِكَيْ / حَتَّى + the subjunctive from D1-L04, and evaluate the routine.
• The three look-alike verbs (أَرْجِعُ / أُرَاجِعُ / أَسْتَرِيحُ) have their own slide — this is the website’s main warning.
• Urdu bridge: مدت، مطبخ، برنامج، کتاب، مصروف (not in the lesson, but useful for “busy”).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D1-L04 (أَنْ + subjunctive, noun vs verb) and D1-L03 (frequency).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short ending tells you WHOSE (after a noun) or WHOM (after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مدت (a period — كُچھ مدت) → لِمُدَّةِ (for a period of). مطبخ (kitchen — formal Urdu) → فِي المَطْبَخِ. برنامہ (plan, programme) → بَرْنَامَجًا. کتاب → كِتَابًا. مُبَاشَرَةً has no close Urdu partner — teach it as “straight away” (compare براہ راست =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(1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After school (website vocabulary (2 of 2)). Hear → Say → See → Use. Transliteration is printed for Core students (cover it for Develop/Stretch).
The m/f/we forms on the cards already show the suffix change (مَلَابِسِي → مَلَابِسَهُ → مَلَابِسَهَا). Point to the ending, not the whole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Evening routine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(1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Time, duration and purpose (website vocabulary (2 of 2)). Hear → Say → See → Use. Transliteration is printed for Core students (cover it for Develop/Stretch).
FLEX: teach if time allows; otherwise these are on the website vocabulary tab for homework.
لِكَيْ and حَتَّى are followed by a verb in the subjunctive — the same fatḥa ending as after أَنْ in D1-L04.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common error: “Do not confuse أُرَاجِعُ ‘I revise’ with أَرْجِعُ ‘I return’.”
Say the three verbs slowly: a-r-ji-ʿu / u-rā-ji-ʿu / as-ta-rī-ḥu. Students mime: walking home (return), reading (revise), head on hands (rest).
Quick-fire: teacher says one; students do the mime. Then reverse: teacher mimes, students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“Attach a possessive suffix to the noun” and “Attach an object suffix to the verb”. Website overview: the same ending shows possession after a noun or the object after a verb; the sentence role tells you which.
Teacher script: “Look at the word BEFORE the ending. Noun → whose. Verb → whom.”
Point out: (1) ة → ت (غُرْفَة → غُرْفَتِي); (2) “me” after a verb is ـنِي (تُسَاعِدُنِي).
Website common error: أُسَاعِدُهُ أُمِّي ✗ → أُسَاعِدُهَا ✓ (my mother is female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“Express duration with لِمُدَّةِ” (answers “for how long?”, not “at what time?”) and “Express purpose with لِكَيْ / حَتَّى” (+ subjunctive).
Link to D1-L04: لِكَيْ and حَتَّى behave like أَنْ — the verb ends in fatḥa. Negative purpose: لِكَيْ لَا / حَتَّى لَا (so that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attaches short pronouns to nouns and verbs. The same ending can show possession after a noun or the object after a verb; the sentence role tells you which meaning is intended.”
• Attach a possessive suffix to the noun: The suffix identifies whose object it is. Notice the tāʾ marbūṭa becomes ت before a suffix.
• Attach an object suffix to the verb: The suffix identifies the person receiving the action.
• Express duration with لِمُدَّةِ: Duration answers “for how long?” rather than “at what time?”.
• Express purpose with لِكَيْ / حَتَّى: The following present verb takes the subjunctive ending.
Website common error: Do not confuse أُرَاجِعُ “I revise” with أَرْجِعُ “I return”. Also keep the correct suffix: أساعدها refers to a female, while أساعده refers to a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1–4 combined into the three phases, with a think-aloud. Students copy it, draw a box round every “for how long” and circle every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After School and Evening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afternoon and night cards). A quick Core warm-up before the evening sorter. Extension: students add a time or a duration to each sentence (e.g. أَدْرُسُ لِمُدَّةِ سَاعَةٍ).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action into the stage where it usually belongs.
Accept reasoned alternatives (e.g. أُرَتِّبُ غُرْفَتِي could be preparation). Ask “why?” — reasons are the Stretch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تَعُودُ مَرْيَمُ إِلَى البَيْتِ فِي الرَّابِعَةِ وَعَشْرِ دَقَائِقَ. مُبَاشَرَةً تُغَيِّرُ مَلَابِسَهَا وَتَتَنَاوَلُ وَجْبَةً خَفِيفَةً. بَعْدَ ذٰلِكَ تَسْتَرِيحُ لِمُدَّةِ عِشْرِينَ دَقِيقَةً فَقَطْ، لِأَنَّ لَدَيْهَا تَدْرِيبًا فِي الخَامِسَةِ وَالنِّصْفِ. عِنْدَمَا تَعُودُ مِنَ التَّدْرِيبِ، تُسَاعِدُ أُمَّهَا فِي إِعْدَادِ العَشَاءِ، ثُمَّ تُكْمِلُ وَاجِبَهَا. قَبْلَ أَنْ تَنَامَ، تُحَضِّرُ حَقِيبَتَهَا حَتَّى لَا تَنْسَى كُتُبَهَا.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All five prompts are from the website. Prompts 1 and 2 are merged on the slide (Core); Develop answers the two amber prompts; Stretch the last with a reason. Website model: a complete sequence with a purpose clause (لِكَيْ أَكُونَ حُرًّا).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Sequence four evening actions with times. · Develop — Add duration, suffixes and a purpose clause. · Stretch — Evaluate the routine and suggest one realistic improvement.
Website writing task (Stretch): Write 100–120 words about your after-school and evening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فِي الرَّابِعَةِ إِلَّا الرُّبْعَ · لِمُدَّةِ نِصْفِ سَاعَةٍ · لِكَيْ أَكُونَ حُرًّا · مَلَابِسِي، دُرُوسِي، وَاجِبِي، حَقِيبَتِي، أُسْرَتِي. Develop challenge: the model has NO object ending — students add one (أُسَاعِدُهَا فِي المَطْبَخِ).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(D1-L06 · He and She — Describing Someone Else’s Routine) will spend class time USING this language, so students prepare it tonight — short, simple, easy to access (school guidance: “Simple, Short, Interesting, Relevant, Easy to access”). The five words come from the website D1-L06 vocabulary (masculine/feminine forms and comparison).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After School and Evening Routine</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بَعْدَ المَدْرَسَةِ وَرُوتِينُ المَسَاءِ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afternoon and evening in three phases, with exact times, duration (</a:t>
            </a:r>
            <a:pPr algn="l" indent="0" marL="0">
              <a:buNone/>
            </a:pPr>
            <a:r>
              <a:rPr lang="ar-SA" altLang="en-US" sz="1800" dirty="0">
                <a:solidFill>
                  <a:srgbClr val="C6D2E6"/>
                </a:solidFill>
                <a:latin typeface="Amiri" pitchFamily="34" charset="0"/>
                <a:ea typeface="Amiri" pitchFamily="34" charset="-122"/>
                <a:cs typeface="Amiri" pitchFamily="34" charset="-120"/>
              </a:rPr>
              <a:t>لِمُدَّةِ</a:t>
            </a:r>
            <a:pPr algn="l" indent="0" marL="0">
              <a:buNone/>
            </a:pPr>
            <a:r>
              <a:rPr lang="en-US" sz="1400" dirty="0">
                <a:solidFill>
                  <a:srgbClr val="C6D2E6"/>
                </a:solidFill>
                <a:latin typeface="Calibri" pitchFamily="34" charset="0"/>
                <a:ea typeface="Calibri" pitchFamily="34" charset="-122"/>
                <a:cs typeface="Calibri" pitchFamily="34" charset="-120"/>
              </a:rPr>
              <a:t>), purpose (</a:t>
            </a:r>
            <a:pPr algn="l" indent="0" marL="0">
              <a:buNone/>
            </a:pPr>
            <a:r>
              <a:rPr lang="ar-SA" altLang="en-US" sz="1800" dirty="0">
                <a:solidFill>
                  <a:srgbClr val="C6D2E6"/>
                </a:solidFill>
                <a:latin typeface="Amiri" pitchFamily="34" charset="0"/>
                <a:ea typeface="Amiri" pitchFamily="34" charset="-122"/>
                <a:cs typeface="Amiri" pitchFamily="34" charset="-120"/>
              </a:rPr>
              <a:t>لِكَيْ / حَتَّى</a:t>
            </a:r>
            <a:pPr algn="l" indent="0" marL="0">
              <a:buNone/>
            </a:pPr>
            <a:r>
              <a:rPr lang="en-US" sz="1400" dirty="0">
                <a:solidFill>
                  <a:srgbClr val="C6D2E6"/>
                </a:solidFill>
                <a:latin typeface="Calibri" pitchFamily="34" charset="0"/>
                <a:ea typeface="Calibri" pitchFamily="34" charset="-122"/>
                <a:cs typeface="Calibri" pitchFamily="34" charset="-120"/>
              </a:rPr>
              <a:t>) and possessive and object suffixes (</a:t>
            </a:r>
            <a:pPr algn="l" indent="0" marL="0">
              <a:buNone/>
            </a:pPr>
            <a:r>
              <a:rPr lang="ar-SA" altLang="en-US" sz="1800" dirty="0">
                <a:solidFill>
                  <a:srgbClr val="C6D2E6"/>
                </a:solidFill>
                <a:latin typeface="Amiri" pitchFamily="34" charset="0"/>
                <a:ea typeface="Amiri" pitchFamily="34" charset="-122"/>
                <a:cs typeface="Amiri" pitchFamily="34" charset="-120"/>
              </a:rPr>
              <a:t>غُرْفَتِي، أُسَاعِدُهَا</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D1-L05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phases of the evening, then the suffixes: whose and whom.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evening,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change my clothes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half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النَّوْمِ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أَنَامَ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أَنْ أَعُودَ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أَنْ أَخْرُجَ</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العَشَاءِ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week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أُرَتِّبُ غُرْفَتِي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wash the dishes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tidy my room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change my clothes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لِمُدَّةِ نِصْفِ 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half an hour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half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أَنَامُ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النَّوْمِ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 أَنْ أَنَامَ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ends in fatḥa.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needs no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أَنْ أَعُودَ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أَنْ أَخْرُجَ</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العَشَاءِ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D1-L04: a noun follows directly.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مَرَّتَيْنِ فِي الأُسْبُوعِ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week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D1-L03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short ending tells you WHOSE (after a noun) or WHOM (after a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34" charset="0"/>
                <a:ea typeface="Amiri" pitchFamily="34" charset="-122"/>
                <a:cs typeface="Amiri" pitchFamily="34" charset="-120"/>
              </a:rPr>
              <a:t>حَقِيبَتُهَا</a:t>
            </a:r>
            <a:pPr algn="ctr" indent="0" marL="0">
              <a:buNone/>
            </a:pPr>
            <a:r>
              <a:rPr lang="en-US" sz="2400" b="1" dirty="0">
                <a:solidFill>
                  <a:srgbClr val="1B3B6F"/>
                </a:solidFill>
                <a:latin typeface="Calibri" pitchFamily="34" charset="0"/>
                <a:ea typeface="Calibri" pitchFamily="34" charset="-122"/>
                <a:cs typeface="Calibri" pitchFamily="34" charset="-120"/>
              </a:rPr>
              <a:t> = her bag  ·  </a:t>
            </a:r>
            <a:pPr algn="ctr" indent="0" marL="0">
              <a:buNone/>
            </a:pPr>
            <a:r>
              <a:rPr lang="ar-SA" altLang="en-US" sz="3100" b="1" dirty="0">
                <a:solidFill>
                  <a:srgbClr val="1B3B6F"/>
                </a:solidFill>
                <a:latin typeface="Amiri" pitchFamily="34" charset="0"/>
                <a:ea typeface="Amiri" pitchFamily="34" charset="-122"/>
                <a:cs typeface="Amiri" pitchFamily="34" charset="-120"/>
              </a:rPr>
              <a:t>أُسَاعِدُهَا</a:t>
            </a:r>
            <a:pPr algn="ctr" indent="0" marL="0">
              <a:buNone/>
            </a:pPr>
            <a:r>
              <a:rPr lang="en-US" sz="2400" b="1" dirty="0">
                <a:solidFill>
                  <a:srgbClr val="1B3B6F"/>
                </a:solidFill>
                <a:latin typeface="Calibri" pitchFamily="34" charset="0"/>
                <a:ea typeface="Calibri" pitchFamily="34" charset="-122"/>
                <a:cs typeface="Calibri" pitchFamily="34" charset="-120"/>
              </a:rPr>
              <a:t> = I help her</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 wide range of after-school and evening verbs.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Sequence six or more events with exact times and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object and possessive suffixes accurately in routine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a developed account with reasons and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my evening in three phases.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at what time and for how long.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my / his / her on nouns (</a:t>
            </a:r>
            <a:pPr algn="l" indent="0" marL="0">
              <a:buNone/>
            </a:pPr>
            <a:r>
              <a:rPr lang="ar-SA" altLang="en-US" sz="1700" b="1" dirty="0">
                <a:solidFill>
                  <a:srgbClr val="C9780A"/>
                </a:solidFill>
                <a:latin typeface="Amiri" pitchFamily="34" charset="0"/>
                <a:ea typeface="Amiri" pitchFamily="34" charset="-122"/>
                <a:cs typeface="Amiri" pitchFamily="34" charset="-120"/>
              </a:rPr>
              <a:t>غُرْفَتِي، غُرْفَتُهُ</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one object suffix (</a:t>
            </a:r>
            <a:pPr algn="l" indent="0" marL="0">
              <a:buNone/>
            </a:pPr>
            <a:r>
              <a:rPr lang="ar-SA" altLang="en-US" sz="1700" b="1" dirty="0">
                <a:solidFill>
                  <a:srgbClr val="C9780A"/>
                </a:solidFill>
                <a:latin typeface="Amiri" pitchFamily="34" charset="0"/>
                <a:ea typeface="Amiri" pitchFamily="34" charset="-122"/>
                <a:cs typeface="Amiri" pitchFamily="34" charset="-120"/>
              </a:rPr>
              <a:t>أُسَاعِدُهَا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purpose with </a:t>
            </a:r>
            <a:pPr algn="l" indent="0" marL="0">
              <a:buNone/>
            </a:pPr>
            <a:r>
              <a:rPr lang="ar-SA" altLang="en-US" sz="1700" b="1" dirty="0">
                <a:solidFill>
                  <a:srgbClr val="B83227"/>
                </a:solidFill>
                <a:latin typeface="Amiri" pitchFamily="34" charset="0"/>
                <a:ea typeface="Amiri" pitchFamily="34" charset="-122"/>
                <a:cs typeface="Amiri" pitchFamily="34" charset="-120"/>
              </a:rPr>
              <a:t>لِكَيْ / حَتَّى</a:t>
            </a:r>
            <a:pPr algn="l" indent="0" marL="0">
              <a:buNone/>
            </a:pPr>
            <a:r>
              <a:rPr lang="en-US" sz="1300" b="1" dirty="0">
                <a:solidFill>
                  <a:srgbClr val="B83227"/>
                </a:solidFill>
                <a:latin typeface="Calibri" pitchFamily="34" charset="0"/>
                <a:ea typeface="Calibri" pitchFamily="34" charset="-122"/>
                <a:cs typeface="Calibri" pitchFamily="34" charset="-120"/>
              </a:rPr>
              <a:t> +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my routine and suggest one improvement.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After school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Evening routine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Time, duration and purpose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لِمُدَّةِ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a period of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المَطْبَخِ</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‎مطبخ‎ </a:t>
            </a:r>
            <a:pPr indent="0" marL="0">
              <a:buNone/>
            </a:pPr>
            <a:r>
              <a:rPr lang="en-US" sz="950" b="1" dirty="0">
                <a:solidFill>
                  <a:srgbClr val="2E8B57"/>
                </a:solidFill>
                <a:latin typeface="Calibri" pitchFamily="34" charset="0"/>
                <a:ea typeface="Calibri" pitchFamily="34" charset="-122"/>
                <a:cs typeface="Calibri" pitchFamily="34" charset="-120"/>
              </a:rPr>
              <a:t> matbakh · kitchen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بَرْنَامَجًا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‎پروگرام / برنامہ‎ </a:t>
            </a:r>
            <a:pPr indent="0" marL="0">
              <a:buNone/>
            </a:pPr>
            <a:r>
              <a:rPr lang="en-US" sz="950" b="1" dirty="0">
                <a:solidFill>
                  <a:srgbClr val="2E8B57"/>
                </a:solidFill>
                <a:latin typeface="Calibri" pitchFamily="34" charset="0"/>
                <a:ea typeface="Calibri" pitchFamily="34" charset="-122"/>
                <a:cs typeface="Calibri" pitchFamily="34" charset="-120"/>
              </a:rPr>
              <a:t> barnāma · programme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مُبَاشَرَةً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‎براہ راست‎ </a:t>
            </a:r>
            <a:pPr indent="0" marL="0">
              <a:buNone/>
            </a:pPr>
            <a:r>
              <a:rPr lang="en-US" sz="950" b="1" dirty="0">
                <a:solidFill>
                  <a:srgbClr val="2E8B57"/>
                </a:solidFill>
                <a:latin typeface="Calibri" pitchFamily="34" charset="0"/>
                <a:ea typeface="Calibri" pitchFamily="34" charset="-122"/>
                <a:cs typeface="Calibri" pitchFamily="34" charset="-120"/>
              </a:rPr>
              <a:t> barāh-e rāst · Urdu: directly · Arabic: immediately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return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أَصِلُ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arrive home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a-ṣi-lu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أُغَيِّرُ مَلَابِسِي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change my clothes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u-ghay-yi-ru ma-lā-bi-sī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يُغَيِّرُ مَلَابِسَهُ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تُغَيِّرُ مَلَابِسَهَا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نُغَيِّرُ مَلَابِسَنَا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وَجْبَةً خَفِيفَةً</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a snack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waj-ba-tan kha-fī-fa-tan</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أَسْتَرِيحُ قَلِيلًا</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rest for a 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as-ta-rī-ḥu qa-lī-lan</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After school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أُرَاجِعُ دُرُوسِي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revise my lessons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u-rā-ji-ʿu du-rū-sī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يُرَاجِعُ دُرُوسَهُ</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تُرَاجِعُ دُرُوسَهَا</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نُرَاجِعُ دُرُوسَنَا</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أُكْمِلُ وَاجِبِي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complete my homework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uk-mi-lu wā-ji-bī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يُكْمِلُ وَاجِبَهُ</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تُكْمِلُ وَاجِبَهَا</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نُكْمِلُ وَاجِبَنَا</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النَّادِي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the club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an-nā-dī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9" name="Text 5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أَتَمَرَّنُ</a:t>
            </a:r>
            <a:endParaRPr lang="ar-SA" sz="3000" dirty="0"/>
          </a:p>
        </p:txBody>
      </p:sp>
      <p:sp>
        <p:nvSpPr>
          <p:cNvPr id="60" name="Text 5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train / exercise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a-ta-mar-ra-nu</a:t>
            </a:r>
            <a:endParaRPr lang="en-US" sz="135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أَزُورُ صَدِيقَتِي / صَدِيقِي</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visit my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a-zū-ru ṣa-dī-qa-tī / ṣa-dī-qī</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 أُسْرَتِي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 us-ra-tī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أُرَتِّبُ غُرْفَتِي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tidy my room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u-rat-ti-bu ghur-fa-tī</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يُرَتِّبُ غُرْفَتَهُ</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تُرَتِّبُ غُرْفَتَهَا</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9" name="Text 36"/>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نُرَتِّبُ غُرَفَنَا</a:t>
            </a:r>
            <a:endParaRPr lang="ar-SA" sz="15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أَتَنَاوَلُ العَشَاءَ</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have dinner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a-ta-nā-wa-lu al-ʿa-shā-ʾa</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أَغْسِلُ الأَطْبَاقَ</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wash the dishes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agh-si-lu al-aṭ-bā-qa</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plate</a:t>
            </a:r>
            <a:endParaRPr lang="en-US" sz="700" dirty="0"/>
          </a:p>
        </p:txBody>
      </p:sp>
      <p:sp>
        <p:nvSpPr>
          <p:cNvPr id="56" name="Text 5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طَبَقٌ</a:t>
            </a:r>
            <a:endParaRPr lang="ar-SA" sz="135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أَطْبَاقٌ</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يَغْسِلُ</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أَتَحَدَّثُ مَعَ أُسْرَتِي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talk with my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a-ta-ḥad-da-thu ma-ʿa us-ra-tī</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أُشَاهِدُ بَرْنَامَجًا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watch a programme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u-shā-hi-du bar-nā-ma-jan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أَقْرَأُ كِتَابًا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read a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aq-ra-ʾu ki-tā-ban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أُحَضِّرُ حَقِيبَتِي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prepare my bag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u-ḥaḍ-ḍi-ru ḥa-qī-ba-tī</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يُحَضِّرُ حَقِيبَتَهُ</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تُحَضِّرُ حَقِيبَتَهَا</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نُحَضِّرُ حَقَائِبَنَا</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أَضْبِطُ المُنَبِّهَ</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set the alarm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aḍ-bi-ṭu al-mu-nab-bi-ha</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أَذْهَبُ إِلَى الفِرَاشِ</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go to 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adh-ha-bu i-lā al-fi-rā-shi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عِنْدَمَا أَعُودُ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I return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ʿin-da-mā a-ʿū-du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بَعْدَ سَاعَةٍ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after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baʿ-da sā-ʿa-tin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لِمُدَّةِ نِصْفِ 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half an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li-mud-da-ti niṣ-fi sā-ʿa-tin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السَّاعَةِ...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until ... o’clock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as-sā-ʿa-ti...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duration and purpose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مُبَاشَرَةً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immediately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mu-bā-sha-ra-tan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وَقْتٍ لَاحِقٍ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waq-tin lā-ḥi-qin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 أَسْتَطِيعَ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 can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 as-ta-ṭī-ʿa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THREE VERBS THAT LOOK ALIKE (WEBSITE WARNING)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Return, revise or rest?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أَرْجِعُ · أُرَاجِعُ · أَسْتَرِيحُ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RETURN · 3 LETTERS</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أَرْجِعُ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أَرْجِعُ إِلَى البَيْتِ فِي الرَّابِعَةِ.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return home at four.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ar-ji-ʿu: short, three root letters.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REVISE · LONG Ā</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أُرَاجِعُ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أُرَاجِعُ دُرُوسِي لِمُدَّةِ سَاعَةٍ.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revise my lessons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u-rā-ji-ʿu: starts with u, long rā.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REST · STA- PATTERN</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أَسْتَرِيحُ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أَسْتَرِيحُ قَلِيلًا بَعْدَ الغَدَاءِ.</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rest for a while after lunch.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as-ta-rī-ḥu: the sta- pattern.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confuse “I revise” with “I return”.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أَرْجِعُ إِلَى البَيْتِ</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34" charset="0"/>
                <a:ea typeface="Amiri" pitchFamily="34" charset="-122"/>
                <a:cs typeface="Amiri" pitchFamily="34" charset="-120"/>
              </a:rPr>
              <a:t>أُرَاجِعُ إِلَى البَيْتِ</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WHOSE? AND WHOM?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ending, two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ضَمَائِرُ المِلْكِيَّةِ وَالمَفْعُولِ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67544"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659282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noun: whose?</a:t>
            </a:r>
            <a:endParaRPr lang="en-US" sz="1100" dirty="0"/>
          </a:p>
        </p:txBody>
      </p:sp>
      <p:sp>
        <p:nvSpPr>
          <p:cNvPr id="18" name="Text 15"/>
          <p:cNvSpPr txBox="1"/>
          <p:nvPr/>
        </p:nvSpPr>
        <p:spPr>
          <a:xfrm>
            <a:off x="31181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a verb: whom?</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085832" y="226771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661111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ي</a:t>
            </a:r>
            <a:endParaRPr lang="ar-SA" sz="1600" dirty="0"/>
          </a:p>
        </p:txBody>
      </p:sp>
      <p:sp>
        <p:nvSpPr>
          <p:cNvPr id="23" name="Text 20"/>
          <p:cNvSpPr txBox="1"/>
          <p:nvPr/>
        </p:nvSpPr>
        <p:spPr>
          <a:xfrm>
            <a:off x="656539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my bag</a:t>
            </a:r>
            <a:endParaRPr lang="en-US" sz="950" dirty="0"/>
          </a:p>
        </p:txBody>
      </p:sp>
      <p:sp>
        <p:nvSpPr>
          <p:cNvPr id="24" name="Text 21"/>
          <p:cNvSpPr txBox="1"/>
          <p:nvPr/>
        </p:nvSpPr>
        <p:spPr>
          <a:xfrm>
            <a:off x="3136392" y="228600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نِي</a:t>
            </a:r>
            <a:endParaRPr lang="ar-SA" sz="1600" dirty="0"/>
          </a:p>
        </p:txBody>
      </p:sp>
      <p:sp>
        <p:nvSpPr>
          <p:cNvPr id="25" name="Text 22"/>
          <p:cNvSpPr txBox="1"/>
          <p:nvPr/>
        </p:nvSpPr>
        <p:spPr>
          <a:xfrm>
            <a:off x="3090672" y="260329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me</a:t>
            </a:r>
            <a:endParaRPr lang="en-US" sz="950" dirty="0"/>
          </a:p>
        </p:txBody>
      </p:sp>
      <p:sp>
        <p:nvSpPr>
          <p:cNvPr id="26" name="Text 23"/>
          <p:cNvSpPr txBox="1"/>
          <p:nvPr/>
        </p:nvSpPr>
        <p:spPr>
          <a:xfrm>
            <a:off x="566928" y="226771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 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10085832" y="2881884"/>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31" name="Text 28"/>
          <p:cNvSpPr txBox="1"/>
          <p:nvPr/>
        </p:nvSpPr>
        <p:spPr>
          <a:xfrm>
            <a:off x="661111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2" name="Text 29"/>
          <p:cNvSpPr txBox="1"/>
          <p:nvPr/>
        </p:nvSpPr>
        <p:spPr>
          <a:xfrm>
            <a:off x="656539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your bag</a:t>
            </a:r>
            <a:endParaRPr lang="en-US" sz="950" dirty="0"/>
          </a:p>
        </p:txBody>
      </p:sp>
      <p:sp>
        <p:nvSpPr>
          <p:cNvPr id="33" name="Text 30"/>
          <p:cNvSpPr txBox="1"/>
          <p:nvPr/>
        </p:nvSpPr>
        <p:spPr>
          <a:xfrm>
            <a:off x="3136392" y="2900172"/>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كَ</a:t>
            </a:r>
            <a:endParaRPr lang="ar-SA" sz="1600" dirty="0"/>
          </a:p>
        </p:txBody>
      </p:sp>
      <p:sp>
        <p:nvSpPr>
          <p:cNvPr id="34" name="Text 31"/>
          <p:cNvSpPr txBox="1"/>
          <p:nvPr/>
        </p:nvSpPr>
        <p:spPr>
          <a:xfrm>
            <a:off x="3090672" y="3217469"/>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you</a:t>
            </a:r>
            <a:endParaRPr lang="en-US" sz="950" dirty="0"/>
          </a:p>
        </p:txBody>
      </p:sp>
      <p:sp>
        <p:nvSpPr>
          <p:cNvPr id="35" name="Text 32"/>
          <p:cNvSpPr txBox="1"/>
          <p:nvPr/>
        </p:nvSpPr>
        <p:spPr>
          <a:xfrm>
            <a:off x="566928" y="2881884"/>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 you (m.)</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10085832" y="3496056"/>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8" name="Text 35"/>
          <p:cNvSpPr txBox="1"/>
          <p:nvPr/>
        </p:nvSpPr>
        <p:spPr>
          <a:xfrm>
            <a:off x="661111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39" name="Text 36"/>
          <p:cNvSpPr txBox="1"/>
          <p:nvPr/>
        </p:nvSpPr>
        <p:spPr>
          <a:xfrm>
            <a:off x="656539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his bag</a:t>
            </a:r>
            <a:endParaRPr lang="en-US" sz="950" dirty="0"/>
          </a:p>
        </p:txBody>
      </p:sp>
      <p:sp>
        <p:nvSpPr>
          <p:cNvPr id="40" name="Text 37"/>
          <p:cNvSpPr txBox="1"/>
          <p:nvPr/>
        </p:nvSpPr>
        <p:spPr>
          <a:xfrm>
            <a:off x="3136392" y="3514344"/>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a:t>
            </a:r>
            <a:endParaRPr lang="ar-SA" sz="1600" dirty="0"/>
          </a:p>
        </p:txBody>
      </p:sp>
      <p:sp>
        <p:nvSpPr>
          <p:cNvPr id="41" name="Text 38"/>
          <p:cNvSpPr txBox="1"/>
          <p:nvPr/>
        </p:nvSpPr>
        <p:spPr>
          <a:xfrm>
            <a:off x="3090672" y="3831641"/>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him</a:t>
            </a:r>
            <a:endParaRPr lang="en-US" sz="950" dirty="0"/>
          </a:p>
        </p:txBody>
      </p:sp>
      <p:sp>
        <p:nvSpPr>
          <p:cNvPr id="42" name="Text 39"/>
          <p:cNvSpPr txBox="1"/>
          <p:nvPr/>
        </p:nvSpPr>
        <p:spPr>
          <a:xfrm>
            <a:off x="566928" y="3496056"/>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his · him</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10085832" y="4110228"/>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7" name="Text 44"/>
          <p:cNvSpPr txBox="1"/>
          <p:nvPr/>
        </p:nvSpPr>
        <p:spPr>
          <a:xfrm>
            <a:off x="661111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48" name="Text 45"/>
          <p:cNvSpPr txBox="1"/>
          <p:nvPr/>
        </p:nvSpPr>
        <p:spPr>
          <a:xfrm>
            <a:off x="656539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bag</a:t>
            </a:r>
            <a:endParaRPr lang="en-US" sz="950" dirty="0"/>
          </a:p>
        </p:txBody>
      </p:sp>
      <p:sp>
        <p:nvSpPr>
          <p:cNvPr id="49" name="Text 46"/>
          <p:cNvSpPr txBox="1"/>
          <p:nvPr/>
        </p:nvSpPr>
        <p:spPr>
          <a:xfrm>
            <a:off x="3136392" y="4128516"/>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endParaRPr lang="ar-SA" sz="1600" dirty="0"/>
          </a:p>
        </p:txBody>
      </p:sp>
      <p:sp>
        <p:nvSpPr>
          <p:cNvPr id="50" name="Text 47"/>
          <p:cNvSpPr txBox="1"/>
          <p:nvPr/>
        </p:nvSpPr>
        <p:spPr>
          <a:xfrm>
            <a:off x="3090672" y="4445813"/>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help her</a:t>
            </a:r>
            <a:endParaRPr lang="en-US" sz="950" dirty="0"/>
          </a:p>
        </p:txBody>
      </p:sp>
      <p:sp>
        <p:nvSpPr>
          <p:cNvPr id="51" name="Text 48"/>
          <p:cNvSpPr txBox="1"/>
          <p:nvPr/>
        </p:nvSpPr>
        <p:spPr>
          <a:xfrm>
            <a:off x="566928" y="4110228"/>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 her</a:t>
            </a:r>
            <a:endParaRPr lang="en-US" sz="1100" dirty="0"/>
          </a:p>
        </p:txBody>
      </p:sp>
      <p:sp>
        <p:nvSpPr>
          <p:cNvPr id="52" name="Shape 49"/>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5" name="Text 52"/>
          <p:cNvSpPr txBox="1"/>
          <p:nvPr/>
        </p:nvSpPr>
        <p:spPr>
          <a:xfrm>
            <a:off x="10085832" y="4724400"/>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56" name="Text 53"/>
          <p:cNvSpPr txBox="1"/>
          <p:nvPr/>
        </p:nvSpPr>
        <p:spPr>
          <a:xfrm>
            <a:off x="661111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7" name="Text 54"/>
          <p:cNvSpPr txBox="1"/>
          <p:nvPr/>
        </p:nvSpPr>
        <p:spPr>
          <a:xfrm>
            <a:off x="656539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our bag</a:t>
            </a:r>
            <a:endParaRPr lang="en-US" sz="950" dirty="0"/>
          </a:p>
        </p:txBody>
      </p:sp>
      <p:sp>
        <p:nvSpPr>
          <p:cNvPr id="58" name="Text 55"/>
          <p:cNvSpPr txBox="1"/>
          <p:nvPr/>
        </p:nvSpPr>
        <p:spPr>
          <a:xfrm>
            <a:off x="3136392" y="4742688"/>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تُسَاعِدُ</a:t>
            </a:r>
            <a:pPr rtl="1" algn="ctr" indent="0" marL="0">
              <a:buNone/>
            </a:pPr>
            <a:r>
              <a:rPr lang="ar-SA" altLang="en-US" sz="1600" b="1" dirty="0">
                <a:solidFill>
                  <a:srgbClr val="D6336C"/>
                </a:solidFill>
                <a:latin typeface="Amiri" pitchFamily="34" charset="0"/>
                <a:ea typeface="Amiri" pitchFamily="34" charset="-122"/>
                <a:cs typeface="Amiri" pitchFamily="34" charset="-120"/>
              </a:rPr>
              <a:t>نَا</a:t>
            </a:r>
            <a:endParaRPr lang="ar-SA" sz="1600" dirty="0"/>
          </a:p>
        </p:txBody>
      </p:sp>
      <p:sp>
        <p:nvSpPr>
          <p:cNvPr id="59" name="Text 56"/>
          <p:cNvSpPr txBox="1"/>
          <p:nvPr/>
        </p:nvSpPr>
        <p:spPr>
          <a:xfrm>
            <a:off x="3090672" y="5059985"/>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helps us</a:t>
            </a:r>
            <a:endParaRPr lang="en-US" sz="950" dirty="0"/>
          </a:p>
        </p:txBody>
      </p:sp>
      <p:sp>
        <p:nvSpPr>
          <p:cNvPr id="60" name="Text 57"/>
          <p:cNvSpPr txBox="1"/>
          <p:nvPr/>
        </p:nvSpPr>
        <p:spPr>
          <a:xfrm>
            <a:off x="566928" y="4724400"/>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our · us</a:t>
            </a:r>
            <a:endParaRPr lang="en-US" sz="1100" dirty="0"/>
          </a:p>
        </p:txBody>
      </p:sp>
      <p:sp>
        <p:nvSpPr>
          <p:cNvPr id="61" name="Shape 5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2" name="Text 59"/>
          <p:cNvSpPr txBox="1"/>
          <p:nvPr/>
        </p:nvSpPr>
        <p:spPr>
          <a:xfrm>
            <a:off x="10085832" y="5338572"/>
            <a:ext cx="15544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63" name="Text 60"/>
          <p:cNvSpPr txBox="1"/>
          <p:nvPr/>
        </p:nvSpPr>
        <p:spPr>
          <a:xfrm>
            <a:off x="661111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حَقِيبَتُ</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4" name="Text 61"/>
          <p:cNvSpPr txBox="1"/>
          <p:nvPr/>
        </p:nvSpPr>
        <p:spPr>
          <a:xfrm>
            <a:off x="656539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their bag</a:t>
            </a:r>
            <a:endParaRPr lang="en-US" sz="950" dirty="0"/>
          </a:p>
        </p:txBody>
      </p:sp>
      <p:sp>
        <p:nvSpPr>
          <p:cNvPr id="65" name="Text 62"/>
          <p:cNvSpPr txBox="1"/>
          <p:nvPr/>
        </p:nvSpPr>
        <p:spPr>
          <a:xfrm>
            <a:off x="3136392" y="5356860"/>
            <a:ext cx="329184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أَزُورُ</a:t>
            </a:r>
            <a:pPr rtl="1" algn="ctr" indent="0" marL="0">
              <a:buNone/>
            </a:pPr>
            <a:r>
              <a:rPr lang="ar-SA" altLang="en-US" sz="1600" b="1" dirty="0">
                <a:solidFill>
                  <a:srgbClr val="D6336C"/>
                </a:solidFill>
                <a:latin typeface="Amiri" pitchFamily="34" charset="0"/>
                <a:ea typeface="Amiri" pitchFamily="34" charset="-122"/>
                <a:cs typeface="Amiri" pitchFamily="34" charset="-120"/>
              </a:rPr>
              <a:t>هُمْ</a:t>
            </a:r>
            <a:endParaRPr lang="ar-SA" sz="1600" dirty="0"/>
          </a:p>
        </p:txBody>
      </p:sp>
      <p:sp>
        <p:nvSpPr>
          <p:cNvPr id="66" name="Text 63"/>
          <p:cNvSpPr txBox="1"/>
          <p:nvPr/>
        </p:nvSpPr>
        <p:spPr>
          <a:xfrm>
            <a:off x="3090672" y="5674157"/>
            <a:ext cx="338328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visit them</a:t>
            </a:r>
            <a:endParaRPr lang="en-US" sz="950" dirty="0"/>
          </a:p>
        </p:txBody>
      </p:sp>
      <p:sp>
        <p:nvSpPr>
          <p:cNvPr id="67" name="Text 64"/>
          <p:cNvSpPr txBox="1"/>
          <p:nvPr/>
        </p:nvSpPr>
        <p:spPr>
          <a:xfrm>
            <a:off x="566928" y="5338572"/>
            <a:ext cx="24048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their · them</a:t>
            </a:r>
            <a:endParaRPr lang="en-US" sz="1100" dirty="0"/>
          </a:p>
        </p:txBody>
      </p:sp>
      <p:sp>
        <p:nvSpPr>
          <p:cNvPr id="68" name="Text 6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Tāʾ marbūṭa becomes a normal t before an ending (ḥaqība → ḥaqībatī). “Me” on a verb is -nī, not -ī.</a:t>
            </a:r>
            <a:endParaRPr lang="en-US" sz="11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3 · HOW LONG? AND WHY? (WEBSITE RULES)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Duration and purpose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لِمُدَّةِ · لِكَيْ · حَتَّى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AT WHAT TIME?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السَّاعَةِ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أَتَمَرَّنُ فِي السَّاعَةِ الخَامِسَةِ.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at five o’clock.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point on the clock.</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FOR HOW LONG? · CORE</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لِمُدَّةِ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أَتَمَرَّنُ لِمُدَّةِ سَاعَةٍ.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for an hour.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length of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حَتَّى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أُحَضِّرُ حَقِيبَتِي حَتَّى لَا أَنْسَى كُتُبِي.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prepare my bag so I don’t forget my books.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 fatḥa ending, as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after li-kay the verb ends in fatḥa.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أَسْتَعِدَّ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أَسْتَعِدُّ</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Object and possessive suffixes in an evening routine</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ضَمَائِرُ المَفْعُولِ وَالمِلْكِيَّةِ فِي رُوتِينِ المَسَاءِ</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Attach a possessive suffix to the noun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حَقِيبَةٌ ← حَقِيبَتِي / حَقِيبَتُهُ / حَقِيبَتُهَا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أُحَضِّرُ حَقِيبَتِي.   ·   يُحَضِّرُ حَقِيبَتَهُ.   ·   تُحَضِّرُ حَقِيبَتَهَا.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Attach an object suffix to the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أُسَاعِدُ + هُ / هَا / هُمْ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أُسَاعِدُهُ بَعْدَ المَدْرَسَةِ.   ·   أُسَاعِدُهَا فِي المَطْبَخِ.   ·   أَزُورُهُمْ يَوْمَ الجُمُعَةِ.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Express duration with </a:t>
            </a:r>
            <a:pPr algn="l" indent="0" marL="0">
              <a:buNone/>
            </a:pPr>
            <a:r>
              <a:rPr lang="ar-SA" altLang="en-US" sz="1650" b="1" dirty="0">
                <a:solidFill>
                  <a:srgbClr val="1B3B6F"/>
                </a:solidFill>
                <a:latin typeface="Amiri" pitchFamily="34" charset="0"/>
                <a:ea typeface="Amiri" pitchFamily="34" charset="-122"/>
                <a:cs typeface="Amiri" pitchFamily="34" charset="-120"/>
              </a:rPr>
              <a:t>لِمُدَّةِ</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لِمُدَّةِ</a:t>
            </a:r>
            <a:pPr algn="l" indent="0" marL="0">
              <a:buNone/>
            </a:pPr>
            <a:r>
              <a:rPr lang="en-US" sz="1050" dirty="0">
                <a:solidFill>
                  <a:srgbClr val="5A6472"/>
                </a:solidFill>
                <a:latin typeface="Calibri" pitchFamily="34" charset="0"/>
                <a:ea typeface="Calibri" pitchFamily="34" charset="-122"/>
                <a:cs typeface="Calibri" pitchFamily="34" charset="-120"/>
              </a:rPr>
              <a:t> + time period</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أَسْتَرِيحُ لِمُدَّةِ نِصْفِ سَاعَةٍ.   ·   أَتَمَرَّنُ لِمُدَّةِ سَاعَةٍ.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Express purpose with </a:t>
            </a:r>
            <a:pPr algn="l" indent="0" marL="0">
              <a:buNone/>
            </a:pPr>
            <a:r>
              <a:rPr lang="ar-SA" altLang="en-US" sz="1650" b="1" dirty="0">
                <a:solidFill>
                  <a:srgbClr val="1B3B6F"/>
                </a:solidFill>
                <a:latin typeface="Amiri" pitchFamily="34" charset="0"/>
                <a:ea typeface="Amiri" pitchFamily="34" charset="-122"/>
                <a:cs typeface="Amiri" pitchFamily="34" charset="-120"/>
              </a:rPr>
              <a:t>لِكَيْ / حَتَّى</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subjunctive · </a:t>
            </a:r>
            <a:pPr algn="l" indent="0" marL="0">
              <a:buNone/>
            </a:pPr>
            <a:r>
              <a:rPr lang="ar-SA" altLang="en-US" sz="1350" dirty="0">
                <a:solidFill>
                  <a:srgbClr val="5A6472"/>
                </a:solidFill>
                <a:latin typeface="Amiri" pitchFamily="34" charset="0"/>
                <a:ea typeface="Amiri" pitchFamily="34" charset="-122"/>
                <a:cs typeface="Amiri" pitchFamily="34" charset="-120"/>
              </a:rPr>
              <a:t>حَتَّى</a:t>
            </a:r>
            <a:pPr algn="l" indent="0" marL="0">
              <a:buNone/>
            </a:pPr>
            <a:r>
              <a:rPr lang="en-US" sz="1050" dirty="0">
                <a:solidFill>
                  <a:srgbClr val="5A6472"/>
                </a:solidFill>
                <a:latin typeface="Calibri" pitchFamily="34" charset="0"/>
                <a:ea typeface="Calibri" pitchFamily="34" charset="-122"/>
                <a:cs typeface="Calibri" pitchFamily="34" charset="-120"/>
              </a:rPr>
              <a:t> + subjunctive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أُرَاجِعُ لِكَيْ أَفْهَمَ الدَّرْسَ.   ·   أُحَضِّرُ حَقِيبَتِي حَتَّى لَا أَتَأَخَّرَ.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البَيْتَ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 إِلَى البَيْتِ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إِلَى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هَا</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هُمْ</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حَقِيبَتُهَا</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حَقِيبَتُهُ</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لِمُدَّةِ سَاعَةٍ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السَّاعَةِ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 home”.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البَيْتَ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يَرْجِعُ إِلَى البَيْتِ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إِلَى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أُسَاعِدُ أُمِّي، فَأَنَا أُسَاعِدُ ___.</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هَا</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هُمْ</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feminine singular.</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“his bag”.</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حَقِيبَتُهَا</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حَقِيبَتُهُ</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answers “for how long?”</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لِمُدَّةِ سَاعَةٍ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 السَّاعَةِ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expresses duration.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build my evening in three phases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Arrive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Exact time anchors the routine.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Rest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أَسْتَرِيحُ </a:t>
            </a:r>
            <a:pPr rtl="1" algn="ctr" indent="0" marL="0">
              <a:buNone/>
            </a:pPr>
            <a:r>
              <a:rPr lang="ar-SA" altLang="en-US" sz="2300" b="1" dirty="0">
                <a:solidFill>
                  <a:srgbClr val="0E7C86"/>
                </a:solidFill>
                <a:latin typeface="Amiri" pitchFamily="34" charset="0"/>
                <a:ea typeface="Amiri" pitchFamily="34" charset="-122"/>
                <a:cs typeface="Amiri" pitchFamily="34" charset="-120"/>
              </a:rPr>
              <a:t>لِمُدَّةِ</a:t>
            </a:r>
            <a:pPr rtl="1" algn="ctr" indent="0" marL="0">
              <a:buNone/>
            </a:pPr>
            <a:r>
              <a:rPr lang="ar-SA" altLang="en-US" sz="2300" b="1" dirty="0">
                <a:solidFill>
                  <a:srgbClr val="1B3B6F"/>
                </a:solidFill>
                <a:latin typeface="Amiri" pitchFamily="34" charset="0"/>
                <a:ea typeface="Amiri" pitchFamily="34" charset="-122"/>
                <a:cs typeface="Amiri" pitchFamily="34" charset="-120"/>
              </a:rPr>
              <a:t> نِصْفِ سَاعَةٍ.</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 how long? → </a:t>
            </a:r>
            <a:pPr algn="l" indent="0" marL="0">
              <a:buNone/>
            </a:pPr>
            <a:r>
              <a:rPr lang="ar-SA" altLang="en-US" sz="1500" dirty="0">
                <a:solidFill>
                  <a:srgbClr val="1F2A37"/>
                </a:solidFill>
                <a:latin typeface="Amiri" pitchFamily="34" charset="0"/>
                <a:ea typeface="Amiri" pitchFamily="34" charset="-122"/>
                <a:cs typeface="Amiri" pitchFamily="34" charset="-120"/>
              </a:rPr>
              <a:t>لِمُدَّةِ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Jobs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أُسَاعِدُ أُمِّي، أُسَاعِدُ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Mother → her → </a:t>
            </a:r>
            <a:pPr algn="l" indent="0" marL="0">
              <a:buNone/>
            </a:pPr>
            <a:r>
              <a:rPr lang="ar-SA" altLang="en-US" sz="1500" dirty="0">
                <a:solidFill>
                  <a:srgbClr val="1F2A37"/>
                </a:solidFill>
                <a:latin typeface="Amiri" pitchFamily="34" charset="0"/>
                <a:ea typeface="Amiri" pitchFamily="34" charset="-122"/>
                <a:cs typeface="Amiri" pitchFamily="34" charset="-120"/>
              </a:rPr>
              <a:t>ـهَا</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Prepare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أُحَضِّرُ حَقِيبَتِ</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حَتَّى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لَا أَنْسَى كُتُبِي.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 + fatḥa ending.</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HOW LONG</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SUFFIX</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PURPOSE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أَرْجِعُ إِلَى البَيْتِ فِي الرَّابِعَةِ إِلَّا الرُّبْعَ، وَأَسْتَرِيحُ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نِصْفِ سَاعَةٍ. ثُمَّ أُرَاجِعُ دُرُوسِ</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لِمُدَّةِ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سَاعَةٍ. بَعْدَ العَشَاءِ أُسَاعِدُ أُمِّي؛ أُسَاعِدُ</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المَطْبَخِ. قَبْلَ النَّوْمِ أُحَضِّرُ حَقِيبَتِ</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أَنْسَى كُتُبِي.</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return home at quarter to four, and I rest for half an hour. Then I revise my lessons for an hour. After dinner I help my mother; I help her in the kitchen. Before sleep I prepare my bag so that I do not forget my books.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أَرْجِعُ إِلَى البَيْتِ فِي الرَّابِعَةِ إِلَّا الرُّبْعَ.</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return home at quarter to four.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time anchors the routine.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أُسَاعِدُهَا فِي المَطْبَخِ.</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help her in the kitchen.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Object suffix after the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أَتَمَرَّنُ لِمُدَّةِ سَاعَةٍ.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train for an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clock time.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أُحَضِّرُ حَقِيبَتِي حَتَّى لَا أَنْسَى كُتُبِي.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prepare my bag so I do not forget my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 + subjunctive.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AFTER SCHOOL AND EVENING ROUTINE”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day: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أَنَامُ لَيْلًا.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إِلَى المَدْرَسَةِ.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بَعْدَ المَدْرَسَةِ.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إِلَى المَدْرَسَةِ.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to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in the afternoon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بَعْدَ المَدْرَسَةِ.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after school.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night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أَنَامُ لَيْلًا.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sleep at night.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control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Arrival and recovery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أُغَيِّرُ مَلَابِسِي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أَتَنَاوَلُ وَجْبَةً خَفِيفَةً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Responsibilities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أُكْمِلُ وَاجِبِي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أُسَاعِدُ أُسْرَتِي</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أُرَتِّبُ غُرْفَتِي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Preparation and rest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أُحَضِّرُ حَقِيبَتِي</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أَضْبِطُ المُنَبِّهَ</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أَقْرَأُ قَبْلَ النَّوْمِ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دُرُوسِي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 دُرُوسِي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 وَاجِبِي قَبْلَ أَنْ أَرْجِعَ مِنَ المَدْرَسَةِ.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 ثُمَّ أَسْتَرِيحُ، وَبَعْدَ ذٰلِكَ أُكْمِلُ وَاجِبِي.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أَذْهَبُ إِلَى الفِرَاشِ أَوَّلًا فِي المَدْرَسَةِ.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يُحَضِّرُ حَقِيبَتُهُ.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أُحَضِّرُ حَقِيبَتِي.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تُحَضِّرُ حَقِيبَتَهَا.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revise my lessons”.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أَرْجِعُ دُرُوسِي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أُرَاجِعُ دُرُوسُهُ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أُرَاجِعُ دُرُوسِي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أُرَاجِعُ</a:t>
            </a:r>
            <a:pPr algn="l" indent="0" marL="0">
              <a:buNone/>
            </a:pPr>
            <a:r>
              <a:rPr lang="en-US" sz="1050" i="1" dirty="0">
                <a:solidFill>
                  <a:srgbClr val="8A6D1E"/>
                </a:solidFill>
                <a:latin typeface="Calibri" pitchFamily="34" charset="0"/>
                <a:ea typeface="Calibri" pitchFamily="34" charset="-122"/>
                <a:cs typeface="Calibri" pitchFamily="34" charset="-120"/>
              </a:rPr>
              <a:t> means I revise; </a:t>
            </a:r>
            <a:pPr algn="l" indent="0" marL="0">
              <a:buNone/>
            </a:pPr>
            <a:r>
              <a:rPr lang="ar-SA" altLang="en-US" sz="1350" dirty="0">
                <a:solidFill>
                  <a:srgbClr val="8A6D1E"/>
                </a:solidFill>
                <a:latin typeface="Amiri" pitchFamily="34" charset="0"/>
                <a:ea typeface="Amiri" pitchFamily="34" charset="-122"/>
                <a:cs typeface="Amiri" pitchFamily="34" charset="-120"/>
              </a:rPr>
              <a:t>دُرُوسِي</a:t>
            </a:r>
            <a:pPr algn="l" indent="0" marL="0">
              <a:buNone/>
            </a:pPr>
            <a:r>
              <a:rPr lang="en-US" sz="1050" i="1" dirty="0">
                <a:solidFill>
                  <a:srgbClr val="8A6D1E"/>
                </a:solidFill>
                <a:latin typeface="Calibri" pitchFamily="34" charset="0"/>
                <a:ea typeface="Calibri" pitchFamily="34" charset="-122"/>
                <a:cs typeface="Calibri" pitchFamily="34" charset="-120"/>
              </a:rPr>
              <a:t> means my lessons.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أُحَضِّرُ حَقِيبَتِي لِكَيْ لَا ___.</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أَتَأَخَّرَ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تَأَخَّرْتُ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coherent evening sequence.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 وَاجِبِي قَبْلَ أَنْ أَرْجِعَ مِنَ المَدْرَسَةِ.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أَرْجِعُ، ثُمَّ أَسْتَرِيحُ، وَبَعْدَ ذٰلِكَ أُكْمِلُ وَاجِبِي.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الفِرَاشِ أَوَّلًا فِي المَدْرَسَةِ.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option gives a logical 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يُحَضِّرُ حَقِيبَتُهُ.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أُخْتِي أُحَضِّرُ حَقِيبَتِي.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تُحَضِّرُ حَقِيبَتَهَا.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and feminine possession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أُرَاجِعُ إِلَى البَيْتِ.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Returning home or revising?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أُسَاعِدُهُ أُمِّي.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أُمِّي</a:t>
            </a:r>
            <a:pPr algn="l" indent="0" marL="0">
              <a:buNone/>
            </a:pPr>
            <a:r>
              <a:rPr lang="en-US" sz="1300" i="1" dirty="0">
                <a:solidFill>
                  <a:srgbClr val="5A6472"/>
                </a:solidFill>
                <a:latin typeface="Calibri" pitchFamily="34" charset="0"/>
                <a:ea typeface="Calibri" pitchFamily="34" charset="-122"/>
                <a:cs typeface="Calibri" pitchFamily="34" charset="-120"/>
              </a:rPr>
              <a:t> is female.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أَسْتَعِدُّ.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 what is the last vowel?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أُرَاجِعُ إِلَى البَيْتِ.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أَرْجِعُ إِلَى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أَرْجِعُ</a:t>
            </a:r>
            <a:pPr algn="l" indent="0" marL="0">
              <a:buNone/>
            </a:pPr>
            <a:r>
              <a:rPr lang="en-US" sz="1150" b="1" dirty="0">
                <a:solidFill>
                  <a:srgbClr val="1B3B6F"/>
                </a:solidFill>
                <a:latin typeface="Calibri" pitchFamily="34" charset="0"/>
                <a:ea typeface="Calibri" pitchFamily="34" charset="-122"/>
                <a:cs typeface="Calibri" pitchFamily="34" charset="-120"/>
              </a:rPr>
              <a:t> means return; </a:t>
            </a:r>
            <a:pPr algn="l" indent="0" marL="0">
              <a:buNone/>
            </a:pPr>
            <a:r>
              <a:rPr lang="ar-SA" altLang="en-US" sz="1500" b="1" dirty="0">
                <a:solidFill>
                  <a:srgbClr val="1B3B6F"/>
                </a:solidFill>
                <a:latin typeface="Amiri" pitchFamily="34" charset="0"/>
                <a:ea typeface="Amiri" pitchFamily="34" charset="-122"/>
                <a:cs typeface="Amiri" pitchFamily="34" charset="-120"/>
              </a:rPr>
              <a:t>أُرَاجِعُ</a:t>
            </a:r>
            <a:pPr algn="l" indent="0" marL="0">
              <a:buNone/>
            </a:pPr>
            <a:r>
              <a:rPr lang="en-US" sz="1150" b="1" dirty="0">
                <a:solidFill>
                  <a:srgbClr val="1B3B6F"/>
                </a:solidFill>
                <a:latin typeface="Calibri" pitchFamily="34" charset="0"/>
                <a:ea typeface="Calibri" pitchFamily="34" charset="-122"/>
                <a:cs typeface="Calibri" pitchFamily="34" charset="-120"/>
              </a:rPr>
              <a:t> means revise.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أُسَاعِدُهُ أُمِّي.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أُسَاعِدُهَا.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object suffix is </a:t>
            </a:r>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أَسْتَعِدُّ.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is subjunctive 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Mariam’s busy evening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starts homework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to bed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can watch television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school is closed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تَعُودُ مَرْيَمُ إِلَى البَيْتِ فِي الرَّابِعَةِ وَعَشْرِ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Mariam returns home at ten past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مُبَاشَرَةً تُغَيِّرُ مَلَابِسَهَا وَتَتَنَاوَلُ وَجْبَةً خَفِيفَةً.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Straight away she changes her clothes and has a snack.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بَعْدَ ذٰلِكَ تَسْتَرِيحُ لِمُدَّةِ عِشْرِينَ دَقِيقَةً فَقَطْ، لِأَنَّ لَدَيْهَا تَدْرِيبًا فِي الخَامِسَةِ وَالنِّصْفِ.</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she rests for only twenty minutes, because she has training at half past five.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تَعُودُ مِنَ التَّدْرِيبِ، تُسَاعِدُ أُمَّهَا فِي إِعْدَادِ العَشَاءِ، ثُمَّ تُكْمِلُ وَاجِبَهَا.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When she returns from training, she helps her mother prepare dinner, then finishes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تَنَامَ، تُحَضِّرُ حَقِيبَتَهَا حَتَّى لَا تَنْسَى كُتُبَهَا.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she sleeps, she prepares her bag so that she does not forget her books.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Mariam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الرَّابِعَةِ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starts homework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to bed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changes clothes and has a snack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مُبَاشَرَةً تُغَيِّرُ مَلَابِسَهَا وَتَتَنَاوَلُ وَجْبَةً خَفِيفَةً.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she rest?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half an hour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she help?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mother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تُسَاعِدُ أُمَّهَا.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prepare her bag?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 she can watch television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she does not forget her books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school is closed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حَتَّى لَا تَنْسَى كُتُبَهَا.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الرَّابِعَةِ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أُمَّهَا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Explain and justify your after-school routine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تَعُودُ إِلَى البَيْتِ؟ وَمَاذَا تَفْعَلُ مُبَاشَرَةً؟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مِنَ الوَقْتِ تَقْضِي فِي الوَاجِبِ؟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تُسَاعِدُ أُسْرَتَكَ؟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أَفْضَلُ جُزْءٍ فِي رُوتِينِ المَسَاءِ؟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أَعُودُ إِلَى البَيْتِ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أُكْمِلُ وَاجِبِي لِمُدَّةِ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أُسَاعِدُ أُمِّي / أَبِي ؛ أُسَاعِدُهَا / أُسَاعِدُهُ فِي ___ .</a:t>
            </a:r>
            <a:endParaRPr lang="ar-SA" sz="12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جُزْءٍ هُوَ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تَفْعَلُ عِنْدَمَا تَعُودُ؟</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do when you return?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أُغَيِّرُ مَلَابِسِي وَأَسْتَرِيحُ قَلِيلًا، ثُمَّ أُكْمِلُ وَاجِبِي لِكَيْ أَكُونَ حُرًّا فِي المَسَاءِ.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change my clothes and rest a little, then I finish my homework so that I am free in the evening.</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Sequence four evening actions with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phases: arrive (time), rest (for how long), jobs, dinner, bed.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duration, suffixes and a purpose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possessive endings (my room), one object ending (I help her)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the routine and suggest one realistic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exact times, six evening verbs, suffixes, duration, purpose and a reasoned opinion.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أُمِّي؛ أُسَاعِدُهَا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mother; I help her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أُسَاعِدُ أَبِي؛ أُسَاعِدُهُ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help my father; I help him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أَزُورُ جَدِّي وَجَدَّتِي؛ أَزُورُهُمْ 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 my grandparents; I visit them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أُرَاجِعُ لِكَيْ أَفْهَمَ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revise so that I understand the lesson.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أُحَضِّرُ حَقِيبَتِي حَتَّى لَا أَنْسَى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prepare my bag so that I don’t forget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أَرْجِعُ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أَسْتَرِيحُ لِمُدَّةِ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rest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أُرَاجِعُ دُرُوسِي.</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revise my lessons.</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العَشَاءَ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dinner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أَذْهَبُ إِلَى الفِرَاشِ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to bed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أَرْجِعُ  ·  أُغَيِّرُ مَلَابِسِي  ·  أَسْتَرِيحُ  ·  أُرَاجِعُ دُرُوسِي  ·  أُكْمِلُ وَاجِبِي  ·  أُرَتِّبُ غُرْفَتِي  ·  أَغْسِلُ الأَطْبَاقَ  ·  أُحَضِّرُ حَقِيبَتِي  ·  لِمُدَّةِ  ·  مُبَاشَرَةً  ·  لِكَيْ  ·  حَتَّى 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about your after-school and evening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exact arrival, dinner and bedtime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six after-school/evening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object suffix and two possessive suffixes.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duration and purpose accurately.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comparison or reasoned opinion.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أَكُونَ حُرًّا بَعْدَ العَشَاءِ</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am free after dinner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بَدَلًا مِنَ البَقَاءِ عَلَى هَاتِفِي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instead of staying on my phone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وَلَا أَبْدَأُ وَاجِبِي مُبَاشَرَةً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don’t start my homework straight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التَّحْضِيرُ المُسْبَقُ يَجْعَلُ الصَّبَاحَ أَسْهَلَ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preparing in advance makes the morning easier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يَجْمَعُ بَيْنَ الوَاجِبِ وَالرَّاحَةِ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combines homework and rest</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إِلَى البَيْتِ فِي الرَّابِعَةِ إِلَّا الرُّبْعَ. أَوَّلًا أُغَيِّرُ مَلَابِسِي وَأَتَنَاوَلُ وَجْبَةً خَفِيفَةً، ثُمَّ أَسْتَرِيحُ لِمُدَّةِ نِصْفِ سَاعَةٍ. بَعْدَ ذٰلِكَ أُرَاجِعُ دُرُوسِي وَأُكْمِلُ وَاجِبِي لِكَيْ أَكُونَ حُرًّا بَعْدَ العَشَاءِ. أُسَاعِدُ أُمِّي فِي المَطْبَخِ، وَأَحْيَانًا أَغْسِلُ الأَطْبَاقَ مَعَ أَخِي. فِي المَسَاءِ أَقْرَأُ أَوْ أَتَحَدَّثُ مَعَ أُسْرَتِي بَدَلًا مِنَ البَقَاءِ عَلَى هَاتِفِي. قَبْلَ أَنْ أَنَامَ أُحَضِّرُ حَقِيبَتِي وَأَضْبِطُ المُنَبِّهَ. فِي رَأْيِي، هٰذَا الرُّوتِينُ مُنَظَّمٌ لِأَنَّهُ يَجْمَعُ بَيْنَ الوَاجِبِ وَالرَّاحَةِ.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return home at quarter to four. First I change my clothes and have a snack, then I rest for half an hour. After that I revise my lessons and finish my homework so that I am free after dinner. I help my mother in the kitchen, and sometimes I wash the dishes with my brother. In the evening I read or talk with my family instead of staying on my phone. Before I sleep I prepare my bag and set the alarm. In my opinion, this routine is organised because it combines homework and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exact 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duration with لِمُدَّةِ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purpose clause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possessive endings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evening has three phases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exact time and one “for how long”.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mix up return and revise.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endings match the person (her → </a:t>
            </a:r>
            <a:pPr algn="l" indent="0" marL="0">
              <a:buNone/>
            </a:pPr>
            <a:r>
              <a:rPr lang="ar-SA" altLang="en-US" sz="1700" dirty="0">
                <a:solidFill>
                  <a:srgbClr val="1F2A37"/>
                </a:solidFill>
                <a:latin typeface="Amiri" pitchFamily="34" charset="0"/>
                <a:ea typeface="Amiri" pitchFamily="34" charset="-122"/>
                <a:cs typeface="Amiri" pitchFamily="34" charset="-120"/>
              </a:rPr>
              <a:t>ـهَا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لِكَيْ / حَتَّى</a:t>
            </a:r>
            <a:pPr algn="l" indent="0" marL="0">
              <a:buNone/>
            </a:pPr>
            <a:r>
              <a:rPr lang="en-US" sz="1300" dirty="0">
                <a:solidFill>
                  <a:srgbClr val="1F2A37"/>
                </a:solidFill>
                <a:latin typeface="Calibri" pitchFamily="34" charset="0"/>
                <a:ea typeface="Calibri" pitchFamily="34" charset="-122"/>
                <a:cs typeface="Calibri" pitchFamily="34" charset="-120"/>
              </a:rPr>
              <a:t> my verb ends in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أَرْجِعُ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أُرَاجِعُ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يَرْجِعُ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تَأَخَّرْتُ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return”.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أَرْجِعُ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أُرَاجِعُ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يَرْجِعُ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أَرْجِعُ</a:t>
            </a:r>
            <a:pPr algn="l" indent="0" marL="0">
              <a:buNone/>
            </a:pPr>
            <a:r>
              <a:rPr lang="en-US" sz="1050" i="1" dirty="0">
                <a:solidFill>
                  <a:srgbClr val="8A6D1E"/>
                </a:solidFill>
                <a:latin typeface="Calibri" pitchFamily="34" charset="0"/>
                <a:ea typeface="Calibri" pitchFamily="34" charset="-122"/>
                <a:cs typeface="Calibri" pitchFamily="34" charset="-120"/>
              </a:rPr>
              <a:t> = I return.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help her”.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أُسَاعِدُهُ</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أُسَاعِدُهَا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تُسَاعِدُنِي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is the feminine object suffix.</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لِكَيْ لَا</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أَتَأَخَّرَ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أَتَأَخَّرُ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تَأَخَّرْتُ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 organised evening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أَعُودُ مِنَ المَدْرَسَةِ فِي الثَّالِثَةِ وَالنِّصْفِ، وَلَا أَبْدَأُ وَاجِبِي مُبَاشَرَةً؛ فَأَنَا أَحْتَاجُ إِلَى اِسْتِرَاحَةٍ قَصِيرَةٍ. أَتَنَاوَلُ شَيْئًا خَفِيفًا وَأَتَحَدَّثُ مَعَ أُمِّي، ثُمَّ أُرَاجِعُ دُرُوسِي لِمُدَّةِ سَاعَةٍ. يَوْمَيِ الثُّلَاثَاءِ وَالخَمِيسِ أَذْهَبُ إِلَى النَّادِي، بَيْنَمَا أَبْقَى فِي البَيْتِ فِي بَقِيَّةِ الأَيَّامِ. بَعْدَ العَشَاءِ أُسَاعِدُ أَبِي فِي تَرْتِيبِ المَطْبَخِ. أُحَضِّرُ مَلَابِسِي وَحَقِيبَتِي لَيْلًا لِكَيْ أَخْرُجَ مِنَ البَيْتِ دُونَ عَجَلَةٍ فِي الصَّبَاحِ. فِي رَأْيِي، التَّحْضِيرُ المُسْبَقُ يَجْعَلُ المَسَاءَ أَهْدَأَ وَالصَّبَاحَ أَسْهَلَ.</a:t>
            </a:r>
            <a:endParaRPr lang="ar-SA" sz="25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أَبْدَأُ</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don’t start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أَحْتَاجُ إِلَى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need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اِسْتِرَاحَةٍ قَصِيرَةٍ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short break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شَيْئًا خَفِيفًا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something light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أَبْقَى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stay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بَقِيَّةِ الأَيَّامِ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rest of the days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تَرْتِيبِ المَطْبَخِ</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tidying the kitchen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عَجَلَةٍ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rushing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التَّحْضِيرُ المُسْبَقُ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advance preparation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أَهْدَأَ … أَسْهَلَ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calmer … easier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 starts at once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 and Friday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Saturday only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friend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miss school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train longer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evening routines are unnecessary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homework should be avoided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homework not started immediately?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books are at school</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short rest is needed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 starts at once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أَحْتَاجُ إِلَى اِسْتِرَاحَةٍ قَصِيرَةٍ.</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revision?</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twenty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لِمُدَّةِ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On which days is the club attended?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Tuesday and Thursday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 and Friday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Saturday only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 الثُّلَاثَاءِ وَالخَمِيسِ.</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writer help?</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father</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friend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أُسَاعِدُ أَبِي.</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are clothes and bag prepared at night?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leave without rushing</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miss school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train longer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أَخْرُجَ ... دُونَ عَجَلَةٍ.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evening routines are unnecessary</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homework should be avoided</a:t>
            </a:r>
            <a:endParaRPr lang="en-US" sz="11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advance preparation improves evening and morning</a:t>
            </a:r>
            <a:endParaRPr lang="en-US" sz="11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sentence evaluates the benefit.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Evening routine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حَقِيبَتِي.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أُسَاعِدُهَا فِي المَطْبَخِ.</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أُسَاعِدُهُ فِي المَطْبَخِ.</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تُسَاعِدُنِي فِي المَطْبَخِ.</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النِّصْفُ سَاعَةٌ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نِصْفٌ</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نِصْفِ سَاعَةٍ</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يَفْهَمَهَا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أَفْهَمَهَا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أُحَضِّرُ حَقِيبَتِي حَتَّى لَا أَنْسَى كُتُبِي.</a:t>
            </a:r>
            <a:endParaRPr lang="ar-SA" sz="200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حَقِيبَتِي حَتَّى الكُتُبُ.</a:t>
            </a:r>
            <a:endParaRPr lang="ar-SA" sz="200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أَنْسَى حَقِيبَتِي لِكَيْ.</a:t>
            </a:r>
            <a:endParaRPr lang="ar-SA" sz="200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 وَجْبَةً خَفِيفَةً.</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يُغَيِّرُ مَلَابِسَهُ.</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يُحَضِّرُ حَقِيبَتَهُ.</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prepare my school bag.”</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حَقِيبَتَهُ.</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تُحَضِّرُ حَقِيبَتَهَا.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a:t>
            </a:r>
            <a:pPr algn="l" indent="0" marL="0">
              <a:buNone/>
            </a:pPr>
            <a:r>
              <a:rPr lang="ar-SA" altLang="en-US" sz="1350" dirty="0">
                <a:solidFill>
                  <a:srgbClr val="8A6D1E"/>
                </a:solidFill>
                <a:latin typeface="Amiri" pitchFamily="34" charset="0"/>
                <a:ea typeface="Amiri" pitchFamily="34" charset="-122"/>
                <a:cs typeface="Amiri" pitchFamily="34" charset="-120"/>
              </a:rPr>
              <a:t>حَقِيبَتِي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Arabic for “I help her in the kitchen.”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أُسَاعِدُهَا فِي المَطْبَخِ.</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أُسَاعِدُهُ فِي المَطْبَخِ.</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تُسَاعِدُنِي فِي المَطْبَخِ.</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suffix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أَسْتَرِيحُ لِمُدَّةِ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النِّصْفُ سَاعَةٌ</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نِصْفٌ</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نِصْفِ سَاعَةٍ</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لِمُدَّةِ</a:t>
            </a:r>
            <a:pPr algn="l" indent="0" marL="0">
              <a:buNone/>
            </a:pPr>
            <a:r>
              <a:rPr lang="en-US" sz="1050" i="1" dirty="0">
                <a:solidFill>
                  <a:srgbClr val="8A6D1E"/>
                </a:solidFill>
                <a:latin typeface="Calibri" pitchFamily="34" charset="0"/>
                <a:ea typeface="Calibri" pitchFamily="34" charset="-122"/>
                <a:cs typeface="Calibri" pitchFamily="34" charset="-120"/>
              </a:rPr>
              <a:t>, use the time period in the genitive: </a:t>
            </a:r>
            <a:pPr algn="l" indent="0" marL="0">
              <a:buNone/>
            </a:pPr>
            <a:r>
              <a:rPr lang="ar-SA" altLang="en-US" sz="1350" dirty="0">
                <a:solidFill>
                  <a:srgbClr val="8A6D1E"/>
                </a:solidFill>
                <a:latin typeface="Amiri" pitchFamily="34" charset="0"/>
                <a:ea typeface="Amiri" pitchFamily="34" charset="-122"/>
                <a:cs typeface="Amiri" pitchFamily="34" charset="-120"/>
              </a:rPr>
              <a:t>نِصْفِ سَاعَةٍ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sentence:</a:t>
            </a:r>
            <a:endParaRPr lang="en-US" sz="1200" dirty="0"/>
          </a:p>
        </p:txBody>
      </p:sp>
      <p:sp>
        <p:nvSpPr>
          <p:cNvPr id="66"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أُرَاجِعُ دُرُوسِي لِكَيْ ___.</a:t>
            </a:r>
            <a:endParaRPr lang="ar-SA" sz="150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أَفْهَمُهَا</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يَفْهَمَهَا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أَفْهَمَهَا</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first-person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strongest purposeful routine sentence.</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أُحَضِّرُ حَقِيبَتِي حَتَّى لَا أَنْسَى كُتُبِي.</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حَقِيبَتِي حَتَّى الكُتُبُ.</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أَنْسَى حَقِيبَتِي لِكَيْ.</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sentence links an action to its purpose and uses a complete clause after </a:t>
            </a:r>
            <a:pPr algn="l" indent="0" marL="0">
              <a:buNone/>
            </a:pPr>
            <a:r>
              <a:rPr lang="ar-SA" altLang="en-US" sz="1350" dirty="0">
                <a:solidFill>
                  <a:srgbClr val="8A6D1E"/>
                </a:solidFill>
                <a:latin typeface="Amiri" pitchFamily="34" charset="0"/>
                <a:ea typeface="Amiri" pitchFamily="34" charset="-122"/>
                <a:cs typeface="Amiri" pitchFamily="34" charset="-120"/>
              </a:rPr>
              <a:t>حَتَّى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عِنْدَمَا أَعُودُ مِنَ المَدْرَسَةِ أُغَيِّرُ مَلَابِسِي، ثُمَّ أَتَنَاوَلُ وَجْبَةً خَفِيفَةً</a:t>
            </a:r>
            <a:pPr algn="l" indent="0" marL="0">
              <a:buNone/>
            </a:pPr>
            <a:r>
              <a:rPr lang="en-US" sz="1000" b="1" dirty="0">
                <a:solidFill>
                  <a:srgbClr val="1F2A37"/>
                </a:solidFill>
                <a:latin typeface="Calibri" pitchFamily="34" charset="0"/>
                <a:ea typeface="Calibri" pitchFamily="34" charset="-122"/>
                <a:cs typeface="Calibri" pitchFamily="34" charset="-120"/>
              </a:rPr>
              <a:t>. What does the speaker do first?</a:t>
            </a:r>
            <a:endParaRPr lang="en-US"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 وَجْبَةً خَفِيفَةً.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يُغَيِّرُ مَلَابِسَهُ.</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يُحَضِّرُ حَقِيبَتَهُ.</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action after returning is </a:t>
            </a:r>
            <a:pPr algn="l" indent="0" marL="0">
              <a:buNone/>
            </a:pPr>
            <a:r>
              <a:rPr lang="ar-SA" altLang="en-US" sz="1350" dirty="0">
                <a:solidFill>
                  <a:srgbClr val="8A6D1E"/>
                </a:solidFill>
                <a:latin typeface="Amiri" pitchFamily="34" charset="0"/>
                <a:ea typeface="Amiri" pitchFamily="34" charset="-122"/>
                <a:cs typeface="Amiri" pitchFamily="34" charset="-120"/>
              </a:rPr>
              <a:t>أُغَيِّرُ مَلَابِسِي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D1-L05 · After School and Evening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D1-L06 · He and She — Describing Someone Else’s Routine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 routine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رُوتِينُهَا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her routine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يَرْجِعُ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returns</a:t>
            </a:r>
            <a:pPr indent="0" marL="0">
              <a:buNone/>
            </a:pPr>
            <a:r>
              <a:rPr lang="en-US" sz="1000" i="1" dirty="0">
                <a:solidFill>
                  <a:srgbClr val="5A6472"/>
                </a:solidFill>
                <a:latin typeface="Calibri" pitchFamily="34" charset="0"/>
                <a:ea typeface="Calibri" pitchFamily="34" charset="-122"/>
                <a:cs typeface="Calibri" pitchFamily="34" charset="-120"/>
              </a:rPr>
              <a:t>  she: تَرْجِعُ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كِلَاهُمَا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both of them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أَبْكَرُ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earlier than</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family member. What time do they wake up, and what do they do in the evening?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مَتَى يَسْتَيْقِظُ أَخُوكَ أَوْ أُخْتُكَ؟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D1-L05: the vocabulary tab and the sorter “Evening control room”.</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8 sentences about your evening with two possessive and one object ending.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about your after-school and evening routine.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D1-L06 · He and She — Describing Someone Else’s Routine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هُوَ وَهِيَ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noun + ending = whose. Verb + ending = whom.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D1-L05 · After School and Evening Routine</dc:title>
  <dc:subject>PptxGenJS Presentation</dc:subject>
  <dc:creator>Al Madina Online School · Arabic Department</dc:creator>
  <cp:lastModifiedBy>Al Madina Online School · Arabic Department</cp:lastModifiedBy>
  <cp:revision>1</cp:revision>
  <dcterms:created xsi:type="dcterms:W3CDTF">2026-09-27T21:37:24Z</dcterms:created>
  <dcterms:modified xsi:type="dcterms:W3CDTF">2026-09-27T21:37:24Z</dcterms:modified>
</cp:coreProperties>
</file>