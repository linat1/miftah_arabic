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D1 Daily Routine and Time › D1-L05. The website lesson “After School and Evening Routine”: vocabulary, grammar rules and quiz, patterns, common mistakes, sorter, listening, reading, speaking prompts and model, writing task and model, differentiation, final check and the lesson mission. Picture match: website visual game “After School and Evening Routine”.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the evening in THREE phases (arrive → jobs → rest) using the vocabulary chunks as they are (أُرَتِّبُ غُرْفَتِي, أُحَضِّرُ حَقِيبَتِي) + one time and one “for half an hour”.
• Develop: change the suffix to talk about someone else (حَقِيبَتُهُ / حَقِيبَتُهَا) and use one object suffix (أُسَاعِدُهَا). Stretch: purpose with لِكَيْ / حَتَّى + the subjunctive from D1-L04, and evaluate the routine.
• The three look-alike verbs (أَرْجِعُ / أُرَاجِعُ / أَسْتَرِيحُ) have their own slide — this is the website’s main warning.
• Urdu bridge: مدت، مطبخ، برنامج، کتاب، مصروف (not in the lesson, but useful for “busy”).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Questions 3–5 retrieve D1-L04 (أَنْ + subjunctive, noun vs verb) and D1-L03 (frequency).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short ending tells you WHOSE (after a noun) or WHOM (after a verb).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مدت (a period — كُچھ مدت) → لِمُدَّةِ (for a period of). مطبخ (kitchen — formal Urdu) → فِي المَطْبَخِ. برنامہ (plan, programme) → بَرْنَامَجًا. کتاب → كِتَابًا. مُبَاشَرَةً has no close Urdu partner — teach it as “straight away” (compare براہ راست =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After school (website vocabulary (1 of 2)). Hear → Say → See → Use. Transliteration is printed for Core students (cover it for Develop/Stretch).
The m/f/we forms on the cards already show the suffix change (مَلَابِسِي → مَلَابِسَهُ → مَلَابِسَهَا). Point to the ending, not the whole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After school (website vocabulary (2 of 2)). Hear → Say → See → Use. Transliteration is printed for Core students (cover it for Develop/Stretch).
The m/f/we forms on the cards already show the suffix change (مَلَابِسِي → مَلَابِسَهُ → مَلَابِسَهَا). Point to the ending, not the whole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Evening routine (website vocabulary (1 of 2)). Hear → Say → See → Use. Transliteration is printed for Core students (cover it for Develop/Stretch).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Evening routine (website vocabulary (2 of 2)).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Time, duration and purpose (website vocabulary (1 of 2)). Hear → Say → See → Use. Transliteration is printed for Core students (cover it for Develop/Stretch).
FLEX: teach if time allows; otherwise these are on the website vocabulary tab for homework.
لِكَيْ and حَتَّى are followed by a verb in the subjunctive — the same fatḥa ending as after أَنْ in D1-L04.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Time, duration and purpose (website vocabulary (2 of 2)). Hear → Say → See → Use. Transliteration is printed for Core students (cover it for Develop/Stretch).
FLEX: teach if time allows; otherwise these are on the website vocabulary tab for homework.
لِكَيْ and حَتَّى are followed by a verb in the subjunctive — the same fatḥa ending as after أَنْ in D1-L04.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common error: “Do not confuse أُرَاجِعُ ‘I revise’ with أَرْجِعُ ‘I return’.”
Say the three verbs slowly: a-r-ji-ʿu / u-rā-ji-ʿu / as-ta-rī-ḥu. Students mime: walking home (return), reading (revise), head on hands (rest).
Quick-fire: teacher says one; students do the mime. Then reverse: teacher mimes, students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“Attach a possessive suffix to the noun” and “Attach an object suffix to the verb”. Website overview: the same ending shows possession after a noun or the object after a verb; the sentence role tells you which.
Teacher script: “Look at the word BEFORE the ending. Noun → whose. Verb → whom.”
Point out: (1) ة → ت (غُرْفَة → غُرْفَتِي); (2) “me” after a verb is ـنِي (تُسَاعِدُنِي).
Website common error: أُسَاعِدُهُ أُمِّي ✗ → أُسَاعِدُهَا ✓ (my mother is female → ـهَا).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rules “Express duration with لِمُدَّةِ” (answers “for how long?”, not “at what time?”) and “Express purpose with لِكَيْ / حَتَّى” (+ subjunctive).
Link to D1-L04: لِكَيْ and حَتَّى behave like أَنْ — the verb ends in fatḥa. Negative purpose: لِكَيْ لَا / حَتَّى لَا (so that …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“Arabic attaches short pronouns to nouns and verbs. The same ending can show possession after a noun or the object after a verb; the sentence role tells you which meaning is intended.”
• Attach a possessive suffix to the noun: The suffix identifies whose object it is. Notice the tāʾ marbūṭa becomes ت before a suffix.
• Attach an object suffix to the verb: The suffix identifies the person receiving the action.
• Express duration with لِمُدَّةِ: Duration answers “for how long?” rather than “at what time?”.
• Express purpose with لِكَيْ / حَتَّى: The following present verb takes the subjunctive ending.
Website common error: Do not confuse أُرَاجِعُ “I revise” with أَرْجِعُ “I return”. Also keep the correct suffix: أساعدها refers to a female, while أساعده refers to a male.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3, 4,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website patterns 1–4 combined into the three phases, with a think-aloud. Students copy it, draw a box round every “for how long” and circle every suffix.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After School and Evening Routine”)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 afternoon and night cards). A quick Core warm-up before the evening sorter. Extension: students add a time or a duration to each sentence (e.g. أَدْرُسُ لِمُدَّةِ سَاعَةٍ).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After School and Evening Routine”)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 afternoon and night cards). A quick Core warm-up before the evening sorter. Extension: students add a time or a duration to each sentence (e.g. أَدْرُسُ لِمُدَّةِ سَاعَةٍ).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action into the stage where it usually belongs.
Accept reasoned alternatives (e.g. أُرَتِّبُ غُرْفَتِي could be preparation). Ask “why?” — reasons are the Stretch skill.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action into the stage where it usually belongs.
Accept reasoned alternatives (e.g. أُرَتِّبُ غُرْفَتِي could be preparation). Ask “why?” — reasons are the Stretch skill.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2,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3 and 4. Develop / Stretch: all 5.
Listen 1: just listen. Listen 2: note answers. Then chat the letters.
Support: after the second listening, show the read-along slide (Arabic + English, line by line) for Core students.
SCRIPT (read aloud):
تَعُودُ مَرْيَمُ إِلَى البَيْتِ فِي الرَّابِعَةِ وَعَشْرِ دَقَائِقَ. مُبَاشَرَةً تُغَيِّرُ مَلَابِسَهَا وَتَتَنَاوَلُ وَجْبَةً خَفِيفَةً. بَعْدَ ذٰلِكَ تَسْتَرِيحُ لِمُدَّةِ عِشْرِينَ دَقِيقَةً فَقَطْ، لِأَنَّ لَدَيْهَا تَدْرِيبًا فِي الخَامِسَةِ وَالنِّصْفِ. عِنْدَمَا تَعُودُ مِنَ التَّدْرِيبِ، تُسَاعِدُ أُمَّهَا فِي إِعْدَادِ العَشَاءِ، ثُمَّ تُكْمِلُ وَاجِبَهَا. قَبْلَ أَنْ تَنَامَ، تُحَضِّرُ حَقِيبَتَهَا حَتَّى لَا تَنْسَى كُتُبَهَا.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All five prompts are from the website. Prompts 1 and 2 are merged on the slide (Core); Develop answers the two amber prompts; Stretch the last with a reason. Website model: a complete sequence with a purpose clause (لِكَيْ أَكُونَ حُرًّا).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Sequence four evening actions with times. · Develop — Add duration, suffixes and a purpose clause. · Stretch — Evaluate the routine and suggest one realistic improvement.
Website writing task (Stretch): Write 100–120 words about your after-school and evening routine.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فِي الرَّابِعَةِ إِلَّا الرُّبْعَ · لِمُدَّةِ نِصْفِ سَاعَةٍ · لِكَيْ أَكُونَ حُرًّا · مَلَابِسِي، دُرُوسِي، وَاجِبِي، حَقِيبَتِي، أُسْرَتِي. Develop challenge: the model has NO object ending — students add one (أُسَاعِدُهَا فِي المَطْبَخِ).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(D1-L06 · He and She — Describing Someone Else’s Routine) will spend class time USING this language, so students prepare it tonight — short, simple, easy to access (school guidance: “Simple, Short, Interesting, Relevant, Easy to access”). The five words come from the website D1-L06 vocabulary (masculine/feminine forms and comparison).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DEVELOPMENT D1  ·  D1-L05</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D1-L05</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300" b="1" dirty="0">
                <a:solidFill>
                  <a:srgbClr val="FFFFFF"/>
                </a:solidFill>
                <a:latin typeface="Cambria" pitchFamily="34" charset="0"/>
                <a:ea typeface="Cambria" pitchFamily="34" charset="-122"/>
                <a:cs typeface="Cambria" pitchFamily="34" charset="-120"/>
              </a:rPr>
              <a:t>After School and Evening Routine</a:t>
            </a:r>
            <a:endParaRPr lang="en-US" sz="33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بَعْدَ المَدْرَسَةِ وَرُوتِينُ المَسَاءِ</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Describe the afternoon and evening in three phases, with exact times, duration (</a:t>
            </a:r>
            <a:pPr algn="l" indent="0" marL="0">
              <a:buNone/>
            </a:pPr>
            <a:r>
              <a:rPr lang="ar-SA" altLang="en-US" sz="1800" dirty="0">
                <a:solidFill>
                  <a:srgbClr val="C6D2E6"/>
                </a:solidFill>
                <a:latin typeface="Amiri" pitchFamily="34" charset="0"/>
                <a:ea typeface="Amiri" pitchFamily="34" charset="-122"/>
                <a:cs typeface="Amiri" pitchFamily="34" charset="-120"/>
              </a:rPr>
              <a:t>لِمُدَّةِ</a:t>
            </a:r>
            <a:pPr algn="l" indent="0" marL="0">
              <a:buNone/>
            </a:pPr>
            <a:r>
              <a:rPr lang="en-US" sz="1400" dirty="0">
                <a:solidFill>
                  <a:srgbClr val="C6D2E6"/>
                </a:solidFill>
                <a:latin typeface="Calibri" pitchFamily="34" charset="0"/>
                <a:ea typeface="Calibri" pitchFamily="34" charset="-122"/>
                <a:cs typeface="Calibri" pitchFamily="34" charset="-120"/>
              </a:rPr>
              <a:t>), purpose (</a:t>
            </a:r>
            <a:pPr algn="l" indent="0" marL="0">
              <a:buNone/>
            </a:pPr>
            <a:r>
              <a:rPr lang="ar-SA" altLang="en-US" sz="1800" dirty="0">
                <a:solidFill>
                  <a:srgbClr val="C6D2E6"/>
                </a:solidFill>
                <a:latin typeface="Amiri" pitchFamily="34" charset="0"/>
                <a:ea typeface="Amiri" pitchFamily="34" charset="-122"/>
                <a:cs typeface="Amiri" pitchFamily="34" charset="-120"/>
              </a:rPr>
              <a:t>لِكَيْ / حَتَّى</a:t>
            </a:r>
            <a:pPr algn="l" indent="0" marL="0">
              <a:buNone/>
            </a:pPr>
            <a:r>
              <a:rPr lang="en-US" sz="1400" dirty="0">
                <a:solidFill>
                  <a:srgbClr val="C6D2E6"/>
                </a:solidFill>
                <a:latin typeface="Calibri" pitchFamily="34" charset="0"/>
                <a:ea typeface="Calibri" pitchFamily="34" charset="-122"/>
                <a:cs typeface="Calibri" pitchFamily="34" charset="-120"/>
              </a:rPr>
              <a:t>) and possessive and object suffixes (</a:t>
            </a:r>
            <a:pPr algn="l" indent="0" marL="0">
              <a:buNone/>
            </a:pPr>
            <a:r>
              <a:rPr lang="ar-SA" altLang="en-US" sz="1800" dirty="0">
                <a:solidFill>
                  <a:srgbClr val="C6D2E6"/>
                </a:solidFill>
                <a:latin typeface="Amiri" pitchFamily="34" charset="0"/>
                <a:ea typeface="Amiri" pitchFamily="34" charset="-122"/>
                <a:cs typeface="Amiri" pitchFamily="34" charset="-120"/>
              </a:rPr>
              <a:t>غُرْفَتِي، أُسَاعِدُهَا</a:t>
            </a:r>
            <a:pPr algn="l" indent="0" marL="0">
              <a:buNone/>
            </a:pPr>
            <a:r>
              <a:rPr lang="en-US" sz="1400" dirty="0">
                <a:solidFill>
                  <a:srgbClr val="C6D2E6"/>
                </a:solidFill>
                <a:latin typeface="Calibri" pitchFamily="34" charset="0"/>
                <a:ea typeface="Calibri" pitchFamily="34" charset="-122"/>
                <a:cs typeface="Calibri" pitchFamily="34" charset="-120"/>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D1-L05 · Development D1 · Daily Routine and Time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Development › D1 › D1-L05</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Three phases of the evening, then the suffixes: whose and whom.</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sort the evening,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D1-L06.</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أُرَتِّبُ غُرْفَتِي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wash the dishes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tidy my room</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change my clothes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لِمُدَّةِ نِصْفِ سَاعَةٍ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 half an hour</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half past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an hour</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phrase.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قَبْلَ أَنْ أَنَامُ</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قَبْلَ أَنْ النَّوْمِ</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قَبْلَ أَنْ أَنَامَ</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needs no </a:t>
            </a:r>
            <a:pPr algn="l" indent="0" marL="0">
              <a:buNone/>
            </a:pPr>
            <a:r>
              <a:rPr lang="ar-SA" altLang="en-US" sz="1650" b="1" dirty="0">
                <a:solidFill>
                  <a:srgbClr val="1B3B6F"/>
                </a:solidFill>
                <a:latin typeface="Amiri" pitchFamily="34" charset="0"/>
                <a:ea typeface="Amiri" pitchFamily="34" charset="-122"/>
                <a:cs typeface="Amiri" pitchFamily="34" charset="-120"/>
              </a:rPr>
              <a:t>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بَعْدَ أَنْ أَعُودَ</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قَبْلَ أَنْ أَخْرُجَ</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بَعْدَ العَشَاءِ</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مَرَّتَيْنِ فِي الأُسْبُوعِ</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twice a week</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once a day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week</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أُرَتِّبُ غُرْفَتِي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wash the dishes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 tidy my room</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change my clothes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لِمُدَّةِ نِصْفِ سَاعَةٍ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for half an hour</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at half past</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after an hour</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phrase.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قَبْلَ أَنْ أَنَامُ</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قَبْلَ أَنْ النَّوْمِ</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قَبْلَ أَنْ أَنَامَ</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D1-L04: 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the verb ends in fatḥa.</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needs no </a:t>
            </a:r>
            <a:pPr algn="l" indent="0" marL="0">
              <a:buNone/>
            </a:pPr>
            <a:r>
              <a:rPr lang="ar-SA" altLang="en-US" sz="1650" b="1" dirty="0">
                <a:solidFill>
                  <a:srgbClr val="1B3B6F"/>
                </a:solidFill>
                <a:latin typeface="Amiri" pitchFamily="34" charset="0"/>
                <a:ea typeface="Amiri" pitchFamily="34" charset="-122"/>
                <a:cs typeface="Amiri" pitchFamily="34" charset="-120"/>
              </a:rPr>
              <a:t>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بَعْدَ أَنْ أَعُودَ</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قَبْلَ أَنْ أَخْرُجَ</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بَعْدَ العَشَاءِ</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D1-L04: a noun follows directly.</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مَرَّتَيْنِ فِي الأُسْبُوعِ</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twice a week</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once a day</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every week</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D1-L03 frequency.</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A short ending tells you WHOSE (after a noun) or WHOM (after a verb).</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algn="ctr" indent="0" marL="0">
              <a:buNone/>
            </a:pPr>
            <a:r>
              <a:rPr lang="ar-SA" altLang="en-US" sz="3100" b="1" dirty="0">
                <a:solidFill>
                  <a:srgbClr val="1B3B6F"/>
                </a:solidFill>
                <a:latin typeface="Amiri" pitchFamily="34" charset="0"/>
                <a:ea typeface="Amiri" pitchFamily="34" charset="-122"/>
                <a:cs typeface="Amiri" pitchFamily="34" charset="-120"/>
              </a:rPr>
              <a:t>حَقِيبَتُهَا</a:t>
            </a:r>
            <a:pPr algn="ctr" indent="0" marL="0">
              <a:buNone/>
            </a:pPr>
            <a:r>
              <a:rPr lang="en-US" sz="2400" b="1" dirty="0">
                <a:solidFill>
                  <a:srgbClr val="1B3B6F"/>
                </a:solidFill>
                <a:latin typeface="Calibri" pitchFamily="34" charset="0"/>
                <a:ea typeface="Calibri" pitchFamily="34" charset="-122"/>
                <a:cs typeface="Calibri" pitchFamily="34" charset="-120"/>
              </a:rPr>
              <a:t> = her bag  ·  </a:t>
            </a:r>
            <a:pPr algn="ctr" indent="0" marL="0">
              <a:buNone/>
            </a:pPr>
            <a:r>
              <a:rPr lang="ar-SA" altLang="en-US" sz="3100" b="1" dirty="0">
                <a:solidFill>
                  <a:srgbClr val="1B3B6F"/>
                </a:solidFill>
                <a:latin typeface="Amiri" pitchFamily="34" charset="0"/>
                <a:ea typeface="Amiri" pitchFamily="34" charset="-122"/>
                <a:cs typeface="Amiri" pitchFamily="34" charset="-120"/>
              </a:rPr>
              <a:t>أُسَاعِدُهَا</a:t>
            </a:r>
            <a:pPr algn="ctr" indent="0" marL="0">
              <a:buNone/>
            </a:pPr>
            <a:r>
              <a:rPr lang="en-US" sz="2400" b="1" dirty="0">
                <a:solidFill>
                  <a:srgbClr val="1B3B6F"/>
                </a:solidFill>
                <a:latin typeface="Calibri" pitchFamily="34" charset="0"/>
                <a:ea typeface="Calibri" pitchFamily="34" charset="-122"/>
                <a:cs typeface="Calibri" pitchFamily="34" charset="-120"/>
              </a:rPr>
              <a:t> = I help her</a:t>
            </a:r>
            <a:endParaRPr lang="en-US"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a wide range of after-school and evening verbs.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Sequence six or more events with exact times and duration.</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object and possessive suffixes accurately in routine sentences.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Produce a developed account with reasons and contrast.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describe my evening in three phases.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at what time and for how long.</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my / his / her on nouns (</a:t>
            </a:r>
            <a:pPr algn="l" indent="0" marL="0">
              <a:buNone/>
            </a:pPr>
            <a:r>
              <a:rPr lang="ar-SA" altLang="en-US" sz="1700" b="1" dirty="0">
                <a:solidFill>
                  <a:srgbClr val="C9780A"/>
                </a:solidFill>
                <a:latin typeface="Amiri" pitchFamily="34" charset="0"/>
                <a:ea typeface="Amiri" pitchFamily="34" charset="-122"/>
                <a:cs typeface="Amiri" pitchFamily="34" charset="-120"/>
              </a:rPr>
              <a:t>غُرْفَتِي، غُرْفَتُهُ</a:t>
            </a:r>
            <a:pPr algn="l" indent="0" marL="0">
              <a:buNone/>
            </a:pPr>
            <a:r>
              <a:rPr lang="en-US" sz="1300" b="1" dirty="0">
                <a:solidFill>
                  <a:srgbClr val="C9780A"/>
                </a:solidFill>
                <a:latin typeface="Calibri" pitchFamily="34" charset="0"/>
                <a:ea typeface="Calibri" pitchFamily="34" charset="-122"/>
                <a:cs typeface="Calibri" pitchFamily="34" charset="-120"/>
              </a:rPr>
              <a: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one object suffix (</a:t>
            </a:r>
            <a:pPr algn="l" indent="0" marL="0">
              <a:buNone/>
            </a:pPr>
            <a:r>
              <a:rPr lang="ar-SA" altLang="en-US" sz="1700" b="1" dirty="0">
                <a:solidFill>
                  <a:srgbClr val="C9780A"/>
                </a:solidFill>
                <a:latin typeface="Amiri" pitchFamily="34" charset="0"/>
                <a:ea typeface="Amiri" pitchFamily="34" charset="-122"/>
                <a:cs typeface="Amiri" pitchFamily="34" charset="-120"/>
              </a:rPr>
              <a:t>أُسَاعِدُهَا</a:t>
            </a:r>
            <a:pPr algn="l" indent="0" marL="0">
              <a:buNone/>
            </a:pPr>
            <a:r>
              <a:rPr lang="en-US" sz="1300" b="1" dirty="0">
                <a:solidFill>
                  <a:srgbClr val="C9780A"/>
                </a:solidFill>
                <a:latin typeface="Calibri" pitchFamily="34" charset="0"/>
                <a:ea typeface="Calibri" pitchFamily="34" charset="-122"/>
                <a:cs typeface="Calibri" pitchFamily="34" charset="-120"/>
              </a:rPr>
              <a: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explain purpose with </a:t>
            </a:r>
            <a:pPr algn="l" indent="0" marL="0">
              <a:buNone/>
            </a:pPr>
            <a:r>
              <a:rPr lang="ar-SA" altLang="en-US" sz="1700" b="1" dirty="0">
                <a:solidFill>
                  <a:srgbClr val="B83227"/>
                </a:solidFill>
                <a:latin typeface="Amiri" pitchFamily="34" charset="0"/>
                <a:ea typeface="Amiri" pitchFamily="34" charset="-122"/>
                <a:cs typeface="Amiri" pitchFamily="34" charset="-120"/>
              </a:rPr>
              <a:t>لِكَيْ / حَتَّى</a:t>
            </a:r>
            <a:pPr algn="l" indent="0" marL="0">
              <a:buNone/>
            </a:pPr>
            <a:r>
              <a:rPr lang="en-US" sz="1300" b="1" dirty="0">
                <a:solidFill>
                  <a:srgbClr val="B83227"/>
                </a:solidFill>
                <a:latin typeface="Calibri" pitchFamily="34" charset="0"/>
                <a:ea typeface="Calibri" pitchFamily="34" charset="-122"/>
                <a:cs typeface="Calibri" pitchFamily="34" charset="-120"/>
              </a:rPr>
              <a:t> + subjunctive.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evaluate my routine and suggest one improvement.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28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After school · 10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Evening routine · 10</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Time, duration and purpose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لِمُدَّةِ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‎مدت‎ </a:t>
            </a:r>
            <a:pPr indent="0" marL="0">
              <a:buNone/>
            </a:pPr>
            <a:r>
              <a:rPr lang="en-US" sz="950" b="1" dirty="0">
                <a:solidFill>
                  <a:srgbClr val="2E8B57"/>
                </a:solidFill>
                <a:latin typeface="Calibri" pitchFamily="34" charset="0"/>
                <a:ea typeface="Calibri" pitchFamily="34" charset="-122"/>
                <a:cs typeface="Calibri" pitchFamily="34" charset="-120"/>
              </a:rPr>
              <a:t> muddat · a period of time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المَطْبَخِ</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‎مطبخ‎ </a:t>
            </a:r>
            <a:pPr indent="0" marL="0">
              <a:buNone/>
            </a:pPr>
            <a:r>
              <a:rPr lang="en-US" sz="950" b="1" dirty="0">
                <a:solidFill>
                  <a:srgbClr val="2E8B57"/>
                </a:solidFill>
                <a:latin typeface="Calibri" pitchFamily="34" charset="0"/>
                <a:ea typeface="Calibri" pitchFamily="34" charset="-122"/>
                <a:cs typeface="Calibri" pitchFamily="34" charset="-120"/>
              </a:rPr>
              <a:t> matbakh · kitchen</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بَرْنَامَجًا</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‎پروگرام / برنامہ‎ </a:t>
            </a:r>
            <a:pPr indent="0" marL="0">
              <a:buNone/>
            </a:pPr>
            <a:r>
              <a:rPr lang="en-US" sz="950" b="1" dirty="0">
                <a:solidFill>
                  <a:srgbClr val="2E8B57"/>
                </a:solidFill>
                <a:latin typeface="Calibri" pitchFamily="34" charset="0"/>
                <a:ea typeface="Calibri" pitchFamily="34" charset="-122"/>
                <a:cs typeface="Calibri" pitchFamily="34" charset="-120"/>
              </a:rPr>
              <a:t> barnāma · programme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كِتَابًا</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‎کتاب‎ </a:t>
            </a:r>
            <a:pPr indent="0" marL="0">
              <a:buNone/>
            </a:pPr>
            <a:r>
              <a:rPr lang="en-US" sz="950" b="1" dirty="0">
                <a:solidFill>
                  <a:srgbClr val="2E8B57"/>
                </a:solidFill>
                <a:latin typeface="Calibri" pitchFamily="34" charset="0"/>
                <a:ea typeface="Calibri" pitchFamily="34" charset="-122"/>
                <a:cs typeface="Calibri" pitchFamily="34" charset="-120"/>
              </a:rPr>
              <a:t> kitāb · book</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مُبَاشَرَةً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‎براہ راست‎ </a:t>
            </a:r>
            <a:pPr indent="0" marL="0">
              <a:buNone/>
            </a:pPr>
            <a:r>
              <a:rPr lang="en-US" sz="950" b="1" dirty="0">
                <a:solidFill>
                  <a:srgbClr val="2E8B57"/>
                </a:solidFill>
                <a:latin typeface="Calibri" pitchFamily="34" charset="0"/>
                <a:ea typeface="Calibri" pitchFamily="34" charset="-122"/>
                <a:cs typeface="Calibri" pitchFamily="34" charset="-120"/>
              </a:rPr>
              <a:t> barāh-e rāst · Urdu: directly · Arabic: immediately</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After school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أَرْجِعُ إِلَى البَيْتِ</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return home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ar-ji-ʿu i-lā al-bay-ti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أَصِلُ إِلَى البَيْتِ</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arrive home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a-ṣi-lu i-lā al-bay-ti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0" name="Shape 27"/>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أُغَيِّرُ مَلَابِسِي</a:t>
            </a:r>
            <a:endParaRPr lang="ar-SA" sz="3000" dirty="0"/>
          </a:p>
        </p:txBody>
      </p:sp>
      <p:sp>
        <p:nvSpPr>
          <p:cNvPr id="35" name="Text 3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change my clothes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u-ghay-yi-ru ma-lā-bi-sī</a:t>
            </a:r>
            <a:endParaRPr lang="en-US" sz="1350" dirty="0"/>
          </a:p>
        </p:txBody>
      </p:sp>
      <p:sp>
        <p:nvSpPr>
          <p:cNvPr id="36" name="Shape 3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38" name="Text 3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يُغَيِّرُ مَلَابِسَهُ</a:t>
            </a:r>
            <a:endParaRPr lang="ar-SA" sz="1500" dirty="0"/>
          </a:p>
        </p:txBody>
      </p:sp>
      <p:sp>
        <p:nvSpPr>
          <p:cNvPr id="39" name="Shape 3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1" name="Text 3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تُغَيِّرُ مَلَابِسَهَا</a:t>
            </a:r>
            <a:endParaRPr lang="ar-SA" sz="1500" dirty="0"/>
          </a:p>
        </p:txBody>
      </p:sp>
      <p:sp>
        <p:nvSpPr>
          <p:cNvPr id="42" name="Shape 3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we</a:t>
            </a:r>
            <a:endParaRPr lang="en-US" sz="750" dirty="0"/>
          </a:p>
        </p:txBody>
      </p:sp>
      <p:sp>
        <p:nvSpPr>
          <p:cNvPr id="44" name="Text 4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نُغَيِّرُ مَلَابِسَنَا</a:t>
            </a:r>
            <a:endParaRPr lang="ar-SA" sz="150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8" name="Shape 45"/>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أَتَنَاوَلُ وَجْبَةً خَفِيفَةً</a:t>
            </a:r>
            <a:endParaRPr lang="ar-SA" sz="3000" dirty="0"/>
          </a:p>
        </p:txBody>
      </p:sp>
      <p:sp>
        <p:nvSpPr>
          <p:cNvPr id="51" name="Text 4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have a snack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a-ta-nā-wa-lu waj-ba-tan kha-fī-fa-tan</a:t>
            </a:r>
            <a:endParaRPr lang="en-US" sz="1350" dirty="0"/>
          </a:p>
        </p:txBody>
      </p:sp>
      <p:sp>
        <p:nvSpPr>
          <p:cNvPr id="52" name="Shape 49"/>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3" name="Shape 50"/>
          <p:cNvSpPr/>
          <p:nvPr/>
        </p:nvSpPr>
        <p:spPr>
          <a:xfrm>
            <a:off x="4389120" y="4261104"/>
            <a:ext cx="310896" cy="310896"/>
          </a:xfrm>
          <a:prstGeom prst="ellipse">
            <a:avLst/>
          </a:prstGeom>
          <a:solidFill>
            <a:srgbClr val="F4F1EA"/>
          </a:solidFill>
          <a:ln w="12700">
            <a:solidFill>
              <a:srgbClr val="F4F1EA"/>
            </a:solidFill>
            <a:prstDash val="solid"/>
          </a:ln>
        </p:spPr>
      </p:sp>
      <p:sp>
        <p:nvSpPr>
          <p:cNvPr id="54" name="Text 51"/>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5" name="Shape 52"/>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6" name="Text 53"/>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7" name="Text 54"/>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أَسْتَرِيحُ قَلِيلًا</a:t>
            </a:r>
            <a:endParaRPr lang="ar-SA" sz="3000" dirty="0"/>
          </a:p>
        </p:txBody>
      </p:sp>
      <p:sp>
        <p:nvSpPr>
          <p:cNvPr id="58" name="Text 55"/>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rest for a while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as-ta-rī-ḥu qa-lī-lan</a:t>
            </a:r>
            <a:endParaRPr lang="en-US" sz="1350" dirty="0"/>
          </a:p>
        </p:txBody>
      </p:sp>
      <p:sp>
        <p:nvSpPr>
          <p:cNvPr id="59" name="Text 5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After school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أُرَاجِعُ دُرُوسِي</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revise my lessons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u-rā-ji-ʿu du-rū-sī</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يُرَاجِعُ دُرُوسَهُ</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تُرَاجِعُ دُرُوسَهَا</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we</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نُرَاجِعُ دُرُوسَنَا</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36" name="Shape 33"/>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أُكْمِلُ وَاجِبِي</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complete my homework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uk-mi-lu wā-ji-bī</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يُكْمِلُ وَاجِبَهُ</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تُكْمِلُ وَاجِبَهَا</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we</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نُكْمِلُ وَاجِبَنَا</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54" name="Text 5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أَذْهَبُ إِلَى النَّادِي</a:t>
            </a:r>
            <a:endParaRPr lang="ar-SA" sz="3000" dirty="0"/>
          </a:p>
        </p:txBody>
      </p:sp>
      <p:sp>
        <p:nvSpPr>
          <p:cNvPr id="55" name="Text 5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go to the club</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adh-ha-bu i-lā an-nā-dī</a:t>
            </a:r>
            <a:endParaRPr lang="en-US" sz="1350" dirty="0"/>
          </a:p>
        </p:txBody>
      </p:sp>
      <p:sp>
        <p:nvSpPr>
          <p:cNvPr id="56" name="Shape 5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8211312" y="4261104"/>
            <a:ext cx="310896" cy="310896"/>
          </a:xfrm>
          <a:prstGeom prst="ellipse">
            <a:avLst/>
          </a:prstGeom>
          <a:solidFill>
            <a:srgbClr val="F4F1EA"/>
          </a:solidFill>
          <a:ln w="12700">
            <a:solidFill>
              <a:srgbClr val="F4F1EA"/>
            </a:solidFill>
            <a:prstDash val="solid"/>
          </a:ln>
        </p:spPr>
      </p:sp>
      <p:sp>
        <p:nvSpPr>
          <p:cNvPr id="58" name="Text 5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59" name="Text 5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أَتَمَرَّنُ</a:t>
            </a:r>
            <a:endParaRPr lang="ar-SA" sz="3000" dirty="0"/>
          </a:p>
        </p:txBody>
      </p:sp>
      <p:sp>
        <p:nvSpPr>
          <p:cNvPr id="60" name="Text 5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train / exercise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a-ta-mar-ra-nu</a:t>
            </a:r>
            <a:endParaRPr lang="en-US" sz="1350" dirty="0"/>
          </a:p>
        </p:txBody>
      </p:sp>
      <p:sp>
        <p:nvSpPr>
          <p:cNvPr id="61" name="Shape 5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4389120" y="4261104"/>
            <a:ext cx="310896" cy="310896"/>
          </a:xfrm>
          <a:prstGeom prst="ellipse">
            <a:avLst/>
          </a:prstGeom>
          <a:solidFill>
            <a:srgbClr val="F4F1EA"/>
          </a:solidFill>
          <a:ln w="12700">
            <a:solidFill>
              <a:srgbClr val="F4F1EA"/>
            </a:solidFill>
            <a:prstDash val="solid"/>
          </a:ln>
        </p:spPr>
      </p:sp>
      <p:sp>
        <p:nvSpPr>
          <p:cNvPr id="63" name="Text 6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64" name="Shape 61"/>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65" name="Text 62"/>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66" name="Text 6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أَزُورُ صَدِيقَتِي / صَدِيقِي</a:t>
            </a:r>
            <a:endParaRPr lang="ar-SA" sz="3000" dirty="0"/>
          </a:p>
        </p:txBody>
      </p:sp>
      <p:sp>
        <p:nvSpPr>
          <p:cNvPr id="67" name="Text 6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visit my friend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a-zū-ru ṣa-dī-qa-tī / ṣa-dī-qī</a:t>
            </a:r>
            <a:endParaRPr lang="en-US" sz="1350" dirty="0"/>
          </a:p>
        </p:txBody>
      </p:sp>
      <p:sp>
        <p:nvSpPr>
          <p:cNvPr id="68" name="Shape 65"/>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69" name="Text 66"/>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70" name="Text 67"/>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صَدِيقٌ</a:t>
            </a:r>
            <a:endParaRPr lang="ar-SA" sz="1500" dirty="0"/>
          </a:p>
        </p:txBody>
      </p:sp>
      <p:sp>
        <p:nvSpPr>
          <p:cNvPr id="71" name="Shape 68"/>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72" name="Text 69"/>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73" name="Text 70"/>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صَدِيقَةٌ</a:t>
            </a:r>
            <a:endParaRPr lang="ar-SA" sz="1500" dirty="0"/>
          </a:p>
        </p:txBody>
      </p:sp>
      <p:sp>
        <p:nvSpPr>
          <p:cNvPr id="74" name="Shape 71"/>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75" name="Text 72"/>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6" name="Text 73"/>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أَصْدِقَاءُ</a:t>
            </a:r>
            <a:endParaRPr lang="ar-SA" sz="150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Evening routine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أُسَاعِدُ أُسْرَتِي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help my family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u-sā-ʿi-du us-ra-tī</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25" name="Shape 22"/>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أُرَتِّبُ غُرْفَتِي</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tidy my room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u-rat-ti-bu ghur-fa-tī</a:t>
            </a:r>
            <a:endParaRPr lang="en-US" sz="1350" dirty="0"/>
          </a:p>
        </p:txBody>
      </p:sp>
      <p:sp>
        <p:nvSpPr>
          <p:cNvPr id="31" name="Shape 28"/>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33" name="Text 30"/>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يُرَتِّبُ غُرْفَتَهُ</a:t>
            </a:r>
            <a:endParaRPr lang="ar-SA" sz="1500" dirty="0"/>
          </a:p>
        </p:txBody>
      </p:sp>
      <p:sp>
        <p:nvSpPr>
          <p:cNvPr id="34" name="Shape 31"/>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36" name="Text 33"/>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تُرَتِّبُ غُرْفَتَهَا</a:t>
            </a:r>
            <a:endParaRPr lang="ar-SA" sz="1500" dirty="0"/>
          </a:p>
        </p:txBody>
      </p:sp>
      <p:sp>
        <p:nvSpPr>
          <p:cNvPr id="37" name="Shape 34"/>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we</a:t>
            </a:r>
            <a:endParaRPr lang="en-US" sz="750" dirty="0"/>
          </a:p>
        </p:txBody>
      </p:sp>
      <p:sp>
        <p:nvSpPr>
          <p:cNvPr id="39" name="Text 36"/>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نُرَتِّبُ غُرَفَنَا</a:t>
            </a:r>
            <a:endParaRPr lang="ar-SA" sz="1500" dirty="0"/>
          </a:p>
        </p:txBody>
      </p:sp>
      <p:sp>
        <p:nvSpPr>
          <p:cNvPr id="40" name="Shape 3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1920240"/>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43" name="Shape 40"/>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5" name="Text 42"/>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أَتَنَاوَلُ العَشَاءَ</a:t>
            </a:r>
            <a:endParaRPr lang="ar-SA" sz="3000" dirty="0"/>
          </a:p>
        </p:txBody>
      </p:sp>
      <p:sp>
        <p:nvSpPr>
          <p:cNvPr id="46" name="Text 43"/>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have dinner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a-ta-nā-wa-lu al-ʿa-shā-ʾa</a:t>
            </a:r>
            <a:endParaRPr lang="en-US" sz="1350" dirty="0"/>
          </a:p>
        </p:txBody>
      </p:sp>
      <p:sp>
        <p:nvSpPr>
          <p:cNvPr id="47" name="Shape 4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11312"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50" name="Shape 47"/>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52" name="Text 4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أَغْسِلُ الأَطْبَاقَ</a:t>
            </a:r>
            <a:endParaRPr lang="ar-SA" sz="3000" dirty="0"/>
          </a:p>
        </p:txBody>
      </p:sp>
      <p:sp>
        <p:nvSpPr>
          <p:cNvPr id="53" name="Text 5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wash the dishes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agh-si-lu al-aṭ-bā-qa</a:t>
            </a:r>
            <a:endParaRPr lang="en-US" sz="1350" dirty="0"/>
          </a:p>
        </p:txBody>
      </p:sp>
      <p:sp>
        <p:nvSpPr>
          <p:cNvPr id="54" name="Shape 51"/>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plate</a:t>
            </a:r>
            <a:endParaRPr lang="en-US" sz="700" dirty="0"/>
          </a:p>
        </p:txBody>
      </p:sp>
      <p:sp>
        <p:nvSpPr>
          <p:cNvPr id="56" name="Text 53"/>
          <p:cNvSpPr txBox="1"/>
          <p:nvPr/>
        </p:nvSpPr>
        <p:spPr>
          <a:xfrm>
            <a:off x="10588752"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طَبَقٌ</a:t>
            </a:r>
            <a:endParaRPr lang="ar-SA" sz="1350" dirty="0"/>
          </a:p>
        </p:txBody>
      </p:sp>
      <p:sp>
        <p:nvSpPr>
          <p:cNvPr id="57" name="Shape 54"/>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9" name="Text 56"/>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أَطْبَاقٌ</a:t>
            </a:r>
            <a:endParaRPr lang="ar-SA" sz="1500" dirty="0"/>
          </a:p>
        </p:txBody>
      </p:sp>
      <p:sp>
        <p:nvSpPr>
          <p:cNvPr id="60" name="Shape 57"/>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62" name="Text 59"/>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يَغْسِلُ</a:t>
            </a:r>
            <a:endParaRPr lang="ar-SA" sz="1500" dirty="0"/>
          </a:p>
        </p:txBody>
      </p:sp>
      <p:sp>
        <p:nvSpPr>
          <p:cNvPr id="63" name="Shape 6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4389120"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66" name="Text 6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أَتَحَدَّثُ مَعَ أُسْرَتِي</a:t>
            </a:r>
            <a:endParaRPr lang="ar-SA" sz="3000" dirty="0"/>
          </a:p>
        </p:txBody>
      </p:sp>
      <p:sp>
        <p:nvSpPr>
          <p:cNvPr id="67" name="Text 6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talk with my family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a-ta-ḥad-da-thu ma-ʿa us-ra-tī</a:t>
            </a:r>
            <a:endParaRPr lang="en-US" sz="13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Evening routine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أُشَاهِدُ بَرْنَامَجًا</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watch a programme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u-shā-hi-du bar-nā-ma-jan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أَقْرَأُ كِتَابًا</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read a book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aq-ra-ʾu ki-tā-ban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30" name="Shape 27"/>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أُحَضِّرُ حَقِيبَتِي</a:t>
            </a:r>
            <a:endParaRPr lang="ar-SA" sz="3000" dirty="0"/>
          </a:p>
        </p:txBody>
      </p:sp>
      <p:sp>
        <p:nvSpPr>
          <p:cNvPr id="35" name="Text 3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prepare my bag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u-ḥaḍ-ḍi-ru ḥa-qī-ba-tī</a:t>
            </a:r>
            <a:endParaRPr lang="en-US" sz="1350" dirty="0"/>
          </a:p>
        </p:txBody>
      </p:sp>
      <p:sp>
        <p:nvSpPr>
          <p:cNvPr id="36" name="Shape 3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38" name="Text 3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يُحَضِّرُ حَقِيبَتَهُ</a:t>
            </a:r>
            <a:endParaRPr lang="ar-SA" sz="1500" dirty="0"/>
          </a:p>
        </p:txBody>
      </p:sp>
      <p:sp>
        <p:nvSpPr>
          <p:cNvPr id="39" name="Shape 3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1" name="Text 3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تُحَضِّرُ حَقِيبَتَهَا</a:t>
            </a:r>
            <a:endParaRPr lang="ar-SA" sz="1500" dirty="0"/>
          </a:p>
        </p:txBody>
      </p:sp>
      <p:sp>
        <p:nvSpPr>
          <p:cNvPr id="42" name="Shape 3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we</a:t>
            </a:r>
            <a:endParaRPr lang="en-US" sz="750" dirty="0"/>
          </a:p>
        </p:txBody>
      </p:sp>
      <p:sp>
        <p:nvSpPr>
          <p:cNvPr id="44" name="Text 4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نُحَضِّرُ حَقَائِبَنَا</a:t>
            </a:r>
            <a:endParaRPr lang="ar-SA" sz="150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48" name="Text 4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أَضْبِطُ المُنَبِّهَ</a:t>
            </a:r>
            <a:endParaRPr lang="ar-SA" sz="3000" dirty="0"/>
          </a:p>
        </p:txBody>
      </p:sp>
      <p:sp>
        <p:nvSpPr>
          <p:cNvPr id="49" name="Text 4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set the alarm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aḍ-bi-ṭu al-mu-nab-bi-ha</a:t>
            </a:r>
            <a:endParaRPr lang="en-US" sz="1350" dirty="0"/>
          </a:p>
        </p:txBody>
      </p:sp>
      <p:sp>
        <p:nvSpPr>
          <p:cNvPr id="50" name="Shape 47"/>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4389120"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53" name="Shape 50"/>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5" name="Text 52"/>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أَذْهَبُ إِلَى الفِرَاشِ</a:t>
            </a:r>
            <a:endParaRPr lang="ar-SA" sz="3000" dirty="0"/>
          </a:p>
        </p:txBody>
      </p:sp>
      <p:sp>
        <p:nvSpPr>
          <p:cNvPr id="56" name="Text 53"/>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go to bed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adh-ha-bu i-lā al-fi-rā-shi</a:t>
            </a:r>
            <a:endParaRPr lang="en-US" sz="13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Time, duration and purpose (1 of 2)</a:t>
            </a:r>
            <a:endParaRPr lang="en-US" sz="26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عِنْدَمَا أَعُودُ</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when I return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ʿin-da-mā a-ʿū-du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بَعْدَ سَاعَةٍ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after an hour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baʿ-da sā-ʿa-tin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لِمُدَّةِ نِصْفِ سَاعَةٍ</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for half an hour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li-mud-da-ti niṣ-fi sā-ʿa-tin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حَتَّى السَّاعَةِ...</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until ... o’clock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ḥat-tā as-sā-ʿa-ti...</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Time, duration and purpose (2 of 2)</a:t>
            </a:r>
            <a:endParaRPr lang="en-US" sz="26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مُبَاشَرَةً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immediately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mu-bā-sha-ra-tan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وَقْتٍ لَاحِقٍ</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later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waq-tin lā-ḥi-qin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لِكَيْ</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order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li-kay</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28</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حَتَّى أَسْتَطِيعَ</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so that I can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ḥat-tā as-ta-ṭī-ʿa</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1 · THREE VERBS THAT LOOK ALIKE (WEBSITE WARNING)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Return, revise or rest?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أَرْجِعُ · أُرَاجِعُ · أَسْتَرِيحُ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50876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RETURN · 3 LETTERS</a:t>
            </a:r>
            <a:endParaRPr lang="en-US" sz="850" dirty="0"/>
          </a:p>
        </p:txBody>
      </p:sp>
      <p:sp>
        <p:nvSpPr>
          <p:cNvPr id="18" name="Text 15"/>
          <p:cNvSpPr txBox="1"/>
          <p:nvPr/>
        </p:nvSpPr>
        <p:spPr>
          <a:xfrm>
            <a:off x="9787128"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أَرْجِعُ</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34" charset="0"/>
                <a:ea typeface="Amiri" pitchFamily="34" charset="-122"/>
                <a:cs typeface="Amiri" pitchFamily="34" charset="-120"/>
              </a:rPr>
              <a:t>أَرْجِعُ إِلَى البَيْتِ فِي الرَّابِعَةِ.</a:t>
            </a:r>
            <a:endParaRPr lang="ar-SA" sz="25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return home at four.</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ar-ji-ʿu: short, three root letters.</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0302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REVISE · LONG Ā</a:t>
            </a:r>
            <a:endParaRPr lang="en-US" sz="850" dirty="0"/>
          </a:p>
        </p:txBody>
      </p:sp>
      <p:sp>
        <p:nvSpPr>
          <p:cNvPr id="26" name="Text 23"/>
          <p:cNvSpPr txBox="1"/>
          <p:nvPr/>
        </p:nvSpPr>
        <p:spPr>
          <a:xfrm>
            <a:off x="5762244"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أُرَاجِعُ</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34" charset="0"/>
                <a:ea typeface="Amiri" pitchFamily="34" charset="-122"/>
                <a:cs typeface="Amiri" pitchFamily="34" charset="-120"/>
              </a:rPr>
              <a:t>أُرَاجِعُ دُرُوسِي لِمُدَّةِ سَاعَةٍ.</a:t>
            </a:r>
            <a:endParaRPr lang="ar-SA" sz="30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revise my lessons for an hour.</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u-rā-ji-ʿu: starts with u, long rā.</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77340" cy="274320"/>
          </a:xfrm>
          <a:prstGeom prst="roundRect">
            <a:avLst>
              <a:gd name="adj" fmla="val 50000"/>
            </a:avLst>
          </a:prstGeom>
          <a:solidFill>
            <a:srgbClr val="1E7B4F"/>
          </a:solidFill>
          <a:ln w="12700">
            <a:solidFill>
              <a:srgbClr val="1E7B4F"/>
            </a:solidFill>
            <a:prstDash val="solid"/>
          </a:ln>
        </p:spPr>
      </p:sp>
      <p:sp>
        <p:nvSpPr>
          <p:cNvPr id="33" name="Text 30"/>
          <p:cNvSpPr txBox="1"/>
          <p:nvPr/>
        </p:nvSpPr>
        <p:spPr>
          <a:xfrm>
            <a:off x="594360"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REST · STA- PATTERN</a:t>
            </a:r>
            <a:endParaRPr lang="en-US" sz="850" dirty="0"/>
          </a:p>
        </p:txBody>
      </p:sp>
      <p:sp>
        <p:nvSpPr>
          <p:cNvPr id="34" name="Text 31"/>
          <p:cNvSpPr txBox="1"/>
          <p:nvPr/>
        </p:nvSpPr>
        <p:spPr>
          <a:xfrm>
            <a:off x="2217420"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أَسْتَرِيحُ</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2750" b="1" dirty="0">
                <a:solidFill>
                  <a:srgbClr val="1B3B6F"/>
                </a:solidFill>
                <a:latin typeface="Amiri" pitchFamily="34" charset="0"/>
                <a:ea typeface="Amiri" pitchFamily="34" charset="-122"/>
                <a:cs typeface="Amiri" pitchFamily="34" charset="-120"/>
              </a:rPr>
              <a:t>أَسْتَرِيحُ قَلِيلًا بَعْدَ الغَدَاءِ.</a:t>
            </a:r>
            <a:endParaRPr lang="ar-SA" sz="27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rest for a while after lunch.</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as-ta-rī-ḥu: the sta- pattern.</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common error: do not confuse “I revise” with “I return”.</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34" charset="0"/>
                <a:ea typeface="Amiri" pitchFamily="34" charset="-122"/>
                <a:cs typeface="Amiri" pitchFamily="34" charset="-120"/>
              </a:rPr>
              <a:t>أَرْجِعُ إِلَى البَيْتِ</a:t>
            </a:r>
            <a:endParaRPr lang="ar-SA" sz="23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150" b="1" dirty="0">
                <a:solidFill>
                  <a:srgbClr val="B83227"/>
                </a:solidFill>
                <a:latin typeface="Amiri" pitchFamily="34" charset="0"/>
                <a:ea typeface="Amiri" pitchFamily="34" charset="-122"/>
                <a:cs typeface="Amiri" pitchFamily="34" charset="-120"/>
              </a:rPr>
              <a:t>أُرَاجِعُ إِلَى البَيْتِ</a:t>
            </a:r>
            <a:endParaRPr lang="ar-SA" sz="21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2 · WHOSE? AND WHOM? (WEBSITE RULES)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One ending, two jobs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ضَمَائِرُ المِلْكِيَّةِ وَالمَفْعُولِ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067544" y="1810512"/>
            <a:ext cx="1591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Person</a:t>
            </a:r>
            <a:endParaRPr lang="en-US" sz="1100" dirty="0"/>
          </a:p>
        </p:txBody>
      </p:sp>
      <p:sp>
        <p:nvSpPr>
          <p:cNvPr id="17" name="Text 14"/>
          <p:cNvSpPr txBox="1"/>
          <p:nvPr/>
        </p:nvSpPr>
        <p:spPr>
          <a:xfrm>
            <a:off x="6592824" y="1810512"/>
            <a:ext cx="3328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After a noun: whose?</a:t>
            </a:r>
            <a:endParaRPr lang="en-US" sz="1100" dirty="0"/>
          </a:p>
        </p:txBody>
      </p:sp>
      <p:sp>
        <p:nvSpPr>
          <p:cNvPr id="18" name="Text 15"/>
          <p:cNvSpPr txBox="1"/>
          <p:nvPr/>
        </p:nvSpPr>
        <p:spPr>
          <a:xfrm>
            <a:off x="3118104" y="1810512"/>
            <a:ext cx="3328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After a verb: whom?</a:t>
            </a:r>
            <a:endParaRPr lang="en-US" sz="1100" dirty="0"/>
          </a:p>
        </p:txBody>
      </p:sp>
      <p:sp>
        <p:nvSpPr>
          <p:cNvPr id="19" name="Text 16"/>
          <p:cNvSpPr txBox="1"/>
          <p:nvPr/>
        </p:nvSpPr>
        <p:spPr>
          <a:xfrm>
            <a:off x="530352" y="1810512"/>
            <a:ext cx="24414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10085832" y="2267712"/>
            <a:ext cx="15544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أَنَا</a:t>
            </a:r>
            <a:endParaRPr lang="ar-SA" sz="2400" dirty="0"/>
          </a:p>
        </p:txBody>
      </p:sp>
      <p:sp>
        <p:nvSpPr>
          <p:cNvPr id="22" name="Text 19"/>
          <p:cNvSpPr txBox="1"/>
          <p:nvPr/>
        </p:nvSpPr>
        <p:spPr>
          <a:xfrm>
            <a:off x="6611112" y="2286000"/>
            <a:ext cx="3291840" cy="346771"/>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حَقِيبَتِ</a:t>
            </a:r>
            <a:pPr rtl="1" algn="ctr" indent="0" marL="0">
              <a:buNone/>
            </a:pPr>
            <a:r>
              <a:rPr lang="ar-SA" altLang="en-US" sz="1600" b="1" dirty="0">
                <a:solidFill>
                  <a:srgbClr val="D6336C"/>
                </a:solidFill>
                <a:latin typeface="Amiri" pitchFamily="34" charset="0"/>
                <a:ea typeface="Amiri" pitchFamily="34" charset="-122"/>
                <a:cs typeface="Amiri" pitchFamily="34" charset="-120"/>
              </a:rPr>
              <a:t>ي</a:t>
            </a:r>
            <a:endParaRPr lang="ar-SA" sz="1600" dirty="0"/>
          </a:p>
        </p:txBody>
      </p:sp>
      <p:sp>
        <p:nvSpPr>
          <p:cNvPr id="23" name="Text 20"/>
          <p:cNvSpPr txBox="1"/>
          <p:nvPr/>
        </p:nvSpPr>
        <p:spPr>
          <a:xfrm>
            <a:off x="6565392" y="2603297"/>
            <a:ext cx="338328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my bag</a:t>
            </a:r>
            <a:endParaRPr lang="en-US" sz="950" dirty="0"/>
          </a:p>
        </p:txBody>
      </p:sp>
      <p:sp>
        <p:nvSpPr>
          <p:cNvPr id="24" name="Text 21"/>
          <p:cNvSpPr txBox="1"/>
          <p:nvPr/>
        </p:nvSpPr>
        <p:spPr>
          <a:xfrm>
            <a:off x="3136392" y="2286000"/>
            <a:ext cx="3291840" cy="346771"/>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تُسَاعِدُ</a:t>
            </a:r>
            <a:pPr rtl="1" algn="ctr" indent="0" marL="0">
              <a:buNone/>
            </a:pPr>
            <a:r>
              <a:rPr lang="ar-SA" altLang="en-US" sz="1600" b="1" dirty="0">
                <a:solidFill>
                  <a:srgbClr val="D6336C"/>
                </a:solidFill>
                <a:latin typeface="Amiri" pitchFamily="34" charset="0"/>
                <a:ea typeface="Amiri" pitchFamily="34" charset="-122"/>
                <a:cs typeface="Amiri" pitchFamily="34" charset="-120"/>
              </a:rPr>
              <a:t>نِي</a:t>
            </a:r>
            <a:endParaRPr lang="ar-SA" sz="1600" dirty="0"/>
          </a:p>
        </p:txBody>
      </p:sp>
      <p:sp>
        <p:nvSpPr>
          <p:cNvPr id="25" name="Text 22"/>
          <p:cNvSpPr txBox="1"/>
          <p:nvPr/>
        </p:nvSpPr>
        <p:spPr>
          <a:xfrm>
            <a:off x="3090672" y="2603297"/>
            <a:ext cx="338328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she helps me</a:t>
            </a:r>
            <a:endParaRPr lang="en-US" sz="950" dirty="0"/>
          </a:p>
        </p:txBody>
      </p:sp>
      <p:sp>
        <p:nvSpPr>
          <p:cNvPr id="26" name="Text 23"/>
          <p:cNvSpPr txBox="1"/>
          <p:nvPr/>
        </p:nvSpPr>
        <p:spPr>
          <a:xfrm>
            <a:off x="566928" y="2267712"/>
            <a:ext cx="24048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my · me</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9" name="Shape 26"/>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30" name="Text 27"/>
          <p:cNvSpPr txBox="1"/>
          <p:nvPr/>
        </p:nvSpPr>
        <p:spPr>
          <a:xfrm>
            <a:off x="10085832" y="2881884"/>
            <a:ext cx="15544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أَنْتَ</a:t>
            </a:r>
            <a:endParaRPr lang="ar-SA" sz="2400" dirty="0"/>
          </a:p>
        </p:txBody>
      </p:sp>
      <p:sp>
        <p:nvSpPr>
          <p:cNvPr id="31" name="Text 28"/>
          <p:cNvSpPr txBox="1"/>
          <p:nvPr/>
        </p:nvSpPr>
        <p:spPr>
          <a:xfrm>
            <a:off x="6611112" y="2900172"/>
            <a:ext cx="3291840" cy="346771"/>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حَقِيبَتُ</a:t>
            </a:r>
            <a:pPr rtl="1" algn="ctr" indent="0" marL="0">
              <a:buNone/>
            </a:pPr>
            <a:r>
              <a:rPr lang="ar-SA" altLang="en-US" sz="1600" b="1" dirty="0">
                <a:solidFill>
                  <a:srgbClr val="D6336C"/>
                </a:solidFill>
                <a:latin typeface="Amiri" pitchFamily="34" charset="0"/>
                <a:ea typeface="Amiri" pitchFamily="34" charset="-122"/>
                <a:cs typeface="Amiri" pitchFamily="34" charset="-120"/>
              </a:rPr>
              <a:t>كَ</a:t>
            </a:r>
            <a:endParaRPr lang="ar-SA" sz="1600" dirty="0"/>
          </a:p>
        </p:txBody>
      </p:sp>
      <p:sp>
        <p:nvSpPr>
          <p:cNvPr id="32" name="Text 29"/>
          <p:cNvSpPr txBox="1"/>
          <p:nvPr/>
        </p:nvSpPr>
        <p:spPr>
          <a:xfrm>
            <a:off x="6565392" y="3217469"/>
            <a:ext cx="338328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your bag</a:t>
            </a:r>
            <a:endParaRPr lang="en-US" sz="950" dirty="0"/>
          </a:p>
        </p:txBody>
      </p:sp>
      <p:sp>
        <p:nvSpPr>
          <p:cNvPr id="33" name="Text 30"/>
          <p:cNvSpPr txBox="1"/>
          <p:nvPr/>
        </p:nvSpPr>
        <p:spPr>
          <a:xfrm>
            <a:off x="3136392" y="2900172"/>
            <a:ext cx="3291840" cy="346771"/>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أُسَاعِدُ</a:t>
            </a:r>
            <a:pPr rtl="1" algn="ctr" indent="0" marL="0">
              <a:buNone/>
            </a:pPr>
            <a:r>
              <a:rPr lang="ar-SA" altLang="en-US" sz="1600" b="1" dirty="0">
                <a:solidFill>
                  <a:srgbClr val="D6336C"/>
                </a:solidFill>
                <a:latin typeface="Amiri" pitchFamily="34" charset="0"/>
                <a:ea typeface="Amiri" pitchFamily="34" charset="-122"/>
                <a:cs typeface="Amiri" pitchFamily="34" charset="-120"/>
              </a:rPr>
              <a:t>كَ</a:t>
            </a:r>
            <a:endParaRPr lang="ar-SA" sz="1600" dirty="0"/>
          </a:p>
        </p:txBody>
      </p:sp>
      <p:sp>
        <p:nvSpPr>
          <p:cNvPr id="34" name="Text 31"/>
          <p:cNvSpPr txBox="1"/>
          <p:nvPr/>
        </p:nvSpPr>
        <p:spPr>
          <a:xfrm>
            <a:off x="3090672" y="3217469"/>
            <a:ext cx="338328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help you</a:t>
            </a:r>
            <a:endParaRPr lang="en-US" sz="950" dirty="0"/>
          </a:p>
        </p:txBody>
      </p:sp>
      <p:sp>
        <p:nvSpPr>
          <p:cNvPr id="35" name="Text 32"/>
          <p:cNvSpPr txBox="1"/>
          <p:nvPr/>
        </p:nvSpPr>
        <p:spPr>
          <a:xfrm>
            <a:off x="566928" y="2881884"/>
            <a:ext cx="24048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your · you (m.)</a:t>
            </a:r>
            <a:endParaRPr lang="en-US" sz="1100" dirty="0"/>
          </a:p>
        </p:txBody>
      </p:sp>
      <p:sp>
        <p:nvSpPr>
          <p:cNvPr id="36" name="Shape 33"/>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7" name="Text 34"/>
          <p:cNvSpPr txBox="1"/>
          <p:nvPr/>
        </p:nvSpPr>
        <p:spPr>
          <a:xfrm>
            <a:off x="10085832" y="3496056"/>
            <a:ext cx="15544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هُوَ</a:t>
            </a:r>
            <a:endParaRPr lang="ar-SA" sz="2400" dirty="0"/>
          </a:p>
        </p:txBody>
      </p:sp>
      <p:sp>
        <p:nvSpPr>
          <p:cNvPr id="38" name="Text 35"/>
          <p:cNvSpPr txBox="1"/>
          <p:nvPr/>
        </p:nvSpPr>
        <p:spPr>
          <a:xfrm>
            <a:off x="6611112" y="3514344"/>
            <a:ext cx="3291840" cy="346771"/>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حَقِيبَتُ</a:t>
            </a:r>
            <a:pPr rtl="1" algn="ctr" indent="0" marL="0">
              <a:buNone/>
            </a:pPr>
            <a:r>
              <a:rPr lang="ar-SA" altLang="en-US" sz="1600" b="1" dirty="0">
                <a:solidFill>
                  <a:srgbClr val="D6336C"/>
                </a:solidFill>
                <a:latin typeface="Amiri" pitchFamily="34" charset="0"/>
                <a:ea typeface="Amiri" pitchFamily="34" charset="-122"/>
                <a:cs typeface="Amiri" pitchFamily="34" charset="-120"/>
              </a:rPr>
              <a:t>هُ</a:t>
            </a:r>
            <a:endParaRPr lang="ar-SA" sz="1600" dirty="0"/>
          </a:p>
        </p:txBody>
      </p:sp>
      <p:sp>
        <p:nvSpPr>
          <p:cNvPr id="39" name="Text 36"/>
          <p:cNvSpPr txBox="1"/>
          <p:nvPr/>
        </p:nvSpPr>
        <p:spPr>
          <a:xfrm>
            <a:off x="6565392" y="3831641"/>
            <a:ext cx="338328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his bag</a:t>
            </a:r>
            <a:endParaRPr lang="en-US" sz="950" dirty="0"/>
          </a:p>
        </p:txBody>
      </p:sp>
      <p:sp>
        <p:nvSpPr>
          <p:cNvPr id="40" name="Text 37"/>
          <p:cNvSpPr txBox="1"/>
          <p:nvPr/>
        </p:nvSpPr>
        <p:spPr>
          <a:xfrm>
            <a:off x="3136392" y="3514344"/>
            <a:ext cx="3291840" cy="346771"/>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أُسَاعِدُ</a:t>
            </a:r>
            <a:pPr rtl="1" algn="ctr" indent="0" marL="0">
              <a:buNone/>
            </a:pPr>
            <a:r>
              <a:rPr lang="ar-SA" altLang="en-US" sz="1600" b="1" dirty="0">
                <a:solidFill>
                  <a:srgbClr val="D6336C"/>
                </a:solidFill>
                <a:latin typeface="Amiri" pitchFamily="34" charset="0"/>
                <a:ea typeface="Amiri" pitchFamily="34" charset="-122"/>
                <a:cs typeface="Amiri" pitchFamily="34" charset="-120"/>
              </a:rPr>
              <a:t>هُ</a:t>
            </a:r>
            <a:endParaRPr lang="ar-SA" sz="1600" dirty="0"/>
          </a:p>
        </p:txBody>
      </p:sp>
      <p:sp>
        <p:nvSpPr>
          <p:cNvPr id="41" name="Text 38"/>
          <p:cNvSpPr txBox="1"/>
          <p:nvPr/>
        </p:nvSpPr>
        <p:spPr>
          <a:xfrm>
            <a:off x="3090672" y="3831641"/>
            <a:ext cx="338328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help him</a:t>
            </a:r>
            <a:endParaRPr lang="en-US" sz="950" dirty="0"/>
          </a:p>
        </p:txBody>
      </p:sp>
      <p:sp>
        <p:nvSpPr>
          <p:cNvPr id="42" name="Text 39"/>
          <p:cNvSpPr txBox="1"/>
          <p:nvPr/>
        </p:nvSpPr>
        <p:spPr>
          <a:xfrm>
            <a:off x="566928" y="3496056"/>
            <a:ext cx="24048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his · him</a:t>
            </a:r>
            <a:endParaRPr lang="en-US" sz="1100" dirty="0"/>
          </a:p>
        </p:txBody>
      </p:sp>
      <p:sp>
        <p:nvSpPr>
          <p:cNvPr id="43" name="Shape 4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5" name="Shape 4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10085832" y="4110228"/>
            <a:ext cx="15544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هِيَ</a:t>
            </a:r>
            <a:endParaRPr lang="ar-SA" sz="2400" dirty="0"/>
          </a:p>
        </p:txBody>
      </p:sp>
      <p:sp>
        <p:nvSpPr>
          <p:cNvPr id="47" name="Text 44"/>
          <p:cNvSpPr txBox="1"/>
          <p:nvPr/>
        </p:nvSpPr>
        <p:spPr>
          <a:xfrm>
            <a:off x="6611112" y="4128516"/>
            <a:ext cx="3291840" cy="346771"/>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حَقِيبَتُ</a:t>
            </a:r>
            <a:pPr rtl="1" algn="ctr" indent="0" marL="0">
              <a:buNone/>
            </a:pPr>
            <a:r>
              <a:rPr lang="ar-SA" altLang="en-US" sz="1600" b="1" dirty="0">
                <a:solidFill>
                  <a:srgbClr val="D6336C"/>
                </a:solidFill>
                <a:latin typeface="Amiri" pitchFamily="34" charset="0"/>
                <a:ea typeface="Amiri" pitchFamily="34" charset="-122"/>
                <a:cs typeface="Amiri" pitchFamily="34" charset="-120"/>
              </a:rPr>
              <a:t>هَا</a:t>
            </a:r>
            <a:endParaRPr lang="ar-SA" sz="1600" dirty="0"/>
          </a:p>
        </p:txBody>
      </p:sp>
      <p:sp>
        <p:nvSpPr>
          <p:cNvPr id="48" name="Text 45"/>
          <p:cNvSpPr txBox="1"/>
          <p:nvPr/>
        </p:nvSpPr>
        <p:spPr>
          <a:xfrm>
            <a:off x="6565392" y="4445813"/>
            <a:ext cx="338328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her bag</a:t>
            </a:r>
            <a:endParaRPr lang="en-US" sz="950" dirty="0"/>
          </a:p>
        </p:txBody>
      </p:sp>
      <p:sp>
        <p:nvSpPr>
          <p:cNvPr id="49" name="Text 46"/>
          <p:cNvSpPr txBox="1"/>
          <p:nvPr/>
        </p:nvSpPr>
        <p:spPr>
          <a:xfrm>
            <a:off x="3136392" y="4128516"/>
            <a:ext cx="3291840" cy="346771"/>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أُسَاعِدُ</a:t>
            </a:r>
            <a:pPr rtl="1" algn="ctr" indent="0" marL="0">
              <a:buNone/>
            </a:pPr>
            <a:r>
              <a:rPr lang="ar-SA" altLang="en-US" sz="1600" b="1" dirty="0">
                <a:solidFill>
                  <a:srgbClr val="D6336C"/>
                </a:solidFill>
                <a:latin typeface="Amiri" pitchFamily="34" charset="0"/>
                <a:ea typeface="Amiri" pitchFamily="34" charset="-122"/>
                <a:cs typeface="Amiri" pitchFamily="34" charset="-120"/>
              </a:rPr>
              <a:t>هَا</a:t>
            </a:r>
            <a:endParaRPr lang="ar-SA" sz="1600" dirty="0"/>
          </a:p>
        </p:txBody>
      </p:sp>
      <p:sp>
        <p:nvSpPr>
          <p:cNvPr id="50" name="Text 47"/>
          <p:cNvSpPr txBox="1"/>
          <p:nvPr/>
        </p:nvSpPr>
        <p:spPr>
          <a:xfrm>
            <a:off x="3090672" y="4445813"/>
            <a:ext cx="338328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help her</a:t>
            </a:r>
            <a:endParaRPr lang="en-US" sz="950" dirty="0"/>
          </a:p>
        </p:txBody>
      </p:sp>
      <p:sp>
        <p:nvSpPr>
          <p:cNvPr id="51" name="Text 48"/>
          <p:cNvSpPr txBox="1"/>
          <p:nvPr/>
        </p:nvSpPr>
        <p:spPr>
          <a:xfrm>
            <a:off x="566928" y="4110228"/>
            <a:ext cx="24048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her · her</a:t>
            </a:r>
            <a:endParaRPr lang="en-US" sz="1100" dirty="0"/>
          </a:p>
        </p:txBody>
      </p:sp>
      <p:sp>
        <p:nvSpPr>
          <p:cNvPr id="52" name="Shape 49"/>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4" name="Shape 51"/>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55" name="Text 52"/>
          <p:cNvSpPr txBox="1"/>
          <p:nvPr/>
        </p:nvSpPr>
        <p:spPr>
          <a:xfrm>
            <a:off x="10085832" y="4724400"/>
            <a:ext cx="15544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نَحْنُ</a:t>
            </a:r>
            <a:endParaRPr lang="ar-SA" sz="2400" dirty="0"/>
          </a:p>
        </p:txBody>
      </p:sp>
      <p:sp>
        <p:nvSpPr>
          <p:cNvPr id="56" name="Text 53"/>
          <p:cNvSpPr txBox="1"/>
          <p:nvPr/>
        </p:nvSpPr>
        <p:spPr>
          <a:xfrm>
            <a:off x="6611112" y="4742688"/>
            <a:ext cx="3291840" cy="346771"/>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حَقِيبَتُ</a:t>
            </a:r>
            <a:pPr rtl="1" algn="ctr" indent="0" marL="0">
              <a:buNone/>
            </a:pPr>
            <a:r>
              <a:rPr lang="ar-SA" altLang="en-US" sz="1600" b="1" dirty="0">
                <a:solidFill>
                  <a:srgbClr val="D6336C"/>
                </a:solidFill>
                <a:latin typeface="Amiri" pitchFamily="34" charset="0"/>
                <a:ea typeface="Amiri" pitchFamily="34" charset="-122"/>
                <a:cs typeface="Amiri" pitchFamily="34" charset="-120"/>
              </a:rPr>
              <a:t>نَا</a:t>
            </a:r>
            <a:endParaRPr lang="ar-SA" sz="1600" dirty="0"/>
          </a:p>
        </p:txBody>
      </p:sp>
      <p:sp>
        <p:nvSpPr>
          <p:cNvPr id="57" name="Text 54"/>
          <p:cNvSpPr txBox="1"/>
          <p:nvPr/>
        </p:nvSpPr>
        <p:spPr>
          <a:xfrm>
            <a:off x="6565392" y="5059985"/>
            <a:ext cx="338328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our bag</a:t>
            </a:r>
            <a:endParaRPr lang="en-US" sz="950" dirty="0"/>
          </a:p>
        </p:txBody>
      </p:sp>
      <p:sp>
        <p:nvSpPr>
          <p:cNvPr id="58" name="Text 55"/>
          <p:cNvSpPr txBox="1"/>
          <p:nvPr/>
        </p:nvSpPr>
        <p:spPr>
          <a:xfrm>
            <a:off x="3136392" y="4742688"/>
            <a:ext cx="3291840" cy="346771"/>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تُسَاعِدُ</a:t>
            </a:r>
            <a:pPr rtl="1" algn="ctr" indent="0" marL="0">
              <a:buNone/>
            </a:pPr>
            <a:r>
              <a:rPr lang="ar-SA" altLang="en-US" sz="1600" b="1" dirty="0">
                <a:solidFill>
                  <a:srgbClr val="D6336C"/>
                </a:solidFill>
                <a:latin typeface="Amiri" pitchFamily="34" charset="0"/>
                <a:ea typeface="Amiri" pitchFamily="34" charset="-122"/>
                <a:cs typeface="Amiri" pitchFamily="34" charset="-120"/>
              </a:rPr>
              <a:t>نَا</a:t>
            </a:r>
            <a:endParaRPr lang="ar-SA" sz="1600" dirty="0"/>
          </a:p>
        </p:txBody>
      </p:sp>
      <p:sp>
        <p:nvSpPr>
          <p:cNvPr id="59" name="Text 56"/>
          <p:cNvSpPr txBox="1"/>
          <p:nvPr/>
        </p:nvSpPr>
        <p:spPr>
          <a:xfrm>
            <a:off x="3090672" y="5059985"/>
            <a:ext cx="338328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she helps us</a:t>
            </a:r>
            <a:endParaRPr lang="en-US" sz="950" dirty="0"/>
          </a:p>
        </p:txBody>
      </p:sp>
      <p:sp>
        <p:nvSpPr>
          <p:cNvPr id="60" name="Text 57"/>
          <p:cNvSpPr txBox="1"/>
          <p:nvPr/>
        </p:nvSpPr>
        <p:spPr>
          <a:xfrm>
            <a:off x="566928" y="4724400"/>
            <a:ext cx="24048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our · us</a:t>
            </a:r>
            <a:endParaRPr lang="en-US" sz="1100" dirty="0"/>
          </a:p>
        </p:txBody>
      </p:sp>
      <p:sp>
        <p:nvSpPr>
          <p:cNvPr id="61" name="Shape 5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62" name="Text 59"/>
          <p:cNvSpPr txBox="1"/>
          <p:nvPr/>
        </p:nvSpPr>
        <p:spPr>
          <a:xfrm>
            <a:off x="10085832" y="5338572"/>
            <a:ext cx="15544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هُمْ</a:t>
            </a:r>
            <a:endParaRPr lang="ar-SA" sz="2400" dirty="0"/>
          </a:p>
        </p:txBody>
      </p:sp>
      <p:sp>
        <p:nvSpPr>
          <p:cNvPr id="63" name="Text 60"/>
          <p:cNvSpPr txBox="1"/>
          <p:nvPr/>
        </p:nvSpPr>
        <p:spPr>
          <a:xfrm>
            <a:off x="6611112" y="5356860"/>
            <a:ext cx="3291840" cy="346771"/>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حَقِيبَتُ</a:t>
            </a:r>
            <a:pPr rtl="1" algn="ctr" indent="0" marL="0">
              <a:buNone/>
            </a:pPr>
            <a:r>
              <a:rPr lang="ar-SA" altLang="en-US" sz="1600" b="1" dirty="0">
                <a:solidFill>
                  <a:srgbClr val="D6336C"/>
                </a:solidFill>
                <a:latin typeface="Amiri" pitchFamily="34" charset="0"/>
                <a:ea typeface="Amiri" pitchFamily="34" charset="-122"/>
                <a:cs typeface="Amiri" pitchFamily="34" charset="-120"/>
              </a:rPr>
              <a:t>هُمْ</a:t>
            </a:r>
            <a:endParaRPr lang="ar-SA" sz="1600" dirty="0"/>
          </a:p>
        </p:txBody>
      </p:sp>
      <p:sp>
        <p:nvSpPr>
          <p:cNvPr id="64" name="Text 61"/>
          <p:cNvSpPr txBox="1"/>
          <p:nvPr/>
        </p:nvSpPr>
        <p:spPr>
          <a:xfrm>
            <a:off x="6565392" y="5674157"/>
            <a:ext cx="338328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their bag</a:t>
            </a:r>
            <a:endParaRPr lang="en-US" sz="950" dirty="0"/>
          </a:p>
        </p:txBody>
      </p:sp>
      <p:sp>
        <p:nvSpPr>
          <p:cNvPr id="65" name="Text 62"/>
          <p:cNvSpPr txBox="1"/>
          <p:nvPr/>
        </p:nvSpPr>
        <p:spPr>
          <a:xfrm>
            <a:off x="3136392" y="5356860"/>
            <a:ext cx="3291840" cy="346771"/>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أَزُورُ</a:t>
            </a:r>
            <a:pPr rtl="1" algn="ctr" indent="0" marL="0">
              <a:buNone/>
            </a:pPr>
            <a:r>
              <a:rPr lang="ar-SA" altLang="en-US" sz="1600" b="1" dirty="0">
                <a:solidFill>
                  <a:srgbClr val="D6336C"/>
                </a:solidFill>
                <a:latin typeface="Amiri" pitchFamily="34" charset="0"/>
                <a:ea typeface="Amiri" pitchFamily="34" charset="-122"/>
                <a:cs typeface="Amiri" pitchFamily="34" charset="-120"/>
              </a:rPr>
              <a:t>هُمْ</a:t>
            </a:r>
            <a:endParaRPr lang="ar-SA" sz="1600" dirty="0"/>
          </a:p>
        </p:txBody>
      </p:sp>
      <p:sp>
        <p:nvSpPr>
          <p:cNvPr id="66" name="Text 63"/>
          <p:cNvSpPr txBox="1"/>
          <p:nvPr/>
        </p:nvSpPr>
        <p:spPr>
          <a:xfrm>
            <a:off x="3090672" y="5674157"/>
            <a:ext cx="338328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visit them</a:t>
            </a:r>
            <a:endParaRPr lang="en-US" sz="950" dirty="0"/>
          </a:p>
        </p:txBody>
      </p:sp>
      <p:sp>
        <p:nvSpPr>
          <p:cNvPr id="67" name="Text 64"/>
          <p:cNvSpPr txBox="1"/>
          <p:nvPr/>
        </p:nvSpPr>
        <p:spPr>
          <a:xfrm>
            <a:off x="566928" y="5338572"/>
            <a:ext cx="24048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their · them</a:t>
            </a:r>
            <a:endParaRPr lang="en-US" sz="1100" dirty="0"/>
          </a:p>
        </p:txBody>
      </p:sp>
      <p:sp>
        <p:nvSpPr>
          <p:cNvPr id="68" name="Text 6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Tāʾ marbūṭa becomes a normal t before an ending (ḥaqība → ḥaqībatī). “Me” on a verb is -nī, not -ī.</a:t>
            </a:r>
            <a:endParaRPr lang="en-US" sz="11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74" b="1" spc="150" kern="0" dirty="0">
                <a:solidFill>
                  <a:srgbClr val="1B3B6F"/>
                </a:solidFill>
                <a:latin typeface="Calibri" pitchFamily="34" charset="0"/>
                <a:ea typeface="Calibri" pitchFamily="34" charset="-122"/>
                <a:cs typeface="Calibri" pitchFamily="34" charset="-120"/>
              </a:rPr>
              <a:t>GRAMMAR FOCUS · PART 3 · HOW LONG? AND WHY? (WEBSITE RULES) · DEVELOP / STRETCH</a:t>
            </a:r>
            <a:endParaRPr lang="en-US" sz="87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Duration and purpose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لِمُدَّةِ · لِكَيْ · حَتَّى</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64592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AT WHAT TIME? · CORE</a:t>
            </a:r>
            <a:endParaRPr lang="en-US" sz="850" dirty="0"/>
          </a:p>
        </p:txBody>
      </p:sp>
      <p:sp>
        <p:nvSpPr>
          <p:cNvPr id="18" name="Text 15"/>
          <p:cNvSpPr txBox="1"/>
          <p:nvPr/>
        </p:nvSpPr>
        <p:spPr>
          <a:xfrm>
            <a:off x="9924288"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فِي السَّاعَةِ</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750" b="1" dirty="0">
                <a:solidFill>
                  <a:srgbClr val="1B3B6F"/>
                </a:solidFill>
                <a:latin typeface="Amiri" pitchFamily="34" charset="0"/>
                <a:ea typeface="Amiri" pitchFamily="34" charset="-122"/>
                <a:cs typeface="Amiri" pitchFamily="34" charset="-120"/>
              </a:rPr>
              <a:t>أَتَمَرَّنُ فِي السَّاعَةِ الخَامِسَةِ.</a:t>
            </a:r>
            <a:endParaRPr lang="ar-SA" sz="27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train at five o’clock.</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 point on the clock.</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645920" cy="274320"/>
          </a:xfrm>
          <a:prstGeom prst="roundRect">
            <a:avLst>
              <a:gd name="adj" fmla="val 50000"/>
            </a:avLst>
          </a:prstGeom>
          <a:solidFill>
            <a:srgbClr val="1E7B4F"/>
          </a:solidFill>
          <a:ln w="12700">
            <a:solidFill>
              <a:srgbClr val="1E7B4F"/>
            </a:solidFill>
            <a:prstDash val="solid"/>
          </a:ln>
        </p:spPr>
      </p:sp>
      <p:sp>
        <p:nvSpPr>
          <p:cNvPr id="25" name="Text 22"/>
          <p:cNvSpPr txBox="1"/>
          <p:nvPr/>
        </p:nvSpPr>
        <p:spPr>
          <a:xfrm>
            <a:off x="4413504"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FOR HOW LONG? · CORE</a:t>
            </a:r>
            <a:endParaRPr lang="en-US" sz="850" dirty="0"/>
          </a:p>
        </p:txBody>
      </p:sp>
      <p:sp>
        <p:nvSpPr>
          <p:cNvPr id="26" name="Text 23"/>
          <p:cNvSpPr txBox="1"/>
          <p:nvPr/>
        </p:nvSpPr>
        <p:spPr>
          <a:xfrm>
            <a:off x="6105144"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لِمُدَّةِ</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أَتَمَرَّنُ لِمُدَّةِ سَاعَةٍ.</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train for an hour.</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 length of time.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234440" cy="274320"/>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594360"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WHY? · STRETCH</a:t>
            </a:r>
            <a:endParaRPr lang="en-US" sz="850" dirty="0"/>
          </a:p>
        </p:txBody>
      </p:sp>
      <p:sp>
        <p:nvSpPr>
          <p:cNvPr id="34" name="Text 31"/>
          <p:cNvSpPr txBox="1"/>
          <p:nvPr/>
        </p:nvSpPr>
        <p:spPr>
          <a:xfrm>
            <a:off x="1874520"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لِكَيْ / حَتَّى</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50" b="1" dirty="0">
                <a:solidFill>
                  <a:srgbClr val="1B3B6F"/>
                </a:solidFill>
                <a:latin typeface="Amiri" pitchFamily="34" charset="0"/>
                <a:ea typeface="Amiri" pitchFamily="34" charset="-122"/>
                <a:cs typeface="Amiri" pitchFamily="34" charset="-120"/>
              </a:rPr>
              <a:t>أُحَضِّرُ حَقِيبَتِي حَتَّى لَا أَنْسَى كُتُبِي.</a:t>
            </a:r>
            <a:endParaRPr lang="ar-SA" sz="22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prepare my bag so I don’t forget my books.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 fatḥa ending, as after “an”.</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common error: after li-kay the verb ends in fatḥa.</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لِكَيْ أَسْتَعِدَّ</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34" charset="0"/>
                <a:ea typeface="Amiri" pitchFamily="34" charset="-122"/>
                <a:cs typeface="Amiri" pitchFamily="34" charset="-120"/>
              </a:rPr>
              <a:t>لِكَيْ أَسْتَعِدُّ</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00" b="1" dirty="0">
                <a:solidFill>
                  <a:srgbClr val="1B3B6F"/>
                </a:solidFill>
                <a:latin typeface="Cambria" pitchFamily="34" charset="0"/>
                <a:ea typeface="Cambria" pitchFamily="34" charset="-122"/>
                <a:cs typeface="Cambria" pitchFamily="34" charset="-120"/>
              </a:rPr>
              <a:t>Object and possessive suffixes in an evening routine</a:t>
            </a:r>
            <a:endParaRPr lang="en-US" sz="1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200" b="1" dirty="0">
                <a:solidFill>
                  <a:srgbClr val="8A6D1E"/>
                </a:solidFill>
                <a:latin typeface="Amiri" pitchFamily="34" charset="0"/>
                <a:ea typeface="Amiri" pitchFamily="34" charset="-122"/>
                <a:cs typeface="Amiri" pitchFamily="34" charset="-120"/>
              </a:rPr>
              <a:t>ضَمَائِرُ المَفْعُولِ وَالمِلْكِيَّةِ فِي رُوتِينِ المَسَاءِ</a:t>
            </a:r>
            <a:endParaRPr lang="ar-SA" sz="22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Attach a possessive suffix to the noun</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حَقِيبَةٌ ← حَقِيبَتِي / حَقِيبَتُهُ / حَقِيبَتُهَا</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أُحَضِّرُ حَقِيبَتِي.   ·   يُحَضِّرُ حَقِيبَتَهُ.   ·   تُحَضِّرُ حَقِيبَتَهَا.</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Attach an object suffix to the verb</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أُسَاعِدُ + هُ / هَا / هُمْ</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أُسَاعِدُهُ بَعْدَ المَدْرَسَةِ.   ·   أُسَاعِدُهَا فِي المَطْبَخِ.   ·   أَزُورُهُمْ يَوْمَ الجُمُعَةِ.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Express duration with </a:t>
            </a:r>
            <a:pPr algn="l" indent="0" marL="0">
              <a:buNone/>
            </a:pPr>
            <a:r>
              <a:rPr lang="ar-SA" altLang="en-US" sz="1650" b="1" dirty="0">
                <a:solidFill>
                  <a:srgbClr val="1B3B6F"/>
                </a:solidFill>
                <a:latin typeface="Amiri" pitchFamily="34" charset="0"/>
                <a:ea typeface="Amiri" pitchFamily="34" charset="-122"/>
                <a:cs typeface="Amiri" pitchFamily="34" charset="-120"/>
              </a:rPr>
              <a:t>لِمُدَّةِ</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لِمُدَّةِ</a:t>
            </a:r>
            <a:pPr algn="l" indent="0" marL="0">
              <a:buNone/>
            </a:pPr>
            <a:r>
              <a:rPr lang="en-US" sz="1050" dirty="0">
                <a:solidFill>
                  <a:srgbClr val="5A6472"/>
                </a:solidFill>
                <a:latin typeface="Calibri" pitchFamily="34" charset="0"/>
                <a:ea typeface="Calibri" pitchFamily="34" charset="-122"/>
                <a:cs typeface="Calibri" pitchFamily="34" charset="-120"/>
              </a:rPr>
              <a:t> + time period</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أَسْتَرِيحُ لِمُدَّةِ نِصْفِ سَاعَةٍ.   ·   أَتَمَرَّنُ لِمُدَّةِ سَاعَةٍ.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Express purpose with </a:t>
            </a:r>
            <a:pPr algn="l" indent="0" marL="0">
              <a:buNone/>
            </a:pPr>
            <a:r>
              <a:rPr lang="ar-SA" altLang="en-US" sz="1650" b="1" dirty="0">
                <a:solidFill>
                  <a:srgbClr val="1B3B6F"/>
                </a:solidFill>
                <a:latin typeface="Amiri" pitchFamily="34" charset="0"/>
                <a:ea typeface="Amiri" pitchFamily="34" charset="-122"/>
                <a:cs typeface="Amiri" pitchFamily="34" charset="-120"/>
              </a:rPr>
              <a:t>لِكَيْ / حَتَّى</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لِكَيْ</a:t>
            </a:r>
            <a:pPr algn="l" indent="0" marL="0">
              <a:buNone/>
            </a:pPr>
            <a:r>
              <a:rPr lang="en-US" sz="1050" dirty="0">
                <a:solidFill>
                  <a:srgbClr val="5A6472"/>
                </a:solidFill>
                <a:latin typeface="Calibri" pitchFamily="34" charset="0"/>
                <a:ea typeface="Calibri" pitchFamily="34" charset="-122"/>
                <a:cs typeface="Calibri" pitchFamily="34" charset="-120"/>
              </a:rPr>
              <a:t> + subjunctive · </a:t>
            </a:r>
            <a:pPr algn="l" indent="0" marL="0">
              <a:buNone/>
            </a:pPr>
            <a:r>
              <a:rPr lang="ar-SA" altLang="en-US" sz="1350" dirty="0">
                <a:solidFill>
                  <a:srgbClr val="5A6472"/>
                </a:solidFill>
                <a:latin typeface="Amiri" pitchFamily="34" charset="0"/>
                <a:ea typeface="Amiri" pitchFamily="34" charset="-122"/>
                <a:cs typeface="Amiri" pitchFamily="34" charset="-120"/>
              </a:rPr>
              <a:t>حَتَّى</a:t>
            </a:r>
            <a:pPr algn="l" indent="0" marL="0">
              <a:buNone/>
            </a:pPr>
            <a:r>
              <a:rPr lang="en-US" sz="1050" dirty="0">
                <a:solidFill>
                  <a:srgbClr val="5A6472"/>
                </a:solidFill>
                <a:latin typeface="Calibri" pitchFamily="34" charset="0"/>
                <a:ea typeface="Calibri" pitchFamily="34" charset="-122"/>
                <a:cs typeface="Calibri" pitchFamily="34" charset="-120"/>
              </a:rPr>
              <a:t> + subjunctive</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أُرَاجِعُ لِكَيْ أَفْهَمَ الدَّرْسَ.   ·   أُحَضِّرُ حَقِيبَتِي حَتَّى لَا أَتَأَخَّرَ.</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return home”.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أُرَاجِعُ البَيْتَ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يَرْجِعُ إِلَى البَيْتِ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أَرْجِعُ إِلَى البَيْتِ</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2" name="Text 29"/>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أُسَاعِدُ أُمِّي، فَأَنَا أُسَاعِدُ ___.</a:t>
            </a:r>
            <a:endParaRPr lang="ar-SA" sz="150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هَا</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هُمْ</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“his bag”.</a:t>
            </a:r>
            <a:endParaRPr lang="en-US" sz="12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حَقِيبَتُهَا</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حَقِيبَتُهُ</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حَقِيبَتِي</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answers “for how long?”</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لِمُدَّةِ سَاعَةٍ</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السَّاعَةِ</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بَعْدَ السَّاعَةِ</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return home”.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أُرَاجِعُ البَيْتَ</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يَرْجِعُ إِلَى البَيْتِ</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أَرْجِعُ إِلَى البَيْتِ</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أَرْجِعُ</a:t>
            </a:r>
            <a:pPr algn="l" indent="0" marL="0">
              <a:buNone/>
            </a:pPr>
            <a:r>
              <a:rPr lang="en-US" sz="1050" i="1" dirty="0">
                <a:solidFill>
                  <a:srgbClr val="8A6D1E"/>
                </a:solidFill>
                <a:latin typeface="Calibri" pitchFamily="34" charset="0"/>
                <a:ea typeface="Calibri" pitchFamily="34" charset="-122"/>
                <a:cs typeface="Calibri" pitchFamily="34" charset="-120"/>
              </a:rPr>
              <a:t> = I return.</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أُسَاعِدُ أُمِّي، فَأَنَا أُسَاعِدُ ___.</a:t>
            </a:r>
            <a:endParaRPr lang="ar-SA" sz="150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هَا</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هُمْ</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object is feminine singular.</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“his bag”.</a:t>
            </a:r>
            <a:endParaRPr lang="en-US" sz="12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حَقِيبَتُهَا</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حَقِيبَتُهُ</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حَقِيبَتِي</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ـهُ</a:t>
            </a:r>
            <a:pPr algn="l" indent="0" marL="0">
              <a:buNone/>
            </a:pPr>
            <a:r>
              <a:rPr lang="en-US" sz="1050" i="1" dirty="0">
                <a:solidFill>
                  <a:srgbClr val="8A6D1E"/>
                </a:solidFill>
                <a:latin typeface="Calibri" pitchFamily="34" charset="0"/>
                <a:ea typeface="Calibri" pitchFamily="34" charset="-122"/>
                <a:cs typeface="Calibri" pitchFamily="34" charset="-120"/>
              </a:rPr>
              <a:t> means his.</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answers “for how long?”</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لِمُدَّةِ سَاعَةٍ</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السَّاعَةِ</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بَعْدَ السَّاعَةِ</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لِمُدَّةِ</a:t>
            </a:r>
            <a:pPr algn="l" indent="0" marL="0">
              <a:buNone/>
            </a:pPr>
            <a:r>
              <a:rPr lang="en-US" sz="1050" i="1" dirty="0">
                <a:solidFill>
                  <a:srgbClr val="8A6D1E"/>
                </a:solidFill>
                <a:latin typeface="Calibri" pitchFamily="34" charset="0"/>
                <a:ea typeface="Calibri" pitchFamily="34" charset="-122"/>
                <a:cs typeface="Calibri" pitchFamily="34" charset="-120"/>
              </a:rPr>
              <a:t> expresses duration.</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ea typeface="Cambria" pitchFamily="34" charset="-122"/>
                <a:cs typeface="Cambria" pitchFamily="34" charset="-120"/>
              </a:rPr>
              <a:t>Watch me build my evening in three phases</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1 · Arrive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أَرْجِعُ إِلَى البَيْتِ فِي الرَّابِعَةِ إِلَّا الرُّبْعَ.</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Exact time anchors the routine.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2 · Rest</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34" charset="0"/>
                <a:ea typeface="Amiri" pitchFamily="34" charset="-122"/>
                <a:cs typeface="Amiri" pitchFamily="34" charset="-120"/>
              </a:rPr>
              <a:t>أَسْتَرِيحُ </a:t>
            </a:r>
            <a:pPr rtl="1" algn="ctr" indent="0" marL="0">
              <a:buNone/>
            </a:pPr>
            <a:r>
              <a:rPr lang="ar-SA" altLang="en-US" sz="2300" b="1" dirty="0">
                <a:solidFill>
                  <a:srgbClr val="0E7C86"/>
                </a:solidFill>
                <a:latin typeface="Amiri" pitchFamily="34" charset="0"/>
                <a:ea typeface="Amiri" pitchFamily="34" charset="-122"/>
                <a:cs typeface="Amiri" pitchFamily="34" charset="-120"/>
              </a:rPr>
              <a:t>لِمُدَّةِ</a:t>
            </a:r>
            <a:pPr rtl="1" algn="ctr" indent="0" marL="0">
              <a:buNone/>
            </a:pPr>
            <a:r>
              <a:rPr lang="ar-SA" altLang="en-US" sz="2300" b="1" dirty="0">
                <a:solidFill>
                  <a:srgbClr val="1B3B6F"/>
                </a:solidFill>
                <a:latin typeface="Amiri" pitchFamily="34" charset="0"/>
                <a:ea typeface="Amiri" pitchFamily="34" charset="-122"/>
                <a:cs typeface="Amiri" pitchFamily="34" charset="-120"/>
              </a:rPr>
              <a:t> نِصْفِ سَاعَةٍ.</a:t>
            </a:r>
            <a:endParaRPr lang="ar-SA" sz="23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For how long? → </a:t>
            </a:r>
            <a:pPr algn="l" indent="0" marL="0">
              <a:buNone/>
            </a:pPr>
            <a:r>
              <a:rPr lang="ar-SA" altLang="en-US" sz="1500" dirty="0">
                <a:solidFill>
                  <a:srgbClr val="1F2A37"/>
                </a:solidFill>
                <a:latin typeface="Amiri" pitchFamily="34" charset="0"/>
                <a:ea typeface="Amiri" pitchFamily="34" charset="-122"/>
                <a:cs typeface="Amiri" pitchFamily="34" charset="-120"/>
              </a:rPr>
              <a:t>لِمُدَّةِ</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3 · Jobs</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أُسَاعِدُ أُمِّي، أُسَاعِدُ</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هَا</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فِي المَطْبَخِ.</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Mother → her → </a:t>
            </a:r>
            <a:pPr algn="l" indent="0" marL="0">
              <a:buNone/>
            </a:pPr>
            <a:r>
              <a:rPr lang="ar-SA" altLang="en-US" sz="1500" dirty="0">
                <a:solidFill>
                  <a:srgbClr val="1F2A37"/>
                </a:solidFill>
                <a:latin typeface="Amiri" pitchFamily="34" charset="0"/>
                <a:ea typeface="Amiri" pitchFamily="34" charset="-122"/>
                <a:cs typeface="Amiri" pitchFamily="34" charset="-120"/>
              </a:rPr>
              <a:t>ـهَا</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4 · Prepare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أُحَضِّرُ حَقِيبَتِ</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ي</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a:t>
            </a:r>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حَتَّى</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لَا أَنْسَى كُتُبِي.</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Purpose + fatḥa ending.</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HOW LONG</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SUFFIX</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PURPOSE</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أَرْجِعُ إِلَى البَيْتِ فِي الرَّابِعَةِ إِلَّا الرُّبْعَ، وَأَسْتَرِيحُ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لِمُدَّةِ</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نِصْفِ سَاعَةٍ. ثُمَّ أُرَاجِعُ دُرُوسِ</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ي</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لِمُدَّةِ</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سَاعَةٍ. بَعْدَ العَشَاءِ أُسَاعِدُ أُمِّي؛ أُسَاعِدُ</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هَا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فِي المَطْبَخِ. قَبْلَ النَّوْمِ أُحَضِّرُ حَقِيبَتِ</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ي</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حَتَّى</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لَا أَنْسَى كُتُبِي.</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I return home at quarter to four, and I rest for half an hour. Then I revise my lessons for an hour. After dinner I help my mother; I help her in the kitchen. Before sleep I prepare my bag so that I do not forget my books.</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أَرْجِعُ إِلَى البَيْتِ فِي الرَّابِعَةِ إِلَّا الرُّبْعَ.</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return home at quarter to four.</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Exact time anchors the routine.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أُسَاعِدُهَا فِي المَطْبَخِ.</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help her in the kitchen.</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Object suffix after the verb.</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أَتَمَرَّنُ لِمُدَّةِ سَاعَةٍ.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train for an hour.</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Duration, not clock time.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أُحَضِّرُ حَقِيبَتِي حَتَّى لَا أَنْسَى كُتُبِي.</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prepare my bag so I do not forget my books.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Purpose + subjunctive.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AFTER SCHOOL AND EVENING ROUTINE”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My day: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مَشْهَدُ الرُّوتِينِ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school</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study in the afternoon</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night</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أَنَامُ لَيْلًا.</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أَذْهَبُ إِلَى المَدْرَسَةِ.</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أَدْرُسُ بَعْدَ المَدْرَسَةِ.</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مَشْهَدُ الرُّوتِينِ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school</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أَذْهَبُ إِلَى المَدْرَسَةِ.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go to school.</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study in the afternoon</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أَدْرُسُ بَعْدَ المَدْرَسَةِ.</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study after school.</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night</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أَنَامُ لَيْلًا.</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sleep at night.</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Evening control 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أُغَيِّرُ مَلَابِسِي</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أَتَنَاوَلُ وَجْبَةً خَفِيفَةً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أُكْمِلُ وَاجِبِي</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أُسَاعِدُ أُسْرَتِي</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أُحَضِّرُ حَقِيبَتِي</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أَضْبِطُ المُنَبِّهَ</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أَقْرَأُ قَبْلَ النَّوْمِ</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أُرَتِّبُ غُرْفَتِي</a:t>
            </a:r>
            <a:endParaRPr lang="ar-SA" sz="1800" dirty="0"/>
          </a:p>
        </p:txBody>
      </p:sp>
      <p:sp>
        <p:nvSpPr>
          <p:cNvPr id="31" name="Shape 28"/>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Arrival and recovery</a:t>
            </a:r>
            <a:endParaRPr lang="en-US" sz="950" dirty="0"/>
          </a:p>
        </p:txBody>
      </p:sp>
      <p:sp>
        <p:nvSpPr>
          <p:cNvPr id="34" name="Shape 31"/>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Responsibilities</a:t>
            </a:r>
            <a:endParaRPr lang="en-US" sz="950" dirty="0"/>
          </a:p>
        </p:txBody>
      </p:sp>
      <p:sp>
        <p:nvSpPr>
          <p:cNvPr id="37" name="Shape 34"/>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8" name="Shape 35"/>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Preparation and rest</a:t>
            </a:r>
            <a:endParaRPr lang="en-US" sz="9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Arrival and recovery</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أُغَيِّرُ مَلَابِسِي</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أَتَنَاوَلُ وَجْبَةً خَفِيفَةً</a:t>
            </a:r>
            <a:endParaRPr lang="ar-SA" sz="1800" dirty="0"/>
          </a:p>
        </p:txBody>
      </p:sp>
      <p:sp>
        <p:nvSpPr>
          <p:cNvPr id="22" name="Shape 19"/>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3" name="Shape 20"/>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4" name="Text 21"/>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Responsibilities</a:t>
            </a:r>
            <a:endParaRPr lang="en-US" sz="950" dirty="0"/>
          </a:p>
        </p:txBody>
      </p:sp>
      <p:sp>
        <p:nvSpPr>
          <p:cNvPr id="25" name="Shape 22"/>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أُكْمِلُ وَاجِبِي</a:t>
            </a:r>
            <a:endParaRPr lang="ar-SA" sz="1800" dirty="0"/>
          </a:p>
        </p:txBody>
      </p:sp>
      <p:sp>
        <p:nvSpPr>
          <p:cNvPr id="27" name="Shape 24"/>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أُسَاعِدُ أُسْرَتِي</a:t>
            </a:r>
            <a:endParaRPr lang="ar-SA" sz="1800" dirty="0"/>
          </a:p>
        </p:txBody>
      </p:sp>
      <p:sp>
        <p:nvSpPr>
          <p:cNvPr id="29" name="Shape 26"/>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أُرَتِّبُ غُرْفَتِي</a:t>
            </a:r>
            <a:endParaRPr lang="ar-SA" sz="1800" dirty="0"/>
          </a:p>
        </p:txBody>
      </p:sp>
      <p:sp>
        <p:nvSpPr>
          <p:cNvPr id="31" name="Shape 28"/>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2" name="Shape 29"/>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Preparation and rest</a:t>
            </a:r>
            <a:endParaRPr lang="en-US" sz="950" dirty="0"/>
          </a:p>
        </p:txBody>
      </p:sp>
      <p:sp>
        <p:nvSpPr>
          <p:cNvPr id="34" name="Shape 31"/>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أُحَضِّرُ حَقِيبَتِي</a:t>
            </a:r>
            <a:endParaRPr lang="ar-SA" sz="1800" dirty="0"/>
          </a:p>
        </p:txBody>
      </p:sp>
      <p:sp>
        <p:nvSpPr>
          <p:cNvPr id="36" name="Shape 33"/>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أَضْبِطُ المُنَبِّهَ</a:t>
            </a:r>
            <a:endParaRPr lang="ar-SA" sz="1800" dirty="0"/>
          </a:p>
        </p:txBody>
      </p:sp>
      <p:sp>
        <p:nvSpPr>
          <p:cNvPr id="38" name="Shape 35"/>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أَقْرَأُ قَبْلَ النَّوْمِ</a:t>
            </a:r>
            <a:endParaRPr lang="ar-SA" sz="18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2,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revise my lessons”.</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أَرْجِعُ دُرُوسِي</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أُرَاجِعُ دُرُوسُهُ</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أُرَاجِعُ دُرُوسِي</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أُحَضِّرُ حَقِيبَتِي لِكَيْ لَا ___.</a:t>
            </a:r>
            <a:endParaRPr lang="ar-SA" sz="150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أَتَأَخَّرُ</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أَتَأَخَّرَ</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تَأَخَّرْتُ</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coherent evening sequence.</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أُكْمِلُ وَاجِبِي قَبْلَ أَنْ أَرْجِعَ مِنَ المَدْرَسَةِ.</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أَرْجِعُ، ثُمَّ أَسْتَرِيحُ، وَبَعْدَ ذٰلِكَ أُكْمِلُ وَاجِبِي.</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أَذْهَبُ إِلَى الفِرَاشِ أَوَّلًا فِي المَدْرَسَةِ.</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أُخْتِي يُحَضِّرُ حَقِيبَتُهُ.</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أُخْتِي أُحَضِّرُ حَقِيبَتِي.</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أُخْتِي تُحَضِّرُ حَقِيبَتَهَا.</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revise my lessons”.</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أَرْجِعُ دُرُوسِي</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أُرَاجِعُ دُرُوسُهُ</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أُرَاجِعُ دُرُوسِي</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أُرَاجِعُ</a:t>
            </a:r>
            <a:pPr algn="l" indent="0" marL="0">
              <a:buNone/>
            </a:pPr>
            <a:r>
              <a:rPr lang="en-US" sz="1050" i="1" dirty="0">
                <a:solidFill>
                  <a:srgbClr val="8A6D1E"/>
                </a:solidFill>
                <a:latin typeface="Calibri" pitchFamily="34" charset="0"/>
                <a:ea typeface="Calibri" pitchFamily="34" charset="-122"/>
                <a:cs typeface="Calibri" pitchFamily="34" charset="-120"/>
              </a:rPr>
              <a:t> means I revise; </a:t>
            </a:r>
            <a:pPr algn="l" indent="0" marL="0">
              <a:buNone/>
            </a:pPr>
            <a:r>
              <a:rPr lang="ar-SA" altLang="en-US" sz="1350" dirty="0">
                <a:solidFill>
                  <a:srgbClr val="8A6D1E"/>
                </a:solidFill>
                <a:latin typeface="Amiri" pitchFamily="34" charset="0"/>
                <a:ea typeface="Amiri" pitchFamily="34" charset="-122"/>
                <a:cs typeface="Amiri" pitchFamily="34" charset="-120"/>
              </a:rPr>
              <a:t>دُرُوسِي</a:t>
            </a:r>
            <a:pPr algn="l" indent="0" marL="0">
              <a:buNone/>
            </a:pPr>
            <a:r>
              <a:rPr lang="en-US" sz="1050" i="1" dirty="0">
                <a:solidFill>
                  <a:srgbClr val="8A6D1E"/>
                </a:solidFill>
                <a:latin typeface="Calibri" pitchFamily="34" charset="0"/>
                <a:ea typeface="Calibri" pitchFamily="34" charset="-122"/>
                <a:cs typeface="Calibri" pitchFamily="34" charset="-120"/>
              </a:rPr>
              <a:t> means my lessons.</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أُحَضِّرُ حَقِيبَتِي لِكَيْ لَا ___.</a:t>
            </a:r>
            <a:endParaRPr lang="ar-SA" sz="150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أَتَأَخَّرُ</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أَتَأَخَّرَ</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تَأَخَّرْتُ</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the subjunctive after </a:t>
            </a:r>
            <a:pPr algn="l" indent="0" marL="0">
              <a:buNone/>
            </a:pPr>
            <a:r>
              <a:rPr lang="ar-SA" altLang="en-US" sz="1350" dirty="0">
                <a:solidFill>
                  <a:srgbClr val="8A6D1E"/>
                </a:solidFill>
                <a:latin typeface="Amiri" pitchFamily="34" charset="0"/>
                <a:ea typeface="Amiri" pitchFamily="34" charset="-122"/>
                <a:cs typeface="Amiri" pitchFamily="34" charset="-120"/>
              </a:rPr>
              <a:t>لِكَيْ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coherent evening sequence.</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أُكْمِلُ وَاجِبِي قَبْلَ أَنْ أَرْجِعَ مِنَ المَدْرَسَةِ.</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أَرْجِعُ، ثُمَّ أَسْتَرِيحُ، وَبَعْدَ ذٰلِكَ أُكْمِلُ وَاجِبِي.</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أَذْهَبُ إِلَى الفِرَاشِ أَوَّلًا فِي المَدْرَسَةِ.</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correct option gives a logical sequence.</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أُخْتِي يُحَضِّرُ حَقِيبَتُهُ.</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أُخْتِي أُحَضِّرُ حَقِيبَتِي.</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أُخْتِي تُحَضِّرُ حَقِيبَتَهَا.</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feminine subject takes </a:t>
            </a:r>
            <a:pPr algn="l" indent="0" marL="0">
              <a:buNone/>
            </a:pPr>
            <a:r>
              <a:rPr lang="ar-SA" altLang="en-US" sz="1350" dirty="0">
                <a:solidFill>
                  <a:srgbClr val="8A6D1E"/>
                </a:solidFill>
                <a:latin typeface="Amiri" pitchFamily="34" charset="0"/>
                <a:ea typeface="Amiri" pitchFamily="34" charset="-122"/>
                <a:cs typeface="Amiri" pitchFamily="34" charset="-120"/>
              </a:rPr>
              <a:t>تُـ</a:t>
            </a:r>
            <a:pPr algn="l" indent="0" marL="0">
              <a:buNone/>
            </a:pPr>
            <a:r>
              <a:rPr lang="en-US" sz="1050" i="1" dirty="0">
                <a:solidFill>
                  <a:srgbClr val="8A6D1E"/>
                </a:solidFill>
                <a:latin typeface="Calibri" pitchFamily="34" charset="0"/>
                <a:ea typeface="Calibri" pitchFamily="34" charset="-122"/>
                <a:cs typeface="Calibri" pitchFamily="34" charset="-120"/>
              </a:rPr>
              <a:t> and feminine possession </a:t>
            </a:r>
            <a:pPr algn="l" indent="0" marL="0">
              <a:buNone/>
            </a:pPr>
            <a:r>
              <a:rPr lang="ar-SA" altLang="en-US" sz="1350" dirty="0">
                <a:solidFill>
                  <a:srgbClr val="8A6D1E"/>
                </a:solidFill>
                <a:latin typeface="Amiri" pitchFamily="34" charset="0"/>
                <a:ea typeface="Amiri" pitchFamily="34" charset="-122"/>
                <a:cs typeface="Amiri" pitchFamily="34" charset="-120"/>
              </a:rPr>
              <a:t>ـها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أُرَاجِعُ إِلَى البَيْتِ.</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Returning home or revising?</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أُسَاعِدُهُ أُمِّي.</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ar-SA" altLang="en-US" sz="1700" dirty="0">
                <a:solidFill>
                  <a:srgbClr val="5A6472"/>
                </a:solidFill>
                <a:latin typeface="Amiri" pitchFamily="34" charset="0"/>
                <a:ea typeface="Amiri" pitchFamily="34" charset="-122"/>
                <a:cs typeface="Amiri" pitchFamily="34" charset="-120"/>
              </a:rPr>
              <a:t>أُمِّي</a:t>
            </a:r>
            <a:pPr algn="l" indent="0" marL="0">
              <a:buNone/>
            </a:pPr>
            <a:r>
              <a:rPr lang="en-US" sz="1300" i="1" dirty="0">
                <a:solidFill>
                  <a:srgbClr val="5A6472"/>
                </a:solidFill>
                <a:latin typeface="Calibri" pitchFamily="34" charset="0"/>
                <a:ea typeface="Calibri" pitchFamily="34" charset="-122"/>
                <a:cs typeface="Calibri" pitchFamily="34" charset="-120"/>
              </a:rPr>
              <a:t> is female. Which ending?</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لِكَيْ أَسْتَعِدُّ.</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After </a:t>
            </a:r>
            <a:pPr algn="l" indent="0" marL="0">
              <a:buNone/>
            </a:pPr>
            <a:r>
              <a:rPr lang="ar-SA" altLang="en-US" sz="1700" dirty="0">
                <a:solidFill>
                  <a:srgbClr val="5A6472"/>
                </a:solidFill>
                <a:latin typeface="Amiri" pitchFamily="34" charset="0"/>
                <a:ea typeface="Amiri" pitchFamily="34" charset="-122"/>
                <a:cs typeface="Amiri" pitchFamily="34" charset="-120"/>
              </a:rPr>
              <a:t>لِكَيْ</a:t>
            </a:r>
            <a:pPr algn="l" indent="0" marL="0">
              <a:buNone/>
            </a:pPr>
            <a:r>
              <a:rPr lang="en-US" sz="1300" i="1" dirty="0">
                <a:solidFill>
                  <a:srgbClr val="5A6472"/>
                </a:solidFill>
                <a:latin typeface="Calibri" pitchFamily="34" charset="0"/>
                <a:ea typeface="Calibri" pitchFamily="34" charset="-122"/>
                <a:cs typeface="Calibri" pitchFamily="34" charset="-120"/>
              </a:rPr>
              <a:t>, what is the last vowel?</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أُرَاجِعُ إِلَى البَيْتِ.</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أَرْجِعُ إِلَى البَيْتِ.</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أَرْجِعُ</a:t>
            </a:r>
            <a:pPr algn="l" indent="0" marL="0">
              <a:buNone/>
            </a:pPr>
            <a:r>
              <a:rPr lang="en-US" sz="1150" b="1" dirty="0">
                <a:solidFill>
                  <a:srgbClr val="1B3B6F"/>
                </a:solidFill>
                <a:latin typeface="Calibri" pitchFamily="34" charset="0"/>
                <a:ea typeface="Calibri" pitchFamily="34" charset="-122"/>
                <a:cs typeface="Calibri" pitchFamily="34" charset="-120"/>
              </a:rPr>
              <a:t> means return; </a:t>
            </a:r>
            <a:pPr algn="l" indent="0" marL="0">
              <a:buNone/>
            </a:pPr>
            <a:r>
              <a:rPr lang="ar-SA" altLang="en-US" sz="1500" b="1" dirty="0">
                <a:solidFill>
                  <a:srgbClr val="1B3B6F"/>
                </a:solidFill>
                <a:latin typeface="Amiri" pitchFamily="34" charset="0"/>
                <a:ea typeface="Amiri" pitchFamily="34" charset="-122"/>
                <a:cs typeface="Amiri" pitchFamily="34" charset="-120"/>
              </a:rPr>
              <a:t>أُرَاجِعُ</a:t>
            </a:r>
            <a:pPr algn="l" indent="0" marL="0">
              <a:buNone/>
            </a:pPr>
            <a:r>
              <a:rPr lang="en-US" sz="1150" b="1" dirty="0">
                <a:solidFill>
                  <a:srgbClr val="1B3B6F"/>
                </a:solidFill>
                <a:latin typeface="Calibri" pitchFamily="34" charset="0"/>
                <a:ea typeface="Calibri" pitchFamily="34" charset="-122"/>
                <a:cs typeface="Calibri" pitchFamily="34" charset="-120"/>
              </a:rPr>
              <a:t> means revise.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أُسَاعِدُهُ أُمِّي.</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أُسَاعِدُهَا.</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feminine object suffix is </a:t>
            </a:r>
            <a:pPr algn="l" indent="0" marL="0">
              <a:buNone/>
            </a:pPr>
            <a:r>
              <a:rPr lang="ar-SA" altLang="en-US" sz="1500" b="1" dirty="0">
                <a:solidFill>
                  <a:srgbClr val="1B3B6F"/>
                </a:solidFill>
                <a:latin typeface="Amiri" pitchFamily="34" charset="0"/>
                <a:ea typeface="Amiri" pitchFamily="34" charset="-122"/>
                <a:cs typeface="Amiri" pitchFamily="34" charset="-120"/>
              </a:rPr>
              <a:t>ـها</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لِكَيْ أَسْتَعِدُّ.</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لِكَيْ أَسْتَعِدَّ.</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verb is subjunctive after </a:t>
            </a:r>
            <a:pPr algn="l" indent="0" marL="0">
              <a:buNone/>
            </a:pPr>
            <a:r>
              <a:rPr lang="ar-SA" altLang="en-US" sz="1500" b="1" dirty="0">
                <a:solidFill>
                  <a:srgbClr val="1B3B6F"/>
                </a:solidFill>
                <a:latin typeface="Amiri" pitchFamily="34" charset="0"/>
                <a:ea typeface="Amiri" pitchFamily="34" charset="-122"/>
                <a:cs typeface="Amiri" pitchFamily="34" charset="-120"/>
              </a:rPr>
              <a:t>لِكَيْ</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Mariam’s busy evening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Mariam return home?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4:10</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4:30</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5:10</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she do immediately?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starts homework</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goes to bed</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changes clothes and has a snack</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does she rest?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half an hour</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hour</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20 minutes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Whom does she help?</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mother</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sister</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teacher</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she prepare her bag?</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 she can watch television</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 she does not forget her books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because school is closed</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3 and 4.</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الرَّابِعَةِ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عِشْرِينَ دَقِيقَةً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أُمَّهَا</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تَعُودُ مَرْيَمُ إِلَى البَيْتِ فِي الرَّابِعَةِ وَعَشْرِ دَقَائِقَ.</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Mariam returns home at ten past four.</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مُبَاشَرَةً تُغَيِّرُ مَلَابِسَهَا وَتَتَنَاوَلُ وَجْبَةً خَفِيفَةً.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Straight away she changes her clothes and has a snack.</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بَعْدَ ذٰلِكَ تَسْتَرِيحُ لِمُدَّةِ عِشْرِينَ دَقِيقَةً فَقَطْ، لِأَنَّ لَدَيْهَا تَدْرِيبًا فِي الخَامِسَةِ وَالنِّصْفِ.</a:t>
            </a:r>
            <a:endParaRPr lang="ar-SA" sz="18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that she rests for only twenty minutes, because she has training at half past five.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34" charset="0"/>
                <a:ea typeface="Amiri" pitchFamily="34" charset="-122"/>
                <a:cs typeface="Amiri" pitchFamily="34" charset="-120"/>
              </a:rPr>
              <a:t>عِنْدَمَا تَعُودُ مِنَ التَّدْرِيبِ، تُسَاعِدُ أُمَّهَا فِي إِعْدَادِ العَشَاءِ، ثُمَّ تُكْمِلُ وَاجِبَهَا.</a:t>
            </a:r>
            <a:endParaRPr lang="ar-SA" sz="19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When she returns from training, she helps her mother prepare dinner, then finishes her homework.</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قَبْلَ أَنْ تَنَامَ، تُحَضِّرُ حَقِيبَتَهَا حَتَّى لَا تَنْسَى كُتُبَهَا.</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Before she sleeps, she prepares her bag so that she does not forget her books.</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Mariam return home?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4:10</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4:30</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5:10</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فِي الرَّابِعَةِ وَعَشْرِ دَقَائِقَ.</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she do immediately?</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starts homework</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goes to bed</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changes clothes and has a snack</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مُبَاشَرَةً تُغَيِّرُ مَلَابِسَهَا وَتَتَنَاوَلُ وَجْبَةً خَفِيفَةً.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does she rest?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half an hour</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one hour</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20 minutes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لِمُدَّةِ عِشْرِينَ دَقِيقَةً.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Whom does she help?</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her mother</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her sister</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her teacher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تُسَاعِدُ أُمَّهَا.</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she prepare her bag?</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so she can watch television</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so she does not forget her books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because school is closed</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حَتَّى لَا تَنْسَى كُتُبَهَا.</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3 and 4.</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الرَّابِعَةِ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عِشْرِينَ دَقِيقَةً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أُمَّهَا</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ea typeface="Cambria" pitchFamily="34" charset="-122"/>
                <a:cs typeface="Cambria" pitchFamily="34" charset="-120"/>
              </a:rPr>
              <a:t>Explain and justify your after-school routine</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مَتَى تَعُودُ إِلَى البَيْتِ؟ وَمَاذَا تَفْعَلُ مُبَاشَرَةً؟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كَمْ مِنَ الوَقْتِ تَقْضِي فِي الوَاجِبِ؟</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تُسَاعِدُ أُسْرَتَكَ؟</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أَفْضَلُ جُزْءٍ فِي رُوتِينِ المَسَاءِ؟ وَلِمَاذَا؟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أَعُودُ إِلَى البَيْتِ فِي السَّاعَةِ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أُكْمِلُ وَاجِبِي لِمُدَّةِ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lnSpc>
                <a:spcPct val="120000"/>
              </a:lnSpc>
              <a:buNone/>
            </a:pPr>
            <a:r>
              <a:rPr lang="ar-SA" altLang="en-US" sz="1200" b="1" dirty="0">
                <a:solidFill>
                  <a:srgbClr val="1F2A37"/>
                </a:solidFill>
                <a:latin typeface="Amiri" pitchFamily="34" charset="0"/>
                <a:ea typeface="Amiri" pitchFamily="34" charset="-122"/>
                <a:cs typeface="Amiri" pitchFamily="34" charset="-120"/>
              </a:rPr>
              <a:t>أُسَاعِدُ أُمِّي / أَبِي ؛ أُسَاعِدُهَا / أُسَاعِدُهُ فِي ___ .</a:t>
            </a:r>
            <a:endParaRPr lang="ar-SA" sz="12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أَفْضَلُ جُزْءٍ هُوَ ___ لِأَنَّ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مَاذَا تَفْعَلُ عِنْدَمَا تَعُودُ؟</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do you do when you return?</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أُغَيِّرُ مَلَابِسِي وَأَسْتَرِيحُ قَلِيلًا، ثُمَّ أُكْمِلُ وَاجِبِي لِكَيْ أَكُونَ حُرًّا فِي المَسَاءِ.</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I change my clothes and rest a little, then I finish my homework so that I am free in the evening.</a:t>
            </a:r>
            <a:endParaRPr lang="en-US" sz="7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Sequence four evening actions with times.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Three phases: arrive (time), rest (for how long), jobs, dinner, bed. Use the Core frames.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duration, suffixes and a purpose clause.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Add two possessive endings (my room), one object ending (I help her) and a purpose clause.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Evaluate the routine and suggest one realistic improvement.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exact times, six evening verbs, suffixes, duration, purpose and a reasoned opinion.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أُسَاعِدُ أُمِّي؛ أُسَاعِدُهَا فِي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help my mother; I help her in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أُسَاعِدُ أَبِي؛ أُسَاعِدُهُ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help my father; I help him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أَزُورُ جَدِّي وَجَدَّتِي؛ أَزُورُهُمْ يَوْمَ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visit my grandparents; I visit them on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أُرَاجِعُ لِكَيْ أَفْهَمَ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revise so that I understand the lesson.</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أُحَضِّرُ حَقِيبَتِي حَتَّى لَا أَنْسَى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prepare my bag so that I don’t forget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أَرْجِعُ إِلَى البَيْتِ فِي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return home at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أَسْتَرِيحُ لِمُدَّةِ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rest for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ثُمَّ أُرَاجِعُ دُرُوسِي.</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Then I revise my lessons.</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أَتَنَاوَلُ العَشَاءَ فِي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have dinner at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أَذْهَبُ إِلَى الفِرَاشِ فِي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go to bed at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أَرْجِعُ  ·  أُغَيِّرُ مَلَابِسِي  ·  أَسْتَرِيحُ  ·  أُرَاجِعُ دُرُوسِي  ·  أُكْمِلُ وَاجِبِي  ·  أُرَتِّبُ غُرْفَتِي  ·  أَغْسِلُ الأَطْبَاقَ  ·  أُحَضِّرُ حَقِيبَتِي  ·  لِمُدَّةِ  ·  مُبَاشَرَةً  ·  لِكَيْ  ·  حَتَّى لَا</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100–120 words about your after-school and evening routine.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Give exact arrival, dinner and bedtime times.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least six after-school/evening verbs.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Include one object suffix and two possessive suffixes.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duration and purpose accurately.</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Add a comparison or reasoned opinion.</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لِكَيْ أَكُونَ حُرًّا بَعْدَ العَشَاءِ</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so that I am free after dinner</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بَدَلًا مِنَ البَقَاءِ عَلَى هَاتِفِي</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instead of staying on my phone</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وَلَا أَبْدَأُ وَاجِبِي مُبَاشَرَةً</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and I don’t start my homework straight away</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التَّحْضِيرُ المُسْبَقُ يَجْعَلُ الصَّبَاحَ أَسْهَلَ</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preparing in advance makes the morning easier</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يَجْمَعُ بَيْنَ الوَاجِبِ وَالرَّاحَةِ</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it combines homework and rest</a:t>
            </a:r>
            <a:endParaRPr lang="en-US" sz="10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550" dirty="0">
                <a:solidFill>
                  <a:srgbClr val="1F2A37"/>
                </a:solidFill>
                <a:latin typeface="Amiri" pitchFamily="34" charset="0"/>
                <a:ea typeface="Amiri" pitchFamily="34" charset="-122"/>
                <a:cs typeface="Amiri" pitchFamily="34" charset="-120"/>
              </a:rPr>
              <a:t>أَعُودُ إِلَى البَيْتِ فِي الرَّابِعَةِ إِلَّا الرُّبْعَ. أَوَّلًا أُغَيِّرُ مَلَابِسِي وَأَتَنَاوَلُ وَجْبَةً خَفِيفَةً، ثُمَّ أَسْتَرِيحُ لِمُدَّةِ نِصْفِ سَاعَةٍ. بَعْدَ ذٰلِكَ أُرَاجِعُ دُرُوسِي وَأُكْمِلُ وَاجِبِي لِكَيْ أَكُونَ حُرًّا بَعْدَ العَشَاءِ. أُسَاعِدُ أُمِّي فِي المَطْبَخِ، وَأَحْيَانًا أَغْسِلُ الأَطْبَاقَ مَعَ أَخِي. فِي المَسَاءِ أَقْرَأُ أَوْ أَتَحَدَّثُ مَعَ أُسْرَتِي بَدَلًا مِنَ البَقَاءِ عَلَى هَاتِفِي. قَبْلَ أَنْ أَنَامَ أُحَضِّرُ حَقِيبَتِي وَأَضْبِطُ المُنَبِّهَ. فِي رَأْيِي، هٰذَا الرُّوتِينُ مُنَظَّمٌ لِأَنَّهُ يَجْمَعُ بَيْنَ الوَاجِبِ وَالرَّاحَةِ.</a:t>
            </a:r>
            <a:endParaRPr lang="ar-SA" sz="25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 return home at quarter to four. First I change my clothes and have a snack, then I rest for half an hour. After that I revise my lessons and finish my homework so that I am free after dinner. I help my mother in the kitchen, and sometimes I wash the dishes with my brother. In the evening I read or talk with my family instead of staying on my phone. Before I sleep I prepare my bag and set the alarm. In my opinion, this routine is organised because it combines homework and rest.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an exact time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duration with لِمُدَّةِ</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purpose clause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two possessive endings</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evening has three phases in order.</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gave one exact time and one “for how long”.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did not mix up return and revise.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endings match the person (her → </a:t>
            </a:r>
            <a:pPr algn="l" indent="0" marL="0">
              <a:buNone/>
            </a:pPr>
            <a:r>
              <a:rPr lang="ar-SA" altLang="en-US" sz="1700" dirty="0">
                <a:solidFill>
                  <a:srgbClr val="1F2A37"/>
                </a:solidFill>
                <a:latin typeface="Amiri" pitchFamily="34" charset="0"/>
                <a:ea typeface="Amiri" pitchFamily="34" charset="-122"/>
                <a:cs typeface="Amiri" pitchFamily="34" charset="-120"/>
              </a:rPr>
              <a:t>ـهَا</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After </a:t>
            </a:r>
            <a:pPr algn="l" indent="0" marL="0">
              <a:buNone/>
            </a:pPr>
            <a:r>
              <a:rPr lang="ar-SA" altLang="en-US" sz="1700" dirty="0">
                <a:solidFill>
                  <a:srgbClr val="1F2A37"/>
                </a:solidFill>
                <a:latin typeface="Amiri" pitchFamily="34" charset="0"/>
                <a:ea typeface="Amiri" pitchFamily="34" charset="-122"/>
                <a:cs typeface="Amiri" pitchFamily="34" charset="-120"/>
              </a:rPr>
              <a:t>لِكَيْ / حَتَّى</a:t>
            </a:r>
            <a:pPr algn="l" indent="0" marL="0">
              <a:buNone/>
            </a:pPr>
            <a:r>
              <a:rPr lang="en-US" sz="1300" dirty="0">
                <a:solidFill>
                  <a:srgbClr val="1F2A37"/>
                </a:solidFill>
                <a:latin typeface="Calibri" pitchFamily="34" charset="0"/>
                <a:ea typeface="Calibri" pitchFamily="34" charset="-122"/>
                <a:cs typeface="Calibri" pitchFamily="34" charset="-120"/>
              </a:rPr>
              <a:t> my verb ends in fatḥa.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47</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return”.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أَرْجِعُ</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أُرَاجِعُ</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يَرْجِعُ</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help her”.</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أُسَاعِدُهُ</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أُسَاعِدُهَا</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تُسَاعِدُنِي</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لِكَيْ لَا</a:t>
            </a:r>
            <a:pPr algn="l" indent="0" marL="0">
              <a:buNone/>
            </a:pPr>
            <a:r>
              <a:rPr lang="en-US" sz="1250" b="1" dirty="0">
                <a:solidFill>
                  <a:srgbClr val="1B3B6F"/>
                </a:solidFill>
                <a:latin typeface="Calibri" pitchFamily="34" charset="0"/>
                <a:ea typeface="Calibri" pitchFamily="34" charset="-122"/>
                <a:cs typeface="Calibri" pitchFamily="34" charset="-120"/>
              </a:rPr>
              <a:t> ___.</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أَتَأَخَّرَ</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أَتَأَخَّرُ</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تَأَخَّرْتُ</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47</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return”.</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أَرْجِعُ</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أُرَاجِعُ</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يَرْجِعُ</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أَرْجِعُ</a:t>
            </a:r>
            <a:pPr algn="l" indent="0" marL="0">
              <a:buNone/>
            </a:pPr>
            <a:r>
              <a:rPr lang="en-US" sz="1050" i="1" dirty="0">
                <a:solidFill>
                  <a:srgbClr val="8A6D1E"/>
                </a:solidFill>
                <a:latin typeface="Calibri" pitchFamily="34" charset="0"/>
                <a:ea typeface="Calibri" pitchFamily="34" charset="-122"/>
                <a:cs typeface="Calibri" pitchFamily="34" charset="-120"/>
              </a:rPr>
              <a:t> = I return.</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help her”.</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أُسَاعِدُهُ</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أُسَاعِدُهَا</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تُسَاعِدُنِي</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ـها</a:t>
            </a:r>
            <a:pPr algn="l" indent="0" marL="0">
              <a:buNone/>
            </a:pPr>
            <a:r>
              <a:rPr lang="en-US" sz="1050" i="1" dirty="0">
                <a:solidFill>
                  <a:srgbClr val="8A6D1E"/>
                </a:solidFill>
                <a:latin typeface="Calibri" pitchFamily="34" charset="0"/>
                <a:ea typeface="Calibri" pitchFamily="34" charset="-122"/>
                <a:cs typeface="Calibri" pitchFamily="34" charset="-120"/>
              </a:rPr>
              <a:t> is the feminine object suffix.</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لِكَيْ لَا</a:t>
            </a:r>
            <a:pPr algn="l" indent="0" marL="0">
              <a:buNone/>
            </a:pPr>
            <a:r>
              <a:rPr lang="en-US" sz="1250" b="1" dirty="0">
                <a:solidFill>
                  <a:srgbClr val="1B3B6F"/>
                </a:solidFill>
                <a:latin typeface="Calibri" pitchFamily="34" charset="0"/>
                <a:ea typeface="Calibri" pitchFamily="34" charset="-122"/>
                <a:cs typeface="Calibri" pitchFamily="34" charset="-120"/>
              </a:rPr>
              <a:t> ___.</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أَتَأَخَّرَ</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أَتَأَخَّرُ</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تَأَخَّرْتُ</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Subjunctive after </a:t>
            </a:r>
            <a:pPr algn="l" indent="0" marL="0">
              <a:buNone/>
            </a:pPr>
            <a:r>
              <a:rPr lang="ar-SA" altLang="en-US" sz="1350" dirty="0">
                <a:solidFill>
                  <a:srgbClr val="8A6D1E"/>
                </a:solidFill>
                <a:latin typeface="Amiri" pitchFamily="34" charset="0"/>
                <a:ea typeface="Amiri" pitchFamily="34" charset="-122"/>
                <a:cs typeface="Amiri" pitchFamily="34" charset="-120"/>
              </a:rPr>
              <a:t>لِكَيْ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47</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 organised evening</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550" dirty="0">
                <a:solidFill>
                  <a:srgbClr val="1F2A37"/>
                </a:solidFill>
                <a:latin typeface="Amiri" pitchFamily="34" charset="0"/>
                <a:ea typeface="Amiri" pitchFamily="34" charset="-122"/>
                <a:cs typeface="Amiri" pitchFamily="34" charset="-120"/>
              </a:rPr>
              <a:t>أَعُودُ مِنَ المَدْرَسَةِ فِي الثَّالِثَةِ وَالنِّصْفِ، وَلَا أَبْدَأُ وَاجِبِي مُبَاشَرَةً؛ فَأَنَا أَحْتَاجُ إِلَى اِسْتِرَاحَةٍ قَصِيرَةٍ. أَتَنَاوَلُ شَيْئًا خَفِيفًا وَأَتَحَدَّثُ مَعَ أُمِّي، ثُمَّ أُرَاجِعُ دُرُوسِي لِمُدَّةِ سَاعَةٍ. يَوْمَيِ الثُّلَاثَاءِ وَالخَمِيسِ أَذْهَبُ إِلَى النَّادِي، بَيْنَمَا أَبْقَى فِي البَيْتِ فِي بَقِيَّةِ الأَيَّامِ. بَعْدَ العَشَاءِ أُسَاعِدُ أَبِي فِي تَرْتِيبِ المَطْبَخِ. أُحَضِّرُ مَلَابِسِي وَحَقِيبَتِي لَيْلًا لِكَيْ أَخْرُجَ مِنَ البَيْتِ دُونَ عَجَلَةٍ فِي الصَّبَاحِ. فِي رَأْيِي، التَّحْضِيرُ المُسْبَقُ يَجْعَلُ المَسَاءَ أَهْدَأَ وَالصَّبَاحَ أَسْهَلَ.</a:t>
            </a:r>
            <a:endParaRPr lang="ar-SA" sz="255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لَا أَبْدَأُ</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don’t start</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أَحْتَاجُ إِلَى</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need</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اِسْتِرَاحَةٍ قَصِيرَةٍ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short break</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شَيْئًا خَفِيفًا</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something light</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أَبْقَى</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stay</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بَقِيَّةِ الأَيَّامِ</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rest of the days</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تَرْتِيبِ المَطْبَخِ</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tidying the kitchen</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دُونَ عَجَلَةٍ</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without rushing</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التَّحْضِيرُ المُسْبَقُ</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advance preparation</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أَهْدَأَ … أَسْهَلَ</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calmer … easier</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47</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homework not started immediately?</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books are at school</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short rest is needed</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dinner starts at once</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is revision?</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twenty minutes</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 hours</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hour</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On which days is the club attended?</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Tuesday and Thursday</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Monday and Friday</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Saturday only</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Whom does the writer help?</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mother</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father</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friend</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are clothes and bag prepared at night?</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leave without rushing</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miss school</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train longer</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writer’s judgement?</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evening routines are unnecessary</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homework should be avoided</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advance preparation improves evening and morning</a:t>
            </a:r>
            <a:endParaRPr lang="en-US" sz="110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47</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homework not started immediately?</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books are at school</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short rest is needed</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dinner starts at once</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أَحْتَاجُ إِلَى اِسْتِرَاحَةٍ قَصِيرَةٍ.</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is revision?</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twenty minutes</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two hours</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one hour</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لِمُدَّةِ سَاعَةٍ.</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On which days is the club attended?</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Tuesday and Thursday</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Monday and Friday</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Saturday only</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يَوْمَيِ الثُّلَاثَاءِ وَالخَمِيسِ.</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Whom does the writer help?</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mother</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father</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friend</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أُسَاعِدُ أَبِي.</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are clothes and bag prepared at night?</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to leave without rushing</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miss school</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train longer</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لِكَيْ أَخْرُجَ ... دُونَ عَجَلَةٍ.</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writer’s judgement?</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evening routines are unnecessary</a:t>
            </a:r>
            <a:endParaRPr lang="en-US" sz="11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homework should be avoided</a:t>
            </a:r>
            <a:endParaRPr lang="en-US" sz="11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ea typeface="Calibri" pitchFamily="34" charset="-122"/>
                <a:cs typeface="Calibri" pitchFamily="34" charset="-120"/>
              </a:rPr>
              <a:t>advance preparation improves evening and morning</a:t>
            </a:r>
            <a:endParaRPr lang="en-US" sz="110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final sentence evaluates the benefit.</a:t>
            </a:r>
            <a:endParaRPr lang="en-US" sz="10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47</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Evening routine Arabic challenge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Arabic for “I prepare my school bag.”</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أُحَضِّرُ حَقِيبَتَهُ.</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أُحَضِّرُ حَقِيبَتِي.</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تُحَضِّرُ حَقِيبَتَهَا.</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Arabic for “I help her in the kitchen.”</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أُسَاعِدُهَا فِي المَطْبَخِ.</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أُسَاعِدُهُ فِي المَطْبَخِ.</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تُسَاعِدُنِي فِي المَطْبَخِ.</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أَسْتَرِيحُ لِمُدَّةِ ___.</a:t>
            </a:r>
            <a:endParaRPr lang="ar-SA" sz="150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النِّصْفُ سَاعَةٌ</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السَّاعَةِ نِصْفٌ</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نِصْفِ سَاعَةٍ</a:t>
            </a:r>
            <a:endParaRPr lang="ar-SA" sz="2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purpose sentence:</a:t>
            </a:r>
            <a:endParaRPr lang="en-US" sz="1200" dirty="0"/>
          </a:p>
        </p:txBody>
      </p:sp>
      <p:sp>
        <p:nvSpPr>
          <p:cNvPr id="61" name="Text 58"/>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أُرَاجِعُ دُرُوسِي لِكَيْ ___.</a:t>
            </a:r>
            <a:endParaRPr lang="ar-SA" sz="1500" dirty="0"/>
          </a:p>
        </p:txBody>
      </p:sp>
      <p:sp>
        <p:nvSpPr>
          <p:cNvPr id="62" name="Shape 59"/>
          <p:cNvSpPr/>
          <p:nvPr/>
        </p:nvSpPr>
        <p:spPr>
          <a:xfrm>
            <a:off x="640080"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4" name="Text 61"/>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أَفْهَمُهَا</a:t>
            </a:r>
            <a:endParaRPr lang="ar-SA" sz="2050" dirty="0"/>
          </a:p>
        </p:txBody>
      </p:sp>
      <p:sp>
        <p:nvSpPr>
          <p:cNvPr id="65" name="Shape 62"/>
          <p:cNvSpPr/>
          <p:nvPr/>
        </p:nvSpPr>
        <p:spPr>
          <a:xfrm>
            <a:off x="640080"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يَفْهَمَهَا</a:t>
            </a:r>
            <a:endParaRPr lang="ar-SA" sz="2050" dirty="0"/>
          </a:p>
        </p:txBody>
      </p:sp>
      <p:sp>
        <p:nvSpPr>
          <p:cNvPr id="68" name="Shape 65"/>
          <p:cNvSpPr/>
          <p:nvPr/>
        </p:nvSpPr>
        <p:spPr>
          <a:xfrm>
            <a:off x="640080"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0" name="Text 67"/>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أَفْهَمَهَا</a:t>
            </a:r>
            <a:endParaRPr lang="ar-SA" sz="2050" dirty="0"/>
          </a:p>
        </p:txBody>
      </p:sp>
      <p:sp>
        <p:nvSpPr>
          <p:cNvPr id="71" name="Shape 6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404360" y="4288536"/>
            <a:ext cx="310896" cy="310896"/>
          </a:xfrm>
          <a:prstGeom prst="ellipse">
            <a:avLst/>
          </a:prstGeom>
          <a:solidFill>
            <a:srgbClr val="1B3B6F"/>
          </a:solidFill>
          <a:ln w="12700">
            <a:solidFill>
              <a:srgbClr val="1B3B6F"/>
            </a:solidFill>
            <a:prstDash val="solid"/>
          </a:ln>
        </p:spPr>
      </p:sp>
      <p:sp>
        <p:nvSpPr>
          <p:cNvPr id="73" name="Text 7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4" name="Text 71"/>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strongest purposeful routine sentence.</a:t>
            </a:r>
            <a:endParaRPr lang="en-US" sz="1250" dirty="0"/>
          </a:p>
        </p:txBody>
      </p:sp>
      <p:sp>
        <p:nvSpPr>
          <p:cNvPr id="75" name="Shape 72"/>
          <p:cNvSpPr/>
          <p:nvPr/>
        </p:nvSpPr>
        <p:spPr>
          <a:xfrm>
            <a:off x="4459224" y="48737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7" name="Text 74"/>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أُحَضِّرُ حَقِيبَتِي حَتَّى لَا أَنْسَى كُتُبِي.</a:t>
            </a:r>
            <a:endParaRPr lang="ar-SA" sz="2000" dirty="0"/>
          </a:p>
        </p:txBody>
      </p:sp>
      <p:sp>
        <p:nvSpPr>
          <p:cNvPr id="78" name="Shape 75"/>
          <p:cNvSpPr/>
          <p:nvPr/>
        </p:nvSpPr>
        <p:spPr>
          <a:xfrm>
            <a:off x="4459224" y="53309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0" name="Text 77"/>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حَقِيبَتِي حَتَّى الكُتُبُ.</a:t>
            </a:r>
            <a:endParaRPr lang="ar-SA" sz="2000" dirty="0"/>
          </a:p>
        </p:txBody>
      </p:sp>
      <p:sp>
        <p:nvSpPr>
          <p:cNvPr id="81" name="Shape 78"/>
          <p:cNvSpPr/>
          <p:nvPr/>
        </p:nvSpPr>
        <p:spPr>
          <a:xfrm>
            <a:off x="4459224" y="5788152"/>
            <a:ext cx="256032" cy="256032"/>
          </a:xfrm>
          <a:prstGeom prst="ellipse">
            <a:avLst/>
          </a:prstGeom>
          <a:solidFill>
            <a:srgbClr val="F4F1EA"/>
          </a:solidFill>
          <a:ln w="12700">
            <a:solidFill>
              <a:srgbClr val="F4F1EA"/>
            </a:solidFill>
            <a:prstDash val="solid"/>
          </a:ln>
        </p:spPr>
      </p:sp>
      <p:sp>
        <p:nvSpPr>
          <p:cNvPr id="82" name="Text 79"/>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3" name="Text 80"/>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أَنْسَى حَقِيبَتِي لِكَيْ.</a:t>
            </a:r>
            <a:endParaRPr lang="ar-SA" sz="2000" dirty="0"/>
          </a:p>
        </p:txBody>
      </p:sp>
      <p:sp>
        <p:nvSpPr>
          <p:cNvPr id="84" name="Shape 81"/>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5" name="Shape 82"/>
          <p:cNvSpPr/>
          <p:nvPr/>
        </p:nvSpPr>
        <p:spPr>
          <a:xfrm>
            <a:off x="8223504" y="4288536"/>
            <a:ext cx="310896" cy="310896"/>
          </a:xfrm>
          <a:prstGeom prst="ellipse">
            <a:avLst/>
          </a:prstGeom>
          <a:solidFill>
            <a:srgbClr val="1B3B6F"/>
          </a:solidFill>
          <a:ln w="12700">
            <a:solidFill>
              <a:srgbClr val="1B3B6F"/>
            </a:solidFill>
            <a:prstDash val="solid"/>
          </a:ln>
        </p:spPr>
      </p:sp>
      <p:sp>
        <p:nvSpPr>
          <p:cNvPr id="86" name="Text 83"/>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7" name="Text 84"/>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Read:</a:t>
            </a:r>
            <a:endParaRPr lang="en-US" sz="1200" dirty="0"/>
          </a:p>
        </p:txBody>
      </p:sp>
      <p:sp>
        <p:nvSpPr>
          <p:cNvPr id="88" name="Text 85"/>
          <p:cNvSpPr txBox="1"/>
          <p:nvPr/>
        </p:nvSpPr>
        <p:spPr>
          <a:xfrm>
            <a:off x="10044989"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عِنْدَمَا أَعُودُ مِنَ المَدْرَسَةِ أُغَيِّرُ مَلَابِسِي، ثُمَّ أَتَنَاوَلُ وَجْبَةً خَفِيفَةً</a:t>
            </a:r>
            <a:pPr algn="l" indent="0" marL="0">
              <a:buNone/>
            </a:pPr>
            <a:r>
              <a:rPr lang="en-US" sz="1000" b="1" dirty="0">
                <a:solidFill>
                  <a:srgbClr val="1F2A37"/>
                </a:solidFill>
                <a:latin typeface="Calibri" pitchFamily="34" charset="0"/>
                <a:ea typeface="Calibri" pitchFamily="34" charset="-122"/>
                <a:cs typeface="Calibri" pitchFamily="34" charset="-120"/>
              </a:rPr>
              <a:t>. What does the speaker do first?</a:t>
            </a:r>
            <a:endParaRPr lang="en-US" sz="1000" dirty="0"/>
          </a:p>
        </p:txBody>
      </p:sp>
      <p:sp>
        <p:nvSpPr>
          <p:cNvPr id="89" name="Shape 86"/>
          <p:cNvSpPr/>
          <p:nvPr/>
        </p:nvSpPr>
        <p:spPr>
          <a:xfrm>
            <a:off x="8278368" y="48737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1" name="Text 88"/>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يَتَنَاوَلُ وَجْبَةً خَفِيفَةً.</a:t>
            </a:r>
            <a:endParaRPr lang="ar-SA" sz="2050" dirty="0"/>
          </a:p>
        </p:txBody>
      </p:sp>
      <p:sp>
        <p:nvSpPr>
          <p:cNvPr id="92" name="Shape 89"/>
          <p:cNvSpPr/>
          <p:nvPr/>
        </p:nvSpPr>
        <p:spPr>
          <a:xfrm>
            <a:off x="8278368" y="53309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4" name="Text 91"/>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يُغَيِّرُ مَلَابِسَهُ.</a:t>
            </a:r>
            <a:endParaRPr lang="ar-SA" sz="2050" dirty="0"/>
          </a:p>
        </p:txBody>
      </p:sp>
      <p:sp>
        <p:nvSpPr>
          <p:cNvPr id="95" name="Shape 92"/>
          <p:cNvSpPr/>
          <p:nvPr/>
        </p:nvSpPr>
        <p:spPr>
          <a:xfrm>
            <a:off x="8278368" y="5788152"/>
            <a:ext cx="256032" cy="256032"/>
          </a:xfrm>
          <a:prstGeom prst="ellipse">
            <a:avLst/>
          </a:prstGeom>
          <a:solidFill>
            <a:srgbClr val="F4F1EA"/>
          </a:solidFill>
          <a:ln w="12700">
            <a:solidFill>
              <a:srgbClr val="F4F1EA"/>
            </a:solidFill>
            <a:prstDash val="solid"/>
          </a:ln>
        </p:spPr>
      </p:sp>
      <p:sp>
        <p:nvSpPr>
          <p:cNvPr id="96" name="Text 93"/>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7" name="Text 94"/>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يُحَضِّرُ حَقِيبَتَهُ.</a:t>
            </a:r>
            <a:endParaRPr lang="ar-SA" sz="20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47</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Arabic for “I prepare my school bag.”</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أُحَضِّرُ حَقِيبَتَهُ.</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أُحَضِّرُ حَقِيبَتِي.</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تُحَضِّرُ حَقِيبَتَهَا.</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suffix </a:t>
            </a:r>
            <a:pPr algn="l" indent="0" marL="0">
              <a:buNone/>
            </a:pPr>
            <a:r>
              <a:rPr lang="ar-SA" altLang="en-US" sz="1350" dirty="0">
                <a:solidFill>
                  <a:srgbClr val="8A6D1E"/>
                </a:solidFill>
                <a:latin typeface="Amiri" pitchFamily="34" charset="0"/>
                <a:ea typeface="Amiri" pitchFamily="34" charset="-122"/>
                <a:cs typeface="Amiri" pitchFamily="34" charset="-120"/>
              </a:rPr>
              <a:t>ـي</a:t>
            </a:r>
            <a:pPr algn="l" indent="0" marL="0">
              <a:buNone/>
            </a:pPr>
            <a:r>
              <a:rPr lang="en-US" sz="1050" i="1" dirty="0">
                <a:solidFill>
                  <a:srgbClr val="8A6D1E"/>
                </a:solidFill>
                <a:latin typeface="Calibri" pitchFamily="34" charset="0"/>
                <a:ea typeface="Calibri" pitchFamily="34" charset="-122"/>
                <a:cs typeface="Calibri" pitchFamily="34" charset="-120"/>
              </a:rPr>
              <a:t> means “my”: </a:t>
            </a:r>
            <a:pPr algn="l" indent="0" marL="0">
              <a:buNone/>
            </a:pPr>
            <a:r>
              <a:rPr lang="ar-SA" altLang="en-US" sz="1350" dirty="0">
                <a:solidFill>
                  <a:srgbClr val="8A6D1E"/>
                </a:solidFill>
                <a:latin typeface="Amiri" pitchFamily="34" charset="0"/>
                <a:ea typeface="Amiri" pitchFamily="34" charset="-122"/>
                <a:cs typeface="Amiri" pitchFamily="34" charset="-120"/>
              </a:rPr>
              <a:t>حَقِيبَتِي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Arabic for “I help her in the kitchen.”</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أُسَاعِدُهَا فِي المَطْبَخِ.</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أُسَاعِدُهُ فِي المَطْبَخِ.</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تُسَاعِدُنِي فِي المَطْبَخِ.</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object suffix </a:t>
            </a:r>
            <a:pPr algn="l" indent="0" marL="0">
              <a:buNone/>
            </a:pPr>
            <a:r>
              <a:rPr lang="ar-SA" altLang="en-US" sz="1350" dirty="0">
                <a:solidFill>
                  <a:srgbClr val="8A6D1E"/>
                </a:solidFill>
                <a:latin typeface="Amiri" pitchFamily="34" charset="0"/>
                <a:ea typeface="Amiri" pitchFamily="34" charset="-122"/>
                <a:cs typeface="Amiri" pitchFamily="34" charset="-120"/>
              </a:rPr>
              <a:t>ـهَا</a:t>
            </a:r>
            <a:pPr algn="l" indent="0" marL="0">
              <a:buNone/>
            </a:pPr>
            <a:r>
              <a:rPr lang="en-US" sz="1050" i="1" dirty="0">
                <a:solidFill>
                  <a:srgbClr val="8A6D1E"/>
                </a:solidFill>
                <a:latin typeface="Calibri" pitchFamily="34" charset="0"/>
                <a:ea typeface="Calibri" pitchFamily="34" charset="-122"/>
                <a:cs typeface="Calibri" pitchFamily="34" charset="-120"/>
              </a:rPr>
              <a:t> means “her”.</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0" name="Text 48"/>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أَسْتَرِيحُ لِمُدَّةِ ___.</a:t>
            </a:r>
            <a:endParaRPr lang="ar-SA" sz="1500" dirty="0"/>
          </a:p>
        </p:txBody>
      </p:sp>
      <p:sp>
        <p:nvSpPr>
          <p:cNvPr id="51" name="Shape 49"/>
          <p:cNvSpPr/>
          <p:nvPr/>
        </p:nvSpPr>
        <p:spPr>
          <a:xfrm>
            <a:off x="8278368" y="2490216"/>
            <a:ext cx="256032" cy="256032"/>
          </a:xfrm>
          <a:prstGeom prst="ellipse">
            <a:avLst/>
          </a:prstGeom>
          <a:solidFill>
            <a:srgbClr val="C9CED6"/>
          </a:solidFill>
          <a:ln w="12700">
            <a:solidFill>
              <a:srgbClr val="C9CED6"/>
            </a:solidFill>
            <a:prstDash val="solid"/>
          </a:ln>
        </p:spPr>
      </p:sp>
      <p:sp>
        <p:nvSpPr>
          <p:cNvPr id="52"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النِّصْفُ سَاعَةٌ</a:t>
            </a:r>
            <a:endParaRPr lang="ar-SA" sz="1700" dirty="0"/>
          </a:p>
        </p:txBody>
      </p:sp>
      <p:sp>
        <p:nvSpPr>
          <p:cNvPr id="54"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5"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6"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السَّاعَةِ نِصْفٌ</a:t>
            </a:r>
            <a:endParaRPr lang="ar-SA" sz="1700" dirty="0"/>
          </a:p>
        </p:txBody>
      </p:sp>
      <p:sp>
        <p:nvSpPr>
          <p:cNvPr id="57" name="Shape 55"/>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8" name="Shape 56"/>
          <p:cNvSpPr/>
          <p:nvPr/>
        </p:nvSpPr>
        <p:spPr>
          <a:xfrm>
            <a:off x="8278368" y="3233928"/>
            <a:ext cx="256032" cy="256032"/>
          </a:xfrm>
          <a:prstGeom prst="ellipse">
            <a:avLst/>
          </a:prstGeom>
          <a:solidFill>
            <a:srgbClr val="2E8B57"/>
          </a:solidFill>
          <a:ln w="12700">
            <a:solidFill>
              <a:srgbClr val="2E8B57"/>
            </a:solidFill>
            <a:prstDash val="solid"/>
          </a:ln>
        </p:spPr>
      </p:sp>
      <p:sp>
        <p:nvSpPr>
          <p:cNvPr id="59"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60"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نِصْفِ سَاعَةٍ</a:t>
            </a:r>
            <a:endParaRPr lang="ar-SA" sz="1700" dirty="0"/>
          </a:p>
        </p:txBody>
      </p:sp>
      <p:sp>
        <p:nvSpPr>
          <p:cNvPr id="61"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لِمُدَّةِ</a:t>
            </a:r>
            <a:pPr algn="l" indent="0" marL="0">
              <a:buNone/>
            </a:pPr>
            <a:r>
              <a:rPr lang="en-US" sz="1050" i="1" dirty="0">
                <a:solidFill>
                  <a:srgbClr val="8A6D1E"/>
                </a:solidFill>
                <a:latin typeface="Calibri" pitchFamily="34" charset="0"/>
                <a:ea typeface="Calibri" pitchFamily="34" charset="-122"/>
                <a:cs typeface="Calibri" pitchFamily="34" charset="-120"/>
              </a:rPr>
              <a:t>, use the time period in the genitive: </a:t>
            </a:r>
            <a:pPr algn="l" indent="0" marL="0">
              <a:buNone/>
            </a:pPr>
            <a:r>
              <a:rPr lang="ar-SA" altLang="en-US" sz="1350" dirty="0">
                <a:solidFill>
                  <a:srgbClr val="8A6D1E"/>
                </a:solidFill>
                <a:latin typeface="Amiri" pitchFamily="34" charset="0"/>
                <a:ea typeface="Amiri" pitchFamily="34" charset="-122"/>
                <a:cs typeface="Amiri" pitchFamily="34" charset="-120"/>
              </a:rPr>
              <a:t>نِصْفِ سَاعَةٍ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2"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3"/>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purpose sentence:</a:t>
            </a:r>
            <a:endParaRPr lang="en-US" sz="1200" dirty="0"/>
          </a:p>
        </p:txBody>
      </p:sp>
      <p:sp>
        <p:nvSpPr>
          <p:cNvPr id="66" name="Text 64"/>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أُرَاجِعُ دُرُوسِي لِكَيْ ___.</a:t>
            </a:r>
            <a:endParaRPr lang="ar-SA" sz="1500" dirty="0"/>
          </a:p>
        </p:txBody>
      </p:sp>
      <p:sp>
        <p:nvSpPr>
          <p:cNvPr id="67" name="Shape 65"/>
          <p:cNvSpPr/>
          <p:nvPr/>
        </p:nvSpPr>
        <p:spPr>
          <a:xfrm>
            <a:off x="640080" y="4831080"/>
            <a:ext cx="256032" cy="256032"/>
          </a:xfrm>
          <a:prstGeom prst="ellipse">
            <a:avLst/>
          </a:prstGeom>
          <a:solidFill>
            <a:srgbClr val="C9CED6"/>
          </a:solidFill>
          <a:ln w="12700">
            <a:solidFill>
              <a:srgbClr val="C9CED6"/>
            </a:solidFill>
            <a:prstDash val="solid"/>
          </a:ln>
        </p:spPr>
      </p:sp>
      <p:sp>
        <p:nvSpPr>
          <p:cNvPr id="68" name="Text 66"/>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7"/>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أَفْهَمُهَا</a:t>
            </a:r>
            <a:endParaRPr lang="ar-SA" sz="1700" dirty="0"/>
          </a:p>
        </p:txBody>
      </p:sp>
      <p:sp>
        <p:nvSpPr>
          <p:cNvPr id="70" name="Shape 68"/>
          <p:cNvSpPr/>
          <p:nvPr/>
        </p:nvSpPr>
        <p:spPr>
          <a:xfrm>
            <a:off x="640080" y="5202936"/>
            <a:ext cx="256032" cy="256032"/>
          </a:xfrm>
          <a:prstGeom prst="ellipse">
            <a:avLst/>
          </a:prstGeom>
          <a:solidFill>
            <a:srgbClr val="C9CED6"/>
          </a:solidFill>
          <a:ln w="12700">
            <a:solidFill>
              <a:srgbClr val="C9CED6"/>
            </a:solidFill>
            <a:prstDash val="solid"/>
          </a:ln>
        </p:spPr>
      </p:sp>
      <p:sp>
        <p:nvSpPr>
          <p:cNvPr id="71" name="Text 69"/>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70"/>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يَفْهَمَهَا</a:t>
            </a:r>
            <a:endParaRPr lang="ar-SA" sz="1700" dirty="0"/>
          </a:p>
        </p:txBody>
      </p:sp>
      <p:sp>
        <p:nvSpPr>
          <p:cNvPr id="73" name="Shape 71"/>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4" name="Shape 72"/>
          <p:cNvSpPr/>
          <p:nvPr/>
        </p:nvSpPr>
        <p:spPr>
          <a:xfrm>
            <a:off x="640080" y="5574792"/>
            <a:ext cx="256032" cy="256032"/>
          </a:xfrm>
          <a:prstGeom prst="ellipse">
            <a:avLst/>
          </a:prstGeom>
          <a:solidFill>
            <a:srgbClr val="2E8B57"/>
          </a:solidFill>
          <a:ln w="12700">
            <a:solidFill>
              <a:srgbClr val="2E8B57"/>
            </a:solidFill>
            <a:prstDash val="solid"/>
          </a:ln>
        </p:spPr>
      </p:sp>
      <p:sp>
        <p:nvSpPr>
          <p:cNvPr id="75" name="Text 7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4"/>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أَفْهَمَهَا</a:t>
            </a:r>
            <a:endParaRPr lang="ar-SA" sz="1700" dirty="0"/>
          </a:p>
        </p:txBody>
      </p:sp>
      <p:sp>
        <p:nvSpPr>
          <p:cNvPr id="77" name="Text 7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لِكَيْ</a:t>
            </a:r>
            <a:pPr algn="l" indent="0" marL="0">
              <a:buNone/>
            </a:pPr>
            <a:r>
              <a:rPr lang="en-US" sz="1050" i="1" dirty="0">
                <a:solidFill>
                  <a:srgbClr val="8A6D1E"/>
                </a:solidFill>
                <a:latin typeface="Calibri" pitchFamily="34" charset="0"/>
                <a:ea typeface="Calibri" pitchFamily="34" charset="-122"/>
                <a:cs typeface="Calibri" pitchFamily="34" charset="-120"/>
              </a:rPr>
              <a:t>, the first-person present verb is subjunctive: </a:t>
            </a:r>
            <a:pPr algn="l" indent="0" marL="0">
              <a:buNone/>
            </a:pPr>
            <a:r>
              <a:rPr lang="ar-SA" altLang="en-US" sz="1350" dirty="0">
                <a:solidFill>
                  <a:srgbClr val="8A6D1E"/>
                </a:solidFill>
                <a:latin typeface="Amiri" pitchFamily="34" charset="0"/>
                <a:ea typeface="Amiri" pitchFamily="34" charset="-122"/>
                <a:cs typeface="Amiri" pitchFamily="34" charset="-120"/>
              </a:rPr>
              <a:t>أَفْهَمَ</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8" name="Shape 7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9" name="Shape 77"/>
          <p:cNvSpPr/>
          <p:nvPr/>
        </p:nvSpPr>
        <p:spPr>
          <a:xfrm>
            <a:off x="4404360" y="4288536"/>
            <a:ext cx="310896" cy="310896"/>
          </a:xfrm>
          <a:prstGeom prst="ellipse">
            <a:avLst/>
          </a:prstGeom>
          <a:solidFill>
            <a:srgbClr val="1B3B6F"/>
          </a:solidFill>
          <a:ln w="12700">
            <a:solidFill>
              <a:srgbClr val="1B3B6F"/>
            </a:solidFill>
            <a:prstDash val="solid"/>
          </a:ln>
        </p:spPr>
      </p:sp>
      <p:sp>
        <p:nvSpPr>
          <p:cNvPr id="80" name="Text 7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1" name="Text 7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strongest purposeful routine sentence.</a:t>
            </a:r>
            <a:endParaRPr lang="en-US" sz="1250" dirty="0"/>
          </a:p>
        </p:txBody>
      </p:sp>
      <p:sp>
        <p:nvSpPr>
          <p:cNvPr id="82" name="Shape 80"/>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3" name="Shape 81"/>
          <p:cNvSpPr/>
          <p:nvPr/>
        </p:nvSpPr>
        <p:spPr>
          <a:xfrm>
            <a:off x="4459224" y="4831080"/>
            <a:ext cx="256032" cy="256032"/>
          </a:xfrm>
          <a:prstGeom prst="ellipse">
            <a:avLst/>
          </a:prstGeom>
          <a:solidFill>
            <a:srgbClr val="2E8B57"/>
          </a:solidFill>
          <a:ln w="12700">
            <a:solidFill>
              <a:srgbClr val="2E8B57"/>
            </a:solidFill>
            <a:prstDash val="solid"/>
          </a:ln>
        </p:spPr>
      </p:sp>
      <p:sp>
        <p:nvSpPr>
          <p:cNvPr id="84" name="Text 82"/>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5" name="Text 83"/>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أُحَضِّرُ حَقِيبَتِي حَتَّى لَا أَنْسَى كُتُبِي.</a:t>
            </a:r>
            <a:endParaRPr lang="ar-SA" sz="1700" dirty="0"/>
          </a:p>
        </p:txBody>
      </p:sp>
      <p:sp>
        <p:nvSpPr>
          <p:cNvPr id="86" name="Shape 84"/>
          <p:cNvSpPr/>
          <p:nvPr/>
        </p:nvSpPr>
        <p:spPr>
          <a:xfrm>
            <a:off x="4459224" y="5202936"/>
            <a:ext cx="256032" cy="256032"/>
          </a:xfrm>
          <a:prstGeom prst="ellipse">
            <a:avLst/>
          </a:prstGeom>
          <a:solidFill>
            <a:srgbClr val="C9CED6"/>
          </a:solidFill>
          <a:ln w="12700">
            <a:solidFill>
              <a:srgbClr val="C9CED6"/>
            </a:solidFill>
            <a:prstDash val="solid"/>
          </a:ln>
        </p:spPr>
      </p:sp>
      <p:sp>
        <p:nvSpPr>
          <p:cNvPr id="87" name="Text 85"/>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8" name="Text 86"/>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حَقِيبَتِي حَتَّى الكُتُبُ.</a:t>
            </a:r>
            <a:endParaRPr lang="ar-SA" sz="1700" dirty="0"/>
          </a:p>
        </p:txBody>
      </p:sp>
      <p:sp>
        <p:nvSpPr>
          <p:cNvPr id="89" name="Shape 87"/>
          <p:cNvSpPr/>
          <p:nvPr/>
        </p:nvSpPr>
        <p:spPr>
          <a:xfrm>
            <a:off x="4459224" y="5574792"/>
            <a:ext cx="256032" cy="256032"/>
          </a:xfrm>
          <a:prstGeom prst="ellipse">
            <a:avLst/>
          </a:prstGeom>
          <a:solidFill>
            <a:srgbClr val="C9CED6"/>
          </a:solidFill>
          <a:ln w="12700">
            <a:solidFill>
              <a:srgbClr val="C9CED6"/>
            </a:solidFill>
            <a:prstDash val="solid"/>
          </a:ln>
        </p:spPr>
      </p:sp>
      <p:sp>
        <p:nvSpPr>
          <p:cNvPr id="90" name="Text 88"/>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1" name="Text 89"/>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أَنْسَى حَقِيبَتِي لِكَيْ.</a:t>
            </a:r>
            <a:endParaRPr lang="ar-SA" sz="1700" dirty="0"/>
          </a:p>
        </p:txBody>
      </p:sp>
      <p:sp>
        <p:nvSpPr>
          <p:cNvPr id="92" name="Text 90"/>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sentence links an action to its purpose and uses a complete clause after </a:t>
            </a:r>
            <a:pPr algn="l" indent="0" marL="0">
              <a:buNone/>
            </a:pPr>
            <a:r>
              <a:rPr lang="ar-SA" altLang="en-US" sz="1350" dirty="0">
                <a:solidFill>
                  <a:srgbClr val="8A6D1E"/>
                </a:solidFill>
                <a:latin typeface="Amiri" pitchFamily="34" charset="0"/>
                <a:ea typeface="Amiri" pitchFamily="34" charset="-122"/>
                <a:cs typeface="Amiri" pitchFamily="34" charset="-120"/>
              </a:rPr>
              <a:t>حَتَّى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3" name="Shape 91"/>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4" name="Shape 92"/>
          <p:cNvSpPr/>
          <p:nvPr/>
        </p:nvSpPr>
        <p:spPr>
          <a:xfrm>
            <a:off x="8223504" y="4288536"/>
            <a:ext cx="310896" cy="310896"/>
          </a:xfrm>
          <a:prstGeom prst="ellipse">
            <a:avLst/>
          </a:prstGeom>
          <a:solidFill>
            <a:srgbClr val="1B3B6F"/>
          </a:solidFill>
          <a:ln w="12700">
            <a:solidFill>
              <a:srgbClr val="1B3B6F"/>
            </a:solidFill>
            <a:prstDash val="solid"/>
          </a:ln>
        </p:spPr>
      </p:sp>
      <p:sp>
        <p:nvSpPr>
          <p:cNvPr id="95" name="Text 93"/>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6" name="Text 94"/>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Read:</a:t>
            </a:r>
            <a:endParaRPr lang="en-US" sz="1200" dirty="0"/>
          </a:p>
        </p:txBody>
      </p:sp>
      <p:sp>
        <p:nvSpPr>
          <p:cNvPr id="97" name="Text 95"/>
          <p:cNvSpPr txBox="1"/>
          <p:nvPr/>
        </p:nvSpPr>
        <p:spPr>
          <a:xfrm>
            <a:off x="10044989"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عِنْدَمَا أَعُودُ مِنَ المَدْرَسَةِ أُغَيِّرُ مَلَابِسِي، ثُمَّ أَتَنَاوَلُ وَجْبَةً خَفِيفَةً</a:t>
            </a:r>
            <a:pPr algn="l" indent="0" marL="0">
              <a:buNone/>
            </a:pPr>
            <a:r>
              <a:rPr lang="en-US" sz="1000" b="1" dirty="0">
                <a:solidFill>
                  <a:srgbClr val="1F2A37"/>
                </a:solidFill>
                <a:latin typeface="Calibri" pitchFamily="34" charset="0"/>
                <a:ea typeface="Calibri" pitchFamily="34" charset="-122"/>
                <a:cs typeface="Calibri" pitchFamily="34" charset="-120"/>
              </a:rPr>
              <a:t>. What does the speaker do first?</a:t>
            </a:r>
            <a:endParaRPr lang="en-US" sz="1000" dirty="0"/>
          </a:p>
        </p:txBody>
      </p:sp>
      <p:sp>
        <p:nvSpPr>
          <p:cNvPr id="98" name="Shape 96"/>
          <p:cNvSpPr/>
          <p:nvPr/>
        </p:nvSpPr>
        <p:spPr>
          <a:xfrm>
            <a:off x="8278368" y="4831080"/>
            <a:ext cx="256032" cy="256032"/>
          </a:xfrm>
          <a:prstGeom prst="ellipse">
            <a:avLst/>
          </a:prstGeom>
          <a:solidFill>
            <a:srgbClr val="C9CED6"/>
          </a:solidFill>
          <a:ln w="12700">
            <a:solidFill>
              <a:srgbClr val="C9CED6"/>
            </a:solidFill>
            <a:prstDash val="solid"/>
          </a:ln>
        </p:spPr>
      </p:sp>
      <p:sp>
        <p:nvSpPr>
          <p:cNvPr id="99" name="Text 97"/>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100" name="Text 98"/>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يَتَنَاوَلُ وَجْبَةً خَفِيفَةً.</a:t>
            </a:r>
            <a:endParaRPr lang="ar-SA" sz="1700" dirty="0"/>
          </a:p>
        </p:txBody>
      </p:sp>
      <p:sp>
        <p:nvSpPr>
          <p:cNvPr id="101" name="Shape 99"/>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2" name="Shape 100"/>
          <p:cNvSpPr/>
          <p:nvPr/>
        </p:nvSpPr>
        <p:spPr>
          <a:xfrm>
            <a:off x="8278368" y="5202936"/>
            <a:ext cx="256032" cy="256032"/>
          </a:xfrm>
          <a:prstGeom prst="ellipse">
            <a:avLst/>
          </a:prstGeom>
          <a:solidFill>
            <a:srgbClr val="2E8B57"/>
          </a:solidFill>
          <a:ln w="12700">
            <a:solidFill>
              <a:srgbClr val="2E8B57"/>
            </a:solidFill>
            <a:prstDash val="solid"/>
          </a:ln>
        </p:spPr>
      </p:sp>
      <p:sp>
        <p:nvSpPr>
          <p:cNvPr id="103" name="Text 101"/>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4" name="Text 102"/>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يُغَيِّرُ مَلَابِسَهُ.</a:t>
            </a:r>
            <a:endParaRPr lang="ar-SA" sz="1700" dirty="0"/>
          </a:p>
        </p:txBody>
      </p:sp>
      <p:sp>
        <p:nvSpPr>
          <p:cNvPr id="105" name="Shape 103"/>
          <p:cNvSpPr/>
          <p:nvPr/>
        </p:nvSpPr>
        <p:spPr>
          <a:xfrm>
            <a:off x="8278368" y="5574792"/>
            <a:ext cx="256032" cy="256032"/>
          </a:xfrm>
          <a:prstGeom prst="ellipse">
            <a:avLst/>
          </a:prstGeom>
          <a:solidFill>
            <a:srgbClr val="C9CED6"/>
          </a:solidFill>
          <a:ln w="12700">
            <a:solidFill>
              <a:srgbClr val="C9CED6"/>
            </a:solidFill>
            <a:prstDash val="solid"/>
          </a:ln>
        </p:spPr>
      </p:sp>
      <p:sp>
        <p:nvSpPr>
          <p:cNvPr id="106" name="Text 104"/>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7" name="Text 105"/>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يُحَضِّرُ حَقِيبَتَهُ.</a:t>
            </a:r>
            <a:endParaRPr lang="ar-SA" sz="1700" dirty="0"/>
          </a:p>
        </p:txBody>
      </p:sp>
      <p:sp>
        <p:nvSpPr>
          <p:cNvPr id="108" name="Text 106"/>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first action after returning is </a:t>
            </a:r>
            <a:pPr algn="l" indent="0" marL="0">
              <a:buNone/>
            </a:pPr>
            <a:r>
              <a:rPr lang="ar-SA" altLang="en-US" sz="1350" dirty="0">
                <a:solidFill>
                  <a:srgbClr val="8A6D1E"/>
                </a:solidFill>
                <a:latin typeface="Amiri" pitchFamily="34" charset="0"/>
                <a:ea typeface="Amiri" pitchFamily="34" charset="-122"/>
                <a:cs typeface="Amiri" pitchFamily="34" charset="-120"/>
              </a:rPr>
              <a:t>أُغَيِّرُ مَلَابِسِي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109"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47</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D1-L06: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D1-L06 · He and She — Describing Someone Else’s Routine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رُوتِينُهُ</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his routine</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رُوتِينُهَا</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her routine</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يَرْجِعُ</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he returns</a:t>
            </a:r>
            <a:pPr indent="0" marL="0">
              <a:buNone/>
            </a:pPr>
            <a:r>
              <a:rPr lang="en-US" sz="1000" i="1" dirty="0">
                <a:solidFill>
                  <a:srgbClr val="5A6472"/>
                </a:solidFill>
                <a:latin typeface="Calibri" pitchFamily="34" charset="0"/>
                <a:ea typeface="Calibri" pitchFamily="34" charset="-122"/>
                <a:cs typeface="Calibri" pitchFamily="34" charset="-120"/>
              </a:rPr>
              <a:t>  she: تَرْجِعُ</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كِلَاهُمَا</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both of them</a:t>
            </a:r>
            <a:pPr indent="0" marL="0">
              <a:buNone/>
            </a:pP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أَبْكَرُ مِنْ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earlier than</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Think of one family member. What time do they wake up, and what do they do in the evening?</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مَتَى يَسْتَيْقِظُ أَخُوكَ أَوْ أُخْتُكَ؟</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D1-L05: the vocabulary tab and the sorter “Evening control room”.</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8 sentences about your evening with two possessive and one object ending.</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100–120 words about your after-school and evening routine.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47</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D1-L05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750" b="1" dirty="0">
                <a:solidFill>
                  <a:srgbClr val="FFFFFF"/>
                </a:solidFill>
                <a:latin typeface="Cambria" pitchFamily="34" charset="0"/>
                <a:ea typeface="Cambria" pitchFamily="34" charset="-122"/>
                <a:cs typeface="Cambria" pitchFamily="34" charset="-120"/>
              </a:rPr>
              <a:t>D1-L06 · He and She — Describing Someone Else’s Routine</a:t>
            </a:r>
            <a:endParaRPr lang="en-US" sz="17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هُوَ وَهِيَ</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noun + ending = whose. Verb + ending = whom.</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D1-L05 · After School and Evening Routine</dc:title>
  <dc:subject>PptxGenJS Presentation</dc:subject>
  <dc:creator>Al Madina Online School · Arabic Department</dc:creator>
  <cp:lastModifiedBy>Al Madina Online School · Arabic Department</cp:lastModifiedBy>
  <cp:revision>1</cp:revision>
  <dcterms:created xsi:type="dcterms:W3CDTF">2026-09-27T11:17:10Z</dcterms:created>
  <dcterms:modified xsi:type="dcterms:W3CDTF">2026-09-27T11:17:10Z</dcterms:modified>
</cp:coreProperties>
</file>