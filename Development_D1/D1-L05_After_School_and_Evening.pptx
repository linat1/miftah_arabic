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D1 Daily Routine and Time › D1-L05. The website lesson “After School and Evening Routine”: vocabulary, grammar rules and quiz, patterns, common mistakes, sorter, listening, reading, speaking prompts and model, writing task and model, differentiation, final check and the lesson mission. Picture match: website visual game “After School and Evening Routine”.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the evening in THREE phases (arrive → jobs → rest) using the vocabulary chunks as they are (أُرَتِّبُ غُرْفَتِي, أُحَضِّرُ حَقِيبَتِي) + one time and one “for half an hour”.
• Develop: change the suffix to talk about someone else (حَقِيبَتُهُ / حَقِيبَتُهَا) and use one object suffix (أُسَاعِدُهَا). Stretch: purpose with لِكَيْ / حَتَّى + the subjunctive from D1-L04, and evaluate the routine.
• The three look-alike verbs (أَرْجِعُ / أُرَاجِعُ / أَسْتَرِيحُ) have their own slide — this is the website’s main warning.
• Urdu bridge: مدت، مطبخ، برنامج، کتاب، مصروف (not in the lesson, but useful for “busy”).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D1-L04 (أَنْ + subjunctive, noun vs verb) and D1-L03 (frequency).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short ending tells you WHOSE (after a noun) or WHOM (after a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مدت (a period — كُچھ مدت) → لِمُدَّةِ (for a period of). مطبخ (kitchen — formal Urdu) → فِي المَطْبَخِ. برنامہ (plan, programme) → بَرْنَامَجًا. کتاب → كِتَابًا. مُبَاشَرَةً has no close Urdu partner — teach it as “straight away” (compare براہ راست =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After school (website vocabulary (1 of 2)). Hear → Say → See → Use. Transliteration is printed for Core students (cover it for Develop/Stretch).
The m/f/we forms on the cards already show the suffix change (مَلَابِسِي → مَلَابِسَهُ → مَلَابِسَهَا). Point to the ending, not the whole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After school (website vocabulary (2 of 2)). Hear → Say → See → Use. Transliteration is printed for Core students (cover it for Develop/Stretch).
The m/f/we forms on the cards already show the suffix change (مَلَابِسِي → مَلَابِسَهُ → مَلَابِسَهَا). Point to the ending, not the whole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Evening routine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Evening routine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Time, duration and purpose (website vocabulary (1 of 2)). Hear → Say → See → Use. Transliteration is printed for Core students (cover it for Develop/Stretch).
FLEX: teach if time allows; otherwise these are on the website vocabulary tab for homework.
لِكَيْ and حَتَّى are followed by a verb in the subjunctive — the same fatḥa ending as after أَنْ in D1-L04.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Time, duration and purpose (website vocabulary (2 of 2)). Hear → Say → See → Use. Transliteration is printed for Core students (cover it for Develop/Stretch).
FLEX: teach if time allows; otherwise these are on the website vocabulary tab for homework.
لِكَيْ and حَتَّى are followed by a verb in the subjunctive — the same fatḥa ending as after أَنْ in D1-L04.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common error: “Do not confuse أُرَاجِعُ ‘I revise’ with أَرْجِعُ ‘I return’.”
Say the three verbs slowly: a-r-ji-ʿu / u-rā-ji-ʿu / as-ta-rī-ḥu. Students mime: walking home (return), reading (revise), head on hands (rest).
Quick-fire: teacher says one; students do the mime. Then reverse: teacher mimes, students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“Attach a possessive suffix to the noun” and “Attach an object suffix to the verb”. Website overview: the same ending shows possession after a noun or the object after a verb; the sentence role tells you which.
Teacher script: “Look at the word BEFORE the ending. Noun → whose. Verb → whom.”
Point out: (1) ة → ت (غُرْفَة → غُرْفَتِي); (2) “me” after a verb is ـنِي (تُسَاعِدُنِي).
Website common error: أُسَاعِدُهُ أُمِّي ✗ → أُسَاعِدُهَا ✓ (my mother is female → ـهَا).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rules “Express duration with لِمُدَّةِ” (answers “for how long?”, not “at what time?”) and “Express purpose with لِكَيْ / حَتَّى” (+ subjunctive).
Link to D1-L04: لِكَيْ and حَتَّى behave like أَنْ — the verb ends in fatḥa. Negative purpose: لِكَيْ لَا / حَتَّى لَا (so that …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“Arabic attaches short pronouns to nouns and verbs. The same ending can show possession after a noun or the object after a verb; the sentence role tells you which meaning is intended.”
• Attach a possessive suffix to the noun: The suffix identifies whose object it is. Notice the tāʾ marbūṭa becomes ت before a suffix.
• Attach an object suffix to the verb: The suffix identifies the person receiving the action.
• Express duration with لِمُدَّةِ: Duration answers “for how long?” rather than “at what time?”.
• Express purpose with لِكَيْ / حَتَّى: The following present verb takes the subjunctive ending.
Website common error: Do not confuse أُرَاجِعُ “I revise” with أَرْجِعُ “I return”. Also keep the correct suffix: أساعدها refers to a female, while أساعده refers to a male.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patterns 1–4 combined into the three phases, with a think-aloud. Students copy it, draw a box round every “for how long” and circle every suffix.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After School and Evening Routine”)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afternoon and night cards). A quick Core warm-up before the evening sorter. Extension: students add a time or a duration to each sentence (e.g. أَدْرُسُ لِمُدَّةِ سَاعَةٍ).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After School and Evening Routine”)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afternoon and night cards). A quick Core warm-up before the evening sorter. Extension: students add a time or a duration to each sentence (e.g. أَدْرُسُ لِمُدَّةِ سَاعَةٍ).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action into the stage where it usually belongs.
Accept reasoned alternatives (e.g. أُرَتِّبُ غُرْفَتِي could be preparation). Ask “why?” — reasons are the Stretch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action into the stage where it usually belongs.
Accept reasoned alternatives (e.g. أُرَتِّبُ غُرْفَتِي could be preparation). Ask “why?” — reasons are the Stretch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تَعُودُ مَرْيَمُ إِلَى البَيْتِ فِي الرَّابِعَةِ وَعَشْرِ دَقَائِقَ. مُبَاشَرَةً تُغَيِّرُ مَلَابِسَهَا وَتَتَنَاوَلُ وَجْبَةً خَفِيفَةً. بَعْدَ ذٰلِكَ تَسْتَرِيحُ لِمُدَّةِ عِشْرِينَ دَقِيقَةً فَقَطْ، لِأَنَّ لَدَيْهَا تَدْرِيبًا فِي الخَامِسَةِ وَالنِّصْفِ. عِنْدَمَا تَعُودُ مِنَ التَّدْرِيبِ، تُسَاعِدُ أُمَّهَا فِي إِعْدَادِ العَشَاءِ، ثُمَّ تُكْمِلُ وَاجِبَهَا. قَبْلَ أَنْ تَنَامَ، تُحَضِّرُ حَقِيبَتَهَا حَتَّى لَا تَنْسَى كُتُبَهَا.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All five prompts are from the website. Prompts 1 and 2 are merged on the slide (Core); Develop answers the two amber prompts; Stretch the last with a reason. Website model: a complete sequence with a purpose clause (لِكَيْ أَكُونَ حُرًّا).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Sequence four evening actions with times. · Develop — Add duration, suffixes and a purpose clause. · Stretch — Evaluate the routine and suggest one realistic improvement.
Website writing task (Stretch): Write 100–120 words about your after-school and evening routine.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فِي الرَّابِعَةِ إِلَّا الرُّبْعَ · لِمُدَّةِ نِصْفِ سَاعَةٍ · لِكَيْ أَكُونَ حُرًّا · مَلَابِسِي، دُرُوسِي، وَاجِبِي، حَقِيبَتِي، أُسْرَتِي. Develop challenge: the model has NO object ending — students add one (أُسَاعِدُهَا فِي المَطْبَخِ).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(D1-L06 · He and She — Describing Someone Else’s Routine) will spend class time USING this language, so students prepare it tonight — short, simple, easy to access (school guidance: “Simple, Short, Interesting, Relevant, Easy to access”). The five words come from the website D1-L06 vocabulary (masculine/feminine forms and comparison).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D1  ·  D1-L05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D1-L05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300" b="1" dirty="0">
                <a:solidFill>
                  <a:srgbClr val="FFFFFF"/>
                </a:solidFill>
                <a:latin typeface="Cambria" pitchFamily="34" charset="0"/>
                <a:ea typeface="Cambria" pitchFamily="34" charset="-122"/>
                <a:cs typeface="Cambria" pitchFamily="34" charset="-120"/>
              </a:rPr>
              <a:t>After School and Evening Routine</a:t>
            </a:r>
            <a:endParaRPr lang="en-US" sz="33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بَعْدَ المَدْرَسَةِ وَرُوتِينُ المَسَاءِ</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the afternoon and evening in three phases, with exact times, duration (</a:t>
            </a:r>
            <a:pPr algn="l" indent="0" marL="0">
              <a:buNone/>
            </a:pPr>
            <a:r>
              <a:rPr lang="ar-SA" altLang="en-US" sz="1800" dirty="0">
                <a:solidFill>
                  <a:srgbClr val="C6D2E6"/>
                </a:solidFill>
                <a:latin typeface="Amiri" pitchFamily="34" charset="0"/>
                <a:ea typeface="Amiri" pitchFamily="34" charset="-122"/>
                <a:cs typeface="Amiri" pitchFamily="34" charset="-120"/>
              </a:rPr>
              <a:t>لِمُدَّةِ</a:t>
            </a:r>
            <a:pPr algn="l" indent="0" marL="0">
              <a:buNone/>
            </a:pPr>
            <a:r>
              <a:rPr lang="en-US" sz="1400" dirty="0">
                <a:solidFill>
                  <a:srgbClr val="C6D2E6"/>
                </a:solidFill>
                <a:latin typeface="Calibri" pitchFamily="34" charset="0"/>
                <a:ea typeface="Calibri" pitchFamily="34" charset="-122"/>
                <a:cs typeface="Calibri" pitchFamily="34" charset="-120"/>
              </a:rPr>
              <a:t>), purpose (</a:t>
            </a:r>
            <a:pPr algn="l" indent="0" marL="0">
              <a:buNone/>
            </a:pPr>
            <a:r>
              <a:rPr lang="ar-SA" altLang="en-US" sz="1800" dirty="0">
                <a:solidFill>
                  <a:srgbClr val="C6D2E6"/>
                </a:solidFill>
                <a:latin typeface="Amiri" pitchFamily="34" charset="0"/>
                <a:ea typeface="Amiri" pitchFamily="34" charset="-122"/>
                <a:cs typeface="Amiri" pitchFamily="34" charset="-120"/>
              </a:rPr>
              <a:t>لِكَيْ / حَتَّى</a:t>
            </a:r>
            <a:pPr algn="l" indent="0" marL="0">
              <a:buNone/>
            </a:pPr>
            <a:r>
              <a:rPr lang="en-US" sz="1400" dirty="0">
                <a:solidFill>
                  <a:srgbClr val="C6D2E6"/>
                </a:solidFill>
                <a:latin typeface="Calibri" pitchFamily="34" charset="0"/>
                <a:ea typeface="Calibri" pitchFamily="34" charset="-122"/>
                <a:cs typeface="Calibri" pitchFamily="34" charset="-120"/>
              </a:rPr>
              <a:t>) and possessive and object suffixes (</a:t>
            </a:r>
            <a:pPr algn="l" indent="0" marL="0">
              <a:buNone/>
            </a:pPr>
            <a:r>
              <a:rPr lang="ar-SA" altLang="en-US" sz="1800" dirty="0">
                <a:solidFill>
                  <a:srgbClr val="C6D2E6"/>
                </a:solidFill>
                <a:latin typeface="Amiri" pitchFamily="34" charset="0"/>
                <a:ea typeface="Amiri" pitchFamily="34" charset="-122"/>
                <a:cs typeface="Amiri" pitchFamily="34" charset="-120"/>
              </a:rPr>
              <a:t>غُرْفَتِي، أُسَاعِدُهَا</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D1-L05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D1 › D1-L05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Three phases of the evening, then the suffixes: whose and whom.</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the evening,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D1-L06.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أُرَتِّبُ غُرْفَتِي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wash the dishes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tidy my room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change my clothes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لِمُدَّةِ نِصْفِ سَاعَةٍ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half an hour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half past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an hour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أَنَامُ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النَّوْمِ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أَنَامَ</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needs no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أَنْ أَعُودَ</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أَخْرُجَ</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العَشَاءِ</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مَرَّتَيْنِ فِي الأُسْبُوعِ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twice a week</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once a day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week</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أُرَتِّبُ غُرْفَتِي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wash the dishes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tidy my room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change my clothes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لِمُدَّةِ نِصْفِ سَاعَةٍ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for half an hour</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half past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after an hour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أَنْ أَنَامُ</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أَنْ النَّوْمِ</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قَبْلَ أَنْ أَنَامَ</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D1-L04: 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ends in fatḥa.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needs no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بَعْدَ أَنْ أَعُودَ</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أَنْ أَخْرُجَ</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بَعْدَ العَشَاءِ</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D1-L04: a noun follows directly.</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مَرَّتَيْنِ فِي الأُسْبُوعِ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twice a week</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once a day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week</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D1-L03 frequency.</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 short ending tells you WHOSE (after a noun) or WHOM (after a verb).</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algn="ctr" indent="0" marL="0">
              <a:buNone/>
            </a:pPr>
            <a:r>
              <a:rPr lang="ar-SA" altLang="en-US" sz="3100" b="1" dirty="0">
                <a:solidFill>
                  <a:srgbClr val="1B3B6F"/>
                </a:solidFill>
                <a:latin typeface="Amiri" pitchFamily="34" charset="0"/>
                <a:ea typeface="Amiri" pitchFamily="34" charset="-122"/>
                <a:cs typeface="Amiri" pitchFamily="34" charset="-120"/>
              </a:rPr>
              <a:t>حَقِيبَتُهَا</a:t>
            </a:r>
            <a:pPr algn="ctr" indent="0" marL="0">
              <a:buNone/>
            </a:pPr>
            <a:r>
              <a:rPr lang="en-US" sz="2400" b="1" dirty="0">
                <a:solidFill>
                  <a:srgbClr val="1B3B6F"/>
                </a:solidFill>
                <a:latin typeface="Calibri" pitchFamily="34" charset="0"/>
                <a:ea typeface="Calibri" pitchFamily="34" charset="-122"/>
                <a:cs typeface="Calibri" pitchFamily="34" charset="-120"/>
              </a:rPr>
              <a:t> = her bag  ·  </a:t>
            </a:r>
            <a:pPr algn="ctr" indent="0" marL="0">
              <a:buNone/>
            </a:pPr>
            <a:r>
              <a:rPr lang="ar-SA" altLang="en-US" sz="3100" b="1" dirty="0">
                <a:solidFill>
                  <a:srgbClr val="1B3B6F"/>
                </a:solidFill>
                <a:latin typeface="Amiri" pitchFamily="34" charset="0"/>
                <a:ea typeface="Amiri" pitchFamily="34" charset="-122"/>
                <a:cs typeface="Amiri" pitchFamily="34" charset="-120"/>
              </a:rPr>
              <a:t>أُسَاعِدُهَا</a:t>
            </a:r>
            <a:pPr algn="ctr" indent="0" marL="0">
              <a:buNone/>
            </a:pPr>
            <a:r>
              <a:rPr lang="en-US" sz="2400" b="1" dirty="0">
                <a:solidFill>
                  <a:srgbClr val="1B3B6F"/>
                </a:solidFill>
                <a:latin typeface="Calibri" pitchFamily="34" charset="0"/>
                <a:ea typeface="Calibri" pitchFamily="34" charset="-122"/>
                <a:cs typeface="Calibri" pitchFamily="34" charset="-120"/>
              </a:rPr>
              <a:t> = I help her</a:t>
            </a:r>
            <a:endParaRPr lang="en-US"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 wide range of after-school and evening verbs.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Sequence six or more events with exact times and duration.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object and possessive suffixes accurately in routine sentences.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Produce a developed account with reasons and contrast.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describe my evening in three phases.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at what time and for how long.</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my / his / her on nouns (</a:t>
            </a:r>
            <a:pPr algn="l" indent="0" marL="0">
              <a:buNone/>
            </a:pPr>
            <a:r>
              <a:rPr lang="ar-SA" altLang="en-US" sz="1700" b="1" dirty="0">
                <a:solidFill>
                  <a:srgbClr val="C9780A"/>
                </a:solidFill>
                <a:latin typeface="Amiri" pitchFamily="34" charset="0"/>
                <a:ea typeface="Amiri" pitchFamily="34" charset="-122"/>
                <a:cs typeface="Amiri" pitchFamily="34" charset="-120"/>
              </a:rPr>
              <a:t>غُرْفَتِي، غُرْفَتُهُ</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one object suffix (</a:t>
            </a:r>
            <a:pPr algn="l" indent="0" marL="0">
              <a:buNone/>
            </a:pPr>
            <a:r>
              <a:rPr lang="ar-SA" altLang="en-US" sz="1700" b="1" dirty="0">
                <a:solidFill>
                  <a:srgbClr val="C9780A"/>
                </a:solidFill>
                <a:latin typeface="Amiri" pitchFamily="34" charset="0"/>
                <a:ea typeface="Amiri" pitchFamily="34" charset="-122"/>
                <a:cs typeface="Amiri" pitchFamily="34" charset="-120"/>
              </a:rPr>
              <a:t>أُسَاعِدُهَا</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explain purpose with </a:t>
            </a:r>
            <a:pPr algn="l" indent="0" marL="0">
              <a:buNone/>
            </a:pPr>
            <a:r>
              <a:rPr lang="ar-SA" altLang="en-US" sz="1700" b="1" dirty="0">
                <a:solidFill>
                  <a:srgbClr val="B83227"/>
                </a:solidFill>
                <a:latin typeface="Amiri" pitchFamily="34" charset="0"/>
                <a:ea typeface="Amiri" pitchFamily="34" charset="-122"/>
                <a:cs typeface="Amiri" pitchFamily="34" charset="-120"/>
              </a:rPr>
              <a:t>لِكَيْ / حَتَّى</a:t>
            </a:r>
            <a:pPr algn="l" indent="0" marL="0">
              <a:buNone/>
            </a:pPr>
            <a:r>
              <a:rPr lang="en-US" sz="1300" b="1" dirty="0">
                <a:solidFill>
                  <a:srgbClr val="B83227"/>
                </a:solidFill>
                <a:latin typeface="Calibri" pitchFamily="34" charset="0"/>
                <a:ea typeface="Calibri" pitchFamily="34" charset="-122"/>
                <a:cs typeface="Calibri" pitchFamily="34" charset="-120"/>
              </a:rPr>
              <a:t> + subjunctive.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evaluate my routine and suggest one improvement.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After school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Evening routine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Time, duration and purpose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لِمُدَّةِ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‎مدت‎ </a:t>
            </a:r>
            <a:pPr indent="0" marL="0">
              <a:buNone/>
            </a:pPr>
            <a:r>
              <a:rPr lang="en-US" sz="950" b="1" dirty="0">
                <a:solidFill>
                  <a:srgbClr val="2E8B57"/>
                </a:solidFill>
                <a:latin typeface="Calibri" pitchFamily="34" charset="0"/>
                <a:ea typeface="Calibri" pitchFamily="34" charset="-122"/>
                <a:cs typeface="Calibri" pitchFamily="34" charset="-120"/>
              </a:rPr>
              <a:t> muddat · a period of time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المَطْبَخِ</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‎مطبخ‎ </a:t>
            </a:r>
            <a:pPr indent="0" marL="0">
              <a:buNone/>
            </a:pPr>
            <a:r>
              <a:rPr lang="en-US" sz="950" b="1" dirty="0">
                <a:solidFill>
                  <a:srgbClr val="2E8B57"/>
                </a:solidFill>
                <a:latin typeface="Calibri" pitchFamily="34" charset="0"/>
                <a:ea typeface="Calibri" pitchFamily="34" charset="-122"/>
                <a:cs typeface="Calibri" pitchFamily="34" charset="-120"/>
              </a:rPr>
              <a:t> matbakh · kitchen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بَرْنَامَجًا</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‎پروگرام / برنامہ‎ </a:t>
            </a:r>
            <a:pPr indent="0" marL="0">
              <a:buNone/>
            </a:pPr>
            <a:r>
              <a:rPr lang="en-US" sz="950" b="1" dirty="0">
                <a:solidFill>
                  <a:srgbClr val="2E8B57"/>
                </a:solidFill>
                <a:latin typeface="Calibri" pitchFamily="34" charset="0"/>
                <a:ea typeface="Calibri" pitchFamily="34" charset="-122"/>
                <a:cs typeface="Calibri" pitchFamily="34" charset="-120"/>
              </a:rPr>
              <a:t> barnāma · programme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كِتَابًا</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‎کتاب‎ </a:t>
            </a:r>
            <a:pPr indent="0" marL="0">
              <a:buNone/>
            </a:pPr>
            <a:r>
              <a:rPr lang="en-US" sz="950" b="1" dirty="0">
                <a:solidFill>
                  <a:srgbClr val="2E8B57"/>
                </a:solidFill>
                <a:latin typeface="Calibri" pitchFamily="34" charset="0"/>
                <a:ea typeface="Calibri" pitchFamily="34" charset="-122"/>
                <a:cs typeface="Calibri" pitchFamily="34" charset="-120"/>
              </a:rPr>
              <a:t> kitāb · book</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مُبَاشَرَةً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‎براہ راست‎ </a:t>
            </a:r>
            <a:pPr indent="0" marL="0">
              <a:buNone/>
            </a:pPr>
            <a:r>
              <a:rPr lang="en-US" sz="950" b="1" dirty="0">
                <a:solidFill>
                  <a:srgbClr val="2E8B57"/>
                </a:solidFill>
                <a:latin typeface="Calibri" pitchFamily="34" charset="0"/>
                <a:ea typeface="Calibri" pitchFamily="34" charset="-122"/>
                <a:cs typeface="Calibri" pitchFamily="34" charset="-120"/>
              </a:rPr>
              <a:t> barāh-e rāst · Urdu: directly · Arabic: immediately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After school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أَرْجِعُ إِلَى البَيْتِ</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return home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ar-ji-ʿu i-lā al-bay-ti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أَصِلُ إِلَى البَيْتِ</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arrive home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a-ṣi-lu i-lā al-bay-ti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0" name="Shape 27"/>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أُغَيِّرُ مَلَابِسِي</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change my clothes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u-ghay-yi-ru ma-lā-bi-sī</a:t>
            </a:r>
            <a:endParaRPr lang="en-US" sz="1350" dirty="0"/>
          </a:p>
        </p:txBody>
      </p:sp>
      <p:sp>
        <p:nvSpPr>
          <p:cNvPr id="36" name="Shape 3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38" name="Text 3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يُغَيِّرُ مَلَابِسَهُ</a:t>
            </a:r>
            <a:endParaRPr lang="ar-SA" sz="1500" dirty="0"/>
          </a:p>
        </p:txBody>
      </p:sp>
      <p:sp>
        <p:nvSpPr>
          <p:cNvPr id="39" name="Shape 3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1" name="Text 3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تُغَيِّرُ مَلَابِسَهَا</a:t>
            </a:r>
            <a:endParaRPr lang="ar-SA" sz="1500" dirty="0"/>
          </a:p>
        </p:txBody>
      </p:sp>
      <p:sp>
        <p:nvSpPr>
          <p:cNvPr id="42" name="Shape 3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44" name="Text 4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نُغَيِّرُ مَلَابِسَنَا</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8" name="Shape 45"/>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أَتَنَاوَلُ وَجْبَةً خَفِيفَةً</a:t>
            </a:r>
            <a:endParaRPr lang="ar-SA" sz="3000" dirty="0"/>
          </a:p>
        </p:txBody>
      </p:sp>
      <p:sp>
        <p:nvSpPr>
          <p:cNvPr id="51" name="Text 4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have a snack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a-ta-nā-wa-lu waj-ba-tan kha-fī-fa-tan</a:t>
            </a:r>
            <a:endParaRPr lang="en-US" sz="1350" dirty="0"/>
          </a:p>
        </p:txBody>
      </p:sp>
      <p:sp>
        <p:nvSpPr>
          <p:cNvPr id="52" name="Shape 4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4389120"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5" name="Shape 5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7" name="Text 5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أَسْتَرِيحُ قَلِيلًا</a:t>
            </a:r>
            <a:endParaRPr lang="ar-SA" sz="3000" dirty="0"/>
          </a:p>
        </p:txBody>
      </p:sp>
      <p:sp>
        <p:nvSpPr>
          <p:cNvPr id="58" name="Text 5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rest for a while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as-ta-rī-ḥu qa-lī-lan</a:t>
            </a:r>
            <a:endParaRPr lang="en-US" sz="13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After school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أُرَاجِعُ دُرُوسِي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revise my lessons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u-rā-ji-ʿu du-rū-sī</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يُرَاجِعُ دُرُوسَهُ</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تُرَاجِعُ دُرُوسَهَا</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نُرَاجِعُ دُرُوسَنَا</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أُكْمِلُ وَاجِبِي</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complete my homework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uk-mi-lu wā-ji-bī</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يُكْمِلُ وَاجِبَهُ</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تُكْمِلُ وَاجِبَهَا</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نُكْمِلُ وَاجِبَنَا</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54" name="Text 5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أَذْهَبُ إِلَى النَّادِي</a:t>
            </a:r>
            <a:endParaRPr lang="ar-SA" sz="3000" dirty="0"/>
          </a:p>
        </p:txBody>
      </p:sp>
      <p:sp>
        <p:nvSpPr>
          <p:cNvPr id="55" name="Text 5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go to the club</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adh-ha-bu i-lā an-nā-dī</a:t>
            </a:r>
            <a:endParaRPr lang="en-US" sz="135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59" name="Text 5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أَتَمَرَّنُ</a:t>
            </a:r>
            <a:endParaRPr lang="ar-SA" sz="3000" dirty="0"/>
          </a:p>
        </p:txBody>
      </p:sp>
      <p:sp>
        <p:nvSpPr>
          <p:cNvPr id="60" name="Text 5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train / exercise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a-ta-mar-ra-nu</a:t>
            </a:r>
            <a:endParaRPr lang="en-US" sz="135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64" name="Shape 6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65" name="Text 6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66" name="Text 6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أَزُورُ صَدِيقَتِي / صَدِيقِي</a:t>
            </a:r>
            <a:endParaRPr lang="ar-SA" sz="3000" dirty="0"/>
          </a:p>
        </p:txBody>
      </p:sp>
      <p:sp>
        <p:nvSpPr>
          <p:cNvPr id="67" name="Text 6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visit my friend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a-zū-ru ṣa-dī-qa-tī / ṣa-dī-qī</a:t>
            </a:r>
            <a:endParaRPr lang="en-US" sz="1350" dirty="0"/>
          </a:p>
        </p:txBody>
      </p:sp>
      <p:sp>
        <p:nvSpPr>
          <p:cNvPr id="68" name="Shape 6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70" name="Text 6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صَدِيقٌ</a:t>
            </a:r>
            <a:endParaRPr lang="ar-SA" sz="1500" dirty="0"/>
          </a:p>
        </p:txBody>
      </p:sp>
      <p:sp>
        <p:nvSpPr>
          <p:cNvPr id="71" name="Shape 6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3" name="Text 7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صَدِيقَةٌ</a:t>
            </a:r>
            <a:endParaRPr lang="ar-SA" sz="1500" dirty="0"/>
          </a:p>
        </p:txBody>
      </p:sp>
      <p:sp>
        <p:nvSpPr>
          <p:cNvPr id="74" name="Shape 7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6" name="Text 7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أَصْدِقَاءُ</a:t>
            </a:r>
            <a:endParaRPr lang="ar-SA" sz="150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Evening routine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أُسَاعِدُ أُسْرَتِي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help my family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u-sā-ʿi-du us-ra-tī</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5" name="Shape 2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أُرَتِّبُ غُرْفَتِي</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tidy my room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u-rat-ti-bu ghur-fa-tī</a:t>
            </a:r>
            <a:endParaRPr lang="en-US" sz="1350" dirty="0"/>
          </a:p>
        </p:txBody>
      </p:sp>
      <p:sp>
        <p:nvSpPr>
          <p:cNvPr id="31" name="Shape 28"/>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33" name="Text 30"/>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يُرَتِّبُ غُرْفَتَهُ</a:t>
            </a:r>
            <a:endParaRPr lang="ar-SA" sz="1500" dirty="0"/>
          </a:p>
        </p:txBody>
      </p:sp>
      <p:sp>
        <p:nvSpPr>
          <p:cNvPr id="34" name="Shape 31"/>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6" name="Text 33"/>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تُرَتِّبُ غُرْفَتَهَا</a:t>
            </a:r>
            <a:endParaRPr lang="ar-SA" sz="1500" dirty="0"/>
          </a:p>
        </p:txBody>
      </p:sp>
      <p:sp>
        <p:nvSpPr>
          <p:cNvPr id="37" name="Shape 34"/>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39" name="Text 36"/>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نُرَتِّبُ غُرَفَنَا</a:t>
            </a:r>
            <a:endParaRPr lang="ar-SA" sz="150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43" name="Shape 4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5" name="Text 4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أَتَنَاوَلُ العَشَاءَ</a:t>
            </a:r>
            <a:endParaRPr lang="ar-SA" sz="3000" dirty="0"/>
          </a:p>
        </p:txBody>
      </p:sp>
      <p:sp>
        <p:nvSpPr>
          <p:cNvPr id="46" name="Text 4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have dinner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a-ta-nā-wa-lu al-ʿa-shā-ʾa</a:t>
            </a:r>
            <a:endParaRPr lang="en-US" sz="135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50" name="Shape 47"/>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2" name="Text 4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أَغْسِلُ الأَطْبَاقَ</a:t>
            </a:r>
            <a:endParaRPr lang="ar-SA" sz="3000" dirty="0"/>
          </a:p>
        </p:txBody>
      </p:sp>
      <p:sp>
        <p:nvSpPr>
          <p:cNvPr id="53" name="Text 5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wash the dishes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agh-si-lu al-aṭ-bā-qa</a:t>
            </a:r>
            <a:endParaRPr lang="en-US" sz="1350" dirty="0"/>
          </a:p>
        </p:txBody>
      </p:sp>
      <p:sp>
        <p:nvSpPr>
          <p:cNvPr id="54" name="Shape 5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plate</a:t>
            </a:r>
            <a:endParaRPr lang="en-US" sz="700" dirty="0"/>
          </a:p>
        </p:txBody>
      </p:sp>
      <p:sp>
        <p:nvSpPr>
          <p:cNvPr id="56" name="Text 53"/>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طَبَقٌ</a:t>
            </a:r>
            <a:endParaRPr lang="ar-SA" sz="1350" dirty="0"/>
          </a:p>
        </p:txBody>
      </p:sp>
      <p:sp>
        <p:nvSpPr>
          <p:cNvPr id="57" name="Shape 5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9" name="Text 56"/>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أَطْبَاقٌ</a:t>
            </a:r>
            <a:endParaRPr lang="ar-SA" sz="1500" dirty="0"/>
          </a:p>
        </p:txBody>
      </p:sp>
      <p:sp>
        <p:nvSpPr>
          <p:cNvPr id="60" name="Shape 5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62" name="Text 5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يَغْسِلُ</a:t>
            </a:r>
            <a:endParaRPr lang="ar-SA" sz="150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66" name="Text 6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أَتَحَدَّثُ مَعَ أُسْرَتِي</a:t>
            </a:r>
            <a:endParaRPr lang="ar-SA" sz="3000" dirty="0"/>
          </a:p>
        </p:txBody>
      </p:sp>
      <p:sp>
        <p:nvSpPr>
          <p:cNvPr id="67" name="Text 6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talk with my family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a-ta-ḥad-da-thu ma-ʿa us-ra-tī</a:t>
            </a:r>
            <a:endParaRPr lang="en-US" sz="13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Evening routine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أُشَاهِدُ بَرْنَامَجًا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watch a programme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u-shā-hi-du bar-nā-ma-jan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أَقْرَأُ كِتَابًا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read a book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aq-ra-ʾu ki-tā-ban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0" name="Shape 27"/>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أُحَضِّرُ حَقِيبَتِي</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prepare my bag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u-ḥaḍ-ḍi-ru ḥa-qī-ba-tī</a:t>
            </a:r>
            <a:endParaRPr lang="en-US" sz="1350" dirty="0"/>
          </a:p>
        </p:txBody>
      </p:sp>
      <p:sp>
        <p:nvSpPr>
          <p:cNvPr id="36" name="Shape 3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38" name="Text 3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يُحَضِّرُ حَقِيبَتَهُ</a:t>
            </a:r>
            <a:endParaRPr lang="ar-SA" sz="1500" dirty="0"/>
          </a:p>
        </p:txBody>
      </p:sp>
      <p:sp>
        <p:nvSpPr>
          <p:cNvPr id="39" name="Shape 3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1" name="Text 3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تُحَضِّرُ حَقِيبَتَهَا</a:t>
            </a:r>
            <a:endParaRPr lang="ar-SA" sz="1500" dirty="0"/>
          </a:p>
        </p:txBody>
      </p:sp>
      <p:sp>
        <p:nvSpPr>
          <p:cNvPr id="42" name="Shape 3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44" name="Text 4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نُحَضِّرُ حَقَائِبَنَا</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أَضْبِطُ المُنَبِّهَ</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set the alarm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aḍ-bi-ṭu al-mu-nab-bi-ha</a:t>
            </a:r>
            <a:endParaRPr lang="en-US" sz="1350" dirty="0"/>
          </a:p>
        </p:txBody>
      </p:sp>
      <p:sp>
        <p:nvSpPr>
          <p:cNvPr id="50" name="Shape 4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4389120"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53" name="Shape 50"/>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5" name="Text 5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أَذْهَبُ إِلَى الفِرَاشِ</a:t>
            </a:r>
            <a:endParaRPr lang="ar-SA" sz="3000" dirty="0"/>
          </a:p>
        </p:txBody>
      </p:sp>
      <p:sp>
        <p:nvSpPr>
          <p:cNvPr id="56" name="Text 5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go to bed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adh-ha-bu i-lā al-fi-rā-shi</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Time, duration and purpose (1 of 2)</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عِنْدَمَا أَعُودُ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when I return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ʿin-da-mā a-ʿū-du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بَعْدَ سَاعَةٍ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after an hour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baʿ-da sā-ʿa-tin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لِمُدَّةِ نِصْفِ سَاعَةٍ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 half an hour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li-mud-da-ti niṣ-fi sā-ʿa-tin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حَتَّى السَّاعَةِ...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until ... o’clock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ḥat-tā as-sā-ʿa-ti...</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Time, duration and purpose (2 of 2)</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مُبَاشَرَةً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immediately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mu-bā-sha-ra-tan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وَقْتٍ لَاحِقٍ</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waq-tin lā-ḥi-qin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لِكَيْ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order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li-kay</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حَتَّى أَسْتَطِيعَ</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 that I can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ḥat-tā as-ta-ṭī-ʿa</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THREE VERBS THAT LOOK ALIKE (WEBSITE WARNING)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Return, revise or rest?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أَرْجِعُ · أُرَاجِعُ · أَسْتَرِيحُ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RETURN · 3 LETTERS</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أَرْجِعُ</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أَرْجِعُ إِلَى البَيْتِ فِي الرَّابِعَةِ.</a:t>
            </a:r>
            <a:endParaRPr lang="ar-SA" sz="25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return home at four.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ar-ji-ʿu: short, three root letters.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REVISE · LONG Ā</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أُرَاجِعُ</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أُرَاجِعُ دُرُوسِي لِمُدَّةِ سَاعَةٍ.</a:t>
            </a:r>
            <a:endParaRPr lang="ar-SA" sz="30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revise my lessons for an hour.</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u-rā-ji-ʿu: starts with u, long rā.</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REST · STA- PATTERN</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أَسْتَرِيحُ</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34" charset="0"/>
                <a:ea typeface="Amiri" pitchFamily="34" charset="-122"/>
                <a:cs typeface="Amiri" pitchFamily="34" charset="-120"/>
              </a:rPr>
              <a:t>أَسْتَرِيحُ قَلِيلًا بَعْدَ الغَدَاءِ.</a:t>
            </a:r>
            <a:endParaRPr lang="ar-SA" sz="27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rest for a while after lunch.</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as-ta-rī-ḥu: the sta- pattern.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do not confuse “I revise” with “I return”.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أَرْجِعُ إِلَى البَيْتِ</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150" b="1" dirty="0">
                <a:solidFill>
                  <a:srgbClr val="B83227"/>
                </a:solidFill>
                <a:latin typeface="Amiri" pitchFamily="34" charset="0"/>
                <a:ea typeface="Amiri" pitchFamily="34" charset="-122"/>
                <a:cs typeface="Amiri" pitchFamily="34" charset="-120"/>
              </a:rPr>
              <a:t>أُرَاجِعُ إِلَى البَيْتِ</a:t>
            </a:r>
            <a:endParaRPr lang="ar-SA" sz="21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WHOSE? AND WHOM?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One ending, two jobs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ضَمَائِرُ المِلْكِيَّةِ وَالمَفْعُولِ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067544"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Person</a:t>
            </a:r>
            <a:endParaRPr lang="en-US" sz="1100" dirty="0"/>
          </a:p>
        </p:txBody>
      </p:sp>
      <p:sp>
        <p:nvSpPr>
          <p:cNvPr id="17" name="Text 14"/>
          <p:cNvSpPr txBox="1"/>
          <p:nvPr/>
        </p:nvSpPr>
        <p:spPr>
          <a:xfrm>
            <a:off x="6592824"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After a noun: whose?</a:t>
            </a:r>
            <a:endParaRPr lang="en-US" sz="1100" dirty="0"/>
          </a:p>
        </p:txBody>
      </p:sp>
      <p:sp>
        <p:nvSpPr>
          <p:cNvPr id="18" name="Text 15"/>
          <p:cNvSpPr txBox="1"/>
          <p:nvPr/>
        </p:nvSpPr>
        <p:spPr>
          <a:xfrm>
            <a:off x="3118104"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After a verb: whom?</a:t>
            </a:r>
            <a:endParaRPr lang="en-US" sz="1100" dirty="0"/>
          </a:p>
        </p:txBody>
      </p:sp>
      <p:sp>
        <p:nvSpPr>
          <p:cNvPr id="19" name="Text 16"/>
          <p:cNvSpPr txBox="1"/>
          <p:nvPr/>
        </p:nvSpPr>
        <p:spPr>
          <a:xfrm>
            <a:off x="530352" y="1810512"/>
            <a:ext cx="2441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10085832" y="2267712"/>
            <a:ext cx="1554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أَنَا</a:t>
            </a:r>
            <a:endParaRPr lang="ar-SA" sz="2400" dirty="0"/>
          </a:p>
        </p:txBody>
      </p:sp>
      <p:sp>
        <p:nvSpPr>
          <p:cNvPr id="22" name="Text 19"/>
          <p:cNvSpPr txBox="1"/>
          <p:nvPr/>
        </p:nvSpPr>
        <p:spPr>
          <a:xfrm>
            <a:off x="6611112" y="2286000"/>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حَقِيبَتِ</a:t>
            </a:r>
            <a:pPr rtl="1" algn="ctr" indent="0" marL="0">
              <a:buNone/>
            </a:pPr>
            <a:r>
              <a:rPr lang="ar-SA" altLang="en-US" sz="1600" b="1" dirty="0">
                <a:solidFill>
                  <a:srgbClr val="D6336C"/>
                </a:solidFill>
                <a:latin typeface="Amiri" pitchFamily="34" charset="0"/>
                <a:ea typeface="Amiri" pitchFamily="34" charset="-122"/>
                <a:cs typeface="Amiri" pitchFamily="34" charset="-120"/>
              </a:rPr>
              <a:t>ي</a:t>
            </a:r>
            <a:endParaRPr lang="ar-SA" sz="1600" dirty="0"/>
          </a:p>
        </p:txBody>
      </p:sp>
      <p:sp>
        <p:nvSpPr>
          <p:cNvPr id="23" name="Text 20"/>
          <p:cNvSpPr txBox="1"/>
          <p:nvPr/>
        </p:nvSpPr>
        <p:spPr>
          <a:xfrm>
            <a:off x="6565392" y="2603297"/>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my bag</a:t>
            </a:r>
            <a:endParaRPr lang="en-US" sz="950" dirty="0"/>
          </a:p>
        </p:txBody>
      </p:sp>
      <p:sp>
        <p:nvSpPr>
          <p:cNvPr id="24" name="Text 21"/>
          <p:cNvSpPr txBox="1"/>
          <p:nvPr/>
        </p:nvSpPr>
        <p:spPr>
          <a:xfrm>
            <a:off x="3136392" y="2286000"/>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تُسَاعِدُ</a:t>
            </a:r>
            <a:pPr rtl="1" algn="ctr" indent="0" marL="0">
              <a:buNone/>
            </a:pPr>
            <a:r>
              <a:rPr lang="ar-SA" altLang="en-US" sz="1600" b="1" dirty="0">
                <a:solidFill>
                  <a:srgbClr val="D6336C"/>
                </a:solidFill>
                <a:latin typeface="Amiri" pitchFamily="34" charset="0"/>
                <a:ea typeface="Amiri" pitchFamily="34" charset="-122"/>
                <a:cs typeface="Amiri" pitchFamily="34" charset="-120"/>
              </a:rPr>
              <a:t>نِي</a:t>
            </a:r>
            <a:endParaRPr lang="ar-SA" sz="1600" dirty="0"/>
          </a:p>
        </p:txBody>
      </p:sp>
      <p:sp>
        <p:nvSpPr>
          <p:cNvPr id="25" name="Text 22"/>
          <p:cNvSpPr txBox="1"/>
          <p:nvPr/>
        </p:nvSpPr>
        <p:spPr>
          <a:xfrm>
            <a:off x="3090672" y="2603297"/>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she helps me</a:t>
            </a:r>
            <a:endParaRPr lang="en-US" sz="950" dirty="0"/>
          </a:p>
        </p:txBody>
      </p:sp>
      <p:sp>
        <p:nvSpPr>
          <p:cNvPr id="26" name="Text 23"/>
          <p:cNvSpPr txBox="1"/>
          <p:nvPr/>
        </p:nvSpPr>
        <p:spPr>
          <a:xfrm>
            <a:off x="566928" y="2267712"/>
            <a:ext cx="24048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 me</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10085832" y="2881884"/>
            <a:ext cx="1554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a:t>
            </a:r>
            <a:endParaRPr lang="ar-SA" sz="2400" dirty="0"/>
          </a:p>
        </p:txBody>
      </p:sp>
      <p:sp>
        <p:nvSpPr>
          <p:cNvPr id="31" name="Text 28"/>
          <p:cNvSpPr txBox="1"/>
          <p:nvPr/>
        </p:nvSpPr>
        <p:spPr>
          <a:xfrm>
            <a:off x="6611112" y="2900172"/>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حَقِيبَتُ</a:t>
            </a:r>
            <a:pPr rtl="1" algn="ctr" indent="0" marL="0">
              <a:buNone/>
            </a:pPr>
            <a:r>
              <a:rPr lang="ar-SA" altLang="en-US" sz="1600" b="1" dirty="0">
                <a:solidFill>
                  <a:srgbClr val="D6336C"/>
                </a:solidFill>
                <a:latin typeface="Amiri" pitchFamily="34" charset="0"/>
                <a:ea typeface="Amiri" pitchFamily="34" charset="-122"/>
                <a:cs typeface="Amiri" pitchFamily="34" charset="-120"/>
              </a:rPr>
              <a:t>كَ</a:t>
            </a:r>
            <a:endParaRPr lang="ar-SA" sz="1600" dirty="0"/>
          </a:p>
        </p:txBody>
      </p:sp>
      <p:sp>
        <p:nvSpPr>
          <p:cNvPr id="32" name="Text 29"/>
          <p:cNvSpPr txBox="1"/>
          <p:nvPr/>
        </p:nvSpPr>
        <p:spPr>
          <a:xfrm>
            <a:off x="6565392" y="3217469"/>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your bag</a:t>
            </a:r>
            <a:endParaRPr lang="en-US" sz="950" dirty="0"/>
          </a:p>
        </p:txBody>
      </p:sp>
      <p:sp>
        <p:nvSpPr>
          <p:cNvPr id="33" name="Text 30"/>
          <p:cNvSpPr txBox="1"/>
          <p:nvPr/>
        </p:nvSpPr>
        <p:spPr>
          <a:xfrm>
            <a:off x="3136392" y="2900172"/>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أُسَاعِدُ</a:t>
            </a:r>
            <a:pPr rtl="1" algn="ctr" indent="0" marL="0">
              <a:buNone/>
            </a:pPr>
            <a:r>
              <a:rPr lang="ar-SA" altLang="en-US" sz="1600" b="1" dirty="0">
                <a:solidFill>
                  <a:srgbClr val="D6336C"/>
                </a:solidFill>
                <a:latin typeface="Amiri" pitchFamily="34" charset="0"/>
                <a:ea typeface="Amiri" pitchFamily="34" charset="-122"/>
                <a:cs typeface="Amiri" pitchFamily="34" charset="-120"/>
              </a:rPr>
              <a:t>كَ</a:t>
            </a:r>
            <a:endParaRPr lang="ar-SA" sz="1600" dirty="0"/>
          </a:p>
        </p:txBody>
      </p:sp>
      <p:sp>
        <p:nvSpPr>
          <p:cNvPr id="34" name="Text 31"/>
          <p:cNvSpPr txBox="1"/>
          <p:nvPr/>
        </p:nvSpPr>
        <p:spPr>
          <a:xfrm>
            <a:off x="3090672" y="3217469"/>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help you</a:t>
            </a:r>
            <a:endParaRPr lang="en-US" sz="950" dirty="0"/>
          </a:p>
        </p:txBody>
      </p:sp>
      <p:sp>
        <p:nvSpPr>
          <p:cNvPr id="35" name="Text 32"/>
          <p:cNvSpPr txBox="1"/>
          <p:nvPr/>
        </p:nvSpPr>
        <p:spPr>
          <a:xfrm>
            <a:off x="566928" y="2881884"/>
            <a:ext cx="24048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your · you (m.)</a:t>
            </a:r>
            <a:endParaRPr lang="en-US" sz="1100" dirty="0"/>
          </a:p>
        </p:txBody>
      </p:sp>
      <p:sp>
        <p:nvSpPr>
          <p:cNvPr id="36" name="Shape 33"/>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7" name="Text 34"/>
          <p:cNvSpPr txBox="1"/>
          <p:nvPr/>
        </p:nvSpPr>
        <p:spPr>
          <a:xfrm>
            <a:off x="10085832" y="3496056"/>
            <a:ext cx="1554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هُوَ</a:t>
            </a:r>
            <a:endParaRPr lang="ar-SA" sz="2400" dirty="0"/>
          </a:p>
        </p:txBody>
      </p:sp>
      <p:sp>
        <p:nvSpPr>
          <p:cNvPr id="38" name="Text 35"/>
          <p:cNvSpPr txBox="1"/>
          <p:nvPr/>
        </p:nvSpPr>
        <p:spPr>
          <a:xfrm>
            <a:off x="6611112" y="3514344"/>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حَقِيبَتُ</a:t>
            </a:r>
            <a:pPr rtl="1" algn="ctr" indent="0" marL="0">
              <a:buNone/>
            </a:pPr>
            <a:r>
              <a:rPr lang="ar-SA" altLang="en-US" sz="1600" b="1" dirty="0">
                <a:solidFill>
                  <a:srgbClr val="D6336C"/>
                </a:solidFill>
                <a:latin typeface="Amiri" pitchFamily="34" charset="0"/>
                <a:ea typeface="Amiri" pitchFamily="34" charset="-122"/>
                <a:cs typeface="Amiri" pitchFamily="34" charset="-120"/>
              </a:rPr>
              <a:t>هُ</a:t>
            </a:r>
            <a:endParaRPr lang="ar-SA" sz="1600" dirty="0"/>
          </a:p>
        </p:txBody>
      </p:sp>
      <p:sp>
        <p:nvSpPr>
          <p:cNvPr id="39" name="Text 36"/>
          <p:cNvSpPr txBox="1"/>
          <p:nvPr/>
        </p:nvSpPr>
        <p:spPr>
          <a:xfrm>
            <a:off x="6565392" y="3831641"/>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his bag</a:t>
            </a:r>
            <a:endParaRPr lang="en-US" sz="950" dirty="0"/>
          </a:p>
        </p:txBody>
      </p:sp>
      <p:sp>
        <p:nvSpPr>
          <p:cNvPr id="40" name="Text 37"/>
          <p:cNvSpPr txBox="1"/>
          <p:nvPr/>
        </p:nvSpPr>
        <p:spPr>
          <a:xfrm>
            <a:off x="3136392" y="3514344"/>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أُسَاعِدُ</a:t>
            </a:r>
            <a:pPr rtl="1" algn="ctr" indent="0" marL="0">
              <a:buNone/>
            </a:pPr>
            <a:r>
              <a:rPr lang="ar-SA" altLang="en-US" sz="1600" b="1" dirty="0">
                <a:solidFill>
                  <a:srgbClr val="D6336C"/>
                </a:solidFill>
                <a:latin typeface="Amiri" pitchFamily="34" charset="0"/>
                <a:ea typeface="Amiri" pitchFamily="34" charset="-122"/>
                <a:cs typeface="Amiri" pitchFamily="34" charset="-120"/>
              </a:rPr>
              <a:t>هُ</a:t>
            </a:r>
            <a:endParaRPr lang="ar-SA" sz="1600" dirty="0"/>
          </a:p>
        </p:txBody>
      </p:sp>
      <p:sp>
        <p:nvSpPr>
          <p:cNvPr id="41" name="Text 38"/>
          <p:cNvSpPr txBox="1"/>
          <p:nvPr/>
        </p:nvSpPr>
        <p:spPr>
          <a:xfrm>
            <a:off x="3090672" y="3831641"/>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help him</a:t>
            </a:r>
            <a:endParaRPr lang="en-US" sz="950" dirty="0"/>
          </a:p>
        </p:txBody>
      </p:sp>
      <p:sp>
        <p:nvSpPr>
          <p:cNvPr id="42" name="Text 39"/>
          <p:cNvSpPr txBox="1"/>
          <p:nvPr/>
        </p:nvSpPr>
        <p:spPr>
          <a:xfrm>
            <a:off x="566928" y="3496056"/>
            <a:ext cx="24048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his · him</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10085832" y="4110228"/>
            <a:ext cx="1554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هِيَ</a:t>
            </a:r>
            <a:endParaRPr lang="ar-SA" sz="2400" dirty="0"/>
          </a:p>
        </p:txBody>
      </p:sp>
      <p:sp>
        <p:nvSpPr>
          <p:cNvPr id="47" name="Text 44"/>
          <p:cNvSpPr txBox="1"/>
          <p:nvPr/>
        </p:nvSpPr>
        <p:spPr>
          <a:xfrm>
            <a:off x="6611112" y="4128516"/>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حَقِيبَتُ</a:t>
            </a:r>
            <a:pPr rtl="1" algn="ctr" indent="0" marL="0">
              <a:buNone/>
            </a:pPr>
            <a:r>
              <a:rPr lang="ar-SA" altLang="en-US" sz="1600" b="1" dirty="0">
                <a:solidFill>
                  <a:srgbClr val="D6336C"/>
                </a:solidFill>
                <a:latin typeface="Amiri" pitchFamily="34" charset="0"/>
                <a:ea typeface="Amiri" pitchFamily="34" charset="-122"/>
                <a:cs typeface="Amiri" pitchFamily="34" charset="-120"/>
              </a:rPr>
              <a:t>هَا</a:t>
            </a:r>
            <a:endParaRPr lang="ar-SA" sz="1600" dirty="0"/>
          </a:p>
        </p:txBody>
      </p:sp>
      <p:sp>
        <p:nvSpPr>
          <p:cNvPr id="48" name="Text 45"/>
          <p:cNvSpPr txBox="1"/>
          <p:nvPr/>
        </p:nvSpPr>
        <p:spPr>
          <a:xfrm>
            <a:off x="6565392" y="4445813"/>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her bag</a:t>
            </a:r>
            <a:endParaRPr lang="en-US" sz="950" dirty="0"/>
          </a:p>
        </p:txBody>
      </p:sp>
      <p:sp>
        <p:nvSpPr>
          <p:cNvPr id="49" name="Text 46"/>
          <p:cNvSpPr txBox="1"/>
          <p:nvPr/>
        </p:nvSpPr>
        <p:spPr>
          <a:xfrm>
            <a:off x="3136392" y="4128516"/>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أُسَاعِدُ</a:t>
            </a:r>
            <a:pPr rtl="1" algn="ctr" indent="0" marL="0">
              <a:buNone/>
            </a:pPr>
            <a:r>
              <a:rPr lang="ar-SA" altLang="en-US" sz="1600" b="1" dirty="0">
                <a:solidFill>
                  <a:srgbClr val="D6336C"/>
                </a:solidFill>
                <a:latin typeface="Amiri" pitchFamily="34" charset="0"/>
                <a:ea typeface="Amiri" pitchFamily="34" charset="-122"/>
                <a:cs typeface="Amiri" pitchFamily="34" charset="-120"/>
              </a:rPr>
              <a:t>هَا</a:t>
            </a:r>
            <a:endParaRPr lang="ar-SA" sz="1600" dirty="0"/>
          </a:p>
        </p:txBody>
      </p:sp>
      <p:sp>
        <p:nvSpPr>
          <p:cNvPr id="50" name="Text 47"/>
          <p:cNvSpPr txBox="1"/>
          <p:nvPr/>
        </p:nvSpPr>
        <p:spPr>
          <a:xfrm>
            <a:off x="3090672" y="4445813"/>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help her</a:t>
            </a:r>
            <a:endParaRPr lang="en-US" sz="950" dirty="0"/>
          </a:p>
        </p:txBody>
      </p:sp>
      <p:sp>
        <p:nvSpPr>
          <p:cNvPr id="51" name="Text 48"/>
          <p:cNvSpPr txBox="1"/>
          <p:nvPr/>
        </p:nvSpPr>
        <p:spPr>
          <a:xfrm>
            <a:off x="566928" y="4110228"/>
            <a:ext cx="24048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her · her</a:t>
            </a:r>
            <a:endParaRPr lang="en-US" sz="1100" dirty="0"/>
          </a:p>
        </p:txBody>
      </p:sp>
      <p:sp>
        <p:nvSpPr>
          <p:cNvPr id="52" name="Shape 49"/>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4" name="Shape 5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5" name="Text 52"/>
          <p:cNvSpPr txBox="1"/>
          <p:nvPr/>
        </p:nvSpPr>
        <p:spPr>
          <a:xfrm>
            <a:off x="10085832" y="4724400"/>
            <a:ext cx="1554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نَحْنُ</a:t>
            </a:r>
            <a:endParaRPr lang="ar-SA" sz="2400" dirty="0"/>
          </a:p>
        </p:txBody>
      </p:sp>
      <p:sp>
        <p:nvSpPr>
          <p:cNvPr id="56" name="Text 53"/>
          <p:cNvSpPr txBox="1"/>
          <p:nvPr/>
        </p:nvSpPr>
        <p:spPr>
          <a:xfrm>
            <a:off x="6611112" y="4742688"/>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حَقِيبَتُ</a:t>
            </a:r>
            <a:pPr rtl="1" algn="ctr" indent="0" marL="0">
              <a:buNone/>
            </a:pPr>
            <a:r>
              <a:rPr lang="ar-SA" altLang="en-US" sz="1600" b="1" dirty="0">
                <a:solidFill>
                  <a:srgbClr val="D6336C"/>
                </a:solidFill>
                <a:latin typeface="Amiri" pitchFamily="34" charset="0"/>
                <a:ea typeface="Amiri" pitchFamily="34" charset="-122"/>
                <a:cs typeface="Amiri" pitchFamily="34" charset="-120"/>
              </a:rPr>
              <a:t>نَا</a:t>
            </a:r>
            <a:endParaRPr lang="ar-SA" sz="1600" dirty="0"/>
          </a:p>
        </p:txBody>
      </p:sp>
      <p:sp>
        <p:nvSpPr>
          <p:cNvPr id="57" name="Text 54"/>
          <p:cNvSpPr txBox="1"/>
          <p:nvPr/>
        </p:nvSpPr>
        <p:spPr>
          <a:xfrm>
            <a:off x="6565392" y="5059985"/>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our bag</a:t>
            </a:r>
            <a:endParaRPr lang="en-US" sz="950" dirty="0"/>
          </a:p>
        </p:txBody>
      </p:sp>
      <p:sp>
        <p:nvSpPr>
          <p:cNvPr id="58" name="Text 55"/>
          <p:cNvSpPr txBox="1"/>
          <p:nvPr/>
        </p:nvSpPr>
        <p:spPr>
          <a:xfrm>
            <a:off x="3136392" y="4742688"/>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تُسَاعِدُ</a:t>
            </a:r>
            <a:pPr rtl="1" algn="ctr" indent="0" marL="0">
              <a:buNone/>
            </a:pPr>
            <a:r>
              <a:rPr lang="ar-SA" altLang="en-US" sz="1600" b="1" dirty="0">
                <a:solidFill>
                  <a:srgbClr val="D6336C"/>
                </a:solidFill>
                <a:latin typeface="Amiri" pitchFamily="34" charset="0"/>
                <a:ea typeface="Amiri" pitchFamily="34" charset="-122"/>
                <a:cs typeface="Amiri" pitchFamily="34" charset="-120"/>
              </a:rPr>
              <a:t>نَا</a:t>
            </a:r>
            <a:endParaRPr lang="ar-SA" sz="1600" dirty="0"/>
          </a:p>
        </p:txBody>
      </p:sp>
      <p:sp>
        <p:nvSpPr>
          <p:cNvPr id="59" name="Text 56"/>
          <p:cNvSpPr txBox="1"/>
          <p:nvPr/>
        </p:nvSpPr>
        <p:spPr>
          <a:xfrm>
            <a:off x="3090672" y="5059985"/>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she helps us</a:t>
            </a:r>
            <a:endParaRPr lang="en-US" sz="950" dirty="0"/>
          </a:p>
        </p:txBody>
      </p:sp>
      <p:sp>
        <p:nvSpPr>
          <p:cNvPr id="60" name="Text 57"/>
          <p:cNvSpPr txBox="1"/>
          <p:nvPr/>
        </p:nvSpPr>
        <p:spPr>
          <a:xfrm>
            <a:off x="566928" y="4724400"/>
            <a:ext cx="24048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our · us</a:t>
            </a:r>
            <a:endParaRPr lang="en-US" sz="1100" dirty="0"/>
          </a:p>
        </p:txBody>
      </p:sp>
      <p:sp>
        <p:nvSpPr>
          <p:cNvPr id="61" name="Shape 5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2" name="Text 59"/>
          <p:cNvSpPr txBox="1"/>
          <p:nvPr/>
        </p:nvSpPr>
        <p:spPr>
          <a:xfrm>
            <a:off x="10085832" y="5338572"/>
            <a:ext cx="1554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هُمْ</a:t>
            </a:r>
            <a:endParaRPr lang="ar-SA" sz="2400" dirty="0"/>
          </a:p>
        </p:txBody>
      </p:sp>
      <p:sp>
        <p:nvSpPr>
          <p:cNvPr id="63" name="Text 60"/>
          <p:cNvSpPr txBox="1"/>
          <p:nvPr/>
        </p:nvSpPr>
        <p:spPr>
          <a:xfrm>
            <a:off x="6611112" y="5356860"/>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حَقِيبَتُ</a:t>
            </a:r>
            <a:pPr rtl="1" algn="ctr" indent="0" marL="0">
              <a:buNone/>
            </a:pPr>
            <a:r>
              <a:rPr lang="ar-SA" altLang="en-US" sz="1600" b="1" dirty="0">
                <a:solidFill>
                  <a:srgbClr val="D6336C"/>
                </a:solidFill>
                <a:latin typeface="Amiri" pitchFamily="34" charset="0"/>
                <a:ea typeface="Amiri" pitchFamily="34" charset="-122"/>
                <a:cs typeface="Amiri" pitchFamily="34" charset="-120"/>
              </a:rPr>
              <a:t>هُمْ</a:t>
            </a:r>
            <a:endParaRPr lang="ar-SA" sz="1600" dirty="0"/>
          </a:p>
        </p:txBody>
      </p:sp>
      <p:sp>
        <p:nvSpPr>
          <p:cNvPr id="64" name="Text 61"/>
          <p:cNvSpPr txBox="1"/>
          <p:nvPr/>
        </p:nvSpPr>
        <p:spPr>
          <a:xfrm>
            <a:off x="6565392" y="5674157"/>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their bag</a:t>
            </a:r>
            <a:endParaRPr lang="en-US" sz="950" dirty="0"/>
          </a:p>
        </p:txBody>
      </p:sp>
      <p:sp>
        <p:nvSpPr>
          <p:cNvPr id="65" name="Text 62"/>
          <p:cNvSpPr txBox="1"/>
          <p:nvPr/>
        </p:nvSpPr>
        <p:spPr>
          <a:xfrm>
            <a:off x="3136392" y="5356860"/>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أَزُورُ</a:t>
            </a:r>
            <a:pPr rtl="1" algn="ctr" indent="0" marL="0">
              <a:buNone/>
            </a:pPr>
            <a:r>
              <a:rPr lang="ar-SA" altLang="en-US" sz="1600" b="1" dirty="0">
                <a:solidFill>
                  <a:srgbClr val="D6336C"/>
                </a:solidFill>
                <a:latin typeface="Amiri" pitchFamily="34" charset="0"/>
                <a:ea typeface="Amiri" pitchFamily="34" charset="-122"/>
                <a:cs typeface="Amiri" pitchFamily="34" charset="-120"/>
              </a:rPr>
              <a:t>هُمْ</a:t>
            </a:r>
            <a:endParaRPr lang="ar-SA" sz="1600" dirty="0"/>
          </a:p>
        </p:txBody>
      </p:sp>
      <p:sp>
        <p:nvSpPr>
          <p:cNvPr id="66" name="Text 63"/>
          <p:cNvSpPr txBox="1"/>
          <p:nvPr/>
        </p:nvSpPr>
        <p:spPr>
          <a:xfrm>
            <a:off x="3090672" y="5674157"/>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visit them</a:t>
            </a:r>
            <a:endParaRPr lang="en-US" sz="950" dirty="0"/>
          </a:p>
        </p:txBody>
      </p:sp>
      <p:sp>
        <p:nvSpPr>
          <p:cNvPr id="67" name="Text 64"/>
          <p:cNvSpPr txBox="1"/>
          <p:nvPr/>
        </p:nvSpPr>
        <p:spPr>
          <a:xfrm>
            <a:off x="566928" y="5338572"/>
            <a:ext cx="24048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their · them</a:t>
            </a:r>
            <a:endParaRPr lang="en-US" sz="1100" dirty="0"/>
          </a:p>
        </p:txBody>
      </p:sp>
      <p:sp>
        <p:nvSpPr>
          <p:cNvPr id="68" name="Text 6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Tāʾ marbūṭa becomes a normal t before an ending (ḥaqība → ḥaqībatī). “Me” on a verb is -nī, not -ī.</a:t>
            </a:r>
            <a:endParaRPr lang="en-US" sz="11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1B3B6F"/>
                </a:solidFill>
                <a:latin typeface="Calibri" pitchFamily="34" charset="0"/>
                <a:ea typeface="Calibri" pitchFamily="34" charset="-122"/>
                <a:cs typeface="Calibri" pitchFamily="34" charset="-120"/>
              </a:rPr>
              <a:t>GRAMMAR FOCUS · PART 3 · HOW LONG? AND WHY? (WEBSITE RULES) · DEVELOP / STRETCH</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Duration and purpose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لِمُدَّةِ · لِكَيْ · حَتَّى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AT WHAT TIME? · CORE</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فِي السَّاعَةِ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34" charset="0"/>
                <a:ea typeface="Amiri" pitchFamily="34" charset="-122"/>
                <a:cs typeface="Amiri" pitchFamily="34" charset="-120"/>
              </a:rPr>
              <a:t>أَتَمَرَّنُ فِي السَّاعَةِ الخَامِسَةِ.</a:t>
            </a:r>
            <a:endParaRPr lang="ar-SA" sz="27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train at five o’clock.</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 point on the clock.</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FOR HOW LONG? · CORE</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لِمُدَّةِ</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أَتَمَرَّنُ لِمُدَّةِ سَاعَةٍ.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train for an hour.</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 length of time.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23444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WHY? · STRETCH</a:t>
            </a:r>
            <a:endParaRPr lang="en-US" sz="850" dirty="0"/>
          </a:p>
        </p:txBody>
      </p:sp>
      <p:sp>
        <p:nvSpPr>
          <p:cNvPr id="34" name="Text 31"/>
          <p:cNvSpPr txBox="1"/>
          <p:nvPr/>
        </p:nvSpPr>
        <p:spPr>
          <a:xfrm>
            <a:off x="1874520"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لِكَيْ / حَتَّى</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34" charset="0"/>
                <a:ea typeface="Amiri" pitchFamily="34" charset="-122"/>
                <a:cs typeface="Amiri" pitchFamily="34" charset="-120"/>
              </a:rPr>
              <a:t>أُحَضِّرُ حَقِيبَتِي حَتَّى لَا أَنْسَى كُتُبِي.</a:t>
            </a:r>
            <a:endParaRPr lang="ar-SA" sz="22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prepare my bag so I don’t forget my books.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 fatḥa ending, as after “an”.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after li-kay the verb ends in fatḥa.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لِكَيْ أَسْتَعِدَّ</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لِكَيْ أَسْتَعِدُّ</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ea typeface="Cambria" pitchFamily="34" charset="-122"/>
                <a:cs typeface="Cambria" pitchFamily="34" charset="-120"/>
              </a:rPr>
              <a:t>Object and possessive suffixes in an evening routine</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200" b="1" dirty="0">
                <a:solidFill>
                  <a:srgbClr val="8A6D1E"/>
                </a:solidFill>
                <a:latin typeface="Amiri" pitchFamily="34" charset="0"/>
                <a:ea typeface="Amiri" pitchFamily="34" charset="-122"/>
                <a:cs typeface="Amiri" pitchFamily="34" charset="-120"/>
              </a:rPr>
              <a:t>ضَمَائِرُ المَفْعُولِ وَالمِلْكِيَّةِ فِي رُوتِينِ المَسَاءِ</a:t>
            </a:r>
            <a:endParaRPr lang="ar-SA" sz="22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Attach a possessive suffix to the noun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حَقِيبَةٌ ← حَقِيبَتِي / حَقِيبَتُهُ / حَقِيبَتُهَا</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أُحَضِّرُ حَقِيبَتِي.   ·   يُحَضِّرُ حَقِيبَتَهُ.   ·   تُحَضِّرُ حَقِيبَتَهَا.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Attach an object suffix to the verb</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أُسَاعِدُ + هُ / هَا / هُمْ</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أُسَاعِدُهُ بَعْدَ المَدْرَسَةِ.   ·   أُسَاعِدُهَا فِي المَطْبَخِ.   ·   أَزُورُهُمْ يَوْمَ الجُمُعَةِ.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Express duration with </a:t>
            </a:r>
            <a:pPr algn="l" indent="0" marL="0">
              <a:buNone/>
            </a:pPr>
            <a:r>
              <a:rPr lang="ar-SA" altLang="en-US" sz="1650" b="1" dirty="0">
                <a:solidFill>
                  <a:srgbClr val="1B3B6F"/>
                </a:solidFill>
                <a:latin typeface="Amiri" pitchFamily="34" charset="0"/>
                <a:ea typeface="Amiri" pitchFamily="34" charset="-122"/>
                <a:cs typeface="Amiri" pitchFamily="34" charset="-120"/>
              </a:rPr>
              <a:t>لِمُدَّةِ</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لِمُدَّةِ</a:t>
            </a:r>
            <a:pPr algn="l" indent="0" marL="0">
              <a:buNone/>
            </a:pPr>
            <a:r>
              <a:rPr lang="en-US" sz="1050" dirty="0">
                <a:solidFill>
                  <a:srgbClr val="5A6472"/>
                </a:solidFill>
                <a:latin typeface="Calibri" pitchFamily="34" charset="0"/>
                <a:ea typeface="Calibri" pitchFamily="34" charset="-122"/>
                <a:cs typeface="Calibri" pitchFamily="34" charset="-120"/>
              </a:rPr>
              <a:t> + time period</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أَسْتَرِيحُ لِمُدَّةِ نِصْفِ سَاعَةٍ.   ·   أَتَمَرَّنُ لِمُدَّةِ سَاعَةٍ.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Express purpose with </a:t>
            </a:r>
            <a:pPr algn="l" indent="0" marL="0">
              <a:buNone/>
            </a:pPr>
            <a:r>
              <a:rPr lang="ar-SA" altLang="en-US" sz="1650" b="1" dirty="0">
                <a:solidFill>
                  <a:srgbClr val="1B3B6F"/>
                </a:solidFill>
                <a:latin typeface="Amiri" pitchFamily="34" charset="0"/>
                <a:ea typeface="Amiri" pitchFamily="34" charset="-122"/>
                <a:cs typeface="Amiri" pitchFamily="34" charset="-120"/>
              </a:rPr>
              <a:t>لِكَيْ / حَتَّى</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لِكَيْ</a:t>
            </a:r>
            <a:pPr algn="l" indent="0" marL="0">
              <a:buNone/>
            </a:pPr>
            <a:r>
              <a:rPr lang="en-US" sz="1050" dirty="0">
                <a:solidFill>
                  <a:srgbClr val="5A6472"/>
                </a:solidFill>
                <a:latin typeface="Calibri" pitchFamily="34" charset="0"/>
                <a:ea typeface="Calibri" pitchFamily="34" charset="-122"/>
                <a:cs typeface="Calibri" pitchFamily="34" charset="-120"/>
              </a:rPr>
              <a:t> + subjunctive · </a:t>
            </a:r>
            <a:pPr algn="l" indent="0" marL="0">
              <a:buNone/>
            </a:pPr>
            <a:r>
              <a:rPr lang="ar-SA" altLang="en-US" sz="1350" dirty="0">
                <a:solidFill>
                  <a:srgbClr val="5A6472"/>
                </a:solidFill>
                <a:latin typeface="Amiri" pitchFamily="34" charset="0"/>
                <a:ea typeface="Amiri" pitchFamily="34" charset="-122"/>
                <a:cs typeface="Amiri" pitchFamily="34" charset="-120"/>
              </a:rPr>
              <a:t>حَتَّى</a:t>
            </a:r>
            <a:pPr algn="l" indent="0" marL="0">
              <a:buNone/>
            </a:pPr>
            <a:r>
              <a:rPr lang="en-US" sz="1050" dirty="0">
                <a:solidFill>
                  <a:srgbClr val="5A6472"/>
                </a:solidFill>
                <a:latin typeface="Calibri" pitchFamily="34" charset="0"/>
                <a:ea typeface="Calibri" pitchFamily="34" charset="-122"/>
                <a:cs typeface="Calibri" pitchFamily="34" charset="-120"/>
              </a:rPr>
              <a:t> + subjunctive</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أُرَاجِعُ لِكَيْ أَفْهَمَ الدَّرْسَ.   ·   أُحَضِّرُ حَقِيبَتِي حَتَّى لَا أَتَأَخَّرَ.</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return home”.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أُرَاجِعُ البَيْتَ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يَرْجِعُ إِلَى البَيْتِ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أَرْجِعُ إِلَى البَيْتِ</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أُسَاعِدُ أُمِّي، فَأَنَا أُسَاعِدُ ___.</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هَا</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هُمْ</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“his bag”.</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حَقِيبَتُهَا</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حَقِيبَتُهُ</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حَقِيبَتِي</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answers “for how long?”</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لِمُدَّةِ سَاعَةٍ</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السَّاعَةِ</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السَّاعَةِ</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return home”.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أُرَاجِعُ البَيْتَ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يَرْجِعُ إِلَى البَيْتِ</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أَرْجِعُ إِلَى البَيْتِ</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أَرْجِعُ</a:t>
            </a:r>
            <a:pPr algn="l" indent="0" marL="0">
              <a:buNone/>
            </a:pPr>
            <a:r>
              <a:rPr lang="en-US" sz="1050" i="1" dirty="0">
                <a:solidFill>
                  <a:srgbClr val="8A6D1E"/>
                </a:solidFill>
                <a:latin typeface="Calibri" pitchFamily="34" charset="0"/>
                <a:ea typeface="Calibri" pitchFamily="34" charset="-122"/>
                <a:cs typeface="Calibri" pitchFamily="34" charset="-120"/>
              </a:rPr>
              <a:t> = I return.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أُسَاعِدُ أُمِّي، فَأَنَا أُسَاعِدُ ___.</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هَا</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هُمْ</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object is feminine singular.</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“his bag”.</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حَقِيبَتُهَا</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حَقِيبَتُهُ</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حَقِيبَتِي</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ـهُ</a:t>
            </a:r>
            <a:pPr algn="l" indent="0" marL="0">
              <a:buNone/>
            </a:pPr>
            <a:r>
              <a:rPr lang="en-US" sz="1050" i="1" dirty="0">
                <a:solidFill>
                  <a:srgbClr val="8A6D1E"/>
                </a:solidFill>
                <a:latin typeface="Calibri" pitchFamily="34" charset="0"/>
                <a:ea typeface="Calibri" pitchFamily="34" charset="-122"/>
                <a:cs typeface="Calibri" pitchFamily="34" charset="-120"/>
              </a:rPr>
              <a:t> means his.</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answers “for how long?”</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لِمُدَّةِ سَاعَةٍ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السَّاعَةِ</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بَعْدَ السَّاعَةِ</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لِمُدَّةِ</a:t>
            </a:r>
            <a:pPr algn="l" indent="0" marL="0">
              <a:buNone/>
            </a:pPr>
            <a:r>
              <a:rPr lang="en-US" sz="1050" i="1" dirty="0">
                <a:solidFill>
                  <a:srgbClr val="8A6D1E"/>
                </a:solidFill>
                <a:latin typeface="Calibri" pitchFamily="34" charset="0"/>
                <a:ea typeface="Calibri" pitchFamily="34" charset="-122"/>
                <a:cs typeface="Calibri" pitchFamily="34" charset="-120"/>
              </a:rPr>
              <a:t> expresses duration.</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Watch me build my evening in three phases</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1 · Arrive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أَرْجِعُ إِلَى البَيْتِ فِي الرَّابِعَةِ إِلَّا الرُّبْعَ.</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Exact time anchors the routine.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2 · Rest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أَسْتَرِيحُ </a:t>
            </a:r>
            <a:pPr rtl="1" algn="ctr" indent="0" marL="0">
              <a:buNone/>
            </a:pPr>
            <a:r>
              <a:rPr lang="ar-SA" altLang="en-US" sz="2300" b="1" dirty="0">
                <a:solidFill>
                  <a:srgbClr val="0E7C86"/>
                </a:solidFill>
                <a:latin typeface="Amiri" pitchFamily="34" charset="0"/>
                <a:ea typeface="Amiri" pitchFamily="34" charset="-122"/>
                <a:cs typeface="Amiri" pitchFamily="34" charset="-120"/>
              </a:rPr>
              <a:t>لِمُدَّةِ</a:t>
            </a:r>
            <a:pPr rtl="1" algn="ctr" indent="0" marL="0">
              <a:buNone/>
            </a:pPr>
            <a:r>
              <a:rPr lang="ar-SA" altLang="en-US" sz="2300" b="1" dirty="0">
                <a:solidFill>
                  <a:srgbClr val="1B3B6F"/>
                </a:solidFill>
                <a:latin typeface="Amiri" pitchFamily="34" charset="0"/>
                <a:ea typeface="Amiri" pitchFamily="34" charset="-122"/>
                <a:cs typeface="Amiri" pitchFamily="34" charset="-120"/>
              </a:rPr>
              <a:t> نِصْفِ سَاعَةٍ.</a:t>
            </a:r>
            <a:endParaRPr lang="ar-SA" sz="23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For how long? → </a:t>
            </a:r>
            <a:pPr algn="l" indent="0" marL="0">
              <a:buNone/>
            </a:pPr>
            <a:r>
              <a:rPr lang="ar-SA" altLang="en-US" sz="1500" dirty="0">
                <a:solidFill>
                  <a:srgbClr val="1F2A37"/>
                </a:solidFill>
                <a:latin typeface="Amiri" pitchFamily="34" charset="0"/>
                <a:ea typeface="Amiri" pitchFamily="34" charset="-122"/>
                <a:cs typeface="Amiri" pitchFamily="34" charset="-120"/>
              </a:rPr>
              <a:t>لِمُدَّةِ</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3 · Jobs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أُسَاعِدُ أُمِّي، أُسَاعِدُ</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هَا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فِي المَطْبَخِ.</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Mother → her → </a:t>
            </a:r>
            <a:pPr algn="l" indent="0" marL="0">
              <a:buNone/>
            </a:pPr>
            <a:r>
              <a:rPr lang="ar-SA" altLang="en-US" sz="1500" dirty="0">
                <a:solidFill>
                  <a:srgbClr val="1F2A37"/>
                </a:solidFill>
                <a:latin typeface="Amiri" pitchFamily="34" charset="0"/>
                <a:ea typeface="Amiri" pitchFamily="34" charset="-122"/>
                <a:cs typeface="Amiri" pitchFamily="34" charset="-120"/>
              </a:rPr>
              <a:t>ـهَا</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4 · Prepare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أُحَضِّرُ حَقِيبَتِ</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ي</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حَتَّى</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لَا أَنْسَى كُتُبِي.</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Purpose + fatḥa ending.</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HOW LONG</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SUFFIX</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PURPOSE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أَرْجِعُ إِلَى البَيْتِ فِي الرَّابِعَةِ إِلَّا الرُّبْعَ، وَأَسْتَرِيحُ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لِمُدَّةِ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نِصْفِ سَاعَةٍ. ثُمَّ أُرَاجِعُ دُرُوسِ</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لِمُدَّةِ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سَاعَةٍ. بَعْدَ العَشَاءِ أُسَاعِدُ أُمِّي؛ أُسَاعِدُ</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هَا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فِي المَطْبَخِ. قَبْلَ النَّوْمِ أُحَضِّرُ حَقِيبَتِ</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حَتَّى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لَا أَنْسَى كُتُبِي.</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return home at quarter to four, and I rest for half an hour. Then I revise my lessons for an hour. After dinner I help my mother; I help her in the kitchen. Before sleep I prepare my bag so that I do not forget my books.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أَرْجِعُ إِلَى البَيْتِ فِي الرَّابِعَةِ إِلَّا الرُّبْعَ.</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return home at quarter to four.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Exact time anchors the routine.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أُسَاعِدُهَا فِي المَطْبَخِ.</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help her in the kitchen.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Object suffix after the verb.</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أَتَمَرَّنُ لِمُدَّةِ سَاعَةٍ.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train for an hour.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Duration, not clock time.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أُحَضِّرُ حَقِيبَتِي حَتَّى لَا أَنْسَى كُتُبِي.</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prepare my bag so I do not forget my books.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Purpose + subjunctive.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AFTER SCHOOL AND EVENING ROUTINE”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day: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مَشْهَدُ الرُّوتِينِ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school</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study in the afternoon</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night</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أَنَامُ لَيْلًا.</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أَذْهَبُ إِلَى المَدْرَسَةِ.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أَدْرُسُ بَعْدَ المَدْرَسَةِ.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مَشْهَدُ الرُّوتِينِ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school</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أَذْهَبُ إِلَى المَدْرَسَةِ.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go to school.</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study in the afternoon</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أَدْرُسُ بَعْدَ المَدْرَسَةِ.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study after school.</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night</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أَنَامُ لَيْلًا.</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sleep at night.</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Evening control 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أُغَيِّرُ مَلَابِسِي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أَتَنَاوَلُ وَجْبَةً خَفِيفَةً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أُكْمِلُ وَاجِبِي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أُسَاعِدُ أُسْرَتِي</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أُحَضِّرُ حَقِيبَتِي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أَضْبِطُ المُنَبِّهَ</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أَقْرَأُ قَبْلَ النَّوْمِ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أُرَتِّبُ غُرْفَتِي</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Arrival and recovery</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Responsibilities</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Preparation and rest</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Arrival and recovery</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أُغَيِّرُ مَلَابِسِي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أَتَنَاوَلُ وَجْبَةً خَفِيفَةً</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Responsibilities</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أُكْمِلُ وَاجِبِي</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أُسَاعِدُ أُسْرَتِي</a:t>
            </a:r>
            <a:endParaRPr lang="ar-SA" sz="1800" dirty="0"/>
          </a:p>
        </p:txBody>
      </p:sp>
      <p:sp>
        <p:nvSpPr>
          <p:cNvPr id="29" name="Shape 26"/>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أُرَتِّبُ غُرْفَتِي</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Preparation and rest</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أُحَضِّرُ حَقِيبَتِي</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أَضْبِطُ المُنَبِّهَ</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أَقْرَأُ قَبْلَ النَّوْمِ</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2,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revise my lessons”.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أَرْجِعُ دُرُوسِي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أُرَاجِعُ دُرُوسُهُ</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أُرَاجِعُ دُرُوسِي</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أُحَضِّرُ حَقِيبَتِي لِكَيْ لَا ___.</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أَتَأَخَّرُ</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أَتَأَخَّرَ</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تَأَخَّرْتُ</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coherent evening sequence.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أُكْمِلُ وَاجِبِي قَبْلَ أَنْ أَرْجِعَ مِنَ المَدْرَسَةِ.</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أَرْجِعُ، ثُمَّ أَسْتَرِيحُ، وَبَعْدَ ذٰلِكَ أُكْمِلُ وَاجِبِي.</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 إِلَى الفِرَاشِ أَوَّلًا فِي المَدْرَسَةِ.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يُحَضِّرُ حَقِيبَتُهُ.</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أُحَضِّرُ حَقِيبَتِي.</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تُحَضِّرُ حَقِيبَتَهَا.</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revise my lessons”.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أَرْجِعُ دُرُوسِي</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أُرَاجِعُ دُرُوسُهُ</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أُرَاجِعُ دُرُوسِي</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أُرَاجِعُ</a:t>
            </a:r>
            <a:pPr algn="l" indent="0" marL="0">
              <a:buNone/>
            </a:pPr>
            <a:r>
              <a:rPr lang="en-US" sz="1050" i="1" dirty="0">
                <a:solidFill>
                  <a:srgbClr val="8A6D1E"/>
                </a:solidFill>
                <a:latin typeface="Calibri" pitchFamily="34" charset="0"/>
                <a:ea typeface="Calibri" pitchFamily="34" charset="-122"/>
                <a:cs typeface="Calibri" pitchFamily="34" charset="-120"/>
              </a:rPr>
              <a:t> means I revise; </a:t>
            </a:r>
            <a:pPr algn="l" indent="0" marL="0">
              <a:buNone/>
            </a:pPr>
            <a:r>
              <a:rPr lang="ar-SA" altLang="en-US" sz="1350" dirty="0">
                <a:solidFill>
                  <a:srgbClr val="8A6D1E"/>
                </a:solidFill>
                <a:latin typeface="Amiri" pitchFamily="34" charset="0"/>
                <a:ea typeface="Amiri" pitchFamily="34" charset="-122"/>
                <a:cs typeface="Amiri" pitchFamily="34" charset="-120"/>
              </a:rPr>
              <a:t>دُرُوسِي</a:t>
            </a:r>
            <a:pPr algn="l" indent="0" marL="0">
              <a:buNone/>
            </a:pPr>
            <a:r>
              <a:rPr lang="en-US" sz="1050" i="1" dirty="0">
                <a:solidFill>
                  <a:srgbClr val="8A6D1E"/>
                </a:solidFill>
                <a:latin typeface="Calibri" pitchFamily="34" charset="0"/>
                <a:ea typeface="Calibri" pitchFamily="34" charset="-122"/>
                <a:cs typeface="Calibri" pitchFamily="34" charset="-120"/>
              </a:rPr>
              <a:t> means my lessons.</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أُحَضِّرُ حَقِيبَتِي لِكَيْ لَا ___.</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أَتَأَخَّرُ</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أَتَأَخَّرَ</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تَأَخَّرْتُ</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the subjunctive after </a:t>
            </a:r>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coherent evening sequence.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أُكْمِلُ وَاجِبِي قَبْلَ أَنْ أَرْجِعَ مِنَ المَدْرَسَةِ.</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أَرْجِعُ، ثُمَّ أَسْتَرِيحُ، وَبَعْدَ ذٰلِكَ أُكْمِلُ وَاجِبِي.</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أَذْهَبُ إِلَى الفِرَاشِ أَوَّلًا فِي المَدْرَسَةِ.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correct option gives a logical sequence.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أُخْتِي يُحَضِّرُ حَقِيبَتُهُ.</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أُخْتِي أُحَضِّرُ حَقِيبَتِي.</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أُخْتِي تُحَضِّرُ حَقِيبَتَهَا.</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subject takes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 and feminine possession </a:t>
            </a:r>
            <a:pPr algn="l" indent="0" marL="0">
              <a:buNone/>
            </a:pPr>
            <a:r>
              <a:rPr lang="ar-SA" altLang="en-US" sz="1350" dirty="0">
                <a:solidFill>
                  <a:srgbClr val="8A6D1E"/>
                </a:solidFill>
                <a:latin typeface="Amiri" pitchFamily="34" charset="0"/>
                <a:ea typeface="Amiri" pitchFamily="34" charset="-122"/>
                <a:cs typeface="Amiri" pitchFamily="34" charset="-120"/>
              </a:rPr>
              <a:t>ـها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أُرَاجِعُ إِلَى البَيْتِ.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Returning home or revising?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أُسَاعِدُهُ أُمِّي.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34" charset="0"/>
                <a:ea typeface="Amiri" pitchFamily="34" charset="-122"/>
                <a:cs typeface="Amiri" pitchFamily="34" charset="-120"/>
              </a:rPr>
              <a:t>أُمِّي</a:t>
            </a:r>
            <a:pPr algn="l" indent="0" marL="0">
              <a:buNone/>
            </a:pPr>
            <a:r>
              <a:rPr lang="en-US" sz="1300" i="1" dirty="0">
                <a:solidFill>
                  <a:srgbClr val="5A6472"/>
                </a:solidFill>
                <a:latin typeface="Calibri" pitchFamily="34" charset="0"/>
                <a:ea typeface="Calibri" pitchFamily="34" charset="-122"/>
                <a:cs typeface="Calibri" pitchFamily="34" charset="-120"/>
              </a:rPr>
              <a:t> is female. Which ending?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لِكَيْ أَسْتَعِدُّ.</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a:t>
            </a:r>
            <a:pPr algn="l" indent="0" marL="0">
              <a:buNone/>
            </a:pPr>
            <a:r>
              <a:rPr lang="ar-SA" altLang="en-US" sz="1700" dirty="0">
                <a:solidFill>
                  <a:srgbClr val="5A6472"/>
                </a:solidFill>
                <a:latin typeface="Amiri" pitchFamily="34" charset="0"/>
                <a:ea typeface="Amiri" pitchFamily="34" charset="-122"/>
                <a:cs typeface="Amiri" pitchFamily="34" charset="-120"/>
              </a:rPr>
              <a:t>لِكَيْ</a:t>
            </a:r>
            <a:pPr algn="l" indent="0" marL="0">
              <a:buNone/>
            </a:pPr>
            <a:r>
              <a:rPr lang="en-US" sz="1300" i="1" dirty="0">
                <a:solidFill>
                  <a:srgbClr val="5A6472"/>
                </a:solidFill>
                <a:latin typeface="Calibri" pitchFamily="34" charset="0"/>
                <a:ea typeface="Calibri" pitchFamily="34" charset="-122"/>
                <a:cs typeface="Calibri" pitchFamily="34" charset="-120"/>
              </a:rPr>
              <a:t>, what is the last vowel?</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أُرَاجِعُ إِلَى البَيْتِ.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أَرْجِعُ إِلَى البَيْتِ.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أَرْجِعُ</a:t>
            </a:r>
            <a:pPr algn="l" indent="0" marL="0">
              <a:buNone/>
            </a:pPr>
            <a:r>
              <a:rPr lang="en-US" sz="1150" b="1" dirty="0">
                <a:solidFill>
                  <a:srgbClr val="1B3B6F"/>
                </a:solidFill>
                <a:latin typeface="Calibri" pitchFamily="34" charset="0"/>
                <a:ea typeface="Calibri" pitchFamily="34" charset="-122"/>
                <a:cs typeface="Calibri" pitchFamily="34" charset="-120"/>
              </a:rPr>
              <a:t> means return; </a:t>
            </a:r>
            <a:pPr algn="l" indent="0" marL="0">
              <a:buNone/>
            </a:pPr>
            <a:r>
              <a:rPr lang="ar-SA" altLang="en-US" sz="1500" b="1" dirty="0">
                <a:solidFill>
                  <a:srgbClr val="1B3B6F"/>
                </a:solidFill>
                <a:latin typeface="Amiri" pitchFamily="34" charset="0"/>
                <a:ea typeface="Amiri" pitchFamily="34" charset="-122"/>
                <a:cs typeface="Amiri" pitchFamily="34" charset="-120"/>
              </a:rPr>
              <a:t>أُرَاجِعُ</a:t>
            </a:r>
            <a:pPr algn="l" indent="0" marL="0">
              <a:buNone/>
            </a:pPr>
            <a:r>
              <a:rPr lang="en-US" sz="1150" b="1" dirty="0">
                <a:solidFill>
                  <a:srgbClr val="1B3B6F"/>
                </a:solidFill>
                <a:latin typeface="Calibri" pitchFamily="34" charset="0"/>
                <a:ea typeface="Calibri" pitchFamily="34" charset="-122"/>
                <a:cs typeface="Calibri" pitchFamily="34" charset="-120"/>
              </a:rPr>
              <a:t> means revise.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أُسَاعِدُهُ أُمِّي.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أُسَاعِدُهَا.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feminine object suffix is </a:t>
            </a:r>
            <a:pPr algn="l" indent="0" marL="0">
              <a:buNone/>
            </a:pPr>
            <a:r>
              <a:rPr lang="ar-SA" altLang="en-US" sz="1500" b="1" dirty="0">
                <a:solidFill>
                  <a:srgbClr val="1B3B6F"/>
                </a:solidFill>
                <a:latin typeface="Amiri" pitchFamily="34" charset="0"/>
                <a:ea typeface="Amiri" pitchFamily="34" charset="-122"/>
                <a:cs typeface="Amiri" pitchFamily="34" charset="-120"/>
              </a:rPr>
              <a:t>ـها</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لِكَيْ أَسْتَعِدُّ.</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لِكَيْ أَسْتَعِدَّ.</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verb is subjunctive after </a:t>
            </a:r>
            <a:pPr algn="l" indent="0" marL="0">
              <a:buNone/>
            </a:pPr>
            <a:r>
              <a:rPr lang="ar-SA" altLang="en-US" sz="1500" b="1" dirty="0">
                <a:solidFill>
                  <a:srgbClr val="1B3B6F"/>
                </a:solidFill>
                <a:latin typeface="Amiri" pitchFamily="34" charset="0"/>
                <a:ea typeface="Amiri" pitchFamily="34" charset="-122"/>
                <a:cs typeface="Amiri" pitchFamily="34" charset="-120"/>
              </a:rPr>
              <a:t>لِكَيْ</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Mariam’s busy evening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Mariam return home?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4:10</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4:30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5:10</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do immediately?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starts homework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goes to bed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changes clothes and has a snack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does she rest?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half an hour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hour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20 minutes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Whom does she help?</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mother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sister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teacher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she prepare her bag?</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she can watch television</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she does not forget her books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 school is closed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الرَّابِعَةِ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عِشْرِينَ دَقِيقَةً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أُمَّهَا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تَعُودُ مَرْيَمُ إِلَى البَيْتِ فِي الرَّابِعَةِ وَعَشْرِ دَقَائِقَ.</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Mariam returns home at ten past four.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مُبَاشَرَةً تُغَيِّرُ مَلَابِسَهَا وَتَتَنَاوَلُ وَجْبَةً خَفِيفَةً.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Straight away she changes her clothes and has a snack.</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بَعْدَ ذٰلِكَ تَسْتَرِيحُ لِمُدَّةِ عِشْرِينَ دَقِيقَةً فَقَطْ، لِأَنَّ لَدَيْهَا تَدْرِيبًا فِي الخَامِسَةِ وَالنِّصْفِ.</a:t>
            </a:r>
            <a:endParaRPr lang="ar-SA" sz="18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that she rests for only twenty minutes, because she has training at half past five.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عِنْدَمَا تَعُودُ مِنَ التَّدْرِيبِ، تُسَاعِدُ أُمَّهَا فِي إِعْدَادِ العَشَاءِ، ثُمَّ تُكْمِلُ وَاجِبَهَا.</a:t>
            </a:r>
            <a:endParaRPr lang="ar-SA" sz="19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she returns from training, she helps her mother prepare dinner, then finishes her homework.</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قَبْلَ أَنْ تَنَامَ، تُحَضِّرُ حَقِيبَتَهَا حَتَّى لَا تَنْسَى كُتُبَهَا.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Before she sleeps, she prepares her bag so that she does not forget her books.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Mariam return home?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4:10</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4:30</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5:10</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الرَّابِعَةِ وَعَشْرِ دَقَائِقَ.</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do immediately?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starts homework</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goes to bed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changes clothes and has a snack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مُبَاشَرَةً تُغَيِّرُ مَلَابِسَهَا وَتَتَنَاوَلُ وَجْبَةً خَفِيفَةً.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does she rest?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half an hour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hour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20 minutes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لِمُدَّةِ عِشْرِينَ دَقِيقَةً.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Whom does she help?</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her mother</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sister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teacher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تُسَاعِدُ أُمَّهَا.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she prepare her bag?</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so she can watch television</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so she does not forget her books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because school is closed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حَتَّى لَا تَنْسَى كُتُبَهَا.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الرَّابِعَةِ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عِشْرِينَ دَقِيقَةً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أُمَّهَا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Explain and justify your after-school routine</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مَتَى تَعُودُ إِلَى البَيْتِ؟ وَمَاذَا تَفْعَلُ مُبَاشَرَةً؟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مِنَ الوَقْتِ تَقْضِي فِي الوَاجِبِ؟</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تُسَاعِدُ أُسْرَتَكَ؟</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أَفْضَلُ جُزْءٍ فِي رُوتِينِ المَسَاءِ؟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أَعُودُ إِلَى البَيْتِ فِي السَّاعَةِ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أُكْمِلُ وَاجِبِي لِمُدَّةِ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F2A37"/>
                </a:solidFill>
                <a:latin typeface="Amiri" pitchFamily="34" charset="0"/>
                <a:ea typeface="Amiri" pitchFamily="34" charset="-122"/>
                <a:cs typeface="Amiri" pitchFamily="34" charset="-120"/>
              </a:rPr>
              <a:t>أُسَاعِدُ أُمِّي / أَبِي ؛ أُسَاعِدُهَا / أُسَاعِدُهُ فِي ___ .</a:t>
            </a:r>
            <a:endParaRPr lang="ar-SA" sz="12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أَفْضَلُ جُزْءٍ هُوَ ___ لِأَنَّ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تَفْعَلُ عِنْدَمَا تَعُودُ؟</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do you do when you return?</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أُغَيِّرُ مَلَابِسِي وَأَسْتَرِيحُ قَلِيلًا، ثُمَّ أُكْمِلُ وَاجِبِي لِكَيْ أَكُونَ حُرًّا فِي المَسَاءِ.</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 change my clothes and rest a little, then I finish my homework so that I am free in the evening.</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Sequence four evening actions with times.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Three phases: arrive (time), rest (for how long), jobs, dinner, bed. Use the Core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duration, suffixes and a purpose clause.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two possessive endings (my room), one object ending (I help her) and a purpose clause.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Evaluate the routine and suggest one realistic improvement.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exact times, six evening verbs, suffixes, duration, purpose and a reasoned opinion.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أُسَاعِدُ أُمِّي؛ أُسَاعِدُهَا فِي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help my mother; I help her in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أُسَاعِدُ أَبِي؛ أُسَاعِدُهُ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help my father; I help him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أَزُورُ جَدِّي وَجَدَّتِي؛ أَزُورُهُمْ يَوْمَ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visit my grandparents; I visit them on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أُرَاجِعُ لِكَيْ أَفْهَمَ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revise so that I understand the lesson.</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أُحَضِّرُ حَقِيبَتِي حَتَّى لَا أَنْسَى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prepare my bag so that I don’t forget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أَرْجِعُ إِلَى البَيْتِ فِي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return home at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أَسْتَرِيحُ لِمُدَّةِ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rest for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ثُمَّ أُرَاجِعُ دُرُوسِي.</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Then I revise my lessons.</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أَتَنَاوَلُ العَشَاءَ فِي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dinner at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أَذْهَبُ إِلَى الفِرَاشِ فِي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go to bed at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أَرْجِعُ  ·  أُغَيِّرُ مَلَابِسِي  ·  أَسْتَرِيحُ  ·  أُرَاجِعُ دُرُوسِي  ·  أُكْمِلُ وَاجِبِي  ·  أُرَتِّبُ غُرْفَتِي  ·  أَغْسِلُ الأَطْبَاقَ  ·  أُحَضِّرُ حَقِيبَتِي  ·  لِمُدَّةِ  ·  مُبَاشَرَةً  ·  لِكَيْ  ·  حَتَّى لَا</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100–120 words about your after-school and evening routine.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Give exact arrival, dinner and bedtime times.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six after-school/evening verbs.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one object suffix and two possessive suffixes.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duration and purpose accurately.</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a comparison or reasoned opinion.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لِكَيْ أَكُونَ حُرًّا بَعْدَ العَشَاءِ</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that I am free after dinner</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بَدَلًا مِنَ البَقَاءِ عَلَى هَاتِفِي</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instead of staying on my phone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وَلَا أَبْدَأُ وَاجِبِي مُبَاشَرَةً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I don’t start my homework straight away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التَّحْضِيرُ المُسْبَقُ يَجْعَلُ الصَّبَاحَ أَسْهَلَ</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preparing in advance makes the morning easier</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يَجْمَعُ بَيْنَ الوَاجِبِ وَالرَّاحَةِ</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combines homework and rest</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34" charset="0"/>
                <a:ea typeface="Amiri" pitchFamily="34" charset="-122"/>
                <a:cs typeface="Amiri" pitchFamily="34" charset="-120"/>
              </a:rPr>
              <a:t>أَعُودُ إِلَى البَيْتِ فِي الرَّابِعَةِ إِلَّا الرُّبْعَ. أَوَّلًا أُغَيِّرُ مَلَابِسِي وَأَتَنَاوَلُ وَجْبَةً خَفِيفَةً، ثُمَّ أَسْتَرِيحُ لِمُدَّةِ نِصْفِ سَاعَةٍ. بَعْدَ ذٰلِكَ أُرَاجِعُ دُرُوسِي وَأُكْمِلُ وَاجِبِي لِكَيْ أَكُونَ حُرًّا بَعْدَ العَشَاءِ. أُسَاعِدُ أُمِّي فِي المَطْبَخِ، وَأَحْيَانًا أَغْسِلُ الأَطْبَاقَ مَعَ أَخِي. فِي المَسَاءِ أَقْرَأُ أَوْ أَتَحَدَّثُ مَعَ أُسْرَتِي بَدَلًا مِنَ البَقَاءِ عَلَى هَاتِفِي. قَبْلَ أَنْ أَنَامَ أُحَضِّرُ حَقِيبَتِي وَأَضْبِطُ المُنَبِّهَ. فِي رَأْيِي، هٰذَا الرُّوتِينُ مُنَظَّمٌ لِأَنَّهُ يَجْمَعُ بَيْنَ الوَاجِبِ وَالرَّاحَةِ.</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return home at quarter to four. First I change my clothes and have a snack, then I rest for half an hour. After that I revise my lessons and finish my homework so that I am free after dinner. I help my mother in the kitchen, and sometimes I wash the dishes with my brother. In the evening I read or talk with my family instead of staying on my phone. Before I sleep I prepare my bag and set the alarm. In my opinion, this routine is organised because it combines homework and rest.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exact time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duration with لِمُدَّةِ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purpose clause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possessive endings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evening has three phases in order.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one exact time and one “for how long”.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did not mix up return and revise.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endings match the person (her → </a:t>
            </a:r>
            <a:pPr algn="l" indent="0" marL="0">
              <a:buNone/>
            </a:pPr>
            <a:r>
              <a:rPr lang="ar-SA" altLang="en-US" sz="1700" dirty="0">
                <a:solidFill>
                  <a:srgbClr val="1F2A37"/>
                </a:solidFill>
                <a:latin typeface="Amiri" pitchFamily="34" charset="0"/>
                <a:ea typeface="Amiri" pitchFamily="34" charset="-122"/>
                <a:cs typeface="Amiri" pitchFamily="34" charset="-120"/>
              </a:rPr>
              <a:t>ـهَا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a:t>
            </a:r>
            <a:pPr algn="l" indent="0" marL="0">
              <a:buNone/>
            </a:pPr>
            <a:r>
              <a:rPr lang="ar-SA" altLang="en-US" sz="1700" dirty="0">
                <a:solidFill>
                  <a:srgbClr val="1F2A37"/>
                </a:solidFill>
                <a:latin typeface="Amiri" pitchFamily="34" charset="0"/>
                <a:ea typeface="Amiri" pitchFamily="34" charset="-122"/>
                <a:cs typeface="Amiri" pitchFamily="34" charset="-120"/>
              </a:rPr>
              <a:t>لِكَيْ / حَتَّى</a:t>
            </a:r>
            <a:pPr algn="l" indent="0" marL="0">
              <a:buNone/>
            </a:pPr>
            <a:r>
              <a:rPr lang="en-US" sz="1300" dirty="0">
                <a:solidFill>
                  <a:srgbClr val="1F2A37"/>
                </a:solidFill>
                <a:latin typeface="Calibri" pitchFamily="34" charset="0"/>
                <a:ea typeface="Calibri" pitchFamily="34" charset="-122"/>
                <a:cs typeface="Calibri" pitchFamily="34" charset="-120"/>
              </a:rPr>
              <a:t> my verb ends in fatḥa.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return”.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أَرْجِعُ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أُرَاجِعُ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يَرْجِعُ</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help her”.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أُسَاعِدُهُ</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أُسَاعِدُهَا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تُسَاعِدُنِي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لِكَيْ لَا</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أَتَأَخَّرَ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أَتَأَخَّرُ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تَأَخَّرْتُ</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return”.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أَرْجِعُ</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أُرَاجِعُ</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يَرْجِعُ</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أَرْجِعُ</a:t>
            </a:r>
            <a:pPr algn="l" indent="0" marL="0">
              <a:buNone/>
            </a:pPr>
            <a:r>
              <a:rPr lang="en-US" sz="1050" i="1" dirty="0">
                <a:solidFill>
                  <a:srgbClr val="8A6D1E"/>
                </a:solidFill>
                <a:latin typeface="Calibri" pitchFamily="34" charset="0"/>
                <a:ea typeface="Calibri" pitchFamily="34" charset="-122"/>
                <a:cs typeface="Calibri" pitchFamily="34" charset="-120"/>
              </a:rPr>
              <a:t> = I return.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help her”.</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أُسَاعِدُهُ</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أُسَاعِدُهَا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تُسَاعِدُنِي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ـها</a:t>
            </a:r>
            <a:pPr algn="l" indent="0" marL="0">
              <a:buNone/>
            </a:pPr>
            <a:r>
              <a:rPr lang="en-US" sz="1050" i="1" dirty="0">
                <a:solidFill>
                  <a:srgbClr val="8A6D1E"/>
                </a:solidFill>
                <a:latin typeface="Calibri" pitchFamily="34" charset="0"/>
                <a:ea typeface="Calibri" pitchFamily="34" charset="-122"/>
                <a:cs typeface="Calibri" pitchFamily="34" charset="-120"/>
              </a:rPr>
              <a:t> is the feminine object suffix.</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لِكَيْ لَا</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أَتَأَخَّرَ</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أَتَأَخَّرُ</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تَأَخَّرْتُ</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Subjunctive after </a:t>
            </a:r>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 organised evening</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550" dirty="0">
                <a:solidFill>
                  <a:srgbClr val="1F2A37"/>
                </a:solidFill>
                <a:latin typeface="Amiri" pitchFamily="34" charset="0"/>
                <a:ea typeface="Amiri" pitchFamily="34" charset="-122"/>
                <a:cs typeface="Amiri" pitchFamily="34" charset="-120"/>
              </a:rPr>
              <a:t>أَعُودُ مِنَ المَدْرَسَةِ فِي الثَّالِثَةِ وَالنِّصْفِ، وَلَا أَبْدَأُ وَاجِبِي مُبَاشَرَةً؛ فَأَنَا أَحْتَاجُ إِلَى اِسْتِرَاحَةٍ قَصِيرَةٍ. أَتَنَاوَلُ شَيْئًا خَفِيفًا وَأَتَحَدَّثُ مَعَ أُمِّي، ثُمَّ أُرَاجِعُ دُرُوسِي لِمُدَّةِ سَاعَةٍ. يَوْمَيِ الثُّلَاثَاءِ وَالخَمِيسِ أَذْهَبُ إِلَى النَّادِي، بَيْنَمَا أَبْقَى فِي البَيْتِ فِي بَقِيَّةِ الأَيَّامِ. بَعْدَ العَشَاءِ أُسَاعِدُ أَبِي فِي تَرْتِيبِ المَطْبَخِ. أُحَضِّرُ مَلَابِسِي وَحَقِيبَتِي لَيْلًا لِكَيْ أَخْرُجَ مِنَ البَيْتِ دُونَ عَجَلَةٍ فِي الصَّبَاحِ. فِي رَأْيِي، التَّحْضِيرُ المُسْبَقُ يَجْعَلُ المَسَاءَ أَهْدَأَ وَالصَّبَاحَ أَسْهَلَ.</a:t>
            </a:r>
            <a:endParaRPr lang="ar-SA" sz="25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أَبْدَأُ</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don’t start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أَحْتَاجُ إِلَى</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need</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اِسْتِرَاحَةٍ قَصِيرَةٍ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short break</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شَيْئًا خَفِيفًا</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something light</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أَبْقَى</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stay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بَقِيَّةِ الأَيَّامِ</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rest of the days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تَرْتِيبِ المَطْبَخِ</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tidying the kitchen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دُونَ عَجَلَةٍ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without rushing</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التَّحْضِيرُ المُسْبَقُ</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advance preparation</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أَهْدَأَ … أَسْهَلَ</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calmer … easier</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homework not started immediately?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books are at school</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short rest is needed</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dinner starts at once</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revision?</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twenty minutes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hours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hour</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On which days is the club attended?</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Tuesday and Thursday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Monday and Friday</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Saturday only</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Whom does the writer help?</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mother</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father</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friend</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are clothes and bag prepared at night?</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leave without rushing</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miss school</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train longer</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writer’s judgement?</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evening routines are unnecessary</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homework should be avoided</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advance preparation improves evening and morning</a:t>
            </a:r>
            <a:endParaRPr lang="en-US" sz="110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homework not started immediately?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books are at school</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short rest is needed</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dinner starts at once</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أَحْتَاجُ إِلَى اِسْتِرَاحَةٍ قَصِيرَةٍ.</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revision?</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twenty minutes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hours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one hour</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لِمُدَّةِ سَاعَةٍ.</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On which days is the club attended?</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Tuesday and Thursday</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Monday and Friday</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Saturday only</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يَوْمَيِ الثُّلَاثَاءِ وَالخَمِيسِ.</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Whom does the writer help?</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mother</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father</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friend</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أُسَاعِدُ أَبِي.</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are clothes and bag prepared at night?</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leave without rushing</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miss school</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train longer</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لِكَيْ أَخْرُجَ ... دُونَ عَجَلَةٍ.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writer’s judgement?</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evening routines are unnecessary</a:t>
            </a:r>
            <a:endParaRPr lang="en-US" sz="11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homework should be avoided</a:t>
            </a:r>
            <a:endParaRPr lang="en-US" sz="11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ea typeface="Calibri" pitchFamily="34" charset="-122"/>
                <a:cs typeface="Calibri" pitchFamily="34" charset="-120"/>
              </a:rPr>
              <a:t>advance preparation improves evening and morning</a:t>
            </a:r>
            <a:endParaRPr lang="en-US" sz="110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sentence evaluates the benefit.</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Evening routine Arabic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Arabic for “I prepare my school bag.”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أُحَضِّرُ حَقِيبَتَهُ.</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أُحَضِّرُ حَقِيبَتِي.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تُحَضِّرُ حَقِيبَتَهَا.</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Arabic for “I help her in the kitchen.”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أُسَاعِدُهَا فِي المَطْبَخِ.</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أُسَاعِدُهُ فِي المَطْبَخِ.</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تُسَاعِدُنِي فِي المَطْبَخِ.</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أَسْتَرِيحُ لِمُدَّةِ ___.</a:t>
            </a:r>
            <a:endParaRPr lang="ar-SA" sz="15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النِّصْفُ سَاعَةٌ</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السَّاعَةِ نِصْفٌ</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نِصْفِ سَاعَةٍ</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purpose sentence:</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أُرَاجِعُ دُرُوسِي لِكَيْ ___.</a:t>
            </a:r>
            <a:endParaRPr lang="ar-SA" sz="15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أَفْهَمُهَا</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يَفْهَمَهَا</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أَفْهَمَهَا</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4" name="Text 7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strongest purposeful routine sentence.</a:t>
            </a:r>
            <a:endParaRPr lang="en-US" sz="125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أُحَضِّرُ حَقِيبَتِي حَتَّى لَا أَنْسَى كُتُبِي.</a:t>
            </a:r>
            <a:endParaRPr lang="ar-SA" sz="200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حَقِيبَتِي حَتَّى الكُتُبُ.</a:t>
            </a:r>
            <a:endParaRPr lang="ar-SA" sz="200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أَنْسَى حَقِيبَتِي لِكَيْ.</a:t>
            </a:r>
            <a:endParaRPr lang="ar-SA" sz="2000" dirty="0"/>
          </a:p>
        </p:txBody>
      </p:sp>
      <p:sp>
        <p:nvSpPr>
          <p:cNvPr id="84" name="Shape 8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223504" y="4288536"/>
            <a:ext cx="310896" cy="310896"/>
          </a:xfrm>
          <a:prstGeom prst="ellipse">
            <a:avLst/>
          </a:prstGeom>
          <a:solidFill>
            <a:srgbClr val="1B3B6F"/>
          </a:solidFill>
          <a:ln w="12700">
            <a:solidFill>
              <a:srgbClr val="1B3B6F"/>
            </a:solidFill>
            <a:prstDash val="solid"/>
          </a:ln>
        </p:spPr>
      </p:sp>
      <p:sp>
        <p:nvSpPr>
          <p:cNvPr id="86" name="Text 8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7" name="Text 84"/>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88" name="Text 85"/>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عِنْدَمَا أَعُودُ مِنَ المَدْرَسَةِ أُغَيِّرُ مَلَابِسِي، ثُمَّ أَتَنَاوَلُ وَجْبَةً خَفِيفَةً</a:t>
            </a:r>
            <a:pPr algn="l" indent="0" marL="0">
              <a:buNone/>
            </a:pPr>
            <a:r>
              <a:rPr lang="en-US" sz="1000" b="1" dirty="0">
                <a:solidFill>
                  <a:srgbClr val="1F2A37"/>
                </a:solidFill>
                <a:latin typeface="Calibri" pitchFamily="34" charset="0"/>
                <a:ea typeface="Calibri" pitchFamily="34" charset="-122"/>
                <a:cs typeface="Calibri" pitchFamily="34" charset="-120"/>
              </a:rPr>
              <a:t>. What does the speaker do first?</a:t>
            </a:r>
            <a:endParaRPr lang="en-US" sz="1000" dirty="0"/>
          </a:p>
        </p:txBody>
      </p:sp>
      <p:sp>
        <p:nvSpPr>
          <p:cNvPr id="89" name="Shape 86"/>
          <p:cNvSpPr/>
          <p:nvPr/>
        </p:nvSpPr>
        <p:spPr>
          <a:xfrm>
            <a:off x="8278368" y="48737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1" name="Text 88"/>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يَتَنَاوَلُ وَجْبَةً خَفِيفَةً.</a:t>
            </a:r>
            <a:endParaRPr lang="ar-SA" sz="2050" dirty="0"/>
          </a:p>
        </p:txBody>
      </p:sp>
      <p:sp>
        <p:nvSpPr>
          <p:cNvPr id="92" name="Shape 89"/>
          <p:cNvSpPr/>
          <p:nvPr/>
        </p:nvSpPr>
        <p:spPr>
          <a:xfrm>
            <a:off x="8278368" y="53309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4" name="Text 91"/>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يُغَيِّرُ مَلَابِسَهُ.</a:t>
            </a:r>
            <a:endParaRPr lang="ar-SA" sz="2050" dirty="0"/>
          </a:p>
        </p:txBody>
      </p:sp>
      <p:sp>
        <p:nvSpPr>
          <p:cNvPr id="95" name="Shape 92"/>
          <p:cNvSpPr/>
          <p:nvPr/>
        </p:nvSpPr>
        <p:spPr>
          <a:xfrm>
            <a:off x="8278368" y="5788152"/>
            <a:ext cx="256032" cy="256032"/>
          </a:xfrm>
          <a:prstGeom prst="ellipse">
            <a:avLst/>
          </a:prstGeom>
          <a:solidFill>
            <a:srgbClr val="F4F1EA"/>
          </a:solidFill>
          <a:ln w="12700">
            <a:solidFill>
              <a:srgbClr val="F4F1EA"/>
            </a:solidFill>
            <a:prstDash val="solid"/>
          </a:ln>
        </p:spPr>
      </p:sp>
      <p:sp>
        <p:nvSpPr>
          <p:cNvPr id="96" name="Text 93"/>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7" name="Text 94"/>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يُحَضِّرُ حَقِيبَتَهُ.</a:t>
            </a:r>
            <a:endParaRPr lang="ar-SA" sz="20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Arabic for “I prepare my school bag.”</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أُحَضِّرُ حَقِيبَتَهُ.</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أُحَضِّرُ حَقِيبَتِي.</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تُحَضِّرُ حَقِيبَتَهَا.</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suffix </a:t>
            </a:r>
            <a:pPr algn="l" indent="0" marL="0">
              <a:buNone/>
            </a:pPr>
            <a:r>
              <a:rPr lang="ar-SA" altLang="en-US" sz="1350" dirty="0">
                <a:solidFill>
                  <a:srgbClr val="8A6D1E"/>
                </a:solidFill>
                <a:latin typeface="Amiri" pitchFamily="34" charset="0"/>
                <a:ea typeface="Amiri" pitchFamily="34" charset="-122"/>
                <a:cs typeface="Amiri" pitchFamily="34" charset="-120"/>
              </a:rPr>
              <a:t>ـي</a:t>
            </a:r>
            <a:pPr algn="l" indent="0" marL="0">
              <a:buNone/>
            </a:pPr>
            <a:r>
              <a:rPr lang="en-US" sz="1050" i="1" dirty="0">
                <a:solidFill>
                  <a:srgbClr val="8A6D1E"/>
                </a:solidFill>
                <a:latin typeface="Calibri" pitchFamily="34" charset="0"/>
                <a:ea typeface="Calibri" pitchFamily="34" charset="-122"/>
                <a:cs typeface="Calibri" pitchFamily="34" charset="-120"/>
              </a:rPr>
              <a:t> means “my”: </a:t>
            </a:r>
            <a:pPr algn="l" indent="0" marL="0">
              <a:buNone/>
            </a:pPr>
            <a:r>
              <a:rPr lang="ar-SA" altLang="en-US" sz="1350" dirty="0">
                <a:solidFill>
                  <a:srgbClr val="8A6D1E"/>
                </a:solidFill>
                <a:latin typeface="Amiri" pitchFamily="34" charset="0"/>
                <a:ea typeface="Amiri" pitchFamily="34" charset="-122"/>
                <a:cs typeface="Amiri" pitchFamily="34" charset="-120"/>
              </a:rPr>
              <a:t>حَقِيبَتِي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Arabic for “I help her in the kitchen.”</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أُسَاعِدُهَا فِي المَطْبَخِ.</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أُسَاعِدُهُ فِي المَطْبَخِ.</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تُسَاعِدُنِي فِي المَطْبَخِ.</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object suffix </a:t>
            </a:r>
            <a:pPr algn="l" indent="0" marL="0">
              <a:buNone/>
            </a:pPr>
            <a:r>
              <a:rPr lang="ar-SA" altLang="en-US" sz="1350" dirty="0">
                <a:solidFill>
                  <a:srgbClr val="8A6D1E"/>
                </a:solidFill>
                <a:latin typeface="Amiri" pitchFamily="34" charset="0"/>
                <a:ea typeface="Amiri" pitchFamily="34" charset="-122"/>
                <a:cs typeface="Amiri" pitchFamily="34" charset="-120"/>
              </a:rPr>
              <a:t>ـهَا</a:t>
            </a:r>
            <a:pPr algn="l" indent="0" marL="0">
              <a:buNone/>
            </a:pPr>
            <a:r>
              <a:rPr lang="en-US" sz="1050" i="1" dirty="0">
                <a:solidFill>
                  <a:srgbClr val="8A6D1E"/>
                </a:solidFill>
                <a:latin typeface="Calibri" pitchFamily="34" charset="0"/>
                <a:ea typeface="Calibri" pitchFamily="34" charset="-122"/>
                <a:cs typeface="Calibri" pitchFamily="34" charset="-120"/>
              </a:rPr>
              <a:t> means “her”.</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0"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أَسْتَرِيحُ لِمُدَّةِ ___.</a:t>
            </a:r>
            <a:endParaRPr lang="ar-SA" sz="150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النِّصْفُ سَاعَةٌ</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السَّاعَةِ نِصْفٌ</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نِصْفِ سَاعَةٍ</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لِمُدَّةِ</a:t>
            </a:r>
            <a:pPr algn="l" indent="0" marL="0">
              <a:buNone/>
            </a:pPr>
            <a:r>
              <a:rPr lang="en-US" sz="1050" i="1" dirty="0">
                <a:solidFill>
                  <a:srgbClr val="8A6D1E"/>
                </a:solidFill>
                <a:latin typeface="Calibri" pitchFamily="34" charset="0"/>
                <a:ea typeface="Calibri" pitchFamily="34" charset="-122"/>
                <a:cs typeface="Calibri" pitchFamily="34" charset="-120"/>
              </a:rPr>
              <a:t>, use the time period in the genitive: </a:t>
            </a:r>
            <a:pPr algn="l" indent="0" marL="0">
              <a:buNone/>
            </a:pPr>
            <a:r>
              <a:rPr lang="ar-SA" altLang="en-US" sz="1350" dirty="0">
                <a:solidFill>
                  <a:srgbClr val="8A6D1E"/>
                </a:solidFill>
                <a:latin typeface="Amiri" pitchFamily="34" charset="0"/>
                <a:ea typeface="Amiri" pitchFamily="34" charset="-122"/>
                <a:cs typeface="Amiri" pitchFamily="34" charset="-120"/>
              </a:rPr>
              <a:t>نِصْفِ سَاعَةٍ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purpose sentence:</a:t>
            </a:r>
            <a:endParaRPr lang="en-US" sz="1200" dirty="0"/>
          </a:p>
        </p:txBody>
      </p:sp>
      <p:sp>
        <p:nvSpPr>
          <p:cNvPr id="66"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أُرَاجِعُ دُرُوسِي لِكَيْ ___.</a:t>
            </a:r>
            <a:endParaRPr lang="ar-SA" sz="1500" dirty="0"/>
          </a:p>
        </p:txBody>
      </p:sp>
      <p:sp>
        <p:nvSpPr>
          <p:cNvPr id="67"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8"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أَفْهَمُهَا</a:t>
            </a:r>
            <a:endParaRPr lang="ar-SA" sz="1700" dirty="0"/>
          </a:p>
        </p:txBody>
      </p:sp>
      <p:sp>
        <p:nvSpPr>
          <p:cNvPr id="70" name="Shape 68"/>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70"/>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يَفْهَمَهَا</a:t>
            </a:r>
            <a:endParaRPr lang="ar-SA" sz="1700" dirty="0"/>
          </a:p>
        </p:txBody>
      </p:sp>
      <p:sp>
        <p:nvSpPr>
          <p:cNvPr id="73" name="Shape 7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4" name="Shape 72"/>
          <p:cNvSpPr/>
          <p:nvPr/>
        </p:nvSpPr>
        <p:spPr>
          <a:xfrm>
            <a:off x="640080" y="5574792"/>
            <a:ext cx="256032" cy="256032"/>
          </a:xfrm>
          <a:prstGeom prst="ellipse">
            <a:avLst/>
          </a:prstGeom>
          <a:solidFill>
            <a:srgbClr val="2E8B57"/>
          </a:solidFill>
          <a:ln w="12700">
            <a:solidFill>
              <a:srgbClr val="2E8B57"/>
            </a:solidFill>
            <a:prstDash val="solid"/>
          </a:ln>
        </p:spPr>
      </p:sp>
      <p:sp>
        <p:nvSpPr>
          <p:cNvPr id="75"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أَفْهَمَهَا</a:t>
            </a:r>
            <a:endParaRPr lang="ar-SA" sz="1700" dirty="0"/>
          </a:p>
        </p:txBody>
      </p:sp>
      <p:sp>
        <p:nvSpPr>
          <p:cNvPr id="77"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the first-person present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أَفْهَمَ</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8"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0"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1" name="Text 7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strongest purposeful routine sentence.</a:t>
            </a:r>
            <a:endParaRPr lang="en-US" sz="1250" dirty="0"/>
          </a:p>
        </p:txBody>
      </p:sp>
      <p:sp>
        <p:nvSpPr>
          <p:cNvPr id="82"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3"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4"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5"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أُحَضِّرُ حَقِيبَتِي حَتَّى لَا أَنْسَى كُتُبِي.</a:t>
            </a:r>
            <a:endParaRPr lang="ar-SA" sz="1700" dirty="0"/>
          </a:p>
        </p:txBody>
      </p:sp>
      <p:sp>
        <p:nvSpPr>
          <p:cNvPr id="86"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8"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حَقِيبَتِي حَتَّى الكُتُبُ.</a:t>
            </a:r>
            <a:endParaRPr lang="ar-SA" sz="1700" dirty="0"/>
          </a:p>
        </p:txBody>
      </p:sp>
      <p:sp>
        <p:nvSpPr>
          <p:cNvPr id="89"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1" name="Text 8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أَنْسَى حَقِيبَتِي لِكَيْ.</a:t>
            </a:r>
            <a:endParaRPr lang="ar-SA" sz="1700" dirty="0"/>
          </a:p>
        </p:txBody>
      </p:sp>
      <p:sp>
        <p:nvSpPr>
          <p:cNvPr id="92"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sentence links an action to its purpose and uses a complete clause after </a:t>
            </a:r>
            <a:pPr algn="l" indent="0" marL="0">
              <a:buNone/>
            </a:pPr>
            <a:r>
              <a:rPr lang="ar-SA" altLang="en-US" sz="1350" dirty="0">
                <a:solidFill>
                  <a:srgbClr val="8A6D1E"/>
                </a:solidFill>
                <a:latin typeface="Amiri" pitchFamily="34" charset="0"/>
                <a:ea typeface="Amiri" pitchFamily="34" charset="-122"/>
                <a:cs typeface="Amiri" pitchFamily="34" charset="-120"/>
              </a:rPr>
              <a:t>حَتَّى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3" name="Shape 9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2"/>
          <p:cNvSpPr/>
          <p:nvPr/>
        </p:nvSpPr>
        <p:spPr>
          <a:xfrm>
            <a:off x="8223504" y="4288536"/>
            <a:ext cx="310896" cy="310896"/>
          </a:xfrm>
          <a:prstGeom prst="ellipse">
            <a:avLst/>
          </a:prstGeom>
          <a:solidFill>
            <a:srgbClr val="1B3B6F"/>
          </a:solidFill>
          <a:ln w="12700">
            <a:solidFill>
              <a:srgbClr val="1B3B6F"/>
            </a:solidFill>
            <a:prstDash val="solid"/>
          </a:ln>
        </p:spPr>
      </p:sp>
      <p:sp>
        <p:nvSpPr>
          <p:cNvPr id="95" name="Text 9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6" name="Text 94"/>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97" name="Text 95"/>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عِنْدَمَا أَعُودُ مِنَ المَدْرَسَةِ أُغَيِّرُ مَلَابِسِي، ثُمَّ أَتَنَاوَلُ وَجْبَةً خَفِيفَةً</a:t>
            </a:r>
            <a:pPr algn="l" indent="0" marL="0">
              <a:buNone/>
            </a:pPr>
            <a:r>
              <a:rPr lang="en-US" sz="1000" b="1" dirty="0">
                <a:solidFill>
                  <a:srgbClr val="1F2A37"/>
                </a:solidFill>
                <a:latin typeface="Calibri" pitchFamily="34" charset="0"/>
                <a:ea typeface="Calibri" pitchFamily="34" charset="-122"/>
                <a:cs typeface="Calibri" pitchFamily="34" charset="-120"/>
              </a:rPr>
              <a:t>. What does the speaker do first?</a:t>
            </a:r>
            <a:endParaRPr lang="en-US" sz="1000" dirty="0"/>
          </a:p>
        </p:txBody>
      </p:sp>
      <p:sp>
        <p:nvSpPr>
          <p:cNvPr id="98" name="Shape 96"/>
          <p:cNvSpPr/>
          <p:nvPr/>
        </p:nvSpPr>
        <p:spPr>
          <a:xfrm>
            <a:off x="8278368" y="4831080"/>
            <a:ext cx="256032" cy="256032"/>
          </a:xfrm>
          <a:prstGeom prst="ellipse">
            <a:avLst/>
          </a:prstGeom>
          <a:solidFill>
            <a:srgbClr val="C9CED6"/>
          </a:solidFill>
          <a:ln w="12700">
            <a:solidFill>
              <a:srgbClr val="C9CED6"/>
            </a:solidFill>
            <a:prstDash val="solid"/>
          </a:ln>
        </p:spPr>
      </p:sp>
      <p:sp>
        <p:nvSpPr>
          <p:cNvPr id="99" name="Text 97"/>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00" name="Text 98"/>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يَتَنَاوَلُ وَجْبَةً خَفِيفَةً.</a:t>
            </a:r>
            <a:endParaRPr lang="ar-SA" sz="1700" dirty="0"/>
          </a:p>
        </p:txBody>
      </p:sp>
      <p:sp>
        <p:nvSpPr>
          <p:cNvPr id="101" name="Shape 99"/>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2" name="Shape 100"/>
          <p:cNvSpPr/>
          <p:nvPr/>
        </p:nvSpPr>
        <p:spPr>
          <a:xfrm>
            <a:off x="8278368" y="5202936"/>
            <a:ext cx="256032" cy="256032"/>
          </a:xfrm>
          <a:prstGeom prst="ellipse">
            <a:avLst/>
          </a:prstGeom>
          <a:solidFill>
            <a:srgbClr val="2E8B57"/>
          </a:solidFill>
          <a:ln w="12700">
            <a:solidFill>
              <a:srgbClr val="2E8B57"/>
            </a:solidFill>
            <a:prstDash val="solid"/>
          </a:ln>
        </p:spPr>
      </p:sp>
      <p:sp>
        <p:nvSpPr>
          <p:cNvPr id="103" name="Text 101"/>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4" name="Text 102"/>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يُغَيِّرُ مَلَابِسَهُ.</a:t>
            </a:r>
            <a:endParaRPr lang="ar-SA" sz="1700" dirty="0"/>
          </a:p>
        </p:txBody>
      </p:sp>
      <p:sp>
        <p:nvSpPr>
          <p:cNvPr id="105" name="Shape 103"/>
          <p:cNvSpPr/>
          <p:nvPr/>
        </p:nvSpPr>
        <p:spPr>
          <a:xfrm>
            <a:off x="8278368" y="5574792"/>
            <a:ext cx="256032" cy="256032"/>
          </a:xfrm>
          <a:prstGeom prst="ellipse">
            <a:avLst/>
          </a:prstGeom>
          <a:solidFill>
            <a:srgbClr val="C9CED6"/>
          </a:solidFill>
          <a:ln w="12700">
            <a:solidFill>
              <a:srgbClr val="C9CED6"/>
            </a:solidFill>
            <a:prstDash val="solid"/>
          </a:ln>
        </p:spPr>
      </p:sp>
      <p:sp>
        <p:nvSpPr>
          <p:cNvPr id="106" name="Text 104"/>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7" name="Text 105"/>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يُحَضِّرُ حَقِيبَتَهُ.</a:t>
            </a:r>
            <a:endParaRPr lang="ar-SA" sz="1700" dirty="0"/>
          </a:p>
        </p:txBody>
      </p:sp>
      <p:sp>
        <p:nvSpPr>
          <p:cNvPr id="108" name="Text 106"/>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action after returning is </a:t>
            </a:r>
            <a:pPr algn="l" indent="0" marL="0">
              <a:buNone/>
            </a:pPr>
            <a:r>
              <a:rPr lang="ar-SA" altLang="en-US" sz="1350" dirty="0">
                <a:solidFill>
                  <a:srgbClr val="8A6D1E"/>
                </a:solidFill>
                <a:latin typeface="Amiri" pitchFamily="34" charset="0"/>
                <a:ea typeface="Amiri" pitchFamily="34" charset="-122"/>
                <a:cs typeface="Amiri" pitchFamily="34" charset="-120"/>
              </a:rPr>
              <a:t>أُغَيِّرُ مَلَابِسِي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9"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D1-L06: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D1-L06 · He and She — Describing Someone Else’s Routine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رُوتِينُهُ</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his routine</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رُوتِينُهَا</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her routine</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يَرْجِعُ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returns</a:t>
            </a:r>
            <a:pPr indent="0" marL="0">
              <a:buNone/>
            </a:pPr>
            <a:r>
              <a:rPr lang="en-US" sz="1000" i="1" dirty="0">
                <a:solidFill>
                  <a:srgbClr val="5A6472"/>
                </a:solidFill>
                <a:latin typeface="Calibri" pitchFamily="34" charset="0"/>
                <a:ea typeface="Calibri" pitchFamily="34" charset="-122"/>
                <a:cs typeface="Calibri" pitchFamily="34" charset="-120"/>
              </a:rPr>
              <a:t>  she: تَرْجِعُ</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كِلَاهُمَا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both of them</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أَبْكَرُ مِنْ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earlier than</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Think of one family member. What time do they wake up, and what do they do in the evening?</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مَتَى يَسْتَيْقِظُ أَخُوكَ أَوْ أُخْتُكَ؟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D1-L05: the vocabulary tab and the sorter “Evening control room”.</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8 sentences about your evening with two possessive and one object ending.</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100–120 words about your after-school and evening routine.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D1-L05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50" b="1" dirty="0">
                <a:solidFill>
                  <a:srgbClr val="FFFFFF"/>
                </a:solidFill>
                <a:latin typeface="Cambria" pitchFamily="34" charset="0"/>
                <a:ea typeface="Cambria" pitchFamily="34" charset="-122"/>
                <a:cs typeface="Cambria" pitchFamily="34" charset="-120"/>
              </a:rPr>
              <a:t>D1-L06 · He and She — Describing Someone Else’s Routine</a:t>
            </a:r>
            <a:endParaRPr lang="en-US" sz="1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هُوَ وَهِيَ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noun + ending = whose. Verb + ending = whom.</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D1-L05 · After School and Evening Routine</dc:title>
  <dc:subject>PptxGenJS Presentation</dc:subject>
  <dc:creator>Al Madina Online School · Arabic Department</dc:creator>
  <cp:lastModifiedBy>Al Madina Online School · Arabic Department</cp:lastModifiedBy>
  <cp:revision>1</cp:revision>
  <dcterms:created xsi:type="dcterms:W3CDTF">2026-09-27T11:10:41Z</dcterms:created>
  <dcterms:modified xsi:type="dcterms:W3CDTF">2026-09-27T11:10:41Z</dcterms:modified>
</cp:coreProperties>
</file>