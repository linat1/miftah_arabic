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afternoon and evening in three phases, with exact times, duration (</a:t>
            </a:r>
            <a:pPr algn="l" indent="0" marL="0">
              <a:buNone/>
            </a:pPr>
            <a:r>
              <a:rPr lang="ar-SA" altLang="en-US" sz="1800" dirty="0">
                <a:solidFill>
                  <a:srgbClr val="C6D2E6"/>
                </a:solidFill>
                <a:latin typeface="Amiri" pitchFamily="2" charset="-78"/>
                <a:ea typeface="Amiri" pitchFamily="2" charset="-78"/>
                <a:cs typeface="Amiri" pitchFamily="2" charset="-78"/>
              </a:rPr>
              <a:t>لِمُدَّةِ</a:t>
            </a:r>
            <a:pPr algn="l" indent="0" marL="0">
              <a:buNone/>
            </a:pPr>
            <a:r>
              <a:rPr lang="en-US" sz="1400" dirty="0">
                <a:solidFill>
                  <a:srgbClr val="C6D2E6"/>
                </a:solidFill>
                <a:latin typeface="Calibri" pitchFamily="34" charset="0"/>
                <a:cs typeface="Amiri" pitchFamily="2" charset="-78"/>
              </a:rPr>
              <a:t>), purpose (</a:t>
            </a:r>
            <a:pPr algn="l" indent="0" marL="0">
              <a:buNone/>
            </a:pPr>
            <a:r>
              <a:rPr lang="ar-SA" altLang="en-US" sz="1800" dirty="0">
                <a:solidFill>
                  <a:srgbClr val="C6D2E6"/>
                </a:solidFill>
                <a:latin typeface="Amiri" pitchFamily="2" charset="-78"/>
                <a:ea typeface="Amiri" pitchFamily="2" charset="-78"/>
                <a:cs typeface="Amiri" pitchFamily="2" charset="-78"/>
              </a:rPr>
              <a:t>لِكَيْ / حَتَّى</a:t>
            </a:r>
            <a:pPr algn="l" indent="0" marL="0">
              <a:buNone/>
            </a:pPr>
            <a:r>
              <a:rPr lang="en-US" sz="1400" dirty="0">
                <a:solidFill>
                  <a:srgbClr val="C6D2E6"/>
                </a:solidFill>
                <a:latin typeface="Calibri" pitchFamily="34" charset="0"/>
                <a:cs typeface="Amiri" pitchFamily="2" charset="-78"/>
              </a:rPr>
              <a:t>) and possessive and object suffixes (</a:t>
            </a:r>
            <a:pPr algn="l" indent="0" marL="0">
              <a:buNone/>
            </a:pPr>
            <a:r>
              <a:rPr lang="ar-SA" altLang="en-US" sz="1800" dirty="0">
                <a:solidFill>
                  <a:srgbClr val="C6D2E6"/>
                </a:solidFill>
                <a:latin typeface="Amiri" pitchFamily="2" charset="-78"/>
                <a:ea typeface="Amiri" pitchFamily="2" charset="-78"/>
                <a:cs typeface="Amiri" pitchFamily="2" charset="-78"/>
              </a:rPr>
              <a:t>غُرْفَتِي، أُسَاعِدُهَا</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أُرَتِّبُ غُرْفَتِي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لِمُدَّةِ نِصْفِ 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أُرَتِّبُ غُرْفَتِي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لِمُدَّةِ نِصْفِ 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D1-L04: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2" charset="-78"/>
                <a:ea typeface="Amiri" pitchFamily="2" charset="-78"/>
                <a:cs typeface="Amiri" pitchFamily="2" charset="-78"/>
              </a:rPr>
              <a:t>حَقِيبَتُهَا</a:t>
            </a:r>
            <a:pPr algn="ctr" indent="0" marL="0">
              <a:buNone/>
            </a:pPr>
            <a:r>
              <a:rPr lang="en-US" sz="2400" b="1" dirty="0">
                <a:solidFill>
                  <a:srgbClr val="1B3B6F"/>
                </a:solidFill>
                <a:latin typeface="Calibri" pitchFamily="34" charset="0"/>
                <a:cs typeface="Amiri" pitchFamily="2" charset="-78"/>
              </a:rPr>
              <a:t> = her bag  ·  </a:t>
            </a:r>
            <a:pPr algn="ctr" indent="0" marL="0">
              <a:buNone/>
            </a:pPr>
            <a:r>
              <a:rPr lang="ar-SA" altLang="en-US" sz="3100" b="1" dirty="0">
                <a:solidFill>
                  <a:srgbClr val="1B3B6F"/>
                </a:solidFill>
                <a:latin typeface="Amiri" pitchFamily="2" charset="-78"/>
                <a:ea typeface="Amiri" pitchFamily="2" charset="-78"/>
                <a:cs typeface="Amiri" pitchFamily="2" charset="-78"/>
              </a:rPr>
              <a:t>أُسَاعِدُهَا</a:t>
            </a:r>
            <a:pPr algn="ctr" indent="0" marL="0">
              <a:buNone/>
            </a:pPr>
            <a:r>
              <a:rPr lang="en-US" sz="2400" b="1" dirty="0">
                <a:solidFill>
                  <a:srgbClr val="1B3B6F"/>
                </a:solidFill>
                <a:latin typeface="Calibri" pitchFamily="34" charset="0"/>
                <a:cs typeface="Amiri" pitchFamily="2" charset="-78"/>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my / his / her on nouns (</a:t>
            </a:r>
            <a:pPr algn="l" indent="0" marL="0">
              <a:buNone/>
            </a:pPr>
            <a:r>
              <a:rPr lang="ar-SA" altLang="en-US" sz="1700" b="1" dirty="0">
                <a:solidFill>
                  <a:srgbClr val="C9780A"/>
                </a:solidFill>
                <a:latin typeface="Amiri" pitchFamily="2" charset="-78"/>
                <a:ea typeface="Amiri" pitchFamily="2" charset="-78"/>
                <a:cs typeface="Amiri" pitchFamily="2" charset="-78"/>
              </a:rPr>
              <a:t>غُرْفَتِي، غُرْفَتُهُ</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one object suffix (</a:t>
            </a:r>
            <a:pPr algn="l" indent="0" marL="0">
              <a:buNone/>
            </a:pPr>
            <a:r>
              <a:rPr lang="ar-SA" altLang="en-US" sz="1700" b="1" dirty="0">
                <a:solidFill>
                  <a:srgbClr val="C9780A"/>
                </a:solidFill>
                <a:latin typeface="Amiri" pitchFamily="2" charset="-78"/>
                <a:ea typeface="Amiri" pitchFamily="2" charset="-78"/>
                <a:cs typeface="Amiri" pitchFamily="2" charset="-78"/>
              </a:rPr>
              <a:t>أُسَاعِدُهَا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purpose with </a:t>
            </a:r>
            <a:pPr algn="l" indent="0" marL="0">
              <a:buNone/>
            </a:pPr>
            <a:r>
              <a:rPr lang="ar-SA" altLang="en-US" sz="1700" b="1" dirty="0">
                <a:solidFill>
                  <a:srgbClr val="B83227"/>
                </a:solidFill>
                <a:latin typeface="Amiri" pitchFamily="2" charset="-78"/>
                <a:ea typeface="Amiri" pitchFamily="2" charset="-78"/>
                <a:cs typeface="Amiri" pitchFamily="2" charset="-78"/>
              </a:rPr>
              <a:t>لِكَيْ / حَتَّى</a:t>
            </a:r>
            <a:pPr algn="l" indent="0" marL="0">
              <a:buNone/>
            </a:pPr>
            <a:r>
              <a:rPr lang="en-US" sz="1300" b="1" dirty="0">
                <a:solidFill>
                  <a:srgbClr val="B83227"/>
                </a:solidFill>
                <a:latin typeface="Calibri" pitchFamily="34" charset="0"/>
                <a:cs typeface="Amiri" pitchFamily="2" charset="-78"/>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‎مطبخ‎ </a:t>
            </a:r>
            <a:pPr indent="0" marL="0">
              <a:buNone/>
            </a:pPr>
            <a:r>
              <a:rPr lang="en-US" sz="950" b="1" dirty="0">
                <a:solidFill>
                  <a:srgbClr val="2E8B57"/>
                </a:solidFill>
                <a:latin typeface="Calibri" pitchFamily="34" charset="0"/>
                <a:cs typeface="Amiri" pitchFamily="2" charset="-78"/>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‎پروگرام / برنامہ‎ </a:t>
            </a:r>
            <a:pPr indent="0" marL="0">
              <a:buNone/>
            </a:pPr>
            <a:r>
              <a:rPr lang="en-US" sz="950" b="1" dirty="0">
                <a:solidFill>
                  <a:srgbClr val="2E8B57"/>
                </a:solidFill>
                <a:latin typeface="Calibri" pitchFamily="34" charset="0"/>
                <a:cs typeface="Amiri" pitchFamily="2" charset="-78"/>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‎براہ راست‎ </a:t>
            </a:r>
            <a:pPr indent="0" marL="0">
              <a:buNone/>
            </a:pPr>
            <a:r>
              <a:rPr lang="en-US" sz="950" b="1" dirty="0">
                <a:solidFill>
                  <a:srgbClr val="2E8B57"/>
                </a:solidFill>
                <a:latin typeface="Calibri" pitchFamily="34" charset="0"/>
                <a:cs typeface="Amiri" pitchFamily="2" charset="-78"/>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home</a:t>
            </a:r>
            <a:endParaRPr lang="en-US" sz="1350" dirty="0"/>
          </a:p>
          <a:p>
            <a:pPr indent="0" marL="0">
              <a:buNone/>
            </a:pPr>
            <a:r>
              <a:rPr lang="en-US" sz="1100" i="1" dirty="0">
                <a:solidFill>
                  <a:srgbClr val="5A6472"/>
                </a:solidFill>
                <a:latin typeface="Calibri" pitchFamily="34" charset="0"/>
                <a:cs typeface="Amiri" pitchFamily="2" charset="-78"/>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change my clothes</a:t>
            </a:r>
            <a:endParaRPr lang="en-US" sz="1350" dirty="0"/>
          </a:p>
          <a:p>
            <a:pPr indent="0" marL="0">
              <a:buNone/>
            </a:pPr>
            <a:r>
              <a:rPr lang="en-US" sz="1100" i="1" dirty="0">
                <a:solidFill>
                  <a:srgbClr val="5A6472"/>
                </a:solidFill>
                <a:latin typeface="Calibri" pitchFamily="34" charset="0"/>
                <a:cs typeface="Amiri" pitchFamily="2" charset="-78"/>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snack</a:t>
            </a:r>
            <a:endParaRPr lang="en-US" sz="1350" dirty="0"/>
          </a:p>
          <a:p>
            <a:pPr indent="0" marL="0">
              <a:buNone/>
            </a:pPr>
            <a:r>
              <a:rPr lang="en-US" sz="1100" i="1" dirty="0">
                <a:solidFill>
                  <a:srgbClr val="5A6472"/>
                </a:solidFill>
                <a:latin typeface="Calibri" pitchFamily="34" charset="0"/>
                <a:cs typeface="Amiri" pitchFamily="2" charset="-78"/>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 for a while</a:t>
            </a:r>
            <a:endParaRPr lang="en-US" sz="1350" dirty="0"/>
          </a:p>
          <a:p>
            <a:pPr indent="0" marL="0">
              <a:buNone/>
            </a:pPr>
            <a:r>
              <a:rPr lang="en-US" sz="1100" i="1" dirty="0">
                <a:solidFill>
                  <a:srgbClr val="5A6472"/>
                </a:solidFill>
                <a:latin typeface="Calibri" pitchFamily="34" charset="0"/>
                <a:cs typeface="Amiri" pitchFamily="2" charset="-78"/>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the club</a:t>
            </a:r>
            <a:endParaRPr lang="en-US" sz="1350" dirty="0"/>
          </a:p>
          <a:p>
            <a:pPr indent="0" marL="0">
              <a:buNone/>
            </a:pPr>
            <a:r>
              <a:rPr lang="en-US" sz="1100" i="1" dirty="0">
                <a:solidFill>
                  <a:srgbClr val="5A6472"/>
                </a:solidFill>
                <a:latin typeface="Calibri" pitchFamily="34" charset="0"/>
                <a:cs typeface="Amiri" pitchFamily="2" charset="-78"/>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train / exercise</a:t>
            </a:r>
            <a:endParaRPr lang="en-US" sz="1350" dirty="0"/>
          </a:p>
          <a:p>
            <a:pPr indent="0" marL="0">
              <a:buNone/>
            </a:pPr>
            <a:r>
              <a:rPr lang="en-US" sz="1100" i="1" dirty="0">
                <a:solidFill>
                  <a:srgbClr val="5A6472"/>
                </a:solidFill>
                <a:latin typeface="Calibri" pitchFamily="34" charset="0"/>
                <a:cs typeface="Amiri" pitchFamily="2" charset="-78"/>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visit my friend</a:t>
            </a:r>
            <a:endParaRPr lang="en-US" sz="1350" dirty="0"/>
          </a:p>
          <a:p>
            <a:pPr indent="0" marL="0">
              <a:buNone/>
            </a:pPr>
            <a:r>
              <a:rPr lang="en-US" sz="1100" i="1" dirty="0">
                <a:solidFill>
                  <a:srgbClr val="5A6472"/>
                </a:solidFill>
                <a:latin typeface="Calibri" pitchFamily="34" charset="0"/>
                <a:cs typeface="Amiri" pitchFamily="2" charset="-78"/>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tidy my room</a:t>
            </a:r>
            <a:endParaRPr lang="en-US" sz="1350" dirty="0"/>
          </a:p>
          <a:p>
            <a:pPr indent="0" marL="0">
              <a:buNone/>
            </a:pPr>
            <a:r>
              <a:rPr lang="en-US" sz="1100" i="1" dirty="0">
                <a:solidFill>
                  <a:srgbClr val="5A6472"/>
                </a:solidFill>
                <a:latin typeface="Calibri" pitchFamily="34" charset="0"/>
                <a:cs typeface="Amiri" pitchFamily="2" charset="-78"/>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dinner</a:t>
            </a:r>
            <a:endParaRPr lang="en-US" sz="1350" dirty="0"/>
          </a:p>
          <a:p>
            <a:pPr indent="0" marL="0">
              <a:buNone/>
            </a:pPr>
            <a:r>
              <a:rPr lang="en-US" sz="1100" i="1" dirty="0">
                <a:solidFill>
                  <a:srgbClr val="5A6472"/>
                </a:solidFill>
                <a:latin typeface="Calibri" pitchFamily="34" charset="0"/>
                <a:cs typeface="Amiri" pitchFamily="2" charset="-78"/>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wash the dishes</a:t>
            </a:r>
            <a:endParaRPr lang="en-US" sz="1350" dirty="0"/>
          </a:p>
          <a:p>
            <a:pPr indent="0" marL="0">
              <a:buNone/>
            </a:pPr>
            <a:r>
              <a:rPr lang="en-US" sz="1100" i="1" dirty="0">
                <a:solidFill>
                  <a:srgbClr val="5A6472"/>
                </a:solidFill>
                <a:latin typeface="Calibri" pitchFamily="34" charset="0"/>
                <a:cs typeface="Amiri" pitchFamily="2" charset="-78"/>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talk with my family</a:t>
            </a:r>
            <a:endParaRPr lang="en-US" sz="1350" dirty="0"/>
          </a:p>
          <a:p>
            <a:pPr indent="0" marL="0">
              <a:buNone/>
            </a:pPr>
            <a:r>
              <a:rPr lang="en-US" sz="1100" i="1" dirty="0">
                <a:solidFill>
                  <a:srgbClr val="5A6472"/>
                </a:solidFill>
                <a:latin typeface="Calibri" pitchFamily="34" charset="0"/>
                <a:cs typeface="Amiri" pitchFamily="2" charset="-78"/>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watch a programme</a:t>
            </a:r>
            <a:endParaRPr lang="en-US" sz="1350" dirty="0"/>
          </a:p>
          <a:p>
            <a:pPr indent="0" marL="0">
              <a:buNone/>
            </a:pPr>
            <a:r>
              <a:rPr lang="en-US" sz="1100" i="1" dirty="0">
                <a:solidFill>
                  <a:srgbClr val="5A6472"/>
                </a:solidFill>
                <a:latin typeface="Calibri" pitchFamily="34" charset="0"/>
                <a:cs typeface="Amiri" pitchFamily="2" charset="-78"/>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 a book</a:t>
            </a:r>
            <a:endParaRPr lang="en-US" sz="1350" dirty="0"/>
          </a:p>
          <a:p>
            <a:pPr indent="0" marL="0">
              <a:buNone/>
            </a:pPr>
            <a:r>
              <a:rPr lang="en-US" sz="1100" i="1" dirty="0">
                <a:solidFill>
                  <a:srgbClr val="5A6472"/>
                </a:solidFill>
                <a:latin typeface="Calibri" pitchFamily="34" charset="0"/>
                <a:cs typeface="Amiri" pitchFamily="2" charset="-78"/>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prepare my bag</a:t>
            </a:r>
            <a:endParaRPr lang="en-US" sz="1350" dirty="0"/>
          </a:p>
          <a:p>
            <a:pPr indent="0" marL="0">
              <a:buNone/>
            </a:pPr>
            <a:r>
              <a:rPr lang="en-US" sz="1100" i="1" dirty="0">
                <a:solidFill>
                  <a:srgbClr val="5A6472"/>
                </a:solidFill>
                <a:latin typeface="Calibri" pitchFamily="34" charset="0"/>
                <a:cs typeface="Amiri" pitchFamily="2" charset="-78"/>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set the alarm</a:t>
            </a:r>
            <a:endParaRPr lang="en-US" sz="1350" dirty="0"/>
          </a:p>
          <a:p>
            <a:pPr indent="0" marL="0">
              <a:buNone/>
            </a:pPr>
            <a:r>
              <a:rPr lang="en-US" sz="1100" i="1" dirty="0">
                <a:solidFill>
                  <a:srgbClr val="5A6472"/>
                </a:solidFill>
                <a:latin typeface="Calibri" pitchFamily="34" charset="0"/>
                <a:cs typeface="Amiri" pitchFamily="2" charset="-78"/>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bed</a:t>
            </a:r>
            <a:endParaRPr lang="en-US" sz="1350" dirty="0"/>
          </a:p>
          <a:p>
            <a:pPr indent="0" marL="0">
              <a:buNone/>
            </a:pPr>
            <a:r>
              <a:rPr lang="en-US" sz="1100" i="1" dirty="0">
                <a:solidFill>
                  <a:srgbClr val="5A6472"/>
                </a:solidFill>
                <a:latin typeface="Calibri" pitchFamily="34" charset="0"/>
                <a:cs typeface="Amiri" pitchFamily="2" charset="-78"/>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I return</a:t>
            </a:r>
            <a:endParaRPr lang="en-US" sz="1350" dirty="0"/>
          </a:p>
          <a:p>
            <a:pPr indent="0" marL="0">
              <a:buNone/>
            </a:pPr>
            <a:r>
              <a:rPr lang="en-US" sz="1100" i="1" dirty="0">
                <a:solidFill>
                  <a:srgbClr val="5A6472"/>
                </a:solidFill>
                <a:latin typeface="Calibri" pitchFamily="34" charset="0"/>
                <a:cs typeface="Amiri" pitchFamily="2" charset="-78"/>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an hour</a:t>
            </a:r>
            <a:endParaRPr lang="en-US" sz="1350" dirty="0"/>
          </a:p>
          <a:p>
            <a:pPr indent="0" marL="0">
              <a:buNone/>
            </a:pPr>
            <a:r>
              <a:rPr lang="en-US" sz="1100" i="1" dirty="0">
                <a:solidFill>
                  <a:srgbClr val="5A6472"/>
                </a:solidFill>
                <a:latin typeface="Calibri" pitchFamily="34" charset="0"/>
                <a:cs typeface="Amiri" pitchFamily="2" charset="-78"/>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half an hour</a:t>
            </a:r>
            <a:endParaRPr lang="en-US" sz="1350" dirty="0"/>
          </a:p>
          <a:p>
            <a:pPr indent="0" marL="0">
              <a:buNone/>
            </a:pPr>
            <a:r>
              <a:rPr lang="en-US" sz="1100" i="1" dirty="0">
                <a:solidFill>
                  <a:srgbClr val="5A6472"/>
                </a:solidFill>
                <a:latin typeface="Calibri" pitchFamily="34" charset="0"/>
                <a:cs typeface="Amiri" pitchFamily="2" charset="-78"/>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 ... o’clock</a:t>
            </a:r>
            <a:endParaRPr lang="en-US" sz="1350" dirty="0"/>
          </a:p>
          <a:p>
            <a:pPr indent="0" marL="0">
              <a:buNone/>
            </a:pPr>
            <a:r>
              <a:rPr lang="en-US" sz="1100" i="1" dirty="0">
                <a:solidFill>
                  <a:srgbClr val="5A6472"/>
                </a:solidFill>
                <a:latin typeface="Calibri" pitchFamily="34" charset="0"/>
                <a:cs typeface="Amiri" pitchFamily="2" charset="-78"/>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immediately</a:t>
            </a:r>
            <a:endParaRPr lang="en-US" sz="1350" dirty="0"/>
          </a:p>
          <a:p>
            <a:pPr indent="0" marL="0">
              <a:buNone/>
            </a:pPr>
            <a:r>
              <a:rPr lang="en-US" sz="1100" i="1" dirty="0">
                <a:solidFill>
                  <a:srgbClr val="5A6472"/>
                </a:solidFill>
                <a:latin typeface="Calibri" pitchFamily="34" charset="0"/>
                <a:cs typeface="Amiri" pitchFamily="2" charset="-78"/>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later</a:t>
            </a:r>
            <a:endParaRPr lang="en-US" sz="1350" dirty="0"/>
          </a:p>
          <a:p>
            <a:pPr indent="0" marL="0">
              <a:buNone/>
            </a:pPr>
            <a:r>
              <a:rPr lang="en-US" sz="1100" i="1" dirty="0">
                <a:solidFill>
                  <a:srgbClr val="5A6472"/>
                </a:solidFill>
                <a:latin typeface="Calibri" pitchFamily="34" charset="0"/>
                <a:cs typeface="Amiri" pitchFamily="2" charset="-78"/>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 can</a:t>
            </a:r>
            <a:endParaRPr lang="en-US" sz="1350" dirty="0"/>
          </a:p>
          <a:p>
            <a:pPr indent="0" marL="0">
              <a:buNone/>
            </a:pPr>
            <a:r>
              <a:rPr lang="en-US" sz="1100" i="1" dirty="0">
                <a:solidFill>
                  <a:srgbClr val="5A6472"/>
                </a:solidFill>
                <a:latin typeface="Calibri" pitchFamily="34" charset="0"/>
                <a:cs typeface="Amiri" pitchFamily="2" charset="-78"/>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تُسَاعِدُ</a:t>
            </a:r>
            <a:pPr rtl="1" algn="ctr" indent="0" marL="0">
              <a:buNone/>
            </a:pPr>
            <a:r>
              <a:rPr lang="ar-SA" altLang="en-US" sz="1600" b="1" dirty="0">
                <a:solidFill>
                  <a:srgbClr val="D6336C"/>
                </a:solidFill>
                <a:latin typeface="Amiri" pitchFamily="2" charset="-78"/>
                <a:ea typeface="Amiri" pitchFamily="2" charset="-78"/>
                <a:cs typeface="Amiri" pitchFamily="2" charset="-78"/>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a:t>
            </a:r>
            <a:pPr rtl="1" algn="ctr" indent="0" marL="0">
              <a:buNone/>
            </a:pPr>
            <a:r>
              <a:rPr lang="ar-SA" altLang="en-US" sz="1600" b="1" dirty="0">
                <a:solidFill>
                  <a:srgbClr val="D6336C"/>
                </a:solidFill>
                <a:latin typeface="Amiri" pitchFamily="2" charset="-78"/>
                <a:ea typeface="Amiri" pitchFamily="2" charset="-78"/>
                <a:cs typeface="Amiri" pitchFamily="2" charset="-78"/>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a:t>
            </a:r>
            <a:pPr rtl="1" algn="ctr" indent="0" marL="0">
              <a:buNone/>
            </a:pPr>
            <a:r>
              <a:rPr lang="ar-SA" altLang="en-US" sz="1600" b="1" dirty="0">
                <a:solidFill>
                  <a:srgbClr val="D6336C"/>
                </a:solidFill>
                <a:latin typeface="Amiri" pitchFamily="2" charset="-78"/>
                <a:ea typeface="Amiri" pitchFamily="2" charset="-78"/>
                <a:cs typeface="Amiri" pitchFamily="2" charset="-78"/>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a:t>
            </a:r>
            <a:pPr rtl="1" algn="ctr" indent="0" marL="0">
              <a:buNone/>
            </a:pPr>
            <a:r>
              <a:rPr lang="ar-SA" altLang="en-US" sz="1600" b="1" dirty="0">
                <a:solidFill>
                  <a:srgbClr val="D6336C"/>
                </a:solidFill>
                <a:latin typeface="Amiri" pitchFamily="2" charset="-78"/>
                <a:ea typeface="Amiri" pitchFamily="2" charset="-78"/>
                <a:cs typeface="Amiri" pitchFamily="2" charset="-78"/>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تُسَاعِدُ</a:t>
            </a:r>
            <a:pPr rtl="1" algn="ctr" indent="0" marL="0">
              <a:buNone/>
            </a:pPr>
            <a:r>
              <a:rPr lang="ar-SA" altLang="en-US" sz="1600" b="1" dirty="0">
                <a:solidFill>
                  <a:srgbClr val="D6336C"/>
                </a:solidFill>
                <a:latin typeface="Amiri" pitchFamily="2" charset="-78"/>
                <a:ea typeface="Amiri" pitchFamily="2" charset="-78"/>
                <a:cs typeface="Amiri" pitchFamily="2" charset="-78"/>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a:t>
            </a:r>
            <a:pPr rtl="1" algn="ctr" indent="0" marL="0">
              <a:buNone/>
            </a:pPr>
            <a:r>
              <a:rPr lang="ar-SA" altLang="en-US" sz="1600" b="1" dirty="0">
                <a:solidFill>
                  <a:srgbClr val="D6336C"/>
                </a:solidFill>
                <a:latin typeface="Amiri" pitchFamily="2" charset="-78"/>
                <a:ea typeface="Amiri" pitchFamily="2" charset="-78"/>
                <a:cs typeface="Amiri" pitchFamily="2" charset="-78"/>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أَزُورُ</a:t>
            </a:r>
            <a:pPr rtl="1" algn="ctr" indent="0" marL="0">
              <a:buNone/>
            </a:pPr>
            <a:r>
              <a:rPr lang="ar-SA" altLang="en-US" sz="1600" b="1" dirty="0">
                <a:solidFill>
                  <a:srgbClr val="D6336C"/>
                </a:solidFill>
                <a:latin typeface="Amiri" pitchFamily="2" charset="-78"/>
                <a:ea typeface="Amiri" pitchFamily="2" charset="-78"/>
                <a:cs typeface="Amiri" pitchFamily="2" charset="-78"/>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Express duration with </a:t>
            </a:r>
            <a:pPr algn="l" indent="0" marL="0">
              <a:buNone/>
            </a:pPr>
            <a:r>
              <a:rPr lang="ar-SA" altLang="en-US" sz="1650" b="1" dirty="0">
                <a:solidFill>
                  <a:srgbClr val="1B3B6F"/>
                </a:solidFill>
                <a:latin typeface="Amiri" pitchFamily="2" charset="-78"/>
                <a:ea typeface="Amiri" pitchFamily="2" charset="-78"/>
                <a:cs typeface="Amiri" pitchFamily="2" charset="-78"/>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dirty="0">
                <a:solidFill>
                  <a:srgbClr val="5A6472"/>
                </a:solidFill>
                <a:latin typeface="Calibri" pitchFamily="34" charset="0"/>
                <a:cs typeface="Amiri" pitchFamily="2" charset="-78"/>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Express purpose with </a:t>
            </a:r>
            <a:pPr algn="l" indent="0" marL="0">
              <a:buNone/>
            </a:pPr>
            <a:r>
              <a:rPr lang="ar-SA" altLang="en-US" sz="1650" b="1" dirty="0">
                <a:solidFill>
                  <a:srgbClr val="1B3B6F"/>
                </a:solidFill>
                <a:latin typeface="Amiri" pitchFamily="2" charset="-78"/>
                <a:ea typeface="Amiri" pitchFamily="2" charset="-78"/>
                <a:cs typeface="Amiri" pitchFamily="2" charset="-78"/>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 · </a:t>
            </a:r>
            <a:pPr algn="l" indent="0" marL="0">
              <a:buNone/>
            </a:pPr>
            <a:r>
              <a:rPr lang="ar-SA" altLang="en-US" sz="1350" dirty="0">
                <a:solidFill>
                  <a:srgbClr val="5A6472"/>
                </a:solidFill>
                <a:latin typeface="Amiri" pitchFamily="2" charset="-78"/>
                <a:ea typeface="Amiri" pitchFamily="2" charset="-78"/>
                <a:cs typeface="Amiri" pitchFamily="2" charset="-78"/>
              </a:rPr>
              <a:t>حَتَّى</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أَرْجِعُ</a:t>
            </a:r>
            <a:pPr algn="l" indent="0" marL="0">
              <a:buNone/>
            </a:pPr>
            <a:r>
              <a:rPr lang="en-US" sz="1050" i="1" dirty="0">
                <a:solidFill>
                  <a:srgbClr val="8A6D1E"/>
                </a:solidFill>
                <a:latin typeface="Calibri" pitchFamily="34" charset="0"/>
                <a:cs typeface="Amiri" pitchFamily="2" charset="-78"/>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لِمُدَّةِ</a:t>
            </a:r>
            <a:pPr algn="l" indent="0" marL="0">
              <a:buNone/>
            </a:pPr>
            <a:r>
              <a:rPr lang="en-US" sz="1050" i="1" dirty="0">
                <a:solidFill>
                  <a:srgbClr val="8A6D1E"/>
                </a:solidFill>
                <a:latin typeface="Calibri" pitchFamily="34" charset="0"/>
                <a:cs typeface="Amiri" pitchFamily="2" charset="-78"/>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أَسْتَرِيحُ </a:t>
            </a:r>
            <a:pPr rtl="1" algn="ctr" indent="0" marL="0">
              <a:buNone/>
            </a:pPr>
            <a:r>
              <a:rPr lang="ar-SA" altLang="en-US" sz="2300" b="1" dirty="0">
                <a:solidFill>
                  <a:srgbClr val="0E7C86"/>
                </a:solidFill>
                <a:latin typeface="Amiri" pitchFamily="2" charset="-78"/>
                <a:ea typeface="Amiri" pitchFamily="2" charset="-78"/>
                <a:cs typeface="Amiri" pitchFamily="2" charset="-78"/>
              </a:rPr>
              <a:t>لِمُدَّةِ</a:t>
            </a:r>
            <a:pPr rtl="1" algn="ctr" indent="0" marL="0">
              <a:buNone/>
            </a:pPr>
            <a:r>
              <a:rPr lang="ar-SA" altLang="en-US" sz="2300" b="1" dirty="0">
                <a:solidFill>
                  <a:srgbClr val="1B3B6F"/>
                </a:solidFill>
                <a:latin typeface="Amiri" pitchFamily="2" charset="-78"/>
                <a:ea typeface="Amiri" pitchFamily="2" charset="-78"/>
                <a:cs typeface="Amiri" pitchFamily="2" charset="-78"/>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how long? →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أُسَاعِدُ أُمِّي، أُسَاعِدُ</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Mother → her → </a:t>
            </a:r>
            <a:pPr algn="l" indent="0" marL="0">
              <a:buNone/>
            </a:pPr>
            <a:r>
              <a:rPr lang="ar-SA" altLang="en-US" sz="1500" dirty="0">
                <a:solidFill>
                  <a:srgbClr val="1F2A37"/>
                </a:solidFill>
                <a:latin typeface="Amiri" pitchFamily="2" charset="-78"/>
                <a:ea typeface="Amiri" pitchFamily="2" charset="-78"/>
                <a:cs typeface="Amiri" pitchFamily="2" charset="-78"/>
              </a:rPr>
              <a:t>ـهَا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أُحَضِّرُ حَقِيبَتِ</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ي</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حَتَّى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لِمُدَّةِ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نِصْفِ سَاعَةٍ. ثُمَّ أُرَاجِعُ دُرُوسِ</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لِمُدَّةِ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سَاعَةٍ. بَعْدَ العَشَاءِ أُسَاعِدُ أُمِّي؛ أُسَاعِدُ</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المَطْبَخِ. قَبْلَ النَّوْمِ أُحَضِّرُ حَقِيبَتِ</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حَتَّى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return home at quarter to four.</a:t>
            </a:r>
            <a:endParaRPr lang="en-US" sz="1250" dirty="0"/>
          </a:p>
          <a:p>
            <a:pPr indent="0" marL="0">
              <a:buNone/>
            </a:pPr>
            <a:r>
              <a:rPr lang="en-US" sz="1050" i="1" dirty="0">
                <a:solidFill>
                  <a:srgbClr val="8A6D1E"/>
                </a:solidFill>
                <a:latin typeface="Calibri" pitchFamily="34" charset="0"/>
                <a:cs typeface="Amiri" pitchFamily="2" charset="-78"/>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help her in the kitchen.</a:t>
            </a:r>
            <a:endParaRPr lang="en-US" sz="1250" dirty="0"/>
          </a:p>
          <a:p>
            <a:pPr indent="0" marL="0">
              <a:buNone/>
            </a:pPr>
            <a:r>
              <a:rPr lang="en-US" sz="1050" i="1" dirty="0">
                <a:solidFill>
                  <a:srgbClr val="8A6D1E"/>
                </a:solidFill>
                <a:latin typeface="Calibri" pitchFamily="34" charset="0"/>
                <a:cs typeface="Amiri" pitchFamily="2" charset="-78"/>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for an hour.</a:t>
            </a:r>
            <a:endParaRPr lang="en-US" sz="1250" dirty="0"/>
          </a:p>
          <a:p>
            <a:pPr indent="0" marL="0">
              <a:buNone/>
            </a:pPr>
            <a:r>
              <a:rPr lang="en-US" sz="1050" i="1" dirty="0">
                <a:solidFill>
                  <a:srgbClr val="8A6D1E"/>
                </a:solidFill>
                <a:latin typeface="Calibri" pitchFamily="34" charset="0"/>
                <a:cs typeface="Amiri" pitchFamily="2" charset="-78"/>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prepare my bag so I do not forget my books.</a:t>
            </a:r>
            <a:endParaRPr lang="en-US" sz="1250" dirty="0"/>
          </a:p>
          <a:p>
            <a:pPr indent="0" marL="0">
              <a:buNone/>
            </a:pPr>
            <a:r>
              <a:rPr lang="en-US" sz="1050" i="1" dirty="0">
                <a:solidFill>
                  <a:srgbClr val="8A6D1E"/>
                </a:solidFill>
                <a:latin typeface="Calibri" pitchFamily="34" charset="0"/>
                <a:cs typeface="Amiri" pitchFamily="2" charset="-78"/>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means I revise; </a:t>
            </a:r>
            <a:pPr algn="l" indent="0" marL="0">
              <a:buNone/>
            </a:pPr>
            <a:r>
              <a:rPr lang="ar-SA" altLang="en-US" sz="1350" dirty="0">
                <a:solidFill>
                  <a:srgbClr val="8A6D1E"/>
                </a:solidFill>
                <a:latin typeface="Amiri" pitchFamily="2" charset="-78"/>
                <a:ea typeface="Amiri" pitchFamily="2" charset="-78"/>
                <a:cs typeface="Amiri" pitchFamily="2" charset="-78"/>
              </a:rPr>
              <a:t>دُرُوسِي</a:t>
            </a:r>
            <a:pPr algn="l" indent="0" marL="0">
              <a:buNone/>
            </a:pPr>
            <a:r>
              <a:rPr lang="en-US" sz="1050" i="1" dirty="0">
                <a:solidFill>
                  <a:srgbClr val="8A6D1E"/>
                </a:solidFill>
                <a:latin typeface="Calibri" pitchFamily="34" charset="0"/>
                <a:cs typeface="Amiri" pitchFamily="2" charset="-78"/>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subjunctive 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and feminine possession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أُمِّي</a:t>
            </a:r>
            <a:pPr algn="l" indent="0" marL="0">
              <a:buNone/>
            </a:pPr>
            <a:r>
              <a:rPr lang="en-US" sz="1300" i="1" dirty="0">
                <a:solidFill>
                  <a:srgbClr val="5A6472"/>
                </a:solidFill>
                <a:latin typeface="Calibri" pitchFamily="34" charset="0"/>
                <a:cs typeface="Amiri" pitchFamily="2" charset="-78"/>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أَرْجِعُ</a:t>
            </a:r>
            <a:pPr algn="l" indent="0" marL="0">
              <a:buNone/>
            </a:pPr>
            <a:r>
              <a:rPr lang="en-US" sz="1150" b="1" dirty="0">
                <a:solidFill>
                  <a:srgbClr val="1B3B6F"/>
                </a:solidFill>
                <a:latin typeface="Calibri" pitchFamily="34" charset="0"/>
                <a:cs typeface="Amiri" pitchFamily="2" charset="-78"/>
              </a:rPr>
              <a:t> means return; </a:t>
            </a:r>
            <a:pPr algn="l" indent="0" marL="0">
              <a:buNone/>
            </a:pPr>
            <a:r>
              <a:rPr lang="ar-SA" altLang="en-US" sz="1500" b="1" dirty="0">
                <a:solidFill>
                  <a:srgbClr val="1B3B6F"/>
                </a:solidFill>
                <a:latin typeface="Amiri" pitchFamily="2" charset="-78"/>
                <a:ea typeface="Amiri" pitchFamily="2" charset="-78"/>
                <a:cs typeface="Amiri" pitchFamily="2" charset="-78"/>
              </a:rPr>
              <a:t>أُرَاجِعُ</a:t>
            </a:r>
            <a:pPr algn="l" indent="0" marL="0">
              <a:buNone/>
            </a:pPr>
            <a:r>
              <a:rPr lang="en-US" sz="1150" b="1" dirty="0">
                <a:solidFill>
                  <a:srgbClr val="1B3B6F"/>
                </a:solidFill>
                <a:latin typeface="Calibri" pitchFamily="34" charset="0"/>
                <a:cs typeface="Amiri" pitchFamily="2" charset="-78"/>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object suffix is </a:t>
            </a:r>
            <a:pPr algn="l" indent="0" marL="0">
              <a:buNone/>
            </a:pPr>
            <a:r>
              <a:rPr lang="ar-SA" altLang="en-US" sz="1500" b="1" dirty="0">
                <a:solidFill>
                  <a:srgbClr val="1B3B6F"/>
                </a:solidFill>
                <a:latin typeface="Amiri" pitchFamily="2" charset="-78"/>
                <a:ea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is subjunctive 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أُمَّهَا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endings match the person (her → </a:t>
            </a:r>
            <a:pPr algn="l" indent="0" marL="0">
              <a:buNone/>
            </a:pPr>
            <a:r>
              <a:rPr lang="ar-SA" altLang="en-US" sz="1700" dirty="0">
                <a:solidFill>
                  <a:srgbClr val="1F2A37"/>
                </a:solidFill>
                <a:latin typeface="Amiri" pitchFamily="2" charset="-78"/>
                <a:ea typeface="Amiri" pitchFamily="2" charset="-78"/>
                <a:cs typeface="Amiri" pitchFamily="2" charset="-78"/>
              </a:rPr>
              <a:t>ـهَا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لِكَيْ / حَتَّى</a:t>
            </a:r>
            <a:pPr algn="l" indent="0" marL="0">
              <a:buNone/>
            </a:pPr>
            <a:r>
              <a:rPr lang="en-US" sz="1300" dirty="0">
                <a:solidFill>
                  <a:srgbClr val="1F2A37"/>
                </a:solidFill>
                <a:latin typeface="Calibri" pitchFamily="34" charset="0"/>
                <a:cs typeface="Amiri" pitchFamily="2" charset="-78"/>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لِكَيْ لَا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أَرْجِعُ</a:t>
            </a:r>
            <a:pPr algn="l" indent="0" marL="0">
              <a:buNone/>
            </a:pPr>
            <a:r>
              <a:rPr lang="en-US" sz="1050" i="1" dirty="0">
                <a:solidFill>
                  <a:srgbClr val="8A6D1E"/>
                </a:solidFill>
                <a:latin typeface="Calibri" pitchFamily="34" charset="0"/>
                <a:cs typeface="Amiri" pitchFamily="2" charset="-78"/>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لِكَيْ لَا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عِنْدَمَا أَعُودُ مِنَ المَدْرَسَةِ أُغَيِّرُ مَلَابِسِي، ثُمَّ أَتَنَاوَلُ وَجْبَةً خَفِيفَةً</a:t>
            </a:r>
            <a:pPr algn="l" indent="0" marL="0">
              <a:buNone/>
            </a:pPr>
            <a:r>
              <a:rPr lang="en-US" sz="1000" b="1" dirty="0">
                <a:solidFill>
                  <a:srgbClr val="1F2A37"/>
                </a:solidFill>
                <a:latin typeface="Calibri" pitchFamily="34" charset="0"/>
                <a:cs typeface="Amiri" pitchFamily="2" charset="-78"/>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حَقِيبَتِي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suffix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لِمُدَّةِ</a:t>
            </a:r>
            <a:pPr algn="l" indent="0" marL="0">
              <a:buNone/>
            </a:pPr>
            <a:r>
              <a:rPr lang="en-US" sz="1050" i="1" dirty="0">
                <a:solidFill>
                  <a:srgbClr val="8A6D1E"/>
                </a:solidFill>
                <a:latin typeface="Calibri" pitchFamily="34" charset="0"/>
                <a:cs typeface="Amiri" pitchFamily="2" charset="-78"/>
              </a:rPr>
              <a:t>, use the time period in the genitive: </a:t>
            </a:r>
            <a:pPr algn="l" indent="0" marL="0">
              <a:buNone/>
            </a:pPr>
            <a:r>
              <a:rPr lang="ar-SA" altLang="en-US" sz="1350" dirty="0">
                <a:solidFill>
                  <a:srgbClr val="8A6D1E"/>
                </a:solidFill>
                <a:latin typeface="Amiri" pitchFamily="2" charset="-78"/>
                <a:ea typeface="Amiri" pitchFamily="2" charset="-78"/>
                <a:cs typeface="Amiri" pitchFamily="2" charset="-78"/>
              </a:rPr>
              <a:t>نِصْفِ سَاعَةٍ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first-person present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sentence links an action to its purpose and uses a complete clause after </a:t>
            </a:r>
            <a:pPr algn="l" indent="0" marL="0">
              <a:buNone/>
            </a:pPr>
            <a:r>
              <a:rPr lang="ar-SA" altLang="en-US" sz="1350" dirty="0">
                <a:solidFill>
                  <a:srgbClr val="8A6D1E"/>
                </a:solidFill>
                <a:latin typeface="Amiri" pitchFamily="2" charset="-78"/>
                <a:ea typeface="Amiri" pitchFamily="2" charset="-78"/>
                <a:cs typeface="Amiri" pitchFamily="2" charset="-78"/>
              </a:rPr>
              <a:t>حَتَّى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عِنْدَمَا أَعُودُ مِنَ المَدْرَسَةِ أُغَيِّرُ مَلَابِسِي، ثُمَّ أَتَنَاوَلُ وَجْبَةً خَفِيفَةً</a:t>
            </a:r>
            <a:pPr algn="l" indent="0" marL="0">
              <a:buNone/>
            </a:pPr>
            <a:r>
              <a:rPr lang="en-US" sz="1000" b="1" dirty="0">
                <a:solidFill>
                  <a:srgbClr val="1F2A37"/>
                </a:solidFill>
                <a:latin typeface="Calibri" pitchFamily="34" charset="0"/>
                <a:cs typeface="Amiri" pitchFamily="2" charset="-78"/>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action after returning is </a:t>
            </a:r>
            <a:pPr algn="l" indent="0" marL="0">
              <a:buNone/>
            </a:pPr>
            <a:r>
              <a:rPr lang="ar-SA" altLang="en-US" sz="1350" dirty="0">
                <a:solidFill>
                  <a:srgbClr val="8A6D1E"/>
                </a:solidFill>
                <a:latin typeface="Amiri" pitchFamily="2" charset="-78"/>
                <a:ea typeface="Amiri" pitchFamily="2" charset="-78"/>
                <a:cs typeface="Amiri" pitchFamily="2" charset="-78"/>
              </a:rPr>
              <a:t>أُغَيِّرُ مَلَابِسِي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returns</a:t>
            </a:r>
            <a:pPr indent="0" marL="0">
              <a:buNone/>
            </a:pPr>
            <a:r>
              <a:rPr lang="ar-SA" sz="1000" i="1" dirty="0">
                <a:solidFill>
                  <a:srgbClr val="5A6472"/>
                </a:solidFill>
                <a:latin typeface="Calibri" pitchFamily="34" charset="0"/>
                <a:ea typeface="Amiri" pitchFamily="2" charset="-78"/>
                <a:cs typeface="Amiri" pitchFamily="2" charset="-78"/>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2026-10-11T06:40:27Z</dcterms:created>
  <dcterms:modified xsi:type="dcterms:W3CDTF">2026-10-11T06:40:27Z</dcterms:modified>
</cp:coreProperties>
</file>