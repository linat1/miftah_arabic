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D1-L05. The website lesson “After School and Evening Routine”: vocabulary, grammar rules and quiz, patterns, common mistakes, sorter, listening, reading, speaking prompts and model, writing task and model, differentiation, final check and the lesson mission. Picture match: website visual game “After School and Evening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evening in THREE phases (arrive → jobs → rest) using the vocabulary chunks as they are (أُرَتِّبُ غُرْفَتِي, أُحَضِّرُ حَقِيبَتِي) + one time and one “for half an hour”.
• Develop: change the suffix to talk about someone else (حَقِيبَتُهُ / حَقِيبَتُهَا) and use one object suffix (أُسَاعِدُهَا). Stretch: purpose with لِكَيْ / حَتَّى + the subjunctive from D1-L04, and evaluate the routine.
• The three look-alike verbs (أَرْجِعُ / أُرَاجِعُ / أَسْتَرِيحُ) have their own slide — this is the website’s main warning.
• Urdu bridge: مدت، مطبخ، برنامج، کتاب، مصروف (not in the lesson, but useful for “busy”).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(أَنْ + subjunctive, noun vs verb) and D1-L03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short ending tells you WHOSE (after a noun) or WHOM (after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كُچھ مدت) → لِمُدَّةِ (for a period of). مطبخ (kitchen — formal Urdu) → فِي المَطْبَخِ. برنامہ (plan, programme) → بَرْنَامَجًا. کتاب → كِتَابًا. مُبَاشَرَةً has no close Urdu partner — teach it as “straight away” (compare براہ راست =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(1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(2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(1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(2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common error: “Do not confuse أُرَاجِعُ ‘I revise’ with أَرْجِعُ ‘I return’.”
Say the three verbs slowly: a-r-ji-ʿu / u-rā-ji-ʿu / as-ta-rī-ḥu. Students mime: walking home (return), reading (revise), head on hands (rest).
Quick-fire: teacher says one; students do the mime. Then reverse: teacher mimes, students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“Attach a possessive suffix to the noun” and “Attach an object suffix to the verb”. Website overview: the same ending shows possession after a noun or the object after a verb; the sentence role tells you which.
Teacher script: “Look at the word BEFORE the ending. Noun → whose. Verb → whom.”
Point out: (1) ة → ت (غُرْفَة → غُرْفَتِي); (2) “me” after a verb is ـنِي (تُسَاعِدُنِي).
Website common error: أُسَاعِدُهُ أُمِّي ✗ → أُسَاعِدُهَا ✓ (my mother is female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“Express duration with لِمُدَّةِ” (answers “for how long?”, not “at what time?”) and “Express purpose with لِكَيْ / حَتَّى” (+ subjunctive).
Link to D1-L04: لِكَيْ and حَتَّى behave like أَنْ — the verb ends in fatḥa. Negative purpose: لِكَيْ لَا / حَتَّى لَا (so that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attaches short pronouns to nouns and verbs. The same ending can show possession after a noun or the object after a verb; the sentence role tells you which meaning is intended.”
• Attach a possessive suffix to the noun: The suffix identifies whose object it is. Notice the tāʾ marbūṭa becomes ت before a suffix.
• Attach an object suffix to the verb: The suffix identifies the person receiving the action.
• Express duration with لِمُدَّةِ: Duration answers “for how long?” rather than “at what time?”.
• Express purpose with لِكَيْ / حَتَّى: The following present verb takes the subjunctive ending.
Website common error: Do not confuse أُرَاجِعُ “I revise” with أَرْجِعُ “I return”. Also keep the correct suffix: أساعدها refers to a female, while أساعده refers to a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1–4 combined into the three phases, with a think-aloud. Students copy it, draw a box round every “for how long” and circle every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تَعُودُ مَرْيَمُ إِلَى البَيْتِ فِي الرَّابِعَةِ وَعَشْرِ دَقَائِقَ. مُبَاشَرَةً تُغَيِّرُ مَلَابِسَهَا وَتَتَنَاوَلُ وَجْبَةً خَفِيفَةً. بَعْدَ ذٰلِكَ تَسْتَرِيحُ لِمُدَّةِ عِشْرِينَ دَقِيقَةً فَقَطْ، لِأَنَّ لَدَيْهَا تَدْرِيبًا فِي الخَامِسَةِ وَالنِّصْفِ. عِنْدَمَا تَعُودُ مِنَ التَّدْرِيبِ، تُسَاعِدُ أُمَّهَا فِي إِعْدَادِ العَشَاءِ، ثُمَّ تُكْمِلُ وَاجِبَهَا. قَبْلَ أَنْ تَنَامَ، تُحَضِّرُ حَقِيبَتَهَا حَتَّى لَا تَنْسَى كُتُبَهَا.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All five prompts are from the website. Prompts 1 and 2 are merged on the slide (Core); Develop answers the two amber prompts; Stretch the last with a reason. Website model: a complete sequence with a purpose clause (لِكَيْ أَكُونَ حُرًّا).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Sequence four evening actions with times. · Develop — Add duration, suffixes and a purpose clause. · Stretch — Evaluate the routine and suggest one realistic improvement.
Website writing task (Stretch): Write 100–120 words about your after-school and evening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الرَّابِعَةِ إِلَّا الرُّبْعَ · لِمُدَّةِ نِصْفِ سَاعَةٍ · لِكَيْ أَكُونَ حُرًّا · مَلَابِسِي، دُرُوسِي، وَاجِبِي، حَقِيبَتِي، أُسْرَتِي. Develop challenge: the model has NO object ending — students add one (أُسَاعِدُهَا فِي المَطْبَخِ).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(D1-L06 · He and She — Describing Someone Else’s Routine) will spend class time USING this language, so students prepare it tonight — short, simple, easy to access (school guidance: “Simple, Short, Interesting, Relevant, Easy to access”). The five words come from the website D1-L06 vocabulary (masculine/feminine forms and comparison).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After School and Evening Routine</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بَعْدَ المَدْرَسَةِ وَرُوتِينُ المَسَاءِ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afternoon and evening in three phases, with exact times, duration (</a:t>
            </a:r>
            <a:pPr algn="l" indent="0" marL="0">
              <a:buNone/>
            </a:pPr>
            <a:r>
              <a:rPr lang="ar-SA" altLang="en-US" sz="1800" dirty="0">
                <a:solidFill>
                  <a:srgbClr val="C6D2E6"/>
                </a:solidFill>
                <a:latin typeface="Amiri" pitchFamily="34" charset="0"/>
                <a:ea typeface="Amiri" pitchFamily="34" charset="-122"/>
                <a:cs typeface="Amiri" pitchFamily="34" charset="-120"/>
              </a:rPr>
              <a:t>لِمُدَّةِ</a:t>
            </a:r>
            <a:pPr algn="l" indent="0" marL="0">
              <a:buNone/>
            </a:pPr>
            <a:r>
              <a:rPr lang="en-US" sz="1400" dirty="0">
                <a:solidFill>
                  <a:srgbClr val="C6D2E6"/>
                </a:solidFill>
                <a:latin typeface="Calibri" pitchFamily="34" charset="0"/>
                <a:ea typeface="Calibri" pitchFamily="34" charset="-122"/>
                <a:cs typeface="Calibri" pitchFamily="34" charset="-120"/>
              </a:rPr>
              <a:t>), purpose (</a:t>
            </a:r>
            <a:pPr algn="l" indent="0" marL="0">
              <a:buNone/>
            </a:pPr>
            <a:r>
              <a:rPr lang="ar-SA" altLang="en-US" sz="1800" dirty="0">
                <a:solidFill>
                  <a:srgbClr val="C6D2E6"/>
                </a:solidFill>
                <a:latin typeface="Amiri" pitchFamily="34" charset="0"/>
                <a:ea typeface="Amiri" pitchFamily="34" charset="-122"/>
                <a:cs typeface="Amiri" pitchFamily="34" charset="-120"/>
              </a:rPr>
              <a:t>لِكَيْ / حَتَّى</a:t>
            </a:r>
            <a:pPr algn="l" indent="0" marL="0">
              <a:buNone/>
            </a:pPr>
            <a:r>
              <a:rPr lang="en-US" sz="1400" dirty="0">
                <a:solidFill>
                  <a:srgbClr val="C6D2E6"/>
                </a:solidFill>
                <a:latin typeface="Calibri" pitchFamily="34" charset="0"/>
                <a:ea typeface="Calibri" pitchFamily="34" charset="-122"/>
                <a:cs typeface="Calibri" pitchFamily="34" charset="-120"/>
              </a:rPr>
              <a:t>) and possessive and object suffixes (</a:t>
            </a:r>
            <a:pPr algn="l" indent="0" marL="0">
              <a:buNone/>
            </a:pPr>
            <a:r>
              <a:rPr lang="ar-SA" altLang="en-US" sz="1800" dirty="0">
                <a:solidFill>
                  <a:srgbClr val="C6D2E6"/>
                </a:solidFill>
                <a:latin typeface="Amiri" pitchFamily="34" charset="0"/>
                <a:ea typeface="Amiri" pitchFamily="34" charset="-122"/>
                <a:cs typeface="Amiri" pitchFamily="34" charset="-120"/>
              </a:rPr>
              <a:t>غُرْفَتِي، أُسَاعِدُهَا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D1-L05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phases of the evening, then the suffixes: whose and whom.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evening,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change my clothes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half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النَّوْمِ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أَعُودَ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week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change my clothes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half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النَّوْمِ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أَنَامَ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أَعُودَ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 noun follows directly.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week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short ending tells you WHOSE (after a noun) or WHOM (after a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34" charset="0"/>
                <a:ea typeface="Amiri" pitchFamily="34" charset="-122"/>
                <a:cs typeface="Amiri" pitchFamily="34" charset="-120"/>
              </a:rPr>
              <a:t>حَقِيبَتُهَا</a:t>
            </a:r>
            <a:pPr algn="ctr" indent="0" marL="0">
              <a:buNone/>
            </a:pPr>
            <a:r>
              <a:rPr lang="en-US" sz="2400" b="1" dirty="0">
                <a:solidFill>
                  <a:srgbClr val="1B3B6F"/>
                </a:solidFill>
                <a:latin typeface="Calibri" pitchFamily="34" charset="0"/>
                <a:ea typeface="Calibri" pitchFamily="34" charset="-122"/>
                <a:cs typeface="Calibri" pitchFamily="34" charset="-120"/>
              </a:rPr>
              <a:t> = her bag  ·  </a:t>
            </a:r>
            <a:pPr algn="ctr" indent="0" marL="0">
              <a:buNone/>
            </a:pPr>
            <a:r>
              <a:rPr lang="ar-SA" altLang="en-US" sz="3100" b="1" dirty="0">
                <a:solidFill>
                  <a:srgbClr val="1B3B6F"/>
                </a:solidFill>
                <a:latin typeface="Amiri" pitchFamily="34" charset="0"/>
                <a:ea typeface="Amiri" pitchFamily="34" charset="-122"/>
                <a:cs typeface="Amiri" pitchFamily="34" charset="-120"/>
              </a:rPr>
              <a:t>أُسَاعِدُهَا</a:t>
            </a:r>
            <a:pPr algn="ctr" indent="0" marL="0">
              <a:buNone/>
            </a:pPr>
            <a:r>
              <a:rPr lang="en-US" sz="2400" b="1" dirty="0">
                <a:solidFill>
                  <a:srgbClr val="1B3B6F"/>
                </a:solidFill>
                <a:latin typeface="Calibri" pitchFamily="34" charset="0"/>
                <a:ea typeface="Calibri" pitchFamily="34" charset="-122"/>
                <a:cs typeface="Calibri" pitchFamily="34" charset="-120"/>
              </a:rPr>
              <a:t> = I help her</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wide range of after-school and evening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Sequence six or more events with exact times and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object and possessive suffixes accurately in routine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account with reasons and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evening in three phases.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what time and for how long.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my / his / her on nouns (</a:t>
            </a:r>
            <a:pPr algn="l" indent="0" marL="0">
              <a:buNone/>
            </a:pPr>
            <a:r>
              <a:rPr lang="ar-SA" altLang="en-US" sz="1700" b="1" dirty="0">
                <a:solidFill>
                  <a:srgbClr val="C9780A"/>
                </a:solidFill>
                <a:latin typeface="Amiri" pitchFamily="34" charset="0"/>
                <a:ea typeface="Amiri" pitchFamily="34" charset="-122"/>
                <a:cs typeface="Amiri" pitchFamily="34" charset="-120"/>
              </a:rPr>
              <a:t>غُرْفَتِي، غُرْفَتُهُ</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one object suffix (</a:t>
            </a:r>
            <a:pPr algn="l" indent="0" marL="0">
              <a:buNone/>
            </a:pPr>
            <a:r>
              <a:rPr lang="ar-SA" altLang="en-US" sz="1700" b="1" dirty="0">
                <a:solidFill>
                  <a:srgbClr val="C9780A"/>
                </a:solidFill>
                <a:latin typeface="Amiri" pitchFamily="34" charset="0"/>
                <a:ea typeface="Amiri" pitchFamily="34" charset="-122"/>
                <a:cs typeface="Amiri" pitchFamily="34" charset="-120"/>
              </a:rPr>
              <a:t>أُسَاعِدُهَا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purpose with </a:t>
            </a:r>
            <a:pPr algn="l" indent="0" marL="0">
              <a:buNone/>
            </a:pPr>
            <a:r>
              <a:rPr lang="ar-SA" altLang="en-US" sz="1700" b="1" dirty="0">
                <a:solidFill>
                  <a:srgbClr val="B83227"/>
                </a:solidFill>
                <a:latin typeface="Amiri" pitchFamily="34" charset="0"/>
                <a:ea typeface="Amiri" pitchFamily="34" charset="-122"/>
                <a:cs typeface="Amiri" pitchFamily="34" charset="-120"/>
              </a:rPr>
              <a:t>لِكَيْ / حَتَّى</a:t>
            </a:r>
            <a:pPr algn="l" indent="0" marL="0">
              <a:buNone/>
            </a:pPr>
            <a:r>
              <a:rPr lang="en-US" sz="1300" b="1" dirty="0">
                <a:solidFill>
                  <a:srgbClr val="B83227"/>
                </a:solidFill>
                <a:latin typeface="Calibri" pitchFamily="34" charset="0"/>
                <a:ea typeface="Calibri" pitchFamily="34" charset="-122"/>
                <a:cs typeface="Calibri" pitchFamily="34" charset="-120"/>
              </a:rPr>
              <a:t>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my routine and suggest one improvement.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After school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Evening routine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duration and purpose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لِمُدَّةِ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a period of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المَطْبَخِ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‎مطبخ‎ </a:t>
            </a:r>
            <a:pPr indent="0" marL="0">
              <a:buNone/>
            </a:pPr>
            <a:r>
              <a:rPr lang="en-US" sz="950" b="1" dirty="0">
                <a:solidFill>
                  <a:srgbClr val="2E8B57"/>
                </a:solidFill>
                <a:latin typeface="Calibri" pitchFamily="34" charset="0"/>
                <a:ea typeface="Calibri" pitchFamily="34" charset="-122"/>
                <a:cs typeface="Calibri" pitchFamily="34" charset="-120"/>
              </a:rPr>
              <a:t> matbakh · kitchen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بَرْنَامَجًا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‎پروگرام / برنامہ‎ </a:t>
            </a:r>
            <a:pPr indent="0" marL="0">
              <a:buNone/>
            </a:pPr>
            <a:r>
              <a:rPr lang="en-US" sz="950" b="1" dirty="0">
                <a:solidFill>
                  <a:srgbClr val="2E8B57"/>
                </a:solidFill>
                <a:latin typeface="Calibri" pitchFamily="34" charset="0"/>
                <a:ea typeface="Calibri" pitchFamily="34" charset="-122"/>
                <a:cs typeface="Calibri" pitchFamily="34" charset="-120"/>
              </a:rPr>
              <a:t> barnāma · programme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مُبَاشَرَةً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‎براہ راست‎ </a:t>
            </a:r>
            <a:pPr indent="0" marL="0">
              <a:buNone/>
            </a:pPr>
            <a:r>
              <a:rPr lang="en-US" sz="950" b="1" dirty="0">
                <a:solidFill>
                  <a:srgbClr val="2E8B57"/>
                </a:solidFill>
                <a:latin typeface="Calibri" pitchFamily="34" charset="0"/>
                <a:ea typeface="Calibri" pitchFamily="34" charset="-122"/>
                <a:cs typeface="Calibri" pitchFamily="34" charset="-120"/>
              </a:rPr>
              <a:t> barāh-e rāst · Urdu: directly · Arabic: immediately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return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أُغَيِّرُ مَلَابِسِي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change my clothes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u-ghay-yi-ru ma-lā-bi-sī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يُغَيِّرُ مَلَابِسَهُ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تُغَيِّرُ مَلَابِسَهَا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نُغَيِّرُ مَلَابِسَنَا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وَجْبَةً خَفِيفَةً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a snack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waj-ba-tan kha-fī-fa-tan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 قَلِيلًا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 for a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 qa-lī-lan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my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يُرَاجِعُ دُرُوسَهُ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 دُرُوسَهَا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نُرَاجِعُ دُرُوسَنَا</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يُكْمِلُ وَاجِبَهُ</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تُكْمِلُ وَاجِبَهَا</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نُكْمِلُ وَاجِبَنَا</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النَّادِي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the 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an-nā-dī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أَتَمَرَّنُ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train /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a-ta-mar-ra-nu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أَزُورُ صَدِيقَتِي / صَدِيقِي</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visit my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a-zū-ru ṣa-dī-qa-tī / ṣa-dī-qī</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أُسْرَتِي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us-ra-tī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أُرَتِّبُ غُرْفَتِي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tidy my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u-rat-ti-bu ghur-fa-tī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يُرَتِّبُ غُرْفَتَهُ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تُرَتِّبُ غُرْفَتَهَا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نُرَتِّبُ غُرَفَنَا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العَشَاءَ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dinner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al-ʿa-shā-ʾa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أَغْسِلُ الأَطْبَاقَ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wash the dishes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agh-si-lu al-aṭ-bā-qa</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plate</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طَبَقٌ</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أَطْبَاقٌ</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يَغْسِلُ</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أَتَحَدَّثُ مَعَ أُسْرَتِي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talk with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a-ta-ḥad-da-thu ma-ʿa us-ra-tī</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أُشَاهِدُ بَرْنَامَجًا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watch a programme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u-shā-hi-du bar-nā-ma-jan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أَقْرَأُ كِتَابًا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read a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aq-ra-ʾu ki-tā-ban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 حَقِيبَتِي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prepare my 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u-ḥaḍ-ḍi-ru ḥa-qī-ba-tī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يُحَضِّرُ حَقِيبَتَهُ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تُحَضِّرُ حَقِيبَتَهَا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نُحَضِّرُ حَقَائِبَنَا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أَضْبِطُ المُنَبِّهَ</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set the alarm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aḍ-bi-ṭu al-mu-nab-bi-ha</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الفِرَاشِ</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al-fi-rā-shi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 أَعُودُ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I 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 a-ʿū-du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سَاعَةٍ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sā-ʿa-tin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لِمُدَّةِ نِصْفِ 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half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li-mud-da-ti niṣ-fi sā-ʿa-tin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السَّاعَةِ...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until ... o’clock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as-sā-ʿa-ti...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immediately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mu-bā-sha-ra-tan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وَقْتٍ لَاحِقٍ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waq-tin lā-ḥi-qin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أَسْتَطِيعَ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as-ta-ṭī-ʿa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VERBS THAT LOOK ALIKE (WEBSITE WARNING)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Return, revise or rest?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أَرْجِعُ · أُرَاجِعُ · أَسْتَرِيحُ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RETURN · 3 LETTERS</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أَرْجِعُ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أَرْجِعُ إِلَى البَيْتِ فِي الرَّابِعَةِ.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return home at four.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ar-ji-ʿu: short, three root letters.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REVISE · LONG Ā</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أُرَاجِعُ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أُرَاجِعُ دُرُوسِي لِمُدَّةِ سَاعَةٍ.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revise my lessons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u-rā-ji-ʿu: starts with u, long rā.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REST · STA- PATTERN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أَسْتَرِيحُ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أَسْتَرِيحُ قَلِيلًا بَعْدَ الغَدَاءِ.</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rest for a while after lunch.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as-ta-rī-ḥu: the sta- pattern.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confuse “I revise” with “I return”.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أَرْجِعُ إِلَى البَيْتِ</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أُرَاجِعُ إِلَى البَيْتِ</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WHOSE? AND WHOM?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ending,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المِلْكِيَّةِ وَالمَفْعُولِ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659282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noun: whose?</a:t>
            </a:r>
            <a:endParaRPr lang="en-US" sz="1100" dirty="0"/>
          </a:p>
        </p:txBody>
      </p:sp>
      <p:sp>
        <p:nvSpPr>
          <p:cNvPr id="18" name="Text 15"/>
          <p:cNvSpPr txBox="1"/>
          <p:nvPr/>
        </p:nvSpPr>
        <p:spPr>
          <a:xfrm>
            <a:off x="31181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verb: whom?</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85832" y="226771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661111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ي</a:t>
            </a:r>
            <a:endParaRPr lang="ar-SA" sz="1600" dirty="0"/>
          </a:p>
        </p:txBody>
      </p:sp>
      <p:sp>
        <p:nvSpPr>
          <p:cNvPr id="23" name="Text 20"/>
          <p:cNvSpPr txBox="1"/>
          <p:nvPr/>
        </p:nvSpPr>
        <p:spPr>
          <a:xfrm>
            <a:off x="656539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bag</a:t>
            </a:r>
            <a:endParaRPr lang="en-US" sz="950" dirty="0"/>
          </a:p>
        </p:txBody>
      </p:sp>
      <p:sp>
        <p:nvSpPr>
          <p:cNvPr id="24" name="Text 21"/>
          <p:cNvSpPr txBox="1"/>
          <p:nvPr/>
        </p:nvSpPr>
        <p:spPr>
          <a:xfrm>
            <a:off x="313639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نِي</a:t>
            </a:r>
            <a:endParaRPr lang="ar-SA" sz="1600" dirty="0"/>
          </a:p>
        </p:txBody>
      </p:sp>
      <p:sp>
        <p:nvSpPr>
          <p:cNvPr id="25" name="Text 22"/>
          <p:cNvSpPr txBox="1"/>
          <p:nvPr/>
        </p:nvSpPr>
        <p:spPr>
          <a:xfrm>
            <a:off x="309067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me</a:t>
            </a:r>
            <a:endParaRPr lang="en-US" sz="950" dirty="0"/>
          </a:p>
        </p:txBody>
      </p:sp>
      <p:sp>
        <p:nvSpPr>
          <p:cNvPr id="26" name="Text 23"/>
          <p:cNvSpPr txBox="1"/>
          <p:nvPr/>
        </p:nvSpPr>
        <p:spPr>
          <a:xfrm>
            <a:off x="566928" y="226771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 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85832" y="2881884"/>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661111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2" name="Text 29"/>
          <p:cNvSpPr txBox="1"/>
          <p:nvPr/>
        </p:nvSpPr>
        <p:spPr>
          <a:xfrm>
            <a:off x="656539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your bag</a:t>
            </a:r>
            <a:endParaRPr lang="en-US" sz="950" dirty="0"/>
          </a:p>
        </p:txBody>
      </p:sp>
      <p:sp>
        <p:nvSpPr>
          <p:cNvPr id="33" name="Text 30"/>
          <p:cNvSpPr txBox="1"/>
          <p:nvPr/>
        </p:nvSpPr>
        <p:spPr>
          <a:xfrm>
            <a:off x="313639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4" name="Text 31"/>
          <p:cNvSpPr txBox="1"/>
          <p:nvPr/>
        </p:nvSpPr>
        <p:spPr>
          <a:xfrm>
            <a:off x="309067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you</a:t>
            </a:r>
            <a:endParaRPr lang="en-US" sz="950" dirty="0"/>
          </a:p>
        </p:txBody>
      </p:sp>
      <p:sp>
        <p:nvSpPr>
          <p:cNvPr id="35" name="Text 32"/>
          <p:cNvSpPr txBox="1"/>
          <p:nvPr/>
        </p:nvSpPr>
        <p:spPr>
          <a:xfrm>
            <a:off x="566928" y="2881884"/>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 you (m.)</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10085832" y="3496056"/>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8" name="Text 35"/>
          <p:cNvSpPr txBox="1"/>
          <p:nvPr/>
        </p:nvSpPr>
        <p:spPr>
          <a:xfrm>
            <a:off x="661111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39" name="Text 36"/>
          <p:cNvSpPr txBox="1"/>
          <p:nvPr/>
        </p:nvSpPr>
        <p:spPr>
          <a:xfrm>
            <a:off x="656539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his bag</a:t>
            </a:r>
            <a:endParaRPr lang="en-US" sz="950" dirty="0"/>
          </a:p>
        </p:txBody>
      </p:sp>
      <p:sp>
        <p:nvSpPr>
          <p:cNvPr id="40" name="Text 37"/>
          <p:cNvSpPr txBox="1"/>
          <p:nvPr/>
        </p:nvSpPr>
        <p:spPr>
          <a:xfrm>
            <a:off x="313639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41" name="Text 38"/>
          <p:cNvSpPr txBox="1"/>
          <p:nvPr/>
        </p:nvSpPr>
        <p:spPr>
          <a:xfrm>
            <a:off x="309067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him</a:t>
            </a:r>
            <a:endParaRPr lang="en-US" sz="950" dirty="0"/>
          </a:p>
        </p:txBody>
      </p:sp>
      <p:sp>
        <p:nvSpPr>
          <p:cNvPr id="42" name="Text 39"/>
          <p:cNvSpPr txBox="1"/>
          <p:nvPr/>
        </p:nvSpPr>
        <p:spPr>
          <a:xfrm>
            <a:off x="566928" y="3496056"/>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 him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085832" y="4110228"/>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7" name="Text 44"/>
          <p:cNvSpPr txBox="1"/>
          <p:nvPr/>
        </p:nvSpPr>
        <p:spPr>
          <a:xfrm>
            <a:off x="661111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48" name="Text 45"/>
          <p:cNvSpPr txBox="1"/>
          <p:nvPr/>
        </p:nvSpPr>
        <p:spPr>
          <a:xfrm>
            <a:off x="656539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bag</a:t>
            </a:r>
            <a:endParaRPr lang="en-US" sz="950" dirty="0"/>
          </a:p>
        </p:txBody>
      </p:sp>
      <p:sp>
        <p:nvSpPr>
          <p:cNvPr id="49" name="Text 46"/>
          <p:cNvSpPr txBox="1"/>
          <p:nvPr/>
        </p:nvSpPr>
        <p:spPr>
          <a:xfrm>
            <a:off x="313639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50" name="Text 47"/>
          <p:cNvSpPr txBox="1"/>
          <p:nvPr/>
        </p:nvSpPr>
        <p:spPr>
          <a:xfrm>
            <a:off x="309067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her</a:t>
            </a:r>
            <a:endParaRPr lang="en-US" sz="950" dirty="0"/>
          </a:p>
        </p:txBody>
      </p:sp>
      <p:sp>
        <p:nvSpPr>
          <p:cNvPr id="51" name="Text 48"/>
          <p:cNvSpPr txBox="1"/>
          <p:nvPr/>
        </p:nvSpPr>
        <p:spPr>
          <a:xfrm>
            <a:off x="566928" y="4110228"/>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 her</a:t>
            </a:r>
            <a:endParaRPr lang="en-US" sz="1100" dirty="0"/>
          </a:p>
        </p:txBody>
      </p:sp>
      <p:sp>
        <p:nvSpPr>
          <p:cNvPr id="52" name="Shape 49"/>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5" name="Text 52"/>
          <p:cNvSpPr txBox="1"/>
          <p:nvPr/>
        </p:nvSpPr>
        <p:spPr>
          <a:xfrm>
            <a:off x="10085832" y="4724400"/>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6" name="Text 53"/>
          <p:cNvSpPr txBox="1"/>
          <p:nvPr/>
        </p:nvSpPr>
        <p:spPr>
          <a:xfrm>
            <a:off x="661111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7" name="Text 54"/>
          <p:cNvSpPr txBox="1"/>
          <p:nvPr/>
        </p:nvSpPr>
        <p:spPr>
          <a:xfrm>
            <a:off x="656539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our bag</a:t>
            </a:r>
            <a:endParaRPr lang="en-US" sz="950" dirty="0"/>
          </a:p>
        </p:txBody>
      </p:sp>
      <p:sp>
        <p:nvSpPr>
          <p:cNvPr id="58" name="Text 55"/>
          <p:cNvSpPr txBox="1"/>
          <p:nvPr/>
        </p:nvSpPr>
        <p:spPr>
          <a:xfrm>
            <a:off x="313639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9" name="Text 56"/>
          <p:cNvSpPr txBox="1"/>
          <p:nvPr/>
        </p:nvSpPr>
        <p:spPr>
          <a:xfrm>
            <a:off x="309067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us</a:t>
            </a:r>
            <a:endParaRPr lang="en-US" sz="950" dirty="0"/>
          </a:p>
        </p:txBody>
      </p:sp>
      <p:sp>
        <p:nvSpPr>
          <p:cNvPr id="60" name="Text 57"/>
          <p:cNvSpPr txBox="1"/>
          <p:nvPr/>
        </p:nvSpPr>
        <p:spPr>
          <a:xfrm>
            <a:off x="566928" y="4724400"/>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our · us</a:t>
            </a:r>
            <a:endParaRPr lang="en-US" sz="1100" dirty="0"/>
          </a:p>
        </p:txBody>
      </p:sp>
      <p:sp>
        <p:nvSpPr>
          <p:cNvPr id="61" name="Shape 5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2" name="Text 59"/>
          <p:cNvSpPr txBox="1"/>
          <p:nvPr/>
        </p:nvSpPr>
        <p:spPr>
          <a:xfrm>
            <a:off x="10085832" y="533857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63" name="Text 60"/>
          <p:cNvSpPr txBox="1"/>
          <p:nvPr/>
        </p:nvSpPr>
        <p:spPr>
          <a:xfrm>
            <a:off x="661111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4" name="Text 61"/>
          <p:cNvSpPr txBox="1"/>
          <p:nvPr/>
        </p:nvSpPr>
        <p:spPr>
          <a:xfrm>
            <a:off x="656539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their bag</a:t>
            </a:r>
            <a:endParaRPr lang="en-US" sz="950" dirty="0"/>
          </a:p>
        </p:txBody>
      </p:sp>
      <p:sp>
        <p:nvSpPr>
          <p:cNvPr id="65" name="Text 62"/>
          <p:cNvSpPr txBox="1"/>
          <p:nvPr/>
        </p:nvSpPr>
        <p:spPr>
          <a:xfrm>
            <a:off x="313639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أَزُورُ</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6" name="Text 63"/>
          <p:cNvSpPr txBox="1"/>
          <p:nvPr/>
        </p:nvSpPr>
        <p:spPr>
          <a:xfrm>
            <a:off x="309067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visit them</a:t>
            </a:r>
            <a:endParaRPr lang="en-US" sz="950" dirty="0"/>
          </a:p>
        </p:txBody>
      </p:sp>
      <p:sp>
        <p:nvSpPr>
          <p:cNvPr id="67" name="Text 64"/>
          <p:cNvSpPr txBox="1"/>
          <p:nvPr/>
        </p:nvSpPr>
        <p:spPr>
          <a:xfrm>
            <a:off x="566928" y="533857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 them</a:t>
            </a:r>
            <a:endParaRPr lang="en-US" sz="1100" dirty="0"/>
          </a:p>
        </p:txBody>
      </p:sp>
      <p:sp>
        <p:nvSpPr>
          <p:cNvPr id="68" name="Text 6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Tāʾ marbūṭa becomes a normal t before an ending (ḥaqība → ḥaqībatī). “Me” on a verb is -nī, not -ī.</a:t>
            </a:r>
            <a:endParaRPr lang="en-US" sz="11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3 · HOW LONG? AND WHY? (WEBSITE RULES)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Duration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لِمُدَّةِ · لِكَيْ · حَتَّى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AT WHAT TIME?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السَّاعَةِ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أَتَمَرَّنُ فِي السَّاعَةِ الخَامِسَةِ.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at five o’clock.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point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 HOW LONG? · CORE</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لِمُدَّةِ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أَتَمَرَّنُ لِمُدَّةِ سَاعَةٍ.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length of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أُحَضِّرُ حَقِيبَتِي حَتَّى لَا أَنْسَى كُتُبِي.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prepare my bag so I don’t forget my books.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 fatḥa ending, as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li-kay the verb ends in fatḥa.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 أَسْتَعِدَّ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لِكَيْ أَسْتَعِدُّ</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Object and possessive suffixes in an evening routine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ضَمَائِرُ المَفْعُولِ وَالمِلْكِيَّةِ فِي رُوتِينِ المَسَاءِ</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Attach a possessive suffix to the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حَقِيبَةٌ ← حَقِيبَتِي / حَقِيبَتُهُ / حَقِيبَتُهَا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أُحَضِّرُ حَقِيبَتِي.   ·   يُحَضِّرُ حَقِيبَتَهُ.   ·   تُحَضِّرُ حَقِيبَتَهَا.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Attach an object suffix to the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أُسَاعِدُ + هُ / هَا / هُمْ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أُسَاعِدُهُ بَعْدَ المَدْرَسَةِ.   ·   أُسَاعِدُهَا فِي المَطْبَخِ.   ·   أَزُورُهُمْ يَوْمَ الجُمُعَةِ.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Express duration with </a:t>
            </a:r>
            <a:pPr algn="l" indent="0" marL="0">
              <a:buNone/>
            </a:pPr>
            <a:r>
              <a:rPr lang="ar-SA" altLang="en-US" sz="1650" b="1" dirty="0">
                <a:solidFill>
                  <a:srgbClr val="1B3B6F"/>
                </a:solidFill>
                <a:latin typeface="Amiri" pitchFamily="34" charset="0"/>
                <a:ea typeface="Amiri" pitchFamily="34" charset="-122"/>
                <a:cs typeface="Amiri" pitchFamily="34" charset="-120"/>
              </a:rPr>
              <a:t>لِمُدَّةِ</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لِمُدَّةِ</a:t>
            </a:r>
            <a:pPr algn="l" indent="0" marL="0">
              <a:buNone/>
            </a:pPr>
            <a:r>
              <a:rPr lang="en-US" sz="1050" dirty="0">
                <a:solidFill>
                  <a:srgbClr val="5A6472"/>
                </a:solidFill>
                <a:latin typeface="Calibri" pitchFamily="34" charset="0"/>
                <a:ea typeface="Calibri" pitchFamily="34" charset="-122"/>
                <a:cs typeface="Calibri" pitchFamily="34" charset="-120"/>
              </a:rPr>
              <a:t> + time period</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أَسْتَرِيحُ لِمُدَّةِ نِصْفِ سَاعَةٍ.   ·   أَتَمَرَّنُ لِمُدَّةِ سَاعَةٍ.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Express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 / حَتَّى</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 · </a:t>
            </a:r>
            <a:pPr algn="l" indent="0" marL="0">
              <a:buNone/>
            </a:pPr>
            <a:r>
              <a:rPr lang="ar-SA" altLang="en-US" sz="1350" dirty="0">
                <a:solidFill>
                  <a:srgbClr val="5A6472"/>
                </a:solidFill>
                <a:latin typeface="Amiri" pitchFamily="34" charset="0"/>
                <a:ea typeface="Amiri" pitchFamily="34" charset="-122"/>
                <a:cs typeface="Amiri" pitchFamily="34" charset="-120"/>
              </a:rPr>
              <a:t>حَتَّى</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أُرَاجِعُ لِكَيْ أَفْهَمَ الدَّرْسَ.   ·   أُحَضِّرُ حَقِيبَتِي حَتَّى لَا أَتَأَخَّرَ.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 إِلَى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إِلَى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لِمُدَّةِ سَاعَةٍ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السَّاعَةِ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يَرْجِعُ إِلَى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إِلَى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feminine singular.</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لِمُدَّةِ سَاعَةٍ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السَّاعَةِ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expresses duration.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build my evening in three phases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Arrive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Exact time anchors the routine.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Rest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أَسْتَرِيحُ </a:t>
            </a:r>
            <a:pPr rtl="1" algn="ctr" indent="0" marL="0">
              <a:buNone/>
            </a:pPr>
            <a:r>
              <a:rPr lang="ar-SA" altLang="en-US" sz="2300" b="1" dirty="0">
                <a:solidFill>
                  <a:srgbClr val="0E7C86"/>
                </a:solidFill>
                <a:latin typeface="Amiri" pitchFamily="34" charset="0"/>
                <a:ea typeface="Amiri" pitchFamily="34" charset="-122"/>
                <a:cs typeface="Amiri" pitchFamily="34" charset="-120"/>
              </a:rPr>
              <a:t>لِمُدَّةِ</a:t>
            </a:r>
            <a:pPr rtl="1" algn="ctr" indent="0" marL="0">
              <a:buNone/>
            </a:pPr>
            <a:r>
              <a:rPr lang="ar-SA" altLang="en-US" sz="2300" b="1" dirty="0">
                <a:solidFill>
                  <a:srgbClr val="1B3B6F"/>
                </a:solidFill>
                <a:latin typeface="Amiri" pitchFamily="34" charset="0"/>
                <a:ea typeface="Amiri" pitchFamily="34" charset="-122"/>
                <a:cs typeface="Amiri" pitchFamily="34" charset="-120"/>
              </a:rPr>
              <a:t> نِصْفِ سَاعَةٍ.</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 how long? → </a:t>
            </a:r>
            <a:pPr algn="l" indent="0" marL="0">
              <a:buNone/>
            </a:pPr>
            <a:r>
              <a:rPr lang="ar-SA" altLang="en-US" sz="1500" dirty="0">
                <a:solidFill>
                  <a:srgbClr val="1F2A37"/>
                </a:solidFill>
                <a:latin typeface="Amiri" pitchFamily="34" charset="0"/>
                <a:ea typeface="Amiri" pitchFamily="34" charset="-122"/>
                <a:cs typeface="Amiri" pitchFamily="34" charset="-120"/>
              </a:rPr>
              <a:t>لِمُدَّةِ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Jobs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أُسَاعِدُ أُمِّي، أُسَاعِدُ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Mother → her → </a:t>
            </a:r>
            <a:pPr algn="l" indent="0" marL="0">
              <a:buNone/>
            </a:pPr>
            <a:r>
              <a:rPr lang="ar-SA" altLang="en-US" sz="1500" dirty="0">
                <a:solidFill>
                  <a:srgbClr val="1F2A37"/>
                </a:solidFill>
                <a:latin typeface="Amiri" pitchFamily="34" charset="0"/>
                <a:ea typeface="Amiri" pitchFamily="34" charset="-122"/>
                <a:cs typeface="Amiri" pitchFamily="34" charset="-120"/>
              </a:rPr>
              <a:t>ـهَا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Prepare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أُحَضِّرُ حَقِيبَتِ</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حَتَّى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لَا أَنْسَى كُتُبِي.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 fatḥa ending.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LONG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SUFFIX</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أَرْجِعُ إِلَى البَيْتِ فِي الرَّابِعَةِ إِلَّا الرُّبْعَ، وَأَسْتَرِيحُ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نِصْفِ سَاعَةٍ. ثُمَّ أُرَاجِعُ دُرُوسِ</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سَاعَةٍ. بَعْدَ العَشَاءِ أُسَاعِدُ أُمِّي؛ أُسَاعِدُ</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المَطْبَخِ. قَبْلَ النَّوْمِ أُحَضِّرُ حَقِيبَتِ</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أَنْسَى كُتُبِي.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return home at quarter to four, and I rest for half an hour. Then I revise my lessons for an hour. After dinner I help my mother; I help her in the kitchen. Before sleep I prepare my bag so that I do not forget my books.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return home at quarter to four.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time anchors the routine.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أُسَاعِدُهَا فِي المَطْبَخِ.</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help her in the kitchen.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suffix after the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لِمُدَّةِ سَاعَةٍ.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for an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clock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أُحَضِّرُ حَقِيبَتِي حَتَّى لَا أَنْسَى كُتُبِي.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prepare my bag so I do not forget my books.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subjunctive.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AFTER SCHOOL AND EVENING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day: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أَنَامُ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بَعْدَ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المَدْرَسَةِ.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بَعْدَ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after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أَنَامُ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sleep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control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دُرُوسِي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 وَاجِبِي قَبْلَ أَنْ أَرْجِعَ مِنَ المَدْرَسَةِ.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ثُمَّ أَسْتَرِيحُ، وَبَعْدَ ذٰلِكَ أُكْمِلُ وَاجِبِي.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الفِرَاشِ أَوَّلًا فِي المَدْرَسَةِ.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يُحَضِّرُ حَقِيبَتُهُ.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أُحَضِّرُ حَقِيبَتِي.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تُحَضِّرُ حَقِيبَتَهَا.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دُرُوسِي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دُرُوسُهُ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means I revise; </a:t>
            </a:r>
            <a:pPr algn="l" indent="0" marL="0">
              <a:buNone/>
            </a:pPr>
            <a:r>
              <a:rPr lang="ar-SA" altLang="en-US" sz="1350" dirty="0">
                <a:solidFill>
                  <a:srgbClr val="8A6D1E"/>
                </a:solidFill>
                <a:latin typeface="Amiri" pitchFamily="34" charset="0"/>
                <a:ea typeface="Amiri" pitchFamily="34" charset="-122"/>
                <a:cs typeface="Amiri" pitchFamily="34" charset="-120"/>
              </a:rPr>
              <a:t>دُرُوسِي</a:t>
            </a:r>
            <a:pPr algn="l" indent="0" marL="0">
              <a:buNone/>
            </a:pPr>
            <a:r>
              <a:rPr lang="en-US" sz="1050" i="1" dirty="0">
                <a:solidFill>
                  <a:srgbClr val="8A6D1E"/>
                </a:solidFill>
                <a:latin typeface="Calibri" pitchFamily="34" charset="0"/>
                <a:ea typeface="Calibri" pitchFamily="34" charset="-122"/>
                <a:cs typeface="Calibri" pitchFamily="34" charset="-120"/>
              </a:rPr>
              <a:t> means my lessons.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أَتَأَخَّرَ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تَأَخَّرْتُ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 وَاجِبِي قَبْلَ أَنْ أَرْجِعَ مِنَ المَدْرَسَةِ.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ثُمَّ أَسْتَرِيحُ، وَبَعْدَ ذٰلِكَ أُكْمِلُ وَاجِبِي.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الفِرَاشِ أَوَّلًا فِي المَدْرَسَةِ.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option gives a logical 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يُحَضِّرُ حَقِيبَتُهُ.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أُحَضِّرُ حَقِيبَتِي.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تُحَضِّرُ حَقِيبَتَهَا.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and feminine possession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أُرَاجِعُ إِلَى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Returning home or revising?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أُسَاعِدُهُ أُمِّي.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أُمِّي</a:t>
            </a:r>
            <a:pPr algn="l" indent="0" marL="0">
              <a:buNone/>
            </a:pPr>
            <a:r>
              <a:rPr lang="en-US" sz="1300" i="1" dirty="0">
                <a:solidFill>
                  <a:srgbClr val="5A6472"/>
                </a:solidFill>
                <a:latin typeface="Calibri" pitchFamily="34" charset="0"/>
                <a:ea typeface="Calibri" pitchFamily="34" charset="-122"/>
                <a:cs typeface="Calibri" pitchFamily="34" charset="-120"/>
              </a:rPr>
              <a:t> is female.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 what is the last vowel?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أُرَاجِعُ إِلَى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أَرْجِعُ إِلَى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أَرْجِعُ</a:t>
            </a:r>
            <a:pPr algn="l" indent="0" marL="0">
              <a:buNone/>
            </a:pPr>
            <a:r>
              <a:rPr lang="en-US" sz="1150" b="1" dirty="0">
                <a:solidFill>
                  <a:srgbClr val="1B3B6F"/>
                </a:solidFill>
                <a:latin typeface="Calibri" pitchFamily="34" charset="0"/>
                <a:ea typeface="Calibri" pitchFamily="34" charset="-122"/>
                <a:cs typeface="Calibri" pitchFamily="34" charset="-120"/>
              </a:rPr>
              <a:t> means return; </a:t>
            </a:r>
            <a:pPr algn="l" indent="0" marL="0">
              <a:buNone/>
            </a:pPr>
            <a:r>
              <a:rPr lang="ar-SA" altLang="en-US" sz="1500" b="1" dirty="0">
                <a:solidFill>
                  <a:srgbClr val="1B3B6F"/>
                </a:solidFill>
                <a:latin typeface="Amiri" pitchFamily="34" charset="0"/>
                <a:ea typeface="Amiri" pitchFamily="34" charset="-122"/>
                <a:cs typeface="Amiri" pitchFamily="34" charset="-120"/>
              </a:rPr>
              <a:t>أُرَاجِعُ</a:t>
            </a:r>
            <a:pPr algn="l" indent="0" marL="0">
              <a:buNone/>
            </a:pPr>
            <a:r>
              <a:rPr lang="en-US" sz="1150" b="1" dirty="0">
                <a:solidFill>
                  <a:srgbClr val="1B3B6F"/>
                </a:solidFill>
                <a:latin typeface="Calibri" pitchFamily="34" charset="0"/>
                <a:ea typeface="Calibri" pitchFamily="34" charset="-122"/>
                <a:cs typeface="Calibri" pitchFamily="34" charset="-120"/>
              </a:rPr>
              <a:t> means revise.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أُسَاعِدُهُ أُمِّي.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أُسَاعِدُهَا.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object suffix is </a:t>
            </a:r>
            <a:pPr algn="l" indent="0" marL="0">
              <a:buNone/>
            </a:pPr>
            <a:r>
              <a:rPr lang="ar-SA" altLang="en-US" sz="1500" b="1" dirty="0">
                <a:solidFill>
                  <a:srgbClr val="1B3B6F"/>
                </a:solidFill>
                <a:latin typeface="Amiri" pitchFamily="34" charset="0"/>
                <a:ea typeface="Amiri" pitchFamily="34" charset="-122"/>
                <a:cs typeface="Amiri" pitchFamily="34" charset="-120"/>
              </a:rPr>
              <a:t>ـها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is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Mariam’s busy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starts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to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can watch television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school is closed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تَعُودُ مَرْيَمُ إِلَى البَيْتِ فِي الرَّابِعَةِ وَعَشْرِ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Mariam returns home at ten past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مُبَاشَرَةً تُغَيِّرُ مَلَابِسَهَا وَتَتَنَاوَلُ وَجْبَةً خَفِيفَةً.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 away she changes her clothes and has a snack.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ذٰلِكَ تَسْتَرِيحُ لِمُدَّةِ عِشْرِينَ دَقِيقَةً فَقَطْ، لِأَنَّ لَدَيْهَا تَدْرِيبًا فِي الخَامِسَةِ وَالنِّصْفِ.</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she rests for only twenty minutes, because she has training at half past five.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تَعُودُ مِنَ التَّدْرِيبِ، تُسَاعِدُ أُمَّهَا فِي إِعْدَادِ العَشَاءِ، ثُمَّ تُكْمِلُ وَاجِبَهَا.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she returns from training, she helps her mother prepare dinner, then finishes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تَنَامَ، تُحَضِّرُ حَقِيبَتَهَا حَتَّى لَا تَنْسَى كُتُبَهَا.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she sleeps, she prepares her bag so that she does not forget her books.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الرَّابِعَةِ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starts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to bed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مُبَاشَرَةً تُغَيِّرُ مَلَابِسَهَا وَتَتَنَاوَلُ وَجْبَةً خَفِيفَةً.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أُمَّهَا.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 she can watch television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school is closed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لَا تَنْسَى كُتُبَهَا.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Explain and justify your after-school routine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تَعُودُ إِلَى البَيْتِ؟ وَمَاذَا تَفْعَلُ مُبَاشَرَةً؟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مِنَ الوَقْتِ تَقْضِي فِي الوَاجِبِ؟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تُسَاعِدُ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أَفْضَلُ جُزْءٍ فِي رُوتِينِ المَسَاءِ؟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أَعُودُ إِلَى البَيْتِ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أُكْمِلُ وَاجِبِي لِمُدَّةِ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أُسَاعِدُ أُمِّي / أَبِي ؛ أُسَاعِدُهَا / أُسَاعِدُهُ فِي ___ .</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جُزْءٍ هُوَ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عِنْدَمَا تَعُودُ؟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when you return?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أُغَيِّرُ مَلَابِسِي وَأَسْتَرِيحُ قَلِيلًا، ثُمَّ أُكْمِلُ وَاجِبِي لِكَيْ أَكُونَ حُرًّا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change my clothes and rest a little, then I finish my homework so that I am free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Sequence four evening actions with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phases: arrive (time), rest (for how long), jobs, dinner, bed.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duration, suffixes and a purpose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possessive endings (my room), one object ending (I help her)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the routine and suggest one realistic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exact times, six evening verbs, suffixes, duration, purpose and a reasoned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أُمِّي؛ أُسَاعِدُهَا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mother; I help her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أَبِي؛ أُسَاعِدُهُ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father; I help him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جَدِّي وَجَدَّتِي؛ أَزُورُهُمْ 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 my grandparents; I visit them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أُرَاجِعُ لِكَيْ أَفْهَمَ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revise so that I understand the lesson.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حَقِيبَتِي حَتَّى لَا أَنْسَى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prepare my bag so that I don’t forget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أَرْجِعُ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أَسْتَرِيحُ لِمُدَّةِ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rest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أُرَاجِعُ دُرُوسِي.</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revise my lessons.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العَشَاءَ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dinner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الفِرَاشِ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bed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أَرْجِعُ  ·  أُغَيِّرُ مَلَابِسِي  ·  أَسْتَرِيحُ  ·  أُرَاجِعُ دُرُوسِي  ·  أُكْمِلُ وَاجِبِي  ·  أُرَتِّبُ غُرْفَتِي  ·  أَغْسِلُ الأَطْبَاقَ  ·  أُحَضِّرُ حَقِيبَتِي  ·  لِمُدَّةِ  ·  مُبَاشَرَةً  ·  لِكَيْ  ·  حَتَّى 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about your after-school and evening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exact arrival, dinner and bedtime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after-school/evening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object suffix and two possessive suffixes.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duration and purpose accurately.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comparison or reasoned opinion.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أَكُونَ حُرًّا بَعْدَ العَشَاءِ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am free after dinner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بَدَلًا مِنَ البَقَاءِ عَلَى هَاتِفِي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instead of staying on my phone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وَلَا أَبْدَأُ وَاجِبِي مُبَاشَرَةً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don’t start my homework straight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التَّحْضِيرُ المُسْبَقُ يَجْعَلُ الصَّبَاحَ أَسْهَلَ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preparing in advance makes the morning easier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الوَاجِبِ وَالرَّاحَةِ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homework and rest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إِلَى البَيْتِ فِي الرَّابِعَةِ إِلَّا الرُّبْعَ. أَوَّلًا أُغَيِّرُ مَلَابِسِي وَأَتَنَاوَلُ وَجْبَةً خَفِيفَةً، ثُمَّ أَسْتَرِيحُ لِمُدَّةِ نِصْفِ سَاعَةٍ. بَعْدَ ذٰلِكَ أُرَاجِعُ دُرُوسِي وَأُكْمِلُ وَاجِبِي لِكَيْ أَكُونَ حُرًّا بَعْدَ العَشَاءِ. أُسَاعِدُ أُمِّي فِي المَطْبَخِ، وَأَحْيَانًا أَغْسِلُ الأَطْبَاقَ مَعَ أَخِي. فِي المَسَاءِ أَقْرَأُ أَوْ أَتَحَدَّثُ مَعَ أُسْرَتِي بَدَلًا مِنَ البَقَاءِ عَلَى هَاتِفِي. قَبْلَ أَنْ أَنَامَ أُحَضِّرُ حَقِيبَتِي وَأَضْبِطُ المُنَبِّهَ. فِي رَأْيِي، هٰذَا الرُّوتِينُ مُنَظَّمٌ لِأَنَّهُ يَجْمَعُ بَيْنَ الوَاجِبِ وَالرَّاحَةِ.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return home at quarter to four. First I change my clothes and have a snack, then I rest for half an hour. After that I revise my lessons and finish my homework so that I am free after dinner. I help my mother in the kitchen, and sometimes I wash the dishes with my brother. In the evening I read or talk with my family instead of staying on my phone. Before I sleep I prepare my bag and set the alarm. In my opinion, this routine is organised because it combines homework and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exact 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duration with لِمُدَّةِ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purpose clause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possessive endings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evening has three phases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exact time and one “for how long”.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mix up return and revise.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endings match the person (her → </a:t>
            </a:r>
            <a:pPr algn="l" indent="0" marL="0">
              <a:buNone/>
            </a:pPr>
            <a:r>
              <a:rPr lang="ar-SA" altLang="en-US" sz="1700" dirty="0">
                <a:solidFill>
                  <a:srgbClr val="1F2A37"/>
                </a:solidFill>
                <a:latin typeface="Amiri" pitchFamily="34" charset="0"/>
                <a:ea typeface="Amiri" pitchFamily="34" charset="-122"/>
                <a:cs typeface="Amiri" pitchFamily="34" charset="-120"/>
              </a:rPr>
              <a:t>ـهَا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my verb ends in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أَرْجِعُ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أُرَاجِعُ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يَرْجِعُ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أُسَاعِدُهُ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أُسَاعِدُهَا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تُسَاعِدُنِي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is the feminine object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أَتَأَخَّرُ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تَأَخَّرْتُ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organised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مِنَ المَدْرَسَةِ فِي الثَّالِثَةِ وَالنِّصْفِ، وَلَا أَبْدَأُ وَاجِبِي مُبَاشَرَةً؛ فَأَنَا أَحْتَاجُ إِلَى اِسْتِرَاحَةٍ قَصِيرَةٍ. أَتَنَاوَلُ شَيْئًا خَفِيفًا وَأَتَحَدَّثُ مَعَ أُمِّي، ثُمَّ أُرَاجِعُ دُرُوسِي لِمُدَّةِ سَاعَةٍ. يَوْمَيِ الثُّلَاثَاءِ وَالخَمِيسِ أَذْهَبُ إِلَى النَّادِي، بَيْنَمَا أَبْقَى فِي البَيْتِ فِي بَقِيَّةِ الأَيَّامِ. بَعْدَ العَشَاءِ أُسَاعِدُ أَبِي فِي تَرْتِيبِ المَطْبَخِ. أُحَضِّرُ مَلَابِسِي وَحَقِيبَتِي لَيْلًا لِكَيْ أَخْرُجَ مِنَ البَيْتِ دُونَ عَجَلَةٍ فِي الصَّبَاحِ. فِي رَأْيِي، التَّحْضِيرُ المُسْبَقُ يَجْعَلُ المَسَاءَ أَهْدَأَ وَالصَّبَاحَ أَسْهَلَ.</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أَبْدَأُ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don’t start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أَحْتَاجُ إِلَى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need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اِسْتِرَاحَةٍ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short break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شَيْئًا خَفِيفًا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something light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أَبْقَى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stay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بَقِيَّةِ الأَيَّامِ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rest of the days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تَرْتِيبِ المَطْبَخِ</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tidying the kitchen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عَجَلَةٍ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rushing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التَّحْضِيرُ المُسْبَقُ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advance preparation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 … أَسْهَلَ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calmer … easier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 starts at once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Friday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miss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train longer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 routines are unnecessary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should be avoided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 starts at once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أَحْتَاجُ إِلَى اِسْتِرَاحَةٍ قَصِيرَةٍ.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 and Friday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الثُّلَاثَاءِ وَالخَمِيسِ.</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أُسَاعِدُ أَبِي.</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miss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train longer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أَخْرُجَ ... دُونَ عَجَلَةٍ.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evening routines are unnecessary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homework should be avoided</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evaluates the benefit.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 فِي المَطْبَخِ.</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 فِي المَطْبَخِ.</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 فِي المَطْبَخِ.</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النِّصْفُ سَاعَةٌ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نِصْفٌ</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سَاعَةٍ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يَفْهَمَهَا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أُحَضِّرُ حَقِيبَتِي حَتَّى لَا أَنْسَى كُتُبِي.</a:t>
            </a:r>
            <a:endParaRPr lang="ar-SA" sz="200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حَقِيبَتِي حَتَّى الكُتُبُ.</a:t>
            </a:r>
            <a:endParaRPr lang="ar-SA" sz="200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أَنْسَى حَقِيبَتِي لِكَيْ.</a:t>
            </a:r>
            <a:endParaRPr lang="ar-SA" sz="200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وَجْبَةً خَفِيفَةً.</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يُغَيِّرُ مَلَابِسَهُ.</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يُحَضِّرُ حَقِيبَتَهُ.</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حَقِيبَتَهُ.</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تُحَضِّرُ حَقِيبَتَهَا.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حَقِيبَتِي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 فِي المَطْبَخِ.</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 فِي المَطْبَخِ.</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 فِي المَطْبَخِ.</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suffix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النِّصْفُ سَاعَةٌ</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نِصْفٌ</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نِصْفِ سَاعَةٍ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use the time period in the genitive: </a:t>
            </a:r>
            <a:pPr algn="l" indent="0" marL="0">
              <a:buNone/>
            </a:pPr>
            <a:r>
              <a:rPr lang="ar-SA" altLang="en-US" sz="1350" dirty="0">
                <a:solidFill>
                  <a:srgbClr val="8A6D1E"/>
                </a:solidFill>
                <a:latin typeface="Amiri" pitchFamily="34" charset="0"/>
                <a:ea typeface="Amiri" pitchFamily="34" charset="-122"/>
                <a:cs typeface="Amiri" pitchFamily="34" charset="-120"/>
              </a:rPr>
              <a:t>نِصْفِ سَاعَةٍ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أَفْهَمُهَا</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يَفْهَمَهَا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أَفْهَمَهَا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first-person present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 حَتَّى لَا أَنْسَى كُتُبِي.</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 حَتَّى الكُتُبُ.</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أَنْسَى حَقِيبَتِي لِكَيْ.</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sentence links an action to its purpose and uses a complete clause after </a:t>
            </a:r>
            <a:pPr algn="l" indent="0" marL="0">
              <a:buNone/>
            </a:pPr>
            <a:r>
              <a:rPr lang="ar-SA" altLang="en-US" sz="1350" dirty="0">
                <a:solidFill>
                  <a:srgbClr val="8A6D1E"/>
                </a:solidFill>
                <a:latin typeface="Amiri" pitchFamily="34" charset="0"/>
                <a:ea typeface="Amiri" pitchFamily="34" charset="-122"/>
                <a:cs typeface="Amiri" pitchFamily="34" charset="-120"/>
              </a:rPr>
              <a:t>حَتَّى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وَجْبَةً خَفِيفَةً.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يُغَيِّرُ مَلَابِسَهُ.</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يُحَضِّرُ حَقِيبَتَهُ.</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action after returning is </a:t>
            </a:r>
            <a:pPr algn="l" indent="0" marL="0">
              <a:buNone/>
            </a:pPr>
            <a:r>
              <a:rPr lang="ar-SA" altLang="en-US" sz="1350" dirty="0">
                <a:solidFill>
                  <a:srgbClr val="8A6D1E"/>
                </a:solidFill>
                <a:latin typeface="Amiri" pitchFamily="34" charset="0"/>
                <a:ea typeface="Amiri" pitchFamily="34" charset="-122"/>
                <a:cs typeface="Amiri" pitchFamily="34" charset="-120"/>
              </a:rPr>
              <a:t>أُغَيِّرُ مَلَابِسِي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D1-L06 · He and She — Describing Someone Else’s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routine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 routine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يَرْجِعُ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returns</a:t>
            </a:r>
            <a:pPr indent="0" marL="0">
              <a:buNone/>
            </a:pPr>
            <a:r>
              <a:rPr lang="en-US" sz="1000" i="1" dirty="0">
                <a:solidFill>
                  <a:srgbClr val="5A6472"/>
                </a:solidFill>
                <a:latin typeface="Calibri" pitchFamily="34" charset="0"/>
                <a:ea typeface="Calibri" pitchFamily="34" charset="-122"/>
                <a:cs typeface="Calibri" pitchFamily="34" charset="-120"/>
              </a:rPr>
              <a:t>  she: تَرْجِعُ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both of them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أَبْكَرُ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earlier than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family member. What time do they wake up, and what do they do in the evening?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يَسْتَيْقِظُ أَخُوكَ أَوْ أُخْتُكَ؟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D1-L05: the vocabulary tab and the sorter “Evening control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evening with two possessive and one object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your after-school and evening routine.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D1-L06 · He and She — Describing Someone Else’s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هُوَ وَهِيَ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ending = whose. Verb + ending = whom.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D1-L05 · After School and Evening Routine</dc:title>
  <dc:subject>PptxGenJS Presentation</dc:subject>
  <dc:creator>Al Madina Online School · Arabic Department</dc:creator>
  <cp:lastModifiedBy>Al Madina Online School · Arabic Department</cp:lastModifiedBy>
  <cp:revision>1</cp:revision>
  <dcterms:created xsi:type="dcterms:W3CDTF">2026-09-27T12:02:55Z</dcterms:created>
  <dcterms:modified xsi:type="dcterms:W3CDTF">2026-09-27T12:02:55Z</dcterms:modified>
</cp:coreProperties>
</file>