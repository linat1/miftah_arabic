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D1-L11 (Speaking and Writing — My Daily Routine) — new practice tasks built on the lesson’s own word bank and grammar (extending every answer: Point + Reason (li-anna) + Example (ʿalā sabīl al-mithāl) + Contrast (maʿa dhālika · baynamā · ammā … fa-); person control (astayqiẓu / yastayqiẓu / tastayqiẓu); qabla an / baʿda an + verb in -a; frequency and exact clock time).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D1-L11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pen-friend to a girl: يَوْمُكِ · أُخْتِكِ · فَعَلْتِ. Tasks 3–4 should each contain at least two PREC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(73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D1-L11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Speaking and Writing — My Daily Routine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رُوتِينِي اليَوْمِيُّ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exam-style speaking and writing practice for the whole of D1: say the PREC words and routine structures, act an extended dialogue, answer topic-conversation cards with PREC, do a role-play card, give a one-minute PREC talk from cue words, then build, fix and write an extended routine article.</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D1-L11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PREC — extend every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النُّقْطَةُ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point</a:t>
            </a:r>
            <a:endParaRPr lang="en-US" sz="1350" dirty="0"/>
          </a:p>
          <a:p>
            <a:pPr indent="0" marL="0">
              <a:buNone/>
            </a:pPr>
            <a:r>
              <a:rPr lang="en-US" sz="1100" i="1" dirty="0">
                <a:solidFill>
                  <a:srgbClr val="5A6472"/>
                </a:solidFill>
                <a:latin typeface="Calibri" pitchFamily="34" charset="0"/>
                <a:cs typeface="Amiri" pitchFamily="2" charset="-78"/>
              </a:rPr>
              <a:t>an-nuq-ṭa-tu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النِّقَاطُ</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النُّقْطَةُ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نُقْطَةٌ</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السَّبَبُ</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reason</a:t>
            </a:r>
            <a:endParaRPr lang="en-US" sz="1350" dirty="0"/>
          </a:p>
          <a:p>
            <a:pPr indent="0" marL="0">
              <a:buNone/>
            </a:pPr>
            <a:r>
              <a:rPr lang="en-US" sz="1100" i="1" dirty="0">
                <a:solidFill>
                  <a:srgbClr val="5A6472"/>
                </a:solidFill>
                <a:latin typeface="Calibri" pitchFamily="34" charset="0"/>
                <a:cs typeface="Amiri" pitchFamily="2" charset="-78"/>
              </a:rPr>
              <a:t>as-sa-ba-bu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الأَسْبَابُ</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السَّبَبُ</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سَبَبٌ</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المِثَالُ</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example</a:t>
            </a:r>
            <a:endParaRPr lang="en-US" sz="1350" dirty="0"/>
          </a:p>
          <a:p>
            <a:pPr indent="0" marL="0">
              <a:buNone/>
            </a:pPr>
            <a:r>
              <a:rPr lang="en-US" sz="1100" i="1" dirty="0">
                <a:solidFill>
                  <a:srgbClr val="5A6472"/>
                </a:solidFill>
                <a:latin typeface="Calibri" pitchFamily="34" charset="0"/>
                <a:cs typeface="Amiri" pitchFamily="2" charset="-78"/>
              </a:rPr>
              <a:t>al-mi-thā-lu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الأَمْثِلَةُ</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المِثَالُ</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مِثَالٌ</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المُقَارَنَةُ</a:t>
            </a:r>
            <a:endParaRPr lang="ar-SA" sz="3000" dirty="0"/>
          </a:p>
        </p:txBody>
      </p:sp>
      <p:sp>
        <p:nvSpPr>
          <p:cNvPr id="75" name="Text 7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comparison</a:t>
            </a:r>
            <a:endParaRPr lang="en-US" sz="1350" dirty="0"/>
          </a:p>
          <a:p>
            <a:pPr indent="0" marL="0">
              <a:buNone/>
            </a:pPr>
            <a:r>
              <a:rPr lang="en-US" sz="1100" i="1" dirty="0">
                <a:solidFill>
                  <a:srgbClr val="5A6472"/>
                </a:solidFill>
                <a:latin typeface="Calibri" pitchFamily="34" charset="0"/>
                <a:cs typeface="Amiri" pitchFamily="2" charset="-78"/>
              </a:rPr>
              <a:t>al-mu-qā-ra-na-tu</a:t>
            </a:r>
            <a:endParaRPr lang="en-US" sz="1350" dirty="0"/>
          </a:p>
        </p:txBody>
      </p:sp>
      <p:sp>
        <p:nvSpPr>
          <p:cNvPr id="76" name="Shape 7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389120"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9" name="Shape 7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ذٰلِكَ</a:t>
            </a:r>
            <a:endParaRPr lang="ar-SA" sz="3000" dirty="0"/>
          </a:p>
        </p:txBody>
      </p:sp>
      <p:sp>
        <p:nvSpPr>
          <p:cNvPr id="82" name="Text 7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ma-ʿa dhā-li-ka</a:t>
            </a:r>
            <a:endParaRPr lang="en-US" sz="135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6" name="Shape 8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D1 language toolkit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هٰذَا يَعْنِي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this means that</a:t>
            </a:r>
            <a:endParaRPr lang="en-US" sz="1350" dirty="0"/>
          </a:p>
          <a:p>
            <a:pPr indent="0" marL="0">
              <a:buNone/>
            </a:pPr>
            <a:r>
              <a:rPr lang="en-US" sz="1100" i="1" dirty="0">
                <a:solidFill>
                  <a:srgbClr val="5A6472"/>
                </a:solidFill>
                <a:latin typeface="Calibri" pitchFamily="34" charset="0"/>
                <a:cs typeface="Amiri" pitchFamily="2" charset="-78"/>
              </a:rPr>
              <a:t>hā-dhā yaʿ-nī 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أَسْتَيْقِظُ / يَسْتَيْقِظُ / تَسْتَيْقِظُ</a:t>
            </a:r>
            <a:endParaRPr lang="ar-SA" sz="28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person control</a:t>
            </a:r>
            <a:endParaRPr lang="en-US" sz="1350" dirty="0"/>
          </a:p>
          <a:p>
            <a:pPr indent="0" marL="0">
              <a:buNone/>
            </a:pPr>
            <a:r>
              <a:rPr lang="en-US" sz="1100" i="1" dirty="0">
                <a:solidFill>
                  <a:srgbClr val="5A6472"/>
                </a:solidFill>
                <a:latin typeface="Calibri" pitchFamily="34" charset="0"/>
                <a:cs typeface="Amiri" pitchFamily="2" charset="-78"/>
              </a:rPr>
              <a:t>as-tay-qi-ẓu / yas-tay-qi-ẓu / tas-tay-qi-ẓu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قَبْلَ أَنْ / بَعْدَ أَنْ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sequence + subjunctive</a:t>
            </a:r>
            <a:endParaRPr lang="en-US" sz="1350" dirty="0"/>
          </a:p>
          <a:p>
            <a:pPr indent="0" marL="0">
              <a:buNone/>
            </a:pPr>
            <a:r>
              <a:rPr lang="en-US" sz="1100" i="1" dirty="0">
                <a:solidFill>
                  <a:srgbClr val="5A6472"/>
                </a:solidFill>
                <a:latin typeface="Calibri" pitchFamily="34" charset="0"/>
                <a:cs typeface="Amiri" pitchFamily="2" charset="-78"/>
              </a:rPr>
              <a:t>qab-la an / baʿ-da an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 / نَادِرًا / مَرَّاتٍ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frequency</a:t>
            </a:r>
            <a:endParaRPr lang="en-US" sz="1350" dirty="0"/>
          </a:p>
          <a:p>
            <a:pPr indent="0" marL="0">
              <a:buNone/>
            </a:pPr>
            <a:r>
              <a:rPr lang="en-US" sz="1100" i="1" dirty="0">
                <a:solidFill>
                  <a:srgbClr val="5A6472"/>
                </a:solidFill>
                <a:latin typeface="Calibri" pitchFamily="34" charset="0"/>
                <a:cs typeface="Amiri" pitchFamily="2" charset="-78"/>
              </a:rPr>
              <a:t>ʿā-da-tan / nā-di-ran / mar-rā-tin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السَّاعَةِ ... إِلَى ...</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span</a:t>
            </a:r>
            <a:endParaRPr lang="en-US" sz="1350" dirty="0"/>
          </a:p>
          <a:p>
            <a:pPr indent="0" marL="0">
              <a:buNone/>
            </a:pPr>
            <a:r>
              <a:rPr lang="en-US" sz="1100" i="1" dirty="0">
                <a:solidFill>
                  <a:srgbClr val="5A6472"/>
                </a:solidFill>
                <a:latin typeface="Calibri" pitchFamily="34" charset="0"/>
                <a:cs typeface="Amiri" pitchFamily="2" charset="-78"/>
              </a:rPr>
              <a:t>mi-na as-sā-ʿa-ti ... i-lā ...</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وَالرُّبْعُ / إِلَّا الرُّبْعَ</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precise clock time</a:t>
            </a:r>
            <a:endParaRPr lang="en-US" sz="1350" dirty="0"/>
          </a:p>
          <a:p>
            <a:pPr indent="0" marL="0">
              <a:buNone/>
            </a:pPr>
            <a:r>
              <a:rPr lang="en-US" sz="1100" i="1" dirty="0">
                <a:solidFill>
                  <a:srgbClr val="5A6472"/>
                </a:solidFill>
                <a:latin typeface="Calibri" pitchFamily="34" charset="0"/>
                <a:cs typeface="Amiri" pitchFamily="2" charset="-78"/>
              </a:rPr>
              <a:t>wālr-rub-ʿu / il-lā ar-rub-ʿa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From a short answer to a full answer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جَوَابٍ قَصِيرٍ إِلَى جَوَابٍ كَامِلٍ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wake up on school days?</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مَتَى تَسْتَيْقِظُ فِي أَيَّامِ الدِّرَاسَةِ؟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wake up at quarter to six. (Point)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أَسْتَيْقِظُ فِي السَّادِسَةِ إِلَّا الرُّبْعَ.</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school starts early and the road is busy. (Reason)</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لِأَنَّ المَدْرَسَةَ تَبْدَأُ مُبَكِّرًا وَالطَّرِيقَ مُزْدَحِمٌ.</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example, yesterday I arrived only five minutes before the bell! (Example)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عَلَى سَبِيلِ المِثَالِ، أَمْسِ وَصَلْتُ قَبْلَ الجَرَسِ بِخَمْسِ دَقَائِقَ فَقَطْ!</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However, I sleep longer on Saturday; as for my sister, she always wakes up early. (Contrast)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مَعَ ذٰلِكَ، أَنَامُ وَقْتًا أَطْوَلَ يَوْمَ السَّبْتِ، أَمَّا أُخْتِي فَتَسْتَيْقِظُ مُبَكِّرًا دَائِمًا.</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Excellent answer! This means your day is long.</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جَوَابٌ مُمْتَازٌ! هٰذَا يَعْنِي أَنَّ يَوْمَكَ طَوِيلٌ.</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Round 2: swap letters. Round 3: answer “</a:t>
            </a:r>
            <a:pPr algn="l" indent="0" marL="0">
              <a:buNone/>
            </a:pPr>
            <a:r>
              <a:rPr lang="ar-SA" altLang="en-US" sz="1500" b="1" dirty="0">
                <a:solidFill>
                  <a:srgbClr val="1B3B6F"/>
                </a:solidFill>
                <a:latin typeface="Amiri" pitchFamily="2" charset="-78"/>
                <a:ea typeface="Amiri" pitchFamily="2" charset="-78"/>
                <a:cs typeface="Amiri" pitchFamily="2" charset="-78"/>
              </a:rPr>
              <a:t>مَتَى تَنَامُ؟</a:t>
            </a:r>
            <a:pPr algn="l" indent="0" marL="0">
              <a:buNone/>
            </a:pPr>
            <a:r>
              <a:rPr lang="en-US" sz="1150" b="1" dirty="0">
                <a:solidFill>
                  <a:srgbClr val="1B3B6F"/>
                </a:solidFill>
                <a:latin typeface="Calibri" pitchFamily="34" charset="0"/>
                <a:cs typeface="Amiri" pitchFamily="2" charset="-78"/>
              </a:rPr>
              <a:t>” in four steps — P, R, E, C — and your partner holds up a finger for each step.</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Topic conversation — answer with P · R · E · C</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56648" y="2267712"/>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 E: </a:t>
            </a:r>
            <a:pPr algn="l" indent="0" marL="0">
              <a:buNone/>
            </a:pPr>
            <a:r>
              <a:rPr lang="ar-SA" altLang="en-US" sz="1450" dirty="0">
                <a:solidFill>
                  <a:srgbClr val="5A6472"/>
                </a:solidFill>
                <a:latin typeface="Amiri" pitchFamily="2" charset="-78"/>
                <a:ea typeface="Amiri" pitchFamily="2" charset="-78"/>
                <a:cs typeface="Amiri" pitchFamily="2" charset="-78"/>
              </a:rPr>
              <a:t>عَلَى سَبِيلِ المِثَالِ</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23" name="Text 20"/>
          <p:cNvSpPr txBox="1"/>
          <p:nvPr/>
        </p:nvSpPr>
        <p:spPr>
          <a:xfrm>
            <a:off x="701344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 </a:t>
            </a:r>
            <a:pPr algn="l" indent="0" marL="0">
              <a:buNone/>
            </a:pPr>
            <a:r>
              <a:rPr lang="ar-SA" altLang="en-US" sz="1450" dirty="0">
                <a:solidFill>
                  <a:srgbClr val="5A6472"/>
                </a:solidFill>
                <a:latin typeface="Amiri" pitchFamily="2" charset="-78"/>
                <a:ea typeface="Amiri" pitchFamily="2" charset="-78"/>
                <a:cs typeface="Amiri" pitchFamily="2" charset="-78"/>
              </a:rPr>
              <a:t>أَسْتَيْقِظُ فِي … ثُمَّ</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morning on a school day.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صَبَاحَكَ فِي يَوْمٍ مَدْرَسِيٍّ.</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a:t>
            </a:r>
            <a:pPr algn="l" indent="0" marL="0">
              <a:buNone/>
            </a:pPr>
            <a:r>
              <a:rPr lang="ar-SA" altLang="en-US" sz="1450" dirty="0">
                <a:solidFill>
                  <a:srgbClr val="5A6472"/>
                </a:solidFill>
                <a:latin typeface="Amiri" pitchFamily="2" charset="-78"/>
                <a:ea typeface="Amiri" pitchFamily="2" charset="-78"/>
                <a:cs typeface="Amiri" pitchFamily="2" charset="-78"/>
              </a:rPr>
              <a:t>مَعَ ذٰلِكَ … / بَيْنَمَا</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1" name="Text 28"/>
          <p:cNvSpPr txBox="1"/>
          <p:nvPr/>
        </p:nvSpPr>
        <p:spPr>
          <a:xfrm>
            <a:off x="701344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 </a:t>
            </a:r>
            <a:pPr algn="l" indent="0" marL="0">
              <a:buNone/>
            </a:pPr>
            <a:r>
              <a:rPr lang="ar-SA" altLang="en-US" sz="1450" dirty="0">
                <a:solidFill>
                  <a:srgbClr val="5A6472"/>
                </a:solidFill>
                <a:latin typeface="Amiri" pitchFamily="2" charset="-78"/>
                <a:ea typeface="Amiri" pitchFamily="2" charset="-78"/>
                <a:cs typeface="Amiri" pitchFamily="2" charset="-78"/>
              </a:rPr>
              <a:t>بَعْدَ أَنْ أَرْجِعَ</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usually do after school?</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بَعْدَ المَدْرَسَةِ عَادَةً؟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 + E …</a:t>
            </a:r>
            <a:endParaRPr lang="en-US" sz="1100" dirty="0"/>
          </a:p>
        </p:txBody>
      </p:sp>
      <p:sp>
        <p:nvSpPr>
          <p:cNvPr id="39" name="Text 36"/>
          <p:cNvSpPr txBox="1"/>
          <p:nvPr/>
        </p:nvSpPr>
        <p:spPr>
          <a:xfrm>
            <a:off x="701344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 </a:t>
            </a:r>
            <a:pPr algn="l" indent="0" marL="0">
              <a:buNone/>
            </a:pPr>
            <a:r>
              <a:rPr lang="ar-SA" altLang="en-US" sz="1450" dirty="0">
                <a:solidFill>
                  <a:srgbClr val="5A6472"/>
                </a:solidFill>
                <a:latin typeface="Amiri" pitchFamily="2" charset="-78"/>
                <a:ea typeface="Amiri" pitchFamily="2" charset="-78"/>
                <a:cs typeface="Amiri" pitchFamily="2" charset="-78"/>
              </a:rPr>
              <a:t>أَنَا … بَيْنَمَا أَبِي / أُمِّي</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is your routine different from a family member’s?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كَيْفَ يَخْتَلِفُ رُوتِينُكَ عَنْ رُوتِينِ أَحَدِ أَفْرَادِ أُسْرَتِكَ؟</a:t>
            </a:r>
            <a:endParaRPr lang="ar-SA" sz="155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a:t>
            </a:r>
            <a:pPr algn="l" indent="0" marL="0">
              <a:buNone/>
            </a:pPr>
            <a:r>
              <a:rPr lang="ar-SA" altLang="en-US" sz="1450" dirty="0">
                <a:solidFill>
                  <a:srgbClr val="5A6472"/>
                </a:solidFill>
                <a:latin typeface="Amiri" pitchFamily="2" charset="-78"/>
                <a:ea typeface="Amiri" pitchFamily="2" charset="-78"/>
                <a:cs typeface="Amiri" pitchFamily="2" charset="-78"/>
              </a:rPr>
              <a:t>لٰكِنْ عَادَةً</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47" name="Text 44"/>
          <p:cNvSpPr txBox="1"/>
          <p:nvPr/>
        </p:nvSpPr>
        <p:spPr>
          <a:xfrm>
            <a:off x="701344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 </a:t>
            </a:r>
            <a:pPr algn="l" indent="0" marL="0">
              <a:buNone/>
            </a:pPr>
            <a:r>
              <a:rPr lang="ar-SA" altLang="en-US" sz="1450" dirty="0">
                <a:solidFill>
                  <a:srgbClr val="5A6472"/>
                </a:solidFill>
                <a:latin typeface="Amiri" pitchFamily="2" charset="-78"/>
                <a:ea typeface="Amiri" pitchFamily="2" charset="-78"/>
                <a:cs typeface="Amiri" pitchFamily="2" charset="-78"/>
              </a:rPr>
              <a:t>أَمْسِ رَجَعْتُ … ثُمَّ</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do yesterday afternoon?</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أَمْسِ بَعْدَ الظُّهْرِ؟</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سَأُ… ← سَأَنَامُ مُبَكِّرًا …</a:t>
            </a:r>
            <a:endParaRPr lang="ar-SA" sz="1500" dirty="0"/>
          </a:p>
        </p:txBody>
      </p:sp>
      <p:sp>
        <p:nvSpPr>
          <p:cNvPr id="53" name="Text 50"/>
          <p:cNvSpPr txBox="1"/>
          <p:nvPr/>
        </p:nvSpPr>
        <p:spPr>
          <a:xfrm>
            <a:off x="701344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 </a:t>
            </a:r>
            <a:pPr algn="l" indent="0" marL="0">
              <a:buNone/>
            </a:pPr>
            <a:r>
              <a:rPr lang="ar-SA" altLang="en-US" sz="1450" dirty="0">
                <a:solidFill>
                  <a:srgbClr val="5A6472"/>
                </a:solidFill>
                <a:latin typeface="Amiri" pitchFamily="2" charset="-78"/>
                <a:ea typeface="Amiri" pitchFamily="2" charset="-78"/>
                <a:cs typeface="Amiri" pitchFamily="2" charset="-78"/>
              </a:rPr>
              <a:t>فِي رَأْيِي</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your routine healthy? What will you change?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رُوتِينُكَ صِحِّيٌّ؟ مَاذَا سَتُغَيِّرُ؟</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a new pen-friend asks about your life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صَدِيقٌ جَدِيدٌ بِالمُرَاسَلَةِ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 ← </a:t>
            </a:r>
            <a:pPr algn="l" indent="0" marL="0">
              <a:buNone/>
            </a:pPr>
            <a:r>
              <a:rPr lang="ar-SA" altLang="en-US" sz="1450" dirty="0">
                <a:solidFill>
                  <a:srgbClr val="5A6472"/>
                </a:solidFill>
                <a:latin typeface="Amiri" pitchFamily="2" charset="-78"/>
                <a:ea typeface="Amiri" pitchFamily="2" charset="-78"/>
                <a:cs typeface="Amiri" pitchFamily="2" charset="-78"/>
              </a:rPr>
              <a:t>أَسْتَيْقِظُ فِي … إِلَّا /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Point + exact time.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يَبْدَأُ يَوْمُكَ؟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 + R ← </a:t>
            </a:r>
            <a:pPr algn="l" indent="0" marL="0">
              <a:buNone/>
            </a:pPr>
            <a:r>
              <a:rPr lang="ar-SA" altLang="en-US" sz="1450" dirty="0">
                <a:solidFill>
                  <a:srgbClr val="5A6472"/>
                </a:solidFill>
                <a:latin typeface="Amiri" pitchFamily="2" charset="-78"/>
                <a:ea typeface="Amiri" pitchFamily="2" charset="-78"/>
                <a:cs typeface="Amiri" pitchFamily="2" charset="-78"/>
              </a:rPr>
              <a:t>أَفْضَلُ وَقْتٍ … لِأَنَّ</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Point + reason.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أَفْضَلُ وَقْتٍ فِي يَوْمِكَ؟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يَوْمُكَ مِثْلُ يَوْمِ أُخْتِكَ؟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in the past.</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فَعَلْتَ فِي نِهَايَةِ الأُسْبُوعِ المَاضِيَةِ؟</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yourself · Leader = your new pen-friend on a video call.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from cue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دَقِيقَةٌ مِنْ كَلِمَاتٍ مِفْتَاحِيَّةٍ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950" b="1" dirty="0">
                <a:solidFill>
                  <a:srgbClr val="1B3B6F"/>
                </a:solidFill>
                <a:latin typeface="Calibri" pitchFamily="34" charset="0"/>
                <a:cs typeface="Amiri" pitchFamily="2" charset="-78"/>
              </a:rPr>
              <a:t>⏱  Speak for one minute — PREC for every cue</a:t>
            </a:r>
            <a:endParaRPr lang="en-US" sz="195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gives three cue words, e.g. «</a:t>
            </a:r>
            <a:pPr algn="l" indent="0" marL="0">
              <a:buNone/>
            </a:pPr>
            <a:r>
              <a:rPr lang="ar-SA" altLang="en-US" sz="1750" dirty="0">
                <a:solidFill>
                  <a:srgbClr val="1F2A37"/>
                </a:solidFill>
                <a:latin typeface="Amiri" pitchFamily="2" charset="-78"/>
                <a:ea typeface="Amiri" pitchFamily="2" charset="-78"/>
                <a:cs typeface="Amiri" pitchFamily="2" charset="-78"/>
              </a:rPr>
              <a:t>الصَّبَاحُ</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الأُسْرَةُ</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نِهَايَةُ الأُسْبُوعِ</a:t>
            </a:r>
            <a:pPr algn="l" indent="0" marL="0">
              <a:buNone/>
            </a:pPr>
            <a:r>
              <a:rPr lang="en-US" sz="1350" dirty="0">
                <a:solidFill>
                  <a:srgbClr val="1F2A37"/>
                </a:solidFill>
                <a:latin typeface="Calibri" pitchFamily="34" charset="0"/>
                <a:cs typeface="Amiri" pitchFamily="2" charset="-78"/>
              </a:rPr>
              <a:t>». Speak for one minute, using PREC for each cue.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Point + Reason for each cue word.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an Example (</a:t>
            </a:r>
            <a:pPr algn="l" indent="0" marL="0">
              <a:buNone/>
            </a:pPr>
            <a:r>
              <a:rPr lang="ar-SA" altLang="en-US" sz="1500" dirty="0">
                <a:solidFill>
                  <a:srgbClr val="1F2A37"/>
                </a:solidFill>
                <a:latin typeface="Amiri" pitchFamily="2" charset="-78"/>
                <a:ea typeface="Amiri" pitchFamily="2" charset="-78"/>
                <a:cs typeface="Amiri" pitchFamily="2" charset="-78"/>
              </a:rPr>
              <a:t>عَلَى سَبِيلِ المِثَالِ</a:t>
            </a:r>
            <a:pPr algn="l" indent="0" marL="0">
              <a:buNone/>
            </a:pPr>
            <a:r>
              <a:rPr lang="en-US" sz="1150" dirty="0">
                <a:solidFill>
                  <a:srgbClr val="1F2A37"/>
                </a:solidFill>
                <a:latin typeface="Calibri" pitchFamily="34" charset="0"/>
                <a:cs typeface="Amiri" pitchFamily="2" charset="-78"/>
              </a:rPr>
              <a:t>) for two cues.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Full PREC on all three, with one past and one future sentence.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For example, yesterday I revised for two hours.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سَبِيلِ المِثَالِ،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ذٰلِكَ،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 رَاجَعْتُ</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 أُرَاجِعُ</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لِمُدَّةِ سَاعَتَيْنِ.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لِمُدَّةِ سَاعَتَانِ.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However, I sleep longer at the weekend.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ذٰلِكَ،</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أَنَامُ وَقْتًا أَطْوَلَ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أَنَامُ وَقْتًا أَطْوَلُ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نِهَايَةِ الأُسْبُوعِ.</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نِهَايَةُ الأُسْبُوعِ.</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means that my day is very busy.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يَعْنِي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يَعْنِي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يَوْمِي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يَوْمِي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مُزْدَحِمٌ جِدًّا.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مُزْدَحِمًا جِدًّا.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For example, yesterday I revised for two hours.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 past; </a:t>
            </a:r>
            <a:pPr algn="l" indent="0" marL="0">
              <a:buNone/>
            </a:pPr>
            <a:r>
              <a:rPr lang="ar-SA" altLang="en-US" sz="1350" dirty="0">
                <a:solidFill>
                  <a:srgbClr val="5A6472"/>
                </a:solidFill>
                <a:latin typeface="Amiri" pitchFamily="2" charset="-78"/>
                <a:ea typeface="Amiri" pitchFamily="2" charset="-78"/>
                <a:cs typeface="Amiri" pitchFamily="2" charset="-78"/>
              </a:rPr>
              <a:t>لِمُدَّةِ</a:t>
            </a:r>
            <a:pPr algn="l" indent="0" marL="0">
              <a:buNone/>
            </a:pPr>
            <a:r>
              <a:rPr lang="en-US" sz="1050" i="1" dirty="0">
                <a:solidFill>
                  <a:srgbClr val="5A6472"/>
                </a:solidFill>
                <a:latin typeface="Calibri" pitchFamily="34" charset="0"/>
                <a:cs typeface="Amiri" pitchFamily="2" charset="-78"/>
              </a:rPr>
              <a:t> + genitive dual: </a:t>
            </a:r>
            <a:pPr algn="l" indent="0" marL="0">
              <a:buNone/>
            </a:pPr>
            <a:r>
              <a:rPr lang="ar-SA" altLang="en-US" sz="1350" dirty="0">
                <a:solidFill>
                  <a:srgbClr val="5A6472"/>
                </a:solidFill>
                <a:latin typeface="Amiri" pitchFamily="2" charset="-78"/>
                <a:ea typeface="Amiri" pitchFamily="2" charset="-78"/>
                <a:cs typeface="Amiri" pitchFamily="2" charset="-78"/>
              </a:rPr>
              <a:t>سَاعَتَيْنِ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عَلَى سَبِيلِ المِثَالِ، أَمْسِ رَاجَعْتُ لِمُدَّةِ سَاعَتَيْنِ.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However, I sleep longer at the weekend.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However = </a:t>
            </a:r>
            <a:pPr algn="l" indent="0" marL="0">
              <a:buNone/>
            </a:pPr>
            <a:r>
              <a:rPr lang="ar-SA" altLang="en-US" sz="1350" dirty="0">
                <a:solidFill>
                  <a:srgbClr val="5A6472"/>
                </a:solidFill>
                <a:latin typeface="Amiri" pitchFamily="2" charset="-78"/>
                <a:ea typeface="Amiri" pitchFamily="2" charset="-78"/>
                <a:cs typeface="Amiri" pitchFamily="2" charset="-78"/>
              </a:rPr>
              <a:t>مَعَ ذٰلِكَ</a:t>
            </a:r>
            <a:pPr algn="l" indent="0" marL="0">
              <a:buNone/>
            </a:pPr>
            <a:r>
              <a:rPr lang="en-US" sz="1050" i="1" dirty="0">
                <a:solidFill>
                  <a:srgbClr val="5A6472"/>
                </a:solidFill>
                <a:latin typeface="Calibri" pitchFamily="34" charset="0"/>
                <a:cs typeface="Amiri" pitchFamily="2" charset="-78"/>
              </a:rPr>
              <a:t> (so = </a:t>
            </a:r>
            <a:pPr algn="l" indent="0" marL="0">
              <a:buNone/>
            </a:pPr>
            <a:r>
              <a:rPr lang="ar-SA" altLang="en-US" sz="1350" dirty="0">
                <a:solidFill>
                  <a:srgbClr val="5A6472"/>
                </a:solidFill>
                <a:latin typeface="Amiri" pitchFamily="2" charset="-78"/>
                <a:ea typeface="Amiri" pitchFamily="2" charset="-78"/>
                <a:cs typeface="Amiri" pitchFamily="2" charset="-78"/>
              </a:rPr>
              <a:t>لِذٰلِكَ</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مَعَ ذٰلِكَ، أَنَامُ وَقْتًا أَطْوَلَ فِي نِهَايَةِ الأُسْبُوعِ.</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means that my day is very busy.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noun (subject in -a); its predicate stays -un.</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هٰذَا يَعْنِي أَنَّ يَوْمِي مُزْدَحِمٌ جِدًّا.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أَمْسِ أَسْتَيْقِظُ فِي السَّابِعَةِ.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time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يَسْتَيْقِظُ مُبَكِّرًا.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Person control.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بَعْدَ أَنْ أَرْجِعُ أَسْتَرِيحُ.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أَمْسِ أَسْتَيْقِظُ فِي السَّابِعَةِ.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أَمْسِ اسْتَيْقَظْتُ فِي السَّابِعَةِ.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Rule: </a:t>
            </a:r>
            <a:pPr algn="l" indent="0" marL="0">
              <a:buNone/>
            </a:pPr>
            <a:r>
              <a:rPr lang="ar-SA" altLang="en-US" sz="1500" b="1" dirty="0">
                <a:solidFill>
                  <a:srgbClr val="1B3B6F"/>
                </a:solidFill>
                <a:latin typeface="Amiri" pitchFamily="2" charset="-78"/>
                <a:ea typeface="Amiri" pitchFamily="2" charset="-78"/>
                <a:cs typeface="Amiri" pitchFamily="2" charset="-78"/>
              </a:rPr>
              <a:t>أَمْسِ</a:t>
            </a:r>
            <a:pPr algn="l" indent="0" marL="0">
              <a:buNone/>
            </a:pPr>
            <a:r>
              <a:rPr lang="en-US" sz="1150" b="1" dirty="0">
                <a:solidFill>
                  <a:srgbClr val="1B3B6F"/>
                </a:solidFill>
                <a:latin typeface="Calibri" pitchFamily="34" charset="0"/>
                <a:cs typeface="Amiri" pitchFamily="2" charset="-78"/>
              </a:rPr>
              <a:t> → past tense.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يَسْتَيْقِظُ مُبَكِّرًا.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تَسْتَيْقِظُ مُبَكِّرًا.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Rule: she → ta-.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بَعْدَ أَنْ أَرْجِعُ أَسْتَرِيحُ.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بَعْدَ أَنْ أَرْجِعَ أَسْتَرِيحُ.</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Rule: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verb ending in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ذٰلِكَ، ______ ، بَيْنَمَا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However, …, whereas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المُسْتَقْبَلِ سَأُحَاوِلُ أَنْ ______ ، لِأَنَّ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future I will try to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______ ، لِأَنَّ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wake up at …, because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فِي المَدْرَسَةِ ______ ، وَعَلَى سَبِيلِ المِثَالِ ______ .</a:t>
            </a:r>
            <a:endParaRPr lang="ar-SA" sz="14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school …, and for example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أَنْ أَرْجِعَ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I get back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I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لِأَنَّ  ·  عَلَى سَبِيلِ المِثَالِ  ·  مَعَ ذٰلِكَ  ·  بَيْنَمَا · أَمَّا … فَ…  ·  هٰذَا يَعْنِي أَنَّ  ·  قَبْلَ أَنْ · بَعْدَ أَنْ  ·  عَادَةً · نَادِرًا  ·  أَمْسِ · سَأُحَاوِلُ</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article: my daily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مَقَالَةٌ: رُوتِينِي اليَوْمِيُّ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article (about 70–90 words) for the school magazine about your daily routine. Include: • your morning, school day and evening with exact times • at least one full PREC chain (Point, Reason, Example, Contrast) • </a:t>
            </a:r>
            <a:pPr algn="l" indent="0" marL="0">
              <a:buNone/>
            </a:pPr>
            <a:r>
              <a:rPr lang="ar-SA" altLang="en-US" sz="1450" b="1" dirty="0">
                <a:solidFill>
                  <a:srgbClr val="1F2A37"/>
                </a:solidFill>
                <a:latin typeface="Amiri" pitchFamily="2" charset="-78"/>
                <a:ea typeface="Amiri" pitchFamily="2" charset="-78"/>
                <a:cs typeface="Amiri" pitchFamily="2" charset="-78"/>
              </a:rPr>
              <a:t>قَبْلَ أَنْ / بَعْدَ أَنْ</a:t>
            </a:r>
            <a:pPr algn="l" indent="0" marL="0">
              <a:buNone/>
            </a:pPr>
            <a:r>
              <a:rPr lang="en-US" sz="1100" b="1" dirty="0">
                <a:solidFill>
                  <a:srgbClr val="1F2A37"/>
                </a:solidFill>
                <a:latin typeface="Calibri" pitchFamily="34" charset="0"/>
                <a:cs typeface="Amiri" pitchFamily="2" charset="-78"/>
              </a:rPr>
              <a:t> • a comparison with another person • one past sentence (</a:t>
            </a:r>
            <a:pPr algn="l" indent="0" marL="0">
              <a:buNone/>
            </a:pPr>
            <a:r>
              <a:rPr lang="ar-SA" altLang="en-US" sz="1450" b="1" dirty="0">
                <a:solidFill>
                  <a:srgbClr val="1F2A37"/>
                </a:solidFill>
                <a:latin typeface="Amiri" pitchFamily="2" charset="-78"/>
                <a:ea typeface="Amiri" pitchFamily="2" charset="-78"/>
                <a:cs typeface="Amiri" pitchFamily="2" charset="-78"/>
              </a:rPr>
              <a:t>أَمْسِ</a:t>
            </a:r>
            <a:pPr algn="l" indent="0" marL="0">
              <a:buNone/>
            </a:pPr>
            <a:r>
              <a:rPr lang="en-US" sz="1100" b="1" dirty="0">
                <a:solidFill>
                  <a:srgbClr val="1F2A37"/>
                </a:solidFill>
                <a:latin typeface="Calibri" pitchFamily="34" charset="0"/>
                <a:cs typeface="Amiri" pitchFamily="2" charset="-78"/>
              </a:rPr>
              <a:t> …) and one future plan (</a:t>
            </a:r>
            <a:pPr algn="l" indent="0" marL="0">
              <a:buNone/>
            </a:pPr>
            <a:r>
              <a:rPr lang="ar-SA" altLang="en-US" sz="1450" b="1" dirty="0">
                <a:solidFill>
                  <a:srgbClr val="1F2A37"/>
                </a:solidFill>
                <a:latin typeface="Amiri" pitchFamily="2" charset="-78"/>
                <a:ea typeface="Amiri" pitchFamily="2" charset="-78"/>
                <a:cs typeface="Amiri" pitchFamily="2" charset="-78"/>
              </a:rPr>
              <a:t>سَأُحَاوِلُ أَنْ</a:t>
            </a:r>
            <a:pPr algn="l" indent="0" marL="0">
              <a:buNone/>
            </a:pPr>
            <a:r>
              <a:rPr lang="en-US" sz="1100" b="1" dirty="0">
                <a:solidFill>
                  <a:srgbClr val="1F2A37"/>
                </a:solidFill>
                <a:latin typeface="Calibri" pitchFamily="34" charset="0"/>
                <a:cs typeface="Amiri" pitchFamily="2" charset="-78"/>
              </a:rPr>
              <a:t> …).</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 … · عَلَى سَبِيلِ المِثَالِ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 · for example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ذٰلِكَ … · بَيْنَمَا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however … · whereas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أَنْ … · بَعْدَ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 · after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يَعْنِي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means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Point + Reason for every part of the day?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complete one full PREC chain and use one past and one future sentence?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أَسْتَيْقِظُ فِي السَّادِسَةِ وَالرُّبْعِ، وَأُصَلِّي ثُمَّ أَتَنَاوَلُ الإِفْطَارَ.</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wake up at quarter past six, pray, then have breakfast.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يَبْدَأُ يَوْمُكَ؟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وَقْتٍ هُوَ المَسَاءُ، لِأَنَّنِي أَلْعَبُ مَعَ إِخْوَتِي.</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best time is the evening, because I play with my siblings.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أَفْضَلُ وَقْتٍ فِي يَوْمِكَ؟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أَنَا أَسْهَرُ قَلِيلًا، بَيْنَمَا تَنَامُ أُخْتِي فِي التَّاسِعَةِ لِأَنَّهَا صَغِيرَةٌ.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 I stay up a bit, whereas my sister sleeps at nine because she is little.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يَوْمُكَ مِثْلُ يَوْمِ أُخْتِكَ؟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جَدِّي، وَعَلَى سَبِيلِ المِثَالِ طَبَخْنَا مَعًا وَجْبَةً تَقْلِيدِيَّةً.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visited my grandfather — for example, we cooked a traditional meal together.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فَعَلْتَ فِي نِهَايَةِ الأُسْبُوعِ المَاضِيَةِ؟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أَسْتَيْقِظُ فِي السَّادِسَةِ إِلَّا الرُّبْعَ، لِأَنَّ مَدْرَسَتِي بَعِيدَةٌ. قَبْلَ أَنْ أَخْرُجَ أُصَلِّي وَأَتَنَاوَلُ الإِفْطَارَ مَعَ أُمِّي. فِي المَدْرَسَةِ عِنْدِي سِتُّ حِصَصٍ، وَعَلَى سَبِيلِ المِثَالِ يَوْمَ الثُّلَاثَاءِ أَدْرُسُ العُلُومَ مَرَّتَيْنِ. بَعْدَ أَنْ أَرْجِعَ إِلَى البَيْتِ، أَسْتَرِيحُ نِصْفَ سَاعَةٍ ثُمَّ أُرَاجِعُ دُرُوسِي. مَعَ ذٰلِكَ، أَنَا لَا أَدْرُسُ طُولَ المَسَاءِ، بَيْنَمَا يَدْرُسُ أَخِي الكَبِيرُ حَتَّى مُنْتَصَفِ اللَّيْلِ. أَمْسِ لَعِبْتُ كُرَةَ القَدَمِ بَعْدَ العَشَاءِ. هٰذَا يَعْنِي أَنَّ يَوْمِي مُتَوَازِنٌ، لٰكِنْ فِي المُسْتَقْبَلِ سَأُحَاوِلُ أَنْ أَنَامَ قَبْلَ العَاشِرَةِ.</a:t>
            </a:r>
            <a:endParaRPr lang="ar-SA" sz="23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wake up at quarter to six, because my school is far away. Before I go out I pray and have breakfast with my mum. At school I have six lessons; for example, on Tuesday I study science twice. After I get home, I rest for half an hour and then revise. However, I don’t study all evening, whereas my older brother studies until midnight. Yesterday I played football after dinner. This means that my day is balanced, but in future I will try to sleep before ten.”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 مَدْرَسَتِي بَعِيدَةٌ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وَعَلَى سَبِيلِ المِثَالِ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مَعَ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يَدْرُسُ أَخِي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D1-L12 · Review and Unit Assessment</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algn="l" indent="0" marL="0">
              <a:buNone/>
            </a:pPr>
            <a:r>
              <a:rPr lang="ar-SA" altLang="en-US" sz="3100" b="1" dirty="0">
                <a:solidFill>
                  <a:srgbClr val="D4AF37"/>
                </a:solidFill>
                <a:latin typeface="Amiri" pitchFamily="2" charset="-78"/>
                <a:ea typeface="Amiri" pitchFamily="2" charset="-78"/>
                <a:cs typeface="Amiri" pitchFamily="2" charset="-78"/>
              </a:rPr>
              <a:t>مُرَاجَعَةُ</a:t>
            </a:r>
            <a:pPr algn="l" indent="0" marL="0">
              <a:buNone/>
            </a:pPr>
            <a:r>
              <a:rPr lang="en-US" sz="2400" b="1" dirty="0">
                <a:solidFill>
                  <a:srgbClr val="D4AF37"/>
                </a:solidFill>
                <a:latin typeface="Calibri" pitchFamily="34" charset="0"/>
                <a:cs typeface="Amiri" pitchFamily="2" charset="-78"/>
              </a:rPr>
              <a:t> D1 </a:t>
            </a:r>
            <a:pPr algn="l" indent="0" marL="0">
              <a:buNone/>
            </a:pPr>
            <a:r>
              <a:rPr lang="ar-SA" altLang="en-US" sz="3100" b="1" dirty="0">
                <a:solidFill>
                  <a:srgbClr val="D4AF37"/>
                </a:solidFill>
                <a:latin typeface="Amiri" pitchFamily="2" charset="-78"/>
                <a:ea typeface="Amiri" pitchFamily="2" charset="-78"/>
                <a:cs typeface="Amiri" pitchFamily="2" charset="-78"/>
              </a:rPr>
              <a:t>وَتَقْيِيمُ الوَحْدَةِ</a:t>
            </a:r>
            <a:endParaRPr lang="en-US"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D1-L11 · Practice Room — Speaking and Writing — My Daily Routine</dc:title>
  <dc:subject>PptxGenJS Presentation</dc:subject>
  <dc:creator>Al Madina Online School · Arabic Department</dc:creator>
  <cp:lastModifiedBy>Al Madina Online School · Arabic Department</cp:lastModifiedBy>
  <cp:revision>1</cp:revision>
  <dcterms:created xsi:type="dcterms:W3CDTF">2026-10-25T18:00:39Z</dcterms:created>
  <dcterms:modified xsi:type="dcterms:W3CDTF">2026-10-25T18:00:39Z</dcterms:modified>
</cp:coreProperties>
</file>