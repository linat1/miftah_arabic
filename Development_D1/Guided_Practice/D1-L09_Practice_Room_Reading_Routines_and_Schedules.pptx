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D1-L09 (Reading Daily Routines and Weekly Schedules) — new practice tasks built on the lesson’s own word bank and grammar (reading a timetable: mawʿid al-badʾ · mawʿid al-intihāʾ · al-mudda; ḥasaba al-jadwal; 24-hour times; tracking WHO with prefixes and suffixes; matching numbers to events; turning a table into sentences).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if the parent says ابْنَتِي: حُرَّةٌ · يُنَاسِبُهَا · لِأَنَّهُ يَبْدَأُ …. The Leader writes a simple four-row schedule first, so the Speaker reads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Reading Daily Routines and Weekly Schedules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الجَدْوَلُ الأُسْبُوعِيُّ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speaking and writing practice with weekly schedules: say the schedule words, act a dialogue reading a timetable, answer detective question cards, do a role-play card at a sports-centre reception, give a one-minute talk reading a schedule aloud, then build, fix and write an email explaining a schedule.</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D1-L09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Schedule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جَدْوَلٌ أُسْبُوعِيٌّ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 schedule</a:t>
            </a:r>
            <a:endParaRPr lang="en-US" sz="1350" dirty="0"/>
          </a:p>
          <a:p>
            <a:pPr indent="0" marL="0">
              <a:buNone/>
            </a:pPr>
            <a:r>
              <a:rPr lang="en-US" sz="1100" i="1" dirty="0">
                <a:solidFill>
                  <a:srgbClr val="5A6472"/>
                </a:solidFill>
                <a:latin typeface="Calibri" pitchFamily="34" charset="0"/>
                <a:cs typeface="Amiri" pitchFamily="2" charset="-78"/>
              </a:rPr>
              <a:t>jad-wa-lun us-bū-ʿiy-yun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جَدَاوِلُ</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الجَدْوَلُ</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جَدْوَلٌ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إِلِكْتِرُونِيَّةٌ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email</a:t>
            </a:r>
            <a:endParaRPr lang="en-US" sz="1350" dirty="0"/>
          </a:p>
          <a:p>
            <a:pPr indent="0" marL="0">
              <a:buNone/>
            </a:pPr>
            <a:r>
              <a:rPr lang="en-US" sz="1100" i="1" dirty="0">
                <a:solidFill>
                  <a:srgbClr val="5A6472"/>
                </a:solidFill>
                <a:latin typeface="Calibri" pitchFamily="34" charset="0"/>
                <a:cs typeface="Amiri" pitchFamily="2" charset="-78"/>
              </a:rPr>
              <a:t>ri-sā-la-tun i-lik-ti-rū-niy-ya-tun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رَسَائِلُ</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الرِّسَالَةُ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رِسَالَةٌ</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البَدْءِ</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start time</a:t>
            </a:r>
            <a:endParaRPr lang="en-US" sz="1350" dirty="0"/>
          </a:p>
          <a:p>
            <a:pPr indent="0" marL="0">
              <a:buNone/>
            </a:pPr>
            <a:r>
              <a:rPr lang="en-US" sz="1100" i="1" dirty="0">
                <a:solidFill>
                  <a:srgbClr val="5A6472"/>
                </a:solidFill>
                <a:latin typeface="Calibri" pitchFamily="34" charset="0"/>
                <a:cs typeface="Amiri" pitchFamily="2" charset="-78"/>
              </a:rPr>
              <a:t>maw-ʿi-du al-bad-ʾi</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الاِنْتِهَاءِ</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finish time</a:t>
            </a:r>
            <a:endParaRPr lang="en-US" sz="1350" dirty="0"/>
          </a:p>
          <a:p>
            <a:pPr indent="0" marL="0">
              <a:buNone/>
            </a:pPr>
            <a:r>
              <a:rPr lang="en-US" sz="1100" i="1" dirty="0">
                <a:solidFill>
                  <a:srgbClr val="5A6472"/>
                </a:solidFill>
                <a:latin typeface="Calibri" pitchFamily="34" charset="0"/>
                <a:cs typeface="Amiri" pitchFamily="2" charset="-78"/>
              </a:rPr>
              <a:t>maw-ʿi-du aln-ti-hā-ʾi</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المُدَّةُ</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duration</a:t>
            </a:r>
            <a:endParaRPr lang="en-US" sz="1350" dirty="0"/>
          </a:p>
          <a:p>
            <a:pPr indent="0" marL="0">
              <a:buNone/>
            </a:pPr>
            <a:r>
              <a:rPr lang="en-US" sz="1100" i="1" dirty="0">
                <a:solidFill>
                  <a:srgbClr val="5A6472"/>
                </a:solidFill>
                <a:latin typeface="Calibri" pitchFamily="34" charset="0"/>
                <a:cs typeface="Amiri" pitchFamily="2" charset="-78"/>
              </a:rPr>
              <a:t>al-mud-da-tu</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النَّشَاطُ</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activity</a:t>
            </a:r>
            <a:endParaRPr lang="en-US" sz="1350" dirty="0"/>
          </a:p>
          <a:p>
            <a:pPr indent="0" marL="0">
              <a:buNone/>
            </a:pPr>
            <a:r>
              <a:rPr lang="en-US" sz="1100" i="1" dirty="0">
                <a:solidFill>
                  <a:srgbClr val="5A6472"/>
                </a:solidFill>
                <a:latin typeface="Calibri" pitchFamily="34" charset="0"/>
                <a:cs typeface="Amiri" pitchFamily="2" charset="-78"/>
              </a:rPr>
              <a:t>an-na-shā-ṭu</a:t>
            </a:r>
            <a:endParaRPr lang="en-US" sz="1350" dirty="0"/>
          </a:p>
        </p:txBody>
      </p:sp>
      <p:sp>
        <p:nvSpPr>
          <p:cNvPr id="81" name="Shape 7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3" name="Text 8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الأَنْشِطَةُ</a:t>
            </a:r>
            <a:endParaRPr lang="ar-SA" sz="1500" dirty="0"/>
          </a:p>
        </p:txBody>
      </p:sp>
      <p:sp>
        <p:nvSpPr>
          <p:cNvPr id="84" name="Shape 8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86" name="Text 8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النَّشَاطُ</a:t>
            </a:r>
            <a:endParaRPr lang="ar-SA" sz="1500" dirty="0"/>
          </a:p>
        </p:txBody>
      </p:sp>
      <p:sp>
        <p:nvSpPr>
          <p:cNvPr id="87" name="Shape 8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89" name="Text 8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نَشَاطٌ</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for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الدَّلِيلُ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ad-da-lī-lu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حَسَبَ الجَدْوَلِ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according to the schedule</a:t>
            </a:r>
            <a:endParaRPr lang="en-US" sz="1350" dirty="0"/>
          </a:p>
          <a:p>
            <a:pPr indent="0" marL="0">
              <a:buNone/>
            </a:pPr>
            <a:r>
              <a:rPr lang="en-US" sz="1100" i="1" dirty="0">
                <a:solidFill>
                  <a:srgbClr val="5A6472"/>
                </a:solidFill>
                <a:latin typeface="Calibri" pitchFamily="34" charset="0"/>
                <a:cs typeface="Amiri" pitchFamily="2" charset="-78"/>
              </a:rPr>
              <a:t>ḥa-sa-ba al-jad-wa-li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النَّصِّ</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the text</a:t>
            </a:r>
            <a:endParaRPr lang="en-US" sz="1350" dirty="0"/>
          </a:p>
          <a:p>
            <a:pPr indent="0" marL="0">
              <a:buNone/>
            </a:pPr>
            <a:r>
              <a:rPr lang="en-US" sz="1100" i="1" dirty="0">
                <a:solidFill>
                  <a:srgbClr val="5A6472"/>
                </a:solidFill>
                <a:latin typeface="Calibri" pitchFamily="34" charset="0"/>
                <a:cs typeface="Amiri" pitchFamily="2" charset="-78"/>
              </a:rPr>
              <a:t>mi-na an-naṣ-ṣi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بَرْنَامَجٌ يَوْمِيٌّ</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daily programme / routine</a:t>
            </a:r>
            <a:endParaRPr lang="en-US" sz="1350" dirty="0"/>
          </a:p>
          <a:p>
            <a:pPr indent="0" marL="0">
              <a:buNone/>
            </a:pPr>
            <a:r>
              <a:rPr lang="en-US" sz="1100" i="1" dirty="0">
                <a:solidFill>
                  <a:srgbClr val="5A6472"/>
                </a:solidFill>
                <a:latin typeface="Calibri" pitchFamily="34" charset="0"/>
                <a:cs typeface="Amiri" pitchFamily="2" charset="-78"/>
              </a:rPr>
              <a:t>bar-nā-ma-jun yaw-miy-yun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مُدَوَّنَةٌ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blog</a:t>
            </a:r>
            <a:endParaRPr lang="en-US" sz="1350" dirty="0"/>
          </a:p>
          <a:p>
            <a:pPr indent="0" marL="0">
              <a:buNone/>
            </a:pPr>
            <a:r>
              <a:rPr lang="en-US" sz="1100" i="1" dirty="0">
                <a:solidFill>
                  <a:srgbClr val="5A6472"/>
                </a:solidFill>
                <a:latin typeface="Calibri" pitchFamily="34" charset="0"/>
                <a:cs typeface="Amiri" pitchFamily="2" charset="-78"/>
              </a:rPr>
              <a:t>mu-daw-wa-na-tun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خَانَةٌ</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box / cell in a table</a:t>
            </a:r>
            <a:endParaRPr lang="en-US" sz="1350" dirty="0"/>
          </a:p>
          <a:p>
            <a:pPr indent="0" marL="0">
              <a:buNone/>
            </a:pPr>
            <a:r>
              <a:rPr lang="en-US" sz="1100" i="1" dirty="0">
                <a:solidFill>
                  <a:srgbClr val="5A6472"/>
                </a:solidFill>
                <a:latin typeface="Calibri" pitchFamily="34" charset="0"/>
                <a:cs typeface="Amiri" pitchFamily="2" charset="-78"/>
              </a:rPr>
              <a:t>khā-na-tun</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Reading the summer-club timetable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جَدْوَلُ النَّادِي الصَّيْفِيِّ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According to the timetable, when does swimming start?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حَسَبَ الجَدْوَلِ، مَتَى يَبْدَأُ نَشَاطُ السِّبَاحَةِ؟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start time is half past eight on Monday.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مَوْعِدُ البَدْءِ فِي الثَّامِنَةِ وَالنِّصْفِ يَوْمَ الإِثْنَيْنِ.</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long is it?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وَكَمِ المُدَّةُ؟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hour and a half; the finish time is ten.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سَاعَةٌ وَنِصْفٌ؛ مَوْعِدُ الانْتِهَاءِ فِي العَاشِرَةِ.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is art on Tuesday too?</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الرَّسْمُ يَوْمَ الثُّلَاثَاءِ أَيْضًا؟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 the evidence is here: art is on Wednesday only, from 14:00 to 15:30.</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الدَّلِيلُ هُنَا: الرَّسْمُ يَوْمَ الأَرْبِعَاءِ فَقَطْ، مِنَ ١٤:٠٠ إِلَى ١٥:٣٠.</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point to your own school timetable and ask about two different days.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Detective cards — find it, say it, prove it</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تَبْدَأُ فِي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حَسَبَ الجَدْوَلِ، أَوَّلُ حِصَّةٍ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first lesson on Monday in your timetable?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أَوَّلُ حِصَّةٍ يَوْمَ الإِثْنَيْنِ فِي جَدْوَلِكَ؟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لِأَنَّ الاسْتِرَاحَةَ تَنْتَهِي فِي …</a:t>
            </a:r>
            <a:endParaRPr lang="ar-SA" sz="14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المُدَّةُ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is it between break and lunch?</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المُدَّةُ بَيْنَ الاسْتِرَاحَةِ وَالغَدَاءِ؟</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بَيْنَمَا يَوْمَ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 عِنْدِي … حِصَصٍ</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day do you have the most lessons?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فِي أَيِّ يَوْمٍ عِنْدَكَ أَكْثَرُ حِصَصٍ؟</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 أَيِ السَّادِسَةَ عَشْرَةَ وَخَمْسًا وَأَرْبَعِينَ دَقِيقَةً</a:t>
            </a:r>
            <a:endParaRPr lang="ar-SA" sz="13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السَّاعَةُ الخَامِسَةُ إِلَّا الرُّبْعَ مَسَاءً</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16:45 mean?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مَعْنَى ١٦:٤٥؟</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يَقُولُ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الدَّلِيلُ فِي … ← فِي السَّطْرِ الثَّالِثِ</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evidence?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الدَّلِيلُ؟</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at the sports-centre reception</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مَكْتَبِ الاسْتِقْبَالِ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حَسَبَ الجَدْوَلِ، تَبْدَأُ فِي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a start time.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تَبْدَأُ دُرُوسُ الكَارَاتِيهِ؟</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المُدَّةُ … ، وَتَنْتَهِي فِي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duration + finish time.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وَكَمِ المُدَّةُ؟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another row.</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هُنَاكَ دُرُوسٌ لِلْبَنَاتِ؟</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ابْنِي حُرٌّ يَوْمَ الثُّلَاثَاءِ بَعْدَ السَّادِسَةِ فَقَطْ. مَاذَا يُنَاسِبُهُ؟</a:t>
            </a:r>
            <a:endParaRPr lang="ar-SA" sz="145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receptionist, reading the schedule · Leader = a parent asking about classes.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read my week aloud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أَقْرَأُ أُسْبُوعِي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Use your real timetable (or invent a club schedule). Read it aloud as full sentences for one minute: day, activity, start, finish, duration.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rows: </a:t>
            </a:r>
            <a:pPr algn="l" indent="0" marL="0">
              <a:buNone/>
            </a:pPr>
            <a:r>
              <a:rPr lang="ar-SA" altLang="en-US" sz="1500" dirty="0">
                <a:solidFill>
                  <a:srgbClr val="1F2A37"/>
                </a:solidFill>
                <a:latin typeface="Amiri" pitchFamily="2" charset="-78"/>
                <a:ea typeface="Amiri" pitchFamily="2" charset="-78"/>
                <a:cs typeface="Amiri" pitchFamily="2" charset="-78"/>
              </a:rPr>
              <a:t>يَبْدَأُ … فِي … وَيَنْتَهِي فِي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duration (</a:t>
            </a:r>
            <a:pPr algn="l" indent="0" marL="0">
              <a:buNone/>
            </a:pPr>
            <a:r>
              <a:rPr lang="ar-SA" altLang="en-US" sz="1500" dirty="0">
                <a:solidFill>
                  <a:srgbClr val="1F2A37"/>
                </a:solidFill>
                <a:latin typeface="Amiri" pitchFamily="2" charset="-78"/>
                <a:ea typeface="Amiri" pitchFamily="2" charset="-78"/>
                <a:cs typeface="Amiri" pitchFamily="2" charset="-78"/>
              </a:rPr>
              <a:t>المُدَّةُ</a:t>
            </a:r>
            <a:pPr algn="l" indent="0" marL="0">
              <a:buNone/>
            </a:pPr>
            <a:r>
              <a:rPr lang="en-US" sz="1150" dirty="0">
                <a:solidFill>
                  <a:srgbClr val="1F2A37"/>
                </a:solidFill>
                <a:latin typeface="Calibri" pitchFamily="34" charset="0"/>
                <a:cs typeface="Amiri" pitchFamily="2" charset="-78"/>
              </a:rPr>
              <a:t> …) and 24-hour times read as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comparison of two days and a recommendation (</a:t>
            </a:r>
            <a:pPr algn="l" indent="0" marL="0">
              <a:buNone/>
            </a:pPr>
            <a:r>
              <a:rPr lang="ar-SA" altLang="en-US" sz="1500" dirty="0">
                <a:solidFill>
                  <a:srgbClr val="1F2A37"/>
                </a:solidFill>
                <a:latin typeface="Amiri" pitchFamily="2" charset="-78"/>
                <a:ea typeface="Amiri" pitchFamily="2" charset="-78"/>
                <a:cs typeface="Amiri" pitchFamily="2" charset="-78"/>
              </a:rPr>
              <a:t>أَنْصَحُكَ بِنَشَاطِ</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According to the timetable, maths starts at nine.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حَسَبَ الجَدْوَلِ،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حَسَبُ الجَدْوَلُ،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تَبْدَأُ الرِّيَاضِيَّاتُ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يَبْدَأُ الرِّيَاضِيَّاتُ</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التَّاسِعَةِ.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تِسْعَةٍ.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finish time is half past four.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مَوْعِدُ الانْتِهَاءِ</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مَوْعِدَ الانْتِهَاءِ</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الرَّابِعَةِ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الرَّابِعَةُ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وَالنِّصْفِ.</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وَنِصْفٌ.</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duration of the activity is two hours.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النَّشَاطِ</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النَّشَاطُ</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سَاعَتَانِ.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سَاعَتَيْنِ.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According to the timetable, maths starts at nine.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حَسَبَ</a:t>
            </a:r>
            <a:pPr algn="l" indent="0" marL="0">
              <a:buNone/>
            </a:pPr>
            <a:r>
              <a:rPr lang="en-US" sz="1050" i="1" dirty="0">
                <a:solidFill>
                  <a:srgbClr val="5A6472"/>
                </a:solidFill>
                <a:latin typeface="Calibri" pitchFamily="34" charset="0"/>
                <a:cs typeface="Amiri" pitchFamily="2" charset="-78"/>
              </a:rPr>
              <a:t> + genitive; plural subject (non-human) → feminine verb.</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حَسَبَ الجَدْوَلِ، تَبْدَأُ الرِّيَاضِيَّاتُ فِي التَّاسِعَةِ.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finish time is half past four.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Subject → -u; time phrase after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مَوْعِدُ الانْتِهَاءِ فِي الرَّابِعَةِ وَالنِّصْفِ.</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duration of the activity is two hours.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Iḍāfa: </a:t>
            </a:r>
            <a:pPr algn="l" indent="0" marL="0">
              <a:buNone/>
            </a:pPr>
            <a:r>
              <a:rPr lang="ar-SA" altLang="en-US" sz="1350" dirty="0">
                <a:solidFill>
                  <a:srgbClr val="5A6472"/>
                </a:solidFill>
                <a:latin typeface="Amiri" pitchFamily="2" charset="-78"/>
                <a:ea typeface="Amiri" pitchFamily="2" charset="-78"/>
                <a:cs typeface="Amiri" pitchFamily="2" charset="-78"/>
              </a:rPr>
              <a:t>مُدَّةُ النَّشَاطِ</a:t>
            </a:r>
            <a:pPr algn="l" indent="0" marL="0">
              <a:buNone/>
            </a:pPr>
            <a:r>
              <a:rPr lang="en-US" sz="1050" i="1" dirty="0">
                <a:solidFill>
                  <a:srgbClr val="5A6472"/>
                </a:solidFill>
                <a:latin typeface="Calibri" pitchFamily="34" charset="0"/>
                <a:cs typeface="Amiri" pitchFamily="2" charset="-78"/>
              </a:rPr>
              <a:t>; predicate dual → </a:t>
            </a:r>
            <a:pPr algn="l" indent="0" marL="0">
              <a:buNone/>
            </a:pPr>
            <a:r>
              <a:rPr lang="ar-SA" altLang="en-US" sz="1350" dirty="0">
                <a:solidFill>
                  <a:srgbClr val="5A6472"/>
                </a:solidFill>
                <a:latin typeface="Amiri" pitchFamily="2" charset="-78"/>
                <a:ea typeface="Amiri" pitchFamily="2" charset="-78"/>
                <a:cs typeface="Amiri" pitchFamily="2" charset="-78"/>
              </a:rPr>
              <a:t>سَاعَتَانِ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مُدَّةُ النَّشَاطِ سَاعَتَانِ.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حَسَبَ الجَدْوَلُ، الدَّرْسُ يَوْمَ الأَحَدِ.</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حَسَبَ</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يَبْدَأُ فِي ١٤:٣٠ أَيِ الرَّابِعَةِ وَالنِّصْفِ.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14:30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تَتَدَرَّبُ سَامِي يَوْمَ الخَمِيسِ.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Sami?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حَسَبَ الجَدْوَلُ، الدَّرْسُ يَوْمَ الأَحَدِ.</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حَسَبَ الجَدْوَلِ، الدَّرْسُ يَوْمَ الأَحَدِ.</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حَسَبَ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يَبْدَأُ فِي ١٤:٣٠ أَيِ الرَّابِعَةِ وَالنِّصْفِ.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يَبْدَأُ فِي ١٤:٣٠ أَيِ الثَّانِيَةِ وَالنِّصْفِ.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14:30 is half past two (pm).</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تَتَدَرَّبُ سَامِي يَوْمَ الخَمِيسِ.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يَتَدَرَّبُ سَامِي يَوْمَ الخَمِيسِ.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Sami (he) → ya-.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حَسَبَ الجَدْوَلِ، ______ فِي ______ ، أَيِ ______ مَسَاءً.</a:t>
            </a:r>
            <a:endParaRPr lang="ar-SA" sz="14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According to the schedule, … at … (in words) pm.</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______ مُزْدَحِمٌ، بَيْنَمَا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busy, whereas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بِكَ فِي نَادِي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Welcome to the … club!</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يَوْمَ ______ يَبْدَأُ ______ فِي ______ وَيَنْتَهِي فِي ______ .</a:t>
            </a:r>
            <a:endParaRPr lang="ar-SA" sz="13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 … starts at … and ends 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المُدَّةُ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lasts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أَنْصَحُكَ بِنَشَاطِ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recommend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000" b="1" dirty="0">
                <a:solidFill>
                  <a:srgbClr val="1B3B6F"/>
                </a:solidFill>
                <a:latin typeface="Amiri" pitchFamily="2" charset="-78"/>
                <a:ea typeface="Amiri" pitchFamily="2" charset="-78"/>
                <a:cs typeface="Amiri" pitchFamily="2" charset="-78"/>
              </a:rPr>
              <a:t>جَدْوَلٌ أُسْبُوعِيٌّ</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مَوْعِدُ البَدْءِ</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مَوْعِدُ الانْتِهَاءِ</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المُدَّةُ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النَّشَاطُ</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حَسَبَ الجَدْوَلِ</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أَيْ</a:t>
            </a:r>
            <a:pPr algn="l" indent="0" marL="0">
              <a:buNone/>
            </a:pPr>
            <a:r>
              <a:rPr lang="en-US" sz="1550" b="1" dirty="0">
                <a:solidFill>
                  <a:srgbClr val="1B3B6F"/>
                </a:solidFill>
                <a:latin typeface="Calibri" pitchFamily="34" charset="0"/>
                <a:cs typeface="Amiri" pitchFamily="2" charset="-78"/>
              </a:rPr>
              <a:t> (= that is)  ·  </a:t>
            </a:r>
            <a:pPr algn="l" indent="0" marL="0">
              <a:buNone/>
            </a:pPr>
            <a:r>
              <a:rPr lang="ar-SA" altLang="en-US" sz="2000" b="1" dirty="0">
                <a:solidFill>
                  <a:srgbClr val="1B3B6F"/>
                </a:solidFill>
                <a:latin typeface="Amiri" pitchFamily="2" charset="-78"/>
                <a:ea typeface="Amiri" pitchFamily="2" charset="-78"/>
                <a:cs typeface="Amiri" pitchFamily="2" charset="-78"/>
              </a:rPr>
              <a:t>أَنْصَحُكَ</a:t>
            </a:r>
            <a:endParaRPr lang="en-US"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email explaining a schedule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جَدْوَلٍ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new student is joining your after-school club. Write an email (about 60–80 words) explaining the weekly schedule. Include: • four activities with day, start time and finish time • two durations (</a:t>
            </a:r>
            <a:pPr algn="l" indent="0" marL="0">
              <a:buNone/>
            </a:pPr>
            <a:r>
              <a:rPr lang="ar-SA" altLang="en-US" sz="1500" b="1" dirty="0">
                <a:solidFill>
                  <a:srgbClr val="1F2A37"/>
                </a:solidFill>
                <a:latin typeface="Amiri" pitchFamily="2" charset="-78"/>
                <a:ea typeface="Amiri" pitchFamily="2" charset="-78"/>
                <a:cs typeface="Amiri" pitchFamily="2" charset="-78"/>
              </a:rPr>
              <a:t>المُدَّةُ</a:t>
            </a:r>
            <a:pPr algn="l" indent="0" marL="0">
              <a:buNone/>
            </a:pPr>
            <a:r>
              <a:rPr lang="en-US" sz="1150" b="1" dirty="0">
                <a:solidFill>
                  <a:srgbClr val="1F2A37"/>
                </a:solidFill>
                <a:latin typeface="Calibri" pitchFamily="34" charset="0"/>
                <a:cs typeface="Amiri" pitchFamily="2" charset="-78"/>
              </a:rPr>
              <a:t> …) • one 24-hour time written in words • which activity you recommend and why.</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حَسَبَ الجَدْوَلِ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according to the schedule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مَوْعِدُ البَدْءِ … · مَوْعِدُ الانْتِهَاءِ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start time … · finish time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المُدَّةُ سَاعَةٌ وَنِصْفٌ</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lasts an hour and a half</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أَنْصَحُكَ بِنَشَاطِ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recommend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day, start and finish time for four activities?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durations, read a 24-hour time in words and recommend with a reason?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حَسَبَ الجَدْوَلِ، تَبْدَأُ يَوْمَ الثُّلَاثَاءِ فِي الخَامِسَةِ مَسَاءً.</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According to the schedule, they start on Tuesday at five pm.</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تَبْدَأُ دُرُوسُ الكَارَاتِيهِ؟</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المُدَّةُ سَاعَةٌ، وَتَنْتَهِي فِي السَّادِسَةِ.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lasts an hour and finishes at six.</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وَكَمِ المُدَّةُ؟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يَوْمَ الخَمِيسِ مِنَ ١٦:٣٠ إِلَى ١٧:٣٠، مَعَ المُدَرِّبَةِ هُدَى.</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on Thursday from 16:30 to 17:30, with coach Huda.</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هُنَاكَ دُرُوسٌ لِلْبَنَاتِ؟</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يُنَاسِبُهُ دَرْسُ السِّبَاحَةِ، لِأَنَّهُ يَبْدَأُ فِي السَّادِسَةِ وَالنِّصْفِ.</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swimming class suits him, because it starts at half past six.</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ابْنِي حُرٌّ يَوْمَ الثُّلَاثَاءِ بَعْدَ السَّادِسَةِ فَقَطْ. مَاذَا يُنَاسِبُهُ؟</a:t>
            </a:r>
            <a:endParaRPr lang="ar-SA" sz="14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200" dirty="0">
                <a:solidFill>
                  <a:srgbClr val="1F2A37"/>
                </a:solidFill>
                <a:latin typeface="Amiri" pitchFamily="2" charset="-78"/>
                <a:ea typeface="Amiri" pitchFamily="2" charset="-78"/>
                <a:cs typeface="Amiri" pitchFamily="2" charset="-78"/>
              </a:rPr>
              <a:t>أَهْلًا بِكَ يَا زَيْدُ فِي نَادِي المَدْرَسَةِ!</a:t>
            </a:r>
            <a:endParaRPr lang="ar-SA" sz="2200" dirty="0"/>
          </a:p>
          <a:p>
            <a:pPr rtl="1" algn="r" indent="0" marL="0">
              <a:lnSpc>
                <a:spcPct val="120000"/>
              </a:lnSpc>
              <a:buNone/>
            </a:pPr>
            <a:r>
              <a:rPr lang="ar-SA" altLang="en-US" sz="2200" dirty="0">
                <a:solidFill>
                  <a:srgbClr val="1F2A37"/>
                </a:solidFill>
                <a:latin typeface="Amiri" pitchFamily="2" charset="-78"/>
                <a:ea typeface="Amiri" pitchFamily="2" charset="-78"/>
                <a:cs typeface="Amiri" pitchFamily="2" charset="-78"/>
              </a:rPr>
              <a:t>حَسَبَ الجَدْوَلِ، يَبْدَأُ نَشَاطُ كُرَةِ السَّلَّةِ يَوْمَ الإِثْنَيْنِ فِي ١٥:٣٠، أَيِ الثَّالِثَةِ وَالنِّصْفِ، وَيَنْتَهِي فِي الخَامِسَةِ. يَوْمَ الثُّلَاثَاءِ عِنْدَنَا نَادِي الشِّطْرَنْجِ، وَالمُدَّةُ سَاعَةٌ وَاحِدَةٌ. يَوْمَ الأَرْبِعَاءِ يَبْدَأُ الرَّسْمُ فِي الرَّابِعَةِ وَيَنْتَهِي فِي الخَامِسَةِ وَالنِّصْفِ. أَمَّا يَوْمُ الخَمِيسِ فَفِيهِ نَادِي القِرَاءَةِ، وَمُدَّتُهُ أَرْبَعُونَ دَقِيقَةً. أَنْصَحُكَ بِكُرَةِ السَّلَّةِ، لِأَنَّ المُدَرِّبَ مُمْتَازٌ وَالفَرِيقَ لَطِيفٌ.</a:t>
            </a:r>
            <a:endParaRPr lang="ar-SA" sz="2200" dirty="0"/>
          </a:p>
          <a:p>
            <a:pPr rtl="1" algn="r" indent="0" marL="0">
              <a:lnSpc>
                <a:spcPct val="120000"/>
              </a:lnSpc>
              <a:buNone/>
            </a:pPr>
            <a:r>
              <a:rPr lang="ar-SA" altLang="en-US" sz="2200" dirty="0">
                <a:solidFill>
                  <a:srgbClr val="1F2A37"/>
                </a:solidFill>
                <a:latin typeface="Amiri" pitchFamily="2" charset="-78"/>
                <a:ea typeface="Amiri" pitchFamily="2" charset="-78"/>
                <a:cs typeface="Amiri" pitchFamily="2" charset="-78"/>
              </a:rPr>
              <a:t>صَدِيقُكَ، عُمَرُ</a:t>
            </a:r>
            <a:endParaRPr lang="ar-SA" sz="22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“Welcome to the school club, Zaid! According to the timetable, basketball starts on Monday at 15:30 — that is half past three — and finishes at five. On Tuesday we have chess club, which lasts one hour. On Wednesday art starts at four and finishes at half past five. As for Thursday, there is reading club, which lasts forty minutes. I recommend basketball, because the coach is excellent and the team is kind. Your friend, Omar.”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حَسَبَ الجَدْوَلِ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أَيِ الثَّالِثَةِ وَالنِّصْفِ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وَالمُدَّةُ سَاعَةٌ وَاحِدَةٌ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أَنْصَحُكَ بِكُرَةِ السَّلَّةِ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D1-L10 · Listening — Daily Routine and Time Details</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تَفَاصِيلُ الرُّوتِينِ اليَوْمِيِّ وَالوَقْتِ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D1-L09 · Practice Room — Reading Daily Routines and Weekly Schedules</dc:title>
  <dc:subject>PptxGenJS Presentation</dc:subject>
  <dc:creator>Al Madina Online School · Arabic Department</dc:creator>
  <cp:lastModifiedBy>Al Madina Online School · Arabic Department</cp:lastModifiedBy>
  <cp:revision>1</cp:revision>
  <dcterms:created xsi:type="dcterms:W3CDTF">2026-10-25T17:58:37Z</dcterms:created>
  <dcterms:modified xsi:type="dcterms:W3CDTF">2026-10-25T17:58:37Z</dcterms:modified>
</cp:coreProperties>
</file>