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D1-L06 (He and She — Describing Someone Else’s Routine) — new practice tasks built on the lesson’s own word bank and grammar (third person: ya- prefix for he (yastayqiẓu) and ta- for she (tastayqiẓu); possessive -hu / -hā on every noun (ḥaqībatuhu · ḥaqībatuhā); comparing with baynamā · amma … fa- · akthara min · mithla).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no changes — you are describing him and her. Every verb about him starts ya-, about her ta-; every noun takes -hu / -hā.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He and She — Describing Someone Else’s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رُوتِينُهُ وَرُوتِينُهَا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describing another person’s routine: say the he / she verbs, act a short dialogue, answer cards about a family member, do a role-play card interviewing for a school magazine, give a one-minute he / she comparison, then build, fix and write a profile comparing two people’s days.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D1-L06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His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wakes up</a:t>
            </a:r>
            <a:endParaRPr lang="en-US" sz="1350" dirty="0"/>
          </a:p>
          <a:p>
            <a:pPr indent="0" marL="0">
              <a:buNone/>
            </a:pPr>
            <a:r>
              <a:rPr lang="en-US" sz="1100" i="1" dirty="0">
                <a:solidFill>
                  <a:srgbClr val="5A6472"/>
                </a:solidFill>
                <a:latin typeface="Calibri" pitchFamily="34" charset="0"/>
                <a:cs typeface="Amiri" pitchFamily="2" charset="-78"/>
              </a:rPr>
              <a:t>yas-tay-qi-ẓu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يَسْتَيْقِظُونَ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يَتَنَاوَلُ الإِفْطَارَ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breakfast</a:t>
            </a:r>
            <a:endParaRPr lang="en-US" sz="1350" dirty="0"/>
          </a:p>
          <a:p>
            <a:pPr indent="0" marL="0">
              <a:buNone/>
            </a:pPr>
            <a:r>
              <a:rPr lang="en-US" sz="1100" i="1" dirty="0">
                <a:solidFill>
                  <a:srgbClr val="5A6472"/>
                </a:solidFill>
                <a:latin typeface="Calibri" pitchFamily="34" charset="0"/>
                <a:cs typeface="Amiri" pitchFamily="2" charset="-78"/>
              </a:rPr>
              <a:t>ya-ta-nā-wa-lu al-if-ṭā-ra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يَتَنَاوَلُونَ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تَتَنَاوَلُ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أَتَنَاوَلُ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يَخْرُجُ مِنَ البَيْتِ</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leaves the house</a:t>
            </a:r>
            <a:endParaRPr lang="en-US" sz="1350" dirty="0"/>
          </a:p>
          <a:p>
            <a:pPr indent="0" marL="0">
              <a:buNone/>
            </a:pPr>
            <a:r>
              <a:rPr lang="en-US" sz="1100" i="1" dirty="0">
                <a:solidFill>
                  <a:srgbClr val="5A6472"/>
                </a:solidFill>
                <a:latin typeface="Calibri" pitchFamily="34" charset="0"/>
                <a:cs typeface="Amiri" pitchFamily="2" charset="-78"/>
              </a:rPr>
              <a:t>yakh-ru-ju mi-na al-bay-ti</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يَخْرُجُونَ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تَخْرُجُ</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أَخْرُجُ</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يَرْجِعُ إِلَى البَيْتِ</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returns home</a:t>
            </a:r>
            <a:endParaRPr lang="en-US" sz="1350" dirty="0"/>
          </a:p>
          <a:p>
            <a:pPr indent="0" marL="0">
              <a:buNone/>
            </a:pPr>
            <a:r>
              <a:rPr lang="en-US" sz="1100" i="1" dirty="0">
                <a:solidFill>
                  <a:srgbClr val="5A6472"/>
                </a:solidFill>
                <a:latin typeface="Calibri" pitchFamily="34" charset="0"/>
                <a:cs typeface="Amiri" pitchFamily="2" charset="-78"/>
              </a:rPr>
              <a:t>yar-ji-ʿu i-lā al-bay-ti</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يَرْجِعُونَ</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تَرْجِعُ</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أَرْجِعُ</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يُرَاجِعُ دُرُوسَهُ</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revises his lessons</a:t>
            </a:r>
            <a:endParaRPr lang="en-US" sz="1350" dirty="0"/>
          </a:p>
          <a:p>
            <a:pPr indent="0" marL="0">
              <a:buNone/>
            </a:pPr>
            <a:r>
              <a:rPr lang="en-US" sz="1100" i="1" dirty="0">
                <a:solidFill>
                  <a:srgbClr val="5A6472"/>
                </a:solidFill>
                <a:latin typeface="Calibri" pitchFamily="34" charset="0"/>
                <a:cs typeface="Amiri" pitchFamily="2" charset="-78"/>
              </a:rPr>
              <a:t>yu-rā-ji-ʿu du-rū-sa-hu</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98" name="Text 95"/>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يُرَاجِعُونَ</a:t>
            </a:r>
            <a:endParaRPr lang="ar-SA" sz="135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أُرَاجِعُ</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يَنَامُ</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sleeps</a:t>
            </a:r>
            <a:endParaRPr lang="en-US" sz="1350" dirty="0"/>
          </a:p>
          <a:p>
            <a:pPr indent="0" marL="0">
              <a:buNone/>
            </a:pPr>
            <a:r>
              <a:rPr lang="en-US" sz="1100" i="1" dirty="0">
                <a:solidFill>
                  <a:srgbClr val="5A6472"/>
                </a:solidFill>
                <a:latin typeface="Calibri" pitchFamily="34" charset="0"/>
                <a:cs typeface="Amiri" pitchFamily="2" charset="-78"/>
              </a:rPr>
              <a:t>ya-nā-mu</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116" name="Text 11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يَنَامُونَ</a:t>
            </a:r>
            <a:endParaRPr lang="ar-SA" sz="135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تَنَامُ</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أَنَامُ</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Her day and comparing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pronouns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t>
            </a:r>
            <a:endParaRPr lang="en-US" sz="1350" dirty="0"/>
          </a:p>
          <a:p>
            <a:pPr indent="0" marL="0">
              <a:buNone/>
            </a:pPr>
            <a:r>
              <a:rPr lang="en-US" sz="1100" i="1" dirty="0">
                <a:solidFill>
                  <a:srgbClr val="5A6472"/>
                </a:solidFill>
                <a:latin typeface="Calibri" pitchFamily="34" charset="0"/>
                <a:cs typeface="Amiri" pitchFamily="2" charset="-78"/>
              </a:rPr>
              <a:t>hu-wa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both</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هُمَا</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هِيَ</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a:t>
            </a:r>
            <a:endParaRPr lang="en-US" sz="1350" dirty="0"/>
          </a:p>
          <a:p>
            <a:pPr indent="0" marL="0">
              <a:buNone/>
            </a:pPr>
            <a:r>
              <a:rPr lang="en-US" sz="1100" i="1" dirty="0">
                <a:solidFill>
                  <a:srgbClr val="5A6472"/>
                </a:solidFill>
                <a:latin typeface="Calibri" pitchFamily="34" charset="0"/>
                <a:cs typeface="Amiri" pitchFamily="2" charset="-78"/>
              </a:rPr>
              <a:t>hi-ya</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رُوتِينُهُ</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routine</a:t>
            </a:r>
            <a:endParaRPr lang="en-US" sz="1350" dirty="0"/>
          </a:p>
          <a:p>
            <a:pPr indent="0" marL="0">
              <a:buNone/>
            </a:pPr>
            <a:r>
              <a:rPr lang="en-US" sz="1100" i="1" dirty="0">
                <a:solidFill>
                  <a:srgbClr val="5A6472"/>
                </a:solidFill>
                <a:latin typeface="Calibri" pitchFamily="34" charset="0"/>
                <a:cs typeface="Amiri" pitchFamily="2" charset="-78"/>
              </a:rPr>
              <a:t>rū-tī-nu-hu</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رُوتِينِي</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رُوتِينُهُ</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رُوتِينُهَا</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رُوتِينُهَا</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 routine</a:t>
            </a:r>
            <a:endParaRPr lang="en-US" sz="1350" dirty="0"/>
          </a:p>
          <a:p>
            <a:pPr indent="0" marL="0">
              <a:buNone/>
            </a:pPr>
            <a:r>
              <a:rPr lang="en-US" sz="1100" i="1" dirty="0">
                <a:solidFill>
                  <a:srgbClr val="5A6472"/>
                </a:solidFill>
                <a:latin typeface="Calibri" pitchFamily="34" charset="0"/>
                <a:cs typeface="Amiri" pitchFamily="2" charset="-78"/>
              </a:rPr>
              <a:t>rū-tī-nu-hā</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77" name="Text 7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يَغْتَسِلُ</a:t>
            </a:r>
            <a:endParaRPr lang="ar-SA" sz="3000" dirty="0"/>
          </a:p>
        </p:txBody>
      </p:sp>
      <p:sp>
        <p:nvSpPr>
          <p:cNvPr id="78" name="Text 7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showers</a:t>
            </a:r>
            <a:endParaRPr lang="en-US" sz="1350" dirty="0"/>
          </a:p>
          <a:p>
            <a:pPr indent="0" marL="0">
              <a:buNone/>
            </a:pPr>
            <a:r>
              <a:rPr lang="en-US" sz="1100" i="1" dirty="0">
                <a:solidFill>
                  <a:srgbClr val="5A6472"/>
                </a:solidFill>
                <a:latin typeface="Calibri" pitchFamily="34" charset="0"/>
                <a:cs typeface="Amiri" pitchFamily="2" charset="-78"/>
              </a:rPr>
              <a:t>yagh-ta-si-lu</a:t>
            </a:r>
            <a:endParaRPr lang="en-US" sz="1350" dirty="0"/>
          </a:p>
        </p:txBody>
      </p:sp>
      <p:sp>
        <p:nvSpPr>
          <p:cNvPr id="79" name="Shape 76"/>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81" name="Text 78"/>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يَغْتَسِلُونَ</a:t>
            </a:r>
            <a:endParaRPr lang="ar-SA" sz="1350" dirty="0"/>
          </a:p>
        </p:txBody>
      </p:sp>
      <p:sp>
        <p:nvSpPr>
          <p:cNvPr id="82" name="Shape 79"/>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4" name="Text 81"/>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تَغْتَسِلُ</a:t>
            </a:r>
            <a:endParaRPr lang="ar-SA" sz="1500" dirty="0"/>
          </a:p>
        </p:txBody>
      </p:sp>
      <p:sp>
        <p:nvSpPr>
          <p:cNvPr id="85" name="Shape 82"/>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7" name="Text 84"/>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أَغْتَسِلُ</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 me about your brother’s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يَوْمُ أَخِيكَ؟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your brother wake up?</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يَسْتَيْقِظُ أَخُوكَ؟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wakes up at six, because his work is far from the house.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يَسْتَيْقِظُ فِي السَّادِسَةِ، لِأَنَّ عَمَلَهُ بَعِيدٌ عَنِ البَيْتِ.</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sister?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wakes up at half past seven and walks to her university.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تَسْتَيْقِظُ فِي السَّابِعَةِ وَالنِّصْفِ، وَتَمْشِي إِلَى جَامِعَتِهَا.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gets home first?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يَرْجِعُ إِلَى البَيْتِ أَوَّلًا؟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gets home at three, whereas my brother gets home at seven in the evening.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أُخْتِي تَرْجِعُ فِي الثَّالِثَةِ، بَيْنَمَا يَرْجِعُ أَخِي فِي السَّابِعَةِ مَسَاءً.</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two REAL people in your family — check every verb: he or she?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عَمَلَهُ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يَسْتَيْقِظُ أَبِي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your father wake up?</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يَسْتَيْقِظُ أَبُوكَ؟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تَعْمَلُ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تُحَضِّرُ … / تَذْهَبُ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mother do in the morning?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أُمُّكَ فِي الصَّبَاحِ؟</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أَخِيهِ</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يَذْهَبُ مَشْيًا / بِالسَّيَّارَةِ</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friend go to school?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يَذْهَبُ صَدِيقُكَ إِلَى المَدْرَسَةِ؟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تَنَامُ فِي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المَسَاءِ تُرَاجِعُ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sister’s evening routine?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رُوتِينُ أُخْتِكَ فِي المَسَاءِ؟</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أَمَّا فِي المَسَاءِ فَ…</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أَسْتَيْقِظُ …، بَيْنَمَا هُوَ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your routine with your friend’s.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رُوتِينَكَ بِرُوتِينِ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the school magazine: “A day with our caretaker”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مَعَ حَارِسِ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يَبْدَأُ يَوْمُهُ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start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يَبْدَأُ يَوْمُهُ؟</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يَفْتَحُ … ثُمَّ يُنَظِّفُ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of his actions.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يَفْعَلُ أَوَّلًا؟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routine — change the verbs.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وَزَوْجَتُهُ تَعْمَلُ فِي المَدْرَسَةِ أَيْضًا؟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أَصْعَبُ شَيْءٍ فِي يَوْمِهِ؟</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journalist · Leader = the editor of the magazine.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two people, two days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وَيَوْمَانِ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male and one female person you know. Describe and compare their routines for one minute with times.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about him (ya- verbs: </a:t>
            </a:r>
            <a:pPr algn="l" indent="0" marL="0">
              <a:buNone/>
            </a:pPr>
            <a:r>
              <a:rPr lang="ar-SA" altLang="en-US" sz="1500" dirty="0">
                <a:solidFill>
                  <a:srgbClr val="1F2A37"/>
                </a:solidFill>
                <a:latin typeface="Amiri" pitchFamily="2" charset="-78"/>
                <a:ea typeface="Amiri" pitchFamily="2" charset="-78"/>
                <a:cs typeface="Amiri" pitchFamily="2" charset="-78"/>
              </a:rPr>
              <a:t>يَعْمَلُ</a:t>
            </a:r>
            <a:pPr algn="l" indent="0" marL="0">
              <a:buNone/>
            </a:pPr>
            <a:r>
              <a:rPr lang="en-US" sz="1150" dirty="0">
                <a:solidFill>
                  <a:srgbClr val="1F2A37"/>
                </a:solidFill>
                <a:latin typeface="Calibri" pitchFamily="34" charset="0"/>
                <a:cs typeface="Amiri" pitchFamily="2" charset="-78"/>
              </a:rPr>
              <a:t>) and three about her (ta- verbs: </a:t>
            </a:r>
            <a:pPr algn="l" indent="0" marL="0">
              <a:buNone/>
            </a:pPr>
            <a:r>
              <a:rPr lang="ar-SA" altLang="en-US" sz="1500" dirty="0">
                <a:solidFill>
                  <a:srgbClr val="1F2A37"/>
                </a:solidFill>
                <a:latin typeface="Amiri" pitchFamily="2" charset="-78"/>
                <a:ea typeface="Amiri" pitchFamily="2" charset="-78"/>
                <a:cs typeface="Amiri" pitchFamily="2" charset="-78"/>
              </a:rPr>
              <a:t>تَعْمَلُ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-hu / -hā on nouns (</a:t>
            </a:r>
            <a:pPr algn="l" indent="0" marL="0">
              <a:buNone/>
            </a:pPr>
            <a:r>
              <a:rPr lang="ar-SA" altLang="en-US" sz="1500" dirty="0">
                <a:solidFill>
                  <a:srgbClr val="1F2A37"/>
                </a:solidFill>
                <a:latin typeface="Amiri" pitchFamily="2" charset="-78"/>
                <a:ea typeface="Amiri" pitchFamily="2" charset="-78"/>
                <a:cs typeface="Amiri" pitchFamily="2" charset="-78"/>
              </a:rPr>
              <a:t>عَمَلُهُ</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مَدْرَسَتُهَا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أَمَّا … فَ</a:t>
            </a:r>
            <a:pPr algn="l" indent="0" marL="0">
              <a:buNone/>
            </a:pPr>
            <a:r>
              <a:rPr lang="en-US" sz="1150" dirty="0">
                <a:solidFill>
                  <a:srgbClr val="1F2A37"/>
                </a:solidFill>
                <a:latin typeface="Calibri" pitchFamily="34" charset="0"/>
                <a:cs typeface="Amiri" pitchFamily="2" charset="-78"/>
              </a:rPr>
              <a:t>… (contrast), </a:t>
            </a:r>
            <a:pPr algn="l" indent="0" marL="0">
              <a:buNone/>
            </a:pPr>
            <a:r>
              <a:rPr lang="ar-SA" altLang="en-US" sz="1500" dirty="0">
                <a:solidFill>
                  <a:srgbClr val="1F2A37"/>
                </a:solidFill>
                <a:latin typeface="Amiri" pitchFamily="2" charset="-78"/>
                <a:ea typeface="Amiri" pitchFamily="2" charset="-78"/>
                <a:cs typeface="Amiri" pitchFamily="2" charset="-78"/>
              </a:rPr>
              <a:t>أَكْثَرُ مِنْ</a:t>
            </a:r>
            <a:pPr algn="l" indent="0" marL="0">
              <a:buNone/>
            </a:pPr>
            <a:r>
              <a:rPr lang="en-US" sz="1150" dirty="0">
                <a:solidFill>
                  <a:srgbClr val="1F2A37"/>
                </a:solidFill>
                <a:latin typeface="Calibri" pitchFamily="34" charset="0"/>
                <a:cs typeface="Amiri" pitchFamily="2" charset="-78"/>
              </a:rPr>
              <a:t> … and your opinion of whose day is harder.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revises her lessons every evening.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تُرَاجِعُ</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يُرَاجِعُ</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دُرُوسَهَا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دُرُوسَهُ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father leaves his house at seven.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يَخْرُجُ أَبِي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تَخْرُجُ أَبِي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بَيْتِهِ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بَيْتِهَا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السَّابِعَةِ.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سَبْعَةٍ.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sleeps early, whereas she stays up.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يَنَامُ مُبَكِّرًا،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تَنَامُ مُبَكِّرًا،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تَسْهَرُ هِيَ.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يَسْهَرُ هِيَ.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revises her lessons every evening.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ta- verb + -hā on the noun.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تُرَاجِعُ دُرُوسَهَا كُلَّ مَسَاءٍ.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father leaves his house at seven.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Father → ya- + -hi; clock time = ordinal.</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يَخْرُجُ أَبِي مِنْ بَيْتِهِ فِي السَّابِعَةِ.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sleeps early, whereas she stays up.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i="1" dirty="0">
                <a:solidFill>
                  <a:srgbClr val="5A6472"/>
                </a:solidFill>
                <a:latin typeface="Calibri" pitchFamily="34" charset="0"/>
                <a:cs typeface="Amiri" pitchFamily="2" charset="-78"/>
              </a:rPr>
              <a:t>; she → </a:t>
            </a:r>
            <a:pPr algn="l" indent="0" marL="0">
              <a:buNone/>
            </a:pPr>
            <a:r>
              <a:rPr lang="ar-SA" altLang="en-US" sz="1350" dirty="0">
                <a:solidFill>
                  <a:srgbClr val="5A6472"/>
                </a:solidFill>
                <a:latin typeface="Amiri" pitchFamily="2" charset="-78"/>
                <a:ea typeface="Amiri" pitchFamily="2" charset="-78"/>
                <a:cs typeface="Amiri" pitchFamily="2" charset="-78"/>
              </a:rPr>
              <a:t>تَسْهَرُ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يَنَامُ مُبَكِّرًا، بَيْنَمَا تَسْهَرُ هِيَ.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يَعْمَلُ فِي المُسْتَشْفَى.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subject?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يُرَاجِعُ دُرُوسَهَا.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lessons?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تَذْهَبُ إِلَى مَدْرَسَتِي كُلَّ يَوْمٍ.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It is HER school.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يَعْمَلُ فِي المُسْتَشْفَى.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تَعْمَلُ فِي المُسْتَشْفَى.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يُرَاجِعُ دُرُوسَهَا.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يُرَاجِعُ دُرُوسَهُ.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His → -hu.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تَذْهَبُ إِلَى مَدْرَسَتِي كُلَّ يَوْمٍ.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تَذْهَبُ إِلَى مَدْرَسَتِهَا كُلَّ 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 -hā; keep the person the same.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يَرْجِعُ ______ فِي ______ ، بَيْنَمَا تَرْجِعُ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gets home at …, whereas she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يَوْمُ ______ أَصْعَبُ،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…’s day is harder,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أَصِفَ رُوتِينَ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describe the routine of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يَسْتَيْقِظُ ______ فِي ______ ، ثُمَّ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wakes up at …, then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تَسْتَيْقِظُ ______ فِي ______ ،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wakes up at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المَسَاءِ يُرَاجِعُ دُرُوسَهُ / تُرَاجِعُ دُرُوسَهَا ______ .</a:t>
            </a:r>
            <a:endParaRPr lang="ar-SA" sz="14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he / she revises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يَسْتَيْقِظُ · تَسْتَيْقِظُ  ·  يَخْرُجُ · تَخْرُجُ  ·  يَعْمَلُ · تَعْمَلُ  ·  يَرْجِعُ · تَرْجِعُ  ·  عَمَلُهُ · عَمَلُهَا  ·  بَيْنَمَا  ·  أَمَّا … فَ…  ·  أَكْثَرُ مِنْ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 profile: two people, two routines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رُوتِينُ شَخْصَيْنِ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profile (about 60–80 words) comparing the daily routine of two people you know — one male, one female. Include: • at least three verbs for him and three for her, with times • -hu / -hā on at least four nouns • a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and one with </a:t>
            </a:r>
            <a:pPr algn="l" indent="0" marL="0">
              <a:buNone/>
            </a:pPr>
            <a:r>
              <a:rPr lang="ar-SA" altLang="en-US" sz="1450" b="1" dirty="0">
                <a:solidFill>
                  <a:srgbClr val="1F2A37"/>
                </a:solidFill>
                <a:latin typeface="Amiri" pitchFamily="2" charset="-78"/>
                <a:ea typeface="Amiri" pitchFamily="2" charset="-78"/>
                <a:cs typeface="Amiri" pitchFamily="2" charset="-78"/>
              </a:rPr>
              <a:t>أَمَّا … فَ</a:t>
            </a:r>
            <a:pPr algn="l" indent="0" marL="0">
              <a:buNone/>
            </a:pPr>
            <a:r>
              <a:rPr lang="en-US" sz="1100" b="1" dirty="0">
                <a:solidFill>
                  <a:srgbClr val="1F2A37"/>
                </a:solidFill>
                <a:latin typeface="Calibri" pitchFamily="34" charset="0"/>
                <a:cs typeface="Amiri" pitchFamily="2" charset="-78"/>
              </a:rPr>
              <a:t>… (contrast) • your opinion: whose day is busier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يَسْتَيْقِظُ … · تَسْتَيْقِظُ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wakes up … · she wakes up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عَمَلُهُ · مَدْرَسَتُهَا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work · her school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هِيَ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she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يَوْمُهُ أَصْعَبُ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his day is harder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ya- for him and ta- for her every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-hu / -hā on nouns and 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يَبْدَأُ يَوْمُهُ فِي الخَامِسَةِ وَالنِّصْفِ صَبَاحًا.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day starts at half past five in the morning.</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يَبْدَأُ يَوْمُهُ؟</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 الأَبْوَابَ، ثُمَّ يُنَظِّفُ السَّاحَةَ قَبْلَ وُصُولِ الطُّلَّابِ.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opens the doors, then cleans the yard before the students arrive.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يَفْعَلُ أَوَّلًا؟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هِيَ تَعْمَلُ فِي المَقْصَفِ، وَتَبْدَأُ عَمَلَهَا فِي التَّاسِعَةِ.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she works in the canteen and starts her work at nine.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وَزَوْجَتُهُ تَعْمَلُ فِي المَدْرَسَةِ أَيْضًا؟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أَصْعَبُ شَيْءٍ أَنَّهُ يَعْمَلُ عَشْرَ سَاعَاتٍ، وَلَا يَرْجِعُ إِلَى بَيْتِهِ قَبْلَ السَّادِسَةِ.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hardest thing is that he works ten hours and doesn’t get home before six.</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أَصْعَبُ شَيْءٍ فِي يَوْمِهِ؟</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أُرِيدُ أَنْ أَصِفَ رُوتِينَ خَالِي وَأُخْتِي. يَسْتَيْقِظُ خَالِي فِي الخَامِسَةِ، ثُمَّ يُصَلِّي وَيَذْهَبُ إِلَى مَخْبَزِهِ. تَسْتَيْقِظُ أُخْتِي فِي السَّابِعَةِ، وَتَتَنَاوَلُ إِفْطَارَهَا بِسُرْعَةٍ. يَعْمَلُ خَالِي حَتَّى الثَّالِثَةِ، بَيْنَمَا تَدْرُسُ أُخْتِي فِي جَامِعَتِهَا حَتَّى الخَامِسَةِ. أَمَّا فِي المَسَاءِ فَيَنَامُ خَالِي مُبَكِّرًا، وَتُرَاجِعُ أُخْتِي دُرُوسَهَا حَتَّى الحَادِيَةَ عَشْرَةَ. فِي رَأْيِي يَوْمُ أُخْتِي أَصْعَبُ، لِأَنَّهَا تَنَامُ أَقَلَّ مِنْ خَالِي.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want to describe the routine of my uncle and my sister. My uncle wakes up at five, then prays and goes to his bakery. My sister wakes up at seven and has her breakfast quickly. My uncle works until three, whereas my sister studies at her university until five. As for the evening, my uncle sleeps early, and my sister revises her lessons until eleven. In my opinion my sister’s day is harder, because she sleeps less than my uncle.”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إِلَى مَخْبَزِهِ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تَسْتَيْقِظُ أُخْتِي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تَدْرُسُ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المَسَاءِ فَيَنَامُ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D1-L07 · Asking About Daily Routine — What Do You Do?</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السُّؤَالُ عَنِ الرُّوتِينِ اليَوْمِيِّ — مَاذَا تَفْعَلُ؟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D1-L06 · Practice Room — He and She — Describing Someone Else’s Routine</dc:title>
  <dc:subject>PptxGenJS Presentation</dc:subject>
  <dc:creator>Al Madina Online School · Arabic Department</dc:creator>
  <cp:lastModifiedBy>Al Madina Online School · Arabic Department</cp:lastModifiedBy>
  <cp:revision>1</cp:revision>
  <dcterms:created xsi:type="dcterms:W3CDTF">2026-10-25T17:56:22Z</dcterms:created>
  <dcterms:modified xsi:type="dcterms:W3CDTF">2026-10-25T17:56:22Z</dcterms:modified>
</cp:coreProperties>
</file>