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D1-L07 (Asking About Daily Routine — What Do You Do?) — new practice tasks built on the lesson’s own word bank and grammar (question words (mādhā · matā · kam marratan · kayfa · limādhā · maʿa man · ayna); addressing a boy (tafʿalu), a girl (tafʿalīna) or a group (tafʿalūna); hal for yes / no; follow-up questions to keep an interview going).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if the swimmer is a boy, the reporter says: تَسْتَيْقِظُ · تَتَدَرَّبُ · تُرَاجِعُ · دُرُوسَكَ. The reporter must change every verb and suffix to match the speaker: -īna / -ki for a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Asking About Daily Routine — What Do You Do?</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مَاذَا تَفْعَلُ؟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asking about routines: say the question words, act a short interview, ask and answer question cards, do a role-play card interviewing a young athlete, give a one-minute interview round, then build, fix and write interview questions with a summary of the answers.</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D1-L07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a:t>
            </a:r>
            <a:endParaRPr lang="en-US" sz="1350" dirty="0"/>
          </a:p>
          <a:p>
            <a:pPr indent="0" marL="0">
              <a:buNone/>
            </a:pPr>
            <a:r>
              <a:rPr lang="en-US" sz="1100" i="1" dirty="0">
                <a:solidFill>
                  <a:srgbClr val="5A6472"/>
                </a:solidFill>
                <a:latin typeface="Calibri" pitchFamily="34" charset="0"/>
                <a:cs typeface="Amiri" pitchFamily="2" charset="-78"/>
              </a:rPr>
              <a:t>mā-dhā?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ma-tā?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مَرَّةً؟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times / how often?</a:t>
            </a:r>
            <a:endParaRPr lang="en-US" sz="1350" dirty="0"/>
          </a:p>
          <a:p>
            <a:pPr indent="0" marL="0">
              <a:buNone/>
            </a:pPr>
            <a:r>
              <a:rPr lang="en-US" sz="1100" i="1" dirty="0">
                <a:solidFill>
                  <a:srgbClr val="5A6472"/>
                </a:solidFill>
                <a:latin typeface="Calibri" pitchFamily="34" charset="0"/>
                <a:cs typeface="Amiri" pitchFamily="2" charset="-78"/>
              </a:rPr>
              <a:t>kam mar-ra-tan?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a:t>
            </a:r>
            <a:endParaRPr lang="en-US" sz="1350" dirty="0"/>
          </a:p>
          <a:p>
            <a:pPr indent="0" marL="0">
              <a:buNone/>
            </a:pPr>
            <a:r>
              <a:rPr lang="en-US" sz="1100" i="1" dirty="0">
                <a:solidFill>
                  <a:srgbClr val="5A6472"/>
                </a:solidFill>
                <a:latin typeface="Calibri" pitchFamily="34" charset="0"/>
                <a:cs typeface="Amiri" pitchFamily="2" charset="-78"/>
              </a:rPr>
              <a:t>kay-fa?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a:t>
            </a:r>
            <a:endParaRPr lang="en-US" sz="1350" dirty="0"/>
          </a:p>
          <a:p>
            <a:pPr indent="0" marL="0">
              <a:buNone/>
            </a:pPr>
            <a:r>
              <a:rPr lang="en-US" sz="1100" i="1" dirty="0">
                <a:solidFill>
                  <a:srgbClr val="5A6472"/>
                </a:solidFill>
                <a:latin typeface="Calibri" pitchFamily="34" charset="0"/>
                <a:cs typeface="Amiri" pitchFamily="2" charset="-78"/>
              </a:rPr>
              <a:t>li-mā-dhā?</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مَنْ؟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whom?</a:t>
            </a:r>
            <a:endParaRPr lang="en-US" sz="1350" dirty="0"/>
          </a:p>
          <a:p>
            <a:pPr indent="0" marL="0">
              <a:buNone/>
            </a:pPr>
            <a:r>
              <a:rPr lang="en-US" sz="1100" i="1" dirty="0">
                <a:solidFill>
                  <a:srgbClr val="5A6472"/>
                </a:solidFill>
                <a:latin typeface="Calibri" pitchFamily="34" charset="0"/>
                <a:cs typeface="Amiri" pitchFamily="2" charset="-78"/>
              </a:rPr>
              <a:t>ma-ʿa man?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Routine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39354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مَاذَا تَفْعَلُ؟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do you do?</a:t>
            </a:r>
            <a:endParaRPr lang="en-US" sz="1350" dirty="0"/>
          </a:p>
          <a:p>
            <a:pPr indent="0" marL="0">
              <a:buNone/>
            </a:pPr>
            <a:r>
              <a:rPr lang="en-US" sz="1100" i="1" dirty="0">
                <a:solidFill>
                  <a:srgbClr val="5A6472"/>
                </a:solidFill>
                <a:latin typeface="Calibri" pitchFamily="34" charset="0"/>
                <a:cs typeface="Amiri" pitchFamily="2" charset="-78"/>
              </a:rPr>
              <a:t>mā-dhā taf-ʿa-lu?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تَفْعَلُونَ</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تَفْعَلِينَ؟</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تَفْعَلُ؟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393546"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 تَسْتَيْقِظُ؟</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do you wake up?</a:t>
            </a:r>
            <a:endParaRPr lang="en-US" sz="1350" dirty="0"/>
          </a:p>
          <a:p>
            <a:pPr indent="0" marL="0">
              <a:buNone/>
            </a:pPr>
            <a:r>
              <a:rPr lang="en-US" sz="1100" i="1" dirty="0">
                <a:solidFill>
                  <a:srgbClr val="5A6472"/>
                </a:solidFill>
                <a:latin typeface="Calibri" pitchFamily="34" charset="0"/>
                <a:cs typeface="Amiri" pitchFamily="2" charset="-78"/>
              </a:rPr>
              <a:t>ma-tā tas-tay-qi-ẓu?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تَسْتَيْقِظُونَ</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تَسْتَيْقِظِينَ؟</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تَسْتَيْقِظُ؟</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boy · girl · group</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 تَذْهَبُ؟</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do you go?</a:t>
            </a:r>
            <a:endParaRPr lang="en-US" sz="1350" dirty="0"/>
          </a:p>
          <a:p>
            <a:pPr indent="0" marL="0">
              <a:buNone/>
            </a:pPr>
            <a:r>
              <a:rPr lang="en-US" sz="1100" i="1" dirty="0">
                <a:solidFill>
                  <a:srgbClr val="5A6472"/>
                </a:solidFill>
                <a:latin typeface="Calibri" pitchFamily="34" charset="0"/>
                <a:cs typeface="Amiri" pitchFamily="2" charset="-78"/>
              </a:rPr>
              <a:t>kay-fa tadh-ha-bu?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تَذْهَبُونَ</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65" name="Text 62"/>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تَذْهَبِينَ؟</a:t>
            </a:r>
            <a:endParaRPr lang="ar-SA" sz="135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تَذْهَبُ؟</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Text 6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السَّاعَةُ؟</a:t>
            </a:r>
            <a:endParaRPr lang="ar-SA" sz="3000" dirty="0"/>
          </a:p>
        </p:txBody>
      </p:sp>
      <p:sp>
        <p:nvSpPr>
          <p:cNvPr id="73" name="Text 7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time?</a:t>
            </a:r>
            <a:endParaRPr lang="en-US" sz="1350" dirty="0"/>
          </a:p>
          <a:p>
            <a:pPr indent="0" marL="0">
              <a:buNone/>
            </a:pPr>
            <a:r>
              <a:rPr lang="en-US" sz="1100" i="1" dirty="0">
                <a:solidFill>
                  <a:srgbClr val="5A6472"/>
                </a:solidFill>
                <a:latin typeface="Calibri" pitchFamily="34" charset="0"/>
                <a:cs typeface="Amiri" pitchFamily="2" charset="-78"/>
              </a:rPr>
              <a:t>ka-mi as-sā-ʿa-tu?</a:t>
            </a:r>
            <a:endParaRPr lang="en-US" sz="1350" dirty="0"/>
          </a:p>
        </p:txBody>
      </p:sp>
      <p:sp>
        <p:nvSpPr>
          <p:cNvPr id="74" name="Shape 7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4389120"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7" name="Text 7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78" name="Text 7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مِنَ الوَقْتِ؟</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time?</a:t>
            </a:r>
            <a:endParaRPr lang="en-US" sz="1350" dirty="0"/>
          </a:p>
          <a:p>
            <a:pPr indent="0" marL="0">
              <a:buNone/>
            </a:pPr>
            <a:r>
              <a:rPr lang="en-US" sz="1100" i="1" dirty="0">
                <a:solidFill>
                  <a:srgbClr val="5A6472"/>
                </a:solidFill>
                <a:latin typeface="Calibri" pitchFamily="34" charset="0"/>
                <a:cs typeface="Amiri" pitchFamily="2" charset="-78"/>
              </a:rPr>
              <a:t>kam mi-na al-waq-ti?</a:t>
            </a:r>
            <a:endParaRPr lang="en-US" sz="13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interview with a new student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مَعَ طَالِبَةٍ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Welcome, Layla! When do you wake up on school days?</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أَهْلًا يَا لَيْلَى! مَتَى تَسْتَيْقِظِينَ فِي أَيَّامِ الدِّرَاسَةِ؟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half past six.</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أَسْتَيْقِظُ فِي السَّادِسَةِ وَالنِّصْفِ.</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do you go to school? With whom?</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وَكَيْفَ تَذْهَبِينَ إِلَى المَدْرَسَةِ؟ وَمَعَ مَنْ؟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by bus with my little brother.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أَذْهَبُ بِالحَافِلَةِ مَعَ أَخِي الصَّغِيرِ.</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don’t you walk?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 لَا تَمْشِينَ؟</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the school is far; it is four kilometres away.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 المَدْرَسَةَ بَعِيدَةٌ؛ تَبْعُدُ أَرْبَعَةَ كِيلُومِتْرَاتٍ.</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Round 2: swap letters — if your partner is a boy, change the verbs (</a:t>
            </a:r>
            <a:pPr algn="l" indent="0" marL="0">
              <a:buNone/>
            </a:pPr>
            <a:r>
              <a:rPr lang="ar-SA" altLang="en-US" sz="1450" b="1" dirty="0">
                <a:solidFill>
                  <a:srgbClr val="1B3B6F"/>
                </a:solidFill>
                <a:latin typeface="Amiri" pitchFamily="2" charset="-78"/>
                <a:ea typeface="Amiri" pitchFamily="2" charset="-78"/>
                <a:cs typeface="Amiri" pitchFamily="2" charset="-78"/>
              </a:rPr>
              <a:t>تَسْتَيْقِظُ</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تَذْهَبُ</a:t>
            </a:r>
            <a:pPr algn="l" indent="0" marL="0">
              <a:buNone/>
            </a:pPr>
            <a:r>
              <a:rPr lang="en-US" sz="1100" b="1" dirty="0">
                <a:solidFill>
                  <a:srgbClr val="1B3B6F"/>
                </a:solidFill>
                <a:latin typeface="Calibri" pitchFamily="34" charset="0"/>
                <a:cs typeface="Amiri" pitchFamily="2" charset="-78"/>
              </a:rPr>
              <a:t>). Round 3: add two follow-up questions of your own.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 — then ask again (follow-up)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Follow-up: </a:t>
            </a:r>
            <a:pPr algn="l" indent="0" marL="0">
              <a:buNone/>
            </a:pPr>
            <a:r>
              <a:rPr lang="ar-SA" altLang="en-US" sz="1450" dirty="0">
                <a:solidFill>
                  <a:srgbClr val="5A6472"/>
                </a:solidFill>
                <a:latin typeface="Amiri" pitchFamily="2" charset="-78"/>
                <a:ea typeface="Amiri" pitchFamily="2" charset="-78"/>
                <a:cs typeface="Amiri" pitchFamily="2" charset="-78"/>
              </a:rPr>
              <a:t>مَعَ مَنْ؟</a:t>
            </a:r>
            <a:endParaRPr lang="en-US" sz="11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أَلْعَبُ / أُرَاجِعُ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after school? (boy)</a:t>
            </a:r>
            <a:endParaRPr lang="en-US" sz="1100" dirty="0"/>
          </a:p>
        </p:txBody>
      </p:sp>
      <p:sp>
        <p:nvSpPr>
          <p:cNvPr id="25" name="Text 22"/>
          <p:cNvSpPr txBox="1"/>
          <p:nvPr/>
        </p:nvSpPr>
        <p:spPr>
          <a:xfrm>
            <a:off x="1069848" y="2267712"/>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تَفْعَلُ بَعْدَ المَدْرَسَةِ؟</a:t>
            </a:r>
            <a:pPr algn="l" indent="0" marL="0">
              <a:buNone/>
            </a:pPr>
            <a:r>
              <a:rPr lang="en-US" sz="1100" dirty="0">
                <a:solidFill>
                  <a:srgbClr val="5A6472"/>
                </a:solidFill>
                <a:latin typeface="Calibri" pitchFamily="34" charset="0"/>
                <a:cs typeface="Amiri" pitchFamily="2" charset="-78"/>
              </a:rPr>
              <a:t> (to a boy)</a:t>
            </a:r>
            <a:endParaRPr lang="en-US" sz="11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Follow-up: </a:t>
            </a:r>
            <a:pPr algn="l" indent="0" marL="0">
              <a:buNone/>
            </a:pPr>
            <a:r>
              <a:rPr lang="ar-SA" altLang="en-US" sz="1450" dirty="0">
                <a:solidFill>
                  <a:srgbClr val="5A6472"/>
                </a:solidFill>
                <a:latin typeface="Amiri" pitchFamily="2" charset="-78"/>
                <a:ea typeface="Amiri" pitchFamily="2" charset="-78"/>
                <a:cs typeface="Amiri" pitchFamily="2" charset="-78"/>
              </a:rPr>
              <a:t>لِمَاذَا؟</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أَقْرَأُ / أُسَاعِدُ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after school? (girl)</a:t>
            </a:r>
            <a:endParaRPr lang="en-US" sz="1100" dirty="0"/>
          </a:p>
        </p:txBody>
      </p:sp>
      <p:sp>
        <p:nvSpPr>
          <p:cNvPr id="33" name="Text 30"/>
          <p:cNvSpPr txBox="1"/>
          <p:nvPr/>
        </p:nvSpPr>
        <p:spPr>
          <a:xfrm>
            <a:off x="1069848" y="3004718"/>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تَفْعَلِينَ بَعْدَ المَدْرَسَةِ؟</a:t>
            </a:r>
            <a:pPr algn="l" indent="0" marL="0">
              <a:buNone/>
            </a:pPr>
            <a:r>
              <a:rPr lang="en-US" sz="1100" dirty="0">
                <a:solidFill>
                  <a:srgbClr val="5A6472"/>
                </a:solidFill>
                <a:latin typeface="Calibri" pitchFamily="34" charset="0"/>
                <a:cs typeface="Amiri" pitchFamily="2" charset="-78"/>
              </a:rPr>
              <a:t> (to a girl)</a:t>
            </a:r>
            <a:endParaRPr lang="en-US" sz="11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Follow-up: </a:t>
            </a:r>
            <a:pPr algn="l" indent="0" marL="0">
              <a:buNone/>
            </a:pPr>
            <a:r>
              <a:rPr lang="ar-SA" altLang="en-US" sz="1450" dirty="0">
                <a:solidFill>
                  <a:srgbClr val="5A6472"/>
                </a:solidFill>
                <a:latin typeface="Amiri" pitchFamily="2" charset="-78"/>
                <a:ea typeface="Amiri" pitchFamily="2" charset="-78"/>
                <a:cs typeface="Amiri" pitchFamily="2" charset="-78"/>
              </a:rPr>
              <a:t>أَيْنَ؟</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نَلْعَبُ / نَأْكُلُ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(all) do at break?</a:t>
            </a:r>
            <a:endParaRPr lang="en-US" sz="1100" dirty="0"/>
          </a:p>
        </p:txBody>
      </p:sp>
      <p:sp>
        <p:nvSpPr>
          <p:cNvPr id="41" name="Text 38"/>
          <p:cNvSpPr txBox="1"/>
          <p:nvPr/>
        </p:nvSpPr>
        <p:spPr>
          <a:xfrm>
            <a:off x="1069848" y="3741725"/>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تَفْعَلُونَ فِي الاسْتِرَاحَةِ؟</a:t>
            </a:r>
            <a:pPr algn="l" indent="0" marL="0">
              <a:buNone/>
            </a:pPr>
            <a:r>
              <a:rPr lang="en-US" sz="1100" dirty="0">
                <a:solidFill>
                  <a:srgbClr val="5A6472"/>
                </a:solidFill>
                <a:latin typeface="Calibri" pitchFamily="34" charset="0"/>
                <a:cs typeface="Amiri" pitchFamily="2" charset="-78"/>
              </a:rPr>
              <a:t> (to a group)</a:t>
            </a:r>
            <a:endParaRPr lang="en-US" sz="11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Follow-up: </a:t>
            </a:r>
            <a:pPr algn="l" indent="0" marL="0">
              <a:buNone/>
            </a:pPr>
            <a:r>
              <a:rPr lang="ar-SA" altLang="en-US" sz="1450" dirty="0">
                <a:solidFill>
                  <a:srgbClr val="5A6472"/>
                </a:solidFill>
                <a:latin typeface="Amiri" pitchFamily="2" charset="-78"/>
                <a:ea typeface="Amiri" pitchFamily="2" charset="-78"/>
                <a:cs typeface="Amiri" pitchFamily="2" charset="-78"/>
              </a:rPr>
              <a:t>مَاذَا تَفْعَلَانِ مَعًا؟</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أَزُورُهُ … ← مَرَّةً فِي الأُسْبُوعِ</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do you visit your grandfather?</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تَزُورُ جَدَّكَ؟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Follow-up: </a:t>
            </a:r>
            <a:pPr algn="l" indent="0" marL="0">
              <a:buNone/>
            </a:pPr>
            <a:r>
              <a:rPr lang="ar-SA" altLang="en-US" sz="1450" dirty="0">
                <a:solidFill>
                  <a:srgbClr val="5A6472"/>
                </a:solidFill>
                <a:latin typeface="Amiri" pitchFamily="2" charset="-78"/>
                <a:ea typeface="Amiri" pitchFamily="2" charset="-78"/>
                <a:cs typeface="Amiri" pitchFamily="2" charset="-78"/>
              </a:rPr>
              <a:t>مَتَى بِالضَّبْطِ؟</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 لَا،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wake up early at the weekend?</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تَسْتَيْقِظُ مُبَكِّرًا فِي نِهَايَةِ الأُسْبُوعِ؟</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interviewing a young swimmer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مَعَ سَبَّاحَةٍ شَابَّةٍ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أَسْتَيْقِظُ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wake-up time.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تَسْتَيْقِظِينَ لِلتَّدْرِيبِ؟</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 … مَرَّاتٍ، لِمُدَّةِ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 how long.</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تَتَدَرَّبِينَ فِي الأُسْبُوعِ؟</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study.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وَمَتَى تُرَاجِعِينَ دُرُوسَكِ؟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reporter a routine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وَأَنْتِ، هَلْ عِنْدَكِ سُؤَالٌ لِي؟</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swimmer (answer as her or him) · Leader = a reporter for the school website.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One minute: the quick-fire interview</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سَرِيعَةٌ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Interview for one minute — no repeats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one minute, ask your partner as many DIFFERENT routine questions as you can — use at least six question words. Your partner answers in full sentences.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questions with six different question words.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correct form for a boy / girl / group and add follow-ups.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report back: “</a:t>
            </a:r>
            <a:pPr algn="l" indent="0" marL="0">
              <a:buNone/>
            </a:pPr>
            <a:r>
              <a:rPr lang="ar-SA" altLang="en-US" sz="1500" dirty="0">
                <a:solidFill>
                  <a:srgbClr val="1F2A37"/>
                </a:solidFill>
                <a:latin typeface="Amiri" pitchFamily="2" charset="-78"/>
                <a:ea typeface="Amiri" pitchFamily="2" charset="-78"/>
                <a:cs typeface="Amiri" pitchFamily="2" charset="-78"/>
              </a:rPr>
              <a:t>هُوَ يَسْتَيْقِظُ … / هِيَ تَذْهَبُ</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When do you (girl) go to bed?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مَتَى</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تَذْهَبِينَ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تَذْهَبُ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الفِرَاشِ؟</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الفِرَاشُ؟</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With whom do you (group) eat lunch?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مَنْ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مَاذَا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تَتَغَدَّوْنَ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تَتَغَدَّى</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المَدْرَسَةِ؟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المَدْرَسَةَ؟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Why do you (boy) wake up early?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لِمَاذَا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تَسْتَيْقِظُ</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يَسْتَيْقِظُ</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مُبَكِّرًا؟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مُبَكِّرٌ؟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When do you (girl) go to bed?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a:t>
            </a:r>
            <a:pPr algn="l" indent="0" marL="0">
              <a:buNone/>
            </a:pPr>
            <a:r>
              <a:rPr lang="ar-SA" altLang="en-US" sz="1350" dirty="0">
                <a:solidFill>
                  <a:srgbClr val="5A6472"/>
                </a:solidFill>
                <a:latin typeface="Amiri" pitchFamily="2" charset="-78"/>
                <a:ea typeface="Amiri" pitchFamily="2" charset="-78"/>
                <a:cs typeface="Amiri" pitchFamily="2" charset="-78"/>
              </a:rPr>
              <a:t>تَذْهَبِينَ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مَتَى تَذْهَبِينَ إِلَى الفِرَاشِ؟</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With whom do you (group) eat lunch?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whom = </a:t>
            </a:r>
            <a:pPr algn="l" indent="0" marL="0">
              <a:buNone/>
            </a:pPr>
            <a:r>
              <a:rPr lang="ar-SA" altLang="en-US" sz="1350" dirty="0">
                <a:solidFill>
                  <a:srgbClr val="5A6472"/>
                </a:solidFill>
                <a:latin typeface="Amiri" pitchFamily="2" charset="-78"/>
                <a:ea typeface="Amiri" pitchFamily="2" charset="-78"/>
                <a:cs typeface="Amiri" pitchFamily="2" charset="-78"/>
              </a:rPr>
              <a:t>مَعَ مَنْ</a:t>
            </a:r>
            <a:pPr algn="l" indent="0" marL="0">
              <a:buNone/>
            </a:pPr>
            <a:r>
              <a:rPr lang="en-US" sz="1050" i="1" dirty="0">
                <a:solidFill>
                  <a:srgbClr val="5A6472"/>
                </a:solidFill>
                <a:latin typeface="Calibri" pitchFamily="34" charset="0"/>
                <a:cs typeface="Amiri" pitchFamily="2" charset="-78"/>
              </a:rPr>
              <a:t>; to a group → -ūna (</a:t>
            </a:r>
            <a:pPr algn="l" indent="0" marL="0">
              <a:buNone/>
            </a:pPr>
            <a:r>
              <a:rPr lang="ar-SA" altLang="en-US" sz="1350" dirty="0">
                <a:solidFill>
                  <a:srgbClr val="5A6472"/>
                </a:solidFill>
                <a:latin typeface="Amiri" pitchFamily="2" charset="-78"/>
                <a:ea typeface="Amiri" pitchFamily="2" charset="-78"/>
                <a:cs typeface="Amiri" pitchFamily="2" charset="-78"/>
              </a:rPr>
              <a:t>تَتَغَدَّوْنَ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مَعَ مَنْ تَتَغَدَّوْنَ فِي المَدْرَسَةِ؟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Why do you (boy) wake up early?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Why = </a:t>
            </a:r>
            <a:pPr algn="l" indent="0" marL="0">
              <a:buNone/>
            </a:pPr>
            <a:r>
              <a:rPr lang="ar-SA" altLang="en-US" sz="1350" dirty="0">
                <a:solidFill>
                  <a:srgbClr val="5A6472"/>
                </a:solidFill>
                <a:latin typeface="Amiri" pitchFamily="2" charset="-78"/>
                <a:ea typeface="Amiri" pitchFamily="2" charset="-78"/>
                <a:cs typeface="Amiri" pitchFamily="2" charset="-78"/>
              </a:rPr>
              <a:t>لِمَاذَا</a:t>
            </a:r>
            <a:pPr algn="l" indent="0" marL="0">
              <a:buNone/>
            </a:pPr>
            <a:r>
              <a:rPr lang="en-US" sz="1050" i="1" dirty="0">
                <a:solidFill>
                  <a:srgbClr val="5A6472"/>
                </a:solidFill>
                <a:latin typeface="Calibri" pitchFamily="34" charset="0"/>
                <a:cs typeface="Amiri" pitchFamily="2" charset="-78"/>
              </a:rPr>
              <a:t>; “you” (boy) → ta-.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لِمَاذَا تَسْتَيْقِظُ مُبَكِّرًا؟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يَا سَارَةُ، مَاذَا تَفْعَلُ بَعْدَ المَدْرَسَةِ؟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Sara is a girl.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تَذْهَبُ؟ — فِي السَّابِعَةِ.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answer match the question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يَا شَبَابُ، مَتَى تَرْجِعُ إِلَى البَيْتِ؟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You are asking a group.</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يَا سَارَةُ، مَاذَا تَفْعَلُ بَعْدَ المَدْرَسَةِ؟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يَا سَارَةُ، مَاذَا تَفْعَلِينَ بَعْدَ المَدْرَسَةِ؟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 -īna.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تَذْهَبُ؟ — فِي السَّابِعَةِ.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مَتَى تَذْهَبُ؟ — فِي السَّابِعَةِ.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time answers </a:t>
            </a:r>
            <a:pPr algn="l" indent="0" marL="0">
              <a:buNone/>
            </a:pPr>
            <a:r>
              <a:rPr lang="ar-SA" altLang="en-US" sz="1500" b="1" dirty="0">
                <a:solidFill>
                  <a:srgbClr val="1B3B6F"/>
                </a:solidFill>
                <a:latin typeface="Amiri" pitchFamily="2" charset="-78"/>
                <a:ea typeface="Amiri" pitchFamily="2" charset="-78"/>
                <a:cs typeface="Amiri" pitchFamily="2" charset="-78"/>
              </a:rPr>
              <a:t>مَتَى</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كَيْفَ</a:t>
            </a:r>
            <a:pPr algn="l" indent="0" marL="0">
              <a:buNone/>
            </a:pPr>
            <a:r>
              <a:rPr lang="en-US" sz="1150" b="1" dirty="0">
                <a:solidFill>
                  <a:srgbClr val="1B3B6F"/>
                </a:solidFill>
                <a:latin typeface="Calibri" pitchFamily="34" charset="0"/>
                <a:cs typeface="Amiri" pitchFamily="2" charset="-78"/>
              </a:rPr>
              <a:t> asks how.</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يَا شَبَابُ، مَتَى تَرْجِعُ إِلَى البَيْتِ؟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يَا شَبَابُ، مَتَى تَرْجِعُونَ إِلَى البَيْتِ؟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Group → -ūna.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س: كَمْ مَرَّةً ______ ؟ — ج: ______ مَرَّاتٍ فِي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 How often …? — A: … times a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بِاخْتِصَارٍ، ______ يَوْمَهُ / يَوْمَهَا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short, … his / her day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 مَتَى ______ ؟ — ج: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 When …? — A: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 كَيْفَ ______ ؟ — ج: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 How …? — A: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 مَعَ مَنْ ______ ؟ — ج: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 With whom …? — A: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 لِمَاذَا ______ ؟ — ج: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 Why …? — A: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مَاذَا · مَتَى  ·  كَيْفَ · أَيْنَ  ·  لِمَاذَا · مَعَ مَنْ  ·  كَمْ مَرَّةً  ·  هَلْ  ·  تَفْعَلُ · تَفْعَلِينَ  ·  تَفْعَلُونَ  ·  بِاخْتِصَارٍ</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An interview for the school website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لِمَوْقِعِ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an interview (about 60–80 words) with a classmate about their routine: six questions with different question words, each with a full answer. Then add one sentence summarising their day in the third person (</a:t>
            </a:r>
            <a:pPr algn="l" indent="0" marL="0">
              <a:buNone/>
            </a:pPr>
            <a:r>
              <a:rPr lang="ar-SA" altLang="en-US" sz="1500" b="1" dirty="0">
                <a:solidFill>
                  <a:srgbClr val="1F2A37"/>
                </a:solidFill>
                <a:latin typeface="Amiri" pitchFamily="2" charset="-78"/>
                <a:ea typeface="Amiri" pitchFamily="2" charset="-78"/>
                <a:cs typeface="Amiri" pitchFamily="2" charset="-78"/>
              </a:rPr>
              <a:t>هُوَ … / هِيَ</a:t>
            </a:r>
            <a:pPr algn="l" indent="0" marL="0">
              <a:buNone/>
            </a:pPr>
            <a:r>
              <a:rPr lang="en-US" sz="1150" b="1" dirty="0">
                <a:solidFill>
                  <a:srgbClr val="1F2A37"/>
                </a:solidFill>
                <a:latin typeface="Calibri" pitchFamily="34" charset="0"/>
                <a:cs typeface="Amiri" pitchFamily="2" charset="-78"/>
              </a:rPr>
              <a:t> …). Use the correct form for a boy or a girl throughout.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تَسْتَيْقِظُ / تَسْتَيْقِظِينَ؟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do you wake up?</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مَنْ …؟ · لِمَاذَا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whom …? · why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مَرَّةً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 often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بِاخْتِصَارٍ، هُوَ / هِيَ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short, he / she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six different question words that match the answers?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change the verb correctly for a boy, a girl or a group?</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الخَامِسَةِ صَبَاحًا، حَتَّى فِي الشِّتَاءِ!</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wake up at five in the morning, even in winter!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تَسْتَيْقِظِينَ لِلتَّدْرِيبِ؟</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أَتَدَرَّبُ سِتَّ مَرَّاتٍ فِي الأُسْبُوعِ، لِمُدَّةِ سَاعَتَيْنِ.</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train six times a week, for two hours.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تَتَدَرَّبِينَ فِي الأُسْبُوعِ؟</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أُرَاجِعُ بَعْدَ العَشَاءِ، لِأَنَّنِي أَكُونُ مُتْعَبَةً بَعْدَ التَّدْرِيبِ.</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revise after dinner, because I am tired after training.</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وَمَتَى تُرَاجِعِينَ دُرُوسَكِ؟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وَأَنْتَ، مَتَى تَكْتُبُ مَقَالَاتِكَ عَادَةً؟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And you, when do you usually write your articles?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وَأَنْتِ، هَلْ عِنْدَكِ سُؤَالٌ لِي؟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 مَتَى تَسْتَيْقِظِينَ يَا مَرْيَمُ؟ — ج: فِي السَّادِسَةِ وَالرُّبْعِ.</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 كَيْفَ تَذْهَبِينَ إِلَى المَدْرَسَةِ؟ — ج: أَمْشِي مَعَ جَارَتِي.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 مَاذَا تَفْعَلِينَ فِي الاسْتِرَاحَةِ؟ — ج: أَقْرَأُ فِي المَكْتَبَةِ.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 لِمَاذَا؟ — ج: لِأَنَّ المَكَانَ هَادِئٌ.</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 كَمْ مَرَّةً تَتَدَرَّبِينَ؟ — ج: ثَلَاثَ مَرَّاتٍ فِي الأُسْبُوعِ.</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 مَتَى تَنَامِينَ؟ — ج: فِي العَاشِرَةِ.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بِاخْتِصَارٍ، تَبْدَأُ مَرْيَمُ يَوْمَهَا مُبَكِّرًا، وَتُحِبُّ الهُدُوءَ وَالرِّيَاضَةَ.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“Q: When do you wake up, Maryam? — A: At quarter past six. Q: How do you go to school? — A: I walk with my neighbour. Q: What do you do at break? — A: I read in the library. Q: Why? — A: Because it is quiet. Q: How often do you train? — A: Three times a week. Q: When do you sleep? — A: At ten. In short, Maryam starts her day early and loves calm and sport.”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تَسْتَيْقِظِينَ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كَيْفَ تَذْهَبِينَ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كَمْ مَرَّةً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تَبْدَأُ مَرْيَمُ يَوْمَهَا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D1-L08 · Weekend Routine — What Do You Do at the Weekend?</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رُوتِينُ عُطْلَةِ نِهَايَةِ الأُسْبُوعِ — مَاذَا تَفْعَلُ؟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D1-L07 · Practice Room — Asking About Daily Routine — What Do You Do?</dc:title>
  <dc:subject>PptxGenJS Presentation</dc:subject>
  <dc:creator>Al Madina Online School · Arabic Department</dc:creator>
  <cp:lastModifiedBy>Al Madina Online School · Arabic Department</cp:lastModifiedBy>
  <cp:revision>1</cp:revision>
  <dcterms:created xsi:type="dcterms:W3CDTF">2026-10-25T17:58:36Z</dcterms:created>
  <dcterms:modified xsi:type="dcterms:W3CDTF">2026-10-25T17:58:36Z</dcterms:modified>
</cp:coreProperties>
</file>