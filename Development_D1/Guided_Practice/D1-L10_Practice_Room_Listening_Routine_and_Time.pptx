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D1-L10 (Listening — Daily Routine and Time Details) — new practice tasks built on the lesson’s own word bank and grammar (listening traps in routine texts: a time corrected after lākin / bal; negation (lā · laysa · lam); the person changing (ya- / ta- / na-); fractions of the hour; predicting the answer type before listening; checking on the second listening).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female caller: تَعْرِفِينَ · تُكَرِّرِي. Repeating to check (idhan … ṣaḥīḥ?) is a listening strategy AND a speaking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 Daily Routine and Time Details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وَأَلْتَقِطُ</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listening-and-speaking practice in pairs: one partner reads a short routine script aloud, the other catches the exact detail and proves it. They act a dialogue full of distractors, answer “catch the detail” cards, do a role-play card taking a phone message, give a one-minute talk with a planted trap, then build, fix and write a voicemail with distractors for a partner to test.</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D1-L10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التَّوَقُّعُ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prediction</a:t>
            </a:r>
            <a:endParaRPr lang="en-US" sz="1350" dirty="0"/>
          </a:p>
          <a:p>
            <a:pPr indent="0" marL="0">
              <a:buNone/>
            </a:pPr>
            <a:r>
              <a:rPr lang="en-US" sz="1100" i="1" dirty="0">
                <a:solidFill>
                  <a:srgbClr val="5A6472"/>
                </a:solidFill>
                <a:latin typeface="Calibri" pitchFamily="34" charset="0"/>
                <a:cs typeface="Amiri" pitchFamily="2" charset="-78"/>
              </a:rPr>
              <a:t>at-ta-waq-qu-ʿu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key</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مِفْتَاحٌ</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كَلِمَةٌ</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المُشَتِّتُ</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7" name="Text 54"/>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تَحَقُّقٌ</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verification</a:t>
            </a:r>
            <a:endParaRPr lang="en-US" sz="1350" dirty="0"/>
          </a:p>
          <a:p>
            <a:pPr indent="0" marL="0">
              <a:buNone/>
            </a:pPr>
            <a:r>
              <a:rPr lang="en-US" sz="1100" i="1" dirty="0">
                <a:solidFill>
                  <a:srgbClr val="5A6472"/>
                </a:solidFill>
                <a:latin typeface="Calibri" pitchFamily="34" charset="0"/>
                <a:cs typeface="Amiri" pitchFamily="2" charset="-78"/>
              </a:rPr>
              <a:t>ta-ḥaq-qu-qun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التَّفْصِيلُ الدَّقِيقُ</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detail</a:t>
            </a:r>
            <a:endParaRPr lang="en-US" sz="1350" dirty="0"/>
          </a:p>
          <a:p>
            <a:pPr indent="0" marL="0">
              <a:buNone/>
            </a:pPr>
            <a:r>
              <a:rPr lang="en-US" sz="1100" i="1" dirty="0">
                <a:solidFill>
                  <a:srgbClr val="5A6472"/>
                </a:solidFill>
                <a:latin typeface="Calibri" pitchFamily="34" charset="0"/>
                <a:cs typeface="Amiri" pitchFamily="2" charset="-78"/>
              </a:rPr>
              <a:t>at-taf-ṣī-lu ad-da-qī-qu</a:t>
            </a:r>
            <a:endParaRPr lang="en-US"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5" name="Shape 7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أَتَوَقَّعُ</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predict / expect</a:t>
            </a:r>
            <a:endParaRPr lang="en-US" sz="1350" dirty="0"/>
          </a:p>
          <a:p>
            <a:pPr indent="0" marL="0">
              <a:buNone/>
            </a:pPr>
            <a:r>
              <a:rPr lang="en-US" sz="1100" i="1" dirty="0">
                <a:solidFill>
                  <a:srgbClr val="5A6472"/>
                </a:solidFill>
                <a:latin typeface="Calibri" pitchFamily="34" charset="0"/>
                <a:cs typeface="Amiri" pitchFamily="2" charset="-78"/>
              </a:rPr>
              <a:t>a-ta-waq-qa-ʿu</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تَتَوَقَّعُ</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يَتَوَقَّعُ</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أَتَوَقَّعُ</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Routine details to catch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أَسْتَبْعِدُ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eliminate</a:t>
            </a:r>
            <a:endParaRPr lang="en-US" sz="1350" dirty="0"/>
          </a:p>
          <a:p>
            <a:pPr indent="0" marL="0">
              <a:buNone/>
            </a:pPr>
            <a:r>
              <a:rPr lang="en-US" sz="1100" i="1" dirty="0">
                <a:solidFill>
                  <a:srgbClr val="5A6472"/>
                </a:solidFill>
                <a:latin typeface="Calibri" pitchFamily="34" charset="0"/>
                <a:cs typeface="Amiri" pitchFamily="2" charset="-78"/>
              </a:rPr>
              <a:t>as-tab-ʿi-du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تَسْتَبْعِدُ</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يَسْتَبْعِدُ</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أَسْتَبْعِدُ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أَتَثَبَّتُ مِنْ</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verify</a:t>
            </a:r>
            <a:endParaRPr lang="en-US" sz="1350" dirty="0"/>
          </a:p>
          <a:p>
            <a:pPr indent="0" marL="0">
              <a:buNone/>
            </a:pPr>
            <a:r>
              <a:rPr lang="en-US" sz="1100" i="1" dirty="0">
                <a:solidFill>
                  <a:srgbClr val="5A6472"/>
                </a:solidFill>
                <a:latin typeface="Calibri" pitchFamily="34" charset="0"/>
                <a:cs typeface="Amiri" pitchFamily="2" charset="-78"/>
              </a:rPr>
              <a:t>a-ta-thab-ba-tu min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مُتْعَبٌ / مُرْهَقٌ</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tired / exhausted</a:t>
            </a:r>
            <a:endParaRPr lang="en-US" sz="1350" dirty="0"/>
          </a:p>
          <a:p>
            <a:pPr indent="0" marL="0">
              <a:buNone/>
            </a:pPr>
            <a:r>
              <a:rPr lang="en-US" sz="1100" i="1" dirty="0">
                <a:solidFill>
                  <a:srgbClr val="5A6472"/>
                </a:solidFill>
                <a:latin typeface="Calibri" pitchFamily="34" charset="0"/>
                <a:cs typeface="Amiri" pitchFamily="2" charset="-78"/>
              </a:rPr>
              <a:t>mut-ʿa-bun / mur-ha-qun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يَبْدَأُ / يَنْطَلِقُ</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 / sets off</a:t>
            </a:r>
            <a:endParaRPr lang="en-US" sz="1350" dirty="0"/>
          </a:p>
          <a:p>
            <a:pPr indent="0" marL="0">
              <a:buNone/>
            </a:pPr>
            <a:r>
              <a:rPr lang="en-US" sz="1100" i="1" dirty="0">
                <a:solidFill>
                  <a:srgbClr val="5A6472"/>
                </a:solidFill>
                <a:latin typeface="Calibri" pitchFamily="34" charset="0"/>
                <a:cs typeface="Amiri" pitchFamily="2" charset="-78"/>
              </a:rPr>
              <a:t>yab-da-ʾu / yan-ṭa-li-qu</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يَنْتَهِي / يَخْتَتِمُ</a:t>
            </a:r>
            <a:endParaRPr lang="ar-SA" sz="300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 / concludes</a:t>
            </a:r>
            <a:endParaRPr lang="en-US" sz="1350" dirty="0"/>
          </a:p>
          <a:p>
            <a:pPr indent="0" marL="0">
              <a:buNone/>
            </a:pPr>
            <a:r>
              <a:rPr lang="en-US" sz="1100" i="1" dirty="0">
                <a:solidFill>
                  <a:srgbClr val="5A6472"/>
                </a:solidFill>
                <a:latin typeface="Calibri" pitchFamily="34" charset="0"/>
                <a:cs typeface="Amiri" pitchFamily="2" charset="-78"/>
              </a:rPr>
              <a:t>yan-ta-hī / yakh-ta-ti-mu</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8" name="Text 5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 مَا / نَادِرًا</a:t>
            </a:r>
            <a:endParaRPr lang="ar-SA" sz="3000" dirty="0"/>
          </a:p>
        </p:txBody>
      </p:sp>
      <p:sp>
        <p:nvSpPr>
          <p:cNvPr id="59" name="Text 5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seldom / rarely</a:t>
            </a:r>
            <a:endParaRPr lang="en-US" sz="1350" dirty="0"/>
          </a:p>
          <a:p>
            <a:pPr indent="0" marL="0">
              <a:buNone/>
            </a:pPr>
            <a:r>
              <a:rPr lang="en-US" sz="1100" i="1" dirty="0">
                <a:solidFill>
                  <a:srgbClr val="5A6472"/>
                </a:solidFill>
                <a:latin typeface="Calibri" pitchFamily="34" charset="0"/>
                <a:cs typeface="Amiri" pitchFamily="2" charset="-78"/>
              </a:rPr>
              <a:t>qa-lī-lan mā / nā-di-ran</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Catch the 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انْتَبِهْ لِلتَّغْيِيرِ!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Training usually starts at four, but this week it starts at five.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يَبْدَأُ التَّدْرِيبُ عَادَةً فِي الرَّابِعَةِ، لٰكِنْ هٰذَا الأُسْبُوعَ يَبْدَأُ فِي الخَامِسَةِ.</a:t>
            </a:r>
            <a:endParaRPr lang="ar-SA" sz="195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the answer is five, not four.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الجَوَابُ: الخَامِسَةُ، لَا الرَّابِعَةُ.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Right. And we don’t train on Wednesday, but on Thursday.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صَحِيحٌ. وَلَا نَتَدَرَّبُ يَوْمَ الأَرْبِعَاءِ، بَلْ يَوْمَ الخَمِيسِ.</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word “bal” is important! The answer is Thursday.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كَلِمَةُ «بَلْ» مُهِمَّةٌ! الجَوَابُ: الخَمِيسُ.</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coach isn’t Mr Samir — it is Ms Reem.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وَالمُدَرِّبُ لَيْسَ أُسْتَاذَ سَمِيرٍ، هِيَ أُسْتَاذَةُ رِيمٍ.</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person changed too! I write: Ms Reem.</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تَغَيَّرَ الشَّخْصُ أَيْضًا! أَكْتُبُ: أُسْتَاذَةُ رِيمٍ.</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invents three new traps (</a:t>
            </a:r>
            <a:pPr algn="l" indent="0" marL="0">
              <a:buNone/>
            </a:pPr>
            <a:r>
              <a:rPr lang="ar-SA" altLang="en-US" sz="1500" b="1" dirty="0">
                <a:solidFill>
                  <a:srgbClr val="1B3B6F"/>
                </a:solidFill>
                <a:latin typeface="Amiri" pitchFamily="2" charset="-78"/>
                <a:ea typeface="Amiri" pitchFamily="2" charset="-78"/>
                <a:cs typeface="Amiri" pitchFamily="2" charset="-78"/>
              </a:rPr>
              <a:t>لٰكِنْ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بَلْ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لَيْسَ</a:t>
            </a:r>
            <a:pPr algn="l" indent="0" marL="0">
              <a:buNone/>
            </a:pPr>
            <a:r>
              <a:rPr lang="en-US" sz="1150" b="1" dirty="0">
                <a:solidFill>
                  <a:srgbClr val="1B3B6F"/>
                </a:solidFill>
                <a:latin typeface="Calibri" pitchFamily="34" charset="0"/>
                <a:cs typeface="Amiri" pitchFamily="2" charset="-78"/>
              </a:rPr>
              <a:t>); B must catch each one.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Catch the detail — the Leader reads, the Speaker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56648" y="2267712"/>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Prove it: «</a:t>
            </a:r>
            <a:pPr algn="l" indent="0" marL="0">
              <a:buNone/>
            </a:pPr>
            <a:r>
              <a:rPr lang="ar-SA" altLang="en-US" sz="1450" dirty="0">
                <a:solidFill>
                  <a:srgbClr val="5A6472"/>
                </a:solidFill>
                <a:latin typeface="Amiri" pitchFamily="2" charset="-78"/>
                <a:ea typeface="Amiri" pitchFamily="2" charset="-78"/>
                <a:cs typeface="Amiri" pitchFamily="2" charset="-78"/>
              </a:rPr>
              <a:t>لَا</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تَسْتَبْعِدُ</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 ← السَّابِعَةِ إِلَّا الرُّبْعَ</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quarter to seven, not seven.” — When?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أَسْتَيْقِظُ فِي السَّابِعَةِ إِلَّا الرُّبْعَ، لَا فِي السَّابِعَةِ. — مَتَى يَسْتَيْقِظُ؟</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الحَافِلَةُ لِلْأُخْتِ</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يَمْشِي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goes by bus; as for me, I walk.” — How does the speaker go?</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أُخْتِي تَذْهَبُ بِالحَافِلَةِ، أَمَّا أَنَا فَأَمْشِي. — كَيْفَ يَذْهَبُ المُتَكَلِّمُ؟</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٢٠</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الاسْتِرَاحَةُ</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أَرْبَعِينَ دَقِيقَةً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lesson lasts forty minutes, the break twenty.” — How long is the lesson?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الحِصَّةُ تَسْتَمِرُّ أَرْبَعِينَ دَقِيقَةً، وَالاسْتِرَاحَةُ عِشْرِينَ. — كَمْ تَسْتَمِرُّ الحِصَّةُ؟</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Key word: … ← </a:t>
            </a:r>
            <a:pPr algn="l" indent="0" marL="0">
              <a:buNone/>
            </a:pPr>
            <a:r>
              <a:rPr lang="ar-SA" altLang="en-US" sz="1450" dirty="0">
                <a:solidFill>
                  <a:srgbClr val="5A6472"/>
                </a:solidFill>
                <a:latin typeface="Amiri" pitchFamily="2" charset="-78"/>
                <a:ea typeface="Amiri" pitchFamily="2" charset="-78"/>
                <a:cs typeface="Amiri" pitchFamily="2" charset="-78"/>
              </a:rPr>
              <a:t>بَلْ</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didn’t visit grandpa on Saturday, but Sunday.” — When?</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لَمْ أَزُرْ جَدِّي يَوْمَ السَّبْتِ، بَلْ يَوْمَ الأَحَدِ. — مَتَى زَارَهُ؟</a:t>
            </a:r>
            <a:endParaRPr lang="ar-SA" sz="14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a:t>
            </a:r>
            <a:pPr algn="l" indent="0" marL="0">
              <a:buNone/>
            </a:pPr>
            <a:r>
              <a:rPr lang="ar-SA" altLang="en-US" sz="1450" dirty="0">
                <a:solidFill>
                  <a:srgbClr val="5A6472"/>
                </a:solidFill>
                <a:latin typeface="Amiri" pitchFamily="2" charset="-78"/>
                <a:ea typeface="Amiri" pitchFamily="2" charset="-78"/>
                <a:cs typeface="Amiri" pitchFamily="2" charset="-78"/>
              </a:rPr>
              <a:t>نَتَنَاوَلُ</a:t>
            </a:r>
            <a:pPr algn="l" indent="0" marL="0">
              <a:buNone/>
            </a:pPr>
            <a:r>
              <a:rPr lang="en-US" sz="1100" dirty="0">
                <a:solidFill>
                  <a:srgbClr val="5A6472"/>
                </a:solidFill>
                <a:latin typeface="Calibri" pitchFamily="34" charset="0"/>
                <a:cs typeface="Amiri" pitchFamily="2" charset="-78"/>
              </a:rPr>
              <a:t> = we · </a:t>
            </a:r>
            <a:pPr algn="l" indent="0" marL="0">
              <a:buNone/>
            </a:pPr>
            <a:r>
              <a:rPr lang="ar-SA" altLang="en-US" sz="1450" dirty="0">
                <a:solidFill>
                  <a:srgbClr val="5A6472"/>
                </a:solidFill>
                <a:latin typeface="Amiri" pitchFamily="2" charset="-78"/>
                <a:ea typeface="Amiri" pitchFamily="2" charset="-78"/>
                <a:cs typeface="Amiri" pitchFamily="2" charset="-78"/>
              </a:rPr>
              <a:t>يَتَعَشَّى</a:t>
            </a:r>
            <a:pPr algn="l" indent="0" marL="0">
              <a:buNone/>
            </a:pPr>
            <a:r>
              <a:rPr lang="en-US" sz="1100" dirty="0">
                <a:solidFill>
                  <a:srgbClr val="5A6472"/>
                </a:solidFill>
                <a:latin typeface="Calibri" pitchFamily="34" charset="0"/>
                <a:cs typeface="Amiri" pitchFamily="2" charset="-78"/>
              </a:rPr>
              <a:t> = he</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have dinner at eight, but dad eats at nine.” — When does dad eat?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نَتَنَاوَلُ العَشَاءَ فِي الثَّامِنَةِ، لٰكِنْ أَبِي يَتَعَشَّى فِي التَّاسِعَةِ. — مَتَى يَتَعَشَّى الأَبُ؟</a:t>
            </a:r>
            <a:endParaRPr lang="ar-SA" sz="13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taking a phone message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هَاتِفِيَّةٌ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مَا المَوْعِدُ الجَدِيدُ؟</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the new time.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تَغَيَّرَ مَوْعِدُ السِّبَاحَةِ يَوْمَ الإِثْنَيْنِ.</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أَتَثَبَّتُ ← إِذَنْ فِي …، صَحِيحٌ؟</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Repeat to check.</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لَيْسَ فِي الرَّابِعَةِ، بَلْ فِي الرَّابِعَةِ وَالنِّصْفِ.</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Note the duration + finish time.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وَيَسْتَمِرُّ سَاعَةً، لَا سَاعَةً وَنِصْفًا.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وَهَلْ تَعْرِفُ مَنِ المُدَرِّبُ الجَدِيدُ؟</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person taking the message (you repeat and check) · Leader = a caller from the swimming club.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One minute: my day — with one trap</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يَوْمِي مَعَ فَخٍّ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550" b="1" dirty="0">
                <a:solidFill>
                  <a:srgbClr val="1B3B6F"/>
                </a:solidFill>
                <a:latin typeface="Calibri" pitchFamily="34" charset="0"/>
                <a:cs typeface="Amiri" pitchFamily="2" charset="-78"/>
              </a:rPr>
              <a:t>⏱  Speak for one minute — your partner catches the times</a:t>
            </a:r>
            <a:endParaRPr lang="en-US" sz="15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your day for one minute with at least six times. Hide ONE trap (a corrected time with </a:t>
            </a:r>
            <a:pPr algn="l" indent="0" marL="0">
              <a:buNone/>
            </a:pPr>
            <a:r>
              <a:rPr lang="ar-SA" altLang="en-US" sz="1750" dirty="0">
                <a:solidFill>
                  <a:srgbClr val="1F2A37"/>
                </a:solidFill>
                <a:latin typeface="Amiri" pitchFamily="2" charset="-78"/>
                <a:ea typeface="Amiri" pitchFamily="2" charset="-78"/>
                <a:cs typeface="Amiri" pitchFamily="2" charset="-78"/>
              </a:rPr>
              <a:t>لٰكِنْ / بَلْ</a:t>
            </a:r>
            <a:pPr algn="l" indent="0" marL="0">
              <a:buNone/>
            </a:pPr>
            <a:r>
              <a:rPr lang="en-US" sz="1350" dirty="0">
                <a:solidFill>
                  <a:srgbClr val="1F2A37"/>
                </a:solidFill>
                <a:latin typeface="Calibri" pitchFamily="34" charset="0"/>
                <a:cs typeface="Amiri" pitchFamily="2" charset="-78"/>
              </a:rPr>
              <a:t>). The Leader listens and writes the six times, then names the trap.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clock times; the Leader writes them.</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trap with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بَلْ</a:t>
            </a:r>
            <a:pPr algn="l" indent="0" marL="0">
              <a:buNone/>
            </a:pPr>
            <a:r>
              <a:rPr lang="en-US" sz="1150" dirty="0">
                <a:solidFill>
                  <a:srgbClr val="1F2A37"/>
                </a:solidFill>
                <a:latin typeface="Calibri" pitchFamily="34" charset="0"/>
                <a:cs typeface="Amiri" pitchFamily="2" charset="-78"/>
              </a:rPr>
              <a:t>; the Leader names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traps, including a person change (</a:t>
            </a:r>
            <a:pPr algn="l" indent="0" marL="0">
              <a:buNone/>
            </a:pPr>
            <a:r>
              <a:rPr lang="ar-SA" altLang="en-US" sz="1500" dirty="0">
                <a:solidFill>
                  <a:srgbClr val="1F2A37"/>
                </a:solidFill>
                <a:latin typeface="Amiri" pitchFamily="2" charset="-78"/>
                <a:ea typeface="Amiri" pitchFamily="2" charset="-78"/>
                <a:cs typeface="Amiri" pitchFamily="2" charset="-78"/>
              </a:rPr>
              <a:t>أَخِي … / أَنَا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match isn’t on Friday, but on Saturday.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المُبَارَاةُ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المُبَارَاةُ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 يَوْمَ السَّبْتِ.</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 يَوْمُ السَّبْتِ.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usually leave at eight, but today at nine.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أَخْرُجُ عَادَةً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خَرَجْتُ عَادَةً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الثَّامِنَةِ،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ثَمَانِيَةٍ،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 اليَوْمَ فِي التَّاسِعَةِ.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 اليَوْمَ فِي التَّاسِعَةِ.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 the answer is Tuesday, not Monday.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إِذَنِ الجَوَابُ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إِذَنِ الجَوَابَ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الثُّلَاثَاءُ،</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الثُّلَاثَاءَ،</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الإِثْنَيْنُ.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الإِثْنَيْنُ.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match isn’t on Friday, but on Saturday.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مُبَارَاةٌ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لَيْسَتْ</a:t>
            </a:r>
            <a:pPr algn="l" indent="0" marL="0">
              <a:buNone/>
            </a:pPr>
            <a:r>
              <a:rPr lang="en-US" sz="1050" i="1" dirty="0">
                <a:solidFill>
                  <a:srgbClr val="5A6472"/>
                </a:solidFill>
                <a:latin typeface="Calibri" pitchFamily="34" charset="0"/>
                <a:cs typeface="Amiri" pitchFamily="2" charset="-78"/>
              </a:rPr>
              <a:t>; time adverb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in the accusative.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لَيْسَتِ المُبَارَاةُ يَوْمَ الجُمُعَةِ، بَلْ يَوْمَ السَّبْتِ.</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usually leave at eight, but today at nine.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 → present; contrast with </a:t>
            </a:r>
            <a:pPr algn="l" indent="0" marL="0">
              <a:buNone/>
            </a:pPr>
            <a:r>
              <a:rPr lang="ar-SA" altLang="en-US" sz="1350" dirty="0">
                <a:solidFill>
                  <a:srgbClr val="5A6472"/>
                </a:solidFill>
                <a:latin typeface="Amiri" pitchFamily="2" charset="-78"/>
                <a:ea typeface="Amiri" pitchFamily="2" charset="-78"/>
                <a:cs typeface="Amiri" pitchFamily="2" charset="-78"/>
              </a:rPr>
              <a:t>لٰكِنْ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أَخْرُجُ عَادَةً فِي الثَّامِنَةِ، لٰكِنِ اليَوْمَ فِي التَّاسِعَةِ.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 the answer is Tuesday, not Monday.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Nominal sentence: both -u; “not X”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X.</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إِذَنِ الجَوَابُ الثُّلَاثَاءُ، لَا الإِثْنَيْنُ.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lnSpc>
                <a:spcPct val="120000"/>
              </a:lnSpc>
              <a:buNone/>
            </a:pPr>
            <a:r>
              <a:rPr lang="ar-SA" altLang="en-US" sz="2400" b="1" dirty="0">
                <a:solidFill>
                  <a:srgbClr val="B83227"/>
                </a:solidFill>
                <a:latin typeface="Amiri" pitchFamily="2" charset="-78"/>
                <a:ea typeface="Amiri" pitchFamily="2" charset="-78"/>
                <a:cs typeface="Amiri" pitchFamily="2" charset="-78"/>
              </a:rPr>
              <a:t>يَبْدَأُ فِي الرَّابِعَةِ، لٰكِنِ اليَوْمَ فِي الخَامِسَةِ. ← الجَوَابُ: الرَّابِعَةُ.</a:t>
            </a:r>
            <a:endParaRPr lang="ar-SA" sz="24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Listen after </a:t>
            </a:r>
            <a:pPr algn="l" indent="0" marL="0">
              <a:buNone/>
            </a:pPr>
            <a:r>
              <a:rPr lang="ar-SA" altLang="en-US" sz="1700" dirty="0">
                <a:solidFill>
                  <a:srgbClr val="5A6472"/>
                </a:solidFill>
                <a:latin typeface="Amiri" pitchFamily="2" charset="-78"/>
                <a:ea typeface="Amiri" pitchFamily="2" charset="-78"/>
                <a:cs typeface="Amiri" pitchFamily="2" charset="-78"/>
              </a:rPr>
              <a:t>لٰكِنْ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B83227"/>
                </a:solidFill>
                <a:latin typeface="Amiri" pitchFamily="2" charset="-78"/>
                <a:ea typeface="Amiri" pitchFamily="2" charset="-78"/>
                <a:cs typeface="Amiri" pitchFamily="2" charset="-78"/>
              </a:rPr>
              <a:t>أَخِي يَنَامُ فِي العَاشِرَةِ وَأَنَا فِي التَّاسِعَةِ. ← مَتَى يَنَامُ المُتَكَلِّمُ؟ فِي العَاشِرَةِ.</a:t>
            </a:r>
            <a:endParaRPr lang="ar-SA" sz="21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speaker?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المُدَرِّبَةُ هُنَا.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 with </a:t>
            </a:r>
            <a:pPr algn="l" indent="0" marL="0">
              <a:buNone/>
            </a:pPr>
            <a:r>
              <a:rPr lang="ar-SA" altLang="en-US" sz="1700" dirty="0">
                <a:solidFill>
                  <a:srgbClr val="5A6472"/>
                </a:solidFill>
                <a:latin typeface="Amiri" pitchFamily="2" charset="-78"/>
                <a:ea typeface="Amiri" pitchFamily="2" charset="-78"/>
                <a:cs typeface="Amiri" pitchFamily="2" charset="-78"/>
              </a:rPr>
              <a:t>لَيْسَ</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يَبْدَأُ فِي الرَّابِعَةِ، لٰكِنِ اليَوْمَ فِي الخَامِسَةِ. ← الجَوَابُ: الرَّابِعَةُ.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الجَوَابُ: الخَامِسَةُ.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information after </a:t>
            </a:r>
            <a:pPr algn="l" indent="0" marL="0">
              <a:buNone/>
            </a:pPr>
            <a:r>
              <a:rPr lang="ar-SA" altLang="en-US" sz="1500" b="1" dirty="0">
                <a:solidFill>
                  <a:srgbClr val="1B3B6F"/>
                </a:solidFill>
                <a:latin typeface="Amiri" pitchFamily="2" charset="-78"/>
                <a:ea typeface="Amiri" pitchFamily="2" charset="-78"/>
                <a:cs typeface="Amiri" pitchFamily="2" charset="-78"/>
              </a:rPr>
              <a:t>لٰكِنْ / بَلْ</a:t>
            </a:r>
            <a:pPr algn="l" indent="0" marL="0">
              <a:buNone/>
            </a:pPr>
            <a:r>
              <a:rPr lang="en-US" sz="1150" b="1" dirty="0">
                <a:solidFill>
                  <a:srgbClr val="1B3B6F"/>
                </a:solidFill>
                <a:latin typeface="Calibri" pitchFamily="34" charset="0"/>
                <a:cs typeface="Amiri" pitchFamily="2" charset="-78"/>
              </a:rPr>
              <a:t> replaces the first.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أَخِي يَنَامُ فِي العَاشِرَةِ وَأَنَا فِي التَّاسِعَةِ. ← مَتَى يَنَامُ المُتَكَلِّمُ؟ فِي العَاشِرَةِ.</a:t>
            </a:r>
            <a:endParaRPr lang="ar-SA" sz="165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يَنَامُ المُتَكَلِّمُ فِي التَّاسِعَةِ.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أَنَا</a:t>
            </a:r>
            <a:pPr algn="l" indent="0" marL="0">
              <a:buNone/>
            </a:pPr>
            <a:r>
              <a:rPr lang="en-US" sz="1150" b="1" dirty="0">
                <a:solidFill>
                  <a:srgbClr val="1B3B6F"/>
                </a:solidFill>
                <a:latin typeface="Calibri" pitchFamily="34" charset="0"/>
                <a:cs typeface="Amiri" pitchFamily="2" charset="-78"/>
              </a:rPr>
              <a:t>” = the speaker; </a:t>
            </a:r>
            <a:pPr algn="l" indent="0" marL="0">
              <a:buNone/>
            </a:pPr>
            <a:r>
              <a:rPr lang="ar-SA" altLang="en-US" sz="1500" b="1" dirty="0">
                <a:solidFill>
                  <a:srgbClr val="1B3B6F"/>
                </a:solidFill>
                <a:latin typeface="Amiri" pitchFamily="2" charset="-78"/>
                <a:ea typeface="Amiri" pitchFamily="2" charset="-78"/>
                <a:cs typeface="Amiri" pitchFamily="2" charset="-78"/>
              </a:rPr>
              <a:t>العَاشِرَةُ</a:t>
            </a:r>
            <a:pPr algn="l" indent="0" marL="0">
              <a:buNone/>
            </a:pPr>
            <a:r>
              <a:rPr lang="en-US" sz="1150" b="1" dirty="0">
                <a:solidFill>
                  <a:srgbClr val="1B3B6F"/>
                </a:solidFill>
                <a:latin typeface="Calibri" pitchFamily="34" charset="0"/>
                <a:cs typeface="Amiri" pitchFamily="2" charset="-78"/>
              </a:rPr>
              <a:t> is the brother.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المُدَرِّبَةُ هُنَا.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لَيْسَتِ المُدَرِّبَةُ هُنَا.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 </a:t>
            </a:r>
            <a:pPr algn="l" indent="0" marL="0">
              <a:buNone/>
            </a:pPr>
            <a:r>
              <a:rPr lang="ar-SA" altLang="en-US" sz="1500" b="1" dirty="0">
                <a:solidFill>
                  <a:srgbClr val="1B3B6F"/>
                </a:solidFill>
                <a:latin typeface="Amiri" pitchFamily="2" charset="-78"/>
                <a:ea typeface="Amiri" pitchFamily="2" charset="-78"/>
                <a:cs typeface="Amiri" pitchFamily="2" charset="-78"/>
              </a:rPr>
              <a:t>لَيْسَتْ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______ فَ ______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 (he / she) …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أَسْئِلَةٌ: ١) مَتَى …؟ ٢) أَيُّ يَوْمٍ …؟ ٣) مَنْ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Questions: 1) When …? 2) Which day …? 3) Who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أَنَا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 …, it’s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عَادَةً ______ فِي ______ ، لٰكِنْ هٰذَا الأُسْبُوعَ ______ .</a:t>
            </a:r>
            <a:endParaRPr lang="ar-SA" sz="13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 at …, but this week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يَوْمَ ______ ، بَلْ يَوْمَ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 on …, but on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lasts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لٰكِنْ  ·  بَلْ  ·  لَا · لَيْسَ · لَمْ  ·  عَادَةً · هٰذَا الأُسْبُوعَ  ·  وَالرُّبْعُ · إِلَّا الرُّبْعَ  ·  يَسْتَمِرُّ  ·  أَمَّا … فَ…  ·  إِذَنْ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voicemail with traps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صَوْتِيَّةٌ فِيهَا فِخَاخٌ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the script of a voicemail (about 60–80 words) to a friend about changes to your weekly plans. Include: • four times or days • TWO traps (a correction with </a:t>
            </a:r>
            <a:pPr algn="l" indent="0" marL="0">
              <a:buNone/>
            </a:pPr>
            <a:r>
              <a:rPr lang="ar-SA" altLang="en-US" sz="1450" b="1" dirty="0">
                <a:solidFill>
                  <a:srgbClr val="1F2A37"/>
                </a:solidFill>
                <a:latin typeface="Amiri" pitchFamily="2" charset="-78"/>
                <a:ea typeface="Amiri" pitchFamily="2" charset="-78"/>
                <a:cs typeface="Amiri" pitchFamily="2" charset="-78"/>
              </a:rPr>
              <a:t>لٰكِنْ / بَلْ</a:t>
            </a:r>
            <a:pPr algn="l" indent="0" marL="0">
              <a:buNone/>
            </a:pPr>
            <a:r>
              <a:rPr lang="en-US" sz="1100" b="1" dirty="0">
                <a:solidFill>
                  <a:srgbClr val="1F2A37"/>
                </a:solidFill>
                <a:latin typeface="Calibri" pitchFamily="34" charset="0"/>
                <a:cs typeface="Amiri" pitchFamily="2" charset="-78"/>
              </a:rPr>
              <a:t>, and a negation with </a:t>
            </a:r>
            <a:pPr algn="l" indent="0" marL="0">
              <a:buNone/>
            </a:pPr>
            <a:r>
              <a:rPr lang="ar-SA" altLang="en-US" sz="1450" b="1" dirty="0">
                <a:solidFill>
                  <a:srgbClr val="1F2A37"/>
                </a:solidFill>
                <a:latin typeface="Amiri" pitchFamily="2" charset="-78"/>
                <a:ea typeface="Amiri" pitchFamily="2" charset="-78"/>
                <a:cs typeface="Amiri" pitchFamily="2" charset="-78"/>
              </a:rPr>
              <a:t>لَا / لَيْسَ</a:t>
            </a:r>
            <a:pPr algn="l" indent="0" marL="0">
              <a:buNone/>
            </a:pPr>
            <a:r>
              <a:rPr lang="en-US" sz="1100" b="1" dirty="0">
                <a:solidFill>
                  <a:srgbClr val="1F2A37"/>
                </a:solidFill>
                <a:latin typeface="Calibri" pitchFamily="34" charset="0"/>
                <a:cs typeface="Amiri" pitchFamily="2" charset="-78"/>
              </a:rPr>
              <a:t>) • one duration • one other person (</a:t>
            </a:r>
            <a:pPr algn="l" indent="0" marL="0">
              <a:buNone/>
            </a:pPr>
            <a:r>
              <a:rPr lang="ar-SA" altLang="en-US" sz="1450" b="1" dirty="0">
                <a:solidFill>
                  <a:srgbClr val="1F2A37"/>
                </a:solidFill>
                <a:latin typeface="Amiri" pitchFamily="2" charset="-78"/>
                <a:ea typeface="Amiri" pitchFamily="2" charset="-78"/>
                <a:cs typeface="Amiri" pitchFamily="2" charset="-78"/>
              </a:rPr>
              <a:t>أَخِي / أُخْتِي</a:t>
            </a:r>
            <a:pPr algn="l" indent="0" marL="0">
              <a:buNone/>
            </a:pPr>
            <a:r>
              <a:rPr lang="en-US" sz="1100" b="1" dirty="0">
                <a:solidFill>
                  <a:srgbClr val="1F2A37"/>
                </a:solidFill>
                <a:latin typeface="Calibri" pitchFamily="34" charset="0"/>
                <a:cs typeface="Amiri" pitchFamily="2" charset="-78"/>
              </a:rPr>
              <a:t> …). Then write three questions. Swap: your partner listens as you read it, and answers.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 لٰكِنْ هٰذَا الأُسْبُوعَ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usually … but this week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يَوْمَ … بَلْ يَوْمَ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on … but on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 · المُدَّةُ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lasts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أَخِي فَ…</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my brother,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exact time / day, not the first one heard?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hide and catch traps with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لَيْسَ</a:t>
            </a:r>
            <a:pPr algn="l" indent="0" marL="0">
              <a:buNone/>
            </a:pPr>
            <a:r>
              <a:rPr lang="en-US" sz="1100" dirty="0">
                <a:solidFill>
                  <a:srgbClr val="5A6472"/>
                </a:solidFill>
                <a:latin typeface="Calibri" pitchFamily="34" charset="0"/>
                <a:cs typeface="Amiri" pitchFamily="2" charset="-78"/>
              </a:rPr>
              <a:t> and a person change?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حَسَنًا، مَا المَوْعِدُ الجَدِيدُ مِنْ فَضْلِكَ؟</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OK — what is the new time, please?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تَغَيَّرَ مَوْعِدُ السِّبَاحَةِ يَوْمَ الإِثْنَيْنِ.</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إِذَنْ فِي الرَّابِعَةِ وَالنِّصْفِ، لَا فِي الرَّابِعَةِ، صَحِيحٌ؟</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 at half past four, not four — right?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لَيْسَ فِي الرَّابِعَةِ، بَلْ فِي الرَّابِعَةِ وَالنِّصْفِ.</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فَهِمْتُ: سَاعَةٌ وَاحِدَةٌ، يَعْنِي يَنْتَهِي فِي الخَامِسَةِ وَالنِّصْفِ.</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Understood: one hour, which means it finishes at half past five.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وَيَسْتَمِرُّ سَاعَةً، لَا سَاعَةً وَنِصْفًا.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أَعْرِفُ. هَلْ يُمْكِنُ أَنْ تُكَرِّرَ اسْمَهُ مِنْ فَضْلِكَ؟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know. Could you repeat his name, please?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وَهَلْ تَعْرِفُ مَنِ المُدَرِّبُ الجَدِيدُ؟</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مَرْحَبًا يَا هَادِي، أَنَا سَلِيمٌ. عِنْدِي تَغْيِيرَاتٌ لِهٰذَا الأُسْبُوعِ. عَادَةً أَتَدَرَّبُ فِي الرَّابِعَةِ، لٰكِنْ هٰذَا الأُسْبُوعَ أَتَدَرَّبُ فِي الخَامِسَةِ إِلَّا الرُّبْعَ، وَيَسْتَمِرُّ التَّدْرِيبُ سَاعَةً وَنِصْفًا. دَرْسُ الحَاسُوبِ لَيْسَ يَوْمَ الثُّلَاثَاءِ، بَلْ يَوْمَ الأَرْبِعَاءِ. أَمَّا أَخِي فَيَرْجِعُ مِنَ السَّفَرِ يَوْمَ الخَمِيسِ فِي السَّابِعَةِ مَسَاءً. هَلْ نَلْتَقِي يَوْمَ الجُمُعَةِ؟ اتَّصِلْ بِي!</a:t>
            </a:r>
            <a:endParaRPr lang="ar-SA" sz="2550" dirty="0"/>
          </a:p>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أَسْئِلَةٌ: ١) مَتَى يَتَدَرَّبُ سَلِيمٌ هٰذَا الأُسْبُوعَ؟ ٢) أَيُّ يَوْمٍ دَرْسُ الحَاسُوبِ؟ ٣) مَنْ يَرْجِعُ يَوْمَ الخَمِيسِ؟</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Hadi, it’s Salim. I have changes for this week. I usually train at four, but this week I train at quarter to five, and training lasts an hour and a half. The computer lesson isn’t on Tuesday, but on Wednesday. As for my brother, he returns from his trip on Thursday at seven pm. Shall we meet on Friday? Call me! Questions: 1) When does Salim train this week? 2) Which day is the computer lesson? 3) Who returns on Thursday?”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هٰذَا الأُسْبُوعَ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يَوْمَ الثُّلَاثَاءِ، بَلْ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وَيَسْتَمِرُّ التَّدْرِيبُ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أَخِي فَيَرْجِعُ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D1-L11 · Speaking and Writing — My Daily Routine</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 — رُوتِينِي اليَوْمِيُّ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D1-L10 · Practice Room — Listening — Daily Routine and Time Details</dc:title>
  <dc:subject>PptxGenJS Presentation</dc:subject>
  <dc:creator>Al Madina Online School · Arabic Department</dc:creator>
  <cp:lastModifiedBy>Al Madina Online School · Arabic Department</cp:lastModifiedBy>
  <cp:revision>1</cp:revision>
  <dcterms:created xsi:type="dcterms:W3CDTF">2026-10-25T17:59:41Z</dcterms:created>
  <dcterms:modified xsi:type="dcterms:W3CDTF">2026-10-25T17:59:41Z</dcterms:modified>
</cp:coreProperties>
</file>