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notesMasterIdLst>
    <p:notesMasterId r:id="rId24"/>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PRACTICE ROOM AT A GLANCE — one combined lesson (speaking, then writing), 55–60 minutes: about 6 minutes in the main room, about 45 minutes in breakout rooms of two or three, about 6 minutes back together.
0–2 Welcome · 2–5 How the room works · ROOMS, Part A Speaking: Step 1 Word warm-up (5) · Step 2 Say the model dialogue (5) · Step 3 Question cards (7) · Step 4 Role-play card (7) · Step 5 Short talk (4) · Part B Writing: Step 6 Sentence builder (4) · Step 7 Spot and fix (3) · Step 8 Write your text (12) + buddy check (3) · back in the main room: Check yourself (4) · Self-check + close (2).
PURPOSE: students practise the lesson’s language ON THEIR OWN with a clear structure. The teacher visits each room (about 3 minutes per room), listens, reads one piece of writing per student and gives one live correction.
CONTENT: D1-L12 (Review and Unit Assessment) — new practice tasks built on the lesson’s own word bank and grammar (D1 review: clock time with ordinals and fractions; frequency; qabla / baʿda (+ noun) and qabla an / baʿda an (+ verb in -a); li-muddati · li-kay; he / she / you forms; ammā … fa- · baynamā · idhā; past (ams) and future (sa-)).
SET-UP: rooms of two or three (same-level rooms keep the routes simple). Share this deck or its PDF in the chat so every room can follow the steps. Each student writes in their own book or document.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MAP (1 min) — Part A is speaking, Part B is writing. The step number is always in the top-left of each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THE ROOM WORKS (3 min, main room). Model the roles quickly with two volunteers using one question from Step 3. Stress: the Coach is kind and specific. Then open the breakout rooms.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(5 min in rooms). The two word slides that follow come from the D1-L12 lesson. Teacher: visit the first room straight away to model the pace.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reference — the Leader picks the English, the Speaker gives the Arabic.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reference.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2 (5 min). The dialogue models today’s language in a real exchange.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3 (7 min). The starter column is support, not the answer: students finish it with their OWN information. Coach listens for the key structure of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STEP 4 (7 min). FADED SUPPORT: tasks 1–2 show the plan (question word → first words); students write their own plan for 3–4. Everyone is Speaker once. To a girl the Leader says: counsellor to a girl: تَنَامِينَ · تَدْرُسِينَ · فَعَلْتِ. This card mixes every D1 structure; the Coach ticks each one heard.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5 (4 min). A short talk builds fluency and confidence.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6 (4 min). Read the English, then choose the correct part from each column (start on the RIGHT, column 1). Buddies agree before checking the answer slide. Students copy the three correct sentences into their book — they are useful for Step 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6 (4 min). Read the English, then choose the correct part from each column (start on the RIGHT, column 1). Buddies agree before checking the answer slide. Students copy the three correct sentences into their book — they are useful for Step 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7 (3 min). Pairs agree on each correction before the answer slide. These are the mistakes to look for in the buddy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7 (3 min). Pairs agree on each correction before the answer slide. These are the mistakes to look for in the buddy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8 support. Core: use the Core frames for every sentence. Develop: use the Develop frames only if stuck. Stretch: no frames — add a reason, a time phrase and one extra detail.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8 (10 min writing). Core: frames for every bullet (40–50 words). Develop: 60–80 words, frames only if stuck. Stretch: no frames, add reasons and another time frame. Teacher visits rooms and reads ONE sentence per student.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BUDDY CHECK (3 min). Then everyone returns to the main room.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YOURSELF (2 min, main room). Each student finds one task they answered less fully and says it again using the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(69 words). CHECK YOURSELF (2 min). Find each bullet point in the model. Then each student copies ONE phrase from the model into their own text.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ea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CAMBRIDGE IGCSE ARABIC 0544  ·  YEAR 8  ·  DEVELOPMENT D1  ·  D1-L12 · PRACTICE ROOM</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D1-L12</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2650" b="1" dirty="0">
                <a:solidFill>
                  <a:srgbClr val="FFFFFF"/>
                </a:solidFill>
                <a:latin typeface="Cambria" pitchFamily="34" charset="0"/>
                <a:cs typeface="Amiri" pitchFamily="2" charset="-78"/>
              </a:rPr>
              <a:t>Practice Room — Review and Unit Assessment</a:t>
            </a:r>
            <a:endParaRPr lang="en-US" sz="265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2" charset="-78"/>
                <a:ea typeface="Amiri" pitchFamily="2" charset="-78"/>
                <a:cs typeface="Amiri" pitchFamily="2" charset="-78"/>
              </a:rPr>
              <a:t>غُرْفَةُ التَّدَرُّبِ — مُرَاجَعَةُ الوَحْدَةِ</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400" dirty="0">
                <a:solidFill>
                  <a:srgbClr val="C6D2E6"/>
                </a:solidFill>
                <a:latin typeface="Calibri" pitchFamily="34" charset="0"/>
                <a:cs typeface="Amiri" pitchFamily="2" charset="-78"/>
              </a:rPr>
              <a:t>Students run their own review of the whole D1 unit: recall twelve key D1 expressions, act a mixed dialogue, answer mixed exam-style cards, do a full role-play card, give a one-minute talk, then build, fix and write an exam-style routine email — and set one target for D2.</a:t>
            </a:r>
            <a:endParaRPr lang="en-US" sz="14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D1-L12 · Development D1 · Daily Routine and Time</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Development · end of unit D1</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Pathways › Development › D1 › D1-L12</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D1-L12 · Speaking + writing practice room</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D1-L12 · practice room</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22</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D1-L12 · Speaking + writing practice room</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ROOM PLAN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00" b="1" dirty="0">
                <a:solidFill>
                  <a:srgbClr val="1B3B6F"/>
                </a:solidFill>
                <a:latin typeface="Cambria" pitchFamily="34" charset="0"/>
                <a:cs typeface="Amiri" pitchFamily="2" charset="-78"/>
              </a:rPr>
              <a:t>Speak first, then write — you run it yourselves</a:t>
            </a:r>
            <a:endParaRPr lang="en-US" sz="20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خُطُوَاتُ الغُرْفَةِ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D1-L12 · practice room</a:t>
            </a:r>
            <a:endParaRPr lang="en-US" sz="850" dirty="0"/>
          </a:p>
        </p:txBody>
      </p:sp>
      <p:sp>
        <p:nvSpPr>
          <p:cNvPr id="15" name="Shape 12"/>
          <p:cNvSpPr/>
          <p:nvPr/>
        </p:nvSpPr>
        <p:spPr>
          <a:xfrm>
            <a:off x="457200"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933042" cy="566928"/>
          </a:xfrm>
          <a:prstGeom prst="roundRect">
            <a:avLst>
              <a:gd name="adj" fmla="val 9677"/>
            </a:avLst>
          </a:prstGeom>
          <a:solidFill>
            <a:srgbClr val="2F6FB0"/>
          </a:solidFill>
          <a:ln w="12700">
            <a:solidFill>
              <a:srgbClr val="2F6FB0"/>
            </a:solidFill>
            <a:prstDash val="solid"/>
          </a:ln>
        </p:spPr>
      </p:sp>
      <p:sp>
        <p:nvSpPr>
          <p:cNvPr id="17" name="Text 14"/>
          <p:cNvSpPr txBox="1"/>
          <p:nvPr/>
        </p:nvSpPr>
        <p:spPr>
          <a:xfrm>
            <a:off x="603504"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18" name="Text 15"/>
          <p:cNvSpPr txBox="1"/>
          <p:nvPr/>
        </p:nvSpPr>
        <p:spPr>
          <a:xfrm>
            <a:off x="603504"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10 min</a:t>
            </a:r>
            <a:endParaRPr lang="en-US" sz="1000" dirty="0"/>
          </a:p>
        </p:txBody>
      </p:sp>
      <p:sp>
        <p:nvSpPr>
          <p:cNvPr id="19" name="Shape 16"/>
          <p:cNvSpPr/>
          <p:nvPr/>
        </p:nvSpPr>
        <p:spPr>
          <a:xfrm>
            <a:off x="1332281"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33228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Steps 1–2: word warm-up · say the model dialogue.</a:t>
            </a:r>
            <a:endParaRPr lang="en-US" sz="1200" dirty="0"/>
          </a:p>
        </p:txBody>
      </p:sp>
      <p:sp>
        <p:nvSpPr>
          <p:cNvPr id="22" name="Text 19"/>
          <p:cNvSpPr txBox="1"/>
          <p:nvPr/>
        </p:nvSpPr>
        <p:spPr>
          <a:xfrm>
            <a:off x="548640"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الكَلِمَاتُ وَالحِوَارُ</a:t>
            </a:r>
            <a:endParaRPr lang="ar-SA" sz="1500" dirty="0"/>
          </a:p>
        </p:txBody>
      </p:sp>
      <p:sp>
        <p:nvSpPr>
          <p:cNvPr id="23" name="Shape 20"/>
          <p:cNvSpPr/>
          <p:nvPr/>
        </p:nvSpPr>
        <p:spPr>
          <a:xfrm>
            <a:off x="2737714"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847442" y="1938528"/>
            <a:ext cx="1933042" cy="566928"/>
          </a:xfrm>
          <a:prstGeom prst="roundRect">
            <a:avLst>
              <a:gd name="adj" fmla="val 9677"/>
            </a:avLst>
          </a:prstGeom>
          <a:solidFill>
            <a:srgbClr val="1E6B52"/>
          </a:solidFill>
          <a:ln w="12700">
            <a:solidFill>
              <a:srgbClr val="1E6B52"/>
            </a:solidFill>
            <a:prstDash val="solid"/>
          </a:ln>
        </p:spPr>
      </p:sp>
      <p:sp>
        <p:nvSpPr>
          <p:cNvPr id="25" name="Text 22"/>
          <p:cNvSpPr txBox="1"/>
          <p:nvPr/>
        </p:nvSpPr>
        <p:spPr>
          <a:xfrm>
            <a:off x="2884018"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26" name="Text 23"/>
          <p:cNvSpPr txBox="1"/>
          <p:nvPr/>
        </p:nvSpPr>
        <p:spPr>
          <a:xfrm>
            <a:off x="2884018"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18 min</a:t>
            </a:r>
            <a:endParaRPr lang="en-US" sz="1000" dirty="0"/>
          </a:p>
        </p:txBody>
      </p:sp>
      <p:sp>
        <p:nvSpPr>
          <p:cNvPr id="27" name="Shape 24"/>
          <p:cNvSpPr/>
          <p:nvPr/>
        </p:nvSpPr>
        <p:spPr>
          <a:xfrm>
            <a:off x="3612794"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3612794"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865730"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Steps 3–5: question cards · role-play card · short talk.</a:t>
            </a:r>
            <a:endParaRPr lang="en-US" sz="1200" dirty="0"/>
          </a:p>
        </p:txBody>
      </p:sp>
      <p:sp>
        <p:nvSpPr>
          <p:cNvPr id="30" name="Text 27"/>
          <p:cNvSpPr txBox="1"/>
          <p:nvPr/>
        </p:nvSpPr>
        <p:spPr>
          <a:xfrm>
            <a:off x="2829154"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تَكَلَّمْ</a:t>
            </a:r>
            <a:endParaRPr lang="ar-SA" sz="1500" dirty="0"/>
          </a:p>
        </p:txBody>
      </p:sp>
      <p:sp>
        <p:nvSpPr>
          <p:cNvPr id="31" name="Shape 28"/>
          <p:cNvSpPr/>
          <p:nvPr/>
        </p:nvSpPr>
        <p:spPr>
          <a:xfrm>
            <a:off x="5018227"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127955" y="1938528"/>
            <a:ext cx="1933042" cy="566928"/>
          </a:xfrm>
          <a:prstGeom prst="roundRect">
            <a:avLst>
              <a:gd name="adj" fmla="val 9677"/>
            </a:avLst>
          </a:prstGeom>
          <a:solidFill>
            <a:srgbClr val="2F6FB0"/>
          </a:solidFill>
          <a:ln w="12700">
            <a:solidFill>
              <a:srgbClr val="2F6FB0"/>
            </a:solidFill>
            <a:prstDash val="solid"/>
          </a:ln>
        </p:spPr>
      </p:sp>
      <p:sp>
        <p:nvSpPr>
          <p:cNvPr id="33" name="Text 30"/>
          <p:cNvSpPr txBox="1"/>
          <p:nvPr/>
        </p:nvSpPr>
        <p:spPr>
          <a:xfrm>
            <a:off x="5164531"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34" name="Text 31"/>
          <p:cNvSpPr txBox="1"/>
          <p:nvPr/>
        </p:nvSpPr>
        <p:spPr>
          <a:xfrm>
            <a:off x="5164531"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7 min</a:t>
            </a:r>
            <a:endParaRPr lang="en-US" sz="1000" dirty="0"/>
          </a:p>
        </p:txBody>
      </p:sp>
      <p:sp>
        <p:nvSpPr>
          <p:cNvPr id="35" name="Shape 32"/>
          <p:cNvSpPr/>
          <p:nvPr/>
        </p:nvSpPr>
        <p:spPr>
          <a:xfrm>
            <a:off x="5893308"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5146243"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Steps 6–7: sentence builder · spot and fix.</a:t>
            </a:r>
            <a:endParaRPr lang="en-US" sz="1200" dirty="0"/>
          </a:p>
        </p:txBody>
      </p:sp>
      <p:sp>
        <p:nvSpPr>
          <p:cNvPr id="38" name="Text 35"/>
          <p:cNvSpPr txBox="1"/>
          <p:nvPr/>
        </p:nvSpPr>
        <p:spPr>
          <a:xfrm>
            <a:off x="5109667"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ابْنِ وَصَحِّحْ</a:t>
            </a:r>
            <a:endParaRPr lang="ar-SA" sz="1500" dirty="0"/>
          </a:p>
        </p:txBody>
      </p:sp>
      <p:sp>
        <p:nvSpPr>
          <p:cNvPr id="39" name="Shape 36"/>
          <p:cNvSpPr/>
          <p:nvPr/>
        </p:nvSpPr>
        <p:spPr>
          <a:xfrm>
            <a:off x="7298741"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7408469" y="1938528"/>
            <a:ext cx="1933042" cy="566928"/>
          </a:xfrm>
          <a:prstGeom prst="roundRect">
            <a:avLst>
              <a:gd name="adj" fmla="val 9677"/>
            </a:avLst>
          </a:prstGeom>
          <a:solidFill>
            <a:srgbClr val="1E6B52"/>
          </a:solidFill>
          <a:ln w="12700">
            <a:solidFill>
              <a:srgbClr val="1E6B52"/>
            </a:solidFill>
            <a:prstDash val="solid"/>
          </a:ln>
        </p:spPr>
      </p:sp>
      <p:sp>
        <p:nvSpPr>
          <p:cNvPr id="41" name="Text 38"/>
          <p:cNvSpPr txBox="1"/>
          <p:nvPr/>
        </p:nvSpPr>
        <p:spPr>
          <a:xfrm>
            <a:off x="7445045"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42" name="Text 39"/>
          <p:cNvSpPr txBox="1"/>
          <p:nvPr/>
        </p:nvSpPr>
        <p:spPr>
          <a:xfrm>
            <a:off x="7445045"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15 min</a:t>
            </a:r>
            <a:endParaRPr lang="en-US" sz="1000" dirty="0"/>
          </a:p>
        </p:txBody>
      </p:sp>
      <p:sp>
        <p:nvSpPr>
          <p:cNvPr id="43" name="Shape 40"/>
          <p:cNvSpPr/>
          <p:nvPr/>
        </p:nvSpPr>
        <p:spPr>
          <a:xfrm>
            <a:off x="8173822"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8173822"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7426757"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 8: write your text · buddy check.</a:t>
            </a:r>
            <a:endParaRPr lang="en-US" sz="1200" dirty="0"/>
          </a:p>
        </p:txBody>
      </p:sp>
      <p:sp>
        <p:nvSpPr>
          <p:cNvPr id="46" name="Text 43"/>
          <p:cNvSpPr txBox="1"/>
          <p:nvPr/>
        </p:nvSpPr>
        <p:spPr>
          <a:xfrm>
            <a:off x="7390181"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اكْتُبْ</a:t>
            </a:r>
            <a:endParaRPr lang="ar-SA" sz="1500" dirty="0"/>
          </a:p>
        </p:txBody>
      </p:sp>
      <p:sp>
        <p:nvSpPr>
          <p:cNvPr id="47" name="Shape 44"/>
          <p:cNvSpPr/>
          <p:nvPr/>
        </p:nvSpPr>
        <p:spPr>
          <a:xfrm>
            <a:off x="9579254"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9688982" y="1938528"/>
            <a:ext cx="1933042" cy="566928"/>
          </a:xfrm>
          <a:prstGeom prst="roundRect">
            <a:avLst>
              <a:gd name="adj" fmla="val 9677"/>
            </a:avLst>
          </a:prstGeom>
          <a:solidFill>
            <a:srgbClr val="8A6D1E"/>
          </a:solidFill>
          <a:ln w="12700">
            <a:solidFill>
              <a:srgbClr val="8A6D1E"/>
            </a:solidFill>
            <a:prstDash val="solid"/>
          </a:ln>
        </p:spPr>
      </p:sp>
      <p:sp>
        <p:nvSpPr>
          <p:cNvPr id="49" name="Text 46"/>
          <p:cNvSpPr txBox="1"/>
          <p:nvPr/>
        </p:nvSpPr>
        <p:spPr>
          <a:xfrm>
            <a:off x="9725558"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0" name="Text 47"/>
          <p:cNvSpPr txBox="1"/>
          <p:nvPr/>
        </p:nvSpPr>
        <p:spPr>
          <a:xfrm>
            <a:off x="9725558"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4 min</a:t>
            </a:r>
            <a:endParaRPr lang="en-US" sz="1000" dirty="0"/>
          </a:p>
        </p:txBody>
      </p:sp>
      <p:sp>
        <p:nvSpPr>
          <p:cNvPr id="51" name="Shape 48"/>
          <p:cNvSpPr/>
          <p:nvPr/>
        </p:nvSpPr>
        <p:spPr>
          <a:xfrm>
            <a:off x="10454335"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1045433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9707270"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Check yourself with the models.</a:t>
            </a:r>
            <a:endParaRPr lang="en-US" sz="1200" dirty="0"/>
          </a:p>
        </p:txBody>
      </p:sp>
      <p:sp>
        <p:nvSpPr>
          <p:cNvPr id="54" name="Text 51"/>
          <p:cNvSpPr txBox="1"/>
          <p:nvPr/>
        </p:nvSpPr>
        <p:spPr>
          <a:xfrm>
            <a:off x="9670694"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ea typeface="Amiri" pitchFamily="2" charset="-78"/>
                <a:cs typeface="Amiri" pitchFamily="2" charset="-78"/>
              </a:rPr>
              <a:t>قَارِنْ</a:t>
            </a:r>
            <a:endParaRPr lang="ar-SA" sz="1500" dirty="0"/>
          </a:p>
        </p:txBody>
      </p:sp>
      <p:sp>
        <p:nvSpPr>
          <p:cNvPr id="55" name="Shape 52"/>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56" name="Text 53"/>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HOW THE ROOM RUNS</a:t>
            </a:r>
            <a:endParaRPr lang="en-US" sz="1000" dirty="0"/>
          </a:p>
        </p:txBody>
      </p:sp>
      <p:sp>
        <p:nvSpPr>
          <p:cNvPr id="57" name="Text 54"/>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Everybody speaks in every step and everybody writes their own text. Swap roles after each task. If you finish early, do the step again with the Stretch route.</a:t>
            </a:r>
            <a:endParaRPr lang="en-US" sz="1250" dirty="0"/>
          </a:p>
        </p:txBody>
      </p:sp>
      <p:sp>
        <p:nvSpPr>
          <p:cNvPr id="58" name="Text 5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22</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D1-L12 · Speaking + writing practice room</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BEFORE THE ROOMS · HOW YOUR ROOM WORKS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00" b="1" dirty="0">
                <a:solidFill>
                  <a:srgbClr val="1B3B6F"/>
                </a:solidFill>
                <a:latin typeface="Cambria" pitchFamily="34" charset="0"/>
                <a:cs typeface="Amiri" pitchFamily="2" charset="-78"/>
              </a:rPr>
              <a:t>Three roles — then write alone, check together</a:t>
            </a:r>
            <a:endParaRPr lang="en-US" sz="20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كَيْفَ نَعْمَلُ فِي الغُرْفَةِ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D1-L12 · practice room</a:t>
            </a:r>
            <a:endParaRPr lang="en-US" sz="850" dirty="0"/>
          </a:p>
        </p:txBody>
      </p:sp>
      <p:sp>
        <p:nvSpPr>
          <p:cNvPr id="15" name="Shape 12"/>
          <p:cNvSpPr/>
          <p:nvPr/>
        </p:nvSpPr>
        <p:spPr>
          <a:xfrm>
            <a:off x="457200" y="1810512"/>
            <a:ext cx="617220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58368" y="1883664"/>
            <a:ext cx="580644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ROLES (SWAP AFTER EVERY TASK)</a:t>
            </a:r>
            <a:endParaRPr lang="en-US" sz="1000" dirty="0"/>
          </a:p>
        </p:txBody>
      </p:sp>
      <p:sp>
        <p:nvSpPr>
          <p:cNvPr id="17" name="Shape 14"/>
          <p:cNvSpPr/>
          <p:nvPr/>
        </p:nvSpPr>
        <p:spPr>
          <a:xfrm>
            <a:off x="658368" y="2286000"/>
            <a:ext cx="310896" cy="310896"/>
          </a:xfrm>
          <a:prstGeom prst="ellipse">
            <a:avLst/>
          </a:prstGeom>
          <a:solidFill>
            <a:srgbClr val="1B3B6F"/>
          </a:solidFill>
          <a:ln w="12700">
            <a:solidFill>
              <a:srgbClr val="1B3B6F"/>
            </a:solidFill>
            <a:prstDash val="solid"/>
          </a:ln>
        </p:spPr>
      </p:sp>
      <p:sp>
        <p:nvSpPr>
          <p:cNvPr id="18" name="Text 15"/>
          <p:cNvSpPr txBox="1"/>
          <p:nvPr/>
        </p:nvSpPr>
        <p:spPr>
          <a:xfrm>
            <a:off x="658368" y="2286000"/>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1</a:t>
            </a:r>
            <a:endParaRPr lang="en-US" sz="1100" dirty="0"/>
          </a:p>
        </p:txBody>
      </p:sp>
      <p:sp>
        <p:nvSpPr>
          <p:cNvPr id="19" name="Text 16"/>
          <p:cNvSpPr txBox="1"/>
          <p:nvPr/>
        </p:nvSpPr>
        <p:spPr>
          <a:xfrm>
            <a:off x="1078992" y="2176272"/>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LEADER — opens the next step, keeps the time and reads the questions.</a:t>
            </a:r>
            <a:endParaRPr lang="en-US" sz="1300" dirty="0"/>
          </a:p>
        </p:txBody>
      </p:sp>
      <p:sp>
        <p:nvSpPr>
          <p:cNvPr id="20" name="Shape 17"/>
          <p:cNvSpPr/>
          <p:nvPr/>
        </p:nvSpPr>
        <p:spPr>
          <a:xfrm>
            <a:off x="658368" y="3296412"/>
            <a:ext cx="310896" cy="310896"/>
          </a:xfrm>
          <a:prstGeom prst="ellipse">
            <a:avLst/>
          </a:prstGeom>
          <a:solidFill>
            <a:srgbClr val="1B3B6F"/>
          </a:solidFill>
          <a:ln w="12700">
            <a:solidFill>
              <a:srgbClr val="1B3B6F"/>
            </a:solidFill>
            <a:prstDash val="solid"/>
          </a:ln>
        </p:spPr>
      </p:sp>
      <p:sp>
        <p:nvSpPr>
          <p:cNvPr id="21" name="Text 18"/>
          <p:cNvSpPr txBox="1"/>
          <p:nvPr/>
        </p:nvSpPr>
        <p:spPr>
          <a:xfrm>
            <a:off x="658368" y="3296412"/>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2</a:t>
            </a:r>
            <a:endParaRPr lang="en-US" sz="1100" dirty="0"/>
          </a:p>
        </p:txBody>
      </p:sp>
      <p:sp>
        <p:nvSpPr>
          <p:cNvPr id="22" name="Text 19"/>
          <p:cNvSpPr txBox="1"/>
          <p:nvPr/>
        </p:nvSpPr>
        <p:spPr>
          <a:xfrm>
            <a:off x="1078992" y="3186684"/>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SPEAKER — answers in Arabic, in a full sentence. Think for a few seconds, then speak.</a:t>
            </a:r>
            <a:endParaRPr lang="en-US" sz="1300" dirty="0"/>
          </a:p>
        </p:txBody>
      </p:sp>
      <p:sp>
        <p:nvSpPr>
          <p:cNvPr id="23" name="Shape 20"/>
          <p:cNvSpPr/>
          <p:nvPr/>
        </p:nvSpPr>
        <p:spPr>
          <a:xfrm>
            <a:off x="658368" y="4306824"/>
            <a:ext cx="310896" cy="310896"/>
          </a:xfrm>
          <a:prstGeom prst="ellipse">
            <a:avLst/>
          </a:prstGeom>
          <a:solidFill>
            <a:srgbClr val="1B3B6F"/>
          </a:solidFill>
          <a:ln w="12700">
            <a:solidFill>
              <a:srgbClr val="1B3B6F"/>
            </a:solidFill>
            <a:prstDash val="solid"/>
          </a:ln>
        </p:spPr>
      </p:sp>
      <p:sp>
        <p:nvSpPr>
          <p:cNvPr id="24" name="Text 21"/>
          <p:cNvSpPr txBox="1"/>
          <p:nvPr/>
        </p:nvSpPr>
        <p:spPr>
          <a:xfrm>
            <a:off x="658368" y="4306824"/>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3</a:t>
            </a:r>
            <a:endParaRPr lang="en-US" sz="1100" dirty="0"/>
          </a:p>
        </p:txBody>
      </p:sp>
      <p:sp>
        <p:nvSpPr>
          <p:cNvPr id="25" name="Text 22"/>
          <p:cNvSpPr txBox="1"/>
          <p:nvPr/>
        </p:nvSpPr>
        <p:spPr>
          <a:xfrm>
            <a:off x="1078992" y="4197096"/>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COACH — listens, checks with the slide, then says one thing that went well and one thing to improve. (In a pair, the Leader is also the Coach.)</a:t>
            </a:r>
            <a:endParaRPr lang="en-US" sz="1300" dirty="0"/>
          </a:p>
        </p:txBody>
      </p:sp>
      <p:sp>
        <p:nvSpPr>
          <p:cNvPr id="26" name="Shape 23"/>
          <p:cNvSpPr/>
          <p:nvPr/>
        </p:nvSpPr>
        <p:spPr>
          <a:xfrm>
            <a:off x="658368" y="5317236"/>
            <a:ext cx="310896" cy="310896"/>
          </a:xfrm>
          <a:prstGeom prst="ellipse">
            <a:avLst/>
          </a:prstGeom>
          <a:solidFill>
            <a:srgbClr val="1B3B6F"/>
          </a:solidFill>
          <a:ln w="12700">
            <a:solidFill>
              <a:srgbClr val="1B3B6F"/>
            </a:solidFill>
            <a:prstDash val="solid"/>
          </a:ln>
        </p:spPr>
      </p:sp>
      <p:sp>
        <p:nvSpPr>
          <p:cNvPr id="27" name="Text 24"/>
          <p:cNvSpPr txBox="1"/>
          <p:nvPr/>
        </p:nvSpPr>
        <p:spPr>
          <a:xfrm>
            <a:off x="658368" y="5317236"/>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4</a:t>
            </a:r>
            <a:endParaRPr lang="en-US" sz="1100" dirty="0"/>
          </a:p>
        </p:txBody>
      </p:sp>
      <p:sp>
        <p:nvSpPr>
          <p:cNvPr id="28" name="Text 25"/>
          <p:cNvSpPr txBox="1"/>
          <p:nvPr/>
        </p:nvSpPr>
        <p:spPr>
          <a:xfrm>
            <a:off x="1078992" y="5207508"/>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WRITING (Part B): everyone writes their OWN text; then swap with a buddy and check.</a:t>
            </a:r>
            <a:endParaRPr lang="en-US" sz="1300" dirty="0"/>
          </a:p>
        </p:txBody>
      </p:sp>
      <p:sp>
        <p:nvSpPr>
          <p:cNvPr id="29" name="Shape 26"/>
          <p:cNvSpPr/>
          <p:nvPr/>
        </p:nvSpPr>
        <p:spPr>
          <a:xfrm>
            <a:off x="6812280" y="1810512"/>
            <a:ext cx="491947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6995160" y="1883664"/>
            <a:ext cx="4553712" cy="274320"/>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USEFUL ROOM PHRASES</a:t>
            </a:r>
            <a:endParaRPr lang="en-US" sz="1000" dirty="0"/>
          </a:p>
        </p:txBody>
      </p:sp>
      <p:sp>
        <p:nvSpPr>
          <p:cNvPr id="31" name="Text 28"/>
          <p:cNvSpPr txBox="1"/>
          <p:nvPr/>
        </p:nvSpPr>
        <p:spPr>
          <a:xfrm>
            <a:off x="6949440" y="2194560"/>
            <a:ext cx="464515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دَوْرُكَ! / دَوْرُكِ!</a:t>
            </a:r>
            <a:endParaRPr lang="ar-SA" sz="2800" dirty="0"/>
          </a:p>
        </p:txBody>
      </p:sp>
      <p:sp>
        <p:nvSpPr>
          <p:cNvPr id="32" name="Text 29"/>
          <p:cNvSpPr txBox="1"/>
          <p:nvPr/>
        </p:nvSpPr>
        <p:spPr>
          <a:xfrm>
            <a:off x="6949440" y="2955828"/>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Your turn! (m. / f.)</a:t>
            </a:r>
            <a:endParaRPr lang="en-US" sz="1100" dirty="0"/>
          </a:p>
        </p:txBody>
      </p:sp>
      <p:sp>
        <p:nvSpPr>
          <p:cNvPr id="33" name="Shape 30"/>
          <p:cNvSpPr/>
          <p:nvPr/>
        </p:nvSpPr>
        <p:spPr>
          <a:xfrm>
            <a:off x="6995160" y="3535680"/>
            <a:ext cx="4553712" cy="0"/>
          </a:xfrm>
          <a:prstGeom prst="line">
            <a:avLst/>
          </a:prstGeom>
          <a:noFill/>
          <a:ln w="9525">
            <a:solidFill>
              <a:srgbClr val="E4DCCB"/>
            </a:solidFill>
            <a:prstDash val="dash"/>
          </a:ln>
        </p:spPr>
      </p:sp>
      <p:sp>
        <p:nvSpPr>
          <p:cNvPr id="34" name="Text 31"/>
          <p:cNvSpPr txBox="1"/>
          <p:nvPr/>
        </p:nvSpPr>
        <p:spPr>
          <a:xfrm>
            <a:off x="6949440" y="3553968"/>
            <a:ext cx="464515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عَفْوًا، أَعِدْ مِنْ فَضْلِكَ.</a:t>
            </a:r>
            <a:endParaRPr lang="ar-SA" sz="2800" dirty="0"/>
          </a:p>
        </p:txBody>
      </p:sp>
      <p:sp>
        <p:nvSpPr>
          <p:cNvPr id="35" name="Text 32"/>
          <p:cNvSpPr txBox="1"/>
          <p:nvPr/>
        </p:nvSpPr>
        <p:spPr>
          <a:xfrm>
            <a:off x="6949440" y="4315236"/>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Sorry, repeat please.</a:t>
            </a:r>
            <a:endParaRPr lang="en-US" sz="1100" dirty="0"/>
          </a:p>
        </p:txBody>
      </p:sp>
      <p:sp>
        <p:nvSpPr>
          <p:cNvPr id="36" name="Shape 33"/>
          <p:cNvSpPr/>
          <p:nvPr/>
        </p:nvSpPr>
        <p:spPr>
          <a:xfrm>
            <a:off x="6995160" y="4895088"/>
            <a:ext cx="4553712" cy="0"/>
          </a:xfrm>
          <a:prstGeom prst="line">
            <a:avLst/>
          </a:prstGeom>
          <a:noFill/>
          <a:ln w="9525">
            <a:solidFill>
              <a:srgbClr val="E4DCCB"/>
            </a:solidFill>
            <a:prstDash val="dash"/>
          </a:ln>
        </p:spPr>
      </p:sp>
      <p:sp>
        <p:nvSpPr>
          <p:cNvPr id="37" name="Text 34"/>
          <p:cNvSpPr txBox="1"/>
          <p:nvPr/>
        </p:nvSpPr>
        <p:spPr>
          <a:xfrm>
            <a:off x="6949440" y="4913376"/>
            <a:ext cx="464515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لَحْظَةً، أُفَكِّرُ …</a:t>
            </a:r>
            <a:endParaRPr lang="ar-SA" sz="2800" dirty="0"/>
          </a:p>
        </p:txBody>
      </p:sp>
      <p:sp>
        <p:nvSpPr>
          <p:cNvPr id="38" name="Text 35"/>
          <p:cNvSpPr txBox="1"/>
          <p:nvPr/>
        </p:nvSpPr>
        <p:spPr>
          <a:xfrm>
            <a:off x="6949440" y="5674644"/>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One moment, I’m thinking …</a:t>
            </a:r>
            <a:endParaRPr lang="en-US" sz="11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22</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D1-L12 · Speaking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PART A · STEP 1 · WORD WARM-UP · 5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Say it — then use it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قُلْهَا وَاسْتَعْمِلْهَا</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D1-L12 · practice room</a:t>
            </a:r>
            <a:endParaRPr lang="en-US" sz="850" dirty="0"/>
          </a:p>
        </p:txBody>
      </p:sp>
      <p:sp>
        <p:nvSpPr>
          <p:cNvPr id="15" name="Shape 12"/>
          <p:cNvSpPr/>
          <p:nvPr/>
        </p:nvSpPr>
        <p:spPr>
          <a:xfrm>
            <a:off x="457200" y="1810512"/>
            <a:ext cx="5715000" cy="4498848"/>
          </a:xfrm>
          <a:prstGeom prst="roundRect">
            <a:avLst>
              <a:gd name="adj" fmla="val 1626"/>
            </a:avLst>
          </a:prstGeom>
          <a:solidFill>
            <a:srgbClr val="F4F1EA"/>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20240"/>
            <a:ext cx="3108960" cy="292608"/>
          </a:xfrm>
          <a:prstGeom prst="roundRect">
            <a:avLst>
              <a:gd name="adj" fmla="val 50000"/>
            </a:avLst>
          </a:prstGeom>
          <a:solidFill>
            <a:srgbClr val="8A6D1E"/>
          </a:solidFill>
          <a:ln w="12700">
            <a:solidFill>
              <a:srgbClr val="8A6D1E"/>
            </a:solidFill>
            <a:prstDash val="solid"/>
          </a:ln>
        </p:spPr>
      </p:sp>
      <p:sp>
        <p:nvSpPr>
          <p:cNvPr id="17" name="Text 14"/>
          <p:cNvSpPr txBox="1"/>
          <p:nvPr/>
        </p:nvSpPr>
        <p:spPr>
          <a:xfrm>
            <a:off x="640080" y="1920240"/>
            <a:ext cx="3108960" cy="292608"/>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STEP 1 · IN YOUR ROOM</a:t>
            </a:r>
            <a:endParaRPr lang="en-US" sz="900" dirty="0"/>
          </a:p>
        </p:txBody>
      </p:sp>
      <p:sp>
        <p:nvSpPr>
          <p:cNvPr id="18" name="Text 15"/>
          <p:cNvSpPr txBox="1"/>
          <p:nvPr/>
        </p:nvSpPr>
        <p:spPr>
          <a:xfrm>
            <a:off x="640080" y="2286000"/>
            <a:ext cx="5349240" cy="502920"/>
          </a:xfrm>
          <a:prstGeom prst="rect">
            <a:avLst/>
          </a:prstGeom>
          <a:noFill/>
          <a:ln/>
        </p:spPr>
        <p:txBody>
          <a:bodyPr wrap="square" lIns="0" tIns="0" rIns="0" bIns="0" rtlCol="0" anchor="ctr"/>
          <a:lstStyle/>
          <a:p>
            <a:pPr algn="l" indent="0" marL="0">
              <a:buNone/>
            </a:pPr>
            <a:r>
              <a:rPr lang="en-US" sz="2200" b="1" dirty="0">
                <a:solidFill>
                  <a:srgbClr val="1B3B6F"/>
                </a:solidFill>
                <a:latin typeface="Calibri" pitchFamily="34" charset="0"/>
                <a:cs typeface="Amiri" pitchFamily="2" charset="-78"/>
              </a:rPr>
              <a:t>🔤  Word ping-pong</a:t>
            </a:r>
            <a:endParaRPr lang="en-US" sz="2200" dirty="0"/>
          </a:p>
        </p:txBody>
      </p:sp>
      <p:sp>
        <p:nvSpPr>
          <p:cNvPr id="19" name="Text 16"/>
          <p:cNvSpPr txBox="1"/>
          <p:nvPr/>
        </p:nvSpPr>
        <p:spPr>
          <a:xfrm>
            <a:off x="640080" y="2816352"/>
            <a:ext cx="5349240" cy="118872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The Leader says a word in ENGLISH from the next two slides. The Speaker says it in ARABIC. The Coach checks the Arabic (and the ending) on the slide.</a:t>
            </a:r>
            <a:endParaRPr lang="en-US" sz="1350" dirty="0"/>
          </a:p>
        </p:txBody>
      </p:sp>
      <p:sp>
        <p:nvSpPr>
          <p:cNvPr id="20" name="Text 17"/>
          <p:cNvSpPr txBox="1"/>
          <p:nvPr/>
        </p:nvSpPr>
        <p:spPr>
          <a:xfrm>
            <a:off x="640080" y="4041648"/>
            <a:ext cx="530352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HOW WE RUN IT ONLINE</a:t>
            </a:r>
            <a:endParaRPr lang="en-US" sz="950" dirty="0"/>
          </a:p>
        </p:txBody>
      </p:sp>
      <p:sp>
        <p:nvSpPr>
          <p:cNvPr id="21" name="Shape 18"/>
          <p:cNvSpPr/>
          <p:nvPr/>
        </p:nvSpPr>
        <p:spPr>
          <a:xfrm>
            <a:off x="658368" y="4407408"/>
            <a:ext cx="274320" cy="274320"/>
          </a:xfrm>
          <a:prstGeom prst="ellipse">
            <a:avLst/>
          </a:prstGeom>
          <a:solidFill>
            <a:srgbClr val="1B3B6F"/>
          </a:solidFill>
          <a:ln w="12700">
            <a:solidFill>
              <a:srgbClr val="1B3B6F"/>
            </a:solidFill>
            <a:prstDash val="solid"/>
          </a:ln>
        </p:spPr>
      </p:sp>
      <p:sp>
        <p:nvSpPr>
          <p:cNvPr id="22" name="Text 19"/>
          <p:cNvSpPr txBox="1"/>
          <p:nvPr/>
        </p:nvSpPr>
        <p:spPr>
          <a:xfrm>
            <a:off x="658368" y="44074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1</a:t>
            </a:r>
            <a:endParaRPr lang="en-US" sz="1000" dirty="0"/>
          </a:p>
        </p:txBody>
      </p:sp>
      <p:sp>
        <p:nvSpPr>
          <p:cNvPr id="23" name="Text 20"/>
          <p:cNvSpPr txBox="1"/>
          <p:nvPr/>
        </p:nvSpPr>
        <p:spPr>
          <a:xfrm>
            <a:off x="1024128" y="43342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Leader: say 4 English words; Speaker answers in Arabic.</a:t>
            </a:r>
            <a:endParaRPr lang="en-US" sz="1150" dirty="0"/>
          </a:p>
        </p:txBody>
      </p:sp>
      <p:sp>
        <p:nvSpPr>
          <p:cNvPr id="24" name="Shape 21"/>
          <p:cNvSpPr/>
          <p:nvPr/>
        </p:nvSpPr>
        <p:spPr>
          <a:xfrm>
            <a:off x="658368" y="4864608"/>
            <a:ext cx="274320" cy="274320"/>
          </a:xfrm>
          <a:prstGeom prst="ellipse">
            <a:avLst/>
          </a:prstGeom>
          <a:solidFill>
            <a:srgbClr val="1B3B6F"/>
          </a:solidFill>
          <a:ln w="12700">
            <a:solidFill>
              <a:srgbClr val="1B3B6F"/>
            </a:solidFill>
            <a:prstDash val="solid"/>
          </a:ln>
        </p:spPr>
      </p:sp>
      <p:sp>
        <p:nvSpPr>
          <p:cNvPr id="25" name="Text 22"/>
          <p:cNvSpPr txBox="1"/>
          <p:nvPr/>
        </p:nvSpPr>
        <p:spPr>
          <a:xfrm>
            <a:off x="658368" y="48646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2</a:t>
            </a:r>
            <a:endParaRPr lang="en-US" sz="1000" dirty="0"/>
          </a:p>
        </p:txBody>
      </p:sp>
      <p:sp>
        <p:nvSpPr>
          <p:cNvPr id="26" name="Text 23"/>
          <p:cNvSpPr txBox="1"/>
          <p:nvPr/>
        </p:nvSpPr>
        <p:spPr>
          <a:xfrm>
            <a:off x="1024128" y="47914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Coach checks the word on the slide.</a:t>
            </a:r>
            <a:endParaRPr lang="en-US" sz="1150" dirty="0"/>
          </a:p>
        </p:txBody>
      </p:sp>
      <p:sp>
        <p:nvSpPr>
          <p:cNvPr id="27" name="Shape 24"/>
          <p:cNvSpPr/>
          <p:nvPr/>
        </p:nvSpPr>
        <p:spPr>
          <a:xfrm>
            <a:off x="658368" y="5321808"/>
            <a:ext cx="274320" cy="274320"/>
          </a:xfrm>
          <a:prstGeom prst="ellipse">
            <a:avLst/>
          </a:prstGeom>
          <a:solidFill>
            <a:srgbClr val="1B3B6F"/>
          </a:solidFill>
          <a:ln w="12700">
            <a:solidFill>
              <a:srgbClr val="1B3B6F"/>
            </a:solidFill>
            <a:prstDash val="solid"/>
          </a:ln>
        </p:spPr>
      </p:sp>
      <p:sp>
        <p:nvSpPr>
          <p:cNvPr id="28" name="Text 25"/>
          <p:cNvSpPr txBox="1"/>
          <p:nvPr/>
        </p:nvSpPr>
        <p:spPr>
          <a:xfrm>
            <a:off x="658368" y="53218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3</a:t>
            </a:r>
            <a:endParaRPr lang="en-US" sz="1000" dirty="0"/>
          </a:p>
        </p:txBody>
      </p:sp>
      <p:sp>
        <p:nvSpPr>
          <p:cNvPr id="29" name="Text 26"/>
          <p:cNvSpPr txBox="1"/>
          <p:nvPr/>
        </p:nvSpPr>
        <p:spPr>
          <a:xfrm>
            <a:off x="1024128" y="52486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Swap roles — new words each time.</a:t>
            </a:r>
            <a:endParaRPr lang="en-US" sz="1150" dirty="0"/>
          </a:p>
        </p:txBody>
      </p:sp>
      <p:sp>
        <p:nvSpPr>
          <p:cNvPr id="30" name="Shape 27"/>
          <p:cNvSpPr/>
          <p:nvPr/>
        </p:nvSpPr>
        <p:spPr>
          <a:xfrm>
            <a:off x="658368" y="5779008"/>
            <a:ext cx="274320" cy="274320"/>
          </a:xfrm>
          <a:prstGeom prst="ellipse">
            <a:avLst/>
          </a:prstGeom>
          <a:solidFill>
            <a:srgbClr val="1B3B6F"/>
          </a:solidFill>
          <a:ln w="12700">
            <a:solidFill>
              <a:srgbClr val="1B3B6F"/>
            </a:solidFill>
            <a:prstDash val="solid"/>
          </a:ln>
        </p:spPr>
      </p:sp>
      <p:sp>
        <p:nvSpPr>
          <p:cNvPr id="31" name="Text 28"/>
          <p:cNvSpPr txBox="1"/>
          <p:nvPr/>
        </p:nvSpPr>
        <p:spPr>
          <a:xfrm>
            <a:off x="658368" y="57790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4</a:t>
            </a:r>
            <a:endParaRPr lang="en-US" sz="1000" dirty="0"/>
          </a:p>
        </p:txBody>
      </p:sp>
      <p:sp>
        <p:nvSpPr>
          <p:cNvPr id="32" name="Text 29"/>
          <p:cNvSpPr txBox="1"/>
          <p:nvPr/>
        </p:nvSpPr>
        <p:spPr>
          <a:xfrm>
            <a:off x="1024128" y="57058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Last round: use each word in a short sentence.</a:t>
            </a:r>
            <a:endParaRPr lang="en-US" sz="1150" dirty="0"/>
          </a:p>
        </p:txBody>
      </p:sp>
      <p:sp>
        <p:nvSpPr>
          <p:cNvPr id="33" name="Shape 30"/>
          <p:cNvSpPr/>
          <p:nvPr/>
        </p:nvSpPr>
        <p:spPr>
          <a:xfrm>
            <a:off x="6355080" y="1810512"/>
            <a:ext cx="5376672" cy="896112"/>
          </a:xfrm>
          <a:prstGeom prst="roundRect">
            <a:avLst>
              <a:gd name="adj" fmla="val 8163"/>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6473952" y="1901952"/>
            <a:ext cx="1051560" cy="256032"/>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6473952" y="190195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3"/>
          <p:cNvSpPr txBox="1"/>
          <p:nvPr/>
        </p:nvSpPr>
        <p:spPr>
          <a:xfrm>
            <a:off x="6473952" y="217627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Say the Arabic word clearly.</a:t>
            </a:r>
            <a:endParaRPr lang="en-US" sz="1150" dirty="0"/>
          </a:p>
        </p:txBody>
      </p:sp>
      <p:sp>
        <p:nvSpPr>
          <p:cNvPr id="37" name="Shape 34"/>
          <p:cNvSpPr/>
          <p:nvPr/>
        </p:nvSpPr>
        <p:spPr>
          <a:xfrm>
            <a:off x="6355080" y="2816352"/>
            <a:ext cx="5376672" cy="896112"/>
          </a:xfrm>
          <a:prstGeom prst="roundRect">
            <a:avLst>
              <a:gd name="adj" fmla="val 8163"/>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6473952" y="2907792"/>
            <a:ext cx="1051560" cy="256032"/>
          </a:xfrm>
          <a:prstGeom prst="roundRect">
            <a:avLst>
              <a:gd name="adj" fmla="val 50000"/>
            </a:avLst>
          </a:prstGeom>
          <a:solidFill>
            <a:srgbClr val="C9780A"/>
          </a:solidFill>
          <a:ln w="12700">
            <a:solidFill>
              <a:srgbClr val="C9780A"/>
            </a:solidFill>
            <a:prstDash val="solid"/>
          </a:ln>
        </p:spPr>
      </p:sp>
      <p:sp>
        <p:nvSpPr>
          <p:cNvPr id="39" name="Text 36"/>
          <p:cNvSpPr txBox="1"/>
          <p:nvPr/>
        </p:nvSpPr>
        <p:spPr>
          <a:xfrm>
            <a:off x="6473952" y="290779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7"/>
          <p:cNvSpPr txBox="1"/>
          <p:nvPr/>
        </p:nvSpPr>
        <p:spPr>
          <a:xfrm>
            <a:off x="6473952" y="318211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Say the word, then a short sentence: </a:t>
            </a:r>
            <a:pPr algn="l" indent="0" marL="0">
              <a:buNone/>
            </a:pPr>
            <a:r>
              <a:rPr lang="ar-SA" altLang="en-US" sz="1500" dirty="0">
                <a:solidFill>
                  <a:srgbClr val="1F2A37"/>
                </a:solidFill>
                <a:latin typeface="Amiri" pitchFamily="2" charset="-78"/>
                <a:ea typeface="Amiri" pitchFamily="2" charset="-78"/>
                <a:cs typeface="Amiri" pitchFamily="2" charset="-78"/>
              </a:rPr>
              <a:t>أَنَا … / عِنْدِي … / هٰذَا</a:t>
            </a:r>
            <a:pPr algn="l" indent="0" marL="0">
              <a:buNone/>
            </a:pPr>
            <a:r>
              <a:rPr lang="en-US" sz="1150" dirty="0">
                <a:solidFill>
                  <a:srgbClr val="1F2A37"/>
                </a:solidFill>
                <a:latin typeface="Calibri" pitchFamily="34" charset="0"/>
                <a:cs typeface="Amiri" pitchFamily="2" charset="-78"/>
              </a:rPr>
              <a:t> …</a:t>
            </a:r>
            <a:endParaRPr lang="en-US" sz="1150" dirty="0"/>
          </a:p>
        </p:txBody>
      </p:sp>
      <p:sp>
        <p:nvSpPr>
          <p:cNvPr id="41" name="Shape 38"/>
          <p:cNvSpPr/>
          <p:nvPr/>
        </p:nvSpPr>
        <p:spPr>
          <a:xfrm>
            <a:off x="6355080" y="3822192"/>
            <a:ext cx="5376672" cy="896112"/>
          </a:xfrm>
          <a:prstGeom prst="roundRect">
            <a:avLst>
              <a:gd name="adj" fmla="val 8163"/>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6473952" y="3913632"/>
            <a:ext cx="1051560" cy="256032"/>
          </a:xfrm>
          <a:prstGeom prst="roundRect">
            <a:avLst>
              <a:gd name="adj" fmla="val 50000"/>
            </a:avLst>
          </a:prstGeom>
          <a:solidFill>
            <a:srgbClr val="B83227"/>
          </a:solidFill>
          <a:ln w="12700">
            <a:solidFill>
              <a:srgbClr val="B83227"/>
            </a:solidFill>
            <a:prstDash val="solid"/>
          </a:ln>
        </p:spPr>
      </p:sp>
      <p:sp>
        <p:nvSpPr>
          <p:cNvPr id="43" name="Text 40"/>
          <p:cNvSpPr txBox="1"/>
          <p:nvPr/>
        </p:nvSpPr>
        <p:spPr>
          <a:xfrm>
            <a:off x="6473952" y="391363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1"/>
          <p:cNvSpPr txBox="1"/>
          <p:nvPr/>
        </p:nvSpPr>
        <p:spPr>
          <a:xfrm>
            <a:off x="6473952" y="418795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Give the feminine or plural form too, then a sentence with two words.</a:t>
            </a:r>
            <a:endParaRPr lang="en-US" sz="1150" dirty="0"/>
          </a:p>
        </p:txBody>
      </p:sp>
      <p:sp>
        <p:nvSpPr>
          <p:cNvPr id="45" name="Shape 42"/>
          <p:cNvSpPr/>
          <p:nvPr/>
        </p:nvSpPr>
        <p:spPr>
          <a:xfrm>
            <a:off x="6355080" y="4828032"/>
            <a:ext cx="5376672" cy="1481328"/>
          </a:xfrm>
          <a:prstGeom prst="roundRect">
            <a:avLst>
              <a:gd name="adj" fmla="val 493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Text 43"/>
          <p:cNvSpPr txBox="1"/>
          <p:nvPr/>
        </p:nvSpPr>
        <p:spPr>
          <a:xfrm>
            <a:off x="6492240" y="4882896"/>
            <a:ext cx="27432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USEFUL LANGUAGE</a:t>
            </a:r>
            <a:endParaRPr lang="en-US" sz="950" dirty="0"/>
          </a:p>
        </p:txBody>
      </p:sp>
      <p:sp>
        <p:nvSpPr>
          <p:cNvPr id="47" name="Text 44"/>
          <p:cNvSpPr txBox="1"/>
          <p:nvPr/>
        </p:nvSpPr>
        <p:spPr>
          <a:xfrm>
            <a:off x="8732520" y="5138928"/>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دَوْرُكَ! / دَوْرُكِ!</a:t>
            </a:r>
            <a:endParaRPr lang="ar-SA" sz="1300" dirty="0"/>
          </a:p>
        </p:txBody>
      </p:sp>
      <p:sp>
        <p:nvSpPr>
          <p:cNvPr id="48" name="Text 45"/>
          <p:cNvSpPr txBox="1"/>
          <p:nvPr/>
        </p:nvSpPr>
        <p:spPr>
          <a:xfrm>
            <a:off x="6492240" y="5138928"/>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your turn! (m. / f.)</a:t>
            </a:r>
            <a:endParaRPr lang="en-US" sz="1000" dirty="0"/>
          </a:p>
        </p:txBody>
      </p:sp>
      <p:sp>
        <p:nvSpPr>
          <p:cNvPr id="49" name="Text 46"/>
          <p:cNvSpPr txBox="1"/>
          <p:nvPr/>
        </p:nvSpPr>
        <p:spPr>
          <a:xfrm>
            <a:off x="8732520" y="5422392"/>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أَعِدْ مِنْ فَضْلِكَ / أَعِيدِي</a:t>
            </a:r>
            <a:endParaRPr lang="ar-SA" sz="1300" dirty="0"/>
          </a:p>
        </p:txBody>
      </p:sp>
      <p:sp>
        <p:nvSpPr>
          <p:cNvPr id="50" name="Text 47"/>
          <p:cNvSpPr txBox="1"/>
          <p:nvPr/>
        </p:nvSpPr>
        <p:spPr>
          <a:xfrm>
            <a:off x="6492240" y="5422392"/>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repeat please (m. / f.)</a:t>
            </a:r>
            <a:endParaRPr lang="en-US" sz="1000" dirty="0"/>
          </a:p>
        </p:txBody>
      </p:sp>
      <p:sp>
        <p:nvSpPr>
          <p:cNvPr id="51" name="Text 48"/>
          <p:cNvSpPr txBox="1"/>
          <p:nvPr/>
        </p:nvSpPr>
        <p:spPr>
          <a:xfrm>
            <a:off x="8732520" y="5705856"/>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أَحْسَنْتَ! / أَحْسَنْتِ!</a:t>
            </a:r>
            <a:endParaRPr lang="ar-SA" sz="1300" dirty="0"/>
          </a:p>
        </p:txBody>
      </p:sp>
      <p:sp>
        <p:nvSpPr>
          <p:cNvPr id="52" name="Text 49"/>
          <p:cNvSpPr txBox="1"/>
          <p:nvPr/>
        </p:nvSpPr>
        <p:spPr>
          <a:xfrm>
            <a:off x="6492240" y="5705856"/>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well done! (m. / f.)</a:t>
            </a:r>
            <a:endParaRPr lang="en-US" sz="1000" dirty="0"/>
          </a:p>
        </p:txBody>
      </p:sp>
      <p:sp>
        <p:nvSpPr>
          <p:cNvPr id="53" name="Text 50"/>
          <p:cNvSpPr txBox="1"/>
          <p:nvPr/>
        </p:nvSpPr>
        <p:spPr>
          <a:xfrm>
            <a:off x="8732520" y="5989320"/>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بِبُطْءٍ مِنْ فَضْلِكَ</a:t>
            </a:r>
            <a:endParaRPr lang="ar-SA" sz="1300" dirty="0"/>
          </a:p>
        </p:txBody>
      </p:sp>
      <p:sp>
        <p:nvSpPr>
          <p:cNvPr id="54" name="Text 51"/>
          <p:cNvSpPr txBox="1"/>
          <p:nvPr/>
        </p:nvSpPr>
        <p:spPr>
          <a:xfrm>
            <a:off x="6492240" y="5989320"/>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slowly, please</a:t>
            </a:r>
            <a:endParaRPr lang="en-US" sz="1000" dirty="0"/>
          </a:p>
        </p:txBody>
      </p:sp>
      <p:sp>
        <p:nvSpPr>
          <p:cNvPr id="55" name="Text 5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22</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D1-L12 · Speaking + writing practice room</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STEP 1 · WORD BANK (1) · FROM THE LESSON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D1 key language (1)</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D1-L12 · practice room</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a:t>
            </a:r>
            <a:endParaRPr lang="en-US" sz="1000" dirty="0"/>
          </a:p>
        </p:txBody>
      </p:sp>
      <p:sp>
        <p:nvSpPr>
          <p:cNvPr id="18" name="Shape 15"/>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السَّاعَةُ الثَّالِثَةُ وَالرُّبْعُ</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quarter past three</a:t>
            </a:r>
            <a:endParaRPr lang="en-US" sz="1350" dirty="0"/>
          </a:p>
          <a:p>
            <a:pPr indent="0" marL="0">
              <a:buNone/>
            </a:pPr>
            <a:r>
              <a:rPr lang="en-US" sz="1100" i="1" dirty="0">
                <a:solidFill>
                  <a:srgbClr val="5A6472"/>
                </a:solidFill>
                <a:latin typeface="Calibri" pitchFamily="34" charset="0"/>
                <a:cs typeface="Amiri" pitchFamily="2" charset="-78"/>
              </a:rPr>
              <a:t>as-sā-ʿa-tu ath-thā-li-tha-tu wālr-rub-ʿu</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a:t>
            </a:r>
            <a:endParaRPr lang="en-US" sz="1000" dirty="0"/>
          </a:p>
        </p:txBody>
      </p:sp>
      <p:sp>
        <p:nvSpPr>
          <p:cNvPr id="25" name="Shape 22"/>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7" name="Text 24"/>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إِلَّا الرُّبْعَ</a:t>
            </a:r>
            <a:endParaRPr lang="ar-SA" sz="3000" dirty="0"/>
          </a:p>
        </p:txBody>
      </p:sp>
      <p:sp>
        <p:nvSpPr>
          <p:cNvPr id="28" name="Text 25"/>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quarter to</a:t>
            </a:r>
            <a:endParaRPr lang="en-US" sz="1350" dirty="0"/>
          </a:p>
          <a:p>
            <a:pPr indent="0" marL="0">
              <a:buNone/>
            </a:pPr>
            <a:r>
              <a:rPr lang="en-US" sz="1100" i="1" dirty="0">
                <a:solidFill>
                  <a:srgbClr val="5A6472"/>
                </a:solidFill>
                <a:latin typeface="Calibri" pitchFamily="34" charset="0"/>
                <a:cs typeface="Amiri" pitchFamily="2" charset="-78"/>
              </a:rPr>
              <a:t>il-lā ar-rub-ʿa</a:t>
            </a:r>
            <a:endParaRPr lang="en-US" sz="1350" dirty="0"/>
          </a:p>
        </p:txBody>
      </p:sp>
      <p:sp>
        <p:nvSpPr>
          <p:cNvPr id="29" name="Shape 26"/>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66928" y="1920240"/>
            <a:ext cx="310896" cy="310896"/>
          </a:xfrm>
          <a:prstGeom prst="ellipse">
            <a:avLst/>
          </a:prstGeom>
          <a:solidFill>
            <a:srgbClr val="F4F1EA"/>
          </a:solidFill>
          <a:ln w="12700">
            <a:solidFill>
              <a:srgbClr val="F4F1EA"/>
            </a:solidFill>
            <a:prstDash val="solid"/>
          </a:ln>
        </p:spPr>
      </p:sp>
      <p:sp>
        <p:nvSpPr>
          <p:cNvPr id="31" name="Text 28"/>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a:t>
            </a:r>
            <a:endParaRPr lang="en-US" sz="1000" dirty="0"/>
          </a:p>
        </p:txBody>
      </p:sp>
      <p:sp>
        <p:nvSpPr>
          <p:cNvPr id="32" name="Shape 29"/>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4" name="Text 31"/>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يَسْتَمِرُّ</a:t>
            </a:r>
            <a:endParaRPr lang="ar-SA" sz="3000" dirty="0"/>
          </a:p>
        </p:txBody>
      </p:sp>
      <p:sp>
        <p:nvSpPr>
          <p:cNvPr id="35" name="Text 32"/>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it lasts</a:t>
            </a:r>
            <a:endParaRPr lang="en-US" sz="1350" dirty="0"/>
          </a:p>
          <a:p>
            <a:pPr indent="0" marL="0">
              <a:buNone/>
            </a:pPr>
            <a:r>
              <a:rPr lang="en-US" sz="1100" i="1" dirty="0">
                <a:solidFill>
                  <a:srgbClr val="5A6472"/>
                </a:solidFill>
                <a:latin typeface="Calibri" pitchFamily="34" charset="0"/>
                <a:cs typeface="Amiri" pitchFamily="2" charset="-78"/>
              </a:rPr>
              <a:t>yas-ta-mir-ru</a:t>
            </a:r>
            <a:endParaRPr lang="en-US" sz="1350" dirty="0"/>
          </a:p>
        </p:txBody>
      </p:sp>
      <p:sp>
        <p:nvSpPr>
          <p:cNvPr id="36" name="Shape 33"/>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8211312" y="4261104"/>
            <a:ext cx="310896" cy="310896"/>
          </a:xfrm>
          <a:prstGeom prst="ellipse">
            <a:avLst/>
          </a:prstGeom>
          <a:solidFill>
            <a:srgbClr val="F4F1EA"/>
          </a:solidFill>
          <a:ln w="12700">
            <a:solidFill>
              <a:srgbClr val="F4F1EA"/>
            </a:solidFill>
            <a:prstDash val="solid"/>
          </a:ln>
        </p:spPr>
      </p:sp>
      <p:sp>
        <p:nvSpPr>
          <p:cNvPr id="38" name="Text 35"/>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4</a:t>
            </a:r>
            <a:endParaRPr lang="en-US" sz="1000" dirty="0"/>
          </a:p>
        </p:txBody>
      </p:sp>
      <p:sp>
        <p:nvSpPr>
          <p:cNvPr id="39" name="Shape 36"/>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40" name="Text 37"/>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1" name="Text 38"/>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عَادَةً · أَحْيَانًا</a:t>
            </a:r>
            <a:endParaRPr lang="ar-SA" sz="3000" dirty="0"/>
          </a:p>
        </p:txBody>
      </p:sp>
      <p:sp>
        <p:nvSpPr>
          <p:cNvPr id="42" name="Text 39"/>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usually · sometimes</a:t>
            </a:r>
            <a:endParaRPr lang="en-US" sz="1350" dirty="0"/>
          </a:p>
          <a:p>
            <a:pPr indent="0" marL="0">
              <a:buNone/>
            </a:pPr>
            <a:r>
              <a:rPr lang="en-US" sz="1100" i="1" dirty="0">
                <a:solidFill>
                  <a:srgbClr val="5A6472"/>
                </a:solidFill>
                <a:latin typeface="Calibri" pitchFamily="34" charset="0"/>
                <a:cs typeface="Amiri" pitchFamily="2" charset="-78"/>
              </a:rPr>
              <a:t>ʿā-da-tan · aḥ-yā-nan</a:t>
            </a:r>
            <a:endParaRPr lang="en-US" sz="1350" dirty="0"/>
          </a:p>
        </p:txBody>
      </p:sp>
      <p:sp>
        <p:nvSpPr>
          <p:cNvPr id="43" name="Shape 40"/>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4389120" y="4261104"/>
            <a:ext cx="310896" cy="310896"/>
          </a:xfrm>
          <a:prstGeom prst="ellipse">
            <a:avLst/>
          </a:prstGeom>
          <a:solidFill>
            <a:srgbClr val="F4F1EA"/>
          </a:solidFill>
          <a:ln w="12700">
            <a:solidFill>
              <a:srgbClr val="F4F1EA"/>
            </a:solidFill>
            <a:prstDash val="solid"/>
          </a:ln>
        </p:spPr>
      </p:sp>
      <p:sp>
        <p:nvSpPr>
          <p:cNvPr id="45" name="Text 42"/>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5</a:t>
            </a:r>
            <a:endParaRPr lang="en-US" sz="1000" dirty="0"/>
          </a:p>
        </p:txBody>
      </p:sp>
      <p:sp>
        <p:nvSpPr>
          <p:cNvPr id="46" name="Shape 43"/>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47" name="Text 44"/>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8" name="Text 45"/>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لَا … أَبَدًا</a:t>
            </a:r>
            <a:endParaRPr lang="ar-SA" sz="3000" dirty="0"/>
          </a:p>
        </p:txBody>
      </p:sp>
      <p:sp>
        <p:nvSpPr>
          <p:cNvPr id="49" name="Text 46"/>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never</a:t>
            </a:r>
            <a:endParaRPr lang="en-US" sz="1350" dirty="0"/>
          </a:p>
          <a:p>
            <a:pPr indent="0" marL="0">
              <a:buNone/>
            </a:pPr>
            <a:r>
              <a:rPr lang="en-US" sz="1100" i="1" dirty="0">
                <a:solidFill>
                  <a:srgbClr val="5A6472"/>
                </a:solidFill>
                <a:latin typeface="Calibri" pitchFamily="34" charset="0"/>
                <a:cs typeface="Amiri" pitchFamily="2" charset="-78"/>
              </a:rPr>
              <a:t>lā … a-ba-dan</a:t>
            </a:r>
            <a:endParaRPr lang="en-US" sz="1350" dirty="0"/>
          </a:p>
        </p:txBody>
      </p:sp>
      <p:sp>
        <p:nvSpPr>
          <p:cNvPr id="50" name="Shape 47"/>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1" name="Shape 48"/>
          <p:cNvSpPr/>
          <p:nvPr/>
        </p:nvSpPr>
        <p:spPr>
          <a:xfrm>
            <a:off x="566928" y="4261104"/>
            <a:ext cx="310896" cy="310896"/>
          </a:xfrm>
          <a:prstGeom prst="ellipse">
            <a:avLst/>
          </a:prstGeom>
          <a:solidFill>
            <a:srgbClr val="F4F1EA"/>
          </a:solidFill>
          <a:ln w="12700">
            <a:solidFill>
              <a:srgbClr val="F4F1EA"/>
            </a:solidFill>
            <a:prstDash val="solid"/>
          </a:ln>
        </p:spPr>
      </p:sp>
      <p:sp>
        <p:nvSpPr>
          <p:cNvPr id="52" name="Text 49"/>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6</a:t>
            </a:r>
            <a:endParaRPr lang="en-US" sz="1000" dirty="0"/>
          </a:p>
        </p:txBody>
      </p:sp>
      <p:sp>
        <p:nvSpPr>
          <p:cNvPr id="53" name="Shape 50"/>
          <p:cNvSpPr/>
          <p:nvPr/>
        </p:nvSpPr>
        <p:spPr>
          <a:xfrm>
            <a:off x="3227832" y="4279392"/>
            <a:ext cx="731520" cy="256032"/>
          </a:xfrm>
          <a:prstGeom prst="roundRect">
            <a:avLst>
              <a:gd name="adj" fmla="val 50000"/>
            </a:avLst>
          </a:prstGeom>
          <a:solidFill>
            <a:srgbClr val="2E8B57"/>
          </a:solidFill>
          <a:ln w="12700">
            <a:solidFill>
              <a:srgbClr val="2E8B57"/>
            </a:solidFill>
            <a:prstDash val="solid"/>
          </a:ln>
        </p:spPr>
      </p:sp>
      <p:sp>
        <p:nvSpPr>
          <p:cNvPr id="54" name="Text 51"/>
          <p:cNvSpPr txBox="1"/>
          <p:nvPr/>
        </p:nvSpPr>
        <p:spPr>
          <a:xfrm>
            <a:off x="3227832"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5" name="Text 52"/>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مَرَّتَيْنِ فِي الأُسْبُوعِ</a:t>
            </a:r>
            <a:endParaRPr lang="ar-SA" sz="3000" dirty="0"/>
          </a:p>
        </p:txBody>
      </p:sp>
      <p:sp>
        <p:nvSpPr>
          <p:cNvPr id="56" name="Text 53"/>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twice a week</a:t>
            </a:r>
            <a:endParaRPr lang="en-US" sz="1350" dirty="0"/>
          </a:p>
          <a:p>
            <a:pPr indent="0" marL="0">
              <a:buNone/>
            </a:pPr>
            <a:r>
              <a:rPr lang="en-US" sz="1100" i="1" dirty="0">
                <a:solidFill>
                  <a:srgbClr val="5A6472"/>
                </a:solidFill>
                <a:latin typeface="Calibri" pitchFamily="34" charset="0"/>
                <a:cs typeface="Amiri" pitchFamily="2" charset="-78"/>
              </a:rPr>
              <a:t>mar-ra-tay-ni fī al-us-bū-ʿi</a:t>
            </a:r>
            <a:endParaRPr lang="en-US" sz="1350" dirty="0"/>
          </a:p>
        </p:txBody>
      </p:sp>
      <p:sp>
        <p:nvSpPr>
          <p:cNvPr id="57" name="Text 5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22</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D1-L12 · Speaking + writing practice room</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STEP 1 · WORD BANK (2) · FROM THE LESSON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D1 key language (2)</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D1-L12 · practice room</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7</a:t>
            </a:r>
            <a:endParaRPr lang="en-US" sz="1000" dirty="0"/>
          </a:p>
        </p:txBody>
      </p:sp>
      <p:sp>
        <p:nvSpPr>
          <p:cNvPr id="18" name="Shape 15"/>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قَبْلَ أَنْ أَنَامَ</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before I sleep</a:t>
            </a:r>
            <a:endParaRPr lang="en-US" sz="1350" dirty="0"/>
          </a:p>
          <a:p>
            <a:pPr indent="0" marL="0">
              <a:buNone/>
            </a:pPr>
            <a:r>
              <a:rPr lang="en-US" sz="1100" i="1" dirty="0">
                <a:solidFill>
                  <a:srgbClr val="5A6472"/>
                </a:solidFill>
                <a:latin typeface="Calibri" pitchFamily="34" charset="0"/>
                <a:cs typeface="Amiri" pitchFamily="2" charset="-78"/>
              </a:rPr>
              <a:t>qab-la an a-nā-ma</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8</a:t>
            </a:r>
            <a:endParaRPr lang="en-US" sz="1000" dirty="0"/>
          </a:p>
        </p:txBody>
      </p:sp>
      <p:sp>
        <p:nvSpPr>
          <p:cNvPr id="25" name="Shape 22"/>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7" name="Text 24"/>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بَعْدَ أَنْ أَرْجِعَ</a:t>
            </a:r>
            <a:endParaRPr lang="ar-SA" sz="3000" dirty="0"/>
          </a:p>
        </p:txBody>
      </p:sp>
      <p:sp>
        <p:nvSpPr>
          <p:cNvPr id="28" name="Text 25"/>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after I get back</a:t>
            </a:r>
            <a:endParaRPr lang="en-US" sz="1350" dirty="0"/>
          </a:p>
          <a:p>
            <a:pPr indent="0" marL="0">
              <a:buNone/>
            </a:pPr>
            <a:r>
              <a:rPr lang="en-US" sz="1100" i="1" dirty="0">
                <a:solidFill>
                  <a:srgbClr val="5A6472"/>
                </a:solidFill>
                <a:latin typeface="Calibri" pitchFamily="34" charset="0"/>
                <a:cs typeface="Amiri" pitchFamily="2" charset="-78"/>
              </a:rPr>
              <a:t>baʿ-da an ar-ji-ʿa</a:t>
            </a:r>
            <a:endParaRPr lang="en-US" sz="1350" dirty="0"/>
          </a:p>
        </p:txBody>
      </p:sp>
      <p:sp>
        <p:nvSpPr>
          <p:cNvPr id="29" name="Shape 26"/>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66928" y="1920240"/>
            <a:ext cx="310896" cy="310896"/>
          </a:xfrm>
          <a:prstGeom prst="ellipse">
            <a:avLst/>
          </a:prstGeom>
          <a:solidFill>
            <a:srgbClr val="F4F1EA"/>
          </a:solidFill>
          <a:ln w="12700">
            <a:solidFill>
              <a:srgbClr val="F4F1EA"/>
            </a:solidFill>
            <a:prstDash val="solid"/>
          </a:ln>
        </p:spPr>
      </p:sp>
      <p:sp>
        <p:nvSpPr>
          <p:cNvPr id="31" name="Text 28"/>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9</a:t>
            </a:r>
            <a:endParaRPr lang="en-US" sz="1000" dirty="0"/>
          </a:p>
        </p:txBody>
      </p:sp>
      <p:sp>
        <p:nvSpPr>
          <p:cNvPr id="32" name="Shape 29"/>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4" name="Text 31"/>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لِمُدَّةِ سَاعَةٍ</a:t>
            </a:r>
            <a:endParaRPr lang="ar-SA" sz="3000" dirty="0"/>
          </a:p>
        </p:txBody>
      </p:sp>
      <p:sp>
        <p:nvSpPr>
          <p:cNvPr id="35" name="Text 32"/>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for an hour</a:t>
            </a:r>
            <a:endParaRPr lang="en-US" sz="1350" dirty="0"/>
          </a:p>
          <a:p>
            <a:pPr indent="0" marL="0">
              <a:buNone/>
            </a:pPr>
            <a:r>
              <a:rPr lang="en-US" sz="1100" i="1" dirty="0">
                <a:solidFill>
                  <a:srgbClr val="5A6472"/>
                </a:solidFill>
                <a:latin typeface="Calibri" pitchFamily="34" charset="0"/>
                <a:cs typeface="Amiri" pitchFamily="2" charset="-78"/>
              </a:rPr>
              <a:t>li-mud-da-ti sā-ʿa-tin</a:t>
            </a:r>
            <a:endParaRPr lang="en-US" sz="1350" dirty="0"/>
          </a:p>
        </p:txBody>
      </p:sp>
      <p:sp>
        <p:nvSpPr>
          <p:cNvPr id="36" name="Shape 33"/>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8211312" y="4261104"/>
            <a:ext cx="310896" cy="310896"/>
          </a:xfrm>
          <a:prstGeom prst="ellipse">
            <a:avLst/>
          </a:prstGeom>
          <a:solidFill>
            <a:srgbClr val="F4F1EA"/>
          </a:solidFill>
          <a:ln w="12700">
            <a:solidFill>
              <a:srgbClr val="F4F1EA"/>
            </a:solidFill>
            <a:prstDash val="solid"/>
          </a:ln>
        </p:spPr>
      </p:sp>
      <p:sp>
        <p:nvSpPr>
          <p:cNvPr id="38" name="Text 35"/>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10</a:t>
            </a:r>
            <a:endParaRPr lang="en-US" sz="1000" dirty="0"/>
          </a:p>
        </p:txBody>
      </p:sp>
      <p:sp>
        <p:nvSpPr>
          <p:cNvPr id="39" name="Shape 36"/>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40" name="Text 37"/>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1" name="Text 38"/>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لِكَيْ أَسْتَعِدَّ</a:t>
            </a:r>
            <a:endParaRPr lang="ar-SA" sz="3000" dirty="0"/>
          </a:p>
        </p:txBody>
      </p:sp>
      <p:sp>
        <p:nvSpPr>
          <p:cNvPr id="42" name="Text 39"/>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in order to prepare</a:t>
            </a:r>
            <a:endParaRPr lang="en-US" sz="1350" dirty="0"/>
          </a:p>
          <a:p>
            <a:pPr indent="0" marL="0">
              <a:buNone/>
            </a:pPr>
            <a:r>
              <a:rPr lang="en-US" sz="1100" i="1" dirty="0">
                <a:solidFill>
                  <a:srgbClr val="5A6472"/>
                </a:solidFill>
                <a:latin typeface="Calibri" pitchFamily="34" charset="0"/>
                <a:cs typeface="Amiri" pitchFamily="2" charset="-78"/>
              </a:rPr>
              <a:t>li-kay as-ta-ʿid-da</a:t>
            </a:r>
            <a:endParaRPr lang="en-US" sz="1350" dirty="0"/>
          </a:p>
        </p:txBody>
      </p:sp>
      <p:sp>
        <p:nvSpPr>
          <p:cNvPr id="43" name="Shape 40"/>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4389120" y="4261104"/>
            <a:ext cx="310896" cy="310896"/>
          </a:xfrm>
          <a:prstGeom prst="ellipse">
            <a:avLst/>
          </a:prstGeom>
          <a:solidFill>
            <a:srgbClr val="F4F1EA"/>
          </a:solidFill>
          <a:ln w="12700">
            <a:solidFill>
              <a:srgbClr val="F4F1EA"/>
            </a:solidFill>
            <a:prstDash val="solid"/>
          </a:ln>
        </p:spPr>
      </p:sp>
      <p:sp>
        <p:nvSpPr>
          <p:cNvPr id="45" name="Text 42"/>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11</a:t>
            </a:r>
            <a:endParaRPr lang="en-US" sz="1000" dirty="0"/>
          </a:p>
        </p:txBody>
      </p:sp>
      <p:sp>
        <p:nvSpPr>
          <p:cNvPr id="46" name="Shape 43"/>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47" name="Text 44"/>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8" name="Text 45"/>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بَيْنَمَا</a:t>
            </a:r>
            <a:endParaRPr lang="ar-SA" sz="3000" dirty="0"/>
          </a:p>
        </p:txBody>
      </p:sp>
      <p:sp>
        <p:nvSpPr>
          <p:cNvPr id="49" name="Text 46"/>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whereas</a:t>
            </a:r>
            <a:endParaRPr lang="en-US" sz="1350" dirty="0"/>
          </a:p>
          <a:p>
            <a:pPr indent="0" marL="0">
              <a:buNone/>
            </a:pPr>
            <a:r>
              <a:rPr lang="en-US" sz="1100" i="1" dirty="0">
                <a:solidFill>
                  <a:srgbClr val="5A6472"/>
                </a:solidFill>
                <a:latin typeface="Calibri" pitchFamily="34" charset="0"/>
                <a:cs typeface="Amiri" pitchFamily="2" charset="-78"/>
              </a:rPr>
              <a:t>bay-na-mā</a:t>
            </a:r>
            <a:endParaRPr lang="en-US" sz="1350" dirty="0"/>
          </a:p>
        </p:txBody>
      </p:sp>
      <p:sp>
        <p:nvSpPr>
          <p:cNvPr id="50" name="Shape 47"/>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1" name="Shape 48"/>
          <p:cNvSpPr/>
          <p:nvPr/>
        </p:nvSpPr>
        <p:spPr>
          <a:xfrm>
            <a:off x="566928" y="4261104"/>
            <a:ext cx="310896" cy="310896"/>
          </a:xfrm>
          <a:prstGeom prst="ellipse">
            <a:avLst/>
          </a:prstGeom>
          <a:solidFill>
            <a:srgbClr val="F4F1EA"/>
          </a:solidFill>
          <a:ln w="12700">
            <a:solidFill>
              <a:srgbClr val="F4F1EA"/>
            </a:solidFill>
            <a:prstDash val="solid"/>
          </a:ln>
        </p:spPr>
      </p:sp>
      <p:sp>
        <p:nvSpPr>
          <p:cNvPr id="52" name="Text 49"/>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12</a:t>
            </a:r>
            <a:endParaRPr lang="en-US" sz="1000" dirty="0"/>
          </a:p>
        </p:txBody>
      </p:sp>
      <p:sp>
        <p:nvSpPr>
          <p:cNvPr id="53" name="Shape 50"/>
          <p:cNvSpPr/>
          <p:nvPr/>
        </p:nvSpPr>
        <p:spPr>
          <a:xfrm>
            <a:off x="3227832" y="4279392"/>
            <a:ext cx="731520" cy="256032"/>
          </a:xfrm>
          <a:prstGeom prst="roundRect">
            <a:avLst>
              <a:gd name="adj" fmla="val 50000"/>
            </a:avLst>
          </a:prstGeom>
          <a:solidFill>
            <a:srgbClr val="2E8B57"/>
          </a:solidFill>
          <a:ln w="12700">
            <a:solidFill>
              <a:srgbClr val="2E8B57"/>
            </a:solidFill>
            <a:prstDash val="solid"/>
          </a:ln>
        </p:spPr>
      </p:sp>
      <p:sp>
        <p:nvSpPr>
          <p:cNvPr id="54" name="Text 51"/>
          <p:cNvSpPr txBox="1"/>
          <p:nvPr/>
        </p:nvSpPr>
        <p:spPr>
          <a:xfrm>
            <a:off x="3227832"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5" name="Text 52"/>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إِذَا كَانَ عِنْدِي وَقْتٌ</a:t>
            </a:r>
            <a:endParaRPr lang="ar-SA" sz="3000" dirty="0"/>
          </a:p>
        </p:txBody>
      </p:sp>
      <p:sp>
        <p:nvSpPr>
          <p:cNvPr id="56" name="Text 53"/>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if I have time</a:t>
            </a:r>
            <a:endParaRPr lang="en-US" sz="1350" dirty="0"/>
          </a:p>
          <a:p>
            <a:pPr indent="0" marL="0">
              <a:buNone/>
            </a:pPr>
            <a:r>
              <a:rPr lang="en-US" sz="1100" i="1" dirty="0">
                <a:solidFill>
                  <a:srgbClr val="5A6472"/>
                </a:solidFill>
                <a:latin typeface="Calibri" pitchFamily="34" charset="0"/>
                <a:cs typeface="Amiri" pitchFamily="2" charset="-78"/>
              </a:rPr>
              <a:t>i-dhā kā-na ʿin-dī waq-tun</a:t>
            </a:r>
            <a:endParaRPr lang="en-US" sz="1350" dirty="0"/>
          </a:p>
        </p:txBody>
      </p:sp>
      <p:sp>
        <p:nvSpPr>
          <p:cNvPr id="57" name="Text 5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22</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D1-L12 · Speaking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2F6FB0"/>
                </a:solidFill>
                <a:latin typeface="Calibri" pitchFamily="34" charset="0"/>
                <a:cs typeface="Amiri" pitchFamily="2" charset="-78"/>
              </a:rPr>
              <a:t>STEP 2 · SAY THE MODEL DIALOGUE · READ IT, THEN SAY IT WITHOUT LOOKING</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400" b="1" dirty="0">
                <a:solidFill>
                  <a:srgbClr val="1B3B6F"/>
                </a:solidFill>
                <a:latin typeface="Cambria" pitchFamily="34" charset="0"/>
                <a:cs typeface="Amiri" pitchFamily="2" charset="-78"/>
              </a:rPr>
              <a:t>Everything from D1 in one conversation</a:t>
            </a:r>
            <a:endParaRPr lang="en-US" sz="24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 الوَحْدَةِ فِي حِوَارٍ</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D1-L12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7754112" y="1810512"/>
            <a:ext cx="39044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17" name="Text 14"/>
          <p:cNvSpPr txBox="1"/>
          <p:nvPr/>
        </p:nvSpPr>
        <p:spPr>
          <a:xfrm>
            <a:off x="1444752" y="1810512"/>
            <a:ext cx="61630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Say it in Arabic</a:t>
            </a:r>
            <a:endParaRPr lang="en-US" sz="1100" dirty="0"/>
          </a:p>
        </p:txBody>
      </p:sp>
      <p:sp>
        <p:nvSpPr>
          <p:cNvPr id="18" name="Text 15"/>
          <p:cNvSpPr txBox="1"/>
          <p:nvPr/>
        </p:nvSpPr>
        <p:spPr>
          <a:xfrm>
            <a:off x="530352" y="1810512"/>
            <a:ext cx="7680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Who</a:t>
            </a:r>
            <a:endParaRPr lang="en-US" sz="1100" dirty="0"/>
          </a:p>
        </p:txBody>
      </p:sp>
      <p:sp>
        <p:nvSpPr>
          <p:cNvPr id="19" name="Shape 16"/>
          <p:cNvSpPr/>
          <p:nvPr/>
        </p:nvSpPr>
        <p:spPr>
          <a:xfrm>
            <a:off x="457200" y="2267712"/>
            <a:ext cx="11274552" cy="559308"/>
          </a:xfrm>
          <a:prstGeom prst="roundRect">
            <a:avLst>
              <a:gd name="adj" fmla="val 8174"/>
            </a:avLst>
          </a:prstGeom>
          <a:solidFill>
            <a:srgbClr val="FFFFFF"/>
          </a:solidFill>
          <a:ln w="9525">
            <a:solidFill>
              <a:srgbClr val="D8D0BF"/>
            </a:solidFill>
            <a:prstDash val="solid"/>
          </a:ln>
        </p:spPr>
      </p:sp>
      <p:sp>
        <p:nvSpPr>
          <p:cNvPr id="20" name="Text 17"/>
          <p:cNvSpPr txBox="1"/>
          <p:nvPr/>
        </p:nvSpPr>
        <p:spPr>
          <a:xfrm>
            <a:off x="7790688" y="2267712"/>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is your day usually like?</a:t>
            </a:r>
            <a:endParaRPr lang="en-US" sz="1100" dirty="0"/>
          </a:p>
        </p:txBody>
      </p:sp>
      <p:sp>
        <p:nvSpPr>
          <p:cNvPr id="21" name="Text 18"/>
          <p:cNvSpPr txBox="1"/>
          <p:nvPr/>
        </p:nvSpPr>
        <p:spPr>
          <a:xfrm>
            <a:off x="1463040" y="2267712"/>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كَيْفَ يَوْمُكَ عَادَةً؟</a:t>
            </a:r>
            <a:endParaRPr lang="ar-SA" sz="2000" dirty="0"/>
          </a:p>
        </p:txBody>
      </p:sp>
      <p:sp>
        <p:nvSpPr>
          <p:cNvPr id="22" name="Text 19"/>
          <p:cNvSpPr txBox="1"/>
          <p:nvPr/>
        </p:nvSpPr>
        <p:spPr>
          <a:xfrm>
            <a:off x="566928" y="2267712"/>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a:t>
            </a:r>
            <a:endParaRPr lang="en-US" sz="1100" dirty="0"/>
          </a:p>
        </p:txBody>
      </p:sp>
      <p:sp>
        <p:nvSpPr>
          <p:cNvPr id="23" name="Shape 20"/>
          <p:cNvSpPr/>
          <p:nvPr/>
        </p:nvSpPr>
        <p:spPr>
          <a:xfrm>
            <a:off x="457200" y="2881884"/>
            <a:ext cx="11274552" cy="559308"/>
          </a:xfrm>
          <a:prstGeom prst="roundRect">
            <a:avLst>
              <a:gd name="adj" fmla="val 8174"/>
            </a:avLst>
          </a:prstGeom>
          <a:solidFill>
            <a:srgbClr val="F4F1EA"/>
          </a:solidFill>
          <a:ln w="9525">
            <a:solidFill>
              <a:srgbClr val="D8D0BF"/>
            </a:solidFill>
            <a:prstDash val="solid"/>
          </a:ln>
        </p:spPr>
      </p:sp>
      <p:sp>
        <p:nvSpPr>
          <p:cNvPr id="24" name="Text 21"/>
          <p:cNvSpPr txBox="1"/>
          <p:nvPr/>
        </p:nvSpPr>
        <p:spPr>
          <a:xfrm>
            <a:off x="7790688" y="2881884"/>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 wake up at half past six, and before I go out I have breakfast.</a:t>
            </a:r>
            <a:endParaRPr lang="en-US" sz="1100" dirty="0"/>
          </a:p>
        </p:txBody>
      </p:sp>
      <p:sp>
        <p:nvSpPr>
          <p:cNvPr id="25" name="Text 22"/>
          <p:cNvSpPr txBox="1"/>
          <p:nvPr/>
        </p:nvSpPr>
        <p:spPr>
          <a:xfrm>
            <a:off x="1463040" y="2881884"/>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أَسْتَيْقِظُ فِي السَّادِسَةِ وَالنِّصْفِ، وَقَبْلَ أَنْ أَخْرُجَ أَتَنَاوَلُ الإِفْطَارَ.</a:t>
            </a:r>
            <a:endParaRPr lang="ar-SA" sz="2000" dirty="0"/>
          </a:p>
        </p:txBody>
      </p:sp>
      <p:sp>
        <p:nvSpPr>
          <p:cNvPr id="26" name="Text 23"/>
          <p:cNvSpPr txBox="1"/>
          <p:nvPr/>
        </p:nvSpPr>
        <p:spPr>
          <a:xfrm>
            <a:off x="566928" y="2881884"/>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t>
            </a:r>
            <a:endParaRPr lang="en-US" sz="1100" dirty="0"/>
          </a:p>
        </p:txBody>
      </p:sp>
      <p:sp>
        <p:nvSpPr>
          <p:cNvPr id="27" name="Shape 24"/>
          <p:cNvSpPr/>
          <p:nvPr/>
        </p:nvSpPr>
        <p:spPr>
          <a:xfrm>
            <a:off x="457200" y="3496056"/>
            <a:ext cx="11274552" cy="559308"/>
          </a:xfrm>
          <a:prstGeom prst="roundRect">
            <a:avLst>
              <a:gd name="adj" fmla="val 8174"/>
            </a:avLst>
          </a:prstGeom>
          <a:solidFill>
            <a:srgbClr val="FFFFFF"/>
          </a:solidFill>
          <a:ln w="9525">
            <a:solidFill>
              <a:srgbClr val="D8D0BF"/>
            </a:solidFill>
            <a:prstDash val="solid"/>
          </a:ln>
        </p:spPr>
      </p:sp>
      <p:sp>
        <p:nvSpPr>
          <p:cNvPr id="28" name="Text 25"/>
          <p:cNvSpPr txBox="1"/>
          <p:nvPr/>
        </p:nvSpPr>
        <p:spPr>
          <a:xfrm>
            <a:off x="7790688" y="3496056"/>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And how often do you train?</a:t>
            </a:r>
            <a:endParaRPr lang="en-US" sz="1100" dirty="0"/>
          </a:p>
        </p:txBody>
      </p:sp>
      <p:sp>
        <p:nvSpPr>
          <p:cNvPr id="29" name="Text 26"/>
          <p:cNvSpPr txBox="1"/>
          <p:nvPr/>
        </p:nvSpPr>
        <p:spPr>
          <a:xfrm>
            <a:off x="1463040" y="3496056"/>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وَكَمْ مَرَّةً تَتَدَرَّبُ؟</a:t>
            </a:r>
            <a:endParaRPr lang="ar-SA" sz="2000" dirty="0"/>
          </a:p>
        </p:txBody>
      </p:sp>
      <p:sp>
        <p:nvSpPr>
          <p:cNvPr id="30" name="Text 27"/>
          <p:cNvSpPr txBox="1"/>
          <p:nvPr/>
        </p:nvSpPr>
        <p:spPr>
          <a:xfrm>
            <a:off x="566928" y="3496056"/>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a:t>
            </a:r>
            <a:endParaRPr lang="en-US" sz="1100" dirty="0"/>
          </a:p>
        </p:txBody>
      </p:sp>
      <p:sp>
        <p:nvSpPr>
          <p:cNvPr id="31" name="Shape 28"/>
          <p:cNvSpPr/>
          <p:nvPr/>
        </p:nvSpPr>
        <p:spPr>
          <a:xfrm>
            <a:off x="457200" y="4110228"/>
            <a:ext cx="11274552" cy="559308"/>
          </a:xfrm>
          <a:prstGeom prst="roundRect">
            <a:avLst>
              <a:gd name="adj" fmla="val 8174"/>
            </a:avLst>
          </a:prstGeom>
          <a:solidFill>
            <a:srgbClr val="F4F1EA"/>
          </a:solidFill>
          <a:ln w="9525">
            <a:solidFill>
              <a:srgbClr val="D8D0BF"/>
            </a:solidFill>
            <a:prstDash val="solid"/>
          </a:ln>
        </p:spPr>
      </p:sp>
      <p:sp>
        <p:nvSpPr>
          <p:cNvPr id="32" name="Text 29"/>
          <p:cNvSpPr txBox="1"/>
          <p:nvPr/>
        </p:nvSpPr>
        <p:spPr>
          <a:xfrm>
            <a:off x="7790688" y="4110228"/>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Twice a week, for an hour and a half, to stay active.</a:t>
            </a:r>
            <a:endParaRPr lang="en-US" sz="1100" dirty="0"/>
          </a:p>
        </p:txBody>
      </p:sp>
      <p:sp>
        <p:nvSpPr>
          <p:cNvPr id="33" name="Text 30"/>
          <p:cNvSpPr txBox="1"/>
          <p:nvPr/>
        </p:nvSpPr>
        <p:spPr>
          <a:xfrm>
            <a:off x="1463040" y="4110228"/>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مَرَّتَيْنِ فِي الأُسْبُوعِ، لِمُدَّةِ سَاعَةٍ وَنِصْفٍ، لِكَيْ أَبْقَى نَشِيطًا.</a:t>
            </a:r>
            <a:endParaRPr lang="ar-SA" sz="2000" dirty="0"/>
          </a:p>
        </p:txBody>
      </p:sp>
      <p:sp>
        <p:nvSpPr>
          <p:cNvPr id="34" name="Text 31"/>
          <p:cNvSpPr txBox="1"/>
          <p:nvPr/>
        </p:nvSpPr>
        <p:spPr>
          <a:xfrm>
            <a:off x="566928" y="4110228"/>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t>
            </a:r>
            <a:endParaRPr lang="en-US" sz="1100" dirty="0"/>
          </a:p>
        </p:txBody>
      </p:sp>
      <p:sp>
        <p:nvSpPr>
          <p:cNvPr id="35" name="Shape 32"/>
          <p:cNvSpPr/>
          <p:nvPr/>
        </p:nvSpPr>
        <p:spPr>
          <a:xfrm>
            <a:off x="457200" y="4724400"/>
            <a:ext cx="11274552" cy="559308"/>
          </a:xfrm>
          <a:prstGeom prst="roundRect">
            <a:avLst>
              <a:gd name="adj" fmla="val 8174"/>
            </a:avLst>
          </a:prstGeom>
          <a:solidFill>
            <a:srgbClr val="FFFFFF"/>
          </a:solidFill>
          <a:ln w="9525">
            <a:solidFill>
              <a:srgbClr val="D8D0BF"/>
            </a:solidFill>
            <a:prstDash val="solid"/>
          </a:ln>
        </p:spPr>
      </p:sp>
      <p:sp>
        <p:nvSpPr>
          <p:cNvPr id="36" name="Text 33"/>
          <p:cNvSpPr txBox="1"/>
          <p:nvPr/>
        </p:nvSpPr>
        <p:spPr>
          <a:xfrm>
            <a:off x="7790688" y="4724400"/>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And what did you do yesterday?</a:t>
            </a:r>
            <a:endParaRPr lang="en-US" sz="1100" dirty="0"/>
          </a:p>
        </p:txBody>
      </p:sp>
      <p:sp>
        <p:nvSpPr>
          <p:cNvPr id="37" name="Text 34"/>
          <p:cNvSpPr txBox="1"/>
          <p:nvPr/>
        </p:nvSpPr>
        <p:spPr>
          <a:xfrm>
            <a:off x="1463040" y="4724400"/>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وَمَاذَا فَعَلْتَ أَمْسِ؟</a:t>
            </a:r>
            <a:endParaRPr lang="ar-SA" sz="2000" dirty="0"/>
          </a:p>
        </p:txBody>
      </p:sp>
      <p:sp>
        <p:nvSpPr>
          <p:cNvPr id="38" name="Text 35"/>
          <p:cNvSpPr txBox="1"/>
          <p:nvPr/>
        </p:nvSpPr>
        <p:spPr>
          <a:xfrm>
            <a:off x="566928" y="4724400"/>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a:t>
            </a:r>
            <a:endParaRPr lang="en-US" sz="1100" dirty="0"/>
          </a:p>
        </p:txBody>
      </p:sp>
      <p:sp>
        <p:nvSpPr>
          <p:cNvPr id="39" name="Shape 36"/>
          <p:cNvSpPr/>
          <p:nvPr/>
        </p:nvSpPr>
        <p:spPr>
          <a:xfrm>
            <a:off x="457200" y="5338572"/>
            <a:ext cx="11274552" cy="559308"/>
          </a:xfrm>
          <a:prstGeom prst="roundRect">
            <a:avLst>
              <a:gd name="adj" fmla="val 8174"/>
            </a:avLst>
          </a:prstGeom>
          <a:solidFill>
            <a:srgbClr val="F4F1EA"/>
          </a:solidFill>
          <a:ln w="9525">
            <a:solidFill>
              <a:srgbClr val="D8D0BF"/>
            </a:solidFill>
            <a:prstDash val="solid"/>
          </a:ln>
        </p:spPr>
      </p:sp>
      <p:sp>
        <p:nvSpPr>
          <p:cNvPr id="40" name="Text 37"/>
          <p:cNvSpPr txBox="1"/>
          <p:nvPr/>
        </p:nvSpPr>
        <p:spPr>
          <a:xfrm>
            <a:off x="7790688" y="5338572"/>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Yesterday I got back late; as for tomorrow, I will get back at three.</a:t>
            </a:r>
            <a:endParaRPr lang="en-US" sz="1100" dirty="0"/>
          </a:p>
        </p:txBody>
      </p:sp>
      <p:sp>
        <p:nvSpPr>
          <p:cNvPr id="41" name="Text 38"/>
          <p:cNvSpPr txBox="1"/>
          <p:nvPr/>
        </p:nvSpPr>
        <p:spPr>
          <a:xfrm>
            <a:off x="1463040" y="5338572"/>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أَمْسِ رَجَعْتُ مُتَأَخِّرًا، أَمَّا غَدًا فَسَأَرْجِعُ فِي الثَّالِثَةِ.</a:t>
            </a:r>
            <a:endParaRPr lang="ar-SA" sz="2000" dirty="0"/>
          </a:p>
        </p:txBody>
      </p:sp>
      <p:sp>
        <p:nvSpPr>
          <p:cNvPr id="42" name="Text 39"/>
          <p:cNvSpPr txBox="1"/>
          <p:nvPr/>
        </p:nvSpPr>
        <p:spPr>
          <a:xfrm>
            <a:off x="566928" y="5338572"/>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t>
            </a:r>
            <a:endParaRPr lang="en-US" sz="1100" dirty="0"/>
          </a:p>
        </p:txBody>
      </p:sp>
      <p:sp>
        <p:nvSpPr>
          <p:cNvPr id="43" name="Text 40"/>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Round 1: read it. Round 2: swap letters. Round 3: answer with YOUR life — then ask your partner the same three questions (boy / girl form!).</a:t>
            </a:r>
            <a:endParaRPr lang="en-US" sz="115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22</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D1-L12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7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E6B52"/>
                </a:solidFill>
                <a:latin typeface="Calibri" pitchFamily="34" charset="0"/>
                <a:cs typeface="Amiri" pitchFamily="2" charset="-78"/>
              </a:rPr>
              <a:t>STEP 3 · QUESTION CARDS · THE LEADER ASKS, THE SPEAKER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150" b="1" dirty="0">
                <a:solidFill>
                  <a:srgbClr val="1B3B6F"/>
                </a:solidFill>
                <a:latin typeface="Cambria" pitchFamily="34" charset="0"/>
                <a:cs typeface="Amiri" pitchFamily="2" charset="-78"/>
              </a:rPr>
              <a:t>Mixed exam cards — one from each D1 lesson</a:t>
            </a:r>
            <a:endParaRPr lang="en-US" sz="21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أَسْئِلَةٌ وَأَجْوِبَةٌ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D1-L12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9720072" y="1810512"/>
            <a:ext cx="193852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Add more (Develop · Stretch)</a:t>
            </a:r>
            <a:endParaRPr lang="en-US" sz="1100" dirty="0"/>
          </a:p>
        </p:txBody>
      </p:sp>
      <p:sp>
        <p:nvSpPr>
          <p:cNvPr id="17" name="Text 14"/>
          <p:cNvSpPr txBox="1"/>
          <p:nvPr/>
        </p:nvSpPr>
        <p:spPr>
          <a:xfrm>
            <a:off x="6976872" y="1810512"/>
            <a:ext cx="25968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Start your answer (Core)</a:t>
            </a:r>
            <a:endParaRPr lang="en-US" sz="1100" dirty="0"/>
          </a:p>
        </p:txBody>
      </p:sp>
      <p:sp>
        <p:nvSpPr>
          <p:cNvPr id="18" name="Text 15"/>
          <p:cNvSpPr txBox="1"/>
          <p:nvPr/>
        </p:nvSpPr>
        <p:spPr>
          <a:xfrm>
            <a:off x="4599432" y="1810512"/>
            <a:ext cx="22311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19" name="Text 16"/>
          <p:cNvSpPr txBox="1"/>
          <p:nvPr/>
        </p:nvSpPr>
        <p:spPr>
          <a:xfrm>
            <a:off x="1033272" y="1810512"/>
            <a:ext cx="34198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Leader asks</a:t>
            </a:r>
            <a:endParaRPr lang="en-US" sz="1100" dirty="0"/>
          </a:p>
        </p:txBody>
      </p:sp>
      <p:sp>
        <p:nvSpPr>
          <p:cNvPr id="20" name="Text 17"/>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1" name="Shape 18"/>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2" name="Text 19"/>
          <p:cNvSpPr txBox="1"/>
          <p:nvPr/>
        </p:nvSpPr>
        <p:spPr>
          <a:xfrm>
            <a:off x="9738360" y="2267712"/>
            <a:ext cx="190195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أَيْ بَعْدَ … دَقِيقَةً</a:t>
            </a:r>
            <a:endParaRPr lang="ar-SA" sz="1500" dirty="0"/>
          </a:p>
        </p:txBody>
      </p:sp>
      <p:sp>
        <p:nvSpPr>
          <p:cNvPr id="23" name="Text 20"/>
          <p:cNvSpPr txBox="1"/>
          <p:nvPr/>
        </p:nvSpPr>
        <p:spPr>
          <a:xfrm>
            <a:off x="6995160" y="2267712"/>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السَّاعَةُ … وَتَنْتَهِي فِي …</a:t>
            </a:r>
            <a:endParaRPr lang="ar-SA" sz="1600" dirty="0"/>
          </a:p>
        </p:txBody>
      </p:sp>
      <p:sp>
        <p:nvSpPr>
          <p:cNvPr id="24" name="Text 21"/>
          <p:cNvSpPr txBox="1"/>
          <p:nvPr/>
        </p:nvSpPr>
        <p:spPr>
          <a:xfrm>
            <a:off x="4636008" y="2267712"/>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time is it? When does the lesson end?</a:t>
            </a:r>
            <a:endParaRPr lang="en-US" sz="1100" dirty="0"/>
          </a:p>
        </p:txBody>
      </p:sp>
      <p:sp>
        <p:nvSpPr>
          <p:cNvPr id="25" name="Text 22"/>
          <p:cNvSpPr txBox="1"/>
          <p:nvPr/>
        </p:nvSpPr>
        <p:spPr>
          <a:xfrm>
            <a:off x="1051560" y="2267712"/>
            <a:ext cx="33832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كَمِ السَّاعَةُ الآنَ؟ وَمَتَى تَنْتَهِي الحِصَّةُ؟</a:t>
            </a:r>
            <a:endParaRPr lang="ar-SA" sz="1700" dirty="0"/>
          </a:p>
        </p:txBody>
      </p:sp>
      <p:sp>
        <p:nvSpPr>
          <p:cNvPr id="26" name="Text 23"/>
          <p:cNvSpPr txBox="1"/>
          <p:nvPr/>
        </p:nvSpPr>
        <p:spPr>
          <a:xfrm>
            <a:off x="566928" y="2267712"/>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7" name="Shape 24"/>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8" name="Text 25"/>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9" name="Shape 26"/>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30" name="Text 27"/>
          <p:cNvSpPr txBox="1"/>
          <p:nvPr/>
        </p:nvSpPr>
        <p:spPr>
          <a:xfrm>
            <a:off x="9738360" y="3004718"/>
            <a:ext cx="190195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لِأَنَّ …</a:t>
            </a:r>
            <a:endParaRPr lang="ar-SA" sz="1500" dirty="0"/>
          </a:p>
        </p:txBody>
      </p:sp>
      <p:sp>
        <p:nvSpPr>
          <p:cNvPr id="31" name="Text 28"/>
          <p:cNvSpPr txBox="1"/>
          <p:nvPr/>
        </p:nvSpPr>
        <p:spPr>
          <a:xfrm>
            <a:off x="6995160" y="3004718"/>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لَا … أَبَدًا قَبْلَ أَنْ أَنَامَ</a:t>
            </a:r>
            <a:endParaRPr lang="ar-SA" sz="1600" dirty="0"/>
          </a:p>
        </p:txBody>
      </p:sp>
      <p:sp>
        <p:nvSpPr>
          <p:cNvPr id="32" name="Text 29"/>
          <p:cNvSpPr txBox="1"/>
          <p:nvPr/>
        </p:nvSpPr>
        <p:spPr>
          <a:xfrm>
            <a:off x="4636008" y="3004718"/>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do you never do before sleeping?</a:t>
            </a:r>
            <a:endParaRPr lang="en-US" sz="1100" dirty="0"/>
          </a:p>
        </p:txBody>
      </p:sp>
      <p:sp>
        <p:nvSpPr>
          <p:cNvPr id="33" name="Text 30"/>
          <p:cNvSpPr txBox="1"/>
          <p:nvPr/>
        </p:nvSpPr>
        <p:spPr>
          <a:xfrm>
            <a:off x="1051560" y="3004718"/>
            <a:ext cx="33832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مَا الَّذِي لَا تَفْعَلُهُ أَبَدًا قَبْلَ النَّوْمِ؟</a:t>
            </a:r>
            <a:endParaRPr lang="ar-SA" sz="1700" dirty="0"/>
          </a:p>
        </p:txBody>
      </p:sp>
      <p:sp>
        <p:nvSpPr>
          <p:cNvPr id="34" name="Text 31"/>
          <p:cNvSpPr txBox="1"/>
          <p:nvPr/>
        </p:nvSpPr>
        <p:spPr>
          <a:xfrm>
            <a:off x="566928" y="300471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5" name="Shape 32"/>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7" name="Shape 34"/>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8" name="Text 35"/>
          <p:cNvSpPr txBox="1"/>
          <p:nvPr/>
        </p:nvSpPr>
        <p:spPr>
          <a:xfrm>
            <a:off x="9738360" y="3741725"/>
            <a:ext cx="190195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بَيْنَمَا أَنَا …</a:t>
            </a:r>
            <a:endParaRPr lang="ar-SA" sz="1500" dirty="0"/>
          </a:p>
        </p:txBody>
      </p:sp>
      <p:sp>
        <p:nvSpPr>
          <p:cNvPr id="39" name="Text 36"/>
          <p:cNvSpPr txBox="1"/>
          <p:nvPr/>
        </p:nvSpPr>
        <p:spPr>
          <a:xfrm>
            <a:off x="6995160" y="3741725"/>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يَسْتَيْقِظُ أَبِي / تَسْتَيْقِظُ أُمِّي …</a:t>
            </a:r>
            <a:endParaRPr lang="ar-SA" sz="1600" dirty="0"/>
          </a:p>
        </p:txBody>
      </p:sp>
      <p:sp>
        <p:nvSpPr>
          <p:cNvPr id="40" name="Text 37"/>
          <p:cNvSpPr txBox="1"/>
          <p:nvPr/>
        </p:nvSpPr>
        <p:spPr>
          <a:xfrm>
            <a:off x="4636008" y="3741725"/>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Describe your father’s or mother’s routine.</a:t>
            </a:r>
            <a:endParaRPr lang="en-US" sz="1100" dirty="0"/>
          </a:p>
        </p:txBody>
      </p:sp>
      <p:sp>
        <p:nvSpPr>
          <p:cNvPr id="41" name="Text 38"/>
          <p:cNvSpPr txBox="1"/>
          <p:nvPr/>
        </p:nvSpPr>
        <p:spPr>
          <a:xfrm>
            <a:off x="1051560" y="3741725"/>
            <a:ext cx="33832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صِفْ رُوتِينَ أَبِيكَ أَوْ أُمِّكَ.</a:t>
            </a:r>
            <a:endParaRPr lang="ar-SA" sz="1700" dirty="0"/>
          </a:p>
        </p:txBody>
      </p:sp>
      <p:sp>
        <p:nvSpPr>
          <p:cNvPr id="42" name="Text 39"/>
          <p:cNvSpPr txBox="1"/>
          <p:nvPr/>
        </p:nvSpPr>
        <p:spPr>
          <a:xfrm>
            <a:off x="566928" y="3741725"/>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43" name="Shape 40"/>
          <p:cNvSpPr/>
          <p:nvPr/>
        </p:nvSpPr>
        <p:spPr>
          <a:xfrm>
            <a:off x="11091672" y="3787445"/>
            <a:ext cx="548640" cy="182880"/>
          </a:xfrm>
          <a:prstGeom prst="roundRect">
            <a:avLst>
              <a:gd name="adj" fmla="val 50000"/>
            </a:avLst>
          </a:prstGeom>
          <a:solidFill>
            <a:srgbClr val="2E8B57"/>
          </a:solidFill>
          <a:ln w="12700">
            <a:solidFill>
              <a:srgbClr val="2E8B57"/>
            </a:solidFill>
            <a:prstDash val="solid"/>
          </a:ln>
        </p:spPr>
      </p:sp>
      <p:sp>
        <p:nvSpPr>
          <p:cNvPr id="44" name="Text 41"/>
          <p:cNvSpPr txBox="1"/>
          <p:nvPr/>
        </p:nvSpPr>
        <p:spPr>
          <a:xfrm>
            <a:off x="11091672" y="3787445"/>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5" name="Shape 42"/>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6" name="Text 43"/>
          <p:cNvSpPr txBox="1"/>
          <p:nvPr/>
        </p:nvSpPr>
        <p:spPr>
          <a:xfrm>
            <a:off x="9738360" y="4478731"/>
            <a:ext cx="190195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وَإِذَا كَانَ …</a:t>
            </a:r>
            <a:endParaRPr lang="ar-SA" sz="1500" dirty="0"/>
          </a:p>
        </p:txBody>
      </p:sp>
      <p:sp>
        <p:nvSpPr>
          <p:cNvPr id="47" name="Text 44"/>
          <p:cNvSpPr txBox="1"/>
          <p:nvPr/>
        </p:nvSpPr>
        <p:spPr>
          <a:xfrm>
            <a:off x="6995160" y="4478731"/>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فِي الأُسْبُوعِ … أَمَّا فِي نِهَايَتِهِ فَ…</a:t>
            </a:r>
            <a:endParaRPr lang="ar-SA" sz="1600" dirty="0"/>
          </a:p>
        </p:txBody>
      </p:sp>
      <p:sp>
        <p:nvSpPr>
          <p:cNvPr id="48" name="Text 45"/>
          <p:cNvSpPr txBox="1"/>
          <p:nvPr/>
        </p:nvSpPr>
        <p:spPr>
          <a:xfrm>
            <a:off x="4636008" y="4478731"/>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How is your week different from your weekend?</a:t>
            </a:r>
            <a:endParaRPr lang="en-US" sz="1100" dirty="0"/>
          </a:p>
        </p:txBody>
      </p:sp>
      <p:sp>
        <p:nvSpPr>
          <p:cNvPr id="49" name="Text 46"/>
          <p:cNvSpPr txBox="1"/>
          <p:nvPr/>
        </p:nvSpPr>
        <p:spPr>
          <a:xfrm>
            <a:off x="1051560" y="4478731"/>
            <a:ext cx="33832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مَا الفَرْقُ بَيْنَ الأُسْبُوعِ وَنِهَايَتِهِ عِنْدَكَ؟</a:t>
            </a:r>
            <a:endParaRPr lang="ar-SA" sz="1700" dirty="0"/>
          </a:p>
        </p:txBody>
      </p:sp>
      <p:sp>
        <p:nvSpPr>
          <p:cNvPr id="50" name="Text 47"/>
          <p:cNvSpPr txBox="1"/>
          <p:nvPr/>
        </p:nvSpPr>
        <p:spPr>
          <a:xfrm>
            <a:off x="566928" y="4478731"/>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51" name="Shape 48"/>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52" name="Text 49"/>
          <p:cNvSpPr txBox="1"/>
          <p:nvPr/>
        </p:nvSpPr>
        <p:spPr>
          <a:xfrm>
            <a:off x="9738360" y="5215738"/>
            <a:ext cx="190195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لِكَيْ …</a:t>
            </a:r>
            <a:endParaRPr lang="ar-SA" sz="1500" dirty="0"/>
          </a:p>
        </p:txBody>
      </p:sp>
      <p:sp>
        <p:nvSpPr>
          <p:cNvPr id="53" name="Text 50"/>
          <p:cNvSpPr txBox="1"/>
          <p:nvPr/>
        </p:nvSpPr>
        <p:spPr>
          <a:xfrm>
            <a:off x="6995160" y="5215738"/>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سَأُحَاوِلُ أَنْ …</a:t>
            </a:r>
            <a:endParaRPr lang="ar-SA" sz="1600" dirty="0"/>
          </a:p>
        </p:txBody>
      </p:sp>
      <p:sp>
        <p:nvSpPr>
          <p:cNvPr id="54" name="Text 51"/>
          <p:cNvSpPr txBox="1"/>
          <p:nvPr/>
        </p:nvSpPr>
        <p:spPr>
          <a:xfrm>
            <a:off x="4636008" y="5215738"/>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will you change in your routine? Why?</a:t>
            </a:r>
            <a:endParaRPr lang="en-US" sz="1100" dirty="0"/>
          </a:p>
        </p:txBody>
      </p:sp>
      <p:sp>
        <p:nvSpPr>
          <p:cNvPr id="55" name="Text 52"/>
          <p:cNvSpPr txBox="1"/>
          <p:nvPr/>
        </p:nvSpPr>
        <p:spPr>
          <a:xfrm>
            <a:off x="1051560" y="5215738"/>
            <a:ext cx="33832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مَاذَا سَتُغَيِّرُ فِي رُوتِينِكَ؟ لِمَاذَا؟</a:t>
            </a:r>
            <a:endParaRPr lang="ar-SA" sz="1700" dirty="0"/>
          </a:p>
        </p:txBody>
      </p:sp>
      <p:sp>
        <p:nvSpPr>
          <p:cNvPr id="56" name="Text 53"/>
          <p:cNvSpPr txBox="1"/>
          <p:nvPr/>
        </p:nvSpPr>
        <p:spPr>
          <a:xfrm>
            <a:off x="566928" y="521573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a:t>
            </a:r>
            <a:endParaRPr lang="en-US" sz="1100" dirty="0"/>
          </a:p>
        </p:txBody>
      </p:sp>
      <p:sp>
        <p:nvSpPr>
          <p:cNvPr id="57" name="Text 54"/>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00" b="1" dirty="0">
                <a:solidFill>
                  <a:srgbClr val="1B3B6F"/>
                </a:solidFill>
                <a:latin typeface="Calibri" pitchFamily="34" charset="0"/>
                <a:cs typeface="Amiri" pitchFamily="2" charset="-78"/>
              </a:rPr>
              <a:t>Each Speaker answers every question. Core: a full sentence from the starter. Develop: add the “more” part. Stretch: add a reason with </a:t>
            </a:r>
            <a:pPr algn="l" indent="0" marL="0">
              <a:buNone/>
            </a:pPr>
            <a:r>
              <a:rPr lang="ar-SA" altLang="en-US" sz="1450" b="1" dirty="0">
                <a:solidFill>
                  <a:srgbClr val="1B3B6F"/>
                </a:solidFill>
                <a:latin typeface="Amiri" pitchFamily="2" charset="-78"/>
                <a:ea typeface="Amiri" pitchFamily="2" charset="-78"/>
                <a:cs typeface="Amiri" pitchFamily="2" charset="-78"/>
              </a:rPr>
              <a:t>لِأَنَّ</a:t>
            </a:r>
            <a:pPr algn="l" indent="0" marL="0">
              <a:buNone/>
            </a:pPr>
            <a:r>
              <a:rPr lang="en-US" sz="1100" b="1" dirty="0">
                <a:solidFill>
                  <a:srgbClr val="1B3B6F"/>
                </a:solidFill>
                <a:latin typeface="Calibri" pitchFamily="34" charset="0"/>
                <a:cs typeface="Amiri" pitchFamily="2" charset="-78"/>
              </a:rPr>
              <a:t> or a second detail. Swap after each question.</a:t>
            </a:r>
            <a:endParaRPr lang="en-US" sz="1100" dirty="0"/>
          </a:p>
        </p:txBody>
      </p:sp>
      <p:sp>
        <p:nvSpPr>
          <p:cNvPr id="58" name="Text 5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22</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D1-L12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7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934" b="1" spc="150" kern="0" dirty="0">
                <a:solidFill>
                  <a:srgbClr val="1E6B52"/>
                </a:solidFill>
                <a:latin typeface="Calibri" pitchFamily="34" charset="0"/>
                <a:cs typeface="Amiri" pitchFamily="2" charset="-78"/>
              </a:rPr>
              <a:t>STEP 4 · ROLE-PLAY CARD · PLANS FOR TASKS 1–2 ARE GIVEN — PLAN 3–4 YOURSELF</a:t>
            </a:r>
            <a:endParaRPr lang="en-US" sz="934"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00" b="1" dirty="0">
                <a:solidFill>
                  <a:srgbClr val="1B3B6F"/>
                </a:solidFill>
                <a:latin typeface="Cambria" pitchFamily="34" charset="0"/>
                <a:cs typeface="Amiri" pitchFamily="2" charset="-78"/>
              </a:rPr>
              <a:t>Role-play card — the school wellbeing interview</a:t>
            </a:r>
            <a:endParaRPr lang="en-US" sz="20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مُقَابَلَةُ الرَّفَاهِيَةِ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D1-L12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257032" y="1810512"/>
            <a:ext cx="340156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Plan: first words</a:t>
            </a:r>
            <a:endParaRPr lang="en-US" sz="1100" dirty="0"/>
          </a:p>
        </p:txBody>
      </p:sp>
      <p:sp>
        <p:nvSpPr>
          <p:cNvPr id="17" name="Text 14"/>
          <p:cNvSpPr txBox="1"/>
          <p:nvPr/>
        </p:nvSpPr>
        <p:spPr>
          <a:xfrm>
            <a:off x="4965192" y="1810512"/>
            <a:ext cx="31455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Speaker’s task</a:t>
            </a:r>
            <a:endParaRPr lang="en-US" sz="1100" dirty="0"/>
          </a:p>
        </p:txBody>
      </p:sp>
      <p:sp>
        <p:nvSpPr>
          <p:cNvPr id="18" name="Text 15"/>
          <p:cNvSpPr txBox="1"/>
          <p:nvPr/>
        </p:nvSpPr>
        <p:spPr>
          <a:xfrm>
            <a:off x="1033272" y="1810512"/>
            <a:ext cx="3785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Leader reads</a:t>
            </a:r>
            <a:endParaRPr lang="en-US" sz="1100" dirty="0"/>
          </a:p>
        </p:txBody>
      </p:sp>
      <p:sp>
        <p:nvSpPr>
          <p:cNvPr id="19" name="Text 16"/>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0" name="Shape 17"/>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1" name="Text 18"/>
          <p:cNvSpPr txBox="1"/>
          <p:nvPr/>
        </p:nvSpPr>
        <p:spPr>
          <a:xfrm>
            <a:off x="8275320" y="2267712"/>
            <a:ext cx="3364992"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مَتَى ← أَنَامُ فِي … وَأَسْتَيْقِظُ فِي …</a:t>
            </a:r>
            <a:endParaRPr lang="ar-SA" sz="1600" dirty="0"/>
          </a:p>
        </p:txBody>
      </p:sp>
      <p:sp>
        <p:nvSpPr>
          <p:cNvPr id="22" name="Text 19"/>
          <p:cNvSpPr txBox="1"/>
          <p:nvPr/>
        </p:nvSpPr>
        <p:spPr>
          <a:xfrm>
            <a:off x="5001768" y="2267712"/>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Two exact times.</a:t>
            </a:r>
            <a:endParaRPr lang="en-US" sz="1100" dirty="0"/>
          </a:p>
        </p:txBody>
      </p:sp>
      <p:sp>
        <p:nvSpPr>
          <p:cNvPr id="23" name="Text 20"/>
          <p:cNvSpPr txBox="1"/>
          <p:nvPr/>
        </p:nvSpPr>
        <p:spPr>
          <a:xfrm>
            <a:off x="1051560" y="2267712"/>
            <a:ext cx="374904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مَتَى تَنَامُ وَمَتَى تَسْتَيْقِظُ؟</a:t>
            </a:r>
            <a:endParaRPr lang="ar-SA" sz="1700" dirty="0"/>
          </a:p>
        </p:txBody>
      </p:sp>
      <p:sp>
        <p:nvSpPr>
          <p:cNvPr id="24" name="Text 21"/>
          <p:cNvSpPr txBox="1"/>
          <p:nvPr/>
        </p:nvSpPr>
        <p:spPr>
          <a:xfrm>
            <a:off x="566928" y="2267712"/>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8" name="Text 25"/>
          <p:cNvSpPr txBox="1"/>
          <p:nvPr/>
        </p:nvSpPr>
        <p:spPr>
          <a:xfrm>
            <a:off x="8275320" y="3054096"/>
            <a:ext cx="3364992"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كَمْ ← لِمُدَّةِ … لِكَيْ …</a:t>
            </a:r>
            <a:endParaRPr lang="ar-SA" sz="1600" dirty="0"/>
          </a:p>
        </p:txBody>
      </p:sp>
      <p:sp>
        <p:nvSpPr>
          <p:cNvPr id="29" name="Text 26"/>
          <p:cNvSpPr txBox="1"/>
          <p:nvPr/>
        </p:nvSpPr>
        <p:spPr>
          <a:xfrm>
            <a:off x="5001768" y="3054096"/>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Duration + purpose.</a:t>
            </a:r>
            <a:endParaRPr lang="en-US" sz="1100" dirty="0"/>
          </a:p>
        </p:txBody>
      </p:sp>
      <p:sp>
        <p:nvSpPr>
          <p:cNvPr id="30" name="Text 27"/>
          <p:cNvSpPr txBox="1"/>
          <p:nvPr/>
        </p:nvSpPr>
        <p:spPr>
          <a:xfrm>
            <a:off x="1051560" y="3054096"/>
            <a:ext cx="374904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كَمْ سَاعَةً تَدْرُسُ بَعْدَ المَدْرَسَةِ؟</a:t>
            </a:r>
            <a:endParaRPr lang="ar-SA" sz="1700" dirty="0"/>
          </a:p>
        </p:txBody>
      </p:sp>
      <p:sp>
        <p:nvSpPr>
          <p:cNvPr id="31" name="Text 28"/>
          <p:cNvSpPr txBox="1"/>
          <p:nvPr/>
        </p:nvSpPr>
        <p:spPr>
          <a:xfrm>
            <a:off x="566928" y="3054096"/>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2" name="Shape 29"/>
          <p:cNvSpPr/>
          <p:nvPr/>
        </p:nvSpPr>
        <p:spPr>
          <a:xfrm>
            <a:off x="11091672" y="3099816"/>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9981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5" name="Text 32"/>
          <p:cNvSpPr txBox="1"/>
          <p:nvPr/>
        </p:nvSpPr>
        <p:spPr>
          <a:xfrm>
            <a:off x="8293608" y="3840480"/>
            <a:ext cx="336499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36" name="Text 33"/>
          <p:cNvSpPr txBox="1"/>
          <p:nvPr/>
        </p:nvSpPr>
        <p:spPr>
          <a:xfrm>
            <a:off x="5001768" y="3840480"/>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Contrast week and weekend.</a:t>
            </a:r>
            <a:endParaRPr lang="en-US" sz="1100" dirty="0"/>
          </a:p>
        </p:txBody>
      </p:sp>
      <p:sp>
        <p:nvSpPr>
          <p:cNvPr id="37" name="Text 34"/>
          <p:cNvSpPr txBox="1"/>
          <p:nvPr/>
        </p:nvSpPr>
        <p:spPr>
          <a:xfrm>
            <a:off x="1051560" y="3840480"/>
            <a:ext cx="374904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هَلْ تَرْتَاحُ فِي نِهَايَةِ الأُسْبُوعِ؟</a:t>
            </a:r>
            <a:endParaRPr lang="ar-SA" sz="1700" dirty="0"/>
          </a:p>
        </p:txBody>
      </p:sp>
      <p:sp>
        <p:nvSpPr>
          <p:cNvPr id="38" name="Text 35"/>
          <p:cNvSpPr txBox="1"/>
          <p:nvPr/>
        </p:nvSpPr>
        <p:spPr>
          <a:xfrm>
            <a:off x="566928" y="3840480"/>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9" name="Shape 36"/>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40" name="Text 37"/>
          <p:cNvSpPr txBox="1"/>
          <p:nvPr/>
        </p:nvSpPr>
        <p:spPr>
          <a:xfrm>
            <a:off x="8293608" y="4626864"/>
            <a:ext cx="336499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41" name="Text 38"/>
          <p:cNvSpPr txBox="1"/>
          <p:nvPr/>
        </p:nvSpPr>
        <p:spPr>
          <a:xfrm>
            <a:off x="5001768" y="4626864"/>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Answer in the past.</a:t>
            </a:r>
            <a:endParaRPr lang="en-US" sz="1100" dirty="0"/>
          </a:p>
        </p:txBody>
      </p:sp>
      <p:sp>
        <p:nvSpPr>
          <p:cNvPr id="42" name="Text 39"/>
          <p:cNvSpPr txBox="1"/>
          <p:nvPr/>
        </p:nvSpPr>
        <p:spPr>
          <a:xfrm>
            <a:off x="1051560" y="4626864"/>
            <a:ext cx="374904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مَاذَا فَعَلْتَ أَمْسِ لِكَيْ تَرْتَاحَ؟</a:t>
            </a:r>
            <a:endParaRPr lang="ar-SA" sz="1700" dirty="0"/>
          </a:p>
        </p:txBody>
      </p:sp>
      <p:sp>
        <p:nvSpPr>
          <p:cNvPr id="43" name="Text 40"/>
          <p:cNvSpPr txBox="1"/>
          <p:nvPr/>
        </p:nvSpPr>
        <p:spPr>
          <a:xfrm>
            <a:off x="566928" y="4626864"/>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 !</a:t>
            </a:r>
            <a:endParaRPr lang="en-US" sz="1100" dirty="0"/>
          </a:p>
        </p:txBody>
      </p:sp>
      <p:sp>
        <p:nvSpPr>
          <p:cNvPr id="44" name="Text 41"/>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00" b="1" dirty="0">
                <a:solidFill>
                  <a:srgbClr val="1B3B6F"/>
                </a:solidFill>
                <a:latin typeface="Calibri" pitchFamily="34" charset="0"/>
                <a:cs typeface="Amiri" pitchFamily="2" charset="-78"/>
              </a:rPr>
              <a:t>Speaker = a student · Leader = the school counsellor. Write the plan for tasks 3–4 in your book first. Task ! is a surprise — the Leader reads it without warning. Then swap roles.</a:t>
            </a:r>
            <a:endParaRPr lang="en-US" sz="1100" dirty="0"/>
          </a:p>
        </p:txBody>
      </p:sp>
      <p:sp>
        <p:nvSpPr>
          <p:cNvPr id="45" name="Text 4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22</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D1-L12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5 · SHORT TALK · ONE MINUTE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One minute: my D1 showcase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أَعْرِضُ مَا تَعَلَّمْتُ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D1-L12 · practice room</a:t>
            </a:r>
            <a:endParaRPr lang="en-US" sz="850" dirty="0"/>
          </a:p>
        </p:txBody>
      </p:sp>
      <p:sp>
        <p:nvSpPr>
          <p:cNvPr id="15" name="Shape 12"/>
          <p:cNvSpPr/>
          <p:nvPr/>
        </p:nvSpPr>
        <p:spPr>
          <a:xfrm>
            <a:off x="457200" y="1810512"/>
            <a:ext cx="5715000" cy="4498848"/>
          </a:xfrm>
          <a:prstGeom prst="roundRect">
            <a:avLst>
              <a:gd name="adj" fmla="val 1626"/>
            </a:avLst>
          </a:prstGeom>
          <a:solidFill>
            <a:srgbClr val="F4F1EA"/>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20240"/>
            <a:ext cx="3108960" cy="292608"/>
          </a:xfrm>
          <a:prstGeom prst="roundRect">
            <a:avLst>
              <a:gd name="adj" fmla="val 50000"/>
            </a:avLst>
          </a:prstGeom>
          <a:solidFill>
            <a:srgbClr val="8A6D1E"/>
          </a:solidFill>
          <a:ln w="12700">
            <a:solidFill>
              <a:srgbClr val="8A6D1E"/>
            </a:solidFill>
            <a:prstDash val="solid"/>
          </a:ln>
        </p:spPr>
      </p:sp>
      <p:sp>
        <p:nvSpPr>
          <p:cNvPr id="17" name="Text 14"/>
          <p:cNvSpPr txBox="1"/>
          <p:nvPr/>
        </p:nvSpPr>
        <p:spPr>
          <a:xfrm>
            <a:off x="640080" y="1920240"/>
            <a:ext cx="3108960" cy="292608"/>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STEP 5 · IN YOUR ROOM</a:t>
            </a:r>
            <a:endParaRPr lang="en-US" sz="900" dirty="0"/>
          </a:p>
        </p:txBody>
      </p:sp>
      <p:sp>
        <p:nvSpPr>
          <p:cNvPr id="18" name="Text 15"/>
          <p:cNvSpPr txBox="1"/>
          <p:nvPr/>
        </p:nvSpPr>
        <p:spPr>
          <a:xfrm>
            <a:off x="640080" y="2286000"/>
            <a:ext cx="5349240" cy="502920"/>
          </a:xfrm>
          <a:prstGeom prst="rect">
            <a:avLst/>
          </a:prstGeom>
          <a:noFill/>
          <a:ln/>
        </p:spPr>
        <p:txBody>
          <a:bodyPr wrap="square" lIns="0" tIns="0" rIns="0" bIns="0" rtlCol="0" anchor="ctr"/>
          <a:lstStyle/>
          <a:p>
            <a:pPr algn="l" indent="0" marL="0">
              <a:buNone/>
            </a:pPr>
            <a:r>
              <a:rPr lang="en-US" sz="2200" b="1" dirty="0">
                <a:solidFill>
                  <a:srgbClr val="1B3B6F"/>
                </a:solidFill>
                <a:latin typeface="Calibri" pitchFamily="34" charset="0"/>
                <a:cs typeface="Amiri" pitchFamily="2" charset="-78"/>
              </a:rPr>
              <a:t>⏱  Talk for one minute — no stopping</a:t>
            </a:r>
            <a:endParaRPr lang="en-US" sz="2200" dirty="0"/>
          </a:p>
        </p:txBody>
      </p:sp>
      <p:sp>
        <p:nvSpPr>
          <p:cNvPr id="19" name="Text 16"/>
          <p:cNvSpPr txBox="1"/>
          <p:nvPr/>
        </p:nvSpPr>
        <p:spPr>
          <a:xfrm>
            <a:off x="640080" y="2816352"/>
            <a:ext cx="5349240" cy="118872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Talk for one minute about your routine and show as many D1 structures as you can. The Coach ticks them on a list: time · frequency · </a:t>
            </a:r>
            <a:pPr algn="l" indent="0" marL="0">
              <a:buNone/>
            </a:pPr>
            <a:r>
              <a:rPr lang="ar-SA" altLang="en-US" sz="1750" dirty="0">
                <a:solidFill>
                  <a:srgbClr val="1F2A37"/>
                </a:solidFill>
                <a:latin typeface="Amiri" pitchFamily="2" charset="-78"/>
                <a:ea typeface="Amiri" pitchFamily="2" charset="-78"/>
                <a:cs typeface="Amiri" pitchFamily="2" charset="-78"/>
              </a:rPr>
              <a:t>قَبْلَ أَنْ</a:t>
            </a:r>
            <a:pPr algn="l" indent="0" marL="0">
              <a:buNone/>
            </a:pPr>
            <a:r>
              <a:rPr lang="en-US" sz="1350" dirty="0">
                <a:solidFill>
                  <a:srgbClr val="1F2A37"/>
                </a:solidFill>
                <a:latin typeface="Calibri" pitchFamily="34" charset="0"/>
                <a:cs typeface="Amiri" pitchFamily="2" charset="-78"/>
              </a:rPr>
              <a:t> · </a:t>
            </a:r>
            <a:pPr algn="l" indent="0" marL="0">
              <a:buNone/>
            </a:pPr>
            <a:r>
              <a:rPr lang="ar-SA" altLang="en-US" sz="1750" dirty="0">
                <a:solidFill>
                  <a:srgbClr val="1F2A37"/>
                </a:solidFill>
                <a:latin typeface="Amiri" pitchFamily="2" charset="-78"/>
                <a:ea typeface="Amiri" pitchFamily="2" charset="-78"/>
                <a:cs typeface="Amiri" pitchFamily="2" charset="-78"/>
              </a:rPr>
              <a:t>لِمُدَّةِ</a:t>
            </a:r>
            <a:pPr algn="l" indent="0" marL="0">
              <a:buNone/>
            </a:pPr>
            <a:r>
              <a:rPr lang="en-US" sz="1350" dirty="0">
                <a:solidFill>
                  <a:srgbClr val="1F2A37"/>
                </a:solidFill>
                <a:latin typeface="Calibri" pitchFamily="34" charset="0"/>
                <a:cs typeface="Amiri" pitchFamily="2" charset="-78"/>
              </a:rPr>
              <a:t> · </a:t>
            </a:r>
            <a:pPr algn="l" indent="0" marL="0">
              <a:buNone/>
            </a:pPr>
            <a:r>
              <a:rPr lang="ar-SA" altLang="en-US" sz="1750" dirty="0">
                <a:solidFill>
                  <a:srgbClr val="1F2A37"/>
                </a:solidFill>
                <a:latin typeface="Amiri" pitchFamily="2" charset="-78"/>
                <a:ea typeface="Amiri" pitchFamily="2" charset="-78"/>
                <a:cs typeface="Amiri" pitchFamily="2" charset="-78"/>
              </a:rPr>
              <a:t>لِكَيْ</a:t>
            </a:r>
            <a:pPr algn="l" indent="0" marL="0">
              <a:buNone/>
            </a:pPr>
            <a:r>
              <a:rPr lang="en-US" sz="1350" dirty="0">
                <a:solidFill>
                  <a:srgbClr val="1F2A37"/>
                </a:solidFill>
                <a:latin typeface="Calibri" pitchFamily="34" charset="0"/>
                <a:cs typeface="Amiri" pitchFamily="2" charset="-78"/>
              </a:rPr>
              <a:t> · he / she · </a:t>
            </a:r>
            <a:pPr algn="l" indent="0" marL="0">
              <a:buNone/>
            </a:pPr>
            <a:r>
              <a:rPr lang="ar-SA" altLang="en-US" sz="1750" dirty="0">
                <a:solidFill>
                  <a:srgbClr val="1F2A37"/>
                </a:solidFill>
                <a:latin typeface="Amiri" pitchFamily="2" charset="-78"/>
                <a:ea typeface="Amiri" pitchFamily="2" charset="-78"/>
                <a:cs typeface="Amiri" pitchFamily="2" charset="-78"/>
              </a:rPr>
              <a:t>أَمَّا</a:t>
            </a:r>
            <a:pPr algn="l" indent="0" marL="0">
              <a:buNone/>
            </a:pPr>
            <a:r>
              <a:rPr lang="en-US" sz="1350" dirty="0">
                <a:solidFill>
                  <a:srgbClr val="1F2A37"/>
                </a:solidFill>
                <a:latin typeface="Calibri" pitchFamily="34" charset="0"/>
                <a:cs typeface="Amiri" pitchFamily="2" charset="-78"/>
              </a:rPr>
              <a:t> · past · future.</a:t>
            </a:r>
            <a:endParaRPr lang="en-US" sz="1350" dirty="0"/>
          </a:p>
        </p:txBody>
      </p:sp>
      <p:sp>
        <p:nvSpPr>
          <p:cNvPr id="20" name="Text 17"/>
          <p:cNvSpPr txBox="1"/>
          <p:nvPr/>
        </p:nvSpPr>
        <p:spPr>
          <a:xfrm>
            <a:off x="640080" y="4041648"/>
            <a:ext cx="530352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HOW WE RUN IT ONLINE</a:t>
            </a:r>
            <a:endParaRPr lang="en-US" sz="950" dirty="0"/>
          </a:p>
        </p:txBody>
      </p:sp>
      <p:sp>
        <p:nvSpPr>
          <p:cNvPr id="21" name="Shape 18"/>
          <p:cNvSpPr/>
          <p:nvPr/>
        </p:nvSpPr>
        <p:spPr>
          <a:xfrm>
            <a:off x="658368" y="4407408"/>
            <a:ext cx="274320" cy="274320"/>
          </a:xfrm>
          <a:prstGeom prst="ellipse">
            <a:avLst/>
          </a:prstGeom>
          <a:solidFill>
            <a:srgbClr val="1B3B6F"/>
          </a:solidFill>
          <a:ln w="12700">
            <a:solidFill>
              <a:srgbClr val="1B3B6F"/>
            </a:solidFill>
            <a:prstDash val="solid"/>
          </a:ln>
        </p:spPr>
      </p:sp>
      <p:sp>
        <p:nvSpPr>
          <p:cNvPr id="22" name="Text 19"/>
          <p:cNvSpPr txBox="1"/>
          <p:nvPr/>
        </p:nvSpPr>
        <p:spPr>
          <a:xfrm>
            <a:off x="658368" y="44074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1</a:t>
            </a:r>
            <a:endParaRPr lang="en-US" sz="1000" dirty="0"/>
          </a:p>
        </p:txBody>
      </p:sp>
      <p:sp>
        <p:nvSpPr>
          <p:cNvPr id="23" name="Text 20"/>
          <p:cNvSpPr txBox="1"/>
          <p:nvPr/>
        </p:nvSpPr>
        <p:spPr>
          <a:xfrm>
            <a:off x="1024128" y="43342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Think for 30 seconds: 3–4 key words, no sentences.</a:t>
            </a:r>
            <a:endParaRPr lang="en-US" sz="1150" dirty="0"/>
          </a:p>
        </p:txBody>
      </p:sp>
      <p:sp>
        <p:nvSpPr>
          <p:cNvPr id="24" name="Shape 21"/>
          <p:cNvSpPr/>
          <p:nvPr/>
        </p:nvSpPr>
        <p:spPr>
          <a:xfrm>
            <a:off x="658368" y="4864608"/>
            <a:ext cx="274320" cy="274320"/>
          </a:xfrm>
          <a:prstGeom prst="ellipse">
            <a:avLst/>
          </a:prstGeom>
          <a:solidFill>
            <a:srgbClr val="1B3B6F"/>
          </a:solidFill>
          <a:ln w="12700">
            <a:solidFill>
              <a:srgbClr val="1B3B6F"/>
            </a:solidFill>
            <a:prstDash val="solid"/>
          </a:ln>
        </p:spPr>
      </p:sp>
      <p:sp>
        <p:nvSpPr>
          <p:cNvPr id="25" name="Text 22"/>
          <p:cNvSpPr txBox="1"/>
          <p:nvPr/>
        </p:nvSpPr>
        <p:spPr>
          <a:xfrm>
            <a:off x="658368" y="48646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2</a:t>
            </a:r>
            <a:endParaRPr lang="en-US" sz="1000" dirty="0"/>
          </a:p>
        </p:txBody>
      </p:sp>
      <p:sp>
        <p:nvSpPr>
          <p:cNvPr id="26" name="Text 23"/>
          <p:cNvSpPr txBox="1"/>
          <p:nvPr/>
        </p:nvSpPr>
        <p:spPr>
          <a:xfrm>
            <a:off x="1024128" y="47914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Speaker talks; the Leader times it.</a:t>
            </a:r>
            <a:endParaRPr lang="en-US" sz="1150" dirty="0"/>
          </a:p>
        </p:txBody>
      </p:sp>
      <p:sp>
        <p:nvSpPr>
          <p:cNvPr id="27" name="Shape 24"/>
          <p:cNvSpPr/>
          <p:nvPr/>
        </p:nvSpPr>
        <p:spPr>
          <a:xfrm>
            <a:off x="658368" y="5321808"/>
            <a:ext cx="274320" cy="274320"/>
          </a:xfrm>
          <a:prstGeom prst="ellipse">
            <a:avLst/>
          </a:prstGeom>
          <a:solidFill>
            <a:srgbClr val="1B3B6F"/>
          </a:solidFill>
          <a:ln w="12700">
            <a:solidFill>
              <a:srgbClr val="1B3B6F"/>
            </a:solidFill>
            <a:prstDash val="solid"/>
          </a:ln>
        </p:spPr>
      </p:sp>
      <p:sp>
        <p:nvSpPr>
          <p:cNvPr id="28" name="Text 25"/>
          <p:cNvSpPr txBox="1"/>
          <p:nvPr/>
        </p:nvSpPr>
        <p:spPr>
          <a:xfrm>
            <a:off x="658368" y="53218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3</a:t>
            </a:r>
            <a:endParaRPr lang="en-US" sz="1000" dirty="0"/>
          </a:p>
        </p:txBody>
      </p:sp>
      <p:sp>
        <p:nvSpPr>
          <p:cNvPr id="29" name="Text 26"/>
          <p:cNvSpPr txBox="1"/>
          <p:nvPr/>
        </p:nvSpPr>
        <p:spPr>
          <a:xfrm>
            <a:off x="1024128" y="52486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Coach: one thing that went well + one thing to improve.</a:t>
            </a:r>
            <a:endParaRPr lang="en-US" sz="1150" dirty="0"/>
          </a:p>
        </p:txBody>
      </p:sp>
      <p:sp>
        <p:nvSpPr>
          <p:cNvPr id="30" name="Shape 27"/>
          <p:cNvSpPr/>
          <p:nvPr/>
        </p:nvSpPr>
        <p:spPr>
          <a:xfrm>
            <a:off x="658368" y="5779008"/>
            <a:ext cx="274320" cy="274320"/>
          </a:xfrm>
          <a:prstGeom prst="ellipse">
            <a:avLst/>
          </a:prstGeom>
          <a:solidFill>
            <a:srgbClr val="1B3B6F"/>
          </a:solidFill>
          <a:ln w="12700">
            <a:solidFill>
              <a:srgbClr val="1B3B6F"/>
            </a:solidFill>
            <a:prstDash val="solid"/>
          </a:ln>
        </p:spPr>
      </p:sp>
      <p:sp>
        <p:nvSpPr>
          <p:cNvPr id="31" name="Text 28"/>
          <p:cNvSpPr txBox="1"/>
          <p:nvPr/>
        </p:nvSpPr>
        <p:spPr>
          <a:xfrm>
            <a:off x="658368" y="57790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4</a:t>
            </a:r>
            <a:endParaRPr lang="en-US" sz="1000" dirty="0"/>
          </a:p>
        </p:txBody>
      </p:sp>
      <p:sp>
        <p:nvSpPr>
          <p:cNvPr id="32" name="Text 29"/>
          <p:cNvSpPr txBox="1"/>
          <p:nvPr/>
        </p:nvSpPr>
        <p:spPr>
          <a:xfrm>
            <a:off x="1024128" y="57058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Swap until everyone has spoken.</a:t>
            </a:r>
            <a:endParaRPr lang="en-US" sz="1150" dirty="0"/>
          </a:p>
        </p:txBody>
      </p:sp>
      <p:sp>
        <p:nvSpPr>
          <p:cNvPr id="33" name="Shape 30"/>
          <p:cNvSpPr/>
          <p:nvPr/>
        </p:nvSpPr>
        <p:spPr>
          <a:xfrm>
            <a:off x="6355080" y="1810512"/>
            <a:ext cx="5376672" cy="896112"/>
          </a:xfrm>
          <a:prstGeom prst="roundRect">
            <a:avLst>
              <a:gd name="adj" fmla="val 8163"/>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6473952" y="1901952"/>
            <a:ext cx="1051560" cy="256032"/>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6473952" y="190195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3"/>
          <p:cNvSpPr txBox="1"/>
          <p:nvPr/>
        </p:nvSpPr>
        <p:spPr>
          <a:xfrm>
            <a:off x="6473952" y="217627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Five structures from the list.</a:t>
            </a:r>
            <a:endParaRPr lang="en-US" sz="1150" dirty="0"/>
          </a:p>
        </p:txBody>
      </p:sp>
      <p:sp>
        <p:nvSpPr>
          <p:cNvPr id="37" name="Shape 34"/>
          <p:cNvSpPr/>
          <p:nvPr/>
        </p:nvSpPr>
        <p:spPr>
          <a:xfrm>
            <a:off x="6355080" y="2816352"/>
            <a:ext cx="5376672" cy="896112"/>
          </a:xfrm>
          <a:prstGeom prst="roundRect">
            <a:avLst>
              <a:gd name="adj" fmla="val 8163"/>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6473952" y="2907792"/>
            <a:ext cx="1051560" cy="256032"/>
          </a:xfrm>
          <a:prstGeom prst="roundRect">
            <a:avLst>
              <a:gd name="adj" fmla="val 50000"/>
            </a:avLst>
          </a:prstGeom>
          <a:solidFill>
            <a:srgbClr val="C9780A"/>
          </a:solidFill>
          <a:ln w="12700">
            <a:solidFill>
              <a:srgbClr val="C9780A"/>
            </a:solidFill>
            <a:prstDash val="solid"/>
          </a:ln>
        </p:spPr>
      </p:sp>
      <p:sp>
        <p:nvSpPr>
          <p:cNvPr id="39" name="Text 36"/>
          <p:cNvSpPr txBox="1"/>
          <p:nvPr/>
        </p:nvSpPr>
        <p:spPr>
          <a:xfrm>
            <a:off x="6473952" y="290779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7"/>
          <p:cNvSpPr txBox="1"/>
          <p:nvPr/>
        </p:nvSpPr>
        <p:spPr>
          <a:xfrm>
            <a:off x="6473952" y="318211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Seven structures, including </a:t>
            </a:r>
            <a:pPr algn="l" indent="0" marL="0">
              <a:buNone/>
            </a:pPr>
            <a:r>
              <a:rPr lang="ar-SA" altLang="en-US" sz="1500" dirty="0">
                <a:solidFill>
                  <a:srgbClr val="1F2A37"/>
                </a:solidFill>
                <a:latin typeface="Amiri" pitchFamily="2" charset="-78"/>
                <a:ea typeface="Amiri" pitchFamily="2" charset="-78"/>
                <a:cs typeface="Amiri" pitchFamily="2" charset="-78"/>
              </a:rPr>
              <a:t>قَبْلَ أَنْ / بَعْدَ أَنْ</a:t>
            </a:r>
            <a:pPr algn="l" indent="0" marL="0">
              <a:buNone/>
            </a:pPr>
            <a:r>
              <a:rPr lang="en-US" sz="1150" dirty="0">
                <a:solidFill>
                  <a:srgbClr val="1F2A37"/>
                </a:solidFill>
                <a:latin typeface="Calibri" pitchFamily="34" charset="0"/>
                <a:cs typeface="Amiri" pitchFamily="2" charset="-78"/>
              </a:rPr>
              <a:t> correctly.</a:t>
            </a:r>
            <a:endParaRPr lang="en-US" sz="1150" dirty="0"/>
          </a:p>
        </p:txBody>
      </p:sp>
      <p:sp>
        <p:nvSpPr>
          <p:cNvPr id="41" name="Shape 38"/>
          <p:cNvSpPr/>
          <p:nvPr/>
        </p:nvSpPr>
        <p:spPr>
          <a:xfrm>
            <a:off x="6355080" y="3822192"/>
            <a:ext cx="5376672" cy="896112"/>
          </a:xfrm>
          <a:prstGeom prst="roundRect">
            <a:avLst>
              <a:gd name="adj" fmla="val 8163"/>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6473952" y="3913632"/>
            <a:ext cx="1051560" cy="256032"/>
          </a:xfrm>
          <a:prstGeom prst="roundRect">
            <a:avLst>
              <a:gd name="adj" fmla="val 50000"/>
            </a:avLst>
          </a:prstGeom>
          <a:solidFill>
            <a:srgbClr val="B83227"/>
          </a:solidFill>
          <a:ln w="12700">
            <a:solidFill>
              <a:srgbClr val="B83227"/>
            </a:solidFill>
            <a:prstDash val="solid"/>
          </a:ln>
        </p:spPr>
      </p:sp>
      <p:sp>
        <p:nvSpPr>
          <p:cNvPr id="43" name="Text 40"/>
          <p:cNvSpPr txBox="1"/>
          <p:nvPr/>
        </p:nvSpPr>
        <p:spPr>
          <a:xfrm>
            <a:off x="6473952" y="391363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1"/>
          <p:cNvSpPr txBox="1"/>
          <p:nvPr/>
        </p:nvSpPr>
        <p:spPr>
          <a:xfrm>
            <a:off x="6473952" y="418795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All nine, with a PREC chain.</a:t>
            </a:r>
            <a:endParaRPr lang="en-US" sz="1150" dirty="0"/>
          </a:p>
        </p:txBody>
      </p:sp>
      <p:sp>
        <p:nvSpPr>
          <p:cNvPr id="45" name="Shape 42"/>
          <p:cNvSpPr/>
          <p:nvPr/>
        </p:nvSpPr>
        <p:spPr>
          <a:xfrm>
            <a:off x="6355080" y="4828032"/>
            <a:ext cx="5376672" cy="1481328"/>
          </a:xfrm>
          <a:prstGeom prst="roundRect">
            <a:avLst>
              <a:gd name="adj" fmla="val 493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Text 43"/>
          <p:cNvSpPr txBox="1"/>
          <p:nvPr/>
        </p:nvSpPr>
        <p:spPr>
          <a:xfrm>
            <a:off x="6492240" y="4882896"/>
            <a:ext cx="27432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USEFUL LANGUAGE</a:t>
            </a:r>
            <a:endParaRPr lang="en-US" sz="950" dirty="0"/>
          </a:p>
        </p:txBody>
      </p:sp>
      <p:sp>
        <p:nvSpPr>
          <p:cNvPr id="47" name="Text 44"/>
          <p:cNvSpPr txBox="1"/>
          <p:nvPr/>
        </p:nvSpPr>
        <p:spPr>
          <a:xfrm>
            <a:off x="8732520" y="5138928"/>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أَوَّلًا … ثُمَّ …</a:t>
            </a:r>
            <a:endParaRPr lang="ar-SA" sz="1300" dirty="0"/>
          </a:p>
        </p:txBody>
      </p:sp>
      <p:sp>
        <p:nvSpPr>
          <p:cNvPr id="48" name="Text 45"/>
          <p:cNvSpPr txBox="1"/>
          <p:nvPr/>
        </p:nvSpPr>
        <p:spPr>
          <a:xfrm>
            <a:off x="6492240" y="5138928"/>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first … then …</a:t>
            </a:r>
            <a:endParaRPr lang="en-US" sz="1000" dirty="0"/>
          </a:p>
        </p:txBody>
      </p:sp>
      <p:sp>
        <p:nvSpPr>
          <p:cNvPr id="49" name="Text 46"/>
          <p:cNvSpPr txBox="1"/>
          <p:nvPr/>
        </p:nvSpPr>
        <p:spPr>
          <a:xfrm>
            <a:off x="8732520" y="5422392"/>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لِأَنَّ … · لِذٰلِكَ …</a:t>
            </a:r>
            <a:endParaRPr lang="ar-SA" sz="1300" dirty="0"/>
          </a:p>
        </p:txBody>
      </p:sp>
      <p:sp>
        <p:nvSpPr>
          <p:cNvPr id="50" name="Text 47"/>
          <p:cNvSpPr txBox="1"/>
          <p:nvPr/>
        </p:nvSpPr>
        <p:spPr>
          <a:xfrm>
            <a:off x="6492240" y="5422392"/>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because … · so …</a:t>
            </a:r>
            <a:endParaRPr lang="en-US" sz="1000" dirty="0"/>
          </a:p>
        </p:txBody>
      </p:sp>
      <p:sp>
        <p:nvSpPr>
          <p:cNvPr id="51" name="Text 48"/>
          <p:cNvSpPr txBox="1"/>
          <p:nvPr/>
        </p:nvSpPr>
        <p:spPr>
          <a:xfrm>
            <a:off x="8732520" y="5705856"/>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فِي رَأْيِي …</a:t>
            </a:r>
            <a:endParaRPr lang="ar-SA" sz="1300" dirty="0"/>
          </a:p>
        </p:txBody>
      </p:sp>
      <p:sp>
        <p:nvSpPr>
          <p:cNvPr id="52" name="Text 49"/>
          <p:cNvSpPr txBox="1"/>
          <p:nvPr/>
        </p:nvSpPr>
        <p:spPr>
          <a:xfrm>
            <a:off x="6492240" y="5705856"/>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in my opinion …</a:t>
            </a:r>
            <a:endParaRPr lang="en-US" sz="1000" dirty="0"/>
          </a:p>
        </p:txBody>
      </p:sp>
      <p:sp>
        <p:nvSpPr>
          <p:cNvPr id="53" name="Text 50"/>
          <p:cNvSpPr txBox="1"/>
          <p:nvPr/>
        </p:nvSpPr>
        <p:spPr>
          <a:xfrm>
            <a:off x="8732520" y="5989320"/>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فِي الخِتَامِ …</a:t>
            </a:r>
            <a:endParaRPr lang="ar-SA" sz="1300" dirty="0"/>
          </a:p>
        </p:txBody>
      </p:sp>
      <p:sp>
        <p:nvSpPr>
          <p:cNvPr id="54" name="Text 51"/>
          <p:cNvSpPr txBox="1"/>
          <p:nvPr/>
        </p:nvSpPr>
        <p:spPr>
          <a:xfrm>
            <a:off x="6492240" y="5989320"/>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to finish …</a:t>
            </a:r>
            <a:endParaRPr lang="en-US" sz="1000" dirty="0"/>
          </a:p>
        </p:txBody>
      </p:sp>
      <p:sp>
        <p:nvSpPr>
          <p:cNvPr id="55" name="Text 5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22</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D1-L12 · Speaking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2F6FB0"/>
                </a:solidFill>
                <a:latin typeface="Calibri" pitchFamily="34" charset="0"/>
                <a:cs typeface="Amiri" pitchFamily="2" charset="-78"/>
              </a:rPr>
              <a:t>PART B · STEP 6 · SENTENCE BUILDER · CHOOSE A OR B IN EACH COLUMN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Build three correct sentences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ابْنِ الجُمْلَةَ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D1-L12 · practice room</a:t>
            </a:r>
            <a:endParaRPr lang="en-US" sz="850" dirty="0"/>
          </a:p>
        </p:txBody>
      </p:sp>
      <p:sp>
        <p:nvSpPr>
          <p:cNvPr id="15" name="Text 12"/>
          <p:cNvSpPr txBox="1"/>
          <p:nvPr/>
        </p:nvSpPr>
        <p:spPr>
          <a:xfrm>
            <a:off x="9180576"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1 · start here</a:t>
            </a:r>
            <a:endParaRPr lang="en-US" sz="1000" dirty="0"/>
          </a:p>
        </p:txBody>
      </p:sp>
      <p:sp>
        <p:nvSpPr>
          <p:cNvPr id="16" name="Text 13"/>
          <p:cNvSpPr txBox="1"/>
          <p:nvPr/>
        </p:nvSpPr>
        <p:spPr>
          <a:xfrm>
            <a:off x="6624828"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2</a:t>
            </a:r>
            <a:endParaRPr lang="en-US" sz="1000" dirty="0"/>
          </a:p>
        </p:txBody>
      </p:sp>
      <p:sp>
        <p:nvSpPr>
          <p:cNvPr id="17" name="Text 14"/>
          <p:cNvSpPr txBox="1"/>
          <p:nvPr/>
        </p:nvSpPr>
        <p:spPr>
          <a:xfrm>
            <a:off x="4069080"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3</a:t>
            </a:r>
            <a:endParaRPr lang="en-US" sz="1000" dirty="0"/>
          </a:p>
        </p:txBody>
      </p:sp>
      <p:sp>
        <p:nvSpPr>
          <p:cNvPr id="18" name="Shape 15"/>
          <p:cNvSpPr/>
          <p:nvPr/>
        </p:nvSpPr>
        <p:spPr>
          <a:xfrm>
            <a:off x="457200" y="2011680"/>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9" name="Shape 16"/>
          <p:cNvSpPr/>
          <p:nvPr/>
        </p:nvSpPr>
        <p:spPr>
          <a:xfrm>
            <a:off x="594360" y="2148840"/>
            <a:ext cx="365760" cy="365760"/>
          </a:xfrm>
          <a:prstGeom prst="ellipse">
            <a:avLst/>
          </a:prstGeom>
          <a:solidFill>
            <a:srgbClr val="2F6FB0"/>
          </a:solidFill>
          <a:ln w="12700">
            <a:solidFill>
              <a:srgbClr val="2F6FB0"/>
            </a:solidFill>
            <a:prstDash val="solid"/>
          </a:ln>
        </p:spPr>
      </p:sp>
      <p:sp>
        <p:nvSpPr>
          <p:cNvPr id="20" name="Text 17"/>
          <p:cNvSpPr txBox="1"/>
          <p:nvPr/>
        </p:nvSpPr>
        <p:spPr>
          <a:xfrm>
            <a:off x="594360" y="214884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21" name="Text 18"/>
          <p:cNvSpPr txBox="1"/>
          <p:nvPr/>
        </p:nvSpPr>
        <p:spPr>
          <a:xfrm>
            <a:off x="1051560" y="2121408"/>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After I finish my homework, I go out for an hour.</a:t>
            </a:r>
            <a:endParaRPr lang="en-US" sz="1400" dirty="0"/>
          </a:p>
        </p:txBody>
      </p:sp>
      <p:sp>
        <p:nvSpPr>
          <p:cNvPr id="22" name="Shape 19"/>
          <p:cNvSpPr/>
          <p:nvPr/>
        </p:nvSpPr>
        <p:spPr>
          <a:xfrm>
            <a:off x="9180576" y="2103120"/>
            <a:ext cx="2414016" cy="512064"/>
          </a:xfrm>
          <a:prstGeom prst="roundRect">
            <a:avLst>
              <a:gd name="adj" fmla="val 10714"/>
            </a:avLst>
          </a:prstGeom>
          <a:solidFill>
            <a:srgbClr val="EEF3FA"/>
          </a:solidFill>
          <a:ln w="9525">
            <a:solidFill>
              <a:srgbClr val="C9D6EA"/>
            </a:solidFill>
            <a:prstDash val="solid"/>
          </a:ln>
        </p:spPr>
      </p:sp>
      <p:sp>
        <p:nvSpPr>
          <p:cNvPr id="23" name="Text 20"/>
          <p:cNvSpPr txBox="1"/>
          <p:nvPr/>
        </p:nvSpPr>
        <p:spPr>
          <a:xfrm>
            <a:off x="9235440"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24" name="Text 21"/>
          <p:cNvSpPr txBox="1"/>
          <p:nvPr/>
        </p:nvSpPr>
        <p:spPr>
          <a:xfrm>
            <a:off x="9500616"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بَعْدَ أَنْ</a:t>
            </a:r>
            <a:endParaRPr lang="ar-SA" sz="1800" dirty="0"/>
          </a:p>
        </p:txBody>
      </p:sp>
      <p:sp>
        <p:nvSpPr>
          <p:cNvPr id="25" name="Shape 22"/>
          <p:cNvSpPr/>
          <p:nvPr/>
        </p:nvSpPr>
        <p:spPr>
          <a:xfrm>
            <a:off x="9180576" y="2670048"/>
            <a:ext cx="2414016" cy="512064"/>
          </a:xfrm>
          <a:prstGeom prst="roundRect">
            <a:avLst>
              <a:gd name="adj" fmla="val 10714"/>
            </a:avLst>
          </a:prstGeom>
          <a:solidFill>
            <a:srgbClr val="EEF3FA"/>
          </a:solidFill>
          <a:ln w="9525">
            <a:solidFill>
              <a:srgbClr val="C9D6EA"/>
            </a:solidFill>
            <a:prstDash val="solid"/>
          </a:ln>
        </p:spPr>
      </p:sp>
      <p:sp>
        <p:nvSpPr>
          <p:cNvPr id="26" name="Text 23"/>
          <p:cNvSpPr txBox="1"/>
          <p:nvPr/>
        </p:nvSpPr>
        <p:spPr>
          <a:xfrm>
            <a:off x="9235440"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27" name="Text 24"/>
          <p:cNvSpPr txBox="1"/>
          <p:nvPr/>
        </p:nvSpPr>
        <p:spPr>
          <a:xfrm>
            <a:off x="9500616"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بَعْدَ</a:t>
            </a:r>
            <a:endParaRPr lang="ar-SA" sz="1800" dirty="0"/>
          </a:p>
        </p:txBody>
      </p:sp>
      <p:sp>
        <p:nvSpPr>
          <p:cNvPr id="28" name="Shape 25"/>
          <p:cNvSpPr/>
          <p:nvPr/>
        </p:nvSpPr>
        <p:spPr>
          <a:xfrm>
            <a:off x="6624828" y="2103120"/>
            <a:ext cx="2414016" cy="512064"/>
          </a:xfrm>
          <a:prstGeom prst="roundRect">
            <a:avLst>
              <a:gd name="adj" fmla="val 10714"/>
            </a:avLst>
          </a:prstGeom>
          <a:solidFill>
            <a:srgbClr val="EEF3FA"/>
          </a:solidFill>
          <a:ln w="9525">
            <a:solidFill>
              <a:srgbClr val="C9D6EA"/>
            </a:solidFill>
            <a:prstDash val="solid"/>
          </a:ln>
        </p:spPr>
      </p:sp>
      <p:sp>
        <p:nvSpPr>
          <p:cNvPr id="29" name="Text 26"/>
          <p:cNvSpPr txBox="1"/>
          <p:nvPr/>
        </p:nvSpPr>
        <p:spPr>
          <a:xfrm>
            <a:off x="6679692"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30" name="Text 27"/>
          <p:cNvSpPr txBox="1"/>
          <p:nvPr/>
        </p:nvSpPr>
        <p:spPr>
          <a:xfrm>
            <a:off x="6944868"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أُنْهِيَ وَاجِبِي،</a:t>
            </a:r>
            <a:endParaRPr lang="ar-SA" sz="1800" dirty="0"/>
          </a:p>
        </p:txBody>
      </p:sp>
      <p:sp>
        <p:nvSpPr>
          <p:cNvPr id="31" name="Shape 28"/>
          <p:cNvSpPr/>
          <p:nvPr/>
        </p:nvSpPr>
        <p:spPr>
          <a:xfrm>
            <a:off x="6624828" y="2670048"/>
            <a:ext cx="2414016" cy="512064"/>
          </a:xfrm>
          <a:prstGeom prst="roundRect">
            <a:avLst>
              <a:gd name="adj" fmla="val 10714"/>
            </a:avLst>
          </a:prstGeom>
          <a:solidFill>
            <a:srgbClr val="EEF3FA"/>
          </a:solidFill>
          <a:ln w="9525">
            <a:solidFill>
              <a:srgbClr val="C9D6EA"/>
            </a:solidFill>
            <a:prstDash val="solid"/>
          </a:ln>
        </p:spPr>
      </p:sp>
      <p:sp>
        <p:nvSpPr>
          <p:cNvPr id="32" name="Text 29"/>
          <p:cNvSpPr txBox="1"/>
          <p:nvPr/>
        </p:nvSpPr>
        <p:spPr>
          <a:xfrm>
            <a:off x="6679692"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33" name="Text 30"/>
          <p:cNvSpPr txBox="1"/>
          <p:nvPr/>
        </p:nvSpPr>
        <p:spPr>
          <a:xfrm>
            <a:off x="6944868"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أُنْهِي وَاجِبِيَ،</a:t>
            </a:r>
            <a:endParaRPr lang="ar-SA" sz="1800" dirty="0"/>
          </a:p>
        </p:txBody>
      </p:sp>
      <p:sp>
        <p:nvSpPr>
          <p:cNvPr id="34" name="Shape 31"/>
          <p:cNvSpPr/>
          <p:nvPr/>
        </p:nvSpPr>
        <p:spPr>
          <a:xfrm>
            <a:off x="4069080" y="2103120"/>
            <a:ext cx="2414016" cy="512064"/>
          </a:xfrm>
          <a:prstGeom prst="roundRect">
            <a:avLst>
              <a:gd name="adj" fmla="val 10714"/>
            </a:avLst>
          </a:prstGeom>
          <a:solidFill>
            <a:srgbClr val="EEF3FA"/>
          </a:solidFill>
          <a:ln w="9525">
            <a:solidFill>
              <a:srgbClr val="C9D6EA"/>
            </a:solidFill>
            <a:prstDash val="solid"/>
          </a:ln>
        </p:spPr>
      </p:sp>
      <p:sp>
        <p:nvSpPr>
          <p:cNvPr id="35" name="Text 32"/>
          <p:cNvSpPr txBox="1"/>
          <p:nvPr/>
        </p:nvSpPr>
        <p:spPr>
          <a:xfrm>
            <a:off x="4123944"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36" name="Text 33"/>
          <p:cNvSpPr txBox="1"/>
          <p:nvPr/>
        </p:nvSpPr>
        <p:spPr>
          <a:xfrm>
            <a:off x="4389120"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أَخْرُجُ لِمُدَّةِ سَاعَةٍ.</a:t>
            </a:r>
            <a:endParaRPr lang="ar-SA" sz="1800" dirty="0"/>
          </a:p>
        </p:txBody>
      </p:sp>
      <p:sp>
        <p:nvSpPr>
          <p:cNvPr id="37" name="Shape 34"/>
          <p:cNvSpPr/>
          <p:nvPr/>
        </p:nvSpPr>
        <p:spPr>
          <a:xfrm>
            <a:off x="4069080" y="2670048"/>
            <a:ext cx="2414016" cy="512064"/>
          </a:xfrm>
          <a:prstGeom prst="roundRect">
            <a:avLst>
              <a:gd name="adj" fmla="val 10714"/>
            </a:avLst>
          </a:prstGeom>
          <a:solidFill>
            <a:srgbClr val="EEF3FA"/>
          </a:solidFill>
          <a:ln w="9525">
            <a:solidFill>
              <a:srgbClr val="C9D6EA"/>
            </a:solidFill>
            <a:prstDash val="solid"/>
          </a:ln>
        </p:spPr>
      </p:sp>
      <p:sp>
        <p:nvSpPr>
          <p:cNvPr id="38" name="Text 35"/>
          <p:cNvSpPr txBox="1"/>
          <p:nvPr/>
        </p:nvSpPr>
        <p:spPr>
          <a:xfrm>
            <a:off x="4123944"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39" name="Text 36"/>
          <p:cNvSpPr txBox="1"/>
          <p:nvPr/>
        </p:nvSpPr>
        <p:spPr>
          <a:xfrm>
            <a:off x="4389120"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أَخْرُجَ لِمُدَّةِ سَاعَةٍ.</a:t>
            </a:r>
            <a:endParaRPr lang="ar-SA" sz="1800" dirty="0"/>
          </a:p>
        </p:txBody>
      </p:sp>
      <p:sp>
        <p:nvSpPr>
          <p:cNvPr id="40" name="Shape 37"/>
          <p:cNvSpPr/>
          <p:nvPr/>
        </p:nvSpPr>
        <p:spPr>
          <a:xfrm>
            <a:off x="457200" y="3392424"/>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1" name="Shape 38"/>
          <p:cNvSpPr/>
          <p:nvPr/>
        </p:nvSpPr>
        <p:spPr>
          <a:xfrm>
            <a:off x="594360" y="3529584"/>
            <a:ext cx="365760" cy="365760"/>
          </a:xfrm>
          <a:prstGeom prst="ellipse">
            <a:avLst/>
          </a:prstGeom>
          <a:solidFill>
            <a:srgbClr val="2F6FB0"/>
          </a:solidFill>
          <a:ln w="12700">
            <a:solidFill>
              <a:srgbClr val="2F6FB0"/>
            </a:solidFill>
            <a:prstDash val="solid"/>
          </a:ln>
        </p:spPr>
      </p:sp>
      <p:sp>
        <p:nvSpPr>
          <p:cNvPr id="42" name="Text 39"/>
          <p:cNvSpPr txBox="1"/>
          <p:nvPr/>
        </p:nvSpPr>
        <p:spPr>
          <a:xfrm>
            <a:off x="594360" y="3529584"/>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43" name="Text 40"/>
          <p:cNvSpPr txBox="1"/>
          <p:nvPr/>
        </p:nvSpPr>
        <p:spPr>
          <a:xfrm>
            <a:off x="1051560" y="3502152"/>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My mother rarely sleeps before eleven.</a:t>
            </a:r>
            <a:endParaRPr lang="en-US" sz="1400" dirty="0"/>
          </a:p>
        </p:txBody>
      </p:sp>
      <p:sp>
        <p:nvSpPr>
          <p:cNvPr id="44" name="Shape 41"/>
          <p:cNvSpPr/>
          <p:nvPr/>
        </p:nvSpPr>
        <p:spPr>
          <a:xfrm>
            <a:off x="9180576" y="3483864"/>
            <a:ext cx="2414016" cy="512064"/>
          </a:xfrm>
          <a:prstGeom prst="roundRect">
            <a:avLst>
              <a:gd name="adj" fmla="val 10714"/>
            </a:avLst>
          </a:prstGeom>
          <a:solidFill>
            <a:srgbClr val="EEF3FA"/>
          </a:solidFill>
          <a:ln w="9525">
            <a:solidFill>
              <a:srgbClr val="C9D6EA"/>
            </a:solidFill>
            <a:prstDash val="solid"/>
          </a:ln>
        </p:spPr>
      </p:sp>
      <p:sp>
        <p:nvSpPr>
          <p:cNvPr id="45" name="Text 42"/>
          <p:cNvSpPr txBox="1"/>
          <p:nvPr/>
        </p:nvSpPr>
        <p:spPr>
          <a:xfrm>
            <a:off x="9235440"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46" name="Text 43"/>
          <p:cNvSpPr txBox="1"/>
          <p:nvPr/>
        </p:nvSpPr>
        <p:spPr>
          <a:xfrm>
            <a:off x="9500616"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نَادِرًا مَا</a:t>
            </a:r>
            <a:endParaRPr lang="ar-SA" sz="1800" dirty="0"/>
          </a:p>
        </p:txBody>
      </p:sp>
      <p:sp>
        <p:nvSpPr>
          <p:cNvPr id="47" name="Shape 44"/>
          <p:cNvSpPr/>
          <p:nvPr/>
        </p:nvSpPr>
        <p:spPr>
          <a:xfrm>
            <a:off x="9180576" y="4050792"/>
            <a:ext cx="2414016" cy="512064"/>
          </a:xfrm>
          <a:prstGeom prst="roundRect">
            <a:avLst>
              <a:gd name="adj" fmla="val 10714"/>
            </a:avLst>
          </a:prstGeom>
          <a:solidFill>
            <a:srgbClr val="EEF3FA"/>
          </a:solidFill>
          <a:ln w="9525">
            <a:solidFill>
              <a:srgbClr val="C9D6EA"/>
            </a:solidFill>
            <a:prstDash val="solid"/>
          </a:ln>
        </p:spPr>
      </p:sp>
      <p:sp>
        <p:nvSpPr>
          <p:cNvPr id="48" name="Text 45"/>
          <p:cNvSpPr txBox="1"/>
          <p:nvPr/>
        </p:nvSpPr>
        <p:spPr>
          <a:xfrm>
            <a:off x="9235440"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49" name="Text 46"/>
          <p:cNvSpPr txBox="1"/>
          <p:nvPr/>
        </p:nvSpPr>
        <p:spPr>
          <a:xfrm>
            <a:off x="9500616"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أَبَدًا</a:t>
            </a:r>
            <a:endParaRPr lang="ar-SA" sz="1800" dirty="0"/>
          </a:p>
        </p:txBody>
      </p:sp>
      <p:sp>
        <p:nvSpPr>
          <p:cNvPr id="50" name="Shape 47"/>
          <p:cNvSpPr/>
          <p:nvPr/>
        </p:nvSpPr>
        <p:spPr>
          <a:xfrm>
            <a:off x="6624828" y="3483864"/>
            <a:ext cx="2414016" cy="512064"/>
          </a:xfrm>
          <a:prstGeom prst="roundRect">
            <a:avLst>
              <a:gd name="adj" fmla="val 10714"/>
            </a:avLst>
          </a:prstGeom>
          <a:solidFill>
            <a:srgbClr val="EEF3FA"/>
          </a:solidFill>
          <a:ln w="9525">
            <a:solidFill>
              <a:srgbClr val="C9D6EA"/>
            </a:solidFill>
            <a:prstDash val="solid"/>
          </a:ln>
        </p:spPr>
      </p:sp>
      <p:sp>
        <p:nvSpPr>
          <p:cNvPr id="51" name="Text 48"/>
          <p:cNvSpPr txBox="1"/>
          <p:nvPr/>
        </p:nvSpPr>
        <p:spPr>
          <a:xfrm>
            <a:off x="6679692"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52" name="Text 49"/>
          <p:cNvSpPr txBox="1"/>
          <p:nvPr/>
        </p:nvSpPr>
        <p:spPr>
          <a:xfrm>
            <a:off x="6944868"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تَنَامُ أُمِّي</a:t>
            </a:r>
            <a:endParaRPr lang="ar-SA" sz="1800" dirty="0"/>
          </a:p>
        </p:txBody>
      </p:sp>
      <p:sp>
        <p:nvSpPr>
          <p:cNvPr id="53" name="Shape 50"/>
          <p:cNvSpPr/>
          <p:nvPr/>
        </p:nvSpPr>
        <p:spPr>
          <a:xfrm>
            <a:off x="6624828" y="4050792"/>
            <a:ext cx="2414016" cy="512064"/>
          </a:xfrm>
          <a:prstGeom prst="roundRect">
            <a:avLst>
              <a:gd name="adj" fmla="val 10714"/>
            </a:avLst>
          </a:prstGeom>
          <a:solidFill>
            <a:srgbClr val="EEF3FA"/>
          </a:solidFill>
          <a:ln w="9525">
            <a:solidFill>
              <a:srgbClr val="C9D6EA"/>
            </a:solidFill>
            <a:prstDash val="solid"/>
          </a:ln>
        </p:spPr>
      </p:sp>
      <p:sp>
        <p:nvSpPr>
          <p:cNvPr id="54" name="Text 51"/>
          <p:cNvSpPr txBox="1"/>
          <p:nvPr/>
        </p:nvSpPr>
        <p:spPr>
          <a:xfrm>
            <a:off x="6679692"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55" name="Text 52"/>
          <p:cNvSpPr txBox="1"/>
          <p:nvPr/>
        </p:nvSpPr>
        <p:spPr>
          <a:xfrm>
            <a:off x="6944868"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يَنَامُ أُمِّي</a:t>
            </a:r>
            <a:endParaRPr lang="ar-SA" sz="1800" dirty="0"/>
          </a:p>
        </p:txBody>
      </p:sp>
      <p:sp>
        <p:nvSpPr>
          <p:cNvPr id="56" name="Shape 53"/>
          <p:cNvSpPr/>
          <p:nvPr/>
        </p:nvSpPr>
        <p:spPr>
          <a:xfrm>
            <a:off x="4069080" y="3483864"/>
            <a:ext cx="2414016" cy="512064"/>
          </a:xfrm>
          <a:prstGeom prst="roundRect">
            <a:avLst>
              <a:gd name="adj" fmla="val 10714"/>
            </a:avLst>
          </a:prstGeom>
          <a:solidFill>
            <a:srgbClr val="EEF3FA"/>
          </a:solidFill>
          <a:ln w="9525">
            <a:solidFill>
              <a:srgbClr val="C9D6EA"/>
            </a:solidFill>
            <a:prstDash val="solid"/>
          </a:ln>
        </p:spPr>
      </p:sp>
      <p:sp>
        <p:nvSpPr>
          <p:cNvPr id="57" name="Text 54"/>
          <p:cNvSpPr txBox="1"/>
          <p:nvPr/>
        </p:nvSpPr>
        <p:spPr>
          <a:xfrm>
            <a:off x="4123944"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58" name="Text 55"/>
          <p:cNvSpPr txBox="1"/>
          <p:nvPr/>
        </p:nvSpPr>
        <p:spPr>
          <a:xfrm>
            <a:off x="4389120"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قَبْلَ الحَادِيَةَ عَشْرَةَ.</a:t>
            </a:r>
            <a:endParaRPr lang="ar-SA" sz="1800" dirty="0"/>
          </a:p>
        </p:txBody>
      </p:sp>
      <p:sp>
        <p:nvSpPr>
          <p:cNvPr id="59" name="Shape 56"/>
          <p:cNvSpPr/>
          <p:nvPr/>
        </p:nvSpPr>
        <p:spPr>
          <a:xfrm>
            <a:off x="4069080" y="4050792"/>
            <a:ext cx="2414016" cy="512064"/>
          </a:xfrm>
          <a:prstGeom prst="roundRect">
            <a:avLst>
              <a:gd name="adj" fmla="val 10714"/>
            </a:avLst>
          </a:prstGeom>
          <a:solidFill>
            <a:srgbClr val="EEF3FA"/>
          </a:solidFill>
          <a:ln w="9525">
            <a:solidFill>
              <a:srgbClr val="C9D6EA"/>
            </a:solidFill>
            <a:prstDash val="solid"/>
          </a:ln>
        </p:spPr>
      </p:sp>
      <p:sp>
        <p:nvSpPr>
          <p:cNvPr id="60" name="Text 57"/>
          <p:cNvSpPr txBox="1"/>
          <p:nvPr/>
        </p:nvSpPr>
        <p:spPr>
          <a:xfrm>
            <a:off x="4123944"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61" name="Text 58"/>
          <p:cNvSpPr txBox="1"/>
          <p:nvPr/>
        </p:nvSpPr>
        <p:spPr>
          <a:xfrm>
            <a:off x="4389120"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قَبْلَ أَحَدَ عَشَرَ.</a:t>
            </a:r>
            <a:endParaRPr lang="ar-SA" sz="1800" dirty="0"/>
          </a:p>
        </p:txBody>
      </p:sp>
      <p:sp>
        <p:nvSpPr>
          <p:cNvPr id="62" name="Shape 59"/>
          <p:cNvSpPr/>
          <p:nvPr/>
        </p:nvSpPr>
        <p:spPr>
          <a:xfrm>
            <a:off x="457200" y="4773168"/>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594360" y="4910328"/>
            <a:ext cx="365760" cy="365760"/>
          </a:xfrm>
          <a:prstGeom prst="ellipse">
            <a:avLst/>
          </a:prstGeom>
          <a:solidFill>
            <a:srgbClr val="2F6FB0"/>
          </a:solidFill>
          <a:ln w="12700">
            <a:solidFill>
              <a:srgbClr val="2F6FB0"/>
            </a:solidFill>
            <a:prstDash val="solid"/>
          </a:ln>
        </p:spPr>
      </p:sp>
      <p:sp>
        <p:nvSpPr>
          <p:cNvPr id="64" name="Text 61"/>
          <p:cNvSpPr txBox="1"/>
          <p:nvPr/>
        </p:nvSpPr>
        <p:spPr>
          <a:xfrm>
            <a:off x="594360" y="49103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65" name="Text 62"/>
          <p:cNvSpPr txBox="1"/>
          <p:nvPr/>
        </p:nvSpPr>
        <p:spPr>
          <a:xfrm>
            <a:off x="1051560" y="4882896"/>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Yesterday I woke up late; as for tomorrow, I will wake up early.</a:t>
            </a:r>
            <a:endParaRPr lang="en-US" sz="1400" dirty="0"/>
          </a:p>
        </p:txBody>
      </p:sp>
      <p:sp>
        <p:nvSpPr>
          <p:cNvPr id="66" name="Shape 63"/>
          <p:cNvSpPr/>
          <p:nvPr/>
        </p:nvSpPr>
        <p:spPr>
          <a:xfrm>
            <a:off x="9180576" y="4864608"/>
            <a:ext cx="2414016" cy="512064"/>
          </a:xfrm>
          <a:prstGeom prst="roundRect">
            <a:avLst>
              <a:gd name="adj" fmla="val 10714"/>
            </a:avLst>
          </a:prstGeom>
          <a:solidFill>
            <a:srgbClr val="EEF3FA"/>
          </a:solidFill>
          <a:ln w="9525">
            <a:solidFill>
              <a:srgbClr val="C9D6EA"/>
            </a:solidFill>
            <a:prstDash val="solid"/>
          </a:ln>
        </p:spPr>
      </p:sp>
      <p:sp>
        <p:nvSpPr>
          <p:cNvPr id="67" name="Text 64"/>
          <p:cNvSpPr txBox="1"/>
          <p:nvPr/>
        </p:nvSpPr>
        <p:spPr>
          <a:xfrm>
            <a:off x="9235440"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68" name="Text 65"/>
          <p:cNvSpPr txBox="1"/>
          <p:nvPr/>
        </p:nvSpPr>
        <p:spPr>
          <a:xfrm>
            <a:off x="9500616"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أَمْسِ اسْتَيْقَظْتُ مُتَأَخِّرًا،</a:t>
            </a:r>
            <a:endParaRPr lang="ar-SA" sz="1800" dirty="0"/>
          </a:p>
        </p:txBody>
      </p:sp>
      <p:sp>
        <p:nvSpPr>
          <p:cNvPr id="69" name="Shape 66"/>
          <p:cNvSpPr/>
          <p:nvPr/>
        </p:nvSpPr>
        <p:spPr>
          <a:xfrm>
            <a:off x="9180576" y="5431536"/>
            <a:ext cx="2414016" cy="512064"/>
          </a:xfrm>
          <a:prstGeom prst="roundRect">
            <a:avLst>
              <a:gd name="adj" fmla="val 10714"/>
            </a:avLst>
          </a:prstGeom>
          <a:solidFill>
            <a:srgbClr val="EEF3FA"/>
          </a:solidFill>
          <a:ln w="9525">
            <a:solidFill>
              <a:srgbClr val="C9D6EA"/>
            </a:solidFill>
            <a:prstDash val="solid"/>
          </a:ln>
        </p:spPr>
      </p:sp>
      <p:sp>
        <p:nvSpPr>
          <p:cNvPr id="70" name="Text 67"/>
          <p:cNvSpPr txBox="1"/>
          <p:nvPr/>
        </p:nvSpPr>
        <p:spPr>
          <a:xfrm>
            <a:off x="9235440"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71" name="Text 68"/>
          <p:cNvSpPr txBox="1"/>
          <p:nvPr/>
        </p:nvSpPr>
        <p:spPr>
          <a:xfrm>
            <a:off x="9500616"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أَمْسِ أَسْتَيْقِظُ مُتَأَخِّرًا،</a:t>
            </a:r>
            <a:endParaRPr lang="ar-SA" sz="1800" dirty="0"/>
          </a:p>
        </p:txBody>
      </p:sp>
      <p:sp>
        <p:nvSpPr>
          <p:cNvPr id="72" name="Shape 69"/>
          <p:cNvSpPr/>
          <p:nvPr/>
        </p:nvSpPr>
        <p:spPr>
          <a:xfrm>
            <a:off x="6624828" y="4864608"/>
            <a:ext cx="2414016" cy="512064"/>
          </a:xfrm>
          <a:prstGeom prst="roundRect">
            <a:avLst>
              <a:gd name="adj" fmla="val 10714"/>
            </a:avLst>
          </a:prstGeom>
          <a:solidFill>
            <a:srgbClr val="EEF3FA"/>
          </a:solidFill>
          <a:ln w="9525">
            <a:solidFill>
              <a:srgbClr val="C9D6EA"/>
            </a:solidFill>
            <a:prstDash val="solid"/>
          </a:ln>
        </p:spPr>
      </p:sp>
      <p:sp>
        <p:nvSpPr>
          <p:cNvPr id="73" name="Text 70"/>
          <p:cNvSpPr txBox="1"/>
          <p:nvPr/>
        </p:nvSpPr>
        <p:spPr>
          <a:xfrm>
            <a:off x="6679692"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74" name="Text 71"/>
          <p:cNvSpPr txBox="1"/>
          <p:nvPr/>
        </p:nvSpPr>
        <p:spPr>
          <a:xfrm>
            <a:off x="6944868"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أَمَّا غَدًا</a:t>
            </a:r>
            <a:endParaRPr lang="ar-SA" sz="1800" dirty="0"/>
          </a:p>
        </p:txBody>
      </p:sp>
      <p:sp>
        <p:nvSpPr>
          <p:cNvPr id="75" name="Shape 72"/>
          <p:cNvSpPr/>
          <p:nvPr/>
        </p:nvSpPr>
        <p:spPr>
          <a:xfrm>
            <a:off x="6624828" y="5431536"/>
            <a:ext cx="2414016" cy="512064"/>
          </a:xfrm>
          <a:prstGeom prst="roundRect">
            <a:avLst>
              <a:gd name="adj" fmla="val 10714"/>
            </a:avLst>
          </a:prstGeom>
          <a:solidFill>
            <a:srgbClr val="EEF3FA"/>
          </a:solidFill>
          <a:ln w="9525">
            <a:solidFill>
              <a:srgbClr val="C9D6EA"/>
            </a:solidFill>
            <a:prstDash val="solid"/>
          </a:ln>
        </p:spPr>
      </p:sp>
      <p:sp>
        <p:nvSpPr>
          <p:cNvPr id="76" name="Text 73"/>
          <p:cNvSpPr txBox="1"/>
          <p:nvPr/>
        </p:nvSpPr>
        <p:spPr>
          <a:xfrm>
            <a:off x="6679692"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77" name="Text 74"/>
          <p:cNvSpPr txBox="1"/>
          <p:nvPr/>
        </p:nvSpPr>
        <p:spPr>
          <a:xfrm>
            <a:off x="6944868"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بَيْنَمَا غَدًا</a:t>
            </a:r>
            <a:endParaRPr lang="ar-SA" sz="1800" dirty="0"/>
          </a:p>
        </p:txBody>
      </p:sp>
      <p:sp>
        <p:nvSpPr>
          <p:cNvPr id="78" name="Shape 75"/>
          <p:cNvSpPr/>
          <p:nvPr/>
        </p:nvSpPr>
        <p:spPr>
          <a:xfrm>
            <a:off x="4069080" y="4864608"/>
            <a:ext cx="2414016" cy="512064"/>
          </a:xfrm>
          <a:prstGeom prst="roundRect">
            <a:avLst>
              <a:gd name="adj" fmla="val 10714"/>
            </a:avLst>
          </a:prstGeom>
          <a:solidFill>
            <a:srgbClr val="EEF3FA"/>
          </a:solidFill>
          <a:ln w="9525">
            <a:solidFill>
              <a:srgbClr val="C9D6EA"/>
            </a:solidFill>
            <a:prstDash val="solid"/>
          </a:ln>
        </p:spPr>
      </p:sp>
      <p:sp>
        <p:nvSpPr>
          <p:cNvPr id="79" name="Text 76"/>
          <p:cNvSpPr txBox="1"/>
          <p:nvPr/>
        </p:nvSpPr>
        <p:spPr>
          <a:xfrm>
            <a:off x="4123944"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80" name="Text 77"/>
          <p:cNvSpPr txBox="1"/>
          <p:nvPr/>
        </p:nvSpPr>
        <p:spPr>
          <a:xfrm>
            <a:off x="4389120"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فَسَأَسْتَيْقِظُ مُبَكِّرًا.</a:t>
            </a:r>
            <a:endParaRPr lang="ar-SA" sz="1800" dirty="0"/>
          </a:p>
        </p:txBody>
      </p:sp>
      <p:sp>
        <p:nvSpPr>
          <p:cNvPr id="81" name="Shape 78"/>
          <p:cNvSpPr/>
          <p:nvPr/>
        </p:nvSpPr>
        <p:spPr>
          <a:xfrm>
            <a:off x="4069080" y="5431536"/>
            <a:ext cx="2414016" cy="512064"/>
          </a:xfrm>
          <a:prstGeom prst="roundRect">
            <a:avLst>
              <a:gd name="adj" fmla="val 10714"/>
            </a:avLst>
          </a:prstGeom>
          <a:solidFill>
            <a:srgbClr val="EEF3FA"/>
          </a:solidFill>
          <a:ln w="9525">
            <a:solidFill>
              <a:srgbClr val="C9D6EA"/>
            </a:solidFill>
            <a:prstDash val="solid"/>
          </a:ln>
        </p:spPr>
      </p:sp>
      <p:sp>
        <p:nvSpPr>
          <p:cNvPr id="82" name="Text 79"/>
          <p:cNvSpPr txBox="1"/>
          <p:nvPr/>
        </p:nvSpPr>
        <p:spPr>
          <a:xfrm>
            <a:off x="4123944"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83" name="Text 80"/>
          <p:cNvSpPr txBox="1"/>
          <p:nvPr/>
        </p:nvSpPr>
        <p:spPr>
          <a:xfrm>
            <a:off x="4389120"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سَأَسْتَيْقِظُ مُبَكِّرًا.</a:t>
            </a:r>
            <a:endParaRPr lang="ar-SA" sz="1800" dirty="0"/>
          </a:p>
        </p:txBody>
      </p:sp>
      <p:sp>
        <p:nvSpPr>
          <p:cNvPr id="84" name="Text 8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22</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D1-L12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STEP 6 · CHECK YOUR SENTENCES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 builder: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ابْنِ الجُمْلَةَ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D1-L12 · practice room</a:t>
            </a:r>
            <a:endParaRPr lang="en-US" sz="850" dirty="0"/>
          </a:p>
        </p:txBody>
      </p:sp>
      <p:sp>
        <p:nvSpPr>
          <p:cNvPr id="15" name="Shape 12"/>
          <p:cNvSpPr/>
          <p:nvPr/>
        </p:nvSpPr>
        <p:spPr>
          <a:xfrm>
            <a:off x="457200" y="1810512"/>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47672"/>
            <a:ext cx="365760" cy="365760"/>
          </a:xfrm>
          <a:prstGeom prst="ellipse">
            <a:avLst/>
          </a:prstGeom>
          <a:solidFill>
            <a:srgbClr val="2E8B57"/>
          </a:solidFill>
          <a:ln w="12700">
            <a:solidFill>
              <a:srgbClr val="2E8B57"/>
            </a:solidFill>
            <a:prstDash val="solid"/>
          </a:ln>
        </p:spPr>
      </p:sp>
      <p:sp>
        <p:nvSpPr>
          <p:cNvPr id="17" name="Text 14"/>
          <p:cNvSpPr txBox="1"/>
          <p:nvPr/>
        </p:nvSpPr>
        <p:spPr>
          <a:xfrm>
            <a:off x="640080" y="1947672"/>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18" name="Text 15"/>
          <p:cNvSpPr txBox="1"/>
          <p:nvPr/>
        </p:nvSpPr>
        <p:spPr>
          <a:xfrm>
            <a:off x="1143000" y="1901952"/>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After I finish my homework, I go out for an hour.</a:t>
            </a:r>
            <a:endParaRPr lang="en-US" sz="1300" dirty="0"/>
          </a:p>
        </p:txBody>
      </p:sp>
      <p:sp>
        <p:nvSpPr>
          <p:cNvPr id="19" name="Text 16"/>
          <p:cNvSpPr txBox="1"/>
          <p:nvPr/>
        </p:nvSpPr>
        <p:spPr>
          <a:xfrm>
            <a:off x="1143000" y="2359152"/>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20" name="Text 17"/>
          <p:cNvSpPr txBox="1"/>
          <p:nvPr/>
        </p:nvSpPr>
        <p:spPr>
          <a:xfrm>
            <a:off x="1143000" y="2633472"/>
            <a:ext cx="3291840" cy="438912"/>
          </a:xfrm>
          <a:prstGeom prst="rect">
            <a:avLst/>
          </a:prstGeom>
          <a:noFill/>
          <a:ln/>
        </p:spPr>
        <p:txBody>
          <a:bodyPr wrap="square" lIns="0" tIns="0" rIns="0" bIns="0" rtlCol="0" anchor="ctr"/>
          <a:lstStyle/>
          <a:p>
            <a:pPr algn="l" indent="0" marL="0">
              <a:buNone/>
            </a:pPr>
            <a:r>
              <a:rPr lang="ar-SA" altLang="en-US" sz="1350" dirty="0">
                <a:solidFill>
                  <a:srgbClr val="5A6472"/>
                </a:solidFill>
                <a:latin typeface="Amiri" pitchFamily="2" charset="-78"/>
                <a:ea typeface="Amiri" pitchFamily="2" charset="-78"/>
                <a:cs typeface="Amiri" pitchFamily="2" charset="-78"/>
              </a:rPr>
              <a:t>بَعْدَ أَنْ</a:t>
            </a:r>
            <a:pPr algn="l" indent="0" marL="0">
              <a:buNone/>
            </a:pPr>
            <a:r>
              <a:rPr lang="en-US" sz="1050" i="1" dirty="0">
                <a:solidFill>
                  <a:srgbClr val="5A6472"/>
                </a:solidFill>
                <a:latin typeface="Calibri" pitchFamily="34" charset="0"/>
                <a:cs typeface="Amiri" pitchFamily="2" charset="-78"/>
              </a:rPr>
              <a:t> + verb in -a (</a:t>
            </a:r>
            <a:pPr algn="l" indent="0" marL="0">
              <a:buNone/>
            </a:pPr>
            <a:r>
              <a:rPr lang="ar-SA" altLang="en-US" sz="1350" dirty="0">
                <a:solidFill>
                  <a:srgbClr val="5A6472"/>
                </a:solidFill>
                <a:latin typeface="Amiri" pitchFamily="2" charset="-78"/>
                <a:ea typeface="Amiri" pitchFamily="2" charset="-78"/>
                <a:cs typeface="Amiri" pitchFamily="2" charset="-78"/>
              </a:rPr>
              <a:t>أُنْهِيَ</a:t>
            </a:r>
            <a:pPr algn="l" indent="0" marL="0">
              <a:buNone/>
            </a:pPr>
            <a:r>
              <a:rPr lang="en-US" sz="1050" i="1" dirty="0">
                <a:solidFill>
                  <a:srgbClr val="5A6472"/>
                </a:solidFill>
                <a:latin typeface="Calibri" pitchFamily="34" charset="0"/>
                <a:cs typeface="Amiri" pitchFamily="2" charset="-78"/>
              </a:rPr>
              <a:t>); main verb stays -u.</a:t>
            </a:r>
            <a:endParaRPr lang="en-US" sz="1050" dirty="0"/>
          </a:p>
        </p:txBody>
      </p:sp>
      <p:sp>
        <p:nvSpPr>
          <p:cNvPr id="21" name="Text 18"/>
          <p:cNvSpPr txBox="1"/>
          <p:nvPr/>
        </p:nvSpPr>
        <p:spPr>
          <a:xfrm>
            <a:off x="4572000" y="1901952"/>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بَعْدَ أَنْ أُنْهِيَ وَاجِبِي، أَخْرُجُ لِمُدَّةِ سَاعَةٍ.</a:t>
            </a:r>
            <a:endParaRPr lang="ar-SA" sz="2800" dirty="0"/>
          </a:p>
        </p:txBody>
      </p:sp>
      <p:sp>
        <p:nvSpPr>
          <p:cNvPr id="22" name="Shape 19"/>
          <p:cNvSpPr/>
          <p:nvPr/>
        </p:nvSpPr>
        <p:spPr>
          <a:xfrm>
            <a:off x="457200" y="3291840"/>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640080" y="3429000"/>
            <a:ext cx="365760" cy="365760"/>
          </a:xfrm>
          <a:prstGeom prst="ellipse">
            <a:avLst/>
          </a:prstGeom>
          <a:solidFill>
            <a:srgbClr val="2E8B57"/>
          </a:solidFill>
          <a:ln w="12700">
            <a:solidFill>
              <a:srgbClr val="2E8B57"/>
            </a:solidFill>
            <a:prstDash val="solid"/>
          </a:ln>
        </p:spPr>
      </p:sp>
      <p:sp>
        <p:nvSpPr>
          <p:cNvPr id="24" name="Text 21"/>
          <p:cNvSpPr txBox="1"/>
          <p:nvPr/>
        </p:nvSpPr>
        <p:spPr>
          <a:xfrm>
            <a:off x="640080" y="342900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25" name="Text 22"/>
          <p:cNvSpPr txBox="1"/>
          <p:nvPr/>
        </p:nvSpPr>
        <p:spPr>
          <a:xfrm>
            <a:off x="1143000" y="3383280"/>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My mother rarely sleeps before eleven.</a:t>
            </a:r>
            <a:endParaRPr lang="en-US" sz="1300" dirty="0"/>
          </a:p>
        </p:txBody>
      </p:sp>
      <p:sp>
        <p:nvSpPr>
          <p:cNvPr id="26" name="Text 23"/>
          <p:cNvSpPr txBox="1"/>
          <p:nvPr/>
        </p:nvSpPr>
        <p:spPr>
          <a:xfrm>
            <a:off x="1143000" y="3840480"/>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27" name="Text 24"/>
          <p:cNvSpPr txBox="1"/>
          <p:nvPr/>
        </p:nvSpPr>
        <p:spPr>
          <a:xfrm>
            <a:off x="1143000" y="4114800"/>
            <a:ext cx="3291840" cy="43891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She → ta-; clock time = ordinal.</a:t>
            </a:r>
            <a:endParaRPr lang="en-US" sz="1050" dirty="0"/>
          </a:p>
        </p:txBody>
      </p:sp>
      <p:sp>
        <p:nvSpPr>
          <p:cNvPr id="28" name="Text 25"/>
          <p:cNvSpPr txBox="1"/>
          <p:nvPr/>
        </p:nvSpPr>
        <p:spPr>
          <a:xfrm>
            <a:off x="4572000" y="3383280"/>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نَادِرًا مَا تَنَامُ أُمِّي قَبْلَ الحَادِيَةَ عَشْرَةَ.</a:t>
            </a:r>
            <a:endParaRPr lang="ar-SA" sz="2800" dirty="0"/>
          </a:p>
        </p:txBody>
      </p:sp>
      <p:sp>
        <p:nvSpPr>
          <p:cNvPr id="29" name="Shape 26"/>
          <p:cNvSpPr/>
          <p:nvPr/>
        </p:nvSpPr>
        <p:spPr>
          <a:xfrm>
            <a:off x="457200" y="4773168"/>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640080" y="4910328"/>
            <a:ext cx="365760" cy="365760"/>
          </a:xfrm>
          <a:prstGeom prst="ellipse">
            <a:avLst/>
          </a:prstGeom>
          <a:solidFill>
            <a:srgbClr val="2E8B57"/>
          </a:solidFill>
          <a:ln w="12700">
            <a:solidFill>
              <a:srgbClr val="2E8B57"/>
            </a:solidFill>
            <a:prstDash val="solid"/>
          </a:ln>
        </p:spPr>
      </p:sp>
      <p:sp>
        <p:nvSpPr>
          <p:cNvPr id="31" name="Text 28"/>
          <p:cNvSpPr txBox="1"/>
          <p:nvPr/>
        </p:nvSpPr>
        <p:spPr>
          <a:xfrm>
            <a:off x="640080" y="49103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32" name="Text 29"/>
          <p:cNvSpPr txBox="1"/>
          <p:nvPr/>
        </p:nvSpPr>
        <p:spPr>
          <a:xfrm>
            <a:off x="1143000" y="4864608"/>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Yesterday I woke up late; as for tomorrow, I will wake up early.</a:t>
            </a:r>
            <a:endParaRPr lang="en-US" sz="1300" dirty="0"/>
          </a:p>
        </p:txBody>
      </p:sp>
      <p:sp>
        <p:nvSpPr>
          <p:cNvPr id="33" name="Text 30"/>
          <p:cNvSpPr txBox="1"/>
          <p:nvPr/>
        </p:nvSpPr>
        <p:spPr>
          <a:xfrm>
            <a:off x="1143000" y="5321808"/>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34" name="Text 31"/>
          <p:cNvSpPr txBox="1"/>
          <p:nvPr/>
        </p:nvSpPr>
        <p:spPr>
          <a:xfrm>
            <a:off x="1143000" y="5596128"/>
            <a:ext cx="3291840" cy="43891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Past → future, joined by </a:t>
            </a:r>
            <a:pPr algn="l" indent="0" marL="0">
              <a:buNone/>
            </a:pPr>
            <a:r>
              <a:rPr lang="ar-SA" altLang="en-US" sz="1350" dirty="0">
                <a:solidFill>
                  <a:srgbClr val="5A6472"/>
                </a:solidFill>
                <a:latin typeface="Amiri" pitchFamily="2" charset="-78"/>
                <a:ea typeface="Amiri" pitchFamily="2" charset="-78"/>
                <a:cs typeface="Amiri" pitchFamily="2" charset="-78"/>
              </a:rPr>
              <a:t>أَمَّا</a:t>
            </a:r>
            <a:pPr algn="l" indent="0" marL="0">
              <a:buNone/>
            </a:pPr>
            <a:r>
              <a:rPr lang="en-US" sz="1050" i="1" dirty="0">
                <a:solidFill>
                  <a:srgbClr val="5A6472"/>
                </a:solidFill>
                <a:latin typeface="Calibri" pitchFamily="34" charset="0"/>
                <a:cs typeface="Amiri" pitchFamily="2" charset="-78"/>
              </a:rPr>
              <a:t> … + fa-.</a:t>
            </a:r>
            <a:endParaRPr lang="en-US" sz="1050" dirty="0"/>
          </a:p>
        </p:txBody>
      </p:sp>
      <p:sp>
        <p:nvSpPr>
          <p:cNvPr id="35" name="Text 32"/>
          <p:cNvSpPr txBox="1"/>
          <p:nvPr/>
        </p:nvSpPr>
        <p:spPr>
          <a:xfrm>
            <a:off x="4572000" y="4864608"/>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أَمْسِ اسْتَيْقَظْتُ مُتَأَخِّرًا، أَمَّا غَدًا فَسَأَسْتَيْقِظُ مُبَكِّرًا.</a:t>
            </a:r>
            <a:endParaRPr lang="ar-SA" sz="280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22</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D1-L12 · Speaking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STEP 7 · SPOT AND FIX · MISTAKES STUDENTS OFTEN MAKE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Find the mistake, fix it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اكْتَشِفِ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D1-L12 · practice room</a:t>
            </a:r>
            <a:endParaRPr lang="en-US" sz="850" dirty="0"/>
          </a:p>
        </p:txBody>
      </p:sp>
      <p:sp>
        <p:nvSpPr>
          <p:cNvPr id="15" name="Shape 12"/>
          <p:cNvSpPr/>
          <p:nvPr/>
        </p:nvSpPr>
        <p:spPr>
          <a:xfrm>
            <a:off x="457200" y="18105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183112" y="2249424"/>
            <a:ext cx="402336" cy="402336"/>
          </a:xfrm>
          <a:prstGeom prst="ellipse">
            <a:avLst/>
          </a:prstGeom>
          <a:solidFill>
            <a:srgbClr val="B83227"/>
          </a:solidFill>
          <a:ln w="12700">
            <a:solidFill>
              <a:srgbClr val="B83227"/>
            </a:solidFill>
            <a:prstDash val="solid"/>
          </a:ln>
        </p:spPr>
      </p:sp>
      <p:sp>
        <p:nvSpPr>
          <p:cNvPr id="17" name="Text 14"/>
          <p:cNvSpPr txBox="1"/>
          <p:nvPr/>
        </p:nvSpPr>
        <p:spPr>
          <a:xfrm>
            <a:off x="11183112" y="224942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023360" y="1901952"/>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السَّاعَةُ أَرْبَعَةٌ إِلَّا الرُّبْعُ.</a:t>
            </a:r>
            <a:endParaRPr lang="ar-SA" sz="3000" dirty="0"/>
          </a:p>
        </p:txBody>
      </p:sp>
      <p:sp>
        <p:nvSpPr>
          <p:cNvPr id="19" name="Text 16"/>
          <p:cNvSpPr txBox="1"/>
          <p:nvPr/>
        </p:nvSpPr>
        <p:spPr>
          <a:xfrm>
            <a:off x="731520" y="1901952"/>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Two errors.</a:t>
            </a:r>
            <a:endParaRPr lang="en-US" sz="1300" dirty="0"/>
          </a:p>
        </p:txBody>
      </p:sp>
      <p:sp>
        <p:nvSpPr>
          <p:cNvPr id="20" name="Shape 17"/>
          <p:cNvSpPr/>
          <p:nvPr/>
        </p:nvSpPr>
        <p:spPr>
          <a:xfrm>
            <a:off x="457200" y="3255264"/>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183112" y="3694176"/>
            <a:ext cx="402336" cy="402336"/>
          </a:xfrm>
          <a:prstGeom prst="ellipse">
            <a:avLst/>
          </a:prstGeom>
          <a:solidFill>
            <a:srgbClr val="B83227"/>
          </a:solidFill>
          <a:ln w="12700">
            <a:solidFill>
              <a:srgbClr val="B83227"/>
            </a:solidFill>
            <a:prstDash val="solid"/>
          </a:ln>
        </p:spPr>
      </p:sp>
      <p:sp>
        <p:nvSpPr>
          <p:cNvPr id="22" name="Text 19"/>
          <p:cNvSpPr txBox="1"/>
          <p:nvPr/>
        </p:nvSpPr>
        <p:spPr>
          <a:xfrm>
            <a:off x="11183112" y="369417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023360" y="3346704"/>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أُرَاجِعُ لِكَيْ أَنْجَحُ، وَأُخْتِي يُرَاجِعُ أَيْضًا.</a:t>
            </a:r>
            <a:endParaRPr lang="ar-SA" sz="3000" dirty="0"/>
          </a:p>
        </p:txBody>
      </p:sp>
      <p:sp>
        <p:nvSpPr>
          <p:cNvPr id="24" name="Text 21"/>
          <p:cNvSpPr txBox="1"/>
          <p:nvPr/>
        </p:nvSpPr>
        <p:spPr>
          <a:xfrm>
            <a:off x="731520" y="3346704"/>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Two errors.</a:t>
            </a:r>
            <a:endParaRPr lang="en-US" sz="1300" dirty="0"/>
          </a:p>
        </p:txBody>
      </p:sp>
      <p:sp>
        <p:nvSpPr>
          <p:cNvPr id="25" name="Shape 22"/>
          <p:cNvSpPr/>
          <p:nvPr/>
        </p:nvSpPr>
        <p:spPr>
          <a:xfrm>
            <a:off x="457200" y="4700016"/>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183112" y="5138928"/>
            <a:ext cx="402336" cy="402336"/>
          </a:xfrm>
          <a:prstGeom prst="ellipse">
            <a:avLst/>
          </a:prstGeom>
          <a:solidFill>
            <a:srgbClr val="B83227"/>
          </a:solidFill>
          <a:ln w="12700">
            <a:solidFill>
              <a:srgbClr val="B83227"/>
            </a:solidFill>
            <a:prstDash val="solid"/>
          </a:ln>
        </p:spPr>
      </p:sp>
      <p:sp>
        <p:nvSpPr>
          <p:cNvPr id="27" name="Text 24"/>
          <p:cNvSpPr txBox="1"/>
          <p:nvPr/>
        </p:nvSpPr>
        <p:spPr>
          <a:xfrm>
            <a:off x="11183112" y="513892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023360" y="4791456"/>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إِذَا كَانَ الجَوُّ جَمِيلٌ، أَمَّا أَنَا أَخْرُجُ.</a:t>
            </a:r>
            <a:endParaRPr lang="ar-SA" sz="3000" dirty="0"/>
          </a:p>
        </p:txBody>
      </p:sp>
      <p:sp>
        <p:nvSpPr>
          <p:cNvPr id="29" name="Text 26"/>
          <p:cNvSpPr txBox="1"/>
          <p:nvPr/>
        </p:nvSpPr>
        <p:spPr>
          <a:xfrm>
            <a:off x="731520" y="4791456"/>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Two errors.</a:t>
            </a:r>
            <a:endParaRPr lang="en-US" sz="130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22</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D1-L12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STEP 7 · CORRECTIONS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Spot and fix: corrections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اكْتَشِفِ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D1-L12 · practice room</a:t>
            </a:r>
            <a:endParaRPr lang="en-US" sz="850" dirty="0"/>
          </a:p>
        </p:txBody>
      </p:sp>
      <p:sp>
        <p:nvSpPr>
          <p:cNvPr id="15" name="Shape 12"/>
          <p:cNvSpPr/>
          <p:nvPr/>
        </p:nvSpPr>
        <p:spPr>
          <a:xfrm>
            <a:off x="457200" y="1810512"/>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8503920" y="1901952"/>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السَّاعَةُ أَرْبَعَةٌ إِلَّا الرُّبْعُ.</a:t>
            </a:r>
            <a:endParaRPr lang="ar-SA" sz="1800" dirty="0"/>
          </a:p>
        </p:txBody>
      </p:sp>
      <p:sp>
        <p:nvSpPr>
          <p:cNvPr id="17" name="Shape 14"/>
          <p:cNvSpPr/>
          <p:nvPr/>
        </p:nvSpPr>
        <p:spPr>
          <a:xfrm>
            <a:off x="8641080" y="2459736"/>
            <a:ext cx="2834640" cy="0"/>
          </a:xfrm>
          <a:prstGeom prst="line">
            <a:avLst/>
          </a:prstGeom>
          <a:noFill/>
          <a:ln w="15875">
            <a:solidFill>
              <a:srgbClr val="B83227"/>
            </a:solidFill>
            <a:prstDash val="solid"/>
          </a:ln>
        </p:spPr>
      </p:sp>
      <p:sp>
        <p:nvSpPr>
          <p:cNvPr id="18" name="Text 15"/>
          <p:cNvSpPr txBox="1"/>
          <p:nvPr/>
        </p:nvSpPr>
        <p:spPr>
          <a:xfrm>
            <a:off x="8138160" y="1901952"/>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19" name="Text 16"/>
          <p:cNvSpPr txBox="1"/>
          <p:nvPr/>
        </p:nvSpPr>
        <p:spPr>
          <a:xfrm>
            <a:off x="3566160" y="1901952"/>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السَّاعَةُ الرَّابِعَةُ إِلَّا الرُّبْعَ.</a:t>
            </a:r>
            <a:endParaRPr lang="ar-SA" sz="2400" dirty="0"/>
          </a:p>
        </p:txBody>
      </p:sp>
      <p:sp>
        <p:nvSpPr>
          <p:cNvPr id="20" name="Text 17"/>
          <p:cNvSpPr txBox="1"/>
          <p:nvPr/>
        </p:nvSpPr>
        <p:spPr>
          <a:xfrm>
            <a:off x="685800" y="1901952"/>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Ordinal hour; </a:t>
            </a:r>
            <a:pPr algn="l" indent="0" marL="0">
              <a:buNone/>
            </a:pPr>
            <a:r>
              <a:rPr lang="ar-SA" altLang="en-US" sz="1500" b="1" dirty="0">
                <a:solidFill>
                  <a:srgbClr val="1B3B6F"/>
                </a:solidFill>
                <a:latin typeface="Amiri" pitchFamily="2" charset="-78"/>
                <a:ea typeface="Amiri" pitchFamily="2" charset="-78"/>
                <a:cs typeface="Amiri" pitchFamily="2" charset="-78"/>
              </a:rPr>
              <a:t>إِلَّا</a:t>
            </a:r>
            <a:pPr algn="l" indent="0" marL="0">
              <a:buNone/>
            </a:pPr>
            <a:r>
              <a:rPr lang="en-US" sz="1150" b="1" dirty="0">
                <a:solidFill>
                  <a:srgbClr val="1B3B6F"/>
                </a:solidFill>
                <a:latin typeface="Calibri" pitchFamily="34" charset="0"/>
                <a:cs typeface="Amiri" pitchFamily="2" charset="-78"/>
              </a:rPr>
              <a:t> + accusative.</a:t>
            </a:r>
            <a:endParaRPr lang="en-US" sz="1150" dirty="0"/>
          </a:p>
        </p:txBody>
      </p:sp>
      <p:sp>
        <p:nvSpPr>
          <p:cNvPr id="21" name="Shape 18"/>
          <p:cNvSpPr/>
          <p:nvPr/>
        </p:nvSpPr>
        <p:spPr>
          <a:xfrm>
            <a:off x="457200" y="3255264"/>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8503920" y="3346704"/>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أُرَاجِعُ لِكَيْ أَنْجَحُ، وَأُخْتِي يُرَاجِعُ أَيْضًا.</a:t>
            </a:r>
            <a:endParaRPr lang="ar-SA" sz="1800" dirty="0"/>
          </a:p>
        </p:txBody>
      </p:sp>
      <p:sp>
        <p:nvSpPr>
          <p:cNvPr id="23" name="Shape 20"/>
          <p:cNvSpPr/>
          <p:nvPr/>
        </p:nvSpPr>
        <p:spPr>
          <a:xfrm>
            <a:off x="8641080" y="3904488"/>
            <a:ext cx="2834640" cy="0"/>
          </a:xfrm>
          <a:prstGeom prst="line">
            <a:avLst/>
          </a:prstGeom>
          <a:noFill/>
          <a:ln w="15875">
            <a:solidFill>
              <a:srgbClr val="B83227"/>
            </a:solidFill>
            <a:prstDash val="solid"/>
          </a:ln>
        </p:spPr>
      </p:sp>
      <p:sp>
        <p:nvSpPr>
          <p:cNvPr id="24" name="Text 21"/>
          <p:cNvSpPr txBox="1"/>
          <p:nvPr/>
        </p:nvSpPr>
        <p:spPr>
          <a:xfrm>
            <a:off x="8138160" y="3346704"/>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25" name="Text 22"/>
          <p:cNvSpPr txBox="1"/>
          <p:nvPr/>
        </p:nvSpPr>
        <p:spPr>
          <a:xfrm>
            <a:off x="3566160" y="3346704"/>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أُرَاجِعُ لِكَيْ أَنْجَحَ، وَأُخْتِي تُرَاجِعُ أَيْضًا.</a:t>
            </a:r>
            <a:endParaRPr lang="ar-SA" sz="2400" dirty="0"/>
          </a:p>
        </p:txBody>
      </p:sp>
      <p:sp>
        <p:nvSpPr>
          <p:cNvPr id="26" name="Text 23"/>
          <p:cNvSpPr txBox="1"/>
          <p:nvPr/>
        </p:nvSpPr>
        <p:spPr>
          <a:xfrm>
            <a:off x="685800" y="3346704"/>
            <a:ext cx="2788920" cy="1097280"/>
          </a:xfrm>
          <a:prstGeom prst="rect">
            <a:avLst/>
          </a:prstGeom>
          <a:noFill/>
          <a:ln/>
        </p:spPr>
        <p:txBody>
          <a:bodyPr wrap="square" lIns="0" tIns="0" rIns="0" bIns="0" rtlCol="0" anchor="ctr"/>
          <a:lstStyle/>
          <a:p>
            <a:pPr algn="l" indent="0" marL="0">
              <a:buNone/>
            </a:pPr>
            <a:r>
              <a:rPr lang="ar-SA" altLang="en-US" sz="1500" b="1" dirty="0">
                <a:solidFill>
                  <a:srgbClr val="1B3B6F"/>
                </a:solidFill>
                <a:latin typeface="Amiri" pitchFamily="2" charset="-78"/>
                <a:ea typeface="Amiri" pitchFamily="2" charset="-78"/>
                <a:cs typeface="Amiri" pitchFamily="2" charset="-78"/>
              </a:rPr>
              <a:t>لِكَيْ</a:t>
            </a:r>
            <a:pPr algn="l" indent="0" marL="0">
              <a:buNone/>
            </a:pPr>
            <a:r>
              <a:rPr lang="en-US" sz="1150" b="1" dirty="0">
                <a:solidFill>
                  <a:srgbClr val="1B3B6F"/>
                </a:solidFill>
                <a:latin typeface="Calibri" pitchFamily="34" charset="0"/>
                <a:cs typeface="Amiri" pitchFamily="2" charset="-78"/>
              </a:rPr>
              <a:t> + -a; she → ta-.</a:t>
            </a:r>
            <a:endParaRPr lang="en-US" sz="1150" dirty="0"/>
          </a:p>
        </p:txBody>
      </p:sp>
      <p:sp>
        <p:nvSpPr>
          <p:cNvPr id="27" name="Shape 24"/>
          <p:cNvSpPr/>
          <p:nvPr/>
        </p:nvSpPr>
        <p:spPr>
          <a:xfrm>
            <a:off x="457200" y="4700016"/>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8503920" y="4791456"/>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إِذَا كَانَ الجَوُّ جَمِيلٌ، أَمَّا أَنَا أَخْرُجُ.</a:t>
            </a:r>
            <a:endParaRPr lang="ar-SA" sz="1800" dirty="0"/>
          </a:p>
        </p:txBody>
      </p:sp>
      <p:sp>
        <p:nvSpPr>
          <p:cNvPr id="29" name="Shape 26"/>
          <p:cNvSpPr/>
          <p:nvPr/>
        </p:nvSpPr>
        <p:spPr>
          <a:xfrm>
            <a:off x="8641080" y="5349240"/>
            <a:ext cx="2834640" cy="0"/>
          </a:xfrm>
          <a:prstGeom prst="line">
            <a:avLst/>
          </a:prstGeom>
          <a:noFill/>
          <a:ln w="15875">
            <a:solidFill>
              <a:srgbClr val="B83227"/>
            </a:solidFill>
            <a:prstDash val="solid"/>
          </a:ln>
        </p:spPr>
      </p:sp>
      <p:sp>
        <p:nvSpPr>
          <p:cNvPr id="30" name="Text 27"/>
          <p:cNvSpPr txBox="1"/>
          <p:nvPr/>
        </p:nvSpPr>
        <p:spPr>
          <a:xfrm>
            <a:off x="8138160" y="4791456"/>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31" name="Text 28"/>
          <p:cNvSpPr txBox="1"/>
          <p:nvPr/>
        </p:nvSpPr>
        <p:spPr>
          <a:xfrm>
            <a:off x="3566160" y="4791456"/>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إِذَا كَانَ الجَوُّ جَمِيلًا أَخْرُجُ.</a:t>
            </a:r>
            <a:endParaRPr lang="ar-SA" sz="2400" dirty="0"/>
          </a:p>
        </p:txBody>
      </p:sp>
      <p:sp>
        <p:nvSpPr>
          <p:cNvPr id="32" name="Text 29"/>
          <p:cNvSpPr txBox="1"/>
          <p:nvPr/>
        </p:nvSpPr>
        <p:spPr>
          <a:xfrm>
            <a:off x="685800" y="4791456"/>
            <a:ext cx="2788920" cy="1097280"/>
          </a:xfrm>
          <a:prstGeom prst="rect">
            <a:avLst/>
          </a:prstGeom>
          <a:noFill/>
          <a:ln/>
        </p:spPr>
        <p:txBody>
          <a:bodyPr wrap="square" lIns="0" tIns="0" rIns="0" bIns="0" rtlCol="0" anchor="ctr"/>
          <a:lstStyle/>
          <a:p>
            <a:pPr algn="l" indent="0" marL="0">
              <a:buNone/>
            </a:pPr>
            <a:r>
              <a:rPr lang="ar-SA" altLang="en-US" sz="1500" b="1" dirty="0">
                <a:solidFill>
                  <a:srgbClr val="1B3B6F"/>
                </a:solidFill>
                <a:latin typeface="Amiri" pitchFamily="2" charset="-78"/>
                <a:ea typeface="Amiri" pitchFamily="2" charset="-78"/>
                <a:cs typeface="Amiri" pitchFamily="2" charset="-78"/>
              </a:rPr>
              <a:t>كَانَ</a:t>
            </a:r>
            <a:pPr algn="l" indent="0" marL="0">
              <a:buNone/>
            </a:pPr>
            <a:r>
              <a:rPr lang="en-US" sz="1150" b="1" dirty="0">
                <a:solidFill>
                  <a:srgbClr val="1B3B6F"/>
                </a:solidFill>
                <a:latin typeface="Calibri" pitchFamily="34" charset="0"/>
                <a:cs typeface="Amiri" pitchFamily="2" charset="-78"/>
              </a:rPr>
              <a:t> + adjective in -an; </a:t>
            </a:r>
            <a:pPr algn="l" indent="0" marL="0">
              <a:buNone/>
            </a:pPr>
            <a:r>
              <a:rPr lang="ar-SA" altLang="en-US" sz="1500" b="1" dirty="0">
                <a:solidFill>
                  <a:srgbClr val="1B3B6F"/>
                </a:solidFill>
                <a:latin typeface="Amiri" pitchFamily="2" charset="-78"/>
                <a:ea typeface="Amiri" pitchFamily="2" charset="-78"/>
                <a:cs typeface="Amiri" pitchFamily="2" charset="-78"/>
              </a:rPr>
              <a:t>أَمَّا</a:t>
            </a:r>
            <a:pPr algn="l" indent="0" marL="0">
              <a:buNone/>
            </a:pPr>
            <a:r>
              <a:rPr lang="en-US" sz="1150" b="1" dirty="0">
                <a:solidFill>
                  <a:srgbClr val="1B3B6F"/>
                </a:solidFill>
                <a:latin typeface="Calibri" pitchFamily="34" charset="0"/>
                <a:cs typeface="Amiri" pitchFamily="2" charset="-78"/>
              </a:rPr>
              <a:t> is not needed here.</a:t>
            </a:r>
            <a:endParaRPr lang="en-US" sz="11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22</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D1-L12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8 · WRITE YOUR TEXT · FRAMES IF YOU NEED THEM</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Your writing frames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قَوَالِبُ الكِتَابَةِ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D1-L12 · practice room</a:t>
            </a:r>
            <a:endParaRPr lang="en-US" sz="850" dirty="0"/>
          </a:p>
        </p:txBody>
      </p:sp>
      <p:sp>
        <p:nvSpPr>
          <p:cNvPr id="15" name="Shape 12"/>
          <p:cNvSpPr/>
          <p:nvPr/>
        </p:nvSpPr>
        <p:spPr>
          <a:xfrm>
            <a:off x="457200" y="1810512"/>
            <a:ext cx="5541264" cy="3566160"/>
          </a:xfrm>
          <a:prstGeom prst="roundRect">
            <a:avLst>
              <a:gd name="adj" fmla="val 2051"/>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94360" y="1901952"/>
            <a:ext cx="1051560" cy="274320"/>
          </a:xfrm>
          <a:prstGeom prst="roundRect">
            <a:avLst>
              <a:gd name="adj" fmla="val 50000"/>
            </a:avLst>
          </a:prstGeom>
          <a:solidFill>
            <a:srgbClr val="C9780A"/>
          </a:solidFill>
          <a:ln w="12700">
            <a:solidFill>
              <a:srgbClr val="C9780A"/>
            </a:solidFill>
            <a:prstDash val="solid"/>
          </a:ln>
        </p:spPr>
      </p:sp>
      <p:sp>
        <p:nvSpPr>
          <p:cNvPr id="17" name="Text 14"/>
          <p:cNvSpPr txBox="1"/>
          <p:nvPr/>
        </p:nvSpPr>
        <p:spPr>
          <a:xfrm>
            <a:off x="594360"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18" name="Text 15"/>
          <p:cNvSpPr txBox="1"/>
          <p:nvPr/>
        </p:nvSpPr>
        <p:spPr>
          <a:xfrm>
            <a:off x="2468880"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بَعْدَ أَنْ ______ ، ______ ، لِكَيْ ______ .</a:t>
            </a:r>
            <a:endParaRPr lang="ar-SA" sz="1800" dirty="0"/>
          </a:p>
        </p:txBody>
      </p:sp>
      <p:sp>
        <p:nvSpPr>
          <p:cNvPr id="19" name="Text 16"/>
          <p:cNvSpPr txBox="1"/>
          <p:nvPr/>
        </p:nvSpPr>
        <p:spPr>
          <a:xfrm>
            <a:off x="594360"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After …, I …, so that …</a:t>
            </a:r>
            <a:endParaRPr lang="en-US" sz="1050" dirty="0"/>
          </a:p>
        </p:txBody>
      </p:sp>
      <p:sp>
        <p:nvSpPr>
          <p:cNvPr id="20" name="Text 17"/>
          <p:cNvSpPr txBox="1"/>
          <p:nvPr/>
        </p:nvSpPr>
        <p:spPr>
          <a:xfrm>
            <a:off x="2468880" y="2816352"/>
            <a:ext cx="3383280" cy="538582"/>
          </a:xfrm>
          <a:prstGeom prst="rect">
            <a:avLst/>
          </a:prstGeom>
          <a:noFill/>
          <a:ln/>
        </p:spPr>
        <p:txBody>
          <a:bodyPr wrap="square" lIns="0" tIns="0" rIns="0" bIns="0" rtlCol="0" anchor="ctr"/>
          <a:lstStyle/>
          <a:p>
            <a:pPr rtl="1" algn="r" indent="0" marL="0">
              <a:buNone/>
            </a:pPr>
            <a:r>
              <a:rPr lang="ar-SA" altLang="en-US" sz="1550" b="1" dirty="0">
                <a:solidFill>
                  <a:srgbClr val="1B3B6F"/>
                </a:solidFill>
                <a:latin typeface="Amiri" pitchFamily="2" charset="-78"/>
                <a:ea typeface="Amiri" pitchFamily="2" charset="-78"/>
                <a:cs typeface="Amiri" pitchFamily="2" charset="-78"/>
              </a:rPr>
              <a:t>فِي المُسْتَقْبَلِ سَأُحَاوِلُ أَنْ ______ ، لِأَنَّ ______ .</a:t>
            </a:r>
            <a:endParaRPr lang="ar-SA" sz="1550" dirty="0"/>
          </a:p>
        </p:txBody>
      </p:sp>
      <p:sp>
        <p:nvSpPr>
          <p:cNvPr id="21" name="Text 18"/>
          <p:cNvSpPr txBox="1"/>
          <p:nvPr/>
        </p:nvSpPr>
        <p:spPr>
          <a:xfrm>
            <a:off x="594360"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In future I will try to …, because …</a:t>
            </a:r>
            <a:endParaRPr lang="en-US" sz="1050" dirty="0"/>
          </a:p>
        </p:txBody>
      </p:sp>
      <p:sp>
        <p:nvSpPr>
          <p:cNvPr id="22" name="Shape 19"/>
          <p:cNvSpPr/>
          <p:nvPr/>
        </p:nvSpPr>
        <p:spPr>
          <a:xfrm>
            <a:off x="6190488" y="1810512"/>
            <a:ext cx="5541264" cy="3566160"/>
          </a:xfrm>
          <a:prstGeom prst="roundRect">
            <a:avLst>
              <a:gd name="adj" fmla="val 2051"/>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10543032" y="1901952"/>
            <a:ext cx="1051560" cy="27432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0543032"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25" name="Text 22"/>
          <p:cNvSpPr txBox="1"/>
          <p:nvPr/>
        </p:nvSpPr>
        <p:spPr>
          <a:xfrm>
            <a:off x="8202168"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أَسْتَيْقِظُ فِي ______ ، وَ ______ .</a:t>
            </a:r>
            <a:endParaRPr lang="ar-SA" sz="1800" dirty="0"/>
          </a:p>
        </p:txBody>
      </p:sp>
      <p:sp>
        <p:nvSpPr>
          <p:cNvPr id="26" name="Text 23"/>
          <p:cNvSpPr txBox="1"/>
          <p:nvPr/>
        </p:nvSpPr>
        <p:spPr>
          <a:xfrm>
            <a:off x="6327648"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wake up at …, and …</a:t>
            </a:r>
            <a:endParaRPr lang="en-US" sz="1050" dirty="0"/>
          </a:p>
        </p:txBody>
      </p:sp>
      <p:sp>
        <p:nvSpPr>
          <p:cNvPr id="27" name="Text 24"/>
          <p:cNvSpPr txBox="1"/>
          <p:nvPr/>
        </p:nvSpPr>
        <p:spPr>
          <a:xfrm>
            <a:off x="8202168" y="2816352"/>
            <a:ext cx="3383280" cy="538582"/>
          </a:xfrm>
          <a:prstGeom prst="rect">
            <a:avLst/>
          </a:prstGeom>
          <a:noFill/>
          <a:ln/>
        </p:spPr>
        <p:txBody>
          <a:bodyPr wrap="square" lIns="0" tIns="0" rIns="0" bIns="0" rtlCol="0" anchor="ctr"/>
          <a:lstStyle/>
          <a:p>
            <a:pPr rtl="1" algn="r" indent="0" marL="0">
              <a:buNone/>
            </a:pPr>
            <a:r>
              <a:rPr lang="ar-SA" altLang="en-US" sz="1650" b="1" dirty="0">
                <a:solidFill>
                  <a:srgbClr val="1B3B6F"/>
                </a:solidFill>
                <a:latin typeface="Amiri" pitchFamily="2" charset="-78"/>
                <a:ea typeface="Amiri" pitchFamily="2" charset="-78"/>
                <a:cs typeface="Amiri" pitchFamily="2" charset="-78"/>
              </a:rPr>
              <a:t>فِي المَسَاءِ أُرَاجِعُ لِمُدَّةِ ______ لِأَنَّ ______ .</a:t>
            </a:r>
            <a:endParaRPr lang="ar-SA" sz="1650" dirty="0"/>
          </a:p>
        </p:txBody>
      </p:sp>
      <p:sp>
        <p:nvSpPr>
          <p:cNvPr id="28" name="Text 25"/>
          <p:cNvSpPr txBox="1"/>
          <p:nvPr/>
        </p:nvSpPr>
        <p:spPr>
          <a:xfrm>
            <a:off x="6327648"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In the evening I revise for … because …</a:t>
            </a:r>
            <a:endParaRPr lang="en-US" sz="1050" dirty="0"/>
          </a:p>
        </p:txBody>
      </p:sp>
      <p:sp>
        <p:nvSpPr>
          <p:cNvPr id="29" name="Text 26"/>
          <p:cNvSpPr txBox="1"/>
          <p:nvPr/>
        </p:nvSpPr>
        <p:spPr>
          <a:xfrm>
            <a:off x="8202168"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فِي نِهَايَةِ الأُسْبُوعِ ______ .</a:t>
            </a:r>
            <a:endParaRPr lang="ar-SA" sz="1800" dirty="0"/>
          </a:p>
        </p:txBody>
      </p:sp>
      <p:sp>
        <p:nvSpPr>
          <p:cNvPr id="30" name="Text 27"/>
          <p:cNvSpPr txBox="1"/>
          <p:nvPr/>
        </p:nvSpPr>
        <p:spPr>
          <a:xfrm>
            <a:off x="6327648"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At the weekend I …</a:t>
            </a:r>
            <a:endParaRPr lang="en-US" sz="1050" dirty="0"/>
          </a:p>
        </p:txBody>
      </p:sp>
      <p:sp>
        <p:nvSpPr>
          <p:cNvPr id="31" name="Text 28"/>
          <p:cNvSpPr txBox="1"/>
          <p:nvPr/>
        </p:nvSpPr>
        <p:spPr>
          <a:xfrm>
            <a:off x="8202168"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فِي نِهَايَةِ الأُسْبُوعِ المَاضِيَةِ ______ .</a:t>
            </a:r>
            <a:endParaRPr lang="ar-SA" sz="1800" dirty="0"/>
          </a:p>
        </p:txBody>
      </p:sp>
      <p:sp>
        <p:nvSpPr>
          <p:cNvPr id="32" name="Text 29"/>
          <p:cNvSpPr txBox="1"/>
          <p:nvPr/>
        </p:nvSpPr>
        <p:spPr>
          <a:xfrm>
            <a:off x="6327648"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Last weekend I …</a:t>
            </a:r>
            <a:endParaRPr lang="en-US" sz="1050" dirty="0"/>
          </a:p>
        </p:txBody>
      </p:sp>
      <p:sp>
        <p:nvSpPr>
          <p:cNvPr id="33" name="Shape 30"/>
          <p:cNvSpPr/>
          <p:nvPr/>
        </p:nvSpPr>
        <p:spPr>
          <a:xfrm>
            <a:off x="457200" y="5504688"/>
            <a:ext cx="11274552" cy="804672"/>
          </a:xfrm>
          <a:prstGeom prst="roundRect">
            <a:avLst>
              <a:gd name="adj" fmla="val 909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4" name="Text 31"/>
          <p:cNvSpPr txBox="1"/>
          <p:nvPr/>
        </p:nvSpPr>
        <p:spPr>
          <a:xfrm>
            <a:off x="640080" y="5541264"/>
            <a:ext cx="18288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WORD BANK</a:t>
            </a:r>
            <a:endParaRPr lang="en-US" sz="950" dirty="0"/>
          </a:p>
        </p:txBody>
      </p:sp>
      <p:sp>
        <p:nvSpPr>
          <p:cNvPr id="35" name="Text 32"/>
          <p:cNvSpPr txBox="1"/>
          <p:nvPr/>
        </p:nvSpPr>
        <p:spPr>
          <a:xfrm>
            <a:off x="640080" y="5760720"/>
            <a:ext cx="10908792" cy="512064"/>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وَالرُّبْعُ · إِلَّا الرُّبْعَ  ·  عَادَةً · نَادِرًا  ·  قَبْلَ أَنْ · بَعْدَ أَنْ  ·  لِمُدَّةِ · لِكَيْ  ·  بَيْنَمَا  ·  أَمَّا … فَ…  ·  إِذَا كَانَ  ·  سَأُحَاوِلُ أَنْ</a:t>
            </a:r>
            <a:endParaRPr lang="ar-SA" sz="160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22</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D1-L12 · Speaking + writing practice room</a:t>
            </a:r>
            <a:endParaRPr lang="en-US" sz="950" dirty="0"/>
          </a:p>
        </p:txBody>
      </p:sp>
      <p:sp>
        <p:nvSpPr>
          <p:cNvPr id="8" name="Shape 6"/>
          <p:cNvSpPr/>
          <p:nvPr/>
        </p:nvSpPr>
        <p:spPr>
          <a:xfrm>
            <a:off x="7219188" y="274320"/>
            <a:ext cx="1540764"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10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8 · WRITE YOUR TEXT · ABOUT 60–80 WORDS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Exam-style email: my routine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رِسَالَةٌ بِأُسْلُوبِ الامْتِحَانِ: رُوتِينِي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D1-L12 · practice room</a:t>
            </a:r>
            <a:endParaRPr lang="en-US" sz="850" dirty="0"/>
          </a:p>
        </p:txBody>
      </p:sp>
      <p:sp>
        <p:nvSpPr>
          <p:cNvPr id="15" name="Shape 12"/>
          <p:cNvSpPr/>
          <p:nvPr/>
        </p:nvSpPr>
        <p:spPr>
          <a:xfrm>
            <a:off x="457200" y="1810512"/>
            <a:ext cx="557784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2061972" cy="292608"/>
          </a:xfrm>
          <a:prstGeom prst="roundRect">
            <a:avLst>
              <a:gd name="adj" fmla="val 50000"/>
            </a:avLst>
          </a:prstGeom>
          <a:solidFill>
            <a:srgbClr val="1B3B6F"/>
          </a:solidFill>
          <a:ln w="12700">
            <a:solidFill>
              <a:srgbClr val="1B3B6F"/>
            </a:solidFill>
            <a:prstDash val="solid"/>
          </a:ln>
        </p:spPr>
      </p:sp>
      <p:sp>
        <p:nvSpPr>
          <p:cNvPr id="17" name="Text 14"/>
          <p:cNvSpPr txBox="1"/>
          <p:nvPr/>
        </p:nvSpPr>
        <p:spPr>
          <a:xfrm>
            <a:off x="640080" y="1938528"/>
            <a:ext cx="2061972"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WRITING · DIRECTED TASK</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You have a new pen-friend in Jordan. Write an email (about 70–90 words) about your daily life. Answer ALL four bullets: • your school-day routine, with times • what you do in the evening and why • how your weekend is different • what you did last weekend, and one change you will make.</a:t>
            </a:r>
            <a:endParaRPr lang="en-US" sz="115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All the bullet points, in order.</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The right tense for each bullet.</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Linking words: </a:t>
            </a:r>
            <a:pPr algn="l" indent="0" marL="0">
              <a:buNone/>
            </a:pPr>
            <a:r>
              <a:rPr lang="ar-SA" altLang="en-US" sz="1550" dirty="0">
                <a:solidFill>
                  <a:srgbClr val="1F2A37"/>
                </a:solidFill>
                <a:latin typeface="Amiri" pitchFamily="2" charset="-78"/>
                <a:ea typeface="Amiri" pitchFamily="2" charset="-78"/>
                <a:cs typeface="Amiri" pitchFamily="2" charset="-78"/>
              </a:rPr>
              <a:t>وَ</a:t>
            </a:r>
            <a:pPr algn="l" indent="0" marL="0">
              <a:buNone/>
            </a:pPr>
            <a:r>
              <a:rPr lang="en-US" sz="1200" dirty="0">
                <a:solidFill>
                  <a:srgbClr val="1F2A37"/>
                </a:solidFill>
                <a:latin typeface="Calibri" pitchFamily="34" charset="0"/>
                <a:cs typeface="Amiri" pitchFamily="2" charset="-78"/>
              </a:rPr>
              <a:t> · </a:t>
            </a:r>
            <a:pPr algn="l" indent="0" marL="0">
              <a:buNone/>
            </a:pPr>
            <a:r>
              <a:rPr lang="ar-SA" altLang="en-US" sz="1550" dirty="0">
                <a:solidFill>
                  <a:srgbClr val="1F2A37"/>
                </a:solidFill>
                <a:latin typeface="Amiri" pitchFamily="2" charset="-78"/>
                <a:ea typeface="Amiri" pitchFamily="2" charset="-78"/>
                <a:cs typeface="Amiri" pitchFamily="2" charset="-78"/>
              </a:rPr>
              <a:t>ثُمَّ</a:t>
            </a:r>
            <a:pPr algn="l" indent="0" marL="0">
              <a:buNone/>
            </a:pPr>
            <a:r>
              <a:rPr lang="en-US" sz="1200" dirty="0">
                <a:solidFill>
                  <a:srgbClr val="1F2A37"/>
                </a:solidFill>
                <a:latin typeface="Calibri" pitchFamily="34" charset="0"/>
                <a:cs typeface="Amiri" pitchFamily="2" charset="-78"/>
              </a:rPr>
              <a:t> · </a:t>
            </a:r>
            <a:pPr algn="l" indent="0" marL="0">
              <a:buNone/>
            </a:pPr>
            <a:r>
              <a:rPr lang="ar-SA" altLang="en-US" sz="1550" dirty="0">
                <a:solidFill>
                  <a:srgbClr val="1F2A37"/>
                </a:solidFill>
                <a:latin typeface="Amiri" pitchFamily="2" charset="-78"/>
                <a:ea typeface="Amiri" pitchFamily="2" charset="-78"/>
                <a:cs typeface="Amiri" pitchFamily="2" charset="-78"/>
              </a:rPr>
              <a:t>لِأَنَّ</a:t>
            </a:r>
            <a:pPr algn="l" indent="0" marL="0">
              <a:buNone/>
            </a:pPr>
            <a:r>
              <a:rPr lang="en-US" sz="1200" dirty="0">
                <a:solidFill>
                  <a:srgbClr val="1F2A37"/>
                </a:solidFill>
                <a:latin typeface="Calibri" pitchFamily="34" charset="0"/>
                <a:cs typeface="Amiri" pitchFamily="2" charset="-78"/>
              </a:rPr>
              <a:t> · </a:t>
            </a:r>
            <a:pPr algn="l" indent="0" marL="0">
              <a:buNone/>
            </a:pPr>
            <a:r>
              <a:rPr lang="ar-SA" altLang="en-US" sz="1550" dirty="0">
                <a:solidFill>
                  <a:srgbClr val="1F2A37"/>
                </a:solidFill>
                <a:latin typeface="Amiri" pitchFamily="2" charset="-78"/>
                <a:ea typeface="Amiri" pitchFamily="2" charset="-78"/>
                <a:cs typeface="Amiri" pitchFamily="2" charset="-78"/>
              </a:rPr>
              <a:t>لٰكِنَّ</a:t>
            </a:r>
            <a:pPr algn="l" indent="0" marL="0">
              <a:buNone/>
            </a:pPr>
            <a:r>
              <a:rPr lang="en-US" sz="1200" dirty="0">
                <a:solidFill>
                  <a:srgbClr val="1F2A37"/>
                </a:solidFill>
                <a:latin typeface="Calibri" pitchFamily="34" charset="0"/>
                <a:cs typeface="Amiri" pitchFamily="2" charset="-78"/>
              </a:rPr>
              <a:t>.</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One opinion with a reason.</a:t>
            </a:r>
            <a:endParaRPr lang="en-US" sz="1200" dirty="0"/>
          </a:p>
        </p:txBody>
      </p:sp>
      <p:sp>
        <p:nvSpPr>
          <p:cNvPr id="23" name="Text 20"/>
          <p:cNvSpPr txBox="1"/>
          <p:nvPr/>
        </p:nvSpPr>
        <p:spPr>
          <a:xfrm>
            <a:off x="685800" y="5431536"/>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Buddy check, then fix one thing.</a:t>
            </a:r>
            <a:endParaRPr lang="en-US" sz="1200" dirty="0"/>
          </a:p>
        </p:txBody>
      </p:sp>
      <p:sp>
        <p:nvSpPr>
          <p:cNvPr id="24" name="Shape 21"/>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5" name="Text 22"/>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USEFUL LANGUAGE</a:t>
            </a:r>
            <a:endParaRPr lang="en-US" sz="950" dirty="0"/>
          </a:p>
        </p:txBody>
      </p:sp>
      <p:sp>
        <p:nvSpPr>
          <p:cNvPr id="26" name="Text 23"/>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أَسْتَيْقِظُ فِي … وَقَبْلَ أَنْ …</a:t>
            </a:r>
            <a:endParaRPr lang="ar-SA" sz="1800" dirty="0"/>
          </a:p>
        </p:txBody>
      </p:sp>
      <p:sp>
        <p:nvSpPr>
          <p:cNvPr id="27" name="Text 24"/>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 wake up at … and before …</a:t>
            </a:r>
            <a:endParaRPr lang="en-US" sz="1050" dirty="0"/>
          </a:p>
        </p:txBody>
      </p:sp>
      <p:sp>
        <p:nvSpPr>
          <p:cNvPr id="28" name="Text 25"/>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أُرَاجِعُ لِمُدَّةِ … لِكَيْ …</a:t>
            </a:r>
            <a:endParaRPr lang="ar-SA" sz="1800" dirty="0"/>
          </a:p>
        </p:txBody>
      </p:sp>
      <p:sp>
        <p:nvSpPr>
          <p:cNvPr id="29" name="Text 26"/>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 revise for … to …</a:t>
            </a:r>
            <a:endParaRPr lang="en-US" sz="1050" dirty="0"/>
          </a:p>
        </p:txBody>
      </p:sp>
      <p:sp>
        <p:nvSpPr>
          <p:cNvPr id="30" name="Text 27"/>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أَمَّا فِي نِهَايَةِ الأُسْبُوعِ فَ…</a:t>
            </a:r>
            <a:endParaRPr lang="ar-SA" sz="1800" dirty="0"/>
          </a:p>
        </p:txBody>
      </p:sp>
      <p:sp>
        <p:nvSpPr>
          <p:cNvPr id="31" name="Text 28"/>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as for the weekend, …</a:t>
            </a:r>
            <a:endParaRPr lang="en-US" sz="1050" dirty="0"/>
          </a:p>
        </p:txBody>
      </p:sp>
      <p:sp>
        <p:nvSpPr>
          <p:cNvPr id="32" name="Text 29"/>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550" b="1" dirty="0">
                <a:solidFill>
                  <a:srgbClr val="1B3B6F"/>
                </a:solidFill>
                <a:latin typeface="Amiri" pitchFamily="2" charset="-78"/>
                <a:ea typeface="Amiri" pitchFamily="2" charset="-78"/>
                <a:cs typeface="Amiri" pitchFamily="2" charset="-78"/>
              </a:rPr>
              <a:t>فِي نِهَايَةِ الأُسْبُوعِ المَاضِيَةِ … · سَأُحَاوِلُ أَنْ …</a:t>
            </a:r>
            <a:endParaRPr lang="ar-SA" sz="1550" dirty="0"/>
          </a:p>
        </p:txBody>
      </p:sp>
      <p:sp>
        <p:nvSpPr>
          <p:cNvPr id="33" name="Text 30"/>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last weekend … · I will try to …</a:t>
            </a:r>
            <a:endParaRPr lang="en-US" sz="1050" dirty="0"/>
          </a:p>
        </p:txBody>
      </p:sp>
      <p:sp>
        <p:nvSpPr>
          <p:cNvPr id="34" name="Text 3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22</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D1-L12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8 · BUDDY CHECK · SWAP AND READ YOUR BUDDY’S TEXT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Buddy check: five points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رَاجِعْ مَعَ زَمِيلِكَ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D1-L12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759952" y="1810512"/>
            <a:ext cx="28986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Line / example</a:t>
            </a:r>
            <a:endParaRPr lang="en-US" sz="1100" dirty="0"/>
          </a:p>
        </p:txBody>
      </p:sp>
      <p:sp>
        <p:nvSpPr>
          <p:cNvPr id="17" name="Text 14"/>
          <p:cNvSpPr txBox="1"/>
          <p:nvPr/>
        </p:nvSpPr>
        <p:spPr>
          <a:xfrm>
            <a:off x="7845552" y="1810512"/>
            <a:ext cx="7680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 / ✗</a:t>
            </a:r>
            <a:endParaRPr lang="en-US" sz="1100" dirty="0"/>
          </a:p>
        </p:txBody>
      </p:sp>
      <p:sp>
        <p:nvSpPr>
          <p:cNvPr id="18" name="Text 15"/>
          <p:cNvSpPr txBox="1"/>
          <p:nvPr/>
        </p:nvSpPr>
        <p:spPr>
          <a:xfrm>
            <a:off x="6565392" y="1810512"/>
            <a:ext cx="11338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Route</a:t>
            </a:r>
            <a:endParaRPr lang="en-US" sz="1100" dirty="0"/>
          </a:p>
        </p:txBody>
      </p:sp>
      <p:sp>
        <p:nvSpPr>
          <p:cNvPr id="19" name="Text 16"/>
          <p:cNvSpPr txBox="1"/>
          <p:nvPr/>
        </p:nvSpPr>
        <p:spPr>
          <a:xfrm>
            <a:off x="530352" y="1810512"/>
            <a:ext cx="5888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Did the writer …</a:t>
            </a:r>
            <a:endParaRPr lang="en-US" sz="1100" dirty="0"/>
          </a:p>
        </p:txBody>
      </p:sp>
      <p:sp>
        <p:nvSpPr>
          <p:cNvPr id="20" name="Shape 17"/>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1" name="Text 18"/>
          <p:cNvSpPr txBox="1"/>
          <p:nvPr/>
        </p:nvSpPr>
        <p:spPr>
          <a:xfrm>
            <a:off x="8796528" y="2267712"/>
            <a:ext cx="2862072" cy="682142"/>
          </a:xfrm>
          <a:prstGeom prst="rect">
            <a:avLst/>
          </a:prstGeom>
          <a:noFill/>
          <a:ln/>
        </p:spPr>
        <p:txBody>
          <a:bodyPr wrap="square" lIns="0" tIns="0" rIns="0" bIns="0" rtlCol="0" anchor="ctr"/>
          <a:lstStyle/>
          <a:p>
            <a:pPr algn="l" indent="0" marL="0">
              <a:buNone/>
            </a:pPr>
            <a:endParaRPr lang="en-US" sz="1100" dirty="0"/>
          </a:p>
        </p:txBody>
      </p:sp>
      <p:sp>
        <p:nvSpPr>
          <p:cNvPr id="22" name="Text 19"/>
          <p:cNvSpPr txBox="1"/>
          <p:nvPr/>
        </p:nvSpPr>
        <p:spPr>
          <a:xfrm>
            <a:off x="7882128" y="2267712"/>
            <a:ext cx="731520" cy="682142"/>
          </a:xfrm>
          <a:prstGeom prst="rect">
            <a:avLst/>
          </a:prstGeom>
          <a:noFill/>
          <a:ln/>
        </p:spPr>
        <p:txBody>
          <a:bodyPr wrap="square" lIns="0" tIns="0" rIns="0" bIns="0" rtlCol="0" anchor="ctr"/>
          <a:lstStyle/>
          <a:p>
            <a:pPr algn="l" indent="0" marL="0">
              <a:buNone/>
            </a:pPr>
            <a:endParaRPr lang="en-US" sz="1100" dirty="0"/>
          </a:p>
        </p:txBody>
      </p:sp>
      <p:sp>
        <p:nvSpPr>
          <p:cNvPr id="23" name="Text 20"/>
          <p:cNvSpPr txBox="1"/>
          <p:nvPr/>
        </p:nvSpPr>
        <p:spPr>
          <a:xfrm>
            <a:off x="6601968" y="2267712"/>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Core</a:t>
            </a:r>
            <a:endParaRPr lang="en-US" sz="1100" dirty="0"/>
          </a:p>
        </p:txBody>
      </p:sp>
      <p:sp>
        <p:nvSpPr>
          <p:cNvPr id="24" name="Text 21"/>
          <p:cNvSpPr txBox="1"/>
          <p:nvPr/>
        </p:nvSpPr>
        <p:spPr>
          <a:xfrm>
            <a:off x="566928" y="2267712"/>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answer EVERY bullet point?</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8" name="Text 25"/>
          <p:cNvSpPr txBox="1"/>
          <p:nvPr/>
        </p:nvSpPr>
        <p:spPr>
          <a:xfrm>
            <a:off x="8796528" y="3004718"/>
            <a:ext cx="2862072" cy="682142"/>
          </a:xfrm>
          <a:prstGeom prst="rect">
            <a:avLst/>
          </a:prstGeom>
          <a:noFill/>
          <a:ln/>
        </p:spPr>
        <p:txBody>
          <a:bodyPr wrap="square" lIns="0" tIns="0" rIns="0" bIns="0" rtlCol="0" anchor="ctr"/>
          <a:lstStyle/>
          <a:p>
            <a:pPr algn="l" indent="0" marL="0">
              <a:buNone/>
            </a:pPr>
            <a:endParaRPr lang="en-US" sz="1100" dirty="0"/>
          </a:p>
        </p:txBody>
      </p:sp>
      <p:sp>
        <p:nvSpPr>
          <p:cNvPr id="29" name="Text 26"/>
          <p:cNvSpPr txBox="1"/>
          <p:nvPr/>
        </p:nvSpPr>
        <p:spPr>
          <a:xfrm>
            <a:off x="7882128" y="3004718"/>
            <a:ext cx="731520" cy="682142"/>
          </a:xfrm>
          <a:prstGeom prst="rect">
            <a:avLst/>
          </a:prstGeom>
          <a:noFill/>
          <a:ln/>
        </p:spPr>
        <p:txBody>
          <a:bodyPr wrap="square" lIns="0" tIns="0" rIns="0" bIns="0" rtlCol="0" anchor="ctr"/>
          <a:lstStyle/>
          <a:p>
            <a:pPr algn="l" indent="0" marL="0">
              <a:buNone/>
            </a:pPr>
            <a:endParaRPr lang="en-US" sz="1100" dirty="0"/>
          </a:p>
        </p:txBody>
      </p:sp>
      <p:sp>
        <p:nvSpPr>
          <p:cNvPr id="30" name="Text 27"/>
          <p:cNvSpPr txBox="1"/>
          <p:nvPr/>
        </p:nvSpPr>
        <p:spPr>
          <a:xfrm>
            <a:off x="6601968" y="3004718"/>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Core</a:t>
            </a:r>
            <a:endParaRPr lang="en-US" sz="1100" dirty="0"/>
          </a:p>
        </p:txBody>
      </p:sp>
      <p:sp>
        <p:nvSpPr>
          <p:cNvPr id="31" name="Text 28"/>
          <p:cNvSpPr txBox="1"/>
          <p:nvPr/>
        </p:nvSpPr>
        <p:spPr>
          <a:xfrm>
            <a:off x="566928" y="3004718"/>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answer all four bullets with correct clock times?</a:t>
            </a:r>
            <a:endParaRPr lang="en-US" sz="1100" dirty="0"/>
          </a:p>
        </p:txBody>
      </p:sp>
      <p:sp>
        <p:nvSpPr>
          <p:cNvPr id="32" name="Shape 29"/>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5" name="Text 32"/>
          <p:cNvSpPr txBox="1"/>
          <p:nvPr/>
        </p:nvSpPr>
        <p:spPr>
          <a:xfrm>
            <a:off x="8796528" y="3741725"/>
            <a:ext cx="2862072" cy="682142"/>
          </a:xfrm>
          <a:prstGeom prst="rect">
            <a:avLst/>
          </a:prstGeom>
          <a:noFill/>
          <a:ln/>
        </p:spPr>
        <p:txBody>
          <a:bodyPr wrap="square" lIns="0" tIns="0" rIns="0" bIns="0" rtlCol="0" anchor="ctr"/>
          <a:lstStyle/>
          <a:p>
            <a:pPr algn="l" indent="0" marL="0">
              <a:buNone/>
            </a:pPr>
            <a:endParaRPr lang="en-US" sz="1100" dirty="0"/>
          </a:p>
        </p:txBody>
      </p:sp>
      <p:sp>
        <p:nvSpPr>
          <p:cNvPr id="36" name="Text 33"/>
          <p:cNvSpPr txBox="1"/>
          <p:nvPr/>
        </p:nvSpPr>
        <p:spPr>
          <a:xfrm>
            <a:off x="7882128" y="3741725"/>
            <a:ext cx="731520" cy="682142"/>
          </a:xfrm>
          <a:prstGeom prst="rect">
            <a:avLst/>
          </a:prstGeom>
          <a:noFill/>
          <a:ln/>
        </p:spPr>
        <p:txBody>
          <a:bodyPr wrap="square" lIns="0" tIns="0" rIns="0" bIns="0" rtlCol="0" anchor="ctr"/>
          <a:lstStyle/>
          <a:p>
            <a:pPr algn="l" indent="0" marL="0">
              <a:buNone/>
            </a:pPr>
            <a:endParaRPr lang="en-US" sz="1100" dirty="0"/>
          </a:p>
        </p:txBody>
      </p:sp>
      <p:sp>
        <p:nvSpPr>
          <p:cNvPr id="37" name="Text 34"/>
          <p:cNvSpPr txBox="1"/>
          <p:nvPr/>
        </p:nvSpPr>
        <p:spPr>
          <a:xfrm>
            <a:off x="6601968" y="3741725"/>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Develop</a:t>
            </a:r>
            <a:endParaRPr lang="en-US" sz="1100" dirty="0"/>
          </a:p>
        </p:txBody>
      </p:sp>
      <p:sp>
        <p:nvSpPr>
          <p:cNvPr id="38" name="Text 35"/>
          <p:cNvSpPr txBox="1"/>
          <p:nvPr/>
        </p:nvSpPr>
        <p:spPr>
          <a:xfrm>
            <a:off x="566928" y="3741725"/>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use past, present and future, plus </a:t>
            </a:r>
            <a:pPr algn="l" indent="0" marL="0">
              <a:buNone/>
            </a:pPr>
            <a:r>
              <a:rPr lang="ar-SA" altLang="en-US" sz="1450" dirty="0">
                <a:solidFill>
                  <a:srgbClr val="5A6472"/>
                </a:solidFill>
                <a:latin typeface="Amiri" pitchFamily="2" charset="-78"/>
                <a:ea typeface="Amiri" pitchFamily="2" charset="-78"/>
                <a:cs typeface="Amiri" pitchFamily="2" charset="-78"/>
              </a:rPr>
              <a:t>قَبْلَ أَنْ / لِكَيْ</a:t>
            </a:r>
            <a:pPr algn="l" indent="0" marL="0">
              <a:buNone/>
            </a:pPr>
            <a:r>
              <a:rPr lang="en-US" sz="1100" dirty="0">
                <a:solidFill>
                  <a:srgbClr val="5A6472"/>
                </a:solidFill>
                <a:latin typeface="Calibri" pitchFamily="34" charset="0"/>
                <a:cs typeface="Amiri" pitchFamily="2" charset="-78"/>
              </a:rPr>
              <a:t> with the -a ending?</a:t>
            </a:r>
            <a:endParaRPr lang="en-US" sz="1100" dirty="0"/>
          </a:p>
        </p:txBody>
      </p:sp>
      <p:sp>
        <p:nvSpPr>
          <p:cNvPr id="39" name="Shape 36"/>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0" name="Text 37"/>
          <p:cNvSpPr txBox="1"/>
          <p:nvPr/>
        </p:nvSpPr>
        <p:spPr>
          <a:xfrm>
            <a:off x="8796528" y="4478731"/>
            <a:ext cx="2862072" cy="682142"/>
          </a:xfrm>
          <a:prstGeom prst="rect">
            <a:avLst/>
          </a:prstGeom>
          <a:noFill/>
          <a:ln/>
        </p:spPr>
        <p:txBody>
          <a:bodyPr wrap="square" lIns="0" tIns="0" rIns="0" bIns="0" rtlCol="0" anchor="ctr"/>
          <a:lstStyle/>
          <a:p>
            <a:pPr algn="l" indent="0" marL="0">
              <a:buNone/>
            </a:pPr>
            <a:endParaRPr lang="en-US" sz="1100" dirty="0"/>
          </a:p>
        </p:txBody>
      </p:sp>
      <p:sp>
        <p:nvSpPr>
          <p:cNvPr id="41" name="Text 38"/>
          <p:cNvSpPr txBox="1"/>
          <p:nvPr/>
        </p:nvSpPr>
        <p:spPr>
          <a:xfrm>
            <a:off x="7882128" y="4478731"/>
            <a:ext cx="731520" cy="682142"/>
          </a:xfrm>
          <a:prstGeom prst="rect">
            <a:avLst/>
          </a:prstGeom>
          <a:noFill/>
          <a:ln/>
        </p:spPr>
        <p:txBody>
          <a:bodyPr wrap="square" lIns="0" tIns="0" rIns="0" bIns="0" rtlCol="0" anchor="ctr"/>
          <a:lstStyle/>
          <a:p>
            <a:pPr algn="l" indent="0" marL="0">
              <a:buNone/>
            </a:pPr>
            <a:endParaRPr lang="en-US" sz="1100" dirty="0"/>
          </a:p>
        </p:txBody>
      </p:sp>
      <p:sp>
        <p:nvSpPr>
          <p:cNvPr id="42" name="Text 39"/>
          <p:cNvSpPr txBox="1"/>
          <p:nvPr/>
        </p:nvSpPr>
        <p:spPr>
          <a:xfrm>
            <a:off x="6601968" y="4478731"/>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Develop</a:t>
            </a:r>
            <a:endParaRPr lang="en-US" sz="1100" dirty="0"/>
          </a:p>
        </p:txBody>
      </p:sp>
      <p:sp>
        <p:nvSpPr>
          <p:cNvPr id="43" name="Text 40"/>
          <p:cNvSpPr txBox="1"/>
          <p:nvPr/>
        </p:nvSpPr>
        <p:spPr>
          <a:xfrm>
            <a:off x="566928" y="4478731"/>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use linking words (</a:t>
            </a:r>
            <a:pPr algn="l" indent="0" marL="0">
              <a:buNone/>
            </a:pPr>
            <a:r>
              <a:rPr lang="ar-SA" altLang="en-US" sz="1450" dirty="0">
                <a:solidFill>
                  <a:srgbClr val="5A6472"/>
                </a:solidFill>
                <a:latin typeface="Amiri" pitchFamily="2" charset="-78"/>
                <a:ea typeface="Amiri" pitchFamily="2" charset="-78"/>
                <a:cs typeface="Amiri" pitchFamily="2" charset="-78"/>
              </a:rPr>
              <a:t>وَ</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ثُمَّ</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لِأَنَّ</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لٰكِنَّ</a:t>
            </a:r>
            <a:pPr algn="l" indent="0" marL="0">
              <a:buNone/>
            </a:pPr>
            <a:r>
              <a:rPr lang="en-US" sz="1100" dirty="0">
                <a:solidFill>
                  <a:srgbClr val="5A6472"/>
                </a:solidFill>
                <a:latin typeface="Calibri" pitchFamily="34" charset="0"/>
                <a:cs typeface="Amiri" pitchFamily="2" charset="-78"/>
              </a:rPr>
              <a:t>)?</a:t>
            </a:r>
            <a:endParaRPr lang="en-US" sz="1100" dirty="0"/>
          </a:p>
        </p:txBody>
      </p:sp>
      <p:sp>
        <p:nvSpPr>
          <p:cNvPr id="44" name="Shape 41"/>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5" name="Text 42"/>
          <p:cNvSpPr txBox="1"/>
          <p:nvPr/>
        </p:nvSpPr>
        <p:spPr>
          <a:xfrm>
            <a:off x="8796528" y="5215738"/>
            <a:ext cx="2862072" cy="682142"/>
          </a:xfrm>
          <a:prstGeom prst="rect">
            <a:avLst/>
          </a:prstGeom>
          <a:noFill/>
          <a:ln/>
        </p:spPr>
        <p:txBody>
          <a:bodyPr wrap="square" lIns="0" tIns="0" rIns="0" bIns="0" rtlCol="0" anchor="ctr"/>
          <a:lstStyle/>
          <a:p>
            <a:pPr algn="l" indent="0" marL="0">
              <a:buNone/>
            </a:pPr>
            <a:endParaRPr lang="en-US" sz="1100" dirty="0"/>
          </a:p>
        </p:txBody>
      </p:sp>
      <p:sp>
        <p:nvSpPr>
          <p:cNvPr id="46" name="Text 43"/>
          <p:cNvSpPr txBox="1"/>
          <p:nvPr/>
        </p:nvSpPr>
        <p:spPr>
          <a:xfrm>
            <a:off x="7882128" y="5215738"/>
            <a:ext cx="731520" cy="682142"/>
          </a:xfrm>
          <a:prstGeom prst="rect">
            <a:avLst/>
          </a:prstGeom>
          <a:noFill/>
          <a:ln/>
        </p:spPr>
        <p:txBody>
          <a:bodyPr wrap="square" lIns="0" tIns="0" rIns="0" bIns="0" rtlCol="0" anchor="ctr"/>
          <a:lstStyle/>
          <a:p>
            <a:pPr algn="l" indent="0" marL="0">
              <a:buNone/>
            </a:pPr>
            <a:endParaRPr lang="en-US" sz="1100" dirty="0"/>
          </a:p>
        </p:txBody>
      </p:sp>
      <p:sp>
        <p:nvSpPr>
          <p:cNvPr id="47" name="Text 44"/>
          <p:cNvSpPr txBox="1"/>
          <p:nvPr/>
        </p:nvSpPr>
        <p:spPr>
          <a:xfrm>
            <a:off x="6601968" y="5215738"/>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Stretch</a:t>
            </a:r>
            <a:endParaRPr lang="en-US" sz="1100" dirty="0"/>
          </a:p>
        </p:txBody>
      </p:sp>
      <p:sp>
        <p:nvSpPr>
          <p:cNvPr id="48" name="Text 45"/>
          <p:cNvSpPr txBox="1"/>
          <p:nvPr/>
        </p:nvSpPr>
        <p:spPr>
          <a:xfrm>
            <a:off x="566928" y="5215738"/>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use more than one tense and give an opinion with a reason?</a:t>
            </a:r>
            <a:endParaRPr lang="en-US" sz="1100" dirty="0"/>
          </a:p>
        </p:txBody>
      </p:sp>
      <p:sp>
        <p:nvSpPr>
          <p:cNvPr id="49" name="Text 4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Give back: one thing that went well + one thing to improve. The writer fixes ONE thing straight away.</a:t>
            </a:r>
            <a:endParaRPr lang="en-US" sz="1150" dirty="0"/>
          </a:p>
        </p:txBody>
      </p:sp>
      <p:sp>
        <p:nvSpPr>
          <p:cNvPr id="50"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18 / 22</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D1-L12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CHECK YOURSELF · ROLE-PLAY CARD</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50" b="1" dirty="0">
                <a:solidFill>
                  <a:srgbClr val="1B3B6F"/>
                </a:solidFill>
                <a:latin typeface="Cambria" pitchFamily="34" charset="0"/>
                <a:cs typeface="Amiri" pitchFamily="2" charset="-78"/>
              </a:rPr>
              <a:t>Role-play card: compare with a strong answer</a:t>
            </a:r>
            <a:endParaRPr lang="en-US" sz="20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قَارِنْ إِجَابَتَكَ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D1-L12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4782312" y="1810512"/>
            <a:ext cx="68762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 strong answer (with English)</a:t>
            </a:r>
            <a:endParaRPr lang="en-US" sz="1100" dirty="0"/>
          </a:p>
        </p:txBody>
      </p:sp>
      <p:sp>
        <p:nvSpPr>
          <p:cNvPr id="17" name="Text 14"/>
          <p:cNvSpPr txBox="1"/>
          <p:nvPr/>
        </p:nvSpPr>
        <p:spPr>
          <a:xfrm>
            <a:off x="1033272" y="1810512"/>
            <a:ext cx="3602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Leader reads</a:t>
            </a:r>
            <a:endParaRPr lang="en-US" sz="1100" dirty="0"/>
          </a:p>
        </p:txBody>
      </p:sp>
      <p:sp>
        <p:nvSpPr>
          <p:cNvPr id="18" name="Text 15"/>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19" name="Shape 16"/>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0" name="Text 17"/>
          <p:cNvSpPr txBox="1"/>
          <p:nvPr/>
        </p:nvSpPr>
        <p:spPr>
          <a:xfrm>
            <a:off x="4800600" y="2286000"/>
            <a:ext cx="6839712" cy="4535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أَنَامُ فِي العَاشِرَةِ وَالنِّصْفِ، وَأَسْتَيْقِظُ فِي السَّادِسَةِ وَالرُّبْعِ.</a:t>
            </a:r>
            <a:endParaRPr lang="ar-SA" sz="1800" dirty="0"/>
          </a:p>
        </p:txBody>
      </p:sp>
      <p:sp>
        <p:nvSpPr>
          <p:cNvPr id="21" name="Text 18"/>
          <p:cNvSpPr txBox="1"/>
          <p:nvPr/>
        </p:nvSpPr>
        <p:spPr>
          <a:xfrm>
            <a:off x="4754880" y="2706624"/>
            <a:ext cx="693115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I sleep at half past ten and wake up at quarter past six.</a:t>
            </a:r>
            <a:endParaRPr lang="en-US" sz="950" dirty="0"/>
          </a:p>
        </p:txBody>
      </p:sp>
      <p:sp>
        <p:nvSpPr>
          <p:cNvPr id="22" name="Text 19"/>
          <p:cNvSpPr txBox="1"/>
          <p:nvPr/>
        </p:nvSpPr>
        <p:spPr>
          <a:xfrm>
            <a:off x="1051560" y="2267712"/>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مَتَى تَنَامُ وَمَتَى تَسْتَيْقِظُ؟</a:t>
            </a:r>
            <a:endParaRPr lang="ar-SA" sz="1600" dirty="0"/>
          </a:p>
        </p:txBody>
      </p:sp>
      <p:sp>
        <p:nvSpPr>
          <p:cNvPr id="23" name="Text 20"/>
          <p:cNvSpPr txBox="1"/>
          <p:nvPr/>
        </p:nvSpPr>
        <p:spPr>
          <a:xfrm>
            <a:off x="566928" y="2267712"/>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4" name="Shape 21"/>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5" name="Text 22"/>
          <p:cNvSpPr txBox="1"/>
          <p:nvPr/>
        </p:nvSpPr>
        <p:spPr>
          <a:xfrm>
            <a:off x="4800600" y="3072384"/>
            <a:ext cx="6839712" cy="4535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أَدْرُسُ لِمُدَّةِ سَاعَتَيْنِ، لِكَيْ أَسْتَعِدَّ لِلِامْتِحَانَاتِ.</a:t>
            </a:r>
            <a:endParaRPr lang="ar-SA" sz="1800" dirty="0"/>
          </a:p>
        </p:txBody>
      </p:sp>
      <p:sp>
        <p:nvSpPr>
          <p:cNvPr id="26" name="Text 23"/>
          <p:cNvSpPr txBox="1"/>
          <p:nvPr/>
        </p:nvSpPr>
        <p:spPr>
          <a:xfrm>
            <a:off x="4754880" y="3493008"/>
            <a:ext cx="693115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I study for two hours, to prepare for the exams.</a:t>
            </a:r>
            <a:endParaRPr lang="en-US" sz="950" dirty="0"/>
          </a:p>
        </p:txBody>
      </p:sp>
      <p:sp>
        <p:nvSpPr>
          <p:cNvPr id="27" name="Text 24"/>
          <p:cNvSpPr txBox="1"/>
          <p:nvPr/>
        </p:nvSpPr>
        <p:spPr>
          <a:xfrm>
            <a:off x="1051560" y="3054096"/>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كَمْ سَاعَةً تَدْرُسُ بَعْدَ المَدْرَسَةِ؟</a:t>
            </a:r>
            <a:endParaRPr lang="ar-SA" sz="1600" dirty="0"/>
          </a:p>
        </p:txBody>
      </p:sp>
      <p:sp>
        <p:nvSpPr>
          <p:cNvPr id="28" name="Text 25"/>
          <p:cNvSpPr txBox="1"/>
          <p:nvPr/>
        </p:nvSpPr>
        <p:spPr>
          <a:xfrm>
            <a:off x="566928" y="3054096"/>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29" name="Shape 26"/>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0" name="Text 27"/>
          <p:cNvSpPr txBox="1"/>
          <p:nvPr/>
        </p:nvSpPr>
        <p:spPr>
          <a:xfrm>
            <a:off x="4800600" y="3858768"/>
            <a:ext cx="6839712" cy="4535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نَعَمْ، أَمَّا فِي نِهَايَةِ الأُسْبُوعِ فَأَنَامُ أَكْثَرَ وَأَزُورُ أَقَارِبِي.</a:t>
            </a:r>
            <a:endParaRPr lang="ar-SA" sz="1800" dirty="0"/>
          </a:p>
        </p:txBody>
      </p:sp>
      <p:sp>
        <p:nvSpPr>
          <p:cNvPr id="31" name="Text 28"/>
          <p:cNvSpPr txBox="1"/>
          <p:nvPr/>
        </p:nvSpPr>
        <p:spPr>
          <a:xfrm>
            <a:off x="4754880" y="4279392"/>
            <a:ext cx="693115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Yes — at the weekend I sleep more and visit my relatives.</a:t>
            </a:r>
            <a:endParaRPr lang="en-US" sz="950" dirty="0"/>
          </a:p>
        </p:txBody>
      </p:sp>
      <p:sp>
        <p:nvSpPr>
          <p:cNvPr id="32" name="Text 29"/>
          <p:cNvSpPr txBox="1"/>
          <p:nvPr/>
        </p:nvSpPr>
        <p:spPr>
          <a:xfrm>
            <a:off x="1051560" y="3840480"/>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هَلْ تَرْتَاحُ فِي نِهَايَةِ الأُسْبُوعِ؟</a:t>
            </a:r>
            <a:endParaRPr lang="ar-SA" sz="1600" dirty="0"/>
          </a:p>
        </p:txBody>
      </p:sp>
      <p:sp>
        <p:nvSpPr>
          <p:cNvPr id="33" name="Text 30"/>
          <p:cNvSpPr txBox="1"/>
          <p:nvPr/>
        </p:nvSpPr>
        <p:spPr>
          <a:xfrm>
            <a:off x="566928" y="3840480"/>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4" name="Shape 31"/>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35" name="Text 32"/>
          <p:cNvSpPr txBox="1"/>
          <p:nvPr/>
        </p:nvSpPr>
        <p:spPr>
          <a:xfrm>
            <a:off x="4800600" y="4645152"/>
            <a:ext cx="6839712" cy="4535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أَمْسِ مَشَيْتُ مَعَ أَبِي لِمُدَّةِ نِصْفِ سَاعَةٍ بَعْدَ العَشَاءِ.</a:t>
            </a:r>
            <a:endParaRPr lang="ar-SA" sz="1800" dirty="0"/>
          </a:p>
        </p:txBody>
      </p:sp>
      <p:sp>
        <p:nvSpPr>
          <p:cNvPr id="36" name="Text 33"/>
          <p:cNvSpPr txBox="1"/>
          <p:nvPr/>
        </p:nvSpPr>
        <p:spPr>
          <a:xfrm>
            <a:off x="4754880" y="5065776"/>
            <a:ext cx="693115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Yesterday I walked with my dad for half an hour after dinner.</a:t>
            </a:r>
            <a:endParaRPr lang="en-US" sz="950" dirty="0"/>
          </a:p>
        </p:txBody>
      </p:sp>
      <p:sp>
        <p:nvSpPr>
          <p:cNvPr id="37" name="Text 34"/>
          <p:cNvSpPr txBox="1"/>
          <p:nvPr/>
        </p:nvSpPr>
        <p:spPr>
          <a:xfrm>
            <a:off x="1051560" y="4626864"/>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مَاذَا فَعَلْتَ أَمْسِ لِكَيْ تَرْتَاحَ؟</a:t>
            </a:r>
            <a:endParaRPr lang="ar-SA" sz="1600" dirty="0"/>
          </a:p>
        </p:txBody>
      </p:sp>
      <p:sp>
        <p:nvSpPr>
          <p:cNvPr id="38" name="Text 35"/>
          <p:cNvSpPr txBox="1"/>
          <p:nvPr/>
        </p:nvSpPr>
        <p:spPr>
          <a:xfrm>
            <a:off x="566928" y="4626864"/>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39" name="Text 3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Did you answer every task in a full sentence? Choose one phrase you did not use and say it aloud.</a:t>
            </a:r>
            <a:endParaRPr lang="en-US" sz="1150" dirty="0"/>
          </a:p>
        </p:txBody>
      </p:sp>
      <p:sp>
        <p:nvSpPr>
          <p:cNvPr id="40" name="Text 3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19 / 22</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D1-L12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CHECK YOURSELF · WRITE YOUR TEXT · A STRONG ANSWER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400" b="1" dirty="0">
                <a:solidFill>
                  <a:srgbClr val="1B3B6F"/>
                </a:solidFill>
                <a:latin typeface="Cambria" pitchFamily="34" charset="0"/>
                <a:cs typeface="Amiri" pitchFamily="2" charset="-78"/>
              </a:rPr>
              <a:t>Writing: compare with a strong answer</a:t>
            </a:r>
            <a:endParaRPr lang="en-US" sz="24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قَارِنْ إِجَابَتَكَ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D1-L12 · practice room</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1900" dirty="0">
                <a:solidFill>
                  <a:srgbClr val="1F2A37"/>
                </a:solidFill>
                <a:latin typeface="Amiri" pitchFamily="2" charset="-78"/>
                <a:ea typeface="Amiri" pitchFamily="2" charset="-78"/>
                <a:cs typeface="Amiri" pitchFamily="2" charset="-78"/>
              </a:rPr>
              <a:t>مَرْحَبًا يَا رَامِي،</a:t>
            </a:r>
            <a:endParaRPr lang="ar-SA" sz="1900" dirty="0"/>
          </a:p>
          <a:p>
            <a:pPr rtl="1" algn="r" indent="0" marL="0">
              <a:lnSpc>
                <a:spcPct val="120000"/>
              </a:lnSpc>
              <a:buNone/>
            </a:pPr>
            <a:r>
              <a:rPr lang="ar-SA" altLang="en-US" sz="1900" dirty="0">
                <a:solidFill>
                  <a:srgbClr val="1F2A37"/>
                </a:solidFill>
                <a:latin typeface="Amiri" pitchFamily="2" charset="-78"/>
                <a:ea typeface="Amiri" pitchFamily="2" charset="-78"/>
                <a:cs typeface="Amiri" pitchFamily="2" charset="-78"/>
              </a:rPr>
              <a:t>فِي أَيَّامِ الدِّرَاسَةِ أَسْتَيْقِظُ فِي السَّادِسَةِ وَالنِّصْفِ، وَقَبْلَ أَنْ أَخْرُجَ أَتَنَاوَلُ الإِفْطَارَ. تَبْدَأُ المَدْرَسَةُ فِي الثَّامِنَةِ إِلَّا الرُّبْعَ. فِي المَسَاءِ أُرَاجِعُ لِمُدَّةِ سَاعَةٍ لِكَيْ أَسْتَعِدَّ لِلِامْتِحَانَاتِ. أَمَّا فِي نِهَايَةِ الأُسْبُوعِ فَأَنَامُ وَقْتًا أَطْوَلَ، وَإِذَا كَانَ الجَوُّ جَمِيلًا أَلْعَبُ التِّنِسَ مَعَ أَبِي. فِي نِهَايَةِ الأُسْبُوعِ المَاضِيَةِ زُرْتُ خَالَتِي وَسَاعَدْتُهَا فِي الحَدِيقَةِ. فِي المُسْتَقْبَلِ سَأُحَاوِلُ أَنْ أَنَامَ مُبَكِّرًا، لِأَنَّنِي مُتْعَبٌ دَائِمًا فِي الصَّبَاحِ.</a:t>
            </a:r>
            <a:endParaRPr lang="ar-SA" sz="1900" dirty="0"/>
          </a:p>
          <a:p>
            <a:pPr rtl="1" algn="r" indent="0" marL="0">
              <a:lnSpc>
                <a:spcPct val="120000"/>
              </a:lnSpc>
              <a:buNone/>
            </a:pPr>
            <a:r>
              <a:rPr lang="ar-SA" altLang="en-US" sz="1900" dirty="0">
                <a:solidFill>
                  <a:srgbClr val="1F2A37"/>
                </a:solidFill>
                <a:latin typeface="Amiri" pitchFamily="2" charset="-78"/>
                <a:ea typeface="Amiri" pitchFamily="2" charset="-78"/>
                <a:cs typeface="Amiri" pitchFamily="2" charset="-78"/>
              </a:rPr>
              <a:t>أَخْبِرْنِي عَنْ يَوْمِكَ!</a:t>
            </a:r>
            <a:endParaRPr lang="ar-SA" sz="1900" dirty="0"/>
          </a:p>
          <a:p>
            <a:pPr rtl="1" algn="r" indent="0" marL="0">
              <a:lnSpc>
                <a:spcPct val="120000"/>
              </a:lnSpc>
              <a:buNone/>
            </a:pPr>
            <a:r>
              <a:rPr lang="ar-SA" altLang="en-US" sz="1900" dirty="0">
                <a:solidFill>
                  <a:srgbClr val="1F2A37"/>
                </a:solidFill>
                <a:latin typeface="Amiri" pitchFamily="2" charset="-78"/>
                <a:ea typeface="Amiri" pitchFamily="2" charset="-78"/>
                <a:cs typeface="Amiri" pitchFamily="2" charset="-78"/>
              </a:rPr>
              <a:t>صَدِيقُكَ، آدَمُ</a:t>
            </a:r>
            <a:endParaRPr lang="ar-SA" sz="190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“Hi Rami, on school days I wake up at half past six, and before I go out I have breakfast. School starts at quarter to eight. In the evening I revise for an hour to prepare for the exams. As for the weekend, I sleep longer, and if the weather is nice I play tennis with my dad. Last weekend I visited my aunt and helped her in the garden. In future I will try to sleep early, because I am always tired in the morning. Tell me about your day! Your friend, Adam.”</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وَقَبْلَ أَنْ أَخْرُجَ</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لِكَيْ أَسْتَعِدَّ</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أَمَّا فِي نِهَايَةِ الأُسْبُوعِ فَأَنَامُ</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سَأُحَاوِلُ أَنْ أَنَامَ</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20 / 22</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D1-L12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D1-L12 · practice room</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answered the questions and the role-play tasks in full sentences.</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wrote a sentence for every bullet point.</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used today’s key structure when I spoke AND when I wrote.</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My buddy checked my text and I fixed one mistake.</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used more than one tense and gave opinions with reasons.</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21 / 22</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D1-L12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ea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you practised it yourselves!</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2300" b="1" dirty="0">
                <a:solidFill>
                  <a:srgbClr val="FFFFFF"/>
                </a:solidFill>
                <a:latin typeface="Cambria" pitchFamily="34" charset="0"/>
                <a:cs typeface="Amiri" pitchFamily="2" charset="-78"/>
              </a:rPr>
              <a:t>D1 review · Well done — the unit is complete</a:t>
            </a:r>
            <a:endParaRPr lang="en-US" sz="230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ea typeface="Amiri" pitchFamily="2" charset="-78"/>
                <a:cs typeface="Amiri" pitchFamily="2" charset="-78"/>
              </a:rPr>
              <a:t>أَحْسَنْتُمْ</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Before you leave: write ONE target for D2 in your book, e.g. “I will always check ta- for she.”</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Amiri" pitchFamily="2" charset="-78"/>
        <a:cs typeface="Amiri" pitchFamily="2" charset="-78"/>
        <a:font script="Arab" typeface="Amiri"/>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Amiri" pitchFamily="2" charset="-78"/>
        <a:cs typeface="Amiri" pitchFamily="2" charset="-78"/>
        <a:font script="Arab" typeface="Amir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D1-L12 · Practice Room — Review and Unit Assessment</dc:title>
  <dc:subject>PptxGenJS Presentation</dc:subject>
  <dc:creator>Al Madina Online School · Arabic Department</dc:creator>
  <cp:lastModifiedBy>Al Madina Online School · Arabic Department</cp:lastModifiedBy>
  <cp:revision>1</cp:revision>
  <dcterms:created xsi:type="dcterms:W3CDTF">2026-10-25T18:01:36Z</dcterms:created>
  <dcterms:modified xsi:type="dcterms:W3CDTF">2026-10-25T18:01:36Z</dcterms:modified>
</cp:coreProperties>
</file>