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D1-L01 (My Morning Routine) — new practice tasks built on the lesson’s own word bank and grammar (present-tense “I” verbs (a- / u-); sequencing (awwalan · thumma · baʿda dhālika); times (fī al-sāʿati …); “he / she” forms for Stretch).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D1-L01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تَسْتَيْقِظِينَ · تَأْكُلِينَ · تَفْعَلِينَ. Language: “I” verbs (asta-, a-, u-) · awwalan … thumma · fī al-sāʿati + ordinal (feminine) · asking with ayna.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cs typeface="Amiri" pitchFamily="2" charset="-78"/>
              </a:rPr>
              <a:t>Practice Room — My Morning Routine</a:t>
            </a:r>
            <a:endParaRPr lang="en-US" sz="3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رُوتِينِي الصَّبَاحِيُّ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speaking and writing practice about their morning routine: say the routine verbs, act a short dialogue, answer question cards, do a role-play card with a host family, give a one-minute talk, then build, fix and write a short email about their mornings.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D1-L01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Getting up and getting ready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أَسْتَيْقِظُ</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wake up</a:t>
            </a:r>
            <a:endParaRPr lang="en-US" sz="1350" dirty="0"/>
          </a:p>
          <a:p>
            <a:pPr indent="0" marL="0">
              <a:buNone/>
            </a:pPr>
            <a:r>
              <a:rPr lang="en-US" sz="1100" i="1" dirty="0">
                <a:solidFill>
                  <a:srgbClr val="5A6472"/>
                </a:solidFill>
                <a:latin typeface="Calibri" pitchFamily="34" charset="0"/>
                <a:cs typeface="Amiri" pitchFamily="2" charset="-78"/>
              </a:rPr>
              <a:t>as-tay-qi-ẓu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أَسْتَيْقِظُ</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يَسْتَيْقِظُ</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تَسْتَيْقِظُ</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أَغْتَسِلُ</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shower / wash myself</a:t>
            </a:r>
            <a:endParaRPr lang="en-US" sz="1350" dirty="0"/>
          </a:p>
          <a:p>
            <a:pPr indent="0" marL="0">
              <a:buNone/>
            </a:pPr>
            <a:r>
              <a:rPr lang="en-US" sz="1100" i="1" dirty="0">
                <a:solidFill>
                  <a:srgbClr val="5A6472"/>
                </a:solidFill>
                <a:latin typeface="Calibri" pitchFamily="34" charset="0"/>
                <a:cs typeface="Amiri" pitchFamily="2" charset="-78"/>
              </a:rPr>
              <a:t>agh-ta-si-lu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أَغْتَسِلُ</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يَغْتَسِلُ</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تَغْتَسِلُ</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a:t>
            </a:r>
            <a:endParaRPr lang="en-US" sz="800" dirty="0"/>
          </a:p>
        </p:txBody>
      </p:sp>
      <p:sp>
        <p:nvSpPr>
          <p:cNvPr id="56" name="Text 5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أَتَوَضَّأُ</a:t>
            </a:r>
            <a:endParaRPr lang="ar-SA" sz="3000" dirty="0"/>
          </a:p>
        </p:txBody>
      </p:sp>
      <p:sp>
        <p:nvSpPr>
          <p:cNvPr id="57" name="Text 5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perform wudu</a:t>
            </a:r>
            <a:endParaRPr lang="en-US" sz="1350" dirty="0"/>
          </a:p>
          <a:p>
            <a:pPr indent="0" marL="0">
              <a:buNone/>
            </a:pPr>
            <a:r>
              <a:rPr lang="en-US" sz="1100" i="1" dirty="0">
                <a:solidFill>
                  <a:srgbClr val="5A6472"/>
                </a:solidFill>
                <a:latin typeface="Calibri" pitchFamily="34" charset="0"/>
                <a:cs typeface="Amiri" pitchFamily="2" charset="-78"/>
              </a:rPr>
              <a:t>a-ta-waḍ-ḍa-ʾu</a:t>
            </a:r>
            <a:endParaRPr lang="en-US"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1" name="Shape 58"/>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VIII</a:t>
            </a:r>
            <a:endParaRPr lang="en-US" sz="8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أَرْتَدِي مَلَابِسِي</a:t>
            </a:r>
            <a:endParaRPr lang="ar-SA" sz="3000" dirty="0"/>
          </a:p>
        </p:txBody>
      </p:sp>
      <p:sp>
        <p:nvSpPr>
          <p:cNvPr id="66" name="Text 6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dressed</a:t>
            </a:r>
            <a:endParaRPr lang="en-US" sz="1350" dirty="0"/>
          </a:p>
          <a:p>
            <a:pPr indent="0" marL="0">
              <a:buNone/>
            </a:pPr>
            <a:r>
              <a:rPr lang="en-US" sz="1100" i="1" dirty="0">
                <a:solidFill>
                  <a:srgbClr val="5A6472"/>
                </a:solidFill>
                <a:latin typeface="Calibri" pitchFamily="34" charset="0"/>
                <a:cs typeface="Amiri" pitchFamily="2" charset="-78"/>
              </a:rPr>
              <a:t>ar-ta-dī ma-lā-bi-sī</a:t>
            </a:r>
            <a:endParaRPr lang="en-US" sz="1350" dirty="0"/>
          </a:p>
        </p:txBody>
      </p:sp>
      <p:sp>
        <p:nvSpPr>
          <p:cNvPr id="67" name="Shape 6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389120"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0" name="Shape 6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2" name="Text 6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أُنَظِّفُ أَسْنَانِي</a:t>
            </a:r>
            <a:endParaRPr lang="ar-SA" sz="3000" dirty="0"/>
          </a:p>
        </p:txBody>
      </p:sp>
      <p:sp>
        <p:nvSpPr>
          <p:cNvPr id="73" name="Text 7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brush my teeth</a:t>
            </a:r>
            <a:endParaRPr lang="en-US" sz="1350" dirty="0"/>
          </a:p>
          <a:p>
            <a:pPr indent="0" marL="0">
              <a:buNone/>
            </a:pPr>
            <a:r>
              <a:rPr lang="en-US" sz="1100" i="1" dirty="0">
                <a:solidFill>
                  <a:srgbClr val="5A6472"/>
                </a:solidFill>
                <a:latin typeface="Calibri" pitchFamily="34" charset="0"/>
                <a:cs typeface="Amiri" pitchFamily="2" charset="-78"/>
              </a:rPr>
              <a:t>u-naẓ-ẓi-fu as-nā-nī</a:t>
            </a:r>
            <a:endParaRPr lang="en-US" sz="1350" dirty="0"/>
          </a:p>
        </p:txBody>
      </p:sp>
      <p:sp>
        <p:nvSpPr>
          <p:cNvPr id="74" name="Shape 7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566928"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7" name="Shape 74"/>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78" name="Text 75"/>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79" name="Shape 7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0" name="Text 7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1" name="Text 7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أَتَنَاوَلُ الإِفْطَارَ</a:t>
            </a:r>
            <a:endParaRPr lang="ar-SA" sz="3000" dirty="0"/>
          </a:p>
        </p:txBody>
      </p:sp>
      <p:sp>
        <p:nvSpPr>
          <p:cNvPr id="82" name="Text 7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breakfast</a:t>
            </a:r>
            <a:endParaRPr lang="en-US" sz="1350" dirty="0"/>
          </a:p>
          <a:p>
            <a:pPr indent="0" marL="0">
              <a:buNone/>
            </a:pPr>
            <a:r>
              <a:rPr lang="en-US" sz="1100" i="1" dirty="0">
                <a:solidFill>
                  <a:srgbClr val="5A6472"/>
                </a:solidFill>
                <a:latin typeface="Calibri" pitchFamily="34" charset="0"/>
                <a:cs typeface="Amiri" pitchFamily="2" charset="-78"/>
              </a:rPr>
              <a:t>a-ta-nā-wa-lu al-if-ṭā-ra</a:t>
            </a:r>
            <a:endParaRPr lang="en-US" sz="1350" dirty="0"/>
          </a:p>
        </p:txBody>
      </p:sp>
      <p:sp>
        <p:nvSpPr>
          <p:cNvPr id="83" name="Shape 80"/>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5" name="Text 82"/>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أَتَنَاوَلُ</a:t>
            </a:r>
            <a:endParaRPr lang="ar-SA" sz="1500" dirty="0"/>
          </a:p>
        </p:txBody>
      </p:sp>
      <p:sp>
        <p:nvSpPr>
          <p:cNvPr id="86" name="Shape 83"/>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88" name="Text 85"/>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يَتَنَاوَلُ</a:t>
            </a:r>
            <a:endParaRPr lang="ar-SA" sz="1500" dirty="0"/>
          </a:p>
        </p:txBody>
      </p:sp>
      <p:sp>
        <p:nvSpPr>
          <p:cNvPr id="89" name="Shape 86"/>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90" name="Text 87"/>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91" name="Text 88"/>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تَتَنَاوَلُ</a:t>
            </a:r>
            <a:endParaRPr lang="ar-SA" sz="1500" dirty="0"/>
          </a:p>
        </p:txBody>
      </p:sp>
      <p:sp>
        <p:nvSpPr>
          <p:cNvPr id="92" name="Text 8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Breakfast, leaving and sequencing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أَخْرُجُ مِنَ البَيْتِ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leave the house</a:t>
            </a:r>
            <a:endParaRPr lang="en-US" sz="1350" dirty="0"/>
          </a:p>
          <a:p>
            <a:pPr indent="0" marL="0">
              <a:buNone/>
            </a:pPr>
            <a:r>
              <a:rPr lang="en-US" sz="1100" i="1" dirty="0">
                <a:solidFill>
                  <a:srgbClr val="5A6472"/>
                </a:solidFill>
                <a:latin typeface="Calibri" pitchFamily="34" charset="0"/>
                <a:cs typeface="Amiri" pitchFamily="2" charset="-78"/>
              </a:rPr>
              <a:t>akh-ru-ju mi-na al-bay-ti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X</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أَسْتَقِلُّ الحَافِلَةَ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take the bus</a:t>
            </a:r>
            <a:endParaRPr lang="en-US" sz="1350" dirty="0"/>
          </a:p>
          <a:p>
            <a:pPr indent="0" marL="0">
              <a:buNone/>
            </a:pPr>
            <a:r>
              <a:rPr lang="en-US" sz="1100" i="1" dirty="0">
                <a:solidFill>
                  <a:srgbClr val="5A6472"/>
                </a:solidFill>
                <a:latin typeface="Calibri" pitchFamily="34" charset="0"/>
                <a:cs typeface="Amiri" pitchFamily="2" charset="-78"/>
              </a:rPr>
              <a:t>as-ta-qil-lu al-ḥā-fi-la-ta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أَصِلُ إِلَى المَدْرَسَةِ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arrive at school</a:t>
            </a:r>
            <a:endParaRPr lang="en-US" sz="1350" dirty="0"/>
          </a:p>
          <a:p>
            <a:pPr indent="0" marL="0">
              <a:buNone/>
            </a:pPr>
            <a:r>
              <a:rPr lang="en-US" sz="1100" i="1" dirty="0">
                <a:solidFill>
                  <a:srgbClr val="5A6472"/>
                </a:solidFill>
                <a:latin typeface="Calibri" pitchFamily="34" charset="0"/>
                <a:cs typeface="Amiri" pitchFamily="2" charset="-78"/>
              </a:rPr>
              <a:t>a-ṣi-lu i-lā al-mad-ra-sa-ti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أَوَّلًا</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a:t>
            </a:r>
            <a:endParaRPr lang="en-US" sz="1350" dirty="0"/>
          </a:p>
          <a:p>
            <a:pPr indent="0" marL="0">
              <a:buNone/>
            </a:pPr>
            <a:r>
              <a:rPr lang="en-US" sz="1100" i="1" dirty="0">
                <a:solidFill>
                  <a:srgbClr val="5A6472"/>
                </a:solidFill>
                <a:latin typeface="Calibri" pitchFamily="34" charset="0"/>
                <a:cs typeface="Amiri" pitchFamily="2" charset="-78"/>
              </a:rPr>
              <a:t>aw-wa-lan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a:t>
            </a:r>
            <a:endParaRPr lang="en-US" sz="1350" dirty="0"/>
          </a:p>
          <a:p>
            <a:pPr indent="0" marL="0">
              <a:buNone/>
            </a:pPr>
            <a:r>
              <a:rPr lang="en-US" sz="1100" i="1" dirty="0">
                <a:solidFill>
                  <a:srgbClr val="5A6472"/>
                </a:solidFill>
                <a:latin typeface="Calibri" pitchFamily="34" charset="0"/>
                <a:cs typeface="Amiri" pitchFamily="2" charset="-78"/>
              </a:rPr>
              <a:t>thum-ma</a:t>
            </a:r>
            <a:endParaRPr lang="en-US" sz="1350" dirty="0"/>
          </a:p>
        </p:txBody>
      </p:sp>
      <p:sp>
        <p:nvSpPr>
          <p:cNvPr id="48" name="Shape 4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1" name="Shape 4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ذٰلِكَ</a:t>
            </a:r>
            <a:endParaRPr lang="ar-SA" sz="3000" dirty="0"/>
          </a:p>
        </p:txBody>
      </p:sp>
      <p:sp>
        <p:nvSpPr>
          <p:cNvPr id="54" name="Text 5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that</a:t>
            </a:r>
            <a:endParaRPr lang="en-US" sz="1350" dirty="0"/>
          </a:p>
          <a:p>
            <a:pPr indent="0" marL="0">
              <a:buNone/>
            </a:pPr>
            <a:r>
              <a:rPr lang="en-US" sz="1100" i="1" dirty="0">
                <a:solidFill>
                  <a:srgbClr val="5A6472"/>
                </a:solidFill>
                <a:latin typeface="Calibri" pitchFamily="34" charset="0"/>
                <a:cs typeface="Amiri" pitchFamily="2" charset="-78"/>
              </a:rPr>
              <a:t>baʿ-da dhā-li-ka</a:t>
            </a:r>
            <a:endParaRPr lang="en-US" sz="13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time do you wake up?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مَتَى تَسْتَيْقِظُ؟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wake up in the morning?</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مَتَى تَسْتَيْقِظُ فِي الصَّبَاحِ؟</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wake up at half past six.</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أَسْتَيْقِظُ فِي السَّاعَةِ السَّادِسَةِ وَالنِّصْفِ.</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do you do after that?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وَمَاذَا تَفْعَلُ بَعْدَ ذٰلِكَ؟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I do wudu and pray, then I shower and get dressed.</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أَوَّلًا أَتَوَضَّأُ وَأُصَلِّي، ثُمَّ أَغْتَسِلُ وَأَرْتَدِي مَلَابِسِي.</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breakfast?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تَتَنَاوَلُ الإِفْطَارَ؟</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 eat bread and eggs, then I leave the house at quarter past seven.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آكُلُ الخُبْزَ وَالبَيْضَ، ثُمَّ أَخْرُجُ مِنَ البَيْتِ فِي السَّابِعَةِ وَالرُّبْعِ.</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ONE detail (a name, a number, a place)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المَدْرَسَةَ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أَسْتَيْقِظُ فِي السَّاعَةِ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wake up on Monday?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تَسْتَيْقِظُ يَوْمَ الإِثْنَيْنِ؟</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 وَبَعْدَ ذٰلِكَ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أَوَّلًا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first?</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أَوَّلًا؟</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لَذِيذٌ / صِحِّيٌّ</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آكُلُ … وَأَشْرَبُ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eat for breakfast?</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تَأْكُلُ فِي الإِفْطَارِ؟</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وَأَصِلُ فِي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أَذْهَبُ بِالحَافِلَةِ / مَشْيًا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go to school?</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تَذْهَبُ إِلَى المَدْرَسَةِ؟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لِأَنَّنِي … ؛ أَمَّا أَخِي فَهُوَ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 لَا،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like the morning? Why?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تُحِبُّ الصَّبَاحَ؟ لِمَاذَا؟</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Role-play card — morning plans with your host family</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مَعَ العَائِلَةِ المُضِيفَةِ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أَسْتَيْقِظُ عَادَةً فِي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time you usually wake up.</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صَبَاحَ الخَيْرِ! مَتَى تَسْتَيْقِظُ عَادَةً؟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آكُلُ … وَأَشْرَبُ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eat and drink.</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تَأْكُلُ فِي الإِفْطَارِ؟</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two things in order.</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قَبْلَ الإِفْطَارِ؟</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React and ASK a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الحَافِلَةُ تَأْتِي فِي السَّابِعَةِ. هَلْ هٰذَا مُنَاسِبٌ؟</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an exchange student in Jordan · Leader = your host mother or father.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my school morning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صَبَاحِي فِي يَوْمِ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your school morning: when you wake up, what you do in order, breakfast, how you go to school — and whether you like mornings.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30 seconds: four “I” verbs with </a:t>
            </a:r>
            <a:pPr algn="l" indent="0" marL="0">
              <a:buNone/>
            </a:pPr>
            <a:r>
              <a:rPr lang="ar-SA" altLang="en-US" sz="1500" dirty="0">
                <a:solidFill>
                  <a:srgbClr val="1F2A37"/>
                </a:solidFill>
                <a:latin typeface="Amiri" pitchFamily="2" charset="-78"/>
                <a:ea typeface="Amiri" pitchFamily="2" charset="-78"/>
                <a:cs typeface="Amiri" pitchFamily="2" charset="-78"/>
              </a:rPr>
              <a:t>أَوَّلًا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ثُمَّ</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times (</a:t>
            </a:r>
            <a:pPr algn="l" indent="0" marL="0">
              <a:buNone/>
            </a:pPr>
            <a:r>
              <a:rPr lang="ar-SA" altLang="en-US" sz="1500" dirty="0">
                <a:solidFill>
                  <a:srgbClr val="1F2A37"/>
                </a:solidFill>
                <a:latin typeface="Amiri" pitchFamily="2" charset="-78"/>
                <a:ea typeface="Amiri" pitchFamily="2" charset="-78"/>
                <a:cs typeface="Amiri" pitchFamily="2" charset="-78"/>
              </a:rPr>
              <a:t>فِي السَّاعَةِ</a:t>
            </a:r>
            <a:pPr algn="l" indent="0" marL="0">
              <a:buNone/>
            </a:pPr>
            <a:r>
              <a:rPr lang="en-US" sz="1150" dirty="0">
                <a:solidFill>
                  <a:srgbClr val="1F2A37"/>
                </a:solidFill>
                <a:latin typeface="Calibri" pitchFamily="34" charset="0"/>
                <a:cs typeface="Amiri" pitchFamily="2" charset="-78"/>
              </a:rPr>
              <a:t> …) and a reason with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how your weekend morning is different, or describe a family member’s morning (he / she verbs).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wake up at six o’clock.</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أَسْتَيْقِظُ</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يَسْتَيْقِظُ</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السَّاعَةِ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السَّاعَةُ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السَّادِسَةِ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سِتَّةٌ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First I shower, then I get dressed.</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أَوَّلًا أَغْتَسِلُ</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أَوَّلًا تَغْتَسِلُ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أَرْتَدِي مَلَابِسِي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يَرْتَدِي مَلَابِسَهُ</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has breakfast at seven.</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تَتَنَاوَلُ أُخْتِي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أَتَنَاوَلُ أُخْتِي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الإِفْطَارَ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الإِفْطَارُ</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السَّابِعَةِ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سَبْعَةٍ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wake up at six o’clock.</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 </a:t>
            </a:r>
            <a:pPr algn="l" indent="0" marL="0">
              <a:buNone/>
            </a:pPr>
            <a:r>
              <a:rPr lang="ar-SA" altLang="en-US" sz="1350" dirty="0">
                <a:solidFill>
                  <a:srgbClr val="5A6472"/>
                </a:solidFill>
                <a:latin typeface="Amiri" pitchFamily="2" charset="-78"/>
                <a:ea typeface="Amiri" pitchFamily="2" charset="-78"/>
                <a:cs typeface="Amiri" pitchFamily="2" charset="-78"/>
              </a:rPr>
              <a:t>أَسْتَيْقِظُ</a:t>
            </a:r>
            <a:pPr algn="l" indent="0" marL="0">
              <a:buNone/>
            </a:pPr>
            <a:r>
              <a:rPr lang="en-US" sz="1050" i="1" dirty="0">
                <a:solidFill>
                  <a:srgbClr val="5A6472"/>
                </a:solidFill>
                <a:latin typeface="Calibri" pitchFamily="34" charset="0"/>
                <a:cs typeface="Amiri" pitchFamily="2" charset="-78"/>
              </a:rPr>
              <a:t>; the time = </a:t>
            </a:r>
            <a:pPr algn="l" indent="0" marL="0">
              <a:buNone/>
            </a:pPr>
            <a:r>
              <a:rPr lang="ar-SA" altLang="en-US" sz="1350" dirty="0">
                <a:solidFill>
                  <a:srgbClr val="5A6472"/>
                </a:solidFill>
                <a:latin typeface="Amiri" pitchFamily="2" charset="-78"/>
                <a:ea typeface="Amiri" pitchFamily="2" charset="-78"/>
                <a:cs typeface="Amiri" pitchFamily="2" charset="-78"/>
              </a:rPr>
              <a:t>فِي السَّاعَةِ</a:t>
            </a:r>
            <a:pPr algn="l" indent="0" marL="0">
              <a:buNone/>
            </a:pPr>
            <a:r>
              <a:rPr lang="en-US" sz="1050" i="1" dirty="0">
                <a:solidFill>
                  <a:srgbClr val="5A6472"/>
                </a:solidFill>
                <a:latin typeface="Calibri" pitchFamily="34" charset="0"/>
                <a:cs typeface="Amiri" pitchFamily="2" charset="-78"/>
              </a:rPr>
              <a:t> + feminine ordinal (</a:t>
            </a:r>
            <a:pPr algn="l" indent="0" marL="0">
              <a:buNone/>
            </a:pPr>
            <a:r>
              <a:rPr lang="ar-SA" altLang="en-US" sz="1350" dirty="0">
                <a:solidFill>
                  <a:srgbClr val="5A6472"/>
                </a:solidFill>
                <a:latin typeface="Amiri" pitchFamily="2" charset="-78"/>
                <a:ea typeface="Amiri" pitchFamily="2" charset="-78"/>
                <a:cs typeface="Amiri" pitchFamily="2" charset="-78"/>
              </a:rPr>
              <a:t>السَّادِسَةِ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أَسْتَيْقِظُ فِي السَّاعَةِ السَّادِسَةِ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First I shower, then I get dressed.</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Both verbs are “I” verbs (a-); then = </a:t>
            </a:r>
            <a:pPr algn="l" indent="0" marL="0">
              <a:buNone/>
            </a:pPr>
            <a:r>
              <a:rPr lang="ar-SA" altLang="en-US" sz="1350" dirty="0">
                <a:solidFill>
                  <a:srgbClr val="5A6472"/>
                </a:solidFill>
                <a:latin typeface="Amiri" pitchFamily="2" charset="-78"/>
                <a:ea typeface="Amiri" pitchFamily="2" charset="-78"/>
                <a:cs typeface="Amiri" pitchFamily="2" charset="-78"/>
              </a:rPr>
              <a:t>ثُمَّ</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أَوَّلًا أَغْتَسِلُ ثُمَّ أَرْتَدِي مَلَابِسِي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has breakfast at seven.</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تَتَنَاوَلُ</a:t>
            </a:r>
            <a:pPr algn="l" indent="0" marL="0">
              <a:buNone/>
            </a:pPr>
            <a:r>
              <a:rPr lang="en-US" sz="1050" i="1" dirty="0">
                <a:solidFill>
                  <a:srgbClr val="5A6472"/>
                </a:solidFill>
                <a:latin typeface="Calibri" pitchFamily="34" charset="0"/>
                <a:cs typeface="Amiri" pitchFamily="2" charset="-78"/>
              </a:rPr>
              <a:t> (ta-); time = </a:t>
            </a:r>
            <a:pPr algn="l" indent="0" marL="0">
              <a:buNone/>
            </a:pPr>
            <a:r>
              <a:rPr lang="ar-SA" altLang="en-US" sz="1350" dirty="0">
                <a:solidFill>
                  <a:srgbClr val="5A6472"/>
                </a:solidFill>
                <a:latin typeface="Amiri" pitchFamily="2" charset="-78"/>
                <a:ea typeface="Amiri" pitchFamily="2" charset="-78"/>
                <a:cs typeface="Amiri" pitchFamily="2" charset="-78"/>
              </a:rPr>
              <a:t>فِي السَّابِعَةِ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تَتَنَاوَلُ أُخْتِي الإِفْطَارَ فِي السَّابِعَةِ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يَسْتَيْقِظُ فِي السَّابِعَةِ.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wakes up?</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يَغْتَسِلُ فِي الصَّبَاحِ.</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My sister is a “she”.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أَخْرُجُ مِنَ البَيْتِ فِي السَّاعَةِ سَبْعَةٍ.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do we say the time?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يَسْتَيْقِظُ فِي السَّابِعَةِ.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أَسْتَيْقِظُ فِي السَّابِعَةِ.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 verbs start with a- / u-: </a:t>
            </a:r>
            <a:pPr algn="l" indent="0" marL="0">
              <a:buNone/>
            </a:pPr>
            <a:r>
              <a:rPr lang="ar-SA" altLang="en-US" sz="1500" b="1" dirty="0">
                <a:solidFill>
                  <a:srgbClr val="1B3B6F"/>
                </a:solidFill>
                <a:latin typeface="Amiri" pitchFamily="2" charset="-78"/>
                <a:ea typeface="Amiri" pitchFamily="2" charset="-78"/>
                <a:cs typeface="Amiri" pitchFamily="2" charset="-78"/>
              </a:rPr>
              <a:t>أَسْتَيْقِظُ</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يَغْتَسِلُ فِي الصَّبَاحِ.</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تَغْتَسِلُ فِي الصَّبَاحِ.</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verbs start with ta-: </a:t>
            </a:r>
            <a:pPr algn="l" indent="0" marL="0">
              <a:buNone/>
            </a:pPr>
            <a:r>
              <a:rPr lang="ar-SA" altLang="en-US" sz="1500" b="1" dirty="0">
                <a:solidFill>
                  <a:srgbClr val="1B3B6F"/>
                </a:solidFill>
                <a:latin typeface="Amiri" pitchFamily="2" charset="-78"/>
                <a:ea typeface="Amiri" pitchFamily="2" charset="-78"/>
                <a:cs typeface="Amiri" pitchFamily="2" charset="-78"/>
              </a:rPr>
              <a:t>تَغْتَسِلُ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أَخْرُجُ مِنَ البَيْتِ فِي السَّاعَةِ سَبْعَةٍ.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أَخْرُجُ مِنَ البَيْتِ فِي السَّاعَةِ السَّابِعَةِ.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Times use the feminine ordinal: </a:t>
            </a:r>
            <a:pPr algn="l" indent="0" marL="0">
              <a:buNone/>
            </a:pPr>
            <a:r>
              <a:rPr lang="ar-SA" altLang="en-US" sz="1500" b="1" dirty="0">
                <a:solidFill>
                  <a:srgbClr val="1B3B6F"/>
                </a:solidFill>
                <a:latin typeface="Amiri" pitchFamily="2" charset="-78"/>
                <a:ea typeface="Amiri" pitchFamily="2" charset="-78"/>
                <a:cs typeface="Amiri" pitchFamily="2" charset="-78"/>
              </a:rPr>
              <a:t>السَّابِعَةِ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بَعْدَ ذٰلِكَ ______ ، وَأَخْرُجُ مِنَ البَيْتِ فِي ______ .</a:t>
            </a:r>
            <a:endParaRPr lang="ar-SA" sz="15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that I …, and I leave the house 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أَصِلُ إِلَى المَدْرَسَةِ فِي ______ ، لِأَنَّ ______ .</a:t>
            </a:r>
            <a:endParaRPr lang="ar-SA" sz="16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arrive at school at …, because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الصَّبَاحُ ______ ، لٰكِنَّ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the morning is …, but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فِي السَّاعَةِ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wake up at … o’clock.</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______ ، ثُمَّ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I …, then I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الإِفْطَارِ آكُلُ ______ وَأَشْرَبُ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breakfast I eat … and drink …</a:t>
            </a:r>
            <a:endParaRPr lang="en-US" sz="1050" dirty="0"/>
          </a:p>
        </p:txBody>
      </p:sp>
      <p:sp>
        <p:nvSpPr>
          <p:cNvPr id="35" name="Text 32"/>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المَدْرَسَةِ ______ .</a:t>
            </a:r>
            <a:endParaRPr lang="ar-SA" sz="1800" dirty="0"/>
          </a:p>
        </p:txBody>
      </p:sp>
      <p:sp>
        <p:nvSpPr>
          <p:cNvPr id="36" name="Text 33"/>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school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أَسْتَيْقِظُ  ·  أَغْتَسِلُ  ·  أَتَوَضَّأُ · أُصَلِّي  ·  أَرْتَدِي مَلَابِسِي  ·  أَتَنَاوَلُ الإِفْطَارَ  ·  أَخْرُجُ مِنَ البَيْتِ  ·  أَوَّلًا · ثُمَّ  ·  بَعْدَ ذٰلِكَ</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email: my morning routine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عَنْ رُوتِينِي الصَّبَاحِيِّ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Your pen-friend in Morocco wants to know about your school mornings. Write an email of about 60–80 words. Include: • when you wake up and what you do first • what you eat for breakfast • how and when you go to school • your opinion of mornings, with a reason.</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فِي السَّاعَةِ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wake up 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 ثُمَّ … وَبَعْدَ ذٰلِكَ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 … then … after that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آكُلُ … وَأَشْرَبُ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eat … and drink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الصَّبَاحُ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 the morning is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“I” verbs that start with a- / u- (</a:t>
            </a:r>
            <a:pPr algn="l" indent="0" marL="0">
              <a:buNone/>
            </a:pPr>
            <a:r>
              <a:rPr lang="ar-SA" altLang="en-US" sz="1450" dirty="0">
                <a:solidFill>
                  <a:srgbClr val="5A6472"/>
                </a:solidFill>
                <a:latin typeface="Amiri" pitchFamily="2" charset="-78"/>
                <a:ea typeface="Amiri" pitchFamily="2" charset="-78"/>
                <a:cs typeface="Amiri" pitchFamily="2" charset="-78"/>
              </a:rPr>
              <a:t>أَسْتَيْقِظُ</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أُصَلِّي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put the routine in order with </a:t>
            </a:r>
            <a:pPr algn="l" indent="0" marL="0">
              <a:buNone/>
            </a:pPr>
            <a:r>
              <a:rPr lang="ar-SA" altLang="en-US" sz="1450" dirty="0">
                <a:solidFill>
                  <a:srgbClr val="5A6472"/>
                </a:solidFill>
                <a:latin typeface="Amiri" pitchFamily="2" charset="-78"/>
                <a:ea typeface="Amiri" pitchFamily="2" charset="-78"/>
                <a:cs typeface="Amiri" pitchFamily="2" charset="-78"/>
              </a:rPr>
              <a:t>أَوَّلًا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بَعْدَ ذٰلِكَ</a:t>
            </a:r>
            <a:pPr algn="l" indent="0" marL="0">
              <a:buNone/>
            </a:pPr>
            <a:r>
              <a:rPr lang="en-US" sz="1100" dirty="0">
                <a:solidFill>
                  <a:srgbClr val="5A6472"/>
                </a:solidFill>
                <a:latin typeface="Calibri" pitchFamily="34" charset="0"/>
                <a:cs typeface="Amiri" pitchFamily="2" charset="-78"/>
              </a:rPr>
              <a:t> and give times?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صَبَاحَ النُّورِ! أَسْتَيْقِظُ عَادَةً فِي السَّاعَةِ السَّابِعَةِ.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Good morning! I usually wake up at seven o’clock.</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صَبَاحَ الخَيْرِ! مَتَى تَسْتَيْقِظُ عَادَةً؟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آكُلُ الخُبْزَ مَعَ الجُبْنِ، وَأَشْرَبُ الحَلِيبَ.</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eat bread with cheese, and I drink milk.</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تَأْكُلُ فِي الإِفْطَارِ؟</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 أُصَلِّي، ثُمَّ أَغْتَسِلُ وَأُنَظِّفُ أَسْنَانِي.</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First I pray, then I shower and brush my teeth.</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تَفْعَلُ قَبْلَ الإِفْطَارِ؟</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لَا مُشْكِلَةَ. أَيْنَ تَقِفُ الحَافِلَةُ؟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no problem. Where does the bus stop?</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الحَافِلَةُ تَأْتِي فِي السَّابِعَةِ. هَلْ هٰذَا مُنَاسِبٌ؟</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يَاسِينُ،</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فِي أَيَّامِ المَدْرَسَةِ أَسْتَيْقِظُ فِي السَّاعَةِ السَّادِسَةِ وَالنِّصْفِ. أَوَّلًا أَتَوَضَّأُ وَأُصَلِّي الفَجْرَ، ثُمَّ أَغْتَسِلُ وَأَرْتَدِي مَلَابِسِي. فِي الإِفْطَارِ آكُلُ الخُبْزَ مَعَ الجُبْنِ، وَأَشْرَبُ الشَّايَ بِالحَلِيبِ. بَعْدَ ذٰلِكَ أُنَظِّفُ أَسْنَانِي، وَأَخْرُجُ مِنَ البَيْتِ فِي السَّابِعَةِ وَالرُّبْعِ. أَذْهَبُ إِلَى المَدْرَسَةِ بِالحَافِلَةِ مَعَ أَصْدِقَائِي. فِي رَأْيِي الصَّبَاحُ صَعْبٌ قَلِيلًا لِأَنَّنِي أُحِبُّ النَّوْمَ، لٰكِنَّهُ هَادِئٌ وَجَمِيلٌ.</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إِلْيَاسُ</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Yassin, how are you? On school days I wake up at half past six. First I do wudu and pray Fajr, then I shower and get dressed. For breakfast I eat bread with cheese and drink tea with milk. After that I brush my teeth and leave the house at quarter past seven. I go to school by bus with my friends. In my opinion the morning is a bit hard because I love sleeping, but it is calm and beautiful. Bye, Ilyas.”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أَسْتَيْقِظُ فِي السَّاعَةِ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أَوَّلًا … ثُمَّ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بَعْدَ 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رَأْيِي … لِأَنَّنِي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50" b="1" dirty="0">
                <a:solidFill>
                  <a:srgbClr val="FFFFFF"/>
                </a:solidFill>
                <a:latin typeface="Cambria" pitchFamily="34" charset="0"/>
                <a:cs typeface="Amiri" pitchFamily="2" charset="-78"/>
              </a:rPr>
              <a:t>D1-L02 · Telling the Time — What Time Is It?</a:t>
            </a:r>
            <a:endParaRPr lang="en-US" sz="22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قِرَاءَةُ الوَقْتِ — كَمِ السَّاعَةُ؟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D1-L01 · Practice Room — My Morning Routine</dc:title>
  <dc:subject>PptxGenJS Presentation</dc:subject>
  <dc:creator>Al Madina Online School · Arabic Department</dc:creator>
  <cp:lastModifiedBy>Al Madina Online School · Arabic Department</cp:lastModifiedBy>
  <cp:revision>1</cp:revision>
  <dcterms:created xsi:type="dcterms:W3CDTF">2026-10-25T15:33:22Z</dcterms:created>
  <dcterms:modified xsi:type="dcterms:W3CDTF">2026-10-25T15:33:22Z</dcterms:modified>
</cp:coreProperties>
</file>