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PRACTICE ROOM AT A GLANCE — one combined lesson (speaking, then writing), 55–60 minutes: about 6 minutes in the main room, about 45 minutes in breakout rooms of two or three, about 6 minutes back together.
0–2 Welcome · 2–5 How the room works · ROOMS, Part A Speaking: Step 1 Word warm-up (5) · Step 2 Say the model dialogue (5) · Step 3 Question cards (7) · Step 4 Role-play card (7) · Step 5 Short talk (4) · Part B Writing: Step 6 Sentence builder (4) · Step 7 Spot and fix (3) · Step 8 Write your text (12) + buddy check (3) · back in the main room: Check yourself (4) · Self-check + close (2).
PURPOSE: students practise the lesson’s language ON THEIR OWN with a clear structure. The teacher visits each room (about 3 minutes per room), listens, reads one piece of writing per student and gives one live correction.
CONTENT: D1-L05 (After School and Evening Routine) — new practice tasks built on the lesson’s own word bank and grammar (three phases (afternoon · early evening · night); li-muddati + duration; purpose with li-kay / ḥattā + verb in -a; possessive and object suffixes (ghurfatī · usāʿiduhā · urattibuhā)).
SET-UP: rooms of two or three (same-level rooms keep the routes simple). Share this deck or its PDF in the chat so every room can follow the steps. Each student writes in their own book or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 Part A is speaking, Part B is writing. The step number is always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ROOM WORKS (3 min, main room). Model the roles quickly with two volunteers using one question from Step 3. Stress: the Coach is kind and specific. Then open the breakout rooms.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(5 min in rooms). The two word slides that follow come from the D1-L05 lesson. Teacher: visit the first room straight away to model the 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the Leader picks the English, the Speaker gives the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(5 min). The dialogue models today’s language in a real exchange.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(7 min). The starter column is support, not the answer: students finish it with their OWN information. Coach listens for the key structure of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4 (7 min). FADED SUPPORT: tasks 1–2 show the plan (question word → first words); students write their own plan for 3–4. Everyone is Speaker once. To a girl the Leader says: هَلْ أَنْتِ حُرَّةٌ. li-muddati + duration · li-kay + verb in -a · object suffixes (taḥtājunī).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5 (4 min). A short talk builds fluency and confidence.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Read the English, then choose the correct part from each column (start on the RIGHT, column 1). Buddies agree before checking the answer slide. Students copy the three correct sentences into their book — they are useful for Step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Read the English, then choose the correct part from each column (start on the RIGHT, column 1). Buddies agree before checking the answer slide. Students copy the three correct sentences into their book — they are useful for Step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Pairs agree on each correction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Pairs agree on each correction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support. Core: use the Core frames for every sentence. Develop: use the Develop frames only if stuck. Stretch: no frames — add a reason, a time phrase and one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(10 min writing). Core: frames for every bullet (40–50 words). Develop: 60–80 words, frames only if stuck. Stretch: no frames, add reasons and another time frame. Teacher visits rooms and reads ONE sentence per student.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(56 words). CHECK YOURSELF (2 min). Find each bullet point in the model.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D1  ·  D1-L05 · PRACTICE ROOM</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D1-L05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Practice Room — After School and Evening Routine</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غُرْفَةُ التَّدَرُّبِ — بَعْدَ المَدْرَسَةِ وَالمَسَاءُ</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300" dirty="0">
                <a:solidFill>
                  <a:srgbClr val="C6D2E6"/>
                </a:solidFill>
                <a:latin typeface="Calibri" pitchFamily="34" charset="0"/>
                <a:cs typeface="Amiri" pitchFamily="2" charset="-78"/>
              </a:rPr>
              <a:t>Students run their own speaking and writing practice about their afternoon and evening: say the evening verbs, act a short dialogue, answer question cards, do a role-play card arranging a study session, give a one-minute three-phase talk, then build, fix and write a detailed evening routine.</a:t>
            </a:r>
            <a:endParaRPr lang="en-US" sz="13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D1-L05 · Development D1 · Daily Routine and Time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D1 › D1-L05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Speaking + writing practice room</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 · practice room</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Speaking + writing practice room</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ROOM PLAN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Speak first, then write — you run it yourselves</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الغُرْفَةِ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 · practice room</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2F6FB0"/>
          </a:solidFill>
          <a:ln w="12700">
            <a:solidFill>
              <a:srgbClr val="2F6FB0"/>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10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1–2: word warm-up · say the model dialogue.</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الكَلِمَاتُ وَالحِوَارُ</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3–5: question cards · role-play card · short talk.</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2F6FB0"/>
          </a:solidFill>
          <a:ln w="12700">
            <a:solidFill>
              <a:srgbClr val="2F6FB0"/>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6–7: sentence builder · spot and fix.</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ابْنِ وَصَحِّحْ</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15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 8: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ROOM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Everybody speaks in every step and everybody writes their own text. Swap roles after each task. If you finish early, do the step again with the Stretch route.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BEFORE THE ROOMS · HOW YOUR ROOM WORKS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Three roles — then write alone, check together</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كَيْفَ نَعْمَلُ فِي الغُرْفَةِ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 · practice room</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ROLES (SWAP AFTER EVERY TASK)</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LEADER — opens the next step, keeps the time and reads the questions.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SPEAKER — answers in Arabic, in a full sentence. Think for a few seconds, then speak.</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COACH — listens, checks with the slide, then says one thing that went well and one thing to improve. (In a pair, the Leader is also the Coach.)</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WRITING (Part B): everyone writes their OWN text; then swap with a buddy and check.</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USEFUL ROOM PHRASES</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دَوْرُكَ! / دَوْرُكِ!</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Your turn! (m. / f.)</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عَفْوًا، أَعِدْ مِنْ فَضْلِكَ.</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Sorry, repeat please.</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لَحْظَةً، أُفَكِّرُ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One moment, I’m thinking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A · STEP 1 · WORD WARM-UP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Say it — then use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قُلْهَا وَاسْتَعْمِلْهَا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 · practice room</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IN YOUR ROOM</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Word ping-pong</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Leader says a word in ENGLISH from the next two slides. The Speaker says it in ARABIC. The Coach checks the Arabic (and the ending) on the slide.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Leader: say 4 English words; Speaker answers in Arabic.</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Coach checks the word on the slide.</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roles — new words each time.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each word in a short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a:t>
            </a:r>
            <a:pPr algn="l" indent="0" marL="0">
              <a:buNone/>
            </a:pPr>
            <a:r>
              <a:rPr lang="ar-SA" altLang="en-US" sz="1500" dirty="0">
                <a:solidFill>
                  <a:srgbClr val="1F2A37"/>
                </a:solidFill>
                <a:latin typeface="Amiri" pitchFamily="2" charset="-78"/>
                <a:ea typeface="Amiri" pitchFamily="2" charset="-78"/>
                <a:cs typeface="Amiri" pitchFamily="2" charset="-78"/>
              </a:rPr>
              <a:t>أَنَا … / عِنْدِي … / هٰذَا</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Give the feminine or plural form too, then a sentence with two words.</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أَعِدْ مِنْ فَضْلِكَ / أَعِيدِي</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repeat please (m. / f.)</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أَحْسَنْتَ! / أَحْسَنْتِ!</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well done! (m. / f.)</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بِبُطْءٍ مِنْ فَضْلِكَ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slowly, please</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 BANK (1) · FROM THE LESSON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After school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 · practice room</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أَرْجِعُ إِلَى البَيْتِ</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return home</a:t>
            </a:r>
            <a:endParaRPr lang="en-US" sz="1350" dirty="0"/>
          </a:p>
          <a:p>
            <a:pPr indent="0" marL="0">
              <a:buNone/>
            </a:pPr>
            <a:r>
              <a:rPr lang="en-US" sz="1100" i="1" dirty="0">
                <a:solidFill>
                  <a:srgbClr val="5A6472"/>
                </a:solidFill>
                <a:latin typeface="Calibri" pitchFamily="34" charset="0"/>
                <a:cs typeface="Amiri" pitchFamily="2" charset="-78"/>
              </a:rPr>
              <a:t>ar-ji-ʿu i-lā al-bay-ti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أُغَيِّرُ مَلَابِسِي</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change my clothes</a:t>
            </a:r>
            <a:endParaRPr lang="en-US" sz="1350" dirty="0"/>
          </a:p>
          <a:p>
            <a:pPr indent="0" marL="0">
              <a:buNone/>
            </a:pPr>
            <a:r>
              <a:rPr lang="en-US" sz="1100" i="1" dirty="0">
                <a:solidFill>
                  <a:srgbClr val="5A6472"/>
                </a:solidFill>
                <a:latin typeface="Calibri" pitchFamily="34" charset="0"/>
                <a:cs typeface="Amiri" pitchFamily="2" charset="-78"/>
              </a:rPr>
              <a:t>u-ghay-yi-ru ma-lā-bi-sī</a:t>
            </a:r>
            <a:endParaRPr lang="en-US" sz="1350" dirty="0"/>
          </a:p>
        </p:txBody>
      </p:sp>
      <p:sp>
        <p:nvSpPr>
          <p:cNvPr id="31" name="Shape 28"/>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33" name="Text 30"/>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يُغَيِّرُ مَلَابِسَهُ</a:t>
            </a:r>
            <a:endParaRPr lang="ar-SA" sz="1500" dirty="0"/>
          </a:p>
        </p:txBody>
      </p:sp>
      <p:sp>
        <p:nvSpPr>
          <p:cNvPr id="34" name="Shape 31"/>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36" name="Text 33"/>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تُغَيِّرُ مَلَابِسَهَا</a:t>
            </a:r>
            <a:endParaRPr lang="ar-SA" sz="1500" dirty="0"/>
          </a:p>
        </p:txBody>
      </p:sp>
      <p:sp>
        <p:nvSpPr>
          <p:cNvPr id="37" name="Shape 34"/>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39" name="Text 36"/>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نُغَيِّرُ مَلَابِسَنَا</a:t>
            </a:r>
            <a:endParaRPr lang="ar-SA" sz="150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3" name="Shape 4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5" name="Text 4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أَتَنَاوَلُ وَجْبَةً خَفِيفَةً</a:t>
            </a:r>
            <a:endParaRPr lang="ar-SA" sz="3000" dirty="0"/>
          </a:p>
        </p:txBody>
      </p:sp>
      <p:sp>
        <p:nvSpPr>
          <p:cNvPr id="46" name="Text 4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have a snack</a:t>
            </a:r>
            <a:endParaRPr lang="en-US" sz="1350" dirty="0"/>
          </a:p>
          <a:p>
            <a:pPr indent="0" marL="0">
              <a:buNone/>
            </a:pPr>
            <a:r>
              <a:rPr lang="en-US" sz="1100" i="1" dirty="0">
                <a:solidFill>
                  <a:srgbClr val="5A6472"/>
                </a:solidFill>
                <a:latin typeface="Calibri" pitchFamily="34" charset="0"/>
                <a:cs typeface="Amiri" pitchFamily="2" charset="-78"/>
              </a:rPr>
              <a:t>a-ta-nā-wa-lu waj-ba-tan kha-fī-fa-tan</a:t>
            </a:r>
            <a:endParaRPr lang="en-US" sz="135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أَسْتَرِيحُ قَلِيلًا</a:t>
            </a:r>
            <a:endParaRPr lang="ar-SA" sz="3000" dirty="0"/>
          </a:p>
        </p:txBody>
      </p:sp>
      <p:sp>
        <p:nvSpPr>
          <p:cNvPr id="53" name="Text 5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rest for a while</a:t>
            </a:r>
            <a:endParaRPr lang="en-US" sz="1350" dirty="0"/>
          </a:p>
          <a:p>
            <a:pPr indent="0" marL="0">
              <a:buNone/>
            </a:pPr>
            <a:r>
              <a:rPr lang="en-US" sz="1100" i="1" dirty="0">
                <a:solidFill>
                  <a:srgbClr val="5A6472"/>
                </a:solidFill>
                <a:latin typeface="Calibri" pitchFamily="34" charset="0"/>
                <a:cs typeface="Amiri" pitchFamily="2" charset="-78"/>
              </a:rPr>
              <a:t>as-ta-rī-ḥu qa-lī-lan</a:t>
            </a:r>
            <a:endParaRPr lang="en-US" sz="1350" dirty="0"/>
          </a:p>
        </p:txBody>
      </p:sp>
      <p:sp>
        <p:nvSpPr>
          <p:cNvPr id="54" name="Shape 5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4389120"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7" name="Shape 54"/>
          <p:cNvSpPr/>
          <p:nvPr/>
        </p:nvSpPr>
        <p:spPr>
          <a:xfrm>
            <a:off x="4782312" y="4279392"/>
            <a:ext cx="1020470"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4782312"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59" name="Shape 56"/>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0" name="Text 57"/>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1" name="Text 58"/>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أُرَاجِعُ دُرُوسِي</a:t>
            </a:r>
            <a:endParaRPr lang="ar-SA" sz="3000" dirty="0"/>
          </a:p>
        </p:txBody>
      </p:sp>
      <p:sp>
        <p:nvSpPr>
          <p:cNvPr id="62" name="Text 59"/>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revise my lessons</a:t>
            </a:r>
            <a:endParaRPr lang="en-US" sz="1350" dirty="0"/>
          </a:p>
          <a:p>
            <a:pPr indent="0" marL="0">
              <a:buNone/>
            </a:pPr>
            <a:r>
              <a:rPr lang="en-US" sz="1100" i="1" dirty="0">
                <a:solidFill>
                  <a:srgbClr val="5A6472"/>
                </a:solidFill>
                <a:latin typeface="Calibri" pitchFamily="34" charset="0"/>
                <a:cs typeface="Amiri" pitchFamily="2" charset="-78"/>
              </a:rPr>
              <a:t>u-rā-ji-ʿu du-rū-sī</a:t>
            </a:r>
            <a:endParaRPr lang="en-US" sz="1350" dirty="0"/>
          </a:p>
        </p:txBody>
      </p:sp>
      <p:sp>
        <p:nvSpPr>
          <p:cNvPr id="63" name="Shape 60"/>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65" name="Text 62"/>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يُرَاجِعُ دُرُوسَهُ</a:t>
            </a:r>
            <a:endParaRPr lang="ar-SA" sz="1500" dirty="0"/>
          </a:p>
        </p:txBody>
      </p:sp>
      <p:sp>
        <p:nvSpPr>
          <p:cNvPr id="66" name="Shape 63"/>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8" name="Text 65"/>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تُرَاجِعُ دُرُوسَهَا</a:t>
            </a:r>
            <a:endParaRPr lang="ar-SA" sz="1500" dirty="0"/>
          </a:p>
        </p:txBody>
      </p:sp>
      <p:sp>
        <p:nvSpPr>
          <p:cNvPr id="69" name="Shape 66"/>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71" name="Text 68"/>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نُرَاجِعُ دُرُوسَنَا</a:t>
            </a:r>
            <a:endParaRPr lang="ar-SA" sz="1500" dirty="0"/>
          </a:p>
        </p:txBody>
      </p:sp>
      <p:sp>
        <p:nvSpPr>
          <p:cNvPr id="72" name="Shape 6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3" name="Shape 70"/>
          <p:cNvSpPr/>
          <p:nvPr/>
        </p:nvSpPr>
        <p:spPr>
          <a:xfrm>
            <a:off x="566928" y="4261104"/>
            <a:ext cx="310896" cy="310896"/>
          </a:xfrm>
          <a:prstGeom prst="ellipse">
            <a:avLst/>
          </a:prstGeom>
          <a:solidFill>
            <a:srgbClr val="F4F1EA"/>
          </a:solidFill>
          <a:ln w="12700">
            <a:solidFill>
              <a:srgbClr val="F4F1EA"/>
            </a:solidFill>
            <a:prstDash val="solid"/>
          </a:ln>
        </p:spPr>
      </p:sp>
      <p:sp>
        <p:nvSpPr>
          <p:cNvPr id="74" name="Text 7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75" name="Shape 72"/>
          <p:cNvSpPr/>
          <p:nvPr/>
        </p:nvSpPr>
        <p:spPr>
          <a:xfrm>
            <a:off x="960120" y="4279392"/>
            <a:ext cx="1020470" cy="256032"/>
          </a:xfrm>
          <a:prstGeom prst="roundRect">
            <a:avLst>
              <a:gd name="adj" fmla="val 50000"/>
            </a:avLst>
          </a:prstGeom>
          <a:solidFill>
            <a:srgbClr val="EFE7D2"/>
          </a:solidFill>
          <a:ln w="12700">
            <a:solidFill>
              <a:srgbClr val="EFE7D2"/>
            </a:solidFill>
            <a:prstDash val="solid"/>
          </a:ln>
        </p:spPr>
      </p:sp>
      <p:sp>
        <p:nvSpPr>
          <p:cNvPr id="76" name="Text 73"/>
          <p:cNvSpPr txBox="1"/>
          <p:nvPr/>
        </p:nvSpPr>
        <p:spPr>
          <a:xfrm>
            <a:off x="960120"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77" name="Shape 74"/>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78" name="Text 75"/>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9" name="Text 76"/>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أُكْمِلُ وَاجِبِي</a:t>
            </a:r>
            <a:endParaRPr lang="ar-SA" sz="3000" dirty="0"/>
          </a:p>
        </p:txBody>
      </p:sp>
      <p:sp>
        <p:nvSpPr>
          <p:cNvPr id="80" name="Text 77"/>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complete my homework</a:t>
            </a:r>
            <a:endParaRPr lang="en-US" sz="1350" dirty="0"/>
          </a:p>
          <a:p>
            <a:pPr indent="0" marL="0">
              <a:buNone/>
            </a:pPr>
            <a:r>
              <a:rPr lang="en-US" sz="1100" i="1" dirty="0">
                <a:solidFill>
                  <a:srgbClr val="5A6472"/>
                </a:solidFill>
                <a:latin typeface="Calibri" pitchFamily="34" charset="0"/>
                <a:cs typeface="Amiri" pitchFamily="2" charset="-78"/>
              </a:rPr>
              <a:t>uk-mi-lu wā-ji-bī</a:t>
            </a:r>
            <a:endParaRPr lang="en-US" sz="1350" dirty="0"/>
          </a:p>
        </p:txBody>
      </p:sp>
      <p:sp>
        <p:nvSpPr>
          <p:cNvPr id="81" name="Shape 78"/>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82" name="Text 79"/>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83" name="Text 80"/>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يُكْمِلُ وَاجِبَهُ</a:t>
            </a:r>
            <a:endParaRPr lang="ar-SA" sz="1500" dirty="0"/>
          </a:p>
        </p:txBody>
      </p:sp>
      <p:sp>
        <p:nvSpPr>
          <p:cNvPr id="84" name="Shape 81"/>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86" name="Text 83"/>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تُكْمِلُ وَاجِبَهَا</a:t>
            </a:r>
            <a:endParaRPr lang="ar-SA" sz="1500" dirty="0"/>
          </a:p>
        </p:txBody>
      </p:sp>
      <p:sp>
        <p:nvSpPr>
          <p:cNvPr id="87" name="Shape 84"/>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89" name="Text 86"/>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نُكْمِلُ وَاجِبَنَا</a:t>
            </a:r>
            <a:endParaRPr lang="ar-SA" sz="150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 BANK (2) · FROM THE LESSON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Evening and bedtime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 · practice room</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أُسَاعِدُ أُسْرَتِي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help my family</a:t>
            </a:r>
            <a:endParaRPr lang="en-US" sz="1350" dirty="0"/>
          </a:p>
          <a:p>
            <a:pPr indent="0" marL="0">
              <a:buNone/>
            </a:pPr>
            <a:r>
              <a:rPr lang="en-US" sz="1100" i="1" dirty="0">
                <a:solidFill>
                  <a:srgbClr val="5A6472"/>
                </a:solidFill>
                <a:latin typeface="Calibri" pitchFamily="34" charset="0"/>
                <a:cs typeface="Amiri" pitchFamily="2" charset="-78"/>
              </a:rPr>
              <a:t>u-sā-ʿi-du us-ra-tī</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Shape 22"/>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أُرَتِّبُ غُرْفَتِي</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tidy my room</a:t>
            </a:r>
            <a:endParaRPr lang="en-US" sz="1350" dirty="0"/>
          </a:p>
          <a:p>
            <a:pPr indent="0" marL="0">
              <a:buNone/>
            </a:pPr>
            <a:r>
              <a:rPr lang="en-US" sz="1100" i="1" dirty="0">
                <a:solidFill>
                  <a:srgbClr val="5A6472"/>
                </a:solidFill>
                <a:latin typeface="Calibri" pitchFamily="34" charset="0"/>
                <a:cs typeface="Amiri" pitchFamily="2" charset="-78"/>
              </a:rPr>
              <a:t>u-rat-ti-bu ghur-fa-tī</a:t>
            </a:r>
            <a:endParaRPr lang="en-US" sz="1350" dirty="0"/>
          </a:p>
        </p:txBody>
      </p:sp>
      <p:sp>
        <p:nvSpPr>
          <p:cNvPr id="31" name="Shape 28"/>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33" name="Text 30"/>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يُرَتِّبُ غُرْفَتَهُ</a:t>
            </a:r>
            <a:endParaRPr lang="ar-SA" sz="1500" dirty="0"/>
          </a:p>
        </p:txBody>
      </p:sp>
      <p:sp>
        <p:nvSpPr>
          <p:cNvPr id="34" name="Shape 31"/>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36" name="Text 33"/>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تُرَتِّبُ غُرْفَتَهَا</a:t>
            </a:r>
            <a:endParaRPr lang="ar-SA" sz="1500" dirty="0"/>
          </a:p>
        </p:txBody>
      </p:sp>
      <p:sp>
        <p:nvSpPr>
          <p:cNvPr id="37" name="Shape 34"/>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39" name="Text 36"/>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نُرَتِّبُ غُرَفَنَا</a:t>
            </a:r>
            <a:endParaRPr lang="ar-SA" sz="150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3" name="Shape 4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5" name="Text 4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أَتَنَاوَلُ العَشَاءَ</a:t>
            </a:r>
            <a:endParaRPr lang="ar-SA" sz="3000" dirty="0"/>
          </a:p>
        </p:txBody>
      </p:sp>
      <p:sp>
        <p:nvSpPr>
          <p:cNvPr id="46" name="Text 4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have dinner</a:t>
            </a:r>
            <a:endParaRPr lang="en-US" sz="1350" dirty="0"/>
          </a:p>
          <a:p>
            <a:pPr indent="0" marL="0">
              <a:buNone/>
            </a:pPr>
            <a:r>
              <a:rPr lang="en-US" sz="1100" i="1" dirty="0">
                <a:solidFill>
                  <a:srgbClr val="5A6472"/>
                </a:solidFill>
                <a:latin typeface="Calibri" pitchFamily="34" charset="0"/>
                <a:cs typeface="Amiri" pitchFamily="2" charset="-78"/>
              </a:rPr>
              <a:t>a-ta-nā-wa-lu al-ʿa-shā-ʾa</a:t>
            </a:r>
            <a:endParaRPr lang="en-US" sz="135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50" name="Shape 47"/>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52" name="Shape 4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4" name="Text 5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أُحَضِّرُ حَقِيبَتِي</a:t>
            </a:r>
            <a:endParaRPr lang="ar-SA" sz="3000" dirty="0"/>
          </a:p>
        </p:txBody>
      </p:sp>
      <p:sp>
        <p:nvSpPr>
          <p:cNvPr id="55" name="Text 5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prepare my bag</a:t>
            </a:r>
            <a:endParaRPr lang="en-US" sz="1350" dirty="0"/>
          </a:p>
          <a:p>
            <a:pPr indent="0" marL="0">
              <a:buNone/>
            </a:pPr>
            <a:r>
              <a:rPr lang="en-US" sz="1100" i="1" dirty="0">
                <a:solidFill>
                  <a:srgbClr val="5A6472"/>
                </a:solidFill>
                <a:latin typeface="Calibri" pitchFamily="34" charset="0"/>
                <a:cs typeface="Amiri" pitchFamily="2" charset="-78"/>
              </a:rPr>
              <a:t>u-ḥaḍ-ḍi-ru ḥa-qī-ba-tī</a:t>
            </a:r>
            <a:endParaRPr lang="en-US" sz="1350" dirty="0"/>
          </a:p>
        </p:txBody>
      </p:sp>
      <p:sp>
        <p:nvSpPr>
          <p:cNvPr id="56" name="Shape 53"/>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58" name="Text 55"/>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يُحَضِّرُ حَقِيبَتَهُ</a:t>
            </a:r>
            <a:endParaRPr lang="ar-SA" sz="1500" dirty="0"/>
          </a:p>
        </p:txBody>
      </p:sp>
      <p:sp>
        <p:nvSpPr>
          <p:cNvPr id="59" name="Shape 56"/>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1" name="Text 58"/>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تُحَضِّرُ حَقِيبَتَهَا</a:t>
            </a:r>
            <a:endParaRPr lang="ar-SA" sz="1500" dirty="0"/>
          </a:p>
        </p:txBody>
      </p:sp>
      <p:sp>
        <p:nvSpPr>
          <p:cNvPr id="62" name="Shape 59"/>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64" name="Text 61"/>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نُحَضِّرُ حَقَائِبَنَا</a:t>
            </a:r>
            <a:endParaRPr lang="ar-SA" sz="1500" dirty="0"/>
          </a:p>
        </p:txBody>
      </p:sp>
      <p:sp>
        <p:nvSpPr>
          <p:cNvPr id="65" name="Shape 6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4389120"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68" name="Shape 6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0" name="Text 6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أَذْهَبُ إِلَى الفِرَاشِ</a:t>
            </a:r>
            <a:endParaRPr lang="ar-SA" sz="3000" dirty="0"/>
          </a:p>
        </p:txBody>
      </p:sp>
      <p:sp>
        <p:nvSpPr>
          <p:cNvPr id="71" name="Text 6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go to bed</a:t>
            </a:r>
            <a:endParaRPr lang="en-US" sz="1350" dirty="0"/>
          </a:p>
          <a:p>
            <a:pPr indent="0" marL="0">
              <a:buNone/>
            </a:pPr>
            <a:r>
              <a:rPr lang="en-US" sz="1100" i="1" dirty="0">
                <a:solidFill>
                  <a:srgbClr val="5A6472"/>
                </a:solidFill>
                <a:latin typeface="Calibri" pitchFamily="34" charset="0"/>
                <a:cs typeface="Amiri" pitchFamily="2" charset="-78"/>
              </a:rPr>
              <a:t>adh-ha-bu i-lā al-fi-rā-shi</a:t>
            </a:r>
            <a:endParaRPr lang="en-US" sz="1350" dirty="0"/>
          </a:p>
        </p:txBody>
      </p:sp>
      <p:sp>
        <p:nvSpPr>
          <p:cNvPr id="72" name="Shape 6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3" name="Shape 70"/>
          <p:cNvSpPr/>
          <p:nvPr/>
        </p:nvSpPr>
        <p:spPr>
          <a:xfrm>
            <a:off x="566928" y="4261104"/>
            <a:ext cx="310896" cy="310896"/>
          </a:xfrm>
          <a:prstGeom prst="ellipse">
            <a:avLst/>
          </a:prstGeom>
          <a:solidFill>
            <a:srgbClr val="F4F1EA"/>
          </a:solidFill>
          <a:ln w="12700">
            <a:solidFill>
              <a:srgbClr val="F4F1EA"/>
            </a:solidFill>
            <a:prstDash val="solid"/>
          </a:ln>
        </p:spPr>
      </p:sp>
      <p:sp>
        <p:nvSpPr>
          <p:cNvPr id="74" name="Text 7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75" name="Shape 72"/>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76" name="Text 73"/>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7" name="Text 74"/>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لِمُدَّةِ نِصْفِ سَاعَةٍ</a:t>
            </a:r>
            <a:endParaRPr lang="ar-SA" sz="3000" dirty="0"/>
          </a:p>
        </p:txBody>
      </p:sp>
      <p:sp>
        <p:nvSpPr>
          <p:cNvPr id="78" name="Text 75"/>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 half an hour</a:t>
            </a:r>
            <a:endParaRPr lang="en-US" sz="1350" dirty="0"/>
          </a:p>
          <a:p>
            <a:pPr indent="0" marL="0">
              <a:buNone/>
            </a:pPr>
            <a:r>
              <a:rPr lang="en-US" sz="1100" i="1" dirty="0">
                <a:solidFill>
                  <a:srgbClr val="5A6472"/>
                </a:solidFill>
                <a:latin typeface="Calibri" pitchFamily="34" charset="0"/>
                <a:cs typeface="Amiri" pitchFamily="2" charset="-78"/>
              </a:rPr>
              <a:t>li-mud-da-ti niṣ-fi sā-ʿa-tin</a:t>
            </a:r>
            <a:endParaRPr lang="en-US" sz="13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STEP 2 · SAY THE MODEL DIALOGUE · READ IT, THEN SAY IT WITHOUT LOOKING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long do you study?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كَمْ مِنَ الوَقْتِ تُرَاجِعُ؟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 you do when you get home?</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مَاذَا تَفْعَلُ عِنْدَمَا تَرْجِعُ إِلَى البَيْتِ؟</a:t>
            </a:r>
            <a:endParaRPr lang="ar-SA" sz="20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change my clothes, then I have a snack.</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أُغَيِّرُ مَلَابِسِي، ثُمَّ أَتَنَاوَلُ وَجْبَةً خَفِيفَةً.</a:t>
            </a:r>
            <a:endParaRPr lang="ar-SA" sz="20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how long do you revise for?</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وَكَمْ مِنَ الوَقْتِ تُرَاجِعُ؟</a:t>
            </a:r>
            <a:endParaRPr lang="ar-SA" sz="20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revise for an hour, to prepare for the exams.</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أُرَاجِعُ دُرُوسِي لِمُدَّةِ سَاعَةٍ، لِكَيْ أَسْتَعِدَّ لِلِامْتِحَانَاتِ.</a:t>
            </a:r>
            <a:endParaRPr lang="ar-SA" sz="20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after dinner?</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وَبَعْدَ العَشَاءِ؟</a:t>
            </a:r>
            <a:endParaRPr lang="ar-SA" sz="20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tidy my room and prepare my bag, so that I don’t forget anything in the morning.</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أُرَتِّبُ غُرْفَتِي وَأُحَضِّرُ حَقِيبَتِي، حَتَّى لَا أَنْسَى شَيْئًا فِي الصَّبَاحِ.</a:t>
            </a:r>
            <a:endParaRPr lang="ar-SA" sz="20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Round 1: read it in pairs. Round 2: swap letters. Round 3: give YOUR real evening — add a duration (</a:t>
            </a:r>
            <a:pPr algn="l" indent="0" marL="0">
              <a:buNone/>
            </a:pPr>
            <a:r>
              <a:rPr lang="ar-SA" altLang="en-US" sz="1500" b="1" dirty="0">
                <a:solidFill>
                  <a:srgbClr val="1B3B6F"/>
                </a:solidFill>
                <a:latin typeface="Amiri" pitchFamily="2" charset="-78"/>
                <a:ea typeface="Amiri" pitchFamily="2" charset="-78"/>
                <a:cs typeface="Amiri" pitchFamily="2" charset="-78"/>
              </a:rPr>
              <a:t>لِمُدَّةِ</a:t>
            </a:r>
            <a:pPr algn="l" indent="0" marL="0">
              <a:buNone/>
            </a:pPr>
            <a:r>
              <a:rPr lang="en-US" sz="1150" b="1" dirty="0">
                <a:solidFill>
                  <a:srgbClr val="1B3B6F"/>
                </a:solidFill>
                <a:latin typeface="Calibri" pitchFamily="34" charset="0"/>
                <a:cs typeface="Amiri" pitchFamily="2" charset="-78"/>
              </a:rPr>
              <a:t> …) and a purpose (</a:t>
            </a:r>
            <a:pPr algn="l" indent="0" marL="0">
              <a:buNone/>
            </a:pPr>
            <a:r>
              <a:rPr lang="ar-SA" altLang="en-US" sz="1500" b="1" dirty="0">
                <a:solidFill>
                  <a:srgbClr val="1B3B6F"/>
                </a:solidFill>
                <a:latin typeface="Amiri" pitchFamily="2" charset="-78"/>
                <a:ea typeface="Amiri" pitchFamily="2" charset="-78"/>
                <a:cs typeface="Amiri" pitchFamily="2" charset="-78"/>
              </a:rPr>
              <a:t>لِكَيْ</a:t>
            </a:r>
            <a:pPr algn="l" indent="0" marL="0">
              <a:buNone/>
            </a:pPr>
            <a:r>
              <a:rPr lang="en-US" sz="1150" b="1" dirty="0">
                <a:solidFill>
                  <a:srgbClr val="1B3B6F"/>
                </a:solidFill>
                <a:latin typeface="Calibri" pitchFamily="34" charset="0"/>
                <a:cs typeface="Amiri" pitchFamily="2" charset="-78"/>
              </a:rPr>
              <a:t> …).</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3 · QUESTION CARDS · THE LEADER ASKS, THE SPEAKER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Answer in a full sentence — then add more</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وَأَجْوِبَةٌ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9738360" y="2267712"/>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وَأَوَّلُ شَيْءٍ أَفْعَلُهُ …</a:t>
            </a:r>
            <a:endParaRPr lang="ar-SA" sz="1500" dirty="0"/>
          </a:p>
        </p:txBody>
      </p:sp>
      <p:sp>
        <p:nvSpPr>
          <p:cNvPr id="23" name="Text 20"/>
          <p:cNvSpPr txBox="1"/>
          <p:nvPr/>
        </p:nvSpPr>
        <p:spPr>
          <a:xfrm>
            <a:off x="6995160" y="2267712"/>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أَرْجِعُ فِي …</a:t>
            </a:r>
            <a:endParaRPr lang="ar-SA" sz="1600" dirty="0"/>
          </a:p>
        </p:txBody>
      </p:sp>
      <p:sp>
        <p:nvSpPr>
          <p:cNvPr id="24" name="Text 21"/>
          <p:cNvSpPr txBox="1"/>
          <p:nvPr/>
        </p:nvSpPr>
        <p:spPr>
          <a:xfrm>
            <a:off x="463600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 do you get home?</a:t>
            </a:r>
            <a:endParaRPr lang="en-US" sz="1100" dirty="0"/>
          </a:p>
        </p:txBody>
      </p:sp>
      <p:sp>
        <p:nvSpPr>
          <p:cNvPr id="25" name="Text 22"/>
          <p:cNvSpPr txBox="1"/>
          <p:nvPr/>
        </p:nvSpPr>
        <p:spPr>
          <a:xfrm>
            <a:off x="1051560" y="2267712"/>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مَتَى تَرْجِعُ إِلَى البَيْتِ؟</a:t>
            </a:r>
            <a:endParaRPr lang="ar-SA" sz="1700" dirty="0"/>
          </a:p>
        </p:txBody>
      </p:sp>
      <p:sp>
        <p:nvSpPr>
          <p:cNvPr id="26" name="Text 23"/>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738360" y="3004718"/>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لِكَيْ …</a:t>
            </a:r>
            <a:endParaRPr lang="ar-SA" sz="1500" dirty="0"/>
          </a:p>
        </p:txBody>
      </p:sp>
      <p:sp>
        <p:nvSpPr>
          <p:cNvPr id="31" name="Text 28"/>
          <p:cNvSpPr txBox="1"/>
          <p:nvPr/>
        </p:nvSpPr>
        <p:spPr>
          <a:xfrm>
            <a:off x="6995160" y="3004718"/>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أَسْتَرِيحُ لِمُدَّةِ …</a:t>
            </a:r>
            <a:endParaRPr lang="ar-SA" sz="1600" dirty="0"/>
          </a:p>
        </p:txBody>
      </p:sp>
      <p:sp>
        <p:nvSpPr>
          <p:cNvPr id="32" name="Text 29"/>
          <p:cNvSpPr txBox="1"/>
          <p:nvPr/>
        </p:nvSpPr>
        <p:spPr>
          <a:xfrm>
            <a:off x="463600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long do you rest?</a:t>
            </a:r>
            <a:endParaRPr lang="en-US" sz="1100" dirty="0"/>
          </a:p>
        </p:txBody>
      </p:sp>
      <p:sp>
        <p:nvSpPr>
          <p:cNvPr id="33" name="Text 30"/>
          <p:cNvSpPr txBox="1"/>
          <p:nvPr/>
        </p:nvSpPr>
        <p:spPr>
          <a:xfrm>
            <a:off x="1051560" y="3004718"/>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كَمْ مِنَ الوَقْتِ تَسْتَرِيحُ؟</a:t>
            </a:r>
            <a:endParaRPr lang="ar-SA" sz="1700" dirty="0"/>
          </a:p>
        </p:txBody>
      </p:sp>
      <p:sp>
        <p:nvSpPr>
          <p:cNvPr id="34" name="Text 31"/>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738360" y="3741725"/>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أُسَاعِدُهَا / أُسَاعِدُهُ لِأَنَّ …</a:t>
            </a:r>
            <a:endParaRPr lang="ar-SA" sz="1500" dirty="0"/>
          </a:p>
        </p:txBody>
      </p:sp>
      <p:sp>
        <p:nvSpPr>
          <p:cNvPr id="39" name="Text 36"/>
          <p:cNvSpPr txBox="1"/>
          <p:nvPr/>
        </p:nvSpPr>
        <p:spPr>
          <a:xfrm>
            <a:off x="6995160" y="3741725"/>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أُسَاعِدُ أُمِّي / أَبِي فِي …</a:t>
            </a:r>
            <a:endParaRPr lang="ar-SA" sz="1600" dirty="0"/>
          </a:p>
        </p:txBody>
      </p:sp>
      <p:sp>
        <p:nvSpPr>
          <p:cNvPr id="40" name="Text 37"/>
          <p:cNvSpPr txBox="1"/>
          <p:nvPr/>
        </p:nvSpPr>
        <p:spPr>
          <a:xfrm>
            <a:off x="463600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do you help your family?</a:t>
            </a:r>
            <a:endParaRPr lang="en-US" sz="1100" dirty="0"/>
          </a:p>
        </p:txBody>
      </p:sp>
      <p:sp>
        <p:nvSpPr>
          <p:cNvPr id="41" name="Text 38"/>
          <p:cNvSpPr txBox="1"/>
          <p:nvPr/>
        </p:nvSpPr>
        <p:spPr>
          <a:xfrm>
            <a:off x="1051560" y="3741725"/>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تُسَاعِدُ أُسْرَتَكَ؟</a:t>
            </a:r>
            <a:endParaRPr lang="ar-SA" sz="1700" dirty="0"/>
          </a:p>
        </p:txBody>
      </p:sp>
      <p:sp>
        <p:nvSpPr>
          <p:cNvPr id="42" name="Text 39"/>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738360" y="4478731"/>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حَتَّى لَا …</a:t>
            </a:r>
            <a:endParaRPr lang="ar-SA" sz="1500" dirty="0"/>
          </a:p>
        </p:txBody>
      </p:sp>
      <p:sp>
        <p:nvSpPr>
          <p:cNvPr id="47" name="Text 44"/>
          <p:cNvSpPr txBox="1"/>
          <p:nvPr/>
        </p:nvSpPr>
        <p:spPr>
          <a:xfrm>
            <a:off x="6995160" y="4478731"/>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أُحَضِّرُ … لِكَيْ …</a:t>
            </a:r>
            <a:endParaRPr lang="ar-SA" sz="1600" dirty="0"/>
          </a:p>
        </p:txBody>
      </p:sp>
      <p:sp>
        <p:nvSpPr>
          <p:cNvPr id="48" name="Text 45"/>
          <p:cNvSpPr txBox="1"/>
          <p:nvPr/>
        </p:nvSpPr>
        <p:spPr>
          <a:xfrm>
            <a:off x="463600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 you do to get ready for tomorrow?</a:t>
            </a:r>
            <a:endParaRPr lang="en-US" sz="1100" dirty="0"/>
          </a:p>
        </p:txBody>
      </p:sp>
      <p:sp>
        <p:nvSpPr>
          <p:cNvPr id="49" name="Text 46"/>
          <p:cNvSpPr txBox="1"/>
          <p:nvPr/>
        </p:nvSpPr>
        <p:spPr>
          <a:xfrm>
            <a:off x="1051560" y="4478731"/>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تَفْعَلُ لِكَيْ تَسْتَعِدَّ لِلْغَدِ؟</a:t>
            </a:r>
            <a:endParaRPr lang="ar-SA" sz="1700" dirty="0"/>
          </a:p>
        </p:txBody>
      </p:sp>
      <p:sp>
        <p:nvSpPr>
          <p:cNvPr id="50" name="Text 47"/>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2" name="Text 49"/>
          <p:cNvSpPr txBox="1"/>
          <p:nvPr/>
        </p:nvSpPr>
        <p:spPr>
          <a:xfrm>
            <a:off x="9738360" y="5215738"/>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بَعْدَ أَنْ …</a:t>
            </a:r>
            <a:endParaRPr lang="ar-SA" sz="1500" dirty="0"/>
          </a:p>
        </p:txBody>
      </p:sp>
      <p:sp>
        <p:nvSpPr>
          <p:cNvPr id="53" name="Text 50"/>
          <p:cNvSpPr txBox="1"/>
          <p:nvPr/>
        </p:nvSpPr>
        <p:spPr>
          <a:xfrm>
            <a:off x="6995160" y="5215738"/>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أَذْهَبُ إِلَى الفِرَاشِ فِي …</a:t>
            </a:r>
            <a:endParaRPr lang="ar-SA" sz="1600" dirty="0"/>
          </a:p>
        </p:txBody>
      </p:sp>
      <p:sp>
        <p:nvSpPr>
          <p:cNvPr id="54" name="Text 51"/>
          <p:cNvSpPr txBox="1"/>
          <p:nvPr/>
        </p:nvSpPr>
        <p:spPr>
          <a:xfrm>
            <a:off x="463600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 do you go to bed?</a:t>
            </a:r>
            <a:endParaRPr lang="en-US" sz="1100" dirty="0"/>
          </a:p>
        </p:txBody>
      </p:sp>
      <p:sp>
        <p:nvSpPr>
          <p:cNvPr id="55" name="Text 52"/>
          <p:cNvSpPr txBox="1"/>
          <p:nvPr/>
        </p:nvSpPr>
        <p:spPr>
          <a:xfrm>
            <a:off x="1051560" y="5215738"/>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مَتَى تَذْهَبُ إِلَى الفِرَاشِ؟</a:t>
            </a:r>
            <a:endParaRPr lang="ar-SA" sz="1700" dirty="0"/>
          </a:p>
        </p:txBody>
      </p:sp>
      <p:sp>
        <p:nvSpPr>
          <p:cNvPr id="56" name="Text 53"/>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7" name="Text 5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Each Speaker answers every question. Core: a full sentence from the starter. Develop: add the “more” part. Stretch: add a reason with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 second detail. Swap after each question.</a:t>
            </a:r>
            <a:endParaRPr lang="en-US" sz="110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E6B52"/>
                </a:solidFill>
                <a:latin typeface="Calibri" pitchFamily="34" charset="0"/>
                <a:cs typeface="Amiri" pitchFamily="2" charset="-78"/>
              </a:rPr>
              <a:t>STEP 4 · ROLE-PLAY CARD · PLANS FOR TASKS 1–2 ARE GIVEN — PLAN 3–4 YOURSELF</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Role-play card — arranging an evening study session</a:t>
            </a:r>
            <a:endParaRPr lang="en-US" sz="18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جَلْسَةُ مُرَاجَعَةٍ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275320" y="2267712"/>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 أَوَّلًا أَرْجِعُ … وَ…</a:t>
            </a:r>
            <a:endParaRPr lang="ar-SA" sz="1600" dirty="0"/>
          </a:p>
        </p:txBody>
      </p:sp>
      <p:sp>
        <p:nvSpPr>
          <p:cNvPr id="22" name="Text 19"/>
          <p:cNvSpPr txBox="1"/>
          <p:nvPr/>
        </p:nvSpPr>
        <p:spPr>
          <a:xfrm>
            <a:off x="5001768" y="2267712"/>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what you do first.</a:t>
            </a:r>
            <a:endParaRPr lang="en-US" sz="1100" dirty="0"/>
          </a:p>
        </p:txBody>
      </p:sp>
      <p:sp>
        <p:nvSpPr>
          <p:cNvPr id="23" name="Text 20"/>
          <p:cNvSpPr txBox="1"/>
          <p:nvPr/>
        </p:nvSpPr>
        <p:spPr>
          <a:xfrm>
            <a:off x="1051560" y="2267712"/>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أَنْتَ حُرٌّ بَعْدَ المَدْرَسَةِ؟</a:t>
            </a:r>
            <a:endParaRPr lang="ar-SA" sz="1700" dirty="0"/>
          </a:p>
        </p:txBody>
      </p:sp>
      <p:sp>
        <p:nvSpPr>
          <p:cNvPr id="24" name="Text 21"/>
          <p:cNvSpPr txBox="1"/>
          <p:nvPr/>
        </p:nvSpPr>
        <p:spPr>
          <a:xfrm>
            <a:off x="566928" y="2267712"/>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275320" y="3054096"/>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مَتَى ← فِي … لِمُدَّةِ …</a:t>
            </a:r>
            <a:endParaRPr lang="ar-SA" sz="1600" dirty="0"/>
          </a:p>
        </p:txBody>
      </p:sp>
      <p:sp>
        <p:nvSpPr>
          <p:cNvPr id="29" name="Text 26"/>
          <p:cNvSpPr txBox="1"/>
          <p:nvPr/>
        </p:nvSpPr>
        <p:spPr>
          <a:xfrm>
            <a:off x="5001768" y="3054096"/>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Suggest a time + duration.</a:t>
            </a:r>
            <a:endParaRPr lang="en-US" sz="1100" dirty="0"/>
          </a:p>
        </p:txBody>
      </p:sp>
      <p:sp>
        <p:nvSpPr>
          <p:cNvPr id="30" name="Text 27"/>
          <p:cNvSpPr txBox="1"/>
          <p:nvPr/>
        </p:nvSpPr>
        <p:spPr>
          <a:xfrm>
            <a:off x="1051560" y="3054096"/>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مَتَى نَبْدَأُ المُرَاجَعَةَ؟</a:t>
            </a:r>
            <a:endParaRPr lang="ar-SA" sz="1700" dirty="0"/>
          </a:p>
        </p:txBody>
      </p:sp>
      <p:sp>
        <p:nvSpPr>
          <p:cNvPr id="31" name="Text 28"/>
          <p:cNvSpPr txBox="1"/>
          <p:nvPr/>
        </p:nvSpPr>
        <p:spPr>
          <a:xfrm>
            <a:off x="566928" y="3054096"/>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8293608" y="3840480"/>
            <a:ext cx="33649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001768" y="3840480"/>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a reason with your family.</a:t>
            </a:r>
            <a:endParaRPr lang="en-US" sz="1100" dirty="0"/>
          </a:p>
        </p:txBody>
      </p:sp>
      <p:sp>
        <p:nvSpPr>
          <p:cNvPr id="37" name="Text 34"/>
          <p:cNvSpPr txBox="1"/>
          <p:nvPr/>
        </p:nvSpPr>
        <p:spPr>
          <a:xfrm>
            <a:off x="1051560" y="3840480"/>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لِمَاذَا لَا نَبْدَأُ فِي الرَّابِعَةِ؟</a:t>
            </a:r>
            <a:endParaRPr lang="ar-SA" sz="1700" dirty="0"/>
          </a:p>
        </p:txBody>
      </p:sp>
      <p:sp>
        <p:nvSpPr>
          <p:cNvPr id="38" name="Text 35"/>
          <p:cNvSpPr txBox="1"/>
          <p:nvPr/>
        </p:nvSpPr>
        <p:spPr>
          <a:xfrm>
            <a:off x="566928" y="3840480"/>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8293608" y="4626864"/>
            <a:ext cx="33649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1" name="Text 38"/>
          <p:cNvSpPr txBox="1"/>
          <p:nvPr/>
        </p:nvSpPr>
        <p:spPr>
          <a:xfrm>
            <a:off x="5001768" y="4626864"/>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the surprise question.</a:t>
            </a:r>
            <a:endParaRPr lang="en-US" sz="1100" dirty="0"/>
          </a:p>
        </p:txBody>
      </p:sp>
      <p:sp>
        <p:nvSpPr>
          <p:cNvPr id="42" name="Text 39"/>
          <p:cNvSpPr txBox="1"/>
          <p:nvPr/>
        </p:nvSpPr>
        <p:spPr>
          <a:xfrm>
            <a:off x="1051560" y="4626864"/>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وَمَاذَا نُرَاجِعُ أَوَّلًا؟</a:t>
            </a:r>
            <a:endParaRPr lang="ar-SA" sz="1700" dirty="0"/>
          </a:p>
        </p:txBody>
      </p:sp>
      <p:sp>
        <p:nvSpPr>
          <p:cNvPr id="43" name="Text 40"/>
          <p:cNvSpPr txBox="1"/>
          <p:nvPr/>
        </p:nvSpPr>
        <p:spPr>
          <a:xfrm>
            <a:off x="566928" y="4626864"/>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Speaker = yourself · Leader = a classmate on a call. Write the plan for tasks 3–4 in your book first. Task ! is a surprise — the Leader reads it without warning. Then swap roles.</a:t>
            </a:r>
            <a:endParaRPr lang="en-US" sz="11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22</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5 · SHORT TALK · ONE MINUTE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One minute: my afternoon and evening</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بَعْدَ الظُّهْرِ وَالمَسَاءُ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 · practice room</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5 · IN YOUR ROOM</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Talk for one minute — no stopping</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Describe your afternoon and evening in THREE phases (after school · early evening · bedtime) for one minute, with times, durations and purposes.</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3–4 key words,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Leader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Coach: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until everyone has spoken.</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actions per phase with times.</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t>
            </a:r>
            <a:pPr algn="l" indent="0" marL="0">
              <a:buNone/>
            </a:pPr>
            <a:r>
              <a:rPr lang="ar-SA" altLang="en-US" sz="1500" dirty="0">
                <a:solidFill>
                  <a:srgbClr val="1F2A37"/>
                </a:solidFill>
                <a:latin typeface="Amiri" pitchFamily="2" charset="-78"/>
                <a:ea typeface="Amiri" pitchFamily="2" charset="-78"/>
                <a:cs typeface="Amiri" pitchFamily="2" charset="-78"/>
              </a:rPr>
              <a:t>لِمُدَّةِ</a:t>
            </a:r>
            <a:pPr algn="l" indent="0" marL="0">
              <a:buNone/>
            </a:pPr>
            <a:r>
              <a:rPr lang="en-US" sz="1150" dirty="0">
                <a:solidFill>
                  <a:srgbClr val="1F2A37"/>
                </a:solidFill>
                <a:latin typeface="Calibri" pitchFamily="34" charset="0"/>
                <a:cs typeface="Amiri" pitchFamily="2" charset="-78"/>
              </a:rPr>
              <a:t> … twice and </a:t>
            </a:r>
            <a:pPr algn="l" indent="0" marL="0">
              <a:buNone/>
            </a:pPr>
            <a:r>
              <a:rPr lang="ar-SA" altLang="en-US" sz="1500" dirty="0">
                <a:solidFill>
                  <a:srgbClr val="1F2A37"/>
                </a:solidFill>
                <a:latin typeface="Amiri" pitchFamily="2" charset="-78"/>
                <a:ea typeface="Amiri" pitchFamily="2" charset="-78"/>
                <a:cs typeface="Amiri" pitchFamily="2" charset="-78"/>
              </a:rPr>
              <a:t>لِكَيْ</a:t>
            </a:r>
            <a:pPr algn="l" indent="0" marL="0">
              <a:buNone/>
            </a:pPr>
            <a:r>
              <a:rPr lang="en-US" sz="1150" dirty="0">
                <a:solidFill>
                  <a:srgbClr val="1F2A37"/>
                </a:solidFill>
                <a:latin typeface="Calibri" pitchFamily="34" charset="0"/>
                <a:cs typeface="Amiri" pitchFamily="2" charset="-78"/>
              </a:rPr>
              <a:t> once.</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object suffixes (</a:t>
            </a:r>
            <a:pPr algn="l" indent="0" marL="0">
              <a:buNone/>
            </a:pPr>
            <a:r>
              <a:rPr lang="ar-SA" altLang="en-US" sz="1500" dirty="0">
                <a:solidFill>
                  <a:srgbClr val="1F2A37"/>
                </a:solidFill>
                <a:latin typeface="Amiri" pitchFamily="2" charset="-78"/>
                <a:ea typeface="Amiri" pitchFamily="2" charset="-78"/>
                <a:cs typeface="Amiri" pitchFamily="2" charset="-78"/>
              </a:rPr>
              <a:t>أُسَاعِدُهَا</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أُرَتِّبُهَا</a:t>
            </a:r>
            <a:pPr algn="l" indent="0" marL="0">
              <a:buNone/>
            </a:pPr>
            <a:r>
              <a:rPr lang="en-US" sz="1150" dirty="0">
                <a:solidFill>
                  <a:srgbClr val="1F2A37"/>
                </a:solidFill>
                <a:latin typeface="Calibri" pitchFamily="34" charset="0"/>
                <a:cs typeface="Amiri" pitchFamily="2" charset="-78"/>
              </a:rPr>
              <a:t>) and </a:t>
            </a:r>
            <a:pPr algn="l" indent="0" marL="0">
              <a:buNone/>
            </a:pPr>
            <a:r>
              <a:rPr lang="ar-SA" altLang="en-US" sz="1500" dirty="0">
                <a:solidFill>
                  <a:srgbClr val="1F2A37"/>
                </a:solidFill>
                <a:latin typeface="Amiri" pitchFamily="2" charset="-78"/>
                <a:ea typeface="Amiri" pitchFamily="2" charset="-78"/>
                <a:cs typeface="Amiri" pitchFamily="2" charset="-78"/>
              </a:rPr>
              <a:t>حَتَّى لَا</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أَوَّلًا … ثُمَّ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first … then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لِأَنَّ … · لِذٰلِكَ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because … · so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رَأْيِي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in my opinion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الخِتَامِ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to finish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22</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B · STEP 6 · SENTENCE BUILDER · CHOOSE A OR B IN EACH COLUMN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 · practice room</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revise for an hour to prepare for the exam.</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أُرَاجِعُ لِمُدَّةِ سَاعَةٍ</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أُرَاجِعُ لِمُدَّةُ سَاعَةٌ</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لِكَيْ</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لِأَنَّ</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أَسْتَعِدَّ لِلِامْتِحَانِ.</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أَسْتَعِدُّ لِلِامْتِحَانِ.</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tidy my room and prepare it.</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أُرَتِّبُ غُرْفَتِي</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أُرَتِّبُ غُرْفَتُكَ</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وَأُنَظِّفُهَا</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وَأُنَظِّفُهُ</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algn="l" indent="0" marL="0">
              <a:buNone/>
            </a:pPr>
            <a:r>
              <a:rPr lang="en-US" sz="1800" dirty="0">
                <a:solidFill>
                  <a:srgbClr val="1F2A37"/>
                </a:solidFill>
                <a:latin typeface="Calibri" pitchFamily="34" charset="0"/>
                <a:cs typeface="Amiri" pitchFamily="2" charset="-78"/>
              </a:rPr>
              <a:t>.</a:t>
            </a:r>
            <a:endParaRPr lang="en-US"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أَمْسِ.</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prepare my bag so that I don’t forget anything.</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أُحَضِّرُ حَقِيبَتِي</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أُحَضِّرُ حَقِيبَتِيَ</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حَتَّى لَا</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حَتَّى لَمْ</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أَنْسَى شَيْئًا.</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أَنْسَى شَيْءٌ.</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6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 · practice room</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revise for an hour to prepare for the exam.</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لِمُدَّةِ</a:t>
            </a:r>
            <a:pPr algn="l" indent="0" marL="0">
              <a:buNone/>
            </a:pPr>
            <a:r>
              <a:rPr lang="en-US" sz="1050" i="1" dirty="0">
                <a:solidFill>
                  <a:srgbClr val="5A6472"/>
                </a:solidFill>
                <a:latin typeface="Calibri" pitchFamily="34" charset="0"/>
                <a:cs typeface="Amiri" pitchFamily="2" charset="-78"/>
              </a:rPr>
              <a:t> + genitive; </a:t>
            </a:r>
            <a:pPr algn="l" indent="0" marL="0">
              <a:buNone/>
            </a:pPr>
            <a:r>
              <a:rPr lang="ar-SA" altLang="en-US" sz="1350" dirty="0">
                <a:solidFill>
                  <a:srgbClr val="5A6472"/>
                </a:solidFill>
                <a:latin typeface="Amiri" pitchFamily="2" charset="-78"/>
                <a:ea typeface="Amiri" pitchFamily="2" charset="-78"/>
                <a:cs typeface="Amiri" pitchFamily="2" charset="-78"/>
              </a:rPr>
              <a:t>لِكَيْ</a:t>
            </a:r>
            <a:pPr algn="l" indent="0" marL="0">
              <a:buNone/>
            </a:pPr>
            <a:r>
              <a:rPr lang="en-US" sz="1050" i="1" dirty="0">
                <a:solidFill>
                  <a:srgbClr val="5A6472"/>
                </a:solidFill>
                <a:latin typeface="Calibri" pitchFamily="34" charset="0"/>
                <a:cs typeface="Amiri" pitchFamily="2" charset="-78"/>
              </a:rPr>
              <a:t> + verb in -a (</a:t>
            </a:r>
            <a:pPr algn="l" indent="0" marL="0">
              <a:buNone/>
            </a:pPr>
            <a:r>
              <a:rPr lang="ar-SA" altLang="en-US" sz="1350" dirty="0">
                <a:solidFill>
                  <a:srgbClr val="5A6472"/>
                </a:solidFill>
                <a:latin typeface="Amiri" pitchFamily="2" charset="-78"/>
                <a:ea typeface="Amiri" pitchFamily="2" charset="-78"/>
                <a:cs typeface="Amiri" pitchFamily="2" charset="-78"/>
              </a:rPr>
              <a:t>أَسْتَعِدَّ</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أُرَاجِعُ لِمُدَّةِ سَاعَةٍ لِكَيْ أَسْتَعِدَّ لِلِامْتِحَانِ.</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tidy my room and prepare it.</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غُرْفَةٌ</a:t>
            </a:r>
            <a:pPr algn="l" indent="0" marL="0">
              <a:buNone/>
            </a:pPr>
            <a:r>
              <a:rPr lang="en-US" sz="1050" i="1" dirty="0">
                <a:solidFill>
                  <a:srgbClr val="5A6472"/>
                </a:solidFill>
                <a:latin typeface="Calibri" pitchFamily="34" charset="0"/>
                <a:cs typeface="Amiri" pitchFamily="2" charset="-78"/>
              </a:rPr>
              <a:t> (f.) → object pronoun -hā: </a:t>
            </a:r>
            <a:pPr algn="l" indent="0" marL="0">
              <a:buNone/>
            </a:pPr>
            <a:r>
              <a:rPr lang="ar-SA" altLang="en-US" sz="1350" dirty="0">
                <a:solidFill>
                  <a:srgbClr val="5A6472"/>
                </a:solidFill>
                <a:latin typeface="Amiri" pitchFamily="2" charset="-78"/>
                <a:ea typeface="Amiri" pitchFamily="2" charset="-78"/>
                <a:cs typeface="Amiri" pitchFamily="2" charset="-78"/>
              </a:rPr>
              <a:t>أُنَظِّفُهَا</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أُرَتِّبُ غُرْفَتِي وَأُنَظِّفُهَا .</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prepare my bag so that I don’t forget anything.</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So that … not = </a:t>
            </a:r>
            <a:pPr algn="l" indent="0" marL="0">
              <a:buNone/>
            </a:pPr>
            <a:r>
              <a:rPr lang="ar-SA" altLang="en-US" sz="1350" dirty="0">
                <a:solidFill>
                  <a:srgbClr val="5A6472"/>
                </a:solidFill>
                <a:latin typeface="Amiri" pitchFamily="2" charset="-78"/>
                <a:ea typeface="Amiri" pitchFamily="2" charset="-78"/>
                <a:cs typeface="Amiri" pitchFamily="2" charset="-78"/>
              </a:rPr>
              <a:t>حَتَّى لَا</a:t>
            </a:r>
            <a:pPr algn="l" indent="0" marL="0">
              <a:buNone/>
            </a:pPr>
            <a:r>
              <a:rPr lang="en-US" sz="1050" i="1" dirty="0">
                <a:solidFill>
                  <a:srgbClr val="5A6472"/>
                </a:solidFill>
                <a:latin typeface="Calibri" pitchFamily="34" charset="0"/>
                <a:cs typeface="Amiri" pitchFamily="2" charset="-78"/>
              </a:rPr>
              <a:t> + verb; object → </a:t>
            </a:r>
            <a:pPr algn="l" indent="0" marL="0">
              <a:buNone/>
            </a:pPr>
            <a:r>
              <a:rPr lang="ar-SA" altLang="en-US" sz="1350" dirty="0">
                <a:solidFill>
                  <a:srgbClr val="5A6472"/>
                </a:solidFill>
                <a:latin typeface="Amiri" pitchFamily="2" charset="-78"/>
                <a:ea typeface="Amiri" pitchFamily="2" charset="-78"/>
                <a:cs typeface="Amiri" pitchFamily="2" charset="-78"/>
              </a:rPr>
              <a:t>شَيْئًا</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أُحَضِّرُ حَقِيبَتِي حَتَّى لَا أَنْسَى شَيْئًا.</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22</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7 · SPOT AND FIX · MISTAKES STUDENTS OFTEN MAKE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 · practice room</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أُرَاجِعُ لِكَيْ أَنْجَحُ.</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a:t>
            </a:r>
            <a:pPr algn="l" indent="0" marL="0">
              <a:buNone/>
            </a:pPr>
            <a:r>
              <a:rPr lang="ar-SA" altLang="en-US" sz="1700" dirty="0">
                <a:solidFill>
                  <a:srgbClr val="5A6472"/>
                </a:solidFill>
                <a:latin typeface="Amiri" pitchFamily="2" charset="-78"/>
                <a:ea typeface="Amiri" pitchFamily="2" charset="-78"/>
                <a:cs typeface="Amiri" pitchFamily="2" charset="-78"/>
              </a:rPr>
              <a:t>لِكَيْ</a:t>
            </a:r>
            <a:pPr algn="l" indent="0" marL="0">
              <a:buNone/>
            </a:pPr>
            <a:r>
              <a:rPr lang="en-US" sz="1300" i="1" dirty="0">
                <a:solidFill>
                  <a:srgbClr val="5A6472"/>
                </a:solidFill>
                <a:latin typeface="Calibri" pitchFamily="34" charset="0"/>
                <a:cs typeface="Amiri" pitchFamily="2" charset="-78"/>
              </a:rPr>
              <a:t> …</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أُسَاعِدُ أُمِّي وَأُسَاعِدُهُ كُلَّ يَوْمٍ.</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My mother → which pronoun?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أَسْتَرِيحُ لِمُدَّةُ نِصْفِ سَاعَةٍ.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2" charset="-78"/>
                <a:ea typeface="Amiri" pitchFamily="2" charset="-78"/>
                <a:cs typeface="Amiri" pitchFamily="2" charset="-78"/>
              </a:rPr>
              <a:t>لِ</a:t>
            </a:r>
            <a:pPr algn="l" indent="0" marL="0">
              <a:buNone/>
            </a:pPr>
            <a:r>
              <a:rPr lang="en-US" sz="1300" i="1" dirty="0">
                <a:solidFill>
                  <a:srgbClr val="5A6472"/>
                </a:solidFill>
                <a:latin typeface="Calibri" pitchFamily="34" charset="0"/>
                <a:cs typeface="Amiri" pitchFamily="2" charset="-78"/>
              </a:rPr>
              <a:t> + …</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22</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 · practice room</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أُرَاجِعُ لِكَيْ أَنْجَحُ.</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أُرَاجِعُ لِكَيْ أَنْجَحَ.</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لِكَيْ</a:t>
            </a:r>
            <a:pPr algn="l" indent="0" marL="0">
              <a:buNone/>
            </a:pPr>
            <a:r>
              <a:rPr lang="en-US" sz="1150" b="1" dirty="0">
                <a:solidFill>
                  <a:srgbClr val="1B3B6F"/>
                </a:solidFill>
                <a:latin typeface="Calibri" pitchFamily="34" charset="0"/>
                <a:cs typeface="Amiri" pitchFamily="2" charset="-78"/>
              </a:rPr>
              <a:t> + verb ending in -a.</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أُسَاعِدُ أُمِّي وَأُسَاعِدُهُ كُلَّ يَوْمٍ.</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أُسَاعِدُ أُمِّي، أُسَاعِدُهَا كُلَّ يَوْمٍ.</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Her → -hā.</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أَسْتَرِيحُ لِمُدَّةُ نِصْفِ سَاعَةٍ.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أَسْتَرِيحُ لِمُدَّةِ نِصْفِ سَاعَةٍ.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li- + genitive: </a:t>
            </a:r>
            <a:pPr algn="l" indent="0" marL="0">
              <a:buNone/>
            </a:pPr>
            <a:r>
              <a:rPr lang="ar-SA" altLang="en-US" sz="1500" b="1" dirty="0">
                <a:solidFill>
                  <a:srgbClr val="1B3B6F"/>
                </a:solidFill>
                <a:latin typeface="Amiri" pitchFamily="2" charset="-78"/>
                <a:ea typeface="Amiri" pitchFamily="2" charset="-78"/>
                <a:cs typeface="Amiri" pitchFamily="2" charset="-78"/>
              </a:rPr>
              <a:t>لِمُدَّةِ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22</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 · practice room</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500" b="1" dirty="0">
                <a:solidFill>
                  <a:srgbClr val="1B3B6F"/>
                </a:solidFill>
                <a:latin typeface="Amiri" pitchFamily="2" charset="-78"/>
                <a:ea typeface="Amiri" pitchFamily="2" charset="-78"/>
                <a:cs typeface="Amiri" pitchFamily="2" charset="-78"/>
              </a:rPr>
              <a:t>أُسَاعِدُ ______ ، أُسَاعِدُهُ / أُسَاعِدُهَا لِكَيْ ______ .</a:t>
            </a:r>
            <a:endParaRPr lang="ar-SA" sz="15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help …; I help him / her so that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أُحَضِّرُ ______ حَتَّى لَا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prepare … so that I don’t …</a:t>
            </a:r>
            <a:endParaRPr lang="en-US" sz="1050" dirty="0"/>
          </a:p>
        </p:txBody>
      </p:sp>
      <p:sp>
        <p:nvSpPr>
          <p:cNvPr id="22" name="Shape 19"/>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5" name="Text 22"/>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أَرْجِعُ إِلَى البَيْتِ فِي ______ ، وَ ______ .</a:t>
            </a:r>
            <a:endParaRPr lang="ar-SA" sz="1800" dirty="0"/>
          </a:p>
        </p:txBody>
      </p:sp>
      <p:sp>
        <p:nvSpPr>
          <p:cNvPr id="26" name="Text 23"/>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get home at …, and …</a:t>
            </a:r>
            <a:endParaRPr lang="en-US" sz="1050" dirty="0"/>
          </a:p>
        </p:txBody>
      </p:sp>
      <p:sp>
        <p:nvSpPr>
          <p:cNvPr id="27" name="Text 24"/>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أُرَاجِعُ دُرُوسِي لِمُدَّةِ ______ .</a:t>
            </a:r>
            <a:endParaRPr lang="ar-SA" sz="1800" dirty="0"/>
          </a:p>
        </p:txBody>
      </p:sp>
      <p:sp>
        <p:nvSpPr>
          <p:cNvPr id="28" name="Text 25"/>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revise for …</a:t>
            </a:r>
            <a:endParaRPr lang="en-US" sz="1050" dirty="0"/>
          </a:p>
        </p:txBody>
      </p:sp>
      <p:sp>
        <p:nvSpPr>
          <p:cNvPr id="29" name="Text 26"/>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بَعْدَ العَشَاءِ ______ .</a:t>
            </a:r>
            <a:endParaRPr lang="ar-SA" sz="1800" dirty="0"/>
          </a:p>
        </p:txBody>
      </p:sp>
      <p:sp>
        <p:nvSpPr>
          <p:cNvPr id="30" name="Text 27"/>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After dinner I …</a:t>
            </a:r>
            <a:endParaRPr lang="en-US" sz="1050" dirty="0"/>
          </a:p>
        </p:txBody>
      </p:sp>
      <p:sp>
        <p:nvSpPr>
          <p:cNvPr id="31" name="Text 28"/>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أَذْهَبُ إِلَى الفِرَاشِ فِي ______ .</a:t>
            </a:r>
            <a:endParaRPr lang="ar-SA" sz="1800" dirty="0"/>
          </a:p>
        </p:txBody>
      </p:sp>
      <p:sp>
        <p:nvSpPr>
          <p:cNvPr id="32" name="Text 29"/>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go to bed at …</a:t>
            </a:r>
            <a:endParaRPr lang="en-US" sz="1050" dirty="0"/>
          </a:p>
        </p:txBody>
      </p:sp>
      <p:sp>
        <p:nvSpPr>
          <p:cNvPr id="33" name="Shape 30"/>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5" name="Text 32"/>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أَرْجِعُ · أُغَيِّرُ مَلَابِسِي  ·  وَجْبَةٌ خَفِيفَةٌ  ·  أَسْتَرِيحُ قَلِيلًا  ·  أُرَاجِعُ · أُكْمِلُ وَاجِبِي  ·  أُرَتِّبُ · أُحَضِّرُ  ·  لِمُدَّةِ  ·  لِكَيْ · حَتَّى لَا  ·  أُسَاعِدُهُ · أُسَاعِدُهَا</a:t>
            </a:r>
            <a:endParaRPr lang="ar-SA" sz="16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Speaking + writing practice room</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WRITE YOUR TEXT · ABOUT 60–80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evening, in three phases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مَسَائِي فِي ثَلَاثِ مَرَاحِلَ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 · practice room</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2061972"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2061972"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DIRECTED TASK</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Write about your afternoon and evening (about 60–80 words) for a wellbeing project. Organise it in three phases. Include: • at least six actions with times • two durations (</a:t>
            </a:r>
            <a:pPr algn="l" indent="0" marL="0">
              <a:buNone/>
            </a:pPr>
            <a:r>
              <a:rPr lang="ar-SA" altLang="en-US" sz="1450" b="1" dirty="0">
                <a:solidFill>
                  <a:srgbClr val="1F2A37"/>
                </a:solidFill>
                <a:latin typeface="Amiri" pitchFamily="2" charset="-78"/>
                <a:ea typeface="Amiri" pitchFamily="2" charset="-78"/>
                <a:cs typeface="Amiri" pitchFamily="2" charset="-78"/>
              </a:rPr>
              <a:t>لِمُدَّةِ</a:t>
            </a:r>
            <a:pPr algn="l" indent="0" marL="0">
              <a:buNone/>
            </a:pPr>
            <a:r>
              <a:rPr lang="en-US" sz="1100" b="1" dirty="0">
                <a:solidFill>
                  <a:srgbClr val="1F2A37"/>
                </a:solidFill>
                <a:latin typeface="Calibri" pitchFamily="34" charset="0"/>
                <a:cs typeface="Amiri" pitchFamily="2" charset="-78"/>
              </a:rPr>
              <a:t> …) • two purposes (</a:t>
            </a:r>
            <a:pPr algn="l" indent="0" marL="0">
              <a:buNone/>
            </a:pPr>
            <a:r>
              <a:rPr lang="ar-SA" altLang="en-US" sz="1450" b="1" dirty="0">
                <a:solidFill>
                  <a:srgbClr val="1F2A37"/>
                </a:solidFill>
                <a:latin typeface="Amiri" pitchFamily="2" charset="-78"/>
                <a:ea typeface="Amiri" pitchFamily="2" charset="-78"/>
                <a:cs typeface="Amiri" pitchFamily="2" charset="-78"/>
              </a:rPr>
              <a:t>لِكَيْ</a:t>
            </a:r>
            <a:pPr algn="l" indent="0" marL="0">
              <a:buNone/>
            </a:pPr>
            <a:r>
              <a:rPr lang="en-US" sz="1100" b="1" dirty="0">
                <a:solidFill>
                  <a:srgbClr val="1F2A37"/>
                </a:solidFill>
                <a:latin typeface="Calibri" pitchFamily="34" charset="0"/>
                <a:cs typeface="Amiri" pitchFamily="2" charset="-78"/>
              </a:rPr>
              <a:t> … · </a:t>
            </a:r>
            <a:pPr algn="l" indent="0" marL="0">
              <a:buNone/>
            </a:pPr>
            <a:r>
              <a:rPr lang="ar-SA" altLang="en-US" sz="1450" b="1" dirty="0">
                <a:solidFill>
                  <a:srgbClr val="1F2A37"/>
                </a:solidFill>
                <a:latin typeface="Amiri" pitchFamily="2" charset="-78"/>
                <a:ea typeface="Amiri" pitchFamily="2" charset="-78"/>
                <a:cs typeface="Amiri" pitchFamily="2" charset="-78"/>
              </a:rPr>
              <a:t>حَتَّى لَا</a:t>
            </a:r>
            <a:pPr algn="l" indent="0" marL="0">
              <a:buNone/>
            </a:pPr>
            <a:r>
              <a:rPr lang="en-US" sz="1100" b="1" dirty="0">
                <a:solidFill>
                  <a:srgbClr val="1F2A37"/>
                </a:solidFill>
                <a:latin typeface="Calibri" pitchFamily="34" charset="0"/>
                <a:cs typeface="Amiri" pitchFamily="2" charset="-78"/>
              </a:rPr>
              <a:t> …) • two object pronouns (</a:t>
            </a:r>
            <a:pPr algn="l" indent="0" marL="0">
              <a:buNone/>
            </a:pPr>
            <a:r>
              <a:rPr lang="ar-SA" altLang="en-US" sz="1450" b="1" dirty="0">
                <a:solidFill>
                  <a:srgbClr val="1F2A37"/>
                </a:solidFill>
                <a:latin typeface="Amiri" pitchFamily="2" charset="-78"/>
                <a:ea typeface="Amiri" pitchFamily="2" charset="-78"/>
                <a:cs typeface="Amiri" pitchFamily="2" charset="-78"/>
              </a:rPr>
              <a:t>أُسَاعِدُهَا</a:t>
            </a:r>
            <a:pPr algn="l" indent="0" marL="0">
              <a:buNone/>
            </a:pPr>
            <a:r>
              <a:rPr lang="en-US" sz="1100" b="1" dirty="0">
                <a:solidFill>
                  <a:srgbClr val="1F2A37"/>
                </a:solidFill>
                <a:latin typeface="Calibri" pitchFamily="34" charset="0"/>
                <a:cs typeface="Amiri" pitchFamily="2" charset="-78"/>
              </a:rPr>
              <a:t> …) • your opinion: is your evening balanced?</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the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right tense for each bullet.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Linking words: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ثُمَّ</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لٰكِنَّ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opinion with a reason.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بَعْدَ المَدْرَسَةِ … ، ثُمَّ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after school …, then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أُرَاجِعُ لِمُدَّةِ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revise for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لِكَيْ … · حَتَّى لَا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so that … · so that … not</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رَأْيِي مَسَائِي مُتَوَازِنٌ لِأَنَّ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my opinion my evening is balanced because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22</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at least six evening actions with times?</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a:t>
            </a:r>
            <a:pPr algn="l" indent="0" marL="0">
              <a:buNone/>
            </a:pPr>
            <a:r>
              <a:rPr lang="ar-SA" altLang="en-US" sz="1450" dirty="0">
                <a:solidFill>
                  <a:srgbClr val="5A6472"/>
                </a:solidFill>
                <a:latin typeface="Amiri" pitchFamily="2" charset="-78"/>
                <a:ea typeface="Amiri" pitchFamily="2" charset="-78"/>
                <a:cs typeface="Amiri" pitchFamily="2" charset="-78"/>
              </a:rPr>
              <a:t>لِمُدَّةِ</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لِكَيْ</a:t>
            </a:r>
            <a:pPr algn="l" indent="0" marL="0">
              <a:buNone/>
            </a:pPr>
            <a:r>
              <a:rPr lang="en-US" sz="1100" dirty="0">
                <a:solidFill>
                  <a:srgbClr val="5A6472"/>
                </a:solidFill>
                <a:latin typeface="Calibri" pitchFamily="34" charset="0"/>
                <a:cs typeface="Amiri" pitchFamily="2" charset="-78"/>
              </a:rPr>
              <a:t> (+ -a) and object pronouns correctly?</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more than one tense and give an opinion with a reason?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22</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4800600" y="2286000"/>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أَوَّلًا أَرْجِعُ إِلَى البَيْتِ وَأَتَنَاوَلُ وَجْبَةً خَفِيفَةً.</a:t>
            </a:r>
            <a:endParaRPr lang="ar-SA" sz="1800" dirty="0"/>
          </a:p>
        </p:txBody>
      </p:sp>
      <p:sp>
        <p:nvSpPr>
          <p:cNvPr id="21" name="Text 18"/>
          <p:cNvSpPr txBox="1"/>
          <p:nvPr/>
        </p:nvSpPr>
        <p:spPr>
          <a:xfrm>
            <a:off x="4754880" y="2706624"/>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First I go home and have a snack.</a:t>
            </a:r>
            <a:endParaRPr lang="en-US" sz="950" dirty="0"/>
          </a:p>
        </p:txBody>
      </p:sp>
      <p:sp>
        <p:nvSpPr>
          <p:cNvPr id="22" name="Text 19"/>
          <p:cNvSpPr txBox="1"/>
          <p:nvPr/>
        </p:nvSpPr>
        <p:spPr>
          <a:xfrm>
            <a:off x="1051560" y="2267712"/>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أَنْتَ حُرٌّ بَعْدَ المَدْرَسَةِ؟</a:t>
            </a:r>
            <a:endParaRPr lang="ar-SA" sz="1600" dirty="0"/>
          </a:p>
        </p:txBody>
      </p:sp>
      <p:sp>
        <p:nvSpPr>
          <p:cNvPr id="23" name="Text 20"/>
          <p:cNvSpPr txBox="1"/>
          <p:nvPr/>
        </p:nvSpPr>
        <p:spPr>
          <a:xfrm>
            <a:off x="566928" y="2267712"/>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5" name="Text 22"/>
          <p:cNvSpPr txBox="1"/>
          <p:nvPr/>
        </p:nvSpPr>
        <p:spPr>
          <a:xfrm>
            <a:off x="4800600" y="3072384"/>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الخَامِسَةِ، لِمُدَّةِ سَاعَةٍ وَنِصْفٍ.</a:t>
            </a:r>
            <a:endParaRPr lang="ar-SA" sz="1800" dirty="0"/>
          </a:p>
        </p:txBody>
      </p:sp>
      <p:sp>
        <p:nvSpPr>
          <p:cNvPr id="26" name="Text 23"/>
          <p:cNvSpPr txBox="1"/>
          <p:nvPr/>
        </p:nvSpPr>
        <p:spPr>
          <a:xfrm>
            <a:off x="4754880" y="3493008"/>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At five, for an hour and a half.</a:t>
            </a:r>
            <a:endParaRPr lang="en-US" sz="950" dirty="0"/>
          </a:p>
        </p:txBody>
      </p:sp>
      <p:sp>
        <p:nvSpPr>
          <p:cNvPr id="27" name="Text 24"/>
          <p:cNvSpPr txBox="1"/>
          <p:nvPr/>
        </p:nvSpPr>
        <p:spPr>
          <a:xfrm>
            <a:off x="1051560"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مَتَى نَبْدَأُ المُرَاجَعَةَ؟</a:t>
            </a:r>
            <a:endParaRPr lang="ar-SA" sz="1600" dirty="0"/>
          </a:p>
        </p:txBody>
      </p:sp>
      <p:sp>
        <p:nvSpPr>
          <p:cNvPr id="28" name="Text 25"/>
          <p:cNvSpPr txBox="1"/>
          <p:nvPr/>
        </p:nvSpPr>
        <p:spPr>
          <a:xfrm>
            <a:off x="566928" y="3054096"/>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4800600" y="3858768"/>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لِأَنَّنِي أُسَاعِدُ أُمِّي فِي الرَّابِعَةِ، فَهِيَ تَحْتَاجُنِي لِكَيْ أَعْتَنِيَ بِأَخِي.</a:t>
            </a:r>
            <a:endParaRPr lang="ar-SA" sz="1800" dirty="0"/>
          </a:p>
        </p:txBody>
      </p:sp>
      <p:sp>
        <p:nvSpPr>
          <p:cNvPr id="31" name="Text 28"/>
          <p:cNvSpPr txBox="1"/>
          <p:nvPr/>
        </p:nvSpPr>
        <p:spPr>
          <a:xfrm>
            <a:off x="4754880" y="4279392"/>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Because I help my mum at four — she needs me to look after my brother.</a:t>
            </a:r>
            <a:endParaRPr lang="en-US" sz="950" dirty="0"/>
          </a:p>
        </p:txBody>
      </p:sp>
      <p:sp>
        <p:nvSpPr>
          <p:cNvPr id="32" name="Text 29"/>
          <p:cNvSpPr txBox="1"/>
          <p:nvPr/>
        </p:nvSpPr>
        <p:spPr>
          <a:xfrm>
            <a:off x="1051560"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لِمَاذَا لَا نَبْدَأُ فِي الرَّابِعَةِ؟</a:t>
            </a:r>
            <a:endParaRPr lang="ar-SA" sz="1600" dirty="0"/>
          </a:p>
        </p:txBody>
      </p:sp>
      <p:sp>
        <p:nvSpPr>
          <p:cNvPr id="33" name="Text 30"/>
          <p:cNvSpPr txBox="1"/>
          <p:nvPr/>
        </p:nvSpPr>
        <p:spPr>
          <a:xfrm>
            <a:off x="566928" y="3840480"/>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5" name="Text 32"/>
          <p:cNvSpPr txBox="1"/>
          <p:nvPr/>
        </p:nvSpPr>
        <p:spPr>
          <a:xfrm>
            <a:off x="4800600" y="4645152"/>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نُرَاجِعُ العُلُومَ أَوَّلًا، لِأَنَّ الامْتِحَانَ يَوْمَ الإِثْنَيْنِ، ثُمَّ العَرَبِيَّةَ.</a:t>
            </a:r>
            <a:endParaRPr lang="ar-SA" sz="1800" dirty="0"/>
          </a:p>
        </p:txBody>
      </p:sp>
      <p:sp>
        <p:nvSpPr>
          <p:cNvPr id="36" name="Text 33"/>
          <p:cNvSpPr txBox="1"/>
          <p:nvPr/>
        </p:nvSpPr>
        <p:spPr>
          <a:xfrm>
            <a:off x="4754880" y="5065776"/>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We revise science first, because the test is on Monday, then Arabic.</a:t>
            </a:r>
            <a:endParaRPr lang="en-US" sz="950" dirty="0"/>
          </a:p>
        </p:txBody>
      </p:sp>
      <p:sp>
        <p:nvSpPr>
          <p:cNvPr id="37" name="Text 34"/>
          <p:cNvSpPr txBox="1"/>
          <p:nvPr/>
        </p:nvSpPr>
        <p:spPr>
          <a:xfrm>
            <a:off x="1051560" y="4626864"/>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وَمَاذَا نُرَاجِعُ أَوَّلًا؟</a:t>
            </a:r>
            <a:endParaRPr lang="ar-SA" sz="1600" dirty="0"/>
          </a:p>
        </p:txBody>
      </p:sp>
      <p:sp>
        <p:nvSpPr>
          <p:cNvPr id="38" name="Text 35"/>
          <p:cNvSpPr txBox="1"/>
          <p:nvPr/>
        </p:nvSpPr>
        <p:spPr>
          <a:xfrm>
            <a:off x="566928" y="4626864"/>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Choose one phrase you did not use and say it aloud.</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22</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 · practice room</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أَرْجِعُ إِلَى البَيْتِ فِي الثَّالِثَةِ وَالنِّصْفِ، وَأُغَيِّرُ مَلَابِسِي، ثُمَّ أَسْتَرِيحُ لِمُدَّةِ نِصْفِ سَاعَةٍ. فِي المَسَاءِ أُرَاجِعُ دُرُوسِي لِمُدَّةِ سَاعَةٍ لِكَيْ أَسْتَعِدَّ لِلِامْتِحَانَاتِ. بَعْدَ ذٰلِكَ أُسَاعِدُ أُخْتِي الصَّغِيرَةَ فِي وَاجِبِهَا؛ أُسَاعِدُهَا لِأَنَّ الرِّيَاضِيَّاتِ صَعْبَةٌ عَلَيْهَا. بَعْدَ العَشَاءِ أُرَتِّبُ غُرْفَتِي وَأُحَضِّرُ حَقِيبَتِي حَتَّى لَا أَنْسَى شَيْئًا. أَذْهَبُ إِلَى الفِرَاشِ فِي العَاشِرَةِ. فِي رَأْيِي مَسَائِي مُتَوَازِنٌ، لٰكِنَّهُ مُزْدَحِمٌ قَلِيلًا.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get home at half past three, change my clothes, then rest for half an hour. In the evening I revise for an hour to prepare for the exams. After that I help my little sister with her homework — I help her because maths is hard for her. After dinner I tidy my room and prepare my bag so that I don’t forget anything. I go to bed at ten. In my opinion my evening is balanced, but a bit busy.”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لِمُدَّةِ نِصْفِ سَاعَةٍ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لِكَيْ أَسْتَعِدَّ</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أُسَاعِدُهَا لِأَنَّ</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حَتَّى لَا أَنْسَى</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22</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 · practice room</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the questions and the role-play tasks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today’s key structure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more than one tense and gave opinions with reasons.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22</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D1-L05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practised it yourselves!</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750" b="1" dirty="0">
                <a:solidFill>
                  <a:srgbClr val="FFFFFF"/>
                </a:solidFill>
                <a:latin typeface="Cambria" pitchFamily="34" charset="0"/>
                <a:cs typeface="Amiri" pitchFamily="2" charset="-78"/>
              </a:rPr>
              <a:t>D1-L06 · He and She — Describing Someone Else’s Routine</a:t>
            </a:r>
            <a:endParaRPr lang="en-US" sz="17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هُوَ وَهِيَ — وَصْفُ رُوتِينِ شَخْصٍ آخَرَ</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say it, then write it — full sentences, every time.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D1-L05 · Practice Room — After School and Evening Routine</dc:title>
  <dc:subject>PptxGenJS Presentation</dc:subject>
  <dc:creator>Al Madina Online School · Arabic Department</dc:creator>
  <cp:lastModifiedBy>Al Madina Online School · Arabic Department</cp:lastModifiedBy>
  <cp:revision>1</cp:revision>
  <dcterms:created xsi:type="dcterms:W3CDTF">2026-10-25T17:53:49Z</dcterms:created>
  <dcterms:modified xsi:type="dcterms:W3CDTF">2026-10-25T17:53:49Z</dcterms:modified>
</cp:coreProperties>
</file>