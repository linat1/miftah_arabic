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D1-L05 (After School and Evening Routine) — new practice tasks built on the lesson’s own word bank and grammar (three phases (afternoon · early evening · night); li-muddati + duration; purpose with li-kay / ḥattā + verb in -a; possessive and object suffixes (ghurfatī · usāʿiduhā · urattibuhā)).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هَلْ أَنْتِ حُرَّةٌ. li-muddati + duration · li-kay + verb in -a · object suffixes (taḥtājunī).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After School and Evening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بَعْدَ المَدْرَسَةِ وَالمَسَاءُ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about their afternoon and evening: say the evening verbs, act a short dialogue, answer question cards, do a role-play card arranging a study session, give a one-minute three-phase talk, then build, fix and write a detailed evening routine.</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D1-L05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After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أَرْجِعُ إِلَى البَيْتِ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return home</a:t>
            </a:r>
            <a:endParaRPr lang="en-US" sz="1350" dirty="0"/>
          </a:p>
          <a:p>
            <a:pPr indent="0" marL="0">
              <a:buNone/>
            </a:pPr>
            <a:r>
              <a:rPr lang="en-US" sz="1100" i="1" dirty="0">
                <a:solidFill>
                  <a:srgbClr val="5A6472"/>
                </a:solidFill>
                <a:latin typeface="Calibri" pitchFamily="34" charset="0"/>
                <a:cs typeface="Amiri" pitchFamily="2" charset="-78"/>
              </a:rPr>
              <a:t>ar-ji-ʿu i-lā al-bay-ti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أُغَيِّرُ مَلَابِسِي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change my clothes</a:t>
            </a:r>
            <a:endParaRPr lang="en-US" sz="1350" dirty="0"/>
          </a:p>
          <a:p>
            <a:pPr indent="0" marL="0">
              <a:buNone/>
            </a:pPr>
            <a:r>
              <a:rPr lang="en-US" sz="1100" i="1" dirty="0">
                <a:solidFill>
                  <a:srgbClr val="5A6472"/>
                </a:solidFill>
                <a:latin typeface="Calibri" pitchFamily="34" charset="0"/>
                <a:cs typeface="Amiri" pitchFamily="2" charset="-78"/>
              </a:rPr>
              <a:t>u-ghay-yi-ru ma-lā-bi-sī</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يُغَيِّرُ مَلَابِسَهُ</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تُغَيِّرُ مَلَابِسَهَا</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نُغَيِّرُ مَلَابِسَنَا</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وَجْبَةً خَفِيفَةً</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a snack</a:t>
            </a:r>
            <a:endParaRPr lang="en-US" sz="1350" dirty="0"/>
          </a:p>
          <a:p>
            <a:pPr indent="0" marL="0">
              <a:buNone/>
            </a:pPr>
            <a:r>
              <a:rPr lang="en-US" sz="1100" i="1" dirty="0">
                <a:solidFill>
                  <a:srgbClr val="5A6472"/>
                </a:solidFill>
                <a:latin typeface="Calibri" pitchFamily="34" charset="0"/>
                <a:cs typeface="Amiri" pitchFamily="2" charset="-78"/>
              </a:rPr>
              <a:t>a-ta-nā-wa-lu waj-ba-tan kha-fī-fa-tan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أَسْتَرِيحُ قَلِيلًا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 for a while</a:t>
            </a:r>
            <a:endParaRPr lang="en-US" sz="1350" dirty="0"/>
          </a:p>
          <a:p>
            <a:pPr indent="0" marL="0">
              <a:buNone/>
            </a:pPr>
            <a:r>
              <a:rPr lang="en-US" sz="1100" i="1" dirty="0">
                <a:solidFill>
                  <a:srgbClr val="5A6472"/>
                </a:solidFill>
                <a:latin typeface="Calibri" pitchFamily="34" charset="0"/>
                <a:cs typeface="Amiri" pitchFamily="2" charset="-78"/>
              </a:rPr>
              <a:t>as-ta-rī-ḥu qa-lī-lan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أُرَاجِعُ دُرُوسِي</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revise my lessons</a:t>
            </a:r>
            <a:endParaRPr lang="en-US" sz="1350" dirty="0"/>
          </a:p>
          <a:p>
            <a:pPr indent="0" marL="0">
              <a:buNone/>
            </a:pPr>
            <a:r>
              <a:rPr lang="en-US" sz="1100" i="1" dirty="0">
                <a:solidFill>
                  <a:srgbClr val="5A6472"/>
                </a:solidFill>
                <a:latin typeface="Calibri" pitchFamily="34" charset="0"/>
                <a:cs typeface="Amiri" pitchFamily="2" charset="-78"/>
              </a:rPr>
              <a:t>u-rā-ji-ʿu du-rū-sī</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يُرَاجِعُ دُرُوسَهُ</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 دُرُوسَهَا</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نُرَاجِعُ دُرُوسَنَا</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يُكْمِلُ وَاجِبَهُ</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تُكْمِلُ وَاجِبَهَا</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نُكْمِلُ وَاجِبَنَا</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Evening and bedtime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أُسْرَتِي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my family</a:t>
            </a:r>
            <a:endParaRPr lang="en-US" sz="1350" dirty="0"/>
          </a:p>
          <a:p>
            <a:pPr indent="0" marL="0">
              <a:buNone/>
            </a:pPr>
            <a:r>
              <a:rPr lang="en-US" sz="1100" i="1" dirty="0">
                <a:solidFill>
                  <a:srgbClr val="5A6472"/>
                </a:solidFill>
                <a:latin typeface="Calibri" pitchFamily="34" charset="0"/>
                <a:cs typeface="Amiri" pitchFamily="2" charset="-78"/>
              </a:rPr>
              <a:t>u-sā-ʿi-du us-ra-tī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أُرَتِّبُ غُرْفَتِي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tidy my room</a:t>
            </a:r>
            <a:endParaRPr lang="en-US" sz="1350" dirty="0"/>
          </a:p>
          <a:p>
            <a:pPr indent="0" marL="0">
              <a:buNone/>
            </a:pPr>
            <a:r>
              <a:rPr lang="en-US" sz="1100" i="1" dirty="0">
                <a:solidFill>
                  <a:srgbClr val="5A6472"/>
                </a:solidFill>
                <a:latin typeface="Calibri" pitchFamily="34" charset="0"/>
                <a:cs typeface="Amiri" pitchFamily="2" charset="-78"/>
              </a:rPr>
              <a:t>u-rat-ti-bu ghur-fa-tī</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يُرَتِّبُ غُرْفَتَهُ</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تُرَتِّبُ غُرْفَتَهَا</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نُرَتِّبُ غُرَفَنَا</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العَشَاءَ</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dinner</a:t>
            </a:r>
            <a:endParaRPr lang="en-US" sz="1350" dirty="0"/>
          </a:p>
          <a:p>
            <a:pPr indent="0" marL="0">
              <a:buNone/>
            </a:pPr>
            <a:r>
              <a:rPr lang="en-US" sz="1100" i="1" dirty="0">
                <a:solidFill>
                  <a:srgbClr val="5A6472"/>
                </a:solidFill>
                <a:latin typeface="Calibri" pitchFamily="34" charset="0"/>
                <a:cs typeface="Amiri" pitchFamily="2" charset="-78"/>
              </a:rPr>
              <a:t>a-ta-nā-wa-lu al-ʿa-shā-ʾa</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أُحَضِّرُ حَقِيبَتِي</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prepare my bag</a:t>
            </a:r>
            <a:endParaRPr lang="en-US" sz="1350" dirty="0"/>
          </a:p>
          <a:p>
            <a:pPr indent="0" marL="0">
              <a:buNone/>
            </a:pPr>
            <a:r>
              <a:rPr lang="en-US" sz="1100" i="1" dirty="0">
                <a:solidFill>
                  <a:srgbClr val="5A6472"/>
                </a:solidFill>
                <a:latin typeface="Calibri" pitchFamily="34" charset="0"/>
                <a:cs typeface="Amiri" pitchFamily="2" charset="-78"/>
              </a:rPr>
              <a:t>u-ḥaḍ-ḍi-ru ḥa-qī-ba-tī</a:t>
            </a:r>
            <a:endParaRPr lang="en-US" sz="1350" dirty="0"/>
          </a:p>
        </p:txBody>
      </p:sp>
      <p:sp>
        <p:nvSpPr>
          <p:cNvPr id="56" name="Shape 5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8" name="Text 5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يُحَضِّرُ حَقِيبَتَهُ</a:t>
            </a:r>
            <a:endParaRPr lang="ar-SA" sz="1500" dirty="0"/>
          </a:p>
        </p:txBody>
      </p:sp>
      <p:sp>
        <p:nvSpPr>
          <p:cNvPr id="59" name="Shape 5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1" name="Text 5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تُحَضِّرُ حَقِيبَتَهَا</a:t>
            </a:r>
            <a:endParaRPr lang="ar-SA" sz="1500" dirty="0"/>
          </a:p>
        </p:txBody>
      </p:sp>
      <p:sp>
        <p:nvSpPr>
          <p:cNvPr id="62" name="Shape 5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4" name="Text 6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نُحَضِّرُ حَقَائِبَنَا</a:t>
            </a:r>
            <a:endParaRPr lang="ar-SA" sz="15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الفِرَاشِ</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bed</a:t>
            </a:r>
            <a:endParaRPr lang="en-US" sz="1350" dirty="0"/>
          </a:p>
          <a:p>
            <a:pPr indent="0" marL="0">
              <a:buNone/>
            </a:pPr>
            <a:r>
              <a:rPr lang="en-US" sz="1100" i="1" dirty="0">
                <a:solidFill>
                  <a:srgbClr val="5A6472"/>
                </a:solidFill>
                <a:latin typeface="Calibri" pitchFamily="34" charset="0"/>
                <a:cs typeface="Amiri" pitchFamily="2" charset="-78"/>
              </a:rPr>
              <a:t>adh-ha-bu i-lā al-fi-rā-shi</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لِمُدَّةِ نِصْفِ سَاعَةٍ</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half an hour</a:t>
            </a:r>
            <a:endParaRPr lang="en-US" sz="1350" dirty="0"/>
          </a:p>
          <a:p>
            <a:pPr indent="0" marL="0">
              <a:buNone/>
            </a:pPr>
            <a:r>
              <a:rPr lang="en-US" sz="1100" i="1" dirty="0">
                <a:solidFill>
                  <a:srgbClr val="5A6472"/>
                </a:solidFill>
                <a:latin typeface="Calibri" pitchFamily="34" charset="0"/>
                <a:cs typeface="Amiri" pitchFamily="2" charset="-78"/>
              </a:rPr>
              <a:t>li-mud-da-ti niṣ-fi sā-ʿa-tin</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long do you study?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مِنَ الوَقْتِ تُرَاجِعُ؟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when you get home?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تَفْعَلُ عِنْدَمَا تَرْجِعُ إِلَى البَيْتِ؟</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change my clothes, then I have a snack.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أُغَيِّرُ مَلَابِسِي، ثُمَّ أَتَنَاوَلُ وَجْبَةً خَفِيفَةً.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long do you revise for?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وَكَمْ مِنَ الوَقْتِ تُرَاجِعُ؟</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revise for an hour, to prepare for the exams.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أُرَاجِعُ دُرُوسِي لِمُدَّةِ سَاعَةٍ، لِكَيْ أَسْتَعِدَّ لِلِامْتِحَانَاتِ.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after dinner?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وَبَعْدَ العَشَاءِ؟</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tidy my room and prepare my bag, so that I don’t forget anything in the morning.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أُرَتِّبُ غُرْفَتِي وَأُحَضِّرُ حَقِيبَتِي، حَتَّى لَا أَنْسَى شَيْئًا فِي الصَّبَاحِ.</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evening — add a duration (</a:t>
            </a:r>
            <a:pPr algn="l" indent="0" marL="0">
              <a:buNone/>
            </a:pPr>
            <a:r>
              <a:rPr lang="ar-SA" altLang="en-US" sz="1500" b="1" dirty="0">
                <a:solidFill>
                  <a:srgbClr val="1B3B6F"/>
                </a:solidFill>
                <a:latin typeface="Amiri" pitchFamily="2" charset="-78"/>
                <a:ea typeface="Amiri" pitchFamily="2" charset="-78"/>
                <a:cs typeface="Amiri" pitchFamily="2" charset="-78"/>
              </a:rPr>
              <a:t>لِمُدَّةِ</a:t>
            </a:r>
            <a:pPr algn="l" indent="0" marL="0">
              <a:buNone/>
            </a:pPr>
            <a:r>
              <a:rPr lang="en-US" sz="1150" b="1" dirty="0">
                <a:solidFill>
                  <a:srgbClr val="1B3B6F"/>
                </a:solidFill>
                <a:latin typeface="Calibri" pitchFamily="34" charset="0"/>
                <a:cs typeface="Amiri" pitchFamily="2" charset="-78"/>
              </a:rPr>
              <a:t> …) and a purpose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وَأَوَّلُ شَيْءٍ أَفْعَلُهُ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أَرْجِعُ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get home?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تَرْجِعُ إِلَى البَيْتِ؟</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أَسْتَرِيحُ لِمُدَّةِ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 you rest?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مِنَ الوَقْتِ تَسْتَرِيحُ؟</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أُسَاعِدُهَا / أُسَاعِدُهُ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أُسَاعِدُ أُمِّي / أَبِي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help your family?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تُسَاعِدُ أُسْرَتَكَ؟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حَتَّى لَا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أُحَضِّرُ … لِكَيْ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to get ready for tomorrow?</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لِكَيْ تَسْتَعِدَّ لِلْغَدِ؟</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بَعْدَ 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إِلَى الفِرَاشِ فِي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go to bed?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تَذْهَبُ إِلَى الفِرَاشِ؟</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arranging an evening study session</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جَلْسَةُ 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أَوَّلًا أَرْجِعُ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do first.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أَنْتَ حُرٌّ بَعْدَ المَدْرَسَةِ؟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فِي … لِمُدَّةِ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a time + duration.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نَبْدَأُ المُرَاجَعَةَ؟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 with your family.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لَا نَبْدَأُ فِي الرَّابِعَةِ؟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نُرَاجِعُ أَوَّلًا؟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a classmate on a call.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One minute: my afternoon and evening</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بَعْدَ الظُّهْرِ وَالمَسَاءُ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your afternoon and evening in THREE phases (after school · early evening · bedtime) for one minute, with times, durations and purposes.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actions per phase with times.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لِمُدَّةِ</a:t>
            </a:r>
            <a:pPr algn="l" indent="0" marL="0">
              <a:buNone/>
            </a:pPr>
            <a:r>
              <a:rPr lang="en-US" sz="1150" dirty="0">
                <a:solidFill>
                  <a:srgbClr val="1F2A37"/>
                </a:solidFill>
                <a:latin typeface="Calibri" pitchFamily="34" charset="0"/>
                <a:cs typeface="Amiri" pitchFamily="2" charset="-78"/>
              </a:rPr>
              <a:t> … twice and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 once.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object suffixes (</a:t>
            </a:r>
            <a:pPr algn="l" indent="0" marL="0">
              <a:buNone/>
            </a:pPr>
            <a:r>
              <a:rPr lang="ar-SA" altLang="en-US" sz="1500" dirty="0">
                <a:solidFill>
                  <a:srgbClr val="1F2A37"/>
                </a:solidFill>
                <a:latin typeface="Amiri" pitchFamily="2" charset="-78"/>
                <a:ea typeface="Amiri" pitchFamily="2" charset="-78"/>
                <a:cs typeface="Amiri" pitchFamily="2" charset="-78"/>
              </a:rPr>
              <a:t>أُسَاعِدُهَا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أُرَتِّبُهَا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حَتَّى لَا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revise for an hour to prepare for the exam.</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لِمُدَّةِ سَاعَةٍ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لِمُدَّةُ سَاعَةٌ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أَسْتَعِدَّ لِلِامْتِحَانِ.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أَسْتَعِدُّ لِلِامْتِحَانِ.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tidy my room and clean it every evening.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أُرَتِّبُ غُرْفَتِي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أُرَتِّبُ غُرْفَتُكَ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وَأُنَظِّفُهَا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وَأُنَظِّفُهُ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prepare my bag so that I don’t forget anything.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 حَقِيبَتِي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 حَقِيبَتِيَ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حَتَّى لَا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حَتَّى لَمْ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أَنْسَى شَيْئًا.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أَنْسَى شَيْءٌ.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revise for an hour to prepare for the exam.</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لِمُدَّةِ</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أَسْتَعِدَّ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أُرَاجِعُ لِمُدَّةِ سَاعَةٍ لِكَيْ أَسْتَعِدَّ لِلِامْتِحَانِ.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tidy my room and clean it every evening.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غُرْفَةٌ</a:t>
            </a:r>
            <a:pPr algn="l" indent="0" marL="0">
              <a:buNone/>
            </a:pPr>
            <a:r>
              <a:rPr lang="en-US" sz="1050" i="1" dirty="0">
                <a:solidFill>
                  <a:srgbClr val="5A6472"/>
                </a:solidFill>
                <a:latin typeface="Calibri" pitchFamily="34" charset="0"/>
                <a:cs typeface="Amiri" pitchFamily="2" charset="-78"/>
              </a:rPr>
              <a:t> (f.) → object pronoun -hā: </a:t>
            </a:r>
            <a:pPr algn="l" indent="0" marL="0">
              <a:buNone/>
            </a:pPr>
            <a:r>
              <a:rPr lang="ar-SA" altLang="en-US" sz="1350" dirty="0">
                <a:solidFill>
                  <a:srgbClr val="5A6472"/>
                </a:solidFill>
                <a:latin typeface="Amiri" pitchFamily="2" charset="-78"/>
                <a:ea typeface="Amiri" pitchFamily="2" charset="-78"/>
                <a:cs typeface="Amiri" pitchFamily="2" charset="-78"/>
              </a:rPr>
              <a:t>أُنَظِّفُهَا</a:t>
            </a:r>
            <a:pPr algn="l" indent="0" marL="0">
              <a:buNone/>
            </a:pPr>
            <a:r>
              <a:rPr lang="en-US" sz="1050" i="1" dirty="0">
                <a:solidFill>
                  <a:srgbClr val="5A6472"/>
                </a:solidFill>
                <a:latin typeface="Calibri" pitchFamily="34" charset="0"/>
                <a:cs typeface="Amiri" pitchFamily="2" charset="-78"/>
              </a:rPr>
              <a:t>; every evening = </a:t>
            </a:r>
            <a:pPr algn="l" indent="0" marL="0">
              <a:buNone/>
            </a:pPr>
            <a:r>
              <a:rPr lang="ar-SA" altLang="en-US" sz="1350" dirty="0">
                <a:solidFill>
                  <a:srgbClr val="5A6472"/>
                </a:solidFill>
                <a:latin typeface="Amiri" pitchFamily="2" charset="-78"/>
                <a:ea typeface="Amiri" pitchFamily="2" charset="-78"/>
                <a:cs typeface="Amiri" pitchFamily="2" charset="-78"/>
              </a:rPr>
              <a:t>كُلَّ مَسَاءٍ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أُرَتِّبُ غُرْفَتِي وَأُنَظِّفُهَا كُلَّ مَسَاءٍ.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prepare my bag so that I don’t forget anything.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that … not = </a:t>
            </a:r>
            <a:pPr algn="l" indent="0" marL="0">
              <a:buNone/>
            </a:pPr>
            <a:r>
              <a:rPr lang="ar-SA" altLang="en-US" sz="1350" dirty="0">
                <a:solidFill>
                  <a:srgbClr val="5A6472"/>
                </a:solidFill>
                <a:latin typeface="Amiri" pitchFamily="2" charset="-78"/>
                <a:ea typeface="Amiri" pitchFamily="2" charset="-78"/>
                <a:cs typeface="Amiri" pitchFamily="2" charset="-78"/>
              </a:rPr>
              <a:t>حَتَّى لَا</a:t>
            </a:r>
            <a:pPr algn="l" indent="0" marL="0">
              <a:buNone/>
            </a:pPr>
            <a:r>
              <a:rPr lang="en-US" sz="1050" i="1" dirty="0">
                <a:solidFill>
                  <a:srgbClr val="5A6472"/>
                </a:solidFill>
                <a:latin typeface="Calibri" pitchFamily="34" charset="0"/>
                <a:cs typeface="Amiri" pitchFamily="2" charset="-78"/>
              </a:rPr>
              <a:t> + verb; object → </a:t>
            </a:r>
            <a:pPr algn="l" indent="0" marL="0">
              <a:buNone/>
            </a:pPr>
            <a:r>
              <a:rPr lang="ar-SA" altLang="en-US" sz="1350" dirty="0">
                <a:solidFill>
                  <a:srgbClr val="5A6472"/>
                </a:solidFill>
                <a:latin typeface="Amiri" pitchFamily="2" charset="-78"/>
                <a:ea typeface="Amiri" pitchFamily="2" charset="-78"/>
                <a:cs typeface="Amiri" pitchFamily="2" charset="-78"/>
              </a:rPr>
              <a:t>شَيْئًا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أُحَضِّرُ حَقِيبَتِي حَتَّى لَا أَنْسَى شَيْئًا.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أُرَاجِعُ لِكَيْ أَنْجَحُ.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لِكَيْ</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أُسَاعِدُ أُمِّي وَأُسَاعِدُهُ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 which pronoun?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أَسْتَرِيحُ لِمُدَّةُ نِصْفِ سَاعَةٍ.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a:t>
            </a:r>
            <a:pPr algn="l" indent="0" marL="0">
              <a:buNone/>
            </a:pPr>
            <a:r>
              <a:rPr lang="en-US" sz="1300" i="1" dirty="0">
                <a:solidFill>
                  <a:srgbClr val="5A6472"/>
                </a:solidFill>
                <a:latin typeface="Calibri" pitchFamily="34" charset="0"/>
                <a:cs typeface="Amiri" pitchFamily="2" charset="-78"/>
              </a:rPr>
              <a:t>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أُرَاجِعُ لِكَيْ أَنْجَحُ.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أُرَاجِعُ لِكَيْ أَنْجَحَ.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أُسَاعِدُ أُمِّي وَأُسَاعِدُهُ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أُسَاعِدُ أُمِّي، أُسَاعِدُهَا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 -hā.</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أَسْتَرِيحُ لِمُدَّةُ نِصْفِ سَاعَةٍ.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أَسْتَرِيحُ لِمُدَّةِ نِصْفِ سَاعَةٍ.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li- + genitive: </a:t>
            </a:r>
            <a:pPr algn="l" indent="0" marL="0">
              <a:buNone/>
            </a:pPr>
            <a:r>
              <a:rPr lang="ar-SA" altLang="en-US" sz="1500" b="1" dirty="0">
                <a:solidFill>
                  <a:srgbClr val="1B3B6F"/>
                </a:solidFill>
                <a:latin typeface="Amiri" pitchFamily="2" charset="-78"/>
                <a:ea typeface="Amiri" pitchFamily="2" charset="-78"/>
                <a:cs typeface="Amiri" pitchFamily="2" charset="-78"/>
              </a:rPr>
              <a:t>لِمُدَّةِ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أُسَاعِدُ ______ ، أُسَاعِدُهُ / أُسَاعِدُهَا لِكَيْ ______ .</a:t>
            </a:r>
            <a:endParaRPr lang="ar-SA" sz="15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help …; I help him / her so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 ______ حَتَّى لَا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prepare … so that I don’t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أَرْجِعُ إِلَى البَيْتِ فِي ______ ،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home at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دُرُوسِي لِمُدَّةِ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revise for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العَشَاءِ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dinner I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الفِرَاشِ فِي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bed 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أَرْجِعُ · أُغَيِّرُ مَلَابِسِي  ·  وَجْبَةٌ خَفِيفَةٌ  ·  أَسْتَرِيحُ قَلِيلًا  ·  أُرَاجِعُ · أُكْمِلُ وَاجِبِي  ·  أُرَتِّبُ · أُحَضِّرُ  ·  لِمُدَّةِ  ·  لِكَيْ · حَتَّى لَا  ·  أُسَاعِدُهُ · أُسَاعِدُهَا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evening, in three phases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مَسَائِي فِي ثَلَاثِ مَرَاحِلَ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about your afternoon and evening (about 60–80 words) for a wellbeing project. Organise it in three phases. Include: • at least six actions with times • two durations (</a:t>
            </a:r>
            <a:pPr algn="l" indent="0" marL="0">
              <a:buNone/>
            </a:pPr>
            <a:r>
              <a:rPr lang="ar-SA" altLang="en-US" sz="1450" b="1" dirty="0">
                <a:solidFill>
                  <a:srgbClr val="1F2A37"/>
                </a:solidFill>
                <a:latin typeface="Amiri" pitchFamily="2" charset="-78"/>
                <a:ea typeface="Amiri" pitchFamily="2" charset="-78"/>
                <a:cs typeface="Amiri" pitchFamily="2" charset="-78"/>
              </a:rPr>
              <a:t>لِمُدَّةِ</a:t>
            </a:r>
            <a:pPr algn="l" indent="0" marL="0">
              <a:buNone/>
            </a:pPr>
            <a:r>
              <a:rPr lang="en-US" sz="1100" b="1" dirty="0">
                <a:solidFill>
                  <a:srgbClr val="1F2A37"/>
                </a:solidFill>
                <a:latin typeface="Calibri" pitchFamily="34" charset="0"/>
                <a:cs typeface="Amiri" pitchFamily="2" charset="-78"/>
              </a:rPr>
              <a:t> …) • two purposes (</a:t>
            </a:r>
            <a:pPr algn="l" indent="0" marL="0">
              <a:buNone/>
            </a:pPr>
            <a:r>
              <a:rPr lang="ar-SA" altLang="en-US" sz="1450" b="1" dirty="0">
                <a:solidFill>
                  <a:srgbClr val="1F2A37"/>
                </a:solidFill>
                <a:latin typeface="Amiri" pitchFamily="2" charset="-78"/>
                <a:ea typeface="Amiri" pitchFamily="2" charset="-78"/>
                <a:cs typeface="Amiri" pitchFamily="2" charset="-78"/>
              </a:rPr>
              <a:t>لِكَيْ</a:t>
            </a:r>
            <a:pPr algn="l" indent="0" marL="0">
              <a:buNone/>
            </a:pPr>
            <a:r>
              <a:rPr lang="en-US" sz="1100" b="1" dirty="0">
                <a:solidFill>
                  <a:srgbClr val="1F2A37"/>
                </a:solidFill>
                <a:latin typeface="Calibri" pitchFamily="34" charset="0"/>
                <a:cs typeface="Amiri" pitchFamily="2" charset="-78"/>
              </a:rPr>
              <a:t> … · </a:t>
            </a:r>
            <a:pPr algn="l" indent="0" marL="0">
              <a:buNone/>
            </a:pPr>
            <a:r>
              <a:rPr lang="ar-SA" altLang="en-US" sz="1450" b="1" dirty="0">
                <a:solidFill>
                  <a:srgbClr val="1F2A37"/>
                </a:solidFill>
                <a:latin typeface="Amiri" pitchFamily="2" charset="-78"/>
                <a:ea typeface="Amiri" pitchFamily="2" charset="-78"/>
                <a:cs typeface="Amiri" pitchFamily="2" charset="-78"/>
              </a:rPr>
              <a:t>حَتَّى لَا</a:t>
            </a:r>
            <a:pPr algn="l" indent="0" marL="0">
              <a:buNone/>
            </a:pPr>
            <a:r>
              <a:rPr lang="en-US" sz="1100" b="1" dirty="0">
                <a:solidFill>
                  <a:srgbClr val="1F2A37"/>
                </a:solidFill>
                <a:latin typeface="Calibri" pitchFamily="34" charset="0"/>
                <a:cs typeface="Amiri" pitchFamily="2" charset="-78"/>
              </a:rPr>
              <a:t> …) • two object pronouns (</a:t>
            </a:r>
            <a:pPr algn="l" indent="0" marL="0">
              <a:buNone/>
            </a:pPr>
            <a:r>
              <a:rPr lang="ar-SA" altLang="en-US" sz="1450" b="1" dirty="0">
                <a:solidFill>
                  <a:srgbClr val="1F2A37"/>
                </a:solidFill>
                <a:latin typeface="Amiri" pitchFamily="2" charset="-78"/>
                <a:ea typeface="Amiri" pitchFamily="2" charset="-78"/>
                <a:cs typeface="Amiri" pitchFamily="2" charset="-78"/>
              </a:rPr>
              <a:t>أُسَاعِدُهَا</a:t>
            </a:r>
            <a:pPr algn="l" indent="0" marL="0">
              <a:buNone/>
            </a:pPr>
            <a:r>
              <a:rPr lang="en-US" sz="1100" b="1" dirty="0">
                <a:solidFill>
                  <a:srgbClr val="1F2A37"/>
                </a:solidFill>
                <a:latin typeface="Calibri" pitchFamily="34" charset="0"/>
                <a:cs typeface="Amiri" pitchFamily="2" charset="-78"/>
              </a:rPr>
              <a:t> …) • your opinion: is your evening balanced?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 ، ثُمَّ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school …, then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أُرَاجِعُ لِمُدَّةِ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revise for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 · حَتَّى لَا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 · so that … not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مَسَائِي مُتَوَازِنٌ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my evening is balanced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at least six evening actions with times?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لِمُدَّةِ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 -a) and object pronouns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أَرْجِعُ إِلَى البَيْتِ وَأَتَنَاوَلُ وَجْبَةً خَفِيفَةً.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go home and have a snack.</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أَنْتَ حُرٌّ بَعْدَ المَدْرَسَةِ؟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الخَامِسَةِ، لِمُدَّةِ سَاعَةٍ وَنِصْفٍ.</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five, for an hour and a half.</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نَبْدَأُ المُرَاجَعَةَ؟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لِأَنَّنِي أُسَاعِدُ أُمِّي فِي الرَّابِعَةِ، فَهِيَ تَحْتَاجُنِي لِكَيْ أَعْتَنِيَ بِأَخِي.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 help my mum at four — she needs me to look after my brother.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لَا نَبْدَأُ فِي الرَّابِعَةِ؟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نُرَاجِعُ العُلُومَ أَوَّلًا، لِأَنَّ الامْتِحَانَ يَوْمَ الإِثْنَيْنِ، ثُمَّ العَرَبِيَّةَ.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revise science first, because the test is on Monday, then Arabic.</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نُرَاجِعُ أَوَّلًا؟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أَرْجِعُ إِلَى البَيْتِ فِي الثَّالِثَةِ وَالنِّصْفِ، وَأُغَيِّرُ مَلَابِسِي، ثُمَّ أَسْتَرِيحُ لِمُدَّةِ نِصْفِ سَاعَةٍ. فِي المَسَاءِ أُرَاجِعُ دُرُوسِي لِمُدَّةِ سَاعَةٍ لِكَيْ أَسْتَعِدَّ لِلِامْتِحَانَاتِ. بَعْدَ ذٰلِكَ أُسَاعِدُ أُخْتِي الصَّغِيرَةَ فِي وَاجِبِهَا؛ أُسَاعِدُهَا لِأَنَّ الرِّيَاضِيَّاتِ صَعْبَةٌ عَلَيْهَا. بَعْدَ العَشَاءِ أُرَتِّبُ غُرْفَتِي وَأُحَضِّرُ حَقِيبَتِي حَتَّى لَا أَنْسَى شَيْئًا. أَذْهَبُ إِلَى الفِرَاشِ فِي العَاشِرَةِ. فِي رَأْيِي مَسَائِي مُتَوَازِنٌ، لٰكِنَّهُ مُزْدَحِمٌ قَلِيلًا.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get home at half past three, change my clothes, then rest for half an hour. In the evening I revise for an hour to prepare for the exams. After that I help my little sister with her homework — I help her because maths is hard for her. After dinner I tidy my room and prepare my bag so that I don’t forget anything. I go to bed at ten. In my opinion my evening is balanced, but a bit busy.”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لِمُدَّةِ نِصْفِ سَاعَةٍ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أَسْتَعِدَّ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أُسَاعِدُهَا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حَتَّى لَا أَنْسَى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D1-L06 · He and She — Describing Someone Else’s Routine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هُوَ وَهِيَ — وَصْفُ رُوتِينِ شَخْصٍ آخَرَ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D1-L05 · Practice Room — After School and Evening Routine</dc:title>
  <dc:subject>PptxGenJS Presentation</dc:subject>
  <dc:creator>Al Madina Online School · Arabic Department</dc:creator>
  <cp:lastModifiedBy>Al Madina Online School · Arabic Department</cp:lastModifiedBy>
  <cp:revision>1</cp:revision>
  <dcterms:created xsi:type="dcterms:W3CDTF">2026-10-25T18:12:24Z</dcterms:created>
  <dcterms:modified xsi:type="dcterms:W3CDTF">2026-10-25T18:12:24Z</dcterms:modified>
</cp:coreProperties>
</file>