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D1-L04 (Before and After — Sequencing My Day) — new practice tasks built on the lesson’s own word bank and grammar (qabla / baʿda + noun (genitive: qabla al-madrasati); qabla an / baʿda an + verb ending in -a (baʿda an ataghadda); ʿindamā · ḥīna · bi-mujarradi an · fawra an + verb).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D1-L04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the visitor is a girl: تَتَّصِلِي. Contrast qabla + noun (genitive) with qabla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Before and After — Sequencing My Day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قَبْلَ وَبَعْدَ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sequencing their day: say the sequencing words, act a short dialogue, answer “before / after” cards, do a role-play card on an exchange-visit schedule, give a one-minute sequenced talk, then build, fix and write a detailed account of a school day.</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D1-L04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Sequencing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 verb</a:t>
            </a:r>
            <a:endParaRPr lang="en-US" sz="1350" dirty="0"/>
          </a:p>
          <a:p>
            <a:pPr indent="0" marL="0">
              <a:buNone/>
            </a:pPr>
            <a:r>
              <a:rPr lang="en-US" sz="1100" i="1" dirty="0">
                <a:solidFill>
                  <a:srgbClr val="5A6472"/>
                </a:solidFill>
                <a:latin typeface="Calibri" pitchFamily="34" charset="0"/>
                <a:cs typeface="Amiri" pitchFamily="2" charset="-78"/>
              </a:rPr>
              <a:t>qab-la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 verb</a:t>
            </a:r>
            <a:endParaRPr lang="en-US" sz="1350" dirty="0"/>
          </a:p>
          <a:p>
            <a:pPr indent="0" marL="0">
              <a:buNone/>
            </a:pPr>
            <a:r>
              <a:rPr lang="en-US" sz="1100" i="1" dirty="0">
                <a:solidFill>
                  <a:srgbClr val="5A6472"/>
                </a:solidFill>
                <a:latin typeface="Calibri" pitchFamily="34" charset="0"/>
                <a:cs typeface="Amiri" pitchFamily="2" charset="-78"/>
              </a:rPr>
              <a:t>baʿ-da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ʿin-da-mā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5" name="Shape 5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دُرُوسِي</a:t>
            </a:r>
            <a:endParaRPr lang="ar-SA" sz="3000" dirty="0"/>
          </a:p>
        </p:txBody>
      </p:sp>
      <p:sp>
        <p:nvSpPr>
          <p:cNvPr id="58" name="Text 5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my lessons</a:t>
            </a:r>
            <a:endParaRPr lang="en-US" sz="1350" dirty="0"/>
          </a:p>
          <a:p>
            <a:pPr indent="0" marL="0">
              <a:buNone/>
            </a:pPr>
            <a:r>
              <a:rPr lang="en-US" sz="1100" i="1" dirty="0">
                <a:solidFill>
                  <a:srgbClr val="5A6472"/>
                </a:solidFill>
                <a:latin typeface="Calibri" pitchFamily="34" charset="0"/>
                <a:cs typeface="Amiri" pitchFamily="2" charset="-78"/>
              </a:rPr>
              <a:t>u-rā-ji-ʿu du-rū-sī</a:t>
            </a:r>
            <a:endParaRPr lang="en-US" sz="1350" dirty="0"/>
          </a:p>
        </p:txBody>
      </p:sp>
      <p:sp>
        <p:nvSpPr>
          <p:cNvPr id="59" name="Shape 56"/>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1" name="Text 58"/>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يُرَاجِعُ</a:t>
            </a:r>
            <a:endParaRPr lang="ar-SA" sz="1500" dirty="0"/>
          </a:p>
        </p:txBody>
      </p:sp>
      <p:sp>
        <p:nvSpPr>
          <p:cNvPr id="62" name="Shape 59"/>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4" name="Text 61"/>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تُرَاجِعُ</a:t>
            </a:r>
            <a:endParaRPr lang="ar-SA" sz="1500" dirty="0"/>
          </a:p>
        </p:txBody>
      </p:sp>
      <p:sp>
        <p:nvSpPr>
          <p:cNvPr id="65" name="Shape 62"/>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67" name="Text 64"/>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أُرَاجِعَ</a:t>
            </a:r>
            <a:endParaRPr lang="ar-SA"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Evening actions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يُكْمِلُ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تُكْمِلُ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أُكْمِلَ</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أُسْرَتِي</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my family</a:t>
            </a:r>
            <a:endParaRPr lang="en-US" sz="1350" dirty="0"/>
          </a:p>
          <a:p>
            <a:pPr indent="0" marL="0">
              <a:buNone/>
            </a:pPr>
            <a:r>
              <a:rPr lang="en-US" sz="1100" i="1" dirty="0">
                <a:solidFill>
                  <a:srgbClr val="5A6472"/>
                </a:solidFill>
                <a:latin typeface="Calibri" pitchFamily="34" charset="0"/>
                <a:cs typeface="Amiri" pitchFamily="2" charset="-78"/>
              </a:rPr>
              <a:t>u-sā-ʿi-du us-ra-tī</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a:t>
            </a:r>
            <a:endParaRPr lang="en-US" sz="1350" dirty="0"/>
          </a:p>
          <a:p>
            <a:pPr indent="0" marL="0">
              <a:buNone/>
            </a:pPr>
            <a:r>
              <a:rPr lang="en-US" sz="1100" i="1" dirty="0">
                <a:solidFill>
                  <a:srgbClr val="5A6472"/>
                </a:solidFill>
                <a:latin typeface="Calibri" pitchFamily="34" charset="0"/>
                <a:cs typeface="Amiri" pitchFamily="2" charset="-78"/>
              </a:rPr>
              <a:t>as-ta-rī-ḥu</a:t>
            </a:r>
            <a:endParaRPr lang="en-US" sz="1350" dirty="0"/>
          </a:p>
        </p:txBody>
      </p:sp>
      <p:sp>
        <p:nvSpPr>
          <p:cNvPr id="49" name="Shape 46"/>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1" name="Text 48"/>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يَسْتَرِيحُ</a:t>
            </a:r>
            <a:endParaRPr lang="ar-SA" sz="1500" dirty="0"/>
          </a:p>
        </p:txBody>
      </p:sp>
      <p:sp>
        <p:nvSpPr>
          <p:cNvPr id="52" name="Shape 49"/>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تَسْتَرِيحُ</a:t>
            </a:r>
            <a:endParaRPr lang="ar-SA" sz="1500" dirty="0"/>
          </a:p>
        </p:txBody>
      </p:sp>
      <p:sp>
        <p:nvSpPr>
          <p:cNvPr id="55" name="Shape 52"/>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57" name="Text 54"/>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أَسْتَرِيحَ</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Text 5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حِينَ</a:t>
            </a:r>
            <a:endParaRPr lang="ar-SA" sz="3000" dirty="0"/>
          </a:p>
        </p:txBody>
      </p:sp>
      <p:sp>
        <p:nvSpPr>
          <p:cNvPr id="62" name="Text 5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 / while</a:t>
            </a:r>
            <a:endParaRPr lang="en-US" sz="1350" dirty="0"/>
          </a:p>
          <a:p>
            <a:pPr indent="0" marL="0">
              <a:buNone/>
            </a:pPr>
            <a:r>
              <a:rPr lang="en-US" sz="1100" i="1" dirty="0">
                <a:solidFill>
                  <a:srgbClr val="5A6472"/>
                </a:solidFill>
                <a:latin typeface="Calibri" pitchFamily="34" charset="0"/>
                <a:cs typeface="Amiri" pitchFamily="2" charset="-78"/>
              </a:rPr>
              <a:t>ḥī-na</a:t>
            </a:r>
            <a:endParaRPr lang="en-US"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بِمُجَرَّدِ أَنْ</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soon as</a:t>
            </a:r>
            <a:endParaRPr lang="en-US" sz="1350" dirty="0"/>
          </a:p>
          <a:p>
            <a:pPr indent="0" marL="0">
              <a:buNone/>
            </a:pPr>
            <a:r>
              <a:rPr lang="en-US" sz="1100" i="1" dirty="0">
                <a:solidFill>
                  <a:srgbClr val="5A6472"/>
                </a:solidFill>
                <a:latin typeface="Calibri" pitchFamily="34" charset="0"/>
                <a:cs typeface="Amiri" pitchFamily="2" charset="-78"/>
              </a:rPr>
              <a:t>bi-mu-jar-ra-di an</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فَوْرَ أَنْ</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immediately after</a:t>
            </a:r>
            <a:endParaRPr lang="en-US" sz="1350" dirty="0"/>
          </a:p>
          <a:p>
            <a:pPr indent="0" marL="0">
              <a:buNone/>
            </a:pPr>
            <a:r>
              <a:rPr lang="en-US" sz="1100" i="1" dirty="0">
                <a:solidFill>
                  <a:srgbClr val="5A6472"/>
                </a:solidFill>
                <a:latin typeface="Calibri" pitchFamily="34" charset="0"/>
                <a:cs typeface="Amiri" pitchFamily="2" charset="-78"/>
              </a:rPr>
              <a:t>faw-ra an</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do after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تَفْعَلُ بَعْدَ المَدْرَسَةِ؟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school?</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تَفْعَلُ بَعْدَ المَدْرَسَةِ؟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I get home, I rest for half an hour.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بَعْدَ أَنْ أَرْجِعَ إِلَى البَيْتِ، أَسْتَرِيحُ نِصْفَ سَاعَةٍ.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do you finish your homework?</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وَمَتَى تُكْمِلُ وَاجِبَكَ؟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dinner. I don’t watch TV before I finish my homework.</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قَبْلَ العَشَاءِ. لَا أُشَاهِدُ التِّلْفَازَ قَبْلَ أَنْ أُكْمِلَ وَاجِبِي.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you finish?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وَعِنْدَمَا تَنْتَهِي؟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soon as I finish, I help my family in the kitchen.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بِمُجَرَّدِ أَنْ أَنْتَهِيَ، أُسَاعِدُ أُسْرَتِي فِي المَطْبَخِ.</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afternoon — every answer must use </a:t>
            </a:r>
            <a:pPr algn="l" indent="0" marL="0">
              <a:buNone/>
            </a:pPr>
            <a:r>
              <a:rPr lang="ar-SA" altLang="en-US" sz="1500" b="1" dirty="0">
                <a:solidFill>
                  <a:srgbClr val="1B3B6F"/>
                </a:solidFill>
                <a:latin typeface="Amiri" pitchFamily="2" charset="-78"/>
                <a:ea typeface="Amiri" pitchFamily="2" charset="-78"/>
                <a:cs typeface="Amiri" pitchFamily="2" charset="-78"/>
              </a:rPr>
              <a:t>قَبْلَ / بَعْدَ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وَقَبْلَ أَنْ أَخْرُجَ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قَبْلَ المَدْرَسَةِ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before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قَبْلَ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أَنْ أَتَغَدَّى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you have lunch?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أَنْ تَتَغَدَّى؟</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أُرَاجِعُ … قَبْلَ / بَعْدَ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revise?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تُرَاجِعُ دُرُوسَكَ؟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بِمُجَرَّدِ 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عِنْدَمَا أَرْجِعُ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you get home?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عِنْدَمَا تَرْجِعُ إِلَى البَيْتِ؟</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النِّهَايَةِ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قَبْلَ أَنْ أَنَامَ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before you sleep?</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قَبْلَ أَنْ تَنَامَ؟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the schedule for an exchange student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جَدْوَلُ الطَّالِبِ الزَّائِرِ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قَبْلَ ← قَبْلَ المَدْرَسَةِ نَتَنَاوَلُ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 school.</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نَفْعَلُ قَبْلَ المَدْرَسَةِ؟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 بَعْدَ الحِصَّةِ الأُولَى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 noun.</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وَبَعْدَ الحِصَّةِ الأُولَى؟</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 verb.</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وَبَعْدَ أَنْ نَرْجِعَ إِلَى البَيْتِ؟</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يُمْكِنُ أَنْ أَتَّصِلَ بِعَائِلَتِي؟ مَتَى؟</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host student · Leader = the visiting student from Egypt.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day in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يَوْمِي بِالتَّرْتِيبِ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Narrate your day for one minute using </a:t>
            </a:r>
            <a:pPr algn="l" indent="0" marL="0">
              <a:buNone/>
            </a:pPr>
            <a:r>
              <a:rPr lang="ar-SA" altLang="en-US" sz="1750" dirty="0">
                <a:solidFill>
                  <a:srgbClr val="1F2A37"/>
                </a:solidFill>
                <a:latin typeface="Amiri" pitchFamily="2" charset="-78"/>
                <a:ea typeface="Amiri" pitchFamily="2" charset="-78"/>
                <a:cs typeface="Amiri" pitchFamily="2" charset="-78"/>
              </a:rPr>
              <a:t>قَبْلَ / بَعْدَ</a:t>
            </a:r>
            <a:pPr algn="l" indent="0" marL="0">
              <a:buNone/>
            </a:pPr>
            <a:r>
              <a:rPr lang="en-US" sz="1350" dirty="0">
                <a:solidFill>
                  <a:srgbClr val="1F2A37"/>
                </a:solidFill>
                <a:latin typeface="Calibri" pitchFamily="34" charset="0"/>
                <a:cs typeface="Amiri" pitchFamily="2" charset="-78"/>
              </a:rPr>
              <a:t> at least FOUR times — twice with a noun and twice with a verb.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قَبْلَ / بَعْدَ</a:t>
            </a:r>
            <a:pPr algn="l" indent="0" marL="0">
              <a:buNone/>
            </a:pPr>
            <a:r>
              <a:rPr lang="en-US" sz="1150" dirty="0">
                <a:solidFill>
                  <a:srgbClr val="1F2A37"/>
                </a:solidFill>
                <a:latin typeface="Calibri" pitchFamily="34" charset="0"/>
                <a:cs typeface="Amiri" pitchFamily="2" charset="-78"/>
              </a:rPr>
              <a:t> + noun (twice) + </a:t>
            </a:r>
            <a:pPr algn="l" indent="0" marL="0">
              <a:buNone/>
            </a:pPr>
            <a:r>
              <a:rPr lang="ar-SA" altLang="en-US" sz="1500" dirty="0">
                <a:solidFill>
                  <a:srgbClr val="1F2A37"/>
                </a:solidFill>
                <a:latin typeface="Amiri" pitchFamily="2" charset="-78"/>
                <a:ea typeface="Amiri" pitchFamily="2" charset="-78"/>
                <a:cs typeface="Amiri" pitchFamily="2" charset="-78"/>
              </a:rPr>
              <a:t>ثُمَّ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قَبْلَ أَنْ / بَعْدَ أَنْ</a:t>
            </a:r>
            <a:pPr algn="l" indent="0" marL="0">
              <a:buNone/>
            </a:pPr>
            <a:r>
              <a:rPr lang="en-US" sz="1150" dirty="0">
                <a:solidFill>
                  <a:srgbClr val="1F2A37"/>
                </a:solidFill>
                <a:latin typeface="Calibri" pitchFamily="34" charset="0"/>
                <a:cs typeface="Amiri" pitchFamily="2" charset="-78"/>
              </a:rPr>
              <a:t> + verb in -a (twice).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عِنْدَمَا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بِمُجَرَّدِ أَنْ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فَوْرَ أَنْ</a:t>
            </a:r>
            <a:pPr algn="l" indent="0" marL="0">
              <a:buNone/>
            </a:pPr>
            <a:r>
              <a:rPr lang="en-US" sz="1150" dirty="0">
                <a:solidFill>
                  <a:srgbClr val="1F2A37"/>
                </a:solidFill>
                <a:latin typeface="Calibri" pitchFamily="34" charset="0"/>
                <a:cs typeface="Amiri" pitchFamily="2" charset="-78"/>
              </a:rPr>
              <a:t> and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revise before dinner.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العَشَاءِ.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العَشَاءُ.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After I finish my homework, I rest.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أُكْمِلَ وَاجِبِي،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أُكْمِلُ وَاجِبِي،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أَسْتَرِيحُ.</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أَسْتَرِيحَ.</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soon as I wake up, I pray.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بِمُجَرَّدِ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بِمُجَرَّدِ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أَسْتَيْقِظَ،</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أَسْتَيْقِظُ،</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أُصَلِّي.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أُصَلِّيَ.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revise before dinner.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قَبْلَ</a:t>
            </a:r>
            <a:pPr algn="l" indent="0" marL="0">
              <a:buNone/>
            </a:pPr>
            <a:r>
              <a:rPr lang="en-US" sz="1050" i="1" dirty="0">
                <a:solidFill>
                  <a:srgbClr val="5A6472"/>
                </a:solidFill>
                <a:latin typeface="Calibri" pitchFamily="34" charset="0"/>
                <a:cs typeface="Amiri" pitchFamily="2" charset="-78"/>
              </a:rPr>
              <a:t> + noun → genitive: </a:t>
            </a:r>
            <a:pPr algn="l" indent="0" marL="0">
              <a:buNone/>
            </a:pPr>
            <a:r>
              <a:rPr lang="ar-SA" altLang="en-US" sz="1350" dirty="0">
                <a:solidFill>
                  <a:srgbClr val="5A6472"/>
                </a:solidFill>
                <a:latin typeface="Amiri" pitchFamily="2" charset="-78"/>
                <a:ea typeface="Amiri" pitchFamily="2" charset="-78"/>
                <a:cs typeface="Amiri" pitchFamily="2" charset="-78"/>
              </a:rPr>
              <a:t>العَشَاءِ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أُرَاجِعُ دُرُوسِي قَبْلَ العَشَاءِ.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After I finish my homework, I rest.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بَعْدَ أَنْ</a:t>
            </a:r>
            <a:pPr algn="l" indent="0" marL="0">
              <a:buNone/>
            </a:pPr>
            <a:r>
              <a:rPr lang="en-US" sz="1050" i="1" dirty="0">
                <a:solidFill>
                  <a:srgbClr val="5A6472"/>
                </a:solidFill>
                <a:latin typeface="Calibri" pitchFamily="34" charset="0"/>
                <a:cs typeface="Amiri" pitchFamily="2" charset="-78"/>
              </a:rPr>
              <a:t> + verb ending in -a (</a:t>
            </a:r>
            <a:pPr algn="l" indent="0" marL="0">
              <a:buNone/>
            </a:pPr>
            <a:r>
              <a:rPr lang="ar-SA" altLang="en-US" sz="1350" dirty="0">
                <a:solidFill>
                  <a:srgbClr val="5A6472"/>
                </a:solidFill>
                <a:latin typeface="Amiri" pitchFamily="2" charset="-78"/>
                <a:ea typeface="Amiri" pitchFamily="2" charset="-78"/>
                <a:cs typeface="Amiri" pitchFamily="2" charset="-78"/>
              </a:rPr>
              <a:t>أُكْمِلَ</a:t>
            </a:r>
            <a:pPr algn="l" indent="0" marL="0">
              <a:buNone/>
            </a:pPr>
            <a:r>
              <a:rPr lang="en-US" sz="1050" i="1" dirty="0">
                <a:solidFill>
                  <a:srgbClr val="5A6472"/>
                </a:solidFill>
                <a:latin typeface="Calibri" pitchFamily="34" charset="0"/>
                <a:cs typeface="Amiri" pitchFamily="2" charset="-78"/>
              </a:rPr>
              <a:t>); the main verb stays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بَعْدَ أَنْ أُكْمِلَ وَاجِبِي، أَسْتَرِيحُ.</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soon as I wake up, I pray.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بِمُجَرَّدِ أَنْ</a:t>
            </a:r>
            <a:pPr algn="l" indent="0" marL="0">
              <a:buNone/>
            </a:pPr>
            <a:r>
              <a:rPr lang="en-US" sz="1050" i="1" dirty="0">
                <a:solidFill>
                  <a:srgbClr val="5A6472"/>
                </a:solidFill>
                <a:latin typeface="Calibri" pitchFamily="34" charset="0"/>
                <a:cs typeface="Amiri" pitchFamily="2" charset="-78"/>
              </a:rPr>
              <a:t> + verb in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بِمُجَرَّدِ أَنْ أَسْتَيْقِظَ، أُصَلِّي.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قَبْلَ أَنْ أَنَامُ أَقْرَأُ.</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بَعْدَ أَنْ المَدْرَسَةِ أَلْعَبُ.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Noun or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قَبْلَ الفُطُورُ أَغْتَسِلُ.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قَبْلَ</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قَبْلَ أَنْ أَنَامُ أَقْرَأُ.</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قَبْلَ أَنْ أَنَامَ أَقْرَأُ.</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 </a:t>
            </a:r>
            <a:pPr algn="l" indent="0" marL="0">
              <a:buNone/>
            </a:pPr>
            <a:r>
              <a:rPr lang="ar-SA" altLang="en-US" sz="1500" b="1" dirty="0">
                <a:solidFill>
                  <a:srgbClr val="1B3B6F"/>
                </a:solidFill>
                <a:latin typeface="Amiri" pitchFamily="2" charset="-78"/>
                <a:ea typeface="Amiri" pitchFamily="2" charset="-78"/>
                <a:cs typeface="Amiri" pitchFamily="2" charset="-78"/>
              </a:rPr>
              <a:t>أَنَامَ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بَعْدَ أَنْ المَدْرَسَةِ أَلْعَبُ.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بَعْدَ المَدْرَسَةِ أَلْعَبُ.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 noun: </a:t>
            </a:r>
            <a:pPr algn="l" indent="0" marL="0">
              <a:buNone/>
            </a:pPr>
            <a:r>
              <a:rPr lang="ar-SA" altLang="en-US" sz="1500" b="1" dirty="0">
                <a:solidFill>
                  <a:srgbClr val="1B3B6F"/>
                </a:solidFill>
                <a:latin typeface="Amiri" pitchFamily="2" charset="-78"/>
                <a:ea typeface="Amiri" pitchFamily="2" charset="-78"/>
                <a:cs typeface="Amiri" pitchFamily="2" charset="-78"/>
              </a:rPr>
              <a:t>بَعْدَ</a:t>
            </a:r>
            <a:pPr algn="l" indent="0" marL="0">
              <a:buNone/>
            </a:pPr>
            <a:r>
              <a:rPr lang="en-US" sz="1150" b="1" dirty="0">
                <a:solidFill>
                  <a:srgbClr val="1B3B6F"/>
                </a:solidFill>
                <a:latin typeface="Calibri" pitchFamily="34" charset="0"/>
                <a:cs typeface="Amiri" pitchFamily="2" charset="-78"/>
              </a:rPr>
              <a:t> (no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قَبْلَ الفُطُورُ أَغْتَسِلُ.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قَبْلَ الفُطُورِ أَغْتَسِلُ.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قَبْلَ</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______ ،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 I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بِمُجَرَّدِ أَنْ ______ ،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soon as …, I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المَدْرَسَةِ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school I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الحِصَّةِ الثَّالِثَةِ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the third lesson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أَرْجِعَ إِلَى البَيْتِ،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I get home, I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أَنَامَ،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I sleep, I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المَدْرَسَةِ · بَعْدَ الغَدَاءِ  ·  قَبْلَ أَنْ أَنَامَ · بَعْدَ أَنْ أَرْجِعَ  ·  عِنْدَمَا · حِينَ  ·  بِمُجَرَّدِ أَنْ  ·  أُرَاجِعُ دُرُوسِي  ·  أُكْمِلُ وَاجِبِي  ·  أُسَاعِدُ أُسْرَتِي  ·  فِي النِّهَايَةِ</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school day, in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مَدْرَسِيٌّ بِالتَّرْتِيبِ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detailed account (about 60–80 words) of yesterday or a typical school day for a class blog. Include: • at least two </a:t>
            </a:r>
            <a:pPr algn="l" indent="0" marL="0">
              <a:buNone/>
            </a:pPr>
            <a:r>
              <a:rPr lang="ar-SA" altLang="en-US" sz="1750" b="1" dirty="0">
                <a:solidFill>
                  <a:srgbClr val="1F2A37"/>
                </a:solidFill>
                <a:latin typeface="Amiri" pitchFamily="2" charset="-78"/>
                <a:ea typeface="Amiri" pitchFamily="2" charset="-78"/>
                <a:cs typeface="Amiri" pitchFamily="2" charset="-78"/>
              </a:rPr>
              <a:t>قَبْلَ / بَعْدَ</a:t>
            </a:r>
            <a:pPr algn="l" indent="0" marL="0">
              <a:buNone/>
            </a:pPr>
            <a:r>
              <a:rPr lang="en-US" sz="1350" b="1" dirty="0">
                <a:solidFill>
                  <a:srgbClr val="1F2A37"/>
                </a:solidFill>
                <a:latin typeface="Calibri" pitchFamily="34" charset="0"/>
                <a:cs typeface="Amiri" pitchFamily="2" charset="-78"/>
              </a:rPr>
              <a:t> + noun • at least two </a:t>
            </a:r>
            <a:pPr algn="l" indent="0" marL="0">
              <a:buNone/>
            </a:pPr>
            <a:r>
              <a:rPr lang="ar-SA" altLang="en-US" sz="1750" b="1" dirty="0">
                <a:solidFill>
                  <a:srgbClr val="1F2A37"/>
                </a:solidFill>
                <a:latin typeface="Amiri" pitchFamily="2" charset="-78"/>
                <a:ea typeface="Amiri" pitchFamily="2" charset="-78"/>
                <a:cs typeface="Amiri" pitchFamily="2" charset="-78"/>
              </a:rPr>
              <a:t>قَبْلَ أَنْ / بَعْدَ أَنْ</a:t>
            </a:r>
            <a:pPr algn="l" indent="0" marL="0">
              <a:buNone/>
            </a:pPr>
            <a:r>
              <a:rPr lang="en-US" sz="1350" b="1" dirty="0">
                <a:solidFill>
                  <a:srgbClr val="1F2A37"/>
                </a:solidFill>
                <a:latin typeface="Calibri" pitchFamily="34" charset="0"/>
                <a:cs typeface="Amiri" pitchFamily="2" charset="-78"/>
              </a:rPr>
              <a:t> + verb • one </a:t>
            </a:r>
            <a:pPr algn="l" indent="0" marL="0">
              <a:buNone/>
            </a:pPr>
            <a:r>
              <a:rPr lang="ar-SA" altLang="en-US" sz="1750" b="1" dirty="0">
                <a:solidFill>
                  <a:srgbClr val="1F2A37"/>
                </a:solidFill>
                <a:latin typeface="Amiri" pitchFamily="2" charset="-78"/>
                <a:ea typeface="Amiri" pitchFamily="2" charset="-78"/>
                <a:cs typeface="Amiri" pitchFamily="2" charset="-78"/>
              </a:rPr>
              <a:t>عِنْدَمَا</a:t>
            </a:r>
            <a:pPr algn="l" indent="0" marL="0">
              <a:buNone/>
            </a:pPr>
            <a:r>
              <a:rPr lang="en-US" sz="1350" b="1" dirty="0">
                <a:solidFill>
                  <a:srgbClr val="1F2A37"/>
                </a:solidFill>
                <a:latin typeface="Calibri" pitchFamily="34" charset="0"/>
                <a:cs typeface="Amiri" pitchFamily="2" charset="-78"/>
              </a:rPr>
              <a:t> or </a:t>
            </a:r>
            <a:pPr algn="l" indent="0" marL="0">
              <a:buNone/>
            </a:pPr>
            <a:r>
              <a:rPr lang="ar-SA" altLang="en-US" sz="1750" b="1" dirty="0">
                <a:solidFill>
                  <a:srgbClr val="1F2A37"/>
                </a:solidFill>
                <a:latin typeface="Amiri" pitchFamily="2" charset="-78"/>
                <a:ea typeface="Amiri" pitchFamily="2" charset="-78"/>
                <a:cs typeface="Amiri" pitchFamily="2" charset="-78"/>
              </a:rPr>
              <a:t>بِمُجَرَّدِ أَنْ</a:t>
            </a:r>
            <a:pPr algn="l" indent="0" marL="0">
              <a:buNone/>
            </a:pPr>
            <a:r>
              <a:rPr lang="en-US" sz="1350" b="1" dirty="0">
                <a:solidFill>
                  <a:srgbClr val="1F2A37"/>
                </a:solidFill>
                <a:latin typeface="Calibri" pitchFamily="34" charset="0"/>
                <a:cs typeface="Amiri" pitchFamily="2" charset="-78"/>
              </a:rPr>
              <a:t> • times and a reason.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المَدْرَسَةِ … · بَعْدَ الغَدَاءِ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school … · after lunch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أَخْرُجَ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I go out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أَرْجِعَ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I get back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بِمُجَرَّدِ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soon as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قَبْلَ / بَعْدَ</a:t>
            </a:r>
            <a:pPr algn="l" indent="0" marL="0">
              <a:buNone/>
            </a:pPr>
            <a:r>
              <a:rPr lang="en-US" sz="1100" dirty="0">
                <a:solidFill>
                  <a:srgbClr val="5A6472"/>
                </a:solidFill>
                <a:latin typeface="Calibri" pitchFamily="34" charset="0"/>
                <a:cs typeface="Amiri" pitchFamily="2" charset="-78"/>
              </a:rPr>
              <a:t> + noun in the genitive?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قَبْلَ أَنْ / بَعْدَ أَنْ</a:t>
            </a:r>
            <a:pPr algn="l" indent="0" marL="0">
              <a:buNone/>
            </a:pPr>
            <a:r>
              <a:rPr lang="en-US" sz="1100" dirty="0">
                <a:solidFill>
                  <a:srgbClr val="5A6472"/>
                </a:solidFill>
                <a:latin typeface="Calibri" pitchFamily="34" charset="0"/>
                <a:cs typeface="Amiri" pitchFamily="2" charset="-78"/>
              </a:rPr>
              <a:t> + verb ending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المَدْرَسَةِ نَتَنَاوَلُ الإِفْطَارَ مَعَ أُمِّي.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school we have breakfast with my mum.</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نَفْعَلُ قَبْلَ المَدْرَسَةِ؟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الحِصَّةِ الأُولَى عِنْدَنَا اسْتِرَاحَةٌ قَصِيرَةٌ.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the first lesson we have a short break.</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وَبَعْدَ الحِصَّةِ الأُولَى؟</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نَرْجِعَ، نَسْتَرِيحُ قَلِيلًا ثُمَّ نَلْعَبُ فِي الحَدِيقَةِ.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we get back, we rest a little then play in the garden.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وَبَعْدَ أَنْ نَرْجِعَ إِلَى البَيْتِ؟</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طَبْعًا! يُمْكِنُ أَنْ تَتَّصِلَ بِهِمْ قَبْلَ أَنْ نَتَعَشَّى، فِي السَّابِعَةِ.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 course! You can call them before we have dinner, at seven.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يُمْكِنُ أَنْ أَتَّصِلَ بِعَائِلَتِي؟ مَتَى؟</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المَدْرَسَةِ أُصَلِّي الفَجْرَ، وَقَبْلَ أَنْ أَخْرُجَ أَتَنَاوَلُ الإِفْطَارَ مَعَ أَبِي. بَعْدَ الحِصَّةِ الثَّالِثَةِ أَلْعَبُ مَعَ أَصْدِقَائِي فِي المَلْعَبِ. بَعْدَ أَنْ أَرْجِعَ إِلَى البَيْتِ فِي الرَّابِعَةِ، أَسْتَرِيحُ قَلِيلًا، ثُمَّ أُكْمِلُ وَاجِبِي. بِمُجَرَّدِ أَنْ أَنْتَهِيَ، أُسَاعِدُ أُمِّي فِي المَطْبَخِ، لِأَنَّهَا تَعْمَلُ طُولَ اليَوْمِ. وَقَبْلَ أَنْ أَنَامَ، أَقْرَأُ قِصَّةً قَصِيرَةً. فِي النِّهَايَةِ أَنَامُ فِي العَاشِرَةِ، لِأَنَّنِي أَسْتَيْقِظُ مُبَكِّرًا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“Before school I pray Fajr, and before I go out I have breakfast with my dad. After the third lesson I play with my friends in the playground. After I get home at four, I rest a little, then finish my homework. As soon as I finish, I help my mum in the kitchen, because she works all day. And before I sleep, I read a short story. Finally I sleep at ten, because I wake up very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قَبْلَ أَنْ أَخْرُجَ</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الحِصَّةِ الثَّالِثَةِ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أَنْ أَرْجِعَ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بِمُجَرَّدِ أَنْ أَنْتَهِيَ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D1-L05 · After School and Evening Routine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بَعْدَ المَدْرَسَةِ وَرُوتِينُ المَسَاءِ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D1-L04 · Practice Room — Before and After — Sequencing My Day</dc:title>
  <dc:subject>PptxGenJS Presentation</dc:subject>
  <dc:creator>Al Madina Online School · Arabic Department</dc:creator>
  <cp:lastModifiedBy>Al Madina Online School · Arabic Department</cp:lastModifiedBy>
  <cp:revision>1</cp:revision>
  <dcterms:created xsi:type="dcterms:W3CDTF">2026-10-25T18:34:23Z</dcterms:created>
  <dcterms:modified xsi:type="dcterms:W3CDTF">2026-10-25T18:34:23Z</dcterms:modified>
</cp:coreProperties>
</file>