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D1-L03 (How Often? — Frequency Adverbs in My Routine) — new practice tasks built on the lesson’s own word bank and grammar (frequency: dāʾiman · ʿādatan · ghāliban · aḥyānan · nādiran · lā … abadan · kathīran mā; marratan / marratayni / thalātha marrātin fī al-usbūʿi; yawmiyyan · usbūʿiyyan; comparing with baynamā · ammā … fa- · akthara min).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D1-L03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تَنَامِينَ · تَسْتَعْمِلِينَ · سَتُغَيِّرِينَ. Frequency adverbs + ammā … fa- contrast; future with sa- and 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D1-L03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How Often? — Frequency Adverbs in My Routine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كَمْ مَرَّةً؟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with frequency: say the frequency words, act a short dialogue, answer “how often?” cards, do a role-play card for a sleep and screen-time survey, give a one-minute comparison talk, then build, fix and write a comparison of a busy day and a quiet day.</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D1-L03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Days and weeks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أَيَّامُ الأُسْبُوعِ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days of the week</a:t>
            </a:r>
            <a:endParaRPr lang="en-US" sz="1350" dirty="0"/>
          </a:p>
          <a:p>
            <a:pPr indent="0" marL="0">
              <a:buNone/>
            </a:pPr>
            <a:r>
              <a:rPr lang="en-US" sz="1100" i="1" dirty="0">
                <a:solidFill>
                  <a:srgbClr val="5A6472"/>
                </a:solidFill>
                <a:latin typeface="Calibri" pitchFamily="34" charset="0"/>
                <a:cs typeface="Amiri" pitchFamily="2" charset="-78"/>
              </a:rPr>
              <a:t>ay-yā-mu al-us-bū-ʿi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نِهَايَةُ الأُسْبُوعِ</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weekend</a:t>
            </a:r>
            <a:endParaRPr lang="en-US" sz="1350" dirty="0"/>
          </a:p>
          <a:p>
            <a:pPr indent="0" marL="0">
              <a:buNone/>
            </a:pPr>
            <a:r>
              <a:rPr lang="en-US" sz="1100" i="1" dirty="0">
                <a:solidFill>
                  <a:srgbClr val="5A6472"/>
                </a:solidFill>
                <a:latin typeface="Calibri" pitchFamily="34" charset="0"/>
                <a:cs typeface="Amiri" pitchFamily="2" charset="-78"/>
              </a:rPr>
              <a:t>ni-hā-ya-tu al-us-bū-ʿi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 مُزْدَحِمٌ</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busy day</a:t>
            </a:r>
            <a:endParaRPr lang="en-US" sz="1350" dirty="0"/>
          </a:p>
          <a:p>
            <a:pPr indent="0" marL="0">
              <a:buNone/>
            </a:pPr>
            <a:r>
              <a:rPr lang="en-US" sz="1100" i="1" dirty="0">
                <a:solidFill>
                  <a:srgbClr val="5A6472"/>
                </a:solidFill>
                <a:latin typeface="Calibri" pitchFamily="34" charset="0"/>
                <a:cs typeface="Amiri" pitchFamily="2" charset="-78"/>
              </a:rPr>
              <a:t>yaw-mun muz-da-ḥi-mun</a:t>
            </a:r>
            <a:endParaRPr lang="en-US" sz="1350" dirty="0"/>
          </a:p>
        </p:txBody>
      </p:sp>
      <p:sp>
        <p:nvSpPr>
          <p:cNvPr id="38" name="Shape 3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0" name="Text 3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مُزْدَحِمٌ</a:t>
            </a:r>
            <a:endParaRPr lang="ar-SA" sz="1500" dirty="0"/>
          </a:p>
        </p:txBody>
      </p:sp>
      <p:sp>
        <p:nvSpPr>
          <p:cNvPr id="41" name="Shape 3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مُزْدَحِمَةٌ</a:t>
            </a:r>
            <a:endParaRPr lang="ar-SA" sz="1500" dirty="0"/>
          </a:p>
        </p:txBody>
      </p:sp>
      <p:sp>
        <p:nvSpPr>
          <p:cNvPr id="44" name="Shape 4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days</a:t>
            </a:r>
            <a:endParaRPr lang="en-US" sz="700" dirty="0"/>
          </a:p>
        </p:txBody>
      </p:sp>
      <p:sp>
        <p:nvSpPr>
          <p:cNvPr id="46" name="Text 43"/>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أَيَّامٌ مُزْدَحِمَةٌ</a:t>
            </a:r>
            <a:endParaRPr lang="ar-SA"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0" name="Shape 47"/>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2" name="Shape 4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 هَادِئٌ</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quiet day</a:t>
            </a:r>
            <a:endParaRPr lang="en-US" sz="1350" dirty="0"/>
          </a:p>
          <a:p>
            <a:pPr indent="0" marL="0">
              <a:buNone/>
            </a:pPr>
            <a:r>
              <a:rPr lang="en-US" sz="1100" i="1" dirty="0">
                <a:solidFill>
                  <a:srgbClr val="5A6472"/>
                </a:solidFill>
                <a:latin typeface="Calibri" pitchFamily="34" charset="0"/>
                <a:cs typeface="Amiri" pitchFamily="2" charset="-78"/>
              </a:rPr>
              <a:t>yaw-mun hā-di-ʾun</a:t>
            </a:r>
            <a:endParaRPr lang="en-US" sz="1350" dirty="0"/>
          </a:p>
        </p:txBody>
      </p:sp>
      <p:sp>
        <p:nvSpPr>
          <p:cNvPr id="56" name="Shape 5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8" name="Text 5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59" name="Shape 5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62" name="Shape 5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days</a:t>
            </a:r>
            <a:endParaRPr lang="en-US" sz="700" dirty="0"/>
          </a:p>
        </p:txBody>
      </p:sp>
      <p:sp>
        <p:nvSpPr>
          <p:cNvPr id="64" name="Text 61"/>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أَيَّامٌ هَادِئَةٌ</a:t>
            </a:r>
            <a:endParaRPr lang="ar-SA"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 / 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5" name="Shape 7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يَوْمِيًّا</a:t>
            </a:r>
            <a:endParaRPr lang="ar-SA" sz="3000" dirty="0"/>
          </a:p>
        </p:txBody>
      </p:sp>
      <p:sp>
        <p:nvSpPr>
          <p:cNvPr id="78" name="Text 7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daily</a:t>
            </a:r>
            <a:endParaRPr lang="en-US" sz="1350" dirty="0"/>
          </a:p>
          <a:p>
            <a:pPr indent="0" marL="0">
              <a:buNone/>
            </a:pPr>
            <a:r>
              <a:rPr lang="en-US" sz="1100" i="1" dirty="0">
                <a:solidFill>
                  <a:srgbClr val="5A6472"/>
                </a:solidFill>
                <a:latin typeface="Calibri" pitchFamily="34" charset="0"/>
                <a:cs typeface="Amiri" pitchFamily="2" charset="-78"/>
              </a:rPr>
              <a:t>yaw-miy-yan</a:t>
            </a:r>
            <a:endParaRPr lang="en-US" sz="13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often?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أُسْبُوعِيًّا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weekly</a:t>
            </a:r>
            <a:endParaRPr lang="en-US" sz="1350" dirty="0"/>
          </a:p>
          <a:p>
            <a:pPr indent="0" marL="0">
              <a:buNone/>
            </a:pPr>
            <a:r>
              <a:rPr lang="en-US" sz="1100" i="1" dirty="0">
                <a:solidFill>
                  <a:srgbClr val="5A6472"/>
                </a:solidFill>
                <a:latin typeface="Calibri" pitchFamily="34" charset="0"/>
                <a:cs typeface="Amiri" pitchFamily="2" charset="-78"/>
              </a:rPr>
              <a:t>us-bū-ʿiy-yan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 أَبَدًا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never</a:t>
            </a:r>
            <a:endParaRPr lang="en-US" sz="1350" dirty="0"/>
          </a:p>
          <a:p>
            <a:pPr indent="0" marL="0">
              <a:buNone/>
            </a:pPr>
            <a:r>
              <a:rPr lang="en-US" sz="1100" i="1" dirty="0">
                <a:solidFill>
                  <a:srgbClr val="5A6472"/>
                </a:solidFill>
                <a:latin typeface="Calibri" pitchFamily="34" charset="0"/>
                <a:cs typeface="Amiri" pitchFamily="2" charset="-78"/>
              </a:rPr>
              <a:t>lā ... a-ba-dan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كَثِيرًا مَا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often</a:t>
            </a:r>
            <a:endParaRPr lang="en-US" sz="1350" dirty="0"/>
          </a:p>
          <a:p>
            <a:pPr indent="0" marL="0">
              <a:buNone/>
            </a:pPr>
            <a:r>
              <a:rPr lang="en-US" sz="1100" i="1" dirty="0">
                <a:solidFill>
                  <a:srgbClr val="5A6472"/>
                </a:solidFill>
                <a:latin typeface="Calibri" pitchFamily="34" charset="0"/>
                <a:cs typeface="Amiri" pitchFamily="2" charset="-78"/>
              </a:rPr>
              <a:t>ka-thī-ran mā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أَيَّامُ الدِّرَاسَةِ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 days</a:t>
            </a:r>
            <a:endParaRPr lang="en-US" sz="1350" dirty="0"/>
          </a:p>
          <a:p>
            <a:pPr indent="0" marL="0">
              <a:buNone/>
            </a:pPr>
            <a:r>
              <a:rPr lang="en-US" sz="1100" i="1" dirty="0">
                <a:solidFill>
                  <a:srgbClr val="5A6472"/>
                </a:solidFill>
                <a:latin typeface="Calibri" pitchFamily="34" charset="0"/>
                <a:cs typeface="Amiri" pitchFamily="2" charset="-78"/>
              </a:rPr>
              <a:t>ay-yā-mu ad-di-rā-sa-ti</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الجَدْوَلُ الأُسْبُوعِيُّ</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weekly schedule</a:t>
            </a:r>
            <a:endParaRPr lang="en-US" sz="1350" dirty="0"/>
          </a:p>
          <a:p>
            <a:pPr indent="0" marL="0">
              <a:buNone/>
            </a:pPr>
            <a:r>
              <a:rPr lang="en-US" sz="1100" i="1" dirty="0">
                <a:solidFill>
                  <a:srgbClr val="5A6472"/>
                </a:solidFill>
                <a:latin typeface="Calibri" pitchFamily="34" charset="0"/>
                <a:cs typeface="Amiri" pitchFamily="2" charset="-78"/>
              </a:rPr>
              <a:t>al-jad-wa-lu al-us-bū-ʿiy-yu</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9" name="Shape 46"/>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1" name="Text 4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حِصَّةٌ إِضَافِيَّةٌ</a:t>
            </a:r>
            <a:endParaRPr lang="ar-SA" sz="3000" dirty="0"/>
          </a:p>
        </p:txBody>
      </p:sp>
      <p:sp>
        <p:nvSpPr>
          <p:cNvPr id="52" name="Text 4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extra lesson</a:t>
            </a:r>
            <a:endParaRPr lang="en-US" sz="1350" dirty="0"/>
          </a:p>
          <a:p>
            <a:pPr indent="0" marL="0">
              <a:buNone/>
            </a:pPr>
            <a:r>
              <a:rPr lang="en-US" sz="1100" i="1" dirty="0">
                <a:solidFill>
                  <a:srgbClr val="5A6472"/>
                </a:solidFill>
                <a:latin typeface="Calibri" pitchFamily="34" charset="0"/>
                <a:cs typeface="Amiri" pitchFamily="2" charset="-78"/>
              </a:rPr>
              <a:t>ḥiṣ-ṣa-tun i-ḍā-fiy-ya-tun</a:t>
            </a:r>
            <a:endParaRPr lang="en-US" sz="1350" dirty="0"/>
          </a:p>
        </p:txBody>
      </p:sp>
      <p:sp>
        <p:nvSpPr>
          <p:cNvPr id="53" name="Shape 5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5" name="Text 52"/>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حِصَّةٌ</a:t>
            </a:r>
            <a:endParaRPr lang="ar-SA" sz="1500" dirty="0"/>
          </a:p>
        </p:txBody>
      </p:sp>
      <p:sp>
        <p:nvSpPr>
          <p:cNvPr id="56" name="Shape 5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حِصَصٌ</a:t>
            </a:r>
            <a:endParaRPr lang="ar-SA" sz="150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often do you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مَرَّةً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 do you do sport?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مَرَّةً تُمَارِسُ الرِّيَاضَةَ؟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play basketball three times a week, and I walk daily.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أَلْعَبُ كُرَةَ السَّلَّةِ ثَلَاثَ مَرَّاتٍ فِي الأُسْبُوعِ، وَأَمْشِي يَوْمِيًّا.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do you stay up late a lot?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تَسْهَرُ كَثِيرًا؟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Rarely on school days, whereas I often stay up at the weekend.</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نَادِرًا فِي أَيَّامِ الدِّرَاسَةِ، بَيْنَمَا أَسْهَرُ غَالِبًا فِي نِهَايَةِ الأُسْبُوعِ.</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sister?</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وَأُخْتُكَ؟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 for my sister, she never stays up! She sleeps more than me.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أَمَّا أُخْتِي فَلَا تَسْهَرُ أَبَدًا! هِيَ تَنَامُ أَكْثَرَ مِنِّي.</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answer about YOUR habits and compare with someone in your family.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قَبْلَ الامْتِحَانِ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أُرَاجِعُ … ← يَوْمِيًّا / مَرَّتَيْنِ فِي الأُسْبُوعِ</a:t>
            </a:r>
            <a:endParaRPr lang="ar-SA" sz="145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 do you revise?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تُرَاجِعُ دُرُوسَكَ؟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عَادَةً … / لَا … أَبَدًا</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always eat breakfast?</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تَأْكُلُ الإِفْطَارَ دَائِمًا؟</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نَادِرًا مَا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rarely do?</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الَّذِي تَفْعَلُهُ نَادِرًا؟</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يَوْمُ الإِثْنَيْنِ مُزْدَحِمٌ، بَيْنَمَا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Monday with Saturday.</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قَارِنْ يَوْمَ الإِثْنَيْنِ بِيَوْمِ السَّبْتِ.</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أَمَّا أَنَا فَ… ← فَأُفَضِّلُ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أَكْثَرَ مِنْ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does more sport: you or your friend?</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يُمَارِسُ الرِّيَاضَةَ أَكْثَرَ: أَنْتَ أَمْ صَدِيقُكَ؟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Role-play card — a student health survey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اسْتِبْيَانٌ عَنِ النَّوْمِ وَالشَّاشَاتِ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عَادَةً أَنَامُ … سَاعَاتٍ</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Hours of sleep.</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سَاعَةً تَنَامُ عَادَةً؟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مَرَّةً ← أَحْيَانًا / غَالِبًا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Frequency.</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تَسْتَعْمِلُ الهَاتِفَ قَبْلَ النَّوْمِ؟</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 with the weekend.</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وَفِي نِهَايَةِ الأُسْبُوعِ؟</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سَتُغَيِّرُ؟</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student · Leader = the school nurse.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One minute: a busy day and a quiet day</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مُزْدَحِمٌ وَيَوْمٌ هَادِئٌ</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Compare your busiest day with your quietest day for one minute: what you do and how often — with at least five frequency expressions.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frequency words, one per sentence.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numbers of times (</a:t>
            </a:r>
            <a:pPr algn="l" indent="0" marL="0">
              <a:buNone/>
            </a:pPr>
            <a:r>
              <a:rPr lang="ar-SA" altLang="en-US" sz="1500" dirty="0">
                <a:solidFill>
                  <a:srgbClr val="1F2A37"/>
                </a:solidFill>
                <a:latin typeface="Amiri" pitchFamily="2" charset="-78"/>
                <a:ea typeface="Amiri" pitchFamily="2" charset="-78"/>
                <a:cs typeface="Amiri" pitchFamily="2" charset="-78"/>
              </a:rPr>
              <a:t>مَرَّتَيْنِ فِي الأُسْبُوعِ</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أَمَّا … فَ</a:t>
            </a:r>
            <a:pPr algn="l" indent="0" marL="0">
              <a:buNone/>
            </a:pPr>
            <a:r>
              <a:rPr lang="en-US" sz="1150" dirty="0">
                <a:solidFill>
                  <a:srgbClr val="1F2A37"/>
                </a:solidFill>
                <a:latin typeface="Calibri" pitchFamily="34" charset="0"/>
                <a:cs typeface="Amiri" pitchFamily="2" charset="-78"/>
              </a:rPr>
              <a:t>… (as in the model), </a:t>
            </a:r>
            <a:pPr algn="l" indent="0" marL="0">
              <a:buNone/>
            </a:pPr>
            <a:r>
              <a:rPr lang="ar-SA" altLang="en-US" sz="1500" dirty="0">
                <a:solidFill>
                  <a:srgbClr val="1F2A37"/>
                </a:solidFill>
                <a:latin typeface="Amiri" pitchFamily="2" charset="-78"/>
                <a:ea typeface="Amiri" pitchFamily="2" charset="-78"/>
                <a:cs typeface="Amiri" pitchFamily="2" charset="-78"/>
              </a:rPr>
              <a:t>أَكْثَرُ مِنْ</a:t>
            </a:r>
            <a:pPr algn="l" indent="0" marL="0">
              <a:buNone/>
            </a:pPr>
            <a:r>
              <a:rPr lang="en-US" sz="1150" dirty="0">
                <a:solidFill>
                  <a:srgbClr val="1F2A37"/>
                </a:solidFill>
                <a:latin typeface="Calibri" pitchFamily="34" charset="0"/>
                <a:cs typeface="Amiri" pitchFamily="2" charset="-78"/>
              </a:rPr>
              <a:t> … and a judgement on balance.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usually revise every evening.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عَادَةً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أَبَدًا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أُرَاجِعُ دُرُوسِي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يُرَاجِعُ دُرُوسِي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مَسَاءٍ.</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مَسَاءٍ.</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never drink coffee.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أَشْرَبُ القَهْوَةَ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أَشْرَبُ القَهْوَةُ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أَبَدًا.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دَائِمًا.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brother trains twice a week, whereas I train daily.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يَتَدَرَّبُ أَخِي مَرَّتَيْنِ فِي الأُسْبُوعِ،</a:t>
            </a:r>
            <a:endParaRPr lang="ar-SA" sz="145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يَتَدَرَّبُ أَخِي مَرَّتَانِ فِي الأُسْبُوعِ،</a:t>
            </a:r>
            <a:endParaRPr lang="ar-SA" sz="145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بَيْنَمَا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أَتَدَرَّبُ يَوْمِيًّا.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يَتَدَرَّبُ يَوْمِيًّا.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usually revise every evening.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Usually = </a:t>
            </a:r>
            <a:pPr algn="l" indent="0" marL="0">
              <a:buNone/>
            </a:pPr>
            <a:r>
              <a:rPr lang="ar-SA" altLang="en-US" sz="1350" dirty="0">
                <a:solidFill>
                  <a:srgbClr val="5A6472"/>
                </a:solidFill>
                <a:latin typeface="Amiri" pitchFamily="2" charset="-78"/>
                <a:ea typeface="Amiri" pitchFamily="2" charset="-78"/>
                <a:cs typeface="Amiri" pitchFamily="2" charset="-78"/>
              </a:rPr>
              <a:t>عَادَةً</a:t>
            </a:r>
            <a:pPr algn="l" indent="0" marL="0">
              <a:buNone/>
            </a:pPr>
            <a:r>
              <a:rPr lang="en-US" sz="1050" i="1" dirty="0">
                <a:solidFill>
                  <a:srgbClr val="5A6472"/>
                </a:solidFill>
                <a:latin typeface="Calibri" pitchFamily="34" charset="0"/>
                <a:cs typeface="Amiri" pitchFamily="2" charset="-78"/>
              </a:rPr>
              <a:t>; every evening = </a:t>
            </a:r>
            <a:pPr algn="l" indent="0" marL="0">
              <a:buNone/>
            </a:pPr>
            <a:r>
              <a:rPr lang="ar-SA" altLang="en-US" sz="1350" dirty="0">
                <a:solidFill>
                  <a:srgbClr val="5A6472"/>
                </a:solidFill>
                <a:latin typeface="Amiri" pitchFamily="2" charset="-78"/>
                <a:ea typeface="Amiri" pitchFamily="2" charset="-78"/>
                <a:cs typeface="Amiri" pitchFamily="2" charset="-78"/>
              </a:rPr>
              <a:t>كُلَّ مَسَاءٍ</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عَادَةً أُرَاجِعُ دُرُوسِي كُلَّ مَسَاءٍ.</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never drink coffee.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Never (present) = </a:t>
            </a:r>
            <a:pPr algn="l" indent="0" marL="0">
              <a:buNone/>
            </a:pPr>
            <a:r>
              <a:rPr lang="ar-SA" altLang="en-US" sz="1350" dirty="0">
                <a:solidFill>
                  <a:srgbClr val="5A6472"/>
                </a:solidFill>
                <a:latin typeface="Amiri" pitchFamily="2" charset="-78"/>
                <a:ea typeface="Amiri" pitchFamily="2" charset="-78"/>
                <a:cs typeface="Amiri" pitchFamily="2" charset="-78"/>
              </a:rPr>
              <a:t>لَا</a:t>
            </a:r>
            <a:pPr algn="l" indent="0" marL="0">
              <a:buNone/>
            </a:pPr>
            <a:r>
              <a:rPr lang="en-US" sz="1050" i="1" dirty="0">
                <a:solidFill>
                  <a:srgbClr val="5A6472"/>
                </a:solidFill>
                <a:latin typeface="Calibri" pitchFamily="34" charset="0"/>
                <a:cs typeface="Amiri" pitchFamily="2" charset="-78"/>
              </a:rPr>
              <a:t> + verb … </a:t>
            </a:r>
            <a:pPr algn="l" indent="0" marL="0">
              <a:buNone/>
            </a:pPr>
            <a:r>
              <a:rPr lang="ar-SA" altLang="en-US" sz="1350" dirty="0">
                <a:solidFill>
                  <a:srgbClr val="5A6472"/>
                </a:solidFill>
                <a:latin typeface="Amiri" pitchFamily="2" charset="-78"/>
                <a:ea typeface="Amiri" pitchFamily="2" charset="-78"/>
                <a:cs typeface="Amiri" pitchFamily="2" charset="-78"/>
              </a:rPr>
              <a:t>أَبَدًا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لَا أَشْرَبُ القَهْوَةَ أَبَدًا.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brother trains twice a week, whereas I train daily.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Twice = </a:t>
            </a:r>
            <a:pPr algn="l" indent="0" marL="0">
              <a:buNone/>
            </a:pPr>
            <a:r>
              <a:rPr lang="ar-SA" altLang="en-US" sz="1350" dirty="0">
                <a:solidFill>
                  <a:srgbClr val="5A6472"/>
                </a:solidFill>
                <a:latin typeface="Amiri" pitchFamily="2" charset="-78"/>
                <a:ea typeface="Amiri" pitchFamily="2" charset="-78"/>
                <a:cs typeface="Amiri" pitchFamily="2" charset="-78"/>
              </a:rPr>
              <a:t>مَرَّتَيْنِ</a:t>
            </a:r>
            <a:pPr algn="l" indent="0" marL="0">
              <a:buNone/>
            </a:pPr>
            <a:r>
              <a:rPr lang="en-US" sz="1050" i="1" dirty="0">
                <a:solidFill>
                  <a:srgbClr val="5A6472"/>
                </a:solidFill>
                <a:latin typeface="Calibri" pitchFamily="34" charset="0"/>
                <a:cs typeface="Amiri" pitchFamily="2" charset="-78"/>
              </a:rPr>
              <a:t> (adverb, accusative dual); whereas = </a:t>
            </a:r>
            <a:pPr algn="l" indent="0" marL="0">
              <a:buNone/>
            </a:pPr>
            <a:r>
              <a:rPr lang="ar-SA" altLang="en-US" sz="1350" dirty="0">
                <a:solidFill>
                  <a:srgbClr val="5A6472"/>
                </a:solidFill>
                <a:latin typeface="Amiri" pitchFamily="2" charset="-78"/>
                <a:ea typeface="Amiri" pitchFamily="2" charset="-78"/>
                <a:cs typeface="Amiri" pitchFamily="2" charset="-78"/>
              </a:rPr>
              <a:t>بَيْنَمَا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يَتَدَرَّبُ أَخِي مَرَّتَيْنِ فِي الأُسْبُوعِ، بَيْنَمَا أَتَدَرَّبُ يَوْمِيًّا.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أَبَدًا أَسْهَرُ.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“never” needs two parts.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أَمَّا أُخْتِي تَنَامُ مُبَكِّرًا.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أَمَّا</a:t>
            </a:r>
            <a:pPr algn="l" indent="0" marL="0">
              <a:buNone/>
            </a:pPr>
            <a:r>
              <a:rPr lang="en-US" sz="1300" i="1" dirty="0">
                <a:solidFill>
                  <a:srgbClr val="5A6472"/>
                </a:solidFill>
                <a:latin typeface="Calibri" pitchFamily="34" charset="0"/>
                <a:cs typeface="Amiri" pitchFamily="2" charset="-78"/>
              </a:rPr>
              <a:t> needs a partner.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أَلْعَبُ ثَلَاثَةَ مَرَّاتٍ فِي الأُسْبُوعِ.</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مَرَّةٌ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أَبَدًا أَسْهَرُ.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أَسْهَرُ أَبَدًا.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Never = </a:t>
            </a:r>
            <a:pPr algn="l" indent="0" marL="0">
              <a:buNone/>
            </a:pPr>
            <a:r>
              <a:rPr lang="ar-SA" altLang="en-US" sz="1500" b="1" dirty="0">
                <a:solidFill>
                  <a:srgbClr val="1B3B6F"/>
                </a:solidFill>
                <a:latin typeface="Amiri" pitchFamily="2" charset="-78"/>
                <a:ea typeface="Amiri" pitchFamily="2" charset="-78"/>
                <a:cs typeface="Amiri" pitchFamily="2" charset="-78"/>
              </a:rPr>
              <a:t>لَا</a:t>
            </a:r>
            <a:pPr algn="l" indent="0" marL="0">
              <a:buNone/>
            </a:pPr>
            <a:r>
              <a:rPr lang="en-US" sz="1150" b="1" dirty="0">
                <a:solidFill>
                  <a:srgbClr val="1B3B6F"/>
                </a:solidFill>
                <a:latin typeface="Calibri" pitchFamily="34" charset="0"/>
                <a:cs typeface="Amiri" pitchFamily="2" charset="-78"/>
              </a:rPr>
              <a:t> + verb + </a:t>
            </a:r>
            <a:pPr algn="l" indent="0" marL="0">
              <a:buNone/>
            </a:pPr>
            <a:r>
              <a:rPr lang="ar-SA" altLang="en-US" sz="1500" b="1" dirty="0">
                <a:solidFill>
                  <a:srgbClr val="1B3B6F"/>
                </a:solidFill>
                <a:latin typeface="Amiri" pitchFamily="2" charset="-78"/>
                <a:ea typeface="Amiri" pitchFamily="2" charset="-78"/>
                <a:cs typeface="Amiri" pitchFamily="2" charset="-78"/>
              </a:rPr>
              <a:t>أَبَدًا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أَمَّا أُخْتِي تَنَامُ مُبَكِّرًا.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أَمَّا أُخْتِي فَتَنَامُ مُبَكِّرًا.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أَمَّا</a:t>
            </a:r>
            <a:pPr algn="l" indent="0" marL="0">
              <a:buNone/>
            </a:pPr>
            <a:r>
              <a:rPr lang="en-US" sz="1150" b="1" dirty="0">
                <a:solidFill>
                  <a:srgbClr val="1B3B6F"/>
                </a:solidFill>
                <a:latin typeface="Calibri" pitchFamily="34" charset="0"/>
                <a:cs typeface="Amiri" pitchFamily="2" charset="-78"/>
              </a:rPr>
              <a:t> … then add fa- to the next word: </a:t>
            </a:r>
            <a:pPr algn="l" indent="0" marL="0">
              <a:buNone/>
            </a:pPr>
            <a:r>
              <a:rPr lang="ar-SA" altLang="en-US" sz="1500" b="1" dirty="0">
                <a:solidFill>
                  <a:srgbClr val="1B3B6F"/>
                </a:solidFill>
                <a:latin typeface="Amiri" pitchFamily="2" charset="-78"/>
                <a:ea typeface="Amiri" pitchFamily="2" charset="-78"/>
                <a:cs typeface="Amiri" pitchFamily="2" charset="-78"/>
              </a:rPr>
              <a:t>فَتَنَامُ</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أَلْعَبُ ثَلَاثَةَ مَرَّاتٍ فِي الأُسْبُوعِ.</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أَلْعَبُ ثَلَاثَ مَرَّاتٍ فِي الأُسْبُوعِ.</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ea typeface="Amiri" pitchFamily="2" charset="-78"/>
                <a:cs typeface="Amiri" pitchFamily="2" charset="-78"/>
              </a:rPr>
              <a:t>ثَلَاثَ</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مُزْدَحِمٌ، بَيْنَمَا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busy, whereas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يَوْمُ ______ فَ ______ ، لِذٰلِكَ أُفَضِّلُهُ.</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 …, so I prefer it.</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يَوْمِي المُزْدَحِمُ هُوَ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busy day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هٰذَا اليَوْمِ ______ دَائِمًا، وَ ______ أَحْيَانًا.</a:t>
            </a:r>
            <a:endParaRPr lang="ar-SA" sz="15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this day I always …, and sometimes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______ أَبَدًا.</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never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يَوْمِي الهَادِئُ ______ ، وَعَادَةً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quiet day is …, and I usually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دَائِمًا · عَادَةً  ·  غَالِبًا · أَحْيَانًا  ·  نَادِرًا · لَا … أَبَدًا  ·  يَوْمِيًّا · أُسْبُوعِيًّا  ·  مَرَّتَيْنِ فِي الأُسْبُوعِ  ·  بَيْنَمَا  ·  أَمَّا … فَ…  ·  أَكْثَرَ مِنْ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busy day vs a quiet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مُزْدَحِمٌ وَيَوْمٌ هَادِئٌ</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blog post (about 60–80 words) comparing your busiest and quietest days. Include: • what you do on each day and how often (five frequency expressions) • one thing you never do • a comparison with </a:t>
            </a:r>
            <a:pPr algn="l" indent="0" marL="0">
              <a:buNone/>
            </a:pPr>
            <a:r>
              <a:rPr lang="ar-SA" altLang="en-US" sz="1450" b="1" dirty="0">
                <a:solidFill>
                  <a:srgbClr val="1F2A37"/>
                </a:solidFill>
                <a:latin typeface="Amiri" pitchFamily="2" charset="-78"/>
                <a:ea typeface="Amiri" pitchFamily="2" charset="-78"/>
                <a:cs typeface="Amiri" pitchFamily="2" charset="-78"/>
              </a:rPr>
              <a:t>بَيْنَمَا</a:t>
            </a:r>
            <a:pPr algn="l" indent="0" marL="0">
              <a:buNone/>
            </a:pPr>
            <a:r>
              <a:rPr lang="en-US" sz="1100" b="1" dirty="0">
                <a:solidFill>
                  <a:srgbClr val="1F2A37"/>
                </a:solidFill>
                <a:latin typeface="Calibri" pitchFamily="34" charset="0"/>
                <a:cs typeface="Amiri" pitchFamily="2" charset="-78"/>
              </a:rPr>
              <a:t> and one with </a:t>
            </a:r>
            <a:pPr algn="l" indent="0" marL="0">
              <a:buNone/>
            </a:pPr>
            <a:r>
              <a:rPr lang="ar-SA" altLang="en-US" sz="1450" b="1" dirty="0">
                <a:solidFill>
                  <a:srgbClr val="1F2A37"/>
                </a:solidFill>
                <a:latin typeface="Amiri" pitchFamily="2" charset="-78"/>
                <a:ea typeface="Amiri" pitchFamily="2" charset="-78"/>
                <a:cs typeface="Amiri" pitchFamily="2" charset="-78"/>
              </a:rPr>
              <a:t>أَمَّا … فَ</a:t>
            </a:r>
            <a:pPr algn="l" indent="0" marL="0">
              <a:buNone/>
            </a:pPr>
            <a:r>
              <a:rPr lang="en-US" sz="1100" b="1" dirty="0">
                <a:solidFill>
                  <a:srgbClr val="1F2A37"/>
                </a:solidFill>
                <a:latin typeface="Calibri" pitchFamily="34" charset="0"/>
                <a:cs typeface="Amiri" pitchFamily="2" charset="-78"/>
              </a:rPr>
              <a:t>… (contrast) • which day you prefer and why.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 مُزْدَحِمٌ، بَيْنَمَا يَوْمُ … هَادِئٌ</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busy, whereas … is quiet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عَادَةً · غَالِبًا · أَحْيَانًا · نَادِرًا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usually · often · sometimes · rarely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 أَبَدًا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never</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فِي … فَأَنَامُ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 I sleep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least four different frequency expressions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with </a:t>
            </a:r>
            <a:pPr algn="l" indent="0" marL="0">
              <a:buNone/>
            </a:pPr>
            <a:r>
              <a:rPr lang="ar-SA" altLang="en-US" sz="1450" dirty="0">
                <a:solidFill>
                  <a:srgbClr val="5A6472"/>
                </a:solidFill>
                <a:latin typeface="Amiri" pitchFamily="2" charset="-78"/>
                <a:ea typeface="Amiri" pitchFamily="2" charset="-78"/>
                <a:cs typeface="Amiri" pitchFamily="2" charset="-78"/>
              </a:rPr>
              <a:t>بَيْنَمَا</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أَمَّا</a:t>
            </a:r>
            <a:pPr algn="l" indent="0" marL="0">
              <a:buNone/>
            </a:pPr>
            <a:r>
              <a:rPr lang="en-US" sz="1100" dirty="0">
                <a:solidFill>
                  <a:srgbClr val="5A6472"/>
                </a:solidFill>
                <a:latin typeface="Calibri" pitchFamily="34" charset="0"/>
                <a:cs typeface="Amiri" pitchFamily="2" charset="-78"/>
              </a:rPr>
              <a:t> … (+ fa-)?</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عَادَةً أَنَامُ ثَمَانِيَ سَاعَاتٍ.</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usually sleep eight hours.</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سَاعَةً تَنَامُ عَادَةً؟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غَالِبًا، لِلْأَسَفِ، حَوَالَيْ نِصْفِ سَاعَةٍ.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Often, unfortunately — about half an hour.</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مَرَّةً تَسْتَعْمِلُ الهَاتِفَ قَبْلَ النَّوْمِ؟</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أَمَّا فِي نِهَايَةِ الأُسْبُوعِ فَأَسْتَعْمِلُهُ أَكْثَرَ، لِأَنَّنِي لَا أَذْهَبُ إِلَى المَدْرَسَةِ.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As for the weekend, I use it more, because I don’t go to school.</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وَفِي نِهَايَةِ الأُسْبُوعِ؟</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سَأُغْلِقُ الهَاتِفَ فِي العَاشِرَةِ دَائِمًا، وَلَنْ أَسْتَعْمِلَهُ فِي السَّرِيرِ أَبَدًا.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always switch off my phone at ten, and I will never use it in bed.</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سَتُغَيِّرُ؟</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يَوْمِي المُزْدَحِمُ هُوَ الأَرْبِعَاءُ. فِي هٰذَا اليَوْمِ عِنْدِي دَائِمًا سَبْعُ حِصَصٍ، ثُمَّ أَتَدَرَّبُ فِي النَّادِي، وَأَحْيَانًا أُرَاجِعُ حَتَّى العَاشِرَةِ. لَا أُشَاهِدُ التِّلْفَازَ أَبَدًا يَوْمَ الأَرْبِعَاءِ. يَوْمُ الأَرْبِعَاءِ مُزْدَحِمٌ، بَيْنَمَا يَوْمُ السَّبْتِ هَادِئٌ. أَمَّا يَوْمُ السَّبْتِ فَأَنَامُ غَالِبًا حَتَّى التَّاسِعَةِ، وَنَادِرًا مَا أَعْمَلُ وَاجِبِي. أُفَضِّلُ السَّبْتَ طَبْعًا، لِأَنَّنِي أَقْضِي وَقْتًا أَكْثَرَ مَعَ عَائِلَتِي، وَأَزُورُ جَدَّتِي مَرَّتَيْنِ فِي الشَّهْرِ.</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busy day is Wednesday. On that day I always have seven lessons, then train at the club, and sometimes revise until ten. I never watch TV on Wednesday. Wednesday is busy, whereas Saturday is quiet. As for Saturday, I often sleep until nine, and I rarely do homework. I prefer Saturday of course, because I spend more time with my family, and I visit my grandmother twice a month.”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دَائِمًا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أُشَاهِدُ التِّلْفَازَ أَبَدًا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يَوْمُ السَّبْتِ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يَوْمُ السَّبْتِ فَأَنَامُ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D1-L04 · Before and After — Sequencing My Day</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قَبْلَ وَبَعْدَ — تَرْتِيبُ يَوْمِي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D1-L03 · Practice Room — How Often? — Frequency Adverbs in My Routine</dc:title>
  <dc:subject>PptxGenJS Presentation</dc:subject>
  <dc:creator>Al Madina Online School · Arabic Department</dc:creator>
  <cp:lastModifiedBy>Al Madina Online School · Arabic Department</cp:lastModifiedBy>
  <cp:revision>1</cp:revision>
  <dcterms:created xsi:type="dcterms:W3CDTF">2026-10-25T17:55:16Z</dcterms:created>
  <dcterms:modified xsi:type="dcterms:W3CDTF">2026-10-25T17:55:16Z</dcterms:modified>
</cp:coreProperties>
</file>