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D1-L08 (Weekend Routine — What Do You Do at the Weekend?) — new practice tasks built on the lesson’s own word bank and grammar (contrast: ammā … fa- · baynamā · ʿalā ʿaks; condition with idhā + past verb (idhā kāna ʿindī waqtun …); flexible frequency (ghāliban mā · fī baʿḍi al-aḥyāni); comparatives (aṭwal · akthar); a judgement about balance).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cousin to a girl: تَفْعَلِينَ · عِنْدَكِ. ammā … fa- (fa- joins the next word) · idhā kāna + adjective in -an · qabla an +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Weekend Routine — What Do You Do at the Weekend?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نِهَايَةُ الأُسْبُوعِ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and writing practice contrasting the school week with the weekend: say the weekend phrases, act a short dialogue, answer question cards, do a role-play card planning a weekend with a cousin, give a one-minute contrast talk, then build, fix and write a blog post about their weekend.</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D1-L08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weekend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عُطْلَةُ نِهَايَةِ الأُسْبُوعِ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weekend break</a:t>
            </a:r>
            <a:endParaRPr lang="en-US" sz="1350" dirty="0"/>
          </a:p>
          <a:p>
            <a:pPr indent="0" marL="0">
              <a:buNone/>
            </a:pPr>
            <a:r>
              <a:rPr lang="en-US" sz="1100" i="1" dirty="0">
                <a:solidFill>
                  <a:srgbClr val="5A6472"/>
                </a:solidFill>
                <a:latin typeface="Calibri" pitchFamily="34" charset="0"/>
                <a:cs typeface="Amiri" pitchFamily="2" charset="-78"/>
              </a:rPr>
              <a:t>ʿuṭ-la-tu ni-hā-ya-ti al-us-bū-ʿi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السَّبْتِ</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Saturday</a:t>
            </a:r>
            <a:endParaRPr lang="en-US" sz="1350" dirty="0"/>
          </a:p>
          <a:p>
            <a:pPr indent="0" marL="0">
              <a:buNone/>
            </a:pPr>
            <a:r>
              <a:rPr lang="en-US" sz="1100" i="1" dirty="0">
                <a:solidFill>
                  <a:srgbClr val="5A6472"/>
                </a:solidFill>
                <a:latin typeface="Calibri" pitchFamily="34" charset="0"/>
                <a:cs typeface="Amiri" pitchFamily="2" charset="-78"/>
              </a:rPr>
              <a:t>yaw-mu as-sab-ti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الأَحَدِ</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Sunday</a:t>
            </a:r>
            <a:endParaRPr lang="en-US" sz="1350" dirty="0"/>
          </a:p>
          <a:p>
            <a:pPr indent="0" marL="0">
              <a:buNone/>
            </a:pPr>
            <a:r>
              <a:rPr lang="en-US" sz="1100" i="1" dirty="0">
                <a:solidFill>
                  <a:srgbClr val="5A6472"/>
                </a:solidFill>
                <a:latin typeface="Calibri" pitchFamily="34" charset="0"/>
                <a:cs typeface="Amiri" pitchFamily="2" charset="-78"/>
              </a:rPr>
              <a:t>yaw-mu al-a-ḥa-di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نِهَايَةِ الأُسْبُوعِ</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the weekend</a:t>
            </a:r>
            <a:endParaRPr lang="en-US" sz="1350" dirty="0"/>
          </a:p>
          <a:p>
            <a:pPr indent="0" marL="0">
              <a:buNone/>
            </a:pPr>
            <a:r>
              <a:rPr lang="en-US" sz="1100" i="1" dirty="0">
                <a:solidFill>
                  <a:srgbClr val="5A6472"/>
                </a:solidFill>
                <a:latin typeface="Calibri" pitchFamily="34" charset="0"/>
                <a:cs typeface="Amiri" pitchFamily="2" charset="-78"/>
              </a:rPr>
              <a:t>fī ni-hā-ya-ti al-us-bū-ʿi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أَنَامُ وَقْتًا أَطْوَلَ</a:t>
            </a:r>
            <a:endParaRPr lang="ar-SA" sz="3000" dirty="0"/>
          </a:p>
        </p:txBody>
      </p:sp>
      <p:sp>
        <p:nvSpPr>
          <p:cNvPr id="51" name="Text 4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sleep longer</a:t>
            </a:r>
            <a:endParaRPr lang="en-US" sz="1350" dirty="0"/>
          </a:p>
          <a:p>
            <a:pPr indent="0" marL="0">
              <a:buNone/>
            </a:pPr>
            <a:r>
              <a:rPr lang="en-US" sz="1100" i="1" dirty="0">
                <a:solidFill>
                  <a:srgbClr val="5A6472"/>
                </a:solidFill>
                <a:latin typeface="Calibri" pitchFamily="34" charset="0"/>
                <a:cs typeface="Amiri" pitchFamily="2" charset="-78"/>
              </a:rPr>
              <a:t>a-nā-mu waq-tan aṭ-wa-la</a:t>
            </a:r>
            <a:endParaRPr lang="en-US" sz="1350" dirty="0"/>
          </a:p>
        </p:txBody>
      </p:sp>
      <p:sp>
        <p:nvSpPr>
          <p:cNvPr id="52" name="Shape 4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4" name="Text 5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نَنَامُ</a:t>
            </a:r>
            <a:endParaRPr lang="ar-SA" sz="1500" dirty="0"/>
          </a:p>
        </p:txBody>
      </p:sp>
      <p:sp>
        <p:nvSpPr>
          <p:cNvPr id="55" name="Shape 5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7" name="Text 5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تَنَامُ</a:t>
            </a:r>
            <a:endParaRPr lang="ar-SA" sz="1500" dirty="0"/>
          </a:p>
        </p:txBody>
      </p:sp>
      <p:sp>
        <p:nvSpPr>
          <p:cNvPr id="58" name="Shape 5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0" name="Text 5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يَنَامُ</a:t>
            </a:r>
            <a:endParaRPr lang="ar-SA" sz="150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4" name="Shape 61"/>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6" name="Shape 6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أَزُورُ أَقَارِبِي</a:t>
            </a:r>
            <a:endParaRPr lang="ar-SA" sz="3000" dirty="0"/>
          </a:p>
        </p:txBody>
      </p:sp>
      <p:sp>
        <p:nvSpPr>
          <p:cNvPr id="69" name="Text 6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visit relatives</a:t>
            </a:r>
            <a:endParaRPr lang="en-US" sz="1350" dirty="0"/>
          </a:p>
          <a:p>
            <a:pPr indent="0" marL="0">
              <a:buNone/>
            </a:pPr>
            <a:r>
              <a:rPr lang="en-US" sz="1100" i="1" dirty="0">
                <a:solidFill>
                  <a:srgbClr val="5A6472"/>
                </a:solidFill>
                <a:latin typeface="Calibri" pitchFamily="34" charset="0"/>
                <a:cs typeface="Amiri" pitchFamily="2" charset="-78"/>
              </a:rPr>
              <a:t>a-zū-ru a-qā-ri-bī</a:t>
            </a:r>
            <a:endParaRPr lang="en-US" sz="1350" dirty="0"/>
          </a:p>
        </p:txBody>
      </p:sp>
      <p:sp>
        <p:nvSpPr>
          <p:cNvPr id="70" name="Shape 67"/>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أَقَارِبُ</a:t>
            </a:r>
            <a:endParaRPr lang="ar-SA" sz="1500" dirty="0"/>
          </a:p>
        </p:txBody>
      </p:sp>
      <p:sp>
        <p:nvSpPr>
          <p:cNvPr id="73" name="Shape 70"/>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5" name="Text 72"/>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قَرِيبَةٌ</a:t>
            </a:r>
            <a:endParaRPr lang="ar-SA" sz="1500" dirty="0"/>
          </a:p>
        </p:txBody>
      </p:sp>
      <p:sp>
        <p:nvSpPr>
          <p:cNvPr id="76" name="Shape 73"/>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8" name="Text 75"/>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قَرِيبٌ</a:t>
            </a:r>
            <a:endParaRPr lang="ar-SA" sz="15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Weekend activities and contrast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أَلْتَقِي بِأَصْدِقَائِي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meet friends</a:t>
            </a:r>
            <a:endParaRPr lang="en-US" sz="1350" dirty="0"/>
          </a:p>
          <a:p>
            <a:pPr indent="0" marL="0">
              <a:buNone/>
            </a:pPr>
            <a:r>
              <a:rPr lang="en-US" sz="1100" i="1" dirty="0">
                <a:solidFill>
                  <a:srgbClr val="5A6472"/>
                </a:solidFill>
                <a:latin typeface="Calibri" pitchFamily="34" charset="0"/>
                <a:cs typeface="Amiri" pitchFamily="2" charset="-78"/>
              </a:rPr>
              <a:t>al-ta-qī bi-ʾaṣ-di-qā-ʾī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أَصْدِقَاءُ</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أَتَسَوَّقُ</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shop</a:t>
            </a:r>
            <a:endParaRPr lang="en-US" sz="1350" dirty="0"/>
          </a:p>
          <a:p>
            <a:pPr indent="0" marL="0">
              <a:buNone/>
            </a:pPr>
            <a:r>
              <a:rPr lang="en-US" sz="1100" i="1" dirty="0">
                <a:solidFill>
                  <a:srgbClr val="5A6472"/>
                </a:solidFill>
                <a:latin typeface="Calibri" pitchFamily="34" charset="0"/>
                <a:cs typeface="Amiri" pitchFamily="2" charset="-78"/>
              </a:rPr>
              <a:t>a-ta-saw-wa-qu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نَتَسَوَّقُ</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تَتَسَوَّقُ</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يَتَسَوَّقُ</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أُسَاعِدُ فِي البَيْتِ</a:t>
            </a:r>
            <a:endParaRPr lang="ar-SA" sz="3000" dirty="0"/>
          </a:p>
        </p:txBody>
      </p:sp>
      <p:sp>
        <p:nvSpPr>
          <p:cNvPr id="57" name="Text 5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 at home</a:t>
            </a:r>
            <a:endParaRPr lang="en-US" sz="1350" dirty="0"/>
          </a:p>
          <a:p>
            <a:pPr indent="0" marL="0">
              <a:buNone/>
            </a:pPr>
            <a:r>
              <a:rPr lang="en-US" sz="1100" i="1" dirty="0">
                <a:solidFill>
                  <a:srgbClr val="5A6472"/>
                </a:solidFill>
                <a:latin typeface="Calibri" pitchFamily="34" charset="0"/>
                <a:cs typeface="Amiri" pitchFamily="2" charset="-78"/>
              </a:rPr>
              <a:t>u-sā-ʿi-du fī al-bay-ti</a:t>
            </a:r>
            <a:endParaRPr lang="en-US"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Shape 58"/>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أُمَارِسُ هِوَايَتِي</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practise my hobby</a:t>
            </a:r>
            <a:endParaRPr lang="en-US" sz="1350" dirty="0"/>
          </a:p>
          <a:p>
            <a:pPr indent="0" marL="0">
              <a:buNone/>
            </a:pPr>
            <a:r>
              <a:rPr lang="en-US" sz="1100" i="1" dirty="0">
                <a:solidFill>
                  <a:srgbClr val="5A6472"/>
                </a:solidFill>
                <a:latin typeface="Calibri" pitchFamily="34" charset="0"/>
                <a:cs typeface="Amiri" pitchFamily="2" charset="-78"/>
              </a:rPr>
              <a:t>u-mā-ri-su hi-wā-ya-tī</a:t>
            </a:r>
            <a:endParaRPr lang="en-US" sz="1350" dirty="0"/>
          </a:p>
        </p:txBody>
      </p:sp>
      <p:sp>
        <p:nvSpPr>
          <p:cNvPr id="67" name="Shape 64"/>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9" name="Text 66"/>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هِوَايَاتٌ</a:t>
            </a:r>
            <a:endParaRPr lang="ar-SA" sz="1500" dirty="0"/>
          </a:p>
        </p:txBody>
      </p:sp>
      <p:sp>
        <p:nvSpPr>
          <p:cNvPr id="70" name="Shape 67"/>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hobby</a:t>
            </a:r>
            <a:endParaRPr lang="en-US" sz="700" dirty="0"/>
          </a:p>
        </p:txBody>
      </p:sp>
      <p:sp>
        <p:nvSpPr>
          <p:cNvPr id="72" name="Text 69"/>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هِوَايَةٌ</a:t>
            </a:r>
            <a:endParaRPr lang="ar-SA" sz="1350" dirty="0"/>
          </a:p>
        </p:txBody>
      </p:sp>
      <p:sp>
        <p:nvSpPr>
          <p:cNvPr id="73" name="Shape 70"/>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75" name="Text 72"/>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يُمَارِسُ هِوَايَتَهُ</a:t>
            </a:r>
            <a:endParaRPr lang="ar-SA" sz="1500" dirty="0"/>
          </a:p>
        </p:txBody>
      </p:sp>
      <p:sp>
        <p:nvSpPr>
          <p:cNvPr id="76" name="Shape 7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389120"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9" name="Text 7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صَبَاحُ السَّبْتِ</a:t>
            </a:r>
            <a:endParaRPr lang="ar-SA" sz="3000" dirty="0"/>
          </a:p>
        </p:txBody>
      </p:sp>
      <p:sp>
        <p:nvSpPr>
          <p:cNvPr id="80" name="Text 7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Saturday morning</a:t>
            </a:r>
            <a:endParaRPr lang="en-US" sz="1350" dirty="0"/>
          </a:p>
          <a:p>
            <a:pPr indent="0" marL="0">
              <a:buNone/>
            </a:pPr>
            <a:r>
              <a:rPr lang="en-US" sz="1100" i="1" dirty="0">
                <a:solidFill>
                  <a:srgbClr val="5A6472"/>
                </a:solidFill>
                <a:latin typeface="Calibri" pitchFamily="34" charset="0"/>
                <a:cs typeface="Amiri" pitchFamily="2" charset="-78"/>
              </a:rPr>
              <a:t>ṣa-bā-ḥu as-sab-ti</a:t>
            </a:r>
            <a:endParaRPr lang="en-US" sz="135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مَسَاءُ الأَحَدِ</a:t>
            </a:r>
            <a:endParaRPr lang="ar-SA" sz="300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Sunday evening</a:t>
            </a:r>
            <a:endParaRPr lang="en-US" sz="1350" dirty="0"/>
          </a:p>
          <a:p>
            <a:pPr indent="0" marL="0">
              <a:buNone/>
            </a:pPr>
            <a:r>
              <a:rPr lang="en-US" sz="1100" i="1" dirty="0">
                <a:solidFill>
                  <a:srgbClr val="5A6472"/>
                </a:solidFill>
                <a:latin typeface="Calibri" pitchFamily="34" charset="0"/>
                <a:cs typeface="Amiri" pitchFamily="2" charset="-78"/>
              </a:rPr>
              <a:t>ma-sā-ʾu al-a-ḥa-di</a:t>
            </a:r>
            <a:endParaRPr lang="en-US" sz="13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 your weekend different?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نِهَايَةُ أُسْبُوعِكَ مُخْتَلِفَةٌ؟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routine different at the weekend?</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يَخْتَلِفُ رُوتِينُكَ فِي نِهَايَةِ الأُسْبُوعِ؟</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Very! On school days I wake up at six; as for Saturday, I sleep longer.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جِدًّا! فِي أَيَّامِ الدِّرَاسَةِ أَسْتَيْقِظُ فِي السَّادِسَةِ، أَمَّا يَوْمَ السَّبْتِ فَأَنَامُ وَقْتًا أَطْوَلَ.</a:t>
            </a:r>
            <a:endParaRPr lang="ar-SA" sz="17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do you do on Sunday?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تَفْعَلُ يَوْمَ الأَحَدِ؟</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often visit my relatives, and if the weather is nice we go to the beach.</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غَالِبًا مَا أَزُورُ أَقَارِبِي، وَإِذَا كَانَ الجَوُّ جَمِيلًا نَذْهَبُ إِلَى الشَّاطِئِ.</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 you study?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تَدْرُسُ؟</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little. I revise for an hour on Sunday evening, whereas I revise three hours a day in the week.</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قَلِيلًا. أُرَاجِعُ سَاعَةً مَسَاءَ الأَحَدِ، بَيْنَمَا أُرَاجِعُ ثَلَاثَ سَاعَاتٍ يَوْمِيًّا فِي الأُسْبُوعِ.</a:t>
            </a:r>
            <a:endParaRPr lang="ar-SA" sz="17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weekend — every answer must contrast with a school day.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أَمَّا فِي أَيَّامِ الدِّرَاسَةِ فَ…</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السَّبْتِ أَسْتَيْقِظُ فِي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wake up on Saturday?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تَسْتَيْقِظُ يَوْمَ السَّبْتِ؟</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مَعَ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كَانَ عِنْدِي وَقْتٌ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if you have time?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إِذَا كَانَ عِنْدَكَ وَقْتٌ؟</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كَانَ الجَوُّ مُمْطِرًا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if it is rainy?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إِذَا كَانَ الجَوُّ مُمْطِرًا؟</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غَالِبًا مَا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أَقْضِيهَا مَعَ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spend the weekend with?</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تَقْضِي نِهَايَةَ الأُسْبُوعِ؟</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 وَلٰكِنْ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week balanced?</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أُسْبُوعُكَ مُتَوَازِنٌ؟</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Role-play card — planning a weekend with your cousin</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لِنِهَايَةِ الأُسْبُوعِ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عَادَةً أَنَامُ … ثُمَّ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usual Saturday.</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عَادَةً يَوْمَ السَّبْتِ؟</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 إِذَا كَانَ … نَذْهَبُ إِلَى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 B with </a:t>
            </a:r>
            <a:pPr algn="l" indent="0" marL="0">
              <a:buNone/>
            </a:pPr>
            <a:r>
              <a:rPr lang="ar-SA" altLang="en-US" sz="1450" dirty="0">
                <a:solidFill>
                  <a:srgbClr val="5A6472"/>
                </a:solidFill>
                <a:latin typeface="Amiri" pitchFamily="2" charset="-78"/>
                <a:ea typeface="Amiri" pitchFamily="2" charset="-78"/>
                <a:cs typeface="Amiri" pitchFamily="2" charset="-78"/>
              </a:rPr>
              <a:t>إِذَا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وَإِذَا كَانَ الجَوُّ سَيِّئًا؟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 Sunday.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وَيَوْمَ الأَحَدِ؟</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 وَاجِبٌ فِي نِهَايَةِ الأُسْبُوعِ؟</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yourself · Leader = your cousin, who is visiting.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week vs weekend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الأُسْبُوعُ وَنِهَايَتُهُ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Contrast your school week with your weekend for one minute and finish with a judgement: is your week balanced?</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weekday sentences and three weekend sentences.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them with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أَمَّا … فَ</a:t>
            </a:r>
            <a:pPr algn="l" indent="0" marL="0">
              <a:buNone/>
            </a:pPr>
            <a:r>
              <a:rPr lang="en-US" sz="1150" dirty="0">
                <a:solidFill>
                  <a:srgbClr val="1F2A37"/>
                </a:solidFill>
                <a:latin typeface="Calibri" pitchFamily="34" charset="0"/>
                <a:cs typeface="Amiri" pitchFamily="2" charset="-78"/>
              </a:rPr>
              <a:t>…, plus one </a:t>
            </a:r>
            <a:pPr algn="l" indent="0" marL="0">
              <a:buNone/>
            </a:pPr>
            <a:r>
              <a:rPr lang="ar-SA" altLang="en-US" sz="1500" dirty="0">
                <a:solidFill>
                  <a:srgbClr val="1F2A37"/>
                </a:solidFill>
                <a:latin typeface="Amiri" pitchFamily="2" charset="-78"/>
                <a:ea typeface="Amiri" pitchFamily="2" charset="-78"/>
                <a:cs typeface="Amiri" pitchFamily="2" charset="-78"/>
              </a:rPr>
              <a:t>إِذَا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comparatives (</a:t>
            </a:r>
            <a:pPr algn="l" indent="0" marL="0">
              <a:buNone/>
            </a:pPr>
            <a:r>
              <a:rPr lang="ar-SA" altLang="en-US" sz="1500" dirty="0">
                <a:solidFill>
                  <a:srgbClr val="1F2A37"/>
                </a:solidFill>
                <a:latin typeface="Amiri" pitchFamily="2" charset="-78"/>
                <a:ea typeface="Amiri" pitchFamily="2" charset="-78"/>
                <a:cs typeface="Amiri" pitchFamily="2" charset="-78"/>
              </a:rPr>
              <a:t>وَقْتًا أَطْوَلَ</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أَكْثَرَ</a:t>
            </a:r>
            <a:pPr algn="l" indent="0" marL="0">
              <a:buNone/>
            </a:pPr>
            <a:r>
              <a:rPr lang="en-US" sz="1150" dirty="0">
                <a:solidFill>
                  <a:srgbClr val="1F2A37"/>
                </a:solidFill>
                <a:latin typeface="Calibri" pitchFamily="34" charset="0"/>
                <a:cs typeface="Amiri" pitchFamily="2" charset="-78"/>
              </a:rPr>
              <a:t>) and a balanced judgement with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As for Saturday, I sleep longer.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أَمَّا يَوْمُ السَّبْتِ</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أَمَّا يَوْمَ السَّبْتِ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فَأَنَامُ</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وَقْتًا أَطْوَلَ.</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وَقْتٌ أَطْوَلُ.</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If I have time, I visit my friends.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كَانَ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إِذَا يَكُونُ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 وَقْتٌ،</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 وَقْتًا،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أَزُورُ أَصْدِقَائِي.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أَزُورُ أَصْدِقَائِيَ.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On weekdays I study, whereas I rest at the weekend.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أَيَّامِ الدِّرَاسَةِ أَدْرُسُ،</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أَيَّامُ الدِّرَاسَةِ أَدْرُسُ،</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بَيْنَمَا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أَرْتَاحُ فِي نِهَايَةِ الأُسْبُوعِ.</a:t>
            </a:r>
            <a:endParaRPr lang="ar-SA" sz="17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أَرْتَاحُ فِي نِهَايَةُ الأُسْبُوعِ.</a:t>
            </a:r>
            <a:endParaRPr lang="ar-SA" sz="17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As for Saturday, I sleep longer.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أَمَّا</a:t>
            </a:r>
            <a:pPr algn="l" indent="0" marL="0">
              <a:buNone/>
            </a:pPr>
            <a:r>
              <a:rPr lang="en-US" sz="1050" i="1" dirty="0">
                <a:solidFill>
                  <a:srgbClr val="5A6472"/>
                </a:solidFill>
                <a:latin typeface="Calibri" pitchFamily="34" charset="0"/>
                <a:cs typeface="Amiri" pitchFamily="2" charset="-78"/>
              </a:rPr>
              <a:t> + subject (-u), then fa-; </a:t>
            </a:r>
            <a:pPr algn="l" indent="0" marL="0">
              <a:buNone/>
            </a:pPr>
            <a:r>
              <a:rPr lang="ar-SA" altLang="en-US" sz="1350" dirty="0">
                <a:solidFill>
                  <a:srgbClr val="5A6472"/>
                </a:solidFill>
                <a:latin typeface="Amiri" pitchFamily="2" charset="-78"/>
                <a:ea typeface="Amiri" pitchFamily="2" charset="-78"/>
                <a:cs typeface="Amiri" pitchFamily="2" charset="-78"/>
              </a:rPr>
              <a:t>وَقْتًا</a:t>
            </a:r>
            <a:pPr algn="l" indent="0" marL="0">
              <a:buNone/>
            </a:pPr>
            <a:r>
              <a:rPr lang="en-US" sz="1050" i="1" dirty="0">
                <a:solidFill>
                  <a:srgbClr val="5A6472"/>
                </a:solidFill>
                <a:latin typeface="Calibri" pitchFamily="34" charset="0"/>
                <a:cs typeface="Amiri" pitchFamily="2" charset="-78"/>
              </a:rPr>
              <a:t> is accusative.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أَمَّا يَوْمُ السَّبْتِ فَأَنَامُ وَقْتًا أَطْوَلَ.</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If I have time, I visit my friends.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إِذَا</a:t>
            </a:r>
            <a:pPr algn="l" indent="0" marL="0">
              <a:buNone/>
            </a:pPr>
            <a:r>
              <a:rPr lang="en-US" sz="1050" i="1" dirty="0">
                <a:solidFill>
                  <a:srgbClr val="5A6472"/>
                </a:solidFill>
                <a:latin typeface="Calibri" pitchFamily="34" charset="0"/>
                <a:cs typeface="Amiri" pitchFamily="2" charset="-78"/>
              </a:rPr>
              <a:t> + past </a:t>
            </a:r>
            <a:pPr algn="l" indent="0" marL="0">
              <a:buNone/>
            </a:pPr>
            <a:r>
              <a:rPr lang="ar-SA" altLang="en-US" sz="1350" dirty="0">
                <a:solidFill>
                  <a:srgbClr val="5A6472"/>
                </a:solidFill>
                <a:latin typeface="Amiri" pitchFamily="2" charset="-78"/>
                <a:ea typeface="Amiri" pitchFamily="2" charset="-78"/>
                <a:cs typeface="Amiri" pitchFamily="2" charset="-78"/>
              </a:rPr>
              <a:t>كَانَ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وَقْتٌ</a:t>
            </a:r>
            <a:pPr algn="l" indent="0" marL="0">
              <a:buNone/>
            </a:pPr>
            <a:r>
              <a:rPr lang="en-US" sz="1050" i="1" dirty="0">
                <a:solidFill>
                  <a:srgbClr val="5A6472"/>
                </a:solidFill>
                <a:latin typeface="Calibri" pitchFamily="34" charset="0"/>
                <a:cs typeface="Amiri" pitchFamily="2" charset="-78"/>
              </a:rPr>
              <a:t> is the subject.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إِذَا كَانَ عِنْدِي وَقْتٌ، أَزُورُ أَصْدِقَائِي.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On weekdays I study, whereas I rest at the weekend.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 + genitive; whereas = </a:t>
            </a:r>
            <a:pPr algn="l" indent="0" marL="0">
              <a:buNone/>
            </a:pPr>
            <a:r>
              <a:rPr lang="ar-SA" altLang="en-US" sz="1350" dirty="0">
                <a:solidFill>
                  <a:srgbClr val="5A6472"/>
                </a:solidFill>
                <a:latin typeface="Amiri" pitchFamily="2" charset="-78"/>
                <a:ea typeface="Amiri" pitchFamily="2" charset="-78"/>
                <a:cs typeface="Amiri" pitchFamily="2" charset="-78"/>
              </a:rPr>
              <a:t>بَيْنَمَا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lnSpc>
                <a:spcPct val="120000"/>
              </a:lnSpc>
              <a:buNone/>
            </a:pPr>
            <a:r>
              <a:rPr lang="ar-SA" altLang="en-US" sz="2650" b="1" dirty="0">
                <a:solidFill>
                  <a:srgbClr val="1B3B6F"/>
                </a:solidFill>
                <a:latin typeface="Amiri" pitchFamily="2" charset="-78"/>
                <a:ea typeface="Amiri" pitchFamily="2" charset="-78"/>
                <a:cs typeface="Amiri" pitchFamily="2" charset="-78"/>
              </a:rPr>
              <a:t>فِي أَيَّامِ الدِّرَاسَةِ أَدْرُسُ، بَيْنَمَا أَرْتَاحُ فِي نِهَايَةِ الأُسْبُوعِ.</a:t>
            </a:r>
            <a:endParaRPr lang="ar-SA" sz="26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أَمَّا يَوْمُ الأَحَدِ أَزُورُ جَدِّي.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أَمَّا</a:t>
            </a:r>
            <a:pPr algn="l" indent="0" marL="0">
              <a:buNone/>
            </a:pPr>
            <a:r>
              <a:rPr lang="en-US" sz="1300" i="1" dirty="0">
                <a:solidFill>
                  <a:srgbClr val="5A6472"/>
                </a:solidFill>
                <a:latin typeface="Calibri" pitchFamily="34" charset="0"/>
                <a:cs typeface="Amiri" pitchFamily="2" charset="-78"/>
              </a:rPr>
              <a:t> needs its partner.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كَانَ الجَوُّ جَمِيلٌ نَخْرُجُ.</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adjective after </a:t>
            </a:r>
            <a:pPr algn="l" indent="0" marL="0">
              <a:buNone/>
            </a:pPr>
            <a:r>
              <a:rPr lang="ar-SA" altLang="en-US" sz="1700" dirty="0">
                <a:solidFill>
                  <a:srgbClr val="5A6472"/>
                </a:solidFill>
                <a:latin typeface="Amiri" pitchFamily="2" charset="-78"/>
                <a:ea typeface="Amiri" pitchFamily="2" charset="-78"/>
                <a:cs typeface="Amiri" pitchFamily="2" charset="-78"/>
              </a:rPr>
              <a:t>كَانَ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أَنَامُ وَقْتًا أَطْوَلُ فِي العُطْلَةِ.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Adjective agrees with </a:t>
            </a:r>
            <a:pPr algn="l" indent="0" marL="0">
              <a:buNone/>
            </a:pPr>
            <a:r>
              <a:rPr lang="ar-SA" altLang="en-US" sz="1700" dirty="0">
                <a:solidFill>
                  <a:srgbClr val="5A6472"/>
                </a:solidFill>
                <a:latin typeface="Amiri" pitchFamily="2" charset="-78"/>
                <a:ea typeface="Amiri" pitchFamily="2" charset="-78"/>
                <a:cs typeface="Amiri" pitchFamily="2" charset="-78"/>
              </a:rPr>
              <a:t>وَقْتًا</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أَمَّا يَوْمُ الأَحَدِ أَزُورُ جَدِّي.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 يَوْمُ الأَحَدِ فَأَزُورُ جَدِّي.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أَمَّا</a:t>
            </a:r>
            <a:pPr algn="l" indent="0" marL="0">
              <a:buNone/>
            </a:pPr>
            <a:r>
              <a:rPr lang="en-US" sz="1150" b="1" dirty="0">
                <a:solidFill>
                  <a:srgbClr val="1B3B6F"/>
                </a:solidFill>
                <a:latin typeface="Calibri" pitchFamily="34" charset="0"/>
                <a:cs typeface="Amiri" pitchFamily="2" charset="-78"/>
              </a:rPr>
              <a:t> … then fa-: </a:t>
            </a:r>
            <a:pPr algn="l" indent="0" marL="0">
              <a:buNone/>
            </a:pPr>
            <a:r>
              <a:rPr lang="ar-SA" altLang="en-US" sz="1500" b="1" dirty="0">
                <a:solidFill>
                  <a:srgbClr val="1B3B6F"/>
                </a:solidFill>
                <a:latin typeface="Amiri" pitchFamily="2" charset="-78"/>
                <a:ea typeface="Amiri" pitchFamily="2" charset="-78"/>
                <a:cs typeface="Amiri" pitchFamily="2" charset="-78"/>
              </a:rPr>
              <a:t>فَأَزُورُ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كَانَ الجَوُّ جَمِيلٌ نَخْرُجُ.</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كَانَ الجَوُّ جَمِيلًا نَخْرُجُ.</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makes the adjective accusative: </a:t>
            </a:r>
            <a:pPr algn="l" indent="0" marL="0">
              <a:buNone/>
            </a:pPr>
            <a:r>
              <a:rPr lang="ar-SA" altLang="en-US" sz="1500" b="1" dirty="0">
                <a:solidFill>
                  <a:srgbClr val="1B3B6F"/>
                </a:solidFill>
                <a:latin typeface="Amiri" pitchFamily="2" charset="-78"/>
                <a:ea typeface="Amiri" pitchFamily="2" charset="-78"/>
                <a:cs typeface="Amiri" pitchFamily="2" charset="-78"/>
              </a:rPr>
              <a:t>جَمِيلًا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أَنَامُ وَقْتًا أَطْوَلُ فِي العُطْلَةِ.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أَنَامُ وَقْتًا أَطْوَلَ فِي العُطْلَةِ.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Agreeing comparative: </a:t>
            </a:r>
            <a:pPr algn="l" indent="0" marL="0">
              <a:buNone/>
            </a:pPr>
            <a:r>
              <a:rPr lang="ar-SA" altLang="en-US" sz="1500" b="1" dirty="0">
                <a:solidFill>
                  <a:srgbClr val="1B3B6F"/>
                </a:solidFill>
                <a:latin typeface="Amiri" pitchFamily="2" charset="-78"/>
                <a:ea typeface="Amiri" pitchFamily="2" charset="-78"/>
                <a:cs typeface="Amiri" pitchFamily="2" charset="-78"/>
              </a:rPr>
              <a:t>أَطْوَلَ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فِي نِهَايَةِ الأُسْبُوعِ 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the weekend,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كَانَ الجَوُّ ______ ،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weather is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أَيَّامِ الدِّرَاسَةِ أَسْتَيْقِظُ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school days I wake up at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السَّبْتِ ______ ، ثُمَّ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Saturday I …, then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الأَحَدِ غَالِبًا مَا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Sunday I often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أُسْبُوعِي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my week is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أَنَامُ وَقْتًا أَطْوَلَ  ·  أَزُورُ أَقَارِبِي  ·  أَلْتَقِي بِأَصْدِقَائِي  ·  غَالِبًا مَا  ·  فِي بَعْضِ الأَحْيَانِ  ·  أَمَّا … فَ…  ·  بَيْنَمَا · إِذَا  ·  مُتَوَازِنٌ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blog post: my weekend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مُدَوَّنَةٌ: نِهَايَةُ أُسْبُوعِي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blog post (about 60–80 words) about your weekend compared with the school week. Include: • four weekend activities with times or frequency • one </a:t>
            </a:r>
            <a:pPr algn="l" indent="0" marL="0">
              <a:buNone/>
            </a:pPr>
            <a:r>
              <a:rPr lang="ar-SA" altLang="en-US" sz="1650" b="1" dirty="0">
                <a:solidFill>
                  <a:srgbClr val="1F2A37"/>
                </a:solidFill>
                <a:latin typeface="Amiri" pitchFamily="2" charset="-78"/>
                <a:ea typeface="Amiri" pitchFamily="2" charset="-78"/>
                <a:cs typeface="Amiri" pitchFamily="2" charset="-78"/>
              </a:rPr>
              <a:t>أَمَّا … فَ</a:t>
            </a:r>
            <a:pPr algn="l" indent="0" marL="0">
              <a:buNone/>
            </a:pPr>
            <a:r>
              <a:rPr lang="en-US" sz="1250" b="1" dirty="0">
                <a:solidFill>
                  <a:srgbClr val="1F2A37"/>
                </a:solidFill>
                <a:latin typeface="Calibri" pitchFamily="34" charset="0"/>
                <a:cs typeface="Amiri" pitchFamily="2" charset="-78"/>
              </a:rPr>
              <a:t>… and one </a:t>
            </a:r>
            <a:pPr algn="l" indent="0" marL="0">
              <a:buNone/>
            </a:pPr>
            <a:r>
              <a:rPr lang="ar-SA" altLang="en-US" sz="1650" b="1" dirty="0">
                <a:solidFill>
                  <a:srgbClr val="1F2A37"/>
                </a:solidFill>
                <a:latin typeface="Amiri" pitchFamily="2" charset="-78"/>
                <a:ea typeface="Amiri" pitchFamily="2" charset="-78"/>
                <a:cs typeface="Amiri" pitchFamily="2" charset="-78"/>
              </a:rPr>
              <a:t>بَيْنَمَا</a:t>
            </a:r>
            <a:pPr algn="l" indent="0" marL="0">
              <a:buNone/>
            </a:pPr>
            <a:r>
              <a:rPr lang="en-US" sz="1250" b="1" dirty="0">
                <a:solidFill>
                  <a:srgbClr val="1F2A37"/>
                </a:solidFill>
                <a:latin typeface="Calibri" pitchFamily="34" charset="0"/>
                <a:cs typeface="Amiri" pitchFamily="2" charset="-78"/>
              </a:rPr>
              <a:t> • one </a:t>
            </a:r>
            <a:pPr algn="l" indent="0" marL="0">
              <a:buNone/>
            </a:pPr>
            <a:r>
              <a:rPr lang="ar-SA" altLang="en-US" sz="1650" b="1" dirty="0">
                <a:solidFill>
                  <a:srgbClr val="1F2A37"/>
                </a:solidFill>
                <a:latin typeface="Amiri" pitchFamily="2" charset="-78"/>
                <a:ea typeface="Amiri" pitchFamily="2" charset="-78"/>
                <a:cs typeface="Amiri" pitchFamily="2" charset="-78"/>
              </a:rPr>
              <a:t>إِذَا</a:t>
            </a:r>
            <a:pPr algn="l" indent="0" marL="0">
              <a:buNone/>
            </a:pPr>
            <a:r>
              <a:rPr lang="en-US" sz="1250" b="1" dirty="0">
                <a:solidFill>
                  <a:srgbClr val="1F2A37"/>
                </a:solidFill>
                <a:latin typeface="Calibri" pitchFamily="34" charset="0"/>
                <a:cs typeface="Amiri" pitchFamily="2" charset="-78"/>
              </a:rPr>
              <a:t> sentence (Plan B) • a judgement: is your week balanced? why?</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فِي أَيَّامِ الدِّرَاسَةِ …، أَمَّا فِي نِهَايَةِ الأُسْبُوعِ فَ…</a:t>
            </a:r>
            <a:endParaRPr lang="ar-SA" sz="145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school days …; as for the weekend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غَالِبًا مَا … · فِي بَعْضِ الأَحْيَانِ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often … · sometimes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كَانَ الجَوُّ … ،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the weather is …,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أُسْبُوعِي مُتَوَازِنٌ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think my week is balanced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four weekend activities with times or frequency?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 with </a:t>
            </a:r>
            <a:pPr algn="l" indent="0" marL="0">
              <a:buNone/>
            </a:pPr>
            <a:r>
              <a:rPr lang="ar-SA" altLang="en-US" sz="1450" dirty="0">
                <a:solidFill>
                  <a:srgbClr val="5A6472"/>
                </a:solidFill>
                <a:latin typeface="Amiri" pitchFamily="2" charset="-78"/>
                <a:ea typeface="Amiri" pitchFamily="2" charset="-78"/>
                <a:cs typeface="Amiri" pitchFamily="2" charset="-78"/>
              </a:rPr>
              <a:t>أَمَّا … فَ… / بَيْنَمَا</a:t>
            </a:r>
            <a:pPr algn="l" indent="0" marL="0">
              <a:buNone/>
            </a:pPr>
            <a:r>
              <a:rPr lang="en-US" sz="1100" dirty="0">
                <a:solidFill>
                  <a:srgbClr val="5A6472"/>
                </a:solidFill>
                <a:latin typeface="Calibri" pitchFamily="34" charset="0"/>
                <a:cs typeface="Amiri" pitchFamily="2" charset="-78"/>
              </a:rPr>
              <a:t> and use </a:t>
            </a:r>
            <a:pPr algn="l" indent="0" marL="0">
              <a:buNone/>
            </a:pPr>
            <a:r>
              <a:rPr lang="ar-SA" altLang="en-US" sz="1450" dirty="0">
                <a:solidFill>
                  <a:srgbClr val="5A6472"/>
                </a:solidFill>
                <a:latin typeface="Amiri" pitchFamily="2" charset="-78"/>
                <a:ea typeface="Amiri" pitchFamily="2" charset="-78"/>
                <a:cs typeface="Amiri" pitchFamily="2" charset="-78"/>
              </a:rPr>
              <a:t>إِذَا كَانَ</a:t>
            </a:r>
            <a:pPr algn="l" indent="0" marL="0">
              <a:buNone/>
            </a:pPr>
            <a:r>
              <a:rPr lang="en-US" sz="1100" dirty="0">
                <a:solidFill>
                  <a:srgbClr val="5A6472"/>
                </a:solidFill>
                <a:latin typeface="Calibri" pitchFamily="34" charset="0"/>
                <a:cs typeface="Amiri" pitchFamily="2" charset="-78"/>
              </a:rPr>
              <a:t> … correctly?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عَادَةً أَنَامُ حَتَّى التَّاسِعَةِ، ثُمَّ أَلْعَبُ كُرَةَ القَدَمِ فِي الحَدِيقَةِ.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usually sleep until nine, then play football in the park.</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تَفْعَلُ عَادَةً يَوْمَ السَّبْتِ؟</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كَانَ الجَوُّ سَيِّئًا نَذْهَبُ إِلَى المَتْحَفِ أَوِ السِّينِمَا.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the weather is bad, we go to the museum or the cinema.</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كَانَ الجَوُّ سَيِّئًا؟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 يَوْمُ الأَحَدِ فَنَزُورُ جَدَّتِي، وَنَتَغَدَّى عِنْدَهَا.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 for Sunday, we visit my grandmother and have lunch at her house.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وَيَوْمَ الأَحَدِ؟</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لِذٰلِكَ أُرَاجِعُ سَاعَةً صَبَاحَ الأَحَدِ، قَبْلَ أَنْ نَخْرُجَ.</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so I revise for an hour on Sunday morning, before we go out.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عِنْدَكَ وَاجِبٌ فِي نِهَايَةِ الأُسْبُوعِ؟</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فِي أَيَّامِ الدِّرَاسَةِ أَسْتَيْقِظُ فِي السَّادِسَةِ، وَأَدْرُسُ حَتَّى المَسَاءِ. أَمَّا فِي نِهَايَةِ الأُسْبُوعِ فَأَنَامُ وَقْتًا أَطْوَلَ، حَتَّى التَّاسِعَةِ تَقْرِيبًا. يَوْمَ السَّبْتِ أَلْعَبُ التِّنِسَ مَعَ أَبِي، ثُمَّ أَلْتَقِي بِأَصْدِقَائِي فِي المَرْكَزِ التِّجَارِيِّ. يَوْمَ الأَحَدِ غَالِبًا مَا نَزُورُ أَقَارِبَنَا، وَإِذَا كَانَ الجَوُّ جَمِيلًا نَتَنَزَّهُ فِي الرِّيفِ. أُرَاجِعُ سَاعَةً وَاحِدَةً فَقَطْ، بَيْنَمَا أُرَاجِعُ ثَلَاثَ سَاعَاتٍ فِي الأُسْبُوعِ. فِي رَأْيِي أُسْبُوعِي مُتَوَازِنٌ، لِأَنَّنِي أَعْمَلُ بِجِدٍّ ثُمَّ أَرْتَاحُ.</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 school days I wake up at six and study until the evening. As for the weekend, I sleep longer, until about nine. On Saturday I play tennis with my dad, then meet my friends at the shopping centre. On Sunday we often visit our relatives, and if the weather is nice we go for a walk in the countryside. I revise for only one hour, whereas I revise three hours in the week. In my opinion my week is balanced, because I work hard and then rest.”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فِي نِهَايَةِ الأُسْبُوعِ فَأَنَامُ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غَالِبًا 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وَإِذَا كَانَ الجَوُّ جَمِيلًا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أُرَاجِعُ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D1-L09 · Reading Daily Routines and Weekly Schedules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قِرَاءَةُ الرُّوتِينِ اليَوْمِيِّ وَالجَدَاوِلِ الأُسْبُوعِيَّةِ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D1-L08 · Practice Room — Weekend Routine — What Do You Do at the Weekend?</dc:title>
  <dc:subject>PptxGenJS Presentation</dc:subject>
  <dc:creator>Al Madina Online School · Arabic Department</dc:creator>
  <cp:lastModifiedBy>Al Madina Online School · Arabic Department</cp:lastModifiedBy>
  <cp:revision>1</cp:revision>
  <dcterms:created xsi:type="dcterms:W3CDTF">2026-10-25T17:58:37Z</dcterms:created>
  <dcterms:modified xsi:type="dcterms:W3CDTF">2026-10-25T17:58:37Z</dcterms:modified>
</cp:coreProperties>
</file>