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D1-L02 (Telling the Time — What Time Is It?) — new practice tasks built on the lesson’s own word bank and grammar (kami al-sāʿatu?; al-sāʿatu + feminine ordinal + wa-l-rubʿ / wa-l-niṣf / wa-l-thulth / illā al-rubʿa; yabdaʾu / yantahī fī …; yastamirru … (lasts); 24-hour times on timetables).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D1-L02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no changes — you speak about “we” (نَخْرُجُ · نَرْجِعُ). Times with fractions (wa-l-thulth · illā al-thulth) · durations with yastamirru · ḥattā lā + verb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(61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D1  ·  D1-L02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D1-L02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Telling the Time — What Time Is It?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كَمِ السَّاعَةُ؟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50" dirty="0">
                <a:solidFill>
                  <a:srgbClr val="C6D2E6"/>
                </a:solidFill>
                <a:latin typeface="Calibri" pitchFamily="34" charset="0"/>
                <a:cs typeface="Amiri" pitchFamily="2" charset="-78"/>
              </a:rPr>
              <a:t>Students run their own speaking and writing practice with clock times: say the time words, act a short dialogue, answer timetable cards, do a role-play card planning a day at a theme park, give a one-minute talk about their timetable, then build, fix and write a timed schedule email.</a:t>
            </a:r>
            <a:endParaRPr lang="en-US" sz="13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D1-L02 · Development D1 · Daily Routine and Time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D1 › D1-L02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Telling the time (1)</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وَخَمْسُ دَقَائِقَ</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five past</a:t>
            </a:r>
            <a:endParaRPr lang="en-US" sz="1350" dirty="0"/>
          </a:p>
          <a:p>
            <a:pPr indent="0" marL="0">
              <a:buNone/>
            </a:pPr>
            <a:r>
              <a:rPr lang="en-US" sz="1100" i="1" dirty="0">
                <a:solidFill>
                  <a:srgbClr val="5A6472"/>
                </a:solidFill>
                <a:latin typeface="Calibri" pitchFamily="34" charset="0"/>
                <a:cs typeface="Amiri" pitchFamily="2" charset="-78"/>
              </a:rPr>
              <a:t>wa-kham-su da-qā-ʾi-qa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وَعَشْرُ دَقَائِقَ</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ten past</a:t>
            </a:r>
            <a:endParaRPr lang="en-US" sz="1350" dirty="0"/>
          </a:p>
          <a:p>
            <a:pPr indent="0" marL="0">
              <a:buNone/>
            </a:pPr>
            <a:r>
              <a:rPr lang="en-US" sz="1100" i="1" dirty="0">
                <a:solidFill>
                  <a:srgbClr val="5A6472"/>
                </a:solidFill>
                <a:latin typeface="Calibri" pitchFamily="34" charset="0"/>
                <a:cs typeface="Amiri" pitchFamily="2" charset="-78"/>
              </a:rPr>
              <a:t>wa-ʿash-ru da-qā-ʾi-qa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وَالرُّبْعُ</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quarter past</a:t>
            </a:r>
            <a:endParaRPr lang="en-US" sz="1350" dirty="0"/>
          </a:p>
          <a:p>
            <a:pPr indent="0" marL="0">
              <a:buNone/>
            </a:pPr>
            <a:r>
              <a:rPr lang="en-US" sz="1100" i="1" dirty="0">
                <a:solidFill>
                  <a:srgbClr val="5A6472"/>
                </a:solidFill>
                <a:latin typeface="Calibri" pitchFamily="34" charset="0"/>
                <a:cs typeface="Amiri" pitchFamily="2" charset="-78"/>
              </a:rPr>
              <a:t>wālr-rub-ʿu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وَالنِّصْفُ</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half past</a:t>
            </a:r>
            <a:endParaRPr lang="en-US" sz="1350" dirty="0"/>
          </a:p>
          <a:p>
            <a:pPr indent="0" marL="0">
              <a:buNone/>
            </a:pPr>
            <a:r>
              <a:rPr lang="en-US" sz="1100" i="1" dirty="0">
                <a:solidFill>
                  <a:srgbClr val="5A6472"/>
                </a:solidFill>
                <a:latin typeface="Calibri" pitchFamily="34" charset="0"/>
                <a:cs typeface="Amiri" pitchFamily="2" charset="-78"/>
              </a:rPr>
              <a:t>wāln-niṣ-fu</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إِلَّا خَمْسَ دَقَائِقَ</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five to</a:t>
            </a:r>
            <a:endParaRPr lang="en-US" sz="1350" dirty="0"/>
          </a:p>
          <a:p>
            <a:pPr indent="0" marL="0">
              <a:buNone/>
            </a:pPr>
            <a:r>
              <a:rPr lang="en-US" sz="1100" i="1" dirty="0">
                <a:solidFill>
                  <a:srgbClr val="5A6472"/>
                </a:solidFill>
                <a:latin typeface="Calibri" pitchFamily="34" charset="0"/>
                <a:cs typeface="Amiri" pitchFamily="2" charset="-78"/>
              </a:rPr>
              <a:t>il-lā kham-sa da-qā-ʾi-qa</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إِلَّا الرُّبْعَ</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quarter to</a:t>
            </a:r>
            <a:endParaRPr lang="en-US" sz="1350" dirty="0"/>
          </a:p>
          <a:p>
            <a:pPr indent="0" marL="0">
              <a:buNone/>
            </a:pPr>
            <a:r>
              <a:rPr lang="en-US" sz="1100" i="1" dirty="0">
                <a:solidFill>
                  <a:srgbClr val="5A6472"/>
                </a:solidFill>
                <a:latin typeface="Calibri" pitchFamily="34" charset="0"/>
                <a:cs typeface="Amiri" pitchFamily="2" charset="-78"/>
              </a:rPr>
              <a:t>il-lā ar-rub-ʿa</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Telling the time (2) and duration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I</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يَبْدَأُ</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begins</a:t>
            </a:r>
            <a:endParaRPr lang="en-US" sz="1350" dirty="0"/>
          </a:p>
          <a:p>
            <a:pPr indent="0" marL="0">
              <a:buNone/>
            </a:pPr>
            <a:r>
              <a:rPr lang="en-US" sz="1100" i="1" dirty="0">
                <a:solidFill>
                  <a:srgbClr val="5A6472"/>
                </a:solidFill>
                <a:latin typeface="Calibri" pitchFamily="34" charset="0"/>
                <a:cs typeface="Amiri" pitchFamily="2" charset="-78"/>
              </a:rPr>
              <a:t>yab-da-ʾu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he / it</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يَبْدَأُ</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تَبْدَأُ</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أَبْدَأُ</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I</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يَنْتَهِي</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ends</a:t>
            </a:r>
            <a:endParaRPr lang="en-US" sz="1350" dirty="0"/>
          </a:p>
          <a:p>
            <a:pPr indent="0" marL="0">
              <a:buNone/>
            </a:pPr>
            <a:r>
              <a:rPr lang="en-US" sz="1100" i="1" dirty="0">
                <a:solidFill>
                  <a:srgbClr val="5A6472"/>
                </a:solidFill>
                <a:latin typeface="Calibri" pitchFamily="34" charset="0"/>
                <a:cs typeface="Amiri" pitchFamily="2" charset="-78"/>
              </a:rPr>
              <a:t>yan-ta-hī</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he / it</a:t>
            </a:r>
            <a:endParaRPr lang="en-US" sz="700" dirty="0"/>
          </a:p>
        </p:txBody>
      </p:sp>
      <p:sp>
        <p:nvSpPr>
          <p:cNvPr id="44" name="Text 41"/>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يَنْتَهِي</a:t>
            </a:r>
            <a:endParaRPr lang="ar-SA" sz="135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a:t>
            </a:r>
            <a:endParaRPr lang="en-US" sz="700" dirty="0"/>
          </a:p>
        </p:txBody>
      </p:sp>
      <p:sp>
        <p:nvSpPr>
          <p:cNvPr id="47" name="Text 44"/>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تَنْتَهِي</a:t>
            </a:r>
            <a:endParaRPr lang="ar-SA" sz="135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أَنْتَهِي</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4" name="Text 5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وَالثُّلُثُ</a:t>
            </a:r>
            <a:endParaRPr lang="ar-SA" sz="3000" dirty="0"/>
          </a:p>
        </p:txBody>
      </p:sp>
      <p:sp>
        <p:nvSpPr>
          <p:cNvPr id="55" name="Text 5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twenty past</a:t>
            </a:r>
            <a:endParaRPr lang="en-US" sz="1350" dirty="0"/>
          </a:p>
          <a:p>
            <a:pPr indent="0" marL="0">
              <a:buNone/>
            </a:pPr>
            <a:r>
              <a:rPr lang="en-US" sz="1100" i="1" dirty="0">
                <a:solidFill>
                  <a:srgbClr val="5A6472"/>
                </a:solidFill>
                <a:latin typeface="Calibri" pitchFamily="34" charset="0"/>
                <a:cs typeface="Amiri" pitchFamily="2" charset="-78"/>
              </a:rPr>
              <a:t>wālth-thu-lu-thu</a:t>
            </a:r>
            <a:endParaRPr lang="en-US" sz="135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9" name="Text 5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إِلَّا عَشْرَ دَقَائِقَ</a:t>
            </a:r>
            <a:endParaRPr lang="ar-SA" sz="3000" dirty="0"/>
          </a:p>
        </p:txBody>
      </p:sp>
      <p:sp>
        <p:nvSpPr>
          <p:cNvPr id="60" name="Text 5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ten to</a:t>
            </a:r>
            <a:endParaRPr lang="en-US" sz="1350" dirty="0"/>
          </a:p>
          <a:p>
            <a:pPr indent="0" marL="0">
              <a:buNone/>
            </a:pPr>
            <a:r>
              <a:rPr lang="en-US" sz="1100" i="1" dirty="0">
                <a:solidFill>
                  <a:srgbClr val="5A6472"/>
                </a:solidFill>
                <a:latin typeface="Calibri" pitchFamily="34" charset="0"/>
                <a:cs typeface="Amiri" pitchFamily="2" charset="-78"/>
              </a:rPr>
              <a:t>il-lā ʿash-ra da-qā-ʾi-qa</a:t>
            </a:r>
            <a:endParaRPr lang="en-US" sz="135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4" name="Text 6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إِلَّا الثُّلُثَ</a:t>
            </a:r>
            <a:endParaRPr lang="ar-SA" sz="3000" dirty="0"/>
          </a:p>
        </p:txBody>
      </p:sp>
      <p:sp>
        <p:nvSpPr>
          <p:cNvPr id="65" name="Text 6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twenty to</a:t>
            </a:r>
            <a:endParaRPr lang="en-US" sz="1350" dirty="0"/>
          </a:p>
          <a:p>
            <a:pPr indent="0" marL="0">
              <a:buNone/>
            </a:pPr>
            <a:r>
              <a:rPr lang="en-US" sz="1100" i="1" dirty="0">
                <a:solidFill>
                  <a:srgbClr val="5A6472"/>
                </a:solidFill>
                <a:latin typeface="Calibri" pitchFamily="34" charset="0"/>
                <a:cs typeface="Amiri" pitchFamily="2" charset="-78"/>
              </a:rPr>
              <a:t>il-lā ath-thu-lu-tha</a:t>
            </a:r>
            <a:endParaRPr lang="en-US" sz="1350" dirty="0"/>
          </a:p>
        </p:txBody>
      </p:sp>
      <p:sp>
        <p:nvSpPr>
          <p:cNvPr id="66" name="Shape 6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566928"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9" name="Shape 66"/>
          <p:cNvSpPr/>
          <p:nvPr/>
        </p:nvSpPr>
        <p:spPr>
          <a:xfrm>
            <a:off x="960120" y="4279392"/>
            <a:ext cx="771754" cy="256032"/>
          </a:xfrm>
          <a:prstGeom prst="roundRect">
            <a:avLst>
              <a:gd name="adj" fmla="val 50000"/>
            </a:avLst>
          </a:prstGeom>
          <a:solidFill>
            <a:srgbClr val="EFE7D2"/>
          </a:solidFill>
          <a:ln w="12700">
            <a:solidFill>
              <a:srgbClr val="EFE7D2"/>
            </a:solidFill>
            <a:prstDash val="solid"/>
          </a:ln>
        </p:spPr>
      </p:sp>
      <p:sp>
        <p:nvSpPr>
          <p:cNvPr id="70" name="Text 67"/>
          <p:cNvSpPr txBox="1"/>
          <p:nvPr/>
        </p:nvSpPr>
        <p:spPr>
          <a:xfrm>
            <a:off x="960120"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a:t>
            </a:r>
            <a:endParaRPr lang="en-US" sz="800" dirty="0"/>
          </a:p>
        </p:txBody>
      </p:sp>
      <p:sp>
        <p:nvSpPr>
          <p:cNvPr id="71" name="Text 68"/>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يَسْتَمِرُّ</a:t>
            </a:r>
            <a:endParaRPr lang="ar-SA" sz="3000" dirty="0"/>
          </a:p>
        </p:txBody>
      </p:sp>
      <p:sp>
        <p:nvSpPr>
          <p:cNvPr id="72" name="Text 69"/>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continues / lasts</a:t>
            </a:r>
            <a:endParaRPr lang="en-US" sz="1350" dirty="0"/>
          </a:p>
          <a:p>
            <a:pPr indent="0" marL="0">
              <a:buNone/>
            </a:pPr>
            <a:r>
              <a:rPr lang="en-US" sz="1100" i="1" dirty="0">
                <a:solidFill>
                  <a:srgbClr val="5A6472"/>
                </a:solidFill>
                <a:latin typeface="Calibri" pitchFamily="34" charset="0"/>
                <a:cs typeface="Amiri" pitchFamily="2" charset="-78"/>
              </a:rPr>
              <a:t>yas-ta-mir-ru</a:t>
            </a:r>
            <a:endParaRPr lang="en-US" sz="1350" dirty="0"/>
          </a:p>
        </p:txBody>
      </p:sp>
      <p:sp>
        <p:nvSpPr>
          <p:cNvPr id="73" name="Shape 70"/>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74" name="Text 71"/>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he / it</a:t>
            </a:r>
            <a:endParaRPr lang="en-US" sz="700" dirty="0"/>
          </a:p>
        </p:txBody>
      </p:sp>
      <p:sp>
        <p:nvSpPr>
          <p:cNvPr id="75" name="Text 72"/>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يَسْتَمِرُّ</a:t>
            </a:r>
            <a:endParaRPr lang="ar-SA" sz="1350" dirty="0"/>
          </a:p>
        </p:txBody>
      </p:sp>
      <p:sp>
        <p:nvSpPr>
          <p:cNvPr id="76" name="Shape 73"/>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a:t>
            </a:r>
            <a:endParaRPr lang="en-US" sz="700" dirty="0"/>
          </a:p>
        </p:txBody>
      </p:sp>
      <p:sp>
        <p:nvSpPr>
          <p:cNvPr id="78" name="Text 75"/>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تَسْتَمِرُّ</a:t>
            </a:r>
            <a:endParaRPr lang="ar-SA" sz="13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time does it start?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مَتَى يَبْدَأُ؟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time is it now?</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كَمِ السَّاعَةُ الآنَ؟</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is quarter to four.</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السَّاعَةُ الرَّابِعَةُ إِلَّا الرُّبْعَ.</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does the film start?</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مَتَى يَبْدَأُ الفِيلْمُ؟</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starts at twenty past four and finishes at ten to six.</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يَبْدَأُ فِي الرَّابِعَةِ وَالثُّلُثِ، وَيَنْتَهِي فِي السَّادِسَةِ إِلَّا عَشْرَ دَقَائِقَ.</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 it lasts an hour and a half.</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إِذَنْ يَسْتَمِرُّ سَاعَةً وَنِصْفًا.</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Right! But the last bus is at quarter past six, so no problem.</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صَحِيحٌ! لٰكِنَّ الحَافِلَةَ الأَخِيرَةَ فِي السَّادِسَةِ وَالرُّبْعِ، لِذٰلِكَ لَا مُشْكِلَةَ.</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change all the times — the partner must calculate how long it lasts.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تَقْرِيبًا</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السَّاعَةُ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time is it now?</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السَّاعَةُ الآنَ؟</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أَيْ يَسْتَمِرُّ … سَاعَاتٍ</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يَبْدَأُ فِي … وَيَنْتَهِي فِي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does your school day start and end?</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يَبْدَأُ يَوْمُكَ المَدْرَسِيُّ وَمَتَى يَنْتَهِي؟</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 حِصَّةَ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تَسْتَمِرُّ … دَقِيقَةً</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long does a lesson last?</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تَسْتَمِرُّ الحِصَّةُ؟</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وَأَحْيَانًا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 ← السَّابِعَةِ وَالنِّصْفِ</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 you have dinner?</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تَتَنَاوَلُ العَشَاءَ؟</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مَثَلًا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أُفَضِّلُ السَّاعَةَ … لِأَنَّ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favourite time of day? Why?</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الوَقْتُ المُفَضَّلُ عِنْدَكَ فِي اليَوْمِ؟ لِمَاذَا؟</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Role-play card — planning a day at a theme park</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يَوْمٌ فِي مَدِينَةِ المَلَاهِي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 تَفْتَحُ فِي … وَالنِّصْفِ</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the opening time.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تَفْتَحُ مَدِينَةُ المَلَاهِي؟</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 نَخْرُجُ فِي … لِأَنَّ الرِّحْلَةَ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Suggest a time + reason.</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وَمَتَى نَخْرُجُ مِنَ البَيْتِ؟</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 + how long it lasts.</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هُنَاكَ عَرْضٌ فِي الثَّانِيَةِ إِلَّا الثُّلُثَ. هَلْ نَذْهَبُ؟</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surprise question.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وَمَتَى نَرْجِعُ؟ القِطَارُ الأَخِيرُ فِي السَّادِسَةِ.</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yourself · Leader = a friend planning with you.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my timetable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جَدْوَلِي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about your school day and evening with at least SIX exact times and two durations.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Four times with </a:t>
            </a:r>
            <a:pPr algn="l" indent="0" marL="0">
              <a:buNone/>
            </a:pPr>
            <a:r>
              <a:rPr lang="ar-SA" altLang="en-US" sz="1500" dirty="0">
                <a:solidFill>
                  <a:srgbClr val="1F2A37"/>
                </a:solidFill>
                <a:latin typeface="Amiri" pitchFamily="2" charset="-78"/>
                <a:ea typeface="Amiri" pitchFamily="2" charset="-78"/>
                <a:cs typeface="Amiri" pitchFamily="2" charset="-78"/>
              </a:rPr>
              <a:t>السَّاعَةُ</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وَالرُّبْعُ / وَالنِّصْفُ</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Six times including </a:t>
            </a:r>
            <a:pPr algn="l" indent="0" marL="0">
              <a:buNone/>
            </a:pPr>
            <a:r>
              <a:rPr lang="ar-SA" altLang="en-US" sz="1500" dirty="0">
                <a:solidFill>
                  <a:srgbClr val="1F2A37"/>
                </a:solidFill>
                <a:latin typeface="Amiri" pitchFamily="2" charset="-78"/>
                <a:ea typeface="Amiri" pitchFamily="2" charset="-78"/>
                <a:cs typeface="Amiri" pitchFamily="2" charset="-78"/>
              </a:rPr>
              <a:t>إِلَّا الرُّبْعَ / وَالثُّلُثُ</a:t>
            </a:r>
            <a:pPr algn="l" indent="0" marL="0">
              <a:buNone/>
            </a:pPr>
            <a:r>
              <a:rPr lang="en-US" sz="1150" dirty="0">
                <a:solidFill>
                  <a:srgbClr val="1F2A37"/>
                </a:solidFill>
                <a:latin typeface="Calibri" pitchFamily="34" charset="0"/>
                <a:cs typeface="Amiri" pitchFamily="2" charset="-78"/>
              </a:rPr>
              <a:t> + two durations (</a:t>
            </a:r>
            <a:pPr algn="l" indent="0" marL="0">
              <a:buNone/>
            </a:pPr>
            <a:r>
              <a:rPr lang="ar-SA" altLang="en-US" sz="1500" dirty="0">
                <a:solidFill>
                  <a:srgbClr val="1F2A37"/>
                </a:solidFill>
                <a:latin typeface="Amiri" pitchFamily="2" charset="-78"/>
                <a:ea typeface="Amiri" pitchFamily="2" charset="-78"/>
                <a:cs typeface="Amiri" pitchFamily="2" charset="-78"/>
              </a:rPr>
              <a:t>يَسْتَمِرُّ</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24-hour times from a timetable and a comparison of weekday and weekend.</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lesson starts at twenty past ten.</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تَبْدَأُ الحِصَّةُ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يَبْدَأُ الحِصَّةُ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العَاشِرَةِ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عَشَرَةٍ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وَالثُّلُثِ.</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إِلَّا الثُّلُثَ.</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match lasts an hour and a half.</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تَسْتَمِرُّ</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يَسْتَمِرُّونَ</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المُبَارَاةُ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المُبَارَاةَ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سَاعَةً وَنِصْفًا.</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سَاعَةٌ وَنِصْفٌ.</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It is quarter to seven.</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السَّاعَةُ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السَّاعَةَ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السَّابِعَةُ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سَبْعَةٌ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إِلَّا الرُّبْعَ.</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وَالرُّبْعُ.</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lesson starts at twenty past ten.</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حِصَّةٌ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تَبْدَأُ</a:t>
            </a:r>
            <a:pPr algn="l" indent="0" marL="0">
              <a:buNone/>
            </a:pPr>
            <a:r>
              <a:rPr lang="en-US" sz="1050" i="1" dirty="0">
                <a:solidFill>
                  <a:srgbClr val="5A6472"/>
                </a:solidFill>
                <a:latin typeface="Calibri" pitchFamily="34" charset="0"/>
                <a:cs typeface="Amiri" pitchFamily="2" charset="-78"/>
              </a:rPr>
              <a:t>; twenty past = </a:t>
            </a:r>
            <a:pPr algn="l" indent="0" marL="0">
              <a:buNone/>
            </a:pPr>
            <a:r>
              <a:rPr lang="ar-SA" altLang="en-US" sz="1350" dirty="0">
                <a:solidFill>
                  <a:srgbClr val="5A6472"/>
                </a:solidFill>
                <a:latin typeface="Amiri" pitchFamily="2" charset="-78"/>
                <a:ea typeface="Amiri" pitchFamily="2" charset="-78"/>
                <a:cs typeface="Amiri" pitchFamily="2" charset="-78"/>
              </a:rPr>
              <a:t>وَالثُّلُثِ</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تَبْدَأُ الحِصَّةُ فِي العَاشِرَةِ وَالثُّلُثِ.</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match lasts an hour and a half.</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مُبَارَاةٌ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تَسْتَمِرُّ</a:t>
            </a:r>
            <a:pPr algn="l" indent="0" marL="0">
              <a:buNone/>
            </a:pPr>
            <a:r>
              <a:rPr lang="en-US" sz="1050" i="1" dirty="0">
                <a:solidFill>
                  <a:srgbClr val="5A6472"/>
                </a:solidFill>
                <a:latin typeface="Calibri" pitchFamily="34" charset="0"/>
                <a:cs typeface="Amiri" pitchFamily="2" charset="-78"/>
              </a:rPr>
              <a:t>; duration in the accusative.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تَسْتَمِرُّ المُبَارَاةُ سَاعَةً وَنِصْفًا.</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It is quarter to seven.</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Quarter to = </a:t>
            </a:r>
            <a:pPr algn="l" indent="0" marL="0">
              <a:buNone/>
            </a:pPr>
            <a:r>
              <a:rPr lang="ar-SA" altLang="en-US" sz="1350" dirty="0">
                <a:solidFill>
                  <a:srgbClr val="5A6472"/>
                </a:solidFill>
                <a:latin typeface="Amiri" pitchFamily="2" charset="-78"/>
                <a:ea typeface="Amiri" pitchFamily="2" charset="-78"/>
                <a:cs typeface="Amiri" pitchFamily="2" charset="-78"/>
              </a:rPr>
              <a:t>إِلَّا الرُّبْعَ</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السَّاعَةُ السَّابِعَةُ إِلَّا الرُّبْعَ.</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السَّاعَةُ ثَلَاثَةٌ وَالنِّصْفُ.</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Clock times use the ordinal.</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يَبْدَأُ الحِصَّةُ فِي التَّاسِعَةِ.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حِصَّةٌ</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السَّاعَةُ الخَامِسَةُ إِلَّا الرُّبْعُ.</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إِلَّا</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السَّاعَةُ ثَلَاثَةٌ وَالنِّصْفُ.</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السَّاعَةُ الثَّالِثَةُ وَالنِّصْفُ.</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ordinal: </a:t>
            </a:r>
            <a:pPr algn="l" indent="0" marL="0">
              <a:buNone/>
            </a:pPr>
            <a:r>
              <a:rPr lang="ar-SA" altLang="en-US" sz="1500" b="1" dirty="0">
                <a:solidFill>
                  <a:srgbClr val="1B3B6F"/>
                </a:solidFill>
                <a:latin typeface="Amiri" pitchFamily="2" charset="-78"/>
                <a:ea typeface="Amiri" pitchFamily="2" charset="-78"/>
                <a:cs typeface="Amiri" pitchFamily="2" charset="-78"/>
              </a:rPr>
              <a:t>الثَّالِثَةُ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يَبْدَأُ الحِصَّةُ فِي التَّاسِعَةِ.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تَبْدَأُ الحِصَّةُ فِي التَّاسِعَةِ.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subject → </a:t>
            </a:r>
            <a:pPr algn="l" indent="0" marL="0">
              <a:buNone/>
            </a:pPr>
            <a:r>
              <a:rPr lang="ar-SA" altLang="en-US" sz="1500" b="1" dirty="0">
                <a:solidFill>
                  <a:srgbClr val="1B3B6F"/>
                </a:solidFill>
                <a:latin typeface="Amiri" pitchFamily="2" charset="-78"/>
                <a:ea typeface="Amiri" pitchFamily="2" charset="-78"/>
                <a:cs typeface="Amiri" pitchFamily="2" charset="-78"/>
              </a:rPr>
              <a:t>تَبْدَأُ</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السَّاعَةُ الخَامِسَةُ إِلَّا الرُّبْعُ.</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السَّاعَةُ الخَامِسَةُ إِلَّا الرُّبْعَ.</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إِلَّا</a:t>
            </a:r>
            <a:pPr algn="l" indent="0" marL="0">
              <a:buNone/>
            </a:pPr>
            <a:r>
              <a:rPr lang="en-US" sz="1150" b="1" dirty="0">
                <a:solidFill>
                  <a:srgbClr val="1B3B6F"/>
                </a:solidFill>
                <a:latin typeface="Calibri" pitchFamily="34" charset="0"/>
                <a:cs typeface="Amiri" pitchFamily="2" charset="-78"/>
              </a:rPr>
              <a:t> + accusative: </a:t>
            </a:r>
            <a:pPr algn="l" indent="0" marL="0">
              <a:buNone/>
            </a:pPr>
            <a:r>
              <a:rPr lang="ar-SA" altLang="en-US" sz="1500" b="1" dirty="0">
                <a:solidFill>
                  <a:srgbClr val="1B3B6F"/>
                </a:solidFill>
                <a:latin typeface="Amiri" pitchFamily="2" charset="-78"/>
                <a:ea typeface="Amiri" pitchFamily="2" charset="-78"/>
                <a:cs typeface="Amiri" pitchFamily="2" charset="-78"/>
              </a:rPr>
              <a:t>الرُّبْعَ</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lnSpc>
                <a:spcPct val="120000"/>
              </a:lnSpc>
              <a:buNone/>
            </a:pPr>
            <a:r>
              <a:rPr lang="ar-SA" altLang="en-US" sz="1150" b="1" dirty="0">
                <a:solidFill>
                  <a:srgbClr val="1B3B6F"/>
                </a:solidFill>
                <a:latin typeface="Amiri" pitchFamily="2" charset="-78"/>
                <a:ea typeface="Amiri" pitchFamily="2" charset="-78"/>
                <a:cs typeface="Amiri" pitchFamily="2" charset="-78"/>
              </a:rPr>
              <a:t>يَبْدَأُ التَّدْرِيبُ فِي ______ ، وَيَنْتَهِي فِي ______ ، لِذٰلِكَ ______ .</a:t>
            </a:r>
            <a:endParaRPr lang="ar-SA" sz="11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Training starts at … and ends at …, so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نَلْتَقِي فِي ______ أَمَامَ ______ ، لِأَنَّ ______ .</a:t>
            </a:r>
            <a:endParaRPr lang="ar-SA" sz="15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Let’s meet at … in front of …, because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مَرْحَبًا يَا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يَوْمَ السَّبْتِ أَسْتَيْقِظُ فِي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Saturday I wake up at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فِي ______ أَذْهَبُ إِلَى ______ ، وَيَسْتَمِرُّ ______ .</a:t>
            </a:r>
            <a:endParaRPr lang="ar-SA" sz="155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At … I go to …, and it lasts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حُرٌّ / حُرَّةٌ مِنَ ______ إِلَى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free from … to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وَالرُّبْعُ · وَالنِّصْفُ  ·  وَالثُّلُثُ · إِلَّا الثُّلُثَ  ·  إِلَّا الرُّبْعَ  ·  يَبْدَأُ · يَنْتَهِي  ·  يَسْتَمِرُّ · تَسْتَمِرُّ  ·  صَبَاحًا · مَسَاءً  ·  حُرٌّ · حُرَّةٌ  ·  لِأَنَّ · لِذٰلِكَ</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An email: my timetable on Saturday</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جَدْوَلِي يَوْمَ السَّبْتِ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A friend wants to meet you on Saturday. Write an email (about 60–80 words) with your timetable for the day. Include: • at least six activities with exact times (including a quarter / third to or past) • two durations (</a:t>
            </a:r>
            <a:pPr algn="l" indent="0" marL="0">
              <a:buNone/>
            </a:pPr>
            <a:r>
              <a:rPr lang="ar-SA" altLang="en-US" sz="1450" b="1" dirty="0">
                <a:solidFill>
                  <a:srgbClr val="1F2A37"/>
                </a:solidFill>
                <a:latin typeface="Amiri" pitchFamily="2" charset="-78"/>
                <a:ea typeface="Amiri" pitchFamily="2" charset="-78"/>
                <a:cs typeface="Amiri" pitchFamily="2" charset="-78"/>
              </a:rPr>
              <a:t>يَسْتَمِرُّ / تَسْتَمِرُّ</a:t>
            </a:r>
            <a:pPr algn="l" indent="0" marL="0">
              <a:buNone/>
            </a:pPr>
            <a:r>
              <a:rPr lang="en-US" sz="1100" b="1" dirty="0">
                <a:solidFill>
                  <a:srgbClr val="1F2A37"/>
                </a:solidFill>
                <a:latin typeface="Calibri" pitchFamily="34" charset="0"/>
                <a:cs typeface="Amiri" pitchFamily="2" charset="-78"/>
              </a:rPr>
              <a:t> …) • when you are free and where to meet • a reason with </a:t>
            </a:r>
            <a:pPr algn="l" indent="0" marL="0">
              <a:buNone/>
            </a:pPr>
            <a:r>
              <a:rPr lang="ar-SA" altLang="en-US" sz="1450" b="1" dirty="0">
                <a:solidFill>
                  <a:srgbClr val="1F2A37"/>
                </a:solidFill>
                <a:latin typeface="Amiri" pitchFamily="2" charset="-78"/>
                <a:ea typeface="Amiri" pitchFamily="2" charset="-78"/>
                <a:cs typeface="Amiri" pitchFamily="2" charset="-78"/>
              </a:rPr>
              <a:t>لِأَنَّ</a:t>
            </a:r>
            <a:pPr algn="l" indent="0" marL="0">
              <a:buNone/>
            </a:pPr>
            <a:r>
              <a:rPr lang="en-US" sz="1100" b="1" dirty="0">
                <a:solidFill>
                  <a:srgbClr val="1F2A37"/>
                </a:solidFill>
                <a:latin typeface="Calibri" pitchFamily="34" charset="0"/>
                <a:cs typeface="Amiri" pitchFamily="2" charset="-78"/>
              </a:rPr>
              <a:t>.</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التَّاسِعَةِ وَالرُّبْعِ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at quarter past nine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يَبْدَأُ فِي … وَيَنْتَهِي فِي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starts at … and ends at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يَسْتَمِرُّ / تَسْتَمِرُّ سَاعَةً وَنِصْفًا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lasts an hour and a half</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حُرٌّ / حُرَّةٌ مِنَ … إِلَى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free from … to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clock times with the feminine ordinal (</a:t>
            </a:r>
            <a:pPr algn="l" indent="0" marL="0">
              <a:buNone/>
            </a:pPr>
            <a:r>
              <a:rPr lang="ar-SA" altLang="en-US" sz="1450" dirty="0">
                <a:solidFill>
                  <a:srgbClr val="5A6472"/>
                </a:solidFill>
                <a:latin typeface="Amiri" pitchFamily="2" charset="-78"/>
                <a:ea typeface="Amiri" pitchFamily="2" charset="-78"/>
                <a:cs typeface="Amiri" pitchFamily="2" charset="-78"/>
              </a:rPr>
              <a:t>الثَّالِثَةُ</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fractions (</a:t>
            </a:r>
            <a:pPr algn="l" indent="0" marL="0">
              <a:buNone/>
            </a:pPr>
            <a:r>
              <a:rPr lang="ar-SA" altLang="en-US" sz="1450" dirty="0">
                <a:solidFill>
                  <a:srgbClr val="5A6472"/>
                </a:solidFill>
                <a:latin typeface="Amiri" pitchFamily="2" charset="-78"/>
                <a:ea typeface="Amiri" pitchFamily="2" charset="-78"/>
                <a:cs typeface="Amiri" pitchFamily="2" charset="-78"/>
              </a:rPr>
              <a:t>وَالثُّلُثُ</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إِلَّا الرُّبْعَ</a:t>
            </a:r>
            <a:pPr algn="l" indent="0" marL="0">
              <a:buNone/>
            </a:pPr>
            <a:r>
              <a:rPr lang="en-US" sz="1100" dirty="0">
                <a:solidFill>
                  <a:srgbClr val="5A6472"/>
                </a:solidFill>
                <a:latin typeface="Calibri" pitchFamily="34" charset="0"/>
                <a:cs typeface="Amiri" pitchFamily="2" charset="-78"/>
              </a:rPr>
              <a:t>) and durations (</a:t>
            </a:r>
            <a:pPr algn="l" indent="0" marL="0">
              <a:buNone/>
            </a:pPr>
            <a:r>
              <a:rPr lang="ar-SA" altLang="en-US" sz="1450" dirty="0">
                <a:solidFill>
                  <a:srgbClr val="5A6472"/>
                </a:solidFill>
                <a:latin typeface="Amiri" pitchFamily="2" charset="-78"/>
                <a:ea typeface="Amiri" pitchFamily="2" charset="-78"/>
                <a:cs typeface="Amiri" pitchFamily="2" charset="-78"/>
              </a:rPr>
              <a:t>يَسْتَمِرُّ</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تَفْتَحُ فِي التَّاسِعَةِ وَالنِّصْفِ صَبَاحًا.</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opens at half past nine in the morning.</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تَفْتَحُ مَدِينَةُ المَلَاهِي؟</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نَخْرُجُ فِي الثَّامِنَةِ وَالرُّبْعِ، لِأَنَّ الرِّحْلَةَ تَسْتَمِرُّ سَاعَةً.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leave at quarter past eight, because the journey lasts an hour.</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وَمَتَى نَخْرُجُ مِنَ البَيْتِ؟</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كَمْ يَسْتَمِرُّ العَرْضُ؟ نِصْفَ سَاعَةٍ؟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How long does the show last? Half an hour?</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هُنَاكَ عَرْضٌ فِي الثَّانِيَةِ إِلَّا الثُّلُثَ. هَلْ نَذْهَبُ؟</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نَرْجِعُ فِي الخَامِسَةِ وَالنِّصْفِ، حَتَّى لَا نَتَأَخَّرَ عَنِ القِطَارِ.</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come back at half past five, so we don’t miss the train.</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وَمَتَى نَرْجِعُ؟ القِطَارُ الأَخِيرُ فِي السَّادِسَةِ.</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مَرْحَبًا يَا سَامِي،</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يَوْمَ السَّبْتِ أَسْتَيْقِظُ فِي الثَّامِنَةِ إِلَّا الرُّبْعَ. فِي التَّاسِعَةِ وَالرُّبْعِ أَذْهَبُ إِلَى دَرْسِ القُرْآنِ، وَيَسْتَمِرُّ سَاعَةً وَنِصْفًا. بَعْدَ ذٰلِكَ أَتَنَاوَلُ الغَدَاءَ مَعَ عَائِلَتِي فِي الوَاحِدَةِ. يَبْدَأُ تَدْرِيبُ كُرَةِ القَدَمِ فِي الثَّانِيَةِ وَالثُّلُثِ وَيَنْتَهِي فِي الرَّابِعَةِ إِلَّا عَشْرَ دَقَائِقَ، لِذٰلِكَ أَنَا حُرٌّ مِنَ الرَّابِعَةِ وَالنِّصْفِ إِلَى السَّابِعَةِ. نَلْتَقِي فِي الخَامِسَةِ أَمَامَ المَكْتَبَةِ، لِأَنَّهَا قَرِيبَةٌ مِنْ بَيْتِكَ.</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إِلَى اللِّقَاءِ،</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يُوسُفُ</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Sami, on Saturday I wake up at quarter to eight. At quarter past nine I go to my Qur’an lesson, which lasts an hour and a half. After that I have lunch with my family at one. Football training starts at twenty past two and ends at ten to four, so I am free from half past four to seven. Let’s meet at five in front of the library, because it is near your house. See you, Yusuf.”</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إِلَّا الرُّبْعَ</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وَيَسْتَمِرُّ سَاعَةً وَنِصْفًا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الثَّانِيَةِ وَالثُّلُثِ</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لِذٰلِكَ أَنَا حُرٌّ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D1-L02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D1-L02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50" b="1" dirty="0">
                <a:solidFill>
                  <a:srgbClr val="FFFFFF"/>
                </a:solidFill>
                <a:latin typeface="Cambria" pitchFamily="34" charset="0"/>
                <a:cs typeface="Amiri" pitchFamily="2" charset="-78"/>
              </a:rPr>
              <a:t>D1-L03 · How Often? — Frequency Adverbs in My Routine</a:t>
            </a:r>
            <a:endParaRPr lang="en-US" sz="1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كَمْ مَرَّةً؟ — ظُرُوفُ التَّكْرَارِ فِي رُوتِينِي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D1-L02 · Practice Room — Telling the Time — What Time Is It?</dc:title>
  <dc:subject>PptxGenJS Presentation</dc:subject>
  <dc:creator>Al Madina Online School · Arabic Department</dc:creator>
  <cp:lastModifiedBy>Al Madina Online School · Arabic Department</cp:lastModifiedBy>
  <cp:revision>1</cp:revision>
  <dcterms:created xsi:type="dcterms:W3CDTF">2026-10-25T17:53:47Z</dcterms:created>
  <dcterms:modified xsi:type="dcterms:W3CDTF">2026-10-25T17:53:47Z</dcterms:modified>
</cp:coreProperties>
</file>