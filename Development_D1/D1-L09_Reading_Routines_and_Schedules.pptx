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D1-L09. The website lesson “Reading Daily Routines and Weekly Schedules”: vocabulary, grammar rules and quiz, patterns, common mistakes, sorter, listening, reading, speaking prompts and model, writing task and model, differentiation, final check and the lesson mission. Picture match: website visual game “Reading Daily Routines and Weekly Schedules”.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reading (a schedule + an email) is the main You Do task, not an extension. Grammar is taught as “reading signals”.
• Core: the schedule only (6 details: day, activity, start, finish) + reading questions 1, 2 and 4. Develop: the email as well + questions 3, 5, 7. Stretch: all 8, including pronoun reference (Q6) and the contrast (Q8).
• SEND: the schedule is rebuilt as a clean table on its own slide; students may cover the email while they work on it.
• Urdu bridge: جدول، مدت، نتیجہ (→ يَسْتَنْتِجُ)، دلیل، ملاحظہ.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D1-L08 (أَمَّا … فَـ), D1-L02 (time with إِلَّا) and D1-L06 (she +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pick a number just because you see it. First find WHO and WHICH event, then the exact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جدول (table) → جَدْوَلٌ أُسْبُوعِيٌّ. مدت → المُدَّةُ. دلیل (proof, argument) → الدَّلِيلُ (evidence). ملاحظہ (inspection, observation) → مُلَاحَظَةٌ (a note). نتیجہ (result) comes from the same root as يَسْتَنْتِجُ (infers, concludes) — students can guess the verb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(1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(2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(1 of 2)). Hear → Say → See → Use. Transliteration is printed for Core students (cover it for Develop/Stretch).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(2 of 2)). Hear → Say → See → Use. Transliteration is printed for Core students (cover it for Develop/Stretch).
FLEX: teach if time allows; otherwise these are on the website vocabulary tab for homework.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“Reading signal · What it tells you · Example question” and rules “Track the subject through the present-tense prefix” and “Track pronoun suffixes to the nearest logical noun”.
Teacher script: “Grammar is your detective kit. The first letter of the verb tells you WHO. The little word before a time tells you WHAT KIND of time.”
Website common error: choosing a number because it appears — first identify the event,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“Use time and frequency expressions as evidence”: numbers are distractors unless they answer the exact question; link every time or number to its event.
Quick maths for durations: from five to six = one hour; from 5:30 to 6:15 = 45 minutes (website mission round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“Grammar helps a reader identify who acts, when an event happens and how one sentence connects to the next. Track prefixes, suffixes, schedule verbs and contrast markers as evidence.”
• Track the subject through the present-tense prefix: Use the prefix and any named subject to identify the person before selecting an answer.
• Track pronoun suffixes to the nearest logical noun: Ask which earlier noun matches the gender and meaning of the suffix or demonstrative.
• Use time and frequency expressions as evidence: Numbers are distractors unless they answer the exact question. Link every time or number to its event.
• Follow sequence and contrast markers: These markers show order or difference and often change which detail answers the question.
Website common error: Do not choose a number simply because it appears in the text. First identify which event the question asks about,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reading question 2 (the website speaking model uses the same example). Four steps students will copy for every question: question → row → exact detail → answer +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time. • Develop: copy sentence 2 and change the people. • Stretch: write your own “the pronoun refers to …” sentence about a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2–5 (answer options given in English for Core access). Model the detective steps on Q1: the text has TWO times; only one belongs to waking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out the Arabic words that prove it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المُتَحَدِّثُ الأَوَّلُ: يَبْدَأُ يَوْمِي فِي السَّادِسَةِ وَالنِّصْفِ، وَأَخْرُجُ مِنَ البَيْتِ فِي السَّابِعَةِ وَالرُّبْعِ. أَذْهَبُ إِلَى نَادِي الحَاسُوبِ يَوْمَ الثُّلَاثَاءِ، وَهُوَ يَسْتَمِرُّ مِنَ الخَامِسَةِ إِلَى السَّادِسَةِ.
المُتَحَدِّثَةُ الثَّانِيَةُ: أَعُودُ إِلَى البَيْتِ فِي الرَّابِعَةِ، بَيْنَمَا تَعُودُ أُخْتِي فِي الثَّالِثَةِ وَالنِّصْفِ. أَتَمَرَّنُ مَرَّتَيْنِ فِي الأُسْبُوعِ، أَمَّا يَوْمُ الخَمِيسِ فَأَدْرُسُ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PART 1 (2 min). The website schedule rebuilt as a table (Monday swimming 4–5; Tuesday computer club 5:30; Wednesday no activity; Thursday Arabic 6:00–6:45).
Core: fill in start / finish / duration in numbers (Monday 1 hour; Thursday 45 minutes; Tuesday: start only — no finish given!).
Ask Develop: “Which day is calmest? What is your evidence?” (Wednesday: لَا نَشَاطَ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3 min to read). The email from the website reading. Students have the schedule on the previous slide.
Core: questions 1, 2, 4 (schedule only). Develop: + 3, 5, 7. Stretch: all, including 6 (what does هُوَ refer to?) and 8 (the contrast).
SEND: cover the text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الدَّلِيلُ مَوْجُودٌ فِي خَانَةِ يَوْمِ الخَمِيسِ فِي الجَدْوَلِ. (The evidence is in the Thursday cell of the schedule.)
Website prompts and model (the model continues: “What is the evidence?” — “The evidence is in the Thursday cell of the schedule.”). Pairs explain HOW they found one answer — this is the reading strategy spoken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Locate and record six exact details from a routine and a schedule. · Develop — Explain two pronoun references and compare two routines with evidence. · Stretch — Write a concise inference that combines time, frequency, person and contrast evidence.
Website writing task (Stretch): Write 100–120 words comparing two daily routines or weekly schedules. Include exact times, frequency, sequence, person reference and at least two pieces of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مِنَ السَّادِسَةِ إِلَى السَّابِعَةِ إِلَّا الرُّبْعَ · تَعُودُ، تَذْهَبُ / يَعُودُ، يَلْعَبُ · الدَّلِيلُ عَلَى أَنَّ … هُوَ أَنَّهَا تُحَضِّرُ حَقِيبَتَهَا لَيْلًا · بَيْنَمَا، أَمَّا … فَـ، فِي المُقَابِلِ.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(D1-L10 · Listening — Daily Routine and Time Details) will spend class time USING this language, so students prepare it tonight — short, simple, easy to access (school guidance: “Simple, Short, Interesting, Relevant, Easy to access”). The five words come from the website D1-L10 vocabulary (listening process and strategy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الرُّوتِينِ اليَوْمِيِّ وَالجَدَاوِلِ الأُسْبُوعِيَّةِ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 weekly schedule and a routine email like a detective: find the right row and day, track WHO with prefixes and suffixes, and match each number to the exact event before answering.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signals: who, when, how long,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Evidence detective,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weekly programme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إِلَّا الرُّبْعَ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 / man</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weekly programme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D1-L08: as for … fa-.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إِلَّا الرُّبْعَ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إِلَّا الرُّبْعَ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 / man</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tu- + -hā.</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Don’t pick a number just because you see it. First find WHO and WHICH event, then the exact time.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عُودُ مَرْيَمُ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الرَّابِعَةِ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بَيْنَمَا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عُودُ أَخُوهَا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الخَامِسَةِ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Scan a daily-routine text and weekly schedule for exact information.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person, time, frequency and sequence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 reference and contrast markers to infer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Summarise and compare two routines using precise textual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 day, a start time and a finish time in a schedule.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reading questions 1, 2 and 4.</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does an action from the prefix (</a:t>
            </a:r>
            <a:pPr algn="l" indent="0" marL="0">
              <a:buNone/>
            </a:pPr>
            <a:r>
              <a:rPr lang="ar-SA" altLang="en-US" sz="1700" b="1" dirty="0">
                <a:solidFill>
                  <a:srgbClr val="C9780A"/>
                </a:solidFill>
                <a:latin typeface="Amiri" pitchFamily="34" charset="0"/>
                <a:ea typeface="Amiri" pitchFamily="34" charset="-122"/>
                <a:cs typeface="Amiri" pitchFamily="34" charset="-120"/>
              </a:rPr>
              <a:t>تَـ / يَـ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work out a duration from two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 pronoun refers to.</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exact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Routine texts and schedules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evidence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frequency and connection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مُلَاحَظَةٌ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mulāḥaza · observation, note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 → to conclude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بَرْنَامَجٌ يَوْمِيٌّ</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 programme /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bar-nā-ma-jun yaw-miy-yun</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إِلِكْتِرُونِيَّةٌ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ri-sā-la-tun i-lik-ti-rū-niy-ya-tun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رَسَائِلُ</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الرِّسَالَةُ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رِسَالَةٌ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البَدْءِ</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start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al-bad-ʾi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الاِنْتِهَاءِ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finish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aln-ti-hā-ʾi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al-mud-da-tu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النَّشَاطُ</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an-na-shā-ṭu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الأَنْشِطَةُ</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النَّشَاطُ</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نَشَاطٌ</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خَانَةٌ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box / cell in a 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khā-na-tun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مُلَاحَظَةٌ</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mu-lā-ḥa-ẓa-tun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المُلَاحَظَةُ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مُلَاحَظَةٌ</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 /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ya-shī-ru i-lā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يَعُودُ الضَّمِيرُ إِلَى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ya-ʿū-du aḍ-ḍa-mī-ru i-lā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يُقَارِنُ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yu-qā-ri-nu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تُقَارِنُ</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يُقَارِنُ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يَسْتَنْتِجُ</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الجَدْوَلِ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 the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al-jad-wa-li</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النَّصِّ</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an-naṣ-ṣi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while / 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 then /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ـهُ / ـهَا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 her / it 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 / hā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READING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each signal tells the reader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94690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in a text</a:t>
            </a:r>
            <a:endParaRPr lang="en-US" sz="1100" dirty="0"/>
          </a:p>
        </p:txBody>
      </p:sp>
      <p:sp>
        <p:nvSpPr>
          <p:cNvPr id="18" name="Text 15"/>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tells you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endParaRPr lang="ar-SA" sz="2600" dirty="0"/>
          </a:p>
        </p:txBody>
      </p:sp>
      <p:sp>
        <p:nvSpPr>
          <p:cNvPr id="22" name="Text 19"/>
          <p:cNvSpPr txBox="1"/>
          <p:nvPr/>
        </p:nvSpPr>
        <p:spPr>
          <a:xfrm>
            <a:off x="4965192" y="2286000"/>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مَرْيَمُ · </a:t>
            </a:r>
            <a:pPr rtl="1" algn="ctr" indent="0" marL="0">
              <a:buNone/>
            </a:pPr>
            <a:r>
              <a:rPr lang="ar-SA" altLang="en-US" sz="1950" b="1" dirty="0">
                <a:solidFill>
                  <a:srgbClr val="1D5FBF"/>
                </a:solidFill>
                <a:latin typeface="Amiri" pitchFamily="34" charset="0"/>
                <a:ea typeface="Amiri" pitchFamily="34" charset="-122"/>
                <a:cs typeface="Amiri" pitchFamily="34" charset="-120"/>
              </a:rPr>
              <a:t>يَ</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أَخُوهَا</a:t>
            </a:r>
            <a:endParaRPr lang="ar-SA" sz="1950" dirty="0"/>
          </a:p>
        </p:txBody>
      </p:sp>
      <p:sp>
        <p:nvSpPr>
          <p:cNvPr id="23" name="Text 20"/>
          <p:cNvSpPr txBox="1"/>
          <p:nvPr/>
        </p:nvSpPr>
        <p:spPr>
          <a:xfrm>
            <a:off x="4919472" y="267699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returns · her brother returns</a:t>
            </a:r>
            <a:endParaRPr lang="en-US" sz="950" dirty="0"/>
          </a:p>
        </p:txBody>
      </p:sp>
      <p:sp>
        <p:nvSpPr>
          <p:cNvPr id="24" name="Text 21"/>
          <p:cNvSpPr txBox="1"/>
          <p:nvPr/>
        </p:nvSpPr>
        <p:spPr>
          <a:xfrm>
            <a:off x="2697480"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returns first?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4965192" y="302300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يَبْدَأُ النَّادِي </a:t>
            </a:r>
            <a:pPr rtl="1" algn="ctr" indent="0" marL="0">
              <a:buNone/>
            </a:pPr>
            <a:r>
              <a:rPr lang="ar-SA" altLang="en-US" sz="1950" b="1" dirty="0">
                <a:solidFill>
                  <a:srgbClr val="0E7C86"/>
                </a:solidFill>
                <a:latin typeface="Amiri" pitchFamily="34" charset="0"/>
                <a:ea typeface="Amiri" pitchFamily="34" charset="-122"/>
                <a:cs typeface="Amiri" pitchFamily="34" charset="-120"/>
              </a:rPr>
              <a:t>فِي</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1" name="Text 28"/>
          <p:cNvSpPr txBox="1"/>
          <p:nvPr/>
        </p:nvSpPr>
        <p:spPr>
          <a:xfrm>
            <a:off x="4919472" y="3414004"/>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club starts at five.</a:t>
            </a:r>
            <a:endParaRPr lang="en-US" sz="950" dirty="0"/>
          </a:p>
        </p:txBody>
      </p:sp>
      <p:sp>
        <p:nvSpPr>
          <p:cNvPr id="32" name="Text 29"/>
          <p:cNvSpPr txBox="1"/>
          <p:nvPr/>
        </p:nvSpPr>
        <p:spPr>
          <a:xfrm>
            <a:off x="2697480"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time</a:t>
            </a:r>
            <a:endParaRPr lang="en-US" sz="1100" dirty="0"/>
          </a:p>
        </p:txBody>
      </p:sp>
      <p:sp>
        <p:nvSpPr>
          <p:cNvPr id="33" name="Text 30"/>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does it start?</a:t>
            </a:r>
            <a:endParaRPr lang="en-US" sz="1100" dirty="0"/>
          </a:p>
        </p:txBody>
      </p:sp>
      <p:sp>
        <p:nvSpPr>
          <p:cNvPr id="34" name="Shape 31"/>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 إِلَى …</a:t>
            </a:r>
            <a:endParaRPr lang="ar-SA" sz="2600" dirty="0"/>
          </a:p>
        </p:txBody>
      </p:sp>
      <p:sp>
        <p:nvSpPr>
          <p:cNvPr id="38" name="Text 35"/>
          <p:cNvSpPr txBox="1"/>
          <p:nvPr/>
        </p:nvSpPr>
        <p:spPr>
          <a:xfrm>
            <a:off x="4965192" y="3760013"/>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السِّبَاحَةُ </a:t>
            </a:r>
            <a:pPr rtl="1" algn="ctr" indent="0" marL="0">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الرَّابِعَةِ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9" name="Text 36"/>
          <p:cNvSpPr txBox="1"/>
          <p:nvPr/>
        </p:nvSpPr>
        <p:spPr>
          <a:xfrm>
            <a:off x="4919472" y="4151010"/>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Swimming from four to five.</a:t>
            </a:r>
            <a:endParaRPr lang="en-US" sz="950" dirty="0"/>
          </a:p>
        </p:txBody>
      </p:sp>
      <p:sp>
        <p:nvSpPr>
          <p:cNvPr id="40" name="Text 37"/>
          <p:cNvSpPr txBox="1"/>
          <p:nvPr/>
        </p:nvSpPr>
        <p:spPr>
          <a:xfrm>
            <a:off x="2697480"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start + finish = how long</a:t>
            </a:r>
            <a:endParaRPr lang="en-US" sz="1100" dirty="0"/>
          </a:p>
        </p:txBody>
      </p:sp>
      <p:sp>
        <p:nvSpPr>
          <p:cNvPr id="41" name="Text 38"/>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long does it last?</a:t>
            </a:r>
            <a:endParaRPr lang="en-US" sz="1100" dirty="0"/>
          </a:p>
        </p:txBody>
      </p:sp>
      <p:sp>
        <p:nvSpPr>
          <p:cNvPr id="42" name="Shape 39"/>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3" name="Text 40"/>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مَرَّتَيْنِ · نَادِرًا</a:t>
            </a:r>
            <a:endParaRPr lang="ar-SA" sz="2600" dirty="0"/>
          </a:p>
        </p:txBody>
      </p:sp>
      <p:sp>
        <p:nvSpPr>
          <p:cNvPr id="44" name="Text 41"/>
          <p:cNvSpPr txBox="1"/>
          <p:nvPr/>
        </p:nvSpPr>
        <p:spPr>
          <a:xfrm>
            <a:off x="4965192" y="4497019"/>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تَتَمَرَّنُ </a:t>
            </a:r>
            <a:pPr rtl="1" algn="ctr" indent="0" marL="0">
              <a:buNone/>
            </a:pPr>
            <a:r>
              <a:rPr lang="ar-SA" altLang="en-US" sz="1950" b="1" dirty="0">
                <a:solidFill>
                  <a:srgbClr val="0E7C86"/>
                </a:solidFill>
                <a:latin typeface="Amiri" pitchFamily="34" charset="0"/>
                <a:ea typeface="Amiri" pitchFamily="34" charset="-122"/>
                <a:cs typeface="Amiri" pitchFamily="34" charset="-120"/>
              </a:rPr>
              <a:t>مَرَّتَيْنِ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الأُسْبُوعِ.</a:t>
            </a:r>
            <a:endParaRPr lang="ar-SA" sz="1950" dirty="0"/>
          </a:p>
        </p:txBody>
      </p:sp>
      <p:sp>
        <p:nvSpPr>
          <p:cNvPr id="45" name="Text 42"/>
          <p:cNvSpPr txBox="1"/>
          <p:nvPr/>
        </p:nvSpPr>
        <p:spPr>
          <a:xfrm>
            <a:off x="4919472" y="488801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trains twice a week.</a:t>
            </a:r>
            <a:endParaRPr lang="en-US" sz="950" dirty="0"/>
          </a:p>
        </p:txBody>
      </p:sp>
      <p:sp>
        <p:nvSpPr>
          <p:cNvPr id="46" name="Text 43"/>
          <p:cNvSpPr txBox="1"/>
          <p:nvPr/>
        </p:nvSpPr>
        <p:spPr>
          <a:xfrm>
            <a:off x="2697480"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7" name="Text 44"/>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ـهَا</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ـهُ</a:t>
            </a:r>
            <a:endParaRPr lang="ar-SA" sz="2600" dirty="0"/>
          </a:p>
        </p:txBody>
      </p:sp>
      <p:sp>
        <p:nvSpPr>
          <p:cNvPr id="50" name="Text 47"/>
          <p:cNvSpPr txBox="1"/>
          <p:nvPr/>
        </p:nvSpPr>
        <p:spPr>
          <a:xfrm>
            <a:off x="4965192" y="523402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فَهُوَ أَهْدَأُ يَوْمٍ</a:t>
            </a:r>
            <a:endParaRPr lang="ar-SA" sz="1950" dirty="0"/>
          </a:p>
        </p:txBody>
      </p:sp>
      <p:sp>
        <p:nvSpPr>
          <p:cNvPr id="51" name="Text 48"/>
          <p:cNvSpPr txBox="1"/>
          <p:nvPr/>
        </p:nvSpPr>
        <p:spPr>
          <a:xfrm>
            <a:off x="4919472" y="5625023"/>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(Wednesday) is the calmest day</a:t>
            </a:r>
            <a:endParaRPr lang="en-US" sz="950" dirty="0"/>
          </a:p>
        </p:txBody>
      </p:sp>
      <p:sp>
        <p:nvSpPr>
          <p:cNvPr id="52" name="Text 49"/>
          <p:cNvSpPr txBox="1"/>
          <p:nvPr/>
        </p:nvSpPr>
        <p:spPr>
          <a:xfrm>
            <a:off x="2697480"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a word REFERS to</a:t>
            </a:r>
            <a:endParaRPr lang="en-US" sz="1100" dirty="0"/>
          </a:p>
        </p:txBody>
      </p:sp>
      <p:sp>
        <p:nvSpPr>
          <p:cNvPr id="53" name="Text 50"/>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“it” refer to?</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 number is only the answer if it belongs to the event in the question.</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THREE KINDS OF NUMBER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At what time? For how long? How often?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 مِنْ … إِلَى · مَرَّاتٍ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POINT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يَبْدَأُ الدَّرْسُ فِي الثَّامِنَةِ وَالنِّصْفِ.</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8:30.</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time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SPAN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6:00 to 6:45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Finish − start = 45 minutes.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PATTERN · CORE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تَتَمَرَّنُ مَرَّتَيْنِ فِي الأُسْبُوعِ.</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trains twice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Answers “how often?”.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one start time takes fī,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يَبْدَأُ النَّادِي فِي الخَامِسَةِ.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يَبْدَأُ النَّادِي مِنَ الخَامِسَةِ.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grammar in context: person, time and 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تَتَبُّعُ الشَّخْصِ وَالوَقْتِ وَالمَرْجِعِ فِي القِرَاءَةِ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the subject through the present-tense prefix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أَـ = أَنَا · تَـ = أَنْتَ / أَنْتِ / هِيَ · يَـ = هُوَ · نَـ = نَحْنُ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تَعُودُ مَرْيَمُ فِي الرَّابِعَةِ.   ·   يَعُودُ أَخُوهَا فِي الخَامِسَةِ.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Track pronoun suffixes to the nearest logical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ـهُ · ـهَا · ـهُمْ · ذٰلِكَ</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حَقِيبَةُ خَالِدٍ   ·   تَكْتُبُ رُوتِينَهَا. ← رُوتِينُ مَرْيَمَ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Use time and frequency expressions as evidence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 الوَقْتِ · مِنْ ... إِلَى ... · مَرَّاتٍ فِي الأُسْبُوعِ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يَبْدَأُ الدَّرْسُ فِي الثَّامِنَةِ وَالنِّصْفِ.   ·   تَتَمَرَّنُ مَرَّتَيْنِ فِي الأُسْبُوعِ.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Follow sequence and contrast markers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بَعْدَ أَنْ · بَيْنَمَا · أَمَّا ... فَـ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تَدْرُسُ قَبْلَ أَنْ تَخْرُجَ.   ·   أَمَّا يَوْمُ السَّبْتِ فَتَسْتَيْقِظُ مُتَأَخِّرًا.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الثَّامِنَةِ إِلَى التَّاسِعَةِ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الثَّامِنَةِ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الثُّلَاثَاءِ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الثَّالِثَةِ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always late.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never attends.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named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matches </a:t>
            </a:r>
            <a:pPr algn="l" indent="0" marL="0">
              <a:buNone/>
            </a:pPr>
            <a:r>
              <a:rPr lang="ar-SA" altLang="en-US" sz="1350" dirty="0">
                <a:solidFill>
                  <a:srgbClr val="8A6D1E"/>
                </a:solidFill>
                <a:latin typeface="Amiri" pitchFamily="34" charset="0"/>
                <a:ea typeface="Amiri" pitchFamily="34" charset="-122"/>
                <a:cs typeface="Amiri" pitchFamily="34" charset="-120"/>
              </a:rPr>
              <a:t>تَعُودُ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الثَّامِنَةِ إِلَى التَّاسِعَةِ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الثَّامِنَةِ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الثُّلَاثَاءِ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span from one time to another gives duration.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الثَّالِثَةِ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 answers a frequency question.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is always late.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never attends.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he is rarely late, he is usually on time.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answer a reading question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يَنْتَهِي دَرْسُ العَرَبِيَّةِ؟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Event: Arabic lesson. Info: FINISH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Find the row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الخَمِيسُ: دَرْسُ اللُّغَةِ العَرَبِيَّةِ</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Thursday row, not Tuesday.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Exact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السَّادِسَةِ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 السَّابِعَةِ إِلَّا الرُّبْعَ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“to” = the finish.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يَنْتَهِي فِي السَّابِعَةِ إِلَّا الرُّبْعَ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٦:٤٥</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the cell.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EXACT DETAIL</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ANSWER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السُّؤَالُ: مَتَى يَنْتَهِي دَرْسُ العَرَبِيَّةِ؟ ← خَانَةُ يَوْمِ الخَمِيسِ: مِنَ السَّادِسَةِ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 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الجَوَابُ: يَنْتَهِي فِي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الدَّلِيلُ مَوْجُودٌ فِي خَانَةِ يَوْمِ الخَمِيسِ.</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the Arabic lesson end? → Thursday cell: from six to quarter to seven. → Answer: it ends at quarter to seven. The evidence is in the Thursday cell.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حَسَبَ الجَدْوَلِ، يَبْدَأُ النَّادِي فِي الخَامِسَةِ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According to the schedule, the club begins at 5:30.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Match the event to the exact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تَعُودُ هُدَى مُبَكِّرًا، بَيْنَمَا يَعُودُ أَخُوهَا مُتَأَخِّرًا.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Huda returns early, while her brother returns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Track feminine and masculine verb prefixes.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السَّبْتِ فَتَسْتَيْقِظُ فِي الثَّامِنَةِ.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she wakes at eight.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contrast frame to locate the weekend detail.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يَعُودُ الضَّمِيرُ «ـهَا» إِلَى مَرْيَمَ.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suffix “her” refers to Maryam.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Explain reference with exact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hour and a half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every day.</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never goes.</a:t>
            </a:r>
            <a:endParaRPr lang="en-US" sz="12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other number (8:00) is the lesson, not waking up.</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the nearest male noun: Khalid.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hour and a half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From 5:30 to 6:15.</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goes every day.</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never goes.</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ثَلَاثَ مَرَّاتٍ</a:t>
            </a:r>
            <a:pPr algn="l" indent="0" marL="0">
              <a:buNone/>
            </a:pPr>
            <a:r>
              <a:rPr lang="en-US" sz="1050" i="1" dirty="0">
                <a:solidFill>
                  <a:srgbClr val="8A6D1E"/>
                </a:solidFill>
                <a:latin typeface="Calibri" pitchFamily="34" charset="0"/>
                <a:ea typeface="Calibri" pitchFamily="34" charset="-122"/>
                <a:cs typeface="Calibri" pitchFamily="34" charset="-120"/>
              </a:rPr>
              <a:t> = three times.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evidence answers the question?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name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destination</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hours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is a masculine singular suffix.</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 name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destination</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links two simultaneous or contrasting clauses.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 hours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start and finish times show a one-hour duration.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تَعُودُ خَالِدٌ فِي الرَّابِعَةِ.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Khalid is a boy.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يَوْمُ السَّبْتِ تَسْتَرِيحُ.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“as for … ”, what joins the comment?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يَبْدَأُ النَّادِي مِنَ الخَامِسَةِ.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start time: fī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تَعُودُ خَالِدٌ فِي الرَّابِعَةِ.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يَعُودُ خَالِدٌ فِي الرَّابِعَةِ.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يَـ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يَوْمُ السَّبْتِ تَسْتَرِيحُ.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السَّبْتِ فَتَسْتَرِيحُ.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comment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يَبْدَأُ النَّادِي مِنَ الخَامِسَةِ.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يَبْدَأُ النَّادِي فِي الخَامِسَةِ.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for one start time; 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only when a finishing point follows.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for schedule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speaker’s sister</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speaker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afternoon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club</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 الأَوَّلُ: يَبْدَأُ يَوْمِي فِي السَّادِسَةِ وَالنِّصْفِ، وَأَخْرُجُ مِنَ البَيْتِ فِي السَّابِعَةِ وَالرُّبْعِ.</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1: My day starts at half past six, and I leave home at quarter past seven.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أَذْهَبُ إِلَى نَادِي الحَاسُوبِ يَوْمَ الثُّلَاثَاءِ، وَهُوَ يَسْتَمِرُّ مِنَ الخَامِسَةِ إِلَى السَّادِسَةِ.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computer club on Tuesday, and it lasts from five to six.</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المُتَحَدِّثَةُ الثَّانِيَةُ: أَعُودُ إِلَى البَيْتِ فِي الرَّابِعَةِ، بَيْنَمَا تَعُودُ أُخْتِي فِي الثَّالِثَةِ وَالنِّصْفِ.</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2: I return home at four, whereas my sister returns at half past three.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أَمَّا يَوْمُ الخَمِيسِ فَأَدْرُسُ فِي المَكْتَبَةِ.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train twice a week; as for Thursday, I study in the library.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وَالرُّبْعِ.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الثُّلَاثَاءِ.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five to six.</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second speaker’s sister</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speaker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speaker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تَعُودُ أُخْتِي فِي الثَّالِثَةِ وَالنِّصْفِ.</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afternoon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club</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فَأَدْرُسُ فِي المَكْتَبَةِ.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PART 1: THE WEEKLY SCHEDULE (WEBSITE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Maryam’s weekly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الجَدْوَلُ الأُسْبُوعِيُّ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Day</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Activity</a:t>
            </a:r>
            <a:endParaRPr lang="en-US" sz="1100" dirty="0"/>
          </a:p>
        </p:txBody>
      </p:sp>
      <p:sp>
        <p:nvSpPr>
          <p:cNvPr id="18" name="Text 15"/>
          <p:cNvSpPr txBox="1"/>
          <p:nvPr/>
        </p:nvSpPr>
        <p:spPr>
          <a:xfrm>
            <a:off x="53035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الاِثْنَيْنُ</a:t>
            </a:r>
            <a:endParaRPr lang="ar-SA" sz="2600" dirty="0"/>
          </a:p>
        </p:txBody>
      </p:sp>
      <p:sp>
        <p:nvSpPr>
          <p:cNvPr id="21" name="Text 18"/>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السِّبَاحَةُ</a:t>
            </a:r>
            <a:endParaRPr lang="ar-SA" sz="2600" dirty="0"/>
          </a:p>
        </p:txBody>
      </p:sp>
      <p:sp>
        <p:nvSpPr>
          <p:cNvPr id="22" name="Text 19"/>
          <p:cNvSpPr txBox="1"/>
          <p:nvPr/>
        </p:nvSpPr>
        <p:spPr>
          <a:xfrm>
            <a:off x="548640" y="2267712"/>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الرَّابِعَةِ إِلَى الخَامِسَةِ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الثُّلَاثَاءُ</a:t>
            </a:r>
            <a:endParaRPr lang="ar-SA" sz="2600" dirty="0"/>
          </a:p>
        </p:txBody>
      </p:sp>
      <p:sp>
        <p:nvSpPr>
          <p:cNvPr id="27" name="Text 24"/>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نَادِي الحَاسُوبِ</a:t>
            </a:r>
            <a:endParaRPr lang="ar-SA" sz="2600" dirty="0"/>
          </a:p>
        </p:txBody>
      </p:sp>
      <p:sp>
        <p:nvSpPr>
          <p:cNvPr id="28" name="Text 25"/>
          <p:cNvSpPr txBox="1"/>
          <p:nvPr/>
        </p:nvSpPr>
        <p:spPr>
          <a:xfrm>
            <a:off x="548640" y="3054096"/>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الخَامِسَةِ وَالنِّصْفِ</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الأَرْبِعَاءُ</a:t>
            </a:r>
            <a:endParaRPr lang="ar-SA" sz="2600" dirty="0"/>
          </a:p>
        </p:txBody>
      </p:sp>
      <p:sp>
        <p:nvSpPr>
          <p:cNvPr id="33" name="Text 30"/>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نَشَاطَ بَعْدَ المَدْرَسَةِ</a:t>
            </a:r>
            <a:endParaRPr lang="ar-SA" sz="2600" dirty="0"/>
          </a:p>
        </p:txBody>
      </p:sp>
      <p:sp>
        <p:nvSpPr>
          <p:cNvPr id="34" name="Text 31"/>
          <p:cNvSpPr txBox="1"/>
          <p:nvPr/>
        </p:nvSpPr>
        <p:spPr>
          <a:xfrm>
            <a:off x="548640" y="3840480"/>
            <a:ext cx="4873752" cy="731520"/>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الخَمِيسُ</a:t>
            </a:r>
            <a:endParaRPr lang="ar-SA" sz="2600" dirty="0"/>
          </a:p>
        </p:txBody>
      </p:sp>
      <p:sp>
        <p:nvSpPr>
          <p:cNvPr id="39" name="Text 36"/>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 اللُّغَةِ العَرَبِيَّةِ</a:t>
            </a:r>
            <a:endParaRPr lang="ar-SA" sz="2600" dirty="0"/>
          </a:p>
        </p:txBody>
      </p:sp>
      <p:sp>
        <p:nvSpPr>
          <p:cNvPr id="40" name="Text 37"/>
          <p:cNvSpPr txBox="1"/>
          <p:nvPr/>
        </p:nvSpPr>
        <p:spPr>
          <a:xfrm>
            <a:off x="548640" y="4626864"/>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4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task: copy the table and write the start time, finish time and duration for each day in numbers.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 weekly schedule and a routine email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لَيْلَى، أَعُودُ إِلَى البَيْتِ يَوْمَ الثُّلَاثَاءِ فِي الرَّابِعَةِ، ثُمَّ أَتَنَاوَلُ وَجْبَةً خَفِيفَةً قَبْلَ أَنْ أَذْهَبَ إِلَى نَادِي الحَاسُوبِ. أَمَّا يَوْمُ الأَرْبِعَاءِ فَهُوَ أَهْدَأُ يَوْمٍ عِنْدِي، لِذٰلِكَ أُكْمِلُ وَاجِبِي وَأُسَاعِدُ أُسْرَتِي. يَوْمَ الخَمِيسِ أَدْرُسُ العَرَبِيَّةَ، بَيْنَمَا يَلْعَبُ أَخِي كُرَةَ القَدَمِ. هَلْ نَلْتَقِي يَوْمَ الجُمُعَةِ فِي الخَامِسَةِ؟ مَرْيَمُ.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hello</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وَجْبَةً خَفِيفَةً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snack</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الحَاسُوبِ</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club</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يَوْمٍ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calmest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me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لِذٰلِكَ</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therefore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أُكْمِلُ وَاجِبِي</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finish my homework</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كُرَةَ القَدَمِ</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football</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نَلْتَقِي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shall we meet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الجُمُعَةِ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Friday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after-school activity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at noon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homework</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family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at five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 at six</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study Arabic.</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 attends computer club.</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four to five.</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6:15</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6:45</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السَّابِعَةِ إِلَّا الرُّبْعَ = 6:45.</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has a snack before going.</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after-school activity</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at noon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schedule says </a:t>
            </a:r>
            <a:pPr algn="l" indent="0" marL="0">
              <a:buNone/>
            </a:pPr>
            <a:r>
              <a:rPr lang="ar-SA" altLang="en-US" sz="1350" dirty="0">
                <a:solidFill>
                  <a:srgbClr val="8A6D1E"/>
                </a:solidFill>
                <a:latin typeface="Amiri" pitchFamily="34" charset="0"/>
                <a:ea typeface="Amiri" pitchFamily="34" charset="-122"/>
                <a:cs typeface="Amiri" pitchFamily="34" charset="-120"/>
              </a:rPr>
              <a:t>لَا نَشَاطَ بَعْدَ المَدْرَسَةِ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يَلْعَبُ أَخِي كُرَةَ القَدَمِ.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homework</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family</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pronoun refers to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at five</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 at six</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هَلْ نَلْتَقِي يَوْمَ الجُمُعَةِ فِي الخَامِسَةِ؟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study Arabic.</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Her brother attends computer club.</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follows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Explain how you found exact evidence in a routine or schedule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وَجَدْتَ وَقْتَ البَدْءِ وَوَقْتَ الاِنْتِهَاءِ؟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مَنْ يَعُودُ الضَّمِيرُ فِي الجُمْلَةِ؟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نَشَاطَيْنِ فِي الجَدْوَلِ.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دَلِيلًا دَقِيقًا يُثْبِتُ إِجَابَتَكَ.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وَجَدْتُ الوَقْتَ فِي خَانَةِ يَوْمِ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«ـهَا / ـهُ»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أَطْوَلُ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الدَّلِيلُ مَوْجُودٌ فِي ___ :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يَنْتَهِي دَرْسُ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the Arabic lesson 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يَنْتَهِي فِي السَّابِعَةِ إِلَّا الرُّبْعَ.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ends at quarter to seven.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details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Locate and record six exact details from a routine and a schedule.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From the schedule: six exact details (day, activity, start, finish) written as full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two pronoun references and compare two routines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or two people with exact times and two pronoun references explained.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concise inference that combines time, frequency, person and contrast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routines or schedules with exact times, frequency, sequence, reference and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حَسَبَ الجَدْوَلِ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the schedule,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الضَّمِيرُ «ـهَا»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pronoun “her” refers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تَـ ______ مَرْيَمُ ، بَيْنَمَا يَـ ______ أَخُوهَا.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Maryam …, whereas her brother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تَذْهَبَ إِلَى النَّادِي تَـ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she goes to the club, she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الاِثْنَيْنِ تَـ ______ مَرْيَمُ.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Monday, Maryam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تَبْدَأُ السِّبَاحَةُ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Swimming starts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ends 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الأَرْبِعَاءِ لَا نَشَاطَ بَعْدَ المَدْرَسَةِ.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Wednesday there is no activity.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حَسَبَ الجَدْوَلِ  ·  مِنَ النَّصِّ  ·  الدَّلِيلُ  ·  يَبْدَأُ / تَبْدَأُ  ·  يَنْتَهِي / تَنْتَهِي  ·  يَسْتَمِرُّ  ·  مِنْ … إِلَى  ·  مَرَّتَيْنِ  ·  بَيْنَمَا  ·  أَمَّا … فَـ  ·  يَعُودُ الضَّمِيرُ إِلَى  ·  خَانَةٌ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two daily routines or weekly schedules. Include exact times, frequency, sequence, person reference and at least two pieces of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both people or schedules clearly.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exact time or frequency details.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Control masculine and feminine present-tense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and one contrast connector.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 concise evidence-based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يُبَيِّنُ الجَدْوَلَانِ رُوتِينَيْنِ مُخْتَلِفَيْنِ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schedules show two different routines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المُقَابِلِ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contrast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عَلَى أَنَّ رُوتِينَهَا مُنَظَّمٌ هُوَ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evidence that her routine is organised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 الرُّوتِينَيْنِ مُنَظَّمٌ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both routines are organised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تَنَوُّعًا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varied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يُبَيِّنُ الجَدْوَلَانِ رُوتِينَيْنِ مُخْتَلِفَيْنِ. تَعُودُ مَرْيَمُ إِلَى البَيْتِ فِي الرَّابِعَةِ، بَيْنَمَا يَعُودُ أَخُوهَا فِي الثَّالِثَةِ وَالنِّصْفِ. تَذْهَبُ مَرْيَمُ إِلَى السِّبَاحَةِ مَرَّتَيْنِ فِي الأُسْبُوعِ، أَمَّا أَخُوهَا فَيَلْعَبُ كُرَةَ القَدَمِ ثَلَاثَ مَرَّاتٍ. يَوْمَ الخَمِيسِ تَدْرُسُ مَرْيَمُ العَرَبِيَّةَ مِنَ السَّادِسَةِ إِلَى السَّابِعَةِ إِلَّا الرُّبْعَ. قَبْلَ أَنْ تَذْهَبَ إِلَى الدَّرْسِ، تُكْمِلُ وَاجِبَهَا. الدَّلِيلُ عَلَى أَنَّ رُوتِينَهَا مُنَظَّمٌ هُوَ أَنَّهَا تُحَضِّرُ حَقِيبَتَهَا لَيْلًا. فِي المُقَابِلِ، رُوتِينُ أَخِيهَا أَكْثَرُ رِيَاضِيَّةً. فِي رَأْيِي، كِلَا الرُّوتِينَيْنِ مُنَظَّمٌ، وَلٰكِنَّ رُوتِينَ مَرْيَمَ أَكْثَرُ تَنَوُّعًا.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two schedules show two different routines. Maryam returns home at four, whereas her brother returns at half past three. Maryam goes swimming twice a week; as for her brother, he plays football three times. On Thursday Maryam studies Arabic from six to quarter to seven. Before she goes to the lesson, she finishes her homework. The evidence that her routine is organised is that she prepares her bag at night. By contrast, her brother’s routine is more sporty. In my opinion, both routines are organised, but Maryam’s routine is more varied.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“from … to …” time span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feminine and two masculine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piece of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contrast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day and activity.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for one time and “from … to” for a span.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matches its person (ta- / 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one pronoun refers to.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pieces of exact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الجَدْوَلِ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الجَدْوَلِ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حَسَبَ الجَدْوَلِ</a:t>
            </a:r>
            <a:pPr algn="l" indent="0" marL="0">
              <a:buNone/>
            </a:pPr>
            <a:r>
              <a:rPr lang="en-US" sz="1050" i="1" dirty="0">
                <a:solidFill>
                  <a:srgbClr val="8A6D1E"/>
                </a:solidFill>
                <a:latin typeface="Calibri" pitchFamily="34" charset="0"/>
                <a:ea typeface="Calibri" pitchFamily="34" charset="-122"/>
                <a:cs typeface="Calibri" pitchFamily="34" charset="-120"/>
              </a:rPr>
              <a:t> introduces schedule evidence.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الرَّابِعَةِ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 الخَمِيسِ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Frequency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difference between the two times is 90 minutes.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reading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جَدْوَلٌ أُسْبُوعِيٌّ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إِلِكْتِرُونِيَّةٌ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إِعْلَانٌ</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أُخْتِهِ</a:t>
            </a:r>
            <a:endParaRPr lang="ar-SA" sz="20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الكَاتِبِ</a:t>
            </a:r>
            <a:endParaRPr lang="ar-SA" sz="20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خَالِدٍ</a:t>
            </a:r>
            <a:endParaRPr lang="ar-SA" sz="20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سَاعَةٌ وَنِصْفٌ</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وَأَرْبَعُونَ دَقِيقَةً</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يَوْمِيًّا.</a:t>
            </a:r>
            <a:endParaRPr lang="ar-SA" sz="140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لَا يَذْهَبُ إِلَى النَّادِي أَبَدًا.</a:t>
            </a:r>
            <a:endParaRPr lang="ar-SA" sz="140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فِي رَأْيِي الرُّوتِينُ جَيِّدٌ.</a:t>
            </a:r>
            <a:endParaRPr lang="ar-SA" sz="150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الرُّوتِينُ كَلِمَةٌ مُهِمَّةٌ.</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جَدْوَلٌ أُسْبُوعِيٌّ</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 إِلِكْتِرُونِيَّةٌ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إِعْلَانٌ</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greeting, named recipient and closing are features of an email.</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evidence linked to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أُخْتِهِ</a:t>
            </a:r>
            <a:endParaRPr lang="ar-SA" sz="170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الكَاتِبِ</a:t>
            </a:r>
            <a:endParaRPr lang="ar-SA" sz="170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 خَالِدٍ</a:t>
            </a:r>
            <a:endParaRPr lang="ar-SA" sz="17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back to Khalid.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 سَاعَةٍ</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سَاعَةٌ وَنِصْفٌ</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 وَأَرْبَعُونَ دَقِيقَةً</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interval from 5:30 to 6:15 is forty-five minutes.</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يَذْهَبُ إِلَى النَّادِي يَوْمِيًّا.</a:t>
            </a:r>
            <a:endParaRPr lang="ar-SA" sz="140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لَا يَذْهَبُ إِلَى النَّادِي أَبَدًا.</a:t>
            </a:r>
            <a:endParaRPr lang="ar-SA" sz="140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frequency given is three times; the Friday detail prevents an incorrect “daily” inference.</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فِي رَأْيِي الرُّوتِينُ جَيِّدٌ.</a:t>
            </a:r>
            <a:endParaRPr lang="ar-SA" sz="15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الرُّوتِينُ كَلِمَةٌ مُهِمَّةٌ.</a:t>
            </a:r>
            <a:endParaRPr lang="ar-SA" sz="15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Specific actions from the text provide evidence; a general opinion does not prove the conclusion.</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D1-L10 · Listening — Daily Routine and Time Details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يَبْدَأُ يَوْمُكَ؟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D1-L09: the sorter “Which evidence answers the question?”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reading: answer all 8 questions, writing the Arabic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comparing two routines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WHO and WHICH event before you choose a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2026-09-27T11:23:25Z</dcterms:created>
  <dcterms:modified xsi:type="dcterms:W3CDTF">2026-09-27T11:23:25Z</dcterms:modified>
</cp:coreProperties>
</file>