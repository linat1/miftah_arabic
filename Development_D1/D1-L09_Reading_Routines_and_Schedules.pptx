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D1 Daily Routine and Time › D1-L09. The website lesson “Reading Daily Routines and Weekly Schedules”: vocabulary, grammar rules and quiz, patterns, common mistakes, sorter, listening, reading, speaking prompts and model, writing task and model, differentiation, final check and the lesson mission. Picture match: website visual game “Reading Daily Routines and Weekly Schedules”.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READING-SKILLS lesson: the website reading (a schedule + an email) is the main You Do task, not an extension. Grammar is taught as “reading signals”.
• Core: the schedule only (6 details: day, activity, start, finish) + reading questions 1, 2 and 4. Develop: the email as well + questions 3, 5, 7. Stretch: all 8, including pronoun reference (Q6) and the contrast (Q8).
• SEND: the schedule is rebuilt as a clean table on its own slide; students may cover the email while they work on it.
• Urdu bridge: جدول، مدت، نتیجہ (→ يَسْتَنْتِجُ)، دلیل، ملاحظہ.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words prepared at home. Questions 3–5 retrieve D1-L08 (أَمَّا … فَـ), D1-L02 (time with إِلَّا) and D1-L06 (she + her).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Don’t pick a number just because you see it. First find WHO and WHICH event, then the exact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جدول (table) → جَدْوَلٌ أُسْبُوعِيٌّ. مدت → المُدَّةُ. دلیل (proof, argument) → الدَّلِيلُ (evidence). ملاحظہ (inspection, observation) → مُلَاحَظَةٌ (a note). نتیجہ (result) comes from the same root as يَسْتَنْتِجُ (infers, concludes) — students can guess the verb from the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Routine texts and schedules (website vocabulary (1 of 2)). Hear → Say → See → Use. Transliteration is printed for Core students (cover it for Develop/Stretch).
These are the words on schedules and in reading questions. Show a real school timetable on screen and point: this box = خَانَةٌ, this column = النَّشَاطُ, this time = مَوْعِدُ البَدْءِ.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Routine texts and schedules (website vocabulary (2 of 2)). Hear → Say → See → Use. Transliteration is printed for Core students (cover it for Develop/Stretch).
These are the words on schedules and in reading questions. Show a real school timetable on screen and point: this box = خَانَةٌ, this column = النَّشَاطُ, this time = مَوْعِدُ البَدْءِ.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evidence (website vocabulary (1 of 2)). Hear → Say → See → Use. Transliteration is printed for Core students (cover it for Develop/Stretch).
Question language: students will meet these in reading questions (الفِكْرَةُ الرَّئِيسِيَّةُ، الدَّلِيلُ، يَعُودُ الضَّمِيرُ إِلَى). Recognition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evidence (website vocabulary (2 of 2)). Hear → Say → See → Use. Transliteration is printed for Core students (cover it for Develop/Stretch).
FLEX: teach if time allows; otherwise these are on the website vocabulary tab for homework.
Question language: students will meet these in reading questions (الفِكْرَةُ الرَّئِيسِيَّةُ، الدَّلِيلُ، يَعُودُ الضَّمِيرُ إِلَى). Recognition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Time, frequency and connection (website vocabulary (1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Time, frequency and connection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table “Reading signal · What it tells you · Example question” and rules “Track the subject through the present-tense prefix” and “Track pronoun suffixes to the nearest logical noun”.
Teacher script: “Grammar is your detective kit. The first letter of the verb tells you WHO. The little word before a time tells you WHAT KIND of time.”
Website common error: choosing a number because it appears — first identify the event, then match the exact time, duration or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“Use time and frequency expressions as evidence”: numbers are distractors unless they answer the exact question; link every time or number to its event.
Quick maths for durations: from five to six = one hour; from 5:30 to 6:15 = 45 minutes (website mission round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“Grammar helps a reader identify who acts, when an event happens and how one sentence connects to the next. Track prefixes, suffixes, schedule verbs and contrast markers as evidence.”
• Track the subject through the present-tense prefix: Use the prefix and any named subject to identify the person before selecting an answer.
• Track pronoun suffixes to the nearest logical noun: Ask which earlier noun matches the gender and meaning of the suffix or demonstrative.
• Use time and frequency expressions as evidence: Numbers are distractors unless they answer the exact question. Link every time or number to its event.
• Follow sequence and contrast markers: These markers show order or difference and often change which detail answers the question.
Website common error: Do not choose a number simply because it appears in the text. First identify which event the question asks about, then match the exact time, duration or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teacher thinks aloud through website reading question 2 (the website speaking model uses the same example). Four steps students will copy for every question: question → row → exact detail → answer +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sentence 1 and change the time. • Develop: copy sentence 2 and change the people. • Stretch: write your own “the pronoun refers to …” sentence about a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mission rounds 2–5 (answer options given in English for Core access). Model the detective steps on Q1: the text has TWO times; only one belongs to waking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answer, a student reads out the Arabic words that prove it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Match each Arabic detail to the reading question it answers.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Match each Arabic detail to the reading question it answers.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5,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6.
Listen 1: just listen. Listen 2: note answers. Then chat the letters.
Support: after the second listening, show the read-along slide (Arabic + English, line by line) for Core students.
SCRIPT (read aloud):
المُتَحَدِّثُ الأَوَّلُ: يَبْدَأُ يَوْمِي فِي السَّادِسَةِ وَالنِّصْفِ، وَأَخْرُجُ مِنَ البَيْتِ فِي السَّابِعَةِ وَالرُّبْعِ. أَذْهَبُ إِلَى نَادِي الحَاسُوبِ يَوْمَ الثُّلَاثَاءِ، وَهُوَ يَسْتَمِرُّ مِنَ الخَامِسَةِ إِلَى السَّادِسَةِ.
المُتَحَدِّثَةُ الثَّانِيَةُ: أَعُودُ إِلَى البَيْتِ فِي الرَّابِعَةِ، بَيْنَمَا تَعُودُ أُخْتِي فِي الثَّالِثَةِ وَالنِّصْفِ. أَتَمَرَّنُ مَرَّتَيْنِ فِي الأُسْبُوعِ، أَمَّا يَوْمُ الخَمِيسِ فَأَدْرُسُ فِي المَكْتَبَةِ.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READING PART 1 (2 min). The website schedule rebuilt as a table (Monday swimming 4–5; Tuesday computer club 5:30; Wednesday no activity; Thursday Arabic 6:00–6:45).
Core: fill in start / finish / duration in numbers (Monday 1 hour; Thursday 45 minutes; Tuesday: start only — no finish given!).
Ask Develop: “Which day is calmest? What is your evidence?” (Wednesday: لَا نَشَاطَ بَعْدَ المَدْرَسَةِ).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READING (main task, 3 min to read). The email from the website reading. Students have the schedule on the previous slide.
Core: questions 1, 2, 4 (schedule only). Develop: + 3, 5, 7. Stretch: all, including 6 (what does هُوَ refer to?) and 8 (the contrast).
SEND: cover the text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مَا الدَّلِيلُ؟ (What is the evidence?)
B: الدَّلِيلُ مَوْجُودٌ فِي خَانَةِ يَوْمِ الخَمِيسِ فِي الجَدْوَلِ. (The evidence is in the Thursday cell of the schedule.)
Website prompts and model (the model continues: “What is the evidence?” — “The evidence is in the Thursday cell of the schedule.”). Pairs explain HOW they found one answer — this is the reading strategy spoken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Locate and record six exact details from a routine and a schedule. · Develop — Explain two pronoun references and compare two routines with evidence. · Stretch — Write a concise inference that combines time, frequency, person and contrast evidence.
Website writing task (Stretch): Write 100–120 words comparing two daily routines or weekly schedules. Include exact times, frequency, sequence, person reference and at least two pieces of evidence.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مِنَ السَّادِسَةِ إِلَى السَّابِعَةِ إِلَّا الرُّبْعَ · تَعُودُ، تَذْهَبُ / يَعُودُ، يَلْعَبُ · الدَّلِيلُ عَلَى أَنَّ … هُوَ أَنَّهَا تُحَضِّرُ حَقِيبَتَهَا لَيْلًا · بَيْنَمَا، أَمَّا … فَـ، فِي المُقَابِلِ.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(D1-L10 · Listening — Daily Routine and Time Details) will spend class time USING this language, so students prepare it tonight — short, simple, easy to access (school guidance: “Simple, Short, Interesting, Relevant, Easy to access”). The five words come from the website D1-L10 vocabulary (listening process and strategy verbs).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Reading Daily Routines and Weekly Schedules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قِرَاءَةُ الرُّوتِينِ اليَوْمِيِّ وَالجَدَاوِلِ الأُسْبُوعِيَّةِ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a weekly schedule and a routine email like a detective: find the right row and day, track WHO with prefixes and suffixes, and match each number to the exact event before answering.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D1-L09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signals: who, when, how long, how often.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Evidence detective, sort the evidence,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D1-L10.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حَسَبَ الجَدْوَلِ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the lesson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according to the schedule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weekly programme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مَوْعِدُ الاِنْتِهَاءِ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finish time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start time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duration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أَمَّا يَوْمُ الأَحَدِ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أُخَطِّطُ لِلْأُسْبُوعِ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فَـ</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6:45?</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٦:٤٥</a:t>
            </a:r>
            <a:endParaRPr lang="ar-SA" sz="22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السَّادِسَةُ إِلَّا الرُّبْعَ</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السَّادِسَةُ وَالرُّبْعُ</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السَّابِعَةُ إِلَّا الرُّبْعَ</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تُحَضِّرُ حَقِيبَتَهَا</a:t>
            </a:r>
            <a:pPr algn="l" indent="0" marL="0">
              <a:buNone/>
            </a:pPr>
            <a:r>
              <a:rPr lang="en-US" sz="1250" b="1" dirty="0">
                <a:solidFill>
                  <a:srgbClr val="1B3B6F"/>
                </a:solidFill>
                <a:latin typeface="Calibri" pitchFamily="34" charset="0"/>
                <a:cs typeface="Amiri" pitchFamily="2" charset="-78"/>
              </a:rPr>
              <a:t>, who prepares the bag?</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girl / woman</a:t>
            </a:r>
            <a:endParaRPr lang="en-US" sz="12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boy / man</a:t>
            </a:r>
            <a:endParaRPr lang="en-US" sz="12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a:t>
            </a:r>
            <a:endParaRPr lang="en-US" sz="12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حَسَبَ الجَدْوَلِ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the lesson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according to the schedule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weekly programme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مَوْعِدُ الاِنْتِهَاءِ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finish time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start time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duration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أَمَّا يَوْمُ الأَحَدِ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أُخَطِّطُ لِلْأُسْبُوعِ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فَـ</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D1-L08: as for … fa-.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6:45?</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٦:٤٥</a:t>
            </a:r>
            <a:endParaRPr lang="ar-SA" sz="22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السَّادِسَةُ إِلَّا الرُّبْعَ</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السَّادِسَةُ وَالرُّبْعُ</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السَّابِعَةُ إِلَّا الرُّبْعَ</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D1-L02: the NEXT hour with </a:t>
            </a:r>
            <a:pPr algn="l" indent="0" marL="0">
              <a:buNone/>
            </a:pPr>
            <a:r>
              <a:rPr lang="ar-SA" altLang="en-US" sz="1350" dirty="0">
                <a:solidFill>
                  <a:srgbClr val="8A6D1E"/>
                </a:solidFill>
                <a:latin typeface="Amiri" pitchFamily="2" charset="-78"/>
                <a:ea typeface="Amiri" pitchFamily="2" charset="-78"/>
                <a:cs typeface="Amiri" pitchFamily="2" charset="-78"/>
              </a:rPr>
              <a:t>إِلَّا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تُحَضِّرُ حَقِيبَتَهَا</a:t>
            </a:r>
            <a:pPr algn="l" indent="0" marL="0">
              <a:buNone/>
            </a:pPr>
            <a:r>
              <a:rPr lang="en-US" sz="1250" b="1" dirty="0">
                <a:solidFill>
                  <a:srgbClr val="1B3B6F"/>
                </a:solidFill>
                <a:latin typeface="Calibri" pitchFamily="34" charset="0"/>
                <a:cs typeface="Amiri" pitchFamily="2" charset="-78"/>
              </a:rPr>
              <a:t>, who prepares the bag?</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girl / woman</a:t>
            </a:r>
            <a:endParaRPr lang="en-US" sz="125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boy / man</a:t>
            </a:r>
            <a:endParaRPr lang="en-US" sz="125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a:t>
            </a:r>
            <a:endParaRPr lang="en-US" sz="125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D1-L06: tu- + -hā.</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Don’t pick a number just because you see it. First find WHO and WHICH event, then the exact time.</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تَعُودُ</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مَرْيَمُ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فِي الرَّابِعَةِ</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بَيْنَمَا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يَعُودُ</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أَخُوهَا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فِي الخَامِسَةِ</a:t>
            </a:r>
            <a:pPr rtl="1" algn="ctr" indent="0" marL="0">
              <a:lnSpc>
                <a:spcPct val="120000"/>
              </a:lnSpc>
              <a:buNone/>
            </a:pPr>
            <a:r>
              <a:rPr lang="ar-SA" altLang="en-US" sz="1950" b="1" dirty="0">
                <a:solidFill>
                  <a:srgbClr val="1B3B6F"/>
                </a:solidFill>
                <a:latin typeface="Amiri" pitchFamily="2" charset="-78"/>
                <a:cs typeface="Amiri" pitchFamily="2" charset="-78"/>
              </a:rPr>
              <a:t>.</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Scan a daily-routine text and weekly schedule for exact information.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Track person, time, frequency and sequence across connected sentences.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pronoun reference and contrast markers to infer meaning.</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Summarise and compare two routines using precise textual evidence.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a day, a start time and a finish time in a schedule.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reading questions 1, 2 and 4.</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who does an action from the prefix (</a:t>
            </a:r>
            <a:pPr algn="l" indent="0" marL="0">
              <a:buNone/>
            </a:pPr>
            <a:r>
              <a:rPr lang="ar-SA" altLang="en-US" sz="1700" b="1" dirty="0">
                <a:solidFill>
                  <a:srgbClr val="C9780A"/>
                </a:solidFill>
                <a:latin typeface="Amiri" pitchFamily="2" charset="-78"/>
                <a:ea typeface="Amiri" pitchFamily="2" charset="-78"/>
                <a:cs typeface="Amiri" pitchFamily="2" charset="-78"/>
              </a:rPr>
              <a:t>تَـ / يَـ</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work out a duration from two times.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what a pronoun refers to.</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routines with exact evidence.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27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Routine texts and schedules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Reading evidence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Time, frequency and connection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جَدْوَلٌ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‎جدول‎ </a:t>
            </a:r>
            <a:pPr indent="0" marL="0">
              <a:buNone/>
            </a:pPr>
            <a:r>
              <a:rPr lang="en-US" sz="950" b="1" dirty="0">
                <a:solidFill>
                  <a:srgbClr val="2E8B57"/>
                </a:solidFill>
                <a:latin typeface="Calibri" pitchFamily="34" charset="0"/>
                <a:cs typeface="Amiri" pitchFamily="2" charset="-78"/>
              </a:rPr>
              <a:t> jadwal · table, schedule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المُدَّةُ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‎مدت‎ </a:t>
            </a:r>
            <a:pPr indent="0" marL="0">
              <a:buNone/>
            </a:pPr>
            <a:r>
              <a:rPr lang="en-US" sz="950" b="1" dirty="0">
                <a:solidFill>
                  <a:srgbClr val="2E8B57"/>
                </a:solidFill>
                <a:latin typeface="Calibri" pitchFamily="34" charset="0"/>
                <a:cs typeface="Amiri" pitchFamily="2" charset="-78"/>
              </a:rPr>
              <a:t> muddat · duration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الدَّلِيلُ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evidence, proof</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مُلَاحَظَةٌ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‎ملاحظہ‎ </a:t>
            </a:r>
            <a:pPr indent="0" marL="0">
              <a:buNone/>
            </a:pPr>
            <a:r>
              <a:rPr lang="en-US" sz="950" b="1" dirty="0">
                <a:solidFill>
                  <a:srgbClr val="2E8B57"/>
                </a:solidFill>
                <a:latin typeface="Calibri" pitchFamily="34" charset="0"/>
                <a:cs typeface="Amiri" pitchFamily="2" charset="-78"/>
              </a:rPr>
              <a:t> mulāḥaza · observation, note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يَسْتَنْتِجُ</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‎نتیجہ‎ </a:t>
            </a:r>
            <a:pPr indent="0" marL="0">
              <a:buNone/>
            </a:pPr>
            <a:r>
              <a:rPr lang="en-US" sz="950" b="1" dirty="0">
                <a:solidFill>
                  <a:srgbClr val="2E8B57"/>
                </a:solidFill>
                <a:latin typeface="Calibri" pitchFamily="34" charset="0"/>
                <a:cs typeface="Amiri" pitchFamily="2" charset="-78"/>
              </a:rPr>
              <a:t> natīja · result → to conclude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Routine texts and schedules (1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جَدْوَلٌ أُسْبُوعِيٌّ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weekly schedule</a:t>
            </a:r>
            <a:endParaRPr lang="en-US" sz="1350" dirty="0"/>
          </a:p>
          <a:p>
            <a:pPr indent="0" marL="0">
              <a:buNone/>
            </a:pPr>
            <a:r>
              <a:rPr lang="en-US" sz="1100" i="1" dirty="0">
                <a:solidFill>
                  <a:srgbClr val="5A6472"/>
                </a:solidFill>
                <a:latin typeface="Calibri" pitchFamily="34" charset="0"/>
                <a:cs typeface="Amiri" pitchFamily="2" charset="-78"/>
              </a:rPr>
              <a:t>jad-wa-lun us-bū-ʿiy-yun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جَدَاوِلُ</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الجَدْوَلُ</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جَدْوَلٌ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Text 3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بَرْنَامَجٌ يَوْمِيٌّ</a:t>
            </a:r>
            <a:endParaRPr lang="ar-SA" sz="3000" dirty="0"/>
          </a:p>
        </p:txBody>
      </p:sp>
      <p:sp>
        <p:nvSpPr>
          <p:cNvPr id="37" name="Text 3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daily programme / routine</a:t>
            </a:r>
            <a:endParaRPr lang="en-US" sz="1350" dirty="0"/>
          </a:p>
          <a:p>
            <a:pPr indent="0" marL="0">
              <a:buNone/>
            </a:pPr>
            <a:r>
              <a:rPr lang="en-US" sz="1100" i="1" dirty="0">
                <a:solidFill>
                  <a:srgbClr val="5A6472"/>
                </a:solidFill>
                <a:latin typeface="Calibri" pitchFamily="34" charset="0"/>
                <a:cs typeface="Amiri" pitchFamily="2" charset="-78"/>
              </a:rPr>
              <a:t>bar-nā-ma-jun yaw-miy-yun</a:t>
            </a:r>
            <a:endParaRPr lang="en-US" sz="135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1" name="Text 3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مُدَوَّنَةٌ</a:t>
            </a:r>
            <a:endParaRPr lang="ar-SA" sz="3000" dirty="0"/>
          </a:p>
        </p:txBody>
      </p:sp>
      <p:sp>
        <p:nvSpPr>
          <p:cNvPr id="42" name="Text 3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blog</a:t>
            </a:r>
            <a:endParaRPr lang="en-US" sz="1350" dirty="0"/>
          </a:p>
          <a:p>
            <a:pPr indent="0" marL="0">
              <a:buNone/>
            </a:pPr>
            <a:r>
              <a:rPr lang="en-US" sz="1100" i="1" dirty="0">
                <a:solidFill>
                  <a:srgbClr val="5A6472"/>
                </a:solidFill>
                <a:latin typeface="Calibri" pitchFamily="34" charset="0"/>
                <a:cs typeface="Amiri" pitchFamily="2" charset="-78"/>
              </a:rPr>
              <a:t>mu-daw-wa-na-tun</a:t>
            </a:r>
            <a:endParaRPr lang="en-US" sz="135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6" name="Shape 43"/>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8" name="Shape 4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رِسَالَةٌ إِلِكْتِرُونِيَّةٌ</a:t>
            </a:r>
            <a:endParaRPr lang="ar-SA" sz="3000" dirty="0"/>
          </a:p>
        </p:txBody>
      </p:sp>
      <p:sp>
        <p:nvSpPr>
          <p:cNvPr id="51" name="Text 4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email</a:t>
            </a:r>
            <a:endParaRPr lang="en-US" sz="1350" dirty="0"/>
          </a:p>
          <a:p>
            <a:pPr indent="0" marL="0">
              <a:buNone/>
            </a:pPr>
            <a:r>
              <a:rPr lang="en-US" sz="1100" i="1" dirty="0">
                <a:solidFill>
                  <a:srgbClr val="5A6472"/>
                </a:solidFill>
                <a:latin typeface="Calibri" pitchFamily="34" charset="0"/>
                <a:cs typeface="Amiri" pitchFamily="2" charset="-78"/>
              </a:rPr>
              <a:t>ri-sā-la-tun i-lik-ti-rū-niy-ya-tun</a:t>
            </a:r>
            <a:endParaRPr lang="en-US" sz="1350" dirty="0"/>
          </a:p>
        </p:txBody>
      </p:sp>
      <p:sp>
        <p:nvSpPr>
          <p:cNvPr id="52" name="Shape 4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رَسَائِلُ</a:t>
            </a:r>
            <a:endParaRPr lang="ar-SA" sz="1500" dirty="0"/>
          </a:p>
        </p:txBody>
      </p:sp>
      <p:sp>
        <p:nvSpPr>
          <p:cNvPr id="55" name="Shape 5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57" name="Text 5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الرِّسَالَةُ</a:t>
            </a:r>
            <a:endParaRPr lang="ar-SA" sz="1500" dirty="0"/>
          </a:p>
        </p:txBody>
      </p:sp>
      <p:sp>
        <p:nvSpPr>
          <p:cNvPr id="58" name="Shape 5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0" name="Text 5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رِسَالَةٌ</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4" name="Shape 6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البَدْءِ</a:t>
            </a:r>
            <a:endParaRPr lang="ar-SA" sz="300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start time</a:t>
            </a:r>
            <a:endParaRPr lang="en-US" sz="1350" dirty="0"/>
          </a:p>
          <a:p>
            <a:pPr indent="0" marL="0">
              <a:buNone/>
            </a:pPr>
            <a:r>
              <a:rPr lang="en-US" sz="1100" i="1" dirty="0">
                <a:solidFill>
                  <a:srgbClr val="5A6472"/>
                </a:solidFill>
                <a:latin typeface="Calibri" pitchFamily="34" charset="0"/>
                <a:cs typeface="Amiri" pitchFamily="2" charset="-78"/>
              </a:rPr>
              <a:t>maw-ʿi-du al-bad-ʾi</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Routine texts and schedules (2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الاِنْتِهَاءِ</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finish time</a:t>
            </a:r>
            <a:endParaRPr lang="en-US" sz="1350" dirty="0"/>
          </a:p>
          <a:p>
            <a:pPr indent="0" marL="0">
              <a:buNone/>
            </a:pPr>
            <a:r>
              <a:rPr lang="en-US" sz="1100" i="1" dirty="0">
                <a:solidFill>
                  <a:srgbClr val="5A6472"/>
                </a:solidFill>
                <a:latin typeface="Calibri" pitchFamily="34" charset="0"/>
                <a:cs typeface="Amiri" pitchFamily="2" charset="-78"/>
              </a:rPr>
              <a:t>maw-ʿi-du aln-ti-hā-ʾi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المُدَّةُ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duration</a:t>
            </a:r>
            <a:endParaRPr lang="en-US" sz="1350" dirty="0"/>
          </a:p>
          <a:p>
            <a:pPr indent="0" marL="0">
              <a:buNone/>
            </a:pPr>
            <a:r>
              <a:rPr lang="en-US" sz="1100" i="1" dirty="0">
                <a:solidFill>
                  <a:srgbClr val="5A6472"/>
                </a:solidFill>
                <a:latin typeface="Calibri" pitchFamily="34" charset="0"/>
                <a:cs typeface="Amiri" pitchFamily="2" charset="-78"/>
              </a:rPr>
              <a:t>al-mud-da-tu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Shape 2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النَّشَاطُ</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activity</a:t>
            </a:r>
            <a:endParaRPr lang="en-US" sz="1350" dirty="0"/>
          </a:p>
          <a:p>
            <a:pPr indent="0" marL="0">
              <a:buNone/>
            </a:pPr>
            <a:r>
              <a:rPr lang="en-US" sz="1100" i="1" dirty="0">
                <a:solidFill>
                  <a:srgbClr val="5A6472"/>
                </a:solidFill>
                <a:latin typeface="Calibri" pitchFamily="34" charset="0"/>
                <a:cs typeface="Amiri" pitchFamily="2" charset="-78"/>
              </a:rPr>
              <a:t>an-na-shā-ṭu</a:t>
            </a:r>
            <a:endParaRPr lang="en-US" sz="1350" dirty="0"/>
          </a:p>
        </p:txBody>
      </p:sp>
      <p:sp>
        <p:nvSpPr>
          <p:cNvPr id="38" name="Shape 3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الأَنْشِطَةُ</a:t>
            </a:r>
            <a:endParaRPr lang="ar-SA" sz="1500" dirty="0"/>
          </a:p>
        </p:txBody>
      </p:sp>
      <p:sp>
        <p:nvSpPr>
          <p:cNvPr id="41" name="Shape 3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43" name="Text 4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النَّشَاطُ</a:t>
            </a:r>
            <a:endParaRPr lang="ar-SA" sz="1500" dirty="0"/>
          </a:p>
        </p:txBody>
      </p:sp>
      <p:sp>
        <p:nvSpPr>
          <p:cNvPr id="44" name="Shape 4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6" name="Text 4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نَشَاطٌ</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0" name="Text 4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خَانَةٌ</a:t>
            </a:r>
            <a:endParaRPr lang="ar-SA" sz="3000" dirty="0"/>
          </a:p>
        </p:txBody>
      </p:sp>
      <p:sp>
        <p:nvSpPr>
          <p:cNvPr id="51" name="Text 4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box / cell in a table</a:t>
            </a:r>
            <a:endParaRPr lang="en-US" sz="1350" dirty="0"/>
          </a:p>
          <a:p>
            <a:pPr indent="0" marL="0">
              <a:buNone/>
            </a:pPr>
            <a:r>
              <a:rPr lang="en-US" sz="1100" i="1" dirty="0">
                <a:solidFill>
                  <a:srgbClr val="5A6472"/>
                </a:solidFill>
                <a:latin typeface="Calibri" pitchFamily="34" charset="0"/>
                <a:cs typeface="Amiri" pitchFamily="2" charset="-78"/>
              </a:rPr>
              <a:t>khā-na-tun</a:t>
            </a:r>
            <a:endParaRPr lang="en-US" sz="135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5" name="Shape 52"/>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7" name="Text 5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مُلَاحَظَةٌ</a:t>
            </a:r>
            <a:endParaRPr lang="ar-SA" sz="3000" dirty="0"/>
          </a:p>
        </p:txBody>
      </p:sp>
      <p:sp>
        <p:nvSpPr>
          <p:cNvPr id="58" name="Text 5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note</a:t>
            </a:r>
            <a:endParaRPr lang="en-US" sz="1350" dirty="0"/>
          </a:p>
          <a:p>
            <a:pPr indent="0" marL="0">
              <a:buNone/>
            </a:pPr>
            <a:r>
              <a:rPr lang="en-US" sz="1100" i="1" dirty="0">
                <a:solidFill>
                  <a:srgbClr val="5A6472"/>
                </a:solidFill>
                <a:latin typeface="Calibri" pitchFamily="34" charset="0"/>
                <a:cs typeface="Amiri" pitchFamily="2" charset="-78"/>
              </a:rPr>
              <a:t>mu-lā-ḥa-ẓa-tun</a:t>
            </a:r>
            <a:endParaRPr lang="en-US" sz="1350" dirty="0"/>
          </a:p>
        </p:txBody>
      </p:sp>
      <p:sp>
        <p:nvSpPr>
          <p:cNvPr id="59" name="Shape 56"/>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1" name="Text 58"/>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مُلَاحَظَاتٌ</a:t>
            </a:r>
            <a:endParaRPr lang="ar-SA" sz="1500" dirty="0"/>
          </a:p>
        </p:txBody>
      </p:sp>
      <p:sp>
        <p:nvSpPr>
          <p:cNvPr id="62" name="Shape 59"/>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64" name="Text 61"/>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المُلَاحَظَةُ</a:t>
            </a:r>
            <a:endParaRPr lang="ar-SA" sz="1500" dirty="0"/>
          </a:p>
        </p:txBody>
      </p:sp>
      <p:sp>
        <p:nvSpPr>
          <p:cNvPr id="65" name="Shape 62"/>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7" name="Text 64"/>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مُلَاحَظَةٌ</a:t>
            </a:r>
            <a:endParaRPr lang="ar-SA" sz="15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evidence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الفِكْرَةُ الرَّئِيسِيَّةُ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main idea</a:t>
            </a:r>
            <a:endParaRPr lang="en-US" sz="1350" dirty="0"/>
          </a:p>
          <a:p>
            <a:pPr indent="0" marL="0">
              <a:buNone/>
            </a:pPr>
            <a:r>
              <a:rPr lang="en-US" sz="1100" i="1" dirty="0">
                <a:solidFill>
                  <a:srgbClr val="5A6472"/>
                </a:solidFill>
                <a:latin typeface="Calibri" pitchFamily="34" charset="0"/>
                <a:cs typeface="Amiri" pitchFamily="2" charset="-78"/>
              </a:rPr>
              <a:t>al-fik-ra-tu ar-ra-ʾī-siy-ya-tu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التَّفْصِيلُ الدَّقِيقُ</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precise detail</a:t>
            </a:r>
            <a:endParaRPr lang="en-US" sz="1350" dirty="0"/>
          </a:p>
          <a:p>
            <a:pPr indent="0" marL="0">
              <a:buNone/>
            </a:pPr>
            <a:r>
              <a:rPr lang="en-US" sz="1100" i="1" dirty="0">
                <a:solidFill>
                  <a:srgbClr val="5A6472"/>
                </a:solidFill>
                <a:latin typeface="Calibri" pitchFamily="34" charset="0"/>
                <a:cs typeface="Amiri" pitchFamily="2" charset="-78"/>
              </a:rPr>
              <a:t>at-taf-ṣī-lu ad-da-qī-qu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الدَّلِيلُ</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ad-da-lī-lu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يَشِيرُ إِلَى</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indicates / refers to</a:t>
            </a:r>
            <a:endParaRPr lang="en-US" sz="1350" dirty="0"/>
          </a:p>
          <a:p>
            <a:pPr indent="0" marL="0">
              <a:buNone/>
            </a:pPr>
            <a:r>
              <a:rPr lang="en-US" sz="1100" i="1" dirty="0">
                <a:solidFill>
                  <a:srgbClr val="5A6472"/>
                </a:solidFill>
                <a:latin typeface="Calibri" pitchFamily="34" charset="0"/>
                <a:cs typeface="Amiri" pitchFamily="2" charset="-78"/>
              </a:rPr>
              <a:t>ya-shī-ru i-lā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يَعُودُ الضَّمِيرُ إِلَى</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pronoun refers to</a:t>
            </a:r>
            <a:endParaRPr lang="en-US" sz="1350" dirty="0"/>
          </a:p>
          <a:p>
            <a:pPr indent="0" marL="0">
              <a:buNone/>
            </a:pPr>
            <a:r>
              <a:rPr lang="en-US" sz="1100" i="1" dirty="0">
                <a:solidFill>
                  <a:srgbClr val="5A6472"/>
                </a:solidFill>
                <a:latin typeface="Calibri" pitchFamily="34" charset="0"/>
                <a:cs typeface="Amiri" pitchFamily="2" charset="-78"/>
              </a:rPr>
              <a:t>ya-ʿū-du aḍ-ḍa-mī-ru i-lā</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evidence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يُقَارِنُ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compares</a:t>
            </a:r>
            <a:endParaRPr lang="en-US" sz="1350" dirty="0"/>
          </a:p>
          <a:p>
            <a:pPr indent="0" marL="0">
              <a:buNone/>
            </a:pPr>
            <a:r>
              <a:rPr lang="en-US" sz="1100" i="1" dirty="0">
                <a:solidFill>
                  <a:srgbClr val="5A6472"/>
                </a:solidFill>
                <a:latin typeface="Calibri" pitchFamily="34" charset="0"/>
                <a:cs typeface="Amiri" pitchFamily="2" charset="-78"/>
              </a:rPr>
              <a:t>yu-qā-ri-nu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أُقَارِنُ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تُقَارِنُ</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يُقَارِنُ</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يَسْتَنْتِجُ</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infers / concludes</a:t>
            </a:r>
            <a:endParaRPr lang="en-US" sz="1350" dirty="0"/>
          </a:p>
          <a:p>
            <a:pPr indent="0" marL="0">
              <a:buNone/>
            </a:pPr>
            <a:r>
              <a:rPr lang="en-US" sz="1100" i="1" dirty="0">
                <a:solidFill>
                  <a:srgbClr val="5A6472"/>
                </a:solidFill>
                <a:latin typeface="Calibri" pitchFamily="34" charset="0"/>
                <a:cs typeface="Amiri" pitchFamily="2" charset="-78"/>
              </a:rPr>
              <a:t>yas-tan-ti-ju</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أَسْتَنْتِجُ</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تَسْتَنْتِجُ</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يَسْتَنْتِجُ</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حَسَبَ الجَدْوَلِ</a:t>
            </a:r>
            <a:endParaRPr lang="ar-SA" sz="3000" dirty="0"/>
          </a:p>
        </p:txBody>
      </p:sp>
      <p:sp>
        <p:nvSpPr>
          <p:cNvPr id="55" name="Text 5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according to the schedule</a:t>
            </a:r>
            <a:endParaRPr lang="en-US" sz="1350" dirty="0"/>
          </a:p>
          <a:p>
            <a:pPr indent="0" marL="0">
              <a:buNone/>
            </a:pPr>
            <a:r>
              <a:rPr lang="en-US" sz="1100" i="1" dirty="0">
                <a:solidFill>
                  <a:srgbClr val="5A6472"/>
                </a:solidFill>
                <a:latin typeface="Calibri" pitchFamily="34" charset="0"/>
                <a:cs typeface="Amiri" pitchFamily="2" charset="-78"/>
              </a:rPr>
              <a:t>ḥa-sa-ba al-jad-wa-li</a:t>
            </a:r>
            <a:endParaRPr lang="en-US"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النَّصِّ</a:t>
            </a:r>
            <a:endParaRPr lang="ar-SA" sz="3000" dirty="0"/>
          </a:p>
        </p:txBody>
      </p:sp>
      <p:sp>
        <p:nvSpPr>
          <p:cNvPr id="62" name="Text 5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the text</a:t>
            </a:r>
            <a:endParaRPr lang="en-US" sz="1350" dirty="0"/>
          </a:p>
          <a:p>
            <a:pPr indent="0" marL="0">
              <a:buNone/>
            </a:pPr>
            <a:r>
              <a:rPr lang="en-US" sz="1100" i="1" dirty="0">
                <a:solidFill>
                  <a:srgbClr val="5A6472"/>
                </a:solidFill>
                <a:latin typeface="Calibri" pitchFamily="34" charset="0"/>
                <a:cs typeface="Amiri" pitchFamily="2" charset="-78"/>
              </a:rPr>
              <a:t>mi-na an-naṣ-ṣi</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Time, frequency and connection (1 of 2)</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يَوْمِيًّا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daily</a:t>
            </a:r>
            <a:endParaRPr lang="en-US" sz="1350" dirty="0"/>
          </a:p>
          <a:p>
            <a:pPr indent="0" marL="0">
              <a:buNone/>
            </a:pPr>
            <a:r>
              <a:rPr lang="en-US" sz="1100" i="1" dirty="0">
                <a:solidFill>
                  <a:srgbClr val="5A6472"/>
                </a:solidFill>
                <a:latin typeface="Calibri" pitchFamily="34" charset="0"/>
                <a:cs typeface="Amiri" pitchFamily="2" charset="-78"/>
              </a:rPr>
              <a:t>yaw-miy-yan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مَرَّتَيْنِ فِي الأُسْبُوعِ</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twice a week</a:t>
            </a:r>
            <a:endParaRPr lang="en-US" sz="1350" dirty="0"/>
          </a:p>
          <a:p>
            <a:pPr indent="0" marL="0">
              <a:buNone/>
            </a:pPr>
            <a:r>
              <a:rPr lang="en-US" sz="1100" i="1" dirty="0">
                <a:solidFill>
                  <a:srgbClr val="5A6472"/>
                </a:solidFill>
                <a:latin typeface="Calibri" pitchFamily="34" charset="0"/>
                <a:cs typeface="Amiri" pitchFamily="2" charset="-78"/>
              </a:rPr>
              <a:t>mar-ra-tay-ni fī al-us-bū-ʿi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 إِلَى ...</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 until ...</a:t>
            </a:r>
            <a:endParaRPr lang="en-US" sz="1350" dirty="0"/>
          </a:p>
          <a:p>
            <a:pPr indent="0" marL="0">
              <a:buNone/>
            </a:pPr>
            <a:r>
              <a:rPr lang="en-US" sz="1100" i="1" dirty="0">
                <a:solidFill>
                  <a:srgbClr val="5A6472"/>
                </a:solidFill>
                <a:latin typeface="Calibri" pitchFamily="34" charset="0"/>
                <a:cs typeface="Amiri" pitchFamily="2" charset="-78"/>
              </a:rPr>
              <a:t>min ... i-lā ...</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قَبْلَ أَنْ</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before</a:t>
            </a:r>
            <a:endParaRPr lang="en-US" sz="1350" dirty="0"/>
          </a:p>
          <a:p>
            <a:pPr indent="0" marL="0">
              <a:buNone/>
            </a:pPr>
            <a:r>
              <a:rPr lang="en-US" sz="1100" i="1" dirty="0">
                <a:solidFill>
                  <a:srgbClr val="5A6472"/>
                </a:solidFill>
                <a:latin typeface="Calibri" pitchFamily="34" charset="0"/>
                <a:cs typeface="Amiri" pitchFamily="2" charset="-78"/>
              </a:rPr>
              <a:t>qab-la an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Time, frequency and connection (2 of 2)</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a:t>
            </a:r>
            <a:endParaRPr lang="en-US" sz="1350" dirty="0"/>
          </a:p>
          <a:p>
            <a:pPr indent="0" marL="0">
              <a:buNone/>
            </a:pPr>
            <a:r>
              <a:rPr lang="en-US" sz="1100" i="1" dirty="0">
                <a:solidFill>
                  <a:srgbClr val="5A6472"/>
                </a:solidFill>
                <a:latin typeface="Calibri" pitchFamily="34" charset="0"/>
                <a:cs typeface="Amiri" pitchFamily="2" charset="-78"/>
              </a:rPr>
              <a:t>baʿ-da 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while / 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أَمَّا ... فَـ</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for ... then / contrast</a:t>
            </a:r>
            <a:endParaRPr lang="en-US" sz="1350" dirty="0"/>
          </a:p>
          <a:p>
            <a:pPr indent="0" marL="0">
              <a:buNone/>
            </a:pPr>
            <a:r>
              <a:rPr lang="en-US" sz="1100" i="1" dirty="0">
                <a:solidFill>
                  <a:srgbClr val="5A6472"/>
                </a:solidFill>
                <a:latin typeface="Calibri" pitchFamily="34" charset="0"/>
                <a:cs typeface="Amiri" pitchFamily="2" charset="-78"/>
              </a:rPr>
              <a:t>am-mā ... fa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ـهُ / ـهَا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 her / it reference</a:t>
            </a:r>
            <a:endParaRPr lang="en-US" sz="1350" dirty="0"/>
          </a:p>
          <a:p>
            <a:pPr indent="0" marL="0">
              <a:buNone/>
            </a:pPr>
            <a:r>
              <a:rPr lang="en-US" sz="1100" i="1" dirty="0">
                <a:solidFill>
                  <a:srgbClr val="5A6472"/>
                </a:solidFill>
                <a:latin typeface="Calibri" pitchFamily="34" charset="0"/>
                <a:cs typeface="Amiri" pitchFamily="2" charset="-78"/>
              </a:rPr>
              <a:t>hu / hā</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READING SIGNALS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each signal tells the reader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عَلَامَاتُ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7" name="Text 14"/>
          <p:cNvSpPr txBox="1"/>
          <p:nvPr/>
        </p:nvSpPr>
        <p:spPr>
          <a:xfrm>
            <a:off x="494690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in a text</a:t>
            </a:r>
            <a:endParaRPr lang="en-US" sz="1100" dirty="0"/>
          </a:p>
        </p:txBody>
      </p:sp>
      <p:sp>
        <p:nvSpPr>
          <p:cNvPr id="18" name="Text 15"/>
          <p:cNvSpPr txBox="1"/>
          <p:nvPr/>
        </p:nvSpPr>
        <p:spPr>
          <a:xfrm>
            <a:off x="2660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 tells you …</a:t>
            </a:r>
            <a:endParaRPr lang="en-US" sz="1100" dirty="0"/>
          </a:p>
        </p:txBody>
      </p:sp>
      <p:sp>
        <p:nvSpPr>
          <p:cNvPr id="19" name="Text 16"/>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it answers</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897112" y="2267712"/>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تَـ</a:t>
            </a:r>
            <a:pPr rtl="1" algn="ctr" indent="0" marL="0">
              <a:buNone/>
            </a:pPr>
            <a:r>
              <a:rPr lang="ar-SA" altLang="en-US" sz="2600" b="1" dirty="0">
                <a:solidFill>
                  <a:srgbClr val="1B3B6F"/>
                </a:solidFill>
                <a:latin typeface="Amiri" pitchFamily="2" charset="-78"/>
                <a:cs typeface="Amiri" pitchFamily="2" charset="-78"/>
              </a:rPr>
              <a:t> / </a:t>
            </a:r>
            <a:pPr rtl="1" algn="ctr" indent="0" marL="0">
              <a:buNone/>
            </a:pPr>
            <a:r>
              <a:rPr lang="ar-SA" altLang="en-US" sz="2600" b="1" dirty="0">
                <a:solidFill>
                  <a:srgbClr val="1D5FBF"/>
                </a:solidFill>
                <a:latin typeface="Amiri" pitchFamily="2" charset="-78"/>
                <a:ea typeface="Amiri" pitchFamily="2" charset="-78"/>
                <a:cs typeface="Amiri" pitchFamily="2" charset="-78"/>
              </a:rPr>
              <a:t>يَـ</a:t>
            </a:r>
            <a:endParaRPr lang="ar-SA" sz="2600" dirty="0"/>
          </a:p>
        </p:txBody>
      </p:sp>
      <p:sp>
        <p:nvSpPr>
          <p:cNvPr id="22" name="Text 19"/>
          <p:cNvSpPr txBox="1"/>
          <p:nvPr/>
        </p:nvSpPr>
        <p:spPr>
          <a:xfrm>
            <a:off x="4965192" y="2286000"/>
            <a:ext cx="374904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تَ</a:t>
            </a:r>
            <a:pPr rtl="1" algn="ctr" indent="0" marL="0">
              <a:buNone/>
            </a:pPr>
            <a:r>
              <a:rPr lang="ar-SA" altLang="en-US" sz="1950" b="1" dirty="0">
                <a:solidFill>
                  <a:srgbClr val="1B3B6F"/>
                </a:solidFill>
                <a:latin typeface="Amiri" pitchFamily="2" charset="-78"/>
                <a:ea typeface="Amiri" pitchFamily="2" charset="-78"/>
                <a:cs typeface="Amiri" pitchFamily="2" charset="-78"/>
              </a:rPr>
              <a:t>عُودُ مَرْيَمُ · </a:t>
            </a:r>
            <a:pPr rtl="1" algn="ctr" indent="0" marL="0">
              <a:buNone/>
            </a:pPr>
            <a:r>
              <a:rPr lang="ar-SA" altLang="en-US" sz="1950" b="1" dirty="0">
                <a:solidFill>
                  <a:srgbClr val="1D5FBF"/>
                </a:solidFill>
                <a:latin typeface="Amiri" pitchFamily="2" charset="-78"/>
                <a:ea typeface="Amiri" pitchFamily="2" charset="-78"/>
                <a:cs typeface="Amiri" pitchFamily="2" charset="-78"/>
              </a:rPr>
              <a:t>يَ</a:t>
            </a:r>
            <a:pPr rtl="1" algn="ctr" indent="0" marL="0">
              <a:buNone/>
            </a:pPr>
            <a:r>
              <a:rPr lang="ar-SA" altLang="en-US" sz="1950" b="1" dirty="0">
                <a:solidFill>
                  <a:srgbClr val="1B3B6F"/>
                </a:solidFill>
                <a:latin typeface="Amiri" pitchFamily="2" charset="-78"/>
                <a:ea typeface="Amiri" pitchFamily="2" charset="-78"/>
                <a:cs typeface="Amiri" pitchFamily="2" charset="-78"/>
              </a:rPr>
              <a:t>عُودُ أَخُوهَا</a:t>
            </a:r>
            <a:endParaRPr lang="ar-SA" sz="1950" dirty="0"/>
          </a:p>
        </p:txBody>
      </p:sp>
      <p:sp>
        <p:nvSpPr>
          <p:cNvPr id="23" name="Text 20"/>
          <p:cNvSpPr txBox="1"/>
          <p:nvPr/>
        </p:nvSpPr>
        <p:spPr>
          <a:xfrm>
            <a:off x="4919472" y="2676997"/>
            <a:ext cx="3840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Maryam returns · her brother returns</a:t>
            </a:r>
            <a:endParaRPr lang="en-US" sz="950" dirty="0"/>
          </a:p>
        </p:txBody>
      </p:sp>
      <p:sp>
        <p:nvSpPr>
          <p:cNvPr id="24" name="Text 21"/>
          <p:cNvSpPr txBox="1"/>
          <p:nvPr/>
        </p:nvSpPr>
        <p:spPr>
          <a:xfrm>
            <a:off x="2697480" y="2267712"/>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does it</a:t>
            </a:r>
            <a:endParaRPr lang="en-US" sz="1100" dirty="0"/>
          </a:p>
        </p:txBody>
      </p:sp>
      <p:sp>
        <p:nvSpPr>
          <p:cNvPr id="25" name="Text 22"/>
          <p:cNvSpPr txBox="1"/>
          <p:nvPr/>
        </p:nvSpPr>
        <p:spPr>
          <a:xfrm>
            <a:off x="566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returns first?</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9" name="Text 26"/>
          <p:cNvSpPr txBox="1"/>
          <p:nvPr/>
        </p:nvSpPr>
        <p:spPr>
          <a:xfrm>
            <a:off x="8897112" y="300471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فِي + الوَقْتِ</a:t>
            </a:r>
            <a:endParaRPr lang="ar-SA" sz="2600" dirty="0"/>
          </a:p>
        </p:txBody>
      </p:sp>
      <p:sp>
        <p:nvSpPr>
          <p:cNvPr id="30" name="Text 27"/>
          <p:cNvSpPr txBox="1"/>
          <p:nvPr/>
        </p:nvSpPr>
        <p:spPr>
          <a:xfrm>
            <a:off x="4965192" y="3023006"/>
            <a:ext cx="374904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يَبْدَأُ النَّادِي </a:t>
            </a:r>
            <a:pPr rtl="1" algn="ctr" indent="0" marL="0">
              <a:buNone/>
            </a:pPr>
            <a:r>
              <a:rPr lang="ar-SA" altLang="en-US" sz="1950" b="1" dirty="0">
                <a:solidFill>
                  <a:srgbClr val="0E7C86"/>
                </a:solidFill>
                <a:latin typeface="Amiri" pitchFamily="2" charset="-78"/>
                <a:ea typeface="Amiri" pitchFamily="2" charset="-78"/>
                <a:cs typeface="Amiri" pitchFamily="2" charset="-78"/>
              </a:rPr>
              <a:t>فِي</a:t>
            </a:r>
            <a:pPr rtl="1" algn="ctr" indent="0" marL="0">
              <a:buNone/>
            </a:pPr>
            <a:r>
              <a:rPr lang="ar-SA" altLang="en-US" sz="1950" b="1" dirty="0">
                <a:solidFill>
                  <a:srgbClr val="1B3B6F"/>
                </a:solidFill>
                <a:latin typeface="Amiri" pitchFamily="2" charset="-78"/>
                <a:ea typeface="Amiri" pitchFamily="2" charset="-78"/>
                <a:cs typeface="Amiri" pitchFamily="2" charset="-78"/>
              </a:rPr>
              <a:t> الخَامِسَةِ.</a:t>
            </a:r>
            <a:endParaRPr lang="ar-SA" sz="1950" dirty="0"/>
          </a:p>
        </p:txBody>
      </p:sp>
      <p:sp>
        <p:nvSpPr>
          <p:cNvPr id="31" name="Text 28"/>
          <p:cNvSpPr txBox="1"/>
          <p:nvPr/>
        </p:nvSpPr>
        <p:spPr>
          <a:xfrm>
            <a:off x="4919472" y="3414004"/>
            <a:ext cx="3840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club starts at five.</a:t>
            </a:r>
            <a:endParaRPr lang="en-US" sz="950" dirty="0"/>
          </a:p>
        </p:txBody>
      </p:sp>
      <p:sp>
        <p:nvSpPr>
          <p:cNvPr id="32" name="Text 29"/>
          <p:cNvSpPr txBox="1"/>
          <p:nvPr/>
        </p:nvSpPr>
        <p:spPr>
          <a:xfrm>
            <a:off x="2697480" y="300471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time</a:t>
            </a:r>
            <a:endParaRPr lang="en-US" sz="1100" dirty="0"/>
          </a:p>
        </p:txBody>
      </p:sp>
      <p:sp>
        <p:nvSpPr>
          <p:cNvPr id="33" name="Text 30"/>
          <p:cNvSpPr txBox="1"/>
          <p:nvPr/>
        </p:nvSpPr>
        <p:spPr>
          <a:xfrm>
            <a:off x="566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it start?</a:t>
            </a:r>
            <a:endParaRPr lang="en-US" sz="1100" dirty="0"/>
          </a:p>
        </p:txBody>
      </p:sp>
      <p:sp>
        <p:nvSpPr>
          <p:cNvPr id="34" name="Shape 31"/>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6" name="Shape 33"/>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7" name="Text 34"/>
          <p:cNvSpPr txBox="1"/>
          <p:nvPr/>
        </p:nvSpPr>
        <p:spPr>
          <a:xfrm>
            <a:off x="8897112" y="3741725"/>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مِنْ … إِلَى …</a:t>
            </a:r>
            <a:endParaRPr lang="ar-SA" sz="2600" dirty="0"/>
          </a:p>
        </p:txBody>
      </p:sp>
      <p:sp>
        <p:nvSpPr>
          <p:cNvPr id="38" name="Text 35"/>
          <p:cNvSpPr txBox="1"/>
          <p:nvPr/>
        </p:nvSpPr>
        <p:spPr>
          <a:xfrm>
            <a:off x="4965192" y="3760013"/>
            <a:ext cx="374904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السِّبَاحَةُ </a:t>
            </a:r>
            <a:pPr rtl="1" algn="ctr" indent="0" marL="0">
              <a:buNone/>
            </a:pPr>
            <a:r>
              <a:rPr lang="ar-SA" altLang="en-US" sz="1950" b="1" dirty="0">
                <a:solidFill>
                  <a:srgbClr val="0E7C86"/>
                </a:solidFill>
                <a:latin typeface="Amiri" pitchFamily="2" charset="-78"/>
                <a:ea typeface="Amiri" pitchFamily="2" charset="-78"/>
                <a:cs typeface="Amiri" pitchFamily="2" charset="-78"/>
              </a:rPr>
              <a:t>مِنَ</a:t>
            </a:r>
            <a:pPr rtl="1" algn="ctr" indent="0" marL="0">
              <a:buNone/>
            </a:pPr>
            <a:r>
              <a:rPr lang="ar-SA" altLang="en-US" sz="1950" b="1" dirty="0">
                <a:solidFill>
                  <a:srgbClr val="1B3B6F"/>
                </a:solidFill>
                <a:latin typeface="Amiri" pitchFamily="2" charset="-78"/>
                <a:ea typeface="Amiri" pitchFamily="2" charset="-78"/>
                <a:cs typeface="Amiri" pitchFamily="2" charset="-78"/>
              </a:rPr>
              <a:t> الرَّابِعَةِ </a:t>
            </a:r>
            <a:pPr rtl="1" algn="ctr" indent="0" marL="0">
              <a:buNone/>
            </a:pPr>
            <a:r>
              <a:rPr lang="ar-SA" altLang="en-US" sz="1950" b="1" dirty="0">
                <a:solidFill>
                  <a:srgbClr val="0E7C86"/>
                </a:solidFill>
                <a:latin typeface="Amiri" pitchFamily="2" charset="-78"/>
                <a:ea typeface="Amiri" pitchFamily="2" charset="-78"/>
                <a:cs typeface="Amiri" pitchFamily="2" charset="-78"/>
              </a:rPr>
              <a:t>إِلَى</a:t>
            </a:r>
            <a:pPr rtl="1" algn="ctr" indent="0" marL="0">
              <a:buNone/>
            </a:pPr>
            <a:r>
              <a:rPr lang="ar-SA" altLang="en-US" sz="1950" b="1" dirty="0">
                <a:solidFill>
                  <a:srgbClr val="1B3B6F"/>
                </a:solidFill>
                <a:latin typeface="Amiri" pitchFamily="2" charset="-78"/>
                <a:ea typeface="Amiri" pitchFamily="2" charset="-78"/>
                <a:cs typeface="Amiri" pitchFamily="2" charset="-78"/>
              </a:rPr>
              <a:t> الخَامِسَةِ.</a:t>
            </a:r>
            <a:endParaRPr lang="ar-SA" sz="1950" dirty="0"/>
          </a:p>
        </p:txBody>
      </p:sp>
      <p:sp>
        <p:nvSpPr>
          <p:cNvPr id="39" name="Text 36"/>
          <p:cNvSpPr txBox="1"/>
          <p:nvPr/>
        </p:nvSpPr>
        <p:spPr>
          <a:xfrm>
            <a:off x="4919472" y="4151010"/>
            <a:ext cx="3840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Swimming from four to five.</a:t>
            </a:r>
            <a:endParaRPr lang="en-US" sz="950" dirty="0"/>
          </a:p>
        </p:txBody>
      </p:sp>
      <p:sp>
        <p:nvSpPr>
          <p:cNvPr id="40" name="Text 37"/>
          <p:cNvSpPr txBox="1"/>
          <p:nvPr/>
        </p:nvSpPr>
        <p:spPr>
          <a:xfrm>
            <a:off x="2697480" y="3741725"/>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 + finish = how long</a:t>
            </a:r>
            <a:endParaRPr lang="en-US" sz="1100" dirty="0"/>
          </a:p>
        </p:txBody>
      </p:sp>
      <p:sp>
        <p:nvSpPr>
          <p:cNvPr id="41" name="Text 38"/>
          <p:cNvSpPr txBox="1"/>
          <p:nvPr/>
        </p:nvSpPr>
        <p:spPr>
          <a:xfrm>
            <a:off x="566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does it last?</a:t>
            </a:r>
            <a:endParaRPr lang="en-US" sz="1100" dirty="0"/>
          </a:p>
        </p:txBody>
      </p:sp>
      <p:sp>
        <p:nvSpPr>
          <p:cNvPr id="42" name="Shape 39"/>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3" name="Text 40"/>
          <p:cNvSpPr txBox="1"/>
          <p:nvPr/>
        </p:nvSpPr>
        <p:spPr>
          <a:xfrm>
            <a:off x="8897112" y="4478731"/>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مَرَّتَيْنِ · نَادِرًا</a:t>
            </a:r>
            <a:endParaRPr lang="ar-SA" sz="2600" dirty="0"/>
          </a:p>
        </p:txBody>
      </p:sp>
      <p:sp>
        <p:nvSpPr>
          <p:cNvPr id="44" name="Text 41"/>
          <p:cNvSpPr txBox="1"/>
          <p:nvPr/>
        </p:nvSpPr>
        <p:spPr>
          <a:xfrm>
            <a:off x="4965192" y="4497019"/>
            <a:ext cx="374904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تَتَمَرَّنُ </a:t>
            </a:r>
            <a:pPr rtl="1" algn="ctr" indent="0" marL="0">
              <a:buNone/>
            </a:pPr>
            <a:r>
              <a:rPr lang="ar-SA" altLang="en-US" sz="1950" b="1" dirty="0">
                <a:solidFill>
                  <a:srgbClr val="0E7C86"/>
                </a:solidFill>
                <a:latin typeface="Amiri" pitchFamily="2" charset="-78"/>
                <a:ea typeface="Amiri" pitchFamily="2" charset="-78"/>
                <a:cs typeface="Amiri" pitchFamily="2" charset="-78"/>
              </a:rPr>
              <a:t>مَرَّتَيْنِ</a:t>
            </a:r>
            <a:pPr rtl="1" algn="ctr" indent="0" marL="0">
              <a:buNone/>
            </a:pPr>
            <a:r>
              <a:rPr lang="ar-SA" altLang="en-US" sz="1950" b="1" dirty="0">
                <a:solidFill>
                  <a:srgbClr val="1B3B6F"/>
                </a:solidFill>
                <a:latin typeface="Amiri" pitchFamily="2" charset="-78"/>
                <a:ea typeface="Amiri" pitchFamily="2" charset="-78"/>
                <a:cs typeface="Amiri" pitchFamily="2" charset="-78"/>
              </a:rPr>
              <a:t> فِي الأُسْبُوعِ.</a:t>
            </a:r>
            <a:endParaRPr lang="ar-SA" sz="1950" dirty="0"/>
          </a:p>
        </p:txBody>
      </p:sp>
      <p:sp>
        <p:nvSpPr>
          <p:cNvPr id="45" name="Text 42"/>
          <p:cNvSpPr txBox="1"/>
          <p:nvPr/>
        </p:nvSpPr>
        <p:spPr>
          <a:xfrm>
            <a:off x="4919472" y="4888017"/>
            <a:ext cx="3840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trains twice a week.</a:t>
            </a:r>
            <a:endParaRPr lang="en-US" sz="950" dirty="0"/>
          </a:p>
        </p:txBody>
      </p:sp>
      <p:sp>
        <p:nvSpPr>
          <p:cNvPr id="46" name="Text 43"/>
          <p:cNvSpPr txBox="1"/>
          <p:nvPr/>
        </p:nvSpPr>
        <p:spPr>
          <a:xfrm>
            <a:off x="2697480" y="4478731"/>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a:t>
            </a:r>
            <a:endParaRPr lang="en-US" sz="1100" dirty="0"/>
          </a:p>
        </p:txBody>
      </p:sp>
      <p:sp>
        <p:nvSpPr>
          <p:cNvPr id="47" name="Text 44"/>
          <p:cNvSpPr txBox="1"/>
          <p:nvPr/>
        </p:nvSpPr>
        <p:spPr>
          <a:xfrm>
            <a:off x="566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a:t>
            </a:r>
            <a:endParaRPr lang="en-US" sz="110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897112" y="521573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ـهَا</a:t>
            </a:r>
            <a:pPr rtl="1" algn="ctr" indent="0" marL="0">
              <a:buNone/>
            </a:pPr>
            <a:r>
              <a:rPr lang="ar-SA" altLang="en-US" sz="2600" b="1" dirty="0">
                <a:solidFill>
                  <a:srgbClr val="1B3B6F"/>
                </a:solidFill>
                <a:latin typeface="Amiri" pitchFamily="2" charset="-78"/>
                <a:cs typeface="Amiri" pitchFamily="2" charset="-78"/>
              </a:rPr>
              <a:t> / </a:t>
            </a:r>
            <a:pPr rtl="1" algn="ctr" indent="0" marL="0">
              <a:buNone/>
            </a:pPr>
            <a:r>
              <a:rPr lang="ar-SA" altLang="en-US" sz="2600" b="1" dirty="0">
                <a:solidFill>
                  <a:srgbClr val="1D5FBF"/>
                </a:solidFill>
                <a:latin typeface="Amiri" pitchFamily="2" charset="-78"/>
                <a:ea typeface="Amiri" pitchFamily="2" charset="-78"/>
                <a:cs typeface="Amiri" pitchFamily="2" charset="-78"/>
              </a:rPr>
              <a:t>ـهُ</a:t>
            </a:r>
            <a:endParaRPr lang="ar-SA" sz="2600" dirty="0"/>
          </a:p>
        </p:txBody>
      </p:sp>
      <p:sp>
        <p:nvSpPr>
          <p:cNvPr id="50" name="Text 47"/>
          <p:cNvSpPr txBox="1"/>
          <p:nvPr/>
        </p:nvSpPr>
        <p:spPr>
          <a:xfrm>
            <a:off x="4965192" y="5234026"/>
            <a:ext cx="374904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فَهُوَ أَهْدَأُ يَوْمٍ</a:t>
            </a:r>
            <a:endParaRPr lang="ar-SA" sz="1950" dirty="0"/>
          </a:p>
        </p:txBody>
      </p:sp>
      <p:sp>
        <p:nvSpPr>
          <p:cNvPr id="51" name="Text 48"/>
          <p:cNvSpPr txBox="1"/>
          <p:nvPr/>
        </p:nvSpPr>
        <p:spPr>
          <a:xfrm>
            <a:off x="4919472" y="5625023"/>
            <a:ext cx="3840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(Wednesday) is the calmest day</a:t>
            </a:r>
            <a:endParaRPr lang="en-US" sz="950" dirty="0"/>
          </a:p>
        </p:txBody>
      </p:sp>
      <p:sp>
        <p:nvSpPr>
          <p:cNvPr id="52" name="Text 49"/>
          <p:cNvSpPr txBox="1"/>
          <p:nvPr/>
        </p:nvSpPr>
        <p:spPr>
          <a:xfrm>
            <a:off x="2697480" y="521573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 word REFERS to</a:t>
            </a:r>
            <a:endParaRPr lang="en-US" sz="1100" dirty="0"/>
          </a:p>
        </p:txBody>
      </p:sp>
      <p:sp>
        <p:nvSpPr>
          <p:cNvPr id="53" name="Text 50"/>
          <p:cNvSpPr txBox="1"/>
          <p:nvPr/>
        </p:nvSpPr>
        <p:spPr>
          <a:xfrm>
            <a:off x="566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“it” refer to?</a:t>
            </a:r>
            <a:endParaRPr lang="en-US" sz="11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a number is only the answer if it belongs to the event in the question.</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THREE KINDS OF NUMBER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At what time? For how long? How often?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 مِنْ … إِلَى · مَرَّاتٍ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 POINT · CORE</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يَبْدَأُ الدَّرْسُ فِي الثَّامِنَةِ وَالنِّصْفِ.</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lesson begins at 8:30.</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One time on the clock.</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 SPAN · DEVELOP</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مِنْ … إِلَى</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مِنَ السَّادِسَةِ إِلَى السَّابِعَةِ إِلَّا الرُّبْعَ</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from 6:00 to 6:45</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Finish − start = 45 minutes.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 PATTERN · CORE</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مَرَّاتٍ</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تَتَمَرَّنُ مَرَّتَيْنِ فِي الأُسْبُوعِ.</a:t>
            </a:r>
            <a:endParaRPr lang="ar-SA" sz="28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She trains twice a week.</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Answers “how often?”.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one start time takes fī, not min.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يَبْدَأُ النَّادِي فِي الخَامِسَةِ.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يَبْدَأُ النَّادِي مِنَ الخَامِسَةِ.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Reading grammar in context: person, time and reference</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00" b="1" dirty="0">
                <a:solidFill>
                  <a:srgbClr val="8A6D1E"/>
                </a:solidFill>
                <a:latin typeface="Amiri" pitchFamily="2" charset="-78"/>
                <a:ea typeface="Amiri" pitchFamily="2" charset="-78"/>
                <a:cs typeface="Amiri" pitchFamily="2" charset="-78"/>
              </a:rPr>
              <a:t>تَتَبُّعُ الشَّخْصِ وَالوَقْتِ وَالمَرْجِعِ فِي القِرَاءَةِ</a:t>
            </a:r>
            <a:endParaRPr lang="ar-SA" sz="23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Track the subject through the present-tense prefix</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أَـ = أَنَا · تَـ = أَنْتَ / أَنْتِ / هِيَ · يَـ = هُوَ · نَـ = نَحْنُ</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تَعُودُ مَرْيَمُ فِي الرَّابِعَةِ.   ·   يَعُودُ أَخُوهَا فِي الخَامِسَةِ.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Track pronoun suffixes to the nearest logical noun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ـهُ · ـهَا · ـهُمْ · ذٰلِكَ</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يُحَضِّرُ حَقِيبَتَهُ. ← حَقِيبَةُ خَالِدٍ   ·   تَكْتُبُ رُوتِينَهَا. ← رُوتِينُ مَرْيَمَ</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Use time and frequency expressions as evidence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فِي + الوَقْتِ · مِنْ ... إِلَى ... · مَرَّاتٍ فِي الأُسْبُوعِ</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يَبْدَأُ الدَّرْسُ فِي الثَّامِنَةِ وَالنِّصْفِ.   ·   تَتَمَرَّنُ مَرَّتَيْنِ فِي الأُسْبُوعِ.</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Follow sequence and contrast markers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قَبْلَ أَنْ · بَعْدَ أَنْ · بَيْنَمَا · أَمَّا ... فَـ</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تَدْرُسُ قَبْلَ أَنْ تَخْرُجَ.   ·   أَمَّا يَوْمُ السَّبْتِ فَتَسْتَيْقِظُ مُتَأَخِّرًا.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تَعُودُ مَرْيَمُ فِي الرَّابِعَةِ</a:t>
            </a:r>
            <a:pPr algn="l" indent="0" marL="0">
              <a:buNone/>
            </a:pPr>
            <a:r>
              <a:rPr lang="en-US" sz="1250" b="1" dirty="0">
                <a:solidFill>
                  <a:srgbClr val="1B3B6F"/>
                </a:solidFill>
                <a:latin typeface="Calibri" pitchFamily="34" charset="0"/>
                <a:cs typeface="Amiri" pitchFamily="2" charset="-78"/>
              </a:rPr>
              <a:t>, who returns?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boy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gives a duration?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الثَّامِنَةِ إِلَى التَّاسِعَةِ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الثَّامِنَةِ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 الثُّلَاثَاءِ</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answers </a:t>
            </a:r>
            <a:pPr algn="l" indent="0" marL="0">
              <a:buNone/>
            </a:pPr>
            <a:r>
              <a:rPr lang="ar-SA" altLang="en-US" sz="1650" b="1" dirty="0">
                <a:solidFill>
                  <a:srgbClr val="1B3B6F"/>
                </a:solidFill>
                <a:latin typeface="Amiri" pitchFamily="2" charset="-78"/>
                <a:ea typeface="Amiri" pitchFamily="2" charset="-78"/>
                <a:cs typeface="Amiri" pitchFamily="2" charset="-78"/>
              </a:rPr>
              <a:t>كَمْ مَرَّةً؟</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الثَّالِثَةِ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مَرَّاتٍ فِي الأُسْبُوعِ</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المَدْرَسَةِ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accurate inference: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نَادِرًا مَا يَتَأَخَّرُ عَلِيٌّ.</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Ali is usually on time.</a:t>
            </a:r>
            <a:endParaRPr lang="en-US" sz="12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Ali is always late.</a:t>
            </a:r>
            <a:endParaRPr lang="en-US" sz="12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Ali never attends.</a:t>
            </a:r>
            <a:endParaRPr lang="en-US" sz="12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تَعُودُ مَرْيَمُ فِي الرَّابِعَةِ</a:t>
            </a:r>
            <a:pPr algn="l" indent="0" marL="0">
              <a:buNone/>
            </a:pPr>
            <a:r>
              <a:rPr lang="en-US" sz="1250" b="1" dirty="0">
                <a:solidFill>
                  <a:srgbClr val="1B3B6F"/>
                </a:solidFill>
                <a:latin typeface="Calibri" pitchFamily="34" charset="0"/>
                <a:cs typeface="Amiri" pitchFamily="2" charset="-78"/>
              </a:rPr>
              <a:t>, who returns?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boy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named feminine subject </a:t>
            </a:r>
            <a:pPr algn="l" indent="0" marL="0">
              <a:buNone/>
            </a:pPr>
            <a:r>
              <a:rPr lang="ar-SA" altLang="en-US" sz="1350" dirty="0">
                <a:solidFill>
                  <a:srgbClr val="8A6D1E"/>
                </a:solidFill>
                <a:latin typeface="Amiri" pitchFamily="2" charset="-78"/>
                <a:ea typeface="Amiri" pitchFamily="2" charset="-78"/>
                <a:cs typeface="Amiri" pitchFamily="2" charset="-78"/>
              </a:rPr>
              <a:t>مَرْيَمُ</a:t>
            </a:r>
            <a:pPr algn="l" indent="0" marL="0">
              <a:buNone/>
            </a:pPr>
            <a:r>
              <a:rPr lang="en-US" sz="1050" i="1" dirty="0">
                <a:solidFill>
                  <a:srgbClr val="8A6D1E"/>
                </a:solidFill>
                <a:latin typeface="Calibri" pitchFamily="34" charset="0"/>
                <a:cs typeface="Amiri" pitchFamily="2" charset="-78"/>
              </a:rPr>
              <a:t> matches </a:t>
            </a:r>
            <a:pPr algn="l" indent="0" marL="0">
              <a:buNone/>
            </a:pPr>
            <a:r>
              <a:rPr lang="ar-SA" altLang="en-US" sz="1350" dirty="0">
                <a:solidFill>
                  <a:srgbClr val="8A6D1E"/>
                </a:solidFill>
                <a:latin typeface="Amiri" pitchFamily="2" charset="-78"/>
                <a:ea typeface="Amiri" pitchFamily="2" charset="-78"/>
                <a:cs typeface="Amiri" pitchFamily="2" charset="-78"/>
              </a:rPr>
              <a:t>تَعُودُ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gives a duration?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الثَّامِنَةِ إِلَى التَّاسِعَةِ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الثَّامِنَةِ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يَوْمَ الثُّلَاثَاءِ</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span from one time to another gives duration.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answers </a:t>
            </a:r>
            <a:pPr algn="l" indent="0" marL="0">
              <a:buNone/>
            </a:pPr>
            <a:r>
              <a:rPr lang="ar-SA" altLang="en-US" sz="1650" b="1" dirty="0">
                <a:solidFill>
                  <a:srgbClr val="1B3B6F"/>
                </a:solidFill>
                <a:latin typeface="Amiri" pitchFamily="2" charset="-78"/>
                <a:ea typeface="Amiri" pitchFamily="2" charset="-78"/>
                <a:cs typeface="Amiri" pitchFamily="2" charset="-78"/>
              </a:rPr>
              <a:t>كَمْ مَرَّةً؟</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الثَّالِثَةِ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ثَلَاثَ مَرَّاتٍ فِي الأُسْبُوعِ</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المَدْرَسَةِ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مَرَّاتٍ</a:t>
            </a:r>
            <a:pPr algn="l" indent="0" marL="0">
              <a:buNone/>
            </a:pPr>
            <a:r>
              <a:rPr lang="en-US" sz="1050" i="1" dirty="0">
                <a:solidFill>
                  <a:srgbClr val="8A6D1E"/>
                </a:solidFill>
                <a:latin typeface="Calibri" pitchFamily="34" charset="0"/>
                <a:cs typeface="Amiri" pitchFamily="2" charset="-78"/>
              </a:rPr>
              <a:t> answers a frequency question.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accurate inference: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نَادِرًا مَا يَتَأَخَّرُ عَلِيٌّ.</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Ali is usually on time.</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Ali is always late.</a:t>
            </a:r>
            <a:endParaRPr lang="en-US" sz="125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Ali never attends.</a:t>
            </a:r>
            <a:endParaRPr lang="en-US" sz="125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If he is rarely late, he is usually on time.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answer a reading question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Question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مَتَى يَنْتَهِي دَرْسُ العَرَبِيَّةِ؟</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Event: Arabic lesson. Info: FINISH time.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Find the row</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الخَمِيسُ: دَرْسُ اللُّغَةِ العَرَبِيَّةِ</a:t>
            </a:r>
            <a:endParaRPr lang="ar-SA" sz="19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Thursday row, not Tuesday.</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Exact detail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مِنَ السَّادِسَةِ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إِلَى السَّابِعَةِ إِلَّا الرُّبْعَ</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After “to” = the finish.</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Answer + evidence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يَنْتَهِي فِي السَّابِعَةِ إِلَّا الرُّبْعَ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٦:٤٥</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Quote the cell.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THE EXACT DETAIL</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THE ANSWER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السُّؤَالُ: مَتَى يَنْتَهِي دَرْسُ العَرَبِيَّةِ؟ ← خَانَةُ يَوْمِ الخَمِيسِ: مِنَ السَّادِسَةِ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إِلَى السَّابِعَةِ إِلَّا الرُّبْعَ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 الجَوَابُ: يَنْتَهِي فِي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السَّابِعَةِ إِلَّا الرُّبْعَ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الدَّلِيلُ مَوْجُودٌ فِي خَانَةِ يَوْمِ الخَمِيسِ.</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Question: When does the Arabic lesson end? → Thursday cell: from six to quarter to seven. → Answer: it ends at quarter to seven. The evidence is in the Thursday cell.</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حَسَبَ الجَدْوَلِ، يَبْدَأُ النَّادِي فِي الخَامِسَةِ وَالنِّصْفِ.</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According to the schedule, the club begins at 5:30.</a:t>
            </a:r>
            <a:endParaRPr lang="en-US" sz="1250" dirty="0"/>
          </a:p>
          <a:p>
            <a:pPr indent="0" marL="0">
              <a:buNone/>
            </a:pPr>
            <a:r>
              <a:rPr lang="en-US" sz="1050" i="1" dirty="0">
                <a:solidFill>
                  <a:srgbClr val="8A6D1E"/>
                </a:solidFill>
                <a:latin typeface="Calibri" pitchFamily="34" charset="0"/>
                <a:cs typeface="Amiri" pitchFamily="2" charset="-78"/>
              </a:rPr>
              <a:t>Match the event to the exact time.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تَعُودُ هُدَى مُبَكِّرًا، بَيْنَمَا يَعُودُ أَخُوهَا مُتَأَخِّرًا.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Huda returns early, while her brother returns late.</a:t>
            </a:r>
            <a:endParaRPr lang="en-US" sz="1250" dirty="0"/>
          </a:p>
          <a:p>
            <a:pPr indent="0" marL="0">
              <a:buNone/>
            </a:pPr>
            <a:r>
              <a:rPr lang="en-US" sz="1050" i="1" dirty="0">
                <a:solidFill>
                  <a:srgbClr val="8A6D1E"/>
                </a:solidFill>
                <a:latin typeface="Calibri" pitchFamily="34" charset="0"/>
                <a:cs typeface="Amiri" pitchFamily="2" charset="-78"/>
              </a:rPr>
              <a:t>Track feminine and masculine verb prefixes.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أَمَّا يَوْمُ السَّبْتِ فَتَسْتَيْقِظُ فِي الثَّامِنَةِ.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As for Saturday, she wakes at eight.</a:t>
            </a:r>
            <a:endParaRPr lang="en-US" sz="1250" dirty="0"/>
          </a:p>
          <a:p>
            <a:pPr indent="0" marL="0">
              <a:buNone/>
            </a:pPr>
            <a:r>
              <a:rPr lang="en-US" sz="1050" i="1" dirty="0">
                <a:solidFill>
                  <a:srgbClr val="8A6D1E"/>
                </a:solidFill>
                <a:latin typeface="Calibri" pitchFamily="34" charset="0"/>
                <a:cs typeface="Amiri" pitchFamily="2" charset="-78"/>
              </a:rPr>
              <a:t>Use the contrast frame to locate the weekend detail.</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يَعُودُ الضَّمِيرُ «ـهَا» إِلَى مَرْيَمَ.</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suffix “her” refers to Maryam.</a:t>
            </a:r>
            <a:endParaRPr lang="en-US" sz="1250" dirty="0"/>
          </a:p>
          <a:p>
            <a:pPr indent="0" marL="0">
              <a:buNone/>
            </a:pPr>
            <a:r>
              <a:rPr lang="en-US" sz="1050" i="1" dirty="0">
                <a:solidFill>
                  <a:srgbClr val="8A6D1E"/>
                </a:solidFill>
                <a:latin typeface="Calibri" pitchFamily="34" charset="0"/>
                <a:cs typeface="Amiri" pitchFamily="2" charset="-78"/>
              </a:rPr>
              <a:t>Explain reference with exact evidence.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EVIDENCE DETECTIVE (WEBSITE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exact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اِبْحَثْ عَنِ الدَّلِيلِ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When does the writer wake up?</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أَسْتَيْقِظُ فِي السَّادِسَةِ وَالنِّصْفِ، وَلٰكِنَّ الدَّرْسَ يَبْدَأُ فِي الثَّامِنَةِ.</a:t>
            </a:r>
            <a:endParaRPr lang="ar-SA" sz="10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8:00</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7:30</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Whose routine is it?</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غَيَّرَ خَالِدٌ رُوتِينَهُ لِأَنَّهُ كَانَ مُتْعَبًا.</a:t>
            </a:r>
            <a:endParaRPr lang="ar-SA" sz="10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sister’s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Khalid’s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How long does the club last?</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يَبْدَأُ النَّادِي فِي الخَامِسَةِ وَالنِّصْفِ وَيَنْتَهِي فِي السَّادِسَةِ وَالرُّبْعِ.</a:t>
            </a:r>
            <a:endParaRPr lang="ar-SA" sz="10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45 minutes</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an hour</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hour and a half</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statement is supported?</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يَذْهَبُ سَامِرٌ إِلَى النَّادِي ثَلَاثَ مَرَّاتٍ، وَلَا يَذْهَبُ يَوْمَ الجُمُعَةِ.</a:t>
            </a:r>
            <a:endParaRPr lang="ar-SA" sz="10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Samer goes every day.</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Samer goes three times a week.</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Samer never goes.</a:t>
            </a:r>
            <a:endParaRPr lang="en-US" sz="1250" dirty="0"/>
          </a:p>
        </p:txBody>
      </p:sp>
      <p:sp>
        <p:nvSpPr>
          <p:cNvPr id="71" name="Shape 68"/>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4" name="Text 71"/>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Underline the event in the question.</a:t>
            </a:r>
            <a:endParaRPr lang="en-US" sz="1250" dirty="0"/>
          </a:p>
          <a:p>
            <a:pPr algn="l" indent="0" marL="0">
              <a:buNone/>
            </a:pPr>
            <a:r>
              <a:rPr lang="en-US" sz="1250" dirty="0">
                <a:solidFill>
                  <a:srgbClr val="1E6B52"/>
                </a:solidFill>
                <a:latin typeface="Calibri" pitchFamily="34" charset="0"/>
                <a:cs typeface="Amiri" pitchFamily="2" charset="-78"/>
              </a:rPr>
              <a:t>Find it in the sentence.</a:t>
            </a:r>
            <a:endParaRPr lang="en-US" sz="1250" dirty="0"/>
          </a:p>
          <a:p>
            <a:pPr algn="l" indent="0" marL="0">
              <a:buNone/>
            </a:pPr>
            <a:r>
              <a:rPr lang="en-US" sz="1250" dirty="0">
                <a:solidFill>
                  <a:srgbClr val="1E6B52"/>
                </a:solidFill>
                <a:latin typeface="Calibri" pitchFamily="34" charset="0"/>
                <a:cs typeface="Amiri" pitchFamily="2" charset="-78"/>
              </a:rPr>
              <a:t>Only then choose the number.</a:t>
            </a:r>
            <a:endParaRPr lang="en-US" sz="12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EVIDENCE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exact evidence: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When does the writer wake up?</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أَسْتَيْقِظُ فِي السَّادِسَةِ وَالنِّصْفِ، وَلٰكِنَّ الدَّرْسَ يَبْدَأُ فِي الثَّامِنَةِ.</a:t>
            </a:r>
            <a:endParaRPr lang="ar-SA" sz="10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8:00</a:t>
            </a:r>
            <a:endParaRPr lang="en-US" sz="125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6:30</a:t>
            </a:r>
            <a:endParaRPr lang="en-US" sz="125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7:30</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other number (8:00) is the lesson, not waking up.</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Whose routine is it?</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غَيَّرَ خَالِدٌ رُوتِينَهُ لِأَنَّهُ كَانَ مُتْعَبًا.</a:t>
            </a:r>
            <a:endParaRPr lang="ar-SA" sz="10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sister’s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writer’s</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Khalid’s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 → the nearest male noun: Khalid.</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How long does the club last?</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يَبْدَأُ النَّادِي فِي الخَامِسَةِ وَالنِّصْفِ وَيَنْتَهِي فِي السَّادِسَةِ وَالرُّبْعِ.</a:t>
            </a:r>
            <a:endParaRPr lang="ar-SA" sz="10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45 minutes</a:t>
            </a:r>
            <a:endParaRPr lang="en-US" sz="125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half an hour</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hour and a half</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From 5:30 to 6:15.</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statement is supported?</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يَذْهَبُ سَامِرٌ إِلَى النَّادِي ثَلَاثَ مَرَّاتٍ، وَلَا يَذْهَبُ يَوْمَ الجُمُعَةِ.</a:t>
            </a:r>
            <a:endParaRPr lang="ar-SA" sz="10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Samer goes every day.</a:t>
            </a:r>
            <a:endParaRPr lang="en-US" sz="125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Samer goes three times a week.</a:t>
            </a:r>
            <a:endParaRPr lang="en-US" sz="125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Samer never goes.</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ثَلَاثَ مَرَّاتٍ</a:t>
            </a:r>
            <a:pPr algn="l" indent="0" marL="0">
              <a:buNone/>
            </a:pPr>
            <a:r>
              <a:rPr lang="en-US" sz="1050" i="1" dirty="0">
                <a:solidFill>
                  <a:srgbClr val="8A6D1E"/>
                </a:solidFill>
                <a:latin typeface="Calibri" pitchFamily="34" charset="0"/>
                <a:cs typeface="Amiri" pitchFamily="2" charset="-78"/>
              </a:rPr>
              <a:t> = three times.</a:t>
            </a:r>
            <a:endParaRPr lang="en-US" sz="1050" dirty="0"/>
          </a:p>
        </p:txBody>
      </p:sp>
      <p:sp>
        <p:nvSpPr>
          <p:cNvPr id="79" name="Shape 76"/>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2" name="Text 79"/>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Underline the event in the question.</a:t>
            </a:r>
            <a:endParaRPr lang="en-US" sz="1250" dirty="0"/>
          </a:p>
          <a:p>
            <a:pPr algn="l" indent="0" marL="0">
              <a:buNone/>
            </a:pPr>
            <a:r>
              <a:rPr lang="en-US" sz="1250" dirty="0">
                <a:solidFill>
                  <a:srgbClr val="1E6B52"/>
                </a:solidFill>
                <a:latin typeface="Calibri" pitchFamily="34" charset="0"/>
                <a:cs typeface="Amiri" pitchFamily="2" charset="-78"/>
              </a:rPr>
              <a:t>Find it in the sentence.</a:t>
            </a:r>
            <a:endParaRPr lang="en-US" sz="1250" dirty="0"/>
          </a:p>
          <a:p>
            <a:pPr algn="l" indent="0" marL="0">
              <a:buNone/>
            </a:pPr>
            <a:r>
              <a:rPr lang="en-US" sz="1250" dirty="0">
                <a:solidFill>
                  <a:srgbClr val="1E6B52"/>
                </a:solidFill>
                <a:latin typeface="Calibri" pitchFamily="34" charset="0"/>
                <a:cs typeface="Amiri" pitchFamily="2" charset="-78"/>
              </a:rPr>
              <a:t>Only then choose the number.</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Which evidence answers the question?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تَعُودُ مَرْيَمُ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الرَّابِعَةِ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مَرَّتَيْنِ فِي الأُسْبُوعِ</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يَسْتَمِرُّ سَاعَةً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يَعُودُ أَخُوهَا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نَادِرًا مَا</a:t>
            </a:r>
            <a:endParaRPr lang="ar-SA" sz="1800" dirty="0"/>
          </a:p>
        </p:txBody>
      </p:sp>
      <p:sp>
        <p:nvSpPr>
          <p:cNvPr id="27" name="Shape 24"/>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28" name="Shape 25"/>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29" name="Text 26"/>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Who?</a:t>
            </a:r>
            <a:endParaRPr lang="en-US" sz="950" dirty="0"/>
          </a:p>
        </p:txBody>
      </p:sp>
      <p:sp>
        <p:nvSpPr>
          <p:cNvPr id="30" name="Shape 27"/>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1" name="Shape 28"/>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2" name="Text 29"/>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When / how long?</a:t>
            </a:r>
            <a:endParaRPr lang="en-US" sz="950" dirty="0"/>
          </a:p>
        </p:txBody>
      </p:sp>
      <p:sp>
        <p:nvSpPr>
          <p:cNvPr id="33" name="Shape 30"/>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4" name="Shape 31"/>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How often?</a:t>
            </a:r>
            <a:endParaRPr lang="en-US" sz="9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Who?</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تَعُودُ مَرْيَمُ</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يَعُودُ أَخُوهَا</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When / how long?</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الرَّابِعَةِ</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يَسْتَمِرُّ سَاعَةً</a:t>
            </a:r>
            <a:endParaRPr lang="ar-SA" sz="1800" dirty="0"/>
          </a:p>
        </p:txBody>
      </p:sp>
      <p:sp>
        <p:nvSpPr>
          <p:cNvPr id="29" name="Shape 26"/>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0" name="Shape 27"/>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How often?</a:t>
            </a:r>
            <a:endParaRPr lang="en-US" sz="950" dirty="0"/>
          </a:p>
        </p:txBody>
      </p:sp>
      <p:sp>
        <p:nvSpPr>
          <p:cNvPr id="32" name="Shape 29"/>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مَرَّتَيْنِ فِي الأُسْبُوعِ</a:t>
            </a:r>
            <a:endParaRPr lang="ar-SA" sz="1800" dirty="0"/>
          </a:p>
        </p:txBody>
      </p:sp>
      <p:sp>
        <p:nvSpPr>
          <p:cNvPr id="34" name="Shape 31"/>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نَادِرًا مَا</a:t>
            </a:r>
            <a:endParaRPr lang="ar-SA" sz="1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5,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حَقِيبَتَهُ</a:t>
            </a:r>
            <a:pPr algn="l" indent="0" marL="0">
              <a:buNone/>
            </a:pPr>
            <a:r>
              <a:rPr lang="en-US" sz="1250" b="1" dirty="0">
                <a:solidFill>
                  <a:srgbClr val="1B3B6F"/>
                </a:solidFill>
                <a:latin typeface="Calibri" pitchFamily="34" charset="0"/>
                <a:cs typeface="Amiri" pitchFamily="2" charset="-78"/>
              </a:rPr>
              <a:t>, what does </a:t>
            </a:r>
            <a:pPr algn="l" indent="0" marL="0">
              <a:buNone/>
            </a:pPr>
            <a:r>
              <a:rPr lang="ar-SA" altLang="en-US" sz="1650" b="1" dirty="0">
                <a:solidFill>
                  <a:srgbClr val="1B3B6F"/>
                </a:solidFill>
                <a:latin typeface="Amiri" pitchFamily="2" charset="-78"/>
                <a:ea typeface="Amiri" pitchFamily="2" charset="-78"/>
                <a:cs typeface="Amiri" pitchFamily="2" charset="-78"/>
              </a:rPr>
              <a:t>ـهُ</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 it masculine</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أَمَّا يَوْمُ الجُمُعَةِ ___ يَزُورُ جَدَّتَهُ.</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فَـ</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usually signal?</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place name</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contrast or simultaneous action</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destination</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algn="l" indent="0" marL="0">
              <a:buNone/>
            </a:pPr>
            <a:r>
              <a:rPr lang="ar-SA" altLang="en-US" sz="1450" b="1" dirty="0">
                <a:solidFill>
                  <a:srgbClr val="1F2A37"/>
                </a:solidFill>
                <a:latin typeface="Amiri" pitchFamily="2" charset="-78"/>
                <a:ea typeface="Amiri" pitchFamily="2" charset="-78"/>
                <a:cs typeface="Amiri" pitchFamily="2" charset="-78"/>
              </a:rPr>
              <a:t>يَبْدَأُ النَّادِي فِي الخَامِسَةِ وَيَنْتَهِي فِي السَّادِسَةِ</a:t>
            </a:r>
            <a:pPr algn="l" indent="0" marL="0">
              <a:buNone/>
            </a:pPr>
            <a:r>
              <a:rPr lang="en-US" sz="1100" b="1" dirty="0">
                <a:solidFill>
                  <a:srgbClr val="1F2A37"/>
                </a:solidFill>
                <a:latin typeface="Calibri" pitchFamily="34" charset="0"/>
                <a:cs typeface="Amiri" pitchFamily="2" charset="-78"/>
              </a:rPr>
              <a:t>. How long does it last?</a:t>
            </a:r>
            <a:endParaRPr lang="en-US" sz="11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 hours</a:t>
            </a:r>
            <a:endParaRPr lang="en-US" sz="12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 hours</a:t>
            </a:r>
            <a:endParaRPr lang="en-US" sz="12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حَقِيبَتَهُ</a:t>
            </a:r>
            <a:pPr algn="l" indent="0" marL="0">
              <a:buNone/>
            </a:pPr>
            <a:r>
              <a:rPr lang="en-US" sz="1250" b="1" dirty="0">
                <a:solidFill>
                  <a:srgbClr val="1B3B6F"/>
                </a:solidFill>
                <a:latin typeface="Calibri" pitchFamily="34" charset="0"/>
                <a:cs typeface="Amiri" pitchFamily="2" charset="-78"/>
              </a:rPr>
              <a:t>, what does </a:t>
            </a:r>
            <a:pPr algn="l" indent="0" marL="0">
              <a:buNone/>
            </a:pPr>
            <a:r>
              <a:rPr lang="ar-SA" altLang="en-US" sz="1650" b="1" dirty="0">
                <a:solidFill>
                  <a:srgbClr val="1B3B6F"/>
                </a:solidFill>
                <a:latin typeface="Amiri" pitchFamily="2" charset="-78"/>
                <a:ea typeface="Amiri" pitchFamily="2" charset="-78"/>
                <a:cs typeface="Amiri" pitchFamily="2" charset="-78"/>
              </a:rPr>
              <a:t>ـهُ</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our</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 / it masculine</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is a masculine singular suffix.</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أَمَّا يَوْمُ الجُمُعَةِ ___ يَزُورُ جَدَّتَهُ.</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فَـ</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before the comment.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usually signal?</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place name</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contrast or simultaneous action</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destination</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links two simultaneous or contrasting clauses.</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algn="l" indent="0" marL="0">
              <a:buNone/>
            </a:pPr>
            <a:r>
              <a:rPr lang="ar-SA" altLang="en-US" sz="1450" b="1" dirty="0">
                <a:solidFill>
                  <a:srgbClr val="1F2A37"/>
                </a:solidFill>
                <a:latin typeface="Amiri" pitchFamily="2" charset="-78"/>
                <a:ea typeface="Amiri" pitchFamily="2" charset="-78"/>
                <a:cs typeface="Amiri" pitchFamily="2" charset="-78"/>
              </a:rPr>
              <a:t>يَبْدَأُ النَّادِي فِي الخَامِسَةِ وَيَنْتَهِي فِي السَّادِسَةِ</a:t>
            </a:r>
            <a:pPr algn="l" indent="0" marL="0">
              <a:buNone/>
            </a:pPr>
            <a:r>
              <a:rPr lang="en-US" sz="1100" b="1" dirty="0">
                <a:solidFill>
                  <a:srgbClr val="1F2A37"/>
                </a:solidFill>
                <a:latin typeface="Calibri" pitchFamily="34" charset="0"/>
                <a:cs typeface="Amiri" pitchFamily="2" charset="-78"/>
              </a:rPr>
              <a:t>. How long does it last?</a:t>
            </a:r>
            <a:endParaRPr lang="en-US" sz="110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five hours</a:t>
            </a:r>
            <a:endParaRPr lang="en-US" sz="125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six hours</a:t>
            </a:r>
            <a:endParaRPr lang="en-US" sz="125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hour</a:t>
            </a:r>
            <a:endParaRPr lang="en-US" sz="125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start and finish times show a one-hour duration.</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تَعُودُ خَالِدٌ فِي الرَّابِعَةِ.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Khalid is a boy. Which prefix?</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أَمَّا يَوْمُ السَّبْتِ تَسْتَرِيحُ.</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“as for … ”, what joins the comment?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يَبْدَأُ النَّادِي مِنَ الخَامِسَةِ.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One start time: fī or min?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تَعُودُ خَالِدٌ فِي الرَّابِعَةِ.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يَعُودُ خَالِدٌ فِي الرَّابِعَةِ.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masculine third-person subject takes </a:t>
            </a:r>
            <a:pPr algn="l" indent="0" marL="0">
              <a:buNone/>
            </a:pPr>
            <a:r>
              <a:rPr lang="ar-SA" altLang="en-US" sz="1500" b="1" dirty="0">
                <a:solidFill>
                  <a:srgbClr val="1B3B6F"/>
                </a:solidFill>
                <a:latin typeface="Amiri" pitchFamily="2" charset="-78"/>
                <a:ea typeface="Amiri" pitchFamily="2" charset="-78"/>
                <a:cs typeface="Amiri" pitchFamily="2" charset="-78"/>
              </a:rPr>
              <a:t>يَـ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أَمَّا يَوْمُ السَّبْتِ تَسْتَرِيحُ.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أَمَّا يَوْمُ السَّبْتِ فَتَسْتَرِيحُ.</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comment after </a:t>
            </a:r>
            <a:pPr algn="l" indent="0" marL="0">
              <a:buNone/>
            </a:pPr>
            <a:r>
              <a:rPr lang="ar-SA" altLang="en-US" sz="1500" b="1" dirty="0">
                <a:solidFill>
                  <a:srgbClr val="1B3B6F"/>
                </a:solidFill>
                <a:latin typeface="Amiri" pitchFamily="2" charset="-78"/>
                <a:ea typeface="Amiri" pitchFamily="2" charset="-78"/>
                <a:cs typeface="Amiri" pitchFamily="2" charset="-78"/>
              </a:rPr>
              <a:t>أَمَّا</a:t>
            </a:r>
            <a:pPr algn="l" indent="0" marL="0">
              <a:buNone/>
            </a:pPr>
            <a:r>
              <a:rPr lang="en-US" sz="1150" b="1" dirty="0">
                <a:solidFill>
                  <a:srgbClr val="1B3B6F"/>
                </a:solidFill>
                <a:latin typeface="Calibri" pitchFamily="34" charset="0"/>
                <a:cs typeface="Amiri" pitchFamily="2" charset="-78"/>
              </a:rPr>
              <a:t> begins with </a:t>
            </a:r>
            <a:pPr algn="l" indent="0" marL="0">
              <a:buNone/>
            </a:pPr>
            <a:r>
              <a:rPr lang="ar-SA" altLang="en-US" sz="1500" b="1" dirty="0">
                <a:solidFill>
                  <a:srgbClr val="1B3B6F"/>
                </a:solidFill>
                <a:latin typeface="Amiri" pitchFamily="2" charset="-78"/>
                <a:ea typeface="Amiri" pitchFamily="2" charset="-78"/>
                <a:cs typeface="Amiri" pitchFamily="2" charset="-78"/>
              </a:rPr>
              <a:t>فَـ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يَبْدَأُ النَّادِي مِنَ الخَامِسَةِ.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يَبْدَأُ النَّادِي فِي الخَامِسَةِ.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 for one start time; use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 only when a finishing point follows.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 for schedule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first speaker leave home?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5:00</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day is the computer club?</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Thursday</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Saturday</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club last?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an hour</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hours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returns at 3:30?</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speaker’s sister</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speaker</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speaker</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the second speaker exercise?</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afternoon</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on Thursday?</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study in the library</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club</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exercise</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السَّابِعَةِ وَالرُّبْعِ</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الثُّلَاثَاءِ</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المُتَحَدِّثُ الأَوَّلُ: يَبْدَأُ يَوْمِي فِي السَّادِسَةِ وَالنِّصْفِ، وَأَخْرُجُ مِنَ البَيْتِ فِي السَّابِعَةِ وَالرُّبْعِ.</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Speaker 1: My day starts at half past six, and I leave home at quarter past seven.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أَذْهَبُ إِلَى نَادِي الحَاسُوبِ يَوْمَ الثُّلَاثَاءِ، وَهُوَ يَسْتَمِرُّ مِنَ الخَامِسَةِ إِلَى السَّادِسَةِ.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go to computer club on Tuesday, and it lasts from five to six.</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المُتَحَدِّثَةُ الثَّانِيَةُ: أَعُودُ إِلَى البَيْتِ فِي الرَّابِعَةِ، بَيْنَمَا تَعُودُ أُخْتِي فِي الثَّالِثَةِ وَالنِّصْفِ.</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Speaker 2: I return home at four, whereas my sister returns at half past three.</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أَتَمَرَّنُ مَرَّتَيْنِ فِي الأُسْبُوعِ، أَمَّا يَوْمُ الخَمِيسِ فَأَدْرُسُ فِي المَكْتَبَةِ.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train twice a week; as for Thursday, I study in the library.</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first speaker leave home?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7:15</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6:30</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5:00</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السَّابِعَةِ وَالرُّبْعِ.</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day is the computer club?</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Thursday</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Saturday</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Tuesday</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يَوْمَ الثُّلَاثَاءِ.</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club last?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half an hour</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hours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hour</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runs from five to six.</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returns at 3:30?</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the second speaker’s sister</a:t>
            </a:r>
            <a:endParaRPr lang="en-US" sz="120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second speaker</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first speaker</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تَعُودُ أُخْتِي فِي الثَّالِثَةِ وَالنِّصْفِ.</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the second speaker exercise?</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week</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afternoon</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مَرَّتَيْنِ فِي الأُسْبُوعِ.</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on Thursday?</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study in the library</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computer club</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exercise</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أَمَّا يَوْمُ الخَمِيسِ فَأَدْرُسُ فِي المَكْتَبَةِ.</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السَّابِعَةِ وَالرُّبْعِ</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الثُّلَاثَاءِ</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PART 1: THE WEEKLY SCHEDULE (WEBSITE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Maryam’s weekly schedule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الجَدْوَلُ الأُسْبُوعِيُّ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Day</a:t>
            </a:r>
            <a:endParaRPr lang="en-US" sz="1100" dirty="0"/>
          </a:p>
        </p:txBody>
      </p:sp>
      <p:sp>
        <p:nvSpPr>
          <p:cNvPr id="17" name="Text 14"/>
          <p:cNvSpPr txBox="1"/>
          <p:nvPr/>
        </p:nvSpPr>
        <p:spPr>
          <a:xfrm>
            <a:off x="558698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Activity</a:t>
            </a:r>
            <a:endParaRPr lang="en-US" sz="1100" dirty="0"/>
          </a:p>
        </p:txBody>
      </p:sp>
      <p:sp>
        <p:nvSpPr>
          <p:cNvPr id="18" name="Text 15"/>
          <p:cNvSpPr txBox="1"/>
          <p:nvPr/>
        </p:nvSpPr>
        <p:spPr>
          <a:xfrm>
            <a:off x="530352" y="1810512"/>
            <a:ext cx="4910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445752" y="2267712"/>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الاِثْنَيْنُ</a:t>
            </a:r>
            <a:endParaRPr lang="ar-SA" sz="2600" dirty="0"/>
          </a:p>
        </p:txBody>
      </p:sp>
      <p:sp>
        <p:nvSpPr>
          <p:cNvPr id="21" name="Text 18"/>
          <p:cNvSpPr txBox="1"/>
          <p:nvPr/>
        </p:nvSpPr>
        <p:spPr>
          <a:xfrm>
            <a:off x="5605272" y="2267712"/>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السِّبَاحَةُ</a:t>
            </a:r>
            <a:endParaRPr lang="ar-SA" sz="2600" dirty="0"/>
          </a:p>
        </p:txBody>
      </p:sp>
      <p:sp>
        <p:nvSpPr>
          <p:cNvPr id="22" name="Text 19"/>
          <p:cNvSpPr txBox="1"/>
          <p:nvPr/>
        </p:nvSpPr>
        <p:spPr>
          <a:xfrm>
            <a:off x="548640" y="2267712"/>
            <a:ext cx="487375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 الرَّابِعَةِ إِلَى الخَامِسَةِ</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445752" y="3054096"/>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الثُّلَاثَاءُ</a:t>
            </a:r>
            <a:endParaRPr lang="ar-SA" sz="2600" dirty="0"/>
          </a:p>
        </p:txBody>
      </p:sp>
      <p:sp>
        <p:nvSpPr>
          <p:cNvPr id="27" name="Text 24"/>
          <p:cNvSpPr txBox="1"/>
          <p:nvPr/>
        </p:nvSpPr>
        <p:spPr>
          <a:xfrm>
            <a:off x="5605272" y="3054096"/>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نَادِي الحَاسُوبِ</a:t>
            </a:r>
            <a:endParaRPr lang="ar-SA" sz="2600" dirty="0"/>
          </a:p>
        </p:txBody>
      </p:sp>
      <p:sp>
        <p:nvSpPr>
          <p:cNvPr id="28" name="Text 25"/>
          <p:cNvSpPr txBox="1"/>
          <p:nvPr/>
        </p:nvSpPr>
        <p:spPr>
          <a:xfrm>
            <a:off x="548640" y="3054096"/>
            <a:ext cx="487375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فِي الخَامِسَةِ وَالنِّصْفِ</a:t>
            </a:r>
            <a:endParaRPr lang="ar-SA" sz="24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445752" y="3840480"/>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الأَرْبِعَاءُ</a:t>
            </a:r>
            <a:endParaRPr lang="ar-SA" sz="2600" dirty="0"/>
          </a:p>
        </p:txBody>
      </p:sp>
      <p:sp>
        <p:nvSpPr>
          <p:cNvPr id="33" name="Text 30"/>
          <p:cNvSpPr txBox="1"/>
          <p:nvPr/>
        </p:nvSpPr>
        <p:spPr>
          <a:xfrm>
            <a:off x="5605272" y="3840480"/>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لَا نَشَاطَ بَعْدَ المَدْرَسَةِ</a:t>
            </a:r>
            <a:endParaRPr lang="ar-SA" sz="2600" dirty="0"/>
          </a:p>
        </p:txBody>
      </p:sp>
      <p:sp>
        <p:nvSpPr>
          <p:cNvPr id="34" name="Text 31"/>
          <p:cNvSpPr txBox="1"/>
          <p:nvPr/>
        </p:nvSpPr>
        <p:spPr>
          <a:xfrm>
            <a:off x="548640" y="3840480"/>
            <a:ext cx="4873752" cy="731520"/>
          </a:xfrm>
          <a:prstGeom prst="rect">
            <a:avLst/>
          </a:prstGeom>
          <a:noFill/>
          <a:ln/>
        </p:spPr>
        <p:txBody>
          <a:bodyPr wrap="square" lIns="0" tIns="0" rIns="0" bIns="0" rtlCol="0" anchor="ctr"/>
          <a:lstStyle/>
          <a:p>
            <a:pPr algn="ctr" indent="0" marL="0">
              <a:buNone/>
            </a:pPr>
            <a:r>
              <a:rPr lang="en-US" sz="2400" b="1" dirty="0">
                <a:solidFill>
                  <a:srgbClr val="1B3B6F"/>
                </a:solidFill>
                <a:latin typeface="Calibri" pitchFamily="34" charset="0"/>
                <a:cs typeface="Amiri" pitchFamily="2" charset="-78"/>
              </a:rPr>
              <a:t>—</a:t>
            </a:r>
            <a:endParaRPr lang="en-US" sz="24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9445752" y="4626864"/>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الخَمِيسُ</a:t>
            </a:r>
            <a:endParaRPr lang="ar-SA" sz="2600" dirty="0"/>
          </a:p>
        </p:txBody>
      </p:sp>
      <p:sp>
        <p:nvSpPr>
          <p:cNvPr id="39" name="Text 36"/>
          <p:cNvSpPr txBox="1"/>
          <p:nvPr/>
        </p:nvSpPr>
        <p:spPr>
          <a:xfrm>
            <a:off x="5605272" y="4626864"/>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دَرْسُ اللُّغَةِ العَرَبِيَّةِ</a:t>
            </a:r>
            <a:endParaRPr lang="ar-SA" sz="2600" dirty="0"/>
          </a:p>
        </p:txBody>
      </p:sp>
      <p:sp>
        <p:nvSpPr>
          <p:cNvPr id="40" name="Text 37"/>
          <p:cNvSpPr txBox="1"/>
          <p:nvPr/>
        </p:nvSpPr>
        <p:spPr>
          <a:xfrm>
            <a:off x="548640" y="4626864"/>
            <a:ext cx="487375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 السَّادِسَةِ إِلَى السَّابِعَةِ إِلَّا الرُّبْعَ</a:t>
            </a:r>
            <a:endParaRPr lang="ar-SA" sz="24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Core task: copy the table and write the start time, finish time and duration for each day in numbers.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READ THE WHOLE TEXT ONCE, THEN HUNT FOR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 weekly schedule and a routine email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يَا لَيْلَى، أَعُودُ إِلَى البَيْتِ يَوْمَ الثُّلَاثَاءِ فِي الرَّابِعَةِ، ثُمَّ أَتَنَاوَلُ وَجْبَةً خَفِيفَةً قَبْلَ أَنْ أَذْهَبَ إِلَى نَادِي الحَاسُوبِ. أَمَّا يَوْمُ الأَرْبِعَاءِ فَهُوَ أَهْدَأُ يَوْمٍ عِنْدِي، لِذٰلِكَ أُكْمِلُ وَاجِبِي وَأُسَاعِدُ أُسْرَتِي. يَوْمَ الخَمِيسِ أَدْرُسُ العَرَبِيَّةَ، بَيْنَمَا يَلْعَبُ أَخِي كُرَةَ القَدَمِ. هَلْ نَلْتَقِي يَوْمَ الجُمُعَةِ فِي الخَامِسَةِ؟ مَرْيَمُ.</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مَرْحَبًا</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hello</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وَجْبَةً خَفِيفَةً</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snack</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نَادِي الحَاسُوبِ</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computer club</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أَهْدَأُ يَوْمٍ</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calmest day</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عِنْدِي</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me</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لِذٰلِكَ</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 therefore</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أُكْمِلُ وَاجِبِي</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finish my homework</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كُرَةَ القَدَمِ</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football</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هَلْ نَلْتَقِي</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shall we meet</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يَوْمَ الجُمُعَةِ</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Friday</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Monday swimming?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an hour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hours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the Arabic lesson finish?</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6:15</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6:45</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Maryam do before computer club?</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has a snack</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football</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visits family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Wednesday quieter?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is closed</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after-school activity</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finishes at noon</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plays football on Thursday?</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Maryam’s brother</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هُوَ</a:t>
            </a:r>
            <a:pPr algn="l" indent="0" marL="0">
              <a:buNone/>
            </a:pPr>
            <a:r>
              <a:rPr lang="en-US" sz="1250" b="1" dirty="0">
                <a:solidFill>
                  <a:srgbClr val="1B3B6F"/>
                </a:solidFill>
                <a:latin typeface="Calibri" pitchFamily="34" charset="0"/>
                <a:cs typeface="Amiri" pitchFamily="2" charset="-78"/>
              </a:rPr>
              <a:t> refer to in </a:t>
            </a:r>
            <a:pPr algn="l" indent="0" marL="0">
              <a:buNone/>
            </a:pPr>
            <a:r>
              <a:rPr lang="ar-SA" altLang="en-US" sz="1650" b="1" dirty="0">
                <a:solidFill>
                  <a:srgbClr val="1B3B6F"/>
                </a:solidFill>
                <a:latin typeface="Amiri" pitchFamily="2" charset="-78"/>
                <a:ea typeface="Amiri" pitchFamily="2" charset="-78"/>
                <a:cs typeface="Amiri" pitchFamily="2" charset="-78"/>
              </a:rPr>
              <a:t>فَهُوَ أَهْدَأُ يَوْمٍ؟</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homework</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family</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Wednesday</a:t>
            </a:r>
            <a:endParaRPr lang="en-US" sz="1250" dirty="0"/>
          </a:p>
        </p:txBody>
      </p:sp>
      <p:sp>
        <p:nvSpPr>
          <p:cNvPr id="93" name="Shape 90"/>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313932" y="4288536"/>
            <a:ext cx="310896" cy="310896"/>
          </a:xfrm>
          <a:prstGeom prst="ellipse">
            <a:avLst/>
          </a:prstGeom>
          <a:solidFill>
            <a:srgbClr val="1B3B6F"/>
          </a:solidFill>
          <a:ln w="12700">
            <a:solidFill>
              <a:srgbClr val="1B3B6F"/>
            </a:solidFill>
            <a:prstDash val="solid"/>
          </a:ln>
        </p:spPr>
      </p:sp>
      <p:sp>
        <p:nvSpPr>
          <p:cNvPr id="95" name="Text 9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96" name="Text 93"/>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Maryam suggest meeting?</a:t>
            </a:r>
            <a:endParaRPr lang="en-US" sz="1250" dirty="0"/>
          </a:p>
        </p:txBody>
      </p:sp>
      <p:sp>
        <p:nvSpPr>
          <p:cNvPr id="97" name="Shape 94"/>
          <p:cNvSpPr/>
          <p:nvPr/>
        </p:nvSpPr>
        <p:spPr>
          <a:xfrm>
            <a:off x="6368796" y="4873752"/>
            <a:ext cx="256032" cy="256032"/>
          </a:xfrm>
          <a:prstGeom prst="ellipse">
            <a:avLst/>
          </a:prstGeom>
          <a:solidFill>
            <a:srgbClr val="F4F1EA"/>
          </a:solidFill>
          <a:ln w="12700">
            <a:solidFill>
              <a:srgbClr val="F4F1EA"/>
            </a:solidFill>
            <a:prstDash val="solid"/>
          </a:ln>
        </p:spPr>
      </p:sp>
      <p:sp>
        <p:nvSpPr>
          <p:cNvPr id="98" name="Text 95"/>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6"/>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 at five</a:t>
            </a:r>
            <a:endParaRPr lang="en-US" sz="1250" dirty="0"/>
          </a:p>
        </p:txBody>
      </p:sp>
      <p:sp>
        <p:nvSpPr>
          <p:cNvPr id="100" name="Shape 97"/>
          <p:cNvSpPr/>
          <p:nvPr/>
        </p:nvSpPr>
        <p:spPr>
          <a:xfrm>
            <a:off x="6368796" y="5330952"/>
            <a:ext cx="256032" cy="256032"/>
          </a:xfrm>
          <a:prstGeom prst="ellipse">
            <a:avLst/>
          </a:prstGeom>
          <a:solidFill>
            <a:srgbClr val="F4F1EA"/>
          </a:solidFill>
          <a:ln w="12700">
            <a:solidFill>
              <a:srgbClr val="F4F1EA"/>
            </a:solidFill>
            <a:prstDash val="solid"/>
          </a:ln>
        </p:spPr>
      </p:sp>
      <p:sp>
        <p:nvSpPr>
          <p:cNvPr id="101" name="Text 98"/>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2" name="Text 99"/>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Thursday at six</a:t>
            </a:r>
            <a:endParaRPr lang="en-US" sz="1250" dirty="0"/>
          </a:p>
        </p:txBody>
      </p:sp>
      <p:sp>
        <p:nvSpPr>
          <p:cNvPr id="103" name="Shape 100"/>
          <p:cNvSpPr/>
          <p:nvPr/>
        </p:nvSpPr>
        <p:spPr>
          <a:xfrm>
            <a:off x="6368796" y="5788152"/>
            <a:ext cx="256032" cy="256032"/>
          </a:xfrm>
          <a:prstGeom prst="ellipse">
            <a:avLst/>
          </a:prstGeom>
          <a:solidFill>
            <a:srgbClr val="F4F1EA"/>
          </a:solidFill>
          <a:ln w="12700">
            <a:solidFill>
              <a:srgbClr val="F4F1EA"/>
            </a:solidFill>
            <a:prstDash val="solid"/>
          </a:ln>
        </p:spPr>
      </p:sp>
      <p:sp>
        <p:nvSpPr>
          <p:cNvPr id="104" name="Text 101"/>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2"/>
          <p:cNvSpPr txBox="1"/>
          <p:nvPr/>
        </p:nvSpPr>
        <p:spPr>
          <a:xfrm>
            <a:off x="6697980"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Friday at five</a:t>
            </a:r>
            <a:endParaRPr lang="en-US" sz="1250" dirty="0"/>
          </a:p>
        </p:txBody>
      </p:sp>
      <p:sp>
        <p:nvSpPr>
          <p:cNvPr id="106" name="Shape 103"/>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7" name="Shape 104"/>
          <p:cNvSpPr/>
          <p:nvPr/>
        </p:nvSpPr>
        <p:spPr>
          <a:xfrm>
            <a:off x="9178290" y="4288536"/>
            <a:ext cx="310896" cy="310896"/>
          </a:xfrm>
          <a:prstGeom prst="ellipse">
            <a:avLst/>
          </a:prstGeom>
          <a:solidFill>
            <a:srgbClr val="1B3B6F"/>
          </a:solidFill>
          <a:ln w="12700">
            <a:solidFill>
              <a:srgbClr val="1B3B6F"/>
            </a:solidFill>
            <a:prstDash val="solid"/>
          </a:ln>
        </p:spPr>
      </p:sp>
      <p:sp>
        <p:nvSpPr>
          <p:cNvPr id="108" name="Text 105"/>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09" name="Text 106"/>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contrast is stated?</a:t>
            </a:r>
            <a:endParaRPr lang="en-US" sz="1250" dirty="0"/>
          </a:p>
        </p:txBody>
      </p:sp>
      <p:sp>
        <p:nvSpPr>
          <p:cNvPr id="110" name="Shape 107"/>
          <p:cNvSpPr/>
          <p:nvPr/>
        </p:nvSpPr>
        <p:spPr>
          <a:xfrm>
            <a:off x="9233154" y="4873752"/>
            <a:ext cx="256032" cy="256032"/>
          </a:xfrm>
          <a:prstGeom prst="ellipse">
            <a:avLst/>
          </a:prstGeom>
          <a:solidFill>
            <a:srgbClr val="F4F1EA"/>
          </a:solidFill>
          <a:ln w="12700">
            <a:solidFill>
              <a:srgbClr val="F4F1EA"/>
            </a:solidFill>
            <a:prstDash val="solid"/>
          </a:ln>
        </p:spPr>
      </p:sp>
      <p:sp>
        <p:nvSpPr>
          <p:cNvPr id="111" name="Text 108"/>
          <p:cNvSpPr txBox="1"/>
          <p:nvPr/>
        </p:nvSpPr>
        <p:spPr>
          <a:xfrm>
            <a:off x="923315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12" name="Text 109"/>
          <p:cNvSpPr txBox="1"/>
          <p:nvPr/>
        </p:nvSpPr>
        <p:spPr>
          <a:xfrm>
            <a:off x="9562338" y="4773168"/>
            <a:ext cx="202311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Maryam studies Arabic while her brother plays football.</a:t>
            </a:r>
            <a:endParaRPr lang="en-US" sz="1150" dirty="0"/>
          </a:p>
        </p:txBody>
      </p:sp>
      <p:sp>
        <p:nvSpPr>
          <p:cNvPr id="113" name="Shape 110"/>
          <p:cNvSpPr/>
          <p:nvPr/>
        </p:nvSpPr>
        <p:spPr>
          <a:xfrm>
            <a:off x="9233154" y="5330952"/>
            <a:ext cx="256032" cy="256032"/>
          </a:xfrm>
          <a:prstGeom prst="ellipse">
            <a:avLst/>
          </a:prstGeom>
          <a:solidFill>
            <a:srgbClr val="F4F1EA"/>
          </a:solidFill>
          <a:ln w="12700">
            <a:solidFill>
              <a:srgbClr val="F4F1EA"/>
            </a:solidFill>
            <a:prstDash val="solid"/>
          </a:ln>
        </p:spPr>
      </p:sp>
      <p:sp>
        <p:nvSpPr>
          <p:cNvPr id="114" name="Text 111"/>
          <p:cNvSpPr txBox="1"/>
          <p:nvPr/>
        </p:nvSpPr>
        <p:spPr>
          <a:xfrm>
            <a:off x="923315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5" name="Text 112"/>
          <p:cNvSpPr txBox="1"/>
          <p:nvPr/>
        </p:nvSpPr>
        <p:spPr>
          <a:xfrm>
            <a:off x="9562338"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study Arabic.</a:t>
            </a:r>
            <a:endParaRPr lang="en-US" sz="1250" dirty="0"/>
          </a:p>
        </p:txBody>
      </p:sp>
      <p:sp>
        <p:nvSpPr>
          <p:cNvPr id="116" name="Shape 113"/>
          <p:cNvSpPr/>
          <p:nvPr/>
        </p:nvSpPr>
        <p:spPr>
          <a:xfrm>
            <a:off x="9233154" y="5788152"/>
            <a:ext cx="256032" cy="256032"/>
          </a:xfrm>
          <a:prstGeom prst="ellipse">
            <a:avLst/>
          </a:prstGeom>
          <a:solidFill>
            <a:srgbClr val="F4F1EA"/>
          </a:solidFill>
          <a:ln w="12700">
            <a:solidFill>
              <a:srgbClr val="F4F1EA"/>
            </a:solidFill>
            <a:prstDash val="solid"/>
          </a:ln>
        </p:spPr>
      </p:sp>
      <p:sp>
        <p:nvSpPr>
          <p:cNvPr id="117" name="Text 114"/>
          <p:cNvSpPr txBox="1"/>
          <p:nvPr/>
        </p:nvSpPr>
        <p:spPr>
          <a:xfrm>
            <a:off x="923315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18" name="Text 115"/>
          <p:cNvSpPr txBox="1"/>
          <p:nvPr/>
        </p:nvSpPr>
        <p:spPr>
          <a:xfrm>
            <a:off x="9562338"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brother attends computer club.</a:t>
            </a:r>
            <a:endParaRPr lang="en-US" sz="1250" dirty="0"/>
          </a:p>
        </p:txBody>
      </p:sp>
      <p:sp>
        <p:nvSpPr>
          <p:cNvPr id="119" name="Text 11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Monday swimming?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half an hour</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hour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hours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runs from four to five.</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the Arabic lesson finish?</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7:15</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6:15</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6:45</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السَّابِعَةِ إِلَّا الرُّبْعَ = 6:45.</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Maryam do before computer club?</a:t>
            </a:r>
            <a:endParaRPr lang="en-US" sz="1250" dirty="0"/>
          </a:p>
        </p:txBody>
      </p:sp>
      <p:sp>
        <p:nvSpPr>
          <p:cNvPr id="49" name="Shape 46"/>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368796"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has a snack</a:t>
            </a:r>
            <a:endParaRPr lang="en-US" sz="1250" dirty="0"/>
          </a:p>
        </p:txBody>
      </p:sp>
      <p:sp>
        <p:nvSpPr>
          <p:cNvPr id="53" name="Shape 50"/>
          <p:cNvSpPr/>
          <p:nvPr/>
        </p:nvSpPr>
        <p:spPr>
          <a:xfrm>
            <a:off x="6368796"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plays football</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visits family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has a snack before going.</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Wednesday quieter?</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 is closed</a:t>
            </a:r>
            <a:endParaRPr lang="en-US" sz="1250" dirty="0"/>
          </a:p>
        </p:txBody>
      </p:sp>
      <p:sp>
        <p:nvSpPr>
          <p:cNvPr id="67" name="Shape 64"/>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9233154" y="286207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there is no after-school activity</a:t>
            </a:r>
            <a:endParaRPr lang="en-US" sz="11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finishes at noon</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schedule says </a:t>
            </a:r>
            <a:pPr algn="l" indent="0" marL="0">
              <a:buNone/>
            </a:pPr>
            <a:r>
              <a:rPr lang="ar-SA" altLang="en-US" sz="1350" dirty="0">
                <a:solidFill>
                  <a:srgbClr val="8A6D1E"/>
                </a:solidFill>
                <a:latin typeface="Amiri" pitchFamily="2" charset="-78"/>
                <a:ea typeface="Amiri" pitchFamily="2" charset="-78"/>
                <a:cs typeface="Amiri" pitchFamily="2" charset="-78"/>
              </a:rPr>
              <a:t>لَا نَشَاطَ بَعْدَ المَدْرَسَةِ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plays football on Thursday?</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Maryam’s brother</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يَلْعَبُ أَخِي كُرَةَ القَدَمِ.</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هُوَ</a:t>
            </a:r>
            <a:pPr algn="l" indent="0" marL="0">
              <a:buNone/>
            </a:pPr>
            <a:r>
              <a:rPr lang="en-US" sz="1250" b="1" dirty="0">
                <a:solidFill>
                  <a:srgbClr val="1B3B6F"/>
                </a:solidFill>
                <a:latin typeface="Calibri" pitchFamily="34" charset="0"/>
                <a:cs typeface="Amiri" pitchFamily="2" charset="-78"/>
              </a:rPr>
              <a:t> refer to in </a:t>
            </a:r>
            <a:pPr algn="l" indent="0" marL="0">
              <a:buNone/>
            </a:pPr>
            <a:r>
              <a:rPr lang="ar-SA" altLang="en-US" sz="1650" b="1" dirty="0">
                <a:solidFill>
                  <a:srgbClr val="1B3B6F"/>
                </a:solidFill>
                <a:latin typeface="Amiri" pitchFamily="2" charset="-78"/>
                <a:ea typeface="Amiri" pitchFamily="2" charset="-78"/>
                <a:cs typeface="Amiri" pitchFamily="2" charset="-78"/>
              </a:rPr>
              <a:t>فَهُوَ أَهْدَأُ يَوْمٍ؟</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homework</a:t>
            </a:r>
            <a:endParaRPr lang="en-US" sz="1250" dirty="0"/>
          </a:p>
        </p:txBody>
      </p:sp>
      <p:sp>
        <p:nvSpPr>
          <p:cNvPr id="97" name="Shape 94"/>
          <p:cNvSpPr/>
          <p:nvPr/>
        </p:nvSpPr>
        <p:spPr>
          <a:xfrm>
            <a:off x="350443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family</a:t>
            </a:r>
            <a:endParaRPr lang="en-US" sz="1250" dirty="0"/>
          </a:p>
        </p:txBody>
      </p:sp>
      <p:sp>
        <p:nvSpPr>
          <p:cNvPr id="100" name="Shape 97"/>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350443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Wednesday</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pronoun refers to </a:t>
            </a:r>
            <a:pPr algn="l" indent="0" marL="0">
              <a:buNone/>
            </a:pPr>
            <a:r>
              <a:rPr lang="ar-SA" altLang="en-US" sz="1350" dirty="0">
                <a:solidFill>
                  <a:srgbClr val="8A6D1E"/>
                </a:solidFill>
                <a:latin typeface="Amiri" pitchFamily="2" charset="-78"/>
                <a:ea typeface="Amiri" pitchFamily="2" charset="-78"/>
                <a:cs typeface="Amiri" pitchFamily="2" charset="-78"/>
              </a:rPr>
              <a:t>يَوْمُ الأَرْبِعَاءِ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313932" y="4288536"/>
            <a:ext cx="310896" cy="310896"/>
          </a:xfrm>
          <a:prstGeom prst="ellipse">
            <a:avLst/>
          </a:prstGeom>
          <a:solidFill>
            <a:srgbClr val="1B3B6F"/>
          </a:solidFill>
          <a:ln w="12700">
            <a:solidFill>
              <a:srgbClr val="1B3B6F"/>
            </a:solidFill>
            <a:prstDash val="solid"/>
          </a:ln>
        </p:spPr>
      </p:sp>
      <p:sp>
        <p:nvSpPr>
          <p:cNvPr id="107" name="Text 10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108" name="Text 105"/>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Maryam suggest meeting?</a:t>
            </a:r>
            <a:endParaRPr lang="en-US" sz="1250" dirty="0"/>
          </a:p>
        </p:txBody>
      </p:sp>
      <p:sp>
        <p:nvSpPr>
          <p:cNvPr id="109" name="Shape 106"/>
          <p:cNvSpPr/>
          <p:nvPr/>
        </p:nvSpPr>
        <p:spPr>
          <a:xfrm>
            <a:off x="6368796" y="4831080"/>
            <a:ext cx="256032" cy="256032"/>
          </a:xfrm>
          <a:prstGeom prst="ellipse">
            <a:avLst/>
          </a:prstGeom>
          <a:solidFill>
            <a:srgbClr val="C9CED6"/>
          </a:solidFill>
          <a:ln w="12700">
            <a:solidFill>
              <a:srgbClr val="C9CED6"/>
            </a:solidFill>
            <a:prstDash val="solid"/>
          </a:ln>
        </p:spPr>
      </p:sp>
      <p:sp>
        <p:nvSpPr>
          <p:cNvPr id="110" name="Text 10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11" name="Text 108"/>
          <p:cNvSpPr txBox="1"/>
          <p:nvPr/>
        </p:nvSpPr>
        <p:spPr>
          <a:xfrm>
            <a:off x="6697980"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 at five</a:t>
            </a:r>
            <a:endParaRPr lang="en-US" sz="1250" dirty="0"/>
          </a:p>
        </p:txBody>
      </p:sp>
      <p:sp>
        <p:nvSpPr>
          <p:cNvPr id="112" name="Shape 109"/>
          <p:cNvSpPr/>
          <p:nvPr/>
        </p:nvSpPr>
        <p:spPr>
          <a:xfrm>
            <a:off x="6368796" y="5202936"/>
            <a:ext cx="256032" cy="256032"/>
          </a:xfrm>
          <a:prstGeom prst="ellipse">
            <a:avLst/>
          </a:prstGeom>
          <a:solidFill>
            <a:srgbClr val="C9CED6"/>
          </a:solidFill>
          <a:ln w="12700">
            <a:solidFill>
              <a:srgbClr val="C9CED6"/>
            </a:solidFill>
            <a:prstDash val="solid"/>
          </a:ln>
        </p:spPr>
      </p:sp>
      <p:sp>
        <p:nvSpPr>
          <p:cNvPr id="113" name="Text 11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4" name="Text 111"/>
          <p:cNvSpPr txBox="1"/>
          <p:nvPr/>
        </p:nvSpPr>
        <p:spPr>
          <a:xfrm>
            <a:off x="6697980"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Thursday at six</a:t>
            </a:r>
            <a:endParaRPr lang="en-US" sz="1250" dirty="0"/>
          </a:p>
        </p:txBody>
      </p:sp>
      <p:sp>
        <p:nvSpPr>
          <p:cNvPr id="115" name="Shape 112"/>
          <p:cNvSpPr/>
          <p:nvPr/>
        </p:nvSpPr>
        <p:spPr>
          <a:xfrm>
            <a:off x="6277356" y="5538216"/>
            <a:ext cx="2498598" cy="347472"/>
          </a:xfrm>
          <a:prstGeom prst="roundRect">
            <a:avLst>
              <a:gd name="adj" fmla="val 15789"/>
            </a:avLst>
          </a:prstGeom>
          <a:solidFill>
            <a:srgbClr val="E6F4EC"/>
          </a:solidFill>
          <a:ln w="9525">
            <a:solidFill>
              <a:srgbClr val="2E8B57"/>
            </a:solidFill>
            <a:prstDash val="solid"/>
          </a:ln>
        </p:spPr>
      </p:sp>
      <p:sp>
        <p:nvSpPr>
          <p:cNvPr id="116" name="Shape 113"/>
          <p:cNvSpPr/>
          <p:nvPr/>
        </p:nvSpPr>
        <p:spPr>
          <a:xfrm>
            <a:off x="6368796" y="5574792"/>
            <a:ext cx="256032" cy="256032"/>
          </a:xfrm>
          <a:prstGeom prst="ellipse">
            <a:avLst/>
          </a:prstGeom>
          <a:solidFill>
            <a:srgbClr val="2E8B57"/>
          </a:solidFill>
          <a:ln w="12700">
            <a:solidFill>
              <a:srgbClr val="2E8B57"/>
            </a:solidFill>
            <a:prstDash val="solid"/>
          </a:ln>
        </p:spPr>
      </p:sp>
      <p:sp>
        <p:nvSpPr>
          <p:cNvPr id="117" name="Text 11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18" name="Text 115"/>
          <p:cNvSpPr txBox="1"/>
          <p:nvPr/>
        </p:nvSpPr>
        <p:spPr>
          <a:xfrm>
            <a:off x="6697980"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Friday at five</a:t>
            </a:r>
            <a:endParaRPr lang="en-US" sz="1250" dirty="0"/>
          </a:p>
        </p:txBody>
      </p:sp>
      <p:sp>
        <p:nvSpPr>
          <p:cNvPr id="119" name="Text 116"/>
          <p:cNvSpPr txBox="1"/>
          <p:nvPr/>
        </p:nvSpPr>
        <p:spPr>
          <a:xfrm>
            <a:off x="6313932"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هَلْ نَلْتَقِي يَوْمَ الجُمُعَةِ فِي الخَامِسَةِ؟</a:t>
            </a:r>
            <a:endParaRPr lang="ar-SA" sz="1350" dirty="0"/>
          </a:p>
        </p:txBody>
      </p:sp>
      <p:sp>
        <p:nvSpPr>
          <p:cNvPr id="120" name="Shape 117"/>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21" name="Shape 118"/>
          <p:cNvSpPr/>
          <p:nvPr/>
        </p:nvSpPr>
        <p:spPr>
          <a:xfrm>
            <a:off x="9178290" y="4288536"/>
            <a:ext cx="310896" cy="310896"/>
          </a:xfrm>
          <a:prstGeom prst="ellipse">
            <a:avLst/>
          </a:prstGeom>
          <a:solidFill>
            <a:srgbClr val="1B3B6F"/>
          </a:solidFill>
          <a:ln w="12700">
            <a:solidFill>
              <a:srgbClr val="1B3B6F"/>
            </a:solidFill>
            <a:prstDash val="solid"/>
          </a:ln>
        </p:spPr>
      </p:sp>
      <p:sp>
        <p:nvSpPr>
          <p:cNvPr id="122" name="Text 119"/>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23" name="Text 120"/>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contrast is stated?</a:t>
            </a:r>
            <a:endParaRPr lang="en-US" sz="1250" dirty="0"/>
          </a:p>
        </p:txBody>
      </p:sp>
      <p:sp>
        <p:nvSpPr>
          <p:cNvPr id="124" name="Shape 121"/>
          <p:cNvSpPr/>
          <p:nvPr/>
        </p:nvSpPr>
        <p:spPr>
          <a:xfrm>
            <a:off x="9141714" y="4794504"/>
            <a:ext cx="2498598" cy="347472"/>
          </a:xfrm>
          <a:prstGeom prst="roundRect">
            <a:avLst>
              <a:gd name="adj" fmla="val 15789"/>
            </a:avLst>
          </a:prstGeom>
          <a:solidFill>
            <a:srgbClr val="E6F4EC"/>
          </a:solidFill>
          <a:ln w="9525">
            <a:solidFill>
              <a:srgbClr val="2E8B57"/>
            </a:solidFill>
            <a:prstDash val="solid"/>
          </a:ln>
        </p:spPr>
      </p:sp>
      <p:sp>
        <p:nvSpPr>
          <p:cNvPr id="125" name="Shape 122"/>
          <p:cNvSpPr/>
          <p:nvPr/>
        </p:nvSpPr>
        <p:spPr>
          <a:xfrm>
            <a:off x="9233154" y="4831080"/>
            <a:ext cx="256032" cy="256032"/>
          </a:xfrm>
          <a:prstGeom prst="ellipse">
            <a:avLst/>
          </a:prstGeom>
          <a:solidFill>
            <a:srgbClr val="2E8B57"/>
          </a:solidFill>
          <a:ln w="12700">
            <a:solidFill>
              <a:srgbClr val="2E8B57"/>
            </a:solidFill>
            <a:prstDash val="solid"/>
          </a:ln>
        </p:spPr>
      </p:sp>
      <p:sp>
        <p:nvSpPr>
          <p:cNvPr id="126" name="Text 123"/>
          <p:cNvSpPr txBox="1"/>
          <p:nvPr/>
        </p:nvSpPr>
        <p:spPr>
          <a:xfrm>
            <a:off x="923315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127" name="Text 124"/>
          <p:cNvSpPr txBox="1"/>
          <p:nvPr/>
        </p:nvSpPr>
        <p:spPr>
          <a:xfrm>
            <a:off x="9562338"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Maryam studies Arabic while her brother plays football.</a:t>
            </a:r>
            <a:endParaRPr lang="en-US" sz="1150" dirty="0"/>
          </a:p>
        </p:txBody>
      </p:sp>
      <p:sp>
        <p:nvSpPr>
          <p:cNvPr id="128" name="Shape 125"/>
          <p:cNvSpPr/>
          <p:nvPr/>
        </p:nvSpPr>
        <p:spPr>
          <a:xfrm>
            <a:off x="9233154" y="5202936"/>
            <a:ext cx="256032" cy="256032"/>
          </a:xfrm>
          <a:prstGeom prst="ellipse">
            <a:avLst/>
          </a:prstGeom>
          <a:solidFill>
            <a:srgbClr val="C9CED6"/>
          </a:solidFill>
          <a:ln w="12700">
            <a:solidFill>
              <a:srgbClr val="C9CED6"/>
            </a:solidFill>
            <a:prstDash val="solid"/>
          </a:ln>
        </p:spPr>
      </p:sp>
      <p:sp>
        <p:nvSpPr>
          <p:cNvPr id="129" name="Text 126"/>
          <p:cNvSpPr txBox="1"/>
          <p:nvPr/>
        </p:nvSpPr>
        <p:spPr>
          <a:xfrm>
            <a:off x="923315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30" name="Text 127"/>
          <p:cNvSpPr txBox="1"/>
          <p:nvPr/>
        </p:nvSpPr>
        <p:spPr>
          <a:xfrm>
            <a:off x="9562338"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study Arabic.</a:t>
            </a:r>
            <a:endParaRPr lang="en-US" sz="1250" dirty="0"/>
          </a:p>
        </p:txBody>
      </p:sp>
      <p:sp>
        <p:nvSpPr>
          <p:cNvPr id="131" name="Shape 128"/>
          <p:cNvSpPr/>
          <p:nvPr/>
        </p:nvSpPr>
        <p:spPr>
          <a:xfrm>
            <a:off x="9233154" y="5574792"/>
            <a:ext cx="256032" cy="256032"/>
          </a:xfrm>
          <a:prstGeom prst="ellipse">
            <a:avLst/>
          </a:prstGeom>
          <a:solidFill>
            <a:srgbClr val="C9CED6"/>
          </a:solidFill>
          <a:ln w="12700">
            <a:solidFill>
              <a:srgbClr val="C9CED6"/>
            </a:solidFill>
            <a:prstDash val="solid"/>
          </a:ln>
        </p:spPr>
      </p:sp>
      <p:sp>
        <p:nvSpPr>
          <p:cNvPr id="132" name="Text 129"/>
          <p:cNvSpPr txBox="1"/>
          <p:nvPr/>
        </p:nvSpPr>
        <p:spPr>
          <a:xfrm>
            <a:off x="923315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33" name="Text 130"/>
          <p:cNvSpPr txBox="1"/>
          <p:nvPr/>
        </p:nvSpPr>
        <p:spPr>
          <a:xfrm>
            <a:off x="9562338"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Her brother attends computer club.</a:t>
            </a:r>
            <a:endParaRPr lang="en-US" sz="1150" dirty="0"/>
          </a:p>
        </p:txBody>
      </p:sp>
      <p:sp>
        <p:nvSpPr>
          <p:cNvPr id="134" name="Text 131"/>
          <p:cNvSpPr txBox="1"/>
          <p:nvPr/>
        </p:nvSpPr>
        <p:spPr>
          <a:xfrm>
            <a:off x="9178290"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contrast follows </a:t>
            </a:r>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35" name="Text 1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Explain how you found exact evidence in a routine or schedule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وَجَدْتَ وَقْتَ البَدْءِ وَوَقْتَ الاِنْتِهَاءِ؟</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إِلَى مَنْ يَعُودُ الضَّمِيرُ فِي الجُمْلَةِ؟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نَشَاطَيْنِ فِي الجَدْوَلِ.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اِذْكُرْ دَلِيلًا دَقِيقًا يُثْبِتُ إِجَابَتَكَ.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وَجَدْتُ الوَقْتَ فِي خَانَةِ يَوْمِ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يَعُودُ الضَّمِيرُ «ـهَا / ـهُ» إِلَى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أَطْوَلُ مِنْ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الدَّلِيلُ مَوْجُودٌ فِي ___ : «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مَتَى يَنْتَهِي دَرْسُ العَرَبِيَّةِ؟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When does the Arabic lesson end?</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يَنْتَهِي فِي السَّابِعَةِ إِلَّا الرُّبْعَ.</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 ends at quarter to seven.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details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Locate and record six exact details from a routine and a schedule.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From the schedule: six exact details (day, activity, start, finish) written as full sentences.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two pronoun references and compare two routines with evidence.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days or two people with exact times and two pronoun references explained.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concise inference that combines time, frequency, person and contrast evidence.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compare two routines or schedules with exact times, frequency, sequence, reference and two pieces of evidence.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حَسَبَ الجَدْوَلِ ،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According to the schedule,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يَعُودُ الضَّمِيرُ «ـهَا» إِلَى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pronoun “her” refers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تَـ ______ مَرْيَمُ ، بَيْنَمَا يَـ ______ أَخُوهَا.</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Maryam …, whereas her brother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الدَّلِيلُ هُوَ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evidence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أَنْ تَذْهَبَ إِلَى النَّادِي تَـ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she goes to the club, she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الاِثْنَيْنِ تَـ ______ مَرْيَمُ.</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Monday, Maryam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تَبْدَأُ السِّبَاحَةُ فِي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Swimming starts at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تَنْتَهِي فِي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ends at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تَسْتَمِرُّ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lasts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الأَرْبِعَاءِ لَا نَشَاطَ بَعْدَ المَدْرَسَةِ.</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Wednesday there is no activity.</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حَسَبَ الجَدْوَلِ  ·  مِنَ النَّصِّ  ·  الدَّلِيلُ  ·  يَبْدَأُ / تَبْدَأُ  ·  يَنْتَهِي / تَنْتَهِي  ·  يَسْتَمِرُّ  ·  مِنْ … إِلَى  ·  مَرَّتَيْنِ  ·  بَيْنَمَا  ·  أَمَّا … فَـ  ·  يَعُودُ الضَّمِيرُ إِلَى  ·  خَانَةٌ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words comparing two daily routines or weekly schedules. Include exact times, frequency, sequence, person reference and at least two pieces of evidence.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Identify both people or schedules clearly.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three exact time or frequency details.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Control masculine and feminine present-tense forms.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before/after and one contrast connector.</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End with a concise evidence-based comparison.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يُبَيِّنُ الجَدْوَلَانِ رُوتِينَيْنِ مُخْتَلِفَيْنِ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two schedules show two different routines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المُقَابِلِ</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by contrast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الدَّلِيلُ عَلَى أَنَّ رُوتِينَهَا مُنَظَّمٌ هُوَ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evidence that her routine is organised is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كِلَا الرُّوتِينَيْنِ مُنَظَّمٌ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both routines are organised</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تَنَوُّعًا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varied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يُبَيِّنُ الجَدْوَلَانِ رُوتِينَيْنِ مُخْتَلِفَيْنِ. تَعُودُ مَرْيَمُ إِلَى البَيْتِ فِي الرَّابِعَةِ، بَيْنَمَا يَعُودُ أَخُوهَا فِي الثَّالِثَةِ وَالنِّصْفِ. تَذْهَبُ مَرْيَمُ إِلَى السِّبَاحَةِ مَرَّتَيْنِ فِي الأُسْبُوعِ، أَمَّا أَخُوهَا فَيَلْعَبُ كُرَةَ القَدَمِ ثَلَاثَ مَرَّاتٍ. يَوْمَ الخَمِيسِ تَدْرُسُ مَرْيَمُ العَرَبِيَّةَ مِنَ السَّادِسَةِ إِلَى السَّابِعَةِ إِلَّا الرُّبْعَ. قَبْلَ أَنْ تَذْهَبَ إِلَى الدَّرْسِ، تُكْمِلُ وَاجِبَهَا. الدَّلِيلُ عَلَى أَنَّ رُوتِينَهَا مُنَظَّمٌ هُوَ أَنَّهَا تُحَضِّرُ حَقِيبَتَهَا لَيْلًا. فِي المُقَابِلِ، رُوتِينُ أَخِيهَا أَكْثَرُ رِيَاضِيَّةً. فِي رَأْيِي، كِلَا الرُّوتِينَيْنِ مُنَظَّمٌ، وَلٰكِنَّ رُوتِينَ مَرْيَمَ أَكْثَرُ تَنَوُّعًا.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two schedules show two different routines. Maryam returns home at four, whereas her brother returns at half past three. Maryam goes swimming twice a week; as for her brother, he plays football three times. On Thursday Maryam studies Arabic from six to quarter to seven. Before she goes to the lesson, she finishes her homework. The evidence that her routine is organised is that she prepares her bag at night. By contrast, her brother’s routine is more sporty. In my opinion, both routines are organised, but Maryam’s routine is more varied.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“from … to …” time span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feminine and two masculine verbs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piece of evidence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contrast connectors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times match the right day and activity.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for one time and “from … to” for a span.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matches its person (ta- / ya-).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what one pronoun refers to.</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two pieces of exact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“according to the schedule”?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حَسَبَ الجَدْوَلِ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الجَدْوَلِ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answers </a:t>
            </a:r>
            <a:pPr algn="l" indent="0" marL="0">
              <a:buNone/>
            </a:pPr>
            <a:r>
              <a:rPr lang="ar-SA" altLang="en-US" sz="1650" b="1" dirty="0">
                <a:solidFill>
                  <a:srgbClr val="1B3B6F"/>
                </a:solidFill>
                <a:latin typeface="Amiri" pitchFamily="2" charset="-78"/>
                <a:ea typeface="Amiri" pitchFamily="2" charset="-78"/>
                <a:cs typeface="Amiri" pitchFamily="2" charset="-78"/>
              </a:rPr>
              <a:t>كَمْ مَرَّةً؟</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الرَّابِعَةِ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مَرَّتَيْنِ فِي الأُسْبُوعِ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 الخَمِيسِ</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club runs from 5:00 to 6:30. What is its duration?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and a half hours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an hour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 hours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“according to the schedule”?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حَسَبَ الجَدْوَلِ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رَأْيِي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بَعْدَ الجَدْوَلِ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حَسَبَ الجَدْوَلِ</a:t>
            </a:r>
            <a:pPr algn="l" indent="0" marL="0">
              <a:buNone/>
            </a:pPr>
            <a:r>
              <a:rPr lang="en-US" sz="1050" i="1" dirty="0">
                <a:solidFill>
                  <a:srgbClr val="8A6D1E"/>
                </a:solidFill>
                <a:latin typeface="Calibri" pitchFamily="34" charset="0"/>
                <a:cs typeface="Amiri" pitchFamily="2" charset="-78"/>
              </a:rPr>
              <a:t> introduces schedule evidence.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answers </a:t>
            </a:r>
            <a:pPr algn="l" indent="0" marL="0">
              <a:buNone/>
            </a:pPr>
            <a:r>
              <a:rPr lang="ar-SA" altLang="en-US" sz="1650" b="1" dirty="0">
                <a:solidFill>
                  <a:srgbClr val="1B3B6F"/>
                </a:solidFill>
                <a:latin typeface="Amiri" pitchFamily="2" charset="-78"/>
                <a:ea typeface="Amiri" pitchFamily="2" charset="-78"/>
                <a:cs typeface="Amiri" pitchFamily="2" charset="-78"/>
              </a:rPr>
              <a:t>كَمْ مَرَّةً؟</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الرَّابِعَةِ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مَرَّتَيْنِ فِي الأُسْبُوعِ</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يَوْمَ الخَمِيسِ</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Frequency is expressed with </a:t>
            </a:r>
            <a:pPr algn="l" indent="0" marL="0">
              <a:buNone/>
            </a:pPr>
            <a:r>
              <a:rPr lang="ar-SA" altLang="en-US" sz="1350" dirty="0">
                <a:solidFill>
                  <a:srgbClr val="8A6D1E"/>
                </a:solidFill>
                <a:latin typeface="Amiri" pitchFamily="2" charset="-78"/>
                <a:ea typeface="Amiri" pitchFamily="2" charset="-78"/>
                <a:cs typeface="Amiri" pitchFamily="2" charset="-78"/>
              </a:rPr>
              <a:t>مَرَّاتٍ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club runs from 5:00 to 6:30. What is its duration?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and a half hours</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half an hour</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five hours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difference between the two times is 90 minutes.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Arabic reading evidence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السَّلَامُ عَلَيْكُمْ يَا سَارَةُ</a:t>
            </a:r>
            <a:pPr algn="l" indent="0" marL="0">
              <a:buNone/>
            </a:pPr>
            <a:r>
              <a:rPr lang="en-US" sz="1000" b="1" dirty="0">
                <a:solidFill>
                  <a:srgbClr val="1F2A37"/>
                </a:solidFill>
                <a:latin typeface="Calibri" pitchFamily="34" charset="0"/>
                <a:cs typeface="Amiri" pitchFamily="2" charset="-78"/>
              </a:rPr>
              <a:t>... </a:t>
            </a:r>
            <a:pPr algn="l" indent="0" marL="0">
              <a:buNone/>
            </a:pPr>
            <a:r>
              <a:rPr lang="ar-SA" altLang="en-US" sz="1300" b="1" dirty="0">
                <a:solidFill>
                  <a:srgbClr val="1F2A37"/>
                </a:solidFill>
                <a:latin typeface="Amiri" pitchFamily="2" charset="-78"/>
                <a:ea typeface="Amiri" pitchFamily="2" charset="-78"/>
                <a:cs typeface="Amiri" pitchFamily="2" charset="-78"/>
              </a:rPr>
              <a:t>مَعَ أَطْيَبِ التَّحِيَّاتِ، لَيْلَى</a:t>
            </a:r>
            <a:pPr algn="l" indent="0" marL="0">
              <a:buNone/>
            </a:pPr>
            <a:r>
              <a:rPr lang="en-US" sz="1000" b="1" dirty="0">
                <a:solidFill>
                  <a:srgbClr val="1F2A37"/>
                </a:solidFill>
                <a:latin typeface="Calibri" pitchFamily="34" charset="0"/>
                <a:cs typeface="Amiri" pitchFamily="2" charset="-78"/>
              </a:rPr>
              <a:t>. What type of text is this?</a:t>
            </a:r>
            <a:endParaRPr lang="en-US" sz="10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جَدْوَلٌ أُسْبُوعِيٌّ</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رِسَالَةٌ إِلِكْتِرُونِيَّةٌ</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إِعْلَانٌ</a:t>
            </a:r>
            <a:endParaRPr lang="ar-SA" sz="2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أَسْتَيْقِظُ فِي السَّادِسَةِ وَالنِّصْفِ، وَلٰكِنَّ الدَّرْسَ يَبْدَأُ فِي الثَّامِنَةِ</a:t>
            </a:r>
            <a:pPr algn="l" indent="0" marL="0">
              <a:buNone/>
            </a:pPr>
            <a:r>
              <a:rPr lang="en-US" sz="1000" b="1" dirty="0">
                <a:solidFill>
                  <a:srgbClr val="1F2A37"/>
                </a:solidFill>
                <a:latin typeface="Calibri" pitchFamily="34" charset="0"/>
                <a:cs typeface="Amiri" pitchFamily="2" charset="-78"/>
              </a:rPr>
              <a:t>. When does the writer wake up?</a:t>
            </a:r>
            <a:endParaRPr lang="en-US" sz="1000" dirty="0"/>
          </a:p>
        </p:txBody>
      </p:sp>
      <p:sp>
        <p:nvSpPr>
          <p:cNvPr id="36" name="Shape 33"/>
          <p:cNvSpPr/>
          <p:nvPr/>
        </p:nvSpPr>
        <p:spPr>
          <a:xfrm>
            <a:off x="4459224"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39" name="Shape 36"/>
          <p:cNvSpPr/>
          <p:nvPr/>
        </p:nvSpPr>
        <p:spPr>
          <a:xfrm>
            <a:off x="4459224"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8:00</a:t>
            </a:r>
            <a:endParaRPr lang="en-US" sz="1250" dirty="0"/>
          </a:p>
        </p:txBody>
      </p:sp>
      <p:sp>
        <p:nvSpPr>
          <p:cNvPr id="42" name="Shape 39"/>
          <p:cNvSpPr/>
          <p:nvPr/>
        </p:nvSpPr>
        <p:spPr>
          <a:xfrm>
            <a:off x="4459224"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7:30</a:t>
            </a:r>
            <a:endParaRPr lang="en-US"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غَيَّرَ خَالِدٌ رُوتِينَهُ لِأَنَّهُ كَانَ مُتْعَبًا</a:t>
            </a:r>
            <a:pPr algn="l" indent="0" marL="0">
              <a:buNone/>
            </a:pPr>
            <a:r>
              <a:rPr lang="en-US" sz="1000" b="1" dirty="0">
                <a:solidFill>
                  <a:srgbClr val="1F2A37"/>
                </a:solidFill>
                <a:latin typeface="Calibri" pitchFamily="34" charset="0"/>
                <a:cs typeface="Amiri" pitchFamily="2" charset="-78"/>
              </a:rPr>
              <a:t>. What does </a:t>
            </a:r>
            <a:pPr algn="l" indent="0" marL="0">
              <a:buNone/>
            </a:pPr>
            <a:r>
              <a:rPr lang="ar-SA" altLang="en-US" sz="1300" b="1" dirty="0">
                <a:solidFill>
                  <a:srgbClr val="1F2A37"/>
                </a:solidFill>
                <a:latin typeface="Amiri" pitchFamily="2" charset="-78"/>
                <a:ea typeface="Amiri" pitchFamily="2" charset="-78"/>
                <a:cs typeface="Amiri" pitchFamily="2" charset="-78"/>
              </a:rPr>
              <a:t>ـهُ</a:t>
            </a:r>
            <a:pPr algn="l" indent="0" marL="0">
              <a:buNone/>
            </a:pPr>
            <a:r>
              <a:rPr lang="en-US" sz="1000" b="1" dirty="0">
                <a:solidFill>
                  <a:srgbClr val="1F2A37"/>
                </a:solidFill>
                <a:latin typeface="Calibri" pitchFamily="34" charset="0"/>
                <a:cs typeface="Amiri" pitchFamily="2" charset="-78"/>
              </a:rPr>
              <a:t> in </a:t>
            </a:r>
            <a:pPr algn="l" indent="0" marL="0">
              <a:buNone/>
            </a:pPr>
            <a:r>
              <a:rPr lang="ar-SA" altLang="en-US" sz="1300" b="1" dirty="0">
                <a:solidFill>
                  <a:srgbClr val="1F2A37"/>
                </a:solidFill>
                <a:latin typeface="Amiri" pitchFamily="2" charset="-78"/>
                <a:ea typeface="Amiri" pitchFamily="2" charset="-78"/>
                <a:cs typeface="Amiri" pitchFamily="2" charset="-78"/>
              </a:rPr>
              <a:t>رُوتِينَهُ</a:t>
            </a:r>
            <a:pPr algn="l" indent="0" marL="0">
              <a:buNone/>
            </a:pPr>
            <a:r>
              <a:rPr lang="en-US" sz="1000" b="1" dirty="0">
                <a:solidFill>
                  <a:srgbClr val="1F2A37"/>
                </a:solidFill>
                <a:latin typeface="Calibri" pitchFamily="34" charset="0"/>
                <a:cs typeface="Amiri" pitchFamily="2" charset="-78"/>
              </a:rPr>
              <a:t> refer to?</a:t>
            </a:r>
            <a:endParaRPr lang="en-US" sz="1000" dirty="0"/>
          </a:p>
        </p:txBody>
      </p:sp>
      <p:sp>
        <p:nvSpPr>
          <p:cNvPr id="50" name="Shape 47"/>
          <p:cNvSpPr/>
          <p:nvPr/>
        </p:nvSpPr>
        <p:spPr>
          <a:xfrm>
            <a:off x="8278368" y="25328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رُوتِينُ أُخْتِهِ</a:t>
            </a:r>
            <a:endParaRPr lang="ar-SA" sz="2050" dirty="0"/>
          </a:p>
        </p:txBody>
      </p:sp>
      <p:sp>
        <p:nvSpPr>
          <p:cNvPr id="53" name="Shape 50"/>
          <p:cNvSpPr/>
          <p:nvPr/>
        </p:nvSpPr>
        <p:spPr>
          <a:xfrm>
            <a:off x="8278368" y="29900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رُوتِينُ الكَاتِبِ</a:t>
            </a:r>
            <a:endParaRPr lang="ar-SA" sz="2050" dirty="0"/>
          </a:p>
        </p:txBody>
      </p:sp>
      <p:sp>
        <p:nvSpPr>
          <p:cNvPr id="56" name="Shape 53"/>
          <p:cNvSpPr/>
          <p:nvPr/>
        </p:nvSpPr>
        <p:spPr>
          <a:xfrm>
            <a:off x="8278368" y="3447288"/>
            <a:ext cx="256032" cy="256032"/>
          </a:xfrm>
          <a:prstGeom prst="ellipse">
            <a:avLst/>
          </a:prstGeom>
          <a:solidFill>
            <a:srgbClr val="F4F1EA"/>
          </a:solidFill>
          <a:ln w="12700">
            <a:solidFill>
              <a:srgbClr val="F4F1EA"/>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رُوتِينُ خَالِدٍ</a:t>
            </a:r>
            <a:endParaRPr lang="ar-SA" sz="2050" dirty="0"/>
          </a:p>
        </p:txBody>
      </p:sp>
      <p:sp>
        <p:nvSpPr>
          <p:cNvPr id="59" name="Shape 56"/>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85216"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2" name="Text 59"/>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63" name="Text 60"/>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يَبْدَأُ النَّادِي فِي الخَامِسَةِ وَالنِّصْفِ وَيَنْتَهِي فِي السَّادِسَةِ وَالرُّبْعِ</a:t>
            </a:r>
            <a:pPr algn="l" indent="0" marL="0">
              <a:buNone/>
            </a:pPr>
            <a:r>
              <a:rPr lang="en-US" sz="1000" b="1" dirty="0">
                <a:solidFill>
                  <a:srgbClr val="1F2A37"/>
                </a:solidFill>
                <a:latin typeface="Calibri" pitchFamily="34" charset="0"/>
                <a:cs typeface="Amiri" pitchFamily="2" charset="-78"/>
              </a:rPr>
              <a:t>. How long does it last?</a:t>
            </a:r>
            <a:endParaRPr lang="en-US" sz="1000" dirty="0"/>
          </a:p>
        </p:txBody>
      </p:sp>
      <p:sp>
        <p:nvSpPr>
          <p:cNvPr id="64" name="Shape 61"/>
          <p:cNvSpPr/>
          <p:nvPr/>
        </p:nvSpPr>
        <p:spPr>
          <a:xfrm>
            <a:off x="640080" y="48737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نِصْفُ سَاعَةٍ</a:t>
            </a:r>
            <a:endParaRPr lang="ar-SA" sz="2050" dirty="0"/>
          </a:p>
        </p:txBody>
      </p:sp>
      <p:sp>
        <p:nvSpPr>
          <p:cNvPr id="67" name="Shape 64"/>
          <p:cNvSpPr/>
          <p:nvPr/>
        </p:nvSpPr>
        <p:spPr>
          <a:xfrm>
            <a:off x="640080" y="53309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سَاعَةٌ وَنِصْفٌ</a:t>
            </a:r>
            <a:endParaRPr lang="ar-SA" sz="2050" dirty="0"/>
          </a:p>
        </p:txBody>
      </p:sp>
      <p:sp>
        <p:nvSpPr>
          <p:cNvPr id="70" name="Shape 67"/>
          <p:cNvSpPr/>
          <p:nvPr/>
        </p:nvSpPr>
        <p:spPr>
          <a:xfrm>
            <a:off x="640080" y="5788152"/>
            <a:ext cx="256032" cy="256032"/>
          </a:xfrm>
          <a:prstGeom prst="ellipse">
            <a:avLst/>
          </a:prstGeom>
          <a:solidFill>
            <a:srgbClr val="F4F1EA"/>
          </a:solidFill>
          <a:ln w="12700">
            <a:solidFill>
              <a:srgbClr val="F4F1EA"/>
            </a:solidFill>
            <a:prstDash val="solid"/>
          </a:ln>
        </p:spPr>
      </p:sp>
      <p:sp>
        <p:nvSpPr>
          <p:cNvPr id="71" name="Text 68"/>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2" name="Text 69"/>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خَمْسٌ وَأَرْبَعُونَ دَقِيقَةً</a:t>
            </a:r>
            <a:endParaRPr lang="ar-SA" sz="2050" dirty="0"/>
          </a:p>
        </p:txBody>
      </p:sp>
      <p:sp>
        <p:nvSpPr>
          <p:cNvPr id="73" name="Shape 70"/>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404360" y="4288536"/>
            <a:ext cx="310896" cy="310896"/>
          </a:xfrm>
          <a:prstGeom prst="ellipse">
            <a:avLst/>
          </a:prstGeom>
          <a:solidFill>
            <a:srgbClr val="1B3B6F"/>
          </a:solidFill>
          <a:ln w="12700">
            <a:solidFill>
              <a:srgbClr val="1B3B6F"/>
            </a:solidFill>
            <a:prstDash val="solid"/>
          </a:ln>
        </p:spPr>
      </p:sp>
      <p:sp>
        <p:nvSpPr>
          <p:cNvPr id="75" name="Text 72"/>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6" name="Text 73"/>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77" name="Text 74"/>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يَذْهَبُ سَامِرٌ إِلَى النَّادِي ثَلَاثَ مَرَّاتٍ، وَلَا يَذْهَبُ يَوْمَ الجُمُعَةِ</a:t>
            </a:r>
            <a:pPr algn="l" indent="0" marL="0">
              <a:buNone/>
            </a:pPr>
            <a:r>
              <a:rPr lang="en-US" sz="1000" b="1" dirty="0">
                <a:solidFill>
                  <a:srgbClr val="1F2A37"/>
                </a:solidFill>
                <a:latin typeface="Calibri" pitchFamily="34" charset="0"/>
                <a:cs typeface="Amiri" pitchFamily="2" charset="-78"/>
              </a:rPr>
              <a:t>. Which statement is supported?</a:t>
            </a:r>
            <a:endParaRPr lang="en-US" sz="1000" dirty="0"/>
          </a:p>
        </p:txBody>
      </p:sp>
      <p:sp>
        <p:nvSpPr>
          <p:cNvPr id="78" name="Shape 75"/>
          <p:cNvSpPr/>
          <p:nvPr/>
        </p:nvSpPr>
        <p:spPr>
          <a:xfrm>
            <a:off x="4459224" y="48737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0" name="Text 77"/>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سَامِرٌ يَذْهَبُ إِلَى النَّادِي ثَلَاثَ مَرَّاتٍ فِي الأُسْبُوعِ.</a:t>
            </a:r>
            <a:endParaRPr lang="ar-SA" sz="1400" dirty="0"/>
          </a:p>
        </p:txBody>
      </p:sp>
      <p:sp>
        <p:nvSpPr>
          <p:cNvPr id="81" name="Shape 78"/>
          <p:cNvSpPr/>
          <p:nvPr/>
        </p:nvSpPr>
        <p:spPr>
          <a:xfrm>
            <a:off x="4459224" y="53309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3" name="Text 80"/>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سَامِرٌ يَذْهَبُ إِلَى النَّادِي يَوْمِيًّا.</a:t>
            </a:r>
            <a:endParaRPr lang="ar-SA" sz="1400" dirty="0"/>
          </a:p>
        </p:txBody>
      </p:sp>
      <p:sp>
        <p:nvSpPr>
          <p:cNvPr id="84" name="Shape 81"/>
          <p:cNvSpPr/>
          <p:nvPr/>
        </p:nvSpPr>
        <p:spPr>
          <a:xfrm>
            <a:off x="4459224" y="57881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6" name="Text 83"/>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سَامِرٌ لَا يَذْهَبُ إِلَى النَّادِي أَبَدًا.</a:t>
            </a:r>
            <a:endParaRPr lang="ar-SA" sz="1400" dirty="0"/>
          </a:p>
        </p:txBody>
      </p:sp>
      <p:sp>
        <p:nvSpPr>
          <p:cNvPr id="87" name="Shape 84"/>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8223504" y="4288536"/>
            <a:ext cx="310896" cy="310896"/>
          </a:xfrm>
          <a:prstGeom prst="ellipse">
            <a:avLst/>
          </a:prstGeom>
          <a:solidFill>
            <a:srgbClr val="1B3B6F"/>
          </a:solidFill>
          <a:ln w="12700">
            <a:solidFill>
              <a:srgbClr val="1B3B6F"/>
            </a:solidFill>
            <a:prstDash val="solid"/>
          </a:ln>
        </p:spPr>
      </p:sp>
      <p:sp>
        <p:nvSpPr>
          <p:cNvPr id="89" name="Text 86"/>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0" name="Text 87"/>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Which sentence is the strongest evidence for “The writer has an organised routine”?</a:t>
            </a:r>
            <a:endParaRPr lang="en-US" sz="1150" dirty="0"/>
          </a:p>
        </p:txBody>
      </p:sp>
      <p:sp>
        <p:nvSpPr>
          <p:cNvPr id="91" name="Shape 88"/>
          <p:cNvSpPr/>
          <p:nvPr/>
        </p:nvSpPr>
        <p:spPr>
          <a:xfrm>
            <a:off x="8278368" y="48737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3" name="Text 90"/>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فِي رَأْيِي الرُّوتِينُ جَيِّدٌ.</a:t>
            </a:r>
            <a:endParaRPr lang="ar-SA" sz="1500" dirty="0"/>
          </a:p>
        </p:txBody>
      </p:sp>
      <p:sp>
        <p:nvSpPr>
          <p:cNvPr id="94" name="Shape 91"/>
          <p:cNvSpPr/>
          <p:nvPr/>
        </p:nvSpPr>
        <p:spPr>
          <a:xfrm>
            <a:off x="8278368" y="53309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6" name="Text 93"/>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يُحَضِّرُ حَقِيبَتَهُ لَيْلًا وَيَضْبِطُ مُنَبِّهَهُ قَبْلَ النَّوْمِ.</a:t>
            </a:r>
            <a:endParaRPr lang="ar-SA" sz="1500" dirty="0"/>
          </a:p>
        </p:txBody>
      </p:sp>
      <p:sp>
        <p:nvSpPr>
          <p:cNvPr id="97" name="Shape 94"/>
          <p:cNvSpPr/>
          <p:nvPr/>
        </p:nvSpPr>
        <p:spPr>
          <a:xfrm>
            <a:off x="8278368" y="5788152"/>
            <a:ext cx="256032" cy="256032"/>
          </a:xfrm>
          <a:prstGeom prst="ellipse">
            <a:avLst/>
          </a:prstGeom>
          <a:solidFill>
            <a:srgbClr val="F4F1EA"/>
          </a:solidFill>
          <a:ln w="12700">
            <a:solidFill>
              <a:srgbClr val="F4F1EA"/>
            </a:solidFill>
            <a:prstDash val="solid"/>
          </a:ln>
        </p:spPr>
      </p:sp>
      <p:sp>
        <p:nvSpPr>
          <p:cNvPr id="98" name="Text 95"/>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9" name="Text 96"/>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الرُّوتِينُ كَلِمَةٌ مُهِمَّةٌ.</a:t>
            </a:r>
            <a:endParaRPr lang="ar-SA" sz="1500" dirty="0"/>
          </a:p>
        </p:txBody>
      </p:sp>
      <p:sp>
        <p:nvSpPr>
          <p:cNvPr id="100" name="Text 9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السَّلَامُ عَلَيْكُمْ يَا سَارَةُ</a:t>
            </a:r>
            <a:pPr algn="l" indent="0" marL="0">
              <a:buNone/>
            </a:pPr>
            <a:r>
              <a:rPr lang="en-US" sz="1000" b="1" dirty="0">
                <a:solidFill>
                  <a:srgbClr val="1F2A37"/>
                </a:solidFill>
                <a:latin typeface="Calibri" pitchFamily="34" charset="0"/>
                <a:cs typeface="Amiri" pitchFamily="2" charset="-78"/>
              </a:rPr>
              <a:t>... </a:t>
            </a:r>
            <a:pPr algn="l" indent="0" marL="0">
              <a:buNone/>
            </a:pPr>
            <a:r>
              <a:rPr lang="ar-SA" altLang="en-US" sz="1300" b="1" dirty="0">
                <a:solidFill>
                  <a:srgbClr val="1F2A37"/>
                </a:solidFill>
                <a:latin typeface="Amiri" pitchFamily="2" charset="-78"/>
                <a:ea typeface="Amiri" pitchFamily="2" charset="-78"/>
                <a:cs typeface="Amiri" pitchFamily="2" charset="-78"/>
              </a:rPr>
              <a:t>مَعَ أَطْيَبِ التَّحِيَّاتِ، لَيْلَى</a:t>
            </a:r>
            <a:pPr algn="l" indent="0" marL="0">
              <a:buNone/>
            </a:pPr>
            <a:r>
              <a:rPr lang="en-US" sz="1000" b="1" dirty="0">
                <a:solidFill>
                  <a:srgbClr val="1F2A37"/>
                </a:solidFill>
                <a:latin typeface="Calibri" pitchFamily="34" charset="0"/>
                <a:cs typeface="Amiri" pitchFamily="2" charset="-78"/>
              </a:rPr>
              <a:t>. What type of text is this?</a:t>
            </a:r>
            <a:endParaRPr lang="en-US" sz="100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جَدْوَلٌ أُسْبُوعِيٌّ</a:t>
            </a:r>
            <a:endParaRPr lang="ar-SA" sz="170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رِسَالَةٌ إِلِكْتِرُونِيَّةٌ</a:t>
            </a:r>
            <a:endParaRPr lang="ar-SA" sz="170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إِعْلَانٌ</a:t>
            </a:r>
            <a:endParaRPr lang="ar-SA" sz="170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greeting, named recipient and closing are features of an email.</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36" name="Text 34"/>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أَسْتَيْقِظُ فِي السَّادِسَةِ وَالنِّصْفِ، وَلٰكِنَّ الدَّرْسَ يَبْدَأُ فِي الثَّامِنَةِ</a:t>
            </a:r>
            <a:pPr algn="l" indent="0" marL="0">
              <a:buNone/>
            </a:pPr>
            <a:r>
              <a:rPr lang="en-US" sz="1000" b="1" dirty="0">
                <a:solidFill>
                  <a:srgbClr val="1F2A37"/>
                </a:solidFill>
                <a:latin typeface="Calibri" pitchFamily="34" charset="0"/>
                <a:cs typeface="Amiri" pitchFamily="2" charset="-78"/>
              </a:rPr>
              <a:t>. When does the writer wake up?</a:t>
            </a:r>
            <a:endParaRPr lang="en-US" sz="1000" dirty="0"/>
          </a:p>
        </p:txBody>
      </p:sp>
      <p:sp>
        <p:nvSpPr>
          <p:cNvPr id="37" name="Shape 35"/>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8" name="Shape 36"/>
          <p:cNvSpPr/>
          <p:nvPr/>
        </p:nvSpPr>
        <p:spPr>
          <a:xfrm>
            <a:off x="4459224" y="2490216"/>
            <a:ext cx="256032" cy="256032"/>
          </a:xfrm>
          <a:prstGeom prst="ellipse">
            <a:avLst/>
          </a:prstGeom>
          <a:solidFill>
            <a:srgbClr val="2E8B57"/>
          </a:solidFill>
          <a:ln w="12700">
            <a:solidFill>
              <a:srgbClr val="2E8B57"/>
            </a:solidFill>
            <a:prstDash val="solid"/>
          </a:ln>
        </p:spPr>
      </p:sp>
      <p:sp>
        <p:nvSpPr>
          <p:cNvPr id="39" name="Text 37"/>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0" name="Text 38"/>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6:30</a:t>
            </a:r>
            <a:endParaRPr lang="en-US" sz="1250" dirty="0"/>
          </a:p>
        </p:txBody>
      </p:sp>
      <p:sp>
        <p:nvSpPr>
          <p:cNvPr id="41" name="Shape 39"/>
          <p:cNvSpPr/>
          <p:nvPr/>
        </p:nvSpPr>
        <p:spPr>
          <a:xfrm>
            <a:off x="4459224" y="2862072"/>
            <a:ext cx="256032" cy="256032"/>
          </a:xfrm>
          <a:prstGeom prst="ellipse">
            <a:avLst/>
          </a:prstGeom>
          <a:solidFill>
            <a:srgbClr val="C9CED6"/>
          </a:solidFill>
          <a:ln w="12700">
            <a:solidFill>
              <a:srgbClr val="C9CED6"/>
            </a:solidFill>
            <a:prstDash val="solid"/>
          </a:ln>
        </p:spPr>
      </p:sp>
      <p:sp>
        <p:nvSpPr>
          <p:cNvPr id="42" name="Text 40"/>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3" name="Text 41"/>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8:00</a:t>
            </a:r>
            <a:endParaRPr lang="en-US" sz="1250" dirty="0"/>
          </a:p>
        </p:txBody>
      </p:sp>
      <p:sp>
        <p:nvSpPr>
          <p:cNvPr id="44" name="Shape 42"/>
          <p:cNvSpPr/>
          <p:nvPr/>
        </p:nvSpPr>
        <p:spPr>
          <a:xfrm>
            <a:off x="4459224" y="323392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4"/>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7:30</a:t>
            </a:r>
            <a:endParaRPr lang="en-US" sz="1250" dirty="0"/>
          </a:p>
        </p:txBody>
      </p:sp>
      <p:sp>
        <p:nvSpPr>
          <p:cNvPr id="47" name="Text 4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exact evidence linked to </a:t>
            </a:r>
            <a:pPr algn="l" indent="0" marL="0">
              <a:buNone/>
            </a:pPr>
            <a:r>
              <a:rPr lang="ar-SA" altLang="en-US" sz="1350" dirty="0">
                <a:solidFill>
                  <a:srgbClr val="8A6D1E"/>
                </a:solidFill>
                <a:latin typeface="Amiri" pitchFamily="2" charset="-78"/>
                <a:ea typeface="Amiri" pitchFamily="2" charset="-78"/>
                <a:cs typeface="Amiri" pitchFamily="2" charset="-78"/>
              </a:rPr>
              <a:t>أَسْتَيْقِظُ</a:t>
            </a:r>
            <a:pPr algn="l" indent="0" marL="0">
              <a:buNone/>
            </a:pPr>
            <a:r>
              <a:rPr lang="en-US" sz="1050" i="1" dirty="0">
                <a:solidFill>
                  <a:srgbClr val="8A6D1E"/>
                </a:solidFill>
                <a:latin typeface="Calibri" pitchFamily="34" charset="0"/>
                <a:cs typeface="Amiri" pitchFamily="2" charset="-78"/>
              </a:rPr>
              <a:t> is </a:t>
            </a:r>
            <a:pPr algn="l" indent="0" marL="0">
              <a:buNone/>
            </a:pPr>
            <a:r>
              <a:rPr lang="ar-SA" altLang="en-US" sz="1350" dirty="0">
                <a:solidFill>
                  <a:srgbClr val="8A6D1E"/>
                </a:solidFill>
                <a:latin typeface="Amiri" pitchFamily="2" charset="-78"/>
                <a:ea typeface="Amiri" pitchFamily="2" charset="-78"/>
                <a:cs typeface="Amiri" pitchFamily="2" charset="-78"/>
              </a:rPr>
              <a:t>فِي السَّادِسَةِ وَالنِّصْفِ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9"/>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52" name="Text 50"/>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غَيَّرَ خَالِدٌ رُوتِينَهُ لِأَنَّهُ كَانَ مُتْعَبًا</a:t>
            </a:r>
            <a:pPr algn="l" indent="0" marL="0">
              <a:buNone/>
            </a:pPr>
            <a:r>
              <a:rPr lang="en-US" sz="1000" b="1" dirty="0">
                <a:solidFill>
                  <a:srgbClr val="1F2A37"/>
                </a:solidFill>
                <a:latin typeface="Calibri" pitchFamily="34" charset="0"/>
                <a:cs typeface="Amiri" pitchFamily="2" charset="-78"/>
              </a:rPr>
              <a:t>. What does </a:t>
            </a:r>
            <a:pPr algn="l" indent="0" marL="0">
              <a:buNone/>
            </a:pPr>
            <a:r>
              <a:rPr lang="ar-SA" altLang="en-US" sz="1300" b="1" dirty="0">
                <a:solidFill>
                  <a:srgbClr val="1F2A37"/>
                </a:solidFill>
                <a:latin typeface="Amiri" pitchFamily="2" charset="-78"/>
                <a:ea typeface="Amiri" pitchFamily="2" charset="-78"/>
                <a:cs typeface="Amiri" pitchFamily="2" charset="-78"/>
              </a:rPr>
              <a:t>ـهُ</a:t>
            </a:r>
            <a:pPr algn="l" indent="0" marL="0">
              <a:buNone/>
            </a:pPr>
            <a:r>
              <a:rPr lang="en-US" sz="1000" b="1" dirty="0">
                <a:solidFill>
                  <a:srgbClr val="1F2A37"/>
                </a:solidFill>
                <a:latin typeface="Calibri" pitchFamily="34" charset="0"/>
                <a:cs typeface="Amiri" pitchFamily="2" charset="-78"/>
              </a:rPr>
              <a:t> in </a:t>
            </a:r>
            <a:pPr algn="l" indent="0" marL="0">
              <a:buNone/>
            </a:pPr>
            <a:r>
              <a:rPr lang="ar-SA" altLang="en-US" sz="1300" b="1" dirty="0">
                <a:solidFill>
                  <a:srgbClr val="1F2A37"/>
                </a:solidFill>
                <a:latin typeface="Amiri" pitchFamily="2" charset="-78"/>
                <a:ea typeface="Amiri" pitchFamily="2" charset="-78"/>
                <a:cs typeface="Amiri" pitchFamily="2" charset="-78"/>
              </a:rPr>
              <a:t>رُوتِينَهُ</a:t>
            </a:r>
            <a:pPr algn="l" indent="0" marL="0">
              <a:buNone/>
            </a:pPr>
            <a:r>
              <a:rPr lang="en-US" sz="1000" b="1" dirty="0">
                <a:solidFill>
                  <a:srgbClr val="1F2A37"/>
                </a:solidFill>
                <a:latin typeface="Calibri" pitchFamily="34" charset="0"/>
                <a:cs typeface="Amiri" pitchFamily="2" charset="-78"/>
              </a:rPr>
              <a:t> refer to?</a:t>
            </a:r>
            <a:endParaRPr lang="en-US" sz="1000" dirty="0"/>
          </a:p>
        </p:txBody>
      </p:sp>
      <p:sp>
        <p:nvSpPr>
          <p:cNvPr id="53" name="Shape 51"/>
          <p:cNvSpPr/>
          <p:nvPr/>
        </p:nvSpPr>
        <p:spPr>
          <a:xfrm>
            <a:off x="8278368" y="2490216"/>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3"/>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رُوتِينُ أُخْتِهِ</a:t>
            </a:r>
            <a:endParaRPr lang="ar-SA" sz="1700" dirty="0"/>
          </a:p>
        </p:txBody>
      </p:sp>
      <p:sp>
        <p:nvSpPr>
          <p:cNvPr id="56" name="Shape 54"/>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5"/>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6"/>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رُوتِينُ الكَاتِبِ</a:t>
            </a:r>
            <a:endParaRPr lang="ar-SA" sz="1700" dirty="0"/>
          </a:p>
        </p:txBody>
      </p:sp>
      <p:sp>
        <p:nvSpPr>
          <p:cNvPr id="59" name="Shape 57"/>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60" name="Shape 58"/>
          <p:cNvSpPr/>
          <p:nvPr/>
        </p:nvSpPr>
        <p:spPr>
          <a:xfrm>
            <a:off x="8278368" y="3233928"/>
            <a:ext cx="256032" cy="256032"/>
          </a:xfrm>
          <a:prstGeom prst="ellipse">
            <a:avLst/>
          </a:prstGeom>
          <a:solidFill>
            <a:srgbClr val="2E8B57"/>
          </a:solidFill>
          <a:ln w="12700">
            <a:solidFill>
              <a:srgbClr val="2E8B57"/>
            </a:solidFill>
            <a:prstDash val="solid"/>
          </a:ln>
        </p:spPr>
      </p:sp>
      <p:sp>
        <p:nvSpPr>
          <p:cNvPr id="61" name="Text 59"/>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2" name="Text 60"/>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رُوتِينُ خَالِدٍ</a:t>
            </a:r>
            <a:endParaRPr lang="ar-SA" sz="1700" dirty="0"/>
          </a:p>
        </p:txBody>
      </p:sp>
      <p:sp>
        <p:nvSpPr>
          <p:cNvPr id="63" name="Text 61"/>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suffix </a:t>
            </a:r>
            <a:pPr algn="l" indent="0" marL="0">
              <a:buNone/>
            </a:pPr>
            <a:r>
              <a:rPr lang="ar-SA" altLang="en-US" sz="1350" dirty="0">
                <a:solidFill>
                  <a:srgbClr val="8A6D1E"/>
                </a:solidFill>
                <a:latin typeface="Amiri" pitchFamily="2" charset="-78"/>
                <a:ea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refers back to Khalid.</a:t>
            </a:r>
            <a:endParaRPr lang="en-US" sz="1050" dirty="0"/>
          </a:p>
        </p:txBody>
      </p:sp>
      <p:sp>
        <p:nvSpPr>
          <p:cNvPr id="64" name="Shape 6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3"/>
          <p:cNvSpPr/>
          <p:nvPr/>
        </p:nvSpPr>
        <p:spPr>
          <a:xfrm>
            <a:off x="585216" y="4288536"/>
            <a:ext cx="310896" cy="310896"/>
          </a:xfrm>
          <a:prstGeom prst="ellipse">
            <a:avLst/>
          </a:prstGeom>
          <a:solidFill>
            <a:srgbClr val="1B3B6F"/>
          </a:solidFill>
          <a:ln w="12700">
            <a:solidFill>
              <a:srgbClr val="1B3B6F"/>
            </a:solidFill>
            <a:prstDash val="solid"/>
          </a:ln>
        </p:spPr>
      </p:sp>
      <p:sp>
        <p:nvSpPr>
          <p:cNvPr id="66" name="Text 6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7" name="Text 6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68" name="Text 66"/>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يَبْدَأُ النَّادِي فِي الخَامِسَةِ وَالنِّصْفِ وَيَنْتَهِي فِي السَّادِسَةِ وَالرُّبْعِ</a:t>
            </a:r>
            <a:pPr algn="l" indent="0" marL="0">
              <a:buNone/>
            </a:pPr>
            <a:r>
              <a:rPr lang="en-US" sz="1000" b="1" dirty="0">
                <a:solidFill>
                  <a:srgbClr val="1F2A37"/>
                </a:solidFill>
                <a:latin typeface="Calibri" pitchFamily="34" charset="0"/>
                <a:cs typeface="Amiri" pitchFamily="2" charset="-78"/>
              </a:rPr>
              <a:t>. How long does it last?</a:t>
            </a:r>
            <a:endParaRPr lang="en-US" sz="1000" dirty="0"/>
          </a:p>
        </p:txBody>
      </p:sp>
      <p:sp>
        <p:nvSpPr>
          <p:cNvPr id="69" name="Shape 67"/>
          <p:cNvSpPr/>
          <p:nvPr/>
        </p:nvSpPr>
        <p:spPr>
          <a:xfrm>
            <a:off x="640080" y="4831080"/>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9"/>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نِصْفُ سَاعَةٍ</a:t>
            </a:r>
            <a:endParaRPr lang="ar-SA" sz="1700" dirty="0"/>
          </a:p>
        </p:txBody>
      </p:sp>
      <p:sp>
        <p:nvSpPr>
          <p:cNvPr id="72" name="Shape 70"/>
          <p:cNvSpPr/>
          <p:nvPr/>
        </p:nvSpPr>
        <p:spPr>
          <a:xfrm>
            <a:off x="640080" y="5202936"/>
            <a:ext cx="256032" cy="256032"/>
          </a:xfrm>
          <a:prstGeom prst="ellipse">
            <a:avLst/>
          </a:prstGeom>
          <a:solidFill>
            <a:srgbClr val="C9CED6"/>
          </a:solidFill>
          <a:ln w="12700">
            <a:solidFill>
              <a:srgbClr val="C9CED6"/>
            </a:solidFill>
            <a:prstDash val="solid"/>
          </a:ln>
        </p:spPr>
      </p:sp>
      <p:sp>
        <p:nvSpPr>
          <p:cNvPr id="73" name="Text 7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2"/>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سَاعَةٌ وَنِصْفٌ</a:t>
            </a:r>
            <a:endParaRPr lang="ar-SA" sz="1700" dirty="0"/>
          </a:p>
        </p:txBody>
      </p:sp>
      <p:sp>
        <p:nvSpPr>
          <p:cNvPr id="75" name="Shape 73"/>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6" name="Shape 74"/>
          <p:cNvSpPr/>
          <p:nvPr/>
        </p:nvSpPr>
        <p:spPr>
          <a:xfrm>
            <a:off x="640080" y="5574792"/>
            <a:ext cx="256032" cy="256032"/>
          </a:xfrm>
          <a:prstGeom prst="ellipse">
            <a:avLst/>
          </a:prstGeom>
          <a:solidFill>
            <a:srgbClr val="2E8B57"/>
          </a:solidFill>
          <a:ln w="12700">
            <a:solidFill>
              <a:srgbClr val="2E8B57"/>
            </a:solidFill>
            <a:prstDash val="solid"/>
          </a:ln>
        </p:spPr>
      </p:sp>
      <p:sp>
        <p:nvSpPr>
          <p:cNvPr id="77" name="Text 7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8" name="Text 76"/>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خَمْسٌ وَأَرْبَعُونَ دَقِيقَةً</a:t>
            </a:r>
            <a:endParaRPr lang="ar-SA" sz="1700" dirty="0"/>
          </a:p>
        </p:txBody>
      </p:sp>
      <p:sp>
        <p:nvSpPr>
          <p:cNvPr id="79" name="Text 77"/>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interval from 5:30 to 6:15 is forty-five minutes.</a:t>
            </a:r>
            <a:endParaRPr lang="en-US" sz="1050" dirty="0"/>
          </a:p>
        </p:txBody>
      </p:sp>
      <p:sp>
        <p:nvSpPr>
          <p:cNvPr id="80" name="Shape 7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9"/>
          <p:cNvSpPr/>
          <p:nvPr/>
        </p:nvSpPr>
        <p:spPr>
          <a:xfrm>
            <a:off x="4404360" y="4288536"/>
            <a:ext cx="310896" cy="310896"/>
          </a:xfrm>
          <a:prstGeom prst="ellipse">
            <a:avLst/>
          </a:prstGeom>
          <a:solidFill>
            <a:srgbClr val="1B3B6F"/>
          </a:solidFill>
          <a:ln w="12700">
            <a:solidFill>
              <a:srgbClr val="1B3B6F"/>
            </a:solidFill>
            <a:prstDash val="solid"/>
          </a:ln>
        </p:spPr>
      </p:sp>
      <p:sp>
        <p:nvSpPr>
          <p:cNvPr id="82" name="Text 8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3" name="Text 8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84" name="Text 82"/>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يَذْهَبُ سَامِرٌ إِلَى النَّادِي ثَلَاثَ مَرَّاتٍ، وَلَا يَذْهَبُ يَوْمَ الجُمُعَةِ</a:t>
            </a:r>
            <a:pPr algn="l" indent="0" marL="0">
              <a:buNone/>
            </a:pPr>
            <a:r>
              <a:rPr lang="en-US" sz="1000" b="1" dirty="0">
                <a:solidFill>
                  <a:srgbClr val="1F2A37"/>
                </a:solidFill>
                <a:latin typeface="Calibri" pitchFamily="34" charset="0"/>
                <a:cs typeface="Amiri" pitchFamily="2" charset="-78"/>
              </a:rPr>
              <a:t>. Which statement is supported?</a:t>
            </a:r>
            <a:endParaRPr lang="en-US" sz="1000" dirty="0"/>
          </a:p>
        </p:txBody>
      </p:sp>
      <p:sp>
        <p:nvSpPr>
          <p:cNvPr id="85" name="Shape 83"/>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6" name="Shape 84"/>
          <p:cNvSpPr/>
          <p:nvPr/>
        </p:nvSpPr>
        <p:spPr>
          <a:xfrm>
            <a:off x="4459224" y="4831080"/>
            <a:ext cx="256032" cy="256032"/>
          </a:xfrm>
          <a:prstGeom prst="ellipse">
            <a:avLst/>
          </a:prstGeom>
          <a:solidFill>
            <a:srgbClr val="2E8B57"/>
          </a:solidFill>
          <a:ln w="12700">
            <a:solidFill>
              <a:srgbClr val="2E8B57"/>
            </a:solidFill>
            <a:prstDash val="solid"/>
          </a:ln>
        </p:spPr>
      </p:sp>
      <p:sp>
        <p:nvSpPr>
          <p:cNvPr id="87" name="Text 85"/>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8" name="Text 86"/>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سَامِرٌ يَذْهَبُ إِلَى النَّادِي ثَلَاثَ مَرَّاتٍ فِي الأُسْبُوعِ.</a:t>
            </a:r>
            <a:endParaRPr lang="ar-SA" sz="1400" dirty="0"/>
          </a:p>
        </p:txBody>
      </p:sp>
      <p:sp>
        <p:nvSpPr>
          <p:cNvPr id="89" name="Shape 87"/>
          <p:cNvSpPr/>
          <p:nvPr/>
        </p:nvSpPr>
        <p:spPr>
          <a:xfrm>
            <a:off x="4459224" y="5202936"/>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9"/>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سَامِرٌ يَذْهَبُ إِلَى النَّادِي يَوْمِيًّا.</a:t>
            </a:r>
            <a:endParaRPr lang="ar-SA" sz="1400" dirty="0"/>
          </a:p>
        </p:txBody>
      </p:sp>
      <p:sp>
        <p:nvSpPr>
          <p:cNvPr id="92" name="Shape 90"/>
          <p:cNvSpPr/>
          <p:nvPr/>
        </p:nvSpPr>
        <p:spPr>
          <a:xfrm>
            <a:off x="4459224" y="5574792"/>
            <a:ext cx="256032" cy="256032"/>
          </a:xfrm>
          <a:prstGeom prst="ellipse">
            <a:avLst/>
          </a:prstGeom>
          <a:solidFill>
            <a:srgbClr val="C9CED6"/>
          </a:solidFill>
          <a:ln w="12700">
            <a:solidFill>
              <a:srgbClr val="C9CED6"/>
            </a:solidFill>
            <a:prstDash val="solid"/>
          </a:ln>
        </p:spPr>
      </p:sp>
      <p:sp>
        <p:nvSpPr>
          <p:cNvPr id="93" name="Text 91"/>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2"/>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سَامِرٌ لَا يَذْهَبُ إِلَى النَّادِي أَبَدًا.</a:t>
            </a:r>
            <a:endParaRPr lang="ar-SA" sz="1400" dirty="0"/>
          </a:p>
        </p:txBody>
      </p:sp>
      <p:sp>
        <p:nvSpPr>
          <p:cNvPr id="95" name="Text 9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exact frequency given is three times; the Friday detail prevents an incorrect “daily” inference.</a:t>
            </a:r>
            <a:endParaRPr lang="en-US" sz="1050" dirty="0"/>
          </a:p>
        </p:txBody>
      </p:sp>
      <p:sp>
        <p:nvSpPr>
          <p:cNvPr id="96" name="Shape 94"/>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7" name="Shape 95"/>
          <p:cNvSpPr/>
          <p:nvPr/>
        </p:nvSpPr>
        <p:spPr>
          <a:xfrm>
            <a:off x="8223504" y="4288536"/>
            <a:ext cx="310896" cy="310896"/>
          </a:xfrm>
          <a:prstGeom prst="ellipse">
            <a:avLst/>
          </a:prstGeom>
          <a:solidFill>
            <a:srgbClr val="1B3B6F"/>
          </a:solidFill>
          <a:ln w="12700">
            <a:solidFill>
              <a:srgbClr val="1B3B6F"/>
            </a:solidFill>
            <a:prstDash val="solid"/>
          </a:ln>
        </p:spPr>
      </p:sp>
      <p:sp>
        <p:nvSpPr>
          <p:cNvPr id="98" name="Text 96"/>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9" name="Text 97"/>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Which sentence is the strongest evidence for “The writer has an organised routine”?</a:t>
            </a:r>
            <a:endParaRPr lang="en-US" sz="1150" dirty="0"/>
          </a:p>
        </p:txBody>
      </p:sp>
      <p:sp>
        <p:nvSpPr>
          <p:cNvPr id="100" name="Shape 98"/>
          <p:cNvSpPr/>
          <p:nvPr/>
        </p:nvSpPr>
        <p:spPr>
          <a:xfrm>
            <a:off x="8278368" y="4831080"/>
            <a:ext cx="256032" cy="256032"/>
          </a:xfrm>
          <a:prstGeom prst="ellipse">
            <a:avLst/>
          </a:prstGeom>
          <a:solidFill>
            <a:srgbClr val="C9CED6"/>
          </a:solidFill>
          <a:ln w="12700">
            <a:solidFill>
              <a:srgbClr val="C9CED6"/>
            </a:solidFill>
            <a:prstDash val="solid"/>
          </a:ln>
        </p:spPr>
      </p:sp>
      <p:sp>
        <p:nvSpPr>
          <p:cNvPr id="101" name="Text 99"/>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2" name="Text 100"/>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فِي رَأْيِي الرُّوتِينُ جَيِّدٌ.</a:t>
            </a:r>
            <a:endParaRPr lang="ar-SA" sz="1500" dirty="0"/>
          </a:p>
        </p:txBody>
      </p:sp>
      <p:sp>
        <p:nvSpPr>
          <p:cNvPr id="103" name="Shape 101"/>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4" name="Shape 102"/>
          <p:cNvSpPr/>
          <p:nvPr/>
        </p:nvSpPr>
        <p:spPr>
          <a:xfrm>
            <a:off x="8278368" y="5202936"/>
            <a:ext cx="256032" cy="256032"/>
          </a:xfrm>
          <a:prstGeom prst="ellipse">
            <a:avLst/>
          </a:prstGeom>
          <a:solidFill>
            <a:srgbClr val="2E8B57"/>
          </a:solidFill>
          <a:ln w="12700">
            <a:solidFill>
              <a:srgbClr val="2E8B57"/>
            </a:solidFill>
            <a:prstDash val="solid"/>
          </a:ln>
        </p:spPr>
      </p:sp>
      <p:sp>
        <p:nvSpPr>
          <p:cNvPr id="105" name="Text 103"/>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6" name="Text 104"/>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يُحَضِّرُ حَقِيبَتَهُ لَيْلًا وَيَضْبِطُ مُنَبِّهَهُ قَبْلَ النَّوْمِ.</a:t>
            </a:r>
            <a:endParaRPr lang="ar-SA" sz="1500" dirty="0"/>
          </a:p>
        </p:txBody>
      </p:sp>
      <p:sp>
        <p:nvSpPr>
          <p:cNvPr id="107" name="Shape 105"/>
          <p:cNvSpPr/>
          <p:nvPr/>
        </p:nvSpPr>
        <p:spPr>
          <a:xfrm>
            <a:off x="8278368" y="5574792"/>
            <a:ext cx="256032" cy="256032"/>
          </a:xfrm>
          <a:prstGeom prst="ellipse">
            <a:avLst/>
          </a:prstGeom>
          <a:solidFill>
            <a:srgbClr val="C9CED6"/>
          </a:solidFill>
          <a:ln w="12700">
            <a:solidFill>
              <a:srgbClr val="C9CED6"/>
            </a:solidFill>
            <a:prstDash val="solid"/>
          </a:ln>
        </p:spPr>
      </p:sp>
      <p:sp>
        <p:nvSpPr>
          <p:cNvPr id="108" name="Text 106"/>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9" name="Text 107"/>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الرُّوتِينُ كَلِمَةٌ مُهِمَّةٌ.</a:t>
            </a:r>
            <a:endParaRPr lang="ar-SA" sz="1500" dirty="0"/>
          </a:p>
        </p:txBody>
      </p:sp>
      <p:sp>
        <p:nvSpPr>
          <p:cNvPr id="110" name="Text 10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Specific actions from the text provide evidence; a general opinion does not prove the conclusion.</a:t>
            </a:r>
            <a:endParaRPr lang="en-US" sz="1050" dirty="0"/>
          </a:p>
        </p:txBody>
      </p:sp>
      <p:sp>
        <p:nvSpPr>
          <p:cNvPr id="111" name="Text 10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Reading Schedules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D1-L10: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D1-L10 · Listening — Daily Routine and Time Details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أَتَوَقَّعُ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predict</a:t>
            </a:r>
            <a:pPr indent="0" marL="0">
              <a:buNone/>
            </a:pPr>
            <a:r>
              <a:rPr lang="ar-SA" sz="1000" i="1" dirty="0">
                <a:solidFill>
                  <a:srgbClr val="5A6472"/>
                </a:solidFill>
                <a:latin typeface="Calibri" pitchFamily="34" charset="0"/>
                <a:ea typeface="Amiri" pitchFamily="2" charset="-78"/>
                <a:cs typeface="Amiri" pitchFamily="2" charset="-78"/>
              </a:rPr>
              <a:t>  he: يَتَوَقَّعُ</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كَلِمَةٌ مِفْتَاحِيَّةٌ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key word</a:t>
            </a:r>
            <a:pPr indent="0" marL="0">
              <a:buNone/>
            </a:pPr>
            <a:r>
              <a:rPr lang="ar-SA" sz="1000" i="1" dirty="0">
                <a:solidFill>
                  <a:srgbClr val="5A6472"/>
                </a:solidFill>
                <a:latin typeface="Calibri" pitchFamily="34" charset="0"/>
                <a:ea typeface="Amiri" pitchFamily="2" charset="-78"/>
                <a:cs typeface="Amiri" pitchFamily="2" charset="-78"/>
              </a:rPr>
              <a:t>  pl.: كَلِمَاتٌ مِفْتَاحِيَّةٌ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أُرَكِّزُ عَلَى</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focus on</a:t>
            </a:r>
            <a:pPr indent="0" marL="0">
              <a:buNone/>
            </a:pPr>
            <a:r>
              <a:rPr lang="ar-SA" sz="1000" i="1" dirty="0">
                <a:solidFill>
                  <a:srgbClr val="5A6472"/>
                </a:solidFill>
                <a:latin typeface="Calibri" pitchFamily="34" charset="0"/>
                <a:ea typeface="Amiri" pitchFamily="2" charset="-78"/>
                <a:cs typeface="Amiri" pitchFamily="2" charset="-78"/>
              </a:rPr>
              <a:t>  he: يُرَكِّزُ</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مُشَتِّتٌ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distractor</a:t>
            </a:r>
            <a:pPr indent="0" marL="0">
              <a:buNone/>
            </a:pPr>
            <a:r>
              <a:rPr lang="ar-SA" sz="1000" i="1" dirty="0">
                <a:solidFill>
                  <a:srgbClr val="5A6472"/>
                </a:solidFill>
                <a:latin typeface="Calibri" pitchFamily="34" charset="0"/>
                <a:ea typeface="Amiri" pitchFamily="2" charset="-78"/>
                <a:cs typeface="Amiri" pitchFamily="2" charset="-78"/>
              </a:rPr>
              <a:t>  pl.: مُشَتِّتَاتٌ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التَّفْصِيلُ الدَّقِيقُ</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precise detail</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When you listen to Arabic, what helps you most? Think of two strategies.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مَتَى يَبْدَأُ يَوْمُكَ؟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D1-L09: the sorter “Which evidence answers the question?” and the final check.</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reading: answer all 8 questions, writing the Arabic evidence for each.</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comparing two routines with evidence.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D1-L10 · Listening — Daily Routine and Time Details</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find WHO and WHICH event before you choose a number.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D1-L09 · Reading Daily Routines and Weekly Schedules</dc:title>
  <dc:subject>PptxGenJS Presentation</dc:subject>
  <dc:creator>Al Madina Online School · Arabic Department</dc:creator>
  <cp:lastModifiedBy>Al Madina Online School · Arabic Department</cp:lastModifiedBy>
  <cp:revision>1</cp:revision>
  <dcterms:created xsi:type="dcterms:W3CDTF">2026-10-11T06:40:30Z</dcterms:created>
  <dcterms:modified xsi:type="dcterms:W3CDTF">2026-10-11T06:40:30Z</dcterms:modified>
</cp:coreProperties>
</file>