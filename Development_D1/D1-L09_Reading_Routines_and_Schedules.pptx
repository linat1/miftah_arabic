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D1-L09. The website lesson “Reading Daily Routines and Weekly Schedules”: vocabulary, grammar rules and quiz, patterns, common mistakes, sorter, listening, reading, speaking prompts and model, writing task and model, differentiation, final check and the lesson mission. Picture match: website visual game “Reading Daily Routines and Weekly Schedules”.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reading (a schedule + an email) is the main You Do task, not an extension. Grammar is taught as “reading signals”.
• Core: the schedule only (6 details: day, activity, start, finish) + reading questions 1, 2 and 4. Develop: the email as well + questions 3, 5, 7. Stretch: all 8, including pronoun reference (Q6) and the contrast (Q8).
• SEND: the schedule is rebuilt as a clean table on its own slide; students may cover the email while they work on it.
• Urdu bridge: جدول، مدت، نتیجہ (→ يَسْتَنْتِجُ)، دلیل، ملاحظہ.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retrieve D1-L08 (أَمَّا … فَـ), D1-L02 (time with إِلَّا) and D1-L06 (she + her).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pick a number just because you see it. First find WHO and WHICH event, then the exact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جدول (table) → جَدْوَلٌ أُسْبُوعِيٌّ. مدت → المُدَّةُ. دلیل (proof, argument) → الدَّلِيلُ (evidence). ملاحظہ (inspection, observation) → مُلَاحَظَةٌ (a note). نتیجہ (result) comes from the same root as يَسْتَنْتِجُ (infers, concludes) — students can guess the verb from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Routine texts and schedules (website vocabulary (1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Routine texts and schedules (website vocabulary (2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evidence (website vocabulary (1 of 2)). Hear → Say → See → Use. Transliteration is printed for Core students (cover it for Develop/Stretch).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evidence (website vocabulary (2 of 2)). Hear → Say → See → Use. Transliteration is printed for Core students (cover it for Develop/Stretch).
FLEX: teach if time allows; otherwise these are on the website vocabulary tab for homework.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“Reading signal · What it tells you · Example question” and rules “Track the subject through the present-tense prefix” and “Track pronoun suffixes to the nearest logical noun”.
Teacher script: “Grammar is your detective kit. The first letter of the verb tells you WHO. The little word before a time tells you WHAT KIND of time.”
Website common error: choosing a number because it appears — first identify the event,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“Use time and frequency expressions as evidence”: numbers are distractors unless they answer the exact question; link every time or number to its event.
Quick maths for durations: from five to six = one hour; from 5:30 to 6:15 = 45 minutes (website mission round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“Grammar helps a reader identify who acts, when an event happens and how one sentence connects to the next. Track prefixes, suffixes, schedule verbs and contrast markers as evidence.”
• Track the subject through the present-tense prefix: Use the prefix and any named subject to identify the person before selecting an answer.
• Track pronoun suffixes to the nearest logical noun: Ask which earlier noun matches the gender and meaning of the suffix or demonstrative.
• Use time and frequency expressions as evidence: Numbers are distractors unless they answer the exact question. Link every time or number to its event.
• Follow sequence and contrast markers: These markers show order or difference and often change which detail answers the question.
Website common error: Do not choose a number simply because it appears in the text. First identify which event the question asks about,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reading question 2 (the website speaking model uses the same example). Four steps students will copy for every question: question → row → exact detail → answer +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and change the time. • Develop: copy sentence 2 and change the people. • Stretch: write your own “the pronoun refers to …” sentence about a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2–5 (answer options given in English for Core access). Model the detective steps on Q1: the text has TWO times; only one belongs to waking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out the Arabic words that prove it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المُتَحَدِّثُ الأَوَّلُ: يَبْدَأُ يَوْمِي فِي السَّادِسَةِ وَالنِّصْفِ، وَأَخْرُجُ مِنَ البَيْتِ فِي السَّابِعَةِ وَالرُّبْعِ. أَذْهَبُ إِلَى نَادِي الحَاسُوبِ يَوْمَ الثُّلَاثَاءِ، وَهُوَ يَسْتَمِرُّ مِنَ الخَامِسَةِ إِلَى السَّادِسَةِ.
المُتَحَدِّثَةُ الثَّانِيَةُ: أَعُودُ إِلَى البَيْتِ فِي الرَّابِعَةِ، بَيْنَمَا تَعُودُ أُخْتِي فِي الثَّالِثَةِ وَالنِّصْفِ. أَتَمَرَّنُ مَرَّتَيْنِ فِي الأُسْبُوعِ، أَمَّا يَوْمُ الخَمِيسِ فَأَدْرُسُ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PART 1 (2 min). The website schedule rebuilt as a table (Monday swimming 4–5; Tuesday computer club 5:30; Wednesday no activity; Thursday Arabic 6:00–6:45).
Core: fill in start / finish / duration in numbers (Monday 1 hour; Thursday 45 minutes; Tuesday: start only — no finish given!).
Ask Develop: “Which day is calmest? What is your evidence?” (Wednesday: لَا نَشَاطَ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3 min to read). The email from the website reading. Students have the schedule on the previous slide.
Core: questions 1, 2, 4 (schedule only). Develop: + 3, 5, 7. Stretch: all, including 6 (what does هُوَ refer to?) and 8 (the contrast).
SEND: cover the text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الدَّلِيلُ مَوْجُودٌ فِي خَانَةِ يَوْمِ الخَمِيسِ فِي الجَدْوَلِ. (The evidence is in the Thursday cell of the schedule.)
Website prompts and model (the model continues: “What is the evidence?” — “The evidence is in the Thursday cell of the schedule.”). Pairs explain HOW they found one answer — this is the reading strategy spoken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Locate and record six exact details from a routine and a schedule. · Develop — Explain two pronoun references and compare two routines with evidence. · Stretch — Write a concise inference that combines time, frequency, person and contrast evidence.
Website writing task (Stretch): Write 100–120 words comparing two daily routines or weekly schedules. Include exact times, frequency, sequence, person reference and at least two pieces of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مِنَ السَّادِسَةِ إِلَى السَّابِعَةِ إِلَّا الرُّبْعَ · تَعُودُ، تَذْهَبُ / يَعُودُ، يَلْعَبُ · الدَّلِيلُ عَلَى أَنَّ … هُوَ أَنَّهَا تُحَضِّرُ حَقِيبَتَهَا لَيْلًا · بَيْنَمَا، أَمَّا … فَـ، فِي المُقَابِلِ.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(D1-L10 · Listening — Daily Routine and Time Details) will spend class time USING this language, so students prepare it tonight — short, simple, easy to access (school guidance: “Simple, Short, Interesting, Relevant, Easy to access”). The five words come from the website D1-L10 vocabulary (listening process and strategy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Daily Routines and Weekly Schedules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قِرَاءَةُ الرُّوتِينِ اليَوْمِيِّ وَالجَدَاوِلِ الأُسْبُوعِيَّةِ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 weekly schedule and a routine email like a detective: find the right row and day, track WHO with prefixes and suffixes, and match each number to the exact event before answering.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D1-L09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signals: who, when, how long,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Evidence detective, sort the evidence,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حَسَبَ الجَدْوَلِ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 the schedule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weekly programme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مَوْعِدُ الاِنْتِهَاءِ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duration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أَمَّا يَوْمُ الأَحَدِ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أُخَطِّطُ لِلْأُسْبُوعِ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6:45?</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٦:٤٥</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إِلَّا الرُّبْعَ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الرُّبْعَ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تُحَضِّرُ حَقِيبَتَهَا</a:t>
            </a:r>
            <a:pPr algn="l" indent="0" marL="0">
              <a:buNone/>
            </a:pPr>
            <a:r>
              <a:rPr lang="en-US" sz="1250" b="1" dirty="0">
                <a:solidFill>
                  <a:srgbClr val="1B3B6F"/>
                </a:solidFill>
                <a:latin typeface="Calibri" pitchFamily="34" charset="0"/>
                <a:cs typeface="Amiri" pitchFamily="2" charset="-78"/>
              </a:rPr>
              <a:t>, who prepares the bag?</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girl / woman</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boy / man</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حَسَبَ الجَدْوَلِ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the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according to the schedule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weekly programme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مَوْعِدُ الاِنْتِهَاءِ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finish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duration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أَمَّا يَوْمُ الأَحَدِ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أُخَطِّطُ لِلْأُسْبُوعِ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D1-L08: as for … fa-.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6:45?</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٦:٤٥</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السَّادِسَةُ إِلَّا الرُّبْعَ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السَّادِسَةُ وَالرُّبْعُ</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السَّابِعَةُ إِلَّا الرُّبْعَ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the NEXT hour with </a:t>
            </a:r>
            <a:pPr algn="l" indent="0" marL="0">
              <a:buNone/>
            </a:pPr>
            <a:r>
              <a:rPr lang="ar-SA" altLang="en-US" sz="1350" dirty="0">
                <a:solidFill>
                  <a:srgbClr val="8A6D1E"/>
                </a:solidFill>
                <a:latin typeface="Amiri" pitchFamily="2" charset="-78"/>
                <a:ea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تُحَضِّرُ حَقِيبَتَهَا</a:t>
            </a:r>
            <a:pPr algn="l" indent="0" marL="0">
              <a:buNone/>
            </a:pPr>
            <a:r>
              <a:rPr lang="en-US" sz="1250" b="1" dirty="0">
                <a:solidFill>
                  <a:srgbClr val="1B3B6F"/>
                </a:solidFill>
                <a:latin typeface="Calibri" pitchFamily="34" charset="0"/>
                <a:cs typeface="Amiri" pitchFamily="2" charset="-78"/>
              </a:rPr>
              <a:t>, who prepares the bag?</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girl / woman</a:t>
            </a:r>
            <a:endParaRPr lang="en-US" sz="12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boy / man</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D1-L06: tu- + -hā.</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Don’t pick a number just because you see it. First find WHO and WHICH event, then the exact time.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تَعُودُ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مَرْيَمُ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فِي الرَّابِعَةِ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بَيْنَمَا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يَعُودُ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أَخُوهَا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فِي الخَامِسَةِ</a:t>
            </a:r>
            <a:pPr rtl="1" algn="ctr" indent="0" marL="0">
              <a:lnSpc>
                <a:spcPct val="120000"/>
              </a:lnSpc>
              <a:buNone/>
            </a:pPr>
            <a:r>
              <a:rPr lang="ar-SA" altLang="en-US" sz="1950" b="1" dirty="0">
                <a:solidFill>
                  <a:srgbClr val="1B3B6F"/>
                </a:solidFill>
                <a:latin typeface="Amiri" pitchFamily="2" charset="-78"/>
                <a:cs typeface="Amiri" pitchFamily="2" charset="-78"/>
              </a:rPr>
              <a:t>.</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Scan a daily-routine text and weekly schedule for exact information.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person, time, frequency and sequence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pronoun reference and contrast markers to infer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Summarise and compare two routines using precise textual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 day, a start time and a finish time in a schedule.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reading questions 1, 2 and 4.</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does an action from the prefix (</a:t>
            </a:r>
            <a:pPr algn="l" indent="0" marL="0">
              <a:buNone/>
            </a:pPr>
            <a:r>
              <a:rPr lang="ar-SA" altLang="en-US" sz="1700" b="1" dirty="0">
                <a:solidFill>
                  <a:srgbClr val="C9780A"/>
                </a:solidFill>
                <a:latin typeface="Amiri" pitchFamily="2" charset="-78"/>
                <a:ea typeface="Amiri" pitchFamily="2" charset="-78"/>
                <a:cs typeface="Amiri" pitchFamily="2" charset="-78"/>
              </a:rPr>
              <a:t>تَـ / يَـ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work out a duration from two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a pronoun refers to.</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routines with exact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Routine texts and schedules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Reading evidence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Time, frequency and connection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جَدْوَلٌ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‎جدول‎ </a:t>
            </a:r>
            <a:pPr indent="0" marL="0">
              <a:buNone/>
            </a:pPr>
            <a:r>
              <a:rPr lang="en-US" sz="950" b="1" dirty="0">
                <a:solidFill>
                  <a:srgbClr val="2E8B57"/>
                </a:solidFill>
                <a:latin typeface="Calibri" pitchFamily="34" charset="0"/>
                <a:cs typeface="Amiri" pitchFamily="2" charset="-78"/>
              </a:rPr>
              <a:t> jadwal · table, schedule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duration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مُلَاحَظَةٌ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‎ملاحظہ‎ </a:t>
            </a:r>
            <a:pPr indent="0" marL="0">
              <a:buNone/>
            </a:pPr>
            <a:r>
              <a:rPr lang="en-US" sz="950" b="1" dirty="0">
                <a:solidFill>
                  <a:srgbClr val="2E8B57"/>
                </a:solidFill>
                <a:latin typeface="Calibri" pitchFamily="34" charset="0"/>
                <a:cs typeface="Amiri" pitchFamily="2" charset="-78"/>
              </a:rPr>
              <a:t> mulāḥaza · observation, note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يَسْتَنْتِجُ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 → to conclude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Routine texts and schedules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أُسْبُوعِيٌّ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jad-wa-lun us-bū-ʿiy-yun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جَدَاوِلُ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الجَدْوَلُ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بَرْنَامَجٌ يَوْمِيٌّ</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 programme / routine</a:t>
            </a:r>
            <a:endParaRPr lang="en-US" sz="1350" dirty="0"/>
          </a:p>
          <a:p>
            <a:pPr indent="0" marL="0">
              <a:buNone/>
            </a:pPr>
            <a:r>
              <a:rPr lang="en-US" sz="1100" i="1" dirty="0">
                <a:solidFill>
                  <a:srgbClr val="5A6472"/>
                </a:solidFill>
                <a:latin typeface="Calibri" pitchFamily="34" charset="0"/>
                <a:cs typeface="Amiri" pitchFamily="2" charset="-78"/>
              </a:rPr>
              <a:t>bar-nā-ma-jun yaw-miy-yun</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مُدَوَّنَةٌ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6" name="Shape 43"/>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إِلِكْتِرُونِيَّةٌ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email</a:t>
            </a:r>
            <a:endParaRPr lang="en-US" sz="1350" dirty="0"/>
          </a:p>
          <a:p>
            <a:pPr indent="0" marL="0">
              <a:buNone/>
            </a:pPr>
            <a:r>
              <a:rPr lang="en-US" sz="1100" i="1" dirty="0">
                <a:solidFill>
                  <a:srgbClr val="5A6472"/>
                </a:solidFill>
                <a:latin typeface="Calibri" pitchFamily="34" charset="0"/>
                <a:cs typeface="Amiri" pitchFamily="2" charset="-78"/>
              </a:rPr>
              <a:t>ri-sā-la-tun i-lik-ti-rū-niy-ya-tun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رَسَائِلُ</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الرِّسَالَةُ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رِسَالَةٌ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البَدْءِ</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start time</a:t>
            </a:r>
            <a:endParaRPr lang="en-US" sz="1350" dirty="0"/>
          </a:p>
          <a:p>
            <a:pPr indent="0" marL="0">
              <a:buNone/>
            </a:pPr>
            <a:r>
              <a:rPr lang="en-US" sz="1100" i="1" dirty="0">
                <a:solidFill>
                  <a:srgbClr val="5A6472"/>
                </a:solidFill>
                <a:latin typeface="Calibri" pitchFamily="34" charset="0"/>
                <a:cs typeface="Amiri" pitchFamily="2" charset="-78"/>
              </a:rPr>
              <a:t>maw-ʿi-du al-bad-ʾi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Routine texts and schedules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الاِنْتِهَاءِ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finish time</a:t>
            </a:r>
            <a:endParaRPr lang="en-US" sz="1350" dirty="0"/>
          </a:p>
          <a:p>
            <a:pPr indent="0" marL="0">
              <a:buNone/>
            </a:pPr>
            <a:r>
              <a:rPr lang="en-US" sz="1100" i="1" dirty="0">
                <a:solidFill>
                  <a:srgbClr val="5A6472"/>
                </a:solidFill>
                <a:latin typeface="Calibri" pitchFamily="34" charset="0"/>
                <a:cs typeface="Amiri" pitchFamily="2" charset="-78"/>
              </a:rPr>
              <a:t>maw-ʿi-du aln-ti-hā-ʾi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al-mud-da-tu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النَّشَاطُ</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activity</a:t>
            </a:r>
            <a:endParaRPr lang="en-US" sz="1350" dirty="0"/>
          </a:p>
          <a:p>
            <a:pPr indent="0" marL="0">
              <a:buNone/>
            </a:pPr>
            <a:r>
              <a:rPr lang="en-US" sz="1100" i="1" dirty="0">
                <a:solidFill>
                  <a:srgbClr val="5A6472"/>
                </a:solidFill>
                <a:latin typeface="Calibri" pitchFamily="34" charset="0"/>
                <a:cs typeface="Amiri" pitchFamily="2" charset="-78"/>
              </a:rPr>
              <a:t>an-na-shā-ṭu</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الأَنْشِطَةُ</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النَّشَاطُ</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نَشَاطٌ</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خَانَةٌ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box / cell in a table</a:t>
            </a:r>
            <a:endParaRPr lang="en-US" sz="1350" dirty="0"/>
          </a:p>
          <a:p>
            <a:pPr indent="0" marL="0">
              <a:buNone/>
            </a:pPr>
            <a:r>
              <a:rPr lang="en-US" sz="1100" i="1" dirty="0">
                <a:solidFill>
                  <a:srgbClr val="5A6472"/>
                </a:solidFill>
                <a:latin typeface="Calibri" pitchFamily="34" charset="0"/>
                <a:cs typeface="Amiri" pitchFamily="2" charset="-78"/>
              </a:rPr>
              <a:t>khā-na-tun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مُلَاحَظَةٌ</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note</a:t>
            </a:r>
            <a:endParaRPr lang="en-US" sz="1350" dirty="0"/>
          </a:p>
          <a:p>
            <a:pPr indent="0" marL="0">
              <a:buNone/>
            </a:pPr>
            <a:r>
              <a:rPr lang="en-US" sz="1100" i="1" dirty="0">
                <a:solidFill>
                  <a:srgbClr val="5A6472"/>
                </a:solidFill>
                <a:latin typeface="Calibri" pitchFamily="34" charset="0"/>
                <a:cs typeface="Amiri" pitchFamily="2" charset="-78"/>
              </a:rPr>
              <a:t>mu-lā-ḥa-ẓa-tun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مُلَاحَظَاتٌ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المُلَاحَظَةُ</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مُلَاحَظَةٌ</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الفِكْرَةُ الرَّئِيسِيَّةُ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idea</a:t>
            </a:r>
            <a:endParaRPr lang="en-US" sz="1350" dirty="0"/>
          </a:p>
          <a:p>
            <a:pPr indent="0" marL="0">
              <a:buNone/>
            </a:pPr>
            <a:r>
              <a:rPr lang="en-US" sz="1100" i="1" dirty="0">
                <a:solidFill>
                  <a:srgbClr val="5A6472"/>
                </a:solidFill>
                <a:latin typeface="Calibri" pitchFamily="34" charset="0"/>
                <a:cs typeface="Amiri" pitchFamily="2" charset="-78"/>
              </a:rPr>
              <a:t>al-fik-ra-tu ar-ra-ʾī-siy-ya-tu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التَّفْصِيلُ الدَّقِيقُ</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detail</a:t>
            </a:r>
            <a:endParaRPr lang="en-US" sz="1350" dirty="0"/>
          </a:p>
          <a:p>
            <a:pPr indent="0" marL="0">
              <a:buNone/>
            </a:pPr>
            <a:r>
              <a:rPr lang="en-US" sz="1100" i="1" dirty="0">
                <a:solidFill>
                  <a:srgbClr val="5A6472"/>
                </a:solidFill>
                <a:latin typeface="Calibri" pitchFamily="34" charset="0"/>
                <a:cs typeface="Amiri" pitchFamily="2" charset="-78"/>
              </a:rPr>
              <a:t>at-taf-ṣī-lu ad-da-qī-qu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الدَّلِيلُ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ad-da-lī-lu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يَشِيرُ إِلَى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indicates / refers to</a:t>
            </a:r>
            <a:endParaRPr lang="en-US" sz="1350" dirty="0"/>
          </a:p>
          <a:p>
            <a:pPr indent="0" marL="0">
              <a:buNone/>
            </a:pPr>
            <a:r>
              <a:rPr lang="en-US" sz="1100" i="1" dirty="0">
                <a:solidFill>
                  <a:srgbClr val="5A6472"/>
                </a:solidFill>
                <a:latin typeface="Calibri" pitchFamily="34" charset="0"/>
                <a:cs typeface="Amiri" pitchFamily="2" charset="-78"/>
              </a:rPr>
              <a:t>ya-shī-ru i-lā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يَعُودُ الضَّمِيرُ إِلَى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pronoun refers to</a:t>
            </a:r>
            <a:endParaRPr lang="en-US" sz="1350" dirty="0"/>
          </a:p>
          <a:p>
            <a:pPr indent="0" marL="0">
              <a:buNone/>
            </a:pPr>
            <a:r>
              <a:rPr lang="en-US" sz="1100" i="1" dirty="0">
                <a:solidFill>
                  <a:srgbClr val="5A6472"/>
                </a:solidFill>
                <a:latin typeface="Calibri" pitchFamily="34" charset="0"/>
                <a:cs typeface="Amiri" pitchFamily="2" charset="-78"/>
              </a:rPr>
              <a:t>ya-ʿū-du aḍ-ḍa-mī-ru i-lā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يُقَارِنُ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compares</a:t>
            </a:r>
            <a:endParaRPr lang="en-US" sz="1350" dirty="0"/>
          </a:p>
          <a:p>
            <a:pPr indent="0" marL="0">
              <a:buNone/>
            </a:pPr>
            <a:r>
              <a:rPr lang="en-US" sz="1100" i="1" dirty="0">
                <a:solidFill>
                  <a:srgbClr val="5A6472"/>
                </a:solidFill>
                <a:latin typeface="Calibri" pitchFamily="34" charset="0"/>
                <a:cs typeface="Amiri" pitchFamily="2" charset="-78"/>
              </a:rPr>
              <a:t>yu-qā-ri-nu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أُقَارِنُ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تُقَارِنُ</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يُقَارِنُ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يَسْتَنْتِجُ</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 / concludes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أَسْتَنْتِجُ</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تَسْتَنْتِجُ</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يَسْتَنْتِجُ</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حَسَبَ الجَدْوَلِ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 the schedule</a:t>
            </a:r>
            <a:endParaRPr lang="en-US" sz="1350" dirty="0"/>
          </a:p>
          <a:p>
            <a:pPr indent="0" marL="0">
              <a:buNone/>
            </a:pPr>
            <a:r>
              <a:rPr lang="en-US" sz="1100" i="1" dirty="0">
                <a:solidFill>
                  <a:srgbClr val="5A6472"/>
                </a:solidFill>
                <a:latin typeface="Calibri" pitchFamily="34" charset="0"/>
                <a:cs typeface="Amiri" pitchFamily="2" charset="-78"/>
              </a:rPr>
              <a:t>ḥa-sa-ba al-jad-wa-li</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النَّصِّ</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text</a:t>
            </a:r>
            <a:endParaRPr lang="en-US" sz="1350" dirty="0"/>
          </a:p>
          <a:p>
            <a:pPr indent="0" marL="0">
              <a:buNone/>
            </a:pPr>
            <a:r>
              <a:rPr lang="en-US" sz="1100" i="1" dirty="0">
                <a:solidFill>
                  <a:srgbClr val="5A6472"/>
                </a:solidFill>
                <a:latin typeface="Calibri" pitchFamily="34" charset="0"/>
                <a:cs typeface="Amiri" pitchFamily="2" charset="-78"/>
              </a:rPr>
              <a:t>mi-na an-naṣ-ṣi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Time, frequency and connection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twice a week</a:t>
            </a:r>
            <a:endParaRPr lang="en-US" sz="1350" dirty="0"/>
          </a:p>
          <a:p>
            <a:pPr indent="0" marL="0">
              <a:buNone/>
            </a:pPr>
            <a:r>
              <a:rPr lang="en-US" sz="1100" i="1" dirty="0">
                <a:solidFill>
                  <a:srgbClr val="5A6472"/>
                </a:solidFill>
                <a:latin typeface="Calibri" pitchFamily="34" charset="0"/>
                <a:cs typeface="Amiri" pitchFamily="2" charset="-78"/>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 until ...</a:t>
            </a:r>
            <a:endParaRPr lang="en-US" sz="1350" dirty="0"/>
          </a:p>
          <a:p>
            <a:pPr indent="0" marL="0">
              <a:buNone/>
            </a:pPr>
            <a:r>
              <a:rPr lang="en-US" sz="1100" i="1" dirty="0">
                <a:solidFill>
                  <a:srgbClr val="5A6472"/>
                </a:solidFill>
                <a:latin typeface="Calibri" pitchFamily="34" charset="0"/>
                <a:cs typeface="Amiri" pitchFamily="2" charset="-78"/>
              </a:rPr>
              <a:t>min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Time, frequency and connection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a:t>
            </a:r>
            <a:endParaRPr lang="en-US" sz="1350" dirty="0"/>
          </a:p>
          <a:p>
            <a:pPr indent="0" marL="0">
              <a:buNone/>
            </a:pPr>
            <a:r>
              <a:rPr lang="en-US" sz="1100" i="1" dirty="0">
                <a:solidFill>
                  <a:srgbClr val="5A6472"/>
                </a:solidFill>
                <a:latin typeface="Calibri" pitchFamily="34" charset="0"/>
                <a:cs typeface="Amiri" pitchFamily="2" charset="-78"/>
              </a:rPr>
              <a:t>baʿ-da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while / 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 ... فَـ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 then / contrast</a:t>
            </a:r>
            <a:endParaRPr lang="en-US" sz="1350" dirty="0"/>
          </a:p>
          <a:p>
            <a:pPr indent="0" marL="0">
              <a:buNone/>
            </a:pPr>
            <a:r>
              <a:rPr lang="en-US" sz="1100" i="1" dirty="0">
                <a:solidFill>
                  <a:srgbClr val="5A6472"/>
                </a:solidFill>
                <a:latin typeface="Calibri" pitchFamily="34" charset="0"/>
                <a:cs typeface="Amiri" pitchFamily="2" charset="-78"/>
              </a:rPr>
              <a:t>am-mā ... fa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ـهُ / ـهَا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 her / it reference</a:t>
            </a:r>
            <a:endParaRPr lang="en-US" sz="1350" dirty="0"/>
          </a:p>
          <a:p>
            <a:pPr indent="0" marL="0">
              <a:buNone/>
            </a:pPr>
            <a:r>
              <a:rPr lang="en-US" sz="1100" i="1" dirty="0">
                <a:solidFill>
                  <a:srgbClr val="5A6472"/>
                </a:solidFill>
                <a:latin typeface="Calibri" pitchFamily="34" charset="0"/>
                <a:cs typeface="Amiri" pitchFamily="2" charset="-78"/>
              </a:rPr>
              <a:t>hu / hā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READING SIGNALS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each signal tells the reader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494690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in a text</a:t>
            </a:r>
            <a:endParaRPr lang="en-US" sz="1100" dirty="0"/>
          </a:p>
        </p:txBody>
      </p:sp>
      <p:sp>
        <p:nvSpPr>
          <p:cNvPr id="18" name="Text 15"/>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tells you …</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it answers</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تَـ</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ea typeface="Amiri" pitchFamily="2" charset="-78"/>
                <a:cs typeface="Amiri" pitchFamily="2" charset="-78"/>
              </a:rPr>
              <a:t>يَـ</a:t>
            </a:r>
            <a:endParaRPr lang="ar-SA" sz="2600" dirty="0"/>
          </a:p>
        </p:txBody>
      </p:sp>
      <p:sp>
        <p:nvSpPr>
          <p:cNvPr id="22" name="Text 19"/>
          <p:cNvSpPr txBox="1"/>
          <p:nvPr/>
        </p:nvSpPr>
        <p:spPr>
          <a:xfrm>
            <a:off x="4965192" y="2286000"/>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a:t>
            </a:r>
            <a:pPr rtl="1" algn="ctr" indent="0" marL="0">
              <a:buNone/>
            </a:pPr>
            <a:r>
              <a:rPr lang="ar-SA" altLang="en-US" sz="1950" b="1" dirty="0">
                <a:solidFill>
                  <a:srgbClr val="1B3B6F"/>
                </a:solidFill>
                <a:latin typeface="Amiri" pitchFamily="2" charset="-78"/>
                <a:ea typeface="Amiri" pitchFamily="2" charset="-78"/>
                <a:cs typeface="Amiri" pitchFamily="2" charset="-78"/>
              </a:rPr>
              <a:t>عُودُ مَرْيَمُ · </a:t>
            </a:r>
            <a:pPr rtl="1" algn="ctr" indent="0" marL="0">
              <a:buNone/>
            </a:pPr>
            <a:r>
              <a:rPr lang="ar-SA" altLang="en-US" sz="1950" b="1" dirty="0">
                <a:solidFill>
                  <a:srgbClr val="1D5FBF"/>
                </a:solidFill>
                <a:latin typeface="Amiri" pitchFamily="2" charset="-78"/>
                <a:ea typeface="Amiri" pitchFamily="2" charset="-78"/>
                <a:cs typeface="Amiri" pitchFamily="2" charset="-78"/>
              </a:rPr>
              <a:t>يَ</a:t>
            </a:r>
            <a:pPr rtl="1" algn="ctr" indent="0" marL="0">
              <a:buNone/>
            </a:pPr>
            <a:r>
              <a:rPr lang="ar-SA" altLang="en-US" sz="1950" b="1" dirty="0">
                <a:solidFill>
                  <a:srgbClr val="1B3B6F"/>
                </a:solidFill>
                <a:latin typeface="Amiri" pitchFamily="2" charset="-78"/>
                <a:ea typeface="Amiri" pitchFamily="2" charset="-78"/>
                <a:cs typeface="Amiri" pitchFamily="2" charset="-78"/>
              </a:rPr>
              <a:t>عُودُ أَخُوهَا</a:t>
            </a:r>
            <a:endParaRPr lang="ar-SA" sz="1950" dirty="0"/>
          </a:p>
        </p:txBody>
      </p:sp>
      <p:sp>
        <p:nvSpPr>
          <p:cNvPr id="23" name="Text 20"/>
          <p:cNvSpPr txBox="1"/>
          <p:nvPr/>
        </p:nvSpPr>
        <p:spPr>
          <a:xfrm>
            <a:off x="4919472" y="267699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Maryam returns · her brother returns</a:t>
            </a:r>
            <a:endParaRPr lang="en-US" sz="950" dirty="0"/>
          </a:p>
        </p:txBody>
      </p:sp>
      <p:sp>
        <p:nvSpPr>
          <p:cNvPr id="24" name="Text 21"/>
          <p:cNvSpPr txBox="1"/>
          <p:nvPr/>
        </p:nvSpPr>
        <p:spPr>
          <a:xfrm>
            <a:off x="2697480"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does it</a:t>
            </a:r>
            <a:endParaRPr lang="en-US" sz="1100" dirty="0"/>
          </a:p>
        </p:txBody>
      </p:sp>
      <p:sp>
        <p:nvSpPr>
          <p:cNvPr id="25" name="Text 22"/>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returns first?</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 الوَقْتِ</a:t>
            </a:r>
            <a:endParaRPr lang="ar-SA" sz="2600" dirty="0"/>
          </a:p>
        </p:txBody>
      </p:sp>
      <p:sp>
        <p:nvSpPr>
          <p:cNvPr id="30" name="Text 27"/>
          <p:cNvSpPr txBox="1"/>
          <p:nvPr/>
        </p:nvSpPr>
        <p:spPr>
          <a:xfrm>
            <a:off x="4965192" y="302300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يَبْدَأُ النَّادِي </a:t>
            </a:r>
            <a:pPr rtl="1" algn="ctr" indent="0" marL="0">
              <a:buNone/>
            </a:pPr>
            <a:r>
              <a:rPr lang="ar-SA" altLang="en-US" sz="1950" b="1" dirty="0">
                <a:solidFill>
                  <a:srgbClr val="0E7C86"/>
                </a:solidFill>
                <a:latin typeface="Amiri" pitchFamily="2" charset="-78"/>
                <a:ea typeface="Amiri" pitchFamily="2" charset="-78"/>
                <a:cs typeface="Amiri" pitchFamily="2" charset="-78"/>
              </a:rPr>
              <a:t>فِي</a:t>
            </a:r>
            <a:pPr rtl="1" algn="ctr" indent="0" marL="0">
              <a:buNone/>
            </a:pPr>
            <a:r>
              <a:rPr lang="ar-SA" altLang="en-US" sz="1950" b="1" dirty="0">
                <a:solidFill>
                  <a:srgbClr val="1B3B6F"/>
                </a:solidFill>
                <a:latin typeface="Amiri" pitchFamily="2" charset="-78"/>
                <a:ea typeface="Amiri" pitchFamily="2" charset="-78"/>
                <a:cs typeface="Amiri" pitchFamily="2" charset="-78"/>
              </a:rPr>
              <a:t> الخَامِسَةِ.</a:t>
            </a:r>
            <a:endParaRPr lang="ar-SA" sz="1950" dirty="0"/>
          </a:p>
        </p:txBody>
      </p:sp>
      <p:sp>
        <p:nvSpPr>
          <p:cNvPr id="31" name="Text 28"/>
          <p:cNvSpPr txBox="1"/>
          <p:nvPr/>
        </p:nvSpPr>
        <p:spPr>
          <a:xfrm>
            <a:off x="4919472" y="3414004"/>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club starts at five.</a:t>
            </a:r>
            <a:endParaRPr lang="en-US" sz="950" dirty="0"/>
          </a:p>
        </p:txBody>
      </p:sp>
      <p:sp>
        <p:nvSpPr>
          <p:cNvPr id="32" name="Text 29"/>
          <p:cNvSpPr txBox="1"/>
          <p:nvPr/>
        </p:nvSpPr>
        <p:spPr>
          <a:xfrm>
            <a:off x="2697480"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time</a:t>
            </a:r>
            <a:endParaRPr lang="en-US" sz="1100" dirty="0"/>
          </a:p>
        </p:txBody>
      </p:sp>
      <p:sp>
        <p:nvSpPr>
          <p:cNvPr id="33" name="Text 30"/>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it start?</a:t>
            </a:r>
            <a:endParaRPr lang="en-US" sz="1100" dirty="0"/>
          </a:p>
        </p:txBody>
      </p:sp>
      <p:sp>
        <p:nvSpPr>
          <p:cNvPr id="34" name="Shape 31"/>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مِنْ … إِلَى …</a:t>
            </a:r>
            <a:endParaRPr lang="ar-SA" sz="2600" dirty="0"/>
          </a:p>
        </p:txBody>
      </p:sp>
      <p:sp>
        <p:nvSpPr>
          <p:cNvPr id="38" name="Text 35"/>
          <p:cNvSpPr txBox="1"/>
          <p:nvPr/>
        </p:nvSpPr>
        <p:spPr>
          <a:xfrm>
            <a:off x="4965192" y="3760013"/>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السِّبَاحَةُ </a:t>
            </a:r>
            <a:pPr rtl="1" algn="ctr" indent="0" marL="0">
              <a:buNone/>
            </a:pPr>
            <a:r>
              <a:rPr lang="ar-SA" altLang="en-US" sz="1950" b="1" dirty="0">
                <a:solidFill>
                  <a:srgbClr val="0E7C86"/>
                </a:solidFill>
                <a:latin typeface="Amiri" pitchFamily="2" charset="-78"/>
                <a:ea typeface="Amiri" pitchFamily="2" charset="-78"/>
                <a:cs typeface="Amiri" pitchFamily="2" charset="-78"/>
              </a:rPr>
              <a:t>مِنَ</a:t>
            </a:r>
            <a:pPr rtl="1" algn="ctr" indent="0" marL="0">
              <a:buNone/>
            </a:pPr>
            <a:r>
              <a:rPr lang="ar-SA" altLang="en-US" sz="1950" b="1" dirty="0">
                <a:solidFill>
                  <a:srgbClr val="1B3B6F"/>
                </a:solidFill>
                <a:latin typeface="Amiri" pitchFamily="2" charset="-78"/>
                <a:ea typeface="Amiri" pitchFamily="2" charset="-78"/>
                <a:cs typeface="Amiri" pitchFamily="2" charset="-78"/>
              </a:rPr>
              <a:t> الرَّابِعَةِ </a:t>
            </a:r>
            <a:pPr rtl="1" algn="ctr" indent="0" marL="0">
              <a:buNone/>
            </a:pPr>
            <a:r>
              <a:rPr lang="ar-SA" altLang="en-US" sz="1950" b="1" dirty="0">
                <a:solidFill>
                  <a:srgbClr val="0E7C86"/>
                </a:solidFill>
                <a:latin typeface="Amiri" pitchFamily="2" charset="-78"/>
                <a:ea typeface="Amiri" pitchFamily="2" charset="-78"/>
                <a:cs typeface="Amiri" pitchFamily="2" charset="-78"/>
              </a:rPr>
              <a:t>إِلَى</a:t>
            </a:r>
            <a:pPr rtl="1" algn="ctr" indent="0" marL="0">
              <a:buNone/>
            </a:pPr>
            <a:r>
              <a:rPr lang="ar-SA" altLang="en-US" sz="1950" b="1" dirty="0">
                <a:solidFill>
                  <a:srgbClr val="1B3B6F"/>
                </a:solidFill>
                <a:latin typeface="Amiri" pitchFamily="2" charset="-78"/>
                <a:ea typeface="Amiri" pitchFamily="2" charset="-78"/>
                <a:cs typeface="Amiri" pitchFamily="2" charset="-78"/>
              </a:rPr>
              <a:t> الخَامِسَةِ.</a:t>
            </a:r>
            <a:endParaRPr lang="ar-SA" sz="1950" dirty="0"/>
          </a:p>
        </p:txBody>
      </p:sp>
      <p:sp>
        <p:nvSpPr>
          <p:cNvPr id="39" name="Text 36"/>
          <p:cNvSpPr txBox="1"/>
          <p:nvPr/>
        </p:nvSpPr>
        <p:spPr>
          <a:xfrm>
            <a:off x="4919472" y="4151010"/>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Swimming from four to five.</a:t>
            </a:r>
            <a:endParaRPr lang="en-US" sz="950" dirty="0"/>
          </a:p>
        </p:txBody>
      </p:sp>
      <p:sp>
        <p:nvSpPr>
          <p:cNvPr id="40" name="Text 37"/>
          <p:cNvSpPr txBox="1"/>
          <p:nvPr/>
        </p:nvSpPr>
        <p:spPr>
          <a:xfrm>
            <a:off x="2697480"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 + finish = how long</a:t>
            </a:r>
            <a:endParaRPr lang="en-US" sz="1100" dirty="0"/>
          </a:p>
        </p:txBody>
      </p:sp>
      <p:sp>
        <p:nvSpPr>
          <p:cNvPr id="41" name="Text 38"/>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does it last?</a:t>
            </a:r>
            <a:endParaRPr lang="en-US" sz="1100" dirty="0"/>
          </a:p>
        </p:txBody>
      </p:sp>
      <p:sp>
        <p:nvSpPr>
          <p:cNvPr id="42" name="Shape 39"/>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3" name="Text 40"/>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مَرَّتَيْنِ · نَادِرًا</a:t>
            </a:r>
            <a:endParaRPr lang="ar-SA" sz="2600" dirty="0"/>
          </a:p>
        </p:txBody>
      </p:sp>
      <p:sp>
        <p:nvSpPr>
          <p:cNvPr id="44" name="Text 41"/>
          <p:cNvSpPr txBox="1"/>
          <p:nvPr/>
        </p:nvSpPr>
        <p:spPr>
          <a:xfrm>
            <a:off x="4965192" y="4497019"/>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تَتَمَرَّنُ </a:t>
            </a:r>
            <a:pPr rtl="1" algn="ctr" indent="0" marL="0">
              <a:buNone/>
            </a:pPr>
            <a:r>
              <a:rPr lang="ar-SA" altLang="en-US" sz="1950" b="1" dirty="0">
                <a:solidFill>
                  <a:srgbClr val="0E7C86"/>
                </a:solidFill>
                <a:latin typeface="Amiri" pitchFamily="2" charset="-78"/>
                <a:ea typeface="Amiri" pitchFamily="2" charset="-78"/>
                <a:cs typeface="Amiri" pitchFamily="2" charset="-78"/>
              </a:rPr>
              <a:t>مَرَّتَيْنِ</a:t>
            </a:r>
            <a:pPr rtl="1" algn="ctr" indent="0" marL="0">
              <a:buNone/>
            </a:pPr>
            <a:r>
              <a:rPr lang="ar-SA" altLang="en-US" sz="1950" b="1" dirty="0">
                <a:solidFill>
                  <a:srgbClr val="1B3B6F"/>
                </a:solidFill>
                <a:latin typeface="Amiri" pitchFamily="2" charset="-78"/>
                <a:ea typeface="Amiri" pitchFamily="2" charset="-78"/>
                <a:cs typeface="Amiri" pitchFamily="2" charset="-78"/>
              </a:rPr>
              <a:t> فِي الأُسْبُوعِ.</a:t>
            </a:r>
            <a:endParaRPr lang="ar-SA" sz="1950" dirty="0"/>
          </a:p>
        </p:txBody>
      </p:sp>
      <p:sp>
        <p:nvSpPr>
          <p:cNvPr id="45" name="Text 42"/>
          <p:cNvSpPr txBox="1"/>
          <p:nvPr/>
        </p:nvSpPr>
        <p:spPr>
          <a:xfrm>
            <a:off x="4919472" y="488801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trains twice a week.</a:t>
            </a:r>
            <a:endParaRPr lang="en-US" sz="950" dirty="0"/>
          </a:p>
        </p:txBody>
      </p:sp>
      <p:sp>
        <p:nvSpPr>
          <p:cNvPr id="46" name="Text 43"/>
          <p:cNvSpPr txBox="1"/>
          <p:nvPr/>
        </p:nvSpPr>
        <p:spPr>
          <a:xfrm>
            <a:off x="2697480"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a:t>
            </a:r>
            <a:endParaRPr lang="en-US" sz="1100" dirty="0"/>
          </a:p>
        </p:txBody>
      </p:sp>
      <p:sp>
        <p:nvSpPr>
          <p:cNvPr id="47" name="Text 44"/>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a:t>
            </a:r>
            <a:endParaRPr lang="en-US" sz="110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ـهَا</a:t>
            </a:r>
            <a:pPr rtl="1" algn="ctr" indent="0" marL="0">
              <a:buNone/>
            </a:pPr>
            <a:r>
              <a:rPr lang="ar-SA" altLang="en-US" sz="2600" b="1" dirty="0">
                <a:solidFill>
                  <a:srgbClr val="1B3B6F"/>
                </a:solidFill>
                <a:latin typeface="Amiri" pitchFamily="2" charset="-78"/>
                <a:cs typeface="Amiri" pitchFamily="2" charset="-78"/>
              </a:rPr>
              <a:t> / </a:t>
            </a:r>
            <a:pPr rtl="1" algn="ctr" indent="0" marL="0">
              <a:buNone/>
            </a:pPr>
            <a:r>
              <a:rPr lang="ar-SA" altLang="en-US" sz="2600" b="1" dirty="0">
                <a:solidFill>
                  <a:srgbClr val="1D5FBF"/>
                </a:solidFill>
                <a:latin typeface="Amiri" pitchFamily="2" charset="-78"/>
                <a:ea typeface="Amiri" pitchFamily="2" charset="-78"/>
                <a:cs typeface="Amiri" pitchFamily="2" charset="-78"/>
              </a:rPr>
              <a:t>ـهُ</a:t>
            </a:r>
            <a:endParaRPr lang="ar-SA" sz="2600" dirty="0"/>
          </a:p>
        </p:txBody>
      </p:sp>
      <p:sp>
        <p:nvSpPr>
          <p:cNvPr id="50" name="Text 47"/>
          <p:cNvSpPr txBox="1"/>
          <p:nvPr/>
        </p:nvSpPr>
        <p:spPr>
          <a:xfrm>
            <a:off x="4965192" y="523402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فَهُوَ أَهْدَأُ يَوْمٍ</a:t>
            </a:r>
            <a:endParaRPr lang="ar-SA" sz="1950" dirty="0"/>
          </a:p>
        </p:txBody>
      </p:sp>
      <p:sp>
        <p:nvSpPr>
          <p:cNvPr id="51" name="Text 48"/>
          <p:cNvSpPr txBox="1"/>
          <p:nvPr/>
        </p:nvSpPr>
        <p:spPr>
          <a:xfrm>
            <a:off x="4919472" y="5625023"/>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(Wednesday) is the calmest day</a:t>
            </a:r>
            <a:endParaRPr lang="en-US" sz="950" dirty="0"/>
          </a:p>
        </p:txBody>
      </p:sp>
      <p:sp>
        <p:nvSpPr>
          <p:cNvPr id="52" name="Text 49"/>
          <p:cNvSpPr txBox="1"/>
          <p:nvPr/>
        </p:nvSpPr>
        <p:spPr>
          <a:xfrm>
            <a:off x="2697480"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 word REFERS to</a:t>
            </a:r>
            <a:endParaRPr lang="en-US" sz="1100" dirty="0"/>
          </a:p>
        </p:txBody>
      </p:sp>
      <p:sp>
        <p:nvSpPr>
          <p:cNvPr id="53" name="Text 50"/>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“it” refer to?</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a number is only the answer if it belongs to the event in the question.</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THREE KINDS OF NUMBER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At what time? For how long? How often?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 مِنْ … إِلَى · مَرَّاتٍ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 POINT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يَبْدَأُ الدَّرْسُ فِي الثَّامِنَةِ وَالنِّصْفِ.</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lesson begins at 8:30.</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time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 SPAN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السَّادِسَةِ إِلَى السَّابِعَةِ إِلَّا الرُّبْعَ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from 6:00 to 6:45</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Finish − start = 45 minutes.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 PATTERN · CORE</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تَتَمَرَّنُ مَرَّتَيْنِ فِي الأُسْبُوعِ.</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trains twice a week.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Answers “how often?”.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one start time takes fī, not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يَبْدَأُ النَّادِي فِي الخَامِسَةِ.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يَبْدَأُ النَّادِي مِنَ الخَامِسَةِ.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grammar in context: person, time and 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ea typeface="Amiri" pitchFamily="2" charset="-78"/>
                <a:cs typeface="Amiri" pitchFamily="2" charset="-78"/>
              </a:rPr>
              <a:t>تَتَبُّعُ الشَّخْصِ وَالوَقْتِ وَالمَرْجِعِ فِي القِرَاءَةِ</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Track the subject through the present-tense prefix</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أَـ = أَنَا · تَـ = أَنْتَ / أَنْتِ / هِيَ · يَـ = هُوَ · نَـ = نَحْنُ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تَعُودُ مَرْيَمُ فِي الرَّابِعَةِ.   ·   يَعُودُ أَخُوهَا فِي الخَامِسَةِ.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Track pronoun suffixes to the nearest logical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ـهُ · ـهَا · ـهُمْ · ذٰلِكَ</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يُحَضِّرُ حَقِيبَتَهُ. ← حَقِيبَةُ خَالِدٍ   ·   تَكْتُبُ رُوتِينَهَا. ← رُوتِينُ مَرْيَمَ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Use time and frequency expressions as evidence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 الوَقْتِ · مِنْ ... إِلَى ... · مَرَّاتٍ فِي الأُسْبُوعِ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يَبْدَأُ الدَّرْسُ فِي الثَّامِنَةِ وَالنِّصْفِ.   ·   تَتَمَرَّنُ مَرَّتَيْنِ فِي الأُسْبُوعِ.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Follow sequence and contrast markers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قَبْلَ أَنْ · بَعْدَ أَنْ · بَيْنَمَا · أَمَّا ... فَـ</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تَدْرُسُ قَبْلَ أَنْ تَخْرُجَ.   ·   أَمَّا يَوْمُ السَّبْتِ فَتَسْتَيْقِظُ مُتَأَخِّرًا.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تَعُودُ مَرْيَمُ فِي الرَّابِعَةِ</a:t>
            </a:r>
            <a:pPr algn="l" indent="0" marL="0">
              <a:buNone/>
            </a:pPr>
            <a:r>
              <a:rPr lang="en-US" sz="1250" b="1" dirty="0">
                <a:solidFill>
                  <a:srgbClr val="1B3B6F"/>
                </a:solidFill>
                <a:latin typeface="Calibri" pitchFamily="34" charset="0"/>
                <a:cs typeface="Amiri" pitchFamily="2" charset="-78"/>
              </a:rPr>
              <a:t>, who returns?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 duration?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الثَّامِنَةِ إِلَى التَّاسِعَةِ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الثَّامِنَةِ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 الثُّلَاثَاءِ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answers </a:t>
            </a:r>
            <a:pPr algn="l" indent="0" marL="0">
              <a:buNone/>
            </a:pPr>
            <a:r>
              <a:rPr lang="ar-SA" altLang="en-US" sz="1650" b="1" dirty="0">
                <a:solidFill>
                  <a:srgbClr val="1B3B6F"/>
                </a:solidFill>
                <a:latin typeface="Amiri" pitchFamily="2" charset="-78"/>
                <a:ea typeface="Amiri" pitchFamily="2" charset="-78"/>
                <a:cs typeface="Amiri" pitchFamily="2" charset="-78"/>
              </a:rPr>
              <a:t>كَمْ مَرَّةً؟</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الثَّالِثَةِ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مَرَّاتٍ فِي الأُسْبُوعِ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accurate inference: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نَادِرًا مَا يَتَأَخَّرُ عَلِيٌّ.</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 is usually on time.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 is always late.</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 never attends.</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تَعُودُ مَرْيَمُ فِي الرَّابِعَةِ</a:t>
            </a:r>
            <a:pPr algn="l" indent="0" marL="0">
              <a:buNone/>
            </a:pPr>
            <a:r>
              <a:rPr lang="en-US" sz="1250" b="1" dirty="0">
                <a:solidFill>
                  <a:srgbClr val="1B3B6F"/>
                </a:solidFill>
                <a:latin typeface="Calibri" pitchFamily="34" charset="0"/>
                <a:cs typeface="Amiri" pitchFamily="2" charset="-78"/>
              </a:rPr>
              <a:t>, who returns?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named feminine subject </a:t>
            </a:r>
            <a:pPr algn="l" indent="0" marL="0">
              <a:buNone/>
            </a:pPr>
            <a:r>
              <a:rPr lang="ar-SA" altLang="en-US" sz="1350" dirty="0">
                <a:solidFill>
                  <a:srgbClr val="8A6D1E"/>
                </a:solidFill>
                <a:latin typeface="Amiri" pitchFamily="2" charset="-78"/>
                <a:ea typeface="Amiri" pitchFamily="2" charset="-78"/>
                <a:cs typeface="Amiri" pitchFamily="2" charset="-78"/>
              </a:rPr>
              <a:t>مَرْيَمُ</a:t>
            </a:r>
            <a:pPr algn="l" indent="0" marL="0">
              <a:buNone/>
            </a:pPr>
            <a:r>
              <a:rPr lang="en-US" sz="1050" i="1" dirty="0">
                <a:solidFill>
                  <a:srgbClr val="8A6D1E"/>
                </a:solidFill>
                <a:latin typeface="Calibri" pitchFamily="34" charset="0"/>
                <a:cs typeface="Amiri" pitchFamily="2" charset="-78"/>
              </a:rPr>
              <a:t> matches </a:t>
            </a:r>
            <a:pPr algn="l" indent="0" marL="0">
              <a:buNone/>
            </a:pPr>
            <a:r>
              <a:rPr lang="ar-SA" altLang="en-US" sz="1350" dirty="0">
                <a:solidFill>
                  <a:srgbClr val="8A6D1E"/>
                </a:solidFill>
                <a:latin typeface="Amiri" pitchFamily="2" charset="-78"/>
                <a:ea typeface="Amiri" pitchFamily="2" charset="-78"/>
                <a:cs typeface="Amiri" pitchFamily="2" charset="-78"/>
              </a:rPr>
              <a:t>تَعُودُ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 duration?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الثَّامِنَةِ إِلَى التَّاسِعَةِ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الثَّامِنَةِ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 الثُّلَاثَاءِ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span from one time to another gives duration.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answers </a:t>
            </a:r>
            <a:pPr algn="l" indent="0" marL="0">
              <a:buNone/>
            </a:pPr>
            <a:r>
              <a:rPr lang="ar-SA" altLang="en-US" sz="1650" b="1" dirty="0">
                <a:solidFill>
                  <a:srgbClr val="1B3B6F"/>
                </a:solidFill>
                <a:latin typeface="Amiri" pitchFamily="2" charset="-78"/>
                <a:ea typeface="Amiri" pitchFamily="2" charset="-78"/>
                <a:cs typeface="Amiri" pitchFamily="2" charset="-78"/>
              </a:rPr>
              <a:t>كَمْ مَرَّةً؟</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الثَّالِثَةِ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مَرَّاتٍ فِي الأُسْبُوعِ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مَرَّاتٍ</a:t>
            </a:r>
            <a:pPr algn="l" indent="0" marL="0">
              <a:buNone/>
            </a:pPr>
            <a:r>
              <a:rPr lang="en-US" sz="1050" i="1" dirty="0">
                <a:solidFill>
                  <a:srgbClr val="8A6D1E"/>
                </a:solidFill>
                <a:latin typeface="Calibri" pitchFamily="34" charset="0"/>
                <a:cs typeface="Amiri" pitchFamily="2" charset="-78"/>
              </a:rPr>
              <a:t> answers a frequency question.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accurate inference: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نَادِرًا مَا يَتَأَخَّرُ عَلِيٌّ.</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Ali is usually on time.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Ali is always late.</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Ali never attends.</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 he is rarely late, he is usually on time.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answer a reading question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مَتَى يَنْتَهِي دَرْسُ العَرَبِيَّةِ؟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Event: Arabic lesson. Info: FINISH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Find the row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الخَمِيسُ: دَرْسُ اللُّغَةِ العَرَبِيَّةِ</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Thursday row, not Tuesday.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Exact 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مِنَ السَّادِسَةِ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إِلَى السَّابِعَةِ إِلَّا الرُّبْعَ</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After “to” = the finish.</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Answer + evidence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يَنْتَهِي فِي السَّابِعَةِ إِلَّا الرُّبْعَ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٦:٤٥</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Quote the cell.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EXACT DETAIL</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ANSWER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السُّؤَالُ: مَتَى يَنْتَهِي دَرْسُ العَرَبِيَّةِ؟ ← خَانَةُ يَوْمِ الخَمِيسِ: مِنَ السَّادِسَةِ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 السَّابِعَةِ إِلَّا الرُّبْعَ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 الجَوَابُ: يَنْتَهِي فِي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السَّابِعَةِ إِلَّا الرُّبْعَ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الدَّلِيلُ مَوْجُودٌ فِي خَانَةِ يَوْمِ الخَمِيسِ.</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When does the Arabic lesson end? → Thursday cell: from six to quarter to seven. → Answer: it ends at quarter to seven. The evidence is in the Thursday cell.</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حَسَبَ الجَدْوَلِ، يَبْدَأُ النَّادِي فِي الخَامِسَةِ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According to the schedule, the club begins at 5:30.</a:t>
            </a:r>
            <a:endParaRPr lang="en-US" sz="1250" dirty="0"/>
          </a:p>
          <a:p>
            <a:pPr indent="0" marL="0">
              <a:buNone/>
            </a:pPr>
            <a:r>
              <a:rPr lang="en-US" sz="1050" i="1" dirty="0">
                <a:solidFill>
                  <a:srgbClr val="8A6D1E"/>
                </a:solidFill>
                <a:latin typeface="Calibri" pitchFamily="34" charset="0"/>
                <a:cs typeface="Amiri" pitchFamily="2" charset="-78"/>
              </a:rPr>
              <a:t>Match the event to the exact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تَعُودُ هُدَى مُبَكِّرًا، بَيْنَمَا يَعُودُ أَخُوهَا مُتَأَخِّرًا.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Huda returns early, while her brother returns late.</a:t>
            </a:r>
            <a:endParaRPr lang="en-US" sz="1250" dirty="0"/>
          </a:p>
          <a:p>
            <a:pPr indent="0" marL="0">
              <a:buNone/>
            </a:pPr>
            <a:r>
              <a:rPr lang="en-US" sz="1050" i="1" dirty="0">
                <a:solidFill>
                  <a:srgbClr val="8A6D1E"/>
                </a:solidFill>
                <a:latin typeface="Calibri" pitchFamily="34" charset="0"/>
                <a:cs typeface="Amiri" pitchFamily="2" charset="-78"/>
              </a:rPr>
              <a:t>Track feminine and masculine verb prefixes.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 يَوْمُ السَّبْتِ فَتَسْتَيْقِظُ فِي الثَّامِنَةِ.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Saturday, she wakes at eight.</a:t>
            </a:r>
            <a:endParaRPr lang="en-US" sz="1250" dirty="0"/>
          </a:p>
          <a:p>
            <a:pPr indent="0" marL="0">
              <a:buNone/>
            </a:pPr>
            <a:r>
              <a:rPr lang="en-US" sz="1050" i="1" dirty="0">
                <a:solidFill>
                  <a:srgbClr val="8A6D1E"/>
                </a:solidFill>
                <a:latin typeface="Calibri" pitchFamily="34" charset="0"/>
                <a:cs typeface="Amiri" pitchFamily="2" charset="-78"/>
              </a:rPr>
              <a:t>Use the contrast frame to locate the weekend detail.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يَعُودُ الضَّمِيرُ «ـهَا» إِلَى مَرْيَمَ.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suffix “her” refers to Maryam.</a:t>
            </a:r>
            <a:endParaRPr lang="en-US" sz="1250" dirty="0"/>
          </a:p>
          <a:p>
            <a:pPr indent="0" marL="0">
              <a:buNone/>
            </a:pPr>
            <a:r>
              <a:rPr lang="en-US" sz="1050" i="1" dirty="0">
                <a:solidFill>
                  <a:srgbClr val="8A6D1E"/>
                </a:solidFill>
                <a:latin typeface="Calibri" pitchFamily="34" charset="0"/>
                <a:cs typeface="Amiri" pitchFamily="2" charset="-78"/>
              </a:rPr>
              <a:t>Explain reference with exact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EVIDENCE DETECTIVE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exact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أَسْتَيْقِظُ فِي السَّادِسَةِ وَالنِّصْفِ، وَلٰكِنَّ الدَّرْسَ يَبْدَأُ فِي الثَّامِنَةِ.</a:t>
            </a:r>
            <a:endParaRPr lang="ar-SA" sz="10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Whose routine is it?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غَيَّرَ خَالِدٌ رُوتِينَهُ لِأَنَّهُ كَانَ مُتْعَبًا.</a:t>
            </a:r>
            <a:endParaRPr lang="ar-SA" sz="10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sister’s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How long does the club last?</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يَبْدَأُ النَّادِي فِي الخَامِسَةِ وَالنِّصْفِ وَيَنْتَهِي فِي السَّادِسَةِ وَالرُّبْعِ.</a:t>
            </a:r>
            <a:endParaRPr lang="ar-SA"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hour and a half</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statement is supported?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يَذْهَبُ سَامِرٌ إِلَى النَّادِي ثَلَاثَ مَرَّاتٍ، وَلَا يَذْهَبُ يَوْمَ الجُمُعَةِ.</a:t>
            </a:r>
            <a:endParaRPr lang="ar-SA" sz="10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goes every day.</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goes three times a week.</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never goes.</a:t>
            </a:r>
            <a:endParaRPr lang="en-US" sz="12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Underline the event in the question.</a:t>
            </a:r>
            <a:endParaRPr lang="en-US" sz="1250" dirty="0"/>
          </a:p>
          <a:p>
            <a:pPr algn="l" indent="0" marL="0">
              <a:buNone/>
            </a:pPr>
            <a:r>
              <a:rPr lang="en-US" sz="1250" dirty="0">
                <a:solidFill>
                  <a:srgbClr val="1E6B52"/>
                </a:solidFill>
                <a:latin typeface="Calibri" pitchFamily="34" charset="0"/>
                <a:cs typeface="Amiri" pitchFamily="2" charset="-78"/>
              </a:rPr>
              <a:t>Find it in the sentence.</a:t>
            </a:r>
            <a:endParaRPr lang="en-US" sz="1250" dirty="0"/>
          </a:p>
          <a:p>
            <a:pPr algn="l" indent="0" marL="0">
              <a:buNone/>
            </a:pPr>
            <a:r>
              <a:rPr lang="en-US" sz="1250" dirty="0">
                <a:solidFill>
                  <a:srgbClr val="1E6B52"/>
                </a:solidFill>
                <a:latin typeface="Calibri" pitchFamily="34" charset="0"/>
                <a:cs typeface="Amiri" pitchFamily="2" charset="-78"/>
              </a:rPr>
              <a:t>Only then choose the number.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EVIDENCE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exact evidence: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أَسْتَيْقِظُ فِي السَّادِسَةِ وَالنِّصْفِ، وَلٰكِنَّ الدَّرْسَ يَبْدَأُ فِي الثَّامِنَةِ.</a:t>
            </a:r>
            <a:endParaRPr lang="ar-SA" sz="10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other number (8:00) is the lesson, not waking up.</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Whose routine is it?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غَيَّرَ خَالِدٌ رُوتِينَهُ لِأَنَّهُ كَانَ مُتْعَبًا.</a:t>
            </a:r>
            <a:endParaRPr lang="ar-SA" sz="10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sister’s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Khalid’s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 → the nearest male noun: Khalid.</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How long does the club last?</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يَبْدَأُ النَّادِي فِي الخَامِسَةِ وَالنِّصْفِ وَيَنْتَهِي فِي السَّادِسَةِ وَالرُّبْعِ.</a:t>
            </a:r>
            <a:endParaRPr lang="ar-SA" sz="10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45 minutes</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hour and a half</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From 5:30 to 6:15.</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statement is supported?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يَذْهَبُ سَامِرٌ إِلَى النَّادِي ثَلَاثَ مَرَّاتٍ، وَلَا يَذْهَبُ يَوْمَ الجُمُعَةِ.</a:t>
            </a:r>
            <a:endParaRPr lang="ar-SA" sz="10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Samer goes every day.</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Samer goes three times a week.</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Samer never goes.</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ثَلَاثَ مَرَّاتٍ</a:t>
            </a:r>
            <a:pPr algn="l" indent="0" marL="0">
              <a:buNone/>
            </a:pPr>
            <a:r>
              <a:rPr lang="en-US" sz="1050" i="1" dirty="0">
                <a:solidFill>
                  <a:srgbClr val="8A6D1E"/>
                </a:solidFill>
                <a:latin typeface="Calibri" pitchFamily="34" charset="0"/>
                <a:cs typeface="Amiri" pitchFamily="2" charset="-78"/>
              </a:rPr>
              <a:t> = three times.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Underline the event in the question.</a:t>
            </a:r>
            <a:endParaRPr lang="en-US" sz="1250" dirty="0"/>
          </a:p>
          <a:p>
            <a:pPr algn="l" indent="0" marL="0">
              <a:buNone/>
            </a:pPr>
            <a:r>
              <a:rPr lang="en-US" sz="1250" dirty="0">
                <a:solidFill>
                  <a:srgbClr val="1E6B52"/>
                </a:solidFill>
                <a:latin typeface="Calibri" pitchFamily="34" charset="0"/>
                <a:cs typeface="Amiri" pitchFamily="2" charset="-78"/>
              </a:rPr>
              <a:t>Find it in the sentence.</a:t>
            </a:r>
            <a:endParaRPr lang="en-US" sz="1250" dirty="0"/>
          </a:p>
          <a:p>
            <a:pPr algn="l" indent="0" marL="0">
              <a:buNone/>
            </a:pPr>
            <a:r>
              <a:rPr lang="en-US" sz="1250" dirty="0">
                <a:solidFill>
                  <a:srgbClr val="1E6B52"/>
                </a:solidFill>
                <a:latin typeface="Calibri" pitchFamily="34" charset="0"/>
                <a:cs typeface="Amiri" pitchFamily="2" charset="-78"/>
              </a:rPr>
              <a:t>Only then choose the number.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Which evidence answers the question?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تَعُودُ مَرْيَمُ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الرَّابِعَةِ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مَرَّتَيْنِ فِي الأُسْبُوعِ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يَسْتَمِرُّ سَاعَةً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يَعُودُ أَخُوهَا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نَادِرًا مَا</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When / how long?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How often?</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تَعُودُ مَرْيَمُ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يَعُودُ أَخُوهَا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When / how long?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يَسْتَمِرُّ سَاعَةً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How often?</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مَرَّتَيْنِ فِي الأُسْبُوعِ</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نَادِرًا مَا</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حَقِيبَتَهُ</a:t>
            </a:r>
            <a:pPr algn="l" indent="0" marL="0">
              <a:buNone/>
            </a:pPr>
            <a:r>
              <a:rPr lang="en-US" sz="1250" b="1" dirty="0">
                <a:solidFill>
                  <a:srgbClr val="1B3B6F"/>
                </a:solidFill>
                <a:latin typeface="Calibri" pitchFamily="34" charset="0"/>
                <a:cs typeface="Amiri" pitchFamily="2" charset="-78"/>
              </a:rPr>
              <a:t>, what does </a:t>
            </a:r>
            <a:pPr algn="l" indent="0" marL="0">
              <a:buNone/>
            </a:pPr>
            <a:r>
              <a:rPr lang="ar-SA" altLang="en-US" sz="1650" b="1" dirty="0">
                <a:solidFill>
                  <a:srgbClr val="1B3B6F"/>
                </a:solidFill>
                <a:latin typeface="Amiri" pitchFamily="2" charset="-78"/>
                <a:ea typeface="Amiri" pitchFamily="2" charset="-78"/>
                <a:cs typeface="Amiri" pitchFamily="2" charset="-78"/>
              </a:rPr>
              <a:t>ـهُ</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 it masculine</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يَوْمُ الجُمُعَةِ ___ يَزُورُ جَدَّتَهُ.</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usually signal?</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 name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contrast or simultaneous action</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destination</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2" charset="-78"/>
                <a:ea typeface="Amiri" pitchFamily="2" charset="-78"/>
                <a:cs typeface="Amiri" pitchFamily="2" charset="-78"/>
              </a:rPr>
              <a:t>يَبْدَأُ النَّادِي فِي الخَامِسَةِ وَيَنْتَهِي فِي السَّادِسَةِ</a:t>
            </a:r>
            <a:pPr algn="l" indent="0" marL="0">
              <a:buNone/>
            </a:pPr>
            <a:r>
              <a:rPr lang="en-US" sz="1100" b="1" dirty="0">
                <a:solidFill>
                  <a:srgbClr val="1F2A37"/>
                </a:solidFill>
                <a:latin typeface="Calibri" pitchFamily="34" charset="0"/>
                <a:cs typeface="Amiri" pitchFamily="2" charset="-78"/>
              </a:rPr>
              <a:t>. How long does it last?</a:t>
            </a:r>
            <a:endParaRPr lang="en-US" sz="11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hours</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 hours</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حَقِيبَتَهُ</a:t>
            </a:r>
            <a:pPr algn="l" indent="0" marL="0">
              <a:buNone/>
            </a:pPr>
            <a:r>
              <a:rPr lang="en-US" sz="1250" b="1" dirty="0">
                <a:solidFill>
                  <a:srgbClr val="1B3B6F"/>
                </a:solidFill>
                <a:latin typeface="Calibri" pitchFamily="34" charset="0"/>
                <a:cs typeface="Amiri" pitchFamily="2" charset="-78"/>
              </a:rPr>
              <a:t>, what does </a:t>
            </a:r>
            <a:pPr algn="l" indent="0" marL="0">
              <a:buNone/>
            </a:pPr>
            <a:r>
              <a:rPr lang="ar-SA" altLang="en-US" sz="1650" b="1" dirty="0">
                <a:solidFill>
                  <a:srgbClr val="1B3B6F"/>
                </a:solidFill>
                <a:latin typeface="Amiri" pitchFamily="2" charset="-78"/>
                <a:ea typeface="Amiri" pitchFamily="2" charset="-78"/>
                <a:cs typeface="Amiri" pitchFamily="2" charset="-78"/>
              </a:rPr>
              <a:t>ـهُ</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 it masculine</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is a masculine singular suffix.</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يَوْمُ الجُمُعَةِ ___ يَزُورُ جَدَّتَهُ.</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before the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usually signal?</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 name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contrast or simultaneous action</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destination</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links two simultaneous or contrasting clauses.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2" charset="-78"/>
                <a:ea typeface="Amiri" pitchFamily="2" charset="-78"/>
                <a:cs typeface="Amiri" pitchFamily="2" charset="-78"/>
              </a:rPr>
              <a:t>يَبْدَأُ النَّادِي فِي الخَامِسَةِ وَيَنْتَهِي فِي السَّادِسَةِ</a:t>
            </a:r>
            <a:pPr algn="l" indent="0" marL="0">
              <a:buNone/>
            </a:pPr>
            <a:r>
              <a:rPr lang="en-US" sz="1100" b="1" dirty="0">
                <a:solidFill>
                  <a:srgbClr val="1F2A37"/>
                </a:solidFill>
                <a:latin typeface="Calibri" pitchFamily="34" charset="0"/>
                <a:cs typeface="Amiri" pitchFamily="2" charset="-78"/>
              </a:rPr>
              <a:t>. How long does it last?</a:t>
            </a:r>
            <a:endParaRPr lang="en-US" sz="11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hours</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 hours</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start and finish times show a one-hour duration.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تَعُودُ خَالِدٌ فِي الرَّابِعَةِ.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Khalid is a boy.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أَمَّا يَوْمُ السَّبْتِ تَسْتَرِيحُ.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“as for … ”, what joins the comment?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يَبْدَأُ النَّادِي مِنَ الخَامِسَةِ.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start time: fī or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تَعُودُ خَالِدٌ فِي الرَّابِعَةِ.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يَعُودُ خَالِدٌ فِي الرَّابِعَةِ.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third-person subject takes </a:t>
            </a:r>
            <a:pPr algn="l" indent="0" marL="0">
              <a:buNone/>
            </a:pPr>
            <a:r>
              <a:rPr lang="ar-SA" altLang="en-US" sz="1500" b="1" dirty="0">
                <a:solidFill>
                  <a:srgbClr val="1B3B6F"/>
                </a:solidFill>
                <a:latin typeface="Amiri" pitchFamily="2" charset="-78"/>
                <a:ea typeface="Amiri" pitchFamily="2" charset="-78"/>
                <a:cs typeface="Amiri" pitchFamily="2" charset="-78"/>
              </a:rPr>
              <a:t>يَـ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أَمَّا يَوْمُ السَّبْتِ تَسْتَرِيحُ.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يَوْمُ السَّبْتِ فَتَسْتَرِيحُ.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comment after </a:t>
            </a:r>
            <a:pPr algn="l" indent="0" marL="0">
              <a:buNone/>
            </a:pPr>
            <a:r>
              <a:rPr lang="ar-SA" altLang="en-US" sz="1500" b="1" dirty="0">
                <a:solidFill>
                  <a:srgbClr val="1B3B6F"/>
                </a:solidFill>
                <a:latin typeface="Amiri" pitchFamily="2" charset="-78"/>
                <a:ea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begins with </a:t>
            </a:r>
            <a:pPr algn="l" indent="0" marL="0">
              <a:buNone/>
            </a:pPr>
            <a:r>
              <a:rPr lang="ar-SA" altLang="en-US" sz="1500" b="1" dirty="0">
                <a:solidFill>
                  <a:srgbClr val="1B3B6F"/>
                </a:solidFill>
                <a:latin typeface="Amiri" pitchFamily="2" charset="-78"/>
                <a:ea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يَبْدَأُ النَّادِي مِنَ الخَامِسَةِ.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يَبْدَأُ النَّادِي فِي الخَامِسَةِ.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for one start time; use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only when a finishing point follows.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for schedule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speaker leave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the computer club?</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club last?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at 3:30?</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speaker’s sister</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speaker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speaker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second speaker exercise?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afternoon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study in the library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club</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السَّابِعَةِ وَالرُّبْعِ</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الثُّلَاثَاءِ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المُتَحَدِّثُ الأَوَّلُ: يَبْدَأُ يَوْمِي فِي السَّادِسَةِ وَالنِّصْفِ، وَأَخْرُجُ مِنَ البَيْتِ فِي السَّابِعَةِ وَالرُّبْعِ.</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Speaker 1: My day starts at half past six, and I leave home at quarter past seven.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أَذْهَبُ إِلَى نَادِي الحَاسُوبِ يَوْمَ الثُّلَاثَاءِ، وَهُوَ يَسْتَمِرُّ مِنَ الخَامِسَةِ إِلَى السَّادِسَةِ.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computer club on Tuesday, and it lasts from five to six.</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المُتَحَدِّثَةُ الثَّانِيَةُ: أَعُودُ إِلَى البَيْتِ فِي الرَّابِعَةِ، بَيْنَمَا تَعُودُ أُخْتِي فِي الثَّالِثَةِ وَالنِّصْفِ.</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Speaker 2: I return home at four, whereas my sister returns at half past three.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أَتَمَرَّنُ مَرَّتَيْنِ فِي الأُسْبُوعِ، أَمَّا يَوْمُ الخَمِيسِ فَأَدْرُسُ فِي المَكْتَبَةِ.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train twice a week; as for Thursday, I study in the library.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speaker leave home?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السَّابِعَةِ وَالرُّبْعِ.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the computer club?</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Thursday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Saturday</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Tuesday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 الثُّلَاثَاءِ.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club last?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runs from five to six.</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at 3:30?</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second speaker’s sister</a:t>
            </a:r>
            <a:endParaRPr lang="en-US" sz="120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speaker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speaker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تَعُودُ أُخْتِي فِي الثَّالِثَةِ وَالنِّصْفِ.</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second speaker exercise?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afternoon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مَرَّتَيْنِ فِي الأُسْبُوعِ.</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on Thursday?</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study in the library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club</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يَوْمُ الخَمِيسِ فَأَدْرُسُ فِي المَكْتَبَةِ.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السَّابِعَةِ وَالرُّبْعِ</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الثُّلَاثَاءِ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PART 1: THE WEEKLY SCHEDULE (WEBSITE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Maryam’s weekly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الجَدْوَلُ الأُسْبُوعِيُّ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Day</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Activity</a:t>
            </a:r>
            <a:endParaRPr lang="en-US" sz="1100" dirty="0"/>
          </a:p>
        </p:txBody>
      </p:sp>
      <p:sp>
        <p:nvSpPr>
          <p:cNvPr id="18" name="Text 15"/>
          <p:cNvSpPr txBox="1"/>
          <p:nvPr/>
        </p:nvSpPr>
        <p:spPr>
          <a:xfrm>
            <a:off x="53035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الاِثْنَيْنُ</a:t>
            </a:r>
            <a:endParaRPr lang="ar-SA" sz="2600" dirty="0"/>
          </a:p>
        </p:txBody>
      </p:sp>
      <p:sp>
        <p:nvSpPr>
          <p:cNvPr id="21" name="Text 18"/>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السِّبَاحَةُ</a:t>
            </a:r>
            <a:endParaRPr lang="ar-SA" sz="2600" dirty="0"/>
          </a:p>
        </p:txBody>
      </p:sp>
      <p:sp>
        <p:nvSpPr>
          <p:cNvPr id="22" name="Text 19"/>
          <p:cNvSpPr txBox="1"/>
          <p:nvPr/>
        </p:nvSpPr>
        <p:spPr>
          <a:xfrm>
            <a:off x="548640" y="2267712"/>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الرَّابِعَةِ إِلَى الخَامِسَةِ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الثُّلَاثَاءُ</a:t>
            </a:r>
            <a:endParaRPr lang="ar-SA" sz="2600" dirty="0"/>
          </a:p>
        </p:txBody>
      </p:sp>
      <p:sp>
        <p:nvSpPr>
          <p:cNvPr id="27" name="Text 24"/>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نَادِي الحَاسُوبِ</a:t>
            </a:r>
            <a:endParaRPr lang="ar-SA" sz="2600" dirty="0"/>
          </a:p>
        </p:txBody>
      </p:sp>
      <p:sp>
        <p:nvSpPr>
          <p:cNvPr id="28" name="Text 25"/>
          <p:cNvSpPr txBox="1"/>
          <p:nvPr/>
        </p:nvSpPr>
        <p:spPr>
          <a:xfrm>
            <a:off x="548640" y="3054096"/>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الخَامِسَةِ وَالنِّصْفِ</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الأَرْبِعَاءُ</a:t>
            </a:r>
            <a:endParaRPr lang="ar-SA" sz="2600" dirty="0"/>
          </a:p>
        </p:txBody>
      </p:sp>
      <p:sp>
        <p:nvSpPr>
          <p:cNvPr id="33" name="Text 30"/>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لَا نَشَاطَ بَعْدَ المَدْرَسَةِ</a:t>
            </a:r>
            <a:endParaRPr lang="ar-SA" sz="2600" dirty="0"/>
          </a:p>
        </p:txBody>
      </p:sp>
      <p:sp>
        <p:nvSpPr>
          <p:cNvPr id="34" name="Text 31"/>
          <p:cNvSpPr txBox="1"/>
          <p:nvPr/>
        </p:nvSpPr>
        <p:spPr>
          <a:xfrm>
            <a:off x="548640" y="3840480"/>
            <a:ext cx="4873752" cy="731520"/>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الخَمِيسُ</a:t>
            </a:r>
            <a:endParaRPr lang="ar-SA" sz="2600" dirty="0"/>
          </a:p>
        </p:txBody>
      </p:sp>
      <p:sp>
        <p:nvSpPr>
          <p:cNvPr id="39" name="Text 36"/>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دَرْسُ اللُّغَةِ العَرَبِيَّةِ</a:t>
            </a:r>
            <a:endParaRPr lang="ar-SA" sz="2600" dirty="0"/>
          </a:p>
        </p:txBody>
      </p:sp>
      <p:sp>
        <p:nvSpPr>
          <p:cNvPr id="40" name="Text 37"/>
          <p:cNvSpPr txBox="1"/>
          <p:nvPr/>
        </p:nvSpPr>
        <p:spPr>
          <a:xfrm>
            <a:off x="548640" y="4626864"/>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السَّادِسَةِ إِلَى السَّابِعَةِ إِلَّا الرُّبْعَ</a:t>
            </a:r>
            <a:endParaRPr lang="ar-SA" sz="24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task: copy the table and write the start time, finish time and duration for each day in numbers.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 weekly schedule and a routine email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يَا لَيْلَى، أَعُودُ إِلَى البَيْتِ يَوْمَ الثُّلَاثَاءِ فِي الرَّابِعَةِ، ثُمَّ أَتَنَاوَلُ وَجْبَةً خَفِيفَةً قَبْلَ أَنْ أَذْهَبَ إِلَى نَادِي الحَاسُوبِ. أَمَّا يَوْمُ الأَرْبِعَاءِ فَهُوَ أَهْدَأُ يَوْمٍ عِنْدِي، لِذٰلِكَ أُكْمِلُ وَاجِبِي وَأُسَاعِدُ أُسْرَتِي. يَوْمَ الخَمِيسِ أَدْرُسُ العَرَبِيَّةَ، بَيْنَمَا يَلْعَبُ أَخِي كُرَةَ القَدَمِ. هَلْ نَلْتَقِي يَوْمَ الجُمُعَةِ فِي الخَامِسَةِ؟ مَرْيَمُ.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مَرْحَبًا</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hello</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وَجْبَةً خَفِيفَةً</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snack</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الحَاسُوبِ</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computer club</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أَهْدَأُ يَوْمٍ</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calmest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عِنْدِي</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me</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لِذٰلِكَ</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therefore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أُكْمِلُ وَاجِبِي</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finish my homework</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كُرَةَ القَدَمِ</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football</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هَلْ نَلْتَقِي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shall we meet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 الجُمُعَةِ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Friday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Monday swimming?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Arabic lesson finish?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6:15</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do before computer club?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 a snack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Wednesday quieter?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closed</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after-school activity</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finishes at noon</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plays football on Thursday?</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Maryam’s brother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 refer to in </a:t>
            </a:r>
            <a:pPr algn="l" indent="0" marL="0">
              <a:buNone/>
            </a:pPr>
            <a:r>
              <a:rPr lang="ar-SA" altLang="en-US" sz="1650" b="1" dirty="0">
                <a:solidFill>
                  <a:srgbClr val="1B3B6F"/>
                </a:solidFill>
                <a:latin typeface="Amiri" pitchFamily="2" charset="-78"/>
                <a:ea typeface="Amiri" pitchFamily="2" charset="-78"/>
                <a:cs typeface="Amiri" pitchFamily="2" charset="-78"/>
              </a:rPr>
              <a:t>فَهُوَ أَهْدَأُ يَوْمٍ؟</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homework</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family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suggest meeting?</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at five</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 at six</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 at five</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is stated?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Maryam studies Arabic while her brother plays football.</a:t>
            </a:r>
            <a:endParaRPr lang="en-US" sz="11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study Arabic.</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 attends computer club.</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Monday swimming?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runs from four to five.</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Arabic lesson finish?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6:15</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6:45</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السَّابِعَةِ إِلَّا الرُّبْعَ = 6:45.</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do before computer club?</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has a snack</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has a snack before going.</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Wednesday quieter?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closed</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there is no after-school activity</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finishes at noon</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schedule says </a:t>
            </a:r>
            <a:pPr algn="l" indent="0" marL="0">
              <a:buNone/>
            </a:pPr>
            <a:r>
              <a:rPr lang="ar-SA" altLang="en-US" sz="1350" dirty="0">
                <a:solidFill>
                  <a:srgbClr val="8A6D1E"/>
                </a:solidFill>
                <a:latin typeface="Amiri" pitchFamily="2" charset="-78"/>
                <a:ea typeface="Amiri" pitchFamily="2" charset="-78"/>
                <a:cs typeface="Amiri" pitchFamily="2" charset="-78"/>
              </a:rPr>
              <a:t>لَا نَشَاطَ بَعْدَ المَدْرَسَةِ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plays football on Thursday?</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Maryam’s brother</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يَلْعَبُ أَخِي كُرَةَ القَدَمِ.</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 refer to in </a:t>
            </a:r>
            <a:pPr algn="l" indent="0" marL="0">
              <a:buNone/>
            </a:pPr>
            <a:r>
              <a:rPr lang="ar-SA" altLang="en-US" sz="1650" b="1" dirty="0">
                <a:solidFill>
                  <a:srgbClr val="1B3B6F"/>
                </a:solidFill>
                <a:latin typeface="Amiri" pitchFamily="2" charset="-78"/>
                <a:ea typeface="Amiri" pitchFamily="2" charset="-78"/>
                <a:cs typeface="Amiri" pitchFamily="2" charset="-78"/>
              </a:rPr>
              <a:t>فَهُوَ أَهْدَأُ يَوْمٍ؟</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homework</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family</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Wednesday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pronoun refers to </a:t>
            </a:r>
            <a:pPr algn="l" indent="0" marL="0">
              <a:buNone/>
            </a:pPr>
            <a:r>
              <a:rPr lang="ar-SA" altLang="en-US" sz="1350" dirty="0">
                <a:solidFill>
                  <a:srgbClr val="8A6D1E"/>
                </a:solidFill>
                <a:latin typeface="Amiri" pitchFamily="2" charset="-78"/>
                <a:ea typeface="Amiri" pitchFamily="2" charset="-78"/>
                <a:cs typeface="Amiri" pitchFamily="2" charset="-78"/>
              </a:rPr>
              <a:t>يَوْمُ الأَرْبِعَاءِ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suggest meeting?</a:t>
            </a:r>
            <a:endParaRPr lang="en-US" sz="1250" dirty="0"/>
          </a:p>
        </p:txBody>
      </p:sp>
      <p:sp>
        <p:nvSpPr>
          <p:cNvPr id="109" name="Shape 106"/>
          <p:cNvSpPr/>
          <p:nvPr/>
        </p:nvSpPr>
        <p:spPr>
          <a:xfrm>
            <a:off x="6368796" y="4831080"/>
            <a:ext cx="256032" cy="256032"/>
          </a:xfrm>
          <a:prstGeom prst="ellipse">
            <a:avLst/>
          </a:prstGeom>
          <a:solidFill>
            <a:srgbClr val="C9CED6"/>
          </a:solidFill>
          <a:ln w="12700">
            <a:solidFill>
              <a:srgbClr val="C9CED6"/>
            </a:solidFill>
            <a:prstDash val="solid"/>
          </a:ln>
        </p:spPr>
      </p:sp>
      <p:sp>
        <p:nvSpPr>
          <p:cNvPr id="110" name="Text 10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1" name="Text 108"/>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 at five</a:t>
            </a:r>
            <a:endParaRPr lang="en-US" sz="1250" dirty="0"/>
          </a:p>
        </p:txBody>
      </p:sp>
      <p:sp>
        <p:nvSpPr>
          <p:cNvPr id="112" name="Shape 109"/>
          <p:cNvSpPr/>
          <p:nvPr/>
        </p:nvSpPr>
        <p:spPr>
          <a:xfrm>
            <a:off x="6368796" y="5202936"/>
            <a:ext cx="256032" cy="256032"/>
          </a:xfrm>
          <a:prstGeom prst="ellipse">
            <a:avLst/>
          </a:prstGeom>
          <a:solidFill>
            <a:srgbClr val="C9CED6"/>
          </a:solidFill>
          <a:ln w="12700">
            <a:solidFill>
              <a:srgbClr val="C9CED6"/>
            </a:solidFill>
            <a:prstDash val="solid"/>
          </a:ln>
        </p:spPr>
      </p:sp>
      <p:sp>
        <p:nvSpPr>
          <p:cNvPr id="113" name="Text 11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4" name="Text 111"/>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Thursday at six</a:t>
            </a:r>
            <a:endParaRPr lang="en-US" sz="1250" dirty="0"/>
          </a:p>
        </p:txBody>
      </p:sp>
      <p:sp>
        <p:nvSpPr>
          <p:cNvPr id="115" name="Shape 112"/>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6368796" y="557479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Friday at five</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هَلْ نَلْتَقِي يَوْمَ الجُمُعَةِ فِي الخَامِسَةِ؟</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is stated?</a:t>
            </a:r>
            <a:endParaRPr lang="en-US" sz="1250" dirty="0"/>
          </a:p>
        </p:txBody>
      </p:sp>
      <p:sp>
        <p:nvSpPr>
          <p:cNvPr id="124" name="Shape 121"/>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5" name="Shape 122"/>
          <p:cNvSpPr/>
          <p:nvPr/>
        </p:nvSpPr>
        <p:spPr>
          <a:xfrm>
            <a:off x="9233154" y="4831080"/>
            <a:ext cx="256032" cy="256032"/>
          </a:xfrm>
          <a:prstGeom prst="ellipse">
            <a:avLst/>
          </a:prstGeom>
          <a:solidFill>
            <a:srgbClr val="2E8B57"/>
          </a:solidFill>
          <a:ln w="12700">
            <a:solidFill>
              <a:srgbClr val="2E8B57"/>
            </a:solidFill>
            <a:prstDash val="solid"/>
          </a:ln>
        </p:spPr>
      </p:sp>
      <p:sp>
        <p:nvSpPr>
          <p:cNvPr id="126" name="Text 123"/>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27" name="Text 124"/>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Maryam studies Arabic while her brother plays football.</a:t>
            </a:r>
            <a:endParaRPr lang="en-US" sz="1150" dirty="0"/>
          </a:p>
        </p:txBody>
      </p:sp>
      <p:sp>
        <p:nvSpPr>
          <p:cNvPr id="128" name="Shape 125"/>
          <p:cNvSpPr/>
          <p:nvPr/>
        </p:nvSpPr>
        <p:spPr>
          <a:xfrm>
            <a:off x="9233154" y="5202936"/>
            <a:ext cx="256032" cy="256032"/>
          </a:xfrm>
          <a:prstGeom prst="ellipse">
            <a:avLst/>
          </a:prstGeom>
          <a:solidFill>
            <a:srgbClr val="C9CED6"/>
          </a:solidFill>
          <a:ln w="12700">
            <a:solidFill>
              <a:srgbClr val="C9CED6"/>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study Arabic.</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Her brother attends computer club.</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contrast follows </a:t>
            </a:r>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Explain how you found exact evidence in a routine or schedule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وَجَدْتَ وَقْتَ البَدْءِ وَوَقْتَ الاِنْتِهَاءِ؟</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مَنْ يَعُودُ الضَّمِيرُ فِي الجُمْلَةِ؟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نَشَاطَيْنِ فِي الجَدْوَلِ.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اِذْكُرْ دَلِيلًا دَقِيقًا يُثْبِتُ إِجَابَتَكَ.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وَجَدْتُ الوَقْتَ فِي خَانَةِ يَوْمِ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يَعُودُ الضَّمِيرُ «ـهَا / ـهُ»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أَطْوَلُ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الدَّلِيلُ مَوْجُودٌ فِي ___ :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يَنْتَهِي دَرْسُ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does the Arabic lesson end?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يَنْتَهِي فِي السَّابِعَةِ إِلَّا الرُّبْعَ.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ends at quarter to seven.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details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Locate and record six exact details from a routine and a schedule.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From the schedule: six exact details (day, activity, start, finish) written as full sentences.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two pronoun references and compare two routines with evidence.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days or two people with exact times and two pronoun references explained.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concise inference that combines time, frequency, person and contrast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two routines or schedules with exact times, frequency, sequence, reference and two pieces of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حَسَبَ الجَدْوَلِ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the schedule,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يَعُودُ الضَّمِيرُ «ـهَا»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pronoun “her” refers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تَـ ______ مَرْيَمُ ، بَيْنَمَا يَـ ______ أَخُوهَا.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Maryam …, whereas her brother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الدَّلِيلُ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تَذْهَبَ إِلَى النَّادِي تَـ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she goes to the club, she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الاِثْنَيْنِ تَـ ______ مَرْيَمُ.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Monday, Maryam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تَبْدَأُ السِّبَاحَةُ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Swimming starts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تَنْتَهِي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ends at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تَسْتَمِرُّ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الأَرْبِعَاءِ لَا نَشَاطَ بَعْدَ المَدْرَسَةِ.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Wednesday there is no activity.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حَسَبَ الجَدْوَلِ  ·  مِنَ النَّصِّ  ·  الدَّلِيلُ  ·  يَبْدَأُ / تَبْدَأُ  ·  يَنْتَهِي / تَنْتَهِي  ·  يَسْتَمِرُّ  ·  مِنْ … إِلَى  ·  مَرَّتَيْنِ  ·  بَيْنَمَا  ·  أَمَّا … فَـ  ·  يَعُودُ الضَّمِيرُ إِلَى  ·  خَانَةٌ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comparing two daily routines or weekly schedules. Include exact times, frequency, sequence, person reference and at least two pieces of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Identify both people or schedules clearly.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exact time or frequency details.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Control masculine and feminine present-tense forms.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before/after and one contrast connector.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End with a concise evidence-based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يُبَيِّنُ الجَدْوَلَانِ رُوتِينَيْنِ مُخْتَلِفَيْنِ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two schedules show two different routines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المُقَابِلِ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contrast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الدَّلِيلُ عَلَى أَنَّ رُوتِينَهَا مُنَظَّمٌ هُوَ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evidence that her routine is organised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كِلَا الرُّوتِينَيْنِ مُنَظَّمٌ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both routines are organised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تَنَوُّعًا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varied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يُبَيِّنُ الجَدْوَلَانِ رُوتِينَيْنِ مُخْتَلِفَيْنِ. تَعُودُ مَرْيَمُ إِلَى البَيْتِ فِي الرَّابِعَةِ، بَيْنَمَا يَعُودُ أَخُوهَا فِي الثَّالِثَةِ وَالنِّصْفِ. تَذْهَبُ مَرْيَمُ إِلَى السِّبَاحَةِ مَرَّتَيْنِ فِي الأُسْبُوعِ، أَمَّا أَخُوهَا فَيَلْعَبُ كُرَةَ القَدَمِ ثَلَاثَ مَرَّاتٍ. يَوْمَ الخَمِيسِ تَدْرُسُ مَرْيَمُ العَرَبِيَّةَ مِنَ السَّادِسَةِ إِلَى السَّابِعَةِ إِلَّا الرُّبْعَ. قَبْلَ أَنْ تَذْهَبَ إِلَى الدَّرْسِ، تُكْمِلُ وَاجِبَهَا. الدَّلِيلُ عَلَى أَنَّ رُوتِينَهَا مُنَظَّمٌ هُوَ أَنَّهَا تُحَضِّرُ حَقِيبَتَهَا لَيْلًا. فِي المُقَابِلِ، رُوتِينُ أَخِيهَا أَكْثَرُ رِيَاضِيَّةً. فِي رَأْيِي، كِلَا الرُّوتِينَيْنِ مُنَظَّمٌ، وَلٰكِنَّ رُوتِينَ مَرْيَمَ أَكْثَرُ تَنَوُّعًا.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two schedules show two different routines. Maryam returns home at four, whereas her brother returns at half past three. Maryam goes swimming twice a week; as for her brother, he plays football three times. On Thursday Maryam studies Arabic from six to quarter to seven. Before she goes to the lesson, she finishes her homework. The evidence that her routine is organised is that she prepares her bag at night. By contrast, her brother’s routine is more sporty. In my opinion, both routines are organised, but Maryam’s routine is more varied.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“from … to …” time span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feminine and two masculine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piece of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contrast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times match the right day and activity.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for one time and “from … to” for a span.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matches its person (ta- / 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one pronoun refers to.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two pieces of exact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“according to the schedule”?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حَسَبَ الجَدْوَلِ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الجَدْوَلِ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answers </a:t>
            </a:r>
            <a:pPr algn="l" indent="0" marL="0">
              <a:buNone/>
            </a:pPr>
            <a:r>
              <a:rPr lang="ar-SA" altLang="en-US" sz="1650" b="1" dirty="0">
                <a:solidFill>
                  <a:srgbClr val="1B3B6F"/>
                </a:solidFill>
                <a:latin typeface="Amiri" pitchFamily="2" charset="-78"/>
                <a:ea typeface="Amiri" pitchFamily="2" charset="-78"/>
                <a:cs typeface="Amiri" pitchFamily="2" charset="-78"/>
              </a:rPr>
              <a:t>كَمْ مَرَّةً؟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الرَّابِعَةِ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الأُسْبُوعِ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 الخَمِيسِ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club runs from 5:00 to 6:30. What is its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and a half hours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hours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“according to the schedule”?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حَسَبَ الجَدْوَلِ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رَأْيِي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بَعْدَ الجَدْوَلِ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حَسَبَ الجَدْوَلِ</a:t>
            </a:r>
            <a:pPr algn="l" indent="0" marL="0">
              <a:buNone/>
            </a:pPr>
            <a:r>
              <a:rPr lang="en-US" sz="1050" i="1" dirty="0">
                <a:solidFill>
                  <a:srgbClr val="8A6D1E"/>
                </a:solidFill>
                <a:latin typeface="Calibri" pitchFamily="34" charset="0"/>
                <a:cs typeface="Amiri" pitchFamily="2" charset="-78"/>
              </a:rPr>
              <a:t> introduces schedule evidence.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answers </a:t>
            </a:r>
            <a:pPr algn="l" indent="0" marL="0">
              <a:buNone/>
            </a:pPr>
            <a:r>
              <a:rPr lang="ar-SA" altLang="en-US" sz="1650" b="1" dirty="0">
                <a:solidFill>
                  <a:srgbClr val="1B3B6F"/>
                </a:solidFill>
                <a:latin typeface="Amiri" pitchFamily="2" charset="-78"/>
                <a:ea typeface="Amiri" pitchFamily="2" charset="-78"/>
                <a:cs typeface="Amiri" pitchFamily="2" charset="-78"/>
              </a:rPr>
              <a:t>كَمْ مَرَّةً؟</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الرَّابِعَةِ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مَرَّتَيْنِ فِي الأُسْبُوعِ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يَوْمَ الخَمِيسِ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Frequency is expressed with </a:t>
            </a:r>
            <a:pPr algn="l" indent="0" marL="0">
              <a:buNone/>
            </a:pPr>
            <a:r>
              <a:rPr lang="ar-SA" altLang="en-US" sz="1350" dirty="0">
                <a:solidFill>
                  <a:srgbClr val="8A6D1E"/>
                </a:solidFill>
                <a:latin typeface="Amiri" pitchFamily="2" charset="-78"/>
                <a:ea typeface="Amiri" pitchFamily="2" charset="-78"/>
                <a:cs typeface="Amiri" pitchFamily="2" charset="-78"/>
              </a:rPr>
              <a:t>مَرَّاتٍ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club runs from 5:00 to 6:30. What is its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and a half hours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hours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difference between the two times is 90 minutes.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reading evidence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السَّلَامُ عَلَيْكُمْ يَا سَارَةُ</a:t>
            </a:r>
            <a:pPr algn="l" indent="0" marL="0">
              <a:buNone/>
            </a:pPr>
            <a:r>
              <a:rPr lang="en-US" sz="1000" b="1" dirty="0">
                <a:solidFill>
                  <a:srgbClr val="1F2A37"/>
                </a:solidFill>
                <a:latin typeface="Calibri" pitchFamily="34" charset="0"/>
                <a:cs typeface="Amiri" pitchFamily="2" charset="-78"/>
              </a:rPr>
              <a:t>... </a:t>
            </a:r>
            <a:pPr algn="l" indent="0" marL="0">
              <a:buNone/>
            </a:pPr>
            <a:r>
              <a:rPr lang="ar-SA" altLang="en-US" sz="1300" b="1" dirty="0">
                <a:solidFill>
                  <a:srgbClr val="1F2A37"/>
                </a:solidFill>
                <a:latin typeface="Amiri" pitchFamily="2" charset="-78"/>
                <a:ea typeface="Amiri" pitchFamily="2" charset="-78"/>
                <a:cs typeface="Amiri" pitchFamily="2" charset="-78"/>
              </a:rPr>
              <a:t>مَعَ أَطْيَبِ التَّحِيَّاتِ، لَيْلَى</a:t>
            </a:r>
            <a:pPr algn="l" indent="0" marL="0">
              <a:buNone/>
            </a:pPr>
            <a:r>
              <a:rPr lang="en-US" sz="1000" b="1" dirty="0">
                <a:solidFill>
                  <a:srgbClr val="1F2A37"/>
                </a:solidFill>
                <a:latin typeface="Calibri" pitchFamily="34" charset="0"/>
                <a:cs typeface="Amiri" pitchFamily="2" charset="-78"/>
              </a:rPr>
              <a:t>. What type of text is this?</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جَدْوَلٌ أُسْبُوعِيٌّ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رِسَالَةٌ إِلِكْتِرُونِيَّةٌ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إِعْلَانٌ</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أَسْتَيْقِظُ فِي السَّادِسَةِ وَالنِّصْفِ، وَلٰكِنَّ الدَّرْسَ يَبْدَأُ فِي الثَّامِنَةِ</a:t>
            </a:r>
            <a:pPr algn="l" indent="0" marL="0">
              <a:buNone/>
            </a:pPr>
            <a:r>
              <a:rPr lang="en-US" sz="1000" b="1" dirty="0">
                <a:solidFill>
                  <a:srgbClr val="1F2A37"/>
                </a:solidFill>
                <a:latin typeface="Calibri" pitchFamily="34" charset="0"/>
                <a:cs typeface="Amiri" pitchFamily="2" charset="-78"/>
              </a:rPr>
              <a:t>. When does the writer wake up?</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غَيَّرَ خَالِدٌ رُوتِينَهُ لِأَنَّهُ كَانَ مُتْعَبًا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ea typeface="Amiri" pitchFamily="2" charset="-78"/>
                <a:cs typeface="Amiri" pitchFamily="2" charset="-78"/>
              </a:rPr>
              <a:t>ـهُ</a:t>
            </a:r>
            <a:pPr algn="l" indent="0" marL="0">
              <a:buNone/>
            </a:pPr>
            <a:r>
              <a:rPr lang="en-US" sz="1000" b="1" dirty="0">
                <a:solidFill>
                  <a:srgbClr val="1F2A37"/>
                </a:solidFill>
                <a:latin typeface="Calibri" pitchFamily="34" charset="0"/>
                <a:cs typeface="Amiri" pitchFamily="2" charset="-78"/>
              </a:rPr>
              <a:t> in </a:t>
            </a:r>
            <a:pPr algn="l" indent="0" marL="0">
              <a:buNone/>
            </a:pPr>
            <a:r>
              <a:rPr lang="ar-SA" altLang="en-US" sz="1300" b="1" dirty="0">
                <a:solidFill>
                  <a:srgbClr val="1F2A37"/>
                </a:solidFill>
                <a:latin typeface="Amiri" pitchFamily="2" charset="-78"/>
                <a:ea typeface="Amiri" pitchFamily="2" charset="-78"/>
                <a:cs typeface="Amiri" pitchFamily="2" charset="-78"/>
              </a:rPr>
              <a:t>رُوتِينَهُ</a:t>
            </a:r>
            <a:pPr algn="l" indent="0" marL="0">
              <a:buNone/>
            </a:pPr>
            <a:r>
              <a:rPr lang="en-US" sz="1000" b="1" dirty="0">
                <a:solidFill>
                  <a:srgbClr val="1F2A37"/>
                </a:solidFill>
                <a:latin typeface="Calibri" pitchFamily="34" charset="0"/>
                <a:cs typeface="Amiri" pitchFamily="2" charset="-78"/>
              </a:rPr>
              <a:t> refer to?</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رُوتِينُ أُخْتِهِ</a:t>
            </a:r>
            <a:endParaRPr lang="ar-SA" sz="20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رُوتِينُ الكَاتِبِ</a:t>
            </a:r>
            <a:endParaRPr lang="ar-SA" sz="20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رُوتِينُ خَالِدٍ</a:t>
            </a:r>
            <a:endParaRPr lang="ar-SA" sz="20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يَبْدَأُ النَّادِي فِي الخَامِسَةِ وَالنِّصْفِ وَيَنْتَهِي فِي السَّادِسَةِ وَالرُّبْعِ</a:t>
            </a:r>
            <a:pPr algn="l" indent="0" marL="0">
              <a:buNone/>
            </a:pPr>
            <a:r>
              <a:rPr lang="en-US" sz="1000" b="1" dirty="0">
                <a:solidFill>
                  <a:srgbClr val="1F2A37"/>
                </a:solidFill>
                <a:latin typeface="Calibri" pitchFamily="34" charset="0"/>
                <a:cs typeface="Amiri" pitchFamily="2" charset="-78"/>
              </a:rPr>
              <a:t>. How long does it last?</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 سَاعَةٍ</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سَاعَةٌ وَنِصْفٌ</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 وَأَرْبَعُونَ دَقِيقَةً</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يَذْهَبُ سَامِرٌ إِلَى النَّادِي ثَلَاثَ مَرَّاتٍ، وَلَا يَذْهَبُ يَوْمَ الجُمُعَةِ</a:t>
            </a:r>
            <a:pPr algn="l" indent="0" marL="0">
              <a:buNone/>
            </a:pPr>
            <a:r>
              <a:rPr lang="en-US" sz="1000" b="1" dirty="0">
                <a:solidFill>
                  <a:srgbClr val="1F2A37"/>
                </a:solidFill>
                <a:latin typeface="Calibri" pitchFamily="34" charset="0"/>
                <a:cs typeface="Amiri" pitchFamily="2" charset="-78"/>
              </a:rPr>
              <a:t>. Which statement is supported?</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سَامِرٌ يَذْهَبُ إِلَى النَّادِي ثَلَاثَ مَرَّاتٍ فِي الأُسْبُوعِ.</a:t>
            </a:r>
            <a:endParaRPr lang="ar-SA" sz="140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سَامِرٌ يَذْهَبُ إِلَى النَّادِي يَوْمِيًّا.</a:t>
            </a:r>
            <a:endParaRPr lang="ar-SA" sz="140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سَامِرٌ لَا يَذْهَبُ إِلَى النَّادِي أَبَدًا.</a:t>
            </a:r>
            <a:endParaRPr lang="ar-SA" sz="140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0" name="Text 8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Which sentence is the strongest evidence for “The writer has an organised routine”?</a:t>
            </a:r>
            <a:endParaRPr lang="en-US" sz="1150" dirty="0"/>
          </a:p>
        </p:txBody>
      </p:sp>
      <p:sp>
        <p:nvSpPr>
          <p:cNvPr id="91" name="Shape 88"/>
          <p:cNvSpPr/>
          <p:nvPr/>
        </p:nvSpPr>
        <p:spPr>
          <a:xfrm>
            <a:off x="8278368"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3" name="Text 90"/>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فِي رَأْيِي الرُّوتِينُ جَيِّدٌ.</a:t>
            </a:r>
            <a:endParaRPr lang="ar-SA" sz="1500" dirty="0"/>
          </a:p>
        </p:txBody>
      </p:sp>
      <p:sp>
        <p:nvSpPr>
          <p:cNvPr id="94" name="Shape 91"/>
          <p:cNvSpPr/>
          <p:nvPr/>
        </p:nvSpPr>
        <p:spPr>
          <a:xfrm>
            <a:off x="8278368"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6" name="Text 93"/>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يُحَضِّرُ حَقِيبَتَهُ لَيْلًا وَيَضْبِطُ مُنَبِّهَهُ قَبْلَ النَّوْمِ.</a:t>
            </a:r>
            <a:endParaRPr lang="ar-SA" sz="1500" dirty="0"/>
          </a:p>
        </p:txBody>
      </p:sp>
      <p:sp>
        <p:nvSpPr>
          <p:cNvPr id="97" name="Shape 94"/>
          <p:cNvSpPr/>
          <p:nvPr/>
        </p:nvSpPr>
        <p:spPr>
          <a:xfrm>
            <a:off x="8278368" y="57881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9" name="Text 96"/>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الرُّوتِينُ كَلِمَةٌ مُهِمَّةٌ.</a:t>
            </a:r>
            <a:endParaRPr lang="ar-SA" sz="150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السَّلَامُ عَلَيْكُمْ يَا سَارَةُ</a:t>
            </a:r>
            <a:pPr algn="l" indent="0" marL="0">
              <a:buNone/>
            </a:pPr>
            <a:r>
              <a:rPr lang="en-US" sz="1000" b="1" dirty="0">
                <a:solidFill>
                  <a:srgbClr val="1F2A37"/>
                </a:solidFill>
                <a:latin typeface="Calibri" pitchFamily="34" charset="0"/>
                <a:cs typeface="Amiri" pitchFamily="2" charset="-78"/>
              </a:rPr>
              <a:t>... </a:t>
            </a:r>
            <a:pPr algn="l" indent="0" marL="0">
              <a:buNone/>
            </a:pPr>
            <a:r>
              <a:rPr lang="ar-SA" altLang="en-US" sz="1300" b="1" dirty="0">
                <a:solidFill>
                  <a:srgbClr val="1F2A37"/>
                </a:solidFill>
                <a:latin typeface="Amiri" pitchFamily="2" charset="-78"/>
                <a:ea typeface="Amiri" pitchFamily="2" charset="-78"/>
                <a:cs typeface="Amiri" pitchFamily="2" charset="-78"/>
              </a:rPr>
              <a:t>مَعَ أَطْيَبِ التَّحِيَّاتِ، لَيْلَى</a:t>
            </a:r>
            <a:pPr algn="l" indent="0" marL="0">
              <a:buNone/>
            </a:pPr>
            <a:r>
              <a:rPr lang="en-US" sz="1000" b="1" dirty="0">
                <a:solidFill>
                  <a:srgbClr val="1F2A37"/>
                </a:solidFill>
                <a:latin typeface="Calibri" pitchFamily="34" charset="0"/>
                <a:cs typeface="Amiri" pitchFamily="2" charset="-78"/>
              </a:rPr>
              <a:t>. What type of text is this?</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جَدْوَلٌ أُسْبُوعِيٌّ</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رِسَالَةٌ إِلِكْتِرُونِيَّةٌ</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إِعْلَانٌ</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greeting, named recipient and closing are features of an email.</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أَسْتَيْقِظُ فِي السَّادِسَةِ وَالنِّصْفِ، وَلٰكِنَّ الدَّرْسَ يَبْدَأُ فِي الثَّامِنَةِ</a:t>
            </a:r>
            <a:pPr algn="l" indent="0" marL="0">
              <a:buNone/>
            </a:pPr>
            <a:r>
              <a:rPr lang="en-US" sz="1000" b="1" dirty="0">
                <a:solidFill>
                  <a:srgbClr val="1F2A37"/>
                </a:solidFill>
                <a:latin typeface="Calibri" pitchFamily="34" charset="0"/>
                <a:cs typeface="Amiri" pitchFamily="2" charset="-78"/>
              </a:rPr>
              <a:t>. When does the writer wake up?</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exact evidence linked to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 is </a:t>
            </a:r>
            <a:pPr algn="l" indent="0" marL="0">
              <a:buNone/>
            </a:pPr>
            <a:r>
              <a:rPr lang="ar-SA" altLang="en-US" sz="1350" dirty="0">
                <a:solidFill>
                  <a:srgbClr val="8A6D1E"/>
                </a:solidFill>
                <a:latin typeface="Amiri" pitchFamily="2" charset="-78"/>
                <a:ea typeface="Amiri" pitchFamily="2" charset="-78"/>
                <a:cs typeface="Amiri" pitchFamily="2" charset="-78"/>
              </a:rPr>
              <a:t>فِي السَّادِسَةِ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غَيَّرَ خَالِدٌ رُوتِينَهُ لِأَنَّهُ كَانَ مُتْعَبًا</a:t>
            </a:r>
            <a:pPr algn="l" indent="0" marL="0">
              <a:buNone/>
            </a:pPr>
            <a:r>
              <a:rPr lang="en-US" sz="1000" b="1" dirty="0">
                <a:solidFill>
                  <a:srgbClr val="1F2A37"/>
                </a:solidFill>
                <a:latin typeface="Calibri" pitchFamily="34" charset="0"/>
                <a:cs typeface="Amiri" pitchFamily="2" charset="-78"/>
              </a:rPr>
              <a:t>. What does </a:t>
            </a:r>
            <a:pPr algn="l" indent="0" marL="0">
              <a:buNone/>
            </a:pPr>
            <a:r>
              <a:rPr lang="ar-SA" altLang="en-US" sz="1300" b="1" dirty="0">
                <a:solidFill>
                  <a:srgbClr val="1F2A37"/>
                </a:solidFill>
                <a:latin typeface="Amiri" pitchFamily="2" charset="-78"/>
                <a:ea typeface="Amiri" pitchFamily="2" charset="-78"/>
                <a:cs typeface="Amiri" pitchFamily="2" charset="-78"/>
              </a:rPr>
              <a:t>ـهُ</a:t>
            </a:r>
            <a:pPr algn="l" indent="0" marL="0">
              <a:buNone/>
            </a:pPr>
            <a:r>
              <a:rPr lang="en-US" sz="1000" b="1" dirty="0">
                <a:solidFill>
                  <a:srgbClr val="1F2A37"/>
                </a:solidFill>
                <a:latin typeface="Calibri" pitchFamily="34" charset="0"/>
                <a:cs typeface="Amiri" pitchFamily="2" charset="-78"/>
              </a:rPr>
              <a:t> in </a:t>
            </a:r>
            <a:pPr algn="l" indent="0" marL="0">
              <a:buNone/>
            </a:pPr>
            <a:r>
              <a:rPr lang="ar-SA" altLang="en-US" sz="1300" b="1" dirty="0">
                <a:solidFill>
                  <a:srgbClr val="1F2A37"/>
                </a:solidFill>
                <a:latin typeface="Amiri" pitchFamily="2" charset="-78"/>
                <a:ea typeface="Amiri" pitchFamily="2" charset="-78"/>
                <a:cs typeface="Amiri" pitchFamily="2" charset="-78"/>
              </a:rPr>
              <a:t>رُوتِينَهُ</a:t>
            </a:r>
            <a:pPr algn="l" indent="0" marL="0">
              <a:buNone/>
            </a:pPr>
            <a:r>
              <a:rPr lang="en-US" sz="1000" b="1" dirty="0">
                <a:solidFill>
                  <a:srgbClr val="1F2A37"/>
                </a:solidFill>
                <a:latin typeface="Calibri" pitchFamily="34" charset="0"/>
                <a:cs typeface="Amiri" pitchFamily="2" charset="-78"/>
              </a:rPr>
              <a:t> refer to?</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رُوتِينُ أُخْتِهِ</a:t>
            </a:r>
            <a:endParaRPr lang="ar-SA" sz="170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رُوتِينُ الكَاتِبِ</a:t>
            </a:r>
            <a:endParaRPr lang="ar-SA" sz="170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رُوتِينُ خَالِدٍ</a:t>
            </a:r>
            <a:endParaRPr lang="ar-SA" sz="17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suffix </a:t>
            </a:r>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refers back to Khalid.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يَبْدَأُ النَّادِي فِي الخَامِسَةِ وَالنِّصْفِ وَيَنْتَهِي فِي السَّادِسَةِ وَالرُّبْعِ</a:t>
            </a:r>
            <a:pPr algn="l" indent="0" marL="0">
              <a:buNone/>
            </a:pPr>
            <a:r>
              <a:rPr lang="en-US" sz="1000" b="1" dirty="0">
                <a:solidFill>
                  <a:srgbClr val="1F2A37"/>
                </a:solidFill>
                <a:latin typeface="Calibri" pitchFamily="34" charset="0"/>
                <a:cs typeface="Amiri" pitchFamily="2" charset="-78"/>
              </a:rPr>
              <a:t>. How long does it last?</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نِصْفُ سَاعَةٍ</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سَاعَةٌ وَنِصْفٌ</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خَمْسٌ وَأَرْبَعُونَ دَقِيقَةً</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interval from 5:30 to 6:15 is forty-five minutes.</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يَذْهَبُ سَامِرٌ إِلَى النَّادِي ثَلَاثَ مَرَّاتٍ، وَلَا يَذْهَبُ يَوْمَ الجُمُعَةِ</a:t>
            </a:r>
            <a:pPr algn="l" indent="0" marL="0">
              <a:buNone/>
            </a:pPr>
            <a:r>
              <a:rPr lang="en-US" sz="1000" b="1" dirty="0">
                <a:solidFill>
                  <a:srgbClr val="1F2A37"/>
                </a:solidFill>
                <a:latin typeface="Calibri" pitchFamily="34" charset="0"/>
                <a:cs typeface="Amiri" pitchFamily="2" charset="-78"/>
              </a:rPr>
              <a:t>. Which statement is supported?</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سَامِرٌ يَذْهَبُ إِلَى النَّادِي ثَلَاثَ مَرَّاتٍ فِي الأُسْبُوعِ.</a:t>
            </a:r>
            <a:endParaRPr lang="ar-SA" sz="140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سَامِرٌ يَذْهَبُ إِلَى النَّادِي يَوْمِيًّا.</a:t>
            </a:r>
            <a:endParaRPr lang="ar-SA" sz="140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سَامِرٌ لَا يَذْهَبُ إِلَى النَّادِي أَبَدًا.</a:t>
            </a:r>
            <a:endParaRPr lang="ar-SA" sz="140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exact frequency given is three times; the Friday detail prevents an incorrect “daily” inference.</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9" name="Text 9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Which sentence is the strongest evidence for “The writer has an organised routine”?</a:t>
            </a:r>
            <a:endParaRPr lang="en-US" sz="1150" dirty="0"/>
          </a:p>
        </p:txBody>
      </p:sp>
      <p:sp>
        <p:nvSpPr>
          <p:cNvPr id="100" name="Shape 98"/>
          <p:cNvSpPr/>
          <p:nvPr/>
        </p:nvSpPr>
        <p:spPr>
          <a:xfrm>
            <a:off x="8278368" y="4831080"/>
            <a:ext cx="256032" cy="256032"/>
          </a:xfrm>
          <a:prstGeom prst="ellipse">
            <a:avLst/>
          </a:prstGeom>
          <a:solidFill>
            <a:srgbClr val="C9CED6"/>
          </a:solidFill>
          <a:ln w="12700">
            <a:solidFill>
              <a:srgbClr val="C9CED6"/>
            </a:solidFill>
            <a:prstDash val="solid"/>
          </a:ln>
        </p:spPr>
      </p:sp>
      <p:sp>
        <p:nvSpPr>
          <p:cNvPr id="101" name="Text 99"/>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2" name="Text 100"/>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فِي رَأْيِي الرُّوتِينُ جَيِّدٌ.</a:t>
            </a:r>
            <a:endParaRPr lang="ar-SA" sz="1500" dirty="0"/>
          </a:p>
        </p:txBody>
      </p:sp>
      <p:sp>
        <p:nvSpPr>
          <p:cNvPr id="103" name="Shape 101"/>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4" name="Shape 102"/>
          <p:cNvSpPr/>
          <p:nvPr/>
        </p:nvSpPr>
        <p:spPr>
          <a:xfrm>
            <a:off x="8278368" y="5202936"/>
            <a:ext cx="256032" cy="256032"/>
          </a:xfrm>
          <a:prstGeom prst="ellipse">
            <a:avLst/>
          </a:prstGeom>
          <a:solidFill>
            <a:srgbClr val="2E8B57"/>
          </a:solidFill>
          <a:ln w="12700">
            <a:solidFill>
              <a:srgbClr val="2E8B57"/>
            </a:solidFill>
            <a:prstDash val="solid"/>
          </a:ln>
        </p:spPr>
      </p:sp>
      <p:sp>
        <p:nvSpPr>
          <p:cNvPr id="105" name="Text 103"/>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6" name="Text 104"/>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يُحَضِّرُ حَقِيبَتَهُ لَيْلًا وَيَضْبِطُ مُنَبِّهَهُ قَبْلَ النَّوْمِ.</a:t>
            </a:r>
            <a:endParaRPr lang="ar-SA" sz="1500" dirty="0"/>
          </a:p>
        </p:txBody>
      </p:sp>
      <p:sp>
        <p:nvSpPr>
          <p:cNvPr id="107" name="Shape 105"/>
          <p:cNvSpPr/>
          <p:nvPr/>
        </p:nvSpPr>
        <p:spPr>
          <a:xfrm>
            <a:off x="8278368" y="5574792"/>
            <a:ext cx="256032" cy="256032"/>
          </a:xfrm>
          <a:prstGeom prst="ellipse">
            <a:avLst/>
          </a:prstGeom>
          <a:solidFill>
            <a:srgbClr val="C9CED6"/>
          </a:solidFill>
          <a:ln w="12700">
            <a:solidFill>
              <a:srgbClr val="C9CED6"/>
            </a:solidFill>
            <a:prstDash val="solid"/>
          </a:ln>
        </p:spPr>
      </p:sp>
      <p:sp>
        <p:nvSpPr>
          <p:cNvPr id="108" name="Text 106"/>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9" name="Text 107"/>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الرُّوتِينُ كَلِمَةٌ مُهِمَّةٌ.</a:t>
            </a:r>
            <a:endParaRPr lang="ar-SA" sz="1500" dirty="0"/>
          </a:p>
        </p:txBody>
      </p:sp>
      <p:sp>
        <p:nvSpPr>
          <p:cNvPr id="110" name="Text 10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Specific actions from the text provide evidence; a general opinion does not prove the conclusion.</a:t>
            </a:r>
            <a:endParaRPr lang="en-US" sz="1050" dirty="0"/>
          </a:p>
        </p:txBody>
      </p:sp>
      <p:sp>
        <p:nvSpPr>
          <p:cNvPr id="111"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D1-L10 · Listening — Daily Routine and Time Details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predict</a:t>
            </a:r>
            <a:pPr indent="0" marL="0">
              <a:buNone/>
            </a:pPr>
            <a:r>
              <a:rPr lang="ar-SA" sz="1000" i="1" dirty="0">
                <a:solidFill>
                  <a:srgbClr val="5A6472"/>
                </a:solidFill>
                <a:latin typeface="Calibri" pitchFamily="34" charset="0"/>
                <a:ea typeface="Amiri" pitchFamily="2" charset="-78"/>
                <a:cs typeface="Amiri" pitchFamily="2" charset="-78"/>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ar-SA" sz="1000" i="1" dirty="0">
                <a:solidFill>
                  <a:srgbClr val="5A6472"/>
                </a:solidFill>
                <a:latin typeface="Calibri" pitchFamily="34" charset="0"/>
                <a:ea typeface="Amiri" pitchFamily="2" charset="-78"/>
                <a:cs typeface="Amiri" pitchFamily="2" charset="-78"/>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focus on</a:t>
            </a:r>
            <a:pPr indent="0" marL="0">
              <a:buNone/>
            </a:pPr>
            <a:r>
              <a:rPr lang="ar-SA" sz="1000" i="1" dirty="0">
                <a:solidFill>
                  <a:srgbClr val="5A6472"/>
                </a:solidFill>
                <a:latin typeface="Calibri" pitchFamily="34" charset="0"/>
                <a:ea typeface="Amiri" pitchFamily="2" charset="-78"/>
                <a:cs typeface="Amiri" pitchFamily="2" charset="-78"/>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ar-SA" sz="1000" i="1" dirty="0">
                <a:solidFill>
                  <a:srgbClr val="5A6472"/>
                </a:solidFill>
                <a:latin typeface="Calibri" pitchFamily="34" charset="0"/>
                <a:ea typeface="Amiri" pitchFamily="2" charset="-78"/>
                <a:cs typeface="Amiri" pitchFamily="2" charset="-78"/>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مَتَى يَبْدَأُ يَوْمُكَ؟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D1-L09: the sorter “Which evidence answers the question?”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reading: answer all 8 questions, writing the Arabic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comparing two routines with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D1-L10 · Listening — Daily Routine and Time Details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find WHO and WHICH event before you choose a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D1-L09 · Reading Daily Routines and Weekly Schedules</dc:title>
  <dc:subject>PptxGenJS Presentation</dc:subject>
  <dc:creator>Al Madina Online School · Arabic Department</dc:creator>
  <cp:lastModifiedBy>Al Madina Online School · Arabic Department</cp:lastModifiedBy>
  <cp:revision>1</cp:revision>
  <dcterms:created xsi:type="dcterms:W3CDTF">2026-10-11T06:40:30Z</dcterms:created>
  <dcterms:modified xsi:type="dcterms:W3CDTF">2026-10-11T06:40:30Z</dcterms:modified>
</cp:coreProperties>
</file>