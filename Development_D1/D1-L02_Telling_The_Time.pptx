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10–16 Key words · 16–22 The hours + وَ / إِلَّا · 22–24 Quick check · 24–27 I Do · 27–37 We Do (Beat the Clock, sorter, fix, listening) · 37–49 You Do · 49–54 Feedback · 54–56 Preparation.
FLEX slides are optional. Use them if the class is moving quickly; otherwise the same activities are on the website for homework.
Content source: Miftah Arabic website, Pathways › Development › D1 Daily Routine and Time › D1-L02. The website lesson “Telling the Time — What Time Is It?”: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Time is a CALCULATION (website): the current hour + minutes past (وَ), or the NEXT hour − minutes to (إِلَّا). Core: o’clock, quarter past, half past, quarter to (the four “anchor” times). Develop: five-minute precision with وَ / إِلَّا. Stretch: 24-hour times and duration (يَسْتَمِرُّ مُدَّةَ …).
• The hour words are ordinals (السَّابِعَةُ = the seventh) — a “clock face” table of all twelve hours is provided; Core students keep it open.
• Maths link: many students find the إِلَّا “count back from the next hour” rule easiest with a drawn clock — use the Teams whiteboard.
• Urdu bridge: وقت، دقیقہ، ساعت، مدت، تقریباً.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D1-L01 (prefixes and sequence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Minutes PAST the hour → وَ. Minutes TO the next hour → إِلَّا (and name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(waqt → الوَقْتُ), دقیقہ (→ دَقِيقَةٌ), ساعت (sā‘at → السَّاعَةُ), مدت (muddat → مُدَّةٌ duration). Arabic also uses تَقْرِيبًا for “approximately”, but the website word today is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Minutes past and to (website vocabulary (1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Minutes past and to (website vocabulary (2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Schedule language (website vocabulary (1 of 2)). Hear → Say → See → Use. Transliteration is printed for Core students (cover it for Develop/Stretch).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Schedule language (website vocabulary (2 of 2)). Hear → Say → See → Use. Transliteration is printed for Core students (cover it for Develop/Stretch).
FLEX: teach if time allows; otherwise these are on the website vocabulary tab for homework.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24-hour time (website vocabulary). Hear → Say → See → Use. Transliteration is printed for Core students (cover it for Develop/Stretch).
FLEX: teach if time allows; otherwise these are on the website vocabulary tab for homework.
24-hour forms are Stretch; Core recognises صَبَاحًا (a.m.) and مَسَاءً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THE HOURS (teacher reference built from the website examples). The hour is an ORDINAL (“the seventh”) and feminine because it describes السَّاعَةُ.
Question: كَمِ السَّاعَةُ؟ Answer: السَّاعَةُ … . “At” a time: فِي + the hour in the -i form (فِي السَّاعَةِ السَّادِسَةِ) — recognition for Core.
Core: learn 6–9 (the school-morning hours)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“Use وَ for minutes after the hour” and “Use إِلَّا for minutes before the next hour”. Website teaching: “Treat the Arabic time phrase as a calculation: current hour + elapsed minutes, or next hour − remaining minutes.”
Pink = the hour CHANGES to the next one after half past.
Website common error: at 5:45 do NOT say الخَامِسَةُ إِلَّا الرُّبْعَ — name the next hour: السَّادِسَةُ إِلَّا الرُّبْعَ.
Notice the ending: وَالرُّبْعُ (-u) but إِلَّا الرُّبْعَ (-a) — Stretch observation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“Distinguish start, finish and duration” and “Read formal 24-hour time accurately” (١٤:٣٠ ← الرَّابِعَةَ عَشْرَةَ وَالنِّصْفُ; in everyday speech → الثَّانِيَةُ وَالنِّصْفُ مَسَاءً).
Website: “A timetable answer may require an exact start, finish or length. Do not confuse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“Arabic time expressions require two decisions: whether the minutes come after the current hour with وَ, or count down to the next hour with إِلَّا. Formal timetables may use 24-hour time, while conversation often adds صَبَاحًا or مَسَاءً.”
• Use وَ for minutes after the hour: For 1–30 minutes past, keep the current hour and add وَ followed by the minutes.
• Use إِلَّا for minutes before the next hour: After the half hour, move to the next hour and subtract the remaining minutes.
• Read formal 24-hour time accurately: In a timetable, state the numbered hour directly. In everyday speech, you may convert it to 2:30 p.m.
• Distinguish start, finish and duration: A timetable answer may require an exact start, finish or length. Do not confuse them.
Website common error: At 5:45, do not say السَّاعَةُ الخَامِسَةُ إِلَّا الرُّبْعَ. With إِلَّا, name the next hour: السَّاعَةُ السَّادِسَةُ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four website patterns as one timetable, modelled with a think-aloud (“past or to? which hour? start, finish or how long?”). Draw the clock on the Teams whiteboard for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whole-class version of the website “Beat the Clock” game (teacher-made times). 20-second timer per clock; chat the letters. Then show-me: students say the time aloud before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time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يَوْمَ الأَرْبِعَاءِ يَبْدَأُ دَوَامِي فِي السَّاعَةِ الثَّامِنَةِ إِلَّا عَشْرَ دَقَائِقَ. الحِصَّةُ الأُولَى مِنَ الثَّامِنَةِ إِلَى التَّاسِعَةِ إِلَّا الرُّبْعَ، ثُمَّ عِنْدَنَا اِسْتِرَاحَةٌ تَسْتَمِرُّ عِشْرِينَ دَقِيقَةً. يَبْدَأُ دَرْسُ العُلُومِ فِي التَّاسِعَةِ وَخَمْسِ دَقَائِقَ، وَيَنْتَهِي فِي العَاشِرَةِ وَخَمْسٍ وَأَرْبَعِينَ دَقِيقَةً. بَعْدَ المَدْرَسَةِ أَذْهَبُ إِلَى التَّمْرِينِ فِي السَّاعَةِ السَّادِسَةَ عَشْرَةَ وَالنِّصْفِ، وَأَعُودُ إِلَى البَيْتِ حَوَالَيْ الثَّامِنَةِ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“When do you wake up? When do you leave home?” — two times from the D1-L01 routine. Pairs quiz each other with digital times in chat (partner answers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and write quarter past, half past and quarter to times. · Develop — Interpret a mixed 12-hour and 24-hour timetable. · Stretch — Calculate duration and explain a full schedule without relying on digital numerals.
Website writing task (Stretch): Create a 100–120-word schedule for one busy weekday and explain which part is easiest or most difficult.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السَّادِسَةِ وَالنِّصْفِ · السَّابِعَةِ إِلَّا عَشْرَ دَقَائِقَ · السَّادِسَةَ عَشْرَةَ · يَسْتَمِرُّ التَّمْرِينُ مُدَّةَ سَاعَةٍ · أَصْعَبُ جُزْءٍ … لِأَنَّنِي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(D1-L03 · How Often? — Frequency Adverbs) will spend class time USING this language, so students prepare it tonight — short, simple, easy to access (school guidance: “Simple, Short, Interesting, Relevant, Easy to access”). The five words come from the website D1-L03 vocabulary (frequency, the week and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cs typeface="Amiri" pitchFamily="2" charset="-78"/>
              </a:rPr>
              <a:t>Telling the Time — What Time Is It?</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قِرَاءَةُ الوَقْتِ — كَمِ السَّاعَةُ؟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ask for and give exact clock times, start and finish times, 12-hour and 24-hour timetables, and how long something lasts.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D1-L02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twelve hours, then minutes past (</a:t>
            </a:r>
            <a:pPr algn="ctr" indent="0" marL="0">
              <a:buNone/>
            </a:pPr>
            <a:r>
              <a:rPr lang="ar-SA" altLang="en-US" sz="1550" dirty="0">
                <a:solidFill>
                  <a:srgbClr val="1F2A37"/>
                </a:solidFill>
                <a:latin typeface="Amiri" pitchFamily="2" charset="-78"/>
                <a:ea typeface="Amiri" pitchFamily="2" charset="-78"/>
                <a:cs typeface="Amiri" pitchFamily="2" charset="-78"/>
              </a:rPr>
              <a:t>وَ</a:t>
            </a:r>
            <a:pPr algn="ctr" indent="0" marL="0">
              <a:buNone/>
            </a:pPr>
            <a:r>
              <a:rPr lang="en-US" sz="1200" dirty="0">
                <a:solidFill>
                  <a:srgbClr val="1F2A37"/>
                </a:solidFill>
                <a:latin typeface="Calibri" pitchFamily="34" charset="0"/>
                <a:cs typeface="Amiri" pitchFamily="2" charset="-78"/>
              </a:rPr>
              <a:t>) and to (</a:t>
            </a:r>
            <a:pPr algn="ctr" indent="0" marL="0">
              <a:buNone/>
            </a:pPr>
            <a:r>
              <a:rPr lang="ar-SA" altLang="en-US" sz="1550" dirty="0">
                <a:solidFill>
                  <a:srgbClr val="1F2A37"/>
                </a:solidFill>
                <a:latin typeface="Amiri" pitchFamily="2" charset="-78"/>
                <a:ea typeface="Amiri" pitchFamily="2" charset="-78"/>
                <a:cs typeface="Amiri" pitchFamily="2" charset="-78"/>
              </a:rPr>
              <a:t>إِلَّا</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Beat the Clock, sort past / to,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minute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hour / the 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past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(D1-L01).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“she”: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يَتَنَاوَلُ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أَتَنَاوَلُ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تَتَنَاوَلُ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“after that”?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نَادِرًا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minute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hour / the 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 past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(D1-L01).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تَسْتَيْقِظُ</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أَسْتَيْقِظُ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D1-L01: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“she”: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يَتَنَاوَلُ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أَتَنَاوَلُ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تَتَنَاوَلُ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D1-L01: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“after that”?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نَادِرًا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D1-L01 sequence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Minutes PAST the hour → </a:t>
            </a:r>
            <a:pPr algn="l" indent="0" marL="0">
              <a:buNone/>
            </a:pPr>
            <a:r>
              <a:rPr lang="ar-SA" altLang="en-US" sz="1700" b="1" dirty="0">
                <a:solidFill>
                  <a:srgbClr val="1F2A37"/>
                </a:solidFill>
                <a:latin typeface="Amiri" pitchFamily="2" charset="-78"/>
                <a:ea typeface="Amiri" pitchFamily="2" charset="-78"/>
                <a:cs typeface="Amiri" pitchFamily="2" charset="-78"/>
              </a:rPr>
              <a:t>وَ</a:t>
            </a:r>
            <a:pPr algn="l" indent="0" marL="0">
              <a:buNone/>
            </a:pPr>
            <a:r>
              <a:rPr lang="en-US" sz="1300" b="1" dirty="0">
                <a:solidFill>
                  <a:srgbClr val="1F2A37"/>
                </a:solidFill>
                <a:latin typeface="Calibri" pitchFamily="34" charset="0"/>
                <a:cs typeface="Amiri" pitchFamily="2" charset="-78"/>
              </a:rPr>
              <a:t>. Minutes TO the next hour → </a:t>
            </a:r>
            <a:pPr algn="l" indent="0" marL="0">
              <a:buNone/>
            </a:pPr>
            <a:r>
              <a:rPr lang="ar-SA" altLang="en-US" sz="1700" b="1" dirty="0">
                <a:solidFill>
                  <a:srgbClr val="1F2A37"/>
                </a:solidFill>
                <a:latin typeface="Amiri" pitchFamily="2" charset="-78"/>
                <a:ea typeface="Amiri" pitchFamily="2" charset="-78"/>
                <a:cs typeface="Amiri" pitchFamily="2" charset="-78"/>
              </a:rPr>
              <a:t>إِلَّا</a:t>
            </a:r>
            <a:pPr algn="l" indent="0" marL="0">
              <a:buNone/>
            </a:pPr>
            <a:r>
              <a:rPr lang="en-US" sz="1300" b="1" dirty="0">
                <a:solidFill>
                  <a:srgbClr val="1F2A37"/>
                </a:solidFill>
                <a:latin typeface="Calibri" pitchFamily="34" charset="0"/>
                <a:cs typeface="Amiri" pitchFamily="2" charset="-78"/>
              </a:rPr>
              <a:t> (and name the NEXT hour!).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٧:١٥ السَّابِعَةُ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الرُّبْعُ · ٧:٤٥ الثَّامِنَةُ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إِلَّا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الرُّبْعَ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time to five-minute precision.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إِلَّا</a:t>
            </a:r>
            <a:pPr algn="l" indent="0" marL="0">
              <a:buNone/>
            </a:pPr>
            <a:r>
              <a:rPr lang="en-US" sz="1300" dirty="0">
                <a:solidFill>
                  <a:srgbClr val="1F2A37"/>
                </a:solidFill>
                <a:latin typeface="Calibri" pitchFamily="34" charset="0"/>
                <a:cs typeface="Amiri" pitchFamily="2" charset="-78"/>
              </a:rPr>
              <a:t> with the correct hour.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Interpret selected 24-hour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start, finish and duration from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o’clock, quarter past, half past and quarter to.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time I wake up.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the time to five minutes with </a:t>
            </a:r>
            <a:pPr algn="l" indent="0" marL="0">
              <a:buNone/>
            </a:pPr>
            <a:r>
              <a:rPr lang="ar-SA" altLang="en-US" sz="1700" b="1" dirty="0">
                <a:solidFill>
                  <a:srgbClr val="C9780A"/>
                </a:solidFill>
                <a:latin typeface="Amiri" pitchFamily="2" charset="-78"/>
                <a:ea typeface="Amiri" pitchFamily="2" charset="-78"/>
                <a:cs typeface="Amiri" pitchFamily="2" charset="-78"/>
              </a:rPr>
              <a:t>وَ</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إِلَّا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when something begins and ends.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24-hour times in a timetable.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calculate and state duration.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Minutes past and to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Schedule language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24-hour time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الوَقْتُ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‎وقت‎ </a:t>
            </a:r>
            <a:pPr indent="0" marL="0">
              <a:buNone/>
            </a:pPr>
            <a:r>
              <a:rPr lang="en-US" sz="950" b="1" dirty="0">
                <a:solidFill>
                  <a:srgbClr val="2E8B57"/>
                </a:solidFill>
                <a:latin typeface="Calibri" pitchFamily="34" charset="0"/>
                <a:cs typeface="Amiri" pitchFamily="2" charset="-78"/>
              </a:rPr>
              <a:t> waqt ·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دَقِيقَةٌ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‎دقیقہ‎ </a:t>
            </a:r>
            <a:pPr indent="0" marL="0">
              <a:buNone/>
            </a:pPr>
            <a:r>
              <a:rPr lang="en-US" sz="950" b="1" dirty="0">
                <a:solidFill>
                  <a:srgbClr val="2E8B57"/>
                </a:solidFill>
                <a:latin typeface="Calibri" pitchFamily="34" charset="0"/>
                <a:cs typeface="Amiri" pitchFamily="2" charset="-78"/>
              </a:rPr>
              <a:t> daqīqa · minute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السَّاعَةُ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‎ساعت‎ </a:t>
            </a:r>
            <a:pPr indent="0" marL="0">
              <a:buNone/>
            </a:pPr>
            <a:r>
              <a:rPr lang="en-US" sz="950" b="1" dirty="0">
                <a:solidFill>
                  <a:srgbClr val="2E8B57"/>
                </a:solidFill>
                <a:latin typeface="Calibri" pitchFamily="34" charset="0"/>
                <a:cs typeface="Amiri" pitchFamily="2" charset="-78"/>
              </a:rPr>
              <a:t> sā‘at · hour, moment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‎مدت‎ </a:t>
            </a:r>
            <a:pPr indent="0" marL="0">
              <a:buNone/>
            </a:pPr>
            <a:r>
              <a:rPr lang="en-US" sz="950" b="1" dirty="0">
                <a:solidFill>
                  <a:srgbClr val="2E8B57"/>
                </a:solidFill>
                <a:latin typeface="Calibri" pitchFamily="34" charset="0"/>
                <a:cs typeface="Amiri" pitchFamily="2" charset="-78"/>
              </a:rPr>
              <a:t> muddat · period, duration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حَوَالَيْ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‎تقریباً‎ </a:t>
            </a:r>
            <a:pPr indent="0" marL="0">
              <a:buNone/>
            </a:pPr>
            <a:r>
              <a:rPr lang="en-US" sz="950" b="1" dirty="0">
                <a:solidFill>
                  <a:srgbClr val="2E8B57"/>
                </a:solidFill>
                <a:latin typeface="Calibri" pitchFamily="34" charset="0"/>
                <a:cs typeface="Amiri" pitchFamily="2" charset="-78"/>
              </a:rPr>
              <a:t> taqrīban · approximately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Minutes past and to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past</a:t>
            </a:r>
            <a:endParaRPr lang="en-US" sz="1350" dirty="0"/>
          </a:p>
          <a:p>
            <a:pPr indent="0" marL="0">
              <a:buNone/>
            </a:pPr>
            <a:r>
              <a:rPr lang="en-US" sz="1100" i="1" dirty="0">
                <a:solidFill>
                  <a:srgbClr val="5A6472"/>
                </a:solidFill>
                <a:latin typeface="Calibri" pitchFamily="34" charset="0"/>
                <a:cs typeface="Amiri" pitchFamily="2" charset="-78"/>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وَعَشْرُ دَقَائِقَ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 past</a:t>
            </a:r>
            <a:endParaRPr lang="en-US" sz="1350" dirty="0"/>
          </a:p>
          <a:p>
            <a:pPr indent="0" marL="0">
              <a:buNone/>
            </a:pPr>
            <a:r>
              <a:rPr lang="en-US" sz="1100" i="1" dirty="0">
                <a:solidFill>
                  <a:srgbClr val="5A6472"/>
                </a:solidFill>
                <a:latin typeface="Calibri" pitchFamily="34" charset="0"/>
                <a:cs typeface="Amiri" pitchFamily="2" charset="-78"/>
              </a:rPr>
              <a:t>wa-ʿash-ru da-qā-ʾi-qa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وَالرُّبْعُ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past</a:t>
            </a:r>
            <a:endParaRPr lang="en-US" sz="1350" dirty="0"/>
          </a:p>
          <a:p>
            <a:pPr indent="0" marL="0">
              <a:buNone/>
            </a:pPr>
            <a:r>
              <a:rPr lang="en-US" sz="1100" i="1" dirty="0">
                <a:solidFill>
                  <a:srgbClr val="5A6472"/>
                </a:solidFill>
                <a:latin typeface="Calibri" pitchFamily="34" charset="0"/>
                <a:cs typeface="Amiri" pitchFamily="2" charset="-78"/>
              </a:rPr>
              <a:t>wālr-rub-ʿu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وَالثُّلُثُ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past</a:t>
            </a:r>
            <a:endParaRPr lang="en-US" sz="1350" dirty="0"/>
          </a:p>
          <a:p>
            <a:pPr indent="0" marL="0">
              <a:buNone/>
            </a:pPr>
            <a:r>
              <a:rPr lang="en-US" sz="1100" i="1" dirty="0">
                <a:solidFill>
                  <a:srgbClr val="5A6472"/>
                </a:solidFill>
                <a:latin typeface="Calibri" pitchFamily="34" charset="0"/>
                <a:cs typeface="Amiri" pitchFamily="2" charset="-78"/>
              </a:rPr>
              <a:t>wālth-thu-lu-thu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وَالنِّصْفُ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half past</a:t>
            </a:r>
            <a:endParaRPr lang="en-US" sz="1350" dirty="0"/>
          </a:p>
          <a:p>
            <a:pPr indent="0" marL="0">
              <a:buNone/>
            </a:pPr>
            <a:r>
              <a:rPr lang="en-US" sz="1100" i="1" dirty="0">
                <a:solidFill>
                  <a:srgbClr val="5A6472"/>
                </a:solidFill>
                <a:latin typeface="Calibri" pitchFamily="34" charset="0"/>
                <a:cs typeface="Amiri" pitchFamily="2" charset="-78"/>
              </a:rPr>
              <a:t>wāln-niṣ-fu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Minutes past and to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to</a:t>
            </a:r>
            <a:endParaRPr lang="en-US" sz="1350" dirty="0"/>
          </a:p>
          <a:p>
            <a:pPr indent="0" marL="0">
              <a:buNone/>
            </a:pPr>
            <a:r>
              <a:rPr lang="en-US" sz="1100" i="1" dirty="0">
                <a:solidFill>
                  <a:srgbClr val="5A6472"/>
                </a:solidFill>
                <a:latin typeface="Calibri" pitchFamily="34" charset="0"/>
                <a:cs typeface="Amiri" pitchFamily="2" charset="-78"/>
              </a:rPr>
              <a:t>il-lā kham-sa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عَشْرَ دَقَائِقَ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 to</a:t>
            </a:r>
            <a:endParaRPr lang="en-US" sz="1350" dirty="0"/>
          </a:p>
          <a:p>
            <a:pPr indent="0" marL="0">
              <a:buNone/>
            </a:pPr>
            <a:r>
              <a:rPr lang="en-US" sz="1100" i="1" dirty="0">
                <a:solidFill>
                  <a:srgbClr val="5A6472"/>
                </a:solidFill>
                <a:latin typeface="Calibri" pitchFamily="34" charset="0"/>
                <a:cs typeface="Amiri" pitchFamily="2" charset="-78"/>
              </a:rPr>
              <a:t>il-lā ʿash-ra da-qā-ʾi-qa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الرُّبْعَ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to</a:t>
            </a:r>
            <a:endParaRPr lang="en-US" sz="1350" dirty="0"/>
          </a:p>
          <a:p>
            <a:pPr indent="0" marL="0">
              <a:buNone/>
            </a:pPr>
            <a:r>
              <a:rPr lang="en-US" sz="1100" i="1" dirty="0">
                <a:solidFill>
                  <a:srgbClr val="5A6472"/>
                </a:solidFill>
                <a:latin typeface="Calibri" pitchFamily="34" charset="0"/>
                <a:cs typeface="Amiri" pitchFamily="2" charset="-78"/>
              </a:rPr>
              <a:t>il-lā ar-rub-ʿa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الثُّلُثَ</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to</a:t>
            </a:r>
            <a:endParaRPr lang="en-US" sz="1350" dirty="0"/>
          </a:p>
          <a:p>
            <a:pPr indent="0" marL="0">
              <a:buNone/>
            </a:pPr>
            <a:r>
              <a:rPr lang="en-US" sz="1100" i="1" dirty="0">
                <a:solidFill>
                  <a:srgbClr val="5A6472"/>
                </a:solidFill>
                <a:latin typeface="Calibri" pitchFamily="34" charset="0"/>
                <a:cs typeface="Amiri" pitchFamily="2" charset="-78"/>
              </a:rPr>
              <a:t>il-lā ath-thu-lu-tha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Schedule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يَبْدَأُ</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begins</a:t>
            </a:r>
            <a:endParaRPr lang="en-US" sz="1350" dirty="0"/>
          </a:p>
          <a:p>
            <a:pPr indent="0" marL="0">
              <a:buNone/>
            </a:pPr>
            <a:r>
              <a:rPr lang="en-US" sz="1100" i="1" dirty="0">
                <a:solidFill>
                  <a:srgbClr val="5A6472"/>
                </a:solidFill>
                <a:latin typeface="Calibri" pitchFamily="34" charset="0"/>
                <a:cs typeface="Amiri" pitchFamily="2" charset="-78"/>
              </a:rPr>
              <a:t>yab-da-ʾu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يَبْدَأُ</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تَبْدَأُ</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أَبْدَأُ</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يَنْتَهِي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ends</a:t>
            </a:r>
            <a:endParaRPr lang="en-US" sz="1350" dirty="0"/>
          </a:p>
          <a:p>
            <a:pPr indent="0" marL="0">
              <a:buNone/>
            </a:pPr>
            <a:r>
              <a:rPr lang="en-US" sz="1100" i="1" dirty="0">
                <a:solidFill>
                  <a:srgbClr val="5A6472"/>
                </a:solidFill>
                <a:latin typeface="Calibri" pitchFamily="34" charset="0"/>
                <a:cs typeface="Amiri" pitchFamily="2" charset="-78"/>
              </a:rPr>
              <a:t>yan-ta-hī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يَنْتَهِي</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تَنْتَهِي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أَنْتَهِي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Shape 5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يَسْتَمِرُّ</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continues / lasts</a:t>
            </a:r>
            <a:endParaRPr lang="en-US" sz="1350" dirty="0"/>
          </a:p>
          <a:p>
            <a:pPr indent="0" marL="0">
              <a:buNone/>
            </a:pPr>
            <a:r>
              <a:rPr lang="en-US" sz="1100" i="1" dirty="0">
                <a:solidFill>
                  <a:srgbClr val="5A6472"/>
                </a:solidFill>
                <a:latin typeface="Calibri" pitchFamily="34" charset="0"/>
                <a:cs typeface="Amiri" pitchFamily="2" charset="-78"/>
              </a:rPr>
              <a:t>yas-ta-mir-ru</a:t>
            </a:r>
            <a:endParaRPr lang="en-US" sz="1350" dirty="0"/>
          </a:p>
        </p:txBody>
      </p:sp>
      <p:sp>
        <p:nvSpPr>
          <p:cNvPr id="58" name="Shape 5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60" name="Text 5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يَسْتَمِرُّ</a:t>
            </a:r>
            <a:endParaRPr lang="ar-SA" sz="1350" dirty="0"/>
          </a:p>
        </p:txBody>
      </p:sp>
      <p:sp>
        <p:nvSpPr>
          <p:cNvPr id="61" name="Shape 5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63" name="Text 6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تَسْتَمِرُّ</a:t>
            </a:r>
            <a:endParaRPr lang="ar-SA" sz="1350" dirty="0"/>
          </a:p>
        </p:txBody>
      </p:sp>
      <p:sp>
        <p:nvSpPr>
          <p:cNvPr id="64" name="Shape 6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8211312"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67" name="Shape 6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المَوْعِدُ</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appointment / scheduled time</a:t>
            </a:r>
            <a:endParaRPr lang="en-US" sz="1350" dirty="0"/>
          </a:p>
          <a:p>
            <a:pPr indent="0" marL="0">
              <a:buNone/>
            </a:pPr>
            <a:r>
              <a:rPr lang="en-US" sz="1100" i="1" dirty="0">
                <a:solidFill>
                  <a:srgbClr val="5A6472"/>
                </a:solidFill>
                <a:latin typeface="Calibri" pitchFamily="34" charset="0"/>
                <a:cs typeface="Amiri" pitchFamily="2" charset="-78"/>
              </a:rPr>
              <a:t>al-maw-ʿi-du</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مَوْعِدٌ</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مَوَاعِيدُ</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تَمَامِ</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exactly</a:t>
            </a:r>
            <a:endParaRPr lang="en-US" sz="1350" dirty="0"/>
          </a:p>
          <a:p>
            <a:pPr indent="0" marL="0">
              <a:buNone/>
            </a:pPr>
            <a:r>
              <a:rPr lang="en-US" sz="1100" i="1" dirty="0">
                <a:solidFill>
                  <a:srgbClr val="5A6472"/>
                </a:solidFill>
                <a:latin typeface="Calibri" pitchFamily="34" charset="0"/>
                <a:cs typeface="Amiri" pitchFamily="2" charset="-78"/>
              </a:rPr>
              <a:t>fī ta-mā-mi</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Schedule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حَوَالَيْ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about / approximately</a:t>
            </a:r>
            <a:endParaRPr lang="en-US" sz="1350" dirty="0"/>
          </a:p>
          <a:p>
            <a:pPr indent="0" marL="0">
              <a:buNone/>
            </a:pPr>
            <a:r>
              <a:rPr lang="en-US" sz="1100" i="1" dirty="0">
                <a:solidFill>
                  <a:srgbClr val="5A6472"/>
                </a:solidFill>
                <a:latin typeface="Calibri" pitchFamily="34" charset="0"/>
                <a:cs typeface="Amiri" pitchFamily="2" charset="-78"/>
              </a:rPr>
              <a:t>ḥa-wā-lay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السَّاعَةِ ... إِلَى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 until ...</a:t>
            </a:r>
            <a:endParaRPr lang="en-US" sz="1350" dirty="0"/>
          </a:p>
          <a:p>
            <a:pPr indent="0" marL="0">
              <a:buNone/>
            </a:pPr>
            <a:r>
              <a:rPr lang="en-US" sz="1100" i="1" dirty="0">
                <a:solidFill>
                  <a:srgbClr val="5A6472"/>
                </a:solidFill>
                <a:latin typeface="Calibri" pitchFamily="34" charset="0"/>
                <a:cs typeface="Amiri" pitchFamily="2" charset="-78"/>
              </a:rPr>
              <a:t>mi-na as-sā-ʿa-ti ... i-lā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duration</a:t>
            </a:r>
            <a:endParaRPr lang="en-US" sz="1350" dirty="0"/>
          </a:p>
          <a:p>
            <a:pPr indent="0" marL="0">
              <a:buNone/>
            </a:pPr>
            <a:r>
              <a:rPr lang="en-US" sz="1100" i="1" dirty="0">
                <a:solidFill>
                  <a:srgbClr val="5A6472"/>
                </a:solidFill>
                <a:latin typeface="Calibri" pitchFamily="34" charset="0"/>
                <a:cs typeface="Amiri" pitchFamily="2" charset="-78"/>
              </a:rPr>
              <a:t>mud-da-tun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مُدَّةٌ</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مُدَدٌ</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التَّوْقِيتُ</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timing</a:t>
            </a:r>
            <a:endParaRPr lang="en-US" sz="1350" dirty="0"/>
          </a:p>
          <a:p>
            <a:pPr indent="0" marL="0">
              <a:buNone/>
            </a:pPr>
            <a:r>
              <a:rPr lang="en-US" sz="1100" i="1" dirty="0">
                <a:solidFill>
                  <a:srgbClr val="5A6472"/>
                </a:solidFill>
                <a:latin typeface="Calibri" pitchFamily="34" charset="0"/>
                <a:cs typeface="Amiri" pitchFamily="2" charset="-78"/>
              </a:rPr>
              <a:t>at-taw-qī-tu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24-hour time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السَّاعَةُ الثَّالِثَةَ عَشْرَةَ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13:00</a:t>
            </a:r>
            <a:endParaRPr lang="en-US" sz="1350" dirty="0"/>
          </a:p>
          <a:p>
            <a:pPr indent="0" marL="0">
              <a:buNone/>
            </a:pPr>
            <a:r>
              <a:rPr lang="en-US" sz="1100" i="1" dirty="0">
                <a:solidFill>
                  <a:srgbClr val="5A6472"/>
                </a:solidFill>
                <a:latin typeface="Calibri" pitchFamily="34" charset="0"/>
                <a:cs typeface="Amiri" pitchFamily="2" charset="-78"/>
              </a:rPr>
              <a:t>as-sā-ʿa-tu ath-thā-li-tha-ta ʿash-ra-ta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السَّاعَةُ الرَّابِعَةَ عَشْرَةَ وَالنِّصْفُ</a:t>
            </a:r>
            <a:endParaRPr lang="ar-SA" sz="255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14:30</a:t>
            </a:r>
            <a:endParaRPr lang="en-US" sz="1350" dirty="0"/>
          </a:p>
          <a:p>
            <a:pPr indent="0" marL="0">
              <a:buNone/>
            </a:pPr>
            <a:r>
              <a:rPr lang="en-US" sz="1100" i="1" dirty="0">
                <a:solidFill>
                  <a:srgbClr val="5A6472"/>
                </a:solidFill>
                <a:latin typeface="Calibri" pitchFamily="34" charset="0"/>
                <a:cs typeface="Amiri" pitchFamily="2" charset="-78"/>
              </a:rPr>
              <a:t>as-sā-ʿa-tu ar-rā-bi-ʿa-ta ʿash-ra-ta wāln-niṣ-fu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السَّاعَةُ السَّادِسَةَ عَشْرَةَ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16:00</a:t>
            </a:r>
            <a:endParaRPr lang="en-US" sz="1350" dirty="0"/>
          </a:p>
          <a:p>
            <a:pPr indent="0" marL="0">
              <a:buNone/>
            </a:pPr>
            <a:r>
              <a:rPr lang="en-US" sz="1100" i="1" dirty="0">
                <a:solidFill>
                  <a:srgbClr val="5A6472"/>
                </a:solidFill>
                <a:latin typeface="Calibri" pitchFamily="34" charset="0"/>
                <a:cs typeface="Amiri" pitchFamily="2" charset="-78"/>
              </a:rPr>
              <a:t>as-sā-ʿa-tu as-sā-di-sa-ta ʿash-ra-ta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السَّاعَةُ الثَّامِنَةَ عَشْرَةَ وَخَمْسَ عَشْرَةَ دَقِيقَةً</a:t>
            </a:r>
            <a:endParaRPr lang="ar-SA" sz="19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18:15</a:t>
            </a:r>
            <a:endParaRPr lang="en-US" sz="1350" dirty="0"/>
          </a:p>
          <a:p>
            <a:pPr indent="0" marL="0">
              <a:buNone/>
            </a:pPr>
            <a:r>
              <a:rPr lang="en-US" sz="1100" i="1" dirty="0">
                <a:solidFill>
                  <a:srgbClr val="5A6472"/>
                </a:solidFill>
                <a:latin typeface="Calibri" pitchFamily="34" charset="0"/>
                <a:cs typeface="Amiri" pitchFamily="2" charset="-78"/>
              </a:rPr>
              <a:t>as-sā-ʿa-tu ath-thā-mi-na-ta ʿash-ra-ta wa-kham-sa ʿash-ra-ta da-qī-qa-tan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صَبَاحًا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 / in the morning</a:t>
            </a:r>
            <a:endParaRPr lang="en-US" sz="1350" dirty="0"/>
          </a:p>
          <a:p>
            <a:pPr indent="0" marL="0">
              <a:buNone/>
            </a:pPr>
            <a:r>
              <a:rPr lang="en-US" sz="1100" i="1" dirty="0">
                <a:solidFill>
                  <a:srgbClr val="5A6472"/>
                </a:solidFill>
                <a:latin typeface="Calibri" pitchFamily="34" charset="0"/>
                <a:cs typeface="Amiri" pitchFamily="2" charset="-78"/>
              </a:rPr>
              <a:t>ṣa-bā-ḥan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مَسَاءً</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p.m. / in the evening</a:t>
            </a:r>
            <a:endParaRPr lang="en-US" sz="1350" dirty="0"/>
          </a:p>
          <a:p>
            <a:pPr indent="0" marL="0">
              <a:buNone/>
            </a:pPr>
            <a:r>
              <a:rPr lang="en-US" sz="1100" i="1" dirty="0">
                <a:solidFill>
                  <a:srgbClr val="5A6472"/>
                </a:solidFill>
                <a:latin typeface="Calibri" pitchFamily="34" charset="0"/>
                <a:cs typeface="Amiri" pitchFamily="2" charset="-78"/>
              </a:rPr>
              <a:t>ma-sā-ʾan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HOURS ARE ORDINAL NUMBERS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twelve hours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السَّاعَاتُ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7" name="Text 14"/>
          <p:cNvSpPr txBox="1"/>
          <p:nvPr/>
        </p:nvSpPr>
        <p:spPr>
          <a:xfrm>
            <a:off x="613562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hour</a:t>
            </a:r>
            <a:endParaRPr lang="en-US" sz="1100" dirty="0"/>
          </a:p>
        </p:txBody>
      </p:sp>
      <p:sp>
        <p:nvSpPr>
          <p:cNvPr id="18" name="Text 15"/>
          <p:cNvSpPr txBox="1"/>
          <p:nvPr/>
        </p:nvSpPr>
        <p:spPr>
          <a:xfrm>
            <a:off x="485546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hour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54303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١:٠٠</a:t>
            </a:r>
            <a:endParaRPr lang="ar-SA" sz="2200" dirty="0"/>
          </a:p>
        </p:txBody>
      </p:sp>
      <p:sp>
        <p:nvSpPr>
          <p:cNvPr id="22" name="Text 19"/>
          <p:cNvSpPr txBox="1"/>
          <p:nvPr/>
        </p:nvSpPr>
        <p:spPr>
          <a:xfrm>
            <a:off x="6153912"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الوَاحِدَةُ</a:t>
            </a:r>
            <a:endParaRPr lang="ar-SA" sz="2200" dirty="0"/>
          </a:p>
        </p:txBody>
      </p:sp>
      <p:sp>
        <p:nvSpPr>
          <p:cNvPr id="23" name="Text 20"/>
          <p:cNvSpPr txBox="1"/>
          <p:nvPr/>
        </p:nvSpPr>
        <p:spPr>
          <a:xfrm>
            <a:off x="487375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٧:٠٠</a:t>
            </a:r>
            <a:endParaRPr lang="ar-SA" sz="2200" dirty="0"/>
          </a:p>
        </p:txBody>
      </p:sp>
      <p:sp>
        <p:nvSpPr>
          <p:cNvPr id="24" name="Text 21"/>
          <p:cNvSpPr txBox="1"/>
          <p:nvPr/>
        </p:nvSpPr>
        <p:spPr>
          <a:xfrm>
            <a:off x="54864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54303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٢:٠٠</a:t>
            </a:r>
            <a:endParaRPr lang="ar-SA" sz="2200" dirty="0"/>
          </a:p>
        </p:txBody>
      </p:sp>
      <p:sp>
        <p:nvSpPr>
          <p:cNvPr id="29" name="Text 26"/>
          <p:cNvSpPr txBox="1"/>
          <p:nvPr/>
        </p:nvSpPr>
        <p:spPr>
          <a:xfrm>
            <a:off x="6153912"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الثَّانِيَةُ</a:t>
            </a:r>
            <a:endParaRPr lang="ar-SA" sz="2200" dirty="0"/>
          </a:p>
        </p:txBody>
      </p:sp>
      <p:sp>
        <p:nvSpPr>
          <p:cNvPr id="30" name="Text 27"/>
          <p:cNvSpPr txBox="1"/>
          <p:nvPr/>
        </p:nvSpPr>
        <p:spPr>
          <a:xfrm>
            <a:off x="487375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٨:٠٠</a:t>
            </a:r>
            <a:endParaRPr lang="ar-SA" sz="2200" dirty="0"/>
          </a:p>
        </p:txBody>
      </p:sp>
      <p:sp>
        <p:nvSpPr>
          <p:cNvPr id="31" name="Text 28"/>
          <p:cNvSpPr txBox="1"/>
          <p:nvPr/>
        </p:nvSpPr>
        <p:spPr>
          <a:xfrm>
            <a:off x="54864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الثَّامِنَةُ</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54303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٣:٠٠</a:t>
            </a:r>
            <a:endParaRPr lang="ar-SA" sz="2200" dirty="0"/>
          </a:p>
        </p:txBody>
      </p:sp>
      <p:sp>
        <p:nvSpPr>
          <p:cNvPr id="36" name="Text 33"/>
          <p:cNvSpPr txBox="1"/>
          <p:nvPr/>
        </p:nvSpPr>
        <p:spPr>
          <a:xfrm>
            <a:off x="6153912"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الثَّالِثَةُ</a:t>
            </a:r>
            <a:endParaRPr lang="ar-SA" sz="2200" dirty="0"/>
          </a:p>
        </p:txBody>
      </p:sp>
      <p:sp>
        <p:nvSpPr>
          <p:cNvPr id="37" name="Text 34"/>
          <p:cNvSpPr txBox="1"/>
          <p:nvPr/>
        </p:nvSpPr>
        <p:spPr>
          <a:xfrm>
            <a:off x="487375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٩:٠٠</a:t>
            </a:r>
            <a:endParaRPr lang="ar-SA" sz="2200" dirty="0"/>
          </a:p>
        </p:txBody>
      </p:sp>
      <p:sp>
        <p:nvSpPr>
          <p:cNvPr id="38" name="Text 35"/>
          <p:cNvSpPr txBox="1"/>
          <p:nvPr/>
        </p:nvSpPr>
        <p:spPr>
          <a:xfrm>
            <a:off x="54864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التَّاسِعَةُ</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54303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٤:٠٠</a:t>
            </a:r>
            <a:endParaRPr lang="ar-SA" sz="2200" dirty="0"/>
          </a:p>
        </p:txBody>
      </p:sp>
      <p:sp>
        <p:nvSpPr>
          <p:cNvPr id="43" name="Text 40"/>
          <p:cNvSpPr txBox="1"/>
          <p:nvPr/>
        </p:nvSpPr>
        <p:spPr>
          <a:xfrm>
            <a:off x="6153912"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الرَّابِعَةُ</a:t>
            </a:r>
            <a:endParaRPr lang="ar-SA" sz="2200" dirty="0"/>
          </a:p>
        </p:txBody>
      </p:sp>
      <p:sp>
        <p:nvSpPr>
          <p:cNvPr id="44" name="Text 41"/>
          <p:cNvSpPr txBox="1"/>
          <p:nvPr/>
        </p:nvSpPr>
        <p:spPr>
          <a:xfrm>
            <a:off x="487375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١٠:٠٠</a:t>
            </a:r>
            <a:endParaRPr lang="ar-SA" sz="2200" dirty="0"/>
          </a:p>
        </p:txBody>
      </p:sp>
      <p:sp>
        <p:nvSpPr>
          <p:cNvPr id="45" name="Text 42"/>
          <p:cNvSpPr txBox="1"/>
          <p:nvPr/>
        </p:nvSpPr>
        <p:spPr>
          <a:xfrm>
            <a:off x="54864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العَاشِرَةُ</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54303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٥:٠٠</a:t>
            </a:r>
            <a:endParaRPr lang="ar-SA" sz="2200" dirty="0"/>
          </a:p>
        </p:txBody>
      </p:sp>
      <p:sp>
        <p:nvSpPr>
          <p:cNvPr id="48" name="Text 45"/>
          <p:cNvSpPr txBox="1"/>
          <p:nvPr/>
        </p:nvSpPr>
        <p:spPr>
          <a:xfrm>
            <a:off x="6153912"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الخَامِسَةُ</a:t>
            </a:r>
            <a:endParaRPr lang="ar-SA" sz="2200" dirty="0"/>
          </a:p>
        </p:txBody>
      </p:sp>
      <p:sp>
        <p:nvSpPr>
          <p:cNvPr id="49" name="Text 46"/>
          <p:cNvSpPr txBox="1"/>
          <p:nvPr/>
        </p:nvSpPr>
        <p:spPr>
          <a:xfrm>
            <a:off x="487375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١١:٠٠</a:t>
            </a:r>
            <a:endParaRPr lang="ar-SA" sz="2200" dirty="0"/>
          </a:p>
        </p:txBody>
      </p:sp>
      <p:sp>
        <p:nvSpPr>
          <p:cNvPr id="50" name="Text 47"/>
          <p:cNvSpPr txBox="1"/>
          <p:nvPr/>
        </p:nvSpPr>
        <p:spPr>
          <a:xfrm>
            <a:off x="54864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الحَادِيَةَ عَشْرَةَ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54303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٦:٠٠</a:t>
            </a:r>
            <a:endParaRPr lang="ar-SA" sz="2200" dirty="0"/>
          </a:p>
        </p:txBody>
      </p:sp>
      <p:sp>
        <p:nvSpPr>
          <p:cNvPr id="53" name="Text 50"/>
          <p:cNvSpPr txBox="1"/>
          <p:nvPr/>
        </p:nvSpPr>
        <p:spPr>
          <a:xfrm>
            <a:off x="6153912"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السَّادِسَةُ</a:t>
            </a:r>
            <a:endParaRPr lang="ar-SA" sz="2200" dirty="0"/>
          </a:p>
        </p:txBody>
      </p:sp>
      <p:sp>
        <p:nvSpPr>
          <p:cNvPr id="54" name="Text 51"/>
          <p:cNvSpPr txBox="1"/>
          <p:nvPr/>
        </p:nvSpPr>
        <p:spPr>
          <a:xfrm>
            <a:off x="487375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١٢:٠٠</a:t>
            </a:r>
            <a:endParaRPr lang="ar-SA" sz="2200" dirty="0"/>
          </a:p>
        </p:txBody>
      </p:sp>
      <p:sp>
        <p:nvSpPr>
          <p:cNvPr id="55" name="Text 52"/>
          <p:cNvSpPr txBox="1"/>
          <p:nvPr/>
        </p:nvSpPr>
        <p:spPr>
          <a:xfrm>
            <a:off x="54864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الثَّانِيَةَ عَشْرَةَ</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Question: </a:t>
            </a:r>
            <a:pPr algn="l" indent="0" marL="0">
              <a:buNone/>
            </a:pPr>
            <a:r>
              <a:rPr lang="ar-SA" altLang="en-US" sz="1500" b="1" dirty="0">
                <a:solidFill>
                  <a:srgbClr val="1B3B6F"/>
                </a:solidFill>
                <a:latin typeface="Amiri" pitchFamily="2" charset="-78"/>
                <a:ea typeface="Amiri" pitchFamily="2" charset="-78"/>
                <a:cs typeface="Amiri" pitchFamily="2" charset="-78"/>
              </a:rPr>
              <a:t>كَمِ السَّاعَةُ؟</a:t>
            </a:r>
            <a:pPr algn="l" indent="0" marL="0">
              <a:buNone/>
            </a:pPr>
            <a:r>
              <a:rPr lang="en-US" sz="1150" b="1" dirty="0">
                <a:solidFill>
                  <a:srgbClr val="1B3B6F"/>
                </a:solidFill>
                <a:latin typeface="Calibri" pitchFamily="34" charset="0"/>
                <a:cs typeface="Amiri" pitchFamily="2" charset="-78"/>
              </a:rPr>
              <a:t>   Answer: </a:t>
            </a:r>
            <a:pPr algn="l" indent="0" marL="0">
              <a:buNone/>
            </a:pPr>
            <a:r>
              <a:rPr lang="ar-SA" altLang="en-US" sz="1500" b="1" dirty="0">
                <a:solidFill>
                  <a:srgbClr val="1B3B6F"/>
                </a:solidFill>
                <a:latin typeface="Amiri" pitchFamily="2" charset="-78"/>
                <a:ea typeface="Amiri" pitchFamily="2" charset="-78"/>
                <a:cs typeface="Amiri" pitchFamily="2" charset="-78"/>
              </a:rPr>
              <a:t>السَّاعَةُ السَّابِعَةُ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2 · A CALCULATION: THE HOUR + OR − THE MINUTES (WEBSITE)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Past the hour (</a:t>
            </a:r>
            <a:pPr algn="l" indent="0" marL="0">
              <a:buNone/>
            </a:pPr>
            <a:r>
              <a:rPr lang="ar-SA" altLang="en-US" sz="2600" b="1" dirty="0">
                <a:solidFill>
                  <a:srgbClr val="1B3B6F"/>
                </a:solidFill>
                <a:latin typeface="Amiri" pitchFamily="2" charset="-78"/>
                <a:ea typeface="Amiri" pitchFamily="2" charset="-78"/>
                <a:cs typeface="Amiri" pitchFamily="2" charset="-78"/>
              </a:rPr>
              <a:t>وَ</a:t>
            </a:r>
            <a:pPr algn="l" indent="0" marL="0">
              <a:buNone/>
            </a:pPr>
            <a:r>
              <a:rPr lang="en-US" sz="2000" b="1" dirty="0">
                <a:solidFill>
                  <a:srgbClr val="1B3B6F"/>
                </a:solidFill>
                <a:latin typeface="Cambria" pitchFamily="34" charset="0"/>
                <a:cs typeface="Amiri" pitchFamily="2" charset="-78"/>
              </a:rPr>
              <a:t>) or to the next hour (</a:t>
            </a:r>
            <a:pPr algn="l" indent="0" marL="0">
              <a:buNone/>
            </a:pPr>
            <a:r>
              <a:rPr lang="ar-SA" altLang="en-US" sz="2600" b="1" dirty="0">
                <a:solidFill>
                  <a:srgbClr val="1B3B6F"/>
                </a:solidFill>
                <a:latin typeface="Amiri" pitchFamily="2" charset="-78"/>
                <a:ea typeface="Amiri" pitchFamily="2" charset="-78"/>
                <a:cs typeface="Amiri" pitchFamily="2" charset="-78"/>
              </a:rPr>
              <a:t>إِلَّا</a:t>
            </a:r>
            <a:pPr algn="l" indent="0" marL="0">
              <a:buNone/>
            </a:pPr>
            <a:r>
              <a:rPr lang="en-US" sz="2000" b="1" dirty="0">
                <a:solidFill>
                  <a:srgbClr val="1B3B6F"/>
                </a:solidFill>
                <a:latin typeface="Cambria" pitchFamily="34" charset="0"/>
                <a:cs typeface="Amiri" pitchFamily="2" charset="-78"/>
              </a:rPr>
              <a: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Clock</a:t>
            </a:r>
            <a:endParaRPr lang="en-US" sz="1100" dirty="0"/>
          </a:p>
        </p:txBody>
      </p:sp>
      <p:sp>
        <p:nvSpPr>
          <p:cNvPr id="17" name="Text 14"/>
          <p:cNvSpPr txBox="1"/>
          <p:nvPr/>
        </p:nvSpPr>
        <p:spPr>
          <a:xfrm>
            <a:off x="46725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it works</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360152" y="226771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٧:٠٥</a:t>
            </a:r>
            <a:endParaRPr lang="ar-SA" sz="2200" dirty="0"/>
          </a:p>
        </p:txBody>
      </p:sp>
      <p:sp>
        <p:nvSpPr>
          <p:cNvPr id="21" name="Text 18"/>
          <p:cNvSpPr txBox="1"/>
          <p:nvPr/>
        </p:nvSpPr>
        <p:spPr>
          <a:xfrm>
            <a:off x="4690872" y="226771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خَمْسُ دَقَائِقَ</a:t>
            </a:r>
            <a:endParaRPr lang="ar-SA" sz="2200" dirty="0"/>
          </a:p>
        </p:txBody>
      </p:sp>
      <p:sp>
        <p:nvSpPr>
          <p:cNvPr id="22" name="Text 19"/>
          <p:cNvSpPr txBox="1"/>
          <p:nvPr/>
        </p:nvSpPr>
        <p:spPr>
          <a:xfrm>
            <a:off x="566928" y="226771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+ 5 minutes</a:t>
            </a:r>
            <a:endParaRPr lang="en-US" sz="1100" dirty="0"/>
          </a:p>
        </p:txBody>
      </p:sp>
      <p:sp>
        <p:nvSpPr>
          <p:cNvPr id="23" name="Shape 20"/>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4" name="Text 21"/>
          <p:cNvSpPr txBox="1"/>
          <p:nvPr/>
        </p:nvSpPr>
        <p:spPr>
          <a:xfrm>
            <a:off x="10360152" y="285292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٧:١٥</a:t>
            </a:r>
            <a:endParaRPr lang="ar-SA" sz="2200" dirty="0"/>
          </a:p>
        </p:txBody>
      </p:sp>
      <p:sp>
        <p:nvSpPr>
          <p:cNvPr id="25" name="Text 22"/>
          <p:cNvSpPr txBox="1"/>
          <p:nvPr/>
        </p:nvSpPr>
        <p:spPr>
          <a:xfrm>
            <a:off x="4690872" y="285292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الرُّبْعُ</a:t>
            </a:r>
            <a:endParaRPr lang="ar-SA" sz="2200" dirty="0"/>
          </a:p>
        </p:txBody>
      </p:sp>
      <p:sp>
        <p:nvSpPr>
          <p:cNvPr id="26" name="Text 23"/>
          <p:cNvSpPr txBox="1"/>
          <p:nvPr/>
        </p:nvSpPr>
        <p:spPr>
          <a:xfrm>
            <a:off x="566928" y="285292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quarter</a:t>
            </a:r>
            <a:endParaRPr lang="en-US" sz="1100" dirty="0"/>
          </a:p>
        </p:txBody>
      </p:sp>
      <p:sp>
        <p:nvSpPr>
          <p:cNvPr id="27" name="Shape 2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360152" y="3438144"/>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٧:٢٠</a:t>
            </a:r>
            <a:endParaRPr lang="ar-SA" sz="2200" dirty="0"/>
          </a:p>
        </p:txBody>
      </p:sp>
      <p:sp>
        <p:nvSpPr>
          <p:cNvPr id="31" name="Text 28"/>
          <p:cNvSpPr txBox="1"/>
          <p:nvPr/>
        </p:nvSpPr>
        <p:spPr>
          <a:xfrm>
            <a:off x="4690872" y="3438144"/>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الثُّلُثُ</a:t>
            </a:r>
            <a:endParaRPr lang="ar-SA" sz="2200" dirty="0"/>
          </a:p>
        </p:txBody>
      </p:sp>
      <p:sp>
        <p:nvSpPr>
          <p:cNvPr id="32" name="Text 29"/>
          <p:cNvSpPr txBox="1"/>
          <p:nvPr/>
        </p:nvSpPr>
        <p:spPr>
          <a:xfrm>
            <a:off x="566928" y="3438144"/>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third (20 min)</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360152" y="4023360"/>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٧:٣٠</a:t>
            </a:r>
            <a:endParaRPr lang="ar-SA" sz="2200" dirty="0"/>
          </a:p>
        </p:txBody>
      </p:sp>
      <p:sp>
        <p:nvSpPr>
          <p:cNvPr id="35" name="Text 32"/>
          <p:cNvSpPr txBox="1"/>
          <p:nvPr/>
        </p:nvSpPr>
        <p:spPr>
          <a:xfrm>
            <a:off x="4690872" y="4023360"/>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النِّصْفُ</a:t>
            </a:r>
            <a:endParaRPr lang="ar-SA" sz="2200" dirty="0"/>
          </a:p>
        </p:txBody>
      </p:sp>
      <p:sp>
        <p:nvSpPr>
          <p:cNvPr id="36" name="Text 33"/>
          <p:cNvSpPr txBox="1"/>
          <p:nvPr/>
        </p:nvSpPr>
        <p:spPr>
          <a:xfrm>
            <a:off x="566928" y="4023360"/>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half</a:t>
            </a:r>
            <a:endParaRPr lang="en-US" sz="1100" dirty="0"/>
          </a:p>
        </p:txBody>
      </p:sp>
      <p:sp>
        <p:nvSpPr>
          <p:cNvPr id="37" name="Shape 34"/>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10360152" y="4608576"/>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٧:٤٠</a:t>
            </a:r>
            <a:endParaRPr lang="ar-SA" sz="2200" dirty="0"/>
          </a:p>
        </p:txBody>
      </p:sp>
      <p:sp>
        <p:nvSpPr>
          <p:cNvPr id="41" name="Text 38"/>
          <p:cNvSpPr txBox="1"/>
          <p:nvPr/>
        </p:nvSpPr>
        <p:spPr>
          <a:xfrm>
            <a:off x="4690872" y="4608576"/>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إِلَّا</a:t>
            </a:r>
            <a:pPr rtl="1" algn="ctr" indent="0" marL="0">
              <a:buNone/>
            </a:pPr>
            <a:r>
              <a:rPr lang="ar-SA" altLang="en-US" sz="2200" b="1" dirty="0">
                <a:solidFill>
                  <a:srgbClr val="1B3B6F"/>
                </a:solidFill>
                <a:latin typeface="Amiri" pitchFamily="2" charset="-78"/>
                <a:ea typeface="Amiri" pitchFamily="2" charset="-78"/>
                <a:cs typeface="Amiri" pitchFamily="2" charset="-78"/>
              </a:rPr>
              <a:t> الثُّلُثَ</a:t>
            </a:r>
            <a:endParaRPr lang="ar-SA" sz="2200" dirty="0"/>
          </a:p>
        </p:txBody>
      </p:sp>
      <p:sp>
        <p:nvSpPr>
          <p:cNvPr id="42" name="Text 39"/>
          <p:cNvSpPr txBox="1"/>
          <p:nvPr/>
        </p:nvSpPr>
        <p:spPr>
          <a:xfrm>
            <a:off x="566928" y="4608576"/>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a third</a:t>
            </a:r>
            <a:endParaRPr lang="en-US" sz="1100" dirty="0"/>
          </a:p>
        </p:txBody>
      </p:sp>
      <p:sp>
        <p:nvSpPr>
          <p:cNvPr id="43" name="Shape 40"/>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4" name="Text 41"/>
          <p:cNvSpPr txBox="1"/>
          <p:nvPr/>
        </p:nvSpPr>
        <p:spPr>
          <a:xfrm>
            <a:off x="10360152" y="519379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٧:٤٥</a:t>
            </a:r>
            <a:endParaRPr lang="ar-SA" sz="2200" dirty="0"/>
          </a:p>
        </p:txBody>
      </p:sp>
      <p:sp>
        <p:nvSpPr>
          <p:cNvPr id="45" name="Text 42"/>
          <p:cNvSpPr txBox="1"/>
          <p:nvPr/>
        </p:nvSpPr>
        <p:spPr>
          <a:xfrm>
            <a:off x="4690872" y="519379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إِلَّا</a:t>
            </a:r>
            <a:pPr rtl="1" algn="ctr" indent="0" marL="0">
              <a:buNone/>
            </a:pPr>
            <a:r>
              <a:rPr lang="ar-SA" altLang="en-US" sz="2200" b="1" dirty="0">
                <a:solidFill>
                  <a:srgbClr val="1B3B6F"/>
                </a:solidFill>
                <a:latin typeface="Amiri" pitchFamily="2" charset="-78"/>
                <a:ea typeface="Amiri" pitchFamily="2" charset="-78"/>
                <a:cs typeface="Amiri" pitchFamily="2" charset="-78"/>
              </a:rPr>
              <a:t> الرُّبْعَ</a:t>
            </a:r>
            <a:endParaRPr lang="ar-SA" sz="2200" dirty="0"/>
          </a:p>
        </p:txBody>
      </p:sp>
      <p:sp>
        <p:nvSpPr>
          <p:cNvPr id="46" name="Text 43"/>
          <p:cNvSpPr txBox="1"/>
          <p:nvPr/>
        </p:nvSpPr>
        <p:spPr>
          <a:xfrm>
            <a:off x="566928" y="519379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a quarter</a:t>
            </a:r>
            <a:endParaRPr lang="en-US" sz="1100" dirty="0"/>
          </a:p>
        </p:txBody>
      </p:sp>
      <p:sp>
        <p:nvSpPr>
          <p:cNvPr id="47" name="Shape 4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10360152" y="577900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٧:٥٥</a:t>
            </a:r>
            <a:endParaRPr lang="ar-SA" sz="2200" dirty="0"/>
          </a:p>
        </p:txBody>
      </p:sp>
      <p:sp>
        <p:nvSpPr>
          <p:cNvPr id="51" name="Text 48"/>
          <p:cNvSpPr txBox="1"/>
          <p:nvPr/>
        </p:nvSpPr>
        <p:spPr>
          <a:xfrm>
            <a:off x="4690872" y="577900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إِلَّا</a:t>
            </a:r>
            <a:pPr rtl="1" algn="ctr" indent="0" marL="0">
              <a:buNone/>
            </a:pPr>
            <a:r>
              <a:rPr lang="ar-SA" altLang="en-US" sz="2200" b="1" dirty="0">
                <a:solidFill>
                  <a:srgbClr val="1B3B6F"/>
                </a:solidFill>
                <a:latin typeface="Amiri" pitchFamily="2" charset="-78"/>
                <a:ea typeface="Amiri" pitchFamily="2" charset="-78"/>
                <a:cs typeface="Amiri" pitchFamily="2" charset="-78"/>
              </a:rPr>
              <a:t> خَمْسَ دَقَائِقَ</a:t>
            </a:r>
            <a:endParaRPr lang="ar-SA" sz="2200" dirty="0"/>
          </a:p>
        </p:txBody>
      </p:sp>
      <p:sp>
        <p:nvSpPr>
          <p:cNvPr id="52" name="Text 49"/>
          <p:cNvSpPr txBox="1"/>
          <p:nvPr/>
        </p:nvSpPr>
        <p:spPr>
          <a:xfrm>
            <a:off x="566928" y="577900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− 5 minutes</a:t>
            </a:r>
            <a:endParaRPr lang="en-US" sz="11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3 · START, FINISH, DURATION (WEBSITE) · DEVELOP / STRETCH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Begins, ends, lasts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يَبْدَأُ · يَنْتَهِي · يَسْتَمِرُّ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START · يَبْدَأُ فِي</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يَبْدَأُ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يَبْدَأُ الدَّرْسُ فِي الثَّامِنَةِ.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lesson begins at eight.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 an exact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FINISH · يَنْتَهِي فِي</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يَنْتَهِي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يَنْتَهِي فِي التَّاسِعَةِ إِلَّا الرُّبْعَ.</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ends at quarter to 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 an exact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DURATION · يَسْتَمِرُّ مُدَّةَ</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مُدَّةَ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يَسْتَمِرُّ مُدَّةَ خَمْسٍ وَأَرْبَعِينَ دَقِيقَةً.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lasts 45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How LONG → </a:t>
            </a:r>
            <a:pPr algn="l" indent="0" marL="0">
              <a:buNone/>
            </a:pPr>
            <a:r>
              <a:rPr lang="ar-SA" altLang="en-US" sz="1450" dirty="0">
                <a:solidFill>
                  <a:srgbClr val="1F2A37"/>
                </a:solidFill>
                <a:latin typeface="Amiri" pitchFamily="2" charset="-78"/>
                <a:ea typeface="Amiri" pitchFamily="2" charset="-78"/>
                <a:cs typeface="Amiri" pitchFamily="2" charset="-78"/>
              </a:rPr>
              <a:t>مُدَّةَ</a:t>
            </a:r>
            <a:pPr algn="l" indent="0" marL="0">
              <a:buNone/>
            </a:pPr>
            <a:r>
              <a:rPr lang="en-US" sz="1100" dirty="0">
                <a:solidFill>
                  <a:srgbClr val="1F2A37"/>
                </a:solidFill>
                <a:latin typeface="Calibri" pitchFamily="34" charset="0"/>
                <a:cs typeface="Amiri" pitchFamily="2" charset="-78"/>
              </a:rPr>
              <a:t>, not </a:t>
            </a:r>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use </a:t>
            </a:r>
            <a:pPr algn="l" indent="0" marL="0">
              <a:buNone/>
            </a:pPr>
            <a:r>
              <a:rPr lang="ar-SA" altLang="en-US" sz="1500" dirty="0">
                <a:solidFill>
                  <a:srgbClr val="1F2A37"/>
                </a:solidFill>
                <a:latin typeface="Amiri" pitchFamily="2" charset="-78"/>
                <a:ea typeface="Amiri" pitchFamily="2" charset="-78"/>
                <a:cs typeface="Amiri" pitchFamily="2" charset="-78"/>
              </a:rPr>
              <a:t>مُدَّةَ</a:t>
            </a:r>
            <a:pPr algn="l" indent="0" marL="0">
              <a:buNone/>
            </a:pPr>
            <a:r>
              <a:rPr lang="en-US" sz="1150" dirty="0">
                <a:solidFill>
                  <a:srgbClr val="1F2A37"/>
                </a:solidFill>
                <a:latin typeface="Calibri" pitchFamily="34" charset="0"/>
                <a:cs typeface="Amiri" pitchFamily="2" charset="-78"/>
              </a:rPr>
              <a:t> for how long something lasts.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يَسْتَمِرُّ مُدَّةَ سَاعَةٍ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يَسْتَمِرُّ فِي سَاعَةٍ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Advanced clock time: past, to and 24-hour schedules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قِرَاءَةُ الوَقْتِ المُتَقَدِّمَةُ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ea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 for minutes after the hour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السَّاعَةُ + العَدَدُ التَّرْتِيبِيُّ + وَ + الدَّقَائِقُ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٧:٠٥ السَّاعَةُ السَّابِعَةُ وَخَمْسُ دَقَائِقَ.   ·   ٩:١٥ السَّاعَةُ التَّاسِعَةُ وَالرُّبْعُ.   ·   ١١:٣٠ السَّاعَةُ الحَادِيَةَ عَشْرَةَ وَالنِّصْفُ.</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ea typeface="Amiri" pitchFamily="2" charset="-78"/>
                <a:cs typeface="Amiri" pitchFamily="2" charset="-78"/>
              </a:rPr>
              <a:t>إِلَّا</a:t>
            </a:r>
            <a:pPr algn="l" indent="0" marL="0">
              <a:buNone/>
            </a:pPr>
            <a:r>
              <a:rPr lang="en-US" sz="1250" b="1" dirty="0">
                <a:solidFill>
                  <a:srgbClr val="1B3B6F"/>
                </a:solidFill>
                <a:latin typeface="Calibri" pitchFamily="34" charset="0"/>
                <a:cs typeface="Amiri" pitchFamily="2" charset="-78"/>
              </a:rPr>
              <a:t> for minutes before the next hour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السَّاعَةُ + السَّاعَةُ التَّالِيَةُ + إِلَّا + الدَّقَائِقَ</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٢:٤٠ السَّاعَةُ الثَّالِثَةُ إِلَّا الثُّلُثَ.   ·   ٥:٤٥ السَّاعَةُ السَّادِسَةُ إِلَّا الرُّبْعَ.   ·   ٨:٥٥ السَّاعَةُ التَّاسِعَةُ إِلَّا خَمْسَ دَقَائِقَ.</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Read formal 24-hour time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١٤:٣٠ ← الرَّابِعَةَ عَشْرَةَ وَالنِّصْفُ</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يَنْطَلِقُ القِطَارُ فِي السَّاعَةِ الرَّابِعَةَ عَشْرَةَ وَالنِّصْفِ.   ·   يَبْدَأُ النَّشَاطُ فِي السَّاعَةِ السَّادِسَةَ عَشْرَةَ.</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Distinguish start, finish and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يَبْدَأُ فِي... · يَنْتَهِي فِي... · يَسْتَمِرُّ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يَبْدَأُ الدَّرْسُ فِي الثَّامِنَةِ.   ·   يَنْتَهِي فِي التَّاسِعَةِ إِلَّا الرُّبْعَ.   ·   يَسْتَمِرُّ مُدَّةَ خَمْسٍ وَأَرْبَعِينَ دَقِيقَةً.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7:15?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الرُّبْعَ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وَالرُّبْعُ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3:45?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إِلَّا 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وَالرُّبْعُ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وَالنِّصْفُ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8:55?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إِلَّا خَمْسًا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إِلَّا خَمْسَ دَقَائِقَ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وَخَمْسُ دَقَائِقَ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“begins”?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7:15?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السَّابِعَةُ إِلَّا الرُّبْعَ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الثَّامِنَةُ وَالرُّبْعُ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السَّابِعَةُ وَالرُّبْعُ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15 minutes after seven uses </a:t>
            </a:r>
            <a:pPr algn="l" indent="0" marL="0">
              <a:buNone/>
            </a:pPr>
            <a:r>
              <a:rPr lang="ar-SA" altLang="en-US" sz="1350" dirty="0">
                <a:solidFill>
                  <a:srgbClr val="8A6D1E"/>
                </a:solidFill>
                <a:latin typeface="Amiri" pitchFamily="2" charset="-78"/>
                <a:ea typeface="Amiri" pitchFamily="2" charset="-78"/>
                <a:cs typeface="Amiri" pitchFamily="2" charset="-78"/>
              </a:rPr>
              <a:t>وَالرُّبْعُ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3:45?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إِلَّا 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وَالرُّبْعُ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وَالنِّصْفُ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Move to the next hour: quarter to four.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8:55?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الثَّامِنَةُ إِلَّا خَمْسًا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التَّاسِعَةُ إِلَّا خَمْسَ دَقَائِقَ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التَّاسِعَةُ وَخَمْسُ دَقَائِقَ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five minutes before 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“begins”?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يَسْتَمِرُّ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يَبْدَأُ</a:t>
            </a:r>
            <a:pPr algn="l" indent="0" marL="0">
              <a:buNone/>
            </a:pPr>
            <a:r>
              <a:rPr lang="en-US" sz="1050" i="1" dirty="0">
                <a:solidFill>
                  <a:srgbClr val="8A6D1E"/>
                </a:solidFill>
                <a:latin typeface="Calibri" pitchFamily="34" charset="0"/>
                <a:cs typeface="Amiri" pitchFamily="2" charset="-78"/>
              </a:rPr>
              <a:t> = begins.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read my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يَبْدَأُ</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الدَّوَامُ فِي الثَّامِنَةِ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خَمْسٍ وَعِشْرِينَ دَقِيقَةً.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8:25 → 8 + 25 minutes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Finish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يَنْتَهِي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فِي الرَّابِعَةِ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إِلَّا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عَشْرَ دَقَائِقَ.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3:50 → the NEXT hour (4) − 10.</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24-hour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المَوْعِدُ فِي السَّاعَةِ السَّادِسَةَ عَشْرَةَ.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16:00 = 4 p.m. (a timetable).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Duration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يَسْتَمِرُّ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التَّمْرِينُ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مُدَّةَ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خَمْسٍ وَأَرْبَعِينَ دَقِيقَةً.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 long → </a:t>
            </a:r>
            <a:pPr algn="l" indent="0" marL="0">
              <a:buNone/>
            </a:pPr>
            <a:r>
              <a:rPr lang="ar-SA" altLang="en-US" sz="1500" dirty="0">
                <a:solidFill>
                  <a:srgbClr val="1F2A37"/>
                </a:solidFill>
                <a:latin typeface="Amiri" pitchFamily="2" charset="-78"/>
                <a:ea typeface="Amiri" pitchFamily="2" charset="-78"/>
                <a:cs typeface="Amiri" pitchFamily="2" charset="-78"/>
              </a:rPr>
              <a:t>مُدَّةَ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ar-SA" sz="800" b="1" spc="100" kern="0" dirty="0">
                <a:solidFill>
                  <a:srgbClr val="FFFFFF"/>
                </a:solidFill>
                <a:latin typeface="Amiri" pitchFamily="2" charset="-78"/>
                <a:ea typeface="Amiri" pitchFamily="2" charset="-78"/>
                <a:cs typeface="Amiri" pitchFamily="2" charset="-78"/>
              </a:rPr>
              <a:t>وَ / إِلَّا</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SCHEDULE 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DURATION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2" charset="-78"/>
                <a:ea typeface="Amiri" pitchFamily="2" charset="-78"/>
                <a:cs typeface="Amiri" pitchFamily="2" charset="-78"/>
              </a:rPr>
              <a:t>يَبْدَأُ</a:t>
            </a:r>
            <a:pPr rtl="1" algn="r" indent="0" marL="0">
              <a:buNone/>
            </a:pPr>
            <a:r>
              <a:rPr lang="ar-SA" altLang="en-US" sz="1900" b="1" dirty="0">
                <a:solidFill>
                  <a:srgbClr val="1B3B6F"/>
                </a:solidFill>
                <a:latin typeface="Amiri" pitchFamily="2" charset="-78"/>
                <a:ea typeface="Amiri" pitchFamily="2" charset="-78"/>
                <a:cs typeface="Amiri" pitchFamily="2" charset="-78"/>
              </a:rPr>
              <a:t> الدَّوَامُ فِي الثَّامِنَةِ </a:t>
            </a:r>
            <a:pPr rtl="1" algn="r" indent="0" marL="0">
              <a:buNone/>
            </a:pPr>
            <a:r>
              <a:rPr lang="ar-SA" altLang="en-US" sz="1900" b="1" dirty="0">
                <a:solidFill>
                  <a:srgbClr val="0E7C86"/>
                </a:solidFill>
                <a:latin typeface="Amiri" pitchFamily="2" charset="-78"/>
                <a:ea typeface="Amiri" pitchFamily="2" charset="-78"/>
                <a:cs typeface="Amiri" pitchFamily="2" charset="-78"/>
              </a:rPr>
              <a:t>وَ</a:t>
            </a:r>
            <a:pPr rtl="1" algn="r" indent="0" marL="0">
              <a:buNone/>
            </a:pPr>
            <a:r>
              <a:rPr lang="ar-SA" altLang="en-US" sz="1900" b="1" dirty="0">
                <a:solidFill>
                  <a:srgbClr val="1B3B6F"/>
                </a:solidFill>
                <a:latin typeface="Amiri" pitchFamily="2" charset="-78"/>
                <a:ea typeface="Amiri" pitchFamily="2" charset="-78"/>
                <a:cs typeface="Amiri" pitchFamily="2" charset="-78"/>
              </a:rPr>
              <a:t>خَمْسٍ وَعِشْرِينَ دَقِيقَةً، وَ</a:t>
            </a:r>
            <a:pPr rtl="1" algn="r" indent="0" marL="0">
              <a:buNone/>
            </a:pPr>
            <a:r>
              <a:rPr lang="ar-SA" altLang="en-US" sz="1900" b="1" dirty="0">
                <a:solidFill>
                  <a:srgbClr val="1D5FBF"/>
                </a:solidFill>
                <a:latin typeface="Amiri" pitchFamily="2" charset="-78"/>
                <a:ea typeface="Amiri" pitchFamily="2" charset="-78"/>
                <a:cs typeface="Amiri" pitchFamily="2" charset="-78"/>
              </a:rPr>
              <a:t>يَنْتَهِي</a:t>
            </a:r>
            <a:pPr rtl="1" algn="r" indent="0" marL="0">
              <a:buNone/>
            </a:pPr>
            <a:r>
              <a:rPr lang="ar-SA" altLang="en-US" sz="1900" b="1" dirty="0">
                <a:solidFill>
                  <a:srgbClr val="1B3B6F"/>
                </a:solidFill>
                <a:latin typeface="Amiri" pitchFamily="2" charset="-78"/>
                <a:ea typeface="Amiri" pitchFamily="2" charset="-78"/>
                <a:cs typeface="Amiri" pitchFamily="2" charset="-78"/>
              </a:rPr>
              <a:t> فِي الرَّابِعَةِ </a:t>
            </a:r>
            <a:pPr rtl="1" algn="r" indent="0" marL="0">
              <a:buNone/>
            </a:pPr>
            <a:r>
              <a:rPr lang="ar-SA" altLang="en-US" sz="1900" b="1" dirty="0">
                <a:solidFill>
                  <a:srgbClr val="0E7C86"/>
                </a:solidFill>
                <a:latin typeface="Amiri" pitchFamily="2" charset="-78"/>
                <a:ea typeface="Amiri" pitchFamily="2" charset="-78"/>
                <a:cs typeface="Amiri" pitchFamily="2" charset="-78"/>
              </a:rPr>
              <a:t>إِلَّا</a:t>
            </a:r>
            <a:pPr rtl="1" algn="r" indent="0" marL="0">
              <a:buNone/>
            </a:pPr>
            <a:r>
              <a:rPr lang="ar-SA" altLang="en-US" sz="1900" b="1" dirty="0">
                <a:solidFill>
                  <a:srgbClr val="1B3B6F"/>
                </a:solidFill>
                <a:latin typeface="Amiri" pitchFamily="2" charset="-78"/>
                <a:ea typeface="Amiri" pitchFamily="2" charset="-78"/>
                <a:cs typeface="Amiri" pitchFamily="2" charset="-78"/>
              </a:rPr>
              <a:t> عَشْرَ دَقَائِقَ. </a:t>
            </a:r>
            <a:pPr rtl="1" algn="r" indent="0" marL="0">
              <a:buNone/>
            </a:pPr>
            <a:r>
              <a:rPr lang="ar-SA" altLang="en-US" sz="1900" b="1" dirty="0">
                <a:solidFill>
                  <a:srgbClr val="1D5FBF"/>
                </a:solidFill>
                <a:latin typeface="Amiri" pitchFamily="2" charset="-78"/>
                <a:ea typeface="Amiri" pitchFamily="2" charset="-78"/>
                <a:cs typeface="Amiri" pitchFamily="2" charset="-78"/>
              </a:rPr>
              <a:t>يَسْتَمِرُّ</a:t>
            </a:r>
            <a:pPr rtl="1" algn="r" indent="0" marL="0">
              <a:buNone/>
            </a:pPr>
            <a:r>
              <a:rPr lang="ar-SA" altLang="en-US" sz="1900" b="1" dirty="0">
                <a:solidFill>
                  <a:srgbClr val="1B3B6F"/>
                </a:solidFill>
                <a:latin typeface="Amiri" pitchFamily="2" charset="-78"/>
                <a:ea typeface="Amiri" pitchFamily="2" charset="-78"/>
                <a:cs typeface="Amiri" pitchFamily="2" charset="-78"/>
              </a:rPr>
              <a:t> التَّمْرِينُ </a:t>
            </a:r>
            <a:pPr rtl="1" algn="r" indent="0" marL="0">
              <a:buNone/>
            </a:pPr>
            <a:r>
              <a:rPr lang="ar-SA" altLang="en-US" sz="1900" b="1" dirty="0">
                <a:solidFill>
                  <a:srgbClr val="D6336C"/>
                </a:solidFill>
                <a:latin typeface="Amiri" pitchFamily="2" charset="-78"/>
                <a:ea typeface="Amiri" pitchFamily="2" charset="-78"/>
                <a:cs typeface="Amiri" pitchFamily="2" charset="-78"/>
              </a:rPr>
              <a:t>مُدَّةَ</a:t>
            </a:r>
            <a:pPr rtl="1" algn="r" indent="0" marL="0">
              <a:buNone/>
            </a:pPr>
            <a:r>
              <a:rPr lang="ar-SA" altLang="en-US" sz="1900" b="1" dirty="0">
                <a:solidFill>
                  <a:srgbClr val="1B3B6F"/>
                </a:solidFill>
                <a:latin typeface="Amiri" pitchFamily="2" charset="-78"/>
                <a:ea typeface="Amiri" pitchFamily="2" charset="-78"/>
                <a:cs typeface="Amiri" pitchFamily="2" charset="-78"/>
              </a:rPr>
              <a:t> خَمْسٍ وَأَرْبَعِينَ دَقِيقَةً.</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school day starts at 8:25 and ends at 3:50. Training lasts 45 minutes.</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يَبْدَأُ الدَّوَامُ فِي الثَّامِنَةِ وَخَمْسٍ وَعِشْرِينَ دَقِيقَةً.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 day starts at 8:25.</a:t>
            </a:r>
            <a:endParaRPr lang="en-US" sz="1250" dirty="0"/>
          </a:p>
          <a:p>
            <a:pPr indent="0" marL="0">
              <a:buNone/>
            </a:pPr>
            <a:r>
              <a:rPr lang="en-US" sz="1050" i="1" dirty="0">
                <a:solidFill>
                  <a:srgbClr val="8A6D1E"/>
                </a:solidFill>
                <a:latin typeface="Calibri" pitchFamily="34" charset="0"/>
                <a:cs typeface="Amiri" pitchFamily="2" charset="-78"/>
              </a:rPr>
              <a:t>Exact minutes after the hour.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يَنْتَهِي فِي الرَّابِعَةِ إِلَّا عَشْرَ دَقَائِقَ.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ends at 3:50.</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Name the next hour with إِلَّا.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المَوْعِدُ فِي السَّاعَةِ السَّادِسَةَ عَشْرَةَ.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appointment is at 16:00.</a:t>
            </a:r>
            <a:endParaRPr lang="en-US" sz="1250" dirty="0"/>
          </a:p>
          <a:p>
            <a:pPr indent="0" marL="0">
              <a:buNone/>
            </a:pPr>
            <a:r>
              <a:rPr lang="en-US" sz="1050" i="1" dirty="0">
                <a:solidFill>
                  <a:srgbClr val="8A6D1E"/>
                </a:solidFill>
                <a:latin typeface="Calibri" pitchFamily="34" charset="0"/>
                <a:cs typeface="Amiri" pitchFamily="2" charset="-78"/>
              </a:rPr>
              <a:t>Formal 24-hour reading.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يَسْتَمِرُّ التَّمْرِينُ مُدَّةَ خَمْسٍ وَأَرْبَعِينَ دَقِيقَةً.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Training lasts 45 minutes.</a:t>
            </a:r>
            <a:endParaRPr lang="en-US" sz="1250" dirty="0"/>
          </a:p>
          <a:p>
            <a:pPr indent="0" marL="0">
              <a:buNone/>
            </a:pPr>
            <a:r>
              <a:rPr lang="en-US" sz="1050" i="1" dirty="0">
                <a:solidFill>
                  <a:srgbClr val="8A6D1E"/>
                </a:solidFill>
                <a:latin typeface="Calibri" pitchFamily="34" charset="0"/>
                <a:cs typeface="Amiri" pitchFamily="2" charset="-78"/>
              </a:rPr>
              <a:t>Duration, not finish 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“BEAT THE CLOCK” (WHOLE-CLASS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Beat the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٩:١٥</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إِلَّا الرُّبْعَ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وَالرُّبْعُ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وَالرُّبْعُ</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6:30?</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٦:٣٠</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وَالرُّبْعُ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11:45?</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١١:٤٥</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عَشْرَةَ إِلَّا الرُّبْعَ</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الحَادِيَةَ عَشْرَةَ إِلَّا الرُّبْعَ</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الحَادِيَةَ عَشْرَةَ وَالرُّبْعُ</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4:10?</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٤:١٠</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إِلَّا عَشْرَ دَقَائِقَ</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وَعَشْرُ دَقَائِقَ</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الخَامِسَةُ إِلَّا عَشْرَ دَقَائِقَ</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2:40?</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٢:٤٠</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إِلَّا الثُّلُثَ</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وَالثُّلُثُ</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وَالثُّلُثُ</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Minutes 1–30 → same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Minutes 31–59 → NEXT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BEAT THE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Beat the 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٩:١٥</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التَّاسِعَةُ إِلَّا الرُّبْعَ</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التَّاسِعَةُ وَالرُّبْعُ</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العَاشِرَةُ وَالرُّبْعُ</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Nine + a quarter.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6:30?</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٦:٣٠</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السَّابِعَةُ إِلَّا النِّصْفَ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السَّادِسَةُ وَالرُّبْعُ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السَّادِسَةُ وَالنِّصْفُ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Six + a half.</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11:45?</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١١:٤٥</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الثَّانِيَةَ عَشْرَةَ إِلَّا الرُّبْعَ</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الحَادِيَةَ عَشْرَةَ إِلَّا الرُّبْعَ</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الحَادِيَةَ عَشْرَةَ وَالرُّبْعُ</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NEXT hour (12) − a quarter.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4:10?</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٤:١٠</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إِلَّا عَشْرَ دَقَائِقَ</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وَعَشْرُ دَقَائِقَ</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الخَامِسَةُ إِلَّا عَشْرَ دَقَائِقَ</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Four + ten minutes.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2:40?</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٢:٤٠</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الثَّالِثَةُ إِلَّا الثُّلُثَ</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الثَّانِيَةُ وَالثُّلُثُ</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وَالثُّلُثُ</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NEXT hour (3) − a third (20 min).</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Minutes 1–30 → same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Minutes 31–59 → NEXT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Past the hour or to the next hour?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وَخَمْسُ دَقَائِقَ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وَالنِّصْفُ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الرُّبْعَ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الثُّلُثَ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عَشْرَ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Past the hour (وَ)</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To the next hour (إِلَّا)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Past the hour (وَ)</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وَخَمْسُ دَقَائِقَ</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وَالنِّصْفُ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وَعَشْرُ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To the next hour (إِلَّا)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خَمْسَ دَقَائِقَ</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الرُّبْعَ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الثُّلُثَ</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عَشْرَ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14:30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عَشْرَةَ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وَالنِّصْفُ صَبَاحًا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عَشْرَةَ وَالنِّصْفُ</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يَنْتَهِي الدَّرْسُ ___ التَّاسِعَةِ.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duration?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تَمَامِ الثَّامِنَةِ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مُدَّةَ سَاعَةٍ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حَوَالَيْ الثَّامِنَةِ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2:40?</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وَالثُّلُثُ</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وَالثُّلُثُ</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إِلَّا الثُّلُثَ</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14:30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الثَّانِيَةُ عَشْرَةَ وَالنِّصْفُ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وَالنِّصْفُ صَبَاحًا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عَشْرَةَ وَالنِّصْفُ</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14:30 is the fourteenth hour and a half.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يَنْتَهِي الدَّرْسُ ___ التَّاسِعَةِ.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with an exact clock time.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duration?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تَمَامِ الثَّامِنَةِ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مُدَّةَ سَاعَةٍ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حَوَالَيْ الثَّامِنَةِ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مُدَّةَ سَاعَةٍ</a:t>
            </a:r>
            <a:pPr algn="l" indent="0" marL="0">
              <a:buNone/>
            </a:pPr>
            <a:r>
              <a:rPr lang="en-US" sz="1050" i="1" dirty="0">
                <a:solidFill>
                  <a:srgbClr val="8A6D1E"/>
                </a:solidFill>
                <a:latin typeface="Calibri" pitchFamily="34" charset="0"/>
                <a:cs typeface="Amiri" pitchFamily="2" charset="-78"/>
              </a:rPr>
              <a:t> = for a duration of one hour.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2:40?</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الثَّانِيَةُ وَالثُّلُثُ</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وَالثُّلُثُ</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الثَّالِثَةُ إِلَّا الثُّلُثَ</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Twenty minutes remain until three.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٥:٤٥ السَّاعَةُ الخَامِسَةُ إِلَّا الرُّبْعَ.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At 5:45 which hour do you name with </a:t>
            </a:r>
            <a:pPr algn="l" indent="0" marL="0">
              <a:buNone/>
            </a:pPr>
            <a:r>
              <a:rPr lang="ar-SA" altLang="en-US" sz="1700" dirty="0">
                <a:solidFill>
                  <a:srgbClr val="5A6472"/>
                </a:solidFill>
                <a:latin typeface="Amiri" pitchFamily="2" charset="-78"/>
                <a:ea typeface="Amiri" pitchFamily="2" charset="-78"/>
                <a:cs typeface="Amiri" pitchFamily="2" charset="-78"/>
              </a:rPr>
              <a:t>إِلَّا</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٨:١٥ الثَّامِنَةُ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8:15 is AFTER eight. Which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يَسْتَمِرُّ الدَّرْسُ فِي سَاعَةٍ.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WHEN or HOW LONG?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٥:٤٥ السَّاعَةُ الخَامِسَةُ إِلَّا الرُّبْعَ.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٥:٤٥ السَّاعَةُ السَّادِسَةُ إِلَّا الرُّبْعَ.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a:t>
            </a:r>
            <a:pPr algn="l" indent="0" marL="0">
              <a:buNone/>
            </a:pPr>
            <a:r>
              <a:rPr lang="ar-SA" altLang="en-US" sz="1500" b="1" dirty="0">
                <a:solidFill>
                  <a:srgbClr val="1B3B6F"/>
                </a:solidFill>
                <a:latin typeface="Amiri" pitchFamily="2" charset="-78"/>
                <a:ea typeface="Amiri" pitchFamily="2" charset="-78"/>
                <a:cs typeface="Amiri" pitchFamily="2" charset="-78"/>
              </a:rPr>
              <a:t>إِلَّا</a:t>
            </a:r>
            <a:pPr algn="l" indent="0" marL="0">
              <a:buNone/>
            </a:pPr>
            <a:r>
              <a:rPr lang="en-US" sz="1150" b="1" dirty="0">
                <a:solidFill>
                  <a:srgbClr val="1B3B6F"/>
                </a:solidFill>
                <a:latin typeface="Calibri" pitchFamily="34" charset="0"/>
                <a:cs typeface="Amiri" pitchFamily="2" charset="-78"/>
              </a:rPr>
              <a:t>, move to the next hour.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٨:١٥ الثَّامِنَةُ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٨:١٥ الثَّامِنَةُ وَالرُّبْعُ.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Minutes after the hour use </a:t>
            </a:r>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يَسْتَمِرُّ الدَّرْسُ فِي سَاعَةٍ.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يَسْتَمِرُّ الدَّرْسُ مُدَّةَ سَاعَةٍ.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مُدَّةَ</a:t>
            </a:r>
            <a:pPr algn="l" indent="0" marL="0">
              <a:buNone/>
            </a:pPr>
            <a:r>
              <a:rPr lang="en-US" sz="1150" b="1" dirty="0">
                <a:solidFill>
                  <a:srgbClr val="1B3B6F"/>
                </a:solidFill>
                <a:latin typeface="Calibri" pitchFamily="34" charset="0"/>
                <a:cs typeface="Amiri" pitchFamily="2" charset="-78"/>
              </a:rPr>
              <a:t> for how long something lasts.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full Wednesday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8:50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lesson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8:45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break?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minutes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 minutes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science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9:05</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9:50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training in 12-hour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 p.m.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 p.m.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8:30 p.m.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وَخَمْسِ دَقَائِقَ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 الأَرْبِعَاءِ يَبْدَأُ دَوَامِي فِي السَّاعَةِ الثَّامِنَةِ إِلَّا 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Wednesday my school day begins at ten to eight.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الحِصَّةُ الأُولَى مِنَ الثَّامِنَةِ إِلَى التَّاسِعَةِ إِلَّا الرُّبْعَ، ثُمَّ عِنْدَنَا اِسْتِرَاحَةٌ تَسْتَمِرُّ عِشْرِينَ دَقِيقَةً.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lesson is from eight to quarter to nine, then we have a break that lasts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يَبْدَأُ دَرْسُ العُلُومِ فِي التَّاسِعَةِ وَخَمْسِ دَقَائِقَ، وَيَنْتَهِي فِي العَاشِرَةِ وَخَمْسٍ وَأَرْبَعِينَ دَقِيقَةً.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science lesson begins at five past nine and ends at 10:45.</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المَدْرَسَةِ أَذْهَبُ إِلَى التَّمْرِينِ فِي السَّاعَةِ السَّادِسَةَ عَشْرَةَ وَالنِّصْفِ،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go to training at 16:30,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وَأَعُودُ إِلَى البَيْتِ حَوَالَيْ الثَّامِنَةِ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 return home at about eight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7:50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8:50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الثَّامِنَةُ إِلَّا عَشْرَ دَقَائِقَ = 7:50.</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lesson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9:15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9:45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8:45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التَّاسِعَةُ إِلَّا الرُّبْعَ = 8:45.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break?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 minutes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 minutes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تَسْتَمِرُّ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science begin?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9:05</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9:50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التَّاسِعَةُ وَخَمْسُ دَقَائِقَ.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training in 12-hour time?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 p.m.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4:30 p.m.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8:30 p.m.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16:30 = 4:30 p.m.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وَخَمْسِ دَقَائِقَ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Explain a timetable precisely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تَسْتَيْقِظُ؟ مَتَى تَخْرُجُ مِنَ البَيْتِ؟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يَبْدَأُ يَوْمُكَ الدِّرَاسِيُّ وَمَتَى يَنْتَهِي؟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جَدْوَلَكَ فِي يَوْمٍ مُزْدَحِمٍ.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أَطْوَلُ نَشَاطٍ فِي أُسْبُوعِكَ؟ وَكَمْ يَسْتَمِرُّ؟</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أَسْتَيْقِظُ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يَبْدَأُ … فِي ___ وَيَنْتَهِي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يَسْتَمِرُّ … مُدَّةَ ___ ، وَأُفَضِّلُ … لِأَنَّ ___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يَبْدَأُ يَوْمُهُ / يَوْمُهَا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يَبْدَأُ التَّمْرِينُ؟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does training begin?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يَبْدَأُ فِي السَّادِسَةِ إِلَّا الرُّبْعَ وَيَسْتَمِرُّ مُدَّةَ سَاعَةٍ وَالنِّصْفِ. أُفَضِّلُ هٰذَا الوَقْتَ لِأَنَّنِي أُنْهِي وَاجِبِي قَبْلَهُ.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begins at quarter to six and lasts an hour and a half. I prefer this time because I finish my homework before it.</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times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and write quarter past, half past and quarter to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morning with five times: o’clock, quarter past, half past, quarter to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Interpret a mixed 12-hour and 24-hour timetable.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busy weekday: start and finish times with وَ and إِلَّا.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Calculate duration and explain a full schedule without relying on digital numerals.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one 24-hour time, duration with مُدَّةَ, an opinion and a comparison.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الحِصَّةُ الأُولَى مِنَ ______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first lesson is from …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تَسْتَمِرُّ الاِسْتِرَاحَةُ ______ دَقِيقَةً.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break lasts … minutes.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التَّمْرِينُ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Training is at 16:30.</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أَعُودُ إِلَى البَيْتِ حَوَالَيْ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return home at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يَسْتَمِرُّ مُدَّةَ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lasts for an hour.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الإِفْطَارَ فِي ______ وَالرُّبْعِ.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breakfast at … past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أَخْرُجُ فِي ______ وَالنِّصْفِ.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leave the house at half past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الدَّوَامُ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begins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يَنْتَهِي الدَّوَامُ فِي ______ إِلَّا الرُّبْعَ.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ends at quarter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السَّادِسَةِ  ·  السَّابِعَةِ  ·  الثَّامِنَةِ  ·  الثَّالِثَةِ  ·  الرَّابِعَةِ  ·  وَالرُّبْعِ  ·  وَالنِّصْفِ  ·  إِلَّا الرُّبْعَ  ·  وَخَمْسِ دَقَائِقَ  ·  يَبْدَأُ  ·  يَنْتَهِي  ·  يَسْتَمِرُّ  ·  مُدَّةَ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Create a 100–120-word schedule for one busy weekday and explain which part is easiest or most difficult.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five exact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both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إِلَّا</a:t>
            </a:r>
            <a:pPr algn="l" indent="0" marL="0">
              <a:buNone/>
            </a:pPr>
            <a:r>
              <a:rPr lang="en-US" sz="1200" dirty="0">
                <a:solidFill>
                  <a:srgbClr val="1F2A37"/>
                </a:solidFill>
                <a:latin typeface="Calibri" pitchFamily="34" charset="0"/>
                <a:cs typeface="Amiri" pitchFamily="2" charset="-78"/>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يَبْدَأُ</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يَنْتَهِي</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يَسْتَمِرُّ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24-hour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an opinion with a reason and one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حِينَ أَسْتَيْقِظُ وَأَسْتَعِدُّ لِلْمَدْرَسَةِ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wake up and get ready for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تَنْتَهِي الحِصَصُ فِي الثَّالِثَةِ وَالرُّبْعِ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lessons end at quarter past three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يَسْتَمِرُّ التَّمْرِينُ مُدَّةَ سَاعَةٍ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training lasts an hour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أَصْعَبُ جُزْءٍ هُوَ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hardest part is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اليَوْمَ المُنَظَّمَ عَلَى اليَوْمِ الفَارِغِ</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an organised day to an empty day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يَبْدَأُ يَوْمِي يَوْمَ الثُّلَاثَاءِ فِي السَّادِسَةِ وَالنِّصْفِ، حِينَ أَسْتَيْقِظُ وَأَسْتَعِدُّ لِلْمَدْرَسَةِ. أَخْرُجُ فِي السَّابِعَةِ إِلَّا عَشْرَ دَقَائِقَ، وَيَبْدَأُ الدَّوَامُ فِي الثَّامِنَةِ. تَنْتَهِي الحِصَصُ فِي الثَّالِثَةِ وَالرُّبْعِ. بَعْدَ ذٰلِكَ أَذْهَبُ إِلَى نَادِي الرِّيَاضَةِ فِي السَّاعَةِ السَّادِسَةَ عَشْرَةَ، وَيَسْتَمِرُّ التَّمْرِينُ مُدَّةَ سَاعَةٍ. أَصْعَبُ جُزْءٍ هُوَ الوَقْتُ بَيْنَ المَدْرَسَةِ وَالتَّمْرِينِ لِأَنَّنِي أَكُونُ مُتْعَبًا، وَلٰكِنَّنِي أُفَضِّلُ اليَوْمَ المُنَظَّمَ عَلَى اليَوْمِ الفَارِغِ.</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Tuesday begins at half past six, when I wake up and get ready for school. I leave at ten to seven, and school starts at eight. Lessons finish at quarter past three. After that I go to the sports club at 16:00, and training lasts an hour. The hardest part is the time between school and training because I am tired, but I prefer an organised day to an empty 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 and إِلَّا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24-hour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يَسْتَمِرُّ مُدَّةَ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quarter past, half past and quarter to.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five exact times in my routine.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half past, I named the NEXT hour with </a:t>
            </a:r>
            <a:pPr algn="l" indent="0" marL="0">
              <a:buNone/>
            </a:pPr>
            <a:r>
              <a:rPr lang="ar-SA" altLang="en-US" sz="1700" dirty="0">
                <a:solidFill>
                  <a:srgbClr val="1F2A37"/>
                </a:solidFill>
                <a:latin typeface="Amiri" pitchFamily="2" charset="-78"/>
                <a:ea typeface="Amiri" pitchFamily="2" charset="-78"/>
                <a:cs typeface="Amiri" pitchFamily="2" charset="-78"/>
              </a:rPr>
              <a:t>إِلَّا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begins (</a:t>
            </a:r>
            <a:pPr algn="l" indent="0" marL="0">
              <a:buNone/>
            </a:pPr>
            <a:r>
              <a:rPr lang="ar-SA" altLang="en-US" sz="1700" dirty="0">
                <a:solidFill>
                  <a:srgbClr val="1F2A37"/>
                </a:solidFill>
                <a:latin typeface="Amiri" pitchFamily="2" charset="-78"/>
                <a:ea typeface="Amiri" pitchFamily="2" charset="-78"/>
                <a:cs typeface="Amiri" pitchFamily="2" charset="-78"/>
              </a:rPr>
              <a:t>يَبْدَأُ</a:t>
            </a:r>
            <a:pPr algn="l" indent="0" marL="0">
              <a:buNone/>
            </a:pPr>
            <a:r>
              <a:rPr lang="en-US" sz="1300" dirty="0">
                <a:solidFill>
                  <a:srgbClr val="1F2A37"/>
                </a:solidFill>
                <a:latin typeface="Calibri" pitchFamily="34" charset="0"/>
                <a:cs typeface="Amiri" pitchFamily="2" charset="-78"/>
              </a:rPr>
              <a:t>) and ends (</a:t>
            </a:r>
            <a:pPr algn="l" indent="0" marL="0">
              <a:buNone/>
            </a:pPr>
            <a:r>
              <a:rPr lang="ar-SA" altLang="en-US" sz="1700" dirty="0">
                <a:solidFill>
                  <a:srgbClr val="1F2A37"/>
                </a:solidFill>
                <a:latin typeface="Amiri" pitchFamily="2" charset="-78"/>
                <a:ea typeface="Amiri" pitchFamily="2" charset="-78"/>
                <a:cs typeface="Amiri" pitchFamily="2" charset="-78"/>
              </a:rPr>
              <a:t>يَنْتَهِي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24-hour time and duration (</a:t>
            </a:r>
            <a:pPr algn="l" indent="0" marL="0">
              <a:buNone/>
            </a:pPr>
            <a:r>
              <a:rPr lang="ar-SA" altLang="en-US" sz="1700" dirty="0">
                <a:solidFill>
                  <a:srgbClr val="1F2A37"/>
                </a:solidFill>
                <a:latin typeface="Amiri" pitchFamily="2" charset="-78"/>
                <a:ea typeface="Amiri" pitchFamily="2" charset="-78"/>
                <a:cs typeface="Amiri" pitchFamily="2" charset="-78"/>
              </a:rPr>
              <a:t>مُدَّةَ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6:30?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النِّصْفَ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وَالرُّبْعُ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10:50?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وَعَشْرُ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الحَادِيَةَ عَشْرَةَ إِلَّا عَشْرَ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إِلَّا عَشْرَ دَقَائِقَ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 مُدَّةَ سَاعَتَيْنِ.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 فِي السَّادِسَةِ.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 فِي الثَّامِنَةِ.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6:30?</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السَّابِعَةُ إِلَّا النِّصْفَ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السَّادِسَةُ وَالرُّبْعُ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6:30 is half past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10:50?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العَاشِرَةُ وَعَشْرُ دَقَائِقَ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الحَادِيَةَ عَشْرَةَ إِلَّا عَشْرَ دَقَائِقَ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العَاشِرَةُ إِلَّا عَشْرَ دَقَائِقَ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ten minutes to eleven.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يَسْتَمِرُّ مُدَّةَ سَاعَتَيْنِ.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يَبْدَأُ فِي السَّادِسَةِ.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يَنْتَهِي فِي الثَّامِنَةِ.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how long the activity lasts.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Community centre timetable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يُقَدِّمُ مَرْكَزُ النُّورِ أَنْشِطَةً بَعْدَ المَدْرَسَةِ. يَوْمَ الاِثْنَيْنِ تَبْدَأُ دَوْرَةُ الخَطِّ فِي السَّاعَةِ الرَّابِعَةِ وَالنِّصْفِ وَتَسْتَمِرُّ سَاعَةً. يَوْمَ الثُّلَاثَاءِ يَبْدَأُ نَادِي الرِّيَاضَةِ فِي الخَامِسَةِ إِلَّا الرُّبْعَ وَيَنْتَهِي فِي السَّادِسَةِ. أَمَّا نَادِي القِرَاءَةِ فَيُعْقَدُ يَوْمَ الخَمِيسِ مِنَ السَّاعَةِ السَّادِسَةَ عَشْرَةَ إِلَى السَّاعَةِ السَّابِعَةَ عَشْرَةَ وَالنِّصْفِ. يَجِبُ الحُضُورُ قَبْلَ البَدْءِ بِعَشْرِ دَقَائِقَ.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يُقَدِّمُ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مَرْكَزٌ</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centre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أَنْشِطَةٌ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activities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دَوْرَةُ الخَطِّ</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calligraphy course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نَادِي الرِّيَاضَةِ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sports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نَادِي القِرَاءَةِ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reading club</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يُعْقَدُ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is necessary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الحُضُورُ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attending, arrival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البَدْءِ</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the start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activity starts at 4:30?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calligraphy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calligraphy last?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 minutes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sport begin?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5:15</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5:45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reading club?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reading club?</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instruction applies to everyone?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bring food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before the end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 ten minutes early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activity starts at 4:30?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calligraphy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دَوْرَةُ الخَطِّ</a:t>
            </a:r>
            <a:pPr algn="l" indent="0" marL="0">
              <a:buNone/>
            </a:pPr>
            <a:r>
              <a:rPr lang="en-US" sz="1050" i="1" dirty="0">
                <a:solidFill>
                  <a:srgbClr val="8A6D1E"/>
                </a:solidFill>
                <a:latin typeface="Calibri" pitchFamily="34" charset="0"/>
                <a:cs typeface="Amiri" pitchFamily="2" charset="-78"/>
              </a:rPr>
              <a:t> starts at 4:30.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calligraphy last?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45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 minutes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تَسْتَمِرُّ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sport begin?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5:15</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5:45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الخَامِسَةُ إِلَّا الرُّبْعَ = 4:45.</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reading club?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Thursday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 الخَمِيسِ.</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reading club?</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16:00 to 17:30 = 90 minutes.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instruction applies to everyone?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bring food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before the end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arrive ten minutes early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الحُضُورُ قَبْلَ البَدْءِ بِعَشْرِ دَقَائِقَ.</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time decoder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7:15.</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السَّابِعَةُ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السَّابِعَةُ وَالرُّبْعُ.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 إِلَّا الرُّبْعَ.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10:50.</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السَّاعَةُ الحَادِيَةَ عَشْرَةَ إِلَّا عَشْرَ دَقَائِقَ.</a:t>
            </a:r>
            <a:endParaRPr lang="ar-SA" sz="17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السَّاعَةُ العَاشِرَةُ وَعَشْرُ دَقَائِقَ.</a:t>
            </a:r>
            <a:endParaRPr lang="ar-SA" sz="17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السَّاعَةُ العَاشِرَةُ إِلَّا عَشْرَ دَقَائِقَ.</a:t>
            </a:r>
            <a:endParaRPr lang="ar-SA" sz="17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timetable shows 14:30. Which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يَبْدَأُ النَّشَاطُ فِي السَّاعَةِ الرَّابِعَةِ وَالنِّصْفِ صَبَاحًا.</a:t>
            </a:r>
            <a:endParaRPr lang="ar-SA" sz="13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يَنْتَهِي النَّشَاطُ مُدَّةَ الرَّابِعَةَ عَشْرَةَ.</a:t>
            </a:r>
            <a:endParaRPr lang="ar-SA" sz="13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يَبْدَأُ النَّشَاطُ فِي السَّاعَةِ الرَّابِعَةَ عَشْرَةَ وَالنِّصْفِ.</a:t>
            </a:r>
            <a:endParaRPr lang="ar-SA" sz="13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lesson runs from 8:00 to 8:45. Choose the duration sentence.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يَبْدَأُ الدَّرْسُ فِي الثَّامِنَةِ.</a:t>
            </a:r>
            <a:endParaRPr lang="ar-SA" sz="17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يَنْتَهِي الدَّرْسُ فِي الثَّامِنَةِ.</a:t>
            </a:r>
            <a:endParaRPr lang="ar-SA" sz="17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يَسْتَمِرُّ الدَّرْسُ مُدَّةَ خَمْسٍ وَأَرْبَعِينَ دَقِيقَةً.</a:t>
            </a:r>
            <a:endParaRPr lang="ar-SA" sz="17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when the lesson finishes?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يَنْتَهِي الدَّرْسُ؟</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مُدَّةُ الدَّرْسِ؟</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يَبْدَأُ الدَّرْسُ؟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يَنْطَلِقُ القِطَارُ فِي الخَامِسَةِ إِلَّا الرُّبْعَ</a:t>
            </a:r>
            <a:pPr algn="l" indent="0" marL="0">
              <a:buNone/>
            </a:pPr>
            <a:r>
              <a:rPr lang="en-US" sz="1000" b="1" dirty="0">
                <a:solidFill>
                  <a:srgbClr val="1F2A37"/>
                </a:solidFill>
                <a:latin typeface="Calibri" pitchFamily="34" charset="0"/>
                <a:cs typeface="Amiri" pitchFamily="2" charset="-78"/>
              </a:rPr>
              <a:t>. What time does it leave?</a:t>
            </a:r>
            <a:endParaRPr lang="en-US" sz="10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4:15</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7:15.</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السَّابِعَةُ وَالنِّصْفُ.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السَّابِعَةُ وَالرُّبْعُ.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الثَّامِنَةُ إِلَّا الرُّبْعَ.</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quarter past, keep the current hour and add </a:t>
            </a:r>
            <a:pPr algn="l" indent="0" marL="0">
              <a:buNone/>
            </a:pPr>
            <a:r>
              <a:rPr lang="ar-SA" altLang="en-US" sz="1350" dirty="0">
                <a:solidFill>
                  <a:srgbClr val="8A6D1E"/>
                </a:solidFill>
                <a:latin typeface="Amiri" pitchFamily="2" charset="-78"/>
                <a:ea typeface="Amiri" pitchFamily="2" charset="-78"/>
                <a:cs typeface="Amiri" pitchFamily="2" charset="-78"/>
              </a:rPr>
              <a:t>وَالرُّبْعُ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10:50.</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الحَادِيَةَ عَشْرَةَ إِلَّا عَشْرَ دَقَائِقَ.</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وَعَشْرُ دَقَائِقَ.</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إِلَّا عَشْرَ دَقَائِقَ.</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half past, name the next hour and subtract the remaining minutes.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timetable shows 14:30. Which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يَبْدَأُ النَّشَاطُ فِي السَّاعَةِ الرَّابِعَةِ وَالنِّصْفِ صَبَاحًا.</a:t>
            </a:r>
            <a:endParaRPr lang="ar-SA" sz="13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يَنْتَهِي النَّشَاطُ مُدَّةَ الرَّابِعَةَ عَشْرَةَ.</a:t>
            </a:r>
            <a:endParaRPr lang="ar-SA" sz="13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يَبْدَأُ النَّشَاطُ فِي السَّاعَةِ الرَّابِعَةَ عَشْرَةَ وَالنِّصْفِ.</a:t>
            </a:r>
            <a:endParaRPr lang="ar-SA" sz="13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24-hour timetable may state the numbered hour directly: </a:t>
            </a:r>
            <a:pPr algn="l" indent="0" marL="0">
              <a:buNone/>
            </a:pPr>
            <a:r>
              <a:rPr lang="ar-SA" altLang="en-US" sz="1350" dirty="0">
                <a:solidFill>
                  <a:srgbClr val="8A6D1E"/>
                </a:solidFill>
                <a:latin typeface="Amiri" pitchFamily="2" charset="-78"/>
                <a:ea typeface="Amiri" pitchFamily="2" charset="-78"/>
                <a:cs typeface="Amiri" pitchFamily="2" charset="-78"/>
              </a:rPr>
              <a:t>الرَّابِعَةَ عَشْرَةَ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lesson runs from 8:00 to 8:45. Choose the duration sentence.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يَبْدَأُ الدَّرْسُ فِي الثَّامِنَةِ.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يَنْتَهِي الدَّرْسُ فِي الثَّامِنَةِ.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يَسْتَمِرُّ الدَّرْسُ مُدَّةَ خَمْسٍ وَأَرْبَعِينَ دَقِيقَةً.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Duration is expressed with </a:t>
            </a:r>
            <a:pPr algn="l" indent="0" marL="0">
              <a:buNone/>
            </a:pPr>
            <a:r>
              <a:rPr lang="ar-SA" altLang="en-US" sz="1350" dirty="0">
                <a:solidFill>
                  <a:srgbClr val="8A6D1E"/>
                </a:solidFill>
                <a:latin typeface="Amiri" pitchFamily="2" charset="-78"/>
                <a:ea typeface="Amiri" pitchFamily="2" charset="-78"/>
                <a:cs typeface="Amiri" pitchFamily="2" charset="-78"/>
              </a:rPr>
              <a:t>يَسْتَمِرُّ مُدَّةَ</a:t>
            </a:r>
            <a:pPr algn="l" indent="0" marL="0">
              <a:buNone/>
            </a:pPr>
            <a:r>
              <a:rPr lang="en-US" sz="1050" i="1" dirty="0">
                <a:solidFill>
                  <a:srgbClr val="8A6D1E"/>
                </a:solidFill>
                <a:latin typeface="Calibri" pitchFamily="34" charset="0"/>
                <a:cs typeface="Amiri" pitchFamily="2" charset="-78"/>
              </a:rPr>
              <a:t>, not merely the start or finish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when the lesson finishes?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مَتَى يَنْتَهِي الدَّرْسُ؟</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مُدَّةُ الدَّرْسِ؟</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يَبْدَأُ الدَّرْسُ؟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يَنْتَهِي</a:t>
            </a:r>
            <a:pPr algn="l" indent="0" marL="0">
              <a:buNone/>
            </a:pPr>
            <a:r>
              <a:rPr lang="en-US" sz="1050" i="1" dirty="0">
                <a:solidFill>
                  <a:srgbClr val="8A6D1E"/>
                </a:solidFill>
                <a:latin typeface="Calibri" pitchFamily="34" charset="0"/>
                <a:cs typeface="Amiri" pitchFamily="2" charset="-78"/>
              </a:rPr>
              <a:t> means “finishes”; </a:t>
            </a:r>
            <a:pPr algn="l" indent="0" marL="0">
              <a:buNone/>
            </a:pPr>
            <a:r>
              <a:rPr lang="ar-SA" altLang="en-US" sz="1350" dirty="0">
                <a:solidFill>
                  <a:srgbClr val="8A6D1E"/>
                </a:solidFill>
                <a:latin typeface="Amiri" pitchFamily="2" charset="-78"/>
                <a:ea typeface="Amiri" pitchFamily="2" charset="-78"/>
                <a:cs typeface="Amiri" pitchFamily="2" charset="-78"/>
              </a:rPr>
              <a:t>يَبْدَأُ</a:t>
            </a:r>
            <a:pPr algn="l" indent="0" marL="0">
              <a:buNone/>
            </a:pPr>
            <a:r>
              <a:rPr lang="en-US" sz="1050" i="1" dirty="0">
                <a:solidFill>
                  <a:srgbClr val="8A6D1E"/>
                </a:solidFill>
                <a:latin typeface="Calibri" pitchFamily="34" charset="0"/>
                <a:cs typeface="Amiri" pitchFamily="2" charset="-78"/>
              </a:rPr>
              <a:t> asks for the start and </a:t>
            </a:r>
            <a:pPr algn="l" indent="0" marL="0">
              <a:buNone/>
            </a:pPr>
            <a:r>
              <a:rPr lang="ar-SA" altLang="en-US" sz="1350" dirty="0">
                <a:solidFill>
                  <a:srgbClr val="8A6D1E"/>
                </a:solidFill>
                <a:latin typeface="Amiri" pitchFamily="2" charset="-78"/>
                <a:ea typeface="Amiri" pitchFamily="2" charset="-78"/>
                <a:cs typeface="Amiri" pitchFamily="2" charset="-78"/>
              </a:rPr>
              <a:t>مُدَّة</a:t>
            </a:r>
            <a:pPr algn="l" indent="0" marL="0">
              <a:buNone/>
            </a:pPr>
            <a:r>
              <a:rPr lang="en-US" sz="1050" i="1" dirty="0">
                <a:solidFill>
                  <a:srgbClr val="8A6D1E"/>
                </a:solidFill>
                <a:latin typeface="Calibri" pitchFamily="34" charset="0"/>
                <a:cs typeface="Amiri" pitchFamily="2" charset="-78"/>
              </a:rPr>
              <a:t> asks for length.</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يَنْطَلِقُ القِطَارُ فِي الخَامِسَةِ إِلَّا الرُّبْعَ</a:t>
            </a:r>
            <a:pPr algn="l" indent="0" marL="0">
              <a:buNone/>
            </a:pPr>
            <a:r>
              <a:rPr lang="en-US" sz="1000" b="1" dirty="0">
                <a:solidFill>
                  <a:srgbClr val="1F2A37"/>
                </a:solidFill>
                <a:latin typeface="Calibri" pitchFamily="34" charset="0"/>
                <a:cs typeface="Amiri" pitchFamily="2" charset="-78"/>
              </a:rPr>
              <a:t>. What time does it leave?</a:t>
            </a:r>
            <a:endParaRPr lang="en-US" sz="10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4:15</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5:15</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الخَامِسَةُ إِلَّا الرُّبْعَ</a:t>
            </a:r>
            <a:pPr algn="l" indent="0" marL="0">
              <a:buNone/>
            </a:pPr>
            <a:r>
              <a:rPr lang="en-US" sz="1050" i="1" dirty="0">
                <a:solidFill>
                  <a:srgbClr val="8A6D1E"/>
                </a:solidFill>
                <a:latin typeface="Calibri" pitchFamily="34" charset="0"/>
                <a:cs typeface="Amiri" pitchFamily="2" charset="-78"/>
              </a:rPr>
              <a:t> means a quarter to five: 4:45.</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D1-L03 · How Often? — Frequency Adverbs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daily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أُسْبُوعِيًّا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weekly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نِهَايَةُ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weekend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whereas, while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 مُزْدَحِمٌ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busy day</a:t>
            </a:r>
            <a:pPr indent="0" marL="0">
              <a:buNone/>
            </a:pPr>
            <a:r>
              <a:rPr lang="ar-SA" sz="1000" i="1" dirty="0">
                <a:solidFill>
                  <a:srgbClr val="5A6472"/>
                </a:solidFill>
                <a:latin typeface="Calibri" pitchFamily="34" charset="0"/>
                <a:ea typeface="Amiri" pitchFamily="2" charset="-78"/>
                <a:cs typeface="Amiri" pitchFamily="2" charset="-78"/>
              </a:rPr>
              <a:t>  pl. أَيَّامٌ مُزْدَحِمَةٌ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is your busiest day of the week, and which is your quietest?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أَكْثَرُ أَيَّامِكَ اِزْدِحَامًا؟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D1-L02: “Beat the Clock” game and the time decoder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weekday timetable with eight exact times.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with 24-hour time and duration.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D1-L03 · How Often? — Frequency Adverbs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كَمْ مَرَّةً؟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وَ</a:t>
            </a:r>
            <a:pPr algn="l" indent="0" marL="0">
              <a:buNone/>
            </a:pPr>
            <a:r>
              <a:rPr lang="en-US" sz="1300" b="1" dirty="0">
                <a:solidFill>
                  <a:srgbClr val="FFFFFF"/>
                </a:solidFill>
                <a:latin typeface="Calibri" pitchFamily="34" charset="0"/>
                <a:cs typeface="Amiri" pitchFamily="2" charset="-78"/>
              </a:rPr>
              <a:t> = past · </a:t>
            </a:r>
            <a:pPr algn="l" indent="0" marL="0">
              <a:buNone/>
            </a:pPr>
            <a:r>
              <a:rPr lang="ar-SA" altLang="en-US" sz="1700" b="1" dirty="0">
                <a:solidFill>
                  <a:srgbClr val="FFFFFF"/>
                </a:solidFill>
                <a:latin typeface="Amiri" pitchFamily="2" charset="-78"/>
                <a:ea typeface="Amiri" pitchFamily="2" charset="-78"/>
                <a:cs typeface="Amiri" pitchFamily="2" charset="-78"/>
              </a:rPr>
              <a:t>إِلَّا</a:t>
            </a:r>
            <a:pPr algn="l" indent="0" marL="0">
              <a:buNone/>
            </a:pPr>
            <a:r>
              <a:rPr lang="en-US" sz="1300" b="1" dirty="0">
                <a:solidFill>
                  <a:srgbClr val="FFFFFF"/>
                </a:solidFill>
                <a:latin typeface="Calibri" pitchFamily="34" charset="0"/>
                <a:cs typeface="Amiri" pitchFamily="2" charset="-78"/>
              </a:rPr>
              <a:t> = to the NEXT hour.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D1-L02 · Telling the Time — What Time Is It?</dc:title>
  <dc:subject>PptxGenJS Presentation</dc:subject>
  <dc:creator>Al Madina Online School · Arabic Department</dc:creator>
  <cp:lastModifiedBy>Al Madina Online School · Arabic Department</cp:lastModifiedBy>
  <cp:revision>1</cp:revision>
  <dcterms:created xsi:type="dcterms:W3CDTF">2026-10-25T17:54:50Z</dcterms:created>
  <dcterms:modified xsi:type="dcterms:W3CDTF">2026-10-25T17:54:50Z</dcterms:modified>
</cp:coreProperties>
</file>