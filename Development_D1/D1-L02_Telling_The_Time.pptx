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D1 Daily Routine and Time › D1-L02.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D1-L01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(D1-L03 · How Often? — Frequency Adverbs) will spend class time USING this language, so students prepare it tonight — short, simple, easy to access (school guidance: “Simple, Short, Interesting, Relevant, Easy to access”). The five words come from the website D1-L03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Telling the Time — What Time Is It?</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الوَقْتِ — كَمِ السَّاعَةُ؟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ask for and give exact clock times, start and finish times, 12-hour and 24-hour timetables, and how long something lasts.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twelve hours, then minutes past (</a:t>
            </a:r>
            <a:pPr algn="ctr" indent="0" marL="0">
              <a:buNone/>
            </a:pPr>
            <a:r>
              <a:rPr lang="ar-SA" altLang="en-US" sz="1550" dirty="0">
                <a:solidFill>
                  <a:srgbClr val="1F2A37"/>
                </a:solidFill>
                <a:latin typeface="Amiri" pitchFamily="34" charset="0"/>
                <a:ea typeface="Amiri" pitchFamily="34" charset="-122"/>
                <a:cs typeface="Amiri" pitchFamily="34" charset="-120"/>
              </a:rPr>
              <a:t>وَ</a:t>
            </a:r>
            <a:pPr algn="ctr" indent="0" marL="0">
              <a:buNone/>
            </a:pPr>
            <a:r>
              <a:rPr lang="en-US" sz="1200" dirty="0">
                <a:solidFill>
                  <a:srgbClr val="1F2A37"/>
                </a:solidFill>
                <a:latin typeface="Calibri" pitchFamily="34" charset="0"/>
                <a:ea typeface="Calibri" pitchFamily="34" charset="-122"/>
                <a:cs typeface="Calibri" pitchFamily="34" charset="-120"/>
              </a:rPr>
              <a:t>) and to (</a:t>
            </a:r>
            <a:pPr algn="ctr" indent="0" marL="0">
              <a:buNone/>
            </a:pPr>
            <a:r>
              <a:rPr lang="ar-SA" altLang="en-US" sz="1550" dirty="0">
                <a:solidFill>
                  <a:srgbClr val="1F2A37"/>
                </a:solidFill>
                <a:latin typeface="Amiri" pitchFamily="34" charset="0"/>
                <a:ea typeface="Amiri" pitchFamily="34" charset="-122"/>
                <a:cs typeface="Amiri" pitchFamily="34" charset="-120"/>
              </a:rPr>
              <a:t>إِلَّا</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(D1-L01).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(D1-L01).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Minutes PAST the hour → </a:t>
            </a:r>
            <a:pPr algn="l" indent="0" marL="0">
              <a:buNone/>
            </a:pPr>
            <a:r>
              <a:rPr lang="ar-SA" altLang="en-US" sz="1700" b="1" dirty="0">
                <a:solidFill>
                  <a:srgbClr val="1F2A37"/>
                </a:solidFill>
                <a:latin typeface="Amiri" pitchFamily="34" charset="0"/>
                <a:ea typeface="Amiri" pitchFamily="34" charset="-122"/>
                <a:cs typeface="Amiri" pitchFamily="34" charset="-120"/>
              </a:rPr>
              <a:t>وَ</a:t>
            </a:r>
            <a:pPr algn="l" indent="0" marL="0">
              <a:buNone/>
            </a:pPr>
            <a:r>
              <a:rPr lang="en-US" sz="1300" b="1" dirty="0">
                <a:solidFill>
                  <a:srgbClr val="1F2A37"/>
                </a:solidFill>
                <a:latin typeface="Calibri" pitchFamily="34" charset="0"/>
                <a:ea typeface="Calibri" pitchFamily="34" charset="-122"/>
                <a:cs typeface="Calibri" pitchFamily="34" charset="-120"/>
              </a:rPr>
              <a:t>. Minutes TO the next hour → </a:t>
            </a:r>
            <a:pPr algn="l" indent="0" marL="0">
              <a:buNone/>
            </a:pPr>
            <a:r>
              <a:rPr lang="ar-SA" altLang="en-US" sz="1700" b="1" dirty="0">
                <a:solidFill>
                  <a:srgbClr val="1F2A37"/>
                </a:solidFill>
                <a:latin typeface="Amiri" pitchFamily="34" charset="0"/>
                <a:ea typeface="Amiri" pitchFamily="34" charset="-122"/>
                <a:cs typeface="Amiri" pitchFamily="34" charset="-120"/>
              </a:rPr>
              <a:t>إِلَّا</a:t>
            </a:r>
            <a:pPr algn="l" indent="0" marL="0">
              <a:buNone/>
            </a:pPr>
            <a:r>
              <a:rPr lang="en-US" sz="1300" b="1" dirty="0">
                <a:solidFill>
                  <a:srgbClr val="1F2A37"/>
                </a:solidFill>
                <a:latin typeface="Calibri" pitchFamily="34" charset="0"/>
                <a:ea typeface="Calibri" pitchFamily="34" charset="-122"/>
                <a:cs typeface="Calibri" pitchFamily="34" charset="-120"/>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٧:١٥ السَّابِعَةُ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الرُّبْعُ · ٧:٤٥ الثَّامِنَةُ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the time to five minutes with </a:t>
            </a:r>
            <a:pPr algn="l" indent="0" marL="0">
              <a:buNone/>
            </a:pPr>
            <a:r>
              <a:rPr lang="ar-SA" altLang="en-US" sz="1700" b="1" dirty="0">
                <a:solidFill>
                  <a:srgbClr val="C9780A"/>
                </a:solidFill>
                <a:latin typeface="Amiri" pitchFamily="34" charset="0"/>
                <a:ea typeface="Amiri" pitchFamily="34" charset="-122"/>
                <a:cs typeface="Amiri" pitchFamily="34" charset="-120"/>
              </a:rPr>
              <a:t>وَ</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إِلَّا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‎دقیقہ‎ </a:t>
            </a:r>
            <a:pPr indent="0" marL="0">
              <a:buNone/>
            </a:pPr>
            <a:r>
              <a:rPr lang="en-US" sz="950" b="1" dirty="0">
                <a:solidFill>
                  <a:srgbClr val="2E8B57"/>
                </a:solidFill>
                <a:latin typeface="Calibri" pitchFamily="34" charset="0"/>
                <a:ea typeface="Calibri" pitchFamily="34" charset="-122"/>
                <a:cs typeface="Calibri" pitchFamily="34" charset="-120"/>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‎ساعت‎ </a:t>
            </a:r>
            <a:pPr indent="0" marL="0">
              <a:buNone/>
            </a:pPr>
            <a:r>
              <a:rPr lang="en-US" sz="950" b="1" dirty="0">
                <a:solidFill>
                  <a:srgbClr val="2E8B57"/>
                </a:solidFill>
                <a:latin typeface="Calibri" pitchFamily="34" charset="0"/>
                <a:ea typeface="Calibri" pitchFamily="34" charset="-122"/>
                <a:cs typeface="Calibri" pitchFamily="34" charset="-120"/>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‎تقریباً‎ </a:t>
            </a:r>
            <a:pPr indent="0" marL="0">
              <a:buNone/>
            </a:pPr>
            <a:r>
              <a:rPr lang="en-US" sz="950" b="1" dirty="0">
                <a:solidFill>
                  <a:srgbClr val="2E8B57"/>
                </a:solidFill>
                <a:latin typeface="Calibri" pitchFamily="34" charset="0"/>
                <a:ea typeface="Calibri" pitchFamily="34" charset="-122"/>
                <a:cs typeface="Calibri" pitchFamily="34" charset="-120"/>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half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wāln-niṣ-fu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خَمْسَ دَقَائِقَ</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kham-sa da-qā-ʾi-qa</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عَشْرَ دَقَائِقَ</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ʿash-ra da-qā-ʾi-qa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الرُّبْعَ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ar-rub-ʿa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الثُّلُثَ</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ath-thu-lu-tha</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continues / lasts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appointment / scheduled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exactly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ta-mā-mi</a:t>
            </a:r>
            <a:endParaRPr lang="en-US" sz="1350" dirty="0"/>
          </a:p>
        </p:txBody>
      </p:sp>
      <p:sp>
        <p:nvSpPr>
          <p:cNvPr id="82" name="Shape 7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566928" y="4261104"/>
            <a:ext cx="310896" cy="310896"/>
          </a:xfrm>
          <a:prstGeom prst="ellipse">
            <a:avLst/>
          </a:prstGeom>
          <a:solidFill>
            <a:srgbClr val="F4F1EA"/>
          </a:solidFill>
          <a:ln w="12700">
            <a:solidFill>
              <a:srgbClr val="F4F1EA"/>
            </a:solidFill>
            <a:prstDash val="solid"/>
          </a:ln>
        </p:spPr>
      </p:sp>
      <p:sp>
        <p:nvSpPr>
          <p:cNvPr id="84" name="Text 8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85" name="Text 8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حَوَالَيْ</a:t>
            </a:r>
            <a:endParaRPr lang="ar-SA" sz="3000" dirty="0"/>
          </a:p>
        </p:txBody>
      </p:sp>
      <p:sp>
        <p:nvSpPr>
          <p:cNvPr id="86" name="Text 8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about / approximately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ḥa-wā-lay</a:t>
            </a:r>
            <a:endParaRPr lang="en-US"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السَّاعَةِ ... إِلَى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 until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as-sā-ʿa-ti ... i-lā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مُدَّةٌ</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مُدَدٌ</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التَّوْقِيتُ</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at-taw-qī-tu</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13:00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14:30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16:00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18:15</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 /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p.m. / in the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500" b="1" dirty="0">
                <a:solidFill>
                  <a:srgbClr val="1B3B6F"/>
                </a:solidFill>
                <a:latin typeface="Amiri" pitchFamily="34" charset="0"/>
                <a:ea typeface="Amiri" pitchFamily="34" charset="-122"/>
                <a:cs typeface="Amiri" pitchFamily="34" charset="-120"/>
              </a:rPr>
              <a:t>كَمِ السَّاعَةُ؟</a:t>
            </a:r>
            <a:pPr algn="l" indent="0" marL="0">
              <a:buNone/>
            </a:pPr>
            <a:r>
              <a:rPr lang="en-US" sz="1150" b="1" dirty="0">
                <a:solidFill>
                  <a:srgbClr val="1B3B6F"/>
                </a:solidFill>
                <a:latin typeface="Calibri" pitchFamily="34" charset="0"/>
                <a:ea typeface="Calibri" pitchFamily="34" charset="-122"/>
                <a:cs typeface="Calibri" pitchFamily="34" charset="-120"/>
              </a:rPr>
              <a:t>   Answer: </a:t>
            </a:r>
            <a:pPr algn="l" indent="0" marL="0">
              <a:buNone/>
            </a:pPr>
            <a:r>
              <a:rPr lang="ar-SA" altLang="en-US" sz="1500" b="1" dirty="0">
                <a:solidFill>
                  <a:srgbClr val="1B3B6F"/>
                </a:solidFill>
                <a:latin typeface="Amiri" pitchFamily="34" charset="0"/>
                <a:ea typeface="Amiri" pitchFamily="34" charset="-122"/>
                <a:cs typeface="Amiri" pitchFamily="34" charset="-120"/>
              </a:rPr>
              <a:t>السَّاعَةُ السَّابِعَةُ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Past the hour (</a:t>
            </a:r>
            <a:pPr algn="l" indent="0" marL="0">
              <a:buNone/>
            </a:pPr>
            <a:r>
              <a:rPr lang="ar-SA" altLang="en-US" sz="2600" b="1" dirty="0">
                <a:solidFill>
                  <a:srgbClr val="1B3B6F"/>
                </a:solidFill>
                <a:latin typeface="Amiri" pitchFamily="34" charset="0"/>
                <a:ea typeface="Amiri" pitchFamily="34" charset="-122"/>
                <a:cs typeface="Amiri" pitchFamily="34" charset="-120"/>
              </a:rPr>
              <a:t>وَ</a:t>
            </a:r>
            <a:pPr algn="l" indent="0" marL="0">
              <a:buNone/>
            </a:pPr>
            <a:r>
              <a:rPr lang="en-US" sz="2000" b="1" dirty="0">
                <a:solidFill>
                  <a:srgbClr val="1B3B6F"/>
                </a:solidFill>
                <a:latin typeface="Cambria" pitchFamily="34" charset="0"/>
                <a:ea typeface="Cambria" pitchFamily="34" charset="-122"/>
                <a:cs typeface="Cambria" pitchFamily="34" charset="-120"/>
              </a:rPr>
              <a:t>) or to the next hour (</a:t>
            </a:r>
            <a:pPr algn="l" indent="0" marL="0">
              <a:buNone/>
            </a:pPr>
            <a:r>
              <a:rPr lang="ar-SA" altLang="en-US" sz="2600" b="1" dirty="0">
                <a:solidFill>
                  <a:srgbClr val="1B3B6F"/>
                </a:solidFill>
                <a:latin typeface="Amiri" pitchFamily="34" charset="0"/>
                <a:ea typeface="Amiri" pitchFamily="34" charset="-122"/>
                <a:cs typeface="Amiri" pitchFamily="34" charset="-120"/>
              </a:rPr>
              <a:t>إِلَّا</a:t>
            </a:r>
            <a:pPr algn="l" indent="0" marL="0">
              <a:buNone/>
            </a:pPr>
            <a:r>
              <a:rPr lang="en-US" sz="2000" b="1" dirty="0">
                <a:solidFill>
                  <a:srgbClr val="1B3B6F"/>
                </a:solidFill>
                <a:latin typeface="Cambria" pitchFamily="34" charset="0"/>
                <a:ea typeface="Cambria" pitchFamily="34" charset="-122"/>
                <a:cs typeface="Cambria" pitchFamily="34" charset="-120"/>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How LONG → </a:t>
            </a:r>
            <a:pPr algn="l" indent="0" marL="0">
              <a:buNone/>
            </a:pPr>
            <a:r>
              <a:rPr lang="ar-SA" altLang="en-US" sz="1450" dirty="0">
                <a:solidFill>
                  <a:srgbClr val="1F2A37"/>
                </a:solidFill>
                <a:latin typeface="Amiri" pitchFamily="34" charset="0"/>
                <a:ea typeface="Amiri" pitchFamily="34" charset="-122"/>
                <a:cs typeface="Amiri" pitchFamily="34" charset="-120"/>
              </a:rPr>
              <a:t>مُدَّةَ</a:t>
            </a:r>
            <a:pPr algn="l" indent="0" marL="0">
              <a:buNone/>
            </a:pPr>
            <a:r>
              <a:rPr lang="en-US" sz="1100" dirty="0">
                <a:solidFill>
                  <a:srgbClr val="1F2A37"/>
                </a:solidFill>
                <a:latin typeface="Calibri" pitchFamily="34" charset="0"/>
                <a:ea typeface="Calibri" pitchFamily="34" charset="-122"/>
                <a:cs typeface="Calibri" pitchFamily="34" charset="-120"/>
              </a:rPr>
              <a:t>, not </a:t>
            </a:r>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use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إِلَّا</a:t>
            </a:r>
            <a:pPr algn="l" indent="0" marL="0">
              <a:buNone/>
            </a:pPr>
            <a:r>
              <a:rPr lang="en-US" sz="1250" b="1" dirty="0">
                <a:solidFill>
                  <a:srgbClr val="1B3B6F"/>
                </a:solidFill>
                <a:latin typeface="Calibri" pitchFamily="34" charset="0"/>
                <a:ea typeface="Calibri" pitchFamily="34" charset="-122"/>
                <a:cs typeface="Calibri" pitchFamily="34" charset="-120"/>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15 minutes after seven uses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يَبْدَأُ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الدَّوَامُ فِي الثَّامِنَةِ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8:25 → 8 + 25 minutes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يَنْتَهِي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الرَّابِعَةِ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يَسْتَمِرُّ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التَّمْرِينُ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long →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34" charset="0"/>
                <a:ea typeface="Amiri" pitchFamily="34" charset="-122"/>
                <a:cs typeface="Amiri" pitchFamily="34" charset="-120"/>
              </a:rPr>
              <a:t>يَبْدَأُ</a:t>
            </a:r>
            <a:pPr rtl="1" algn="r" indent="0" marL="0">
              <a:buNone/>
            </a:pPr>
            <a:r>
              <a:rPr lang="ar-SA" altLang="en-US" sz="1900" b="1" dirty="0">
                <a:solidFill>
                  <a:srgbClr val="1B3B6F"/>
                </a:solidFill>
                <a:latin typeface="Amiri" pitchFamily="34" charset="0"/>
                <a:ea typeface="Amiri" pitchFamily="34" charset="-122"/>
                <a:cs typeface="Amiri" pitchFamily="34" charset="-120"/>
              </a:rPr>
              <a:t> الدَّوَامُ فِي الثَّامِنَةِ </a:t>
            </a:r>
            <a:pPr rtl="1" algn="r" indent="0" marL="0">
              <a:buNone/>
            </a:pPr>
            <a:r>
              <a:rPr lang="ar-SA" altLang="en-US" sz="1900" b="1" dirty="0">
                <a:solidFill>
                  <a:srgbClr val="0E7C86"/>
                </a:solidFill>
                <a:latin typeface="Amiri" pitchFamily="34" charset="0"/>
                <a:ea typeface="Amiri" pitchFamily="34" charset="-122"/>
                <a:cs typeface="Amiri" pitchFamily="34" charset="-120"/>
              </a:rPr>
              <a:t>وَ</a:t>
            </a:r>
            <a:pPr rtl="1" algn="r" indent="0" marL="0">
              <a:buNone/>
            </a:pPr>
            <a:r>
              <a:rPr lang="ar-SA" altLang="en-US" sz="1900" b="1" dirty="0">
                <a:solidFill>
                  <a:srgbClr val="1B3B6F"/>
                </a:solidFill>
                <a:latin typeface="Amiri" pitchFamily="34" charset="0"/>
                <a:ea typeface="Amiri" pitchFamily="34" charset="-122"/>
                <a:cs typeface="Amiri" pitchFamily="34" charset="-120"/>
              </a:rPr>
              <a:t>خَمْسٍ وَعِشْرِينَ دَقِيقَةً، وَ</a:t>
            </a:r>
            <a:pPr rtl="1" algn="r" indent="0" marL="0">
              <a:buNone/>
            </a:pPr>
            <a:r>
              <a:rPr lang="ar-SA" altLang="en-US" sz="1900" b="1" dirty="0">
                <a:solidFill>
                  <a:srgbClr val="1D5FBF"/>
                </a:solidFill>
                <a:latin typeface="Amiri" pitchFamily="34" charset="0"/>
                <a:ea typeface="Amiri" pitchFamily="34" charset="-122"/>
                <a:cs typeface="Amiri" pitchFamily="34" charset="-120"/>
              </a:rPr>
              <a:t>يَنْتَهِي</a:t>
            </a:r>
            <a:pPr rtl="1" algn="r" indent="0" marL="0">
              <a:buNone/>
            </a:pPr>
            <a:r>
              <a:rPr lang="ar-SA" altLang="en-US" sz="1900" b="1" dirty="0">
                <a:solidFill>
                  <a:srgbClr val="1B3B6F"/>
                </a:solidFill>
                <a:latin typeface="Amiri" pitchFamily="34" charset="0"/>
                <a:ea typeface="Amiri" pitchFamily="34" charset="-122"/>
                <a:cs typeface="Amiri" pitchFamily="34" charset="-120"/>
              </a:rPr>
              <a:t> فِي الرَّابِعَةِ </a:t>
            </a:r>
            <a:pPr rtl="1" algn="r" indent="0" marL="0">
              <a:buNone/>
            </a:pPr>
            <a:r>
              <a:rPr lang="ar-SA" altLang="en-US" sz="1900" b="1" dirty="0">
                <a:solidFill>
                  <a:srgbClr val="0E7C86"/>
                </a:solidFill>
                <a:latin typeface="Amiri" pitchFamily="34" charset="0"/>
                <a:ea typeface="Amiri" pitchFamily="34" charset="-122"/>
                <a:cs typeface="Amiri" pitchFamily="34" charset="-120"/>
              </a:rPr>
              <a:t>إِلَّا</a:t>
            </a:r>
            <a:pPr rtl="1" algn="r" indent="0" marL="0">
              <a:buNone/>
            </a:pPr>
            <a:r>
              <a:rPr lang="ar-SA" altLang="en-US" sz="1900" b="1" dirty="0">
                <a:solidFill>
                  <a:srgbClr val="1B3B6F"/>
                </a:solidFill>
                <a:latin typeface="Amiri" pitchFamily="34" charset="0"/>
                <a:ea typeface="Amiri" pitchFamily="34" charset="-122"/>
                <a:cs typeface="Amiri" pitchFamily="34" charset="-120"/>
              </a:rPr>
              <a:t> عَشْرَ دَقَائِقَ. </a:t>
            </a:r>
            <a:pPr rtl="1" algn="r" indent="0" marL="0">
              <a:buNone/>
            </a:pPr>
            <a:r>
              <a:rPr lang="ar-SA" altLang="en-US" sz="1900" b="1" dirty="0">
                <a:solidFill>
                  <a:srgbClr val="1D5FBF"/>
                </a:solidFill>
                <a:latin typeface="Amiri" pitchFamily="34" charset="0"/>
                <a:ea typeface="Amiri" pitchFamily="34" charset="-122"/>
                <a:cs typeface="Amiri" pitchFamily="34" charset="-120"/>
              </a:rPr>
              <a:t>يَسْتَمِرُّ</a:t>
            </a:r>
            <a:pPr rtl="1" algn="r" indent="0" marL="0">
              <a:buNone/>
            </a:pPr>
            <a:r>
              <a:rPr lang="ar-SA" altLang="en-US" sz="1900" b="1" dirty="0">
                <a:solidFill>
                  <a:srgbClr val="1B3B6F"/>
                </a:solidFill>
                <a:latin typeface="Amiri" pitchFamily="34" charset="0"/>
                <a:ea typeface="Amiri" pitchFamily="34" charset="-122"/>
                <a:cs typeface="Amiri" pitchFamily="34" charset="-120"/>
              </a:rPr>
              <a:t> التَّمْرِينُ </a:t>
            </a:r>
            <a:pPr rtl="1" algn="r" indent="0" marL="0">
              <a:buNone/>
            </a:pPr>
            <a:r>
              <a:rPr lang="ar-SA" altLang="en-US" sz="1900" b="1" dirty="0">
                <a:solidFill>
                  <a:srgbClr val="D6336C"/>
                </a:solidFill>
                <a:latin typeface="Amiri" pitchFamily="34" charset="0"/>
                <a:ea typeface="Amiri" pitchFamily="34" charset="-122"/>
                <a:cs typeface="Amiri" pitchFamily="34" charset="-120"/>
              </a:rPr>
              <a:t>مُدَّةَ</a:t>
            </a:r>
            <a:pPr rtl="1" algn="r" indent="0" marL="0">
              <a:buNone/>
            </a:pPr>
            <a:r>
              <a:rPr lang="ar-SA" altLang="en-US" sz="1900" b="1" dirty="0">
                <a:solidFill>
                  <a:srgbClr val="1B3B6F"/>
                </a:solidFill>
                <a:latin typeface="Amiri" pitchFamily="34" charset="0"/>
                <a:ea typeface="Amiri" pitchFamily="34" charset="-122"/>
                <a:cs typeface="Amiri" pitchFamily="34" charset="-120"/>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day starts at 8:25.</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ends at 3:50.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appointment is at 16:00.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Training lasts 45 minutes.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مُدَّةَ سَاعَةٍ</a:t>
            </a:r>
            <a:pPr algn="l" indent="0" marL="0">
              <a:buNone/>
            </a:pPr>
            <a:r>
              <a:rPr lang="en-US" sz="1050" i="1" dirty="0">
                <a:solidFill>
                  <a:srgbClr val="8A6D1E"/>
                </a:solidFill>
                <a:latin typeface="Calibri" pitchFamily="34" charset="0"/>
                <a:ea typeface="Calibri" pitchFamily="34" charset="-122"/>
                <a:cs typeface="Calibri" pitchFamily="34" charset="-120"/>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At 5:45 which hour do you name with </a:t>
            </a:r>
            <a:pPr algn="l" indent="0" marL="0">
              <a:buNone/>
            </a:pPr>
            <a:r>
              <a:rPr lang="ar-SA" altLang="en-US" sz="1700" dirty="0">
                <a:solidFill>
                  <a:srgbClr val="5A6472"/>
                </a:solidFill>
                <a:latin typeface="Amiri" pitchFamily="34" charset="0"/>
                <a:ea typeface="Amiri" pitchFamily="34" charset="-122"/>
                <a:cs typeface="Amiri" pitchFamily="34" charset="-120"/>
              </a:rPr>
              <a:t>إِلَّا</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a:t>
            </a:r>
            <a:pPr algn="l" indent="0" marL="0">
              <a:buNone/>
            </a:pPr>
            <a:r>
              <a:rPr lang="ar-SA" altLang="en-US" sz="1500" b="1" dirty="0">
                <a:solidFill>
                  <a:srgbClr val="1B3B6F"/>
                </a:solidFill>
                <a:latin typeface="Amiri" pitchFamily="34" charset="0"/>
                <a:ea typeface="Amiri" pitchFamily="34" charset="-122"/>
                <a:cs typeface="Amiri" pitchFamily="34" charset="-120"/>
              </a:rPr>
              <a:t>إِلَّا</a:t>
            </a:r>
            <a:pPr algn="l" indent="0" marL="0">
              <a:buNone/>
            </a:pPr>
            <a:r>
              <a:rPr lang="en-US" sz="1150" b="1" dirty="0">
                <a:solidFill>
                  <a:srgbClr val="1B3B6F"/>
                </a:solidFill>
                <a:latin typeface="Calibri" pitchFamily="34" charset="0"/>
                <a:ea typeface="Calibri" pitchFamily="34" charset="-122"/>
                <a:cs typeface="Calibri" pitchFamily="34" charset="-120"/>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Minutes after the hour use </a:t>
            </a:r>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مُدَّةَ</a:t>
            </a:r>
            <a:pPr algn="l" indent="0" marL="0">
              <a:buNone/>
            </a:pPr>
            <a:r>
              <a:rPr lang="en-US" sz="1150" b="1" dirty="0">
                <a:solidFill>
                  <a:srgbClr val="1B3B6F"/>
                </a:solidFill>
                <a:latin typeface="Calibri" pitchFamily="34" charset="0"/>
                <a:ea typeface="Calibri" pitchFamily="34" charset="-122"/>
                <a:cs typeface="Calibri" pitchFamily="34" charset="-120"/>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a timetable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مَتَى تَخْرُجُ مِنَ البَيْتِ؟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يَبْدَأُ يَوْمُكَ الدِّرَاسِيُّ وَمَتَى يَنْتَهِي؟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جَدْوَلَكَ فِي يَوْمٍ مُزْدَحِمٍ.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أَطْوَلُ نَشَاطٍ فِي أُسْبُوعِكَ؟ وَكَمْ يَسْتَمِرُّ؟</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أَسْتَيْقِظُ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 فِي ___ وَيَنْتَهِي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يَسْتَمِرُّ … مُدَّةَ ___ ، وَأُفَضِّلُ … لِأَنَّ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يَوْمُهُ / يَوْمُهَا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يَبْدَأُ التَّمْرِينُ؟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training begin?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يَبْدَأُ فِي السَّادِسَةِ إِلَّا الرُّبْعَ وَيَسْتَمِرُّ مُدَّةَ سَاعَةٍ وَالنِّصْفِ. أُفَضِّلُ هٰذَا الوَقْتَ لِأَنَّنِي أُنْهِي وَاجِبِي قَبْلَهُ.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begins at quarter to six and lasts an hour and a half. I prefer this time because I finish my homework before it.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both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إِلَّا</a:t>
            </a:r>
            <a:pPr algn="l" indent="0" marL="0">
              <a:buNone/>
            </a:pPr>
            <a:r>
              <a:rPr lang="en-US" sz="1200" dirty="0">
                <a:solidFill>
                  <a:srgbClr val="1F2A37"/>
                </a:solidFill>
                <a:latin typeface="Calibri" pitchFamily="34" charset="0"/>
                <a:ea typeface="Calibri" pitchFamily="34" charset="-122"/>
                <a:cs typeface="Calibri" pitchFamily="34" charset="-120"/>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يَبْدَأُ</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يَنْتَهِي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يَسْتَمِرُّ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half past, I named the NEXT hour with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begins (</a:t>
            </a:r>
            <a:pPr algn="l" indent="0" marL="0">
              <a:buNone/>
            </a:pPr>
            <a:r>
              <a:rPr lang="ar-SA" altLang="en-US" sz="1700" dirty="0">
                <a:solidFill>
                  <a:srgbClr val="1F2A37"/>
                </a:solidFill>
                <a:latin typeface="Amiri" pitchFamily="34" charset="0"/>
                <a:ea typeface="Amiri" pitchFamily="34" charset="-122"/>
                <a:cs typeface="Amiri" pitchFamily="34" charset="-120"/>
              </a:rPr>
              <a:t>يَبْدَأُ</a:t>
            </a:r>
            <a:pPr algn="l" indent="0" marL="0">
              <a:buNone/>
            </a:pPr>
            <a:r>
              <a:rPr lang="en-US" sz="1300" dirty="0">
                <a:solidFill>
                  <a:srgbClr val="1F2A37"/>
                </a:solidFill>
                <a:latin typeface="Calibri" pitchFamily="34" charset="0"/>
                <a:ea typeface="Calibri" pitchFamily="34" charset="-122"/>
                <a:cs typeface="Calibri" pitchFamily="34" charset="-120"/>
              </a:rPr>
              <a:t>) and ends (</a:t>
            </a:r>
            <a:pPr algn="l" indent="0" marL="0">
              <a:buNone/>
            </a:pPr>
            <a:r>
              <a:rPr lang="ar-SA" altLang="en-US" sz="1700" dirty="0">
                <a:solidFill>
                  <a:srgbClr val="1F2A37"/>
                </a:solidFill>
                <a:latin typeface="Amiri" pitchFamily="34" charset="0"/>
                <a:ea typeface="Amiri" pitchFamily="34" charset="-122"/>
                <a:cs typeface="Amiri" pitchFamily="34" charset="-120"/>
              </a:rPr>
              <a:t>يَنْتَهِي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24-hour time and duration (</a:t>
            </a:r>
            <a:pPr algn="l" indent="0" marL="0">
              <a:buNone/>
            </a:pPr>
            <a:r>
              <a:rPr lang="ar-SA" altLang="en-US" sz="1700" dirty="0">
                <a:solidFill>
                  <a:srgbClr val="1F2A37"/>
                </a:solidFill>
                <a:latin typeface="Amiri" pitchFamily="34" charset="0"/>
                <a:ea typeface="Amiri" pitchFamily="34" charset="-122"/>
                <a:cs typeface="Amiri" pitchFamily="34" charset="-120"/>
              </a:rPr>
              <a:t>مُدَّةَ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دَوْرَةُ الخَطِّ</a:t>
            </a:r>
            <a:pPr algn="l" indent="0" marL="0">
              <a:buNone/>
            </a:pPr>
            <a:r>
              <a:rPr lang="en-US" sz="1050" i="1" dirty="0">
                <a:solidFill>
                  <a:srgbClr val="8A6D1E"/>
                </a:solidFill>
                <a:latin typeface="Calibri" pitchFamily="34" charset="0"/>
                <a:ea typeface="Calibri" pitchFamily="34" charset="-122"/>
                <a:cs typeface="Calibri" pitchFamily="34" charset="-120"/>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quarter past, keep the current hour and add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24-hour timetable may state the numbered hour directly: </a:t>
            </a:r>
            <a:pPr algn="l" indent="0" marL="0">
              <a:buNone/>
            </a:pPr>
            <a:r>
              <a:rPr lang="ar-SA" altLang="en-US" sz="1350" dirty="0">
                <a:solidFill>
                  <a:srgbClr val="8A6D1E"/>
                </a:solidFill>
                <a:latin typeface="Amiri" pitchFamily="34" charset="0"/>
                <a:ea typeface="Amiri" pitchFamily="34" charset="-122"/>
                <a:cs typeface="Amiri" pitchFamily="34" charset="-120"/>
              </a:rPr>
              <a:t>الرَّابِعَةَ عَشْرَةَ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Duration is expressed with </a:t>
            </a:r>
            <a:pPr algn="l" indent="0" marL="0">
              <a:buNone/>
            </a:pPr>
            <a:r>
              <a:rPr lang="ar-SA" altLang="en-US" sz="1350" dirty="0">
                <a:solidFill>
                  <a:srgbClr val="8A6D1E"/>
                </a:solidFill>
                <a:latin typeface="Amiri" pitchFamily="34" charset="0"/>
                <a:ea typeface="Amiri" pitchFamily="34" charset="-122"/>
                <a:cs typeface="Amiri" pitchFamily="34" charset="-120"/>
              </a:rPr>
              <a:t>يَسْتَمِرُّ مُدَّةَ</a:t>
            </a:r>
            <a:pPr algn="l" indent="0" marL="0">
              <a:buNone/>
            </a:pPr>
            <a:r>
              <a:rPr lang="en-US" sz="1050" i="1" dirty="0">
                <a:solidFill>
                  <a:srgbClr val="8A6D1E"/>
                </a:solidFill>
                <a:latin typeface="Calibri" pitchFamily="34" charset="0"/>
                <a:ea typeface="Calibri" pitchFamily="34" charset="-122"/>
                <a:cs typeface="Calibri" pitchFamily="34" charset="-120"/>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يَنْتَهِي</a:t>
            </a:r>
            <a:pPr algn="l" indent="0" marL="0">
              <a:buNone/>
            </a:pPr>
            <a:r>
              <a:rPr lang="en-US" sz="1050" i="1" dirty="0">
                <a:solidFill>
                  <a:srgbClr val="8A6D1E"/>
                </a:solidFill>
                <a:latin typeface="Calibri" pitchFamily="34" charset="0"/>
                <a:ea typeface="Calibri" pitchFamily="34" charset="-122"/>
                <a:cs typeface="Calibri" pitchFamily="34" charset="-120"/>
              </a:rPr>
              <a:t> means “finishes”; </a:t>
            </a:r>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asks for the start and </a:t>
            </a:r>
            <a:pPr algn="l" indent="0" marL="0">
              <a:buNone/>
            </a:pPr>
            <a:r>
              <a:rPr lang="ar-SA" altLang="en-US" sz="1350" dirty="0">
                <a:solidFill>
                  <a:srgbClr val="8A6D1E"/>
                </a:solidFill>
                <a:latin typeface="Amiri" pitchFamily="34" charset="0"/>
                <a:ea typeface="Amiri" pitchFamily="34" charset="-122"/>
                <a:cs typeface="Amiri" pitchFamily="34" charset="-120"/>
              </a:rPr>
              <a:t>مُدَّة</a:t>
            </a:r>
            <a:pPr algn="l" indent="0" marL="0">
              <a:buNone/>
            </a:pPr>
            <a:r>
              <a:rPr lang="en-US" sz="1050" i="1" dirty="0">
                <a:solidFill>
                  <a:srgbClr val="8A6D1E"/>
                </a:solidFill>
                <a:latin typeface="Calibri" pitchFamily="34" charset="0"/>
                <a:ea typeface="Calibri" pitchFamily="34" charset="-122"/>
                <a:cs typeface="Calibri" pitchFamily="34" charset="-120"/>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a:t>
            </a:r>
            <a:pPr algn="l" indent="0" marL="0">
              <a:buNone/>
            </a:pPr>
            <a:r>
              <a:rPr lang="en-US" sz="1050" i="1" dirty="0">
                <a:solidFill>
                  <a:srgbClr val="8A6D1E"/>
                </a:solidFill>
                <a:latin typeface="Calibri" pitchFamily="34" charset="0"/>
                <a:ea typeface="Calibri" pitchFamily="34" charset="-122"/>
                <a:cs typeface="Calibri" pitchFamily="34" charset="-120"/>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D1-L03 · How Often? — Frequency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busy day</a:t>
            </a:r>
            <a:pPr indent="0" marL="0">
              <a:buNone/>
            </a:pPr>
            <a:r>
              <a:rPr lang="en-US" sz="1000" i="1" dirty="0">
                <a:solidFill>
                  <a:srgbClr val="5A6472"/>
                </a:solidFill>
                <a:latin typeface="Calibri" pitchFamily="34" charset="0"/>
                <a:ea typeface="Calibri" pitchFamily="34" charset="-122"/>
                <a:cs typeface="Calibri" pitchFamily="34" charset="-120"/>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D1-L03 · How Often? — Frequency Adverbs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مَرَّةً؟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وَ</a:t>
            </a:r>
            <a:pPr algn="l" indent="0" marL="0">
              <a:buNone/>
            </a:pPr>
            <a:r>
              <a:rPr lang="en-US" sz="1300" b="1" dirty="0">
                <a:solidFill>
                  <a:srgbClr val="FFFFFF"/>
                </a:solidFill>
                <a:latin typeface="Calibri" pitchFamily="34" charset="0"/>
                <a:ea typeface="Calibri" pitchFamily="34" charset="-122"/>
                <a:cs typeface="Calibri" pitchFamily="34" charset="-120"/>
              </a:rPr>
              <a:t> = past · </a:t>
            </a:r>
            <a:pPr algn="l" indent="0" marL="0">
              <a:buNone/>
            </a:pPr>
            <a:r>
              <a:rPr lang="ar-SA" altLang="en-US" sz="1700" b="1" dirty="0">
                <a:solidFill>
                  <a:srgbClr val="FFFFFF"/>
                </a:solidFill>
                <a:latin typeface="Amiri" pitchFamily="34" charset="0"/>
                <a:ea typeface="Amiri" pitchFamily="34" charset="-122"/>
                <a:cs typeface="Amiri" pitchFamily="34" charset="-120"/>
              </a:rPr>
              <a:t>إِلَّا</a:t>
            </a:r>
            <a:pPr algn="l" indent="0" marL="0">
              <a:buNone/>
            </a:pPr>
            <a:r>
              <a:rPr lang="en-US" sz="1300" b="1" dirty="0">
                <a:solidFill>
                  <a:srgbClr val="FFFFFF"/>
                </a:solidFill>
                <a:latin typeface="Calibri" pitchFamily="34" charset="0"/>
                <a:ea typeface="Calibri" pitchFamily="34" charset="-122"/>
                <a:cs typeface="Calibri" pitchFamily="34" charset="-120"/>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D1-L02 · Telling the Time — What Time Is It?</dc:title>
  <dc:subject>PptxGenJS Presentation</dc:subject>
  <dc:creator>Al Madina Online School · Arabic Department</dc:creator>
  <cp:lastModifiedBy>Al Madina Online School · Arabic Department</cp:lastModifiedBy>
  <cp:revision>1</cp:revision>
  <dcterms:created xsi:type="dcterms:W3CDTF">2026-09-27T11:01:32Z</dcterms:created>
  <dcterms:modified xsi:type="dcterms:W3CDTF">2026-09-27T11:01:32Z</dcterms:modified>
</cp:coreProperties>
</file>