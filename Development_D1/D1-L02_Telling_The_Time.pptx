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Lst>
  <p:notesMasterIdLst>
    <p:notesMasterId r:id="rId48"/>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notesMaster" Target="notesMasters/notesMaster1.xml"/><Relationship Id="rId49" Type="http://schemas.openxmlformats.org/officeDocument/2006/relationships/presProps" Target="presProps.xml"/><Relationship Id="rId50" Type="http://schemas.openxmlformats.org/officeDocument/2006/relationships/viewProps" Target="viewProps.xml"/><Relationship Id="rId51" Type="http://schemas.openxmlformats.org/officeDocument/2006/relationships/theme" Target="theme/theme1.xml"/><Relationship Id="rId52"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10–16 Key words · 16–22 The hours + وَ / إِلَّا · 22–24 Quick check · 24–27 I Do · 27–37 We Do (Beat the Clock, sorter, fix, listening) · 37–49 You Do · 49–54 Feedback · 54–56 Preparation.
FLEX slides are optional. Use them if the class is moving quickly; otherwise the same activities are on the website for homework.
Content source: Miftah Arabic website, Pathways › Development › D1 Daily Routine and Time › D1-L02. The website lesson “Telling the Time — What Time Is It?”: vocabulary, grammar rules and quiz, patterns, common mistakes, sorter, listening, reading, speaking prompts and model, writing task and model, differentiation, final check and the lesson mission. Picture match: website visual game “Beat the Clock”.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Time is a CALCULATION (website): the current hour + minutes past (وَ), or the NEXT hour − minutes to (إِلَّا). Core: o’clock, quarter past, half past, quarter to (the four “anchor” times). Develop: five-minute precision with وَ / إِلَّا. Stretch: 24-hour times and duration (يَسْتَمِرُّ مُدَّةَ …).
• The hour words are ordinals (السَّابِعَةُ = the seventh) — a “clock face” table of all twelve hours is provided; Core students keep it open.
• Maths link: many students find the إِلَّا “count back from the next hour” rule easiest with a drawn clock — use the Teams whiteboard.
• Urdu bridge: وقت، دقیقہ، ساعت، مدت، تقریباً.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1–2 test two of the five words prepared at home. Questions 3–5 retrieve D1-L01 (prefixes and sequence words).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Minutes PAST the hour → وَ. Minutes TO the next hour → إِلَّا (and name the NEXT hour!).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website objectives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وقت (waqt → الوَقْتُ), دقیقہ (→ دَقِيقَةٌ), ساعت (sā‘at → السَّاعَةُ), مدت (muddat → مُدَّةٌ duration). Arabic also uses تَقْرِيبًا for “approximately”, but the website word today is حَوَالَيْ.</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Minutes past and to (website vocabulary (1 of 2)). Hear → Say → See → Use. Transliteration is printed for Core students (cover it for Develop/Stretch).
Minutes past (وَ) and to (إِلَّا). Gesture: clockwise hand for وَ (moving on from the hour); pointing forward to the NEXT hour for إِلَّا.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Minutes past and to (website vocabulary (2 of 2)). Hear → Say → See → Use. Transliteration is printed for Core students (cover it for Develop/Stretch).
Minutes past (وَ) and to (إِلَّا). Gesture: clockwise hand for وَ (moving on from the hour); pointing forward to the NEXT hour for إِلَّا.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Schedule language (website vocabulary (1 of 2)). Hear → Say → See → Use. Transliteration is printed for Core students (cover it for Develop/Stretch).
Schedule verbs: a feminine subject (الحِصَّةُ، الاِسْتِرَاحَةُ) takes تَـ: تَبْدَأُ الحِصَّةُ.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Schedule language (website vocabulary (2 of 2)). Hear → Say → See → Use. Transliteration is printed for Core students (cover it for Develop/Stretch).
FLEX: teach if time allows; otherwise these are on the website vocabulary tab for homework.
Schedule verbs: a feminine subject (الحِصَّةُ، الاِسْتِرَاحَةُ) takes تَـ: تَبْدَأُ الحِصَّةُ.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24-hour time (website vocabulary). Hear → Say → See → Use. Transliteration is printed for Core students (cover it for Develop/Stretch).
FLEX: teach if time allows; otherwise these are on the website vocabulary tab for homework.
24-hour forms are Stretch; Core recognises صَبَاحًا (a.m.) and مَسَاءً (p.m.).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HOURS (teacher reference built from the website examples). The hour is an ORDINAL (“the seventh”) and feminine because it describes السَّاعَةُ.
Question: كَمِ السَّاعَةُ؟ Answer: السَّاعَةُ … . “At” a time: فِي + the hour in the -i form (فِي السَّاعَةِ السَّادِسَةِ) — recognition for Core.
Core: learn 6–9 (the school-morning hours)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2 — website rules “Use وَ for minutes after the hour” and “Use إِلَّا for minutes before the next hour”. Website teaching: “Treat the Arabic time phrase as a calculation: current hour + elapsed minutes, or next hour − remaining minutes.”
Pink = the hour CHANGES to the next one after half past.
Website common error: at 5:45 do NOT say الخَامِسَةُ إِلَّا الرُّبْعَ — name the next hour: السَّادِسَةُ إِلَّا الرُّبْعَ.
Notice the ending: وَالرُّبْعُ (-u) but إِلَّا الرُّبْعَ (-a) — Stretch observation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3 — website rules “Distinguish start, finish and duration” and “Read formal 24-hour time accurately” (١٤:٣٠ ← الرَّابِعَةَ عَشْرَةَ وَالنِّصْفُ; in everyday speech → الثَّانِيَةُ وَالنِّصْفُ مَسَاءً).
Website: “A timetable answer may require an exact start, finish or length. Do not confuse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GRAMMAR RULES AND EXAMPLES (FLEX — revision or homework). Website overview: “Arabic time expressions require two decisions: whether the minutes come after the current hour with وَ, or count down to the next hour with إِلَّا. Formal timetables may use 24-hour time, while conversation often adds صَبَاحًا or مَسَاءً.”
• Use وَ for minutes after the hour: For 1–30 minutes past, keep the current hour and add وَ followed by the minutes.
• Use إِلَّا for minutes before the next hour: After the half hour, move to the next hour and subtract the remaining minutes.
• Read formal 24-hour time accurately: In a timetable, state the numbered hour directly. In everyday speech, you may convert it to 2:30 p.m.
• Distinguish start, finish and duration: A timetable answer may require an exact start, finish or length. Do not confuse them.
Website common error: At 5:45, do not say السَّاعَةُ الخَامِسَةُ إِلَّا الرُّبْعَ. With إِلَّا, name the next hour: السَّاعَةُ السَّادِسَةُ إِلَّا الرُّبْعَ.</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2, 3, 4.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the four website patterns as one timetable, modelled with a think-aloud (“past or to? which hour? start, finish or how long?”). Draw the clock on the Teams whiteboard for each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whole-class version of the website “Beat the Clock” game (teacher-made times). 20-second timer per clock; chat the letters. Then show-me: students say the time aloud before the reveal.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Reveal; the class says each time aloud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expression by its time logic.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expression by its time logic.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5, 6, 7, 8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(4 min) — website script. Read it aloud yourself, twice, at natural speed with pauses.
Before listening: students read the questions (● 30s). Core: questions 1, 3 and 4. Develop / Stretch: all 5.
Listen 1: just listen. Listen 2: note answers. Then chat the letters.
Support: after the second listening, show the read-along slide (Arabic + English, line by line) for Core students.
SCRIPT (read aloud):
يَوْمَ الأَرْبِعَاءِ يَبْدَأُ دَوَامِي فِي السَّاعَةِ الثَّامِنَةِ إِلَّا عَشْرَ دَقَائِقَ. الحِصَّةُ الأُولَى مِنَ الثَّامِنَةِ إِلَى التَّاسِعَةِ إِلَّا الرُّبْعَ، ثُمَّ عِنْدَنَا اِسْتِرَاحَةٌ تَسْتَمِرُّ عِشْرِينَ دَقِيقَةً. يَبْدَأُ دَرْسُ العُلُومِ فِي التَّاسِعَةِ وَخَمْسِ دَقَائِقَ، وَيَنْتَهِي فِي العَاشِرَةِ وَخَمْسٍ وَأَرْبَعِينَ دَقِيقَةً. بَعْدَ المَدْرَسَةِ أَذْهَبُ إِلَى التَّمْرِينِ فِي السَّاعَةِ السَّادِسَةَ عَشْرَةَ وَالنِّصْفِ، وَأَعُودُ إِلَى البَيْتِ حَوَالَيْ الثَّامِنَةِ مَسَاءً.</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REHEARSAL (3 min) — website speaking prompts (the Core prompt is teacher-made).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Core prompt (teacher-made): “When do you wake up? When do you leave home?” — two times from the D1-L01 routine. Pairs quiz each other with digital times in chat (partner answers in Arabic).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Read and write quarter past, half past and quarter to times. · Develop — Interpret a mixed 12-hour and 24-hour timetable. · Stretch — Calculate duration and explain a full schedule without relying on digital numerals.
Website writing task (Stretch): Create a 100–120-word schedule for one busy weekday and explain which part is easiest or most difficult.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website model answer, with an English translation for Core students.
Students find in the model (● 20s → ◎) the four items on the chips. Evidence: السَّادِسَةِ وَالنِّصْفِ · السَّابِعَةِ إِلَّا عَشْرَ دَقَائِقَ · السَّادِسَةَ عَشْرَةَ · يَسْتَمِرُّ التَّمْرِينُ مُدَّةَ سَاعَةٍ · أَصْعَبُ جُزْءٍ … لِأَنَّنِي …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6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LESSON MISSION (FLEX) — fast finishers 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(D1-L03 · How Often? — Frequency Adverbs) will spend class time USING this language, so students prepare it tonight — short, simple, easy to access (school guidance: “Simple, Short, Interesting, Relevant, Easy to access”). The five words come from the website D1-L03 vocabulary (frequency, the week and contrast).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1.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1.xml"/><Relationship Id="rId3" Type="http://schemas.openxmlformats.org/officeDocument/2006/relationships/notesSlide" Target="../notesSlides/notesSlide4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YEAR 8  ·  DEVELOPMENT D1  ·  D1-L02</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D1-L02</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3200" b="1" dirty="0">
                <a:solidFill>
                  <a:srgbClr val="FFFFFF"/>
                </a:solidFill>
                <a:latin typeface="Cambria" pitchFamily="34" charset="0"/>
                <a:cs typeface="Amiri" pitchFamily="2" charset="-78"/>
              </a:rPr>
              <a:t>Telling the Time — What Time Is It?</a:t>
            </a:r>
            <a:endParaRPr lang="en-US" sz="320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cs typeface="Amiri" pitchFamily="2" charset="-78"/>
              </a:rPr>
              <a:t>قِرَاءَةُ الوَقْتِ — كَمِ السَّاعَةُ؟</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Read, ask for and give exact clock times, start and finish times, 12-hour and 24-hour timetables, and how long something lasts.</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D1-L02 · Development D1 · Daily Routine and Time</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Development · A2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Pathways › Development › D1 › D1-L02</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D1-L02 · Telling the Time</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D1-L02</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46</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D1-L02 · Telling the Time</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D1-L02</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The twelve hours, then minutes past (</a:t>
            </a:r>
            <a:pPr algn="ctr" indent="0" marL="0">
              <a:buNone/>
            </a:pPr>
            <a:r>
              <a:rPr lang="ar-SA" altLang="en-US" sz="1550" dirty="0">
                <a:solidFill>
                  <a:srgbClr val="1F2A37"/>
                </a:solidFill>
                <a:latin typeface="Amiri" pitchFamily="2" charset="-78"/>
                <a:cs typeface="Amiri" pitchFamily="2" charset="-78"/>
              </a:rPr>
              <a:t>وَ</a:t>
            </a:r>
            <a:pPr algn="ctr" indent="0" marL="0">
              <a:buNone/>
            </a:pPr>
            <a:r>
              <a:rPr lang="en-US" sz="1200" dirty="0">
                <a:solidFill>
                  <a:srgbClr val="1F2A37"/>
                </a:solidFill>
                <a:latin typeface="Calibri" pitchFamily="34" charset="0"/>
                <a:cs typeface="Amiri" pitchFamily="2" charset="-78"/>
              </a:rPr>
              <a:t>) and to (</a:t>
            </a:r>
            <a:pPr algn="ctr" indent="0" marL="0">
              <a:buNone/>
            </a:pPr>
            <a:r>
              <a:rPr lang="ar-SA" altLang="en-US" sz="1550" dirty="0">
                <a:solidFill>
                  <a:srgbClr val="1F2A37"/>
                </a:solidFill>
                <a:latin typeface="Amiri" pitchFamily="2" charset="-78"/>
                <a:cs typeface="Amiri" pitchFamily="2" charset="-78"/>
              </a:rPr>
              <a:t>إِلَّا</a:t>
            </a:r>
            <a:pPr algn="ctr" indent="0" marL="0">
              <a:buNone/>
            </a:pPr>
            <a:r>
              <a:rPr lang="en-US" sz="1200" dirty="0">
                <a:solidFill>
                  <a:srgbClr val="1F2A37"/>
                </a:solidFill>
                <a:latin typeface="Calibri" pitchFamily="34" charset="0"/>
                <a:cs typeface="Amiri" pitchFamily="2" charset="-78"/>
              </a:rPr>
              <a:t>).</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Beat the Clock, sort past / to, fix and listen.</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D1-L03.</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46</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D1-L02 · Telling the Time</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السَّاعَةُ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minute</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hour / the clock</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day</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وَالنِّصْفُ</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half past</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quarter past</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quarter to</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“I wake up” (D1-L01).</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يَسْتَيْقِظُ</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تَسْتَيْقِظُ</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أَسْتَيْقِظُ</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for “she”: </a:t>
            </a:r>
            <a:pPr algn="l" indent="0" marL="0">
              <a:buNone/>
            </a:pPr>
            <a:r>
              <a:rPr lang="ar-SA" altLang="en-US" sz="1650" b="1" dirty="0">
                <a:solidFill>
                  <a:srgbClr val="1B3B6F"/>
                </a:solidFill>
                <a:latin typeface="Amiri" pitchFamily="2" charset="-78"/>
                <a:cs typeface="Amiri" pitchFamily="2" charset="-78"/>
              </a:rPr>
              <a:t>هِيَ</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الإِفْطَارَ</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يَتَنَاوَلُ</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أَتَنَاوَلُ</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تَتَنَاوَلُ</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connector means “after that”?</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بَعْدَ ذٰلِكَ</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أَوَّلًا</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نَادِرًا</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46</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D1-L02 · Telling the Time</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السَّاعَةُ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minute</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hour / the clock</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day</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وَالنِّصْفُ</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half past</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quarter past</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quarter to</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“I wake up” (D1-L01).</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يَسْتَيْقِظُ</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تَسْتَيْقِظُ</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أَسْتَيْقِظُ</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D1-L01: </a:t>
            </a:r>
            <a:pPr algn="l" indent="0" marL="0">
              <a:buNone/>
            </a:pPr>
            <a:r>
              <a:rPr lang="ar-SA" altLang="en-US" sz="1350" dirty="0">
                <a:solidFill>
                  <a:srgbClr val="8A6D1E"/>
                </a:solidFill>
                <a:latin typeface="Amiri" pitchFamily="2" charset="-78"/>
                <a:cs typeface="Amiri" pitchFamily="2" charset="-78"/>
              </a:rPr>
              <a:t>أَـ</a:t>
            </a:r>
            <a:pPr algn="l" indent="0" marL="0">
              <a:buNone/>
            </a:pPr>
            <a:r>
              <a:rPr lang="en-US" sz="1050" i="1" dirty="0">
                <a:solidFill>
                  <a:srgbClr val="8A6D1E"/>
                </a:solidFill>
                <a:latin typeface="Calibri" pitchFamily="34" charset="0"/>
                <a:cs typeface="Amiri" pitchFamily="2" charset="-78"/>
              </a:rPr>
              <a:t> = I.</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for “she”: </a:t>
            </a:r>
            <a:pPr algn="l" indent="0" marL="0">
              <a:buNone/>
            </a:pPr>
            <a:r>
              <a:rPr lang="ar-SA" altLang="en-US" sz="1650" b="1" dirty="0">
                <a:solidFill>
                  <a:srgbClr val="1B3B6F"/>
                </a:solidFill>
                <a:latin typeface="Amiri" pitchFamily="2" charset="-78"/>
                <a:cs typeface="Amiri" pitchFamily="2" charset="-78"/>
              </a:rPr>
              <a:t>هِيَ</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الإِفْطَارَ</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يَتَنَاوَلُ</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أَتَنَاوَلُ</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تَتَنَاوَلُ</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D1-L01: </a:t>
            </a:r>
            <a:pPr algn="l" indent="0" marL="0">
              <a:buNone/>
            </a:pPr>
            <a:r>
              <a:rPr lang="ar-SA" altLang="en-US" sz="1350" dirty="0">
                <a:solidFill>
                  <a:srgbClr val="8A6D1E"/>
                </a:solidFill>
                <a:latin typeface="Amiri" pitchFamily="2" charset="-78"/>
                <a:cs typeface="Amiri" pitchFamily="2" charset="-78"/>
              </a:rPr>
              <a:t>هِيَ</a:t>
            </a:r>
            <a:pPr algn="l" indent="0" marL="0">
              <a:buNone/>
            </a:pPr>
            <a:r>
              <a:rPr lang="en-US" sz="1050" i="1" dirty="0">
                <a:solidFill>
                  <a:srgbClr val="8A6D1E"/>
                </a:solidFill>
                <a:latin typeface="Calibri" pitchFamily="34" charset="0"/>
                <a:cs typeface="Amiri" pitchFamily="2" charset="-78"/>
              </a:rPr>
              <a:t> → </a:t>
            </a:r>
            <a:pPr algn="l" indent="0" marL="0">
              <a:buNone/>
            </a:pPr>
            <a:r>
              <a:rPr lang="ar-SA" altLang="en-US" sz="1350" dirty="0">
                <a:solidFill>
                  <a:srgbClr val="8A6D1E"/>
                </a:solidFill>
                <a:latin typeface="Amiri" pitchFamily="2" charset="-78"/>
                <a:cs typeface="Amiri" pitchFamily="2" charset="-78"/>
              </a:rPr>
              <a:t>تَـ</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connector means “after that”?</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بَعْدَ ذٰلِكَ</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أَوَّلًا</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نَادِرًا</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D1-L01 sequence words.</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Minutes PAST the hour → </a:t>
            </a:r>
            <a:pPr algn="l" indent="0" marL="0">
              <a:buNone/>
            </a:pPr>
            <a:r>
              <a:rPr lang="ar-SA" altLang="en-US" sz="1700" b="1" dirty="0">
                <a:solidFill>
                  <a:srgbClr val="1F2A37"/>
                </a:solidFill>
                <a:latin typeface="Amiri" pitchFamily="2" charset="-78"/>
                <a:cs typeface="Amiri" pitchFamily="2" charset="-78"/>
              </a:rPr>
              <a:t>وَ</a:t>
            </a:r>
            <a:pPr algn="l" indent="0" marL="0">
              <a:buNone/>
            </a:pPr>
            <a:r>
              <a:rPr lang="en-US" sz="1300" b="1" dirty="0">
                <a:solidFill>
                  <a:srgbClr val="1F2A37"/>
                </a:solidFill>
                <a:latin typeface="Calibri" pitchFamily="34" charset="0"/>
                <a:cs typeface="Amiri" pitchFamily="2" charset="-78"/>
              </a:rPr>
              <a:t>. Minutes TO the next hour → </a:t>
            </a:r>
            <a:pPr algn="l" indent="0" marL="0">
              <a:buNone/>
            </a:pPr>
            <a:r>
              <a:rPr lang="ar-SA" altLang="en-US" sz="1700" b="1" dirty="0">
                <a:solidFill>
                  <a:srgbClr val="1F2A37"/>
                </a:solidFill>
                <a:latin typeface="Amiri" pitchFamily="2" charset="-78"/>
                <a:cs typeface="Amiri" pitchFamily="2" charset="-78"/>
              </a:rPr>
              <a:t>إِلَّا</a:t>
            </a:r>
            <a:pPr algn="l" indent="0" marL="0">
              <a:buNone/>
            </a:pPr>
            <a:r>
              <a:rPr lang="en-US" sz="1300" b="1" dirty="0">
                <a:solidFill>
                  <a:srgbClr val="1F2A37"/>
                </a:solidFill>
                <a:latin typeface="Calibri" pitchFamily="34" charset="0"/>
                <a:cs typeface="Amiri" pitchFamily="2" charset="-78"/>
              </a:rPr>
              <a:t> (and name the NEXT hour!).</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1B3B6F"/>
                </a:solidFill>
                <a:latin typeface="Amiri" pitchFamily="2" charset="-78"/>
                <a:cs typeface="Amiri" pitchFamily="2" charset="-78"/>
              </a:rPr>
              <a:t>٧:١٥ السَّابِعَةُ </a:t>
            </a:r>
            <a:pPr rtl="1" algn="ctr" indent="0" marL="0">
              <a:lnSpc>
                <a:spcPct val="120000"/>
              </a:lnSpc>
              <a:buNone/>
            </a:pPr>
            <a:r>
              <a:rPr lang="ar-SA" altLang="en-US" sz="1950" b="1" dirty="0">
                <a:solidFill>
                  <a:srgbClr val="0E7C86"/>
                </a:solidFill>
                <a:latin typeface="Amiri" pitchFamily="2" charset="-78"/>
                <a:cs typeface="Amiri" pitchFamily="2" charset="-78"/>
              </a:rPr>
              <a:t>وَ</a:t>
            </a:r>
            <a:pPr rtl="1" algn="ctr" indent="0" marL="0">
              <a:lnSpc>
                <a:spcPct val="120000"/>
              </a:lnSpc>
              <a:buNone/>
            </a:pPr>
            <a:r>
              <a:rPr lang="ar-SA" altLang="en-US" sz="1950" b="1" dirty="0">
                <a:solidFill>
                  <a:srgbClr val="1B3B6F"/>
                </a:solidFill>
                <a:latin typeface="Amiri" pitchFamily="2" charset="-78"/>
                <a:cs typeface="Amiri" pitchFamily="2" charset="-78"/>
              </a:rPr>
              <a:t>الرُّبْعُ · ٧:٤٥ الثَّامِنَةُ </a:t>
            </a:r>
            <a:pPr rtl="1" algn="ctr" indent="0" marL="0">
              <a:lnSpc>
                <a:spcPct val="120000"/>
              </a:lnSpc>
              <a:buNone/>
            </a:pPr>
            <a:r>
              <a:rPr lang="ar-SA" altLang="en-US" sz="1950" b="1" dirty="0">
                <a:solidFill>
                  <a:srgbClr val="0E7C86"/>
                </a:solidFill>
                <a:latin typeface="Amiri" pitchFamily="2" charset="-78"/>
                <a:cs typeface="Amiri" pitchFamily="2" charset="-78"/>
              </a:rPr>
              <a:t>إِلَّا</a:t>
            </a:r>
            <a:pPr rtl="1" algn="ctr" indent="0" marL="0">
              <a:lnSpc>
                <a:spcPct val="120000"/>
              </a:lnSpc>
              <a:buNone/>
            </a:pPr>
            <a:r>
              <a:rPr lang="ar-SA" altLang="en-US" sz="1950" b="1" dirty="0">
                <a:solidFill>
                  <a:srgbClr val="1B3B6F"/>
                </a:solidFill>
                <a:latin typeface="Amiri" pitchFamily="2" charset="-78"/>
                <a:cs typeface="Amiri" pitchFamily="2" charset="-78"/>
              </a:rPr>
              <a:t> الرُّبْعَ</a:t>
            </a:r>
            <a:endParaRPr lang="ar-SA" sz="19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46</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D1-L02 · Telling the Time</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D1-L02</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Tell time to five-minute precision.</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Use </a:t>
            </a:r>
            <a:pPr algn="l" indent="0" marL="0">
              <a:buNone/>
            </a:pPr>
            <a:r>
              <a:rPr lang="ar-SA" altLang="en-US" sz="1700" dirty="0">
                <a:solidFill>
                  <a:srgbClr val="1F2A37"/>
                </a:solidFill>
                <a:latin typeface="Amiri" pitchFamily="2" charset="-78"/>
                <a:cs typeface="Amiri" pitchFamily="2" charset="-78"/>
              </a:rPr>
              <a:t>وَ</a:t>
            </a:r>
            <a:pPr algn="l" indent="0" marL="0">
              <a:buNone/>
            </a:pPr>
            <a:r>
              <a:rPr lang="en-US" sz="1300" dirty="0">
                <a:solidFill>
                  <a:srgbClr val="1F2A37"/>
                </a:solidFill>
                <a:latin typeface="Calibri" pitchFamily="34" charset="0"/>
                <a:cs typeface="Amiri" pitchFamily="2" charset="-78"/>
              </a:rPr>
              <a:t> and </a:t>
            </a:r>
            <a:pPr algn="l" indent="0" marL="0">
              <a:buNone/>
            </a:pPr>
            <a:r>
              <a:rPr lang="ar-SA" altLang="en-US" sz="1700" dirty="0">
                <a:solidFill>
                  <a:srgbClr val="1F2A37"/>
                </a:solidFill>
                <a:latin typeface="Amiri" pitchFamily="2" charset="-78"/>
                <a:cs typeface="Amiri" pitchFamily="2" charset="-78"/>
              </a:rPr>
              <a:t>إِلَّا</a:t>
            </a:r>
            <a:pPr algn="l" indent="0" marL="0">
              <a:buNone/>
            </a:pPr>
            <a:r>
              <a:rPr lang="en-US" sz="1300" dirty="0">
                <a:solidFill>
                  <a:srgbClr val="1F2A37"/>
                </a:solidFill>
                <a:latin typeface="Calibri" pitchFamily="34" charset="0"/>
                <a:cs typeface="Amiri" pitchFamily="2" charset="-78"/>
              </a:rPr>
              <a:t> with the correct hour.</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Interpret selected 24-hour times.</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Extract start, finish and duration from a timetable.</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say o’clock, quarter past, half past and quarter to.</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say what time I wake up.</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tell the time to five minutes with </a:t>
            </a:r>
            <a:pPr algn="l" indent="0" marL="0">
              <a:buNone/>
            </a:pPr>
            <a:r>
              <a:rPr lang="ar-SA" altLang="en-US" sz="1700" b="1" dirty="0">
                <a:solidFill>
                  <a:srgbClr val="C9780A"/>
                </a:solidFill>
                <a:latin typeface="Amiri" pitchFamily="2" charset="-78"/>
                <a:cs typeface="Amiri" pitchFamily="2" charset="-78"/>
              </a:rPr>
              <a:t>وَ</a:t>
            </a:r>
            <a:pPr algn="l" indent="0" marL="0">
              <a:buNone/>
            </a:pPr>
            <a:r>
              <a:rPr lang="en-US" sz="1300" b="1" dirty="0">
                <a:solidFill>
                  <a:srgbClr val="C9780A"/>
                </a:solidFill>
                <a:latin typeface="Calibri" pitchFamily="34" charset="0"/>
                <a:cs typeface="Amiri" pitchFamily="2" charset="-78"/>
              </a:rPr>
              <a:t> and </a:t>
            </a:r>
            <a:pPr algn="l" indent="0" marL="0">
              <a:buNone/>
            </a:pPr>
            <a:r>
              <a:rPr lang="ar-SA" altLang="en-US" sz="1700" b="1" dirty="0">
                <a:solidFill>
                  <a:srgbClr val="C9780A"/>
                </a:solidFill>
                <a:latin typeface="Amiri" pitchFamily="2" charset="-78"/>
                <a:cs typeface="Amiri" pitchFamily="2" charset="-78"/>
              </a:rPr>
              <a:t>إِلَّا</a:t>
            </a:r>
            <a:pPr algn="l" indent="0" marL="0">
              <a:buNone/>
            </a:pPr>
            <a:r>
              <a:rPr lang="en-US" sz="1300" b="1" dirty="0">
                <a:solidFill>
                  <a:srgbClr val="C9780A"/>
                </a:solidFill>
                <a:latin typeface="Calibri" pitchFamily="34" charset="0"/>
                <a:cs typeface="Amiri" pitchFamily="2" charset="-78"/>
              </a:rPr>
              <a:t>.</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say when something begins and ends.</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read 24-hour times in a timetable.</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calculate and state duration.</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46</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cs typeface="Amiri" pitchFamily="2" charset="-78"/>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2" charset="-78"/>
                <a:cs typeface="Amiri" pitchFamily="2" charset="-78"/>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cs typeface="Amiri" pitchFamily="2" charset="-78"/>
              </a:rPr>
              <a:t>24 words from the website in 3 groups. Learn the CORE words first. Hear it → say it → see it → use it.</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1</a:t>
            </a:r>
            <a:endParaRPr lang="en-US" sz="900" dirty="0"/>
          </a:p>
          <a:p>
            <a:pPr indent="0" marL="0">
              <a:buNone/>
            </a:pPr>
            <a:r>
              <a:rPr lang="en-US" sz="1200" b="1" dirty="0">
                <a:solidFill>
                  <a:srgbClr val="FFFFFF"/>
                </a:solidFill>
                <a:latin typeface="Calibri" pitchFamily="34" charset="0"/>
                <a:cs typeface="Amiri" pitchFamily="2" charset="-78"/>
              </a:rPr>
              <a:t>Minutes past and to · 9</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2</a:t>
            </a:r>
            <a:endParaRPr lang="en-US" sz="900" dirty="0"/>
          </a:p>
          <a:p>
            <a:pPr indent="0" marL="0">
              <a:buNone/>
            </a:pPr>
            <a:r>
              <a:rPr lang="en-US" sz="1200" b="1" dirty="0">
                <a:solidFill>
                  <a:srgbClr val="FFFFFF"/>
                </a:solidFill>
                <a:latin typeface="Calibri" pitchFamily="34" charset="0"/>
                <a:cs typeface="Amiri" pitchFamily="2" charset="-78"/>
              </a:rPr>
              <a:t>Schedule language · 9</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3</a:t>
            </a:r>
            <a:endParaRPr lang="en-US" sz="900" dirty="0"/>
          </a:p>
          <a:p>
            <a:pPr indent="0" marL="0">
              <a:buNone/>
            </a:pPr>
            <a:r>
              <a:rPr lang="en-US" sz="1200" b="1" dirty="0">
                <a:solidFill>
                  <a:srgbClr val="FFFFFF"/>
                </a:solidFill>
                <a:latin typeface="Calibri" pitchFamily="34" charset="0"/>
                <a:cs typeface="Amiri" pitchFamily="2" charset="-78"/>
              </a:rPr>
              <a:t>24-hour time · 6</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cs typeface="Amiri" pitchFamily="2" charset="-78"/>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الوَقْتُ</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‎وقت‎ </a:t>
            </a:r>
            <a:pPr indent="0" marL="0">
              <a:buNone/>
            </a:pPr>
            <a:r>
              <a:rPr lang="en-US" sz="950" b="1" dirty="0">
                <a:solidFill>
                  <a:srgbClr val="2E8B57"/>
                </a:solidFill>
                <a:latin typeface="Calibri" pitchFamily="34" charset="0"/>
                <a:cs typeface="Amiri" pitchFamily="2" charset="-78"/>
              </a:rPr>
              <a:t> waqt · time</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دَقِيقَةٌ</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‎دقیقہ‎ </a:t>
            </a:r>
            <a:pPr indent="0" marL="0">
              <a:buNone/>
            </a:pPr>
            <a:r>
              <a:rPr lang="en-US" sz="950" b="1" dirty="0">
                <a:solidFill>
                  <a:srgbClr val="2E8B57"/>
                </a:solidFill>
                <a:latin typeface="Calibri" pitchFamily="34" charset="0"/>
                <a:cs typeface="Amiri" pitchFamily="2" charset="-78"/>
              </a:rPr>
              <a:t> daqīqa · minute</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السَّاعَةُ</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‎ساعت‎ </a:t>
            </a:r>
            <a:pPr indent="0" marL="0">
              <a:buNone/>
            </a:pPr>
            <a:r>
              <a:rPr lang="en-US" sz="950" b="1" dirty="0">
                <a:solidFill>
                  <a:srgbClr val="2E8B57"/>
                </a:solidFill>
                <a:latin typeface="Calibri" pitchFamily="34" charset="0"/>
                <a:cs typeface="Amiri" pitchFamily="2" charset="-78"/>
              </a:rPr>
              <a:t> sā‘at · hour, moment</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مُدَّةٌ</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‎مدت‎ </a:t>
            </a:r>
            <a:pPr indent="0" marL="0">
              <a:buNone/>
            </a:pPr>
            <a:r>
              <a:rPr lang="en-US" sz="950" b="1" dirty="0">
                <a:solidFill>
                  <a:srgbClr val="2E8B57"/>
                </a:solidFill>
                <a:latin typeface="Calibri" pitchFamily="34" charset="0"/>
                <a:cs typeface="Amiri" pitchFamily="2" charset="-78"/>
              </a:rPr>
              <a:t> muddat · period, duration</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حَوَالَيْ</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‎تقریباً‎ </a:t>
            </a:r>
            <a:pPr indent="0" marL="0">
              <a:buNone/>
            </a:pPr>
            <a:r>
              <a:rPr lang="en-US" sz="950" b="1" dirty="0">
                <a:solidFill>
                  <a:srgbClr val="2E8B57"/>
                </a:solidFill>
                <a:latin typeface="Calibri" pitchFamily="34" charset="0"/>
                <a:cs typeface="Amiri" pitchFamily="2" charset="-78"/>
              </a:rPr>
              <a:t> taqrīban · approximately (different word!)</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46</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D1-L02 · Telling the Time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Minutes past and to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D1-L02</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وَخَمْسُ دَقَائِقَ</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five past</a:t>
            </a:r>
            <a:endParaRPr lang="en-US" sz="1350" dirty="0"/>
          </a:p>
          <a:p>
            <a:pPr indent="0" marL="0">
              <a:buNone/>
            </a:pPr>
            <a:r>
              <a:rPr lang="en-US" sz="1100" i="1" dirty="0">
                <a:solidFill>
                  <a:srgbClr val="5A6472"/>
                </a:solidFill>
                <a:latin typeface="Calibri" pitchFamily="34" charset="0"/>
                <a:cs typeface="Amiri" pitchFamily="2" charset="-78"/>
              </a:rPr>
              <a:t>wa-kham-su da-qā-ʾi-qa</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وَعَشْرُ دَقَائِقَ</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ten past</a:t>
            </a:r>
            <a:endParaRPr lang="en-US" sz="1350" dirty="0"/>
          </a:p>
          <a:p>
            <a:pPr indent="0" marL="0">
              <a:buNone/>
            </a:pPr>
            <a:r>
              <a:rPr lang="en-US" sz="1100" i="1" dirty="0">
                <a:solidFill>
                  <a:srgbClr val="5A6472"/>
                </a:solidFill>
                <a:latin typeface="Calibri" pitchFamily="34" charset="0"/>
                <a:cs typeface="Amiri" pitchFamily="2" charset="-78"/>
              </a:rPr>
              <a:t>wa-ʿash-ru da-qā-ʾi-qa</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32" name="Shape 29"/>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4" name="Text 31"/>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وَالرُّبْعُ</a:t>
            </a:r>
            <a:endParaRPr lang="ar-SA" sz="3000" dirty="0"/>
          </a:p>
        </p:txBody>
      </p:sp>
      <p:sp>
        <p:nvSpPr>
          <p:cNvPr id="35" name="Text 32"/>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quarter past</a:t>
            </a:r>
            <a:endParaRPr lang="en-US" sz="1350" dirty="0"/>
          </a:p>
          <a:p>
            <a:pPr indent="0" marL="0">
              <a:buNone/>
            </a:pPr>
            <a:r>
              <a:rPr lang="en-US" sz="1100" i="1" dirty="0">
                <a:solidFill>
                  <a:srgbClr val="5A6472"/>
                </a:solidFill>
                <a:latin typeface="Calibri" pitchFamily="34" charset="0"/>
                <a:cs typeface="Amiri" pitchFamily="2" charset="-78"/>
              </a:rPr>
              <a:t>wālr-rub-ʿu</a:t>
            </a:r>
            <a:endParaRPr lang="en-US" sz="1350" dirty="0"/>
          </a:p>
        </p:txBody>
      </p:sp>
      <p:sp>
        <p:nvSpPr>
          <p:cNvPr id="36" name="Shape 3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8211312" y="4261104"/>
            <a:ext cx="310896" cy="310896"/>
          </a:xfrm>
          <a:prstGeom prst="ellipse">
            <a:avLst/>
          </a:prstGeom>
          <a:solidFill>
            <a:srgbClr val="F4F1EA"/>
          </a:solidFill>
          <a:ln w="12700">
            <a:solidFill>
              <a:srgbClr val="F4F1EA"/>
            </a:solidFill>
            <a:prstDash val="solid"/>
          </a:ln>
        </p:spPr>
      </p:sp>
      <p:sp>
        <p:nvSpPr>
          <p:cNvPr id="38" name="Text 3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39" name="Text 36"/>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وَالثُّلُثُ</a:t>
            </a:r>
            <a:endParaRPr lang="ar-SA" sz="3000" dirty="0"/>
          </a:p>
        </p:txBody>
      </p:sp>
      <p:sp>
        <p:nvSpPr>
          <p:cNvPr id="40" name="Text 37"/>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twenty past</a:t>
            </a:r>
            <a:endParaRPr lang="en-US" sz="1350" dirty="0"/>
          </a:p>
          <a:p>
            <a:pPr indent="0" marL="0">
              <a:buNone/>
            </a:pPr>
            <a:r>
              <a:rPr lang="en-US" sz="1100" i="1" dirty="0">
                <a:solidFill>
                  <a:srgbClr val="5A6472"/>
                </a:solidFill>
                <a:latin typeface="Calibri" pitchFamily="34" charset="0"/>
                <a:cs typeface="Amiri" pitchFamily="2" charset="-78"/>
              </a:rPr>
              <a:t>wālth-thu-lu-thu</a:t>
            </a:r>
            <a:endParaRPr lang="en-US" sz="1350" dirty="0"/>
          </a:p>
        </p:txBody>
      </p:sp>
      <p:sp>
        <p:nvSpPr>
          <p:cNvPr id="41" name="Shape 38"/>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4389120" y="4261104"/>
            <a:ext cx="310896" cy="310896"/>
          </a:xfrm>
          <a:prstGeom prst="ellipse">
            <a:avLst/>
          </a:prstGeom>
          <a:solidFill>
            <a:srgbClr val="F4F1EA"/>
          </a:solidFill>
          <a:ln w="12700">
            <a:solidFill>
              <a:srgbClr val="F4F1EA"/>
            </a:solidFill>
            <a:prstDash val="solid"/>
          </a:ln>
        </p:spPr>
      </p:sp>
      <p:sp>
        <p:nvSpPr>
          <p:cNvPr id="43" name="Text 40"/>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44" name="Shape 41"/>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6" name="Text 43"/>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وَالنِّصْفُ</a:t>
            </a:r>
            <a:endParaRPr lang="ar-SA" sz="3000" dirty="0"/>
          </a:p>
        </p:txBody>
      </p:sp>
      <p:sp>
        <p:nvSpPr>
          <p:cNvPr id="47" name="Text 44"/>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half past</a:t>
            </a:r>
            <a:endParaRPr lang="en-US" sz="1350" dirty="0"/>
          </a:p>
          <a:p>
            <a:pPr indent="0" marL="0">
              <a:buNone/>
            </a:pPr>
            <a:r>
              <a:rPr lang="en-US" sz="1100" i="1" dirty="0">
                <a:solidFill>
                  <a:srgbClr val="5A6472"/>
                </a:solidFill>
                <a:latin typeface="Calibri" pitchFamily="34" charset="0"/>
                <a:cs typeface="Amiri" pitchFamily="2" charset="-78"/>
              </a:rPr>
              <a:t>wāln-niṣ-fu</a:t>
            </a:r>
            <a:endParaRPr lang="en-US" sz="135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46</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D1-L02 · Telling the Time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Minutes past and to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D1-L02</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إِلَّا خَمْسَ دَقَائِقَ</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five to</a:t>
            </a:r>
            <a:endParaRPr lang="en-US" sz="1350" dirty="0"/>
          </a:p>
          <a:p>
            <a:pPr indent="0" marL="0">
              <a:buNone/>
            </a:pPr>
            <a:r>
              <a:rPr lang="en-US" sz="1100" i="1" dirty="0">
                <a:solidFill>
                  <a:srgbClr val="5A6472"/>
                </a:solidFill>
                <a:latin typeface="Calibri" pitchFamily="34" charset="0"/>
                <a:cs typeface="Amiri" pitchFamily="2" charset="-78"/>
              </a:rPr>
              <a:t>il-lā kham-sa da-qā-ʾi-qa</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7</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إِلَّا عَشْرَ دَقَائِقَ</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ten to</a:t>
            </a:r>
            <a:endParaRPr lang="en-US" sz="1350" dirty="0"/>
          </a:p>
          <a:p>
            <a:pPr indent="0" marL="0">
              <a:buNone/>
            </a:pPr>
            <a:r>
              <a:rPr lang="en-US" sz="1100" i="1" dirty="0">
                <a:solidFill>
                  <a:srgbClr val="5A6472"/>
                </a:solidFill>
                <a:latin typeface="Calibri" pitchFamily="34" charset="0"/>
                <a:cs typeface="Amiri" pitchFamily="2" charset="-78"/>
              </a:rPr>
              <a:t>il-lā ʿash-ra da-qā-ʾi-qa</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8</a:t>
            </a:r>
            <a:endParaRPr lang="en-US" sz="1000" dirty="0"/>
          </a:p>
        </p:txBody>
      </p:sp>
      <p:sp>
        <p:nvSpPr>
          <p:cNvPr id="30" name="Shape 27"/>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1" name="Text 28"/>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2" name="Text 29"/>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إِلَّا الرُّبْعَ</a:t>
            </a:r>
            <a:endParaRPr lang="ar-SA" sz="3000" dirty="0"/>
          </a:p>
        </p:txBody>
      </p:sp>
      <p:sp>
        <p:nvSpPr>
          <p:cNvPr id="33" name="Text 30"/>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quarter to</a:t>
            </a:r>
            <a:endParaRPr lang="en-US" sz="1350" dirty="0"/>
          </a:p>
          <a:p>
            <a:pPr indent="0" marL="0">
              <a:buNone/>
            </a:pPr>
            <a:r>
              <a:rPr lang="en-US" sz="1100" i="1" dirty="0">
                <a:solidFill>
                  <a:srgbClr val="5A6472"/>
                </a:solidFill>
                <a:latin typeface="Calibri" pitchFamily="34" charset="0"/>
                <a:cs typeface="Amiri" pitchFamily="2" charset="-78"/>
              </a:rPr>
              <a:t>il-lā ar-rub-ʿa</a:t>
            </a:r>
            <a:endParaRPr lang="en-US" sz="1350" dirty="0"/>
          </a:p>
        </p:txBody>
      </p:sp>
      <p:sp>
        <p:nvSpPr>
          <p:cNvPr id="34" name="Shape 3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8211312" y="4261104"/>
            <a:ext cx="310896" cy="310896"/>
          </a:xfrm>
          <a:prstGeom prst="ellipse">
            <a:avLst/>
          </a:prstGeom>
          <a:solidFill>
            <a:srgbClr val="F4F1EA"/>
          </a:solidFill>
          <a:ln w="12700">
            <a:solidFill>
              <a:srgbClr val="F4F1EA"/>
            </a:solidFill>
            <a:prstDash val="solid"/>
          </a:ln>
        </p:spPr>
      </p:sp>
      <p:sp>
        <p:nvSpPr>
          <p:cNvPr id="36" name="Text 3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9</a:t>
            </a:r>
            <a:endParaRPr lang="en-US" sz="1000" dirty="0"/>
          </a:p>
        </p:txBody>
      </p:sp>
      <p:sp>
        <p:nvSpPr>
          <p:cNvPr id="37" name="Text 34"/>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إِلَّا الثُّلُثَ</a:t>
            </a:r>
            <a:endParaRPr lang="ar-SA" sz="3000" dirty="0"/>
          </a:p>
        </p:txBody>
      </p:sp>
      <p:sp>
        <p:nvSpPr>
          <p:cNvPr id="38" name="Text 35"/>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twenty to</a:t>
            </a:r>
            <a:endParaRPr lang="en-US" sz="1350" dirty="0"/>
          </a:p>
          <a:p>
            <a:pPr indent="0" marL="0">
              <a:buNone/>
            </a:pPr>
            <a:r>
              <a:rPr lang="en-US" sz="1100" i="1" dirty="0">
                <a:solidFill>
                  <a:srgbClr val="5A6472"/>
                </a:solidFill>
                <a:latin typeface="Calibri" pitchFamily="34" charset="0"/>
                <a:cs typeface="Amiri" pitchFamily="2" charset="-78"/>
              </a:rPr>
              <a:t>il-lā ath-thu-lu-tha</a:t>
            </a:r>
            <a:endParaRPr lang="en-US" sz="135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46</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D1-L02 · Telling the Time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Schedule language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D1-L02</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10</a:t>
            </a:r>
            <a:endParaRPr lang="en-US" sz="1000" dirty="0"/>
          </a:p>
        </p:txBody>
      </p:sp>
      <p:sp>
        <p:nvSpPr>
          <p:cNvPr id="18" name="Shape 15"/>
          <p:cNvSpPr/>
          <p:nvPr/>
        </p:nvSpPr>
        <p:spPr>
          <a:xfrm>
            <a:off x="8604504" y="1938528"/>
            <a:ext cx="1020470"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he · she · I</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يَبْدَأُ</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begins</a:t>
            </a:r>
            <a:endParaRPr lang="en-US" sz="1350" dirty="0"/>
          </a:p>
          <a:p>
            <a:pPr indent="0" marL="0">
              <a:buNone/>
            </a:pPr>
            <a:r>
              <a:rPr lang="en-US" sz="1100" i="1" dirty="0">
                <a:solidFill>
                  <a:srgbClr val="5A6472"/>
                </a:solidFill>
                <a:latin typeface="Calibri" pitchFamily="34" charset="0"/>
                <a:cs typeface="Amiri" pitchFamily="2" charset="-78"/>
              </a:rPr>
              <a:t>yab-da-ʾu</a:t>
            </a:r>
            <a:endParaRPr lang="en-US" sz="1350" dirty="0"/>
          </a:p>
        </p:txBody>
      </p:sp>
      <p:sp>
        <p:nvSpPr>
          <p:cNvPr id="24" name="Shape 21"/>
          <p:cNvSpPr/>
          <p:nvPr/>
        </p:nvSpPr>
        <p:spPr>
          <a:xfrm>
            <a:off x="10543032" y="3438144"/>
            <a:ext cx="1060704"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597896"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he / it</a:t>
            </a:r>
            <a:endParaRPr lang="en-US" sz="700" dirty="0"/>
          </a:p>
        </p:txBody>
      </p:sp>
      <p:sp>
        <p:nvSpPr>
          <p:cNvPr id="26" name="Text 23"/>
          <p:cNvSpPr txBox="1"/>
          <p:nvPr/>
        </p:nvSpPr>
        <p:spPr>
          <a:xfrm>
            <a:off x="10588752"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يَبْدَأُ</a:t>
            </a:r>
            <a:endParaRPr lang="ar-SA" sz="1350" dirty="0"/>
          </a:p>
        </p:txBody>
      </p:sp>
      <p:sp>
        <p:nvSpPr>
          <p:cNvPr id="27" name="Shape 24"/>
          <p:cNvSpPr/>
          <p:nvPr/>
        </p:nvSpPr>
        <p:spPr>
          <a:xfrm>
            <a:off x="9390888" y="3438144"/>
            <a:ext cx="1060704"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9445752"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she / it</a:t>
            </a:r>
            <a:endParaRPr lang="en-US" sz="700" dirty="0"/>
          </a:p>
        </p:txBody>
      </p:sp>
      <p:sp>
        <p:nvSpPr>
          <p:cNvPr id="29" name="Text 26"/>
          <p:cNvSpPr txBox="1"/>
          <p:nvPr/>
        </p:nvSpPr>
        <p:spPr>
          <a:xfrm>
            <a:off x="9436608"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تَبْدَأُ</a:t>
            </a:r>
            <a:endParaRPr lang="ar-SA" sz="1350" dirty="0"/>
          </a:p>
        </p:txBody>
      </p:sp>
      <p:sp>
        <p:nvSpPr>
          <p:cNvPr id="30" name="Shape 27"/>
          <p:cNvSpPr/>
          <p:nvPr/>
        </p:nvSpPr>
        <p:spPr>
          <a:xfrm>
            <a:off x="8238744" y="3438144"/>
            <a:ext cx="1060704" cy="438912"/>
          </a:xfrm>
          <a:prstGeom prst="roundRect">
            <a:avLst>
              <a:gd name="adj" fmla="val 10417"/>
            </a:avLst>
          </a:prstGeom>
          <a:solidFill>
            <a:srgbClr val="F4F1EA"/>
          </a:solidFill>
          <a:ln w="9525">
            <a:solidFill>
              <a:srgbClr val="F4F1EA"/>
            </a:solidFill>
            <a:prstDash val="solid"/>
          </a:ln>
        </p:spPr>
      </p:sp>
      <p:sp>
        <p:nvSpPr>
          <p:cNvPr id="31" name="Text 28"/>
          <p:cNvSpPr txBox="1"/>
          <p:nvPr/>
        </p:nvSpPr>
        <p:spPr>
          <a:xfrm>
            <a:off x="829360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32" name="Text 29"/>
          <p:cNvSpPr txBox="1"/>
          <p:nvPr/>
        </p:nvSpPr>
        <p:spPr>
          <a:xfrm>
            <a:off x="828446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أَبْدَأُ</a:t>
            </a:r>
            <a:endParaRPr lang="ar-SA" sz="1500" dirty="0"/>
          </a:p>
        </p:txBody>
      </p:sp>
      <p:sp>
        <p:nvSpPr>
          <p:cNvPr id="33" name="Shape 3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4389120"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11</a:t>
            </a:r>
            <a:endParaRPr lang="en-US" sz="1000" dirty="0"/>
          </a:p>
        </p:txBody>
      </p:sp>
      <p:sp>
        <p:nvSpPr>
          <p:cNvPr id="36" name="Shape 33"/>
          <p:cNvSpPr/>
          <p:nvPr/>
        </p:nvSpPr>
        <p:spPr>
          <a:xfrm>
            <a:off x="4782312" y="1938528"/>
            <a:ext cx="1020470" cy="256032"/>
          </a:xfrm>
          <a:prstGeom prst="roundRect">
            <a:avLst>
              <a:gd name="adj" fmla="val 50000"/>
            </a:avLst>
          </a:prstGeom>
          <a:solidFill>
            <a:srgbClr val="EFE7D2"/>
          </a:solidFill>
          <a:ln w="12700">
            <a:solidFill>
              <a:srgbClr val="EFE7D2"/>
            </a:solidFill>
            <a:prstDash val="solid"/>
          </a:ln>
        </p:spPr>
      </p:sp>
      <p:sp>
        <p:nvSpPr>
          <p:cNvPr id="37" name="Text 34"/>
          <p:cNvSpPr txBox="1"/>
          <p:nvPr/>
        </p:nvSpPr>
        <p:spPr>
          <a:xfrm>
            <a:off x="4782312"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he · she · I</a:t>
            </a:r>
            <a:endParaRPr lang="en-US" sz="800" dirty="0"/>
          </a:p>
        </p:txBody>
      </p:sp>
      <p:sp>
        <p:nvSpPr>
          <p:cNvPr id="38" name="Shape 35"/>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9" name="Text 36"/>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0" name="Text 37"/>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يَنْتَهِي</a:t>
            </a:r>
            <a:endParaRPr lang="ar-SA" sz="3000" dirty="0"/>
          </a:p>
        </p:txBody>
      </p:sp>
      <p:sp>
        <p:nvSpPr>
          <p:cNvPr id="41" name="Text 38"/>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ends</a:t>
            </a:r>
            <a:endParaRPr lang="en-US" sz="1350" dirty="0"/>
          </a:p>
          <a:p>
            <a:pPr indent="0" marL="0">
              <a:buNone/>
            </a:pPr>
            <a:r>
              <a:rPr lang="en-US" sz="1100" i="1" dirty="0">
                <a:solidFill>
                  <a:srgbClr val="5A6472"/>
                </a:solidFill>
                <a:latin typeface="Calibri" pitchFamily="34" charset="0"/>
                <a:cs typeface="Amiri" pitchFamily="2" charset="-78"/>
              </a:rPr>
              <a:t>yan-ta-hī</a:t>
            </a:r>
            <a:endParaRPr lang="en-US" sz="1350" dirty="0"/>
          </a:p>
        </p:txBody>
      </p:sp>
      <p:sp>
        <p:nvSpPr>
          <p:cNvPr id="42" name="Shape 39"/>
          <p:cNvSpPr/>
          <p:nvPr/>
        </p:nvSpPr>
        <p:spPr>
          <a:xfrm>
            <a:off x="6720840" y="3438144"/>
            <a:ext cx="1060704"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6775704"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he / it</a:t>
            </a:r>
            <a:endParaRPr lang="en-US" sz="700" dirty="0"/>
          </a:p>
        </p:txBody>
      </p:sp>
      <p:sp>
        <p:nvSpPr>
          <p:cNvPr id="44" name="Text 41"/>
          <p:cNvSpPr txBox="1"/>
          <p:nvPr/>
        </p:nvSpPr>
        <p:spPr>
          <a:xfrm>
            <a:off x="6766560"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يَنْتَهِي</a:t>
            </a:r>
            <a:endParaRPr lang="ar-SA" sz="1350" dirty="0"/>
          </a:p>
        </p:txBody>
      </p:sp>
      <p:sp>
        <p:nvSpPr>
          <p:cNvPr id="45" name="Shape 42"/>
          <p:cNvSpPr/>
          <p:nvPr/>
        </p:nvSpPr>
        <p:spPr>
          <a:xfrm>
            <a:off x="5568696" y="3438144"/>
            <a:ext cx="1060704" cy="438912"/>
          </a:xfrm>
          <a:prstGeom prst="roundRect">
            <a:avLst>
              <a:gd name="adj" fmla="val 10417"/>
            </a:avLst>
          </a:prstGeom>
          <a:solidFill>
            <a:srgbClr val="F4F1EA"/>
          </a:solidFill>
          <a:ln w="9525">
            <a:solidFill>
              <a:srgbClr val="F4F1EA"/>
            </a:solidFill>
            <a:prstDash val="solid"/>
          </a:ln>
        </p:spPr>
      </p:sp>
      <p:sp>
        <p:nvSpPr>
          <p:cNvPr id="46" name="Text 43"/>
          <p:cNvSpPr txBox="1"/>
          <p:nvPr/>
        </p:nvSpPr>
        <p:spPr>
          <a:xfrm>
            <a:off x="5623560"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she / it</a:t>
            </a:r>
            <a:endParaRPr lang="en-US" sz="700" dirty="0"/>
          </a:p>
        </p:txBody>
      </p:sp>
      <p:sp>
        <p:nvSpPr>
          <p:cNvPr id="47" name="Text 44"/>
          <p:cNvSpPr txBox="1"/>
          <p:nvPr/>
        </p:nvSpPr>
        <p:spPr>
          <a:xfrm>
            <a:off x="5614416"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تَنْتَهِي</a:t>
            </a:r>
            <a:endParaRPr lang="ar-SA" sz="1350" dirty="0"/>
          </a:p>
        </p:txBody>
      </p:sp>
      <p:sp>
        <p:nvSpPr>
          <p:cNvPr id="48" name="Shape 45"/>
          <p:cNvSpPr/>
          <p:nvPr/>
        </p:nvSpPr>
        <p:spPr>
          <a:xfrm>
            <a:off x="4416552" y="3438144"/>
            <a:ext cx="1060704" cy="438912"/>
          </a:xfrm>
          <a:prstGeom prst="roundRect">
            <a:avLst>
              <a:gd name="adj" fmla="val 10417"/>
            </a:avLst>
          </a:prstGeom>
          <a:solidFill>
            <a:srgbClr val="F4F1EA"/>
          </a:solidFill>
          <a:ln w="9525">
            <a:solidFill>
              <a:srgbClr val="F4F1EA"/>
            </a:solidFill>
            <a:prstDash val="solid"/>
          </a:ln>
        </p:spPr>
      </p:sp>
      <p:sp>
        <p:nvSpPr>
          <p:cNvPr id="49" name="Text 46"/>
          <p:cNvSpPr txBox="1"/>
          <p:nvPr/>
        </p:nvSpPr>
        <p:spPr>
          <a:xfrm>
            <a:off x="447141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50" name="Text 47"/>
          <p:cNvSpPr txBox="1"/>
          <p:nvPr/>
        </p:nvSpPr>
        <p:spPr>
          <a:xfrm>
            <a:off x="446227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أَنْتَهِي</a:t>
            </a:r>
            <a:endParaRPr lang="ar-SA" sz="1500" dirty="0"/>
          </a:p>
        </p:txBody>
      </p:sp>
      <p:sp>
        <p:nvSpPr>
          <p:cNvPr id="51" name="Shape 4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2" name="Shape 49"/>
          <p:cNvSpPr/>
          <p:nvPr/>
        </p:nvSpPr>
        <p:spPr>
          <a:xfrm>
            <a:off x="566928" y="1920240"/>
            <a:ext cx="310896" cy="310896"/>
          </a:xfrm>
          <a:prstGeom prst="ellipse">
            <a:avLst/>
          </a:prstGeom>
          <a:solidFill>
            <a:srgbClr val="F4F1EA"/>
          </a:solidFill>
          <a:ln w="12700">
            <a:solidFill>
              <a:srgbClr val="F4F1EA"/>
            </a:solidFill>
            <a:prstDash val="solid"/>
          </a:ln>
        </p:spPr>
      </p:sp>
      <p:sp>
        <p:nvSpPr>
          <p:cNvPr id="53" name="Text 5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12</a:t>
            </a:r>
            <a:endParaRPr lang="en-US" sz="1000" dirty="0"/>
          </a:p>
        </p:txBody>
      </p:sp>
      <p:sp>
        <p:nvSpPr>
          <p:cNvPr id="54" name="Shape 51"/>
          <p:cNvSpPr/>
          <p:nvPr/>
        </p:nvSpPr>
        <p:spPr>
          <a:xfrm>
            <a:off x="960120" y="1938528"/>
            <a:ext cx="771754" cy="256032"/>
          </a:xfrm>
          <a:prstGeom prst="roundRect">
            <a:avLst>
              <a:gd name="adj" fmla="val 50000"/>
            </a:avLst>
          </a:prstGeom>
          <a:solidFill>
            <a:srgbClr val="EFE7D2"/>
          </a:solidFill>
          <a:ln w="12700">
            <a:solidFill>
              <a:srgbClr val="EFE7D2"/>
            </a:solidFill>
            <a:prstDash val="solid"/>
          </a:ln>
        </p:spPr>
      </p:sp>
      <p:sp>
        <p:nvSpPr>
          <p:cNvPr id="55" name="Text 52"/>
          <p:cNvSpPr txBox="1"/>
          <p:nvPr/>
        </p:nvSpPr>
        <p:spPr>
          <a:xfrm>
            <a:off x="960120" y="1938528"/>
            <a:ext cx="77175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he · she</a:t>
            </a:r>
            <a:endParaRPr lang="en-US" sz="800" dirty="0"/>
          </a:p>
        </p:txBody>
      </p:sp>
      <p:sp>
        <p:nvSpPr>
          <p:cNvPr id="56" name="Text 53"/>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يَسْتَمِرُّ</a:t>
            </a:r>
            <a:endParaRPr lang="ar-SA" sz="3000" dirty="0"/>
          </a:p>
        </p:txBody>
      </p:sp>
      <p:sp>
        <p:nvSpPr>
          <p:cNvPr id="57" name="Text 54"/>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continues / lasts</a:t>
            </a:r>
            <a:endParaRPr lang="en-US" sz="1350" dirty="0"/>
          </a:p>
          <a:p>
            <a:pPr indent="0" marL="0">
              <a:buNone/>
            </a:pPr>
            <a:r>
              <a:rPr lang="en-US" sz="1100" i="1" dirty="0">
                <a:solidFill>
                  <a:srgbClr val="5A6472"/>
                </a:solidFill>
                <a:latin typeface="Calibri" pitchFamily="34" charset="0"/>
                <a:cs typeface="Amiri" pitchFamily="2" charset="-78"/>
              </a:rPr>
              <a:t>yas-ta-mir-ru</a:t>
            </a:r>
            <a:endParaRPr lang="en-US" sz="1350" dirty="0"/>
          </a:p>
        </p:txBody>
      </p:sp>
      <p:sp>
        <p:nvSpPr>
          <p:cNvPr id="58" name="Shape 55"/>
          <p:cNvSpPr/>
          <p:nvPr/>
        </p:nvSpPr>
        <p:spPr>
          <a:xfrm>
            <a:off x="2322576" y="3438144"/>
            <a:ext cx="1636776" cy="438912"/>
          </a:xfrm>
          <a:prstGeom prst="roundRect">
            <a:avLst>
              <a:gd name="adj" fmla="val 10417"/>
            </a:avLst>
          </a:prstGeom>
          <a:solidFill>
            <a:srgbClr val="F4F1EA"/>
          </a:solidFill>
          <a:ln w="9525">
            <a:solidFill>
              <a:srgbClr val="F4F1EA"/>
            </a:solidFill>
            <a:prstDash val="solid"/>
          </a:ln>
        </p:spPr>
      </p:sp>
      <p:sp>
        <p:nvSpPr>
          <p:cNvPr id="59" name="Text 56"/>
          <p:cNvSpPr txBox="1"/>
          <p:nvPr/>
        </p:nvSpPr>
        <p:spPr>
          <a:xfrm>
            <a:off x="2377440"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he / it</a:t>
            </a:r>
            <a:endParaRPr lang="en-US" sz="700" dirty="0"/>
          </a:p>
        </p:txBody>
      </p:sp>
      <p:sp>
        <p:nvSpPr>
          <p:cNvPr id="60" name="Text 57"/>
          <p:cNvSpPr txBox="1"/>
          <p:nvPr/>
        </p:nvSpPr>
        <p:spPr>
          <a:xfrm>
            <a:off x="2368296"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يَسْتَمِرُّ</a:t>
            </a:r>
            <a:endParaRPr lang="ar-SA" sz="1350" dirty="0"/>
          </a:p>
        </p:txBody>
      </p:sp>
      <p:sp>
        <p:nvSpPr>
          <p:cNvPr id="61" name="Shape 58"/>
          <p:cNvSpPr/>
          <p:nvPr/>
        </p:nvSpPr>
        <p:spPr>
          <a:xfrm>
            <a:off x="594360" y="3438144"/>
            <a:ext cx="1636776" cy="438912"/>
          </a:xfrm>
          <a:prstGeom prst="roundRect">
            <a:avLst>
              <a:gd name="adj" fmla="val 10417"/>
            </a:avLst>
          </a:prstGeom>
          <a:solidFill>
            <a:srgbClr val="F4F1EA"/>
          </a:solidFill>
          <a:ln w="9525">
            <a:solidFill>
              <a:srgbClr val="F4F1EA"/>
            </a:solidFill>
            <a:prstDash val="solid"/>
          </a:ln>
        </p:spPr>
      </p:sp>
      <p:sp>
        <p:nvSpPr>
          <p:cNvPr id="62" name="Text 59"/>
          <p:cNvSpPr txBox="1"/>
          <p:nvPr/>
        </p:nvSpPr>
        <p:spPr>
          <a:xfrm>
            <a:off x="649224"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she / it</a:t>
            </a:r>
            <a:endParaRPr lang="en-US" sz="700" dirty="0"/>
          </a:p>
        </p:txBody>
      </p:sp>
      <p:sp>
        <p:nvSpPr>
          <p:cNvPr id="63" name="Text 60"/>
          <p:cNvSpPr txBox="1"/>
          <p:nvPr/>
        </p:nvSpPr>
        <p:spPr>
          <a:xfrm>
            <a:off x="640080"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تَسْتَمِرُّ</a:t>
            </a:r>
            <a:endParaRPr lang="ar-SA" sz="1350" dirty="0"/>
          </a:p>
        </p:txBody>
      </p:sp>
      <p:sp>
        <p:nvSpPr>
          <p:cNvPr id="64" name="Shape 6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5" name="Shape 62"/>
          <p:cNvSpPr/>
          <p:nvPr/>
        </p:nvSpPr>
        <p:spPr>
          <a:xfrm>
            <a:off x="8211312" y="4261104"/>
            <a:ext cx="310896" cy="310896"/>
          </a:xfrm>
          <a:prstGeom prst="ellipse">
            <a:avLst/>
          </a:prstGeom>
          <a:solidFill>
            <a:srgbClr val="F4F1EA"/>
          </a:solidFill>
          <a:ln w="12700">
            <a:solidFill>
              <a:srgbClr val="F4F1EA"/>
            </a:solidFill>
            <a:prstDash val="solid"/>
          </a:ln>
        </p:spPr>
      </p:sp>
      <p:sp>
        <p:nvSpPr>
          <p:cNvPr id="66" name="Text 6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13</a:t>
            </a:r>
            <a:endParaRPr lang="en-US" sz="1000" dirty="0"/>
          </a:p>
        </p:txBody>
      </p:sp>
      <p:sp>
        <p:nvSpPr>
          <p:cNvPr id="67" name="Shape 64"/>
          <p:cNvSpPr/>
          <p:nvPr/>
        </p:nvSpPr>
        <p:spPr>
          <a:xfrm>
            <a:off x="8604504" y="4279392"/>
            <a:ext cx="709574" cy="256032"/>
          </a:xfrm>
          <a:prstGeom prst="roundRect">
            <a:avLst>
              <a:gd name="adj" fmla="val 50000"/>
            </a:avLst>
          </a:prstGeom>
          <a:solidFill>
            <a:srgbClr val="EFE7D2"/>
          </a:solidFill>
          <a:ln w="12700">
            <a:solidFill>
              <a:srgbClr val="EFE7D2"/>
            </a:solidFill>
            <a:prstDash val="solid"/>
          </a:ln>
        </p:spPr>
      </p:sp>
      <p:sp>
        <p:nvSpPr>
          <p:cNvPr id="68" name="Text 65"/>
          <p:cNvSpPr txBox="1"/>
          <p:nvPr/>
        </p:nvSpPr>
        <p:spPr>
          <a:xfrm>
            <a:off x="8604504"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69" name="Text 66"/>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المَوْعِدُ</a:t>
            </a:r>
            <a:endParaRPr lang="ar-SA" sz="3000" dirty="0"/>
          </a:p>
        </p:txBody>
      </p:sp>
      <p:sp>
        <p:nvSpPr>
          <p:cNvPr id="70" name="Text 67"/>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appointment / scheduled time</a:t>
            </a:r>
            <a:endParaRPr lang="en-US" sz="1350" dirty="0"/>
          </a:p>
          <a:p>
            <a:pPr indent="0" marL="0">
              <a:buNone/>
            </a:pPr>
            <a:r>
              <a:rPr lang="en-US" sz="1100" i="1" dirty="0">
                <a:solidFill>
                  <a:srgbClr val="5A6472"/>
                </a:solidFill>
                <a:latin typeface="Calibri" pitchFamily="34" charset="0"/>
                <a:cs typeface="Amiri" pitchFamily="2" charset="-78"/>
              </a:rPr>
              <a:t>al-maw-ʿi-du</a:t>
            </a:r>
            <a:endParaRPr lang="en-US" sz="1350" dirty="0"/>
          </a:p>
        </p:txBody>
      </p:sp>
      <p:sp>
        <p:nvSpPr>
          <p:cNvPr id="71" name="Shape 68"/>
          <p:cNvSpPr/>
          <p:nvPr/>
        </p:nvSpPr>
        <p:spPr>
          <a:xfrm>
            <a:off x="9966960" y="5779008"/>
            <a:ext cx="1636776" cy="438912"/>
          </a:xfrm>
          <a:prstGeom prst="roundRect">
            <a:avLst>
              <a:gd name="adj" fmla="val 10417"/>
            </a:avLst>
          </a:prstGeom>
          <a:solidFill>
            <a:srgbClr val="F4F1EA"/>
          </a:solidFill>
          <a:ln w="9525">
            <a:solidFill>
              <a:srgbClr val="F4F1EA"/>
            </a:solidFill>
            <a:prstDash val="solid"/>
          </a:ln>
        </p:spPr>
      </p:sp>
      <p:sp>
        <p:nvSpPr>
          <p:cNvPr id="72" name="Text 69"/>
          <p:cNvSpPr txBox="1"/>
          <p:nvPr/>
        </p:nvSpPr>
        <p:spPr>
          <a:xfrm>
            <a:off x="10021824"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one</a:t>
            </a:r>
            <a:endParaRPr lang="en-US" sz="750" dirty="0"/>
          </a:p>
        </p:txBody>
      </p:sp>
      <p:sp>
        <p:nvSpPr>
          <p:cNvPr id="73" name="Text 70"/>
          <p:cNvSpPr txBox="1"/>
          <p:nvPr/>
        </p:nvSpPr>
        <p:spPr>
          <a:xfrm>
            <a:off x="10012680"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مَوْعِدٌ</a:t>
            </a:r>
            <a:endParaRPr lang="ar-SA" sz="1500" dirty="0"/>
          </a:p>
        </p:txBody>
      </p:sp>
      <p:sp>
        <p:nvSpPr>
          <p:cNvPr id="74" name="Shape 71"/>
          <p:cNvSpPr/>
          <p:nvPr/>
        </p:nvSpPr>
        <p:spPr>
          <a:xfrm>
            <a:off x="8238744" y="5779008"/>
            <a:ext cx="1636776" cy="438912"/>
          </a:xfrm>
          <a:prstGeom prst="roundRect">
            <a:avLst>
              <a:gd name="adj" fmla="val 10417"/>
            </a:avLst>
          </a:prstGeom>
          <a:solidFill>
            <a:srgbClr val="F4F1EA"/>
          </a:solidFill>
          <a:ln w="9525">
            <a:solidFill>
              <a:srgbClr val="F4F1EA"/>
            </a:solidFill>
            <a:prstDash val="solid"/>
          </a:ln>
        </p:spPr>
      </p:sp>
      <p:sp>
        <p:nvSpPr>
          <p:cNvPr id="75" name="Text 72"/>
          <p:cNvSpPr txBox="1"/>
          <p:nvPr/>
        </p:nvSpPr>
        <p:spPr>
          <a:xfrm>
            <a:off x="8293608"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76" name="Text 73"/>
          <p:cNvSpPr txBox="1"/>
          <p:nvPr/>
        </p:nvSpPr>
        <p:spPr>
          <a:xfrm>
            <a:off x="8284464"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مَوَاعِيدُ</a:t>
            </a:r>
            <a:endParaRPr lang="ar-SA" sz="1500" dirty="0"/>
          </a:p>
        </p:txBody>
      </p:sp>
      <p:sp>
        <p:nvSpPr>
          <p:cNvPr id="77" name="Shape 7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4389120" y="4261104"/>
            <a:ext cx="310896" cy="310896"/>
          </a:xfrm>
          <a:prstGeom prst="ellipse">
            <a:avLst/>
          </a:prstGeom>
          <a:solidFill>
            <a:srgbClr val="F4F1EA"/>
          </a:solidFill>
          <a:ln w="12700">
            <a:solidFill>
              <a:srgbClr val="F4F1EA"/>
            </a:solidFill>
            <a:prstDash val="solid"/>
          </a:ln>
        </p:spPr>
      </p:sp>
      <p:sp>
        <p:nvSpPr>
          <p:cNvPr id="79" name="Text 7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14</a:t>
            </a:r>
            <a:endParaRPr lang="en-US" sz="1000" dirty="0"/>
          </a:p>
        </p:txBody>
      </p:sp>
      <p:sp>
        <p:nvSpPr>
          <p:cNvPr id="80" name="Text 77"/>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فِي تَمَامِ</a:t>
            </a:r>
            <a:endParaRPr lang="ar-SA" sz="3000" dirty="0"/>
          </a:p>
        </p:txBody>
      </p:sp>
      <p:sp>
        <p:nvSpPr>
          <p:cNvPr id="81" name="Text 78"/>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at exactly</a:t>
            </a:r>
            <a:endParaRPr lang="en-US" sz="1350" dirty="0"/>
          </a:p>
          <a:p>
            <a:pPr indent="0" marL="0">
              <a:buNone/>
            </a:pPr>
            <a:r>
              <a:rPr lang="en-US" sz="1100" i="1" dirty="0">
                <a:solidFill>
                  <a:srgbClr val="5A6472"/>
                </a:solidFill>
                <a:latin typeface="Calibri" pitchFamily="34" charset="0"/>
                <a:cs typeface="Amiri" pitchFamily="2" charset="-78"/>
              </a:rPr>
              <a:t>fī ta-mā-mi</a:t>
            </a:r>
            <a:endParaRPr lang="en-US" sz="1350" dirty="0"/>
          </a:p>
        </p:txBody>
      </p:sp>
      <p:sp>
        <p:nvSpPr>
          <p:cNvPr id="82" name="Text 7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46</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D1-L02 · Telling the Time</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Schedule language (2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D1-L02</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15</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حَوَالَيْ</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at about / approximately</a:t>
            </a:r>
            <a:endParaRPr lang="en-US" sz="1350" dirty="0"/>
          </a:p>
          <a:p>
            <a:pPr indent="0" marL="0">
              <a:buNone/>
            </a:pPr>
            <a:r>
              <a:rPr lang="en-US" sz="1100" i="1" dirty="0">
                <a:solidFill>
                  <a:srgbClr val="5A6472"/>
                </a:solidFill>
                <a:latin typeface="Calibri" pitchFamily="34" charset="0"/>
                <a:cs typeface="Amiri" pitchFamily="2" charset="-78"/>
              </a:rPr>
              <a:t>ḥa-wā-lay</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16</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مِنَ السَّاعَةِ ... إِلَى ...</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from ... until ...</a:t>
            </a:r>
            <a:endParaRPr lang="en-US" sz="1350" dirty="0"/>
          </a:p>
          <a:p>
            <a:pPr indent="0" marL="0">
              <a:buNone/>
            </a:pPr>
            <a:r>
              <a:rPr lang="en-US" sz="1100" i="1" dirty="0">
                <a:solidFill>
                  <a:srgbClr val="5A6472"/>
                </a:solidFill>
                <a:latin typeface="Calibri" pitchFamily="34" charset="0"/>
                <a:cs typeface="Amiri" pitchFamily="2" charset="-78"/>
              </a:rPr>
              <a:t>mi-na as-sā-ʿa-ti ... i-lā ...</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17</a:t>
            </a:r>
            <a:endParaRPr lang="en-US" sz="1000" dirty="0"/>
          </a:p>
        </p:txBody>
      </p:sp>
      <p:sp>
        <p:nvSpPr>
          <p:cNvPr id="30" name="Shape 27"/>
          <p:cNvSpPr/>
          <p:nvPr/>
        </p:nvSpPr>
        <p:spPr>
          <a:xfrm>
            <a:off x="960120" y="1938528"/>
            <a:ext cx="709574" cy="256032"/>
          </a:xfrm>
          <a:prstGeom prst="roundRect">
            <a:avLst>
              <a:gd name="adj" fmla="val 50000"/>
            </a:avLst>
          </a:prstGeom>
          <a:solidFill>
            <a:srgbClr val="EFE7D2"/>
          </a:solidFill>
          <a:ln w="12700">
            <a:solidFill>
              <a:srgbClr val="EFE7D2"/>
            </a:solidFill>
            <a:prstDash val="solid"/>
          </a:ln>
        </p:spPr>
      </p:sp>
      <p:sp>
        <p:nvSpPr>
          <p:cNvPr id="31" name="Text 28"/>
          <p:cNvSpPr txBox="1"/>
          <p:nvPr/>
        </p:nvSpPr>
        <p:spPr>
          <a:xfrm>
            <a:off x="960120"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32" name="Text 29"/>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مُدَّةٌ</a:t>
            </a:r>
            <a:endParaRPr lang="ar-SA" sz="3000" dirty="0"/>
          </a:p>
        </p:txBody>
      </p:sp>
      <p:sp>
        <p:nvSpPr>
          <p:cNvPr id="33" name="Text 30"/>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duration</a:t>
            </a:r>
            <a:endParaRPr lang="en-US" sz="1350" dirty="0"/>
          </a:p>
          <a:p>
            <a:pPr indent="0" marL="0">
              <a:buNone/>
            </a:pPr>
            <a:r>
              <a:rPr lang="en-US" sz="1100" i="1" dirty="0">
                <a:solidFill>
                  <a:srgbClr val="5A6472"/>
                </a:solidFill>
                <a:latin typeface="Calibri" pitchFamily="34" charset="0"/>
                <a:cs typeface="Amiri" pitchFamily="2" charset="-78"/>
              </a:rPr>
              <a:t>mud-da-tun</a:t>
            </a:r>
            <a:endParaRPr lang="en-US" sz="1350" dirty="0"/>
          </a:p>
        </p:txBody>
      </p:sp>
      <p:sp>
        <p:nvSpPr>
          <p:cNvPr id="34" name="Shape 31"/>
          <p:cNvSpPr/>
          <p:nvPr/>
        </p:nvSpPr>
        <p:spPr>
          <a:xfrm>
            <a:off x="2322576" y="3438144"/>
            <a:ext cx="1636776" cy="438912"/>
          </a:xfrm>
          <a:prstGeom prst="roundRect">
            <a:avLst>
              <a:gd name="adj" fmla="val 10417"/>
            </a:avLst>
          </a:prstGeom>
          <a:solidFill>
            <a:srgbClr val="F4F1EA"/>
          </a:solidFill>
          <a:ln w="9525">
            <a:solidFill>
              <a:srgbClr val="F4F1EA"/>
            </a:solidFill>
            <a:prstDash val="solid"/>
          </a:ln>
        </p:spPr>
      </p:sp>
      <p:sp>
        <p:nvSpPr>
          <p:cNvPr id="35" name="Text 32"/>
          <p:cNvSpPr txBox="1"/>
          <p:nvPr/>
        </p:nvSpPr>
        <p:spPr>
          <a:xfrm>
            <a:off x="2377440"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one</a:t>
            </a:r>
            <a:endParaRPr lang="en-US" sz="750" dirty="0"/>
          </a:p>
        </p:txBody>
      </p:sp>
      <p:sp>
        <p:nvSpPr>
          <p:cNvPr id="36" name="Text 33"/>
          <p:cNvSpPr txBox="1"/>
          <p:nvPr/>
        </p:nvSpPr>
        <p:spPr>
          <a:xfrm>
            <a:off x="2368296"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مُدَّةٌ</a:t>
            </a:r>
            <a:endParaRPr lang="ar-SA" sz="1500" dirty="0"/>
          </a:p>
        </p:txBody>
      </p:sp>
      <p:sp>
        <p:nvSpPr>
          <p:cNvPr id="37" name="Shape 34"/>
          <p:cNvSpPr/>
          <p:nvPr/>
        </p:nvSpPr>
        <p:spPr>
          <a:xfrm>
            <a:off x="594360" y="3438144"/>
            <a:ext cx="1636776" cy="438912"/>
          </a:xfrm>
          <a:prstGeom prst="roundRect">
            <a:avLst>
              <a:gd name="adj" fmla="val 10417"/>
            </a:avLst>
          </a:prstGeom>
          <a:solidFill>
            <a:srgbClr val="F4F1EA"/>
          </a:solidFill>
          <a:ln w="9525">
            <a:solidFill>
              <a:srgbClr val="F4F1EA"/>
            </a:solidFill>
            <a:prstDash val="solid"/>
          </a:ln>
        </p:spPr>
      </p:sp>
      <p:sp>
        <p:nvSpPr>
          <p:cNvPr id="38" name="Text 35"/>
          <p:cNvSpPr txBox="1"/>
          <p:nvPr/>
        </p:nvSpPr>
        <p:spPr>
          <a:xfrm>
            <a:off x="6492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39" name="Text 36"/>
          <p:cNvSpPr txBox="1"/>
          <p:nvPr/>
        </p:nvSpPr>
        <p:spPr>
          <a:xfrm>
            <a:off x="6400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مُدَدٌ</a:t>
            </a:r>
            <a:endParaRPr lang="ar-SA" sz="1500" dirty="0"/>
          </a:p>
        </p:txBody>
      </p:sp>
      <p:sp>
        <p:nvSpPr>
          <p:cNvPr id="40" name="Shape 37"/>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8211312" y="4261104"/>
            <a:ext cx="310896" cy="310896"/>
          </a:xfrm>
          <a:prstGeom prst="ellipse">
            <a:avLst/>
          </a:prstGeom>
          <a:solidFill>
            <a:srgbClr val="F4F1EA"/>
          </a:solidFill>
          <a:ln w="12700">
            <a:solidFill>
              <a:srgbClr val="F4F1EA"/>
            </a:solidFill>
            <a:prstDash val="solid"/>
          </a:ln>
        </p:spPr>
      </p:sp>
      <p:sp>
        <p:nvSpPr>
          <p:cNvPr id="42" name="Text 39"/>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18</a:t>
            </a:r>
            <a:endParaRPr lang="en-US" sz="1000" dirty="0"/>
          </a:p>
        </p:txBody>
      </p:sp>
      <p:sp>
        <p:nvSpPr>
          <p:cNvPr id="43" name="Text 40"/>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التَّوْقِيتُ</a:t>
            </a:r>
            <a:endParaRPr lang="ar-SA" sz="3000" dirty="0"/>
          </a:p>
        </p:txBody>
      </p:sp>
      <p:sp>
        <p:nvSpPr>
          <p:cNvPr id="44" name="Text 41"/>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timing</a:t>
            </a:r>
            <a:endParaRPr lang="en-US" sz="1350" dirty="0"/>
          </a:p>
          <a:p>
            <a:pPr indent="0" marL="0">
              <a:buNone/>
            </a:pPr>
            <a:r>
              <a:rPr lang="en-US" sz="1100" i="1" dirty="0">
                <a:solidFill>
                  <a:srgbClr val="5A6472"/>
                </a:solidFill>
                <a:latin typeface="Calibri" pitchFamily="34" charset="0"/>
                <a:cs typeface="Amiri" pitchFamily="2" charset="-78"/>
              </a:rPr>
              <a:t>at-taw-qī-tu</a:t>
            </a:r>
            <a:endParaRPr lang="en-US" sz="1350" dirty="0"/>
          </a:p>
        </p:txBody>
      </p:sp>
      <p:sp>
        <p:nvSpPr>
          <p:cNvPr id="45" name="Text 4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46</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D1-L02 · Telling the Time</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24-hour time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D1-L02</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19</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السَّاعَةُ الثَّالِثَةَ عَشْرَةَ</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13:00</a:t>
            </a:r>
            <a:endParaRPr lang="en-US" sz="1350" dirty="0"/>
          </a:p>
          <a:p>
            <a:pPr indent="0" marL="0">
              <a:buNone/>
            </a:pPr>
            <a:r>
              <a:rPr lang="en-US" sz="1100" i="1" dirty="0">
                <a:solidFill>
                  <a:srgbClr val="5A6472"/>
                </a:solidFill>
                <a:latin typeface="Calibri" pitchFamily="34" charset="0"/>
                <a:cs typeface="Amiri" pitchFamily="2" charset="-78"/>
              </a:rPr>
              <a:t>as-sā-ʿa-tu ath-thā-li-tha-ta ʿash-ra-ta</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20</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2550" b="1" dirty="0">
                <a:solidFill>
                  <a:srgbClr val="1B3B6F"/>
                </a:solidFill>
                <a:latin typeface="Amiri" pitchFamily="2" charset="-78"/>
                <a:cs typeface="Amiri" pitchFamily="2" charset="-78"/>
              </a:rPr>
              <a:t>السَّاعَةُ الرَّابِعَةَ عَشْرَةَ وَالنِّصْفُ</a:t>
            </a:r>
            <a:endParaRPr lang="ar-SA" sz="255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14:30</a:t>
            </a:r>
            <a:endParaRPr lang="en-US" sz="1350" dirty="0"/>
          </a:p>
          <a:p>
            <a:pPr indent="0" marL="0">
              <a:buNone/>
            </a:pPr>
            <a:r>
              <a:rPr lang="en-US" sz="1100" i="1" dirty="0">
                <a:solidFill>
                  <a:srgbClr val="5A6472"/>
                </a:solidFill>
                <a:latin typeface="Calibri" pitchFamily="34" charset="0"/>
                <a:cs typeface="Amiri" pitchFamily="2" charset="-78"/>
              </a:rPr>
              <a:t>as-sā-ʿa-tu ar-rā-bi-ʿa-ta ʿash-ra-ta wāln-niṣ-fu</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21</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السَّاعَةُ السَّادِسَةَ عَشْرَةَ</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16:00</a:t>
            </a:r>
            <a:endParaRPr lang="en-US" sz="1350" dirty="0"/>
          </a:p>
          <a:p>
            <a:pPr indent="0" marL="0">
              <a:buNone/>
            </a:pPr>
            <a:r>
              <a:rPr lang="en-US" sz="1100" i="1" dirty="0">
                <a:solidFill>
                  <a:srgbClr val="5A6472"/>
                </a:solidFill>
                <a:latin typeface="Calibri" pitchFamily="34" charset="0"/>
                <a:cs typeface="Amiri" pitchFamily="2" charset="-78"/>
              </a:rPr>
              <a:t>as-sā-ʿa-tu as-sā-di-sa-ta ʿash-ra-ta</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22</a:t>
            </a:r>
            <a:endParaRPr lang="en-US" sz="1000" dirty="0"/>
          </a:p>
        </p:txBody>
      </p:sp>
      <p:sp>
        <p:nvSpPr>
          <p:cNvPr id="35" name="Text 32"/>
          <p:cNvSpPr txBox="1"/>
          <p:nvPr/>
        </p:nvSpPr>
        <p:spPr>
          <a:xfrm>
            <a:off x="8211312" y="4553712"/>
            <a:ext cx="3401568" cy="868680"/>
          </a:xfrm>
          <a:prstGeom prst="rect">
            <a:avLst/>
          </a:prstGeom>
          <a:noFill/>
          <a:ln/>
        </p:spPr>
        <p:txBody>
          <a:bodyPr wrap="square" lIns="0" tIns="0" rIns="0" bIns="0" rtlCol="0" anchor="ctr"/>
          <a:lstStyle/>
          <a:p>
            <a:pPr rtl="1" algn="r" indent="0" marL="0">
              <a:lnSpc>
                <a:spcPct val="120000"/>
              </a:lnSpc>
              <a:buNone/>
            </a:pPr>
            <a:r>
              <a:rPr lang="ar-SA" altLang="en-US" sz="1900" b="1" dirty="0">
                <a:solidFill>
                  <a:srgbClr val="1B3B6F"/>
                </a:solidFill>
                <a:latin typeface="Amiri" pitchFamily="2" charset="-78"/>
                <a:cs typeface="Amiri" pitchFamily="2" charset="-78"/>
              </a:rPr>
              <a:t>السَّاعَةُ الثَّامِنَةَ عَشْرَةَ وَخَمْسَ عَشْرَةَ دَقِيقَةً</a:t>
            </a:r>
            <a:endParaRPr lang="ar-SA" sz="1900" dirty="0"/>
          </a:p>
        </p:txBody>
      </p:sp>
      <p:sp>
        <p:nvSpPr>
          <p:cNvPr id="36" name="Text 3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18:15</a:t>
            </a:r>
            <a:endParaRPr lang="en-US" sz="1350" dirty="0"/>
          </a:p>
          <a:p>
            <a:pPr indent="0" marL="0">
              <a:buNone/>
            </a:pPr>
            <a:r>
              <a:rPr lang="en-US" sz="1100" i="1" dirty="0">
                <a:solidFill>
                  <a:srgbClr val="5A6472"/>
                </a:solidFill>
                <a:latin typeface="Calibri" pitchFamily="34" charset="0"/>
                <a:cs typeface="Amiri" pitchFamily="2" charset="-78"/>
              </a:rPr>
              <a:t>as-sā-ʿa-tu ath-thā-mi-na-ta ʿash-ra-ta wa-kham-sa ʿash-ra-ta da-qī-qa-tan</a:t>
            </a:r>
            <a:endParaRPr lang="en-US" sz="1350" dirty="0"/>
          </a:p>
        </p:txBody>
      </p:sp>
      <p:sp>
        <p:nvSpPr>
          <p:cNvPr id="37" name="Shape 3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4389120" y="4261104"/>
            <a:ext cx="310896" cy="310896"/>
          </a:xfrm>
          <a:prstGeom prst="ellipse">
            <a:avLst/>
          </a:prstGeom>
          <a:solidFill>
            <a:srgbClr val="F4F1EA"/>
          </a:solidFill>
          <a:ln w="12700">
            <a:solidFill>
              <a:srgbClr val="F4F1EA"/>
            </a:solidFill>
            <a:prstDash val="solid"/>
          </a:ln>
        </p:spPr>
      </p:sp>
      <p:sp>
        <p:nvSpPr>
          <p:cNvPr id="39" name="Text 3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23</a:t>
            </a:r>
            <a:endParaRPr lang="en-US" sz="1000" dirty="0"/>
          </a:p>
        </p:txBody>
      </p:sp>
      <p:sp>
        <p:nvSpPr>
          <p:cNvPr id="40" name="Text 37"/>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صَبَاحًا</a:t>
            </a:r>
            <a:endParaRPr lang="ar-SA" sz="3000" dirty="0"/>
          </a:p>
        </p:txBody>
      </p:sp>
      <p:sp>
        <p:nvSpPr>
          <p:cNvPr id="41" name="Text 38"/>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a.m. / in the morning</a:t>
            </a:r>
            <a:endParaRPr lang="en-US" sz="1350" dirty="0"/>
          </a:p>
          <a:p>
            <a:pPr indent="0" marL="0">
              <a:buNone/>
            </a:pPr>
            <a:r>
              <a:rPr lang="en-US" sz="1100" i="1" dirty="0">
                <a:solidFill>
                  <a:srgbClr val="5A6472"/>
                </a:solidFill>
                <a:latin typeface="Calibri" pitchFamily="34" charset="0"/>
                <a:cs typeface="Amiri" pitchFamily="2" charset="-78"/>
              </a:rPr>
              <a:t>ṣa-bā-ḥan</a:t>
            </a:r>
            <a:endParaRPr lang="en-US" sz="1350" dirty="0"/>
          </a:p>
        </p:txBody>
      </p:sp>
      <p:sp>
        <p:nvSpPr>
          <p:cNvPr id="42" name="Shape 39"/>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566928" y="4261104"/>
            <a:ext cx="310896" cy="310896"/>
          </a:xfrm>
          <a:prstGeom prst="ellipse">
            <a:avLst/>
          </a:prstGeom>
          <a:solidFill>
            <a:srgbClr val="F4F1EA"/>
          </a:solidFill>
          <a:ln w="12700">
            <a:solidFill>
              <a:srgbClr val="F4F1EA"/>
            </a:solidFill>
            <a:prstDash val="solid"/>
          </a:ln>
        </p:spPr>
      </p:sp>
      <p:sp>
        <p:nvSpPr>
          <p:cNvPr id="44" name="Text 41"/>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24</a:t>
            </a:r>
            <a:endParaRPr lang="en-US" sz="1000" dirty="0"/>
          </a:p>
        </p:txBody>
      </p:sp>
      <p:sp>
        <p:nvSpPr>
          <p:cNvPr id="45" name="Text 42"/>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مَسَاءً</a:t>
            </a:r>
            <a:endParaRPr lang="ar-SA" sz="3000" dirty="0"/>
          </a:p>
        </p:txBody>
      </p:sp>
      <p:sp>
        <p:nvSpPr>
          <p:cNvPr id="46" name="Text 43"/>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p.m. / in the evening</a:t>
            </a:r>
            <a:endParaRPr lang="en-US" sz="1350" dirty="0"/>
          </a:p>
          <a:p>
            <a:pPr indent="0" marL="0">
              <a:buNone/>
            </a:pPr>
            <a:r>
              <a:rPr lang="en-US" sz="1100" i="1" dirty="0">
                <a:solidFill>
                  <a:srgbClr val="5A6472"/>
                </a:solidFill>
                <a:latin typeface="Calibri" pitchFamily="34" charset="0"/>
                <a:cs typeface="Amiri" pitchFamily="2" charset="-78"/>
              </a:rPr>
              <a:t>ma-sā-ʾan</a:t>
            </a:r>
            <a:endParaRPr lang="en-US" sz="1350" dirty="0"/>
          </a:p>
        </p:txBody>
      </p:sp>
      <p:sp>
        <p:nvSpPr>
          <p:cNvPr id="47"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46</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D1-L02 · Telling the Time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FOCUS · PART 1 · THE HOURS ARE ORDINAL NUMBERS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The twelve hours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السَّاعَاتُ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10524744" y="1810512"/>
            <a:ext cx="11338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Time</a:t>
            </a:r>
            <a:endParaRPr lang="en-US" sz="1100" dirty="0"/>
          </a:p>
        </p:txBody>
      </p:sp>
      <p:sp>
        <p:nvSpPr>
          <p:cNvPr id="17" name="Text 14"/>
          <p:cNvSpPr txBox="1"/>
          <p:nvPr/>
        </p:nvSpPr>
        <p:spPr>
          <a:xfrm>
            <a:off x="6135624" y="1810512"/>
            <a:ext cx="42428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The hour</a:t>
            </a:r>
            <a:endParaRPr lang="en-US" sz="1100" dirty="0"/>
          </a:p>
        </p:txBody>
      </p:sp>
      <p:sp>
        <p:nvSpPr>
          <p:cNvPr id="18" name="Text 15"/>
          <p:cNvSpPr txBox="1"/>
          <p:nvPr/>
        </p:nvSpPr>
        <p:spPr>
          <a:xfrm>
            <a:off x="4855464" y="1810512"/>
            <a:ext cx="11338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Time</a:t>
            </a:r>
            <a:endParaRPr lang="en-US" sz="1100" dirty="0"/>
          </a:p>
        </p:txBody>
      </p:sp>
      <p:sp>
        <p:nvSpPr>
          <p:cNvPr id="19" name="Text 16"/>
          <p:cNvSpPr txBox="1"/>
          <p:nvPr/>
        </p:nvSpPr>
        <p:spPr>
          <a:xfrm>
            <a:off x="530352" y="1810512"/>
            <a:ext cx="41788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The hour</a:t>
            </a:r>
            <a:endParaRPr lang="en-US" sz="1100" dirty="0"/>
          </a:p>
        </p:txBody>
      </p:sp>
      <p:sp>
        <p:nvSpPr>
          <p:cNvPr id="20" name="Shape 17"/>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1" name="Text 18"/>
          <p:cNvSpPr txBox="1"/>
          <p:nvPr/>
        </p:nvSpPr>
        <p:spPr>
          <a:xfrm>
            <a:off x="10543032" y="2267712"/>
            <a:ext cx="109728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١:٠٠</a:t>
            </a:r>
            <a:endParaRPr lang="ar-SA" sz="2200" dirty="0"/>
          </a:p>
        </p:txBody>
      </p:sp>
      <p:sp>
        <p:nvSpPr>
          <p:cNvPr id="22" name="Text 19"/>
          <p:cNvSpPr txBox="1"/>
          <p:nvPr/>
        </p:nvSpPr>
        <p:spPr>
          <a:xfrm>
            <a:off x="6153912" y="2267712"/>
            <a:ext cx="420624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الوَاحِدَةُ</a:t>
            </a:r>
            <a:endParaRPr lang="ar-SA" sz="2200" dirty="0"/>
          </a:p>
        </p:txBody>
      </p:sp>
      <p:sp>
        <p:nvSpPr>
          <p:cNvPr id="23" name="Text 20"/>
          <p:cNvSpPr txBox="1"/>
          <p:nvPr/>
        </p:nvSpPr>
        <p:spPr>
          <a:xfrm>
            <a:off x="4873752" y="2267712"/>
            <a:ext cx="109728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٧:٠٠</a:t>
            </a:r>
            <a:endParaRPr lang="ar-SA" sz="2200" dirty="0"/>
          </a:p>
        </p:txBody>
      </p:sp>
      <p:sp>
        <p:nvSpPr>
          <p:cNvPr id="24" name="Text 21"/>
          <p:cNvSpPr txBox="1"/>
          <p:nvPr/>
        </p:nvSpPr>
        <p:spPr>
          <a:xfrm>
            <a:off x="548640" y="2267712"/>
            <a:ext cx="4142232"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السَّابِعَةُ</a:t>
            </a:r>
            <a:endParaRPr lang="ar-SA" sz="22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8" name="Text 25"/>
          <p:cNvSpPr txBox="1"/>
          <p:nvPr/>
        </p:nvSpPr>
        <p:spPr>
          <a:xfrm>
            <a:off x="10543032" y="2881884"/>
            <a:ext cx="109728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٢:٠٠</a:t>
            </a:r>
            <a:endParaRPr lang="ar-SA" sz="2200" dirty="0"/>
          </a:p>
        </p:txBody>
      </p:sp>
      <p:sp>
        <p:nvSpPr>
          <p:cNvPr id="29" name="Text 26"/>
          <p:cNvSpPr txBox="1"/>
          <p:nvPr/>
        </p:nvSpPr>
        <p:spPr>
          <a:xfrm>
            <a:off x="6153912" y="2881884"/>
            <a:ext cx="420624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الثَّانِيَةُ</a:t>
            </a:r>
            <a:endParaRPr lang="ar-SA" sz="2200" dirty="0"/>
          </a:p>
        </p:txBody>
      </p:sp>
      <p:sp>
        <p:nvSpPr>
          <p:cNvPr id="30" name="Text 27"/>
          <p:cNvSpPr txBox="1"/>
          <p:nvPr/>
        </p:nvSpPr>
        <p:spPr>
          <a:xfrm>
            <a:off x="4873752" y="2881884"/>
            <a:ext cx="109728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٨:٠٠</a:t>
            </a:r>
            <a:endParaRPr lang="ar-SA" sz="2200" dirty="0"/>
          </a:p>
        </p:txBody>
      </p:sp>
      <p:sp>
        <p:nvSpPr>
          <p:cNvPr id="31" name="Text 28"/>
          <p:cNvSpPr txBox="1"/>
          <p:nvPr/>
        </p:nvSpPr>
        <p:spPr>
          <a:xfrm>
            <a:off x="548640" y="2881884"/>
            <a:ext cx="4142232"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الثَّامِنَةُ</a:t>
            </a:r>
            <a:endParaRPr lang="ar-SA" sz="2200" dirty="0"/>
          </a:p>
        </p:txBody>
      </p:sp>
      <p:sp>
        <p:nvSpPr>
          <p:cNvPr id="32" name="Shape 29"/>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5" name="Text 32"/>
          <p:cNvSpPr txBox="1"/>
          <p:nvPr/>
        </p:nvSpPr>
        <p:spPr>
          <a:xfrm>
            <a:off x="10543032" y="3496056"/>
            <a:ext cx="109728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٣:٠٠</a:t>
            </a:r>
            <a:endParaRPr lang="ar-SA" sz="2200" dirty="0"/>
          </a:p>
        </p:txBody>
      </p:sp>
      <p:sp>
        <p:nvSpPr>
          <p:cNvPr id="36" name="Text 33"/>
          <p:cNvSpPr txBox="1"/>
          <p:nvPr/>
        </p:nvSpPr>
        <p:spPr>
          <a:xfrm>
            <a:off x="6153912" y="3496056"/>
            <a:ext cx="420624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الثَّالِثَةُ</a:t>
            </a:r>
            <a:endParaRPr lang="ar-SA" sz="2200" dirty="0"/>
          </a:p>
        </p:txBody>
      </p:sp>
      <p:sp>
        <p:nvSpPr>
          <p:cNvPr id="37" name="Text 34"/>
          <p:cNvSpPr txBox="1"/>
          <p:nvPr/>
        </p:nvSpPr>
        <p:spPr>
          <a:xfrm>
            <a:off x="4873752" y="3496056"/>
            <a:ext cx="109728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٩:٠٠</a:t>
            </a:r>
            <a:endParaRPr lang="ar-SA" sz="2200" dirty="0"/>
          </a:p>
        </p:txBody>
      </p:sp>
      <p:sp>
        <p:nvSpPr>
          <p:cNvPr id="38" name="Text 35"/>
          <p:cNvSpPr txBox="1"/>
          <p:nvPr/>
        </p:nvSpPr>
        <p:spPr>
          <a:xfrm>
            <a:off x="548640" y="3496056"/>
            <a:ext cx="4142232"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التَّاسِعَةُ</a:t>
            </a:r>
            <a:endParaRPr lang="ar-SA" sz="2200" dirty="0"/>
          </a:p>
        </p:txBody>
      </p:sp>
      <p:sp>
        <p:nvSpPr>
          <p:cNvPr id="39" name="Shape 36"/>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1" name="Shape 38"/>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42" name="Text 39"/>
          <p:cNvSpPr txBox="1"/>
          <p:nvPr/>
        </p:nvSpPr>
        <p:spPr>
          <a:xfrm>
            <a:off x="10543032" y="4110228"/>
            <a:ext cx="109728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٤:٠٠</a:t>
            </a:r>
            <a:endParaRPr lang="ar-SA" sz="2200" dirty="0"/>
          </a:p>
        </p:txBody>
      </p:sp>
      <p:sp>
        <p:nvSpPr>
          <p:cNvPr id="43" name="Text 40"/>
          <p:cNvSpPr txBox="1"/>
          <p:nvPr/>
        </p:nvSpPr>
        <p:spPr>
          <a:xfrm>
            <a:off x="6153912" y="4110228"/>
            <a:ext cx="420624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الرَّابِعَةُ</a:t>
            </a:r>
            <a:endParaRPr lang="ar-SA" sz="2200" dirty="0"/>
          </a:p>
        </p:txBody>
      </p:sp>
      <p:sp>
        <p:nvSpPr>
          <p:cNvPr id="44" name="Text 41"/>
          <p:cNvSpPr txBox="1"/>
          <p:nvPr/>
        </p:nvSpPr>
        <p:spPr>
          <a:xfrm>
            <a:off x="4873752" y="4110228"/>
            <a:ext cx="109728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١٠:٠٠</a:t>
            </a:r>
            <a:endParaRPr lang="ar-SA" sz="2200" dirty="0"/>
          </a:p>
        </p:txBody>
      </p:sp>
      <p:sp>
        <p:nvSpPr>
          <p:cNvPr id="45" name="Text 42"/>
          <p:cNvSpPr txBox="1"/>
          <p:nvPr/>
        </p:nvSpPr>
        <p:spPr>
          <a:xfrm>
            <a:off x="548640" y="4110228"/>
            <a:ext cx="4142232"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العَاشِرَةُ</a:t>
            </a:r>
            <a:endParaRPr lang="ar-SA" sz="2200" dirty="0"/>
          </a:p>
        </p:txBody>
      </p:sp>
      <p:sp>
        <p:nvSpPr>
          <p:cNvPr id="46" name="Shape 43"/>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7" name="Text 44"/>
          <p:cNvSpPr txBox="1"/>
          <p:nvPr/>
        </p:nvSpPr>
        <p:spPr>
          <a:xfrm>
            <a:off x="10543032" y="4724400"/>
            <a:ext cx="109728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٥:٠٠</a:t>
            </a:r>
            <a:endParaRPr lang="ar-SA" sz="2200" dirty="0"/>
          </a:p>
        </p:txBody>
      </p:sp>
      <p:sp>
        <p:nvSpPr>
          <p:cNvPr id="48" name="Text 45"/>
          <p:cNvSpPr txBox="1"/>
          <p:nvPr/>
        </p:nvSpPr>
        <p:spPr>
          <a:xfrm>
            <a:off x="6153912" y="4724400"/>
            <a:ext cx="420624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الخَامِسَةُ</a:t>
            </a:r>
            <a:endParaRPr lang="ar-SA" sz="2200" dirty="0"/>
          </a:p>
        </p:txBody>
      </p:sp>
      <p:sp>
        <p:nvSpPr>
          <p:cNvPr id="49" name="Text 46"/>
          <p:cNvSpPr txBox="1"/>
          <p:nvPr/>
        </p:nvSpPr>
        <p:spPr>
          <a:xfrm>
            <a:off x="4873752" y="4724400"/>
            <a:ext cx="109728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١١:٠٠</a:t>
            </a:r>
            <a:endParaRPr lang="ar-SA" sz="2200" dirty="0"/>
          </a:p>
        </p:txBody>
      </p:sp>
      <p:sp>
        <p:nvSpPr>
          <p:cNvPr id="50" name="Text 47"/>
          <p:cNvSpPr txBox="1"/>
          <p:nvPr/>
        </p:nvSpPr>
        <p:spPr>
          <a:xfrm>
            <a:off x="548640" y="4724400"/>
            <a:ext cx="4142232"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الحَادِيَةَ عَشْرَةَ</a:t>
            </a:r>
            <a:endParaRPr lang="ar-SA" sz="2200" dirty="0"/>
          </a:p>
        </p:txBody>
      </p:sp>
      <p:sp>
        <p:nvSpPr>
          <p:cNvPr id="51" name="Shape 48"/>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52" name="Text 49"/>
          <p:cNvSpPr txBox="1"/>
          <p:nvPr/>
        </p:nvSpPr>
        <p:spPr>
          <a:xfrm>
            <a:off x="10543032" y="5338572"/>
            <a:ext cx="109728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٦:٠٠</a:t>
            </a:r>
            <a:endParaRPr lang="ar-SA" sz="2200" dirty="0"/>
          </a:p>
        </p:txBody>
      </p:sp>
      <p:sp>
        <p:nvSpPr>
          <p:cNvPr id="53" name="Text 50"/>
          <p:cNvSpPr txBox="1"/>
          <p:nvPr/>
        </p:nvSpPr>
        <p:spPr>
          <a:xfrm>
            <a:off x="6153912" y="5338572"/>
            <a:ext cx="420624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السَّادِسَةُ</a:t>
            </a:r>
            <a:endParaRPr lang="ar-SA" sz="2200" dirty="0"/>
          </a:p>
        </p:txBody>
      </p:sp>
      <p:sp>
        <p:nvSpPr>
          <p:cNvPr id="54" name="Text 51"/>
          <p:cNvSpPr txBox="1"/>
          <p:nvPr/>
        </p:nvSpPr>
        <p:spPr>
          <a:xfrm>
            <a:off x="4873752" y="5338572"/>
            <a:ext cx="109728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١٢:٠٠</a:t>
            </a:r>
            <a:endParaRPr lang="ar-SA" sz="2200" dirty="0"/>
          </a:p>
        </p:txBody>
      </p:sp>
      <p:sp>
        <p:nvSpPr>
          <p:cNvPr id="55" name="Text 52"/>
          <p:cNvSpPr txBox="1"/>
          <p:nvPr/>
        </p:nvSpPr>
        <p:spPr>
          <a:xfrm>
            <a:off x="548640" y="5338572"/>
            <a:ext cx="4142232"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الثَّانِيَةَ عَشْرَةَ</a:t>
            </a:r>
            <a:endParaRPr lang="ar-SA" sz="2200" dirty="0"/>
          </a:p>
        </p:txBody>
      </p:sp>
      <p:sp>
        <p:nvSpPr>
          <p:cNvPr id="56" name="Text 53"/>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Question: </a:t>
            </a:r>
            <a:pPr algn="l" indent="0" marL="0">
              <a:buNone/>
            </a:pPr>
            <a:r>
              <a:rPr lang="ar-SA" altLang="en-US" sz="1500" b="1" dirty="0">
                <a:solidFill>
                  <a:srgbClr val="1B3B6F"/>
                </a:solidFill>
                <a:latin typeface="Amiri" pitchFamily="2" charset="-78"/>
                <a:cs typeface="Amiri" pitchFamily="2" charset="-78"/>
              </a:rPr>
              <a:t>كَمِ السَّاعَةُ؟</a:t>
            </a:r>
            <a:pPr algn="l" indent="0" marL="0">
              <a:buNone/>
            </a:pPr>
            <a:r>
              <a:rPr lang="en-US" sz="1150" b="1" dirty="0">
                <a:solidFill>
                  <a:srgbClr val="1B3B6F"/>
                </a:solidFill>
                <a:latin typeface="Calibri" pitchFamily="34" charset="0"/>
                <a:cs typeface="Amiri" pitchFamily="2" charset="-78"/>
              </a:rPr>
              <a:t>   Answer: </a:t>
            </a:r>
            <a:pPr algn="l" indent="0" marL="0">
              <a:buNone/>
            </a:pPr>
            <a:r>
              <a:rPr lang="ar-SA" altLang="en-US" sz="1500" b="1" dirty="0">
                <a:solidFill>
                  <a:srgbClr val="1B3B6F"/>
                </a:solidFill>
                <a:latin typeface="Amiri" pitchFamily="2" charset="-78"/>
                <a:cs typeface="Amiri" pitchFamily="2" charset="-78"/>
              </a:rPr>
              <a:t>السَّاعَةُ السَّابِعَةُ</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46</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D1-L02 · Telling the Time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03" b="1" spc="150" kern="0" dirty="0">
                <a:solidFill>
                  <a:srgbClr val="1B3B6F"/>
                </a:solidFill>
                <a:latin typeface="Calibri" pitchFamily="34" charset="0"/>
                <a:cs typeface="Amiri" pitchFamily="2" charset="-78"/>
              </a:rPr>
              <a:t>GRAMMAR FOCUS · PART 2 · A CALCULATION: THE HOUR + OR − THE MINUTES (WEBSITE)</a:t>
            </a:r>
            <a:endParaRPr lang="en-US" sz="903"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000" b="1" dirty="0">
                <a:solidFill>
                  <a:srgbClr val="1B3B6F"/>
                </a:solidFill>
                <a:latin typeface="Cambria" pitchFamily="34" charset="0"/>
                <a:cs typeface="Amiri" pitchFamily="2" charset="-78"/>
              </a:rPr>
              <a:t>Past the hour (</a:t>
            </a:r>
            <a:pPr algn="l" indent="0" marL="0">
              <a:buNone/>
            </a:pPr>
            <a:r>
              <a:rPr lang="ar-SA" altLang="en-US" sz="2600" b="1" dirty="0">
                <a:solidFill>
                  <a:srgbClr val="1B3B6F"/>
                </a:solidFill>
                <a:latin typeface="Amiri" pitchFamily="2" charset="-78"/>
                <a:cs typeface="Amiri" pitchFamily="2" charset="-78"/>
              </a:rPr>
              <a:t>وَ</a:t>
            </a:r>
            <a:pPr algn="l" indent="0" marL="0">
              <a:buNone/>
            </a:pPr>
            <a:r>
              <a:rPr lang="en-US" sz="2000" b="1" dirty="0">
                <a:solidFill>
                  <a:srgbClr val="1B3B6F"/>
                </a:solidFill>
                <a:latin typeface="Cambria" pitchFamily="34" charset="0"/>
                <a:cs typeface="Amiri" pitchFamily="2" charset="-78"/>
              </a:rPr>
              <a:t>) or to the next hour (</a:t>
            </a:r>
            <a:pPr algn="l" indent="0" marL="0">
              <a:buNone/>
            </a:pPr>
            <a:r>
              <a:rPr lang="ar-SA" altLang="en-US" sz="2600" b="1" dirty="0">
                <a:solidFill>
                  <a:srgbClr val="1B3B6F"/>
                </a:solidFill>
                <a:latin typeface="Amiri" pitchFamily="2" charset="-78"/>
                <a:cs typeface="Amiri" pitchFamily="2" charset="-78"/>
              </a:rPr>
              <a:t>إِلَّا</a:t>
            </a:r>
            <a:pPr algn="l" indent="0" marL="0">
              <a:buNone/>
            </a:pPr>
            <a:r>
              <a:rPr lang="en-US" sz="2000" b="1" dirty="0">
                <a:solidFill>
                  <a:srgbClr val="1B3B6F"/>
                </a:solidFill>
                <a:latin typeface="Cambria" pitchFamily="34" charset="0"/>
                <a:cs typeface="Amiri" pitchFamily="2" charset="-78"/>
              </a:rPr>
              <a:t>)?</a:t>
            </a:r>
            <a:endParaRPr lang="en-US" sz="20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وَ أَمْ إِلَّا؟</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10341864" y="1810512"/>
            <a:ext cx="1316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Clock</a:t>
            </a:r>
            <a:endParaRPr lang="en-US" sz="1100" dirty="0"/>
          </a:p>
        </p:txBody>
      </p:sp>
      <p:sp>
        <p:nvSpPr>
          <p:cNvPr id="17" name="Text 14"/>
          <p:cNvSpPr txBox="1"/>
          <p:nvPr/>
        </p:nvSpPr>
        <p:spPr>
          <a:xfrm>
            <a:off x="4672584" y="1810512"/>
            <a:ext cx="55229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Arabic</a:t>
            </a:r>
            <a:endParaRPr lang="en-US" sz="1100" dirty="0"/>
          </a:p>
        </p:txBody>
      </p:sp>
      <p:sp>
        <p:nvSpPr>
          <p:cNvPr id="18" name="Text 15"/>
          <p:cNvSpPr txBox="1"/>
          <p:nvPr/>
        </p:nvSpPr>
        <p:spPr>
          <a:xfrm>
            <a:off x="530352" y="1810512"/>
            <a:ext cx="39959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How it works</a:t>
            </a:r>
            <a:endParaRPr lang="en-US" sz="1100" dirty="0"/>
          </a:p>
        </p:txBody>
      </p:sp>
      <p:sp>
        <p:nvSpPr>
          <p:cNvPr id="19" name="Shape 16"/>
          <p:cNvSpPr/>
          <p:nvPr/>
        </p:nvSpPr>
        <p:spPr>
          <a:xfrm>
            <a:off x="457200" y="2267712"/>
            <a:ext cx="11274552" cy="530352"/>
          </a:xfrm>
          <a:prstGeom prst="roundRect">
            <a:avLst>
              <a:gd name="adj" fmla="val 8621"/>
            </a:avLst>
          </a:prstGeom>
          <a:solidFill>
            <a:srgbClr val="FFFFFF"/>
          </a:solidFill>
          <a:ln w="9525">
            <a:solidFill>
              <a:srgbClr val="D8D0BF"/>
            </a:solidFill>
            <a:prstDash val="solid"/>
          </a:ln>
        </p:spPr>
      </p:sp>
      <p:sp>
        <p:nvSpPr>
          <p:cNvPr id="20" name="Text 17"/>
          <p:cNvSpPr txBox="1"/>
          <p:nvPr/>
        </p:nvSpPr>
        <p:spPr>
          <a:xfrm>
            <a:off x="10360152" y="2267712"/>
            <a:ext cx="1280160" cy="53035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٧:٠٥</a:t>
            </a:r>
            <a:endParaRPr lang="ar-SA" sz="2200" dirty="0"/>
          </a:p>
        </p:txBody>
      </p:sp>
      <p:sp>
        <p:nvSpPr>
          <p:cNvPr id="21" name="Text 18"/>
          <p:cNvSpPr txBox="1"/>
          <p:nvPr/>
        </p:nvSpPr>
        <p:spPr>
          <a:xfrm>
            <a:off x="4690872" y="2267712"/>
            <a:ext cx="5486400" cy="53035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السَّابِعَةُ </a:t>
            </a:r>
            <a:pPr rtl="1" algn="ctr" indent="0" marL="0">
              <a:buNone/>
            </a:pPr>
            <a:r>
              <a:rPr lang="ar-SA" altLang="en-US" sz="2200" b="1" dirty="0">
                <a:solidFill>
                  <a:srgbClr val="0E7C86"/>
                </a:solidFill>
                <a:latin typeface="Amiri" pitchFamily="2" charset="-78"/>
                <a:cs typeface="Amiri" pitchFamily="2" charset="-78"/>
              </a:rPr>
              <a:t>وَ</a:t>
            </a:r>
            <a:pPr rtl="1" algn="ctr" indent="0" marL="0">
              <a:buNone/>
            </a:pPr>
            <a:r>
              <a:rPr lang="ar-SA" altLang="en-US" sz="2200" b="1" dirty="0">
                <a:solidFill>
                  <a:srgbClr val="1B3B6F"/>
                </a:solidFill>
                <a:latin typeface="Amiri" pitchFamily="2" charset="-78"/>
                <a:cs typeface="Amiri" pitchFamily="2" charset="-78"/>
              </a:rPr>
              <a:t>خَمْسُ دَقَائِقَ</a:t>
            </a:r>
            <a:endParaRPr lang="ar-SA" sz="2200" dirty="0"/>
          </a:p>
        </p:txBody>
      </p:sp>
      <p:sp>
        <p:nvSpPr>
          <p:cNvPr id="22" name="Text 19"/>
          <p:cNvSpPr txBox="1"/>
          <p:nvPr/>
        </p:nvSpPr>
        <p:spPr>
          <a:xfrm>
            <a:off x="566928" y="2267712"/>
            <a:ext cx="3959352" cy="53035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7 + 5 minutes</a:t>
            </a:r>
            <a:endParaRPr lang="en-US" sz="1100" dirty="0"/>
          </a:p>
        </p:txBody>
      </p:sp>
      <p:sp>
        <p:nvSpPr>
          <p:cNvPr id="23" name="Shape 20"/>
          <p:cNvSpPr/>
          <p:nvPr/>
        </p:nvSpPr>
        <p:spPr>
          <a:xfrm>
            <a:off x="457200" y="2852928"/>
            <a:ext cx="11274552" cy="530352"/>
          </a:xfrm>
          <a:prstGeom prst="roundRect">
            <a:avLst>
              <a:gd name="adj" fmla="val 8621"/>
            </a:avLst>
          </a:prstGeom>
          <a:solidFill>
            <a:srgbClr val="F4F1EA"/>
          </a:solidFill>
          <a:ln w="9525">
            <a:solidFill>
              <a:srgbClr val="D8D0BF"/>
            </a:solidFill>
            <a:prstDash val="solid"/>
          </a:ln>
        </p:spPr>
      </p:sp>
      <p:sp>
        <p:nvSpPr>
          <p:cNvPr id="24" name="Text 21"/>
          <p:cNvSpPr txBox="1"/>
          <p:nvPr/>
        </p:nvSpPr>
        <p:spPr>
          <a:xfrm>
            <a:off x="10360152" y="2852928"/>
            <a:ext cx="1280160" cy="53035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٧:١٥</a:t>
            </a:r>
            <a:endParaRPr lang="ar-SA" sz="2200" dirty="0"/>
          </a:p>
        </p:txBody>
      </p:sp>
      <p:sp>
        <p:nvSpPr>
          <p:cNvPr id="25" name="Text 22"/>
          <p:cNvSpPr txBox="1"/>
          <p:nvPr/>
        </p:nvSpPr>
        <p:spPr>
          <a:xfrm>
            <a:off x="4690872" y="2852928"/>
            <a:ext cx="5486400" cy="53035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السَّابِعَةُ </a:t>
            </a:r>
            <a:pPr rtl="1" algn="ctr" indent="0" marL="0">
              <a:buNone/>
            </a:pPr>
            <a:r>
              <a:rPr lang="ar-SA" altLang="en-US" sz="2200" b="1" dirty="0">
                <a:solidFill>
                  <a:srgbClr val="0E7C86"/>
                </a:solidFill>
                <a:latin typeface="Amiri" pitchFamily="2" charset="-78"/>
                <a:cs typeface="Amiri" pitchFamily="2" charset="-78"/>
              </a:rPr>
              <a:t>وَ</a:t>
            </a:r>
            <a:pPr rtl="1" algn="ctr" indent="0" marL="0">
              <a:buNone/>
            </a:pPr>
            <a:r>
              <a:rPr lang="ar-SA" altLang="en-US" sz="2200" b="1" dirty="0">
                <a:solidFill>
                  <a:srgbClr val="1B3B6F"/>
                </a:solidFill>
                <a:latin typeface="Amiri" pitchFamily="2" charset="-78"/>
                <a:cs typeface="Amiri" pitchFamily="2" charset="-78"/>
              </a:rPr>
              <a:t>الرُّبْعُ</a:t>
            </a:r>
            <a:endParaRPr lang="ar-SA" sz="2200" dirty="0"/>
          </a:p>
        </p:txBody>
      </p:sp>
      <p:sp>
        <p:nvSpPr>
          <p:cNvPr id="26" name="Text 23"/>
          <p:cNvSpPr txBox="1"/>
          <p:nvPr/>
        </p:nvSpPr>
        <p:spPr>
          <a:xfrm>
            <a:off x="566928" y="2852928"/>
            <a:ext cx="3959352" cy="53035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7 + a quarter</a:t>
            </a:r>
            <a:endParaRPr lang="en-US" sz="1100" dirty="0"/>
          </a:p>
        </p:txBody>
      </p:sp>
      <p:sp>
        <p:nvSpPr>
          <p:cNvPr id="27" name="Shape 24"/>
          <p:cNvSpPr/>
          <p:nvPr/>
        </p:nvSpPr>
        <p:spPr>
          <a:xfrm>
            <a:off x="11091672" y="2898648"/>
            <a:ext cx="548640" cy="18288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1091672" y="289864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9" name="Shape 26"/>
          <p:cNvSpPr/>
          <p:nvPr/>
        </p:nvSpPr>
        <p:spPr>
          <a:xfrm>
            <a:off x="457200" y="3438144"/>
            <a:ext cx="11274552" cy="530352"/>
          </a:xfrm>
          <a:prstGeom prst="roundRect">
            <a:avLst>
              <a:gd name="adj" fmla="val 8621"/>
            </a:avLst>
          </a:prstGeom>
          <a:solidFill>
            <a:srgbClr val="FFFFFF"/>
          </a:solidFill>
          <a:ln w="9525">
            <a:solidFill>
              <a:srgbClr val="D8D0BF"/>
            </a:solidFill>
            <a:prstDash val="solid"/>
          </a:ln>
        </p:spPr>
      </p:sp>
      <p:sp>
        <p:nvSpPr>
          <p:cNvPr id="30" name="Text 27"/>
          <p:cNvSpPr txBox="1"/>
          <p:nvPr/>
        </p:nvSpPr>
        <p:spPr>
          <a:xfrm>
            <a:off x="10360152" y="3438144"/>
            <a:ext cx="1280160" cy="53035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٧:٢٠</a:t>
            </a:r>
            <a:endParaRPr lang="ar-SA" sz="2200" dirty="0"/>
          </a:p>
        </p:txBody>
      </p:sp>
      <p:sp>
        <p:nvSpPr>
          <p:cNvPr id="31" name="Text 28"/>
          <p:cNvSpPr txBox="1"/>
          <p:nvPr/>
        </p:nvSpPr>
        <p:spPr>
          <a:xfrm>
            <a:off x="4690872" y="3438144"/>
            <a:ext cx="5486400" cy="53035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السَّابِعَةُ </a:t>
            </a:r>
            <a:pPr rtl="1" algn="ctr" indent="0" marL="0">
              <a:buNone/>
            </a:pPr>
            <a:r>
              <a:rPr lang="ar-SA" altLang="en-US" sz="2200" b="1" dirty="0">
                <a:solidFill>
                  <a:srgbClr val="0E7C86"/>
                </a:solidFill>
                <a:latin typeface="Amiri" pitchFamily="2" charset="-78"/>
                <a:cs typeface="Amiri" pitchFamily="2" charset="-78"/>
              </a:rPr>
              <a:t>وَ</a:t>
            </a:r>
            <a:pPr rtl="1" algn="ctr" indent="0" marL="0">
              <a:buNone/>
            </a:pPr>
            <a:r>
              <a:rPr lang="ar-SA" altLang="en-US" sz="2200" b="1" dirty="0">
                <a:solidFill>
                  <a:srgbClr val="1B3B6F"/>
                </a:solidFill>
                <a:latin typeface="Amiri" pitchFamily="2" charset="-78"/>
                <a:cs typeface="Amiri" pitchFamily="2" charset="-78"/>
              </a:rPr>
              <a:t>الثُّلُثُ</a:t>
            </a:r>
            <a:endParaRPr lang="ar-SA" sz="2200" dirty="0"/>
          </a:p>
        </p:txBody>
      </p:sp>
      <p:sp>
        <p:nvSpPr>
          <p:cNvPr id="32" name="Text 29"/>
          <p:cNvSpPr txBox="1"/>
          <p:nvPr/>
        </p:nvSpPr>
        <p:spPr>
          <a:xfrm>
            <a:off x="566928" y="3438144"/>
            <a:ext cx="3959352" cy="53035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7 + a third (20 min)</a:t>
            </a:r>
            <a:endParaRPr lang="en-US" sz="1100" dirty="0"/>
          </a:p>
        </p:txBody>
      </p:sp>
      <p:sp>
        <p:nvSpPr>
          <p:cNvPr id="33" name="Shape 30"/>
          <p:cNvSpPr/>
          <p:nvPr/>
        </p:nvSpPr>
        <p:spPr>
          <a:xfrm>
            <a:off x="457200" y="4023360"/>
            <a:ext cx="11274552" cy="530352"/>
          </a:xfrm>
          <a:prstGeom prst="roundRect">
            <a:avLst>
              <a:gd name="adj" fmla="val 8621"/>
            </a:avLst>
          </a:prstGeom>
          <a:solidFill>
            <a:srgbClr val="F4F1EA"/>
          </a:solidFill>
          <a:ln w="9525">
            <a:solidFill>
              <a:srgbClr val="D8D0BF"/>
            </a:solidFill>
            <a:prstDash val="solid"/>
          </a:ln>
        </p:spPr>
      </p:sp>
      <p:sp>
        <p:nvSpPr>
          <p:cNvPr id="34" name="Text 31"/>
          <p:cNvSpPr txBox="1"/>
          <p:nvPr/>
        </p:nvSpPr>
        <p:spPr>
          <a:xfrm>
            <a:off x="10360152" y="4023360"/>
            <a:ext cx="1280160" cy="53035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٧:٣٠</a:t>
            </a:r>
            <a:endParaRPr lang="ar-SA" sz="2200" dirty="0"/>
          </a:p>
        </p:txBody>
      </p:sp>
      <p:sp>
        <p:nvSpPr>
          <p:cNvPr id="35" name="Text 32"/>
          <p:cNvSpPr txBox="1"/>
          <p:nvPr/>
        </p:nvSpPr>
        <p:spPr>
          <a:xfrm>
            <a:off x="4690872" y="4023360"/>
            <a:ext cx="5486400" cy="53035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السَّابِعَةُ </a:t>
            </a:r>
            <a:pPr rtl="1" algn="ctr" indent="0" marL="0">
              <a:buNone/>
            </a:pPr>
            <a:r>
              <a:rPr lang="ar-SA" altLang="en-US" sz="2200" b="1" dirty="0">
                <a:solidFill>
                  <a:srgbClr val="0E7C86"/>
                </a:solidFill>
                <a:latin typeface="Amiri" pitchFamily="2" charset="-78"/>
                <a:cs typeface="Amiri" pitchFamily="2" charset="-78"/>
              </a:rPr>
              <a:t>وَ</a:t>
            </a:r>
            <a:pPr rtl="1" algn="ctr" indent="0" marL="0">
              <a:buNone/>
            </a:pPr>
            <a:r>
              <a:rPr lang="ar-SA" altLang="en-US" sz="2200" b="1" dirty="0">
                <a:solidFill>
                  <a:srgbClr val="1B3B6F"/>
                </a:solidFill>
                <a:latin typeface="Amiri" pitchFamily="2" charset="-78"/>
                <a:cs typeface="Amiri" pitchFamily="2" charset="-78"/>
              </a:rPr>
              <a:t>النِّصْفُ</a:t>
            </a:r>
            <a:endParaRPr lang="ar-SA" sz="2200" dirty="0"/>
          </a:p>
        </p:txBody>
      </p:sp>
      <p:sp>
        <p:nvSpPr>
          <p:cNvPr id="36" name="Text 33"/>
          <p:cNvSpPr txBox="1"/>
          <p:nvPr/>
        </p:nvSpPr>
        <p:spPr>
          <a:xfrm>
            <a:off x="566928" y="4023360"/>
            <a:ext cx="3959352" cy="53035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7 + a half</a:t>
            </a:r>
            <a:endParaRPr lang="en-US" sz="1100" dirty="0"/>
          </a:p>
        </p:txBody>
      </p:sp>
      <p:sp>
        <p:nvSpPr>
          <p:cNvPr id="37" name="Shape 34"/>
          <p:cNvSpPr/>
          <p:nvPr/>
        </p:nvSpPr>
        <p:spPr>
          <a:xfrm>
            <a:off x="11091672" y="4069080"/>
            <a:ext cx="548640" cy="182880"/>
          </a:xfrm>
          <a:prstGeom prst="roundRect">
            <a:avLst>
              <a:gd name="adj" fmla="val 50000"/>
            </a:avLst>
          </a:prstGeom>
          <a:solidFill>
            <a:srgbClr val="2E8B57"/>
          </a:solidFill>
          <a:ln w="12700">
            <a:solidFill>
              <a:srgbClr val="2E8B57"/>
            </a:solidFill>
            <a:prstDash val="solid"/>
          </a:ln>
        </p:spPr>
      </p:sp>
      <p:sp>
        <p:nvSpPr>
          <p:cNvPr id="38" name="Text 35"/>
          <p:cNvSpPr txBox="1"/>
          <p:nvPr/>
        </p:nvSpPr>
        <p:spPr>
          <a:xfrm>
            <a:off x="11091672" y="406908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9" name="Shape 36"/>
          <p:cNvSpPr/>
          <p:nvPr/>
        </p:nvSpPr>
        <p:spPr>
          <a:xfrm>
            <a:off x="457200" y="4608576"/>
            <a:ext cx="11274552" cy="530352"/>
          </a:xfrm>
          <a:prstGeom prst="roundRect">
            <a:avLst>
              <a:gd name="adj" fmla="val 8621"/>
            </a:avLst>
          </a:prstGeom>
          <a:solidFill>
            <a:srgbClr val="FFFFFF"/>
          </a:solidFill>
          <a:ln w="9525">
            <a:solidFill>
              <a:srgbClr val="D8D0BF"/>
            </a:solidFill>
            <a:prstDash val="solid"/>
          </a:ln>
        </p:spPr>
      </p:sp>
      <p:sp>
        <p:nvSpPr>
          <p:cNvPr id="40" name="Text 37"/>
          <p:cNvSpPr txBox="1"/>
          <p:nvPr/>
        </p:nvSpPr>
        <p:spPr>
          <a:xfrm>
            <a:off x="10360152" y="4608576"/>
            <a:ext cx="1280160" cy="53035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٧:٤٠</a:t>
            </a:r>
            <a:endParaRPr lang="ar-SA" sz="2200" dirty="0"/>
          </a:p>
        </p:txBody>
      </p:sp>
      <p:sp>
        <p:nvSpPr>
          <p:cNvPr id="41" name="Text 38"/>
          <p:cNvSpPr txBox="1"/>
          <p:nvPr/>
        </p:nvSpPr>
        <p:spPr>
          <a:xfrm>
            <a:off x="4690872" y="4608576"/>
            <a:ext cx="5486400" cy="530352"/>
          </a:xfrm>
          <a:prstGeom prst="rect">
            <a:avLst/>
          </a:prstGeom>
          <a:noFill/>
          <a:ln/>
        </p:spPr>
        <p:txBody>
          <a:bodyPr wrap="square" lIns="0" tIns="0" rIns="0" bIns="0" rtlCol="0" anchor="ctr"/>
          <a:lstStyle/>
          <a:p>
            <a:pPr rtl="1" algn="ctr" indent="0" marL="0">
              <a:buNone/>
            </a:pPr>
            <a:r>
              <a:rPr lang="ar-SA" altLang="en-US" sz="2200" b="1" dirty="0">
                <a:solidFill>
                  <a:srgbClr val="D6336C"/>
                </a:solidFill>
                <a:latin typeface="Amiri" pitchFamily="2" charset="-78"/>
                <a:cs typeface="Amiri" pitchFamily="2" charset="-78"/>
              </a:rPr>
              <a:t>الثَّامِنَةُ</a:t>
            </a:r>
            <a:pPr rtl="1" algn="ctr" indent="0" marL="0">
              <a:buNone/>
            </a:pPr>
            <a:r>
              <a:rPr lang="ar-SA" altLang="en-US" sz="2200" b="1" dirty="0">
                <a:solidFill>
                  <a:srgbClr val="1B3B6F"/>
                </a:solidFill>
                <a:latin typeface="Amiri" pitchFamily="2" charset="-78"/>
                <a:cs typeface="Amiri" pitchFamily="2" charset="-78"/>
              </a:rPr>
              <a:t> </a:t>
            </a:r>
            <a:pPr rtl="1" algn="ctr" indent="0" marL="0">
              <a:buNone/>
            </a:pPr>
            <a:r>
              <a:rPr lang="ar-SA" altLang="en-US" sz="2200" b="1" dirty="0">
                <a:solidFill>
                  <a:srgbClr val="0E7C86"/>
                </a:solidFill>
                <a:latin typeface="Amiri" pitchFamily="2" charset="-78"/>
                <a:cs typeface="Amiri" pitchFamily="2" charset="-78"/>
              </a:rPr>
              <a:t>إِلَّا</a:t>
            </a:r>
            <a:pPr rtl="1" algn="ctr" indent="0" marL="0">
              <a:buNone/>
            </a:pPr>
            <a:r>
              <a:rPr lang="ar-SA" altLang="en-US" sz="2200" b="1" dirty="0">
                <a:solidFill>
                  <a:srgbClr val="1B3B6F"/>
                </a:solidFill>
                <a:latin typeface="Amiri" pitchFamily="2" charset="-78"/>
                <a:cs typeface="Amiri" pitchFamily="2" charset="-78"/>
              </a:rPr>
              <a:t> الثُّلُثَ</a:t>
            </a:r>
            <a:endParaRPr lang="ar-SA" sz="2200" dirty="0"/>
          </a:p>
        </p:txBody>
      </p:sp>
      <p:sp>
        <p:nvSpPr>
          <p:cNvPr id="42" name="Text 39"/>
          <p:cNvSpPr txBox="1"/>
          <p:nvPr/>
        </p:nvSpPr>
        <p:spPr>
          <a:xfrm>
            <a:off x="566928" y="4608576"/>
            <a:ext cx="3959352" cy="53035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NEXT hour (8) − a third</a:t>
            </a:r>
            <a:endParaRPr lang="en-US" sz="1100" dirty="0"/>
          </a:p>
        </p:txBody>
      </p:sp>
      <p:sp>
        <p:nvSpPr>
          <p:cNvPr id="43" name="Shape 40"/>
          <p:cNvSpPr/>
          <p:nvPr/>
        </p:nvSpPr>
        <p:spPr>
          <a:xfrm>
            <a:off x="457200" y="5193792"/>
            <a:ext cx="11274552" cy="530352"/>
          </a:xfrm>
          <a:prstGeom prst="roundRect">
            <a:avLst>
              <a:gd name="adj" fmla="val 8621"/>
            </a:avLst>
          </a:prstGeom>
          <a:solidFill>
            <a:srgbClr val="F4F1EA"/>
          </a:solidFill>
          <a:ln w="9525">
            <a:solidFill>
              <a:srgbClr val="D8D0BF"/>
            </a:solidFill>
            <a:prstDash val="solid"/>
          </a:ln>
        </p:spPr>
      </p:sp>
      <p:sp>
        <p:nvSpPr>
          <p:cNvPr id="44" name="Text 41"/>
          <p:cNvSpPr txBox="1"/>
          <p:nvPr/>
        </p:nvSpPr>
        <p:spPr>
          <a:xfrm>
            <a:off x="10360152" y="5193792"/>
            <a:ext cx="1280160" cy="53035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٧:٤٥</a:t>
            </a:r>
            <a:endParaRPr lang="ar-SA" sz="2200" dirty="0"/>
          </a:p>
        </p:txBody>
      </p:sp>
      <p:sp>
        <p:nvSpPr>
          <p:cNvPr id="45" name="Text 42"/>
          <p:cNvSpPr txBox="1"/>
          <p:nvPr/>
        </p:nvSpPr>
        <p:spPr>
          <a:xfrm>
            <a:off x="4690872" y="5193792"/>
            <a:ext cx="5486400" cy="530352"/>
          </a:xfrm>
          <a:prstGeom prst="rect">
            <a:avLst/>
          </a:prstGeom>
          <a:noFill/>
          <a:ln/>
        </p:spPr>
        <p:txBody>
          <a:bodyPr wrap="square" lIns="0" tIns="0" rIns="0" bIns="0" rtlCol="0" anchor="ctr"/>
          <a:lstStyle/>
          <a:p>
            <a:pPr rtl="1" algn="ctr" indent="0" marL="0">
              <a:buNone/>
            </a:pPr>
            <a:r>
              <a:rPr lang="ar-SA" altLang="en-US" sz="2200" b="1" dirty="0">
                <a:solidFill>
                  <a:srgbClr val="D6336C"/>
                </a:solidFill>
                <a:latin typeface="Amiri" pitchFamily="2" charset="-78"/>
                <a:cs typeface="Amiri" pitchFamily="2" charset="-78"/>
              </a:rPr>
              <a:t>الثَّامِنَةُ</a:t>
            </a:r>
            <a:pPr rtl="1" algn="ctr" indent="0" marL="0">
              <a:buNone/>
            </a:pPr>
            <a:r>
              <a:rPr lang="ar-SA" altLang="en-US" sz="2200" b="1" dirty="0">
                <a:solidFill>
                  <a:srgbClr val="1B3B6F"/>
                </a:solidFill>
                <a:latin typeface="Amiri" pitchFamily="2" charset="-78"/>
                <a:cs typeface="Amiri" pitchFamily="2" charset="-78"/>
              </a:rPr>
              <a:t> </a:t>
            </a:r>
            <a:pPr rtl="1" algn="ctr" indent="0" marL="0">
              <a:buNone/>
            </a:pPr>
            <a:r>
              <a:rPr lang="ar-SA" altLang="en-US" sz="2200" b="1" dirty="0">
                <a:solidFill>
                  <a:srgbClr val="0E7C86"/>
                </a:solidFill>
                <a:latin typeface="Amiri" pitchFamily="2" charset="-78"/>
                <a:cs typeface="Amiri" pitchFamily="2" charset="-78"/>
              </a:rPr>
              <a:t>إِلَّا</a:t>
            </a:r>
            <a:pPr rtl="1" algn="ctr" indent="0" marL="0">
              <a:buNone/>
            </a:pPr>
            <a:r>
              <a:rPr lang="ar-SA" altLang="en-US" sz="2200" b="1" dirty="0">
                <a:solidFill>
                  <a:srgbClr val="1B3B6F"/>
                </a:solidFill>
                <a:latin typeface="Amiri" pitchFamily="2" charset="-78"/>
                <a:cs typeface="Amiri" pitchFamily="2" charset="-78"/>
              </a:rPr>
              <a:t> الرُّبْعَ</a:t>
            </a:r>
            <a:endParaRPr lang="ar-SA" sz="2200" dirty="0"/>
          </a:p>
        </p:txBody>
      </p:sp>
      <p:sp>
        <p:nvSpPr>
          <p:cNvPr id="46" name="Text 43"/>
          <p:cNvSpPr txBox="1"/>
          <p:nvPr/>
        </p:nvSpPr>
        <p:spPr>
          <a:xfrm>
            <a:off x="566928" y="5193792"/>
            <a:ext cx="3959352" cy="53035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NEXT hour (8) − a quarter</a:t>
            </a:r>
            <a:endParaRPr lang="en-US" sz="1100" dirty="0"/>
          </a:p>
        </p:txBody>
      </p:sp>
      <p:sp>
        <p:nvSpPr>
          <p:cNvPr id="47" name="Shape 44"/>
          <p:cNvSpPr/>
          <p:nvPr/>
        </p:nvSpPr>
        <p:spPr>
          <a:xfrm>
            <a:off x="11091672" y="5239512"/>
            <a:ext cx="548640" cy="182880"/>
          </a:xfrm>
          <a:prstGeom prst="roundRect">
            <a:avLst>
              <a:gd name="adj" fmla="val 50000"/>
            </a:avLst>
          </a:prstGeom>
          <a:solidFill>
            <a:srgbClr val="2E8B57"/>
          </a:solidFill>
          <a:ln w="12700">
            <a:solidFill>
              <a:srgbClr val="2E8B57"/>
            </a:solidFill>
            <a:prstDash val="solid"/>
          </a:ln>
        </p:spPr>
      </p:sp>
      <p:sp>
        <p:nvSpPr>
          <p:cNvPr id="48" name="Text 45"/>
          <p:cNvSpPr txBox="1"/>
          <p:nvPr/>
        </p:nvSpPr>
        <p:spPr>
          <a:xfrm>
            <a:off x="11091672" y="523951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9" name="Shape 46"/>
          <p:cNvSpPr/>
          <p:nvPr/>
        </p:nvSpPr>
        <p:spPr>
          <a:xfrm>
            <a:off x="457200" y="5779008"/>
            <a:ext cx="11274552" cy="530352"/>
          </a:xfrm>
          <a:prstGeom prst="roundRect">
            <a:avLst>
              <a:gd name="adj" fmla="val 8621"/>
            </a:avLst>
          </a:prstGeom>
          <a:solidFill>
            <a:srgbClr val="FFFFFF"/>
          </a:solidFill>
          <a:ln w="9525">
            <a:solidFill>
              <a:srgbClr val="D8D0BF"/>
            </a:solidFill>
            <a:prstDash val="solid"/>
          </a:ln>
        </p:spPr>
      </p:sp>
      <p:sp>
        <p:nvSpPr>
          <p:cNvPr id="50" name="Text 47"/>
          <p:cNvSpPr txBox="1"/>
          <p:nvPr/>
        </p:nvSpPr>
        <p:spPr>
          <a:xfrm>
            <a:off x="10360152" y="5779008"/>
            <a:ext cx="1280160" cy="53035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٧:٥٥</a:t>
            </a:r>
            <a:endParaRPr lang="ar-SA" sz="2200" dirty="0"/>
          </a:p>
        </p:txBody>
      </p:sp>
      <p:sp>
        <p:nvSpPr>
          <p:cNvPr id="51" name="Text 48"/>
          <p:cNvSpPr txBox="1"/>
          <p:nvPr/>
        </p:nvSpPr>
        <p:spPr>
          <a:xfrm>
            <a:off x="4690872" y="5779008"/>
            <a:ext cx="5486400" cy="530352"/>
          </a:xfrm>
          <a:prstGeom prst="rect">
            <a:avLst/>
          </a:prstGeom>
          <a:noFill/>
          <a:ln/>
        </p:spPr>
        <p:txBody>
          <a:bodyPr wrap="square" lIns="0" tIns="0" rIns="0" bIns="0" rtlCol="0" anchor="ctr"/>
          <a:lstStyle/>
          <a:p>
            <a:pPr rtl="1" algn="ctr" indent="0" marL="0">
              <a:buNone/>
            </a:pPr>
            <a:r>
              <a:rPr lang="ar-SA" altLang="en-US" sz="2200" b="1" dirty="0">
                <a:solidFill>
                  <a:srgbClr val="D6336C"/>
                </a:solidFill>
                <a:latin typeface="Amiri" pitchFamily="2" charset="-78"/>
                <a:cs typeface="Amiri" pitchFamily="2" charset="-78"/>
              </a:rPr>
              <a:t>الثَّامِنَةُ</a:t>
            </a:r>
            <a:pPr rtl="1" algn="ctr" indent="0" marL="0">
              <a:buNone/>
            </a:pPr>
            <a:r>
              <a:rPr lang="ar-SA" altLang="en-US" sz="2200" b="1" dirty="0">
                <a:solidFill>
                  <a:srgbClr val="1B3B6F"/>
                </a:solidFill>
                <a:latin typeface="Amiri" pitchFamily="2" charset="-78"/>
                <a:cs typeface="Amiri" pitchFamily="2" charset="-78"/>
              </a:rPr>
              <a:t> </a:t>
            </a:r>
            <a:pPr rtl="1" algn="ctr" indent="0" marL="0">
              <a:buNone/>
            </a:pPr>
            <a:r>
              <a:rPr lang="ar-SA" altLang="en-US" sz="2200" b="1" dirty="0">
                <a:solidFill>
                  <a:srgbClr val="0E7C86"/>
                </a:solidFill>
                <a:latin typeface="Amiri" pitchFamily="2" charset="-78"/>
                <a:cs typeface="Amiri" pitchFamily="2" charset="-78"/>
              </a:rPr>
              <a:t>إِلَّا</a:t>
            </a:r>
            <a:pPr rtl="1" algn="ctr" indent="0" marL="0">
              <a:buNone/>
            </a:pPr>
            <a:r>
              <a:rPr lang="ar-SA" altLang="en-US" sz="2200" b="1" dirty="0">
                <a:solidFill>
                  <a:srgbClr val="1B3B6F"/>
                </a:solidFill>
                <a:latin typeface="Amiri" pitchFamily="2" charset="-78"/>
                <a:cs typeface="Amiri" pitchFamily="2" charset="-78"/>
              </a:rPr>
              <a:t> خَمْسَ دَقَائِقَ</a:t>
            </a:r>
            <a:endParaRPr lang="ar-SA" sz="2200" dirty="0"/>
          </a:p>
        </p:txBody>
      </p:sp>
      <p:sp>
        <p:nvSpPr>
          <p:cNvPr id="52" name="Text 49"/>
          <p:cNvSpPr txBox="1"/>
          <p:nvPr/>
        </p:nvSpPr>
        <p:spPr>
          <a:xfrm>
            <a:off x="566928" y="5779008"/>
            <a:ext cx="3959352" cy="53035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NEXT hour (8) − 5 minutes</a:t>
            </a:r>
            <a:endParaRPr lang="en-US" sz="1100" dirty="0"/>
          </a:p>
        </p:txBody>
      </p:sp>
      <p:sp>
        <p:nvSpPr>
          <p:cNvPr id="53" name="Text 5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46</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D1-L02 · Telling the Time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88" b="1" spc="150" kern="0" dirty="0">
                <a:solidFill>
                  <a:srgbClr val="1B3B6F"/>
                </a:solidFill>
                <a:latin typeface="Calibri" pitchFamily="34" charset="0"/>
                <a:cs typeface="Amiri" pitchFamily="2" charset="-78"/>
              </a:rPr>
              <a:t>GRAMMAR FOCUS · PART 3 · START, FINISH, DURATION (WEBSITE) · DEVELOP / STRETCH</a:t>
            </a:r>
            <a:endParaRPr lang="en-US" sz="888"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Begins, ends, lasts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يَبْدَأُ · يَنْتَهِي · يَسْتَمِرُّ</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D1-L02</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645920" cy="274320"/>
          </a:xfrm>
          <a:prstGeom prst="roundRect">
            <a:avLst>
              <a:gd name="adj" fmla="val 50000"/>
            </a:avLst>
          </a:prstGeom>
          <a:solidFill>
            <a:srgbClr val="1D5FBF"/>
          </a:solidFill>
          <a:ln w="12700">
            <a:solidFill>
              <a:srgbClr val="1D5FBF"/>
            </a:solidFill>
            <a:prstDash val="solid"/>
          </a:ln>
        </p:spPr>
      </p:sp>
      <p:sp>
        <p:nvSpPr>
          <p:cNvPr id="17" name="Text 14"/>
          <p:cNvSpPr txBox="1"/>
          <p:nvPr/>
        </p:nvSpPr>
        <p:spPr>
          <a:xfrm>
            <a:off x="8232648" y="1920240"/>
            <a:ext cx="164592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START · يَبْدَأُ فِي</a:t>
            </a:r>
            <a:endParaRPr lang="en-US" sz="850" dirty="0"/>
          </a:p>
        </p:txBody>
      </p:sp>
      <p:sp>
        <p:nvSpPr>
          <p:cNvPr id="18" name="Text 15"/>
          <p:cNvSpPr txBox="1"/>
          <p:nvPr/>
        </p:nvSpPr>
        <p:spPr>
          <a:xfrm>
            <a:off x="9924288" y="1874520"/>
            <a:ext cx="167030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cs typeface="Amiri" pitchFamily="2" charset="-78"/>
              </a:rPr>
              <a:t>يَبْدَأُ</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buNone/>
            </a:pPr>
            <a:r>
              <a:rPr lang="ar-SA" altLang="en-US" sz="3000" b="1" dirty="0">
                <a:solidFill>
                  <a:srgbClr val="1B3B6F"/>
                </a:solidFill>
                <a:latin typeface="Amiri" pitchFamily="2" charset="-78"/>
                <a:cs typeface="Amiri" pitchFamily="2" charset="-78"/>
              </a:rPr>
              <a:t>يَبْدَأُ الدَّرْسُ فِي الثَّامِنَةِ.</a:t>
            </a:r>
            <a:endParaRPr lang="ar-SA" sz="300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The lesson begins at eight.</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ar-SA" altLang="en-US" sz="1450" dirty="0">
                <a:solidFill>
                  <a:srgbClr val="1F2A37"/>
                </a:solidFill>
                <a:latin typeface="Amiri" pitchFamily="2" charset="-78"/>
                <a:cs typeface="Amiri" pitchFamily="2" charset="-78"/>
              </a:rPr>
              <a:t>فِي</a:t>
            </a:r>
            <a:pPr algn="l" indent="0" marL="0">
              <a:buNone/>
            </a:pPr>
            <a:r>
              <a:rPr lang="en-US" sz="1100" dirty="0">
                <a:solidFill>
                  <a:srgbClr val="1F2A37"/>
                </a:solidFill>
                <a:latin typeface="Calibri" pitchFamily="34" charset="0"/>
                <a:cs typeface="Amiri" pitchFamily="2" charset="-78"/>
              </a:rPr>
              <a:t> + an exact time.</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783080" cy="274320"/>
          </a:xfrm>
          <a:prstGeom prst="roundRect">
            <a:avLst>
              <a:gd name="adj" fmla="val 50000"/>
            </a:avLst>
          </a:prstGeom>
          <a:solidFill>
            <a:srgbClr val="6B4C9A"/>
          </a:solidFill>
          <a:ln w="12700">
            <a:solidFill>
              <a:srgbClr val="6B4C9A"/>
            </a:solidFill>
            <a:prstDash val="solid"/>
          </a:ln>
        </p:spPr>
      </p:sp>
      <p:sp>
        <p:nvSpPr>
          <p:cNvPr id="25" name="Text 22"/>
          <p:cNvSpPr txBox="1"/>
          <p:nvPr/>
        </p:nvSpPr>
        <p:spPr>
          <a:xfrm>
            <a:off x="4413504" y="1920240"/>
            <a:ext cx="178308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FINISH · يَنْتَهِي فِي</a:t>
            </a:r>
            <a:endParaRPr lang="en-US" sz="850" dirty="0"/>
          </a:p>
        </p:txBody>
      </p:sp>
      <p:sp>
        <p:nvSpPr>
          <p:cNvPr id="26" name="Text 23"/>
          <p:cNvSpPr txBox="1"/>
          <p:nvPr/>
        </p:nvSpPr>
        <p:spPr>
          <a:xfrm>
            <a:off x="6242304" y="1874520"/>
            <a:ext cx="153314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cs typeface="Amiri" pitchFamily="2" charset="-78"/>
              </a:rPr>
              <a:t>يَنْتَهِي</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450" b="1" dirty="0">
                <a:solidFill>
                  <a:srgbClr val="1B3B6F"/>
                </a:solidFill>
                <a:latin typeface="Amiri" pitchFamily="2" charset="-78"/>
                <a:cs typeface="Amiri" pitchFamily="2" charset="-78"/>
              </a:rPr>
              <a:t>يَنْتَهِي فِي التَّاسِعَةِ إِلَّا الرُّبْعَ.</a:t>
            </a:r>
            <a:endParaRPr lang="ar-SA" sz="245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It ends at quarter to nine.</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ar-SA" altLang="en-US" sz="1450" dirty="0">
                <a:solidFill>
                  <a:srgbClr val="1F2A37"/>
                </a:solidFill>
                <a:latin typeface="Amiri" pitchFamily="2" charset="-78"/>
                <a:cs typeface="Amiri" pitchFamily="2" charset="-78"/>
              </a:rPr>
              <a:t>فِي</a:t>
            </a:r>
            <a:pPr algn="l" indent="0" marL="0">
              <a:buNone/>
            </a:pPr>
            <a:r>
              <a:rPr lang="en-US" sz="1100" dirty="0">
                <a:solidFill>
                  <a:srgbClr val="1F2A37"/>
                </a:solidFill>
                <a:latin typeface="Calibri" pitchFamily="34" charset="0"/>
                <a:cs typeface="Amiri" pitchFamily="2" charset="-78"/>
              </a:rPr>
              <a:t> + an exact time.</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2181758" cy="274320"/>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594360" y="1920240"/>
            <a:ext cx="2181758"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DURATION · يَسْتَمِرُّ مُدَّةَ</a:t>
            </a:r>
            <a:endParaRPr lang="en-US" sz="850" dirty="0"/>
          </a:p>
        </p:txBody>
      </p:sp>
      <p:sp>
        <p:nvSpPr>
          <p:cNvPr id="34" name="Text 31"/>
          <p:cNvSpPr txBox="1"/>
          <p:nvPr/>
        </p:nvSpPr>
        <p:spPr>
          <a:xfrm>
            <a:off x="2821838" y="1874520"/>
            <a:ext cx="1134466"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cs typeface="Amiri" pitchFamily="2" charset="-78"/>
              </a:rPr>
              <a:t>مُدَّةَ</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350" b="1" dirty="0">
                <a:solidFill>
                  <a:srgbClr val="1B3B6F"/>
                </a:solidFill>
                <a:latin typeface="Amiri" pitchFamily="2" charset="-78"/>
                <a:cs typeface="Amiri" pitchFamily="2" charset="-78"/>
              </a:rPr>
              <a:t>يَسْتَمِرُّ مُدَّةَ خَمْسٍ وَأَرْبَعِينَ دَقِيقَةً.</a:t>
            </a:r>
            <a:endParaRPr lang="ar-SA" sz="235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It lasts 45 minutes.</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How LONG → </a:t>
            </a:r>
            <a:pPr algn="l" indent="0" marL="0">
              <a:buNone/>
            </a:pPr>
            <a:r>
              <a:rPr lang="ar-SA" altLang="en-US" sz="1450" dirty="0">
                <a:solidFill>
                  <a:srgbClr val="1F2A37"/>
                </a:solidFill>
                <a:latin typeface="Amiri" pitchFamily="2" charset="-78"/>
                <a:cs typeface="Amiri" pitchFamily="2" charset="-78"/>
              </a:rPr>
              <a:t>مُدَّةَ</a:t>
            </a:r>
            <a:pPr algn="l" indent="0" marL="0">
              <a:buNone/>
            </a:pPr>
            <a:r>
              <a:rPr lang="en-US" sz="1100" dirty="0">
                <a:solidFill>
                  <a:srgbClr val="1F2A37"/>
                </a:solidFill>
                <a:latin typeface="Calibri" pitchFamily="34" charset="0"/>
                <a:cs typeface="Amiri" pitchFamily="2" charset="-78"/>
              </a:rPr>
              <a:t>, not </a:t>
            </a:r>
            <a:pPr algn="l" indent="0" marL="0">
              <a:buNone/>
            </a:pPr>
            <a:r>
              <a:rPr lang="ar-SA" altLang="en-US" sz="1450" dirty="0">
                <a:solidFill>
                  <a:srgbClr val="1F2A37"/>
                </a:solidFill>
                <a:latin typeface="Amiri" pitchFamily="2" charset="-78"/>
                <a:cs typeface="Amiri" pitchFamily="2" charset="-78"/>
              </a:rPr>
              <a:t>فِي</a:t>
            </a:r>
            <a:pPr algn="l" indent="0" marL="0">
              <a:buNone/>
            </a:pPr>
            <a:r>
              <a:rPr lang="en-US" sz="1100" dirty="0">
                <a:solidFill>
                  <a:srgbClr val="1F2A37"/>
                </a:solidFill>
                <a:latin typeface="Calibri" pitchFamily="34" charset="0"/>
                <a:cs typeface="Amiri" pitchFamily="2" charset="-78"/>
              </a:rPr>
              <a:t>.</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cs typeface="Amiri" pitchFamily="2" charset="-78"/>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cs typeface="Amiri" pitchFamily="2" charset="-78"/>
              </a:rPr>
              <a:t>Website common mistake: use </a:t>
            </a:r>
            <a:pPr algn="l" indent="0" marL="0">
              <a:buNone/>
            </a:pPr>
            <a:r>
              <a:rPr lang="ar-SA" altLang="en-US" sz="1500" dirty="0">
                <a:solidFill>
                  <a:srgbClr val="1F2A37"/>
                </a:solidFill>
                <a:latin typeface="Amiri" pitchFamily="2" charset="-78"/>
                <a:cs typeface="Amiri" pitchFamily="2" charset="-78"/>
              </a:rPr>
              <a:t>مُدَّةَ</a:t>
            </a:r>
            <a:pPr algn="l" indent="0" marL="0">
              <a:buNone/>
            </a:pPr>
            <a:r>
              <a:rPr lang="en-US" sz="1150" dirty="0">
                <a:solidFill>
                  <a:srgbClr val="1F2A37"/>
                </a:solidFill>
                <a:latin typeface="Calibri" pitchFamily="34" charset="0"/>
                <a:cs typeface="Amiri" pitchFamily="2" charset="-78"/>
              </a:rPr>
              <a:t> for how long something lasts.</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buNone/>
            </a:pPr>
            <a:r>
              <a:rPr lang="ar-SA" altLang="en-US" sz="2300" b="1" dirty="0">
                <a:solidFill>
                  <a:srgbClr val="1B3B6F"/>
                </a:solidFill>
                <a:latin typeface="Amiri" pitchFamily="2" charset="-78"/>
                <a:cs typeface="Amiri" pitchFamily="2" charset="-78"/>
              </a:rPr>
              <a:t>يَسْتَمِرُّ مُدَّةَ سَاعَةٍ</a:t>
            </a:r>
            <a:endParaRPr lang="ar-SA" sz="230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buNone/>
            </a:pPr>
            <a:r>
              <a:rPr lang="ar-SA" altLang="en-US" sz="2500" b="1" dirty="0">
                <a:solidFill>
                  <a:srgbClr val="B83227"/>
                </a:solidFill>
                <a:latin typeface="Amiri" pitchFamily="2" charset="-78"/>
                <a:cs typeface="Amiri" pitchFamily="2" charset="-78"/>
              </a:rPr>
              <a:t>يَسْتَمِرُّ فِي سَاعَةٍ</a:t>
            </a:r>
            <a:endParaRPr lang="ar-SA" sz="250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46</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D1-L02 · Telling the Time</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800" b="1" dirty="0">
                <a:solidFill>
                  <a:srgbClr val="1B3B6F"/>
                </a:solidFill>
                <a:latin typeface="Cambria" pitchFamily="34" charset="0"/>
                <a:cs typeface="Amiri" pitchFamily="2" charset="-78"/>
              </a:rPr>
              <a:t>Advanced clock time: past, to and 24-hour schedules</a:t>
            </a:r>
            <a:endParaRPr lang="en-US" sz="1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قِرَاءَةُ الوَقْتِ المُتَقَدِّمَةُ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D1-L02</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1. Use </a:t>
            </a:r>
            <a:pPr algn="l" indent="0" marL="0">
              <a:buNone/>
            </a:pPr>
            <a:r>
              <a:rPr lang="ar-SA" altLang="en-US" sz="1650" b="1" dirty="0">
                <a:solidFill>
                  <a:srgbClr val="1B3B6F"/>
                </a:solidFill>
                <a:latin typeface="Amiri" pitchFamily="2" charset="-78"/>
                <a:cs typeface="Amiri" pitchFamily="2" charset="-78"/>
              </a:rPr>
              <a:t>وَ</a:t>
            </a:r>
            <a:pPr algn="l" indent="0" marL="0">
              <a:buNone/>
            </a:pPr>
            <a:r>
              <a:rPr lang="en-US" sz="1250" b="1" dirty="0">
                <a:solidFill>
                  <a:srgbClr val="1B3B6F"/>
                </a:solidFill>
                <a:latin typeface="Calibri" pitchFamily="34" charset="0"/>
                <a:cs typeface="Amiri" pitchFamily="2" charset="-78"/>
              </a:rPr>
              <a:t> for minutes after the hour</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cs typeface="Amiri" pitchFamily="2" charset="-78"/>
              </a:rPr>
              <a:t>السَّاعَةُ + العَدَدُ التَّرْتِيبِيُّ + وَ + الدَّقَائِقُ</a:t>
            </a:r>
            <a:endParaRPr lang="ar-SA" sz="13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lnSpc>
                <a:spcPct val="120000"/>
              </a:lnSpc>
              <a:buNone/>
            </a:pPr>
            <a:r>
              <a:rPr lang="ar-SA" altLang="en-US" sz="1850" b="1" dirty="0">
                <a:solidFill>
                  <a:srgbClr val="1F2A37"/>
                </a:solidFill>
                <a:latin typeface="Amiri" pitchFamily="2" charset="-78"/>
                <a:cs typeface="Amiri" pitchFamily="2" charset="-78"/>
              </a:rPr>
              <a:t>٧:٠٥ السَّاعَةُ السَّابِعَةُ وَخَمْسُ دَقَائِقَ.   ·   ٩:١٥ السَّاعَةُ التَّاسِعَةُ وَالرُّبْعُ.   ·   ١١:٣٠ السَّاعَةُ الحَادِيَةَ عَشْرَةَ وَالنِّصْفُ.</a:t>
            </a:r>
            <a:endParaRPr lang="ar-SA" sz="185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2. Use </a:t>
            </a:r>
            <a:pPr algn="l" indent="0" marL="0">
              <a:buNone/>
            </a:pPr>
            <a:r>
              <a:rPr lang="ar-SA" altLang="en-US" sz="1650" b="1" dirty="0">
                <a:solidFill>
                  <a:srgbClr val="1B3B6F"/>
                </a:solidFill>
                <a:latin typeface="Amiri" pitchFamily="2" charset="-78"/>
                <a:cs typeface="Amiri" pitchFamily="2" charset="-78"/>
              </a:rPr>
              <a:t>إِلَّا</a:t>
            </a:r>
            <a:pPr algn="l" indent="0" marL="0">
              <a:buNone/>
            </a:pPr>
            <a:r>
              <a:rPr lang="en-US" sz="1250" b="1" dirty="0">
                <a:solidFill>
                  <a:srgbClr val="1B3B6F"/>
                </a:solidFill>
                <a:latin typeface="Calibri" pitchFamily="34" charset="0"/>
                <a:cs typeface="Amiri" pitchFamily="2" charset="-78"/>
              </a:rPr>
              <a:t> for minutes before the next hour</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cs typeface="Amiri" pitchFamily="2" charset="-78"/>
              </a:rPr>
              <a:t>السَّاعَةُ + السَّاعَةُ التَّالِيَةُ + إِلَّا + الدَّقَائِقَ</a:t>
            </a:r>
            <a:endParaRPr lang="ar-SA" sz="13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lnSpc>
                <a:spcPct val="120000"/>
              </a:lnSpc>
              <a:buNone/>
            </a:pPr>
            <a:r>
              <a:rPr lang="ar-SA" altLang="en-US" sz="1850" b="1" dirty="0">
                <a:solidFill>
                  <a:srgbClr val="1F2A37"/>
                </a:solidFill>
                <a:latin typeface="Amiri" pitchFamily="2" charset="-78"/>
                <a:cs typeface="Amiri" pitchFamily="2" charset="-78"/>
              </a:rPr>
              <a:t>٢:٤٠ السَّاعَةُ الثَّالِثَةُ إِلَّا الثُّلُثَ.   ·   ٥:٤٥ السَّاعَةُ السَّادِسَةُ إِلَّا الرُّبْعَ.   ·   ٨:٥٥ السَّاعَةُ التَّاسِعَةُ إِلَّا خَمْسَ دَقَائِقَ.</a:t>
            </a:r>
            <a:endParaRPr lang="ar-SA" sz="18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3. Read formal 24-hour time accurately</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cs typeface="Amiri" pitchFamily="2" charset="-78"/>
              </a:rPr>
              <a:t>١٤:٣٠ ← الرَّابِعَةَ عَشْرَةَ وَالنِّصْفُ</a:t>
            </a:r>
            <a:endParaRPr lang="ar-SA" sz="13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lnSpc>
                <a:spcPct val="120000"/>
              </a:lnSpc>
              <a:buNone/>
            </a:pPr>
            <a:r>
              <a:rPr lang="ar-SA" altLang="en-US" sz="1850" b="1" dirty="0">
                <a:solidFill>
                  <a:srgbClr val="1F2A37"/>
                </a:solidFill>
                <a:latin typeface="Amiri" pitchFamily="2" charset="-78"/>
                <a:cs typeface="Amiri" pitchFamily="2" charset="-78"/>
              </a:rPr>
              <a:t>يَنْطَلِقُ القِطَارُ فِي السَّاعَةِ الرَّابِعَةَ عَشْرَةَ وَالنِّصْفِ.   ·   يَبْدَأُ النَّشَاطُ فِي السَّاعَةِ السَّادِسَةَ عَشْرَةَ.</a:t>
            </a:r>
            <a:endParaRPr lang="ar-SA" sz="185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4. Distinguish start, finish and duration</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cs typeface="Amiri" pitchFamily="2" charset="-78"/>
              </a:rPr>
              <a:t>يَبْدَأُ فِي... · يَنْتَهِي فِي... · يَسْتَمِرُّ مُدَّةَ...</a:t>
            </a:r>
            <a:endParaRPr lang="ar-SA" sz="13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lnSpc>
                <a:spcPct val="120000"/>
              </a:lnSpc>
              <a:buNone/>
            </a:pPr>
            <a:r>
              <a:rPr lang="ar-SA" altLang="en-US" sz="1850" b="1" dirty="0">
                <a:solidFill>
                  <a:srgbClr val="1F2A37"/>
                </a:solidFill>
                <a:latin typeface="Amiri" pitchFamily="2" charset="-78"/>
                <a:cs typeface="Amiri" pitchFamily="2" charset="-78"/>
              </a:rPr>
              <a:t>يَبْدَأُ الدَّرْسُ فِي الثَّامِنَةِ.   ·   يَنْتَهِي فِي التَّاسِعَةِ إِلَّا الرُّبْعَ.   ·   يَسْتَمِرُّ مُدَّةَ خَمْسٍ وَأَرْبَعِينَ دَقِيقَةً.</a:t>
            </a:r>
            <a:endParaRPr lang="ar-SA" sz="18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46</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D1-L02 · Telling the Time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D1-L02</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7:15?</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السَّابِعَةُ إِلَّا الرُّبْعَ</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الثَّامِنَةُ وَالرُّبْعُ</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السَّابِعَةُ وَالرُّبْعُ</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3:45?</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الرَّابِعَةُ إِلَّا الرُّبْعَ</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الثَّالِثَةُ وَالرُّبْعُ</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الثَّالِثَةُ وَالنِّصْفُ</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8:55?</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الثَّامِنَةُ إِلَّا خَمْسًا</a:t>
            </a:r>
            <a:endParaRPr lang="ar-SA" sz="20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التَّاسِعَةُ إِلَّا خَمْسَ دَقَائِقَ</a:t>
            </a:r>
            <a:endParaRPr lang="ar-SA" sz="20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التَّاسِعَةُ وَخَمْسُ دَقَائِقَ</a:t>
            </a:r>
            <a:endParaRPr lang="ar-SA" sz="20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verb means “begins”?</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يَبْدَأُ</a:t>
            </a:r>
            <a:endParaRPr lang="ar-SA" sz="20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يَنْتَهِي</a:t>
            </a:r>
            <a:endParaRPr lang="ar-SA" sz="20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يَسْتَمِرُّ</a:t>
            </a:r>
            <a:endParaRPr lang="ar-SA" sz="20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46</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D1-L02 · Telling the Time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D1-L02</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7:15?</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السَّابِعَةُ إِلَّا الرُّبْعَ</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الثَّامِنَةُ وَالرُّبْعُ</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السَّابِعَةُ وَالرُّبْعُ</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15 minutes after seven uses </a:t>
            </a:r>
            <a:pPr algn="l" indent="0" marL="0">
              <a:buNone/>
            </a:pPr>
            <a:r>
              <a:rPr lang="ar-SA" altLang="en-US" sz="1350" dirty="0">
                <a:solidFill>
                  <a:srgbClr val="8A6D1E"/>
                </a:solidFill>
                <a:latin typeface="Amiri" pitchFamily="2" charset="-78"/>
                <a:cs typeface="Amiri" pitchFamily="2" charset="-78"/>
              </a:rPr>
              <a:t>وَالرُّبْعُ</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3:45?</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الرَّابِعَةُ إِلَّا الرُّبْعَ</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الثَّالِثَةُ وَالرُّبْعُ</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الثَّالِثَةُ وَالنِّصْفُ</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Move to the next hour: quarter to four.</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8:55?</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الثَّامِنَةُ إِلَّا خَمْسًا</a:t>
            </a:r>
            <a:endParaRPr lang="ar-SA" sz="170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التَّاسِعَةُ إِلَّا خَمْسَ دَقَائِقَ</a:t>
            </a:r>
            <a:endParaRPr lang="ar-SA" sz="170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التَّاسِعَةُ وَخَمْسُ دَقَائِقَ</a:t>
            </a:r>
            <a:endParaRPr lang="ar-SA" sz="170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It is five minutes before nine.</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verb means “begins”?</a:t>
            </a:r>
            <a:endParaRPr lang="en-US" sz="1250" dirty="0"/>
          </a:p>
        </p:txBody>
      </p:sp>
      <p:sp>
        <p:nvSpPr>
          <p:cNvPr id="64" name="Shape 61"/>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يَبْدَأُ</a:t>
            </a:r>
            <a:endParaRPr lang="ar-SA" sz="1700" dirty="0"/>
          </a:p>
        </p:txBody>
      </p:sp>
      <p:sp>
        <p:nvSpPr>
          <p:cNvPr id="68" name="Shape 65"/>
          <p:cNvSpPr/>
          <p:nvPr/>
        </p:nvSpPr>
        <p:spPr>
          <a:xfrm>
            <a:off x="6368796"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يَنْتَهِي</a:t>
            </a:r>
            <a:endParaRPr lang="ar-SA" sz="170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يَسْتَمِرُّ</a:t>
            </a:r>
            <a:endParaRPr lang="ar-SA" sz="170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يَبْدَأُ</a:t>
            </a:r>
            <a:pPr algn="l" indent="0" marL="0">
              <a:buNone/>
            </a:pPr>
            <a:r>
              <a:rPr lang="en-US" sz="1050" i="1" dirty="0">
                <a:solidFill>
                  <a:srgbClr val="8A6D1E"/>
                </a:solidFill>
                <a:latin typeface="Calibri" pitchFamily="34" charset="0"/>
                <a:cs typeface="Amiri" pitchFamily="2" charset="-78"/>
              </a:rPr>
              <a:t> = begins.</a:t>
            </a:r>
            <a:endParaRPr lang="en-US" sz="10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46</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D1-L02 · Telling the Time</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Watch me read my timetable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D1-L02</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Start</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D5FBF"/>
                </a:solidFill>
                <a:latin typeface="Amiri" pitchFamily="2" charset="-78"/>
                <a:cs typeface="Amiri" pitchFamily="2" charset="-78"/>
              </a:rPr>
              <a:t>يَبْدَأُ</a:t>
            </a:r>
            <a:pPr rtl="1" algn="ctr" indent="0" marL="0">
              <a:lnSpc>
                <a:spcPct val="120000"/>
              </a:lnSpc>
              <a:buNone/>
            </a:pPr>
            <a:r>
              <a:rPr lang="ar-SA" altLang="en-US" sz="1750" b="1" dirty="0">
                <a:solidFill>
                  <a:srgbClr val="1B3B6F"/>
                </a:solidFill>
                <a:latin typeface="Amiri" pitchFamily="2" charset="-78"/>
                <a:cs typeface="Amiri" pitchFamily="2" charset="-78"/>
              </a:rPr>
              <a:t> الدَّوَامُ فِي الثَّامِنَةِ </a:t>
            </a:r>
            <a:pPr rtl="1" algn="ctr" indent="0" marL="0">
              <a:lnSpc>
                <a:spcPct val="120000"/>
              </a:lnSpc>
              <a:buNone/>
            </a:pPr>
            <a:r>
              <a:rPr lang="ar-SA" altLang="en-US" sz="1750" b="1" dirty="0">
                <a:solidFill>
                  <a:srgbClr val="0E7C86"/>
                </a:solidFill>
                <a:latin typeface="Amiri" pitchFamily="2" charset="-78"/>
                <a:cs typeface="Amiri" pitchFamily="2" charset="-78"/>
              </a:rPr>
              <a:t>وَ</a:t>
            </a:r>
            <a:pPr rtl="1" algn="ctr" indent="0" marL="0">
              <a:lnSpc>
                <a:spcPct val="120000"/>
              </a:lnSpc>
              <a:buNone/>
            </a:pPr>
            <a:r>
              <a:rPr lang="ar-SA" altLang="en-US" sz="1750" b="1" dirty="0">
                <a:solidFill>
                  <a:srgbClr val="1B3B6F"/>
                </a:solidFill>
                <a:latin typeface="Amiri" pitchFamily="2" charset="-78"/>
                <a:cs typeface="Amiri" pitchFamily="2" charset="-78"/>
              </a:rPr>
              <a:t>خَمْسٍ وَعِشْرِينَ دَقِيقَةً.</a:t>
            </a:r>
            <a:endParaRPr lang="ar-SA" sz="175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8:25 → 8 + 25 minutes (</a:t>
            </a:r>
            <a:pPr algn="l" indent="0" marL="0">
              <a:buNone/>
            </a:pPr>
            <a:r>
              <a:rPr lang="ar-SA" altLang="en-US" sz="1500" dirty="0">
                <a:solidFill>
                  <a:srgbClr val="1F2A37"/>
                </a:solidFill>
                <a:latin typeface="Amiri" pitchFamily="2" charset="-78"/>
                <a:cs typeface="Amiri" pitchFamily="2" charset="-78"/>
              </a:rPr>
              <a:t>وَ</a:t>
            </a:r>
            <a:pPr algn="l" indent="0" marL="0">
              <a:buNone/>
            </a:pPr>
            <a:r>
              <a:rPr lang="en-US" sz="1150" dirty="0">
                <a:solidFill>
                  <a:srgbClr val="1F2A37"/>
                </a:solidFill>
                <a:latin typeface="Calibri" pitchFamily="34" charset="0"/>
                <a:cs typeface="Amiri" pitchFamily="2" charset="-78"/>
              </a:rPr>
              <a:t>).</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Finish</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D5FBF"/>
                </a:solidFill>
                <a:latin typeface="Amiri" pitchFamily="2" charset="-78"/>
                <a:cs typeface="Amiri" pitchFamily="2" charset="-78"/>
              </a:rPr>
              <a:t>يَنْتَهِي</a:t>
            </a:r>
            <a:pPr rtl="1" algn="ctr" indent="0" marL="0">
              <a:lnSpc>
                <a:spcPct val="120000"/>
              </a:lnSpc>
              <a:buNone/>
            </a:pPr>
            <a:r>
              <a:rPr lang="ar-SA" altLang="en-US" sz="1750" b="1" dirty="0">
                <a:solidFill>
                  <a:srgbClr val="1B3B6F"/>
                </a:solidFill>
                <a:latin typeface="Amiri" pitchFamily="2" charset="-78"/>
                <a:cs typeface="Amiri" pitchFamily="2" charset="-78"/>
              </a:rPr>
              <a:t> فِي الرَّابِعَةِ </a:t>
            </a:r>
            <a:pPr rtl="1" algn="ctr" indent="0" marL="0">
              <a:lnSpc>
                <a:spcPct val="120000"/>
              </a:lnSpc>
              <a:buNone/>
            </a:pPr>
            <a:r>
              <a:rPr lang="ar-SA" altLang="en-US" sz="1750" b="1" dirty="0">
                <a:solidFill>
                  <a:srgbClr val="0E7C86"/>
                </a:solidFill>
                <a:latin typeface="Amiri" pitchFamily="2" charset="-78"/>
                <a:cs typeface="Amiri" pitchFamily="2" charset="-78"/>
              </a:rPr>
              <a:t>إِلَّا</a:t>
            </a:r>
            <a:pPr rtl="1" algn="ctr" indent="0" marL="0">
              <a:lnSpc>
                <a:spcPct val="120000"/>
              </a:lnSpc>
              <a:buNone/>
            </a:pPr>
            <a:r>
              <a:rPr lang="ar-SA" altLang="en-US" sz="1750" b="1" dirty="0">
                <a:solidFill>
                  <a:srgbClr val="1B3B6F"/>
                </a:solidFill>
                <a:latin typeface="Amiri" pitchFamily="2" charset="-78"/>
                <a:cs typeface="Amiri" pitchFamily="2" charset="-78"/>
              </a:rPr>
              <a:t> عَشْرَ دَقَائِقَ.</a:t>
            </a:r>
            <a:endParaRPr lang="ar-SA" sz="175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3:50 → the NEXT hour (4) − 10.</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24-hour</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2" charset="-78"/>
                <a:cs typeface="Amiri" pitchFamily="2" charset="-78"/>
              </a:rPr>
              <a:t>المَوْعِدُ فِي السَّاعَةِ السَّادِسَةَ عَشْرَةَ.</a:t>
            </a:r>
            <a:endParaRPr lang="ar-SA" sz="175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16:00 = 4 p.m. (a timetable).</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Duration</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D5FBF"/>
                </a:solidFill>
                <a:latin typeface="Amiri" pitchFamily="2" charset="-78"/>
                <a:cs typeface="Amiri" pitchFamily="2" charset="-78"/>
              </a:rPr>
              <a:t>يَسْتَمِرُّ</a:t>
            </a:r>
            <a:pPr rtl="1" algn="ctr" indent="0" marL="0">
              <a:lnSpc>
                <a:spcPct val="120000"/>
              </a:lnSpc>
              <a:buNone/>
            </a:pPr>
            <a:r>
              <a:rPr lang="ar-SA" altLang="en-US" sz="1750" b="1" dirty="0">
                <a:solidFill>
                  <a:srgbClr val="1B3B6F"/>
                </a:solidFill>
                <a:latin typeface="Amiri" pitchFamily="2" charset="-78"/>
                <a:cs typeface="Amiri" pitchFamily="2" charset="-78"/>
              </a:rPr>
              <a:t> التَّمْرِينُ </a:t>
            </a:r>
            <a:pPr rtl="1" algn="ctr" indent="0" marL="0">
              <a:lnSpc>
                <a:spcPct val="120000"/>
              </a:lnSpc>
              <a:buNone/>
            </a:pPr>
            <a:r>
              <a:rPr lang="ar-SA" altLang="en-US" sz="1750" b="1" dirty="0">
                <a:solidFill>
                  <a:srgbClr val="D6336C"/>
                </a:solidFill>
                <a:latin typeface="Amiri" pitchFamily="2" charset="-78"/>
                <a:cs typeface="Amiri" pitchFamily="2" charset="-78"/>
              </a:rPr>
              <a:t>مُدَّةَ</a:t>
            </a:r>
            <a:pPr rtl="1" algn="ctr" indent="0" marL="0">
              <a:lnSpc>
                <a:spcPct val="120000"/>
              </a:lnSpc>
              <a:buNone/>
            </a:pPr>
            <a:r>
              <a:rPr lang="ar-SA" altLang="en-US" sz="1750" b="1" dirty="0">
                <a:solidFill>
                  <a:srgbClr val="1B3B6F"/>
                </a:solidFill>
                <a:latin typeface="Amiri" pitchFamily="2" charset="-78"/>
                <a:cs typeface="Amiri" pitchFamily="2" charset="-78"/>
              </a:rPr>
              <a:t> خَمْسٍ وَأَرْبَعِينَ دَقِيقَةً.</a:t>
            </a:r>
            <a:endParaRPr lang="ar-SA" sz="175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How long → </a:t>
            </a:r>
            <a:pPr algn="l" indent="0" marL="0">
              <a:buNone/>
            </a:pPr>
            <a:r>
              <a:rPr lang="ar-SA" altLang="en-US" sz="1500" dirty="0">
                <a:solidFill>
                  <a:srgbClr val="1F2A37"/>
                </a:solidFill>
                <a:latin typeface="Amiri" pitchFamily="2" charset="-78"/>
                <a:cs typeface="Amiri" pitchFamily="2" charset="-78"/>
              </a:rPr>
              <a:t>مُدَّةَ</a:t>
            </a:r>
            <a:pPr algn="l" indent="0" marL="0">
              <a:buNone/>
            </a:pPr>
            <a:r>
              <a:rPr lang="en-US" sz="1150" dirty="0">
                <a:solidFill>
                  <a:srgbClr val="1F2A37"/>
                </a:solidFill>
                <a:latin typeface="Calibri" pitchFamily="34" charset="0"/>
                <a:cs typeface="Amiri" pitchFamily="2" charset="-78"/>
              </a:rPr>
              <a:t>.</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cs typeface="Amiri" pitchFamily="2" charset="-78"/>
              </a:rPr>
              <a:t>COPY THIS INTO YOUR BOOK</a:t>
            </a:r>
            <a:endParaRPr lang="en-US" sz="1200" dirty="0"/>
          </a:p>
        </p:txBody>
      </p:sp>
      <p:sp>
        <p:nvSpPr>
          <p:cNvPr id="45" name="Shape 41"/>
          <p:cNvSpPr/>
          <p:nvPr/>
        </p:nvSpPr>
        <p:spPr>
          <a:xfrm>
            <a:off x="8540496" y="4736592"/>
            <a:ext cx="914400" cy="237744"/>
          </a:xfrm>
          <a:prstGeom prst="roundRect">
            <a:avLst>
              <a:gd name="adj" fmla="val 50000"/>
            </a:avLst>
          </a:prstGeom>
          <a:solidFill>
            <a:srgbClr val="0E7C86"/>
          </a:solidFill>
          <a:ln w="12700">
            <a:solidFill>
              <a:srgbClr val="0E7C86"/>
            </a:solidFill>
            <a:prstDash val="solid"/>
          </a:ln>
        </p:spPr>
      </p:sp>
      <p:sp>
        <p:nvSpPr>
          <p:cNvPr id="46" name="Text 42"/>
          <p:cNvSpPr txBox="1"/>
          <p:nvPr/>
        </p:nvSpPr>
        <p:spPr>
          <a:xfrm>
            <a:off x="8540496"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وَ / إِلَّا</a:t>
            </a:r>
            <a:endParaRPr lang="en-US" sz="800" dirty="0"/>
          </a:p>
        </p:txBody>
      </p:sp>
      <p:sp>
        <p:nvSpPr>
          <p:cNvPr id="47" name="Shape 43"/>
          <p:cNvSpPr/>
          <p:nvPr/>
        </p:nvSpPr>
        <p:spPr>
          <a:xfrm>
            <a:off x="9528048" y="4736592"/>
            <a:ext cx="914400" cy="237744"/>
          </a:xfrm>
          <a:prstGeom prst="roundRect">
            <a:avLst>
              <a:gd name="adj" fmla="val 50000"/>
            </a:avLst>
          </a:prstGeom>
          <a:solidFill>
            <a:srgbClr val="1D5FBF"/>
          </a:solidFill>
          <a:ln w="12700">
            <a:solidFill>
              <a:srgbClr val="1D5FBF"/>
            </a:solidFill>
            <a:prstDash val="solid"/>
          </a:ln>
        </p:spPr>
      </p:sp>
      <p:sp>
        <p:nvSpPr>
          <p:cNvPr id="48" name="Text 44"/>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SCHEDULE VERB</a:t>
            </a:r>
            <a:endParaRPr lang="en-US" sz="800" dirty="0"/>
          </a:p>
        </p:txBody>
      </p:sp>
      <p:sp>
        <p:nvSpPr>
          <p:cNvPr id="49" name="Shape 45"/>
          <p:cNvSpPr/>
          <p:nvPr/>
        </p:nvSpPr>
        <p:spPr>
          <a:xfrm>
            <a:off x="10515600" y="4736592"/>
            <a:ext cx="914400" cy="237744"/>
          </a:xfrm>
          <a:prstGeom prst="roundRect">
            <a:avLst>
              <a:gd name="adj" fmla="val 50000"/>
            </a:avLst>
          </a:prstGeom>
          <a:solidFill>
            <a:srgbClr val="D6336C"/>
          </a:solidFill>
          <a:ln w="12700">
            <a:solidFill>
              <a:srgbClr val="D6336C"/>
            </a:solidFill>
            <a:prstDash val="solid"/>
          </a:ln>
        </p:spPr>
      </p:sp>
      <p:sp>
        <p:nvSpPr>
          <p:cNvPr id="50" name="Text 46"/>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DURATION</a:t>
            </a:r>
            <a:endParaRPr lang="en-US" sz="800" dirty="0"/>
          </a:p>
        </p:txBody>
      </p:sp>
      <p:sp>
        <p:nvSpPr>
          <p:cNvPr id="51" name="Text 47"/>
          <p:cNvSpPr txBox="1"/>
          <p:nvPr/>
        </p:nvSpPr>
        <p:spPr>
          <a:xfrm>
            <a:off x="685800" y="5029200"/>
            <a:ext cx="10817352" cy="731520"/>
          </a:xfrm>
          <a:prstGeom prst="rect">
            <a:avLst/>
          </a:prstGeom>
          <a:noFill/>
          <a:ln/>
        </p:spPr>
        <p:txBody>
          <a:bodyPr wrap="square" lIns="0" tIns="0" rIns="0" bIns="0" rtlCol="0" anchor="ctr"/>
          <a:lstStyle/>
          <a:p>
            <a:pPr rtl="1" algn="r" indent="0" marL="0">
              <a:buNone/>
            </a:pPr>
            <a:r>
              <a:rPr lang="ar-SA" altLang="en-US" sz="1900" b="1" dirty="0">
                <a:solidFill>
                  <a:srgbClr val="1D5FBF"/>
                </a:solidFill>
                <a:latin typeface="Amiri" pitchFamily="2" charset="-78"/>
                <a:cs typeface="Amiri" pitchFamily="2" charset="-78"/>
              </a:rPr>
              <a:t>يَبْدَأُ</a:t>
            </a:r>
            <a:pPr rtl="1" algn="r" indent="0" marL="0">
              <a:buNone/>
            </a:pPr>
            <a:r>
              <a:rPr lang="ar-SA" altLang="en-US" sz="1900" b="1" dirty="0">
                <a:solidFill>
                  <a:srgbClr val="1B3B6F"/>
                </a:solidFill>
                <a:latin typeface="Amiri" pitchFamily="2" charset="-78"/>
                <a:cs typeface="Amiri" pitchFamily="2" charset="-78"/>
              </a:rPr>
              <a:t> الدَّوَامُ فِي الثَّامِنَةِ </a:t>
            </a:r>
            <a:pPr rtl="1" algn="r" indent="0" marL="0">
              <a:buNone/>
            </a:pPr>
            <a:r>
              <a:rPr lang="ar-SA" altLang="en-US" sz="1900" b="1" dirty="0">
                <a:solidFill>
                  <a:srgbClr val="0E7C86"/>
                </a:solidFill>
                <a:latin typeface="Amiri" pitchFamily="2" charset="-78"/>
                <a:cs typeface="Amiri" pitchFamily="2" charset="-78"/>
              </a:rPr>
              <a:t>وَ</a:t>
            </a:r>
            <a:pPr rtl="1" algn="r" indent="0" marL="0">
              <a:buNone/>
            </a:pPr>
            <a:r>
              <a:rPr lang="ar-SA" altLang="en-US" sz="1900" b="1" dirty="0">
                <a:solidFill>
                  <a:srgbClr val="1B3B6F"/>
                </a:solidFill>
                <a:latin typeface="Amiri" pitchFamily="2" charset="-78"/>
                <a:cs typeface="Amiri" pitchFamily="2" charset="-78"/>
              </a:rPr>
              <a:t>خَمْسٍ وَعِشْرِينَ دَقِيقَةً، وَ</a:t>
            </a:r>
            <a:pPr rtl="1" algn="r" indent="0" marL="0">
              <a:buNone/>
            </a:pPr>
            <a:r>
              <a:rPr lang="ar-SA" altLang="en-US" sz="1900" b="1" dirty="0">
                <a:solidFill>
                  <a:srgbClr val="1D5FBF"/>
                </a:solidFill>
                <a:latin typeface="Amiri" pitchFamily="2" charset="-78"/>
                <a:cs typeface="Amiri" pitchFamily="2" charset="-78"/>
              </a:rPr>
              <a:t>يَنْتَهِي</a:t>
            </a:r>
            <a:pPr rtl="1" algn="r" indent="0" marL="0">
              <a:buNone/>
            </a:pPr>
            <a:r>
              <a:rPr lang="ar-SA" altLang="en-US" sz="1900" b="1" dirty="0">
                <a:solidFill>
                  <a:srgbClr val="1B3B6F"/>
                </a:solidFill>
                <a:latin typeface="Amiri" pitchFamily="2" charset="-78"/>
                <a:cs typeface="Amiri" pitchFamily="2" charset="-78"/>
              </a:rPr>
              <a:t> فِي الرَّابِعَةِ </a:t>
            </a:r>
            <a:pPr rtl="1" algn="r" indent="0" marL="0">
              <a:buNone/>
            </a:pPr>
            <a:r>
              <a:rPr lang="ar-SA" altLang="en-US" sz="1900" b="1" dirty="0">
                <a:solidFill>
                  <a:srgbClr val="0E7C86"/>
                </a:solidFill>
                <a:latin typeface="Amiri" pitchFamily="2" charset="-78"/>
                <a:cs typeface="Amiri" pitchFamily="2" charset="-78"/>
              </a:rPr>
              <a:t>إِلَّا</a:t>
            </a:r>
            <a:pPr rtl="1" algn="r" indent="0" marL="0">
              <a:buNone/>
            </a:pPr>
            <a:r>
              <a:rPr lang="ar-SA" altLang="en-US" sz="1900" b="1" dirty="0">
                <a:solidFill>
                  <a:srgbClr val="1B3B6F"/>
                </a:solidFill>
                <a:latin typeface="Amiri" pitchFamily="2" charset="-78"/>
                <a:cs typeface="Amiri" pitchFamily="2" charset="-78"/>
              </a:rPr>
              <a:t> عَشْرَ دَقَائِقَ. </a:t>
            </a:r>
            <a:pPr rtl="1" algn="r" indent="0" marL="0">
              <a:buNone/>
            </a:pPr>
            <a:r>
              <a:rPr lang="ar-SA" altLang="en-US" sz="1900" b="1" dirty="0">
                <a:solidFill>
                  <a:srgbClr val="1D5FBF"/>
                </a:solidFill>
                <a:latin typeface="Amiri" pitchFamily="2" charset="-78"/>
                <a:cs typeface="Amiri" pitchFamily="2" charset="-78"/>
              </a:rPr>
              <a:t>يَسْتَمِرُّ</a:t>
            </a:r>
            <a:pPr rtl="1" algn="r" indent="0" marL="0">
              <a:buNone/>
            </a:pPr>
            <a:r>
              <a:rPr lang="ar-SA" altLang="en-US" sz="1900" b="1" dirty="0">
                <a:solidFill>
                  <a:srgbClr val="1B3B6F"/>
                </a:solidFill>
                <a:latin typeface="Amiri" pitchFamily="2" charset="-78"/>
                <a:cs typeface="Amiri" pitchFamily="2" charset="-78"/>
              </a:rPr>
              <a:t> التَّمْرِينُ </a:t>
            </a:r>
            <a:pPr rtl="1" algn="r" indent="0" marL="0">
              <a:buNone/>
            </a:pPr>
            <a:r>
              <a:rPr lang="ar-SA" altLang="en-US" sz="1900" b="1" dirty="0">
                <a:solidFill>
                  <a:srgbClr val="D6336C"/>
                </a:solidFill>
                <a:latin typeface="Amiri" pitchFamily="2" charset="-78"/>
                <a:cs typeface="Amiri" pitchFamily="2" charset="-78"/>
              </a:rPr>
              <a:t>مُدَّةَ</a:t>
            </a:r>
            <a:pPr rtl="1" algn="r" indent="0" marL="0">
              <a:buNone/>
            </a:pPr>
            <a:r>
              <a:rPr lang="ar-SA" altLang="en-US" sz="1900" b="1" dirty="0">
                <a:solidFill>
                  <a:srgbClr val="1B3B6F"/>
                </a:solidFill>
                <a:latin typeface="Amiri" pitchFamily="2" charset="-78"/>
                <a:cs typeface="Amiri" pitchFamily="2" charset="-78"/>
              </a:rPr>
              <a:t> خَمْسٍ وَأَرْبَعِينَ دَقِيقَةً.</a:t>
            </a:r>
            <a:endParaRPr lang="ar-SA" sz="1900" dirty="0"/>
          </a:p>
        </p:txBody>
      </p:sp>
      <p:sp>
        <p:nvSpPr>
          <p:cNvPr id="52" name="Text 48"/>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300" i="1" dirty="0">
                <a:solidFill>
                  <a:srgbClr val="5A6472"/>
                </a:solidFill>
                <a:latin typeface="Calibri" pitchFamily="34" charset="0"/>
                <a:cs typeface="Amiri" pitchFamily="2" charset="-78"/>
              </a:rPr>
              <a:t>The school day starts at 8:25 and ends at 3:50. Training lasts 45 minutes.</a:t>
            </a:r>
            <a:endParaRPr lang="en-US" sz="1300" dirty="0"/>
          </a:p>
        </p:txBody>
      </p:sp>
      <p:sp>
        <p:nvSpPr>
          <p:cNvPr id="53"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46</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D1-L02 · Telling the Time</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D1-L02</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يَبْدَأُ الدَّوَامُ فِي الثَّامِنَةِ وَخَمْسٍ وَعِشْرِينَ دَقِيقَةً.</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The school day starts at 8:25.</a:t>
            </a:r>
            <a:endParaRPr lang="en-US" sz="1250" dirty="0"/>
          </a:p>
          <a:p>
            <a:pPr indent="0" marL="0">
              <a:buNone/>
            </a:pPr>
            <a:r>
              <a:rPr lang="en-US" sz="1050" i="1" dirty="0">
                <a:solidFill>
                  <a:srgbClr val="8A6D1E"/>
                </a:solidFill>
                <a:latin typeface="Calibri" pitchFamily="34" charset="0"/>
                <a:cs typeface="Amiri" pitchFamily="2" charset="-78"/>
              </a:rPr>
              <a:t>Exact minutes after the hour.</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يَنْتَهِي فِي الرَّابِعَةِ إِلَّا عَشْرَ دَقَائِقَ.</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It ends at 3:50.</a:t>
            </a:r>
            <a:endParaRPr lang="en-US" sz="1250" dirty="0"/>
          </a:p>
          <a:p>
            <a:pPr indent="0" marL="0">
              <a:buNone/>
            </a:pPr>
            <a:r>
              <a:rPr lang="en-US" sz="1050" i="1" dirty="0">
                <a:solidFill>
                  <a:srgbClr val="8A6D1E"/>
                </a:solidFill>
                <a:latin typeface="Calibri" pitchFamily="34" charset="0"/>
                <a:cs typeface="Amiri" pitchFamily="2" charset="-78"/>
              </a:rPr>
              <a:t>Name the next hour with إِلَّا.</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المَوْعِدُ فِي السَّاعَةِ السَّادِسَةَ عَشْرَةَ.</a:t>
            </a:r>
            <a:endParaRPr lang="ar-SA" sz="26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The appointment is at 16:00.</a:t>
            </a:r>
            <a:endParaRPr lang="en-US" sz="1250" dirty="0"/>
          </a:p>
          <a:p>
            <a:pPr indent="0" marL="0">
              <a:buNone/>
            </a:pPr>
            <a:r>
              <a:rPr lang="en-US" sz="1050" i="1" dirty="0">
                <a:solidFill>
                  <a:srgbClr val="8A6D1E"/>
                </a:solidFill>
                <a:latin typeface="Calibri" pitchFamily="34" charset="0"/>
                <a:cs typeface="Amiri" pitchFamily="2" charset="-78"/>
              </a:rPr>
              <a:t>Formal 24-hour reading.</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يَسْتَمِرُّ التَّمْرِينُ مُدَّةَ خَمْسٍ وَأَرْبَعِينَ دَقِيقَةً.</a:t>
            </a:r>
            <a:endParaRPr lang="ar-SA" sz="26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Training lasts 45 minutes.</a:t>
            </a:r>
            <a:endParaRPr lang="en-US" sz="1250" dirty="0"/>
          </a:p>
          <a:p>
            <a:pPr indent="0" marL="0">
              <a:buNone/>
            </a:pPr>
            <a:r>
              <a:rPr lang="en-US" sz="1050" i="1" dirty="0">
                <a:solidFill>
                  <a:srgbClr val="8A6D1E"/>
                </a:solidFill>
                <a:latin typeface="Calibri" pitchFamily="34" charset="0"/>
                <a:cs typeface="Amiri" pitchFamily="2" charset="-78"/>
              </a:rPr>
              <a:t>Duration, not finish time.</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46</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D1-L02 · Telling the Time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WEBSITE GAME “BEAT THE CLOCK” (WHOLE-CLASS VERSION)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Beat the Clock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اِقْرَأِ السَّاعَةَ!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Which is 9:15?</a:t>
            </a:r>
            <a:endParaRPr lang="en-US" sz="1200" dirty="0"/>
          </a:p>
        </p:txBody>
      </p:sp>
      <p:sp>
        <p:nvSpPr>
          <p:cNvPr id="19" name="Text 16"/>
          <p:cNvSpPr txBox="1"/>
          <p:nvPr/>
        </p:nvSpPr>
        <p:spPr>
          <a:xfrm>
            <a:off x="2406701"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cs typeface="Amiri" pitchFamily="2" charset="-78"/>
              </a:rPr>
              <a:t>٩:١٥</a:t>
            </a:r>
            <a:endParaRPr lang="ar-SA" sz="2200" dirty="0"/>
          </a:p>
        </p:txBody>
      </p:sp>
      <p:sp>
        <p:nvSpPr>
          <p:cNvPr id="20" name="Shape 17"/>
          <p:cNvSpPr/>
          <p:nvPr/>
        </p:nvSpPr>
        <p:spPr>
          <a:xfrm>
            <a:off x="640080" y="2532888"/>
            <a:ext cx="256032" cy="256032"/>
          </a:xfrm>
          <a:prstGeom prst="ellipse">
            <a:avLst/>
          </a:prstGeom>
          <a:solidFill>
            <a:srgbClr val="F4F1EA"/>
          </a:solidFill>
          <a:ln w="12700">
            <a:solidFill>
              <a:srgbClr val="F4F1EA"/>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التَّاسِعَةُ إِلَّا الرُّبْعَ</a:t>
            </a:r>
            <a:endParaRPr lang="ar-SA" sz="2050" dirty="0"/>
          </a:p>
        </p:txBody>
      </p:sp>
      <p:sp>
        <p:nvSpPr>
          <p:cNvPr id="23" name="Shape 20"/>
          <p:cNvSpPr/>
          <p:nvPr/>
        </p:nvSpPr>
        <p:spPr>
          <a:xfrm>
            <a:off x="640080" y="2990088"/>
            <a:ext cx="256032" cy="256032"/>
          </a:xfrm>
          <a:prstGeom prst="ellipse">
            <a:avLst/>
          </a:prstGeom>
          <a:solidFill>
            <a:srgbClr val="F4F1EA"/>
          </a:solidFill>
          <a:ln w="12700">
            <a:solidFill>
              <a:srgbClr val="F4F1EA"/>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التَّاسِعَةُ وَالرُّبْعُ</a:t>
            </a:r>
            <a:endParaRPr lang="ar-SA" sz="2050" dirty="0"/>
          </a:p>
        </p:txBody>
      </p:sp>
      <p:sp>
        <p:nvSpPr>
          <p:cNvPr id="26" name="Shape 23"/>
          <p:cNvSpPr/>
          <p:nvPr/>
        </p:nvSpPr>
        <p:spPr>
          <a:xfrm>
            <a:off x="640080" y="3447288"/>
            <a:ext cx="256032" cy="256032"/>
          </a:xfrm>
          <a:prstGeom prst="ellipse">
            <a:avLst/>
          </a:prstGeom>
          <a:solidFill>
            <a:srgbClr val="F4F1EA"/>
          </a:solidFill>
          <a:ln w="12700">
            <a:solidFill>
              <a:srgbClr val="F4F1EA"/>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العَاشِرَةُ وَالرُّبْعُ</a:t>
            </a:r>
            <a:endParaRPr lang="ar-SA" sz="2050" dirty="0"/>
          </a:p>
        </p:txBody>
      </p:sp>
      <p:sp>
        <p:nvSpPr>
          <p:cNvPr id="29" name="Shape 26"/>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4404360" y="1947672"/>
            <a:ext cx="310896" cy="310896"/>
          </a:xfrm>
          <a:prstGeom prst="ellipse">
            <a:avLst/>
          </a:prstGeom>
          <a:solidFill>
            <a:srgbClr val="1B3B6F"/>
          </a:solidFill>
          <a:ln w="12700">
            <a:solidFill>
              <a:srgbClr val="1B3B6F"/>
            </a:solidFill>
            <a:prstDash val="solid"/>
          </a:ln>
        </p:spPr>
      </p:sp>
      <p:sp>
        <p:nvSpPr>
          <p:cNvPr id="31" name="Text 28"/>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2" name="Text 29"/>
          <p:cNvSpPr txBox="1"/>
          <p:nvPr/>
        </p:nvSpPr>
        <p:spPr>
          <a:xfrm>
            <a:off x="4770120"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Which is 6:30?</a:t>
            </a:r>
            <a:endParaRPr lang="en-US" sz="1200" dirty="0"/>
          </a:p>
        </p:txBody>
      </p:sp>
      <p:sp>
        <p:nvSpPr>
          <p:cNvPr id="33" name="Text 30"/>
          <p:cNvSpPr txBox="1"/>
          <p:nvPr/>
        </p:nvSpPr>
        <p:spPr>
          <a:xfrm>
            <a:off x="6225845"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cs typeface="Amiri" pitchFamily="2" charset="-78"/>
              </a:rPr>
              <a:t>٦:٣٠</a:t>
            </a:r>
            <a:endParaRPr lang="ar-SA" sz="220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السَّابِعَةُ إِلَّا النِّصْفَ</a:t>
            </a:r>
            <a:endParaRPr lang="ar-SA" sz="20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السَّادِسَةُ وَالرُّبْعُ</a:t>
            </a:r>
            <a:endParaRPr lang="ar-SA" sz="20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السَّادِسَةُ وَالنِّصْفُ</a:t>
            </a:r>
            <a:endParaRPr lang="ar-SA" sz="20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Which is 11:45?</a:t>
            </a:r>
            <a:endParaRPr lang="en-US" sz="1200" dirty="0"/>
          </a:p>
        </p:txBody>
      </p:sp>
      <p:sp>
        <p:nvSpPr>
          <p:cNvPr id="47" name="Text 44"/>
          <p:cNvSpPr txBox="1"/>
          <p:nvPr/>
        </p:nvSpPr>
        <p:spPr>
          <a:xfrm>
            <a:off x="10044989"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cs typeface="Amiri" pitchFamily="2" charset="-78"/>
              </a:rPr>
              <a:t>١١:٤٥</a:t>
            </a:r>
            <a:endParaRPr lang="ar-SA" sz="2200" dirty="0"/>
          </a:p>
        </p:txBody>
      </p:sp>
      <p:sp>
        <p:nvSpPr>
          <p:cNvPr id="48" name="Shape 45"/>
          <p:cNvSpPr/>
          <p:nvPr/>
        </p:nvSpPr>
        <p:spPr>
          <a:xfrm>
            <a:off x="8278368" y="25328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0" name="Text 47"/>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الثَّانِيَةَ عَشْرَةَ إِلَّا الرُّبْعَ</a:t>
            </a:r>
            <a:endParaRPr lang="ar-SA" sz="2050" dirty="0"/>
          </a:p>
        </p:txBody>
      </p:sp>
      <p:sp>
        <p:nvSpPr>
          <p:cNvPr id="51" name="Shape 48"/>
          <p:cNvSpPr/>
          <p:nvPr/>
        </p:nvSpPr>
        <p:spPr>
          <a:xfrm>
            <a:off x="8278368" y="29900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3" name="Text 50"/>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الحَادِيَةَ عَشْرَةَ إِلَّا الرُّبْعَ</a:t>
            </a:r>
            <a:endParaRPr lang="ar-SA" sz="2050" dirty="0"/>
          </a:p>
        </p:txBody>
      </p:sp>
      <p:sp>
        <p:nvSpPr>
          <p:cNvPr id="54" name="Shape 51"/>
          <p:cNvSpPr/>
          <p:nvPr/>
        </p:nvSpPr>
        <p:spPr>
          <a:xfrm>
            <a:off x="8278368" y="3447288"/>
            <a:ext cx="256032" cy="256032"/>
          </a:xfrm>
          <a:prstGeom prst="ellipse">
            <a:avLst/>
          </a:prstGeom>
          <a:solidFill>
            <a:srgbClr val="F4F1EA"/>
          </a:solidFill>
          <a:ln w="12700">
            <a:solidFill>
              <a:srgbClr val="F4F1EA"/>
            </a:solidFill>
            <a:prstDash val="solid"/>
          </a:ln>
        </p:spPr>
      </p:sp>
      <p:sp>
        <p:nvSpPr>
          <p:cNvPr id="55" name="Text 52"/>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6" name="Text 53"/>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الحَادِيَةَ عَشْرَةَ وَالرُّبْعُ</a:t>
            </a:r>
            <a:endParaRPr lang="ar-SA" sz="2050" dirty="0"/>
          </a:p>
        </p:txBody>
      </p:sp>
      <p:sp>
        <p:nvSpPr>
          <p:cNvPr id="57" name="Shape 54"/>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585216" y="4288536"/>
            <a:ext cx="310896" cy="310896"/>
          </a:xfrm>
          <a:prstGeom prst="ellipse">
            <a:avLst/>
          </a:prstGeom>
          <a:solidFill>
            <a:srgbClr val="1B3B6F"/>
          </a:solidFill>
          <a:ln w="12700">
            <a:solidFill>
              <a:srgbClr val="1B3B6F"/>
            </a:solidFill>
            <a:prstDash val="solid"/>
          </a:ln>
        </p:spPr>
      </p:sp>
      <p:sp>
        <p:nvSpPr>
          <p:cNvPr id="59" name="Text 5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0" name="Text 57"/>
          <p:cNvSpPr txBox="1"/>
          <p:nvPr/>
        </p:nvSpPr>
        <p:spPr>
          <a:xfrm>
            <a:off x="950976"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Which is 4:10?</a:t>
            </a:r>
            <a:endParaRPr lang="en-US" sz="1200" dirty="0"/>
          </a:p>
        </p:txBody>
      </p:sp>
      <p:sp>
        <p:nvSpPr>
          <p:cNvPr id="61" name="Text 58"/>
          <p:cNvSpPr txBox="1"/>
          <p:nvPr/>
        </p:nvSpPr>
        <p:spPr>
          <a:xfrm>
            <a:off x="2406701" y="4224528"/>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cs typeface="Amiri" pitchFamily="2" charset="-78"/>
              </a:rPr>
              <a:t>٤:١٠</a:t>
            </a:r>
            <a:endParaRPr lang="ar-SA" sz="2200" dirty="0"/>
          </a:p>
        </p:txBody>
      </p:sp>
      <p:sp>
        <p:nvSpPr>
          <p:cNvPr id="62" name="Shape 59"/>
          <p:cNvSpPr/>
          <p:nvPr/>
        </p:nvSpPr>
        <p:spPr>
          <a:xfrm>
            <a:off x="640080" y="48737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4" name="Text 61"/>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الرَّابِعَةُ إِلَّا عَشْرَ دَقَائِقَ</a:t>
            </a:r>
            <a:endParaRPr lang="ar-SA" sz="2050" dirty="0"/>
          </a:p>
        </p:txBody>
      </p:sp>
      <p:sp>
        <p:nvSpPr>
          <p:cNvPr id="65" name="Shape 62"/>
          <p:cNvSpPr/>
          <p:nvPr/>
        </p:nvSpPr>
        <p:spPr>
          <a:xfrm>
            <a:off x="640080" y="53309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7" name="Text 64"/>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الرَّابِعَةُ وَعَشْرُ دَقَائِقَ</a:t>
            </a:r>
            <a:endParaRPr lang="ar-SA" sz="2050" dirty="0"/>
          </a:p>
        </p:txBody>
      </p:sp>
      <p:sp>
        <p:nvSpPr>
          <p:cNvPr id="68" name="Shape 65"/>
          <p:cNvSpPr/>
          <p:nvPr/>
        </p:nvSpPr>
        <p:spPr>
          <a:xfrm>
            <a:off x="640080" y="5788152"/>
            <a:ext cx="256032" cy="256032"/>
          </a:xfrm>
          <a:prstGeom prst="ellipse">
            <a:avLst/>
          </a:prstGeom>
          <a:solidFill>
            <a:srgbClr val="F4F1EA"/>
          </a:solidFill>
          <a:ln w="12700">
            <a:solidFill>
              <a:srgbClr val="F4F1EA"/>
            </a:solidFill>
            <a:prstDash val="solid"/>
          </a:ln>
        </p:spPr>
      </p:sp>
      <p:sp>
        <p:nvSpPr>
          <p:cNvPr id="69" name="Text 66"/>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0" name="Text 67"/>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الخَامِسَةُ إِلَّا عَشْرَ دَقَائِقَ</a:t>
            </a:r>
            <a:endParaRPr lang="ar-SA" sz="2050" dirty="0"/>
          </a:p>
        </p:txBody>
      </p:sp>
      <p:sp>
        <p:nvSpPr>
          <p:cNvPr id="71" name="Shape 68"/>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2" name="Shape 69"/>
          <p:cNvSpPr/>
          <p:nvPr/>
        </p:nvSpPr>
        <p:spPr>
          <a:xfrm>
            <a:off x="4404360" y="4288536"/>
            <a:ext cx="310896" cy="310896"/>
          </a:xfrm>
          <a:prstGeom prst="ellipse">
            <a:avLst/>
          </a:prstGeom>
          <a:solidFill>
            <a:srgbClr val="1B3B6F"/>
          </a:solidFill>
          <a:ln w="12700">
            <a:solidFill>
              <a:srgbClr val="1B3B6F"/>
            </a:solidFill>
            <a:prstDash val="solid"/>
          </a:ln>
        </p:spPr>
      </p:sp>
      <p:sp>
        <p:nvSpPr>
          <p:cNvPr id="73" name="Text 70"/>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4" name="Text 71"/>
          <p:cNvSpPr txBox="1"/>
          <p:nvPr/>
        </p:nvSpPr>
        <p:spPr>
          <a:xfrm>
            <a:off x="4770120"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Which is 2:40?</a:t>
            </a:r>
            <a:endParaRPr lang="en-US" sz="1200" dirty="0"/>
          </a:p>
        </p:txBody>
      </p:sp>
      <p:sp>
        <p:nvSpPr>
          <p:cNvPr id="75" name="Text 72"/>
          <p:cNvSpPr txBox="1"/>
          <p:nvPr/>
        </p:nvSpPr>
        <p:spPr>
          <a:xfrm>
            <a:off x="6225845" y="4224528"/>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cs typeface="Amiri" pitchFamily="2" charset="-78"/>
              </a:rPr>
              <a:t>٢:٤٠</a:t>
            </a:r>
            <a:endParaRPr lang="ar-SA" sz="2200" dirty="0"/>
          </a:p>
        </p:txBody>
      </p:sp>
      <p:sp>
        <p:nvSpPr>
          <p:cNvPr id="76" name="Shape 73"/>
          <p:cNvSpPr/>
          <p:nvPr/>
        </p:nvSpPr>
        <p:spPr>
          <a:xfrm>
            <a:off x="4459224" y="48737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8" name="Text 75"/>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الثَّالِثَةُ إِلَّا الثُّلُثَ</a:t>
            </a:r>
            <a:endParaRPr lang="ar-SA" sz="2050" dirty="0"/>
          </a:p>
        </p:txBody>
      </p:sp>
      <p:sp>
        <p:nvSpPr>
          <p:cNvPr id="79" name="Shape 76"/>
          <p:cNvSpPr/>
          <p:nvPr/>
        </p:nvSpPr>
        <p:spPr>
          <a:xfrm>
            <a:off x="4459224" y="53309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1" name="Text 78"/>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الثَّانِيَةُ وَالثُّلُثُ</a:t>
            </a:r>
            <a:endParaRPr lang="ar-SA" sz="2050" dirty="0"/>
          </a:p>
        </p:txBody>
      </p:sp>
      <p:sp>
        <p:nvSpPr>
          <p:cNvPr id="82" name="Shape 79"/>
          <p:cNvSpPr/>
          <p:nvPr/>
        </p:nvSpPr>
        <p:spPr>
          <a:xfrm>
            <a:off x="4459224" y="5788152"/>
            <a:ext cx="256032" cy="256032"/>
          </a:xfrm>
          <a:prstGeom prst="ellipse">
            <a:avLst/>
          </a:prstGeom>
          <a:solidFill>
            <a:srgbClr val="F4F1EA"/>
          </a:solidFill>
          <a:ln w="12700">
            <a:solidFill>
              <a:srgbClr val="F4F1EA"/>
            </a:solidFill>
            <a:prstDash val="solid"/>
          </a:ln>
        </p:spPr>
      </p:sp>
      <p:sp>
        <p:nvSpPr>
          <p:cNvPr id="83" name="Text 80"/>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4" name="Text 81"/>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الثَّالِثَةُ وَالثُّلُثُ</a:t>
            </a:r>
            <a:endParaRPr lang="ar-SA" sz="2050" dirty="0"/>
          </a:p>
        </p:txBody>
      </p:sp>
      <p:sp>
        <p:nvSpPr>
          <p:cNvPr id="85" name="Shape 82"/>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6" name="Shape 83"/>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7" name="Text 84"/>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88" name="Text 85"/>
          <p:cNvSpPr txBox="1"/>
          <p:nvPr/>
        </p:nvSpPr>
        <p:spPr>
          <a:xfrm>
            <a:off x="8296656" y="4791456"/>
            <a:ext cx="3270504"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cs typeface="Amiri" pitchFamily="2" charset="-78"/>
              </a:rPr>
              <a:t>Minutes 1–30 → same hour + </a:t>
            </a:r>
            <a:pPr algn="l" indent="0" marL="0">
              <a:lnSpc>
                <a:spcPct val="115000"/>
              </a:lnSpc>
              <a:buNone/>
            </a:pPr>
            <a:r>
              <a:rPr lang="ar-SA" altLang="en-US" sz="1650" dirty="0">
                <a:solidFill>
                  <a:srgbClr val="1E6B52"/>
                </a:solidFill>
                <a:latin typeface="Amiri" pitchFamily="2" charset="-78"/>
                <a:cs typeface="Amiri" pitchFamily="2" charset="-78"/>
              </a:rPr>
              <a:t>وَ</a:t>
            </a:r>
            <a:pPr algn="l" indent="0" marL="0">
              <a:lnSpc>
                <a:spcPct val="115000"/>
              </a:lnSpc>
              <a:buNone/>
            </a:pPr>
            <a:r>
              <a:rPr lang="en-US" sz="1250" dirty="0">
                <a:solidFill>
                  <a:srgbClr val="1E6B52"/>
                </a:solidFill>
                <a:latin typeface="Calibri" pitchFamily="34" charset="0"/>
                <a:cs typeface="Amiri" pitchFamily="2" charset="-78"/>
              </a:rPr>
              <a:t>.</a:t>
            </a:r>
            <a:endParaRPr lang="en-US" sz="1250" dirty="0"/>
          </a:p>
          <a:p>
            <a:pPr algn="l" indent="0" marL="0">
              <a:lnSpc>
                <a:spcPct val="115000"/>
              </a:lnSpc>
              <a:buNone/>
            </a:pPr>
            <a:r>
              <a:rPr lang="en-US" sz="1250" dirty="0">
                <a:solidFill>
                  <a:srgbClr val="1E6B52"/>
                </a:solidFill>
                <a:latin typeface="Calibri" pitchFamily="34" charset="0"/>
                <a:cs typeface="Amiri" pitchFamily="2" charset="-78"/>
              </a:rPr>
              <a:t>Minutes 31–59 → NEXT hour + </a:t>
            </a:r>
            <a:pPr algn="l" indent="0" marL="0">
              <a:lnSpc>
                <a:spcPct val="115000"/>
              </a:lnSpc>
              <a:buNone/>
            </a:pPr>
            <a:r>
              <a:rPr lang="ar-SA" altLang="en-US" sz="1650" dirty="0">
                <a:solidFill>
                  <a:srgbClr val="1E6B52"/>
                </a:solidFill>
                <a:latin typeface="Amiri" pitchFamily="2" charset="-78"/>
                <a:cs typeface="Amiri" pitchFamily="2" charset="-78"/>
              </a:rPr>
              <a:t>إِلَّا</a:t>
            </a:r>
            <a:pPr algn="l" indent="0" marL="0">
              <a:lnSpc>
                <a:spcPct val="115000"/>
              </a:lnSpc>
              <a:buNone/>
            </a:pPr>
            <a:r>
              <a:rPr lang="en-US" sz="1250" dirty="0">
                <a:solidFill>
                  <a:srgbClr val="1E6B52"/>
                </a:solidFill>
                <a:latin typeface="Calibri" pitchFamily="34" charset="0"/>
                <a:cs typeface="Amiri" pitchFamily="2" charset="-78"/>
              </a:rPr>
              <a:t>.</a:t>
            </a:r>
            <a:endParaRPr lang="en-US" sz="1250" dirty="0"/>
          </a:p>
        </p:txBody>
      </p:sp>
      <p:sp>
        <p:nvSpPr>
          <p:cNvPr id="89" name="Text 8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46</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D1-L02 · Telling the Time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BEAT THE CLOCK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Beat the Clock: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Which is 9:15?</a:t>
            </a:r>
            <a:endParaRPr lang="en-US" sz="1200" dirty="0"/>
          </a:p>
        </p:txBody>
      </p:sp>
      <p:sp>
        <p:nvSpPr>
          <p:cNvPr id="19" name="Text 16"/>
          <p:cNvSpPr txBox="1"/>
          <p:nvPr/>
        </p:nvSpPr>
        <p:spPr>
          <a:xfrm>
            <a:off x="2406701"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cs typeface="Amiri" pitchFamily="2" charset="-78"/>
              </a:rPr>
              <a:t>٩:١٥</a:t>
            </a:r>
            <a:endParaRPr lang="ar-SA" sz="2200" dirty="0"/>
          </a:p>
        </p:txBody>
      </p:sp>
      <p:sp>
        <p:nvSpPr>
          <p:cNvPr id="20" name="Shape 17"/>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التَّاسِعَةُ إِلَّا الرُّبْعَ</a:t>
            </a:r>
            <a:endParaRPr lang="ar-SA" sz="1700" dirty="0"/>
          </a:p>
        </p:txBody>
      </p:sp>
      <p:sp>
        <p:nvSpPr>
          <p:cNvPr id="23" name="Shape 20"/>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4" name="Shape 21"/>
          <p:cNvSpPr/>
          <p:nvPr/>
        </p:nvSpPr>
        <p:spPr>
          <a:xfrm>
            <a:off x="640080" y="2862072"/>
            <a:ext cx="256032" cy="256032"/>
          </a:xfrm>
          <a:prstGeom prst="ellipse">
            <a:avLst/>
          </a:prstGeom>
          <a:solidFill>
            <a:srgbClr val="2E8B57"/>
          </a:solidFill>
          <a:ln w="12700">
            <a:solidFill>
              <a:srgbClr val="2E8B57"/>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6" name="Text 23"/>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التَّاسِعَةُ وَالرُّبْعُ</a:t>
            </a:r>
            <a:endParaRPr lang="ar-SA" sz="1700" dirty="0"/>
          </a:p>
        </p:txBody>
      </p:sp>
      <p:sp>
        <p:nvSpPr>
          <p:cNvPr id="27" name="Shape 24"/>
          <p:cNvSpPr/>
          <p:nvPr/>
        </p:nvSpPr>
        <p:spPr>
          <a:xfrm>
            <a:off x="640080" y="3233928"/>
            <a:ext cx="256032" cy="256032"/>
          </a:xfrm>
          <a:prstGeom prst="ellipse">
            <a:avLst/>
          </a:prstGeom>
          <a:solidFill>
            <a:srgbClr val="C9CED6"/>
          </a:solidFill>
          <a:ln w="12700">
            <a:solidFill>
              <a:srgbClr val="C9CED6"/>
            </a:solidFill>
            <a:prstDash val="solid"/>
          </a:ln>
        </p:spPr>
      </p:sp>
      <p:sp>
        <p:nvSpPr>
          <p:cNvPr id="28" name="Text 25"/>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العَاشِرَةُ وَالرُّبْعُ</a:t>
            </a:r>
            <a:endParaRPr lang="ar-SA" sz="1700" dirty="0"/>
          </a:p>
        </p:txBody>
      </p:sp>
      <p:sp>
        <p:nvSpPr>
          <p:cNvPr id="30" name="Text 27"/>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Nine + a quarter.</a:t>
            </a:r>
            <a:endParaRPr lang="en-US" sz="1050" dirty="0"/>
          </a:p>
        </p:txBody>
      </p:sp>
      <p:sp>
        <p:nvSpPr>
          <p:cNvPr id="31" name="Shape 28"/>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4" name="Text 31"/>
          <p:cNvSpPr txBox="1"/>
          <p:nvPr/>
        </p:nvSpPr>
        <p:spPr>
          <a:xfrm>
            <a:off x="4770120"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Which is 6:30?</a:t>
            </a:r>
            <a:endParaRPr lang="en-US" sz="1200" dirty="0"/>
          </a:p>
        </p:txBody>
      </p:sp>
      <p:sp>
        <p:nvSpPr>
          <p:cNvPr id="35" name="Text 32"/>
          <p:cNvSpPr txBox="1"/>
          <p:nvPr/>
        </p:nvSpPr>
        <p:spPr>
          <a:xfrm>
            <a:off x="6225845"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cs typeface="Amiri" pitchFamily="2" charset="-78"/>
              </a:rPr>
              <a:t>٦:٣٠</a:t>
            </a:r>
            <a:endParaRPr lang="ar-SA" sz="2200" dirty="0"/>
          </a:p>
        </p:txBody>
      </p:sp>
      <p:sp>
        <p:nvSpPr>
          <p:cNvPr id="36" name="Shape 33"/>
          <p:cNvSpPr/>
          <p:nvPr/>
        </p:nvSpPr>
        <p:spPr>
          <a:xfrm>
            <a:off x="4459224"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السَّابِعَةُ إِلَّا النِّصْفَ</a:t>
            </a:r>
            <a:endParaRPr lang="ar-SA" sz="1700" dirty="0"/>
          </a:p>
        </p:txBody>
      </p:sp>
      <p:sp>
        <p:nvSpPr>
          <p:cNvPr id="39" name="Shape 36"/>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8"/>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السَّادِسَةُ وَالرُّبْعُ</a:t>
            </a:r>
            <a:endParaRPr lang="ar-SA" sz="1700" dirty="0"/>
          </a:p>
        </p:txBody>
      </p:sp>
      <p:sp>
        <p:nvSpPr>
          <p:cNvPr id="42" name="Shape 39"/>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4459224"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5" name="Text 42"/>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السَّادِسَةُ وَالنِّصْفُ</a:t>
            </a:r>
            <a:endParaRPr lang="ar-SA" sz="1700" dirty="0"/>
          </a:p>
        </p:txBody>
      </p:sp>
      <p:sp>
        <p:nvSpPr>
          <p:cNvPr id="46" name="Text 43"/>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Six + a half.</a:t>
            </a:r>
            <a:endParaRPr lang="en-US" sz="1050" dirty="0"/>
          </a:p>
        </p:txBody>
      </p:sp>
      <p:sp>
        <p:nvSpPr>
          <p:cNvPr id="47"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Which is 11:45?</a:t>
            </a:r>
            <a:endParaRPr lang="en-US" sz="1200" dirty="0"/>
          </a:p>
        </p:txBody>
      </p:sp>
      <p:sp>
        <p:nvSpPr>
          <p:cNvPr id="51" name="Text 48"/>
          <p:cNvSpPr txBox="1"/>
          <p:nvPr/>
        </p:nvSpPr>
        <p:spPr>
          <a:xfrm>
            <a:off x="10044989"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cs typeface="Amiri" pitchFamily="2" charset="-78"/>
              </a:rPr>
              <a:t>١١:٤٥</a:t>
            </a:r>
            <a:endParaRPr lang="ar-SA" sz="2200" dirty="0"/>
          </a:p>
        </p:txBody>
      </p:sp>
      <p:sp>
        <p:nvSpPr>
          <p:cNvPr id="52" name="Shape 49"/>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8278368" y="249021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5" name="Text 52"/>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الثَّانِيَةَ عَشْرَةَ إِلَّا الرُّبْعَ</a:t>
            </a:r>
            <a:endParaRPr lang="ar-SA" sz="1700" dirty="0"/>
          </a:p>
        </p:txBody>
      </p:sp>
      <p:sp>
        <p:nvSpPr>
          <p:cNvPr id="56" name="Shape 53"/>
          <p:cNvSpPr/>
          <p:nvPr/>
        </p:nvSpPr>
        <p:spPr>
          <a:xfrm>
            <a:off x="8278368" y="286207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8" name="Text 55"/>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الحَادِيَةَ عَشْرَةَ إِلَّا الرُّبْعَ</a:t>
            </a:r>
            <a:endParaRPr lang="ar-SA" sz="1700" dirty="0"/>
          </a:p>
        </p:txBody>
      </p:sp>
      <p:sp>
        <p:nvSpPr>
          <p:cNvPr id="59" name="Shape 56"/>
          <p:cNvSpPr/>
          <p:nvPr/>
        </p:nvSpPr>
        <p:spPr>
          <a:xfrm>
            <a:off x="8278368" y="3233928"/>
            <a:ext cx="256032" cy="256032"/>
          </a:xfrm>
          <a:prstGeom prst="ellipse">
            <a:avLst/>
          </a:prstGeom>
          <a:solidFill>
            <a:srgbClr val="C9CED6"/>
          </a:solidFill>
          <a:ln w="12700">
            <a:solidFill>
              <a:srgbClr val="C9CED6"/>
            </a:solidFill>
            <a:prstDash val="solid"/>
          </a:ln>
        </p:spPr>
      </p:sp>
      <p:sp>
        <p:nvSpPr>
          <p:cNvPr id="60" name="Text 57"/>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1" name="Text 58"/>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الحَادِيَةَ عَشْرَةَ وَالرُّبْعُ</a:t>
            </a:r>
            <a:endParaRPr lang="ar-SA" sz="1700" dirty="0"/>
          </a:p>
        </p:txBody>
      </p:sp>
      <p:sp>
        <p:nvSpPr>
          <p:cNvPr id="62" name="Text 59"/>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NEXT hour (12) − a quarter.</a:t>
            </a:r>
            <a:endParaRPr lang="en-US" sz="1050" dirty="0"/>
          </a:p>
        </p:txBody>
      </p:sp>
      <p:sp>
        <p:nvSpPr>
          <p:cNvPr id="63" name="Shape 60"/>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585216" y="4288536"/>
            <a:ext cx="310896" cy="310896"/>
          </a:xfrm>
          <a:prstGeom prst="ellipse">
            <a:avLst/>
          </a:prstGeom>
          <a:solidFill>
            <a:srgbClr val="1B3B6F"/>
          </a:solidFill>
          <a:ln w="12700">
            <a:solidFill>
              <a:srgbClr val="1B3B6F"/>
            </a:solidFill>
            <a:prstDash val="solid"/>
          </a:ln>
        </p:spPr>
      </p:sp>
      <p:sp>
        <p:nvSpPr>
          <p:cNvPr id="65" name="Text 6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6" name="Text 63"/>
          <p:cNvSpPr txBox="1"/>
          <p:nvPr/>
        </p:nvSpPr>
        <p:spPr>
          <a:xfrm>
            <a:off x="950976"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Which is 4:10?</a:t>
            </a:r>
            <a:endParaRPr lang="en-US" sz="1200" dirty="0"/>
          </a:p>
        </p:txBody>
      </p:sp>
      <p:sp>
        <p:nvSpPr>
          <p:cNvPr id="67" name="Text 64"/>
          <p:cNvSpPr txBox="1"/>
          <p:nvPr/>
        </p:nvSpPr>
        <p:spPr>
          <a:xfrm>
            <a:off x="2406701" y="4224528"/>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cs typeface="Amiri" pitchFamily="2" charset="-78"/>
              </a:rPr>
              <a:t>٤:١٠</a:t>
            </a:r>
            <a:endParaRPr lang="ar-SA" sz="2200" dirty="0"/>
          </a:p>
        </p:txBody>
      </p:sp>
      <p:sp>
        <p:nvSpPr>
          <p:cNvPr id="68" name="Shape 65"/>
          <p:cNvSpPr/>
          <p:nvPr/>
        </p:nvSpPr>
        <p:spPr>
          <a:xfrm>
            <a:off x="640080" y="4831080"/>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0" name="Text 67"/>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الرَّابِعَةُ إِلَّا عَشْرَ دَقَائِقَ</a:t>
            </a:r>
            <a:endParaRPr lang="ar-SA" sz="1700" dirty="0"/>
          </a:p>
        </p:txBody>
      </p:sp>
      <p:sp>
        <p:nvSpPr>
          <p:cNvPr id="71" name="Shape 68"/>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72" name="Shape 69"/>
          <p:cNvSpPr/>
          <p:nvPr/>
        </p:nvSpPr>
        <p:spPr>
          <a:xfrm>
            <a:off x="640080" y="5202936"/>
            <a:ext cx="256032" cy="256032"/>
          </a:xfrm>
          <a:prstGeom prst="ellipse">
            <a:avLst/>
          </a:prstGeom>
          <a:solidFill>
            <a:srgbClr val="2E8B57"/>
          </a:solidFill>
          <a:ln w="12700">
            <a:solidFill>
              <a:srgbClr val="2E8B57"/>
            </a:solidFill>
            <a:prstDash val="solid"/>
          </a:ln>
        </p:spPr>
      </p:sp>
      <p:sp>
        <p:nvSpPr>
          <p:cNvPr id="73" name="Text 70"/>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4" name="Text 71"/>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الرَّابِعَةُ وَعَشْرُ دَقَائِقَ</a:t>
            </a:r>
            <a:endParaRPr lang="ar-SA" sz="1700" dirty="0"/>
          </a:p>
        </p:txBody>
      </p:sp>
      <p:sp>
        <p:nvSpPr>
          <p:cNvPr id="75" name="Shape 72"/>
          <p:cNvSpPr/>
          <p:nvPr/>
        </p:nvSpPr>
        <p:spPr>
          <a:xfrm>
            <a:off x="640080" y="5574792"/>
            <a:ext cx="256032" cy="256032"/>
          </a:xfrm>
          <a:prstGeom prst="ellipse">
            <a:avLst/>
          </a:prstGeom>
          <a:solidFill>
            <a:srgbClr val="C9CED6"/>
          </a:solidFill>
          <a:ln w="12700">
            <a:solidFill>
              <a:srgbClr val="C9CED6"/>
            </a:solidFill>
            <a:prstDash val="solid"/>
          </a:ln>
        </p:spPr>
      </p:sp>
      <p:sp>
        <p:nvSpPr>
          <p:cNvPr id="76" name="Text 73"/>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7" name="Text 74"/>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الخَامِسَةُ إِلَّا عَشْرَ دَقَائِقَ</a:t>
            </a:r>
            <a:endParaRPr lang="ar-SA" sz="1700" dirty="0"/>
          </a:p>
        </p:txBody>
      </p:sp>
      <p:sp>
        <p:nvSpPr>
          <p:cNvPr id="78" name="Text 75"/>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Four + ten minutes.</a:t>
            </a:r>
            <a:endParaRPr lang="en-US" sz="1050" dirty="0"/>
          </a:p>
        </p:txBody>
      </p:sp>
      <p:sp>
        <p:nvSpPr>
          <p:cNvPr id="79" name="Shape 7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0" name="Shape 77"/>
          <p:cNvSpPr/>
          <p:nvPr/>
        </p:nvSpPr>
        <p:spPr>
          <a:xfrm>
            <a:off x="4404360" y="4288536"/>
            <a:ext cx="310896" cy="310896"/>
          </a:xfrm>
          <a:prstGeom prst="ellipse">
            <a:avLst/>
          </a:prstGeom>
          <a:solidFill>
            <a:srgbClr val="1B3B6F"/>
          </a:solidFill>
          <a:ln w="12700">
            <a:solidFill>
              <a:srgbClr val="1B3B6F"/>
            </a:solidFill>
            <a:prstDash val="solid"/>
          </a:ln>
        </p:spPr>
      </p:sp>
      <p:sp>
        <p:nvSpPr>
          <p:cNvPr id="81" name="Text 7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82" name="Text 79"/>
          <p:cNvSpPr txBox="1"/>
          <p:nvPr/>
        </p:nvSpPr>
        <p:spPr>
          <a:xfrm>
            <a:off x="4770120"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Which is 2:40?</a:t>
            </a:r>
            <a:endParaRPr lang="en-US" sz="1200" dirty="0"/>
          </a:p>
        </p:txBody>
      </p:sp>
      <p:sp>
        <p:nvSpPr>
          <p:cNvPr id="83" name="Text 80"/>
          <p:cNvSpPr txBox="1"/>
          <p:nvPr/>
        </p:nvSpPr>
        <p:spPr>
          <a:xfrm>
            <a:off x="6225845" y="4224528"/>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cs typeface="Amiri" pitchFamily="2" charset="-78"/>
              </a:rPr>
              <a:t>٢:٤٠</a:t>
            </a:r>
            <a:endParaRPr lang="ar-SA" sz="2200" dirty="0"/>
          </a:p>
        </p:txBody>
      </p:sp>
      <p:sp>
        <p:nvSpPr>
          <p:cNvPr id="84" name="Shape 81"/>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5" name="Shape 82"/>
          <p:cNvSpPr/>
          <p:nvPr/>
        </p:nvSpPr>
        <p:spPr>
          <a:xfrm>
            <a:off x="4459224" y="4831080"/>
            <a:ext cx="256032" cy="256032"/>
          </a:xfrm>
          <a:prstGeom prst="ellipse">
            <a:avLst/>
          </a:prstGeom>
          <a:solidFill>
            <a:srgbClr val="2E8B57"/>
          </a:solidFill>
          <a:ln w="12700">
            <a:solidFill>
              <a:srgbClr val="2E8B57"/>
            </a:solidFill>
            <a:prstDash val="solid"/>
          </a:ln>
        </p:spPr>
      </p:sp>
      <p:sp>
        <p:nvSpPr>
          <p:cNvPr id="86" name="Text 83"/>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7" name="Text 84"/>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الثَّالِثَةُ إِلَّا الثُّلُثَ</a:t>
            </a:r>
            <a:endParaRPr lang="ar-SA" sz="1700" dirty="0"/>
          </a:p>
        </p:txBody>
      </p:sp>
      <p:sp>
        <p:nvSpPr>
          <p:cNvPr id="88" name="Shape 85"/>
          <p:cNvSpPr/>
          <p:nvPr/>
        </p:nvSpPr>
        <p:spPr>
          <a:xfrm>
            <a:off x="4459224" y="5202936"/>
            <a:ext cx="256032" cy="256032"/>
          </a:xfrm>
          <a:prstGeom prst="ellipse">
            <a:avLst/>
          </a:prstGeom>
          <a:solidFill>
            <a:srgbClr val="C9CED6"/>
          </a:solidFill>
          <a:ln w="12700">
            <a:solidFill>
              <a:srgbClr val="C9CED6"/>
            </a:solidFill>
            <a:prstDash val="solid"/>
          </a:ln>
        </p:spPr>
      </p:sp>
      <p:sp>
        <p:nvSpPr>
          <p:cNvPr id="89" name="Text 86"/>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90" name="Text 87"/>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الثَّانِيَةُ وَالثُّلُثُ</a:t>
            </a:r>
            <a:endParaRPr lang="ar-SA" sz="1700" dirty="0"/>
          </a:p>
        </p:txBody>
      </p:sp>
      <p:sp>
        <p:nvSpPr>
          <p:cNvPr id="91" name="Shape 88"/>
          <p:cNvSpPr/>
          <p:nvPr/>
        </p:nvSpPr>
        <p:spPr>
          <a:xfrm>
            <a:off x="4459224" y="5574792"/>
            <a:ext cx="256032" cy="256032"/>
          </a:xfrm>
          <a:prstGeom prst="ellipse">
            <a:avLst/>
          </a:prstGeom>
          <a:solidFill>
            <a:srgbClr val="C9CED6"/>
          </a:solidFill>
          <a:ln w="12700">
            <a:solidFill>
              <a:srgbClr val="C9CED6"/>
            </a:solidFill>
            <a:prstDash val="solid"/>
          </a:ln>
        </p:spPr>
      </p:sp>
      <p:sp>
        <p:nvSpPr>
          <p:cNvPr id="92" name="Text 89"/>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3" name="Text 90"/>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الثَّالِثَةُ وَالثُّلُثُ</a:t>
            </a:r>
            <a:endParaRPr lang="ar-SA" sz="1700" dirty="0"/>
          </a:p>
        </p:txBody>
      </p:sp>
      <p:sp>
        <p:nvSpPr>
          <p:cNvPr id="94" name="Text 91"/>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NEXT hour (3) − a third (20 min).</a:t>
            </a:r>
            <a:endParaRPr lang="en-US" sz="1050" dirty="0"/>
          </a:p>
        </p:txBody>
      </p:sp>
      <p:sp>
        <p:nvSpPr>
          <p:cNvPr id="95" name="Shape 92"/>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6" name="Shape 93"/>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7" name="Text 94"/>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98" name="Text 95"/>
          <p:cNvSpPr txBox="1"/>
          <p:nvPr/>
        </p:nvSpPr>
        <p:spPr>
          <a:xfrm>
            <a:off x="8296656" y="4791456"/>
            <a:ext cx="3270504"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cs typeface="Amiri" pitchFamily="2" charset="-78"/>
              </a:rPr>
              <a:t>Minutes 1–30 → same hour + </a:t>
            </a:r>
            <a:pPr algn="l" indent="0" marL="0">
              <a:lnSpc>
                <a:spcPct val="115000"/>
              </a:lnSpc>
              <a:buNone/>
            </a:pPr>
            <a:r>
              <a:rPr lang="ar-SA" altLang="en-US" sz="1650" dirty="0">
                <a:solidFill>
                  <a:srgbClr val="1E6B52"/>
                </a:solidFill>
                <a:latin typeface="Amiri" pitchFamily="2" charset="-78"/>
                <a:cs typeface="Amiri" pitchFamily="2" charset="-78"/>
              </a:rPr>
              <a:t>وَ</a:t>
            </a:r>
            <a:pPr algn="l" indent="0" marL="0">
              <a:lnSpc>
                <a:spcPct val="115000"/>
              </a:lnSpc>
              <a:buNone/>
            </a:pPr>
            <a:r>
              <a:rPr lang="en-US" sz="1250" dirty="0">
                <a:solidFill>
                  <a:srgbClr val="1E6B52"/>
                </a:solidFill>
                <a:latin typeface="Calibri" pitchFamily="34" charset="0"/>
                <a:cs typeface="Amiri" pitchFamily="2" charset="-78"/>
              </a:rPr>
              <a:t>.</a:t>
            </a:r>
            <a:endParaRPr lang="en-US" sz="1250" dirty="0"/>
          </a:p>
          <a:p>
            <a:pPr algn="l" indent="0" marL="0">
              <a:lnSpc>
                <a:spcPct val="115000"/>
              </a:lnSpc>
              <a:buNone/>
            </a:pPr>
            <a:r>
              <a:rPr lang="en-US" sz="1250" dirty="0">
                <a:solidFill>
                  <a:srgbClr val="1E6B52"/>
                </a:solidFill>
                <a:latin typeface="Calibri" pitchFamily="34" charset="0"/>
                <a:cs typeface="Amiri" pitchFamily="2" charset="-78"/>
              </a:rPr>
              <a:t>Minutes 31–59 → NEXT hour + </a:t>
            </a:r>
            <a:pPr algn="l" indent="0" marL="0">
              <a:lnSpc>
                <a:spcPct val="115000"/>
              </a:lnSpc>
              <a:buNone/>
            </a:pPr>
            <a:r>
              <a:rPr lang="ar-SA" altLang="en-US" sz="1650" dirty="0">
                <a:solidFill>
                  <a:srgbClr val="1E6B52"/>
                </a:solidFill>
                <a:latin typeface="Amiri" pitchFamily="2" charset="-78"/>
                <a:cs typeface="Amiri" pitchFamily="2" charset="-78"/>
              </a:rPr>
              <a:t>إِلَّا</a:t>
            </a:r>
            <a:pPr algn="l" indent="0" marL="0">
              <a:lnSpc>
                <a:spcPct val="115000"/>
              </a:lnSpc>
              <a:buNone/>
            </a:pPr>
            <a:r>
              <a:rPr lang="en-US" sz="1250" dirty="0">
                <a:solidFill>
                  <a:srgbClr val="1E6B52"/>
                </a:solidFill>
                <a:latin typeface="Calibri" pitchFamily="34" charset="0"/>
                <a:cs typeface="Amiri" pitchFamily="2" charset="-78"/>
              </a:rPr>
              <a:t>.</a:t>
            </a:r>
            <a:endParaRPr lang="en-US" sz="1250" dirty="0"/>
          </a:p>
        </p:txBody>
      </p:sp>
      <p:sp>
        <p:nvSpPr>
          <p:cNvPr id="99" name="Text 9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46</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D1-L02 · Telling the Time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cs typeface="Amiri" pitchFamily="2" charset="-78"/>
              </a:rPr>
              <a:t>Past the hour or to the next hour?</a:t>
            </a:r>
            <a:endParaRPr lang="en-US" sz="27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D1-L02</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وَخَمْسُ دَقَائِقَ</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وَالرُّبْعُ</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وَالنِّصْفُ</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إِلَّا خَمْسَ دَقَائِقَ</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إِلَّا الرُّبْعَ</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إِلَّا الثُّلُثَ</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وَعَشْرُ دَقَائِقَ</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إِلَّا عَشْرَ دَقَائِقَ</a:t>
            </a:r>
            <a:endParaRPr lang="ar-SA" sz="1800" dirty="0"/>
          </a:p>
        </p:txBody>
      </p:sp>
      <p:sp>
        <p:nvSpPr>
          <p:cNvPr id="31" name="Shape 28"/>
          <p:cNvSpPr/>
          <p:nvPr/>
        </p:nvSpPr>
        <p:spPr>
          <a:xfrm>
            <a:off x="6185916" y="3017520"/>
            <a:ext cx="5545836" cy="3291840"/>
          </a:xfrm>
          <a:prstGeom prst="roundRect">
            <a:avLst>
              <a:gd name="adj" fmla="val 2222"/>
            </a:avLst>
          </a:prstGeom>
          <a:solidFill>
            <a:srgbClr val="EEF3FA"/>
          </a:solidFill>
          <a:ln w="9525">
            <a:solidFill>
              <a:srgbClr val="C9D6EA"/>
            </a:solidFill>
            <a:prstDash val="solid"/>
          </a:ln>
        </p:spPr>
      </p:sp>
      <p:sp>
        <p:nvSpPr>
          <p:cNvPr id="32" name="Shape 29"/>
          <p:cNvSpPr/>
          <p:nvPr/>
        </p:nvSpPr>
        <p:spPr>
          <a:xfrm>
            <a:off x="6323076" y="3127248"/>
            <a:ext cx="5271516"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6323076"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Past the hour (وَ)</a:t>
            </a:r>
            <a:endParaRPr lang="en-US" sz="950" dirty="0"/>
          </a:p>
        </p:txBody>
      </p:sp>
      <p:sp>
        <p:nvSpPr>
          <p:cNvPr id="34" name="Shape 31"/>
          <p:cNvSpPr/>
          <p:nvPr/>
        </p:nvSpPr>
        <p:spPr>
          <a:xfrm>
            <a:off x="457200" y="3017520"/>
            <a:ext cx="5545836" cy="3291840"/>
          </a:xfrm>
          <a:prstGeom prst="roundRect">
            <a:avLst>
              <a:gd name="adj" fmla="val 2222"/>
            </a:avLst>
          </a:prstGeom>
          <a:solidFill>
            <a:srgbClr val="EEF3FA"/>
          </a:solidFill>
          <a:ln w="9525">
            <a:solidFill>
              <a:srgbClr val="C9D6EA"/>
            </a:solidFill>
            <a:prstDash val="solid"/>
          </a:ln>
        </p:spPr>
      </p:sp>
      <p:sp>
        <p:nvSpPr>
          <p:cNvPr id="35" name="Shape 32"/>
          <p:cNvSpPr/>
          <p:nvPr/>
        </p:nvSpPr>
        <p:spPr>
          <a:xfrm>
            <a:off x="594360" y="3127248"/>
            <a:ext cx="5271516" cy="310896"/>
          </a:xfrm>
          <a:prstGeom prst="roundRect">
            <a:avLst>
              <a:gd name="adj" fmla="val 50000"/>
            </a:avLst>
          </a:prstGeom>
          <a:solidFill>
            <a:srgbClr val="2F6FB0"/>
          </a:solidFill>
          <a:ln w="12700">
            <a:solidFill>
              <a:srgbClr val="2F6FB0"/>
            </a:solidFill>
            <a:prstDash val="solid"/>
          </a:ln>
        </p:spPr>
      </p:sp>
      <p:sp>
        <p:nvSpPr>
          <p:cNvPr id="36" name="Text 33"/>
          <p:cNvSpPr txBox="1"/>
          <p:nvPr/>
        </p:nvSpPr>
        <p:spPr>
          <a:xfrm>
            <a:off x="594360"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To the next hour (إِلَّا)</a:t>
            </a:r>
            <a:endParaRPr lang="en-US" sz="9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46</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D1-L02 · Telling the Time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D1-L02</a:t>
            </a:r>
            <a:endParaRPr lang="en-US" sz="850" dirty="0"/>
          </a:p>
        </p:txBody>
      </p:sp>
      <p:sp>
        <p:nvSpPr>
          <p:cNvPr id="15" name="Shape 12"/>
          <p:cNvSpPr/>
          <p:nvPr/>
        </p:nvSpPr>
        <p:spPr>
          <a:xfrm>
            <a:off x="6185916" y="1810512"/>
            <a:ext cx="5545836" cy="4498848"/>
          </a:xfrm>
          <a:prstGeom prst="roundRect">
            <a:avLst>
              <a:gd name="adj" fmla="val 1626"/>
            </a:avLst>
          </a:prstGeom>
          <a:solidFill>
            <a:srgbClr val="EEF3FA"/>
          </a:solidFill>
          <a:ln w="9525">
            <a:solidFill>
              <a:srgbClr val="C9D6EA"/>
            </a:solidFill>
            <a:prstDash val="solid"/>
          </a:ln>
        </p:spPr>
      </p:sp>
      <p:sp>
        <p:nvSpPr>
          <p:cNvPr id="16" name="Shape 13"/>
          <p:cNvSpPr/>
          <p:nvPr/>
        </p:nvSpPr>
        <p:spPr>
          <a:xfrm>
            <a:off x="6323076" y="1920240"/>
            <a:ext cx="5271516"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6323076"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Past the hour (وَ)</a:t>
            </a:r>
            <a:endParaRPr lang="en-US" sz="950" dirty="0"/>
          </a:p>
        </p:txBody>
      </p:sp>
      <p:sp>
        <p:nvSpPr>
          <p:cNvPr id="18" name="Shape 15"/>
          <p:cNvSpPr/>
          <p:nvPr/>
        </p:nvSpPr>
        <p:spPr>
          <a:xfrm>
            <a:off x="6323076" y="2377440"/>
            <a:ext cx="5271516"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6414516"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وَخَمْسُ دَقَائِقَ</a:t>
            </a:r>
            <a:endParaRPr lang="ar-SA" sz="1800" dirty="0"/>
          </a:p>
        </p:txBody>
      </p:sp>
      <p:sp>
        <p:nvSpPr>
          <p:cNvPr id="20" name="Shape 17"/>
          <p:cNvSpPr/>
          <p:nvPr/>
        </p:nvSpPr>
        <p:spPr>
          <a:xfrm>
            <a:off x="6323076" y="2889504"/>
            <a:ext cx="5271516"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6414516"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وَالرُّبْعُ</a:t>
            </a:r>
            <a:endParaRPr lang="ar-SA" sz="1800" dirty="0"/>
          </a:p>
        </p:txBody>
      </p:sp>
      <p:sp>
        <p:nvSpPr>
          <p:cNvPr id="22" name="Shape 19"/>
          <p:cNvSpPr/>
          <p:nvPr/>
        </p:nvSpPr>
        <p:spPr>
          <a:xfrm>
            <a:off x="6323076" y="3401568"/>
            <a:ext cx="5271516"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6414516"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وَالنِّصْفُ</a:t>
            </a:r>
            <a:endParaRPr lang="ar-SA" sz="1800" dirty="0"/>
          </a:p>
        </p:txBody>
      </p:sp>
      <p:sp>
        <p:nvSpPr>
          <p:cNvPr id="24" name="Shape 21"/>
          <p:cNvSpPr/>
          <p:nvPr/>
        </p:nvSpPr>
        <p:spPr>
          <a:xfrm>
            <a:off x="6323076" y="3913632"/>
            <a:ext cx="5271516" cy="438912"/>
          </a:xfrm>
          <a:prstGeom prst="roundRect">
            <a:avLst>
              <a:gd name="adj" fmla="val 12500"/>
            </a:avLst>
          </a:prstGeom>
          <a:solidFill>
            <a:srgbClr val="FFF4DC"/>
          </a:solidFill>
          <a:ln w="9525">
            <a:solidFill>
              <a:srgbClr val="E6C98A"/>
            </a:solidFill>
            <a:prstDash val="solid"/>
          </a:ln>
        </p:spPr>
      </p:sp>
      <p:sp>
        <p:nvSpPr>
          <p:cNvPr id="25" name="Text 22"/>
          <p:cNvSpPr txBox="1"/>
          <p:nvPr/>
        </p:nvSpPr>
        <p:spPr>
          <a:xfrm>
            <a:off x="6414516"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وَعَشْرُ دَقَائِقَ</a:t>
            </a:r>
            <a:endParaRPr lang="ar-SA" sz="1800" dirty="0"/>
          </a:p>
        </p:txBody>
      </p:sp>
      <p:sp>
        <p:nvSpPr>
          <p:cNvPr id="26" name="Shape 23"/>
          <p:cNvSpPr/>
          <p:nvPr/>
        </p:nvSpPr>
        <p:spPr>
          <a:xfrm>
            <a:off x="457200" y="1810512"/>
            <a:ext cx="5545836" cy="4498848"/>
          </a:xfrm>
          <a:prstGeom prst="roundRect">
            <a:avLst>
              <a:gd name="adj" fmla="val 1626"/>
            </a:avLst>
          </a:prstGeom>
          <a:solidFill>
            <a:srgbClr val="EEF3FA"/>
          </a:solidFill>
          <a:ln w="9525">
            <a:solidFill>
              <a:srgbClr val="C9D6EA"/>
            </a:solidFill>
            <a:prstDash val="solid"/>
          </a:ln>
        </p:spPr>
      </p:sp>
      <p:sp>
        <p:nvSpPr>
          <p:cNvPr id="27" name="Shape 24"/>
          <p:cNvSpPr/>
          <p:nvPr/>
        </p:nvSpPr>
        <p:spPr>
          <a:xfrm>
            <a:off x="594360" y="1920240"/>
            <a:ext cx="5271516" cy="310896"/>
          </a:xfrm>
          <a:prstGeom prst="roundRect">
            <a:avLst>
              <a:gd name="adj" fmla="val 50000"/>
            </a:avLst>
          </a:prstGeom>
          <a:solidFill>
            <a:srgbClr val="2F6FB0"/>
          </a:solidFill>
          <a:ln w="12700">
            <a:solidFill>
              <a:srgbClr val="2F6FB0"/>
            </a:solidFill>
            <a:prstDash val="solid"/>
          </a:ln>
        </p:spPr>
      </p:sp>
      <p:sp>
        <p:nvSpPr>
          <p:cNvPr id="28" name="Text 25"/>
          <p:cNvSpPr txBox="1"/>
          <p:nvPr/>
        </p:nvSpPr>
        <p:spPr>
          <a:xfrm>
            <a:off x="594360"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To the next hour (إِلَّا)</a:t>
            </a:r>
            <a:endParaRPr lang="en-US" sz="950" dirty="0"/>
          </a:p>
        </p:txBody>
      </p:sp>
      <p:sp>
        <p:nvSpPr>
          <p:cNvPr id="29" name="Shape 26"/>
          <p:cNvSpPr/>
          <p:nvPr/>
        </p:nvSpPr>
        <p:spPr>
          <a:xfrm>
            <a:off x="594360" y="2377440"/>
            <a:ext cx="5271516"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685800"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إِلَّا خَمْسَ دَقَائِقَ</a:t>
            </a:r>
            <a:endParaRPr lang="ar-SA" sz="1800" dirty="0"/>
          </a:p>
        </p:txBody>
      </p:sp>
      <p:sp>
        <p:nvSpPr>
          <p:cNvPr id="31" name="Shape 28"/>
          <p:cNvSpPr/>
          <p:nvPr/>
        </p:nvSpPr>
        <p:spPr>
          <a:xfrm>
            <a:off x="594360" y="2889504"/>
            <a:ext cx="5271516"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685800"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إِلَّا الرُّبْعَ</a:t>
            </a:r>
            <a:endParaRPr lang="ar-SA" sz="1800" dirty="0"/>
          </a:p>
        </p:txBody>
      </p:sp>
      <p:sp>
        <p:nvSpPr>
          <p:cNvPr id="33" name="Shape 30"/>
          <p:cNvSpPr/>
          <p:nvPr/>
        </p:nvSpPr>
        <p:spPr>
          <a:xfrm>
            <a:off x="594360" y="3401568"/>
            <a:ext cx="5271516" cy="438912"/>
          </a:xfrm>
          <a:prstGeom prst="roundRect">
            <a:avLst>
              <a:gd name="adj" fmla="val 12500"/>
            </a:avLst>
          </a:prstGeom>
          <a:solidFill>
            <a:srgbClr val="FFF4DC"/>
          </a:solidFill>
          <a:ln w="9525">
            <a:solidFill>
              <a:srgbClr val="E6C98A"/>
            </a:solidFill>
            <a:prstDash val="solid"/>
          </a:ln>
        </p:spPr>
      </p:sp>
      <p:sp>
        <p:nvSpPr>
          <p:cNvPr id="34" name="Text 31"/>
          <p:cNvSpPr txBox="1"/>
          <p:nvPr/>
        </p:nvSpPr>
        <p:spPr>
          <a:xfrm>
            <a:off x="685800"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إِلَّا الثُّلُثَ</a:t>
            </a:r>
            <a:endParaRPr lang="ar-SA" sz="1800" dirty="0"/>
          </a:p>
        </p:txBody>
      </p:sp>
      <p:sp>
        <p:nvSpPr>
          <p:cNvPr id="35" name="Shape 32"/>
          <p:cNvSpPr/>
          <p:nvPr/>
        </p:nvSpPr>
        <p:spPr>
          <a:xfrm>
            <a:off x="594360" y="3913632"/>
            <a:ext cx="5271516" cy="438912"/>
          </a:xfrm>
          <a:prstGeom prst="roundRect">
            <a:avLst>
              <a:gd name="adj" fmla="val 12500"/>
            </a:avLst>
          </a:prstGeom>
          <a:solidFill>
            <a:srgbClr val="FFF4DC"/>
          </a:solidFill>
          <a:ln w="9525">
            <a:solidFill>
              <a:srgbClr val="E6C98A"/>
            </a:solidFill>
            <a:prstDash val="solid"/>
          </a:ln>
        </p:spPr>
      </p:sp>
      <p:sp>
        <p:nvSpPr>
          <p:cNvPr id="36" name="Text 33"/>
          <p:cNvSpPr txBox="1"/>
          <p:nvPr/>
        </p:nvSpPr>
        <p:spPr>
          <a:xfrm>
            <a:off x="685800"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إِلَّا عَشْرَ دَقَائِقَ</a:t>
            </a:r>
            <a:endParaRPr lang="ar-SA" sz="180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46</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D1-L02 · Telling the Time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GUIDED PRACTICE · WEBSITE QUIZ QUESTIONS 5, 6, 7, 8</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D1-L02</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correct 14:30 form.</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الثَّانِيَةُ عَشْرَةَ وَالنِّصْفُ</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الرَّابِعَةُ وَالنِّصْفُ صَبَاحًا</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الرَّابِعَةُ عَشْرَةَ وَالنِّصْفُ</a:t>
            </a:r>
            <a:endParaRPr lang="ar-SA" sz="2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3" name="Text 30"/>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34" name="Text 31"/>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cs typeface="Amiri" pitchFamily="2" charset="-78"/>
              </a:rPr>
              <a:t>يَنْتَهِي الدَّرْسُ ___ التَّاسِعَةِ.</a:t>
            </a:r>
            <a:endParaRPr lang="ar-SA" sz="1500" dirty="0"/>
          </a:p>
        </p:txBody>
      </p:sp>
      <p:sp>
        <p:nvSpPr>
          <p:cNvPr id="35" name="Shape 32"/>
          <p:cNvSpPr/>
          <p:nvPr/>
        </p:nvSpPr>
        <p:spPr>
          <a:xfrm>
            <a:off x="6368796" y="25328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7" name="Text 34"/>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مِنْ</a:t>
            </a:r>
            <a:endParaRPr lang="ar-SA" sz="2050" dirty="0"/>
          </a:p>
        </p:txBody>
      </p:sp>
      <p:sp>
        <p:nvSpPr>
          <p:cNvPr id="38" name="Shape 35"/>
          <p:cNvSpPr/>
          <p:nvPr/>
        </p:nvSpPr>
        <p:spPr>
          <a:xfrm>
            <a:off x="6368796" y="29900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فِي</a:t>
            </a:r>
            <a:endParaRPr lang="ar-SA" sz="2050" dirty="0"/>
          </a:p>
        </p:txBody>
      </p:sp>
      <p:sp>
        <p:nvSpPr>
          <p:cNvPr id="41" name="Shape 38"/>
          <p:cNvSpPr/>
          <p:nvPr/>
        </p:nvSpPr>
        <p:spPr>
          <a:xfrm>
            <a:off x="6368796" y="3447288"/>
            <a:ext cx="256032" cy="256032"/>
          </a:xfrm>
          <a:prstGeom prst="ellipse">
            <a:avLst/>
          </a:prstGeom>
          <a:solidFill>
            <a:srgbClr val="F4F1EA"/>
          </a:solidFill>
          <a:ln w="12700">
            <a:solidFill>
              <a:srgbClr val="F4F1EA"/>
            </a:solidFill>
            <a:prstDash val="solid"/>
          </a:ln>
        </p:spPr>
      </p:sp>
      <p:sp>
        <p:nvSpPr>
          <p:cNvPr id="42" name="Text 39"/>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عَلَى</a:t>
            </a:r>
            <a:endParaRPr lang="ar-SA" sz="2050" dirty="0"/>
          </a:p>
        </p:txBody>
      </p:sp>
      <p:sp>
        <p:nvSpPr>
          <p:cNvPr id="44" name="Shape 41"/>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585216" y="4288536"/>
            <a:ext cx="310896" cy="310896"/>
          </a:xfrm>
          <a:prstGeom prst="ellipse">
            <a:avLst/>
          </a:prstGeom>
          <a:solidFill>
            <a:srgbClr val="1B3B6F"/>
          </a:solidFill>
          <a:ln w="12700">
            <a:solidFill>
              <a:srgbClr val="1B3B6F"/>
            </a:solidFill>
            <a:prstDash val="solid"/>
          </a:ln>
        </p:spPr>
      </p:sp>
      <p:sp>
        <p:nvSpPr>
          <p:cNvPr id="46" name="Text 4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47" name="Text 44"/>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phrase describes duration?</a:t>
            </a:r>
            <a:endParaRPr lang="en-US" sz="1250" dirty="0"/>
          </a:p>
        </p:txBody>
      </p:sp>
      <p:sp>
        <p:nvSpPr>
          <p:cNvPr id="48" name="Shape 45"/>
          <p:cNvSpPr/>
          <p:nvPr/>
        </p:nvSpPr>
        <p:spPr>
          <a:xfrm>
            <a:off x="640080" y="48737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0" name="Text 47"/>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فِي تَمَامِ الثَّامِنَةِ</a:t>
            </a:r>
            <a:endParaRPr lang="ar-SA" sz="2050" dirty="0"/>
          </a:p>
        </p:txBody>
      </p:sp>
      <p:sp>
        <p:nvSpPr>
          <p:cNvPr id="51" name="Shape 48"/>
          <p:cNvSpPr/>
          <p:nvPr/>
        </p:nvSpPr>
        <p:spPr>
          <a:xfrm>
            <a:off x="640080" y="53309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3" name="Text 50"/>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مُدَّةَ سَاعَةٍ</a:t>
            </a:r>
            <a:endParaRPr lang="ar-SA" sz="2050" dirty="0"/>
          </a:p>
        </p:txBody>
      </p:sp>
      <p:sp>
        <p:nvSpPr>
          <p:cNvPr id="54" name="Shape 51"/>
          <p:cNvSpPr/>
          <p:nvPr/>
        </p:nvSpPr>
        <p:spPr>
          <a:xfrm>
            <a:off x="640080" y="5788152"/>
            <a:ext cx="256032" cy="256032"/>
          </a:xfrm>
          <a:prstGeom prst="ellipse">
            <a:avLst/>
          </a:prstGeom>
          <a:solidFill>
            <a:srgbClr val="F4F1EA"/>
          </a:solidFill>
          <a:ln w="12700">
            <a:solidFill>
              <a:srgbClr val="F4F1EA"/>
            </a:solidFill>
            <a:prstDash val="solid"/>
          </a:ln>
        </p:spPr>
      </p:sp>
      <p:sp>
        <p:nvSpPr>
          <p:cNvPr id="55" name="Text 5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6" name="Text 53"/>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حَوَالَيْ الثَّامِنَةِ</a:t>
            </a:r>
            <a:endParaRPr lang="ar-SA" sz="2050" dirty="0"/>
          </a:p>
        </p:txBody>
      </p:sp>
      <p:sp>
        <p:nvSpPr>
          <p:cNvPr id="57" name="Shape 54"/>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6313932" y="4288536"/>
            <a:ext cx="310896" cy="310896"/>
          </a:xfrm>
          <a:prstGeom prst="ellipse">
            <a:avLst/>
          </a:prstGeom>
          <a:solidFill>
            <a:srgbClr val="1B3B6F"/>
          </a:solidFill>
          <a:ln w="12700">
            <a:solidFill>
              <a:srgbClr val="1B3B6F"/>
            </a:solidFill>
            <a:prstDash val="solid"/>
          </a:ln>
        </p:spPr>
      </p:sp>
      <p:sp>
        <p:nvSpPr>
          <p:cNvPr id="59" name="Text 56"/>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60" name="Text 57"/>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2:40?</a:t>
            </a:r>
            <a:endParaRPr lang="en-US" sz="1250" dirty="0"/>
          </a:p>
        </p:txBody>
      </p:sp>
      <p:sp>
        <p:nvSpPr>
          <p:cNvPr id="61" name="Shape 58"/>
          <p:cNvSpPr/>
          <p:nvPr/>
        </p:nvSpPr>
        <p:spPr>
          <a:xfrm>
            <a:off x="6368796" y="48737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3" name="Text 60"/>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الثَّانِيَةُ وَالثُّلُثُ</a:t>
            </a:r>
            <a:endParaRPr lang="ar-SA" sz="2050" dirty="0"/>
          </a:p>
        </p:txBody>
      </p:sp>
      <p:sp>
        <p:nvSpPr>
          <p:cNvPr id="64" name="Shape 61"/>
          <p:cNvSpPr/>
          <p:nvPr/>
        </p:nvSpPr>
        <p:spPr>
          <a:xfrm>
            <a:off x="6368796" y="53309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6" name="Text 63"/>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الثَّالِثَةُ وَالثُّلُثُ</a:t>
            </a:r>
            <a:endParaRPr lang="ar-SA" sz="2050" dirty="0"/>
          </a:p>
        </p:txBody>
      </p:sp>
      <p:sp>
        <p:nvSpPr>
          <p:cNvPr id="67" name="Shape 64"/>
          <p:cNvSpPr/>
          <p:nvPr/>
        </p:nvSpPr>
        <p:spPr>
          <a:xfrm>
            <a:off x="6368796" y="5788152"/>
            <a:ext cx="256032" cy="256032"/>
          </a:xfrm>
          <a:prstGeom prst="ellipse">
            <a:avLst/>
          </a:prstGeom>
          <a:solidFill>
            <a:srgbClr val="F4F1EA"/>
          </a:solidFill>
          <a:ln w="12700">
            <a:solidFill>
              <a:srgbClr val="F4F1EA"/>
            </a:solidFill>
            <a:prstDash val="solid"/>
          </a:ln>
        </p:spPr>
      </p:sp>
      <p:sp>
        <p:nvSpPr>
          <p:cNvPr id="68" name="Text 65"/>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9" name="Text 66"/>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الثَّالِثَةُ إِلَّا الثُّلُثَ</a:t>
            </a:r>
            <a:endParaRPr lang="ar-SA" sz="20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46</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D1-L02 · Telling the Time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D1-L02</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correct 14:30 form.</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الثَّانِيَةُ عَشْرَةَ وَالنِّصْفُ</a:t>
            </a:r>
            <a:endParaRPr lang="ar-SA" sz="170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الرَّابِعَةُ وَالنِّصْفُ صَبَاحًا</a:t>
            </a:r>
            <a:endParaRPr lang="ar-SA" sz="170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الرَّابِعَةُ عَشْرَةَ وَالنِّصْفُ</a:t>
            </a:r>
            <a:endParaRPr lang="ar-SA" sz="170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14:30 is the fourteenth hour and a half.</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5" name="Text 32"/>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36" name="Text 33"/>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cs typeface="Amiri" pitchFamily="2" charset="-78"/>
              </a:rPr>
              <a:t>يَنْتَهِي الدَّرْسُ ___ التَّاسِعَةِ.</a:t>
            </a:r>
            <a:endParaRPr lang="ar-SA" sz="1500" dirty="0"/>
          </a:p>
        </p:txBody>
      </p:sp>
      <p:sp>
        <p:nvSpPr>
          <p:cNvPr id="37" name="Shape 34"/>
          <p:cNvSpPr/>
          <p:nvPr/>
        </p:nvSpPr>
        <p:spPr>
          <a:xfrm>
            <a:off x="6368796" y="2490216"/>
            <a:ext cx="256032" cy="256032"/>
          </a:xfrm>
          <a:prstGeom prst="ellipse">
            <a:avLst/>
          </a:prstGeom>
          <a:solidFill>
            <a:srgbClr val="C9CED6"/>
          </a:solidFill>
          <a:ln w="12700">
            <a:solidFill>
              <a:srgbClr val="C9CED6"/>
            </a:solidFill>
            <a:prstDash val="solid"/>
          </a:ln>
        </p:spPr>
      </p:sp>
      <p:sp>
        <p:nvSpPr>
          <p:cNvPr id="38" name="Text 35"/>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9" name="Text 36"/>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مِنْ</a:t>
            </a:r>
            <a:endParaRPr lang="ar-SA" sz="1700" dirty="0"/>
          </a:p>
        </p:txBody>
      </p:sp>
      <p:sp>
        <p:nvSpPr>
          <p:cNvPr id="40" name="Shape 37"/>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6368796" y="2862072"/>
            <a:ext cx="256032" cy="256032"/>
          </a:xfrm>
          <a:prstGeom prst="ellipse">
            <a:avLst/>
          </a:prstGeom>
          <a:solidFill>
            <a:srgbClr val="2E8B57"/>
          </a:solidFill>
          <a:ln w="12700">
            <a:solidFill>
              <a:srgbClr val="2E8B57"/>
            </a:solidFill>
            <a:prstDash val="solid"/>
          </a:ln>
        </p:spPr>
      </p:sp>
      <p:sp>
        <p:nvSpPr>
          <p:cNvPr id="42" name="Text 39"/>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3" name="Text 40"/>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فِي</a:t>
            </a:r>
            <a:endParaRPr lang="ar-SA" sz="1700" dirty="0"/>
          </a:p>
        </p:txBody>
      </p:sp>
      <p:sp>
        <p:nvSpPr>
          <p:cNvPr id="44" name="Shape 41"/>
          <p:cNvSpPr/>
          <p:nvPr/>
        </p:nvSpPr>
        <p:spPr>
          <a:xfrm>
            <a:off x="6368796" y="3233928"/>
            <a:ext cx="256032" cy="256032"/>
          </a:xfrm>
          <a:prstGeom prst="ellipse">
            <a:avLst/>
          </a:prstGeom>
          <a:solidFill>
            <a:srgbClr val="C9CED6"/>
          </a:solidFill>
          <a:ln w="12700">
            <a:solidFill>
              <a:srgbClr val="C9CED6"/>
            </a:solidFill>
            <a:prstDash val="solid"/>
          </a:ln>
        </p:spPr>
      </p:sp>
      <p:sp>
        <p:nvSpPr>
          <p:cNvPr id="45" name="Text 42"/>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6" name="Text 43"/>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عَلَى</a:t>
            </a:r>
            <a:endParaRPr lang="ar-SA" sz="1700" dirty="0"/>
          </a:p>
        </p:txBody>
      </p:sp>
      <p:sp>
        <p:nvSpPr>
          <p:cNvPr id="47" name="Text 44"/>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Use </a:t>
            </a:r>
            <a:pPr algn="l" indent="0" marL="0">
              <a:buNone/>
            </a:pPr>
            <a:r>
              <a:rPr lang="ar-SA" altLang="en-US" sz="1350" dirty="0">
                <a:solidFill>
                  <a:srgbClr val="8A6D1E"/>
                </a:solidFill>
                <a:latin typeface="Amiri" pitchFamily="2" charset="-78"/>
                <a:cs typeface="Amiri" pitchFamily="2" charset="-78"/>
              </a:rPr>
              <a:t>فِي</a:t>
            </a:r>
            <a:pPr algn="l" indent="0" marL="0">
              <a:buNone/>
            </a:pPr>
            <a:r>
              <a:rPr lang="en-US" sz="1050" i="1" dirty="0">
                <a:solidFill>
                  <a:srgbClr val="8A6D1E"/>
                </a:solidFill>
                <a:latin typeface="Calibri" pitchFamily="34" charset="0"/>
                <a:cs typeface="Amiri" pitchFamily="2" charset="-78"/>
              </a:rPr>
              <a:t> with an exact clock time.</a:t>
            </a:r>
            <a:endParaRPr lang="en-US" sz="1050" dirty="0"/>
          </a:p>
        </p:txBody>
      </p:sp>
      <p:sp>
        <p:nvSpPr>
          <p:cNvPr id="48" name="Shape 45"/>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9" name="Shape 46"/>
          <p:cNvSpPr/>
          <p:nvPr/>
        </p:nvSpPr>
        <p:spPr>
          <a:xfrm>
            <a:off x="585216" y="4288536"/>
            <a:ext cx="310896" cy="310896"/>
          </a:xfrm>
          <a:prstGeom prst="ellipse">
            <a:avLst/>
          </a:prstGeom>
          <a:solidFill>
            <a:srgbClr val="1B3B6F"/>
          </a:solidFill>
          <a:ln w="12700">
            <a:solidFill>
              <a:srgbClr val="1B3B6F"/>
            </a:solidFill>
            <a:prstDash val="solid"/>
          </a:ln>
        </p:spPr>
      </p:sp>
      <p:sp>
        <p:nvSpPr>
          <p:cNvPr id="50" name="Text 47"/>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51" name="Text 48"/>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phrase describes duration?</a:t>
            </a:r>
            <a:endParaRPr lang="en-US" sz="1250" dirty="0"/>
          </a:p>
        </p:txBody>
      </p:sp>
      <p:sp>
        <p:nvSpPr>
          <p:cNvPr id="52" name="Shape 49"/>
          <p:cNvSpPr/>
          <p:nvPr/>
        </p:nvSpPr>
        <p:spPr>
          <a:xfrm>
            <a:off x="640080" y="4831080"/>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4" name="Text 51"/>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فِي تَمَامِ الثَّامِنَةِ</a:t>
            </a:r>
            <a:endParaRPr lang="ar-SA" sz="1700" dirty="0"/>
          </a:p>
        </p:txBody>
      </p:sp>
      <p:sp>
        <p:nvSpPr>
          <p:cNvPr id="55" name="Shape 52"/>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40080" y="5202936"/>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8" name="Text 55"/>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مُدَّةَ سَاعَةٍ</a:t>
            </a:r>
            <a:endParaRPr lang="ar-SA" sz="1700" dirty="0"/>
          </a:p>
        </p:txBody>
      </p:sp>
      <p:sp>
        <p:nvSpPr>
          <p:cNvPr id="59" name="Shape 56"/>
          <p:cNvSpPr/>
          <p:nvPr/>
        </p:nvSpPr>
        <p:spPr>
          <a:xfrm>
            <a:off x="640080" y="5574792"/>
            <a:ext cx="256032" cy="256032"/>
          </a:xfrm>
          <a:prstGeom prst="ellipse">
            <a:avLst/>
          </a:prstGeom>
          <a:solidFill>
            <a:srgbClr val="C9CED6"/>
          </a:solidFill>
          <a:ln w="12700">
            <a:solidFill>
              <a:srgbClr val="C9CED6"/>
            </a:solidFill>
            <a:prstDash val="solid"/>
          </a:ln>
        </p:spPr>
      </p:sp>
      <p:sp>
        <p:nvSpPr>
          <p:cNvPr id="60" name="Text 57"/>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1" name="Text 58"/>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حَوَالَيْ الثَّامِنَةِ</a:t>
            </a:r>
            <a:endParaRPr lang="ar-SA" sz="1700" dirty="0"/>
          </a:p>
        </p:txBody>
      </p:sp>
      <p:sp>
        <p:nvSpPr>
          <p:cNvPr id="62" name="Text 59"/>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مُدَّةَ سَاعَةٍ</a:t>
            </a:r>
            <a:pPr algn="l" indent="0" marL="0">
              <a:buNone/>
            </a:pPr>
            <a:r>
              <a:rPr lang="en-US" sz="1050" i="1" dirty="0">
                <a:solidFill>
                  <a:srgbClr val="8A6D1E"/>
                </a:solidFill>
                <a:latin typeface="Calibri" pitchFamily="34" charset="0"/>
                <a:cs typeface="Amiri" pitchFamily="2" charset="-78"/>
              </a:rPr>
              <a:t> = for a duration of one hour.</a:t>
            </a:r>
            <a:endParaRPr lang="en-US" sz="1050" dirty="0"/>
          </a:p>
        </p:txBody>
      </p:sp>
      <p:sp>
        <p:nvSpPr>
          <p:cNvPr id="63" name="Shape 60"/>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6313932" y="4288536"/>
            <a:ext cx="310896" cy="310896"/>
          </a:xfrm>
          <a:prstGeom prst="ellipse">
            <a:avLst/>
          </a:prstGeom>
          <a:solidFill>
            <a:srgbClr val="1B3B6F"/>
          </a:solidFill>
          <a:ln w="12700">
            <a:solidFill>
              <a:srgbClr val="1B3B6F"/>
            </a:solidFill>
            <a:prstDash val="solid"/>
          </a:ln>
        </p:spPr>
      </p:sp>
      <p:sp>
        <p:nvSpPr>
          <p:cNvPr id="65" name="Text 62"/>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66" name="Text 63"/>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2:40?</a:t>
            </a:r>
            <a:endParaRPr lang="en-US" sz="1250" dirty="0"/>
          </a:p>
        </p:txBody>
      </p:sp>
      <p:sp>
        <p:nvSpPr>
          <p:cNvPr id="67" name="Shape 64"/>
          <p:cNvSpPr/>
          <p:nvPr/>
        </p:nvSpPr>
        <p:spPr>
          <a:xfrm>
            <a:off x="6368796" y="4831080"/>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9" name="Text 66"/>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الثَّانِيَةُ وَالثُّلُثُ</a:t>
            </a:r>
            <a:endParaRPr lang="ar-SA" sz="1700" dirty="0"/>
          </a:p>
        </p:txBody>
      </p:sp>
      <p:sp>
        <p:nvSpPr>
          <p:cNvPr id="70" name="Shape 67"/>
          <p:cNvSpPr/>
          <p:nvPr/>
        </p:nvSpPr>
        <p:spPr>
          <a:xfrm>
            <a:off x="6368796" y="5202936"/>
            <a:ext cx="256032" cy="256032"/>
          </a:xfrm>
          <a:prstGeom prst="ellipse">
            <a:avLst/>
          </a:prstGeom>
          <a:solidFill>
            <a:srgbClr val="C9CED6"/>
          </a:solidFill>
          <a:ln w="12700">
            <a:solidFill>
              <a:srgbClr val="C9CED6"/>
            </a:solidFill>
            <a:prstDash val="solid"/>
          </a:ln>
        </p:spPr>
      </p:sp>
      <p:sp>
        <p:nvSpPr>
          <p:cNvPr id="71" name="Text 68"/>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2" name="Text 69"/>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الثَّالِثَةُ وَالثُّلُثُ</a:t>
            </a:r>
            <a:endParaRPr lang="ar-SA" sz="1700" dirty="0"/>
          </a:p>
        </p:txBody>
      </p:sp>
      <p:sp>
        <p:nvSpPr>
          <p:cNvPr id="73" name="Shape 70"/>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4" name="Shape 71"/>
          <p:cNvSpPr/>
          <p:nvPr/>
        </p:nvSpPr>
        <p:spPr>
          <a:xfrm>
            <a:off x="6368796" y="5574792"/>
            <a:ext cx="256032" cy="256032"/>
          </a:xfrm>
          <a:prstGeom prst="ellipse">
            <a:avLst/>
          </a:prstGeom>
          <a:solidFill>
            <a:srgbClr val="2E8B57"/>
          </a:solidFill>
          <a:ln w="12700">
            <a:solidFill>
              <a:srgbClr val="2E8B57"/>
            </a:solidFill>
            <a:prstDash val="solid"/>
          </a:ln>
        </p:spPr>
      </p:sp>
      <p:sp>
        <p:nvSpPr>
          <p:cNvPr id="75" name="Text 72"/>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6" name="Text 73"/>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الثَّالِثَةُ إِلَّا الثُّلُثَ</a:t>
            </a:r>
            <a:endParaRPr lang="ar-SA" sz="1700" dirty="0"/>
          </a:p>
        </p:txBody>
      </p:sp>
      <p:sp>
        <p:nvSpPr>
          <p:cNvPr id="77" name="Text 74"/>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Twenty minutes remain until three.</a:t>
            </a:r>
            <a:endParaRPr lang="en-US" sz="10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46</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D1-L02 · Telling the Time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D1-L02</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٥:٤٥ السَّاعَةُ الخَامِسَةُ إِلَّا الرُّبْعَ.</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At 5:45 which hour do you name with </a:t>
            </a:r>
            <a:pPr algn="l" indent="0" marL="0">
              <a:buNone/>
            </a:pPr>
            <a:r>
              <a:rPr lang="ar-SA" altLang="en-US" sz="1700" dirty="0">
                <a:solidFill>
                  <a:srgbClr val="5A6472"/>
                </a:solidFill>
                <a:latin typeface="Amiri" pitchFamily="2" charset="-78"/>
                <a:cs typeface="Amiri" pitchFamily="2" charset="-78"/>
              </a:rPr>
              <a:t>إِلَّا</a:t>
            </a:r>
            <a:pPr algn="l" indent="0" marL="0">
              <a:buNone/>
            </a:pPr>
            <a:r>
              <a:rPr lang="en-US" sz="1300" i="1" dirty="0">
                <a:solidFill>
                  <a:srgbClr val="5A6472"/>
                </a:solidFill>
                <a:latin typeface="Calibri" pitchFamily="34" charset="0"/>
                <a:cs typeface="Amiri" pitchFamily="2" charset="-78"/>
              </a:rPr>
              <a:t>?</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٨:١٥ الثَّامِنَةُ إِلَّا الرُّبْعَ.</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8:15 is AFTER eight. Which word?</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يَسْتَمِرُّ الدَّرْسُ فِي سَاعَةٍ.</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Is this WHEN or HOW LONG?</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46</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D1-L02 · Telling the Time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D1-L02</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٥:٤٥ السَّاعَةُ الخَامِسَةُ إِلَّا الرُّبْعَ.</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٥:٤٥ السَّاعَةُ السَّادِسَةُ إِلَّا الرُّبْعَ.</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With </a:t>
            </a:r>
            <a:pPr algn="l" indent="0" marL="0">
              <a:buNone/>
            </a:pPr>
            <a:r>
              <a:rPr lang="ar-SA" altLang="en-US" sz="1500" b="1" dirty="0">
                <a:solidFill>
                  <a:srgbClr val="1B3B6F"/>
                </a:solidFill>
                <a:latin typeface="Amiri" pitchFamily="2" charset="-78"/>
                <a:cs typeface="Amiri" pitchFamily="2" charset="-78"/>
              </a:rPr>
              <a:t>إِلَّا</a:t>
            </a:r>
            <a:pPr algn="l" indent="0" marL="0">
              <a:buNone/>
            </a:pPr>
            <a:r>
              <a:rPr lang="en-US" sz="1150" b="1" dirty="0">
                <a:solidFill>
                  <a:srgbClr val="1B3B6F"/>
                </a:solidFill>
                <a:latin typeface="Calibri" pitchFamily="34" charset="0"/>
                <a:cs typeface="Amiri" pitchFamily="2" charset="-78"/>
              </a:rPr>
              <a:t>, move to the next hour.</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٨:١٥ الثَّامِنَةُ إِلَّا الرُّبْعَ.</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٨:١٥ الثَّامِنَةُ وَالرُّبْعُ.</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Minutes after the hour use </a:t>
            </a:r>
            <a:pPr algn="l" indent="0" marL="0">
              <a:buNone/>
            </a:pPr>
            <a:r>
              <a:rPr lang="ar-SA" altLang="en-US" sz="1500" b="1" dirty="0">
                <a:solidFill>
                  <a:srgbClr val="1B3B6F"/>
                </a:solidFill>
                <a:latin typeface="Amiri" pitchFamily="2" charset="-78"/>
                <a:cs typeface="Amiri" pitchFamily="2" charset="-78"/>
              </a:rPr>
              <a:t>وَ</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يَسْتَمِرُّ الدَّرْسُ فِي سَاعَةٍ.</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يَسْتَمِرُّ الدَّرْسُ مُدَّةَ سَاعَةٍ.</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Use </a:t>
            </a:r>
            <a:pPr algn="l" indent="0" marL="0">
              <a:buNone/>
            </a:pPr>
            <a:r>
              <a:rPr lang="ar-SA" altLang="en-US" sz="1500" b="1" dirty="0">
                <a:solidFill>
                  <a:srgbClr val="1B3B6F"/>
                </a:solidFill>
                <a:latin typeface="Amiri" pitchFamily="2" charset="-78"/>
                <a:cs typeface="Amiri" pitchFamily="2" charset="-78"/>
              </a:rPr>
              <a:t>مُدَّةَ</a:t>
            </a:r>
            <a:pPr algn="l" indent="0" marL="0">
              <a:buNone/>
            </a:pPr>
            <a:r>
              <a:rPr lang="en-US" sz="1150" b="1" dirty="0">
                <a:solidFill>
                  <a:srgbClr val="1B3B6F"/>
                </a:solidFill>
                <a:latin typeface="Calibri" pitchFamily="34" charset="0"/>
                <a:cs typeface="Amiri" pitchFamily="2" charset="-78"/>
              </a:rPr>
              <a:t> for how long something lasts.</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46</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D1-L02 · Telling the Time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 full Wednesday schedule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When does the school day begin?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7:50</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8:10</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8:50</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When does the first lesson end?</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9:15</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9:45</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8:45</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long is the break?</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15 minutes</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25 minutes</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20 minutes</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When does science begin?</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9:05</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9:50</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10:05</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time is training in 12-hour time?</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6:30 p.m.</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4:30 p.m.</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8:30 p.m.</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cs typeface="Amiri" pitchFamily="2" charset="-78"/>
              </a:rPr>
              <a:t>Listen twice. Core: questions 1, 3 and 4.</a:t>
            </a:r>
            <a:endParaRPr lang="en-US" sz="1250" dirty="0"/>
          </a:p>
          <a:p>
            <a:pPr algn="l" indent="0" marL="0">
              <a:lnSpc>
                <a:spcPct val="115000"/>
              </a:lnSpc>
              <a:buNone/>
            </a:pPr>
            <a:r>
              <a:rPr lang="en-US" sz="1250" dirty="0">
                <a:solidFill>
                  <a:srgbClr val="1E6B52"/>
                </a:solidFill>
                <a:latin typeface="Calibri" pitchFamily="34" charset="0"/>
                <a:cs typeface="Amiri" pitchFamily="2" charset="-78"/>
              </a:rPr>
              <a:t>Listen for: </a:t>
            </a:r>
            <a:pPr algn="l" indent="0" marL="0">
              <a:lnSpc>
                <a:spcPct val="115000"/>
              </a:lnSpc>
              <a:buNone/>
            </a:pPr>
            <a:r>
              <a:rPr lang="ar-SA" altLang="en-US" sz="1650" dirty="0">
                <a:solidFill>
                  <a:srgbClr val="1E6B52"/>
                </a:solidFill>
                <a:latin typeface="Amiri" pitchFamily="2" charset="-78"/>
                <a:cs typeface="Amiri" pitchFamily="2" charset="-78"/>
              </a:rPr>
              <a:t>إِلَّا</a:t>
            </a:r>
            <a:pPr algn="l" indent="0" marL="0">
              <a:lnSpc>
                <a:spcPct val="115000"/>
              </a:lnSpc>
              <a:buNone/>
            </a:pPr>
            <a:r>
              <a:rPr lang="en-US" sz="1250" dirty="0">
                <a:solidFill>
                  <a:srgbClr val="1E6B52"/>
                </a:solidFill>
                <a:latin typeface="Calibri" pitchFamily="34" charset="0"/>
                <a:cs typeface="Amiri" pitchFamily="2" charset="-78"/>
              </a:rPr>
              <a:t> … · </a:t>
            </a:r>
            <a:pPr algn="l" indent="0" marL="0">
              <a:lnSpc>
                <a:spcPct val="115000"/>
              </a:lnSpc>
              <a:buNone/>
            </a:pPr>
            <a:r>
              <a:rPr lang="ar-SA" altLang="en-US" sz="1650" dirty="0">
                <a:solidFill>
                  <a:srgbClr val="1E6B52"/>
                </a:solidFill>
                <a:latin typeface="Amiri" pitchFamily="2" charset="-78"/>
                <a:cs typeface="Amiri" pitchFamily="2" charset="-78"/>
              </a:rPr>
              <a:t>عِشْرِينَ دَقِيقَةً</a:t>
            </a:r>
            <a:pPr algn="l" indent="0" marL="0">
              <a:lnSpc>
                <a:spcPct val="115000"/>
              </a:lnSpc>
              <a:buNone/>
            </a:pPr>
            <a:r>
              <a:rPr lang="en-US" sz="1250" dirty="0">
                <a:solidFill>
                  <a:srgbClr val="1E6B52"/>
                </a:solidFill>
                <a:latin typeface="Calibri" pitchFamily="34" charset="0"/>
                <a:cs typeface="Amiri" pitchFamily="2" charset="-78"/>
              </a:rPr>
              <a:t> · </a:t>
            </a:r>
            <a:pPr algn="l" indent="0" marL="0">
              <a:lnSpc>
                <a:spcPct val="115000"/>
              </a:lnSpc>
              <a:buNone/>
            </a:pPr>
            <a:r>
              <a:rPr lang="ar-SA" altLang="en-US" sz="1650" dirty="0">
                <a:solidFill>
                  <a:srgbClr val="1E6B52"/>
                </a:solidFill>
                <a:latin typeface="Amiri" pitchFamily="2" charset="-78"/>
                <a:cs typeface="Amiri" pitchFamily="2" charset="-78"/>
              </a:rPr>
              <a:t>وَخَمْسِ دَقَائِقَ</a:t>
            </a:r>
            <a:pPr algn="l" indent="0" marL="0">
              <a:lnSpc>
                <a:spcPct val="115000"/>
              </a:lnSpc>
              <a:buNone/>
            </a:pPr>
            <a:r>
              <a:rPr lang="en-US" sz="1250" dirty="0">
                <a:solidFill>
                  <a:srgbClr val="1E6B52"/>
                </a:solidFill>
                <a:latin typeface="Calibri" pitchFamily="34" charset="0"/>
                <a:cs typeface="Amiri" pitchFamily="2" charset="-78"/>
              </a:rPr>
              <a:t>.</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46</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D1-L02 · Telling the Time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D1-L02</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يَوْمَ الأَرْبِعَاءِ يَبْدَأُ دَوَامِي فِي السَّاعَةِ الثَّامِنَةِ إِلَّا عَشْرَ دَقَائِقَ.</a:t>
            </a:r>
            <a:endParaRPr lang="ar-SA" sz="200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 Wednesday my school day begins at ten to eight.</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lnSpc>
                <a:spcPct val="120000"/>
              </a:lnSpc>
              <a:buNone/>
            </a:pPr>
            <a:r>
              <a:rPr lang="ar-SA" altLang="en-US" sz="1600" b="1" dirty="0">
                <a:solidFill>
                  <a:srgbClr val="1B3B6F"/>
                </a:solidFill>
                <a:latin typeface="Amiri" pitchFamily="2" charset="-78"/>
                <a:cs typeface="Amiri" pitchFamily="2" charset="-78"/>
              </a:rPr>
              <a:t>الحِصَّةُ الأُولَى مِنَ الثَّامِنَةِ إِلَى التَّاسِعَةِ إِلَّا الرُّبْعَ، ثُمَّ عِنْدَنَا اِسْتِرَاحَةٌ تَسْتَمِرُّ عِشْرِينَ دَقِيقَةً.</a:t>
            </a:r>
            <a:endParaRPr lang="ar-SA" sz="160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first lesson is from eight to quarter to nine, then we have a break that lasts twenty minutes.</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lnSpc>
                <a:spcPct val="120000"/>
              </a:lnSpc>
              <a:buNone/>
            </a:pPr>
            <a:r>
              <a:rPr lang="ar-SA" altLang="en-US" sz="1700" b="1" dirty="0">
                <a:solidFill>
                  <a:srgbClr val="1B3B6F"/>
                </a:solidFill>
                <a:latin typeface="Amiri" pitchFamily="2" charset="-78"/>
                <a:cs typeface="Amiri" pitchFamily="2" charset="-78"/>
              </a:rPr>
              <a:t>يَبْدَأُ دَرْسُ العُلُومِ فِي التَّاسِعَةِ وَخَمْسِ دَقَائِقَ، وَيَنْتَهِي فِي العَاشِرَةِ وَخَمْسٍ وَأَرْبَعِينَ دَقِيقَةً.</a:t>
            </a:r>
            <a:endParaRPr lang="ar-SA" sz="17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science lesson begins at five past nine and ends at 10:45.</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بَعْدَ المَدْرَسَةِ أَذْهَبُ إِلَى التَّمْرِينِ فِي السَّاعَةِ السَّادِسَةَ عَشْرَةَ وَالنِّصْفِ،</a:t>
            </a:r>
            <a:endParaRPr lang="ar-SA" sz="20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After school I go to training at 16:30,</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وَأَعُودُ إِلَى البَيْتِ حَوَالَيْ الثَّامِنَةِ مَسَاءً.</a:t>
            </a:r>
            <a:endParaRPr lang="ar-SA" sz="20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and I return home at about eight in the evening.</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46</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D1-L02 · Telling the Time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When does the school day begin?</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7:50</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8:10</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8:50</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الثَّامِنَةُ إِلَّا عَشْرَ دَقَائِقَ = 7:50.</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When does the first lesson end?</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9:15</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9:45</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8:45</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التَّاسِعَةُ إِلَّا الرُّبْعَ = 8:45.</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long is the break?</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15 minutes</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25 minutes</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20 minutes</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تَسْتَمِرُّ عِشْرِينَ دَقِيقَةً.</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When does science begin?</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9:05</a:t>
            </a:r>
            <a:endParaRPr lang="en-US" sz="12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9:50</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10:05</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التَّاسِعَةُ وَخَمْسُ دَقَائِقَ.</a:t>
            </a:r>
            <a:endParaRPr lang="ar-SA" sz="13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time is training in 12-hour time?</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6:30 p.m.</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4:30 p.m.</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8:30 p.m.</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16:30 = 4:30 p.m.</a:t>
            </a:r>
            <a:endParaRPr lang="en-US" sz="10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cs typeface="Amiri" pitchFamily="2" charset="-78"/>
              </a:rPr>
              <a:t>Listen twice. Core: questions 1, 3 and 4.</a:t>
            </a:r>
            <a:endParaRPr lang="en-US" sz="1250" dirty="0"/>
          </a:p>
          <a:p>
            <a:pPr algn="l" indent="0" marL="0">
              <a:lnSpc>
                <a:spcPct val="115000"/>
              </a:lnSpc>
              <a:buNone/>
            </a:pPr>
            <a:r>
              <a:rPr lang="en-US" sz="1250" dirty="0">
                <a:solidFill>
                  <a:srgbClr val="1E6B52"/>
                </a:solidFill>
                <a:latin typeface="Calibri" pitchFamily="34" charset="0"/>
                <a:cs typeface="Amiri" pitchFamily="2" charset="-78"/>
              </a:rPr>
              <a:t>Listen for: </a:t>
            </a:r>
            <a:pPr algn="l" indent="0" marL="0">
              <a:lnSpc>
                <a:spcPct val="115000"/>
              </a:lnSpc>
              <a:buNone/>
            </a:pPr>
            <a:r>
              <a:rPr lang="ar-SA" altLang="en-US" sz="1650" dirty="0">
                <a:solidFill>
                  <a:srgbClr val="1E6B52"/>
                </a:solidFill>
                <a:latin typeface="Amiri" pitchFamily="2" charset="-78"/>
                <a:cs typeface="Amiri" pitchFamily="2" charset="-78"/>
              </a:rPr>
              <a:t>إِلَّا</a:t>
            </a:r>
            <a:pPr algn="l" indent="0" marL="0">
              <a:lnSpc>
                <a:spcPct val="115000"/>
              </a:lnSpc>
              <a:buNone/>
            </a:pPr>
            <a:r>
              <a:rPr lang="en-US" sz="1250" dirty="0">
                <a:solidFill>
                  <a:srgbClr val="1E6B52"/>
                </a:solidFill>
                <a:latin typeface="Calibri" pitchFamily="34" charset="0"/>
                <a:cs typeface="Amiri" pitchFamily="2" charset="-78"/>
              </a:rPr>
              <a:t> … · </a:t>
            </a:r>
            <a:pPr algn="l" indent="0" marL="0">
              <a:lnSpc>
                <a:spcPct val="115000"/>
              </a:lnSpc>
              <a:buNone/>
            </a:pPr>
            <a:r>
              <a:rPr lang="ar-SA" altLang="en-US" sz="1650" dirty="0">
                <a:solidFill>
                  <a:srgbClr val="1E6B52"/>
                </a:solidFill>
                <a:latin typeface="Amiri" pitchFamily="2" charset="-78"/>
                <a:cs typeface="Amiri" pitchFamily="2" charset="-78"/>
              </a:rPr>
              <a:t>عِشْرِينَ دَقِيقَةً</a:t>
            </a:r>
            <a:pPr algn="l" indent="0" marL="0">
              <a:lnSpc>
                <a:spcPct val="115000"/>
              </a:lnSpc>
              <a:buNone/>
            </a:pPr>
            <a:r>
              <a:rPr lang="en-US" sz="1250" dirty="0">
                <a:solidFill>
                  <a:srgbClr val="1E6B52"/>
                </a:solidFill>
                <a:latin typeface="Calibri" pitchFamily="34" charset="0"/>
                <a:cs typeface="Amiri" pitchFamily="2" charset="-78"/>
              </a:rPr>
              <a:t> · </a:t>
            </a:r>
            <a:pPr algn="l" indent="0" marL="0">
              <a:lnSpc>
                <a:spcPct val="115000"/>
              </a:lnSpc>
              <a:buNone/>
            </a:pPr>
            <a:r>
              <a:rPr lang="ar-SA" altLang="en-US" sz="1650" dirty="0">
                <a:solidFill>
                  <a:srgbClr val="1E6B52"/>
                </a:solidFill>
                <a:latin typeface="Amiri" pitchFamily="2" charset="-78"/>
                <a:cs typeface="Amiri" pitchFamily="2" charset="-78"/>
              </a:rPr>
              <a:t>وَخَمْسِ دَقَائِقَ</a:t>
            </a:r>
            <a:pPr algn="l" indent="0" marL="0">
              <a:lnSpc>
                <a:spcPct val="115000"/>
              </a:lnSpc>
              <a:buNone/>
            </a:pPr>
            <a:r>
              <a:rPr lang="en-US" sz="1250" dirty="0">
                <a:solidFill>
                  <a:srgbClr val="1E6B52"/>
                </a:solidFill>
                <a:latin typeface="Calibri" pitchFamily="34" charset="0"/>
                <a:cs typeface="Amiri" pitchFamily="2" charset="-78"/>
              </a:rPr>
              <a:t>.</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46</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D1-L02 · Telling the Time</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Explain a timetable precisely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D1-L02</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مَتَى تَسْتَيْقِظُ؟ مَتَى تَخْرُجُ مِنَ البَيْتِ؟</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مَتَى يَبْدَأُ يَوْمُكَ الدِّرَاسِيُّ وَمَتَى يَنْتَهِي؟</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C9780A"/>
          </a:solidFill>
          <a:ln w="12700">
            <a:solidFill>
              <a:srgbClr val="C9780A"/>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صِفْ جَدْوَلَكَ فِي يَوْمٍ مُزْدَحِمٍ.</a:t>
            </a:r>
            <a:endParaRPr lang="ar-SA" sz="1800" dirty="0"/>
          </a:p>
        </p:txBody>
      </p:sp>
      <p:sp>
        <p:nvSpPr>
          <p:cNvPr id="42" name="Shape 39"/>
          <p:cNvSpPr/>
          <p:nvPr/>
        </p:nvSpPr>
        <p:spPr>
          <a:xfrm>
            <a:off x="4754880" y="4352544"/>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4846320" y="4507992"/>
            <a:ext cx="960120" cy="256032"/>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4846320" y="4507992"/>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5" name="Text 42"/>
          <p:cNvSpPr txBox="1"/>
          <p:nvPr/>
        </p:nvSpPr>
        <p:spPr>
          <a:xfrm>
            <a:off x="5897880" y="4352544"/>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مَا أَطْوَلُ نَشَاطٍ فِي أُسْبُوعِكَ؟ وَكَمْ يَسْتَمِرُّ؟</a:t>
            </a:r>
            <a:endParaRPr lang="ar-SA" sz="1800" dirty="0"/>
          </a:p>
        </p:txBody>
      </p:sp>
      <p:sp>
        <p:nvSpPr>
          <p:cNvPr id="46" name="Shape 43"/>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7" name="Text 44"/>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48" name="Shape 45"/>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9" name="Text 46"/>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0" name="Text 47"/>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2" charset="-78"/>
                <a:cs typeface="Amiri" pitchFamily="2" charset="-78"/>
              </a:rPr>
              <a:t>أَسْتَيْقِظُ فِي السَّاعَةِ ___ .</a:t>
            </a:r>
            <a:endParaRPr lang="ar-SA" sz="1600" dirty="0"/>
          </a:p>
        </p:txBody>
      </p:sp>
      <p:sp>
        <p:nvSpPr>
          <p:cNvPr id="51" name="Shape 48"/>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52" name="Text 49"/>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53" name="Text 50"/>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cs typeface="Amiri" pitchFamily="2" charset="-78"/>
              </a:rPr>
              <a:t>يَبْدَأُ … فِي ___ وَيَنْتَهِي فِي ___ .</a:t>
            </a:r>
            <a:endParaRPr lang="ar-SA" sz="1600" dirty="0"/>
          </a:p>
        </p:txBody>
      </p:sp>
      <p:sp>
        <p:nvSpPr>
          <p:cNvPr id="54" name="Shape 51"/>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5" name="Text 52"/>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56" name="Text 53"/>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cs typeface="Amiri" pitchFamily="2" charset="-78"/>
              </a:rPr>
              <a:t>يَسْتَمِرُّ … مُدَّةَ ___ ، وَأُفَضِّلُ … لِأَنَّ ___ .</a:t>
            </a:r>
            <a:endParaRPr lang="ar-SA" sz="1500" dirty="0"/>
          </a:p>
        </p:txBody>
      </p:sp>
      <p:sp>
        <p:nvSpPr>
          <p:cNvPr id="57" name="Shape 54"/>
          <p:cNvSpPr/>
          <p:nvPr/>
        </p:nvSpPr>
        <p:spPr>
          <a:xfrm>
            <a:off x="640080" y="4681728"/>
            <a:ext cx="1051560" cy="256032"/>
          </a:xfrm>
          <a:prstGeom prst="roundRect">
            <a:avLst>
              <a:gd name="adj" fmla="val 50000"/>
            </a:avLst>
          </a:prstGeom>
          <a:solidFill>
            <a:srgbClr val="1B3B6F"/>
          </a:solidFill>
          <a:ln w="12700">
            <a:solidFill>
              <a:srgbClr val="1B3B6F"/>
            </a:solidFill>
            <a:prstDash val="solid"/>
          </a:ln>
        </p:spPr>
      </p:sp>
      <p:sp>
        <p:nvSpPr>
          <p:cNvPr id="58" name="Text 55"/>
          <p:cNvSpPr txBox="1"/>
          <p:nvPr/>
        </p:nvSpPr>
        <p:spPr>
          <a:xfrm>
            <a:off x="640080" y="4681728"/>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 SUM UP</a:t>
            </a:r>
            <a:endParaRPr lang="en-US" sz="800" dirty="0"/>
          </a:p>
        </p:txBody>
      </p:sp>
      <p:sp>
        <p:nvSpPr>
          <p:cNvPr id="59" name="Text 56"/>
          <p:cNvSpPr txBox="1"/>
          <p:nvPr/>
        </p:nvSpPr>
        <p:spPr>
          <a:xfrm>
            <a:off x="1783080" y="4526280"/>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cs typeface="Amiri" pitchFamily="2" charset="-78"/>
              </a:rPr>
              <a:t>يَبْدَأُ يَوْمُهُ / يَوْمُهَا فِي ___ .</a:t>
            </a:r>
            <a:endParaRPr lang="ar-SA" sz="1600" dirty="0"/>
          </a:p>
        </p:txBody>
      </p:sp>
      <p:sp>
        <p:nvSpPr>
          <p:cNvPr id="60" name="Shape 57"/>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62" name="Shape 59"/>
          <p:cNvSpPr/>
          <p:nvPr/>
        </p:nvSpPr>
        <p:spPr>
          <a:xfrm>
            <a:off x="11274552" y="5559552"/>
            <a:ext cx="292608" cy="292608"/>
          </a:xfrm>
          <a:prstGeom prst="ellipse">
            <a:avLst/>
          </a:prstGeom>
          <a:solidFill>
            <a:srgbClr val="1E6B52"/>
          </a:solidFill>
          <a:ln w="12700">
            <a:solidFill>
              <a:srgbClr val="1E6B52"/>
            </a:solidFill>
            <a:prstDash val="solid"/>
          </a:ln>
        </p:spPr>
      </p:sp>
      <p:sp>
        <p:nvSpPr>
          <p:cNvPr id="63" name="Text 60"/>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64" name="Text 61"/>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cs typeface="Amiri" pitchFamily="2" charset="-78"/>
              </a:rPr>
              <a:t>مَتَى يَبْدَأُ التَّمْرِينُ؟</a:t>
            </a:r>
            <a:endParaRPr lang="ar-SA" sz="1550" dirty="0"/>
          </a:p>
        </p:txBody>
      </p:sp>
      <p:sp>
        <p:nvSpPr>
          <p:cNvPr id="65" name="Text 62"/>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When does training begin?</a:t>
            </a:r>
            <a:endParaRPr lang="en-US" sz="950" dirty="0"/>
          </a:p>
        </p:txBody>
      </p:sp>
      <p:sp>
        <p:nvSpPr>
          <p:cNvPr id="66" name="Shape 63"/>
          <p:cNvSpPr/>
          <p:nvPr/>
        </p:nvSpPr>
        <p:spPr>
          <a:xfrm>
            <a:off x="11274552" y="5925312"/>
            <a:ext cx="292608" cy="292608"/>
          </a:xfrm>
          <a:prstGeom prst="ellipse">
            <a:avLst/>
          </a:prstGeom>
          <a:solidFill>
            <a:srgbClr val="1E6B52"/>
          </a:solidFill>
          <a:ln w="12700">
            <a:solidFill>
              <a:srgbClr val="1E6B52"/>
            </a:solidFill>
            <a:prstDash val="solid"/>
          </a:ln>
        </p:spPr>
      </p:sp>
      <p:sp>
        <p:nvSpPr>
          <p:cNvPr id="67" name="Text 64"/>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68" name="Text 65"/>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cs typeface="Amiri" pitchFamily="2" charset="-78"/>
              </a:rPr>
              <a:t>يَبْدَأُ فِي السَّادِسَةِ إِلَّا الرُّبْعَ وَيَسْتَمِرُّ مُدَّةَ سَاعَةٍ وَالنِّصْفِ. أُفَضِّلُ هٰذَا الوَقْتَ لِأَنَّنِي أُنْهِي وَاجِبِي قَبْلَهُ.</a:t>
            </a:r>
            <a:endParaRPr lang="ar-SA" sz="1550" dirty="0"/>
          </a:p>
        </p:txBody>
      </p:sp>
      <p:sp>
        <p:nvSpPr>
          <p:cNvPr id="69" name="Text 66"/>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750" i="1" dirty="0">
                <a:solidFill>
                  <a:srgbClr val="5A6472"/>
                </a:solidFill>
                <a:latin typeface="Calibri" pitchFamily="34" charset="0"/>
                <a:cs typeface="Amiri" pitchFamily="2" charset="-78"/>
              </a:rPr>
              <a:t>It begins at quarter to six and lasts an hour and a half. I prefer this time because I finish my homework before it.</a:t>
            </a:r>
            <a:endParaRPr lang="en-US" sz="7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46</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D1-L02 · Telling the Time</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D1-L02</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5 times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Read and write quarter past, half past and quarter to times.</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Your morning with five times: o’clock, quarter past, half past, quarter to (use the tables).</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8 sentences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Interpret a mixed 12-hour and 24-hour timetable.</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A busy weekday: start and finish times with وَ and إِلَّا.</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100–120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Calculate duration and explain a full schedule without relying on digital numerals.</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Website task: one 24-hour time, duration with مُدَّةَ, an opinion and a comparison.</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33 / 46</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D1-L02 · Telling the Time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D1-L02</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الحِصَّةُ الأُولَى مِنَ ______ إِلَى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first lesson is from … to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تَسْتَمِرُّ الاِسْتِرَاحَةُ ______ دَقِيقَةً.</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break lasts … minutes.</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التَّمْرِينُ فِي السَّاعَةِ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Training is at 16:30.</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أَعُودُ إِلَى البَيْتِ حَوَالَيْ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return home at about …</a:t>
            </a:r>
            <a:endParaRPr lang="en-US" sz="1050" dirty="0"/>
          </a:p>
        </p:txBody>
      </p:sp>
      <p:sp>
        <p:nvSpPr>
          <p:cNvPr id="26" name="Text 23"/>
          <p:cNvSpPr txBox="1"/>
          <p:nvPr/>
        </p:nvSpPr>
        <p:spPr>
          <a:xfrm>
            <a:off x="2468880"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يَسْتَمِرُّ مُدَّةَ ______ .</a:t>
            </a:r>
            <a:endParaRPr lang="ar-SA" sz="1800" dirty="0"/>
          </a:p>
        </p:txBody>
      </p:sp>
      <p:sp>
        <p:nvSpPr>
          <p:cNvPr id="27" name="Text 24"/>
          <p:cNvSpPr txBox="1"/>
          <p:nvPr/>
        </p:nvSpPr>
        <p:spPr>
          <a:xfrm>
            <a:off x="594360"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It lasts for an hour.</a:t>
            </a:r>
            <a:endParaRPr lang="en-US" sz="1050" dirty="0"/>
          </a:p>
        </p:txBody>
      </p:sp>
      <p:sp>
        <p:nvSpPr>
          <p:cNvPr id="28" name="Shape 25"/>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1" name="Text 28"/>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أَسْتَيْقِظُ فِي السَّاعَةِ ______ .</a:t>
            </a:r>
            <a:endParaRPr lang="ar-SA" sz="1800" dirty="0"/>
          </a:p>
        </p:txBody>
      </p:sp>
      <p:sp>
        <p:nvSpPr>
          <p:cNvPr id="32" name="Text 29"/>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wake up at …</a:t>
            </a:r>
            <a:endParaRPr lang="en-US" sz="1050" dirty="0"/>
          </a:p>
        </p:txBody>
      </p:sp>
      <p:sp>
        <p:nvSpPr>
          <p:cNvPr id="33" name="Text 30"/>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أَتَنَاوَلُ الإِفْطَارَ فِي ______ وَالرُّبْعِ.</a:t>
            </a:r>
            <a:endParaRPr lang="ar-SA" sz="1800" dirty="0"/>
          </a:p>
        </p:txBody>
      </p:sp>
      <p:sp>
        <p:nvSpPr>
          <p:cNvPr id="34" name="Text 31"/>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have breakfast at … past …</a:t>
            </a:r>
            <a:endParaRPr lang="en-US" sz="1050" dirty="0"/>
          </a:p>
        </p:txBody>
      </p:sp>
      <p:sp>
        <p:nvSpPr>
          <p:cNvPr id="35" name="Text 32"/>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أَخْرُجُ فِي ______ وَالنِّصْفِ.</a:t>
            </a:r>
            <a:endParaRPr lang="ar-SA" sz="1800" dirty="0"/>
          </a:p>
        </p:txBody>
      </p:sp>
      <p:sp>
        <p:nvSpPr>
          <p:cNvPr id="36" name="Text 33"/>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leave the house at half past …</a:t>
            </a:r>
            <a:endParaRPr lang="en-US" sz="1050" dirty="0"/>
          </a:p>
        </p:txBody>
      </p:sp>
      <p:sp>
        <p:nvSpPr>
          <p:cNvPr id="37" name="Text 34"/>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يَبْدَأُ الدَّوَامُ فِي ______ .</a:t>
            </a:r>
            <a:endParaRPr lang="ar-SA" sz="1800" dirty="0"/>
          </a:p>
        </p:txBody>
      </p:sp>
      <p:sp>
        <p:nvSpPr>
          <p:cNvPr id="38" name="Text 35"/>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School begins at …</a:t>
            </a:r>
            <a:endParaRPr lang="en-US" sz="1050" dirty="0"/>
          </a:p>
        </p:txBody>
      </p:sp>
      <p:sp>
        <p:nvSpPr>
          <p:cNvPr id="39" name="Text 36"/>
          <p:cNvSpPr txBox="1"/>
          <p:nvPr/>
        </p:nvSpPr>
        <p:spPr>
          <a:xfrm>
            <a:off x="8202168"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يَنْتَهِي الدَّوَامُ فِي ______ إِلَّا الرُّبْعَ.</a:t>
            </a:r>
            <a:endParaRPr lang="ar-SA" sz="1800" dirty="0"/>
          </a:p>
        </p:txBody>
      </p:sp>
      <p:sp>
        <p:nvSpPr>
          <p:cNvPr id="40" name="Text 37"/>
          <p:cNvSpPr txBox="1"/>
          <p:nvPr/>
        </p:nvSpPr>
        <p:spPr>
          <a:xfrm>
            <a:off x="6327648"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School ends at quarter to …</a:t>
            </a:r>
            <a:endParaRPr lang="en-US" sz="1050" dirty="0"/>
          </a:p>
        </p:txBody>
      </p:sp>
      <p:sp>
        <p:nvSpPr>
          <p:cNvPr id="41" name="Shape 38"/>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Text 39"/>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43" name="Text 40"/>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السَّادِسَةِ  ·  السَّابِعَةِ  ·  الثَّامِنَةِ  ·  الثَّالِثَةِ  ·  الرَّابِعَةِ  ·  وَالرُّبْعِ  ·  وَالنِّصْفِ  ·  إِلَّا الرُّبْعَ  ·  وَخَمْسِ دَقَائِقَ  ·  يَبْدَأُ  ·  يَنْتَهِي  ·  يَسْتَمِرُّ  ·  مُدَّةَ  ·  حَوَالَيْ</a:t>
            </a:r>
            <a:endParaRPr lang="ar-SA" sz="16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34 / 46</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D1-L02 · Telling the Time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D1-L02</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cs typeface="Amiri" pitchFamily="2" charset="-78"/>
              </a:rPr>
              <a:t>Create a 100–120-word schedule for one busy weekday and explain which part is easiest or most difficult.</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Include at least five exact times.</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Use both </a:t>
            </a:r>
            <a:pPr algn="l" indent="0" marL="0">
              <a:buNone/>
            </a:pPr>
            <a:r>
              <a:rPr lang="ar-SA" altLang="en-US" sz="1550" dirty="0">
                <a:solidFill>
                  <a:srgbClr val="1F2A37"/>
                </a:solidFill>
                <a:latin typeface="Amiri" pitchFamily="2" charset="-78"/>
                <a:cs typeface="Amiri" pitchFamily="2" charset="-78"/>
              </a:rPr>
              <a:t>وَ</a:t>
            </a:r>
            <a:pPr algn="l" indent="0" marL="0">
              <a:buNone/>
            </a:pPr>
            <a:r>
              <a:rPr lang="en-US" sz="1200" dirty="0">
                <a:solidFill>
                  <a:srgbClr val="1F2A37"/>
                </a:solidFill>
                <a:latin typeface="Calibri" pitchFamily="34" charset="0"/>
                <a:cs typeface="Amiri" pitchFamily="2" charset="-78"/>
              </a:rPr>
              <a:t> and </a:t>
            </a:r>
            <a:pPr algn="l" indent="0" marL="0">
              <a:buNone/>
            </a:pPr>
            <a:r>
              <a:rPr lang="ar-SA" altLang="en-US" sz="1550" dirty="0">
                <a:solidFill>
                  <a:srgbClr val="1F2A37"/>
                </a:solidFill>
                <a:latin typeface="Amiri" pitchFamily="2" charset="-78"/>
                <a:cs typeface="Amiri" pitchFamily="2" charset="-78"/>
              </a:rPr>
              <a:t>إِلَّا</a:t>
            </a:r>
            <a:pPr algn="l" indent="0" marL="0">
              <a:buNone/>
            </a:pPr>
            <a:r>
              <a:rPr lang="en-US" sz="1200" dirty="0">
                <a:solidFill>
                  <a:srgbClr val="1F2A37"/>
                </a:solidFill>
                <a:latin typeface="Calibri" pitchFamily="34" charset="0"/>
                <a:cs typeface="Amiri" pitchFamily="2" charset="-78"/>
              </a:rPr>
              <a:t> correctly.</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Use </a:t>
            </a:r>
            <a:pPr algn="l" indent="0" marL="0">
              <a:buNone/>
            </a:pPr>
            <a:r>
              <a:rPr lang="ar-SA" altLang="en-US" sz="1550" dirty="0">
                <a:solidFill>
                  <a:srgbClr val="1F2A37"/>
                </a:solidFill>
                <a:latin typeface="Amiri" pitchFamily="2" charset="-78"/>
                <a:cs typeface="Amiri" pitchFamily="2" charset="-78"/>
              </a:rPr>
              <a:t>يَبْدَأُ</a:t>
            </a:r>
            <a:pPr algn="l" indent="0" marL="0">
              <a:buNone/>
            </a:pPr>
            <a:r>
              <a:rPr lang="en-US" sz="1200" dirty="0">
                <a:solidFill>
                  <a:srgbClr val="1F2A37"/>
                </a:solidFill>
                <a:latin typeface="Calibri" pitchFamily="34" charset="0"/>
                <a:cs typeface="Amiri" pitchFamily="2" charset="-78"/>
              </a:rPr>
              <a:t>, </a:t>
            </a:r>
            <a:pPr algn="l" indent="0" marL="0">
              <a:buNone/>
            </a:pPr>
            <a:r>
              <a:rPr lang="ar-SA" altLang="en-US" sz="1550" dirty="0">
                <a:solidFill>
                  <a:srgbClr val="1F2A37"/>
                </a:solidFill>
                <a:latin typeface="Amiri" pitchFamily="2" charset="-78"/>
                <a:cs typeface="Amiri" pitchFamily="2" charset="-78"/>
              </a:rPr>
              <a:t>يَنْتَهِي</a:t>
            </a:r>
            <a:pPr algn="l" indent="0" marL="0">
              <a:buNone/>
            </a:pPr>
            <a:r>
              <a:rPr lang="en-US" sz="1200" dirty="0">
                <a:solidFill>
                  <a:srgbClr val="1F2A37"/>
                </a:solidFill>
                <a:latin typeface="Calibri" pitchFamily="34" charset="0"/>
                <a:cs typeface="Amiri" pitchFamily="2" charset="-78"/>
              </a:rPr>
              <a:t> and </a:t>
            </a:r>
            <a:pPr algn="l" indent="0" marL="0">
              <a:buNone/>
            </a:pPr>
            <a:r>
              <a:rPr lang="ar-SA" altLang="en-US" sz="1550" dirty="0">
                <a:solidFill>
                  <a:srgbClr val="1F2A37"/>
                </a:solidFill>
                <a:latin typeface="Amiri" pitchFamily="2" charset="-78"/>
                <a:cs typeface="Amiri" pitchFamily="2" charset="-78"/>
              </a:rPr>
              <a:t>يَسْتَمِرُّ</a:t>
            </a:r>
            <a:pPr algn="l" indent="0" marL="0">
              <a:buNone/>
            </a:pPr>
            <a:r>
              <a:rPr lang="en-US" sz="1200" dirty="0">
                <a:solidFill>
                  <a:srgbClr val="1F2A37"/>
                </a:solidFill>
                <a:latin typeface="Calibri" pitchFamily="34" charset="0"/>
                <a:cs typeface="Amiri" pitchFamily="2" charset="-78"/>
              </a:rPr>
              <a:t>.</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Include one 24-hour time.</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Add an opinion with a reason and one comparison.</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PHRASE BANK — FROM THE WEBSITE TEXTS</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حِينَ أَسْتَيْقِظُ وَأَسْتَعِدُّ لِلْمَدْرَسَةِ</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when I wake up and get ready for school</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تَنْتَهِي الحِصَصُ فِي الثَّالِثَةِ وَالرُّبْعِ</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lessons end at quarter past three</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يَسْتَمِرُّ التَّمْرِينُ مُدَّةَ سَاعَةٍ</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training lasts an hour</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أَصْعَبُ جُزْءٍ هُوَ …</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the hardest part is …</a:t>
            </a:r>
            <a:endParaRPr lang="en-US" sz="1050" dirty="0"/>
          </a:p>
        </p:txBody>
      </p:sp>
      <p:sp>
        <p:nvSpPr>
          <p:cNvPr id="34" name="Text 31"/>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أُفَضِّلُ اليَوْمَ المُنَظَّمَ عَلَى اليَوْمِ الفَارِغِ</a:t>
            </a:r>
            <a:endParaRPr lang="ar-SA" sz="1800" dirty="0"/>
          </a:p>
        </p:txBody>
      </p:sp>
      <p:sp>
        <p:nvSpPr>
          <p:cNvPr id="35" name="Text 32"/>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prefer an organised day to an empty day</a:t>
            </a:r>
            <a:endParaRPr lang="en-US" sz="105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35 / 46</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D1-L02 · Telling the Time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D1-L02</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2" charset="-78"/>
                <a:cs typeface="Amiri" pitchFamily="2" charset="-78"/>
              </a:rPr>
              <a:t>يَبْدَأُ يَوْمِي يَوْمَ الثُّلَاثَاءِ فِي السَّادِسَةِ وَالنِّصْفِ، حِينَ أَسْتَيْقِظُ وَأَسْتَعِدُّ لِلْمَدْرَسَةِ. أَخْرُجُ فِي السَّابِعَةِ إِلَّا عَشْرَ دَقَائِقَ، وَيَبْدَأُ الدَّوَامُ فِي الثَّامِنَةِ. تَنْتَهِي الحِصَصُ فِي الثَّالِثَةِ وَالرُّبْعِ. بَعْدَ ذٰلِكَ أَذْهَبُ إِلَى نَادِي الرِّيَاضَةِ فِي السَّاعَةِ السَّادِسَةَ عَشْرَةَ، وَيَسْتَمِرُّ التَّمْرِينُ مُدَّةَ سَاعَةٍ. أَصْعَبُ جُزْءٍ هُوَ الوَقْتُ بَيْنَ المَدْرَسَةِ وَالتَّمْرِينِ لِأَنَّنِي أَكُونُ مُتْعَبًا، وَلٰكِنَّنِي أُفَضِّلُ اليَوْمَ المُنَظَّمَ عَلَى اليَوْمِ الفَارِغِ.</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My Tuesday begins at half past six, when I wake up and get ready for school. I leave at ten to seven, and school starts at eight. Lessons finish at quarter past three. After that I go to the sports club at 16:00, and training lasts an hour. The hardest part is the time between school and training because I am tired, but I prefer an organised day to an empty one.</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وَ and إِلَّا times</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 24-hour time</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يَسْتَمِرُّ مُدَّةَ</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an opinion + reason</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36 / 46</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D1-L02 · Telling the Time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D1-L02</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can say quarter past, half past and quarter to.</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wrote five exact times in my routine.</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After half past, I named the NEXT hour with </a:t>
            </a:r>
            <a:pPr algn="l" indent="0" marL="0">
              <a:buNone/>
            </a:pPr>
            <a:r>
              <a:rPr lang="ar-SA" altLang="en-US" sz="1700" dirty="0">
                <a:solidFill>
                  <a:srgbClr val="1F2A37"/>
                </a:solidFill>
                <a:latin typeface="Amiri" pitchFamily="2" charset="-78"/>
                <a:cs typeface="Amiri" pitchFamily="2" charset="-78"/>
              </a:rPr>
              <a:t>إِلَّا</a:t>
            </a:r>
            <a:pPr algn="l" indent="0" marL="0">
              <a:buNone/>
            </a:pPr>
            <a:r>
              <a:rPr lang="en-US" sz="1300" dirty="0">
                <a:solidFill>
                  <a:srgbClr val="1F2A37"/>
                </a:solidFill>
                <a:latin typeface="Calibri" pitchFamily="34" charset="0"/>
                <a:cs typeface="Amiri" pitchFamily="2" charset="-78"/>
              </a:rPr>
              <a:t>.</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begins (</a:t>
            </a:r>
            <a:pPr algn="l" indent="0" marL="0">
              <a:buNone/>
            </a:pPr>
            <a:r>
              <a:rPr lang="ar-SA" altLang="en-US" sz="1700" dirty="0">
                <a:solidFill>
                  <a:srgbClr val="1F2A37"/>
                </a:solidFill>
                <a:latin typeface="Amiri" pitchFamily="2" charset="-78"/>
                <a:cs typeface="Amiri" pitchFamily="2" charset="-78"/>
              </a:rPr>
              <a:t>يَبْدَأُ</a:t>
            </a:r>
            <a:pPr algn="l" indent="0" marL="0">
              <a:buNone/>
            </a:pPr>
            <a:r>
              <a:rPr lang="en-US" sz="1300" dirty="0">
                <a:solidFill>
                  <a:srgbClr val="1F2A37"/>
                </a:solidFill>
                <a:latin typeface="Calibri" pitchFamily="34" charset="0"/>
                <a:cs typeface="Amiri" pitchFamily="2" charset="-78"/>
              </a:rPr>
              <a:t>) and ends (</a:t>
            </a:r>
            <a:pPr algn="l" indent="0" marL="0">
              <a:buNone/>
            </a:pPr>
            <a:r>
              <a:rPr lang="ar-SA" altLang="en-US" sz="1700" dirty="0">
                <a:solidFill>
                  <a:srgbClr val="1F2A37"/>
                </a:solidFill>
                <a:latin typeface="Amiri" pitchFamily="2" charset="-78"/>
                <a:cs typeface="Amiri" pitchFamily="2" charset="-78"/>
              </a:rPr>
              <a:t>يَنْتَهِي</a:t>
            </a:r>
            <a:pPr algn="l" indent="0" marL="0">
              <a:buNone/>
            </a:pPr>
            <a:r>
              <a:rPr lang="en-US" sz="1300" dirty="0">
                <a:solidFill>
                  <a:srgbClr val="1F2A37"/>
                </a:solidFill>
                <a:latin typeface="Calibri" pitchFamily="34" charset="0"/>
                <a:cs typeface="Amiri" pitchFamily="2" charset="-78"/>
              </a:rPr>
              <a:t>).</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a 24-hour time and duration (</a:t>
            </a:r>
            <a:pPr algn="l" indent="0" marL="0">
              <a:buNone/>
            </a:pPr>
            <a:r>
              <a:rPr lang="ar-SA" altLang="en-US" sz="1700" dirty="0">
                <a:solidFill>
                  <a:srgbClr val="1F2A37"/>
                </a:solidFill>
                <a:latin typeface="Amiri" pitchFamily="2" charset="-78"/>
                <a:cs typeface="Amiri" pitchFamily="2" charset="-78"/>
              </a:rPr>
              <a:t>مُدَّةَ</a:t>
            </a:r>
            <a:pPr algn="l" indent="0" marL="0">
              <a:buNone/>
            </a:pPr>
            <a:r>
              <a:rPr lang="en-US" sz="1300" dirty="0">
                <a:solidFill>
                  <a:srgbClr val="1F2A37"/>
                </a:solidFill>
                <a:latin typeface="Calibri" pitchFamily="34" charset="0"/>
                <a:cs typeface="Amiri" pitchFamily="2" charset="-78"/>
              </a:rPr>
              <a:t>).</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37 / 46</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D1-L02 · Telling the Time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D1-L02</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6:30?</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السَّادِسَةُ وَالنِّصْفُ</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السَّابِعَةُ إِلَّا النِّصْفَ</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السَّادِسَةُ وَالرُّبْعُ</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10:50?</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العَاشِرَةُ وَعَشْرُ دَقَائِقَ</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الحَادِيَةَ عَشْرَةَ إِلَّا عَشْرَ دَقَائِقَ</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العَاشِرَةُ إِلَّا عَشْرَ دَقَائِقَ</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duration sentence.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يَسْتَمِرُّ مُدَّةَ سَاعَتَيْنِ.</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يَبْدَأُ فِي السَّادِسَةِ.</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يَنْتَهِي فِي الثَّامِنَةِ.</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38 / 46</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D1-L02 · Telling the Time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D1-L02</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6:30?</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السَّادِسَةُ وَالنِّصْفُ</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السَّابِعَةُ إِلَّا النِّصْفَ</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السَّادِسَةُ وَالرُّبْعُ</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6:30 is half past six.</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10:50?</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العَاشِرَةُ وَعَشْرُ دَقَائِقَ</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الحَادِيَةَ عَشْرَةَ إِلَّا عَشْرَ دَقَائِقَ</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العَاشِرَةُ إِلَّا عَشْرَ دَقَائِقَ</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It is ten minutes to eleven.</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duration sentence.</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يَسْتَمِرُّ مُدَّةَ سَاعَتَيْنِ.</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يَبْدَأُ فِي السَّادِسَةِ.</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يَنْتَهِي فِي الثَّامِنَةِ.</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It states how long the activity lasts.</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39 / 46</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D1-L02 · Telling the Time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Community centre timetable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D1-L02</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2" charset="-78"/>
                <a:cs typeface="Amiri" pitchFamily="2" charset="-78"/>
              </a:rPr>
              <a:t>يُقَدِّمُ مَرْكَزُ النُّورِ أَنْشِطَةً بَعْدَ المَدْرَسَةِ. يَوْمَ الاِثْنَيْنِ تَبْدَأُ دَوْرَةُ الخَطِّ فِي السَّاعَةِ الرَّابِعَةِ وَالنِّصْفِ وَتَسْتَمِرُّ سَاعَةً. يَوْمَ الثُّلَاثَاءِ يَبْدَأُ نَادِي الرِّيَاضَةِ فِي الخَامِسَةِ إِلَّا الرُّبْعَ وَيَنْتَهِي فِي السَّادِسَةِ. أَمَّا نَادِي القِرَاءَةِ فَيُعْقَدُ يَوْمَ الخَمِيسِ مِنَ السَّاعَةِ السَّادِسَةَ عَشْرَةَ إِلَى السَّاعَةِ السَّابِعَةَ عَشْرَةَ وَالنِّصْفِ. يَجِبُ الحُضُورُ قَبْلَ البَدْءِ بِعَشْرِ دَقَائِقَ.</a:t>
            </a:r>
            <a:endParaRPr lang="ar-SA" sz="260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يُقَدِّمُ</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offers</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مَرْكَزٌ</a:t>
            </a:r>
            <a:endParaRPr lang="ar-SA" sz="160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centre</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أَنْشِطَةٌ</a:t>
            </a:r>
            <a:endParaRPr lang="ar-SA" sz="160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activities</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دَوْرَةُ الخَطِّ</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calligraphy course</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نَادِي الرِّيَاضَةِ</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sports club</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نَادِي القِرَاءَةِ</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reading club</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يُعْقَدُ</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is held</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يَجِبُ</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it is necessary</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الحُضُورُ</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attending, arrival</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قَبْلَ البَدْءِ</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before the start</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40 / 46</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D1-L02 · Telling the Time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D1-L02</a:t>
            </a:r>
            <a:endParaRPr lang="en-US" sz="850" dirty="0"/>
          </a:p>
        </p:txBody>
      </p:sp>
      <p:sp>
        <p:nvSpPr>
          <p:cNvPr id="17" name="Shape 14"/>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activity starts at 4:30?</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sport</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calligraphy</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reading</a:t>
            </a:r>
            <a:endParaRPr lang="en-US" sz="1250" dirty="0"/>
          </a:p>
        </p:txBody>
      </p:sp>
      <p:sp>
        <p:nvSpPr>
          <p:cNvPr id="30" name="Shape 27"/>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3449574"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long does calligraphy last?</a:t>
            </a:r>
            <a:endParaRPr lang="en-US" sz="1250" dirty="0"/>
          </a:p>
        </p:txBody>
      </p:sp>
      <p:sp>
        <p:nvSpPr>
          <p:cNvPr id="34" name="Shape 31"/>
          <p:cNvSpPr/>
          <p:nvPr/>
        </p:nvSpPr>
        <p:spPr>
          <a:xfrm>
            <a:off x="3504438"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350443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3833622"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45 minutes</a:t>
            </a:r>
            <a:endParaRPr lang="en-US" sz="1250" dirty="0"/>
          </a:p>
        </p:txBody>
      </p:sp>
      <p:sp>
        <p:nvSpPr>
          <p:cNvPr id="37" name="Shape 34"/>
          <p:cNvSpPr/>
          <p:nvPr/>
        </p:nvSpPr>
        <p:spPr>
          <a:xfrm>
            <a:off x="3504438"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350443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3833622"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90 minutes</a:t>
            </a:r>
            <a:endParaRPr lang="en-US" sz="1250" dirty="0"/>
          </a:p>
        </p:txBody>
      </p:sp>
      <p:sp>
        <p:nvSpPr>
          <p:cNvPr id="40" name="Shape 37"/>
          <p:cNvSpPr/>
          <p:nvPr/>
        </p:nvSpPr>
        <p:spPr>
          <a:xfrm>
            <a:off x="3504438"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350443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3833622"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one hour</a:t>
            </a:r>
            <a:endParaRPr lang="en-US" sz="1250" dirty="0"/>
          </a:p>
        </p:txBody>
      </p:sp>
      <p:sp>
        <p:nvSpPr>
          <p:cNvPr id="43" name="Shape 40"/>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6313932"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When does sport begin?</a:t>
            </a:r>
            <a:endParaRPr lang="en-US" sz="1250" dirty="0"/>
          </a:p>
        </p:txBody>
      </p:sp>
      <p:sp>
        <p:nvSpPr>
          <p:cNvPr id="47" name="Shape 44"/>
          <p:cNvSpPr/>
          <p:nvPr/>
        </p:nvSpPr>
        <p:spPr>
          <a:xfrm>
            <a:off x="6368796"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6697980"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4:45</a:t>
            </a:r>
            <a:endParaRPr lang="en-US" sz="1250" dirty="0"/>
          </a:p>
        </p:txBody>
      </p:sp>
      <p:sp>
        <p:nvSpPr>
          <p:cNvPr id="50" name="Shape 47"/>
          <p:cNvSpPr/>
          <p:nvPr/>
        </p:nvSpPr>
        <p:spPr>
          <a:xfrm>
            <a:off x="6368796"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6697980"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5:15</a:t>
            </a:r>
            <a:endParaRPr lang="en-US" sz="1250" dirty="0"/>
          </a:p>
        </p:txBody>
      </p:sp>
      <p:sp>
        <p:nvSpPr>
          <p:cNvPr id="53" name="Shape 50"/>
          <p:cNvSpPr/>
          <p:nvPr/>
        </p:nvSpPr>
        <p:spPr>
          <a:xfrm>
            <a:off x="6368796"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6697980"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5:45</a:t>
            </a:r>
            <a:endParaRPr lang="en-US" sz="1250" dirty="0"/>
          </a:p>
        </p:txBody>
      </p:sp>
      <p:sp>
        <p:nvSpPr>
          <p:cNvPr id="56" name="Shape 53"/>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9178290" y="1947672"/>
            <a:ext cx="310896" cy="310896"/>
          </a:xfrm>
          <a:prstGeom prst="ellipse">
            <a:avLst/>
          </a:prstGeom>
          <a:solidFill>
            <a:srgbClr val="1B3B6F"/>
          </a:solidFill>
          <a:ln w="12700">
            <a:solidFill>
              <a:srgbClr val="1B3B6F"/>
            </a:solidFill>
            <a:prstDash val="solid"/>
          </a:ln>
        </p:spPr>
      </p:sp>
      <p:sp>
        <p:nvSpPr>
          <p:cNvPr id="58" name="Text 55"/>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day is reading club?</a:t>
            </a:r>
            <a:endParaRPr lang="en-US" sz="1250" dirty="0"/>
          </a:p>
        </p:txBody>
      </p:sp>
      <p:sp>
        <p:nvSpPr>
          <p:cNvPr id="60" name="Shape 57"/>
          <p:cNvSpPr/>
          <p:nvPr/>
        </p:nvSpPr>
        <p:spPr>
          <a:xfrm>
            <a:off x="9233154" y="2532888"/>
            <a:ext cx="256032" cy="256032"/>
          </a:xfrm>
          <a:prstGeom prst="ellipse">
            <a:avLst/>
          </a:prstGeom>
          <a:solidFill>
            <a:srgbClr val="F4F1EA"/>
          </a:solidFill>
          <a:ln w="12700">
            <a:solidFill>
              <a:srgbClr val="F4F1EA"/>
            </a:solidFill>
            <a:prstDash val="solid"/>
          </a:ln>
        </p:spPr>
      </p:sp>
      <p:sp>
        <p:nvSpPr>
          <p:cNvPr id="61" name="Text 58"/>
          <p:cNvSpPr txBox="1"/>
          <p:nvPr/>
        </p:nvSpPr>
        <p:spPr>
          <a:xfrm>
            <a:off x="923315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9562338"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Monday</a:t>
            </a:r>
            <a:endParaRPr lang="en-US" sz="1250" dirty="0"/>
          </a:p>
        </p:txBody>
      </p:sp>
      <p:sp>
        <p:nvSpPr>
          <p:cNvPr id="63" name="Shape 60"/>
          <p:cNvSpPr/>
          <p:nvPr/>
        </p:nvSpPr>
        <p:spPr>
          <a:xfrm>
            <a:off x="9233154" y="2990088"/>
            <a:ext cx="256032" cy="256032"/>
          </a:xfrm>
          <a:prstGeom prst="ellipse">
            <a:avLst/>
          </a:prstGeom>
          <a:solidFill>
            <a:srgbClr val="F4F1EA"/>
          </a:solidFill>
          <a:ln w="12700">
            <a:solidFill>
              <a:srgbClr val="F4F1EA"/>
            </a:solidFill>
            <a:prstDash val="solid"/>
          </a:ln>
        </p:spPr>
      </p:sp>
      <p:sp>
        <p:nvSpPr>
          <p:cNvPr id="64" name="Text 61"/>
          <p:cNvSpPr txBox="1"/>
          <p:nvPr/>
        </p:nvSpPr>
        <p:spPr>
          <a:xfrm>
            <a:off x="923315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9562338"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Thursday</a:t>
            </a:r>
            <a:endParaRPr lang="en-US" sz="1250" dirty="0"/>
          </a:p>
        </p:txBody>
      </p:sp>
      <p:sp>
        <p:nvSpPr>
          <p:cNvPr id="66" name="Shape 63"/>
          <p:cNvSpPr/>
          <p:nvPr/>
        </p:nvSpPr>
        <p:spPr>
          <a:xfrm>
            <a:off x="9233154" y="3447288"/>
            <a:ext cx="256032" cy="256032"/>
          </a:xfrm>
          <a:prstGeom prst="ellipse">
            <a:avLst/>
          </a:prstGeom>
          <a:solidFill>
            <a:srgbClr val="F4F1EA"/>
          </a:solidFill>
          <a:ln w="12700">
            <a:solidFill>
              <a:srgbClr val="F4F1EA"/>
            </a:solidFill>
            <a:prstDash val="solid"/>
          </a:ln>
        </p:spPr>
      </p:sp>
      <p:sp>
        <p:nvSpPr>
          <p:cNvPr id="67" name="Text 64"/>
          <p:cNvSpPr txBox="1"/>
          <p:nvPr/>
        </p:nvSpPr>
        <p:spPr>
          <a:xfrm>
            <a:off x="923315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9562338"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Tuesday</a:t>
            </a:r>
            <a:endParaRPr lang="en-US" sz="1250" dirty="0"/>
          </a:p>
        </p:txBody>
      </p:sp>
      <p:sp>
        <p:nvSpPr>
          <p:cNvPr id="69" name="Shape 66"/>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585216"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2" name="Text 69"/>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long is reading club?</a:t>
            </a:r>
            <a:endParaRPr lang="en-US" sz="1250" dirty="0"/>
          </a:p>
        </p:txBody>
      </p:sp>
      <p:sp>
        <p:nvSpPr>
          <p:cNvPr id="73" name="Shape 70"/>
          <p:cNvSpPr/>
          <p:nvPr/>
        </p:nvSpPr>
        <p:spPr>
          <a:xfrm>
            <a:off x="640080"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5" name="Text 72"/>
          <p:cNvSpPr txBox="1"/>
          <p:nvPr/>
        </p:nvSpPr>
        <p:spPr>
          <a:xfrm>
            <a:off x="969264"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90 minutes</a:t>
            </a:r>
            <a:endParaRPr lang="en-US" sz="1250" dirty="0"/>
          </a:p>
        </p:txBody>
      </p:sp>
      <p:sp>
        <p:nvSpPr>
          <p:cNvPr id="76" name="Shape 73"/>
          <p:cNvSpPr/>
          <p:nvPr/>
        </p:nvSpPr>
        <p:spPr>
          <a:xfrm>
            <a:off x="640080"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8" name="Text 75"/>
          <p:cNvSpPr txBox="1"/>
          <p:nvPr/>
        </p:nvSpPr>
        <p:spPr>
          <a:xfrm>
            <a:off x="969264"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one hour</a:t>
            </a:r>
            <a:endParaRPr lang="en-US" sz="1250" dirty="0"/>
          </a:p>
        </p:txBody>
      </p:sp>
      <p:sp>
        <p:nvSpPr>
          <p:cNvPr id="79" name="Shape 76"/>
          <p:cNvSpPr/>
          <p:nvPr/>
        </p:nvSpPr>
        <p:spPr>
          <a:xfrm>
            <a:off x="640080"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1" name="Text 78"/>
          <p:cNvSpPr txBox="1"/>
          <p:nvPr/>
        </p:nvSpPr>
        <p:spPr>
          <a:xfrm>
            <a:off x="969264"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two hours</a:t>
            </a:r>
            <a:endParaRPr lang="en-US" sz="1250" dirty="0"/>
          </a:p>
        </p:txBody>
      </p:sp>
      <p:sp>
        <p:nvSpPr>
          <p:cNvPr id="82" name="Shape 79"/>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3449574" y="4288536"/>
            <a:ext cx="310896" cy="310896"/>
          </a:xfrm>
          <a:prstGeom prst="ellipse">
            <a:avLst/>
          </a:prstGeom>
          <a:solidFill>
            <a:srgbClr val="1B3B6F"/>
          </a:solidFill>
          <a:ln w="12700">
            <a:solidFill>
              <a:srgbClr val="1B3B6F"/>
            </a:solidFill>
            <a:prstDash val="solid"/>
          </a:ln>
        </p:spPr>
      </p:sp>
      <p:sp>
        <p:nvSpPr>
          <p:cNvPr id="84" name="Text 81"/>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5" name="Text 82"/>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instruction applies to everyone?</a:t>
            </a:r>
            <a:endParaRPr lang="en-US" sz="1250" dirty="0"/>
          </a:p>
        </p:txBody>
      </p:sp>
      <p:sp>
        <p:nvSpPr>
          <p:cNvPr id="86" name="Shape 83"/>
          <p:cNvSpPr/>
          <p:nvPr/>
        </p:nvSpPr>
        <p:spPr>
          <a:xfrm>
            <a:off x="3504438" y="4873752"/>
            <a:ext cx="256032" cy="256032"/>
          </a:xfrm>
          <a:prstGeom prst="ellipse">
            <a:avLst/>
          </a:prstGeom>
          <a:solidFill>
            <a:srgbClr val="F4F1EA"/>
          </a:solidFill>
          <a:ln w="12700">
            <a:solidFill>
              <a:srgbClr val="F4F1EA"/>
            </a:solidFill>
            <a:prstDash val="solid"/>
          </a:ln>
        </p:spPr>
      </p:sp>
      <p:sp>
        <p:nvSpPr>
          <p:cNvPr id="87" name="Text 84"/>
          <p:cNvSpPr txBox="1"/>
          <p:nvPr/>
        </p:nvSpPr>
        <p:spPr>
          <a:xfrm>
            <a:off x="350443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8" name="Text 85"/>
          <p:cNvSpPr txBox="1"/>
          <p:nvPr/>
        </p:nvSpPr>
        <p:spPr>
          <a:xfrm>
            <a:off x="3833622"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bring food</a:t>
            </a:r>
            <a:endParaRPr lang="en-US" sz="1250" dirty="0"/>
          </a:p>
        </p:txBody>
      </p:sp>
      <p:sp>
        <p:nvSpPr>
          <p:cNvPr id="89" name="Shape 86"/>
          <p:cNvSpPr/>
          <p:nvPr/>
        </p:nvSpPr>
        <p:spPr>
          <a:xfrm>
            <a:off x="3504438" y="53309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350443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91" name="Text 88"/>
          <p:cNvSpPr txBox="1"/>
          <p:nvPr/>
        </p:nvSpPr>
        <p:spPr>
          <a:xfrm>
            <a:off x="3833622"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leave before the end</a:t>
            </a:r>
            <a:endParaRPr lang="en-US" sz="1250" dirty="0"/>
          </a:p>
        </p:txBody>
      </p:sp>
      <p:sp>
        <p:nvSpPr>
          <p:cNvPr id="92" name="Shape 89"/>
          <p:cNvSpPr/>
          <p:nvPr/>
        </p:nvSpPr>
        <p:spPr>
          <a:xfrm>
            <a:off x="3504438" y="57881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350443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4" name="Text 91"/>
          <p:cNvSpPr txBox="1"/>
          <p:nvPr/>
        </p:nvSpPr>
        <p:spPr>
          <a:xfrm>
            <a:off x="3833622"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arrive ten minutes early</a:t>
            </a:r>
            <a:endParaRPr lang="en-US" sz="1250" dirty="0"/>
          </a:p>
        </p:txBody>
      </p:sp>
      <p:sp>
        <p:nvSpPr>
          <p:cNvPr id="95" name="Shape 92"/>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6" name="Text 93"/>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97" name="Text 94"/>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98" name="Text 9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41 / 46</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D1-L02 · Telling the Time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D1-L02</a:t>
            </a:r>
            <a:endParaRPr lang="en-US" sz="850" dirty="0"/>
          </a:p>
        </p:txBody>
      </p:sp>
      <p:sp>
        <p:nvSpPr>
          <p:cNvPr id="17" name="Shape 14"/>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activity starts at 4:30?</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sport</a:t>
            </a:r>
            <a:endParaRPr lang="en-US" sz="1250" dirty="0"/>
          </a:p>
        </p:txBody>
      </p:sp>
      <p:sp>
        <p:nvSpPr>
          <p:cNvPr id="24" name="Shape 21"/>
          <p:cNvSpPr/>
          <p:nvPr/>
        </p:nvSpPr>
        <p:spPr>
          <a:xfrm>
            <a:off x="548640" y="2825496"/>
            <a:ext cx="2498598"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7" name="Text 24"/>
          <p:cNvSpPr txBox="1"/>
          <p:nvPr/>
        </p:nvSpPr>
        <p:spPr>
          <a:xfrm>
            <a:off x="969264" y="280416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calligraphy</a:t>
            </a:r>
            <a:endParaRPr lang="en-US" sz="125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30" name="Text 27"/>
          <p:cNvSpPr txBox="1"/>
          <p:nvPr/>
        </p:nvSpPr>
        <p:spPr>
          <a:xfrm>
            <a:off x="969264"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reading</a:t>
            </a:r>
            <a:endParaRPr lang="en-US" sz="1250" dirty="0"/>
          </a:p>
        </p:txBody>
      </p:sp>
      <p:sp>
        <p:nvSpPr>
          <p:cNvPr id="31" name="Text 28"/>
          <p:cNvSpPr txBox="1"/>
          <p:nvPr/>
        </p:nvSpPr>
        <p:spPr>
          <a:xfrm>
            <a:off x="585216" y="3566160"/>
            <a:ext cx="2425446"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دَوْرَةُ الخَطِّ</a:t>
            </a:r>
            <a:pPr algn="l" indent="0" marL="0">
              <a:buNone/>
            </a:pPr>
            <a:r>
              <a:rPr lang="en-US" sz="1050" i="1" dirty="0">
                <a:solidFill>
                  <a:srgbClr val="8A6D1E"/>
                </a:solidFill>
                <a:latin typeface="Calibri" pitchFamily="34" charset="0"/>
                <a:cs typeface="Amiri" pitchFamily="2" charset="-78"/>
              </a:rPr>
              <a:t> starts at 4:30.</a:t>
            </a:r>
            <a:endParaRPr lang="en-US" sz="1050" dirty="0"/>
          </a:p>
        </p:txBody>
      </p:sp>
      <p:sp>
        <p:nvSpPr>
          <p:cNvPr id="32" name="Shape 29"/>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3449574"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5" name="Text 32"/>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long does calligraphy last?</a:t>
            </a:r>
            <a:endParaRPr lang="en-US" sz="1250" dirty="0"/>
          </a:p>
        </p:txBody>
      </p:sp>
      <p:sp>
        <p:nvSpPr>
          <p:cNvPr id="36" name="Shape 33"/>
          <p:cNvSpPr/>
          <p:nvPr/>
        </p:nvSpPr>
        <p:spPr>
          <a:xfrm>
            <a:off x="3504438"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350443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3833622"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45 minutes</a:t>
            </a:r>
            <a:endParaRPr lang="en-US" sz="1250" dirty="0"/>
          </a:p>
        </p:txBody>
      </p:sp>
      <p:sp>
        <p:nvSpPr>
          <p:cNvPr id="39" name="Shape 36"/>
          <p:cNvSpPr/>
          <p:nvPr/>
        </p:nvSpPr>
        <p:spPr>
          <a:xfrm>
            <a:off x="3504438"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350443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8"/>
          <p:cNvSpPr txBox="1"/>
          <p:nvPr/>
        </p:nvSpPr>
        <p:spPr>
          <a:xfrm>
            <a:off x="3833622"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90 minutes</a:t>
            </a:r>
            <a:endParaRPr lang="en-US" sz="1250" dirty="0"/>
          </a:p>
        </p:txBody>
      </p:sp>
      <p:sp>
        <p:nvSpPr>
          <p:cNvPr id="42" name="Shape 39"/>
          <p:cNvSpPr/>
          <p:nvPr/>
        </p:nvSpPr>
        <p:spPr>
          <a:xfrm>
            <a:off x="3412998" y="3197352"/>
            <a:ext cx="2498598"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3504438"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350443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5" name="Text 42"/>
          <p:cNvSpPr txBox="1"/>
          <p:nvPr/>
        </p:nvSpPr>
        <p:spPr>
          <a:xfrm>
            <a:off x="3833622" y="3176016"/>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one hour</a:t>
            </a:r>
            <a:endParaRPr lang="en-US" sz="1250" dirty="0"/>
          </a:p>
        </p:txBody>
      </p:sp>
      <p:sp>
        <p:nvSpPr>
          <p:cNvPr id="46" name="Text 43"/>
          <p:cNvSpPr txBox="1"/>
          <p:nvPr/>
        </p:nvSpPr>
        <p:spPr>
          <a:xfrm>
            <a:off x="3449574"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تَسْتَمِرُّ سَاعَةً.</a:t>
            </a:r>
            <a:endParaRPr lang="ar-SA" sz="1350" dirty="0"/>
          </a:p>
        </p:txBody>
      </p:sp>
      <p:sp>
        <p:nvSpPr>
          <p:cNvPr id="47" name="Shape 44"/>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6313932"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When does sport begin?</a:t>
            </a:r>
            <a:endParaRPr lang="en-US" sz="1250" dirty="0"/>
          </a:p>
        </p:txBody>
      </p:sp>
      <p:sp>
        <p:nvSpPr>
          <p:cNvPr id="51" name="Shape 48"/>
          <p:cNvSpPr/>
          <p:nvPr/>
        </p:nvSpPr>
        <p:spPr>
          <a:xfrm>
            <a:off x="6277356" y="2453640"/>
            <a:ext cx="2498598"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6368796"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4" name="Text 51"/>
          <p:cNvSpPr txBox="1"/>
          <p:nvPr/>
        </p:nvSpPr>
        <p:spPr>
          <a:xfrm>
            <a:off x="6697980" y="243230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4:45</a:t>
            </a:r>
            <a:endParaRPr lang="en-US" sz="1250" dirty="0"/>
          </a:p>
        </p:txBody>
      </p:sp>
      <p:sp>
        <p:nvSpPr>
          <p:cNvPr id="55" name="Shape 52"/>
          <p:cNvSpPr/>
          <p:nvPr/>
        </p:nvSpPr>
        <p:spPr>
          <a:xfrm>
            <a:off x="6368796"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7" name="Text 54"/>
          <p:cNvSpPr txBox="1"/>
          <p:nvPr/>
        </p:nvSpPr>
        <p:spPr>
          <a:xfrm>
            <a:off x="6697980"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5:15</a:t>
            </a:r>
            <a:endParaRPr lang="en-US" sz="1250" dirty="0"/>
          </a:p>
        </p:txBody>
      </p:sp>
      <p:sp>
        <p:nvSpPr>
          <p:cNvPr id="58" name="Shape 55"/>
          <p:cNvSpPr/>
          <p:nvPr/>
        </p:nvSpPr>
        <p:spPr>
          <a:xfrm>
            <a:off x="6368796"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6697980"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5:45</a:t>
            </a:r>
            <a:endParaRPr lang="en-US" sz="1250" dirty="0"/>
          </a:p>
        </p:txBody>
      </p:sp>
      <p:sp>
        <p:nvSpPr>
          <p:cNvPr id="61" name="Text 58"/>
          <p:cNvSpPr txBox="1"/>
          <p:nvPr/>
        </p:nvSpPr>
        <p:spPr>
          <a:xfrm>
            <a:off x="6313932"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الخَامِسَةُ إِلَّا الرُّبْعَ = 4:45.</a:t>
            </a:r>
            <a:endParaRPr lang="ar-SA" sz="1350" dirty="0"/>
          </a:p>
        </p:txBody>
      </p:sp>
      <p:sp>
        <p:nvSpPr>
          <p:cNvPr id="62" name="Shape 59"/>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9178290" y="1947672"/>
            <a:ext cx="310896" cy="310896"/>
          </a:xfrm>
          <a:prstGeom prst="ellipse">
            <a:avLst/>
          </a:prstGeom>
          <a:solidFill>
            <a:srgbClr val="1B3B6F"/>
          </a:solidFill>
          <a:ln w="12700">
            <a:solidFill>
              <a:srgbClr val="1B3B6F"/>
            </a:solidFill>
            <a:prstDash val="solid"/>
          </a:ln>
        </p:spPr>
      </p:sp>
      <p:sp>
        <p:nvSpPr>
          <p:cNvPr id="64" name="Text 61"/>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2"/>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day is reading club?</a:t>
            </a:r>
            <a:endParaRPr lang="en-US" sz="1250" dirty="0"/>
          </a:p>
        </p:txBody>
      </p:sp>
      <p:sp>
        <p:nvSpPr>
          <p:cNvPr id="66" name="Shape 63"/>
          <p:cNvSpPr/>
          <p:nvPr/>
        </p:nvSpPr>
        <p:spPr>
          <a:xfrm>
            <a:off x="9233154" y="2490216"/>
            <a:ext cx="256032" cy="256032"/>
          </a:xfrm>
          <a:prstGeom prst="ellipse">
            <a:avLst/>
          </a:prstGeom>
          <a:solidFill>
            <a:srgbClr val="C9CED6"/>
          </a:solidFill>
          <a:ln w="12700">
            <a:solidFill>
              <a:srgbClr val="C9CED6"/>
            </a:solidFill>
            <a:prstDash val="solid"/>
          </a:ln>
        </p:spPr>
      </p:sp>
      <p:sp>
        <p:nvSpPr>
          <p:cNvPr id="67" name="Text 64"/>
          <p:cNvSpPr txBox="1"/>
          <p:nvPr/>
        </p:nvSpPr>
        <p:spPr>
          <a:xfrm>
            <a:off x="923315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9562338"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Monday</a:t>
            </a:r>
            <a:endParaRPr lang="en-US" sz="1250" dirty="0"/>
          </a:p>
        </p:txBody>
      </p:sp>
      <p:sp>
        <p:nvSpPr>
          <p:cNvPr id="69" name="Shape 66"/>
          <p:cNvSpPr/>
          <p:nvPr/>
        </p:nvSpPr>
        <p:spPr>
          <a:xfrm>
            <a:off x="9141714" y="2825496"/>
            <a:ext cx="2498598"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9233154" y="2862072"/>
            <a:ext cx="256032" cy="256032"/>
          </a:xfrm>
          <a:prstGeom prst="ellipse">
            <a:avLst/>
          </a:prstGeom>
          <a:solidFill>
            <a:srgbClr val="2E8B57"/>
          </a:solidFill>
          <a:ln w="12700">
            <a:solidFill>
              <a:srgbClr val="2E8B57"/>
            </a:solidFill>
            <a:prstDash val="solid"/>
          </a:ln>
        </p:spPr>
      </p:sp>
      <p:sp>
        <p:nvSpPr>
          <p:cNvPr id="71" name="Text 68"/>
          <p:cNvSpPr txBox="1"/>
          <p:nvPr/>
        </p:nvSpPr>
        <p:spPr>
          <a:xfrm>
            <a:off x="9233154"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2" name="Text 69"/>
          <p:cNvSpPr txBox="1"/>
          <p:nvPr/>
        </p:nvSpPr>
        <p:spPr>
          <a:xfrm>
            <a:off x="9562338" y="280416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Thursday</a:t>
            </a:r>
            <a:endParaRPr lang="en-US" sz="1250" dirty="0"/>
          </a:p>
        </p:txBody>
      </p:sp>
      <p:sp>
        <p:nvSpPr>
          <p:cNvPr id="73" name="Shape 70"/>
          <p:cNvSpPr/>
          <p:nvPr/>
        </p:nvSpPr>
        <p:spPr>
          <a:xfrm>
            <a:off x="9233154" y="3233928"/>
            <a:ext cx="256032" cy="256032"/>
          </a:xfrm>
          <a:prstGeom prst="ellipse">
            <a:avLst/>
          </a:prstGeom>
          <a:solidFill>
            <a:srgbClr val="C9CED6"/>
          </a:solidFill>
          <a:ln w="12700">
            <a:solidFill>
              <a:srgbClr val="C9CED6"/>
            </a:solidFill>
            <a:prstDash val="solid"/>
          </a:ln>
        </p:spPr>
      </p:sp>
      <p:sp>
        <p:nvSpPr>
          <p:cNvPr id="74" name="Text 71"/>
          <p:cNvSpPr txBox="1"/>
          <p:nvPr/>
        </p:nvSpPr>
        <p:spPr>
          <a:xfrm>
            <a:off x="923315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5" name="Text 72"/>
          <p:cNvSpPr txBox="1"/>
          <p:nvPr/>
        </p:nvSpPr>
        <p:spPr>
          <a:xfrm>
            <a:off x="9562338"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Tuesday</a:t>
            </a:r>
            <a:endParaRPr lang="en-US" sz="1250" dirty="0"/>
          </a:p>
        </p:txBody>
      </p:sp>
      <p:sp>
        <p:nvSpPr>
          <p:cNvPr id="76" name="Text 73"/>
          <p:cNvSpPr txBox="1"/>
          <p:nvPr/>
        </p:nvSpPr>
        <p:spPr>
          <a:xfrm>
            <a:off x="9178290"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يَوْمَ الخَمِيسِ.</a:t>
            </a:r>
            <a:endParaRPr lang="ar-SA" sz="1350" dirty="0"/>
          </a:p>
        </p:txBody>
      </p:sp>
      <p:sp>
        <p:nvSpPr>
          <p:cNvPr id="77" name="Shape 74"/>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585216"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80" name="Text 77"/>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long is reading club?</a:t>
            </a:r>
            <a:endParaRPr lang="en-US" sz="1250" dirty="0"/>
          </a:p>
        </p:txBody>
      </p:sp>
      <p:sp>
        <p:nvSpPr>
          <p:cNvPr id="81" name="Shape 78"/>
          <p:cNvSpPr/>
          <p:nvPr/>
        </p:nvSpPr>
        <p:spPr>
          <a:xfrm>
            <a:off x="548640" y="4794504"/>
            <a:ext cx="2498598"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640080"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4" name="Text 81"/>
          <p:cNvSpPr txBox="1"/>
          <p:nvPr/>
        </p:nvSpPr>
        <p:spPr>
          <a:xfrm>
            <a:off x="969264" y="4773168"/>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90 minutes</a:t>
            </a:r>
            <a:endParaRPr lang="en-US" sz="1250" dirty="0"/>
          </a:p>
        </p:txBody>
      </p:sp>
      <p:sp>
        <p:nvSpPr>
          <p:cNvPr id="85" name="Shape 82"/>
          <p:cNvSpPr/>
          <p:nvPr/>
        </p:nvSpPr>
        <p:spPr>
          <a:xfrm>
            <a:off x="640080"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7" name="Text 84"/>
          <p:cNvSpPr txBox="1"/>
          <p:nvPr/>
        </p:nvSpPr>
        <p:spPr>
          <a:xfrm>
            <a:off x="969264"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one hour</a:t>
            </a:r>
            <a:endParaRPr lang="en-US" sz="1250" dirty="0"/>
          </a:p>
        </p:txBody>
      </p:sp>
      <p:sp>
        <p:nvSpPr>
          <p:cNvPr id="88" name="Shape 85"/>
          <p:cNvSpPr/>
          <p:nvPr/>
        </p:nvSpPr>
        <p:spPr>
          <a:xfrm>
            <a:off x="640080"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0" name="Text 87"/>
          <p:cNvSpPr txBox="1"/>
          <p:nvPr/>
        </p:nvSpPr>
        <p:spPr>
          <a:xfrm>
            <a:off x="969264"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two hours</a:t>
            </a:r>
            <a:endParaRPr lang="en-US" sz="1250" dirty="0"/>
          </a:p>
        </p:txBody>
      </p:sp>
      <p:sp>
        <p:nvSpPr>
          <p:cNvPr id="91" name="Text 88"/>
          <p:cNvSpPr txBox="1"/>
          <p:nvPr/>
        </p:nvSpPr>
        <p:spPr>
          <a:xfrm>
            <a:off x="585216" y="5907024"/>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16:00 to 17:30 = 90 minutes.</a:t>
            </a:r>
            <a:endParaRPr lang="en-US" sz="1050" dirty="0"/>
          </a:p>
        </p:txBody>
      </p:sp>
      <p:sp>
        <p:nvSpPr>
          <p:cNvPr id="92" name="Shape 89"/>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3" name="Shape 90"/>
          <p:cNvSpPr/>
          <p:nvPr/>
        </p:nvSpPr>
        <p:spPr>
          <a:xfrm>
            <a:off x="3449574" y="4288536"/>
            <a:ext cx="310896" cy="310896"/>
          </a:xfrm>
          <a:prstGeom prst="ellipse">
            <a:avLst/>
          </a:prstGeom>
          <a:solidFill>
            <a:srgbClr val="1B3B6F"/>
          </a:solidFill>
          <a:ln w="12700">
            <a:solidFill>
              <a:srgbClr val="1B3B6F"/>
            </a:solidFill>
            <a:prstDash val="solid"/>
          </a:ln>
        </p:spPr>
      </p:sp>
      <p:sp>
        <p:nvSpPr>
          <p:cNvPr id="94" name="Text 91"/>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5" name="Text 92"/>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instruction applies to everyone?</a:t>
            </a:r>
            <a:endParaRPr lang="en-US" sz="1250" dirty="0"/>
          </a:p>
        </p:txBody>
      </p:sp>
      <p:sp>
        <p:nvSpPr>
          <p:cNvPr id="96" name="Shape 93"/>
          <p:cNvSpPr/>
          <p:nvPr/>
        </p:nvSpPr>
        <p:spPr>
          <a:xfrm>
            <a:off x="3504438" y="4831080"/>
            <a:ext cx="256032" cy="256032"/>
          </a:xfrm>
          <a:prstGeom prst="ellipse">
            <a:avLst/>
          </a:prstGeom>
          <a:solidFill>
            <a:srgbClr val="C9CED6"/>
          </a:solidFill>
          <a:ln w="12700">
            <a:solidFill>
              <a:srgbClr val="C9CED6"/>
            </a:solidFill>
            <a:prstDash val="solid"/>
          </a:ln>
        </p:spPr>
      </p:sp>
      <p:sp>
        <p:nvSpPr>
          <p:cNvPr id="97" name="Text 94"/>
          <p:cNvSpPr txBox="1"/>
          <p:nvPr/>
        </p:nvSpPr>
        <p:spPr>
          <a:xfrm>
            <a:off x="350443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98" name="Text 95"/>
          <p:cNvSpPr txBox="1"/>
          <p:nvPr/>
        </p:nvSpPr>
        <p:spPr>
          <a:xfrm>
            <a:off x="3833622" y="4773168"/>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bring food</a:t>
            </a:r>
            <a:endParaRPr lang="en-US" sz="1250" dirty="0"/>
          </a:p>
        </p:txBody>
      </p:sp>
      <p:sp>
        <p:nvSpPr>
          <p:cNvPr id="99" name="Shape 96"/>
          <p:cNvSpPr/>
          <p:nvPr/>
        </p:nvSpPr>
        <p:spPr>
          <a:xfrm>
            <a:off x="3504438" y="5202936"/>
            <a:ext cx="256032" cy="256032"/>
          </a:xfrm>
          <a:prstGeom prst="ellipse">
            <a:avLst/>
          </a:prstGeom>
          <a:solidFill>
            <a:srgbClr val="C9CED6"/>
          </a:solidFill>
          <a:ln w="12700">
            <a:solidFill>
              <a:srgbClr val="C9CED6"/>
            </a:solidFill>
            <a:prstDash val="solid"/>
          </a:ln>
        </p:spPr>
      </p:sp>
      <p:sp>
        <p:nvSpPr>
          <p:cNvPr id="100" name="Text 97"/>
          <p:cNvSpPr txBox="1"/>
          <p:nvPr/>
        </p:nvSpPr>
        <p:spPr>
          <a:xfrm>
            <a:off x="3504438"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101" name="Text 98"/>
          <p:cNvSpPr txBox="1"/>
          <p:nvPr/>
        </p:nvSpPr>
        <p:spPr>
          <a:xfrm>
            <a:off x="3833622"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leave before the end</a:t>
            </a:r>
            <a:endParaRPr lang="en-US" sz="1250" dirty="0"/>
          </a:p>
        </p:txBody>
      </p:sp>
      <p:sp>
        <p:nvSpPr>
          <p:cNvPr id="102" name="Shape 99"/>
          <p:cNvSpPr/>
          <p:nvPr/>
        </p:nvSpPr>
        <p:spPr>
          <a:xfrm>
            <a:off x="3412998" y="5538216"/>
            <a:ext cx="2498598" cy="347472"/>
          </a:xfrm>
          <a:prstGeom prst="roundRect">
            <a:avLst>
              <a:gd name="adj" fmla="val 15789"/>
            </a:avLst>
          </a:prstGeom>
          <a:solidFill>
            <a:srgbClr val="E6F4EC"/>
          </a:solidFill>
          <a:ln w="9525">
            <a:solidFill>
              <a:srgbClr val="2E8B57"/>
            </a:solidFill>
            <a:prstDash val="solid"/>
          </a:ln>
        </p:spPr>
      </p:sp>
      <p:sp>
        <p:nvSpPr>
          <p:cNvPr id="103" name="Shape 100"/>
          <p:cNvSpPr/>
          <p:nvPr/>
        </p:nvSpPr>
        <p:spPr>
          <a:xfrm>
            <a:off x="3504438" y="5574792"/>
            <a:ext cx="256032" cy="256032"/>
          </a:xfrm>
          <a:prstGeom prst="ellipse">
            <a:avLst/>
          </a:prstGeom>
          <a:solidFill>
            <a:srgbClr val="2E8B57"/>
          </a:solidFill>
          <a:ln w="12700">
            <a:solidFill>
              <a:srgbClr val="2E8B57"/>
            </a:solidFill>
            <a:prstDash val="solid"/>
          </a:ln>
        </p:spPr>
      </p:sp>
      <p:sp>
        <p:nvSpPr>
          <p:cNvPr id="104" name="Text 101"/>
          <p:cNvSpPr txBox="1"/>
          <p:nvPr/>
        </p:nvSpPr>
        <p:spPr>
          <a:xfrm>
            <a:off x="3504438"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105" name="Text 102"/>
          <p:cNvSpPr txBox="1"/>
          <p:nvPr/>
        </p:nvSpPr>
        <p:spPr>
          <a:xfrm>
            <a:off x="3833622" y="551688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arrive ten minutes early</a:t>
            </a:r>
            <a:endParaRPr lang="en-US" sz="1250" dirty="0"/>
          </a:p>
        </p:txBody>
      </p:sp>
      <p:sp>
        <p:nvSpPr>
          <p:cNvPr id="106" name="Text 103"/>
          <p:cNvSpPr txBox="1"/>
          <p:nvPr/>
        </p:nvSpPr>
        <p:spPr>
          <a:xfrm>
            <a:off x="3449574"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الحُضُورُ قَبْلَ البَدْءِ بِعَشْرِ دَقَائِقَ.</a:t>
            </a:r>
            <a:endParaRPr lang="ar-SA" sz="1350" dirty="0"/>
          </a:p>
        </p:txBody>
      </p:sp>
      <p:sp>
        <p:nvSpPr>
          <p:cNvPr id="107" name="Shape 104"/>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08" name="Text 105"/>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109" name="Text 106"/>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110" name="Text 10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42 / 46</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D1-L02 · Telling the Time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WEBSITE MISSION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Arabic time decoder</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المُهِمَّةُ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D1-L02</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Arabic for 7:15.</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السَّاعَةُ السَّابِعَةُ وَالنِّصْفُ.</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السَّاعَةُ السَّابِعَةُ وَالرُّبْعُ.</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السَّاعَةُ الثَّامِنَةُ إِلَّا الرُّبْعَ.</a:t>
            </a:r>
            <a:endParaRPr lang="ar-SA" sz="2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Arabic for 10:50.</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1700" dirty="0">
                <a:solidFill>
                  <a:srgbClr val="1F2A37"/>
                </a:solidFill>
                <a:latin typeface="Amiri" pitchFamily="2" charset="-78"/>
                <a:cs typeface="Amiri" pitchFamily="2" charset="-78"/>
              </a:rPr>
              <a:t>السَّاعَةُ الحَادِيَةَ عَشْرَةَ إِلَّا عَشْرَ دَقَائِقَ.</a:t>
            </a:r>
            <a:endParaRPr lang="ar-SA" sz="170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1700" dirty="0">
                <a:solidFill>
                  <a:srgbClr val="1F2A37"/>
                </a:solidFill>
                <a:latin typeface="Amiri" pitchFamily="2" charset="-78"/>
                <a:cs typeface="Amiri" pitchFamily="2" charset="-78"/>
              </a:rPr>
              <a:t>السَّاعَةُ العَاشِرَةُ وَعَشْرُ دَقَائِقَ.</a:t>
            </a:r>
            <a:endParaRPr lang="ar-SA" sz="170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1700" dirty="0">
                <a:solidFill>
                  <a:srgbClr val="1F2A37"/>
                </a:solidFill>
                <a:latin typeface="Amiri" pitchFamily="2" charset="-78"/>
                <a:cs typeface="Amiri" pitchFamily="2" charset="-78"/>
              </a:rPr>
              <a:t>السَّاعَةُ العَاشِرَةُ إِلَّا عَشْرَ دَقَائِقَ.</a:t>
            </a:r>
            <a:endParaRPr lang="ar-SA" sz="170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 timetable shows 14:30. Which sentence is accurate?</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1350" dirty="0">
                <a:solidFill>
                  <a:srgbClr val="1F2A37"/>
                </a:solidFill>
                <a:latin typeface="Amiri" pitchFamily="2" charset="-78"/>
                <a:cs typeface="Amiri" pitchFamily="2" charset="-78"/>
              </a:rPr>
              <a:t>يَبْدَأُ النَّشَاطُ فِي السَّاعَةِ الرَّابِعَةِ وَالنِّصْفِ صَبَاحًا.</a:t>
            </a:r>
            <a:endParaRPr lang="ar-SA" sz="13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1350" dirty="0">
                <a:solidFill>
                  <a:srgbClr val="1F2A37"/>
                </a:solidFill>
                <a:latin typeface="Amiri" pitchFamily="2" charset="-78"/>
                <a:cs typeface="Amiri" pitchFamily="2" charset="-78"/>
              </a:rPr>
              <a:t>يَنْتَهِي النَّشَاطُ مُدَّةَ الرَّابِعَةَ عَشْرَةَ.</a:t>
            </a:r>
            <a:endParaRPr lang="ar-SA" sz="13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1350" dirty="0">
                <a:solidFill>
                  <a:srgbClr val="1F2A37"/>
                </a:solidFill>
                <a:latin typeface="Amiri" pitchFamily="2" charset="-78"/>
                <a:cs typeface="Amiri" pitchFamily="2" charset="-78"/>
              </a:rPr>
              <a:t>يَبْدَأُ النَّشَاطُ فِي السَّاعَةِ الرَّابِعَةَ عَشْرَةَ وَالنِّصْفِ.</a:t>
            </a:r>
            <a:endParaRPr lang="ar-SA" sz="13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 lesson runs from 8:00 to 8:45. Choose the duration sentence.</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1700" dirty="0">
                <a:solidFill>
                  <a:srgbClr val="1F2A37"/>
                </a:solidFill>
                <a:latin typeface="Amiri" pitchFamily="2" charset="-78"/>
                <a:cs typeface="Amiri" pitchFamily="2" charset="-78"/>
              </a:rPr>
              <a:t>يَبْدَأُ الدَّرْسُ فِي الثَّامِنَةِ.</a:t>
            </a:r>
            <a:endParaRPr lang="ar-SA" sz="170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1700" dirty="0">
                <a:solidFill>
                  <a:srgbClr val="1F2A37"/>
                </a:solidFill>
                <a:latin typeface="Amiri" pitchFamily="2" charset="-78"/>
                <a:cs typeface="Amiri" pitchFamily="2" charset="-78"/>
              </a:rPr>
              <a:t>يَنْتَهِي الدَّرْسُ فِي الثَّامِنَةِ.</a:t>
            </a:r>
            <a:endParaRPr lang="ar-SA" sz="170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1700" dirty="0">
                <a:solidFill>
                  <a:srgbClr val="1F2A37"/>
                </a:solidFill>
                <a:latin typeface="Amiri" pitchFamily="2" charset="-78"/>
                <a:cs typeface="Amiri" pitchFamily="2" charset="-78"/>
              </a:rPr>
              <a:t>يَسْتَمِرُّ الدَّرْسُ مُدَّةَ خَمْسٍ وَأَرْبَعِينَ دَقِيقَةً.</a:t>
            </a:r>
            <a:endParaRPr lang="ar-SA" sz="170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question asks when the lesson finishes?</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مَتَى يَنْتَهِي الدَّرْسُ؟</a:t>
            </a:r>
            <a:endParaRPr lang="ar-SA" sz="20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كَمْ مُدَّةُ الدَّرْسِ؟</a:t>
            </a:r>
            <a:endParaRPr lang="ar-SA" sz="20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مَتَى يَبْدَأُ الدَّرْسُ؟</a:t>
            </a:r>
            <a:endParaRPr lang="ar-SA" sz="2050" dirty="0"/>
          </a:p>
        </p:txBody>
      </p:sp>
      <p:sp>
        <p:nvSpPr>
          <p:cNvPr id="82" name="Shape 7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8223504" y="4288536"/>
            <a:ext cx="310896" cy="310896"/>
          </a:xfrm>
          <a:prstGeom prst="ellipse">
            <a:avLst/>
          </a:prstGeom>
          <a:solidFill>
            <a:srgbClr val="1B3B6F"/>
          </a:solidFill>
          <a:ln w="12700">
            <a:solidFill>
              <a:srgbClr val="1B3B6F"/>
            </a:solidFill>
            <a:prstDash val="solid"/>
          </a:ln>
        </p:spPr>
      </p:sp>
      <p:sp>
        <p:nvSpPr>
          <p:cNvPr id="84" name="Text 8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5" name="Text 82"/>
          <p:cNvSpPr txBox="1"/>
          <p:nvPr/>
        </p:nvSpPr>
        <p:spPr>
          <a:xfrm>
            <a:off x="8589264"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Read:</a:t>
            </a:r>
            <a:endParaRPr lang="en-US" sz="1200" dirty="0"/>
          </a:p>
        </p:txBody>
      </p:sp>
      <p:sp>
        <p:nvSpPr>
          <p:cNvPr id="86" name="Text 83"/>
          <p:cNvSpPr txBox="1"/>
          <p:nvPr/>
        </p:nvSpPr>
        <p:spPr>
          <a:xfrm>
            <a:off x="10044989" y="4224528"/>
            <a:ext cx="1577035" cy="475488"/>
          </a:xfrm>
          <a:prstGeom prst="rect">
            <a:avLst/>
          </a:prstGeom>
          <a:noFill/>
          <a:ln/>
        </p:spPr>
        <p:txBody>
          <a:bodyPr wrap="square" lIns="0" tIns="0" rIns="0" bIns="0" rtlCol="0" anchor="ctr"/>
          <a:lstStyle/>
          <a:p>
            <a:pPr algn="l" indent="0" marL="0">
              <a:buNone/>
            </a:pPr>
            <a:r>
              <a:rPr lang="ar-SA" altLang="en-US" sz="1300" b="1" dirty="0">
                <a:solidFill>
                  <a:srgbClr val="1F2A37"/>
                </a:solidFill>
                <a:latin typeface="Amiri" pitchFamily="2" charset="-78"/>
                <a:cs typeface="Amiri" pitchFamily="2" charset="-78"/>
              </a:rPr>
              <a:t>يَنْطَلِقُ القِطَارُ فِي الخَامِسَةِ إِلَّا الرُّبْعَ</a:t>
            </a:r>
            <a:pPr algn="l" indent="0" marL="0">
              <a:buNone/>
            </a:pPr>
            <a:r>
              <a:rPr lang="en-US" sz="1000" b="1" dirty="0">
                <a:solidFill>
                  <a:srgbClr val="1F2A37"/>
                </a:solidFill>
                <a:latin typeface="Calibri" pitchFamily="34" charset="0"/>
                <a:cs typeface="Amiri" pitchFamily="2" charset="-78"/>
              </a:rPr>
              <a:t>. What time does it leave?</a:t>
            </a:r>
            <a:endParaRPr lang="en-US" sz="1000" dirty="0"/>
          </a:p>
        </p:txBody>
      </p:sp>
      <p:sp>
        <p:nvSpPr>
          <p:cNvPr id="87" name="Shape 84"/>
          <p:cNvSpPr/>
          <p:nvPr/>
        </p:nvSpPr>
        <p:spPr>
          <a:xfrm>
            <a:off x="8278368" y="4873752"/>
            <a:ext cx="256032" cy="256032"/>
          </a:xfrm>
          <a:prstGeom prst="ellipse">
            <a:avLst/>
          </a:prstGeom>
          <a:solidFill>
            <a:srgbClr val="F4F1EA"/>
          </a:solidFill>
          <a:ln w="12700">
            <a:solidFill>
              <a:srgbClr val="F4F1EA"/>
            </a:solidFill>
            <a:prstDash val="solid"/>
          </a:ln>
        </p:spPr>
      </p:sp>
      <p:sp>
        <p:nvSpPr>
          <p:cNvPr id="88" name="Text 85"/>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9" name="Text 86"/>
          <p:cNvSpPr txBox="1"/>
          <p:nvPr/>
        </p:nvSpPr>
        <p:spPr>
          <a:xfrm>
            <a:off x="8607552"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4:15</a:t>
            </a:r>
            <a:endParaRPr lang="en-US" sz="1250" dirty="0"/>
          </a:p>
        </p:txBody>
      </p:sp>
      <p:sp>
        <p:nvSpPr>
          <p:cNvPr id="90" name="Shape 87"/>
          <p:cNvSpPr/>
          <p:nvPr/>
        </p:nvSpPr>
        <p:spPr>
          <a:xfrm>
            <a:off x="8278368" y="5330952"/>
            <a:ext cx="256032" cy="256032"/>
          </a:xfrm>
          <a:prstGeom prst="ellipse">
            <a:avLst/>
          </a:prstGeom>
          <a:solidFill>
            <a:srgbClr val="F4F1EA"/>
          </a:solidFill>
          <a:ln w="12700">
            <a:solidFill>
              <a:srgbClr val="F4F1EA"/>
            </a:solidFill>
            <a:prstDash val="solid"/>
          </a:ln>
        </p:spPr>
      </p:sp>
      <p:sp>
        <p:nvSpPr>
          <p:cNvPr id="91" name="Text 88"/>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92" name="Text 89"/>
          <p:cNvSpPr txBox="1"/>
          <p:nvPr/>
        </p:nvSpPr>
        <p:spPr>
          <a:xfrm>
            <a:off x="8607552"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4:45</a:t>
            </a:r>
            <a:endParaRPr lang="en-US" sz="1250" dirty="0"/>
          </a:p>
        </p:txBody>
      </p:sp>
      <p:sp>
        <p:nvSpPr>
          <p:cNvPr id="93" name="Shape 90"/>
          <p:cNvSpPr/>
          <p:nvPr/>
        </p:nvSpPr>
        <p:spPr>
          <a:xfrm>
            <a:off x="8278368" y="5788152"/>
            <a:ext cx="256032" cy="256032"/>
          </a:xfrm>
          <a:prstGeom prst="ellipse">
            <a:avLst/>
          </a:prstGeom>
          <a:solidFill>
            <a:srgbClr val="F4F1EA"/>
          </a:solidFill>
          <a:ln w="12700">
            <a:solidFill>
              <a:srgbClr val="F4F1EA"/>
            </a:solidFill>
            <a:prstDash val="solid"/>
          </a:ln>
        </p:spPr>
      </p:sp>
      <p:sp>
        <p:nvSpPr>
          <p:cNvPr id="94" name="Text 91"/>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5" name="Text 92"/>
          <p:cNvSpPr txBox="1"/>
          <p:nvPr/>
        </p:nvSpPr>
        <p:spPr>
          <a:xfrm>
            <a:off x="8607552"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5:15</a:t>
            </a:r>
            <a:endParaRPr lang="en-US" sz="1250" dirty="0"/>
          </a:p>
        </p:txBody>
      </p:sp>
      <p:sp>
        <p:nvSpPr>
          <p:cNvPr id="96" name="Text 9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43 / 46</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D1-L02 · Telling the Time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MISSION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Mission: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D1-L02</a:t>
            </a:r>
            <a:endParaRPr lang="en-US" sz="850" dirty="0"/>
          </a:p>
        </p:txBody>
      </p:sp>
      <p:sp>
        <p:nvSpPr>
          <p:cNvPr id="16"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7"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8"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9"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Arabic for 7:15.</a:t>
            </a:r>
            <a:endParaRPr lang="en-US" sz="1250" dirty="0"/>
          </a:p>
        </p:txBody>
      </p:sp>
      <p:sp>
        <p:nvSpPr>
          <p:cNvPr id="20"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20"/>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السَّاعَةُ السَّابِعَةُ وَالنِّصْفُ.</a:t>
            </a:r>
            <a:endParaRPr lang="ar-SA" sz="1700" dirty="0"/>
          </a:p>
        </p:txBody>
      </p:sp>
      <p:sp>
        <p:nvSpPr>
          <p:cNvPr id="23"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4"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5"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6" name="Text 24"/>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السَّاعَةُ السَّابِعَةُ وَالرُّبْعُ.</a:t>
            </a:r>
            <a:endParaRPr lang="ar-SA" sz="1700" dirty="0"/>
          </a:p>
        </p:txBody>
      </p:sp>
      <p:sp>
        <p:nvSpPr>
          <p:cNvPr id="27"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8"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7"/>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السَّاعَةُ الثَّامِنَةُ إِلَّا الرُّبْعَ.</a:t>
            </a:r>
            <a:endParaRPr lang="ar-SA" sz="1700" dirty="0"/>
          </a:p>
        </p:txBody>
      </p:sp>
      <p:sp>
        <p:nvSpPr>
          <p:cNvPr id="30" name="Text 28"/>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For quarter past, keep the current hour and add </a:t>
            </a:r>
            <a:pPr algn="l" indent="0" marL="0">
              <a:buNone/>
            </a:pPr>
            <a:r>
              <a:rPr lang="ar-SA" altLang="en-US" sz="1350" dirty="0">
                <a:solidFill>
                  <a:srgbClr val="8A6D1E"/>
                </a:solidFill>
                <a:latin typeface="Amiri" pitchFamily="2" charset="-78"/>
                <a:cs typeface="Amiri" pitchFamily="2" charset="-78"/>
              </a:rPr>
              <a:t>وَالرُّبْعُ</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1"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4"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Arabic for 10:50.</a:t>
            </a:r>
            <a:endParaRPr lang="en-US" sz="1250" dirty="0"/>
          </a:p>
        </p:txBody>
      </p:sp>
      <p:sp>
        <p:nvSpPr>
          <p:cNvPr id="35" name="Shape 33"/>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6" name="Shape 34"/>
          <p:cNvSpPr/>
          <p:nvPr/>
        </p:nvSpPr>
        <p:spPr>
          <a:xfrm>
            <a:off x="4459224" y="2490216"/>
            <a:ext cx="256032" cy="256032"/>
          </a:xfrm>
          <a:prstGeom prst="ellipse">
            <a:avLst/>
          </a:prstGeom>
          <a:solidFill>
            <a:srgbClr val="2E8B57"/>
          </a:solidFill>
          <a:ln w="12700">
            <a:solidFill>
              <a:srgbClr val="2E8B57"/>
            </a:solidFill>
            <a:prstDash val="solid"/>
          </a:ln>
        </p:spPr>
      </p:sp>
      <p:sp>
        <p:nvSpPr>
          <p:cNvPr id="37" name="Text 35"/>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8" name="Text 36"/>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السَّاعَةُ الحَادِيَةَ عَشْرَةَ إِلَّا عَشْرَ دَقَائِقَ.</a:t>
            </a:r>
            <a:endParaRPr lang="ar-SA" sz="1700" dirty="0"/>
          </a:p>
        </p:txBody>
      </p:sp>
      <p:sp>
        <p:nvSpPr>
          <p:cNvPr id="39" name="Shape 37"/>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8"/>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9"/>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السَّاعَةُ العَاشِرَةُ وَعَشْرُ دَقَائِقَ.</a:t>
            </a:r>
            <a:endParaRPr lang="ar-SA" sz="1700" dirty="0"/>
          </a:p>
        </p:txBody>
      </p:sp>
      <p:sp>
        <p:nvSpPr>
          <p:cNvPr id="42" name="Shape 40"/>
          <p:cNvSpPr/>
          <p:nvPr/>
        </p:nvSpPr>
        <p:spPr>
          <a:xfrm>
            <a:off x="4459224" y="3233928"/>
            <a:ext cx="256032" cy="256032"/>
          </a:xfrm>
          <a:prstGeom prst="ellipse">
            <a:avLst/>
          </a:prstGeom>
          <a:solidFill>
            <a:srgbClr val="C9CED6"/>
          </a:solidFill>
          <a:ln w="12700">
            <a:solidFill>
              <a:srgbClr val="C9CED6"/>
            </a:solidFill>
            <a:prstDash val="solid"/>
          </a:ln>
        </p:spPr>
      </p:sp>
      <p:sp>
        <p:nvSpPr>
          <p:cNvPr id="43"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4" name="Text 42"/>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السَّاعَةُ العَاشِرَةُ إِلَّا عَشْرَ دَقَائِقَ.</a:t>
            </a:r>
            <a:endParaRPr lang="ar-SA" sz="1700" dirty="0"/>
          </a:p>
        </p:txBody>
      </p:sp>
      <p:sp>
        <p:nvSpPr>
          <p:cNvPr id="45" name="Text 43"/>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After half past, name the next hour and subtract the remaining minutes.</a:t>
            </a:r>
            <a:endParaRPr lang="en-US" sz="1050" dirty="0"/>
          </a:p>
        </p:txBody>
      </p:sp>
      <p:sp>
        <p:nvSpPr>
          <p:cNvPr id="46"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8"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9"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 timetable shows 14:30. Which sentence is accurate?</a:t>
            </a:r>
            <a:endParaRPr lang="en-US" sz="1250" dirty="0"/>
          </a:p>
        </p:txBody>
      </p:sp>
      <p:sp>
        <p:nvSpPr>
          <p:cNvPr id="50" name="Shape 48"/>
          <p:cNvSpPr/>
          <p:nvPr/>
        </p:nvSpPr>
        <p:spPr>
          <a:xfrm>
            <a:off x="8278368" y="2490216"/>
            <a:ext cx="256032" cy="256032"/>
          </a:xfrm>
          <a:prstGeom prst="ellipse">
            <a:avLst/>
          </a:prstGeom>
          <a:solidFill>
            <a:srgbClr val="C9CED6"/>
          </a:solidFill>
          <a:ln w="12700">
            <a:solidFill>
              <a:srgbClr val="C9CED6"/>
            </a:solidFill>
            <a:prstDash val="solid"/>
          </a:ln>
        </p:spPr>
      </p:sp>
      <p:sp>
        <p:nvSpPr>
          <p:cNvPr id="51" name="Text 49"/>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2" name="Text 50"/>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350" dirty="0">
                <a:solidFill>
                  <a:srgbClr val="9AA1AB"/>
                </a:solidFill>
                <a:latin typeface="Amiri" pitchFamily="2" charset="-78"/>
                <a:cs typeface="Amiri" pitchFamily="2" charset="-78"/>
              </a:rPr>
              <a:t>يَبْدَأُ النَّشَاطُ فِي السَّاعَةِ الرَّابِعَةِ وَالنِّصْفِ صَبَاحًا.</a:t>
            </a:r>
            <a:endParaRPr lang="ar-SA" sz="1350" dirty="0"/>
          </a:p>
        </p:txBody>
      </p:sp>
      <p:sp>
        <p:nvSpPr>
          <p:cNvPr id="53" name="Shape 51"/>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2"/>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3"/>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350" dirty="0">
                <a:solidFill>
                  <a:srgbClr val="9AA1AB"/>
                </a:solidFill>
                <a:latin typeface="Amiri" pitchFamily="2" charset="-78"/>
                <a:cs typeface="Amiri" pitchFamily="2" charset="-78"/>
              </a:rPr>
              <a:t>يَنْتَهِي النَّشَاطُ مُدَّةَ الرَّابِعَةَ عَشْرَةَ.</a:t>
            </a:r>
            <a:endParaRPr lang="ar-SA" sz="1350" dirty="0"/>
          </a:p>
        </p:txBody>
      </p:sp>
      <p:sp>
        <p:nvSpPr>
          <p:cNvPr id="56" name="Shape 54"/>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7" name="Shape 55"/>
          <p:cNvSpPr/>
          <p:nvPr/>
        </p:nvSpPr>
        <p:spPr>
          <a:xfrm>
            <a:off x="8278368" y="3233928"/>
            <a:ext cx="256032" cy="256032"/>
          </a:xfrm>
          <a:prstGeom prst="ellipse">
            <a:avLst/>
          </a:prstGeom>
          <a:solidFill>
            <a:srgbClr val="2E8B57"/>
          </a:solidFill>
          <a:ln w="12700">
            <a:solidFill>
              <a:srgbClr val="2E8B57"/>
            </a:solidFill>
            <a:prstDash val="solid"/>
          </a:ln>
        </p:spPr>
      </p:sp>
      <p:sp>
        <p:nvSpPr>
          <p:cNvPr id="58"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9" name="Text 57"/>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350" b="1" dirty="0">
                <a:solidFill>
                  <a:srgbClr val="1F2A37"/>
                </a:solidFill>
                <a:latin typeface="Amiri" pitchFamily="2" charset="-78"/>
                <a:cs typeface="Amiri" pitchFamily="2" charset="-78"/>
              </a:rPr>
              <a:t>يَبْدَأُ النَّشَاطُ فِي السَّاعَةِ الرَّابِعَةَ عَشْرَةَ وَالنِّصْفِ.</a:t>
            </a:r>
            <a:endParaRPr lang="ar-SA" sz="1350" dirty="0"/>
          </a:p>
        </p:txBody>
      </p:sp>
      <p:sp>
        <p:nvSpPr>
          <p:cNvPr id="60" name="Text 58"/>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 24-hour timetable may state the numbered hour directly: </a:t>
            </a:r>
            <a:pPr algn="l" indent="0" marL="0">
              <a:buNone/>
            </a:pPr>
            <a:r>
              <a:rPr lang="ar-SA" altLang="en-US" sz="1350" dirty="0">
                <a:solidFill>
                  <a:srgbClr val="8A6D1E"/>
                </a:solidFill>
                <a:latin typeface="Amiri" pitchFamily="2" charset="-78"/>
                <a:cs typeface="Amiri" pitchFamily="2" charset="-78"/>
              </a:rPr>
              <a:t>الرَّابِعَةَ عَشْرَةَ وَالنِّصْفُ</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61"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3"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4"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 lesson runs from 8:00 to 8:45. Choose the duration sentence.</a:t>
            </a:r>
            <a:endParaRPr lang="en-US" sz="1250" dirty="0"/>
          </a:p>
        </p:txBody>
      </p:sp>
      <p:sp>
        <p:nvSpPr>
          <p:cNvPr id="65"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6"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7" name="Text 65"/>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يَبْدَأُ الدَّرْسُ فِي الثَّامِنَةِ.</a:t>
            </a:r>
            <a:endParaRPr lang="ar-SA" sz="1700" dirty="0"/>
          </a:p>
        </p:txBody>
      </p:sp>
      <p:sp>
        <p:nvSpPr>
          <p:cNvPr id="68" name="Shape 66"/>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7"/>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8"/>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يَنْتَهِي الدَّرْسُ فِي الثَّامِنَةِ.</a:t>
            </a:r>
            <a:endParaRPr lang="ar-SA" sz="1700" dirty="0"/>
          </a:p>
        </p:txBody>
      </p:sp>
      <p:sp>
        <p:nvSpPr>
          <p:cNvPr id="71" name="Shape 69"/>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2" name="Shape 70"/>
          <p:cNvSpPr/>
          <p:nvPr/>
        </p:nvSpPr>
        <p:spPr>
          <a:xfrm>
            <a:off x="640080" y="5574792"/>
            <a:ext cx="256032" cy="256032"/>
          </a:xfrm>
          <a:prstGeom prst="ellipse">
            <a:avLst/>
          </a:prstGeom>
          <a:solidFill>
            <a:srgbClr val="2E8B57"/>
          </a:solidFill>
          <a:ln w="12700">
            <a:solidFill>
              <a:srgbClr val="2E8B57"/>
            </a:solidFill>
            <a:prstDash val="solid"/>
          </a:ln>
        </p:spPr>
      </p:sp>
      <p:sp>
        <p:nvSpPr>
          <p:cNvPr id="73"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4" name="Text 72"/>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يَسْتَمِرُّ الدَّرْسُ مُدَّةَ خَمْسٍ وَأَرْبَعِينَ دَقِيقَةً.</a:t>
            </a:r>
            <a:endParaRPr lang="ar-SA" sz="1700" dirty="0"/>
          </a:p>
        </p:txBody>
      </p:sp>
      <p:sp>
        <p:nvSpPr>
          <p:cNvPr id="75" name="Text 73"/>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Duration is expressed with </a:t>
            </a:r>
            <a:pPr algn="l" indent="0" marL="0">
              <a:buNone/>
            </a:pPr>
            <a:r>
              <a:rPr lang="ar-SA" altLang="en-US" sz="1350" dirty="0">
                <a:solidFill>
                  <a:srgbClr val="8A6D1E"/>
                </a:solidFill>
                <a:latin typeface="Amiri" pitchFamily="2" charset="-78"/>
                <a:cs typeface="Amiri" pitchFamily="2" charset="-78"/>
              </a:rPr>
              <a:t>يَسْتَمِرُّ مُدَّةَ</a:t>
            </a:r>
            <a:pPr algn="l" indent="0" marL="0">
              <a:buNone/>
            </a:pPr>
            <a:r>
              <a:rPr lang="en-US" sz="1050" i="1" dirty="0">
                <a:solidFill>
                  <a:srgbClr val="8A6D1E"/>
                </a:solidFill>
                <a:latin typeface="Calibri" pitchFamily="34" charset="0"/>
                <a:cs typeface="Amiri" pitchFamily="2" charset="-78"/>
              </a:rPr>
              <a:t>, not merely the start or finish time.</a:t>
            </a:r>
            <a:endParaRPr lang="en-US" sz="1050" dirty="0"/>
          </a:p>
        </p:txBody>
      </p:sp>
      <p:sp>
        <p:nvSpPr>
          <p:cNvPr id="76"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7"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8"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9"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question asks when the lesson finishes?</a:t>
            </a:r>
            <a:endParaRPr lang="en-US" sz="1250" dirty="0"/>
          </a:p>
        </p:txBody>
      </p:sp>
      <p:sp>
        <p:nvSpPr>
          <p:cNvPr id="80"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1"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2"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3" name="Text 81"/>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مَتَى يَنْتَهِي الدَّرْسُ؟</a:t>
            </a:r>
            <a:endParaRPr lang="ar-SA" sz="1700" dirty="0"/>
          </a:p>
        </p:txBody>
      </p:sp>
      <p:sp>
        <p:nvSpPr>
          <p:cNvPr id="84"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5"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6" name="Text 84"/>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كَمْ مُدَّةُ الدَّرْسِ؟</a:t>
            </a:r>
            <a:endParaRPr lang="ar-SA" sz="1700" dirty="0"/>
          </a:p>
        </p:txBody>
      </p:sp>
      <p:sp>
        <p:nvSpPr>
          <p:cNvPr id="87"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8"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9" name="Text 87"/>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مَتَى يَبْدَأُ الدَّرْسُ؟</a:t>
            </a:r>
            <a:endParaRPr lang="ar-SA" sz="1700" dirty="0"/>
          </a:p>
        </p:txBody>
      </p:sp>
      <p:sp>
        <p:nvSpPr>
          <p:cNvPr id="90" name="Text 88"/>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يَنْتَهِي</a:t>
            </a:r>
            <a:pPr algn="l" indent="0" marL="0">
              <a:buNone/>
            </a:pPr>
            <a:r>
              <a:rPr lang="en-US" sz="1050" i="1" dirty="0">
                <a:solidFill>
                  <a:srgbClr val="8A6D1E"/>
                </a:solidFill>
                <a:latin typeface="Calibri" pitchFamily="34" charset="0"/>
                <a:cs typeface="Amiri" pitchFamily="2" charset="-78"/>
              </a:rPr>
              <a:t> means “finishes”; </a:t>
            </a:r>
            <a:pPr algn="l" indent="0" marL="0">
              <a:buNone/>
            </a:pPr>
            <a:r>
              <a:rPr lang="ar-SA" altLang="en-US" sz="1350" dirty="0">
                <a:solidFill>
                  <a:srgbClr val="8A6D1E"/>
                </a:solidFill>
                <a:latin typeface="Amiri" pitchFamily="2" charset="-78"/>
                <a:cs typeface="Amiri" pitchFamily="2" charset="-78"/>
              </a:rPr>
              <a:t>يَبْدَأُ</a:t>
            </a:r>
            <a:pPr algn="l" indent="0" marL="0">
              <a:buNone/>
            </a:pPr>
            <a:r>
              <a:rPr lang="en-US" sz="1050" i="1" dirty="0">
                <a:solidFill>
                  <a:srgbClr val="8A6D1E"/>
                </a:solidFill>
                <a:latin typeface="Calibri" pitchFamily="34" charset="0"/>
                <a:cs typeface="Amiri" pitchFamily="2" charset="-78"/>
              </a:rPr>
              <a:t> asks for the start and </a:t>
            </a:r>
            <a:pPr algn="l" indent="0" marL="0">
              <a:buNone/>
            </a:pPr>
            <a:r>
              <a:rPr lang="ar-SA" altLang="en-US" sz="1350" dirty="0">
                <a:solidFill>
                  <a:srgbClr val="8A6D1E"/>
                </a:solidFill>
                <a:latin typeface="Amiri" pitchFamily="2" charset="-78"/>
                <a:cs typeface="Amiri" pitchFamily="2" charset="-78"/>
              </a:rPr>
              <a:t>مُدَّة</a:t>
            </a:r>
            <a:pPr algn="l" indent="0" marL="0">
              <a:buNone/>
            </a:pPr>
            <a:r>
              <a:rPr lang="en-US" sz="1050" i="1" dirty="0">
                <a:solidFill>
                  <a:srgbClr val="8A6D1E"/>
                </a:solidFill>
                <a:latin typeface="Calibri" pitchFamily="34" charset="0"/>
                <a:cs typeface="Amiri" pitchFamily="2" charset="-78"/>
              </a:rPr>
              <a:t> asks for length.</a:t>
            </a:r>
            <a:endParaRPr lang="en-US" sz="1050" dirty="0"/>
          </a:p>
        </p:txBody>
      </p:sp>
      <p:sp>
        <p:nvSpPr>
          <p:cNvPr id="91" name="Shape 8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2" name="Shape 90"/>
          <p:cNvSpPr/>
          <p:nvPr/>
        </p:nvSpPr>
        <p:spPr>
          <a:xfrm>
            <a:off x="8223504" y="4288536"/>
            <a:ext cx="310896" cy="310896"/>
          </a:xfrm>
          <a:prstGeom prst="ellipse">
            <a:avLst/>
          </a:prstGeom>
          <a:solidFill>
            <a:srgbClr val="1B3B6F"/>
          </a:solidFill>
          <a:ln w="12700">
            <a:solidFill>
              <a:srgbClr val="1B3B6F"/>
            </a:solidFill>
            <a:prstDash val="solid"/>
          </a:ln>
        </p:spPr>
      </p:sp>
      <p:sp>
        <p:nvSpPr>
          <p:cNvPr id="93" name="Text 9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4" name="Text 92"/>
          <p:cNvSpPr txBox="1"/>
          <p:nvPr/>
        </p:nvSpPr>
        <p:spPr>
          <a:xfrm>
            <a:off x="8589264"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Read:</a:t>
            </a:r>
            <a:endParaRPr lang="en-US" sz="1200" dirty="0"/>
          </a:p>
        </p:txBody>
      </p:sp>
      <p:sp>
        <p:nvSpPr>
          <p:cNvPr id="95" name="Text 93"/>
          <p:cNvSpPr txBox="1"/>
          <p:nvPr/>
        </p:nvSpPr>
        <p:spPr>
          <a:xfrm>
            <a:off x="10044989" y="4224528"/>
            <a:ext cx="1577035" cy="475488"/>
          </a:xfrm>
          <a:prstGeom prst="rect">
            <a:avLst/>
          </a:prstGeom>
          <a:noFill/>
          <a:ln/>
        </p:spPr>
        <p:txBody>
          <a:bodyPr wrap="square" lIns="0" tIns="0" rIns="0" bIns="0" rtlCol="0" anchor="ctr"/>
          <a:lstStyle/>
          <a:p>
            <a:pPr algn="l" indent="0" marL="0">
              <a:buNone/>
            </a:pPr>
            <a:r>
              <a:rPr lang="ar-SA" altLang="en-US" sz="1300" b="1" dirty="0">
                <a:solidFill>
                  <a:srgbClr val="1F2A37"/>
                </a:solidFill>
                <a:latin typeface="Amiri" pitchFamily="2" charset="-78"/>
                <a:cs typeface="Amiri" pitchFamily="2" charset="-78"/>
              </a:rPr>
              <a:t>يَنْطَلِقُ القِطَارُ فِي الخَامِسَةِ إِلَّا الرُّبْعَ</a:t>
            </a:r>
            <a:pPr algn="l" indent="0" marL="0">
              <a:buNone/>
            </a:pPr>
            <a:r>
              <a:rPr lang="en-US" sz="1000" b="1" dirty="0">
                <a:solidFill>
                  <a:srgbClr val="1F2A37"/>
                </a:solidFill>
                <a:latin typeface="Calibri" pitchFamily="34" charset="0"/>
                <a:cs typeface="Amiri" pitchFamily="2" charset="-78"/>
              </a:rPr>
              <a:t>. What time does it leave?</a:t>
            </a:r>
            <a:endParaRPr lang="en-US" sz="1000" dirty="0"/>
          </a:p>
        </p:txBody>
      </p:sp>
      <p:sp>
        <p:nvSpPr>
          <p:cNvPr id="96" name="Shape 94"/>
          <p:cNvSpPr/>
          <p:nvPr/>
        </p:nvSpPr>
        <p:spPr>
          <a:xfrm>
            <a:off x="8278368" y="4831080"/>
            <a:ext cx="256032" cy="256032"/>
          </a:xfrm>
          <a:prstGeom prst="ellipse">
            <a:avLst/>
          </a:prstGeom>
          <a:solidFill>
            <a:srgbClr val="C9CED6"/>
          </a:solidFill>
          <a:ln w="12700">
            <a:solidFill>
              <a:srgbClr val="C9CED6"/>
            </a:solidFill>
            <a:prstDash val="solid"/>
          </a:ln>
        </p:spPr>
      </p:sp>
      <p:sp>
        <p:nvSpPr>
          <p:cNvPr id="97" name="Text 95"/>
          <p:cNvSpPr txBox="1"/>
          <p:nvPr/>
        </p:nvSpPr>
        <p:spPr>
          <a:xfrm>
            <a:off x="827836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98" name="Text 96"/>
          <p:cNvSpPr txBox="1"/>
          <p:nvPr/>
        </p:nvSpPr>
        <p:spPr>
          <a:xfrm>
            <a:off x="8607552"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4:15</a:t>
            </a:r>
            <a:endParaRPr lang="en-US" sz="1250" dirty="0"/>
          </a:p>
        </p:txBody>
      </p:sp>
      <p:sp>
        <p:nvSpPr>
          <p:cNvPr id="99" name="Shape 97"/>
          <p:cNvSpPr/>
          <p:nvPr/>
        </p:nvSpPr>
        <p:spPr>
          <a:xfrm>
            <a:off x="8186928" y="5166360"/>
            <a:ext cx="3453384" cy="347472"/>
          </a:xfrm>
          <a:prstGeom prst="roundRect">
            <a:avLst>
              <a:gd name="adj" fmla="val 15789"/>
            </a:avLst>
          </a:prstGeom>
          <a:solidFill>
            <a:srgbClr val="E6F4EC"/>
          </a:solidFill>
          <a:ln w="9525">
            <a:solidFill>
              <a:srgbClr val="2E8B57"/>
            </a:solidFill>
            <a:prstDash val="solid"/>
          </a:ln>
        </p:spPr>
      </p:sp>
      <p:sp>
        <p:nvSpPr>
          <p:cNvPr id="100" name="Shape 98"/>
          <p:cNvSpPr/>
          <p:nvPr/>
        </p:nvSpPr>
        <p:spPr>
          <a:xfrm>
            <a:off x="8278368" y="5202936"/>
            <a:ext cx="256032" cy="256032"/>
          </a:xfrm>
          <a:prstGeom prst="ellipse">
            <a:avLst/>
          </a:prstGeom>
          <a:solidFill>
            <a:srgbClr val="2E8B57"/>
          </a:solidFill>
          <a:ln w="12700">
            <a:solidFill>
              <a:srgbClr val="2E8B57"/>
            </a:solidFill>
            <a:prstDash val="solid"/>
          </a:ln>
        </p:spPr>
      </p:sp>
      <p:sp>
        <p:nvSpPr>
          <p:cNvPr id="101" name="Text 99"/>
          <p:cNvSpPr txBox="1"/>
          <p:nvPr/>
        </p:nvSpPr>
        <p:spPr>
          <a:xfrm>
            <a:off x="8278368"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102" name="Text 100"/>
          <p:cNvSpPr txBox="1"/>
          <p:nvPr/>
        </p:nvSpPr>
        <p:spPr>
          <a:xfrm>
            <a:off x="8607552"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4:45</a:t>
            </a:r>
            <a:endParaRPr lang="en-US" sz="1250" dirty="0"/>
          </a:p>
        </p:txBody>
      </p:sp>
      <p:sp>
        <p:nvSpPr>
          <p:cNvPr id="103" name="Shape 101"/>
          <p:cNvSpPr/>
          <p:nvPr/>
        </p:nvSpPr>
        <p:spPr>
          <a:xfrm>
            <a:off x="8278368" y="5574792"/>
            <a:ext cx="256032" cy="256032"/>
          </a:xfrm>
          <a:prstGeom prst="ellipse">
            <a:avLst/>
          </a:prstGeom>
          <a:solidFill>
            <a:srgbClr val="C9CED6"/>
          </a:solidFill>
          <a:ln w="12700">
            <a:solidFill>
              <a:srgbClr val="C9CED6"/>
            </a:solidFill>
            <a:prstDash val="solid"/>
          </a:ln>
        </p:spPr>
      </p:sp>
      <p:sp>
        <p:nvSpPr>
          <p:cNvPr id="104" name="Text 102"/>
          <p:cNvSpPr txBox="1"/>
          <p:nvPr/>
        </p:nvSpPr>
        <p:spPr>
          <a:xfrm>
            <a:off x="827836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105" name="Text 103"/>
          <p:cNvSpPr txBox="1"/>
          <p:nvPr/>
        </p:nvSpPr>
        <p:spPr>
          <a:xfrm>
            <a:off x="8607552"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5:15</a:t>
            </a:r>
            <a:endParaRPr lang="en-US" sz="1250" dirty="0"/>
          </a:p>
        </p:txBody>
      </p:sp>
      <p:sp>
        <p:nvSpPr>
          <p:cNvPr id="106" name="Text 104"/>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الخَامِسَةُ إِلَّا الرُّبْعَ</a:t>
            </a:r>
            <a:pPr algn="l" indent="0" marL="0">
              <a:buNone/>
            </a:pPr>
            <a:r>
              <a:rPr lang="en-US" sz="1050" i="1" dirty="0">
                <a:solidFill>
                  <a:srgbClr val="8A6D1E"/>
                </a:solidFill>
                <a:latin typeface="Calibri" pitchFamily="34" charset="0"/>
                <a:cs typeface="Amiri" pitchFamily="2" charset="-78"/>
              </a:rPr>
              <a:t> means a quarter to five: 4:45.</a:t>
            </a:r>
            <a:endParaRPr lang="en-US" sz="1050" dirty="0"/>
          </a:p>
        </p:txBody>
      </p:sp>
      <p:sp>
        <p:nvSpPr>
          <p:cNvPr id="107" name="Text 10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44 / 46</a:t>
            </a:r>
            <a:endParaRPr lang="en-US" sz="8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D1-L02 · Telling the Time</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Before D1-L03: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D1-L02</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D1-L03 · How Often? — Frequency Adverbs</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يَوْمِيًّا</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daily</a:t>
            </a:r>
            <a:pPr indent="0" marL="0">
              <a:buNone/>
            </a:pP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أُسْبُوعِيًّا</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weekly</a:t>
            </a:r>
            <a:pPr indent="0" marL="0">
              <a:buNone/>
            </a:pP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نِهَايَةُ الأُسْبُوعِ</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the weekend</a:t>
            </a:r>
            <a:pPr indent="0" marL="0">
              <a:buNone/>
            </a:pP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بَيْنَمَا</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whereas, while</a:t>
            </a:r>
            <a:pPr indent="0" marL="0">
              <a:buNone/>
            </a:pP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يَوْمٌ مُزْدَحِمٌ</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busy day</a:t>
            </a:r>
            <a:pPr indent="0" marL="0">
              <a:buNone/>
            </a:pPr>
            <a:r>
              <a:rPr lang="en-US" sz="1000" i="1" dirty="0">
                <a:solidFill>
                  <a:srgbClr val="5A6472"/>
                </a:solidFill>
                <a:latin typeface="Calibri" pitchFamily="34" charset="0"/>
                <a:cs typeface="Amiri" pitchFamily="2" charset="-78"/>
              </a:rPr>
              <a:t>  pl. أَيَّامٌ مُزْدَحِمَةٌ</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Which is your busiest day of the week, and which is your quietest?</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cs typeface="Amiri" pitchFamily="2" charset="-78"/>
              </a:rPr>
              <a:t>مَا أَكْثَرُ أَيَّامِكَ اِزْدِحَامًا؟</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D1-L02: “Beat the Clock” game and the time decoder mission.</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Write your weekday timetable with eight exact times.</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writing task: 100–120 words with 24-hour time and duration.</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45 / 46</a:t>
            </a:r>
            <a:endParaRPr lang="en-US" sz="8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D1-L02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300" b="1" dirty="0">
                <a:solidFill>
                  <a:srgbClr val="FFFFFF"/>
                </a:solidFill>
                <a:latin typeface="Cambria" pitchFamily="34" charset="0"/>
                <a:cs typeface="Amiri" pitchFamily="2" charset="-78"/>
              </a:rPr>
              <a:t>D1-L03 · How Often? — Frequency Adverbs</a:t>
            </a:r>
            <a:endParaRPr lang="en-US" sz="23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cs typeface="Amiri" pitchFamily="2" charset="-78"/>
              </a:rPr>
              <a:t>كَمْ مَرَّةً؟</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a:t>
            </a:r>
            <a:pPr algn="l" indent="0" marL="0">
              <a:buNone/>
            </a:pPr>
            <a:r>
              <a:rPr lang="ar-SA" altLang="en-US" sz="1700" b="1" dirty="0">
                <a:solidFill>
                  <a:srgbClr val="FFFFFF"/>
                </a:solidFill>
                <a:latin typeface="Amiri" pitchFamily="2" charset="-78"/>
                <a:cs typeface="Amiri" pitchFamily="2" charset="-78"/>
              </a:rPr>
              <a:t>وَ</a:t>
            </a:r>
            <a:pPr algn="l" indent="0" marL="0">
              <a:buNone/>
            </a:pPr>
            <a:r>
              <a:rPr lang="en-US" sz="1300" b="1" dirty="0">
                <a:solidFill>
                  <a:srgbClr val="FFFFFF"/>
                </a:solidFill>
                <a:latin typeface="Calibri" pitchFamily="34" charset="0"/>
                <a:cs typeface="Amiri" pitchFamily="2" charset="-78"/>
              </a:rPr>
              <a:t> = past · </a:t>
            </a:r>
            <a:pPr algn="l" indent="0" marL="0">
              <a:buNone/>
            </a:pPr>
            <a:r>
              <a:rPr lang="ar-SA" altLang="en-US" sz="1700" b="1" dirty="0">
                <a:solidFill>
                  <a:srgbClr val="FFFFFF"/>
                </a:solidFill>
                <a:latin typeface="Amiri" pitchFamily="2" charset="-78"/>
                <a:cs typeface="Amiri" pitchFamily="2" charset="-78"/>
              </a:rPr>
              <a:t>إِلَّا</a:t>
            </a:r>
            <a:pPr algn="l" indent="0" marL="0">
              <a:buNone/>
            </a:pPr>
            <a:r>
              <a:rPr lang="en-US" sz="1300" b="1" dirty="0">
                <a:solidFill>
                  <a:srgbClr val="FFFFFF"/>
                </a:solidFill>
                <a:latin typeface="Calibri" pitchFamily="34" charset="0"/>
                <a:cs typeface="Amiri" pitchFamily="2" charset="-78"/>
              </a:rPr>
              <a:t> = to the NEXT hour.</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46</Slides>
  <Notes>46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46</vt:i4>
      </vt:variant>
    </vt:vector>
  </HeadingPairs>
  <TitlesOfParts>
    <vt:vector size="4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D1-L02 · Telling the Time — What Time Is It?</dc:title>
  <dc:subject>PptxGenJS Presentation</dc:subject>
  <dc:creator>Al Madina Online School · Arabic Department</dc:creator>
  <cp:lastModifiedBy>Al Madina Online School · Arabic Department</cp:lastModifiedBy>
  <cp:revision>1</cp:revision>
  <dcterms:created xsi:type="dcterms:W3CDTF">2026-10-11T06:40:25Z</dcterms:created>
  <dcterms:modified xsi:type="dcterms:W3CDTF">2026-10-11T06:40:25Z</dcterms:modified>
</cp:coreProperties>
</file>