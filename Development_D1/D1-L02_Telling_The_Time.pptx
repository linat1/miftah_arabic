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twelve hours, then minutes past (</a:t>
            </a:r>
            <a:pPr algn="ctr" indent="0" marL="0">
              <a:buNone/>
            </a:pPr>
            <a:r>
              <a:rPr lang="ar-SA" altLang="en-US" sz="1550" dirty="0">
                <a:solidFill>
                  <a:srgbClr val="1F2A37"/>
                </a:solidFill>
                <a:latin typeface="Amiri" pitchFamily="34" charset="0"/>
                <a:ea typeface="Amiri" pitchFamily="34" charset="-122"/>
                <a:cs typeface="Amiri" pitchFamily="34" charset="-120"/>
              </a:rPr>
              <a:t>وَ</a:t>
            </a:r>
            <a:pPr algn="ctr" indent="0" marL="0">
              <a:buNone/>
            </a:pPr>
            <a:r>
              <a:rPr lang="en-US" sz="1200" dirty="0">
                <a:solidFill>
                  <a:srgbClr val="1F2A37"/>
                </a:solidFill>
                <a:latin typeface="Calibri" pitchFamily="34" charset="0"/>
                <a:ea typeface="Calibri" pitchFamily="34" charset="-122"/>
                <a:cs typeface="Calibri" pitchFamily="34" charset="-120"/>
              </a:rPr>
              <a:t>) and to (</a:t>
            </a:r>
            <a:pPr algn="ctr" indent="0" marL="0">
              <a:buNone/>
            </a:pPr>
            <a:r>
              <a:rPr lang="ar-SA" altLang="en-US" sz="1550" dirty="0">
                <a:solidFill>
                  <a:srgbClr val="1F2A37"/>
                </a:solidFill>
                <a:latin typeface="Amiri" pitchFamily="34" charset="0"/>
                <a:ea typeface="Amiri" pitchFamily="34" charset="-122"/>
                <a:cs typeface="Amiri" pitchFamily="34" charset="-120"/>
              </a:rPr>
              <a:t>إِلَّا</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Minutes PAST the hour → </a:t>
            </a:r>
            <a:pPr algn="l" indent="0" marL="0">
              <a:buNone/>
            </a:pPr>
            <a:r>
              <a:rPr lang="ar-SA" altLang="en-US" sz="1700" b="1" dirty="0">
                <a:solidFill>
                  <a:srgbClr val="1F2A37"/>
                </a:solidFill>
                <a:latin typeface="Amiri" pitchFamily="34" charset="0"/>
                <a:ea typeface="Amiri" pitchFamily="34" charset="-122"/>
                <a:cs typeface="Amiri" pitchFamily="34" charset="-120"/>
              </a:rPr>
              <a:t>وَ</a:t>
            </a:r>
            <a:pPr algn="l" indent="0" marL="0">
              <a:buNone/>
            </a:pPr>
            <a:r>
              <a:rPr lang="en-US" sz="1300" b="1" dirty="0">
                <a:solidFill>
                  <a:srgbClr val="1F2A37"/>
                </a:solidFill>
                <a:latin typeface="Calibri" pitchFamily="34" charset="0"/>
                <a:ea typeface="Calibri" pitchFamily="34" charset="-122"/>
                <a:cs typeface="Calibri" pitchFamily="34" charset="-120"/>
              </a:rPr>
              <a:t>. Minutes TO the next hour → </a:t>
            </a:r>
            <a:pPr algn="l" indent="0" marL="0">
              <a:buNone/>
            </a:pPr>
            <a:r>
              <a:rPr lang="ar-SA" altLang="en-US" sz="1700" b="1" dirty="0">
                <a:solidFill>
                  <a:srgbClr val="1F2A37"/>
                </a:solidFill>
                <a:latin typeface="Amiri" pitchFamily="34" charset="0"/>
                <a:ea typeface="Amiri" pitchFamily="34" charset="-122"/>
                <a:cs typeface="Amiri" pitchFamily="34" charset="-120"/>
              </a:rPr>
              <a:t>إِلَّا</a:t>
            </a:r>
            <a:pPr algn="l" indent="0" marL="0">
              <a:buNone/>
            </a:pPr>
            <a:r>
              <a:rPr lang="en-US" sz="1300" b="1" dirty="0">
                <a:solidFill>
                  <a:srgbClr val="1F2A37"/>
                </a:solidFill>
                <a:latin typeface="Calibri" pitchFamily="34" charset="0"/>
                <a:ea typeface="Calibri" pitchFamily="34" charset="-122"/>
                <a:cs typeface="Calibri" pitchFamily="34" charset="-120"/>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٧:١٥ السَّابِعَةُ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الرُّبْعُ · ٧:٤٥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the time to five minutes with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إِلَّا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‎دقیقہ‎ </a:t>
            </a:r>
            <a:pPr indent="0" marL="0">
              <a:buNone/>
            </a:pPr>
            <a:r>
              <a:rPr lang="en-US" sz="950" b="1" dirty="0">
                <a:solidFill>
                  <a:srgbClr val="2E8B57"/>
                </a:solidFill>
                <a:latin typeface="Calibri" pitchFamily="34" charset="0"/>
                <a:ea typeface="Calibri" pitchFamily="34" charset="-122"/>
                <a:cs typeface="Calibri" pitchFamily="34" charset="-120"/>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‎ساعت‎ </a:t>
            </a:r>
            <a:pPr indent="0" marL="0">
              <a:buNone/>
            </a:pPr>
            <a:r>
              <a:rPr lang="en-US" sz="950" b="1" dirty="0">
                <a:solidFill>
                  <a:srgbClr val="2E8B57"/>
                </a:solidFill>
                <a:latin typeface="Calibri" pitchFamily="34" charset="0"/>
                <a:ea typeface="Calibri" pitchFamily="34" charset="-122"/>
                <a:cs typeface="Calibri" pitchFamily="34" charset="-120"/>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continues / lasts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 scheduled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exactly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about / 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13:00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14:30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16:00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18:15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p.m. / 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500" b="1" dirty="0">
                <a:solidFill>
                  <a:srgbClr val="1B3B6F"/>
                </a:solidFill>
                <a:latin typeface="Amiri" pitchFamily="34" charset="0"/>
                <a:ea typeface="Amiri" pitchFamily="34" charset="-122"/>
                <a:cs typeface="Amiri" pitchFamily="34" charset="-120"/>
              </a:rPr>
              <a:t>كَمِ السَّاعَةُ؟</a:t>
            </a:r>
            <a:pPr algn="l" indent="0" marL="0">
              <a:buNone/>
            </a:pPr>
            <a:r>
              <a:rPr lang="en-US" sz="1150" b="1" dirty="0">
                <a:solidFill>
                  <a:srgbClr val="1B3B6F"/>
                </a:solidFill>
                <a:latin typeface="Calibri" pitchFamily="34" charset="0"/>
                <a:ea typeface="Calibri" pitchFamily="34" charset="-122"/>
                <a:cs typeface="Calibri" pitchFamily="34" charset="-120"/>
              </a:rPr>
              <a:t>   Answer: </a:t>
            </a:r>
            <a:pPr algn="l" indent="0" marL="0">
              <a:buNone/>
            </a:pPr>
            <a:r>
              <a:rPr lang="ar-SA" altLang="en-US" sz="1500" b="1" dirty="0">
                <a:solidFill>
                  <a:srgbClr val="1B3B6F"/>
                </a:solidFill>
                <a:latin typeface="Amiri" pitchFamily="34" charset="0"/>
                <a:ea typeface="Amiri" pitchFamily="34" charset="-122"/>
                <a:cs typeface="Amiri" pitchFamily="34" charset="-120"/>
              </a:rPr>
              <a:t>السَّاعَةُ السَّابِعَةُ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Past the hour (</a:t>
            </a:r>
            <a:pPr algn="l" indent="0" marL="0">
              <a:buNone/>
            </a:pPr>
            <a:r>
              <a:rPr lang="ar-SA" altLang="en-US" sz="2600" b="1" dirty="0">
                <a:solidFill>
                  <a:srgbClr val="1B3B6F"/>
                </a:solidFill>
                <a:latin typeface="Amiri" pitchFamily="34" charset="0"/>
                <a:ea typeface="Amiri" pitchFamily="34" charset="-122"/>
                <a:cs typeface="Amiri" pitchFamily="34" charset="-120"/>
              </a:rPr>
              <a:t>وَ</a:t>
            </a:r>
            <a:pPr algn="l" indent="0" marL="0">
              <a:buNone/>
            </a:pPr>
            <a:r>
              <a:rPr lang="en-US" sz="2000" b="1" dirty="0">
                <a:solidFill>
                  <a:srgbClr val="1B3B6F"/>
                </a:solidFill>
                <a:latin typeface="Cambria" pitchFamily="34" charset="0"/>
                <a:ea typeface="Cambria" pitchFamily="34" charset="-122"/>
                <a:cs typeface="Cambria" pitchFamily="34" charset="-120"/>
              </a:rPr>
              <a:t>) or to the next hour (</a:t>
            </a:r>
            <a:pPr algn="l" indent="0" marL="0">
              <a:buNone/>
            </a:pPr>
            <a:r>
              <a:rPr lang="ar-SA" altLang="en-US" sz="2600" b="1" dirty="0">
                <a:solidFill>
                  <a:srgbClr val="1B3B6F"/>
                </a:solidFill>
                <a:latin typeface="Amiri" pitchFamily="34" charset="0"/>
                <a:ea typeface="Amiri" pitchFamily="34" charset="-122"/>
                <a:cs typeface="Amiri" pitchFamily="34" charset="-120"/>
              </a:rPr>
              <a:t>إِلَّا</a:t>
            </a:r>
            <a:pPr algn="l" indent="0" marL="0">
              <a:buNone/>
            </a:pPr>
            <a:r>
              <a:rPr lang="en-US" sz="2000" b="1" dirty="0">
                <a:solidFill>
                  <a:srgbClr val="1B3B6F"/>
                </a:solidFill>
                <a:latin typeface="Cambria" pitchFamily="34" charset="0"/>
                <a:ea typeface="Cambria" pitchFamily="34" charset="-122"/>
                <a:cs typeface="Cambria" pitchFamily="34" charset="-120"/>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How LONG → </a:t>
            </a:r>
            <a:pPr algn="l" indent="0" marL="0">
              <a:buNone/>
            </a:pPr>
            <a:r>
              <a:rPr lang="ar-SA" altLang="en-US" sz="1450" dirty="0">
                <a:solidFill>
                  <a:srgbClr val="1F2A37"/>
                </a:solidFill>
                <a:latin typeface="Amiri" pitchFamily="34" charset="0"/>
                <a:ea typeface="Amiri" pitchFamily="34" charset="-122"/>
                <a:cs typeface="Amiri" pitchFamily="34" charset="-120"/>
              </a:rPr>
              <a:t>مُدَّةَ</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use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15 minutes after seven uses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يَبْدَأُ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الدَّوَامُ فِي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8:25 → 8 + 25 minutes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يَنْتَهِي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الرَّابِعَةِ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التَّمْرِينُ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long →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يَبْدَأُ</a:t>
            </a:r>
            <a:pPr rtl="1" algn="r" indent="0" marL="0">
              <a:buNone/>
            </a:pPr>
            <a:r>
              <a:rPr lang="ar-SA" altLang="en-US" sz="1900" b="1" dirty="0">
                <a:solidFill>
                  <a:srgbClr val="1B3B6F"/>
                </a:solidFill>
                <a:latin typeface="Amiri" pitchFamily="34" charset="0"/>
                <a:ea typeface="Amiri" pitchFamily="34" charset="-122"/>
                <a:cs typeface="Amiri" pitchFamily="34" charset="-120"/>
              </a:rPr>
              <a:t> الدَّوَامُ فِي الثَّامِنَةِ </a:t>
            </a:r>
            <a:pPr rtl="1" algn="r" indent="0" marL="0">
              <a:buNone/>
            </a:pPr>
            <a:r>
              <a:rPr lang="ar-SA" altLang="en-US" sz="1900" b="1" dirty="0">
                <a:solidFill>
                  <a:srgbClr val="0E7C86"/>
                </a:solidFill>
                <a:latin typeface="Amiri" pitchFamily="34" charset="0"/>
                <a:ea typeface="Amiri" pitchFamily="34" charset="-122"/>
                <a:cs typeface="Amiri" pitchFamily="34" charset="-120"/>
              </a:rPr>
              <a:t>وَ</a:t>
            </a:r>
            <a:pPr rtl="1" algn="r" indent="0" marL="0">
              <a:buNone/>
            </a:pPr>
            <a:r>
              <a:rPr lang="ar-SA" altLang="en-US" sz="1900" b="1" dirty="0">
                <a:solidFill>
                  <a:srgbClr val="1B3B6F"/>
                </a:solidFill>
                <a:latin typeface="Amiri" pitchFamily="34" charset="0"/>
                <a:ea typeface="Amiri" pitchFamily="34" charset="-122"/>
                <a:cs typeface="Amiri" pitchFamily="34" charset="-120"/>
              </a:rPr>
              <a:t>خَمْسٍ وَعِشْرِينَ دَقِيقَةً، وَ</a:t>
            </a:r>
            <a:pPr rtl="1" algn="r" indent="0" marL="0">
              <a:buNone/>
            </a:pPr>
            <a:r>
              <a:rPr lang="ar-SA" altLang="en-US" sz="1900" b="1" dirty="0">
                <a:solidFill>
                  <a:srgbClr val="1D5FBF"/>
                </a:solidFill>
                <a:latin typeface="Amiri" pitchFamily="34" charset="0"/>
                <a:ea typeface="Amiri" pitchFamily="34" charset="-122"/>
                <a:cs typeface="Amiri" pitchFamily="34" charset="-120"/>
              </a:rPr>
              <a:t>يَنْتَهِي</a:t>
            </a:r>
            <a:pPr rtl="1" algn="r" indent="0" marL="0">
              <a:buNone/>
            </a:pPr>
            <a:r>
              <a:rPr lang="ar-SA" altLang="en-US" sz="1900" b="1" dirty="0">
                <a:solidFill>
                  <a:srgbClr val="1B3B6F"/>
                </a:solidFill>
                <a:latin typeface="Amiri" pitchFamily="34" charset="0"/>
                <a:ea typeface="Amiri" pitchFamily="34" charset="-122"/>
                <a:cs typeface="Amiri" pitchFamily="34" charset="-120"/>
              </a:rPr>
              <a:t> فِي الرَّابِعَةِ </a:t>
            </a:r>
            <a:pPr rtl="1" algn="r" indent="0" marL="0">
              <a:buNone/>
            </a:pPr>
            <a:r>
              <a:rPr lang="ar-SA" altLang="en-US" sz="1900" b="1" dirty="0">
                <a:solidFill>
                  <a:srgbClr val="0E7C86"/>
                </a:solidFill>
                <a:latin typeface="Amiri" pitchFamily="34" charset="0"/>
                <a:ea typeface="Amiri" pitchFamily="34" charset="-122"/>
                <a:cs typeface="Amiri" pitchFamily="34" charset="-120"/>
              </a:rPr>
              <a:t>إِلَّا</a:t>
            </a:r>
            <a:pPr rtl="1" algn="r" indent="0" marL="0">
              <a:buNone/>
            </a:pPr>
            <a:r>
              <a:rPr lang="ar-SA" altLang="en-US" sz="1900" b="1" dirty="0">
                <a:solidFill>
                  <a:srgbClr val="1B3B6F"/>
                </a:solidFill>
                <a:latin typeface="Amiri" pitchFamily="34" charset="0"/>
                <a:ea typeface="Amiri" pitchFamily="34" charset="-122"/>
                <a:cs typeface="Amiri" pitchFamily="34" charset="-120"/>
              </a:rPr>
              <a:t> عَشْرَ دَقَائِقَ. </a:t>
            </a:r>
            <a:pPr rtl="1" algn="r" indent="0" marL="0">
              <a:buNone/>
            </a:pPr>
            <a:r>
              <a:rPr lang="ar-SA" altLang="en-US" sz="1900" b="1" dirty="0">
                <a:solidFill>
                  <a:srgbClr val="1D5FBF"/>
                </a:solidFill>
                <a:latin typeface="Amiri" pitchFamily="34" charset="0"/>
                <a:ea typeface="Amiri" pitchFamily="34" charset="-122"/>
                <a:cs typeface="Amiri" pitchFamily="34" charset="-120"/>
              </a:rPr>
              <a:t>يَسْتَمِرُّ</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التَّمْرِينُ </a:t>
            </a:r>
            <a:pPr rtl="1" algn="r" indent="0" marL="0">
              <a:buNone/>
            </a:pPr>
            <a:r>
              <a:rPr lang="ar-SA" altLang="en-US" sz="1900" b="1" dirty="0">
                <a:solidFill>
                  <a:srgbClr val="D6336C"/>
                </a:solidFill>
                <a:latin typeface="Amiri" pitchFamily="34" charset="0"/>
                <a:ea typeface="Amiri" pitchFamily="34" charset="-122"/>
                <a:cs typeface="Amiri" pitchFamily="34" charset="-120"/>
              </a:rPr>
              <a:t>مُدَّةَ</a:t>
            </a:r>
            <a:pPr rtl="1" algn="r" indent="0" marL="0">
              <a:buNone/>
            </a:pPr>
            <a:r>
              <a:rPr lang="ar-SA" altLang="en-US" sz="1900" b="1" dirty="0">
                <a:solidFill>
                  <a:srgbClr val="1B3B6F"/>
                </a:solidFill>
                <a:latin typeface="Amiri" pitchFamily="34" charset="0"/>
                <a:ea typeface="Amiri" pitchFamily="34" charset="-122"/>
                <a:cs typeface="Amiri" pitchFamily="34" charset="-120"/>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day starts at 8:25.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ends at 3:50.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appointment is at 16:00.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Training lasts 45 minutes.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مُدَّةَ سَاعَةٍ</a:t>
            </a:r>
            <a:pPr algn="l" indent="0" marL="0">
              <a:buNone/>
            </a:pPr>
            <a:r>
              <a:rPr lang="en-US" sz="1050" i="1" dirty="0">
                <a:solidFill>
                  <a:srgbClr val="8A6D1E"/>
                </a:solidFill>
                <a:latin typeface="Calibri" pitchFamily="34" charset="0"/>
                <a:ea typeface="Calibri" pitchFamily="34" charset="-122"/>
                <a:cs typeface="Calibri" pitchFamily="34" charset="-120"/>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5:45 which hour do you name with </a:t>
            </a:r>
            <a:pPr algn="l" indent="0" marL="0">
              <a:buNone/>
            </a:pPr>
            <a:r>
              <a:rPr lang="ar-SA" altLang="en-US" sz="1700" dirty="0">
                <a:solidFill>
                  <a:srgbClr val="5A6472"/>
                </a:solidFill>
                <a:latin typeface="Amiri" pitchFamily="34" charset="0"/>
                <a:ea typeface="Amiri" pitchFamily="34" charset="-122"/>
                <a:cs typeface="Amiri" pitchFamily="34" charset="-120"/>
              </a:rPr>
              <a:t>إِلَّا</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إِلَّا</a:t>
            </a:r>
            <a:pPr algn="l" indent="0" marL="0">
              <a:buNone/>
            </a:pPr>
            <a:r>
              <a:rPr lang="en-US" sz="1150" b="1" dirty="0">
                <a:solidFill>
                  <a:srgbClr val="1B3B6F"/>
                </a:solidFill>
                <a:latin typeface="Calibri" pitchFamily="34" charset="0"/>
                <a:ea typeface="Calibri" pitchFamily="34" charset="-122"/>
                <a:cs typeface="Calibri" pitchFamily="34" charset="-120"/>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Minutes after the hour use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مُدَّةَ</a:t>
            </a:r>
            <a:pPr algn="l" indent="0" marL="0">
              <a:buNone/>
            </a:pPr>
            <a:r>
              <a:rPr lang="en-US" sz="1150" b="1" dirty="0">
                <a:solidFill>
                  <a:srgbClr val="1B3B6F"/>
                </a:solidFill>
                <a:latin typeface="Calibri" pitchFamily="34" charset="0"/>
                <a:ea typeface="Calibri" pitchFamily="34" charset="-122"/>
                <a:cs typeface="Calibri" pitchFamily="34" charset="-120"/>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both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إِلَّا</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يَبْدَأُ</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يَنْتَهِي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يَسْتَمِرُّ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half past, I named the NEXT hour with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begins (</a:t>
            </a:r>
            <a:pPr algn="l" indent="0" marL="0">
              <a:buNone/>
            </a:pPr>
            <a:r>
              <a:rPr lang="ar-SA" altLang="en-US" sz="1700" dirty="0">
                <a:solidFill>
                  <a:srgbClr val="1F2A37"/>
                </a:solidFill>
                <a:latin typeface="Amiri" pitchFamily="34" charset="0"/>
                <a:ea typeface="Amiri" pitchFamily="34" charset="-122"/>
                <a:cs typeface="Amiri" pitchFamily="34" charset="-120"/>
              </a:rPr>
              <a:t>يَبْدَأُ</a:t>
            </a:r>
            <a:pPr algn="l" indent="0" marL="0">
              <a:buNone/>
            </a:pPr>
            <a:r>
              <a:rPr lang="en-US" sz="1300" dirty="0">
                <a:solidFill>
                  <a:srgbClr val="1F2A37"/>
                </a:solidFill>
                <a:latin typeface="Calibri" pitchFamily="34" charset="0"/>
                <a:ea typeface="Calibri" pitchFamily="34" charset="-122"/>
                <a:cs typeface="Calibri" pitchFamily="34" charset="-120"/>
              </a:rPr>
              <a:t>) and ends (</a:t>
            </a:r>
            <a:pPr algn="l" indent="0" marL="0">
              <a:buNone/>
            </a:pPr>
            <a:r>
              <a:rPr lang="ar-SA" altLang="en-US" sz="1700" dirty="0">
                <a:solidFill>
                  <a:srgbClr val="1F2A37"/>
                </a:solidFill>
                <a:latin typeface="Amiri" pitchFamily="34" charset="0"/>
                <a:ea typeface="Amiri" pitchFamily="34" charset="-122"/>
                <a:cs typeface="Amiri" pitchFamily="34" charset="-120"/>
              </a:rPr>
              <a:t>يَنْتَهِي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24-hour time and duration (</a:t>
            </a:r>
            <a:pPr algn="l" indent="0" marL="0">
              <a:buNone/>
            </a:pPr>
            <a:r>
              <a:rPr lang="ar-SA" altLang="en-US" sz="1700" dirty="0">
                <a:solidFill>
                  <a:srgbClr val="1F2A37"/>
                </a:solidFill>
                <a:latin typeface="Amiri" pitchFamily="34" charset="0"/>
                <a:ea typeface="Amiri" pitchFamily="34" charset="-122"/>
                <a:cs typeface="Amiri" pitchFamily="34" charset="-120"/>
              </a:rPr>
              <a:t>مُدَّةَ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دَوْرَةُ الخَطِّ</a:t>
            </a:r>
            <a:pPr algn="l" indent="0" marL="0">
              <a:buNone/>
            </a:pPr>
            <a:r>
              <a:rPr lang="en-US" sz="1050" i="1" dirty="0">
                <a:solidFill>
                  <a:srgbClr val="8A6D1E"/>
                </a:solidFill>
                <a:latin typeface="Calibri" pitchFamily="34" charset="0"/>
                <a:ea typeface="Calibri" pitchFamily="34" charset="-122"/>
                <a:cs typeface="Calibri" pitchFamily="34" charset="-120"/>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quarter past, keep the current hour and add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24-hour timetable may state the numbered hour directly: </a:t>
            </a:r>
            <a:pPr algn="l" indent="0" marL="0">
              <a:buNone/>
            </a:pPr>
            <a:r>
              <a:rPr lang="ar-SA" altLang="en-US" sz="1350" dirty="0">
                <a:solidFill>
                  <a:srgbClr val="8A6D1E"/>
                </a:solidFill>
                <a:latin typeface="Amiri" pitchFamily="34" charset="0"/>
                <a:ea typeface="Amiri" pitchFamily="34" charset="-122"/>
                <a:cs typeface="Amiri" pitchFamily="34" charset="-120"/>
              </a:rPr>
              <a:t>الرَّابِعَةَ عَشْرَةَ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يَسْتَمِرُّ مُدَّةَ</a:t>
            </a:r>
            <a:pPr algn="l" indent="0" marL="0">
              <a:buNone/>
            </a:pPr>
            <a:r>
              <a:rPr lang="en-US" sz="1050" i="1" dirty="0">
                <a:solidFill>
                  <a:srgbClr val="8A6D1E"/>
                </a:solidFill>
                <a:latin typeface="Calibri" pitchFamily="34" charset="0"/>
                <a:ea typeface="Calibri" pitchFamily="34" charset="-122"/>
                <a:cs typeface="Calibri" pitchFamily="34" charset="-120"/>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“finishes”; </a:t>
            </a:r>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asks for the start and </a:t>
            </a:r>
            <a:pPr algn="l" indent="0" marL="0">
              <a:buNone/>
            </a:pPr>
            <a:r>
              <a:rPr lang="ar-SA" altLang="en-US" sz="1350" dirty="0">
                <a:solidFill>
                  <a:srgbClr val="8A6D1E"/>
                </a:solidFill>
                <a:latin typeface="Amiri" pitchFamily="34" charset="0"/>
                <a:ea typeface="Amiri" pitchFamily="34" charset="-122"/>
                <a:cs typeface="Amiri" pitchFamily="34" charset="-120"/>
              </a:rPr>
              <a:t>مُدَّة</a:t>
            </a:r>
            <a:pPr algn="l" indent="0" marL="0">
              <a:buNone/>
            </a:pPr>
            <a:r>
              <a:rPr lang="en-US" sz="1050" i="1" dirty="0">
                <a:solidFill>
                  <a:srgbClr val="8A6D1E"/>
                </a:solidFill>
                <a:latin typeface="Calibri" pitchFamily="34" charset="0"/>
                <a:ea typeface="Calibri" pitchFamily="34" charset="-122"/>
                <a:cs typeface="Calibri" pitchFamily="34" charset="-120"/>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busy day</a:t>
            </a:r>
            <a:pPr indent="0" marL="0">
              <a:buNone/>
            </a:pPr>
            <a:r>
              <a:rPr lang="en-US" sz="1000" i="1" dirty="0">
                <a:solidFill>
                  <a:srgbClr val="5A6472"/>
                </a:solidFill>
                <a:latin typeface="Calibri" pitchFamily="34" charset="0"/>
                <a:ea typeface="Calibri" pitchFamily="34" charset="-122"/>
                <a:cs typeface="Calibri" pitchFamily="34" charset="-120"/>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وَ</a:t>
            </a:r>
            <a:pPr algn="l" indent="0" marL="0">
              <a:buNone/>
            </a:pPr>
            <a:r>
              <a:rPr lang="en-US" sz="1300" b="1" dirty="0">
                <a:solidFill>
                  <a:srgbClr val="FFFFFF"/>
                </a:solidFill>
                <a:latin typeface="Calibri" pitchFamily="34" charset="0"/>
                <a:ea typeface="Calibri" pitchFamily="34" charset="-122"/>
                <a:cs typeface="Calibri" pitchFamily="34" charset="-120"/>
              </a:rPr>
              <a:t> = past · </a:t>
            </a:r>
            <a:pPr algn="l" indent="0" marL="0">
              <a:buNone/>
            </a:pPr>
            <a:r>
              <a:rPr lang="ar-SA" altLang="en-US" sz="1700" b="1" dirty="0">
                <a:solidFill>
                  <a:srgbClr val="FFFFFF"/>
                </a:solidFill>
                <a:latin typeface="Amiri" pitchFamily="34" charset="0"/>
                <a:ea typeface="Amiri" pitchFamily="34" charset="-122"/>
                <a:cs typeface="Amiri" pitchFamily="34" charset="-120"/>
              </a:rPr>
              <a:t>إِلَّا</a:t>
            </a:r>
            <a:pPr algn="l" indent="0" marL="0">
              <a:buNone/>
            </a:pPr>
            <a:r>
              <a:rPr lang="en-US" sz="1300" b="1" dirty="0">
                <a:solidFill>
                  <a:srgbClr val="FFFFFF"/>
                </a:solidFill>
                <a:latin typeface="Calibri" pitchFamily="34" charset="0"/>
                <a:ea typeface="Calibri" pitchFamily="34" charset="-122"/>
                <a:cs typeface="Calibri" pitchFamily="34" charset="-120"/>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2026-09-27T11:16:33Z</dcterms:created>
  <dcterms:modified xsi:type="dcterms:W3CDTF">2026-09-27T11:16:33Z</dcterms:modified>
</cp:coreProperties>
</file>