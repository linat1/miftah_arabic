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Lst>
  <p:notesMasterIdLst>
    <p:notesMasterId r:id="rId4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notesMaster" Target="notesMasters/notesMaster1.xml"/><Relationship Id="rId49" Type="http://schemas.openxmlformats.org/officeDocument/2006/relationships/presProps" Target="presProps.xml"/><Relationship Id="rId50" Type="http://schemas.openxmlformats.org/officeDocument/2006/relationships/viewProps" Target="viewProps.xml"/><Relationship Id="rId51" Type="http://schemas.openxmlformats.org/officeDocument/2006/relationships/theme" Target="theme/theme1.xml"/><Relationship Id="rId5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D1 Daily Routine and Time › D1-L01. The website lesson “My Morning Routine”: vocabulary, grammar rules and quiz, patterns, common mistakes, sorter, listening, reading, speaking prompts and model, writing task and model, differentiation, final check and the lesson mission. Picture match: website visual game “My Morning Routine”.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First Development lesson (Year 8): the class moves from Foundation chunks to CONTROLLING verbs. Core: ten routine verbs as whole chunks in the “I” form + أَوَّلًا / ثُمَّ. Develop: change the person prefix (أَ / يَ / تَ / نَ). Stretch: name the derived pattern (V, VI, VIII, X) and keep it whole.
• Weak / mixed class: the verb table (I · he · she · we) is the anchor for the whole lesson — keep it visible in You Do.
• Core supports: transliteration on every card, English on every model, picture match with icons, frames and a word bank.
• Urdu bridge: صبح، ناشتہ (not Arabic!), غسل، وضو، تیار — many students already use وضو and غسل.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Retrieval from Foundation (pronouns, the present-tense prefix, time words) — the building blocks for today’s routine verbs.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The first letter of a present verb tells you WHO: أَـ I · يَـ he · تَـ she · نَـ we.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صبح (subah → الصَّبَاحُ), غسل (ghusl → أَغْتَسِلُ I shower), وضو (wuzu → أَتَوَضَّأُ), مستعد (mustaid → أَسْتَعِدُّ I get ready), عادت (ādat → عَادَةً usually). Warning: Urdu ناشتہ (breakfast) is NOT Arabic — the Arabic is الإِفْطَارُ.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Morning routine verbs (website vocabulary (1 of 2)). Hear → Say → See → Use. Transliteration is printed for Core students (cover it for Develop/Stretch).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Morning routine verbs (website vocabulary (2 of 2)). Hear → Say → See → Use. Transliteration is printed for Core students (cover it for Develop/Stretch).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Sequence and frequency (website vocabulary (1 of 2)). Hear → Say → See → Use. Transliteration is printed for Core students (cover it for Develop/Stretch).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Sequence and frequency (website vocabulary (2 of 2)). Hear → Say → See → Use. Transliteration is printed for Core students (cover it for Develop/Stretch).
FLEX: teach if time allows; otherwise these are on the website vocabulary tab for homework.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Useful detail (website vocabulary). Hear → Say → See → Use. Transliteration is printed for Core students (cover it for Develop/Stretch).
FLEX: teach if time allows; otherwise these are on the website vocabulary tab for homework.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 “Match the person prefix to the subject” (أَنَا أَـ · هُوَ يَـ · هِيَ تَـ · نَحْنُ نَـ). Blue = I / he / we; pink = she.
Read each row across; students repeat. Website examples: أَنَا أَسْتَيْقِظُ مُبَكِّرًا · أَخِي يَسْتَعِدُّ بِسُرْعَةٍ · أُخْتِي تَتَنَاوَلُ الإِفْطَارَ · نَحْنُ نَخْرُجُ مَعًا.
Website tip: in connected writing, vary the subject instead of keeping every sentence in the first person.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rules “Recognise Form V” and “Distinguish Forms VI, VIII and X”. Development Arabic moves beyond memorising isolated verbs: notice each derived pattern, preserve its added letters, then change the person prefix.
Website common error: do not reduce أَسْتَيْقِظُ to أَيْقِظُ, change أَتَنَاوَلُ to أَنَاوَلُ, or treat all derived verbs as one pattern.
Core: recognition only — “the long verbs keep all their letters”. Stretch: name the form of each verb.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3 — website rule “Build a connected routine, not a list” with the website examples. Sequence markers turn separate actions into a coherent account.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“Development Arabic moves beyond memorising isolated verbs. Notice each derived pattern, preserve its added letters, and then change the person prefix. In this lesson, Form V includes تَوَضَّأَ and تَمَرَّنَ; Form VI includes تَنَاوَلَ; Form VIII includes اِغْتَسَلَ and اِرْتَدَى; and Form X includes اِسْتَيْقَظَ, اِسْتَعَدَّ and اِسْتَقَلَّ.”
• Recognise Form V as a patterned verb: Many Form V verbs carry a reflexive or developed meaning. In the present tense, the initial person marker changes but the internal ت and shadda remain.
• Distinguish Forms VI, VIII and X: These patterns look different and should not be merged. تَنَاوَلَ is Form VI; اِغْتَسَلَ and اِرْتَدَى are Form VIII; اِسْتَيْقَظَ and اِسْتَعَدَّ are Form X. Preserve the full internal pattern when the person prefix changes.
• Match the person prefix to the subject: The verb must identify who performs the action. In connected writing, vary the subject instead of keeping every sentence in the first person.
• Build a connected routine, not a list: Sequence markers turn separate actions into a coherent account. Frequency adverbs normally follow the verb or stand near the start for emphasis.
Website common error: Do not reduce أَسْتَيْقِظُ to أَيْقِظُ, change أَتَنَاوَلُ to أَنَاوَلُ, or treat all derived verbs as one pattern. The added letters identify the form and must remain.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4, 8.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teacher models with a think-aloud (website patterns 1–3); students watch, then COPY. Say each decision aloud: “Who? → prefix. Which pattern? → keep the letters. When / how often? → add a time or frequency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My Morning Routine”)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Key words: أَسْتَيْقِظُ (wake up) · أَسْنَانِي (my teeth) · الإِفْطَارَ (breakfast). All three start with أَـ / أُـ = 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My Morning Routine”)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Key words: أَسْتَيْقِظُ (wake up) · أَسْنَانِي (my teeth) · الإِفْطَارَ (breakfast). All three start with أَـ / أُـ = 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Read each Arabic action and place it in the stage where it belongs. This supports listening, reading and connected writing.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Read each Arabic action and place it in the stage where it belongs. This supports listening, reading and connected writing.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3, 5, 6, 7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3 and 4. Develop / Stretch: all 5.
Listen 1: just listen. Listen 2: note answers. Then chat the letters.
Support: after the second listening, show the read-along slide (Arabic + English, line by line) for Core students.
SCRIPT (read aloud):
أَسْتَيْقِظُ عَادَةً فِي السَّادِسَةِ وَالرُّبْعِ، وَلٰكِنَّ أَخِي يَسْتَيْقِظُ بَعْدِي بِنِصْفِ سَاعَةٍ. أَوَّلًا أَغْتَسِلُ وَأَتَوَضَّأُ، ثُمَّ أَرْتَدِي زِيَّ المَدْرَسَةِ وَأُمَشِّطُ شَعْرِي. فِي السَّابِعَةِ إِلَّا عَشْرَ دَقَائِقَ أَتَنَاوَلُ إِفْطَارًا خَفِيفًا، وَبَعْدَ ذٰلِكَ أَسْتَعِدُّ لِلْخُرُوجِ. أَسْتَقِلُّ الحَافِلَةَ فِي السَّابِعَةِ وَالنِّصْفِ، وَأَصِلُ إِلَى المَدْرَسَةِ قَبْلَ بَدْءِ الدِّرَاسَةِ بِعَشْرِ دَقَائِقَ. أَحْيَانًا أَشْعُرُ بِالنُّعَاسِ، لٰكِنَّ الإِفْطَارَ يُسَاعِدُنِي عَلَى التَّرْكِيزِ.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(the Core prompt is teacher-made).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Core prompt (teacher-made): “What do you do in the morning?” — answered with the Core stem. Summarise (↺): report your partner’s routine with يَـ / تَـ.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Build six accurate routine sentences using the model chunks. · Develop — Compare two routines and vary the subject pronouns. · Stretch — Explain how routine affects concentration or wellbeing using a developed opinion.
Website writing task (Stretch): Write 90–110 words comparing your real morning routine with an improved routine you would like to follow.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Evidence: أَسْتَيْقِظُ، أَغْتَسِلُ، أَتَوَضَّأُ، أَرْتَدِي، أَتَنَاوَلُ، أَسْتَعِدُّ · Form X: أَسْتَيْقِظُ / أَسْتَعِدُّ · عَادَةً، أَحْيَانًا، أَوَّلًا، ثُمَّ، بَعْدَ ذٰلِكَ · فِي رَأْيِي … يَجْعَلُ.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6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(D1-L02 · Telling the Time — What Time Is It?) will spend class time USING this language, so students prepare it tonight — short, simple, easy to access (school guidance: “Simple, Short, Interesting, Relevant, Easy to access”). The five words come from the website D1-L02 vocabulary (minutes past and to).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slideLayout" Target="../slideLayouts/slideLayout1.xm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slideLayout" Target="../slideLayouts/slideLayout1.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8  ·  DEVELOPMENT D1  ·  D1-L01</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D1-L01</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My Morning Routine</a:t>
            </a:r>
            <a:endParaRPr lang="en-US" sz="40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رُوتِينِي الصَّبَاحِيُّ</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Describe a detailed morning routine through accurate derived verbs, person agreement, precise time, sequence and frequency.</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D1-L01 · Development D1 · Daily Routine and Time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Development › D1 › D1-L01</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D1-L01 · My Morning Routine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D1-L01</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46</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D1-L01 · My Morning Routine</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D1-L01</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Morning verbs, then who is doing it: </a:t>
            </a:r>
            <a:pPr algn="ctr" indent="0" marL="0">
              <a:buNone/>
            </a:pPr>
            <a:r>
              <a:rPr lang="ar-SA" altLang="en-US" sz="1550" dirty="0">
                <a:solidFill>
                  <a:srgbClr val="1F2A37"/>
                </a:solidFill>
                <a:latin typeface="Amiri" pitchFamily="34" charset="0"/>
                <a:ea typeface="Amiri" pitchFamily="34" charset="-122"/>
                <a:cs typeface="Amiri" pitchFamily="34" charset="-120"/>
              </a:rPr>
              <a:t>أَ / يَ / تَ / نَ</a:t>
            </a:r>
            <a:pPr algn="ctr"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Picture match, sort the morning, fix and listen.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D1-L02.</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46</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D1-L01 · My Morning Routine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pronoun means “she”?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هُوَ</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هِيَ</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نَحْنُ</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What does this sentence mean?</a:t>
            </a:r>
            <a:endParaRPr lang="en-US" sz="1200" dirty="0"/>
          </a:p>
        </p:txBody>
      </p:sp>
      <p:sp>
        <p:nvSpPr>
          <p:cNvPr id="32" name="Text 29"/>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أَذْهَبُ إِلَى المَدْرَسَةِ.</a:t>
            </a:r>
            <a:endParaRPr lang="ar-SA" sz="1800" dirty="0"/>
          </a:p>
        </p:txBody>
      </p:sp>
      <p:sp>
        <p:nvSpPr>
          <p:cNvPr id="33" name="Shape 30"/>
          <p:cNvSpPr/>
          <p:nvPr/>
        </p:nvSpPr>
        <p:spPr>
          <a:xfrm>
            <a:off x="4459224"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5" name="Text 32"/>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go to school.</a:t>
            </a:r>
            <a:endParaRPr lang="en-US" sz="1250" dirty="0"/>
          </a:p>
        </p:txBody>
      </p:sp>
      <p:sp>
        <p:nvSpPr>
          <p:cNvPr id="36" name="Shape 33"/>
          <p:cNvSpPr/>
          <p:nvPr/>
        </p:nvSpPr>
        <p:spPr>
          <a:xfrm>
            <a:off x="4459224"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8" name="Text 35"/>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goes to school.</a:t>
            </a:r>
            <a:endParaRPr lang="en-US" sz="1250" dirty="0"/>
          </a:p>
        </p:txBody>
      </p:sp>
      <p:sp>
        <p:nvSpPr>
          <p:cNvPr id="39" name="Shape 36"/>
          <p:cNvSpPr/>
          <p:nvPr/>
        </p:nvSpPr>
        <p:spPr>
          <a:xfrm>
            <a:off x="4459224"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1" name="Text 38"/>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We go to school.</a:t>
            </a:r>
            <a:endParaRPr lang="en-US" sz="1250" dirty="0"/>
          </a:p>
        </p:txBody>
      </p:sp>
      <p:sp>
        <p:nvSpPr>
          <p:cNvPr id="42" name="Shape 39"/>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23504" y="1947672"/>
            <a:ext cx="310896" cy="310896"/>
          </a:xfrm>
          <a:prstGeom prst="ellipse">
            <a:avLst/>
          </a:prstGeom>
          <a:solidFill>
            <a:srgbClr val="1B3B6F"/>
          </a:solidFill>
          <a:ln w="12700">
            <a:solidFill>
              <a:srgbClr val="1B3B6F"/>
            </a:solidFill>
            <a:prstDash val="solid"/>
          </a:ln>
        </p:spPr>
      </p:sp>
      <p:sp>
        <p:nvSpPr>
          <p:cNvPr id="44" name="Text 41"/>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5" name="Text 42"/>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means “the morning”?</a:t>
            </a:r>
            <a:endParaRPr lang="en-US" sz="1250" dirty="0"/>
          </a:p>
        </p:txBody>
      </p:sp>
      <p:sp>
        <p:nvSpPr>
          <p:cNvPr id="46" name="Shape 43"/>
          <p:cNvSpPr/>
          <p:nvPr/>
        </p:nvSpPr>
        <p:spPr>
          <a:xfrm>
            <a:off x="8278368" y="2532888"/>
            <a:ext cx="256032" cy="256032"/>
          </a:xfrm>
          <a:prstGeom prst="ellipse">
            <a:avLst/>
          </a:prstGeom>
          <a:solidFill>
            <a:srgbClr val="F4F1EA"/>
          </a:solidFill>
          <a:ln w="12700">
            <a:solidFill>
              <a:srgbClr val="F4F1EA"/>
            </a:solidFill>
            <a:prstDash val="solid"/>
          </a:ln>
        </p:spPr>
      </p:sp>
      <p:sp>
        <p:nvSpPr>
          <p:cNvPr id="47" name="Text 44"/>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8" name="Text 45"/>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المَسَاءُ</a:t>
            </a:r>
            <a:endParaRPr lang="ar-SA" sz="2050" dirty="0"/>
          </a:p>
        </p:txBody>
      </p:sp>
      <p:sp>
        <p:nvSpPr>
          <p:cNvPr id="49" name="Shape 46"/>
          <p:cNvSpPr/>
          <p:nvPr/>
        </p:nvSpPr>
        <p:spPr>
          <a:xfrm>
            <a:off x="8278368" y="2990088"/>
            <a:ext cx="256032" cy="256032"/>
          </a:xfrm>
          <a:prstGeom prst="ellipse">
            <a:avLst/>
          </a:prstGeom>
          <a:solidFill>
            <a:srgbClr val="F4F1EA"/>
          </a:solidFill>
          <a:ln w="12700">
            <a:solidFill>
              <a:srgbClr val="F4F1EA"/>
            </a:solidFill>
            <a:prstDash val="solid"/>
          </a:ln>
        </p:spPr>
      </p:sp>
      <p:sp>
        <p:nvSpPr>
          <p:cNvPr id="50" name="Text 47"/>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1" name="Text 48"/>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اللَّيْلُ</a:t>
            </a:r>
            <a:endParaRPr lang="ar-SA" sz="2050" dirty="0"/>
          </a:p>
        </p:txBody>
      </p:sp>
      <p:sp>
        <p:nvSpPr>
          <p:cNvPr id="52" name="Shape 49"/>
          <p:cNvSpPr/>
          <p:nvPr/>
        </p:nvSpPr>
        <p:spPr>
          <a:xfrm>
            <a:off x="8278368" y="3447288"/>
            <a:ext cx="256032" cy="256032"/>
          </a:xfrm>
          <a:prstGeom prst="ellipse">
            <a:avLst/>
          </a:prstGeom>
          <a:solidFill>
            <a:srgbClr val="F4F1EA"/>
          </a:solidFill>
          <a:ln w="12700">
            <a:solidFill>
              <a:srgbClr val="F4F1EA"/>
            </a:solidFill>
            <a:prstDash val="solid"/>
          </a:ln>
        </p:spPr>
      </p:sp>
      <p:sp>
        <p:nvSpPr>
          <p:cNvPr id="53" name="Text 50"/>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4" name="Text 51"/>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الصَّبَاحُ</a:t>
            </a:r>
            <a:endParaRPr lang="ar-SA" sz="2050" dirty="0"/>
          </a:p>
        </p:txBody>
      </p:sp>
      <p:sp>
        <p:nvSpPr>
          <p:cNvPr id="55" name="Shape 52"/>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85216"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8" name="Text 55"/>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means “every day”?</a:t>
            </a:r>
            <a:endParaRPr lang="en-US" sz="1250" dirty="0"/>
          </a:p>
        </p:txBody>
      </p:sp>
      <p:sp>
        <p:nvSpPr>
          <p:cNvPr id="59" name="Shape 56"/>
          <p:cNvSpPr/>
          <p:nvPr/>
        </p:nvSpPr>
        <p:spPr>
          <a:xfrm>
            <a:off x="640080"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1" name="Text 58"/>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الصَّبَاحِ</a:t>
            </a:r>
            <a:endParaRPr lang="ar-SA" sz="2050" dirty="0"/>
          </a:p>
        </p:txBody>
      </p:sp>
      <p:sp>
        <p:nvSpPr>
          <p:cNvPr id="62" name="Shape 59"/>
          <p:cNvSpPr/>
          <p:nvPr/>
        </p:nvSpPr>
        <p:spPr>
          <a:xfrm>
            <a:off x="640080"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4" name="Text 61"/>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السَّاعَةِ السَّابِعَةِ</a:t>
            </a:r>
            <a:endParaRPr lang="ar-SA" sz="2050" dirty="0"/>
          </a:p>
        </p:txBody>
      </p:sp>
      <p:sp>
        <p:nvSpPr>
          <p:cNvPr id="65" name="Shape 62"/>
          <p:cNvSpPr/>
          <p:nvPr/>
        </p:nvSpPr>
        <p:spPr>
          <a:xfrm>
            <a:off x="640080"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7" name="Text 64"/>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كُلَّ يَوْمٍ</a:t>
            </a:r>
            <a:endParaRPr lang="ar-SA" sz="2050" dirty="0"/>
          </a:p>
        </p:txBody>
      </p:sp>
      <p:sp>
        <p:nvSpPr>
          <p:cNvPr id="68" name="Shape 6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9" name="Shape 66"/>
          <p:cNvSpPr/>
          <p:nvPr/>
        </p:nvSpPr>
        <p:spPr>
          <a:xfrm>
            <a:off x="4404360" y="4288536"/>
            <a:ext cx="310896" cy="310896"/>
          </a:xfrm>
          <a:prstGeom prst="ellipse">
            <a:avLst/>
          </a:prstGeom>
          <a:solidFill>
            <a:srgbClr val="1B3B6F"/>
          </a:solidFill>
          <a:ln w="12700">
            <a:solidFill>
              <a:srgbClr val="1B3B6F"/>
            </a:solidFill>
            <a:prstDash val="solid"/>
          </a:ln>
        </p:spPr>
      </p:sp>
      <p:sp>
        <p:nvSpPr>
          <p:cNvPr id="70" name="Text 6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1" name="Text 68"/>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means “we eat”?</a:t>
            </a:r>
            <a:endParaRPr lang="en-US" sz="1250" dirty="0"/>
          </a:p>
        </p:txBody>
      </p:sp>
      <p:sp>
        <p:nvSpPr>
          <p:cNvPr id="72" name="Shape 69"/>
          <p:cNvSpPr/>
          <p:nvPr/>
        </p:nvSpPr>
        <p:spPr>
          <a:xfrm>
            <a:off x="4459224" y="4873752"/>
            <a:ext cx="256032" cy="256032"/>
          </a:xfrm>
          <a:prstGeom prst="ellipse">
            <a:avLst/>
          </a:prstGeom>
          <a:solidFill>
            <a:srgbClr val="F4F1EA"/>
          </a:solidFill>
          <a:ln w="12700">
            <a:solidFill>
              <a:srgbClr val="F4F1EA"/>
            </a:solidFill>
            <a:prstDash val="solid"/>
          </a:ln>
        </p:spPr>
      </p:sp>
      <p:sp>
        <p:nvSpPr>
          <p:cNvPr id="73" name="Text 70"/>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4" name="Text 71"/>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نَأْكُلُ</a:t>
            </a:r>
            <a:endParaRPr lang="ar-SA" sz="2050" dirty="0"/>
          </a:p>
        </p:txBody>
      </p:sp>
      <p:sp>
        <p:nvSpPr>
          <p:cNvPr id="75" name="Shape 72"/>
          <p:cNvSpPr/>
          <p:nvPr/>
        </p:nvSpPr>
        <p:spPr>
          <a:xfrm>
            <a:off x="4459224" y="5330952"/>
            <a:ext cx="256032" cy="256032"/>
          </a:xfrm>
          <a:prstGeom prst="ellipse">
            <a:avLst/>
          </a:prstGeom>
          <a:solidFill>
            <a:srgbClr val="F4F1EA"/>
          </a:solidFill>
          <a:ln w="12700">
            <a:solidFill>
              <a:srgbClr val="F4F1EA"/>
            </a:solidFill>
            <a:prstDash val="solid"/>
          </a:ln>
        </p:spPr>
      </p:sp>
      <p:sp>
        <p:nvSpPr>
          <p:cNvPr id="76" name="Text 73"/>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7" name="Text 74"/>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آكُلُ</a:t>
            </a:r>
            <a:endParaRPr lang="ar-SA" sz="2050" dirty="0"/>
          </a:p>
        </p:txBody>
      </p:sp>
      <p:sp>
        <p:nvSpPr>
          <p:cNvPr id="78" name="Shape 75"/>
          <p:cNvSpPr/>
          <p:nvPr/>
        </p:nvSpPr>
        <p:spPr>
          <a:xfrm>
            <a:off x="4459224" y="5788152"/>
            <a:ext cx="256032" cy="256032"/>
          </a:xfrm>
          <a:prstGeom prst="ellipse">
            <a:avLst/>
          </a:prstGeom>
          <a:solidFill>
            <a:srgbClr val="F4F1EA"/>
          </a:solidFill>
          <a:ln w="12700">
            <a:solidFill>
              <a:srgbClr val="F4F1EA"/>
            </a:solidFill>
            <a:prstDash val="solid"/>
          </a:ln>
        </p:spPr>
      </p:sp>
      <p:sp>
        <p:nvSpPr>
          <p:cNvPr id="79" name="Text 76"/>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0" name="Text 77"/>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يَأْكُلُ</a:t>
            </a:r>
            <a:endParaRPr lang="ar-SA" sz="2050" dirty="0"/>
          </a:p>
        </p:txBody>
      </p:sp>
      <p:sp>
        <p:nvSpPr>
          <p:cNvPr id="81" name="Shape 78"/>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2" name="Text 79"/>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3" name="Text 80"/>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4" name="Text 81"/>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5" name="Text 82"/>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6" name="Text 8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46</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D1-L01 · My Morning Routine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pronoun means “she”?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هُوَ</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هِيَ</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نَحْنُ</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Foundation: </a:t>
            </a:r>
            <a:pPr algn="l" indent="0" marL="0">
              <a:buNone/>
            </a:pPr>
            <a:r>
              <a:rPr lang="ar-SA" altLang="en-US" sz="1350" dirty="0">
                <a:solidFill>
                  <a:srgbClr val="8A6D1E"/>
                </a:solidFill>
                <a:latin typeface="Amiri" pitchFamily="34" charset="0"/>
                <a:ea typeface="Amiri" pitchFamily="34" charset="-122"/>
                <a:cs typeface="Amiri" pitchFamily="34" charset="-120"/>
              </a:rPr>
              <a:t>هِيَ</a:t>
            </a:r>
            <a:pPr algn="l" indent="0" marL="0">
              <a:buNone/>
            </a:pPr>
            <a:r>
              <a:rPr lang="en-US" sz="1050" i="1" dirty="0">
                <a:solidFill>
                  <a:srgbClr val="8A6D1E"/>
                </a:solidFill>
                <a:latin typeface="Calibri" pitchFamily="34" charset="0"/>
                <a:ea typeface="Calibri" pitchFamily="34" charset="-122"/>
                <a:cs typeface="Calibri" pitchFamily="34" charset="-120"/>
              </a:rPr>
              <a:t> = she · </a:t>
            </a:r>
            <a:pPr algn="l" indent="0" marL="0">
              <a:buNone/>
            </a:pPr>
            <a:r>
              <a:rPr lang="ar-SA" altLang="en-US" sz="1350" dirty="0">
                <a:solidFill>
                  <a:srgbClr val="8A6D1E"/>
                </a:solidFill>
                <a:latin typeface="Amiri" pitchFamily="34" charset="0"/>
                <a:ea typeface="Amiri" pitchFamily="34" charset="-122"/>
                <a:cs typeface="Amiri" pitchFamily="34" charset="-120"/>
              </a:rPr>
              <a:t>هُوَ</a:t>
            </a:r>
            <a:pPr algn="l" indent="0" marL="0">
              <a:buNone/>
            </a:pPr>
            <a:r>
              <a:rPr lang="en-US" sz="1050" i="1" dirty="0">
                <a:solidFill>
                  <a:srgbClr val="8A6D1E"/>
                </a:solidFill>
                <a:latin typeface="Calibri" pitchFamily="34" charset="0"/>
                <a:ea typeface="Calibri" pitchFamily="34" charset="-122"/>
                <a:cs typeface="Calibri" pitchFamily="34" charset="-120"/>
              </a:rPr>
              <a:t> = he · </a:t>
            </a:r>
            <a:pPr algn="l" indent="0" marL="0">
              <a:buNone/>
            </a:pPr>
            <a:r>
              <a:rPr lang="ar-SA" altLang="en-US" sz="1350" dirty="0">
                <a:solidFill>
                  <a:srgbClr val="8A6D1E"/>
                </a:solidFill>
                <a:latin typeface="Amiri" pitchFamily="34" charset="0"/>
                <a:ea typeface="Amiri" pitchFamily="34" charset="-122"/>
                <a:cs typeface="Amiri" pitchFamily="34" charset="-120"/>
              </a:rPr>
              <a:t>نَحْنُ</a:t>
            </a:r>
            <a:pPr algn="l" indent="0" marL="0">
              <a:buNone/>
            </a:pPr>
            <a:r>
              <a:rPr lang="en-US" sz="1050" i="1" dirty="0">
                <a:solidFill>
                  <a:srgbClr val="8A6D1E"/>
                </a:solidFill>
                <a:latin typeface="Calibri" pitchFamily="34" charset="0"/>
                <a:ea typeface="Calibri" pitchFamily="34" charset="-122"/>
                <a:cs typeface="Calibri" pitchFamily="34" charset="-120"/>
              </a:rPr>
              <a:t> = we.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What does this sentence mean?</a:t>
            </a:r>
            <a:endParaRPr lang="en-US" sz="1200" dirty="0"/>
          </a:p>
        </p:txBody>
      </p:sp>
      <p:sp>
        <p:nvSpPr>
          <p:cNvPr id="34" name="Text 31"/>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أَذْهَبُ إِلَى المَدْرَسَةِ.</a:t>
            </a:r>
            <a:endParaRPr lang="ar-SA" sz="1800" dirty="0"/>
          </a:p>
        </p:txBody>
      </p:sp>
      <p:sp>
        <p:nvSpPr>
          <p:cNvPr id="35" name="Shape 32"/>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3"/>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 go to school.</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 goes to school.</a:t>
            </a:r>
            <a:endParaRPr lang="en-US" sz="1250" dirty="0"/>
          </a:p>
        </p:txBody>
      </p:sp>
      <p:sp>
        <p:nvSpPr>
          <p:cNvPr id="42" name="Shape 39"/>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1"/>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We go to school.</a:t>
            </a:r>
            <a:endParaRPr lang="en-US" sz="1250" dirty="0"/>
          </a:p>
        </p:txBody>
      </p:sp>
      <p:sp>
        <p:nvSpPr>
          <p:cNvPr id="45" name="Text 42"/>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a:t>
            </a:r>
            <a:pPr algn="l" indent="0" marL="0">
              <a:buNone/>
            </a:pPr>
            <a:r>
              <a:rPr lang="ar-SA" altLang="en-US" sz="1350" dirty="0">
                <a:solidFill>
                  <a:srgbClr val="8A6D1E"/>
                </a:solidFill>
                <a:latin typeface="Amiri" pitchFamily="34" charset="0"/>
                <a:ea typeface="Amiri" pitchFamily="34" charset="-122"/>
                <a:cs typeface="Amiri" pitchFamily="34" charset="-120"/>
              </a:rPr>
              <a:t>أَـ</a:t>
            </a:r>
            <a:pPr algn="l" indent="0" marL="0">
              <a:buNone/>
            </a:pPr>
            <a:r>
              <a:rPr lang="en-US" sz="1050" i="1" dirty="0">
                <a:solidFill>
                  <a:srgbClr val="8A6D1E"/>
                </a:solidFill>
                <a:latin typeface="Calibri" pitchFamily="34" charset="0"/>
                <a:ea typeface="Calibri" pitchFamily="34" charset="-122"/>
                <a:cs typeface="Calibri" pitchFamily="34" charset="-120"/>
              </a:rPr>
              <a:t> at the start = I.</a:t>
            </a:r>
            <a:endParaRPr lang="en-US" sz="1050" dirty="0"/>
          </a:p>
        </p:txBody>
      </p:sp>
      <p:sp>
        <p:nvSpPr>
          <p:cNvPr id="46" name="Shape 43"/>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5"/>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6"/>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means “the morning”?</a:t>
            </a:r>
            <a:endParaRPr lang="en-US" sz="1250" dirty="0"/>
          </a:p>
        </p:txBody>
      </p:sp>
      <p:sp>
        <p:nvSpPr>
          <p:cNvPr id="50" name="Shape 47"/>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المَسَاءُ</a:t>
            </a:r>
            <a:endParaRPr lang="ar-SA" sz="170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اللَّيْلُ</a:t>
            </a:r>
            <a:endParaRPr lang="ar-SA" sz="1700" dirty="0"/>
          </a:p>
        </p:txBody>
      </p:sp>
      <p:sp>
        <p:nvSpPr>
          <p:cNvPr id="56" name="Shape 53"/>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4"/>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5"/>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9" name="Text 56"/>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الصَّبَاحُ</a:t>
            </a:r>
            <a:endParaRPr lang="ar-SA" sz="1700" dirty="0"/>
          </a:p>
        </p:txBody>
      </p:sp>
      <p:sp>
        <p:nvSpPr>
          <p:cNvPr id="60" name="Text 57"/>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الصَّبَاحُ</a:t>
            </a:r>
            <a:pPr algn="l" indent="0" marL="0">
              <a:buNone/>
            </a:pPr>
            <a:r>
              <a:rPr lang="en-US" sz="1050" i="1" dirty="0">
                <a:solidFill>
                  <a:srgbClr val="8A6D1E"/>
                </a:solidFill>
                <a:latin typeface="Calibri" pitchFamily="34" charset="0"/>
                <a:ea typeface="Calibri" pitchFamily="34" charset="-122"/>
                <a:cs typeface="Calibri" pitchFamily="34" charset="-120"/>
              </a:rPr>
              <a:t> = the morning (Urdu: subah).</a:t>
            </a:r>
            <a:endParaRPr lang="en-US" sz="1050" dirty="0"/>
          </a:p>
        </p:txBody>
      </p:sp>
      <p:sp>
        <p:nvSpPr>
          <p:cNvPr id="61" name="Shape 58"/>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1"/>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means “every day”?</a:t>
            </a:r>
            <a:endParaRPr lang="en-US" sz="1250" dirty="0"/>
          </a:p>
        </p:txBody>
      </p:sp>
      <p:sp>
        <p:nvSpPr>
          <p:cNvPr id="65" name="Shape 62"/>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 الصَّبَاحِ</a:t>
            </a:r>
            <a:endParaRPr lang="ar-SA" sz="170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 السَّاعَةِ السَّابِعَةِ</a:t>
            </a:r>
            <a:endParaRPr lang="ar-SA" sz="1700" dirty="0"/>
          </a:p>
        </p:txBody>
      </p:sp>
      <p:sp>
        <p:nvSpPr>
          <p:cNvPr id="71" name="Shape 68"/>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69"/>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0"/>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4" name="Text 71"/>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كُلَّ يَوْمٍ</a:t>
            </a:r>
            <a:endParaRPr lang="ar-SA" sz="1700" dirty="0"/>
          </a:p>
        </p:txBody>
      </p:sp>
      <p:sp>
        <p:nvSpPr>
          <p:cNvPr id="75" name="Text 72"/>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كُلَّ</a:t>
            </a:r>
            <a:pPr algn="l" indent="0" marL="0">
              <a:buNone/>
            </a:pPr>
            <a:r>
              <a:rPr lang="en-US" sz="1050" i="1" dirty="0">
                <a:solidFill>
                  <a:srgbClr val="8A6D1E"/>
                </a:solidFill>
                <a:latin typeface="Calibri" pitchFamily="34" charset="0"/>
                <a:ea typeface="Calibri" pitchFamily="34" charset="-122"/>
                <a:cs typeface="Calibri" pitchFamily="34" charset="-120"/>
              </a:rPr>
              <a:t> = every · </a:t>
            </a:r>
            <a:pPr algn="l" indent="0" marL="0">
              <a:buNone/>
            </a:pPr>
            <a:r>
              <a:rPr lang="ar-SA" altLang="en-US" sz="1350" dirty="0">
                <a:solidFill>
                  <a:srgbClr val="8A6D1E"/>
                </a:solidFill>
                <a:latin typeface="Amiri" pitchFamily="34" charset="0"/>
                <a:ea typeface="Amiri" pitchFamily="34" charset="-122"/>
                <a:cs typeface="Amiri" pitchFamily="34" charset="-120"/>
              </a:rPr>
              <a:t>يَوْمٌ</a:t>
            </a:r>
            <a:pPr algn="l" indent="0" marL="0">
              <a:buNone/>
            </a:pPr>
            <a:r>
              <a:rPr lang="en-US" sz="1050" i="1" dirty="0">
                <a:solidFill>
                  <a:srgbClr val="8A6D1E"/>
                </a:solidFill>
                <a:latin typeface="Calibri" pitchFamily="34" charset="0"/>
                <a:ea typeface="Calibri" pitchFamily="34" charset="-122"/>
                <a:cs typeface="Calibri" pitchFamily="34" charset="-120"/>
              </a:rPr>
              <a:t> = day.</a:t>
            </a:r>
            <a:endParaRPr lang="en-US" sz="1050" dirty="0"/>
          </a:p>
        </p:txBody>
      </p:sp>
      <p:sp>
        <p:nvSpPr>
          <p:cNvPr id="76" name="Shape 73"/>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4"/>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5"/>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9" name="Text 76"/>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means “we eat”?</a:t>
            </a:r>
            <a:endParaRPr lang="en-US" sz="1250" dirty="0"/>
          </a:p>
        </p:txBody>
      </p:sp>
      <p:sp>
        <p:nvSpPr>
          <p:cNvPr id="80" name="Shape 77"/>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8"/>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79"/>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3" name="Text 80"/>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نَأْكُلُ</a:t>
            </a:r>
            <a:endParaRPr lang="ar-SA" sz="1700" dirty="0"/>
          </a:p>
        </p:txBody>
      </p:sp>
      <p:sp>
        <p:nvSpPr>
          <p:cNvPr id="84" name="Shape 81"/>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2"/>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6" name="Text 83"/>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آكُلُ</a:t>
            </a:r>
            <a:endParaRPr lang="ar-SA" sz="1700" dirty="0"/>
          </a:p>
        </p:txBody>
      </p:sp>
      <p:sp>
        <p:nvSpPr>
          <p:cNvPr id="87" name="Shape 84"/>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5"/>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9" name="Text 86"/>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يَأْكُلُ</a:t>
            </a:r>
            <a:endParaRPr lang="ar-SA" sz="1700" dirty="0"/>
          </a:p>
        </p:txBody>
      </p:sp>
      <p:sp>
        <p:nvSpPr>
          <p:cNvPr id="90" name="Text 87"/>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نَـ</a:t>
            </a:r>
            <a:pPr algn="l" indent="0" marL="0">
              <a:buNone/>
            </a:pPr>
            <a:r>
              <a:rPr lang="en-US" sz="1050" i="1" dirty="0">
                <a:solidFill>
                  <a:srgbClr val="8A6D1E"/>
                </a:solidFill>
                <a:latin typeface="Calibri" pitchFamily="34" charset="0"/>
                <a:ea typeface="Calibri" pitchFamily="34" charset="-122"/>
                <a:cs typeface="Calibri" pitchFamily="34" charset="-120"/>
              </a:rPr>
              <a:t> at the start = we.</a:t>
            </a:r>
            <a:endParaRPr lang="en-US" sz="1050" dirty="0"/>
          </a:p>
        </p:txBody>
      </p:sp>
      <p:sp>
        <p:nvSpPr>
          <p:cNvPr id="91" name="Shape 88"/>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2" name="Text 89"/>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3" name="Text 90"/>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The first letter of a present verb tells you WHO: </a:t>
            </a:r>
            <a:pPr algn="l" indent="0" marL="0">
              <a:buNone/>
            </a:pPr>
            <a:r>
              <a:rPr lang="ar-SA" altLang="en-US" sz="1700" b="1" dirty="0">
                <a:solidFill>
                  <a:srgbClr val="1F2A37"/>
                </a:solidFill>
                <a:latin typeface="Amiri" pitchFamily="34" charset="0"/>
                <a:ea typeface="Amiri" pitchFamily="34" charset="-122"/>
                <a:cs typeface="Amiri" pitchFamily="34" charset="-120"/>
              </a:rPr>
              <a:t>أَـ</a:t>
            </a:r>
            <a:pPr algn="l" indent="0" marL="0">
              <a:buNone/>
            </a:pPr>
            <a:r>
              <a:rPr lang="en-US" sz="1300" b="1" dirty="0">
                <a:solidFill>
                  <a:srgbClr val="1F2A37"/>
                </a:solidFill>
                <a:latin typeface="Calibri" pitchFamily="34" charset="0"/>
                <a:ea typeface="Calibri" pitchFamily="34" charset="-122"/>
                <a:cs typeface="Calibri" pitchFamily="34" charset="-120"/>
              </a:rPr>
              <a:t> I · </a:t>
            </a:r>
            <a:pPr algn="l" indent="0" marL="0">
              <a:buNone/>
            </a:pPr>
            <a:r>
              <a:rPr lang="ar-SA" altLang="en-US" sz="1700" b="1" dirty="0">
                <a:solidFill>
                  <a:srgbClr val="1F2A37"/>
                </a:solidFill>
                <a:latin typeface="Amiri" pitchFamily="34" charset="0"/>
                <a:ea typeface="Amiri" pitchFamily="34" charset="-122"/>
                <a:cs typeface="Amiri" pitchFamily="34" charset="-120"/>
              </a:rPr>
              <a:t>يَـ</a:t>
            </a:r>
            <a:pPr algn="l" indent="0" marL="0">
              <a:buNone/>
            </a:pPr>
            <a:r>
              <a:rPr lang="en-US" sz="1300" b="1" dirty="0">
                <a:solidFill>
                  <a:srgbClr val="1F2A37"/>
                </a:solidFill>
                <a:latin typeface="Calibri" pitchFamily="34" charset="0"/>
                <a:ea typeface="Calibri" pitchFamily="34" charset="-122"/>
                <a:cs typeface="Calibri" pitchFamily="34" charset="-120"/>
              </a:rPr>
              <a:t> he · </a:t>
            </a:r>
            <a:pPr algn="l" indent="0" marL="0">
              <a:buNone/>
            </a:pPr>
            <a:r>
              <a:rPr lang="ar-SA" altLang="en-US" sz="1700" b="1" dirty="0">
                <a:solidFill>
                  <a:srgbClr val="1F2A37"/>
                </a:solidFill>
                <a:latin typeface="Amiri" pitchFamily="34" charset="0"/>
                <a:ea typeface="Amiri" pitchFamily="34" charset="-122"/>
                <a:cs typeface="Amiri" pitchFamily="34" charset="-120"/>
              </a:rPr>
              <a:t>تَـ</a:t>
            </a:r>
            <a:pPr algn="l" indent="0" marL="0">
              <a:buNone/>
            </a:pPr>
            <a:r>
              <a:rPr lang="en-US" sz="1300" b="1" dirty="0">
                <a:solidFill>
                  <a:srgbClr val="1F2A37"/>
                </a:solidFill>
                <a:latin typeface="Calibri" pitchFamily="34" charset="0"/>
                <a:ea typeface="Calibri" pitchFamily="34" charset="-122"/>
                <a:cs typeface="Calibri" pitchFamily="34" charset="-120"/>
              </a:rPr>
              <a:t> she · </a:t>
            </a:r>
            <a:pPr algn="l" indent="0" marL="0">
              <a:buNone/>
            </a:pPr>
            <a:r>
              <a:rPr lang="ar-SA" altLang="en-US" sz="1700" b="1" dirty="0">
                <a:solidFill>
                  <a:srgbClr val="1F2A37"/>
                </a:solidFill>
                <a:latin typeface="Amiri" pitchFamily="34" charset="0"/>
                <a:ea typeface="Amiri" pitchFamily="34" charset="-122"/>
                <a:cs typeface="Amiri" pitchFamily="34" charset="-120"/>
              </a:rPr>
              <a:t>نَـ</a:t>
            </a:r>
            <a:pPr algn="l" indent="0" marL="0">
              <a:buNone/>
            </a:pPr>
            <a:r>
              <a:rPr lang="en-US" sz="1300" b="1" dirty="0">
                <a:solidFill>
                  <a:srgbClr val="1F2A37"/>
                </a:solidFill>
                <a:latin typeface="Calibri" pitchFamily="34" charset="0"/>
                <a:ea typeface="Calibri" pitchFamily="34" charset="-122"/>
                <a:cs typeface="Calibri" pitchFamily="34" charset="-120"/>
              </a:rPr>
              <a:t> we.</a:t>
            </a:r>
            <a:endParaRPr lang="en-US" sz="1300" dirty="0"/>
          </a:p>
        </p:txBody>
      </p:sp>
      <p:sp>
        <p:nvSpPr>
          <p:cNvPr id="94" name="Text 91"/>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D5FBF"/>
                </a:solidFill>
                <a:latin typeface="Amiri" pitchFamily="34" charset="0"/>
                <a:ea typeface="Amiri" pitchFamily="34" charset="-122"/>
                <a:cs typeface="Amiri" pitchFamily="34" charset="-120"/>
              </a:rPr>
              <a:t>أَ</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سْتَيْقِظُ · </a:t>
            </a:r>
            <a:pPr rtl="1" algn="ctr" indent="0" marL="0">
              <a:lnSpc>
                <a:spcPct val="120000"/>
              </a:lnSpc>
              <a:buNone/>
            </a:pPr>
            <a:r>
              <a:rPr lang="ar-SA" altLang="en-US" sz="1950" b="1" dirty="0">
                <a:solidFill>
                  <a:srgbClr val="1D5FBF"/>
                </a:solidFill>
                <a:latin typeface="Amiri" pitchFamily="34" charset="0"/>
                <a:ea typeface="Amiri" pitchFamily="34" charset="-122"/>
                <a:cs typeface="Amiri" pitchFamily="34" charset="-120"/>
              </a:rPr>
              <a:t>يَ</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سْتَيْقِظُ · </a:t>
            </a:r>
            <a:pPr rtl="1" algn="ctr" indent="0" marL="0">
              <a:lnSpc>
                <a:spcPct val="120000"/>
              </a:lnSpc>
              <a:buNone/>
            </a:pPr>
            <a:r>
              <a:rPr lang="ar-SA" altLang="en-US" sz="1950" b="1" dirty="0">
                <a:solidFill>
                  <a:srgbClr val="D6336C"/>
                </a:solidFill>
                <a:latin typeface="Amiri" pitchFamily="34" charset="0"/>
                <a:ea typeface="Amiri" pitchFamily="34" charset="-122"/>
                <a:cs typeface="Amiri" pitchFamily="34" charset="-120"/>
              </a:rPr>
              <a:t>تَ</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سْتَيْقِظُ · </a:t>
            </a:r>
            <a:pPr rtl="1" algn="ctr" indent="0" marL="0">
              <a:lnSpc>
                <a:spcPct val="120000"/>
              </a:lnSpc>
              <a:buNone/>
            </a:pPr>
            <a:r>
              <a:rPr lang="ar-SA" altLang="en-US" sz="1950" b="1" dirty="0">
                <a:solidFill>
                  <a:srgbClr val="1D5FBF"/>
                </a:solidFill>
                <a:latin typeface="Amiri" pitchFamily="34" charset="0"/>
                <a:ea typeface="Amiri" pitchFamily="34" charset="-122"/>
                <a:cs typeface="Amiri" pitchFamily="34" charset="-120"/>
              </a:rPr>
              <a:t>نَ</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سْتَيْقِظُ</a:t>
            </a:r>
            <a:endParaRPr lang="ar-SA" sz="19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46</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D1-L01 · My Morning Routine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D1-L01</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at least ten daily-routine verbs accurately.</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Recognise and preserve key Form V, VI, VIII and X patterns.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Change present-tense prefixes for different subjects.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Produce a connected morning routine with time and frequency.</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say six morning actions in the “I” form.</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order them with </a:t>
            </a:r>
            <a:pPr algn="l" indent="0" marL="0">
              <a:buNone/>
            </a:pPr>
            <a:r>
              <a:rPr lang="ar-SA" altLang="en-US" sz="1700" b="1" dirty="0">
                <a:solidFill>
                  <a:srgbClr val="2E8B57"/>
                </a:solidFill>
                <a:latin typeface="Amiri" pitchFamily="34" charset="0"/>
                <a:ea typeface="Amiri" pitchFamily="34" charset="-122"/>
                <a:cs typeface="Amiri" pitchFamily="34" charset="-120"/>
              </a:rPr>
              <a:t>أَوَّلًا</a:t>
            </a:r>
            <a:pPr algn="l" indent="0" marL="0">
              <a:buNone/>
            </a:pPr>
            <a:r>
              <a:rPr lang="en-US" sz="1300" b="1" dirty="0">
                <a:solidFill>
                  <a:srgbClr val="2E8B57"/>
                </a:solidFill>
                <a:latin typeface="Calibri" pitchFamily="34" charset="0"/>
                <a:ea typeface="Calibri" pitchFamily="34" charset="-122"/>
                <a:cs typeface="Calibri" pitchFamily="34" charset="-120"/>
              </a:rPr>
              <a:t> and </a:t>
            </a:r>
            <a:pPr algn="l" indent="0" marL="0">
              <a:buNone/>
            </a:pPr>
            <a:r>
              <a:rPr lang="ar-SA" altLang="en-US" sz="1700" b="1" dirty="0">
                <a:solidFill>
                  <a:srgbClr val="2E8B57"/>
                </a:solidFill>
                <a:latin typeface="Amiri" pitchFamily="34" charset="0"/>
                <a:ea typeface="Amiri" pitchFamily="34" charset="-122"/>
                <a:cs typeface="Amiri" pitchFamily="34" charset="-120"/>
              </a:rPr>
              <a:t>ثُمَّ</a:t>
            </a:r>
            <a:pPr algn="l" indent="0" marL="0">
              <a:buNone/>
            </a:pPr>
            <a:r>
              <a:rPr lang="en-US" sz="1300" b="1" dirty="0">
                <a:solidFill>
                  <a:srgbClr val="2E8B57"/>
                </a:solidFill>
                <a:latin typeface="Calibri" pitchFamily="34" charset="0"/>
                <a:ea typeface="Calibri" pitchFamily="34" charset="-122"/>
                <a:cs typeface="Calibri" pitchFamily="34" charset="-120"/>
              </a:rPr>
              <a:t>.</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change the verb for he / she / we.</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add a time and a frequency word.</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keep derived patterns whole (</a:t>
            </a:r>
            <a:pPr algn="l" indent="0" marL="0">
              <a:buNone/>
            </a:pPr>
            <a:r>
              <a:rPr lang="ar-SA" altLang="en-US" sz="1700" b="1" dirty="0">
                <a:solidFill>
                  <a:srgbClr val="B83227"/>
                </a:solidFill>
                <a:latin typeface="Amiri" pitchFamily="34" charset="0"/>
                <a:ea typeface="Amiri" pitchFamily="34" charset="-122"/>
                <a:cs typeface="Amiri" pitchFamily="34" charset="-120"/>
              </a:rPr>
              <a:t>أَسْتَيْقِظُ</a:t>
            </a:r>
            <a:pPr algn="l" indent="0" marL="0">
              <a:buNone/>
            </a:pPr>
            <a:r>
              <a:rPr lang="en-US" sz="1300" b="1" dirty="0">
                <a:solidFill>
                  <a:srgbClr val="B83227"/>
                </a:solidFill>
                <a:latin typeface="Calibri" pitchFamily="34" charset="0"/>
                <a:ea typeface="Calibri" pitchFamily="34" charset="-122"/>
                <a:cs typeface="Calibri" pitchFamily="34" charset="-120"/>
              </a:rPr>
              <a:t>, </a:t>
            </a:r>
            <a:pPr algn="l" indent="0" marL="0">
              <a:buNone/>
            </a:pPr>
            <a:r>
              <a:rPr lang="ar-SA" altLang="en-US" sz="1700" b="1" dirty="0">
                <a:solidFill>
                  <a:srgbClr val="B83227"/>
                </a:solidFill>
                <a:latin typeface="Amiri" pitchFamily="34" charset="0"/>
                <a:ea typeface="Amiri" pitchFamily="34" charset="-122"/>
                <a:cs typeface="Amiri" pitchFamily="34" charset="-120"/>
              </a:rPr>
              <a:t>أَتَنَاوَلُ</a:t>
            </a:r>
            <a:pPr algn="l" indent="0" marL="0">
              <a:buNone/>
            </a:pPr>
            <a:r>
              <a:rPr lang="en-US" sz="1300" b="1" dirty="0">
                <a:solidFill>
                  <a:srgbClr val="B83227"/>
                </a:solidFill>
                <a:latin typeface="Calibri" pitchFamily="34" charset="0"/>
                <a:ea typeface="Calibri" pitchFamily="34" charset="-122"/>
                <a:cs typeface="Calibri" pitchFamily="34" charset="-120"/>
              </a:rPr>
              <a:t>).</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compare two routines with a reason.</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28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Morning routine verbs · 12</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Sequence and frequency · 10</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Useful detail · 6</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الصَّبَاحُ</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‎صبح‎ </a:t>
            </a:r>
            <a:pPr indent="0" marL="0">
              <a:buNone/>
            </a:pPr>
            <a:r>
              <a:rPr lang="en-US" sz="950" b="1" dirty="0">
                <a:solidFill>
                  <a:srgbClr val="2E8B57"/>
                </a:solidFill>
                <a:latin typeface="Calibri" pitchFamily="34" charset="0"/>
                <a:ea typeface="Calibri" pitchFamily="34" charset="-122"/>
                <a:cs typeface="Calibri" pitchFamily="34" charset="-120"/>
              </a:rPr>
              <a:t> subah · morning</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أَغْتَسِلُ</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‎غسل‎ </a:t>
            </a:r>
            <a:pPr indent="0" marL="0">
              <a:buNone/>
            </a:pPr>
            <a:r>
              <a:rPr lang="en-US" sz="950" b="1" dirty="0">
                <a:solidFill>
                  <a:srgbClr val="2E8B57"/>
                </a:solidFill>
                <a:latin typeface="Calibri" pitchFamily="34" charset="0"/>
                <a:ea typeface="Calibri" pitchFamily="34" charset="-122"/>
                <a:cs typeface="Calibri" pitchFamily="34" charset="-120"/>
              </a:rPr>
              <a:t> ghusl · washing, bath</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أَتَوَضَّأُ</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‎وضو‎ </a:t>
            </a:r>
            <a:pPr indent="0" marL="0">
              <a:buNone/>
            </a:pPr>
            <a:r>
              <a:rPr lang="en-US" sz="950" b="1" dirty="0">
                <a:solidFill>
                  <a:srgbClr val="2E8B57"/>
                </a:solidFill>
                <a:latin typeface="Calibri" pitchFamily="34" charset="0"/>
                <a:ea typeface="Calibri" pitchFamily="34" charset="-122"/>
                <a:cs typeface="Calibri" pitchFamily="34" charset="-120"/>
              </a:rPr>
              <a:t> wuzu · ablution</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أَسْتَعِدُّ</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‎مستعد‎ </a:t>
            </a:r>
            <a:pPr indent="0" marL="0">
              <a:buNone/>
            </a:pPr>
            <a:r>
              <a:rPr lang="en-US" sz="950" b="1" dirty="0">
                <a:solidFill>
                  <a:srgbClr val="2E8B57"/>
                </a:solidFill>
                <a:latin typeface="Calibri" pitchFamily="34" charset="0"/>
                <a:ea typeface="Calibri" pitchFamily="34" charset="-122"/>
                <a:cs typeface="Calibri" pitchFamily="34" charset="-120"/>
              </a:rPr>
              <a:t> mustaid · ready, prepared</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عَادَةً</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‎عادت‎ </a:t>
            </a:r>
            <a:pPr indent="0" marL="0">
              <a:buNone/>
            </a:pPr>
            <a:r>
              <a:rPr lang="en-US" sz="950" b="1" dirty="0">
                <a:solidFill>
                  <a:srgbClr val="2E8B57"/>
                </a:solidFill>
                <a:latin typeface="Calibri" pitchFamily="34" charset="0"/>
                <a:ea typeface="Calibri" pitchFamily="34" charset="-122"/>
                <a:cs typeface="Calibri" pitchFamily="34" charset="-120"/>
              </a:rPr>
              <a:t> ādat · habit (→ usually)</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46</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D1-L01 · My Morning Routine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Morning routine verbs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1020470"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أَسْتَيْقِظُ</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wake up</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as-tay-qi-ẓu</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أَسْتَيْقِظُ</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he</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يَسْتَيْقِظُ</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تَسْتَيْقِظُ</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36" name="Text 33"/>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أَصْحُو</a:t>
            </a:r>
            <a:endParaRPr lang="ar-SA" sz="3000" dirty="0"/>
          </a:p>
        </p:txBody>
      </p:sp>
      <p:sp>
        <p:nvSpPr>
          <p:cNvPr id="37" name="Text 34"/>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wake up / become awake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aṣ-ḥū</a:t>
            </a:r>
            <a:endParaRPr lang="en-US" sz="1350" dirty="0"/>
          </a:p>
        </p:txBody>
      </p:sp>
      <p:sp>
        <p:nvSpPr>
          <p:cNvPr id="38" name="Text 35"/>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alternative syllabus verb</a:t>
            </a:r>
            <a:endParaRPr lang="en-US" sz="1000" dirty="0"/>
          </a:p>
        </p:txBody>
      </p:sp>
      <p:sp>
        <p:nvSpPr>
          <p:cNvPr id="39" name="Shape 3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66928" y="1920240"/>
            <a:ext cx="310896" cy="310896"/>
          </a:xfrm>
          <a:prstGeom prst="ellipse">
            <a:avLst/>
          </a:prstGeom>
          <a:solidFill>
            <a:srgbClr val="F4F1EA"/>
          </a:solidFill>
          <a:ln w="12700">
            <a:solidFill>
              <a:srgbClr val="F4F1EA"/>
            </a:solidFill>
            <a:prstDash val="solid"/>
          </a:ln>
        </p:spPr>
      </p:sp>
      <p:sp>
        <p:nvSpPr>
          <p:cNvPr id="41" name="Text 3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42" name="Shape 39"/>
          <p:cNvSpPr/>
          <p:nvPr/>
        </p:nvSpPr>
        <p:spPr>
          <a:xfrm>
            <a:off x="960120" y="1938528"/>
            <a:ext cx="1020470" cy="256032"/>
          </a:xfrm>
          <a:prstGeom prst="roundRect">
            <a:avLst>
              <a:gd name="adj" fmla="val 50000"/>
            </a:avLst>
          </a:prstGeom>
          <a:solidFill>
            <a:srgbClr val="EFE7D2"/>
          </a:solidFill>
          <a:ln w="12700">
            <a:solidFill>
              <a:srgbClr val="EFE7D2"/>
            </a:solidFill>
            <a:prstDash val="solid"/>
          </a:ln>
        </p:spPr>
      </p:sp>
      <p:sp>
        <p:nvSpPr>
          <p:cNvPr id="43" name="Text 40"/>
          <p:cNvSpPr txBox="1"/>
          <p:nvPr/>
        </p:nvSpPr>
        <p:spPr>
          <a:xfrm>
            <a:off x="960120"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44" name="Shape 4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أَغْتَسِلُ</a:t>
            </a:r>
            <a:endParaRPr lang="ar-SA" sz="3000" dirty="0"/>
          </a:p>
        </p:txBody>
      </p:sp>
      <p:sp>
        <p:nvSpPr>
          <p:cNvPr id="47" name="Text 4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shower / wash myself</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agh-ta-si-lu</a:t>
            </a:r>
            <a:endParaRPr lang="en-US" sz="1350" dirty="0"/>
          </a:p>
        </p:txBody>
      </p:sp>
      <p:sp>
        <p:nvSpPr>
          <p:cNvPr id="48" name="Shape 45"/>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50" name="Text 47"/>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أَغْتَسِلُ</a:t>
            </a:r>
            <a:endParaRPr lang="ar-SA" sz="1500" dirty="0"/>
          </a:p>
        </p:txBody>
      </p:sp>
      <p:sp>
        <p:nvSpPr>
          <p:cNvPr id="51" name="Shape 48"/>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52" name="Text 49"/>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he</a:t>
            </a:r>
            <a:endParaRPr lang="en-US" sz="750" dirty="0"/>
          </a:p>
        </p:txBody>
      </p:sp>
      <p:sp>
        <p:nvSpPr>
          <p:cNvPr id="53" name="Text 50"/>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يَغْتَسِلُ</a:t>
            </a:r>
            <a:endParaRPr lang="ar-SA" sz="1500" dirty="0"/>
          </a:p>
        </p:txBody>
      </p:sp>
      <p:sp>
        <p:nvSpPr>
          <p:cNvPr id="54" name="Shape 51"/>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56" name="Text 53"/>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تَغْتَسِلُ</a:t>
            </a:r>
            <a:endParaRPr lang="ar-SA" sz="1500" dirty="0"/>
          </a:p>
        </p:txBody>
      </p:sp>
      <p:sp>
        <p:nvSpPr>
          <p:cNvPr id="57" name="Shape 5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8211312" y="4261104"/>
            <a:ext cx="310896" cy="310896"/>
          </a:xfrm>
          <a:prstGeom prst="ellipse">
            <a:avLst/>
          </a:prstGeom>
          <a:solidFill>
            <a:srgbClr val="F4F1EA"/>
          </a:solidFill>
          <a:ln w="12700">
            <a:solidFill>
              <a:srgbClr val="F4F1EA"/>
            </a:solidFill>
            <a:prstDash val="solid"/>
          </a:ln>
        </p:spPr>
      </p:sp>
      <p:sp>
        <p:nvSpPr>
          <p:cNvPr id="59" name="Text 5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60" name="Shape 57"/>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61" name="Text 58"/>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Form V</a:t>
            </a:r>
            <a:endParaRPr lang="en-US" sz="800" dirty="0"/>
          </a:p>
        </p:txBody>
      </p:sp>
      <p:sp>
        <p:nvSpPr>
          <p:cNvPr id="62" name="Text 59"/>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أَتَوَضَّأُ</a:t>
            </a:r>
            <a:endParaRPr lang="ar-SA" sz="3000" dirty="0"/>
          </a:p>
        </p:txBody>
      </p:sp>
      <p:sp>
        <p:nvSpPr>
          <p:cNvPr id="63" name="Text 60"/>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perform wudu</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a-ta-waḍ-ḍa-ʾu</a:t>
            </a:r>
            <a:endParaRPr lang="en-US" sz="1350" dirty="0"/>
          </a:p>
        </p:txBody>
      </p:sp>
      <p:sp>
        <p:nvSpPr>
          <p:cNvPr id="64" name="Shape 61"/>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5" name="Shape 62"/>
          <p:cNvSpPr/>
          <p:nvPr/>
        </p:nvSpPr>
        <p:spPr>
          <a:xfrm>
            <a:off x="4389120" y="4261104"/>
            <a:ext cx="310896" cy="310896"/>
          </a:xfrm>
          <a:prstGeom prst="ellipse">
            <a:avLst/>
          </a:prstGeom>
          <a:solidFill>
            <a:srgbClr val="F4F1EA"/>
          </a:solidFill>
          <a:ln w="12700">
            <a:solidFill>
              <a:srgbClr val="F4F1EA"/>
            </a:solidFill>
            <a:prstDash val="solid"/>
          </a:ln>
        </p:spPr>
      </p:sp>
      <p:sp>
        <p:nvSpPr>
          <p:cNvPr id="66" name="Text 63"/>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67" name="Shape 64"/>
          <p:cNvSpPr/>
          <p:nvPr/>
        </p:nvSpPr>
        <p:spPr>
          <a:xfrm>
            <a:off x="4782312" y="4279392"/>
            <a:ext cx="833933" cy="256032"/>
          </a:xfrm>
          <a:prstGeom prst="roundRect">
            <a:avLst>
              <a:gd name="adj" fmla="val 50000"/>
            </a:avLst>
          </a:prstGeom>
          <a:solidFill>
            <a:srgbClr val="EFE7D2"/>
          </a:solidFill>
          <a:ln w="12700">
            <a:solidFill>
              <a:srgbClr val="EFE7D2"/>
            </a:solidFill>
            <a:prstDash val="solid"/>
          </a:ln>
        </p:spPr>
      </p:sp>
      <p:sp>
        <p:nvSpPr>
          <p:cNvPr id="68" name="Text 65"/>
          <p:cNvSpPr txBox="1"/>
          <p:nvPr/>
        </p:nvSpPr>
        <p:spPr>
          <a:xfrm>
            <a:off x="4782312"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Form VIII</a:t>
            </a:r>
            <a:endParaRPr lang="en-US" sz="800" dirty="0"/>
          </a:p>
        </p:txBody>
      </p:sp>
      <p:sp>
        <p:nvSpPr>
          <p:cNvPr id="69" name="Shape 66"/>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70" name="Text 67"/>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71" name="Text 68"/>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أَرْتَدِي مَلَابِسِي</a:t>
            </a:r>
            <a:endParaRPr lang="ar-SA" sz="3000" dirty="0"/>
          </a:p>
        </p:txBody>
      </p:sp>
      <p:sp>
        <p:nvSpPr>
          <p:cNvPr id="72" name="Text 69"/>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get dressed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ar-ta-dī ma-lā-bi-sī</a:t>
            </a:r>
            <a:endParaRPr lang="en-US" sz="1350" dirty="0"/>
          </a:p>
        </p:txBody>
      </p:sp>
      <p:sp>
        <p:nvSpPr>
          <p:cNvPr id="73" name="Shape 70"/>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4" name="Shape 71"/>
          <p:cNvSpPr/>
          <p:nvPr/>
        </p:nvSpPr>
        <p:spPr>
          <a:xfrm>
            <a:off x="566928" y="4261104"/>
            <a:ext cx="310896" cy="310896"/>
          </a:xfrm>
          <a:prstGeom prst="ellipse">
            <a:avLst/>
          </a:prstGeom>
          <a:solidFill>
            <a:srgbClr val="F4F1EA"/>
          </a:solidFill>
          <a:ln w="12700">
            <a:solidFill>
              <a:srgbClr val="F4F1EA"/>
            </a:solidFill>
            <a:prstDash val="solid"/>
          </a:ln>
        </p:spPr>
      </p:sp>
      <p:sp>
        <p:nvSpPr>
          <p:cNvPr id="75" name="Text 72"/>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76" name="Text 73"/>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أُمَشِّطُ شَعْرِي</a:t>
            </a:r>
            <a:endParaRPr lang="ar-SA" sz="3000" dirty="0"/>
          </a:p>
        </p:txBody>
      </p:sp>
      <p:sp>
        <p:nvSpPr>
          <p:cNvPr id="77" name="Text 74"/>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comb my hair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u-mash-shi-ṭu shaʿ-rī</a:t>
            </a:r>
            <a:endParaRPr lang="en-US" sz="13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46</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D1-L01 · My Morning Routine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Morning routine verbs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أُنَظِّفُ أَسْنَانِي</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brush my teeth</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u-naẓ-ẓi-fu as-nā-nī</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25" name="Shape 22"/>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26" name="Text 23"/>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Form X</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أَسْتَعِدُّ</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get ready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as-ta-ʿid-du</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32" name="Shape 29"/>
          <p:cNvSpPr/>
          <p:nvPr/>
        </p:nvSpPr>
        <p:spPr>
          <a:xfrm>
            <a:off x="960120" y="1938528"/>
            <a:ext cx="1020470" cy="256032"/>
          </a:xfrm>
          <a:prstGeom prst="roundRect">
            <a:avLst>
              <a:gd name="adj" fmla="val 50000"/>
            </a:avLst>
          </a:prstGeom>
          <a:solidFill>
            <a:srgbClr val="EFE7D2"/>
          </a:solidFill>
          <a:ln w="12700">
            <a:solidFill>
              <a:srgbClr val="EFE7D2"/>
            </a:solidFill>
            <a:prstDash val="solid"/>
          </a:ln>
        </p:spPr>
      </p:sp>
      <p:sp>
        <p:nvSpPr>
          <p:cNvPr id="33" name="Text 30"/>
          <p:cNvSpPr txBox="1"/>
          <p:nvPr/>
        </p:nvSpPr>
        <p:spPr>
          <a:xfrm>
            <a:off x="960120"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6" name="Text 3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أَتَنَاوَلُ الإِفْطَارَ</a:t>
            </a:r>
            <a:endParaRPr lang="ar-SA" sz="3000" dirty="0"/>
          </a:p>
        </p:txBody>
      </p:sp>
      <p:sp>
        <p:nvSpPr>
          <p:cNvPr id="37" name="Text 3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have breakfast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a-ta-nā-wa-lu al-if-ṭā-ra</a:t>
            </a:r>
            <a:endParaRPr lang="en-US" sz="1350" dirty="0"/>
          </a:p>
        </p:txBody>
      </p:sp>
      <p:sp>
        <p:nvSpPr>
          <p:cNvPr id="38" name="Shape 35"/>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39" name="Text 36"/>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40" name="Text 37"/>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أَتَنَاوَلُ</a:t>
            </a:r>
            <a:endParaRPr lang="ar-SA" sz="1500" dirty="0"/>
          </a:p>
        </p:txBody>
      </p:sp>
      <p:sp>
        <p:nvSpPr>
          <p:cNvPr id="41" name="Shape 38"/>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42" name="Text 39"/>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he</a:t>
            </a:r>
            <a:endParaRPr lang="en-US" sz="750" dirty="0"/>
          </a:p>
        </p:txBody>
      </p:sp>
      <p:sp>
        <p:nvSpPr>
          <p:cNvPr id="43" name="Text 40"/>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يَتَنَاوَلُ</a:t>
            </a:r>
            <a:endParaRPr lang="ar-SA" sz="1500" dirty="0"/>
          </a:p>
        </p:txBody>
      </p:sp>
      <p:sp>
        <p:nvSpPr>
          <p:cNvPr id="44" name="Shape 41"/>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45" name="Text 42"/>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46" name="Text 43"/>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تَتَنَاوَلُ</a:t>
            </a:r>
            <a:endParaRPr lang="ar-SA" sz="1500" dirty="0"/>
          </a:p>
        </p:txBody>
      </p:sp>
      <p:sp>
        <p:nvSpPr>
          <p:cNvPr id="47" name="Shape 4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11312"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50" name="Shape 47"/>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أَخْرُجُ مِنَ البَيْتِ</a:t>
            </a:r>
            <a:endParaRPr lang="ar-SA" sz="3000" dirty="0"/>
          </a:p>
        </p:txBody>
      </p:sp>
      <p:sp>
        <p:nvSpPr>
          <p:cNvPr id="53" name="Text 50"/>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leave the house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akh-ru-ju mi-na al-bay-ti</a:t>
            </a:r>
            <a:endParaRPr lang="en-US" sz="1350" dirty="0"/>
          </a:p>
        </p:txBody>
      </p:sp>
      <p:sp>
        <p:nvSpPr>
          <p:cNvPr id="54" name="Shape 51"/>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4389120" y="4261104"/>
            <a:ext cx="310896" cy="310896"/>
          </a:xfrm>
          <a:prstGeom prst="ellipse">
            <a:avLst/>
          </a:prstGeom>
          <a:solidFill>
            <a:srgbClr val="F4F1EA"/>
          </a:solidFill>
          <a:ln w="12700">
            <a:solidFill>
              <a:srgbClr val="F4F1EA"/>
            </a:solidFill>
            <a:prstDash val="solid"/>
          </a:ln>
        </p:spPr>
      </p:sp>
      <p:sp>
        <p:nvSpPr>
          <p:cNvPr id="56" name="Text 53"/>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57" name="Shape 54"/>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58" name="Text 55"/>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Form X</a:t>
            </a:r>
            <a:endParaRPr lang="en-US" sz="800" dirty="0"/>
          </a:p>
        </p:txBody>
      </p:sp>
      <p:sp>
        <p:nvSpPr>
          <p:cNvPr id="59" name="Text 56"/>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أَسْتَقِلُّ الحَافِلَةَ</a:t>
            </a:r>
            <a:endParaRPr lang="ar-SA" sz="3000" dirty="0"/>
          </a:p>
        </p:txBody>
      </p:sp>
      <p:sp>
        <p:nvSpPr>
          <p:cNvPr id="60" name="Text 57"/>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take the bus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as-ta-qil-lu al-ḥā-fi-la-ta</a:t>
            </a:r>
            <a:endParaRPr lang="en-US" sz="1350" dirty="0"/>
          </a:p>
        </p:txBody>
      </p:sp>
      <p:sp>
        <p:nvSpPr>
          <p:cNvPr id="61" name="Shape 58"/>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566928" y="4261104"/>
            <a:ext cx="310896" cy="310896"/>
          </a:xfrm>
          <a:prstGeom prst="ellipse">
            <a:avLst/>
          </a:prstGeom>
          <a:solidFill>
            <a:srgbClr val="F4F1EA"/>
          </a:solidFill>
          <a:ln w="12700">
            <a:solidFill>
              <a:srgbClr val="F4F1EA"/>
            </a:solidFill>
            <a:prstDash val="solid"/>
          </a:ln>
        </p:spPr>
      </p:sp>
      <p:sp>
        <p:nvSpPr>
          <p:cNvPr id="63" name="Text 60"/>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64" name="Text 61"/>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أَصِلُ إِلَى المَدْرَسَةِ</a:t>
            </a:r>
            <a:endParaRPr lang="ar-SA" sz="3000" dirty="0"/>
          </a:p>
        </p:txBody>
      </p:sp>
      <p:sp>
        <p:nvSpPr>
          <p:cNvPr id="65" name="Text 62"/>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arrive at school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a-ṣi-lu i-lā al-mad-ra-sa-ti</a:t>
            </a:r>
            <a:endParaRPr lang="en-US" sz="1350" dirty="0"/>
          </a:p>
        </p:txBody>
      </p:sp>
      <p:sp>
        <p:nvSpPr>
          <p:cNvPr id="66" name="Text 6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46</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D1-L01 · My Morning Routine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Sequence and frequency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أَوَّلًا</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first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aw-wa-lan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ثُمَّ</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thum-ma</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بَعْدَ ذٰلِكَ</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after that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baʿ-da dhā-li-ka</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39" name="Shape 3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1" name="Text 3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أَخِيرًا</a:t>
            </a:r>
            <a:endParaRPr lang="ar-SA" sz="3000" dirty="0"/>
          </a:p>
        </p:txBody>
      </p:sp>
      <p:sp>
        <p:nvSpPr>
          <p:cNvPr id="42" name="Text 3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finally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a-khī-ran</a:t>
            </a:r>
            <a:endParaRPr lang="en-US" sz="1350" dirty="0"/>
          </a:p>
        </p:txBody>
      </p:sp>
      <p:sp>
        <p:nvSpPr>
          <p:cNvPr id="43" name="Shape 4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4389120" y="4261104"/>
            <a:ext cx="310896" cy="310896"/>
          </a:xfrm>
          <a:prstGeom prst="ellipse">
            <a:avLst/>
          </a:prstGeom>
          <a:solidFill>
            <a:srgbClr val="F4F1EA"/>
          </a:solidFill>
          <a:ln w="12700">
            <a:solidFill>
              <a:srgbClr val="F4F1EA"/>
            </a:solidFill>
            <a:prstDash val="solid"/>
          </a:ln>
        </p:spPr>
      </p:sp>
      <p:sp>
        <p:nvSpPr>
          <p:cNvPr id="45" name="Text 4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46" name="Shape 43"/>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8" name="Text 45"/>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عَادَةً</a:t>
            </a:r>
            <a:endParaRPr lang="ar-SA" sz="3000" dirty="0"/>
          </a:p>
        </p:txBody>
      </p:sp>
      <p:sp>
        <p:nvSpPr>
          <p:cNvPr id="49" name="Text 46"/>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usually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ʿā-da-tan</a:t>
            </a:r>
            <a:endParaRPr lang="en-US" sz="13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46</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D1-L01 · My Morning Routine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Sequence and frequency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دَائِمًا</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always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dā-ʾi-man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19</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أَحْيَانًا</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sometimes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aḥ-yā-nan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20</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نَادِرًا</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rarely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nā-di-ran</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21</a:t>
            </a:r>
            <a:endParaRPr lang="en-US" sz="1000" dirty="0"/>
          </a:p>
        </p:txBody>
      </p:sp>
      <p:sp>
        <p:nvSpPr>
          <p:cNvPr id="35" name="Shape 3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كُلَّ يَوْمٍ</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every day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kul-la yaw-min</a:t>
            </a:r>
            <a:endParaRPr lang="en-US" sz="1350" dirty="0"/>
          </a:p>
        </p:txBody>
      </p:sp>
      <p:sp>
        <p:nvSpPr>
          <p:cNvPr id="39" name="Shape 3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4389120"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22</a:t>
            </a:r>
            <a:endParaRPr lang="en-US" sz="1000" dirty="0"/>
          </a:p>
        </p:txBody>
      </p:sp>
      <p:sp>
        <p:nvSpPr>
          <p:cNvPr id="42" name="Text 3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فِي الصَّبَاحِ البَاكِرِ</a:t>
            </a:r>
            <a:endParaRPr lang="ar-SA" sz="3000" dirty="0"/>
          </a:p>
        </p:txBody>
      </p:sp>
      <p:sp>
        <p:nvSpPr>
          <p:cNvPr id="43" name="Text 4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early in the morning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fī aṣ-ṣa-bā-ḥi al-bā-ki-ri</a:t>
            </a:r>
            <a:endParaRPr lang="en-US" sz="13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46</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D1-L01 · My Morning Routine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Useful detail</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23</a:t>
            </a:r>
            <a:endParaRPr lang="en-US" sz="1000" dirty="0"/>
          </a:p>
        </p:txBody>
      </p:sp>
      <p:sp>
        <p:nvSpPr>
          <p:cNvPr id="20" name="Shape 17"/>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مُنَبِّهٌ</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alarm clock</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mu-nab-bi-hun</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one</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مُنَبِّهٌ</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مُنَبِّهَاتٌ</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24</a:t>
            </a:r>
            <a:endParaRPr lang="en-US" sz="1000" dirty="0"/>
          </a:p>
        </p:txBody>
      </p:sp>
      <p:sp>
        <p:nvSpPr>
          <p:cNvPr id="33" name="Text 30"/>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عَجَلَةٌ</a:t>
            </a:r>
            <a:endParaRPr lang="ar-SA" sz="3000" dirty="0"/>
          </a:p>
        </p:txBody>
      </p:sp>
      <p:sp>
        <p:nvSpPr>
          <p:cNvPr id="34" name="Text 31"/>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haste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ʿa-ja-la-tun</a:t>
            </a:r>
            <a:endParaRPr lang="en-US" sz="1350" dirty="0"/>
          </a:p>
        </p:txBody>
      </p:sp>
      <p:sp>
        <p:nvSpPr>
          <p:cNvPr id="35" name="Shape 3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566928" y="1920240"/>
            <a:ext cx="310896" cy="310896"/>
          </a:xfrm>
          <a:prstGeom prst="ellipse">
            <a:avLst/>
          </a:prstGeom>
          <a:solidFill>
            <a:srgbClr val="F4F1EA"/>
          </a:solidFill>
          <a:ln w="12700">
            <a:solidFill>
              <a:srgbClr val="F4F1EA"/>
            </a:solidFill>
            <a:prstDash val="solid"/>
          </a:ln>
        </p:spPr>
      </p:sp>
      <p:sp>
        <p:nvSpPr>
          <p:cNvPr id="37" name="Text 3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25</a:t>
            </a:r>
            <a:endParaRPr lang="en-US" sz="1000" dirty="0"/>
          </a:p>
        </p:txBody>
      </p:sp>
      <p:sp>
        <p:nvSpPr>
          <p:cNvPr id="38" name="Shape 35"/>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39" name="Text 36"/>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40" name="Text 37"/>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نَشِيطٌ / نَشِيطَةٌ</a:t>
            </a:r>
            <a:endParaRPr lang="ar-SA" sz="3000" dirty="0"/>
          </a:p>
        </p:txBody>
      </p:sp>
      <p:sp>
        <p:nvSpPr>
          <p:cNvPr id="41" name="Text 38"/>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energetic</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na-shī-ṭun / na-shī-ṭa-tun</a:t>
            </a:r>
            <a:endParaRPr lang="en-US" sz="1350" dirty="0"/>
          </a:p>
        </p:txBody>
      </p:sp>
      <p:sp>
        <p:nvSpPr>
          <p:cNvPr id="42" name="Shape 39"/>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44" name="Text 41"/>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نَشِيطٌ</a:t>
            </a:r>
            <a:endParaRPr lang="ar-SA" sz="1500" dirty="0"/>
          </a:p>
        </p:txBody>
      </p:sp>
      <p:sp>
        <p:nvSpPr>
          <p:cNvPr id="45" name="Shape 42"/>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47" name="Text 44"/>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نَشِيطَةٌ</a:t>
            </a:r>
            <a:endParaRPr lang="ar-SA" sz="1500" dirty="0"/>
          </a:p>
        </p:txBody>
      </p:sp>
      <p:sp>
        <p:nvSpPr>
          <p:cNvPr id="48" name="Shape 45"/>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0" name="Text 47"/>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نَشِيطُونَ</a:t>
            </a:r>
            <a:endParaRPr lang="ar-SA" sz="1500" dirty="0"/>
          </a:p>
        </p:txBody>
      </p:sp>
      <p:sp>
        <p:nvSpPr>
          <p:cNvPr id="51" name="Shape 4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8211312" y="4261104"/>
            <a:ext cx="310896" cy="310896"/>
          </a:xfrm>
          <a:prstGeom prst="ellipse">
            <a:avLst/>
          </a:prstGeom>
          <a:solidFill>
            <a:srgbClr val="F4F1EA"/>
          </a:solidFill>
          <a:ln w="12700">
            <a:solidFill>
              <a:srgbClr val="F4F1EA"/>
            </a:solidFill>
            <a:prstDash val="solid"/>
          </a:ln>
        </p:spPr>
      </p:sp>
      <p:sp>
        <p:nvSpPr>
          <p:cNvPr id="53" name="Text 5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26</a:t>
            </a:r>
            <a:endParaRPr lang="en-US" sz="1000" dirty="0"/>
          </a:p>
        </p:txBody>
      </p:sp>
      <p:sp>
        <p:nvSpPr>
          <p:cNvPr id="54" name="Shape 51"/>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56" name="Text 53"/>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نَاعِسٌ / نَاعِسَةٌ</a:t>
            </a:r>
            <a:endParaRPr lang="ar-SA" sz="3000" dirty="0"/>
          </a:p>
        </p:txBody>
      </p:sp>
      <p:sp>
        <p:nvSpPr>
          <p:cNvPr id="57" name="Text 54"/>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sleepy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nā-ʿi-sun / nā-ʿi-sa-tun</a:t>
            </a:r>
            <a:endParaRPr lang="en-US" sz="1350" dirty="0"/>
          </a:p>
        </p:txBody>
      </p:sp>
      <p:sp>
        <p:nvSpPr>
          <p:cNvPr id="58" name="Shape 55"/>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59" name="Text 56"/>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60" name="Text 57"/>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نَاعِسٌ</a:t>
            </a:r>
            <a:endParaRPr lang="ar-SA" sz="1500" dirty="0"/>
          </a:p>
        </p:txBody>
      </p:sp>
      <p:sp>
        <p:nvSpPr>
          <p:cNvPr id="61" name="Shape 58"/>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62" name="Text 59"/>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63" name="Text 60"/>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نَاعِسَةٌ</a:t>
            </a:r>
            <a:endParaRPr lang="ar-SA" sz="1500" dirty="0"/>
          </a:p>
        </p:txBody>
      </p:sp>
      <p:sp>
        <p:nvSpPr>
          <p:cNvPr id="64" name="Shape 61"/>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65" name="Text 62"/>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66" name="Text 63"/>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نَاعِسُونَ</a:t>
            </a:r>
            <a:endParaRPr lang="ar-SA" sz="1500" dirty="0"/>
          </a:p>
        </p:txBody>
      </p:sp>
      <p:sp>
        <p:nvSpPr>
          <p:cNvPr id="67" name="Shape 6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389120" y="4261104"/>
            <a:ext cx="310896" cy="310896"/>
          </a:xfrm>
          <a:prstGeom prst="ellipse">
            <a:avLst/>
          </a:prstGeom>
          <a:solidFill>
            <a:srgbClr val="F4F1EA"/>
          </a:solidFill>
          <a:ln w="12700">
            <a:solidFill>
              <a:srgbClr val="F4F1EA"/>
            </a:solidFill>
            <a:prstDash val="solid"/>
          </a:ln>
        </p:spPr>
      </p:sp>
      <p:sp>
        <p:nvSpPr>
          <p:cNvPr id="69" name="Text 6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27</a:t>
            </a:r>
            <a:endParaRPr lang="en-US" sz="1000" dirty="0"/>
          </a:p>
        </p:txBody>
      </p:sp>
      <p:sp>
        <p:nvSpPr>
          <p:cNvPr id="70" name="Text 6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مُبَكِّرًا</a:t>
            </a:r>
            <a:endParaRPr lang="ar-SA" sz="3000" dirty="0"/>
          </a:p>
        </p:txBody>
      </p:sp>
      <p:sp>
        <p:nvSpPr>
          <p:cNvPr id="71" name="Text 6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early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mu-bak-ki-ran</a:t>
            </a:r>
            <a:endParaRPr lang="en-US" sz="1350" dirty="0"/>
          </a:p>
        </p:txBody>
      </p:sp>
      <p:sp>
        <p:nvSpPr>
          <p:cNvPr id="72" name="Shape 6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3" name="Shape 70"/>
          <p:cNvSpPr/>
          <p:nvPr/>
        </p:nvSpPr>
        <p:spPr>
          <a:xfrm>
            <a:off x="566928" y="4261104"/>
            <a:ext cx="310896" cy="310896"/>
          </a:xfrm>
          <a:prstGeom prst="ellipse">
            <a:avLst/>
          </a:prstGeom>
          <a:solidFill>
            <a:srgbClr val="F4F1EA"/>
          </a:solidFill>
          <a:ln w="12700">
            <a:solidFill>
              <a:srgbClr val="F4F1EA"/>
            </a:solidFill>
            <a:prstDash val="solid"/>
          </a:ln>
        </p:spPr>
      </p:sp>
      <p:sp>
        <p:nvSpPr>
          <p:cNvPr id="74" name="Text 7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28</a:t>
            </a:r>
            <a:endParaRPr lang="en-US" sz="1000" dirty="0"/>
          </a:p>
        </p:txBody>
      </p:sp>
      <p:sp>
        <p:nvSpPr>
          <p:cNvPr id="75" name="Text 7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مُتَأَخِّرًا</a:t>
            </a:r>
            <a:endParaRPr lang="ar-SA" sz="3000" dirty="0"/>
          </a:p>
        </p:txBody>
      </p:sp>
      <p:sp>
        <p:nvSpPr>
          <p:cNvPr id="76" name="Text 7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late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mu-ta-ʾakh-khi-ran</a:t>
            </a:r>
            <a:endParaRPr lang="en-US" sz="13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46</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D1-L01 · My Morning Routine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FOCUS · PART 1 · MATCH THE PREFIX TO THE SUBJECT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50" b="1" dirty="0">
                <a:solidFill>
                  <a:srgbClr val="1B3B6F"/>
                </a:solidFill>
                <a:latin typeface="Cambria" pitchFamily="34" charset="0"/>
                <a:ea typeface="Cambria" pitchFamily="34" charset="-122"/>
                <a:cs typeface="Cambria" pitchFamily="34" charset="-120"/>
              </a:rPr>
              <a:t>Who is doing it? Change only the first letter</a:t>
            </a:r>
            <a:endParaRPr lang="en-US" sz="21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أَنَا · هُوَ · هِيَ · نَحْنُ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518904" y="1810512"/>
            <a:ext cx="2139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I (</a:t>
            </a:r>
            <a:pPr algn="ctr" indent="0" marL="0">
              <a:buNone/>
            </a:pPr>
            <a:r>
              <a:rPr lang="ar-SA" altLang="en-US" sz="1450" b="1" dirty="0">
                <a:solidFill>
                  <a:srgbClr val="FFFFFF"/>
                </a:solidFill>
                <a:latin typeface="Amiri" pitchFamily="34" charset="0"/>
                <a:ea typeface="Amiri" pitchFamily="34" charset="-122"/>
                <a:cs typeface="Amiri" pitchFamily="34" charset="-120"/>
              </a:rPr>
              <a:t>أَنَا</a:t>
            </a:r>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17" name="Text 14"/>
          <p:cNvSpPr txBox="1"/>
          <p:nvPr/>
        </p:nvSpPr>
        <p:spPr>
          <a:xfrm>
            <a:off x="7232904" y="1810512"/>
            <a:ext cx="2139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he (</a:t>
            </a:r>
            <a:pPr algn="ctr" indent="0" marL="0">
              <a:buNone/>
            </a:pPr>
            <a:r>
              <a:rPr lang="ar-SA" altLang="en-US" sz="1450" b="1" dirty="0">
                <a:solidFill>
                  <a:srgbClr val="FFFFFF"/>
                </a:solidFill>
                <a:latin typeface="Amiri" pitchFamily="34" charset="0"/>
                <a:ea typeface="Amiri" pitchFamily="34" charset="-122"/>
                <a:cs typeface="Amiri" pitchFamily="34" charset="-120"/>
              </a:rPr>
              <a:t>هُوَ</a:t>
            </a:r>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18" name="Text 15"/>
          <p:cNvSpPr txBox="1"/>
          <p:nvPr/>
        </p:nvSpPr>
        <p:spPr>
          <a:xfrm>
            <a:off x="4946904" y="1810512"/>
            <a:ext cx="2139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she (</a:t>
            </a:r>
            <a:pPr algn="ctr" indent="0" marL="0">
              <a:buNone/>
            </a:pPr>
            <a:r>
              <a:rPr lang="ar-SA" altLang="en-US" sz="1450" b="1" dirty="0">
                <a:solidFill>
                  <a:srgbClr val="FFFFFF"/>
                </a:solidFill>
                <a:latin typeface="Amiri" pitchFamily="34" charset="0"/>
                <a:ea typeface="Amiri" pitchFamily="34" charset="-122"/>
                <a:cs typeface="Amiri" pitchFamily="34" charset="-120"/>
              </a:rPr>
              <a:t>هِيَ</a:t>
            </a:r>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19" name="Text 16"/>
          <p:cNvSpPr txBox="1"/>
          <p:nvPr/>
        </p:nvSpPr>
        <p:spPr>
          <a:xfrm>
            <a:off x="2660904" y="1810512"/>
            <a:ext cx="2139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we (</a:t>
            </a:r>
            <a:pPr algn="ctr" indent="0" marL="0">
              <a:buNone/>
            </a:pPr>
            <a:r>
              <a:rPr lang="ar-SA" altLang="en-US" sz="1450" b="1" dirty="0">
                <a:solidFill>
                  <a:srgbClr val="FFFFFF"/>
                </a:solidFill>
                <a:latin typeface="Amiri" pitchFamily="34" charset="0"/>
                <a:ea typeface="Amiri" pitchFamily="34" charset="-122"/>
                <a:cs typeface="Amiri" pitchFamily="34" charset="-120"/>
              </a:rPr>
              <a:t>نَحْنُ</a:t>
            </a:r>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20" name="Text 17"/>
          <p:cNvSpPr txBox="1"/>
          <p:nvPr/>
        </p:nvSpPr>
        <p:spPr>
          <a:xfrm>
            <a:off x="530352" y="1810512"/>
            <a:ext cx="19842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21" name="Shape 18"/>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2" name="Text 19"/>
          <p:cNvSpPr txBox="1"/>
          <p:nvPr/>
        </p:nvSpPr>
        <p:spPr>
          <a:xfrm>
            <a:off x="9537192" y="2267712"/>
            <a:ext cx="2103120" cy="682142"/>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34" charset="0"/>
                <a:ea typeface="Amiri" pitchFamily="34" charset="-122"/>
                <a:cs typeface="Amiri" pitchFamily="34" charset="-120"/>
              </a:rPr>
              <a:t>أَ</a:t>
            </a:r>
            <a:pPr rtl="1" algn="ctr" indent="0" marL="0">
              <a:buNone/>
            </a:pPr>
            <a:r>
              <a:rPr lang="ar-SA" altLang="en-US" sz="2000" b="1" dirty="0">
                <a:solidFill>
                  <a:srgbClr val="1B3B6F"/>
                </a:solidFill>
                <a:latin typeface="Amiri" pitchFamily="34" charset="0"/>
                <a:ea typeface="Amiri" pitchFamily="34" charset="-122"/>
                <a:cs typeface="Amiri" pitchFamily="34" charset="-120"/>
              </a:rPr>
              <a:t>سْتَيْقِظُ</a:t>
            </a:r>
            <a:endParaRPr lang="ar-SA" sz="2000" dirty="0"/>
          </a:p>
        </p:txBody>
      </p:sp>
      <p:sp>
        <p:nvSpPr>
          <p:cNvPr id="23" name="Text 20"/>
          <p:cNvSpPr txBox="1"/>
          <p:nvPr/>
        </p:nvSpPr>
        <p:spPr>
          <a:xfrm>
            <a:off x="7251192" y="2267712"/>
            <a:ext cx="2103120" cy="682142"/>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34" charset="0"/>
                <a:ea typeface="Amiri" pitchFamily="34" charset="-122"/>
                <a:cs typeface="Amiri" pitchFamily="34" charset="-120"/>
              </a:rPr>
              <a:t>يَ</a:t>
            </a:r>
            <a:pPr rtl="1" algn="ctr" indent="0" marL="0">
              <a:buNone/>
            </a:pPr>
            <a:r>
              <a:rPr lang="ar-SA" altLang="en-US" sz="2000" b="1" dirty="0">
                <a:solidFill>
                  <a:srgbClr val="1B3B6F"/>
                </a:solidFill>
                <a:latin typeface="Amiri" pitchFamily="34" charset="0"/>
                <a:ea typeface="Amiri" pitchFamily="34" charset="-122"/>
                <a:cs typeface="Amiri" pitchFamily="34" charset="-120"/>
              </a:rPr>
              <a:t>سْتَيْقِظُ</a:t>
            </a:r>
            <a:endParaRPr lang="ar-SA" sz="2000" dirty="0"/>
          </a:p>
        </p:txBody>
      </p:sp>
      <p:sp>
        <p:nvSpPr>
          <p:cNvPr id="24" name="Text 21"/>
          <p:cNvSpPr txBox="1"/>
          <p:nvPr/>
        </p:nvSpPr>
        <p:spPr>
          <a:xfrm>
            <a:off x="4965192" y="2267712"/>
            <a:ext cx="2103120" cy="682142"/>
          </a:xfrm>
          <a:prstGeom prst="rect">
            <a:avLst/>
          </a:prstGeom>
          <a:noFill/>
          <a:ln/>
        </p:spPr>
        <p:txBody>
          <a:bodyPr wrap="square" lIns="0" tIns="0" rIns="0" bIns="0" rtlCol="0" anchor="ctr"/>
          <a:lstStyle/>
          <a:p>
            <a:pPr rtl="1" algn="ctr" indent="0" marL="0">
              <a:buNone/>
            </a:pPr>
            <a:r>
              <a:rPr lang="ar-SA" altLang="en-US" sz="2000" b="1" dirty="0">
                <a:solidFill>
                  <a:srgbClr val="D6336C"/>
                </a:solidFill>
                <a:latin typeface="Amiri" pitchFamily="34" charset="0"/>
                <a:ea typeface="Amiri" pitchFamily="34" charset="-122"/>
                <a:cs typeface="Amiri" pitchFamily="34" charset="-120"/>
              </a:rPr>
              <a:t>تَ</a:t>
            </a:r>
            <a:pPr rtl="1" algn="ctr" indent="0" marL="0">
              <a:buNone/>
            </a:pPr>
            <a:r>
              <a:rPr lang="ar-SA" altLang="en-US" sz="2000" b="1" dirty="0">
                <a:solidFill>
                  <a:srgbClr val="1B3B6F"/>
                </a:solidFill>
                <a:latin typeface="Amiri" pitchFamily="34" charset="0"/>
                <a:ea typeface="Amiri" pitchFamily="34" charset="-122"/>
                <a:cs typeface="Amiri" pitchFamily="34" charset="-120"/>
              </a:rPr>
              <a:t>سْتَيْقِظُ</a:t>
            </a:r>
            <a:endParaRPr lang="ar-SA" sz="2000" dirty="0"/>
          </a:p>
        </p:txBody>
      </p:sp>
      <p:sp>
        <p:nvSpPr>
          <p:cNvPr id="25" name="Text 22"/>
          <p:cNvSpPr txBox="1"/>
          <p:nvPr/>
        </p:nvSpPr>
        <p:spPr>
          <a:xfrm>
            <a:off x="2679192" y="2267712"/>
            <a:ext cx="2103120" cy="682142"/>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34" charset="0"/>
                <a:ea typeface="Amiri" pitchFamily="34" charset="-122"/>
                <a:cs typeface="Amiri" pitchFamily="34" charset="-120"/>
              </a:rPr>
              <a:t>نَ</a:t>
            </a:r>
            <a:pPr rtl="1" algn="ctr" indent="0" marL="0">
              <a:buNone/>
            </a:pPr>
            <a:r>
              <a:rPr lang="ar-SA" altLang="en-US" sz="2000" b="1" dirty="0">
                <a:solidFill>
                  <a:srgbClr val="1B3B6F"/>
                </a:solidFill>
                <a:latin typeface="Amiri" pitchFamily="34" charset="0"/>
                <a:ea typeface="Amiri" pitchFamily="34" charset="-122"/>
                <a:cs typeface="Amiri" pitchFamily="34" charset="-120"/>
              </a:rPr>
              <a:t>سْتَيْقِظُ</a:t>
            </a:r>
            <a:endParaRPr lang="ar-SA" sz="2000" dirty="0"/>
          </a:p>
        </p:txBody>
      </p:sp>
      <p:sp>
        <p:nvSpPr>
          <p:cNvPr id="26" name="Text 23"/>
          <p:cNvSpPr txBox="1"/>
          <p:nvPr/>
        </p:nvSpPr>
        <p:spPr>
          <a:xfrm>
            <a:off x="566928" y="2267712"/>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wake up</a:t>
            </a:r>
            <a:endParaRPr lang="en-US" sz="11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9" name="Shape 26"/>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30" name="Text 27"/>
          <p:cNvSpPr txBox="1"/>
          <p:nvPr/>
        </p:nvSpPr>
        <p:spPr>
          <a:xfrm>
            <a:off x="9537192" y="3004718"/>
            <a:ext cx="2103120" cy="682142"/>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34" charset="0"/>
                <a:ea typeface="Amiri" pitchFamily="34" charset="-122"/>
                <a:cs typeface="Amiri" pitchFamily="34" charset="-120"/>
              </a:rPr>
              <a:t>أَ</a:t>
            </a:r>
            <a:pPr rtl="1" algn="ctr" indent="0" marL="0">
              <a:buNone/>
            </a:pPr>
            <a:r>
              <a:rPr lang="ar-SA" altLang="en-US" sz="2000" b="1" dirty="0">
                <a:solidFill>
                  <a:srgbClr val="1B3B6F"/>
                </a:solidFill>
                <a:latin typeface="Amiri" pitchFamily="34" charset="0"/>
                <a:ea typeface="Amiri" pitchFamily="34" charset="-122"/>
                <a:cs typeface="Amiri" pitchFamily="34" charset="-120"/>
              </a:rPr>
              <a:t>غْتَسِلُ</a:t>
            </a:r>
            <a:endParaRPr lang="ar-SA" sz="2000" dirty="0"/>
          </a:p>
        </p:txBody>
      </p:sp>
      <p:sp>
        <p:nvSpPr>
          <p:cNvPr id="31" name="Text 28"/>
          <p:cNvSpPr txBox="1"/>
          <p:nvPr/>
        </p:nvSpPr>
        <p:spPr>
          <a:xfrm>
            <a:off x="7251192" y="3004718"/>
            <a:ext cx="2103120" cy="682142"/>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34" charset="0"/>
                <a:ea typeface="Amiri" pitchFamily="34" charset="-122"/>
                <a:cs typeface="Amiri" pitchFamily="34" charset="-120"/>
              </a:rPr>
              <a:t>يَ</a:t>
            </a:r>
            <a:pPr rtl="1" algn="ctr" indent="0" marL="0">
              <a:buNone/>
            </a:pPr>
            <a:r>
              <a:rPr lang="ar-SA" altLang="en-US" sz="2000" b="1" dirty="0">
                <a:solidFill>
                  <a:srgbClr val="1B3B6F"/>
                </a:solidFill>
                <a:latin typeface="Amiri" pitchFamily="34" charset="0"/>
                <a:ea typeface="Amiri" pitchFamily="34" charset="-122"/>
                <a:cs typeface="Amiri" pitchFamily="34" charset="-120"/>
              </a:rPr>
              <a:t>غْتَسِلُ</a:t>
            </a:r>
            <a:endParaRPr lang="ar-SA" sz="2000" dirty="0"/>
          </a:p>
        </p:txBody>
      </p:sp>
      <p:sp>
        <p:nvSpPr>
          <p:cNvPr id="32" name="Text 29"/>
          <p:cNvSpPr txBox="1"/>
          <p:nvPr/>
        </p:nvSpPr>
        <p:spPr>
          <a:xfrm>
            <a:off x="4965192" y="3004718"/>
            <a:ext cx="2103120" cy="682142"/>
          </a:xfrm>
          <a:prstGeom prst="rect">
            <a:avLst/>
          </a:prstGeom>
          <a:noFill/>
          <a:ln/>
        </p:spPr>
        <p:txBody>
          <a:bodyPr wrap="square" lIns="0" tIns="0" rIns="0" bIns="0" rtlCol="0" anchor="ctr"/>
          <a:lstStyle/>
          <a:p>
            <a:pPr rtl="1" algn="ctr" indent="0" marL="0">
              <a:buNone/>
            </a:pPr>
            <a:r>
              <a:rPr lang="ar-SA" altLang="en-US" sz="2000" b="1" dirty="0">
                <a:solidFill>
                  <a:srgbClr val="D6336C"/>
                </a:solidFill>
                <a:latin typeface="Amiri" pitchFamily="34" charset="0"/>
                <a:ea typeface="Amiri" pitchFamily="34" charset="-122"/>
                <a:cs typeface="Amiri" pitchFamily="34" charset="-120"/>
              </a:rPr>
              <a:t>تَ</a:t>
            </a:r>
            <a:pPr rtl="1" algn="ctr" indent="0" marL="0">
              <a:buNone/>
            </a:pPr>
            <a:r>
              <a:rPr lang="ar-SA" altLang="en-US" sz="2000" b="1" dirty="0">
                <a:solidFill>
                  <a:srgbClr val="1B3B6F"/>
                </a:solidFill>
                <a:latin typeface="Amiri" pitchFamily="34" charset="0"/>
                <a:ea typeface="Amiri" pitchFamily="34" charset="-122"/>
                <a:cs typeface="Amiri" pitchFamily="34" charset="-120"/>
              </a:rPr>
              <a:t>غْتَسِلُ</a:t>
            </a:r>
            <a:endParaRPr lang="ar-SA" sz="2000" dirty="0"/>
          </a:p>
        </p:txBody>
      </p:sp>
      <p:sp>
        <p:nvSpPr>
          <p:cNvPr id="33" name="Text 30"/>
          <p:cNvSpPr txBox="1"/>
          <p:nvPr/>
        </p:nvSpPr>
        <p:spPr>
          <a:xfrm>
            <a:off x="2679192" y="3004718"/>
            <a:ext cx="2103120" cy="682142"/>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34" charset="0"/>
                <a:ea typeface="Amiri" pitchFamily="34" charset="-122"/>
                <a:cs typeface="Amiri" pitchFamily="34" charset="-120"/>
              </a:rPr>
              <a:t>نَ</a:t>
            </a:r>
            <a:pPr rtl="1" algn="ctr" indent="0" marL="0">
              <a:buNone/>
            </a:pPr>
            <a:r>
              <a:rPr lang="ar-SA" altLang="en-US" sz="2000" b="1" dirty="0">
                <a:solidFill>
                  <a:srgbClr val="1B3B6F"/>
                </a:solidFill>
                <a:latin typeface="Amiri" pitchFamily="34" charset="0"/>
                <a:ea typeface="Amiri" pitchFamily="34" charset="-122"/>
                <a:cs typeface="Amiri" pitchFamily="34" charset="-120"/>
              </a:rPr>
              <a:t>غْتَسِلُ</a:t>
            </a:r>
            <a:endParaRPr lang="ar-SA" sz="2000" dirty="0"/>
          </a:p>
        </p:txBody>
      </p:sp>
      <p:sp>
        <p:nvSpPr>
          <p:cNvPr id="34" name="Text 31"/>
          <p:cNvSpPr txBox="1"/>
          <p:nvPr/>
        </p:nvSpPr>
        <p:spPr>
          <a:xfrm>
            <a:off x="566928" y="3004718"/>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shower</a:t>
            </a:r>
            <a:endParaRPr lang="en-US" sz="1100" dirty="0"/>
          </a:p>
        </p:txBody>
      </p:sp>
      <p:sp>
        <p:nvSpPr>
          <p:cNvPr id="35" name="Shape 32"/>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8" name="Text 35"/>
          <p:cNvSpPr txBox="1"/>
          <p:nvPr/>
        </p:nvSpPr>
        <p:spPr>
          <a:xfrm>
            <a:off x="9537192" y="3741725"/>
            <a:ext cx="2103120" cy="682142"/>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34" charset="0"/>
                <a:ea typeface="Amiri" pitchFamily="34" charset="-122"/>
                <a:cs typeface="Amiri" pitchFamily="34" charset="-120"/>
              </a:rPr>
              <a:t>أَ</a:t>
            </a:r>
            <a:pPr rtl="1" algn="ctr" indent="0" marL="0">
              <a:buNone/>
            </a:pPr>
            <a:r>
              <a:rPr lang="ar-SA" altLang="en-US" sz="2000" b="1" dirty="0">
                <a:solidFill>
                  <a:srgbClr val="1B3B6F"/>
                </a:solidFill>
                <a:latin typeface="Amiri" pitchFamily="34" charset="0"/>
                <a:ea typeface="Amiri" pitchFamily="34" charset="-122"/>
                <a:cs typeface="Amiri" pitchFamily="34" charset="-120"/>
              </a:rPr>
              <a:t>تَنَاوَلُ</a:t>
            </a:r>
            <a:endParaRPr lang="ar-SA" sz="2000" dirty="0"/>
          </a:p>
        </p:txBody>
      </p:sp>
      <p:sp>
        <p:nvSpPr>
          <p:cNvPr id="39" name="Text 36"/>
          <p:cNvSpPr txBox="1"/>
          <p:nvPr/>
        </p:nvSpPr>
        <p:spPr>
          <a:xfrm>
            <a:off x="7251192" y="3741725"/>
            <a:ext cx="2103120" cy="682142"/>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34" charset="0"/>
                <a:ea typeface="Amiri" pitchFamily="34" charset="-122"/>
                <a:cs typeface="Amiri" pitchFamily="34" charset="-120"/>
              </a:rPr>
              <a:t>يَ</a:t>
            </a:r>
            <a:pPr rtl="1" algn="ctr" indent="0" marL="0">
              <a:buNone/>
            </a:pPr>
            <a:r>
              <a:rPr lang="ar-SA" altLang="en-US" sz="2000" b="1" dirty="0">
                <a:solidFill>
                  <a:srgbClr val="1B3B6F"/>
                </a:solidFill>
                <a:latin typeface="Amiri" pitchFamily="34" charset="0"/>
                <a:ea typeface="Amiri" pitchFamily="34" charset="-122"/>
                <a:cs typeface="Amiri" pitchFamily="34" charset="-120"/>
              </a:rPr>
              <a:t>تَنَاوَلُ</a:t>
            </a:r>
            <a:endParaRPr lang="ar-SA" sz="2000" dirty="0"/>
          </a:p>
        </p:txBody>
      </p:sp>
      <p:sp>
        <p:nvSpPr>
          <p:cNvPr id="40" name="Text 37"/>
          <p:cNvSpPr txBox="1"/>
          <p:nvPr/>
        </p:nvSpPr>
        <p:spPr>
          <a:xfrm>
            <a:off x="4965192" y="3741725"/>
            <a:ext cx="2103120" cy="682142"/>
          </a:xfrm>
          <a:prstGeom prst="rect">
            <a:avLst/>
          </a:prstGeom>
          <a:noFill/>
          <a:ln/>
        </p:spPr>
        <p:txBody>
          <a:bodyPr wrap="square" lIns="0" tIns="0" rIns="0" bIns="0" rtlCol="0" anchor="ctr"/>
          <a:lstStyle/>
          <a:p>
            <a:pPr rtl="1" algn="ctr" indent="0" marL="0">
              <a:buNone/>
            </a:pPr>
            <a:r>
              <a:rPr lang="ar-SA" altLang="en-US" sz="2000" b="1" dirty="0">
                <a:solidFill>
                  <a:srgbClr val="D6336C"/>
                </a:solidFill>
                <a:latin typeface="Amiri" pitchFamily="34" charset="0"/>
                <a:ea typeface="Amiri" pitchFamily="34" charset="-122"/>
                <a:cs typeface="Amiri" pitchFamily="34" charset="-120"/>
              </a:rPr>
              <a:t>تَ</a:t>
            </a:r>
            <a:pPr rtl="1" algn="ctr" indent="0" marL="0">
              <a:buNone/>
            </a:pPr>
            <a:r>
              <a:rPr lang="ar-SA" altLang="en-US" sz="2000" b="1" dirty="0">
                <a:solidFill>
                  <a:srgbClr val="1B3B6F"/>
                </a:solidFill>
                <a:latin typeface="Amiri" pitchFamily="34" charset="0"/>
                <a:ea typeface="Amiri" pitchFamily="34" charset="-122"/>
                <a:cs typeface="Amiri" pitchFamily="34" charset="-120"/>
              </a:rPr>
              <a:t>تَنَاوَلُ</a:t>
            </a:r>
            <a:endParaRPr lang="ar-SA" sz="2000" dirty="0"/>
          </a:p>
        </p:txBody>
      </p:sp>
      <p:sp>
        <p:nvSpPr>
          <p:cNvPr id="41" name="Text 38"/>
          <p:cNvSpPr txBox="1"/>
          <p:nvPr/>
        </p:nvSpPr>
        <p:spPr>
          <a:xfrm>
            <a:off x="2679192" y="3741725"/>
            <a:ext cx="2103120" cy="682142"/>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34" charset="0"/>
                <a:ea typeface="Amiri" pitchFamily="34" charset="-122"/>
                <a:cs typeface="Amiri" pitchFamily="34" charset="-120"/>
              </a:rPr>
              <a:t>نَ</a:t>
            </a:r>
            <a:pPr rtl="1" algn="ctr" indent="0" marL="0">
              <a:buNone/>
            </a:pPr>
            <a:r>
              <a:rPr lang="ar-SA" altLang="en-US" sz="2000" b="1" dirty="0">
                <a:solidFill>
                  <a:srgbClr val="1B3B6F"/>
                </a:solidFill>
                <a:latin typeface="Amiri" pitchFamily="34" charset="0"/>
                <a:ea typeface="Amiri" pitchFamily="34" charset="-122"/>
                <a:cs typeface="Amiri" pitchFamily="34" charset="-120"/>
              </a:rPr>
              <a:t>تَنَاوَلُ</a:t>
            </a:r>
            <a:endParaRPr lang="ar-SA" sz="2000" dirty="0"/>
          </a:p>
        </p:txBody>
      </p:sp>
      <p:sp>
        <p:nvSpPr>
          <p:cNvPr id="42" name="Text 39"/>
          <p:cNvSpPr txBox="1"/>
          <p:nvPr/>
        </p:nvSpPr>
        <p:spPr>
          <a:xfrm>
            <a:off x="566928" y="3741725"/>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have (a meal)</a:t>
            </a:r>
            <a:endParaRPr lang="en-US" sz="1100" dirty="0"/>
          </a:p>
        </p:txBody>
      </p:sp>
      <p:sp>
        <p:nvSpPr>
          <p:cNvPr id="43" name="Shape 40"/>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5" name="Shape 4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6" name="Text 43"/>
          <p:cNvSpPr txBox="1"/>
          <p:nvPr/>
        </p:nvSpPr>
        <p:spPr>
          <a:xfrm>
            <a:off x="9537192" y="4478731"/>
            <a:ext cx="2103120" cy="682142"/>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34" charset="0"/>
                <a:ea typeface="Amiri" pitchFamily="34" charset="-122"/>
                <a:cs typeface="Amiri" pitchFamily="34" charset="-120"/>
              </a:rPr>
              <a:t>أَ</a:t>
            </a:r>
            <a:pPr rtl="1" algn="ctr" indent="0" marL="0">
              <a:buNone/>
            </a:pPr>
            <a:r>
              <a:rPr lang="ar-SA" altLang="en-US" sz="2000" b="1" dirty="0">
                <a:solidFill>
                  <a:srgbClr val="1B3B6F"/>
                </a:solidFill>
                <a:latin typeface="Amiri" pitchFamily="34" charset="0"/>
                <a:ea typeface="Amiri" pitchFamily="34" charset="-122"/>
                <a:cs typeface="Amiri" pitchFamily="34" charset="-120"/>
              </a:rPr>
              <a:t>رْتَدِي</a:t>
            </a:r>
            <a:endParaRPr lang="ar-SA" sz="2000" dirty="0"/>
          </a:p>
        </p:txBody>
      </p:sp>
      <p:sp>
        <p:nvSpPr>
          <p:cNvPr id="47" name="Text 44"/>
          <p:cNvSpPr txBox="1"/>
          <p:nvPr/>
        </p:nvSpPr>
        <p:spPr>
          <a:xfrm>
            <a:off x="7251192" y="4478731"/>
            <a:ext cx="2103120" cy="682142"/>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34" charset="0"/>
                <a:ea typeface="Amiri" pitchFamily="34" charset="-122"/>
                <a:cs typeface="Amiri" pitchFamily="34" charset="-120"/>
              </a:rPr>
              <a:t>يَ</a:t>
            </a:r>
            <a:pPr rtl="1" algn="ctr" indent="0" marL="0">
              <a:buNone/>
            </a:pPr>
            <a:r>
              <a:rPr lang="ar-SA" altLang="en-US" sz="2000" b="1" dirty="0">
                <a:solidFill>
                  <a:srgbClr val="1B3B6F"/>
                </a:solidFill>
                <a:latin typeface="Amiri" pitchFamily="34" charset="0"/>
                <a:ea typeface="Amiri" pitchFamily="34" charset="-122"/>
                <a:cs typeface="Amiri" pitchFamily="34" charset="-120"/>
              </a:rPr>
              <a:t>رْتَدِي</a:t>
            </a:r>
            <a:endParaRPr lang="ar-SA" sz="2000" dirty="0"/>
          </a:p>
        </p:txBody>
      </p:sp>
      <p:sp>
        <p:nvSpPr>
          <p:cNvPr id="48" name="Text 45"/>
          <p:cNvSpPr txBox="1"/>
          <p:nvPr/>
        </p:nvSpPr>
        <p:spPr>
          <a:xfrm>
            <a:off x="4965192" y="4478731"/>
            <a:ext cx="2103120" cy="682142"/>
          </a:xfrm>
          <a:prstGeom prst="rect">
            <a:avLst/>
          </a:prstGeom>
          <a:noFill/>
          <a:ln/>
        </p:spPr>
        <p:txBody>
          <a:bodyPr wrap="square" lIns="0" tIns="0" rIns="0" bIns="0" rtlCol="0" anchor="ctr"/>
          <a:lstStyle/>
          <a:p>
            <a:pPr rtl="1" algn="ctr" indent="0" marL="0">
              <a:buNone/>
            </a:pPr>
            <a:r>
              <a:rPr lang="ar-SA" altLang="en-US" sz="2000" b="1" dirty="0">
                <a:solidFill>
                  <a:srgbClr val="D6336C"/>
                </a:solidFill>
                <a:latin typeface="Amiri" pitchFamily="34" charset="0"/>
                <a:ea typeface="Amiri" pitchFamily="34" charset="-122"/>
                <a:cs typeface="Amiri" pitchFamily="34" charset="-120"/>
              </a:rPr>
              <a:t>تَ</a:t>
            </a:r>
            <a:pPr rtl="1" algn="ctr" indent="0" marL="0">
              <a:buNone/>
            </a:pPr>
            <a:r>
              <a:rPr lang="ar-SA" altLang="en-US" sz="2000" b="1" dirty="0">
                <a:solidFill>
                  <a:srgbClr val="1B3B6F"/>
                </a:solidFill>
                <a:latin typeface="Amiri" pitchFamily="34" charset="0"/>
                <a:ea typeface="Amiri" pitchFamily="34" charset="-122"/>
                <a:cs typeface="Amiri" pitchFamily="34" charset="-120"/>
              </a:rPr>
              <a:t>رْتَدِي</a:t>
            </a:r>
            <a:endParaRPr lang="ar-SA" sz="2000" dirty="0"/>
          </a:p>
        </p:txBody>
      </p:sp>
      <p:sp>
        <p:nvSpPr>
          <p:cNvPr id="49" name="Text 46"/>
          <p:cNvSpPr txBox="1"/>
          <p:nvPr/>
        </p:nvSpPr>
        <p:spPr>
          <a:xfrm>
            <a:off x="2679192" y="4478731"/>
            <a:ext cx="2103120" cy="682142"/>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34" charset="0"/>
                <a:ea typeface="Amiri" pitchFamily="34" charset="-122"/>
                <a:cs typeface="Amiri" pitchFamily="34" charset="-120"/>
              </a:rPr>
              <a:t>نَ</a:t>
            </a:r>
            <a:pPr rtl="1" algn="ctr" indent="0" marL="0">
              <a:buNone/>
            </a:pPr>
            <a:r>
              <a:rPr lang="ar-SA" altLang="en-US" sz="2000" b="1" dirty="0">
                <a:solidFill>
                  <a:srgbClr val="1B3B6F"/>
                </a:solidFill>
                <a:latin typeface="Amiri" pitchFamily="34" charset="0"/>
                <a:ea typeface="Amiri" pitchFamily="34" charset="-122"/>
                <a:cs typeface="Amiri" pitchFamily="34" charset="-120"/>
              </a:rPr>
              <a:t>رْتَدِي</a:t>
            </a:r>
            <a:endParaRPr lang="ar-SA" sz="2000" dirty="0"/>
          </a:p>
        </p:txBody>
      </p:sp>
      <p:sp>
        <p:nvSpPr>
          <p:cNvPr id="50" name="Text 47"/>
          <p:cNvSpPr txBox="1"/>
          <p:nvPr/>
        </p:nvSpPr>
        <p:spPr>
          <a:xfrm>
            <a:off x="566928" y="4478731"/>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wear, put on</a:t>
            </a:r>
            <a:endParaRPr lang="en-US" sz="1100" dirty="0"/>
          </a:p>
        </p:txBody>
      </p:sp>
      <p:sp>
        <p:nvSpPr>
          <p:cNvPr id="51" name="Shape 48"/>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52" name="Text 49"/>
          <p:cNvSpPr txBox="1"/>
          <p:nvPr/>
        </p:nvSpPr>
        <p:spPr>
          <a:xfrm>
            <a:off x="9537192" y="5215738"/>
            <a:ext cx="2103120" cy="682142"/>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34" charset="0"/>
                <a:ea typeface="Amiri" pitchFamily="34" charset="-122"/>
                <a:cs typeface="Amiri" pitchFamily="34" charset="-120"/>
              </a:rPr>
              <a:t>أَ</a:t>
            </a:r>
            <a:pPr rtl="1" algn="ctr" indent="0" marL="0">
              <a:buNone/>
            </a:pPr>
            <a:r>
              <a:rPr lang="ar-SA" altLang="en-US" sz="2000" b="1" dirty="0">
                <a:solidFill>
                  <a:srgbClr val="1B3B6F"/>
                </a:solidFill>
                <a:latin typeface="Amiri" pitchFamily="34" charset="0"/>
                <a:ea typeface="Amiri" pitchFamily="34" charset="-122"/>
                <a:cs typeface="Amiri" pitchFamily="34" charset="-120"/>
              </a:rPr>
              <a:t>خْرُجُ</a:t>
            </a:r>
            <a:endParaRPr lang="ar-SA" sz="2000" dirty="0"/>
          </a:p>
        </p:txBody>
      </p:sp>
      <p:sp>
        <p:nvSpPr>
          <p:cNvPr id="53" name="Text 50"/>
          <p:cNvSpPr txBox="1"/>
          <p:nvPr/>
        </p:nvSpPr>
        <p:spPr>
          <a:xfrm>
            <a:off x="7251192" y="5215738"/>
            <a:ext cx="2103120" cy="682142"/>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34" charset="0"/>
                <a:ea typeface="Amiri" pitchFamily="34" charset="-122"/>
                <a:cs typeface="Amiri" pitchFamily="34" charset="-120"/>
              </a:rPr>
              <a:t>يَ</a:t>
            </a:r>
            <a:pPr rtl="1" algn="ctr" indent="0" marL="0">
              <a:buNone/>
            </a:pPr>
            <a:r>
              <a:rPr lang="ar-SA" altLang="en-US" sz="2000" b="1" dirty="0">
                <a:solidFill>
                  <a:srgbClr val="1B3B6F"/>
                </a:solidFill>
                <a:latin typeface="Amiri" pitchFamily="34" charset="0"/>
                <a:ea typeface="Amiri" pitchFamily="34" charset="-122"/>
                <a:cs typeface="Amiri" pitchFamily="34" charset="-120"/>
              </a:rPr>
              <a:t>خْرُجُ</a:t>
            </a:r>
            <a:endParaRPr lang="ar-SA" sz="2000" dirty="0"/>
          </a:p>
        </p:txBody>
      </p:sp>
      <p:sp>
        <p:nvSpPr>
          <p:cNvPr id="54" name="Text 51"/>
          <p:cNvSpPr txBox="1"/>
          <p:nvPr/>
        </p:nvSpPr>
        <p:spPr>
          <a:xfrm>
            <a:off x="4965192" y="5215738"/>
            <a:ext cx="2103120" cy="682142"/>
          </a:xfrm>
          <a:prstGeom prst="rect">
            <a:avLst/>
          </a:prstGeom>
          <a:noFill/>
          <a:ln/>
        </p:spPr>
        <p:txBody>
          <a:bodyPr wrap="square" lIns="0" tIns="0" rIns="0" bIns="0" rtlCol="0" anchor="ctr"/>
          <a:lstStyle/>
          <a:p>
            <a:pPr rtl="1" algn="ctr" indent="0" marL="0">
              <a:buNone/>
            </a:pPr>
            <a:r>
              <a:rPr lang="ar-SA" altLang="en-US" sz="2000" b="1" dirty="0">
                <a:solidFill>
                  <a:srgbClr val="D6336C"/>
                </a:solidFill>
                <a:latin typeface="Amiri" pitchFamily="34" charset="0"/>
                <a:ea typeface="Amiri" pitchFamily="34" charset="-122"/>
                <a:cs typeface="Amiri" pitchFamily="34" charset="-120"/>
              </a:rPr>
              <a:t>تَ</a:t>
            </a:r>
            <a:pPr rtl="1" algn="ctr" indent="0" marL="0">
              <a:buNone/>
            </a:pPr>
            <a:r>
              <a:rPr lang="ar-SA" altLang="en-US" sz="2000" b="1" dirty="0">
                <a:solidFill>
                  <a:srgbClr val="1B3B6F"/>
                </a:solidFill>
                <a:latin typeface="Amiri" pitchFamily="34" charset="0"/>
                <a:ea typeface="Amiri" pitchFamily="34" charset="-122"/>
                <a:cs typeface="Amiri" pitchFamily="34" charset="-120"/>
              </a:rPr>
              <a:t>خْرُجُ</a:t>
            </a:r>
            <a:endParaRPr lang="ar-SA" sz="2000" dirty="0"/>
          </a:p>
        </p:txBody>
      </p:sp>
      <p:sp>
        <p:nvSpPr>
          <p:cNvPr id="55" name="Text 52"/>
          <p:cNvSpPr txBox="1"/>
          <p:nvPr/>
        </p:nvSpPr>
        <p:spPr>
          <a:xfrm>
            <a:off x="2679192" y="5215738"/>
            <a:ext cx="2103120" cy="682142"/>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34" charset="0"/>
                <a:ea typeface="Amiri" pitchFamily="34" charset="-122"/>
                <a:cs typeface="Amiri" pitchFamily="34" charset="-120"/>
              </a:rPr>
              <a:t>نَ</a:t>
            </a:r>
            <a:pPr rtl="1" algn="ctr" indent="0" marL="0">
              <a:buNone/>
            </a:pPr>
            <a:r>
              <a:rPr lang="ar-SA" altLang="en-US" sz="2000" b="1" dirty="0">
                <a:solidFill>
                  <a:srgbClr val="1B3B6F"/>
                </a:solidFill>
                <a:latin typeface="Amiri" pitchFamily="34" charset="0"/>
                <a:ea typeface="Amiri" pitchFamily="34" charset="-122"/>
                <a:cs typeface="Amiri" pitchFamily="34" charset="-120"/>
              </a:rPr>
              <a:t>خْرُجُ</a:t>
            </a:r>
            <a:endParaRPr lang="ar-SA" sz="2000" dirty="0"/>
          </a:p>
        </p:txBody>
      </p:sp>
      <p:sp>
        <p:nvSpPr>
          <p:cNvPr id="56" name="Text 53"/>
          <p:cNvSpPr txBox="1"/>
          <p:nvPr/>
        </p:nvSpPr>
        <p:spPr>
          <a:xfrm>
            <a:off x="566928" y="5215738"/>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go out, leave</a:t>
            </a:r>
            <a:endParaRPr lang="en-US" sz="1100" dirty="0"/>
          </a:p>
        </p:txBody>
      </p:sp>
      <p:sp>
        <p:nvSpPr>
          <p:cNvPr id="57" name="Text 5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rest of the verb NEVER changes — only the first letter.</a:t>
            </a:r>
            <a:endParaRPr lang="en-US" sz="11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46</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D1-L01 · My Morning Routine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18" b="1" spc="150" kern="0" dirty="0">
                <a:solidFill>
                  <a:srgbClr val="1B3B6F"/>
                </a:solidFill>
                <a:latin typeface="Calibri" pitchFamily="34" charset="0"/>
                <a:ea typeface="Calibri" pitchFamily="34" charset="-122"/>
                <a:cs typeface="Calibri" pitchFamily="34" charset="-120"/>
              </a:rPr>
              <a:t>GRAMMAR FOCUS · PART 2 · DERIVED VERB PATTERNS (WEBSITE) · DEVELOP / STRETCH</a:t>
            </a:r>
            <a:endParaRPr lang="en-US" sz="918"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Keep the pattern letters!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أَوْزَانُ الأَفْعَالِ المَزِيدَةِ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244584"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Pattern (past)</a:t>
            </a:r>
            <a:endParaRPr lang="en-US" sz="1100" dirty="0"/>
          </a:p>
        </p:txBody>
      </p:sp>
      <p:sp>
        <p:nvSpPr>
          <p:cNvPr id="17" name="Text 14"/>
          <p:cNvSpPr txBox="1"/>
          <p:nvPr/>
        </p:nvSpPr>
        <p:spPr>
          <a:xfrm>
            <a:off x="5038344"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Today’s verbs (I)</a:t>
            </a:r>
            <a:endParaRPr lang="en-US" sz="1100" dirty="0"/>
          </a:p>
        </p:txBody>
      </p:sp>
      <p:sp>
        <p:nvSpPr>
          <p:cNvPr id="18" name="Text 15"/>
          <p:cNvSpPr txBox="1"/>
          <p:nvPr/>
        </p:nvSpPr>
        <p:spPr>
          <a:xfrm>
            <a:off x="530352" y="1810512"/>
            <a:ext cx="43616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Letters that must stay</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9262872" y="2286000"/>
            <a:ext cx="2377440" cy="4535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تَفَعَّلَ</a:t>
            </a:r>
            <a:endParaRPr lang="ar-SA" sz="2000" dirty="0"/>
          </a:p>
        </p:txBody>
      </p:sp>
      <p:sp>
        <p:nvSpPr>
          <p:cNvPr id="21" name="Text 18"/>
          <p:cNvSpPr txBox="1"/>
          <p:nvPr/>
        </p:nvSpPr>
        <p:spPr>
          <a:xfrm>
            <a:off x="9217152" y="2706624"/>
            <a:ext cx="24688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Form V</a:t>
            </a:r>
            <a:endParaRPr lang="en-US" sz="950" dirty="0"/>
          </a:p>
        </p:txBody>
      </p:sp>
      <p:sp>
        <p:nvSpPr>
          <p:cNvPr id="22" name="Text 19"/>
          <p:cNvSpPr txBox="1"/>
          <p:nvPr/>
        </p:nvSpPr>
        <p:spPr>
          <a:xfrm>
            <a:off x="5056632" y="2267712"/>
            <a:ext cx="402336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أَتَوَضَّأُ</a:t>
            </a:r>
            <a:endParaRPr lang="ar-SA" sz="2200" dirty="0"/>
          </a:p>
        </p:txBody>
      </p:sp>
      <p:sp>
        <p:nvSpPr>
          <p:cNvPr id="23" name="Text 20"/>
          <p:cNvSpPr txBox="1"/>
          <p:nvPr/>
        </p:nvSpPr>
        <p:spPr>
          <a:xfrm>
            <a:off x="566928" y="2267712"/>
            <a:ext cx="4325112" cy="731520"/>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34" charset="0"/>
                <a:ea typeface="Amiri" pitchFamily="34" charset="-122"/>
                <a:cs typeface="Amiri" pitchFamily="34" charset="-120"/>
              </a:rPr>
              <a:t>ت</a:t>
            </a:r>
            <a:pPr algn="l" indent="0" marL="0">
              <a:buNone/>
            </a:pPr>
            <a:r>
              <a:rPr lang="en-US" sz="1100" dirty="0">
                <a:solidFill>
                  <a:srgbClr val="5A6472"/>
                </a:solidFill>
                <a:latin typeface="Calibri" pitchFamily="34" charset="0"/>
                <a:ea typeface="Calibri" pitchFamily="34" charset="-122"/>
                <a:cs typeface="Calibri" pitchFamily="34" charset="-120"/>
              </a:rPr>
              <a:t> + the doubled middle letter (shadda)</a:t>
            </a:r>
            <a:endParaRPr lang="en-US" sz="1100" dirty="0"/>
          </a:p>
        </p:txBody>
      </p:sp>
      <p:sp>
        <p:nvSpPr>
          <p:cNvPr id="24" name="Shape 21"/>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5" name="Text 22"/>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6" name="Shape 23"/>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7" name="Text 24"/>
          <p:cNvSpPr txBox="1"/>
          <p:nvPr/>
        </p:nvSpPr>
        <p:spPr>
          <a:xfrm>
            <a:off x="9262872" y="3072384"/>
            <a:ext cx="2377440" cy="4535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تَفَاعَلَ</a:t>
            </a:r>
            <a:endParaRPr lang="ar-SA" sz="2000" dirty="0"/>
          </a:p>
        </p:txBody>
      </p:sp>
      <p:sp>
        <p:nvSpPr>
          <p:cNvPr id="28" name="Text 25"/>
          <p:cNvSpPr txBox="1"/>
          <p:nvPr/>
        </p:nvSpPr>
        <p:spPr>
          <a:xfrm>
            <a:off x="9217152" y="3493008"/>
            <a:ext cx="24688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Form VI</a:t>
            </a:r>
            <a:endParaRPr lang="en-US" sz="950" dirty="0"/>
          </a:p>
        </p:txBody>
      </p:sp>
      <p:sp>
        <p:nvSpPr>
          <p:cNvPr id="29" name="Text 26"/>
          <p:cNvSpPr txBox="1"/>
          <p:nvPr/>
        </p:nvSpPr>
        <p:spPr>
          <a:xfrm>
            <a:off x="5056632" y="3054096"/>
            <a:ext cx="402336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أَتَنَاوَلُ</a:t>
            </a:r>
            <a:endParaRPr lang="ar-SA" sz="2200" dirty="0"/>
          </a:p>
        </p:txBody>
      </p:sp>
      <p:sp>
        <p:nvSpPr>
          <p:cNvPr id="30" name="Text 27"/>
          <p:cNvSpPr txBox="1"/>
          <p:nvPr/>
        </p:nvSpPr>
        <p:spPr>
          <a:xfrm>
            <a:off x="566928" y="3054096"/>
            <a:ext cx="4325112" cy="731520"/>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34" charset="0"/>
                <a:ea typeface="Amiri" pitchFamily="34" charset="-122"/>
                <a:cs typeface="Amiri" pitchFamily="34" charset="-120"/>
              </a:rPr>
              <a:t>ت</a:t>
            </a:r>
            <a:pPr algn="l" indent="0" marL="0">
              <a:buNone/>
            </a:pPr>
            <a:r>
              <a:rPr lang="en-US" sz="1100" dirty="0">
                <a:solidFill>
                  <a:srgbClr val="5A6472"/>
                </a:solidFill>
                <a:latin typeface="Calibri" pitchFamily="34" charset="0"/>
                <a:ea typeface="Calibri" pitchFamily="34" charset="-122"/>
                <a:cs typeface="Calibri" pitchFamily="34" charset="-120"/>
              </a:rPr>
              <a:t> + the long ā (</a:t>
            </a:r>
            <a:pPr algn="l" indent="0" marL="0">
              <a:buNone/>
            </a:pPr>
            <a:r>
              <a:rPr lang="ar-SA" altLang="en-US" sz="1450" dirty="0">
                <a:solidFill>
                  <a:srgbClr val="5A6472"/>
                </a:solidFill>
                <a:latin typeface="Amiri" pitchFamily="34" charset="0"/>
                <a:ea typeface="Amiri" pitchFamily="34" charset="-122"/>
                <a:cs typeface="Amiri" pitchFamily="34" charset="-120"/>
              </a:rPr>
              <a:t>ـَا</a:t>
            </a:r>
            <a:pPr algn="l" indent="0" marL="0">
              <a:buNone/>
            </a:pPr>
            <a:r>
              <a:rPr lang="en-US" sz="1100" dirty="0">
                <a:solidFill>
                  <a:srgbClr val="5A6472"/>
                </a:solidFill>
                <a:latin typeface="Calibri" pitchFamily="34" charset="0"/>
                <a:ea typeface="Calibri" pitchFamily="34" charset="-122"/>
                <a:cs typeface="Calibri" pitchFamily="34" charset="-120"/>
              </a:rPr>
              <a:t>)</a:t>
            </a:r>
            <a:endParaRPr lang="en-US" sz="1100" dirty="0"/>
          </a:p>
        </p:txBody>
      </p:sp>
      <p:sp>
        <p:nvSpPr>
          <p:cNvPr id="31" name="Shape 28"/>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3" name="Shape 30"/>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4" name="Text 31"/>
          <p:cNvSpPr txBox="1"/>
          <p:nvPr/>
        </p:nvSpPr>
        <p:spPr>
          <a:xfrm>
            <a:off x="9262872" y="3858768"/>
            <a:ext cx="2377440" cy="4535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اِفْتَعَلَ</a:t>
            </a:r>
            <a:endParaRPr lang="ar-SA" sz="2000" dirty="0"/>
          </a:p>
        </p:txBody>
      </p:sp>
      <p:sp>
        <p:nvSpPr>
          <p:cNvPr id="35" name="Text 32"/>
          <p:cNvSpPr txBox="1"/>
          <p:nvPr/>
        </p:nvSpPr>
        <p:spPr>
          <a:xfrm>
            <a:off x="9217152" y="4279392"/>
            <a:ext cx="24688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Form VIII</a:t>
            </a:r>
            <a:endParaRPr lang="en-US" sz="950" dirty="0"/>
          </a:p>
        </p:txBody>
      </p:sp>
      <p:sp>
        <p:nvSpPr>
          <p:cNvPr id="36" name="Text 33"/>
          <p:cNvSpPr txBox="1"/>
          <p:nvPr/>
        </p:nvSpPr>
        <p:spPr>
          <a:xfrm>
            <a:off x="5056632" y="3840480"/>
            <a:ext cx="402336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أَغْتَسِلُ · أَرْتَدِي</a:t>
            </a:r>
            <a:endParaRPr lang="ar-SA" sz="2200" dirty="0"/>
          </a:p>
        </p:txBody>
      </p:sp>
      <p:sp>
        <p:nvSpPr>
          <p:cNvPr id="37" name="Text 34"/>
          <p:cNvSpPr txBox="1"/>
          <p:nvPr/>
        </p:nvSpPr>
        <p:spPr>
          <a:xfrm>
            <a:off x="566928" y="3840480"/>
            <a:ext cx="43251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a:t>
            </a:r>
            <a:pPr algn="l" indent="0" marL="0">
              <a:buNone/>
            </a:pPr>
            <a:r>
              <a:rPr lang="ar-SA" altLang="en-US" sz="1450" dirty="0">
                <a:solidFill>
                  <a:srgbClr val="5A6472"/>
                </a:solidFill>
                <a:latin typeface="Amiri" pitchFamily="34" charset="0"/>
                <a:ea typeface="Amiri" pitchFamily="34" charset="-122"/>
                <a:cs typeface="Amiri" pitchFamily="34" charset="-120"/>
              </a:rPr>
              <a:t>ت</a:t>
            </a:r>
            <a:pPr algn="l" indent="0" marL="0">
              <a:buNone/>
            </a:pPr>
            <a:r>
              <a:rPr lang="en-US" sz="1100" dirty="0">
                <a:solidFill>
                  <a:srgbClr val="5A6472"/>
                </a:solidFill>
                <a:latin typeface="Calibri" pitchFamily="34" charset="0"/>
                <a:ea typeface="Calibri" pitchFamily="34" charset="-122"/>
                <a:cs typeface="Calibri" pitchFamily="34" charset="-120"/>
              </a:rPr>
              <a:t> after the first root letter</a:t>
            </a:r>
            <a:endParaRPr lang="en-US" sz="1100" dirty="0"/>
          </a:p>
        </p:txBody>
      </p:sp>
      <p:sp>
        <p:nvSpPr>
          <p:cNvPr id="38" name="Shape 35"/>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9" name="Text 36"/>
          <p:cNvSpPr txBox="1"/>
          <p:nvPr/>
        </p:nvSpPr>
        <p:spPr>
          <a:xfrm>
            <a:off x="9262872" y="4645152"/>
            <a:ext cx="2377440" cy="4535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اِسْتَفْعَلَ</a:t>
            </a:r>
            <a:endParaRPr lang="ar-SA" sz="2000" dirty="0"/>
          </a:p>
        </p:txBody>
      </p:sp>
      <p:sp>
        <p:nvSpPr>
          <p:cNvPr id="40" name="Text 37"/>
          <p:cNvSpPr txBox="1"/>
          <p:nvPr/>
        </p:nvSpPr>
        <p:spPr>
          <a:xfrm>
            <a:off x="9217152" y="5065776"/>
            <a:ext cx="24688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Form X</a:t>
            </a:r>
            <a:endParaRPr lang="en-US" sz="950" dirty="0"/>
          </a:p>
        </p:txBody>
      </p:sp>
      <p:sp>
        <p:nvSpPr>
          <p:cNvPr id="41" name="Text 38"/>
          <p:cNvSpPr txBox="1"/>
          <p:nvPr/>
        </p:nvSpPr>
        <p:spPr>
          <a:xfrm>
            <a:off x="5056632" y="4626864"/>
            <a:ext cx="402336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أَسْتَيْقِظُ · أَسْتَعِدُّ · أَسْتَقِلُّ</a:t>
            </a:r>
            <a:endParaRPr lang="ar-SA" sz="2200" dirty="0"/>
          </a:p>
        </p:txBody>
      </p:sp>
      <p:sp>
        <p:nvSpPr>
          <p:cNvPr id="42" name="Text 39"/>
          <p:cNvSpPr txBox="1"/>
          <p:nvPr/>
        </p:nvSpPr>
        <p:spPr>
          <a:xfrm>
            <a:off x="566928" y="4626864"/>
            <a:ext cx="43251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a:t>
            </a:r>
            <a:pPr algn="l" indent="0" marL="0">
              <a:buNone/>
            </a:pPr>
            <a:r>
              <a:rPr lang="ar-SA" altLang="en-US" sz="1450" dirty="0">
                <a:solidFill>
                  <a:srgbClr val="5A6472"/>
                </a:solidFill>
                <a:latin typeface="Amiri" pitchFamily="34" charset="0"/>
                <a:ea typeface="Amiri" pitchFamily="34" charset="-122"/>
                <a:cs typeface="Amiri" pitchFamily="34" charset="-120"/>
              </a:rPr>
              <a:t>سْتَ</a:t>
            </a:r>
            <a:pPr algn="l" indent="0" marL="0">
              <a:buNone/>
            </a:pPr>
            <a:r>
              <a:rPr lang="en-US" sz="1100" dirty="0">
                <a:solidFill>
                  <a:srgbClr val="5A6472"/>
                </a:solidFill>
                <a:latin typeface="Calibri" pitchFamily="34" charset="0"/>
                <a:ea typeface="Calibri" pitchFamily="34" charset="-122"/>
                <a:cs typeface="Calibri" pitchFamily="34" charset="-120"/>
              </a:rPr>
              <a:t> at the start</a:t>
            </a:r>
            <a:endParaRPr lang="en-US" sz="110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46</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D1-L01 · My Morning Routine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83" b="1" spc="150" kern="0" dirty="0">
                <a:solidFill>
                  <a:srgbClr val="1B3B6F"/>
                </a:solidFill>
                <a:latin typeface="Calibri" pitchFamily="34" charset="0"/>
                <a:ea typeface="Calibri" pitchFamily="34" charset="-122"/>
                <a:cs typeface="Calibri" pitchFamily="34" charset="-120"/>
              </a:rPr>
              <a:t>GRAMMAR FOCUS · PART 3 · BUILD A CONNECTED ROUTINE, NOT A LIST (WEBSITE)</a:t>
            </a:r>
            <a:endParaRPr lang="en-US" sz="983"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Connector + verb + time / detail</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رَابِطٌ + فِعْلٌ + وَقْتٌ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D1-L01</a:t>
            </a:r>
            <a:endParaRPr lang="en-US" sz="850" dirty="0"/>
          </a:p>
        </p:txBody>
      </p:sp>
      <p:sp>
        <p:nvSpPr>
          <p:cNvPr id="15" name="Text 12"/>
          <p:cNvSpPr txBox="1"/>
          <p:nvPr/>
        </p:nvSpPr>
        <p:spPr>
          <a:xfrm>
            <a:off x="457200" y="1828800"/>
            <a:ext cx="3017520" cy="566928"/>
          </a:xfrm>
          <a:prstGeom prst="rect">
            <a:avLst/>
          </a:prstGeom>
          <a:noFill/>
          <a:ln/>
        </p:spPr>
        <p:txBody>
          <a:bodyPr wrap="square" lIns="0" tIns="0" rIns="0" bIns="0" rtlCol="0" anchor="ctr"/>
          <a:lstStyle/>
          <a:p>
            <a:pPr algn="l" indent="0" marL="0">
              <a:buNone/>
            </a:pPr>
            <a:r>
              <a:rPr lang="en-US" sz="1100" b="1" dirty="0">
                <a:solidFill>
                  <a:srgbClr val="5A6472"/>
                </a:solidFill>
                <a:latin typeface="Calibri" pitchFamily="34" charset="0"/>
                <a:ea typeface="Calibri" pitchFamily="34" charset="-122"/>
                <a:cs typeface="Calibri" pitchFamily="34" charset="-120"/>
              </a:rPr>
              <a:t>English meaning</a:t>
            </a:r>
            <a:endParaRPr lang="en-US" sz="1100" dirty="0"/>
          </a:p>
        </p:txBody>
      </p:sp>
      <p:sp>
        <p:nvSpPr>
          <p:cNvPr id="16" name="Shape 13"/>
          <p:cNvSpPr/>
          <p:nvPr/>
        </p:nvSpPr>
        <p:spPr>
          <a:xfrm>
            <a:off x="9089136" y="1810512"/>
            <a:ext cx="264261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9089136" y="1792224"/>
            <a:ext cx="2642616" cy="402336"/>
          </a:xfrm>
          <a:prstGeom prst="rect">
            <a:avLst/>
          </a:prstGeom>
          <a:noFill/>
          <a:ln/>
        </p:spPr>
        <p:txBody>
          <a:bodyPr wrap="square" lIns="0" tIns="0" rIns="0" bIns="0" rtlCol="0" anchor="ctr"/>
          <a:lstStyle/>
          <a:p>
            <a:pPr rtl="1" algn="ctr" indent="0" marL="0">
              <a:buNone/>
            </a:pPr>
            <a:r>
              <a:rPr lang="ar-SA" altLang="en-US" sz="1850" b="1" dirty="0">
                <a:solidFill>
                  <a:srgbClr val="FFFFFF"/>
                </a:solidFill>
                <a:latin typeface="Amiri" pitchFamily="34" charset="0"/>
                <a:ea typeface="Amiri" pitchFamily="34" charset="-122"/>
                <a:cs typeface="Amiri" pitchFamily="34" charset="-120"/>
              </a:rPr>
              <a:t>رَابِطٌ</a:t>
            </a:r>
            <a:endParaRPr lang="ar-SA" sz="1850" dirty="0"/>
          </a:p>
        </p:txBody>
      </p:sp>
      <p:sp>
        <p:nvSpPr>
          <p:cNvPr id="18" name="Text 15"/>
          <p:cNvSpPr txBox="1"/>
          <p:nvPr/>
        </p:nvSpPr>
        <p:spPr>
          <a:xfrm>
            <a:off x="9089136" y="2157984"/>
            <a:ext cx="2642616" cy="201168"/>
          </a:xfrm>
          <a:prstGeom prst="rect">
            <a:avLst/>
          </a:prstGeom>
          <a:noFill/>
          <a:ln/>
        </p:spPr>
        <p:txBody>
          <a:bodyPr wrap="square" lIns="0" tIns="0" rIns="0" bIns="0" rtlCol="0" anchor="ctr"/>
          <a:lstStyle/>
          <a:p>
            <a:pPr algn="ctr" indent="0" marL="0">
              <a:buNone/>
            </a:pPr>
            <a:r>
              <a:rPr lang="en-US" sz="900" i="1" dirty="0">
                <a:solidFill>
                  <a:srgbClr val="EEF1F6"/>
                </a:solidFill>
                <a:latin typeface="Calibri" pitchFamily="34" charset="0"/>
                <a:ea typeface="Calibri" pitchFamily="34" charset="-122"/>
                <a:cs typeface="Calibri" pitchFamily="34" charset="-120"/>
              </a:rPr>
              <a:t>connector</a:t>
            </a:r>
            <a:endParaRPr lang="en-US" sz="900" dirty="0"/>
          </a:p>
        </p:txBody>
      </p:sp>
      <p:sp>
        <p:nvSpPr>
          <p:cNvPr id="19" name="Shape 16"/>
          <p:cNvSpPr/>
          <p:nvPr/>
        </p:nvSpPr>
        <p:spPr>
          <a:xfrm>
            <a:off x="6336792" y="1810512"/>
            <a:ext cx="2642616" cy="566928"/>
          </a:xfrm>
          <a:prstGeom prst="roundRect">
            <a:avLst>
              <a:gd name="adj" fmla="val 9677"/>
            </a:avLst>
          </a:prstGeom>
          <a:solidFill>
            <a:srgbClr val="1D5FBF"/>
          </a:solidFill>
          <a:ln w="12700">
            <a:solidFill>
              <a:srgbClr val="1D5FBF"/>
            </a:solidFill>
            <a:prstDash val="solid"/>
          </a:ln>
        </p:spPr>
      </p:sp>
      <p:sp>
        <p:nvSpPr>
          <p:cNvPr id="20" name="Text 17"/>
          <p:cNvSpPr txBox="1"/>
          <p:nvPr/>
        </p:nvSpPr>
        <p:spPr>
          <a:xfrm>
            <a:off x="6336792" y="1792224"/>
            <a:ext cx="2642616" cy="402336"/>
          </a:xfrm>
          <a:prstGeom prst="rect">
            <a:avLst/>
          </a:prstGeom>
          <a:noFill/>
          <a:ln/>
        </p:spPr>
        <p:txBody>
          <a:bodyPr wrap="square" lIns="0" tIns="0" rIns="0" bIns="0" rtlCol="0" anchor="ctr"/>
          <a:lstStyle/>
          <a:p>
            <a:pPr rtl="1" algn="ctr" indent="0" marL="0">
              <a:buNone/>
            </a:pPr>
            <a:r>
              <a:rPr lang="ar-SA" altLang="en-US" sz="1850" b="1" dirty="0">
                <a:solidFill>
                  <a:srgbClr val="FFFFFF"/>
                </a:solidFill>
                <a:latin typeface="Amiri" pitchFamily="34" charset="0"/>
                <a:ea typeface="Amiri" pitchFamily="34" charset="-122"/>
                <a:cs typeface="Amiri" pitchFamily="34" charset="-120"/>
              </a:rPr>
              <a:t>فِعْلٌ</a:t>
            </a:r>
            <a:endParaRPr lang="ar-SA" sz="1850" dirty="0"/>
          </a:p>
        </p:txBody>
      </p:sp>
      <p:sp>
        <p:nvSpPr>
          <p:cNvPr id="21" name="Text 18"/>
          <p:cNvSpPr txBox="1"/>
          <p:nvPr/>
        </p:nvSpPr>
        <p:spPr>
          <a:xfrm>
            <a:off x="6336792" y="2157984"/>
            <a:ext cx="2642616" cy="201168"/>
          </a:xfrm>
          <a:prstGeom prst="rect">
            <a:avLst/>
          </a:prstGeom>
          <a:noFill/>
          <a:ln/>
        </p:spPr>
        <p:txBody>
          <a:bodyPr wrap="square" lIns="0" tIns="0" rIns="0" bIns="0" rtlCol="0" anchor="ctr"/>
          <a:lstStyle/>
          <a:p>
            <a:pPr algn="ctr" indent="0" marL="0">
              <a:buNone/>
            </a:pPr>
            <a:r>
              <a:rPr lang="en-US" sz="900" i="1" dirty="0">
                <a:solidFill>
                  <a:srgbClr val="EEF1F6"/>
                </a:solidFill>
                <a:latin typeface="Calibri" pitchFamily="34" charset="0"/>
                <a:ea typeface="Calibri" pitchFamily="34" charset="-122"/>
                <a:cs typeface="Calibri" pitchFamily="34" charset="-120"/>
              </a:rPr>
              <a:t>verb (who?)</a:t>
            </a:r>
            <a:endParaRPr lang="en-US" sz="900" dirty="0"/>
          </a:p>
        </p:txBody>
      </p:sp>
      <p:sp>
        <p:nvSpPr>
          <p:cNvPr id="22" name="Shape 19"/>
          <p:cNvSpPr/>
          <p:nvPr/>
        </p:nvSpPr>
        <p:spPr>
          <a:xfrm>
            <a:off x="3584448" y="1810512"/>
            <a:ext cx="2642616" cy="566928"/>
          </a:xfrm>
          <a:prstGeom prst="roundRect">
            <a:avLst>
              <a:gd name="adj" fmla="val 9677"/>
            </a:avLst>
          </a:prstGeom>
          <a:solidFill>
            <a:srgbClr val="C77700"/>
          </a:solidFill>
          <a:ln w="12700">
            <a:solidFill>
              <a:srgbClr val="C77700"/>
            </a:solidFill>
            <a:prstDash val="solid"/>
          </a:ln>
        </p:spPr>
      </p:sp>
      <p:sp>
        <p:nvSpPr>
          <p:cNvPr id="23" name="Text 20"/>
          <p:cNvSpPr txBox="1"/>
          <p:nvPr/>
        </p:nvSpPr>
        <p:spPr>
          <a:xfrm>
            <a:off x="3584448" y="1792224"/>
            <a:ext cx="2642616" cy="402336"/>
          </a:xfrm>
          <a:prstGeom prst="rect">
            <a:avLst/>
          </a:prstGeom>
          <a:noFill/>
          <a:ln/>
        </p:spPr>
        <p:txBody>
          <a:bodyPr wrap="square" lIns="0" tIns="0" rIns="0" bIns="0" rtlCol="0" anchor="ctr"/>
          <a:lstStyle/>
          <a:p>
            <a:pPr rtl="1" algn="ctr" indent="0" marL="0">
              <a:buNone/>
            </a:pPr>
            <a:r>
              <a:rPr lang="ar-SA" altLang="en-US" sz="1850" b="1" dirty="0">
                <a:solidFill>
                  <a:srgbClr val="FFFFFF"/>
                </a:solidFill>
                <a:latin typeface="Amiri" pitchFamily="34" charset="0"/>
                <a:ea typeface="Amiri" pitchFamily="34" charset="-122"/>
                <a:cs typeface="Amiri" pitchFamily="34" charset="-120"/>
              </a:rPr>
              <a:t>وَقْتٌ / تَفْصِيلٌ</a:t>
            </a:r>
            <a:endParaRPr lang="ar-SA" sz="1850" dirty="0"/>
          </a:p>
        </p:txBody>
      </p:sp>
      <p:sp>
        <p:nvSpPr>
          <p:cNvPr id="24" name="Text 21"/>
          <p:cNvSpPr txBox="1"/>
          <p:nvPr/>
        </p:nvSpPr>
        <p:spPr>
          <a:xfrm>
            <a:off x="3584448" y="2157984"/>
            <a:ext cx="2642616" cy="201168"/>
          </a:xfrm>
          <a:prstGeom prst="rect">
            <a:avLst/>
          </a:prstGeom>
          <a:noFill/>
          <a:ln/>
        </p:spPr>
        <p:txBody>
          <a:bodyPr wrap="square" lIns="0" tIns="0" rIns="0" bIns="0" rtlCol="0" anchor="ctr"/>
          <a:lstStyle/>
          <a:p>
            <a:pPr algn="ctr" indent="0" marL="0">
              <a:buNone/>
            </a:pPr>
            <a:r>
              <a:rPr lang="en-US" sz="900" i="1" dirty="0">
                <a:solidFill>
                  <a:srgbClr val="EEF1F6"/>
                </a:solidFill>
                <a:latin typeface="Calibri" pitchFamily="34" charset="0"/>
                <a:ea typeface="Calibri" pitchFamily="34" charset="-122"/>
                <a:cs typeface="Calibri" pitchFamily="34" charset="-120"/>
              </a:rPr>
              <a:t>time / detail</a:t>
            </a:r>
            <a:endParaRPr lang="en-US" sz="900" dirty="0"/>
          </a:p>
        </p:txBody>
      </p:sp>
      <p:sp>
        <p:nvSpPr>
          <p:cNvPr id="25" name="Text 22"/>
          <p:cNvSpPr txBox="1"/>
          <p:nvPr/>
        </p:nvSpPr>
        <p:spPr>
          <a:xfrm>
            <a:off x="457200" y="2487168"/>
            <a:ext cx="2926080" cy="768096"/>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First I wake up at six.</a:t>
            </a:r>
            <a:endParaRPr lang="en-US" sz="1200" dirty="0"/>
          </a:p>
        </p:txBody>
      </p:sp>
      <p:sp>
        <p:nvSpPr>
          <p:cNvPr id="26" name="Shape 23"/>
          <p:cNvSpPr/>
          <p:nvPr/>
        </p:nvSpPr>
        <p:spPr>
          <a:xfrm>
            <a:off x="9089136" y="2487168"/>
            <a:ext cx="2642616" cy="768096"/>
          </a:xfrm>
          <a:prstGeom prst="roundRect">
            <a:avLst>
              <a:gd name="adj" fmla="val 7143"/>
            </a:avLst>
          </a:prstGeom>
          <a:solidFill>
            <a:srgbClr val="E3F2F3"/>
          </a:solidFill>
          <a:ln w="9525">
            <a:solidFill>
              <a:srgbClr val="E3F2F3"/>
            </a:solidFill>
            <a:prstDash val="solid"/>
          </a:ln>
        </p:spPr>
      </p:sp>
      <p:sp>
        <p:nvSpPr>
          <p:cNvPr id="27" name="Text 24"/>
          <p:cNvSpPr txBox="1"/>
          <p:nvPr/>
        </p:nvSpPr>
        <p:spPr>
          <a:xfrm>
            <a:off x="9162288" y="2487168"/>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أَوَّلًا</a:t>
            </a:r>
            <a:endParaRPr lang="ar-SA" sz="2400" dirty="0"/>
          </a:p>
        </p:txBody>
      </p:sp>
      <p:sp>
        <p:nvSpPr>
          <p:cNvPr id="28" name="Shape 25"/>
          <p:cNvSpPr/>
          <p:nvPr/>
        </p:nvSpPr>
        <p:spPr>
          <a:xfrm>
            <a:off x="6336792" y="2487168"/>
            <a:ext cx="2642616" cy="768096"/>
          </a:xfrm>
          <a:prstGeom prst="roundRect">
            <a:avLst>
              <a:gd name="adj" fmla="val 7143"/>
            </a:avLst>
          </a:prstGeom>
          <a:solidFill>
            <a:srgbClr val="EEF3FA"/>
          </a:solidFill>
          <a:ln w="9525">
            <a:solidFill>
              <a:srgbClr val="EEF3FA"/>
            </a:solidFill>
            <a:prstDash val="solid"/>
          </a:ln>
        </p:spPr>
      </p:sp>
      <p:sp>
        <p:nvSpPr>
          <p:cNvPr id="29" name="Text 26"/>
          <p:cNvSpPr txBox="1"/>
          <p:nvPr/>
        </p:nvSpPr>
        <p:spPr>
          <a:xfrm>
            <a:off x="6409944" y="2487168"/>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أَسْتَيْقِظُ</a:t>
            </a:r>
            <a:endParaRPr lang="ar-SA" sz="2400" dirty="0"/>
          </a:p>
        </p:txBody>
      </p:sp>
      <p:sp>
        <p:nvSpPr>
          <p:cNvPr id="30" name="Shape 27"/>
          <p:cNvSpPr/>
          <p:nvPr/>
        </p:nvSpPr>
        <p:spPr>
          <a:xfrm>
            <a:off x="3584448" y="2487168"/>
            <a:ext cx="2642616" cy="768096"/>
          </a:xfrm>
          <a:prstGeom prst="roundRect">
            <a:avLst>
              <a:gd name="adj" fmla="val 7143"/>
            </a:avLst>
          </a:prstGeom>
          <a:solidFill>
            <a:srgbClr val="FDF3E3"/>
          </a:solidFill>
          <a:ln w="9525">
            <a:solidFill>
              <a:srgbClr val="FDF3E3"/>
            </a:solidFill>
            <a:prstDash val="solid"/>
          </a:ln>
        </p:spPr>
      </p:sp>
      <p:sp>
        <p:nvSpPr>
          <p:cNvPr id="31" name="Text 28"/>
          <p:cNvSpPr txBox="1"/>
          <p:nvPr/>
        </p:nvSpPr>
        <p:spPr>
          <a:xfrm>
            <a:off x="3657600" y="2487168"/>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فِي السَّادِسَةِ.</a:t>
            </a:r>
            <a:endParaRPr lang="ar-SA" sz="2400" dirty="0"/>
          </a:p>
        </p:txBody>
      </p:sp>
      <p:sp>
        <p:nvSpPr>
          <p:cNvPr id="32" name="Text 29"/>
          <p:cNvSpPr txBox="1"/>
          <p:nvPr/>
        </p:nvSpPr>
        <p:spPr>
          <a:xfrm>
            <a:off x="457200" y="3364992"/>
            <a:ext cx="2926080" cy="768096"/>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Then I shower and get dressed.</a:t>
            </a:r>
            <a:endParaRPr lang="en-US" sz="1200" dirty="0"/>
          </a:p>
        </p:txBody>
      </p:sp>
      <p:sp>
        <p:nvSpPr>
          <p:cNvPr id="33" name="Shape 30"/>
          <p:cNvSpPr/>
          <p:nvPr/>
        </p:nvSpPr>
        <p:spPr>
          <a:xfrm>
            <a:off x="9089136" y="3364992"/>
            <a:ext cx="2642616" cy="768096"/>
          </a:xfrm>
          <a:prstGeom prst="roundRect">
            <a:avLst>
              <a:gd name="adj" fmla="val 7143"/>
            </a:avLst>
          </a:prstGeom>
          <a:solidFill>
            <a:srgbClr val="E3F2F3"/>
          </a:solidFill>
          <a:ln w="9525">
            <a:solidFill>
              <a:srgbClr val="E3F2F3"/>
            </a:solidFill>
            <a:prstDash val="solid"/>
          </a:ln>
        </p:spPr>
      </p:sp>
      <p:sp>
        <p:nvSpPr>
          <p:cNvPr id="34" name="Text 31"/>
          <p:cNvSpPr txBox="1"/>
          <p:nvPr/>
        </p:nvSpPr>
        <p:spPr>
          <a:xfrm>
            <a:off x="9162288" y="3364992"/>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ثُمَّ</a:t>
            </a:r>
            <a:endParaRPr lang="ar-SA" sz="2400" dirty="0"/>
          </a:p>
        </p:txBody>
      </p:sp>
      <p:sp>
        <p:nvSpPr>
          <p:cNvPr id="35" name="Shape 32"/>
          <p:cNvSpPr/>
          <p:nvPr/>
        </p:nvSpPr>
        <p:spPr>
          <a:xfrm>
            <a:off x="6336792" y="3364992"/>
            <a:ext cx="2642616" cy="768096"/>
          </a:xfrm>
          <a:prstGeom prst="roundRect">
            <a:avLst>
              <a:gd name="adj" fmla="val 7143"/>
            </a:avLst>
          </a:prstGeom>
          <a:solidFill>
            <a:srgbClr val="EEF3FA"/>
          </a:solidFill>
          <a:ln w="9525">
            <a:solidFill>
              <a:srgbClr val="EEF3FA"/>
            </a:solidFill>
            <a:prstDash val="solid"/>
          </a:ln>
        </p:spPr>
      </p:sp>
      <p:sp>
        <p:nvSpPr>
          <p:cNvPr id="36" name="Text 33"/>
          <p:cNvSpPr txBox="1"/>
          <p:nvPr/>
        </p:nvSpPr>
        <p:spPr>
          <a:xfrm>
            <a:off x="6409944" y="3364992"/>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أَغْتَسِلُ</a:t>
            </a:r>
            <a:endParaRPr lang="ar-SA" sz="2400" dirty="0"/>
          </a:p>
        </p:txBody>
      </p:sp>
      <p:sp>
        <p:nvSpPr>
          <p:cNvPr id="37" name="Shape 34"/>
          <p:cNvSpPr/>
          <p:nvPr/>
        </p:nvSpPr>
        <p:spPr>
          <a:xfrm>
            <a:off x="3584448" y="3364992"/>
            <a:ext cx="2642616" cy="768096"/>
          </a:xfrm>
          <a:prstGeom prst="roundRect">
            <a:avLst>
              <a:gd name="adj" fmla="val 7143"/>
            </a:avLst>
          </a:prstGeom>
          <a:solidFill>
            <a:srgbClr val="FDF3E3"/>
          </a:solidFill>
          <a:ln w="9525">
            <a:solidFill>
              <a:srgbClr val="FDF3E3"/>
            </a:solidFill>
            <a:prstDash val="solid"/>
          </a:ln>
        </p:spPr>
      </p:sp>
      <p:sp>
        <p:nvSpPr>
          <p:cNvPr id="38" name="Text 35"/>
          <p:cNvSpPr txBox="1"/>
          <p:nvPr/>
        </p:nvSpPr>
        <p:spPr>
          <a:xfrm>
            <a:off x="3657600" y="3364992"/>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وَأَرْتَدِي مَلَابِسِي.</a:t>
            </a:r>
            <a:endParaRPr lang="ar-SA" sz="2400" dirty="0"/>
          </a:p>
        </p:txBody>
      </p:sp>
      <p:sp>
        <p:nvSpPr>
          <p:cNvPr id="39" name="Text 36"/>
          <p:cNvSpPr txBox="1"/>
          <p:nvPr/>
        </p:nvSpPr>
        <p:spPr>
          <a:xfrm>
            <a:off x="457200" y="4242816"/>
            <a:ext cx="2926080" cy="768096"/>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Usually I have breakfast with my family.</a:t>
            </a:r>
            <a:endParaRPr lang="en-US" sz="1200" dirty="0"/>
          </a:p>
        </p:txBody>
      </p:sp>
      <p:sp>
        <p:nvSpPr>
          <p:cNvPr id="40" name="Shape 37"/>
          <p:cNvSpPr/>
          <p:nvPr/>
        </p:nvSpPr>
        <p:spPr>
          <a:xfrm>
            <a:off x="9089136" y="4242816"/>
            <a:ext cx="2642616" cy="768096"/>
          </a:xfrm>
          <a:prstGeom prst="roundRect">
            <a:avLst>
              <a:gd name="adj" fmla="val 7143"/>
            </a:avLst>
          </a:prstGeom>
          <a:solidFill>
            <a:srgbClr val="E3F2F3"/>
          </a:solidFill>
          <a:ln w="9525">
            <a:solidFill>
              <a:srgbClr val="E3F2F3"/>
            </a:solidFill>
            <a:prstDash val="solid"/>
          </a:ln>
        </p:spPr>
      </p:sp>
      <p:sp>
        <p:nvSpPr>
          <p:cNvPr id="41" name="Text 38"/>
          <p:cNvSpPr txBox="1"/>
          <p:nvPr/>
        </p:nvSpPr>
        <p:spPr>
          <a:xfrm>
            <a:off x="9162288" y="4242816"/>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عَادَةً</a:t>
            </a:r>
            <a:endParaRPr lang="ar-SA" sz="2400" dirty="0"/>
          </a:p>
        </p:txBody>
      </p:sp>
      <p:sp>
        <p:nvSpPr>
          <p:cNvPr id="42" name="Shape 39"/>
          <p:cNvSpPr/>
          <p:nvPr/>
        </p:nvSpPr>
        <p:spPr>
          <a:xfrm>
            <a:off x="6336792" y="4242816"/>
            <a:ext cx="2642616" cy="768096"/>
          </a:xfrm>
          <a:prstGeom prst="roundRect">
            <a:avLst>
              <a:gd name="adj" fmla="val 7143"/>
            </a:avLst>
          </a:prstGeom>
          <a:solidFill>
            <a:srgbClr val="EEF3FA"/>
          </a:solidFill>
          <a:ln w="9525">
            <a:solidFill>
              <a:srgbClr val="EEF3FA"/>
            </a:solidFill>
            <a:prstDash val="solid"/>
          </a:ln>
        </p:spPr>
      </p:sp>
      <p:sp>
        <p:nvSpPr>
          <p:cNvPr id="43" name="Text 40"/>
          <p:cNvSpPr txBox="1"/>
          <p:nvPr/>
        </p:nvSpPr>
        <p:spPr>
          <a:xfrm>
            <a:off x="6409944" y="4242816"/>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أَتَنَاوَلُ الإِفْطَارَ</a:t>
            </a:r>
            <a:endParaRPr lang="ar-SA" sz="2400" dirty="0"/>
          </a:p>
        </p:txBody>
      </p:sp>
      <p:sp>
        <p:nvSpPr>
          <p:cNvPr id="44" name="Shape 41"/>
          <p:cNvSpPr/>
          <p:nvPr/>
        </p:nvSpPr>
        <p:spPr>
          <a:xfrm>
            <a:off x="3584448" y="4242816"/>
            <a:ext cx="2642616" cy="768096"/>
          </a:xfrm>
          <a:prstGeom prst="roundRect">
            <a:avLst>
              <a:gd name="adj" fmla="val 7143"/>
            </a:avLst>
          </a:prstGeom>
          <a:solidFill>
            <a:srgbClr val="FDF3E3"/>
          </a:solidFill>
          <a:ln w="9525">
            <a:solidFill>
              <a:srgbClr val="FDF3E3"/>
            </a:solidFill>
            <a:prstDash val="solid"/>
          </a:ln>
        </p:spPr>
      </p:sp>
      <p:sp>
        <p:nvSpPr>
          <p:cNvPr id="45" name="Text 42"/>
          <p:cNvSpPr txBox="1"/>
          <p:nvPr/>
        </p:nvSpPr>
        <p:spPr>
          <a:xfrm>
            <a:off x="3657600" y="4242816"/>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مَعَ أُسْرَتِي.</a:t>
            </a:r>
            <a:endParaRPr lang="ar-SA" sz="2400" dirty="0"/>
          </a:p>
        </p:txBody>
      </p:sp>
      <p:sp>
        <p:nvSpPr>
          <p:cNvPr id="46" name="Text 43"/>
          <p:cNvSpPr txBox="1"/>
          <p:nvPr/>
        </p:nvSpPr>
        <p:spPr>
          <a:xfrm>
            <a:off x="457200" y="5120640"/>
            <a:ext cx="2926080" cy="768096"/>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Finally I leave the house.</a:t>
            </a:r>
            <a:endParaRPr lang="en-US" sz="1200" dirty="0"/>
          </a:p>
        </p:txBody>
      </p:sp>
      <p:sp>
        <p:nvSpPr>
          <p:cNvPr id="47" name="Shape 44"/>
          <p:cNvSpPr/>
          <p:nvPr/>
        </p:nvSpPr>
        <p:spPr>
          <a:xfrm>
            <a:off x="9089136" y="5120640"/>
            <a:ext cx="2642616" cy="768096"/>
          </a:xfrm>
          <a:prstGeom prst="roundRect">
            <a:avLst>
              <a:gd name="adj" fmla="val 7143"/>
            </a:avLst>
          </a:prstGeom>
          <a:solidFill>
            <a:srgbClr val="E3F2F3"/>
          </a:solidFill>
          <a:ln w="9525">
            <a:solidFill>
              <a:srgbClr val="E3F2F3"/>
            </a:solidFill>
            <a:prstDash val="solid"/>
          </a:ln>
        </p:spPr>
      </p:sp>
      <p:sp>
        <p:nvSpPr>
          <p:cNvPr id="48" name="Text 45"/>
          <p:cNvSpPr txBox="1"/>
          <p:nvPr/>
        </p:nvSpPr>
        <p:spPr>
          <a:xfrm>
            <a:off x="9162288" y="5120640"/>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أَخِيرًا</a:t>
            </a:r>
            <a:endParaRPr lang="ar-SA" sz="2400" dirty="0"/>
          </a:p>
        </p:txBody>
      </p:sp>
      <p:sp>
        <p:nvSpPr>
          <p:cNvPr id="49" name="Shape 46"/>
          <p:cNvSpPr/>
          <p:nvPr/>
        </p:nvSpPr>
        <p:spPr>
          <a:xfrm>
            <a:off x="6336792" y="5120640"/>
            <a:ext cx="2642616" cy="768096"/>
          </a:xfrm>
          <a:prstGeom prst="roundRect">
            <a:avLst>
              <a:gd name="adj" fmla="val 7143"/>
            </a:avLst>
          </a:prstGeom>
          <a:solidFill>
            <a:srgbClr val="EEF3FA"/>
          </a:solidFill>
          <a:ln w="9525">
            <a:solidFill>
              <a:srgbClr val="EEF3FA"/>
            </a:solidFill>
            <a:prstDash val="solid"/>
          </a:ln>
        </p:spPr>
      </p:sp>
      <p:sp>
        <p:nvSpPr>
          <p:cNvPr id="50" name="Text 47"/>
          <p:cNvSpPr txBox="1"/>
          <p:nvPr/>
        </p:nvSpPr>
        <p:spPr>
          <a:xfrm>
            <a:off x="6409944" y="5120640"/>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أَخْرُجُ</a:t>
            </a:r>
            <a:endParaRPr lang="ar-SA" sz="2400" dirty="0"/>
          </a:p>
        </p:txBody>
      </p:sp>
      <p:sp>
        <p:nvSpPr>
          <p:cNvPr id="51" name="Shape 48"/>
          <p:cNvSpPr/>
          <p:nvPr/>
        </p:nvSpPr>
        <p:spPr>
          <a:xfrm>
            <a:off x="3584448" y="5120640"/>
            <a:ext cx="2642616" cy="768096"/>
          </a:xfrm>
          <a:prstGeom prst="roundRect">
            <a:avLst>
              <a:gd name="adj" fmla="val 7143"/>
            </a:avLst>
          </a:prstGeom>
          <a:solidFill>
            <a:srgbClr val="FDF3E3"/>
          </a:solidFill>
          <a:ln w="9525">
            <a:solidFill>
              <a:srgbClr val="FDF3E3"/>
            </a:solidFill>
            <a:prstDash val="solid"/>
          </a:ln>
        </p:spPr>
      </p:sp>
      <p:sp>
        <p:nvSpPr>
          <p:cNvPr id="52" name="Text 49"/>
          <p:cNvSpPr txBox="1"/>
          <p:nvPr/>
        </p:nvSpPr>
        <p:spPr>
          <a:xfrm>
            <a:off x="3657600" y="5120640"/>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مِنَ البَيْتِ.</a:t>
            </a:r>
            <a:endParaRPr lang="ar-SA" sz="2400" dirty="0"/>
          </a:p>
        </p:txBody>
      </p:sp>
      <p:sp>
        <p:nvSpPr>
          <p:cNvPr id="53" name="Text 50"/>
          <p:cNvSpPr txBox="1"/>
          <p:nvPr/>
        </p:nvSpPr>
        <p:spPr>
          <a:xfrm>
            <a:off x="457200" y="5989320"/>
            <a:ext cx="11274552" cy="320040"/>
          </a:xfrm>
          <a:prstGeom prst="rect">
            <a:avLst/>
          </a:prstGeom>
          <a:noFill/>
          <a:ln/>
        </p:spPr>
        <p:txBody>
          <a:bodyPr wrap="square" lIns="0" tIns="0" rIns="0" bIns="0" rtlCol="0" anchor="ctr"/>
          <a:lstStyle/>
          <a:p>
            <a:pPr algn="l" indent="0" marL="0">
              <a:buNone/>
            </a:pPr>
            <a:r>
              <a:rPr lang="en-US" sz="1200" b="1" dirty="0">
                <a:solidFill>
                  <a:srgbClr val="8A6D1E"/>
                </a:solidFill>
                <a:latin typeface="Calibri" pitchFamily="34" charset="0"/>
                <a:ea typeface="Calibri" pitchFamily="34" charset="-122"/>
                <a:cs typeface="Calibri" pitchFamily="34" charset="-120"/>
              </a:rPr>
              <a:t>Frequency words (</a:t>
            </a:r>
            <a:pPr algn="l" indent="0" marL="0">
              <a:buNone/>
            </a:pPr>
            <a:r>
              <a:rPr lang="ar-SA" altLang="en-US" sz="1550" b="1" dirty="0">
                <a:solidFill>
                  <a:srgbClr val="8A6D1E"/>
                </a:solidFill>
                <a:latin typeface="Amiri" pitchFamily="34" charset="0"/>
                <a:ea typeface="Amiri" pitchFamily="34" charset="-122"/>
                <a:cs typeface="Amiri" pitchFamily="34" charset="-120"/>
              </a:rPr>
              <a:t>عَادَةً، دَائِمًا، أَحْيَانًا</a:t>
            </a:r>
            <a:pPr algn="l" indent="0" marL="0">
              <a:buNone/>
            </a:pPr>
            <a:r>
              <a:rPr lang="en-US" sz="1200" b="1" dirty="0">
                <a:solidFill>
                  <a:srgbClr val="8A6D1E"/>
                </a:solidFill>
                <a:latin typeface="Calibri" pitchFamily="34" charset="0"/>
                <a:ea typeface="Calibri" pitchFamily="34" charset="-122"/>
                <a:cs typeface="Calibri" pitchFamily="34" charset="-120"/>
              </a:rPr>
              <a:t>) can go at the start or after the verb.</a:t>
            </a:r>
            <a:endParaRPr lang="en-US" sz="1200" dirty="0"/>
          </a:p>
        </p:txBody>
      </p:sp>
      <p:sp>
        <p:nvSpPr>
          <p:cNvPr id="54"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46</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D1-L01 · My Morning Routine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ea typeface="Cambria" pitchFamily="34" charset="-122"/>
                <a:cs typeface="Cambria" pitchFamily="34" charset="-120"/>
              </a:rPr>
              <a:t>Derived verb patterns in a morning routine</a:t>
            </a:r>
            <a:endParaRPr lang="en-US" sz="22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050" b="1" dirty="0">
                <a:solidFill>
                  <a:srgbClr val="8A6D1E"/>
                </a:solidFill>
                <a:latin typeface="Amiri" pitchFamily="34" charset="0"/>
                <a:ea typeface="Amiri" pitchFamily="34" charset="-122"/>
                <a:cs typeface="Amiri" pitchFamily="34" charset="-120"/>
              </a:rPr>
              <a:t>أَوْزَانُ الأَفْعَالِ المَزِيدَةِ فِي الرُّوتِينِ الصَّبَاحِيِّ</a:t>
            </a:r>
            <a:endParaRPr lang="ar-SA" sz="205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D1-L01</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Recognise Form V as a patterned verb</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يَتَفَعَّلُ ← أَتَفَعَّلُ</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هُوَ يَتَوَضَّأُ.   ·   أَنَا أَتَوَضَّأُ.   ·   هِيَ تَتَوَضَّأُ.</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Distinguish Forms VI, VIII and X</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تَفَاعَلَ · اِفْتَعَلَ · اِسْتَفْعَلَ</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أَتَنَاوَلُ الإِفْطَارَ.   ·   أَغْتَسِلُ وَأَرْتَدِي مَلَابِسِي.   ·   أَسْتَيْقِظُ ثُمَّ أَسْتَعِدُّ.</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Match the person prefix to the subject</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أَنا أَـ · أَنْتَ تَـ · هُوَ يَـ · هِيَ تَـ · نَحْنُ نَـ</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lnSpc>
                <a:spcPct val="120000"/>
              </a:lnSpc>
              <a:buNone/>
            </a:pPr>
            <a:r>
              <a:rPr lang="ar-SA" altLang="en-US" sz="1900" b="1" dirty="0">
                <a:solidFill>
                  <a:srgbClr val="1F2A37"/>
                </a:solidFill>
                <a:latin typeface="Amiri" pitchFamily="34" charset="0"/>
                <a:ea typeface="Amiri" pitchFamily="34" charset="-122"/>
                <a:cs typeface="Amiri" pitchFamily="34" charset="-120"/>
              </a:rPr>
              <a:t>أَنَا أَسْتَيْقِظُ مُبَكِّرًا.   ·   أَخِي يَسْتَعِدُّ بِسُرْعَةٍ.   ·   أُخْتِي تَتَنَاوَلُ الإِفْطَارَ.   ·   نَحْنُ نَخْرُجُ مَعًا.</a:t>
            </a:r>
            <a:endParaRPr lang="ar-SA" sz="19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Build a connected routine, not a list</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رَابِطٌ + فِعْلٌ + وَقْتٌ / تَفْصِيلٌ</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lnSpc>
                <a:spcPct val="120000"/>
              </a:lnSpc>
              <a:buNone/>
            </a:pPr>
            <a:r>
              <a:rPr lang="ar-SA" altLang="en-US" sz="1850" b="1" dirty="0">
                <a:solidFill>
                  <a:srgbClr val="1F2A37"/>
                </a:solidFill>
                <a:latin typeface="Amiri" pitchFamily="34" charset="0"/>
                <a:ea typeface="Amiri" pitchFamily="34" charset="-122"/>
                <a:cs typeface="Amiri" pitchFamily="34" charset="-120"/>
              </a:rPr>
              <a:t>أَوَّلًا أَسْتَيْقِظُ فِي السَّادِسَةِ.   ·   ثُمَّ أَغْتَسِلُ وَأَرْتَدِي مَلَابِسِي.   ·   عَادَةً أَتَنَاوَلُ الإِفْطَارَ مَعَ أُسْرَتِي.   ·   أَخِيرًا أَخْرُجُ مِنَ البَيْتِ.</a:t>
            </a:r>
            <a:endParaRPr lang="ar-SA" sz="18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46</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D1-L01 · My Morning Routine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“I wake up”.</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يَسْتَيْقِظُ</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تَسْتَيْقِظُ</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أَسْتَيْقِظُ</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2" name="Text 29"/>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هِيَ ___ فِي السَّادِسَةِ.</a:t>
            </a:r>
            <a:endParaRPr lang="ar-SA" sz="1500" dirty="0"/>
          </a:p>
        </p:txBody>
      </p:sp>
      <p:sp>
        <p:nvSpPr>
          <p:cNvPr id="33" name="Shape 30"/>
          <p:cNvSpPr/>
          <p:nvPr/>
        </p:nvSpPr>
        <p:spPr>
          <a:xfrm>
            <a:off x="6368796"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5" name="Text 32"/>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تَسْتَيْقِظُ</a:t>
            </a:r>
            <a:endParaRPr lang="ar-SA" sz="2050" dirty="0"/>
          </a:p>
        </p:txBody>
      </p:sp>
      <p:sp>
        <p:nvSpPr>
          <p:cNvPr id="36" name="Shape 33"/>
          <p:cNvSpPr/>
          <p:nvPr/>
        </p:nvSpPr>
        <p:spPr>
          <a:xfrm>
            <a:off x="6368796"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8" name="Text 35"/>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يَسْتَيْقِظُ</a:t>
            </a:r>
            <a:endParaRPr lang="ar-SA" sz="2050" dirty="0"/>
          </a:p>
        </p:txBody>
      </p:sp>
      <p:sp>
        <p:nvSpPr>
          <p:cNvPr id="39" name="Shape 36"/>
          <p:cNvSpPr/>
          <p:nvPr/>
        </p:nvSpPr>
        <p:spPr>
          <a:xfrm>
            <a:off x="6368796"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1" name="Text 38"/>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أَسْتَيْقِظُ</a:t>
            </a:r>
            <a:endParaRPr lang="ar-SA" sz="2050" dirty="0"/>
          </a:p>
        </p:txBody>
      </p:sp>
      <p:sp>
        <p:nvSpPr>
          <p:cNvPr id="42" name="Shape 39"/>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85216" y="4288536"/>
            <a:ext cx="310896" cy="310896"/>
          </a:xfrm>
          <a:prstGeom prst="ellipse">
            <a:avLst/>
          </a:prstGeom>
          <a:solidFill>
            <a:srgbClr val="1B3B6F"/>
          </a:solidFill>
          <a:ln w="12700">
            <a:solidFill>
              <a:srgbClr val="1B3B6F"/>
            </a:solidFill>
            <a:prstDash val="solid"/>
          </a:ln>
        </p:spPr>
      </p:sp>
      <p:sp>
        <p:nvSpPr>
          <p:cNvPr id="44" name="Text 4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5" name="Text 42"/>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best connected sequence.</a:t>
            </a:r>
            <a:endParaRPr lang="en-US" sz="1250" dirty="0"/>
          </a:p>
        </p:txBody>
      </p:sp>
      <p:sp>
        <p:nvSpPr>
          <p:cNvPr id="46" name="Shape 43"/>
          <p:cNvSpPr/>
          <p:nvPr/>
        </p:nvSpPr>
        <p:spPr>
          <a:xfrm>
            <a:off x="640080" y="4873752"/>
            <a:ext cx="256032" cy="256032"/>
          </a:xfrm>
          <a:prstGeom prst="ellipse">
            <a:avLst/>
          </a:prstGeom>
          <a:solidFill>
            <a:srgbClr val="F4F1EA"/>
          </a:solidFill>
          <a:ln w="12700">
            <a:solidFill>
              <a:srgbClr val="F4F1EA"/>
            </a:solidFill>
            <a:prstDash val="solid"/>
          </a:ln>
        </p:spPr>
      </p:sp>
      <p:sp>
        <p:nvSpPr>
          <p:cNvPr id="47" name="Text 44"/>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8" name="Text 45"/>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أَسْتَيْقِظُ. أَغْتَسِلُ. أَخْرُجُ.</a:t>
            </a:r>
            <a:endParaRPr lang="ar-SA" sz="2050" dirty="0"/>
          </a:p>
        </p:txBody>
      </p:sp>
      <p:sp>
        <p:nvSpPr>
          <p:cNvPr id="49" name="Shape 46"/>
          <p:cNvSpPr/>
          <p:nvPr/>
        </p:nvSpPr>
        <p:spPr>
          <a:xfrm>
            <a:off x="640080" y="53309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1" name="Text 48"/>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أَوَّلًا أَسْتَيْقِظُ، ثُمَّ أَغْتَسِلُ، وَأَخِيرًا أَخْرُجُ.</a:t>
            </a:r>
            <a:endParaRPr lang="ar-SA" sz="2050" dirty="0"/>
          </a:p>
        </p:txBody>
      </p:sp>
      <p:sp>
        <p:nvSpPr>
          <p:cNvPr id="52" name="Shape 49"/>
          <p:cNvSpPr/>
          <p:nvPr/>
        </p:nvSpPr>
        <p:spPr>
          <a:xfrm>
            <a:off x="640080" y="57881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4" name="Text 51"/>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ثُمَّ أَسْتَيْقِظُ أَوَّلًا أَخْرُجُ.</a:t>
            </a:r>
            <a:endParaRPr lang="ar-SA" sz="2050" dirty="0"/>
          </a:p>
        </p:txBody>
      </p:sp>
      <p:sp>
        <p:nvSpPr>
          <p:cNvPr id="55" name="Shape 52"/>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6313932"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8" name="Text 55"/>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feminine sentence.</a:t>
            </a:r>
            <a:endParaRPr lang="en-US" sz="125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أُخْتِي تَتَوَضَّأُ.</a:t>
            </a:r>
            <a:endParaRPr lang="ar-SA" sz="20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أُخْتِي يَتَوَضَّأُ.</a:t>
            </a:r>
            <a:endParaRPr lang="ar-SA" sz="20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أُخْتِي أَتَوَضَّأُ.</a:t>
            </a:r>
            <a:endParaRPr lang="ar-SA" sz="20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46</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D1-L01 · My Morning Routine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“I wake up”.</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يَسْتَيْقِظُ</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تَسْتَيْقِظُ</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أَسْتَيْقِظُ</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أَنَا</a:t>
            </a:r>
            <a:pPr algn="l" indent="0" marL="0">
              <a:buNone/>
            </a:pPr>
            <a:r>
              <a:rPr lang="en-US" sz="1050" i="1" dirty="0">
                <a:solidFill>
                  <a:srgbClr val="8A6D1E"/>
                </a:solidFill>
                <a:latin typeface="Calibri" pitchFamily="34" charset="0"/>
                <a:ea typeface="Calibri" pitchFamily="34" charset="-122"/>
                <a:cs typeface="Calibri" pitchFamily="34" charset="-120"/>
              </a:rPr>
              <a:t> takes the prefix </a:t>
            </a:r>
            <a:pPr algn="l" indent="0" marL="0">
              <a:buNone/>
            </a:pPr>
            <a:r>
              <a:rPr lang="ar-SA" altLang="en-US" sz="1350" dirty="0">
                <a:solidFill>
                  <a:srgbClr val="8A6D1E"/>
                </a:solidFill>
                <a:latin typeface="Amiri" pitchFamily="34" charset="0"/>
                <a:ea typeface="Amiri" pitchFamily="34" charset="-122"/>
                <a:cs typeface="Amiri" pitchFamily="34" charset="-120"/>
              </a:rPr>
              <a:t>أَـ</a:t>
            </a:r>
            <a:pPr algn="l" indent="0" marL="0">
              <a:buNone/>
            </a:pPr>
            <a:r>
              <a:rPr lang="en-US" sz="1050" i="1" dirty="0">
                <a:solidFill>
                  <a:srgbClr val="8A6D1E"/>
                </a:solidFill>
                <a:latin typeface="Calibri" pitchFamily="34" charset="0"/>
                <a:ea typeface="Calibri" pitchFamily="34" charset="-122"/>
                <a:cs typeface="Calibri" pitchFamily="34" charset="-120"/>
              </a:rPr>
              <a:t>: </a:t>
            </a:r>
            <a:pPr algn="l" indent="0" marL="0">
              <a:buNone/>
            </a:pPr>
            <a:r>
              <a:rPr lang="ar-SA" altLang="en-US" sz="1350" dirty="0">
                <a:solidFill>
                  <a:srgbClr val="8A6D1E"/>
                </a:solidFill>
                <a:latin typeface="Amiri" pitchFamily="34" charset="0"/>
                <a:ea typeface="Amiri" pitchFamily="34" charset="-122"/>
                <a:cs typeface="Amiri" pitchFamily="34" charset="-120"/>
              </a:rPr>
              <a:t>أَسْتَيْقِظُ</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4" name="Text 31"/>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هِيَ ___ فِي السَّادِسَةِ.</a:t>
            </a:r>
            <a:endParaRPr lang="ar-SA" sz="1500" dirty="0"/>
          </a:p>
        </p:txBody>
      </p:sp>
      <p:sp>
        <p:nvSpPr>
          <p:cNvPr id="35" name="Shape 32"/>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6" name="Shape 33"/>
          <p:cNvSpPr/>
          <p:nvPr/>
        </p:nvSpPr>
        <p:spPr>
          <a:xfrm>
            <a:off x="6368796" y="2490216"/>
            <a:ext cx="256032" cy="256032"/>
          </a:xfrm>
          <a:prstGeom prst="ellipse">
            <a:avLst/>
          </a:prstGeom>
          <a:solidFill>
            <a:srgbClr val="2E8B57"/>
          </a:solidFill>
          <a:ln w="12700">
            <a:solidFill>
              <a:srgbClr val="2E8B57"/>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تَسْتَيْقِظُ</a:t>
            </a:r>
            <a:endParaRPr lang="ar-SA" sz="1700" dirty="0"/>
          </a:p>
        </p:txBody>
      </p:sp>
      <p:sp>
        <p:nvSpPr>
          <p:cNvPr id="39" name="Shape 36"/>
          <p:cNvSpPr/>
          <p:nvPr/>
        </p:nvSpPr>
        <p:spPr>
          <a:xfrm>
            <a:off x="6368796"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يَسْتَيْقِظُ</a:t>
            </a:r>
            <a:endParaRPr lang="ar-SA" sz="1700" dirty="0"/>
          </a:p>
        </p:txBody>
      </p:sp>
      <p:sp>
        <p:nvSpPr>
          <p:cNvPr id="42" name="Shape 39"/>
          <p:cNvSpPr/>
          <p:nvPr/>
        </p:nvSpPr>
        <p:spPr>
          <a:xfrm>
            <a:off x="6368796" y="323392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1"/>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أَسْتَيْقِظُ</a:t>
            </a:r>
            <a:endParaRPr lang="ar-SA" sz="1700" dirty="0"/>
          </a:p>
        </p:txBody>
      </p:sp>
      <p:sp>
        <p:nvSpPr>
          <p:cNvPr id="45" name="Text 42"/>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هِيَ</a:t>
            </a:r>
            <a:pPr algn="l" indent="0" marL="0">
              <a:buNone/>
            </a:pPr>
            <a:r>
              <a:rPr lang="en-US" sz="1050" i="1" dirty="0">
                <a:solidFill>
                  <a:srgbClr val="8A6D1E"/>
                </a:solidFill>
                <a:latin typeface="Calibri" pitchFamily="34" charset="0"/>
                <a:ea typeface="Calibri" pitchFamily="34" charset="-122"/>
                <a:cs typeface="Calibri" pitchFamily="34" charset="-120"/>
              </a:rPr>
              <a:t> uses </a:t>
            </a:r>
            <a:pPr algn="l" indent="0" marL="0">
              <a:buNone/>
            </a:pPr>
            <a:r>
              <a:rPr lang="ar-SA" altLang="en-US" sz="1350" dirty="0">
                <a:solidFill>
                  <a:srgbClr val="8A6D1E"/>
                </a:solidFill>
                <a:latin typeface="Amiri" pitchFamily="34" charset="0"/>
                <a:ea typeface="Amiri" pitchFamily="34" charset="-122"/>
                <a:cs typeface="Amiri" pitchFamily="34" charset="-120"/>
              </a:rPr>
              <a:t>تَـ</a:t>
            </a:r>
            <a:pPr algn="l" indent="0" marL="0">
              <a:buNone/>
            </a:pPr>
            <a:r>
              <a:rPr lang="en-US" sz="1050" i="1" dirty="0">
                <a:solidFill>
                  <a:srgbClr val="8A6D1E"/>
                </a:solidFill>
                <a:latin typeface="Calibri" pitchFamily="34" charset="0"/>
                <a:ea typeface="Calibri" pitchFamily="34" charset="-122"/>
                <a:cs typeface="Calibri" pitchFamily="34" charset="-120"/>
              </a:rPr>
              <a:t> in the present tense.</a:t>
            </a:r>
            <a:endParaRPr lang="en-US" sz="1050" dirty="0"/>
          </a:p>
        </p:txBody>
      </p:sp>
      <p:sp>
        <p:nvSpPr>
          <p:cNvPr id="46" name="Shape 43"/>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585216" y="4288536"/>
            <a:ext cx="310896" cy="310896"/>
          </a:xfrm>
          <a:prstGeom prst="ellipse">
            <a:avLst/>
          </a:prstGeom>
          <a:solidFill>
            <a:srgbClr val="1B3B6F"/>
          </a:solidFill>
          <a:ln w="12700">
            <a:solidFill>
              <a:srgbClr val="1B3B6F"/>
            </a:solidFill>
            <a:prstDash val="solid"/>
          </a:ln>
        </p:spPr>
      </p:sp>
      <p:sp>
        <p:nvSpPr>
          <p:cNvPr id="48" name="Text 4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6"/>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best connected sequence.</a:t>
            </a:r>
            <a:endParaRPr lang="en-US" sz="1250" dirty="0"/>
          </a:p>
        </p:txBody>
      </p:sp>
      <p:sp>
        <p:nvSpPr>
          <p:cNvPr id="50" name="Shape 47"/>
          <p:cNvSpPr/>
          <p:nvPr/>
        </p:nvSpPr>
        <p:spPr>
          <a:xfrm>
            <a:off x="640080" y="4831080"/>
            <a:ext cx="256032" cy="256032"/>
          </a:xfrm>
          <a:prstGeom prst="ellipse">
            <a:avLst/>
          </a:prstGeom>
          <a:solidFill>
            <a:srgbClr val="C9CED6"/>
          </a:solidFill>
          <a:ln w="12700">
            <a:solidFill>
              <a:srgbClr val="C9CED6"/>
            </a:solidFill>
            <a:prstDash val="solid"/>
          </a:ln>
        </p:spPr>
      </p:sp>
      <p:sp>
        <p:nvSpPr>
          <p:cNvPr id="51" name="Text 4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أَسْتَيْقِظُ. أَغْتَسِلُ. أَخْرُجُ.</a:t>
            </a:r>
            <a:endParaRPr lang="ar-SA" sz="1700" dirty="0"/>
          </a:p>
        </p:txBody>
      </p:sp>
      <p:sp>
        <p:nvSpPr>
          <p:cNvPr id="53" name="Shape 50"/>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4" name="Shape 51"/>
          <p:cNvSpPr/>
          <p:nvPr/>
        </p:nvSpPr>
        <p:spPr>
          <a:xfrm>
            <a:off x="640080" y="5202936"/>
            <a:ext cx="256032" cy="256032"/>
          </a:xfrm>
          <a:prstGeom prst="ellipse">
            <a:avLst/>
          </a:prstGeom>
          <a:solidFill>
            <a:srgbClr val="2E8B57"/>
          </a:solidFill>
          <a:ln w="12700">
            <a:solidFill>
              <a:srgbClr val="2E8B57"/>
            </a:solidFill>
            <a:prstDash val="solid"/>
          </a:ln>
        </p:spPr>
      </p:sp>
      <p:sp>
        <p:nvSpPr>
          <p:cNvPr id="55" name="Text 52"/>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6" name="Text 53"/>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أَوَّلًا أَسْتَيْقِظُ، ثُمَّ أَغْتَسِلُ، وَأَخِيرًا أَخْرُجُ.</a:t>
            </a:r>
            <a:endParaRPr lang="ar-SA" sz="1700" dirty="0"/>
          </a:p>
        </p:txBody>
      </p:sp>
      <p:sp>
        <p:nvSpPr>
          <p:cNvPr id="57" name="Shape 54"/>
          <p:cNvSpPr/>
          <p:nvPr/>
        </p:nvSpPr>
        <p:spPr>
          <a:xfrm>
            <a:off x="640080" y="5574792"/>
            <a:ext cx="256032" cy="256032"/>
          </a:xfrm>
          <a:prstGeom prst="ellipse">
            <a:avLst/>
          </a:prstGeom>
          <a:solidFill>
            <a:srgbClr val="C9CED6"/>
          </a:solidFill>
          <a:ln w="12700">
            <a:solidFill>
              <a:srgbClr val="C9CED6"/>
            </a:solidFill>
            <a:prstDash val="solid"/>
          </a:ln>
        </p:spPr>
      </p:sp>
      <p:sp>
        <p:nvSpPr>
          <p:cNvPr id="58" name="Text 55"/>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9" name="Text 56"/>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ثُمَّ أَسْتَيْقِظُ أَوَّلًا أَخْرُجُ.</a:t>
            </a:r>
            <a:endParaRPr lang="ar-SA" sz="1700" dirty="0"/>
          </a:p>
        </p:txBody>
      </p:sp>
      <p:sp>
        <p:nvSpPr>
          <p:cNvPr id="60" name="Text 57"/>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sequence markers create a logical order.</a:t>
            </a:r>
            <a:endParaRPr lang="en-US" sz="1050" dirty="0"/>
          </a:p>
        </p:txBody>
      </p:sp>
      <p:sp>
        <p:nvSpPr>
          <p:cNvPr id="61" name="Shape 58"/>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6313932"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1"/>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feminine sentence.</a:t>
            </a:r>
            <a:endParaRPr lang="en-US" sz="125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أُخْتِي تَتَوَضَّأُ.</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أُخْتِي يَتَوَضَّأُ.</a:t>
            </a:r>
            <a:endParaRPr lang="ar-SA" sz="170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أُخْتِي أَتَوَضَّأُ.</a:t>
            </a:r>
            <a:endParaRPr lang="ar-SA" sz="170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feminine third-person subject takes </a:t>
            </a:r>
            <a:pPr algn="l" indent="0" marL="0">
              <a:buNone/>
            </a:pPr>
            <a:r>
              <a:rPr lang="ar-SA" altLang="en-US" sz="1350" dirty="0">
                <a:solidFill>
                  <a:srgbClr val="8A6D1E"/>
                </a:solidFill>
                <a:latin typeface="Amiri" pitchFamily="34" charset="0"/>
                <a:ea typeface="Amiri" pitchFamily="34" charset="-122"/>
                <a:cs typeface="Amiri" pitchFamily="34" charset="-120"/>
              </a:rPr>
              <a:t>تَـ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46</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D1-L01 · My Morning Routine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Watch me build my morning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D1-L01</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Wake up + time</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34" charset="0"/>
                <a:ea typeface="Amiri" pitchFamily="34" charset="-122"/>
                <a:cs typeface="Amiri" pitchFamily="34" charset="-120"/>
              </a:rPr>
              <a:t>أَوَّلًا</a:t>
            </a:r>
            <a:pPr rtl="1" algn="ctr" indent="0" marL="0">
              <a:buNone/>
            </a:pPr>
            <a:r>
              <a:rPr lang="ar-SA" altLang="en-US" sz="2100" b="1" dirty="0">
                <a:solidFill>
                  <a:srgbClr val="1B3B6F"/>
                </a:solidFill>
                <a:latin typeface="Amiri" pitchFamily="34" charset="0"/>
                <a:ea typeface="Amiri" pitchFamily="34" charset="-122"/>
                <a:cs typeface="Amiri" pitchFamily="34" charset="-120"/>
              </a:rPr>
              <a:t> </a:t>
            </a:r>
            <a:pPr rtl="1" algn="ctr" indent="0" marL="0">
              <a:buNone/>
            </a:pPr>
            <a:r>
              <a:rPr lang="ar-SA" altLang="en-US" sz="2100" b="1" dirty="0">
                <a:solidFill>
                  <a:srgbClr val="1D5FBF"/>
                </a:solidFill>
                <a:latin typeface="Amiri" pitchFamily="34" charset="0"/>
                <a:ea typeface="Amiri" pitchFamily="34" charset="-122"/>
                <a:cs typeface="Amiri" pitchFamily="34" charset="-120"/>
              </a:rPr>
              <a:t>أَ</a:t>
            </a:r>
            <a:pPr rtl="1" algn="ctr" indent="0" marL="0">
              <a:buNone/>
            </a:pPr>
            <a:r>
              <a:rPr lang="ar-SA" altLang="en-US" sz="2100" b="1" dirty="0">
                <a:solidFill>
                  <a:srgbClr val="1B3B6F"/>
                </a:solidFill>
                <a:latin typeface="Amiri" pitchFamily="34" charset="0"/>
                <a:ea typeface="Amiri" pitchFamily="34" charset="-122"/>
                <a:cs typeface="Amiri" pitchFamily="34" charset="-120"/>
              </a:rPr>
              <a:t>سْتَيْقِظُ فِي السَّادِسَةِ.</a:t>
            </a:r>
            <a:endParaRPr lang="ar-SA" sz="21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I → </a:t>
            </a:r>
            <a:pPr algn="l" indent="0" marL="0">
              <a:buNone/>
            </a:pPr>
            <a:r>
              <a:rPr lang="ar-SA" altLang="en-US" sz="1500" dirty="0">
                <a:solidFill>
                  <a:srgbClr val="1F2A37"/>
                </a:solidFill>
                <a:latin typeface="Amiri" pitchFamily="34" charset="0"/>
                <a:ea typeface="Amiri" pitchFamily="34" charset="-122"/>
                <a:cs typeface="Amiri" pitchFamily="34" charset="-120"/>
              </a:rPr>
              <a:t>أَـ</a:t>
            </a:r>
            <a:pPr algn="l" indent="0" marL="0">
              <a:buNone/>
            </a:pPr>
            <a:r>
              <a:rPr lang="en-US" sz="1150" dirty="0">
                <a:solidFill>
                  <a:srgbClr val="1F2A37"/>
                </a:solidFill>
                <a:latin typeface="Calibri" pitchFamily="34" charset="0"/>
                <a:ea typeface="Calibri" pitchFamily="34" charset="-122"/>
                <a:cs typeface="Calibri" pitchFamily="34" charset="-120"/>
              </a:rPr>
              <a:t>. Keep </a:t>
            </a:r>
            <a:pPr algn="l" indent="0" marL="0">
              <a:buNone/>
            </a:pPr>
            <a:r>
              <a:rPr lang="ar-SA" altLang="en-US" sz="1500" dirty="0">
                <a:solidFill>
                  <a:srgbClr val="1F2A37"/>
                </a:solidFill>
                <a:latin typeface="Amiri" pitchFamily="34" charset="0"/>
                <a:ea typeface="Amiri" pitchFamily="34" charset="-122"/>
                <a:cs typeface="Amiri" pitchFamily="34" charset="-120"/>
              </a:rPr>
              <a:t>سْتَ</a:t>
            </a:r>
            <a:pPr algn="l" indent="0" marL="0">
              <a:buNone/>
            </a:pPr>
            <a:r>
              <a:rPr lang="en-US" sz="1150" dirty="0">
                <a:solidFill>
                  <a:srgbClr val="1F2A37"/>
                </a:solidFill>
                <a:latin typeface="Calibri" pitchFamily="34" charset="0"/>
                <a:ea typeface="Calibri" pitchFamily="34" charset="-122"/>
                <a:cs typeface="Calibri" pitchFamily="34" charset="-120"/>
              </a:rPr>
              <a:t> (Form X).</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Wash + dress</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34" charset="0"/>
                <a:ea typeface="Amiri" pitchFamily="34" charset="-122"/>
                <a:cs typeface="Amiri" pitchFamily="34" charset="-120"/>
              </a:rPr>
              <a:t>ثُمَّ</a:t>
            </a:r>
            <a:pPr rtl="1" algn="ctr" indent="0" marL="0">
              <a:buNone/>
            </a:pPr>
            <a:r>
              <a:rPr lang="ar-SA" altLang="en-US" sz="2100" b="1" dirty="0">
                <a:solidFill>
                  <a:srgbClr val="1B3B6F"/>
                </a:solidFill>
                <a:latin typeface="Amiri" pitchFamily="34" charset="0"/>
                <a:ea typeface="Amiri" pitchFamily="34" charset="-122"/>
                <a:cs typeface="Amiri" pitchFamily="34" charset="-120"/>
              </a:rPr>
              <a:t> </a:t>
            </a:r>
            <a:pPr rtl="1" algn="ctr" indent="0" marL="0">
              <a:buNone/>
            </a:pPr>
            <a:r>
              <a:rPr lang="ar-SA" altLang="en-US" sz="2100" b="1" dirty="0">
                <a:solidFill>
                  <a:srgbClr val="1D5FBF"/>
                </a:solidFill>
                <a:latin typeface="Amiri" pitchFamily="34" charset="0"/>
                <a:ea typeface="Amiri" pitchFamily="34" charset="-122"/>
                <a:cs typeface="Amiri" pitchFamily="34" charset="-120"/>
              </a:rPr>
              <a:t>أَ</a:t>
            </a:r>
            <a:pPr rtl="1" algn="ctr" indent="0" marL="0">
              <a:buNone/>
            </a:pPr>
            <a:r>
              <a:rPr lang="ar-SA" altLang="en-US" sz="2100" b="1" dirty="0">
                <a:solidFill>
                  <a:srgbClr val="1B3B6F"/>
                </a:solidFill>
                <a:latin typeface="Amiri" pitchFamily="34" charset="0"/>
                <a:ea typeface="Amiri" pitchFamily="34" charset="-122"/>
                <a:cs typeface="Amiri" pitchFamily="34" charset="-120"/>
              </a:rPr>
              <a:t>غْتَسِلُ وَ</a:t>
            </a:r>
            <a:pPr rtl="1" algn="ctr" indent="0" marL="0">
              <a:buNone/>
            </a:pPr>
            <a:r>
              <a:rPr lang="ar-SA" altLang="en-US" sz="2100" b="1" dirty="0">
                <a:solidFill>
                  <a:srgbClr val="1D5FBF"/>
                </a:solidFill>
                <a:latin typeface="Amiri" pitchFamily="34" charset="0"/>
                <a:ea typeface="Amiri" pitchFamily="34" charset="-122"/>
                <a:cs typeface="Amiri" pitchFamily="34" charset="-120"/>
              </a:rPr>
              <a:t>أَ</a:t>
            </a:r>
            <a:pPr rtl="1" algn="ctr" indent="0" marL="0">
              <a:buNone/>
            </a:pPr>
            <a:r>
              <a:rPr lang="ar-SA" altLang="en-US" sz="2100" b="1" dirty="0">
                <a:solidFill>
                  <a:srgbClr val="1B3B6F"/>
                </a:solidFill>
                <a:latin typeface="Amiri" pitchFamily="34" charset="0"/>
                <a:ea typeface="Amiri" pitchFamily="34" charset="-122"/>
                <a:cs typeface="Amiri" pitchFamily="34" charset="-120"/>
              </a:rPr>
              <a:t>رْتَدِي مَلَابِسِي.</a:t>
            </a:r>
            <a:endParaRPr lang="ar-SA" sz="21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Two actions joined with </a:t>
            </a:r>
            <a:pPr algn="l" indent="0" marL="0">
              <a:buNone/>
            </a:pPr>
            <a:r>
              <a:rPr lang="ar-SA" altLang="en-US" sz="1500" dirty="0">
                <a:solidFill>
                  <a:srgbClr val="1F2A37"/>
                </a:solidFill>
                <a:latin typeface="Amiri" pitchFamily="34" charset="0"/>
                <a:ea typeface="Amiri" pitchFamily="34" charset="-122"/>
                <a:cs typeface="Amiri" pitchFamily="34" charset="-120"/>
              </a:rPr>
              <a:t>وَ</a:t>
            </a:r>
            <a:pPr algn="l" indent="0" marL="0">
              <a:buNone/>
            </a:pPr>
            <a:r>
              <a:rPr lang="en-US" sz="1150" dirty="0">
                <a:solidFill>
                  <a:srgbClr val="1F2A37"/>
                </a:solidFill>
                <a:latin typeface="Calibri" pitchFamily="34" charset="0"/>
                <a:ea typeface="Calibri" pitchFamily="34" charset="-122"/>
                <a:cs typeface="Calibri" pitchFamily="34" charset="-120"/>
              </a:rPr>
              <a:t>.</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Someone else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900" b="1" dirty="0">
                <a:solidFill>
                  <a:srgbClr val="1B3B6F"/>
                </a:solidFill>
                <a:latin typeface="Amiri" pitchFamily="34" charset="0"/>
                <a:ea typeface="Amiri" pitchFamily="34" charset="-122"/>
                <a:cs typeface="Amiri" pitchFamily="34" charset="-120"/>
              </a:rPr>
              <a:t>أُخْتِي </a:t>
            </a:r>
            <a:pPr rtl="1" algn="ctr" indent="0" marL="0">
              <a:lnSpc>
                <a:spcPct val="120000"/>
              </a:lnSpc>
              <a:buNone/>
            </a:pPr>
            <a:r>
              <a:rPr lang="ar-SA" altLang="en-US" sz="1900" b="1" dirty="0">
                <a:solidFill>
                  <a:srgbClr val="D6336C"/>
                </a:solidFill>
                <a:latin typeface="Amiri" pitchFamily="34" charset="0"/>
                <a:ea typeface="Amiri" pitchFamily="34" charset="-122"/>
                <a:cs typeface="Amiri" pitchFamily="34" charset="-120"/>
              </a:rPr>
              <a:t>تَ</a:t>
            </a:r>
            <a:pPr rtl="1" algn="ctr" indent="0" marL="0">
              <a:lnSpc>
                <a:spcPct val="120000"/>
              </a:lnSpc>
              <a:buNone/>
            </a:pPr>
            <a:r>
              <a:rPr lang="ar-SA" altLang="en-US" sz="1900" b="1" dirty="0">
                <a:solidFill>
                  <a:srgbClr val="1B3B6F"/>
                </a:solidFill>
                <a:latin typeface="Amiri" pitchFamily="34" charset="0"/>
                <a:ea typeface="Amiri" pitchFamily="34" charset="-122"/>
                <a:cs typeface="Amiri" pitchFamily="34" charset="-120"/>
              </a:rPr>
              <a:t>تَنَاوَلُ الإِفْطَارَ قَبْلِي.</a:t>
            </a:r>
            <a:endParaRPr lang="ar-SA" sz="19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My sister → she → </a:t>
            </a:r>
            <a:pPr algn="l" indent="0" marL="0">
              <a:buNone/>
            </a:pPr>
            <a:r>
              <a:rPr lang="ar-SA" altLang="en-US" sz="1500" dirty="0">
                <a:solidFill>
                  <a:srgbClr val="1F2A37"/>
                </a:solidFill>
                <a:latin typeface="Amiri" pitchFamily="34" charset="0"/>
                <a:ea typeface="Amiri" pitchFamily="34" charset="-122"/>
                <a:cs typeface="Amiri" pitchFamily="34" charset="-120"/>
              </a:rPr>
              <a:t>تَـ</a:t>
            </a:r>
            <a:pPr algn="l" indent="0" marL="0">
              <a:buNone/>
            </a:pPr>
            <a:r>
              <a:rPr lang="en-US" sz="1150" dirty="0">
                <a:solidFill>
                  <a:srgbClr val="1F2A37"/>
                </a:solidFill>
                <a:latin typeface="Calibri" pitchFamily="34" charset="0"/>
                <a:ea typeface="Calibri" pitchFamily="34" charset="-122"/>
                <a:cs typeface="Calibri" pitchFamily="34" charset="-120"/>
              </a:rPr>
              <a:t>.</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Frequency + finish</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0E7C86"/>
                </a:solidFill>
                <a:latin typeface="Amiri" pitchFamily="34" charset="0"/>
                <a:ea typeface="Amiri" pitchFamily="34" charset="-122"/>
                <a:cs typeface="Amiri" pitchFamily="34" charset="-120"/>
              </a:rPr>
              <a:t>عَادَةً</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a:t>
            </a:r>
            <a:pPr rtl="1" algn="ctr" indent="0" marL="0">
              <a:lnSpc>
                <a:spcPct val="120000"/>
              </a:lnSpc>
              <a:buNone/>
            </a:pPr>
            <a:r>
              <a:rPr lang="ar-SA" altLang="en-US" sz="1750" b="1" dirty="0">
                <a:solidFill>
                  <a:srgbClr val="1D5FBF"/>
                </a:solidFill>
                <a:latin typeface="Amiri" pitchFamily="34" charset="0"/>
                <a:ea typeface="Amiri" pitchFamily="34" charset="-122"/>
                <a:cs typeface="Amiri" pitchFamily="34" charset="-120"/>
              </a:rPr>
              <a:t>أَ</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خْرُجُ فِي السَّابِعَةِ وَالنِّصْفِ.</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 frequency word and an exact time.</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CONNECTOR</a:t>
            </a:r>
            <a:endParaRPr lang="en-US" sz="800" dirty="0"/>
          </a:p>
        </p:txBody>
      </p:sp>
      <p:sp>
        <p:nvSpPr>
          <p:cNvPr id="47" name="Shape 43"/>
          <p:cNvSpPr/>
          <p:nvPr/>
        </p:nvSpPr>
        <p:spPr>
          <a:xfrm>
            <a:off x="9528048" y="4736592"/>
            <a:ext cx="914400" cy="237744"/>
          </a:xfrm>
          <a:prstGeom prst="roundRect">
            <a:avLst>
              <a:gd name="adj" fmla="val 50000"/>
            </a:avLst>
          </a:prstGeom>
          <a:solidFill>
            <a:srgbClr val="1D5FBF"/>
          </a:solidFill>
          <a:ln w="12700">
            <a:solidFill>
              <a:srgbClr val="1D5FBF"/>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I</a:t>
            </a:r>
            <a:endParaRPr lang="en-US" sz="800" dirty="0"/>
          </a:p>
        </p:txBody>
      </p:sp>
      <p:sp>
        <p:nvSpPr>
          <p:cNvPr id="49" name="Shape 45"/>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SHE</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1900" b="1" dirty="0">
                <a:solidFill>
                  <a:srgbClr val="0E7C86"/>
                </a:solidFill>
                <a:latin typeface="Amiri" pitchFamily="34" charset="0"/>
                <a:ea typeface="Amiri" pitchFamily="34" charset="-122"/>
                <a:cs typeface="Amiri" pitchFamily="34" charset="-120"/>
              </a:rPr>
              <a:t>أَوَّلًا</a:t>
            </a:r>
            <a:pPr rtl="1" algn="r" indent="0" marL="0">
              <a:buNone/>
            </a:pPr>
            <a:r>
              <a:rPr lang="ar-SA" altLang="en-US" sz="1900" b="1" dirty="0">
                <a:solidFill>
                  <a:srgbClr val="1B3B6F"/>
                </a:solidFill>
                <a:latin typeface="Amiri" pitchFamily="34" charset="0"/>
                <a:ea typeface="Amiri" pitchFamily="34" charset="-122"/>
                <a:cs typeface="Amiri" pitchFamily="34" charset="-120"/>
              </a:rPr>
              <a:t> </a:t>
            </a:r>
            <a:pPr rtl="1" algn="r" indent="0" marL="0">
              <a:buNone/>
            </a:pPr>
            <a:r>
              <a:rPr lang="ar-SA" altLang="en-US" sz="1900" b="1" dirty="0">
                <a:solidFill>
                  <a:srgbClr val="1D5FBF"/>
                </a:solidFill>
                <a:latin typeface="Amiri" pitchFamily="34" charset="0"/>
                <a:ea typeface="Amiri" pitchFamily="34" charset="-122"/>
                <a:cs typeface="Amiri" pitchFamily="34" charset="-120"/>
              </a:rPr>
              <a:t>أَ</a:t>
            </a:r>
            <a:pPr rtl="1" algn="r" indent="0" marL="0">
              <a:buNone/>
            </a:pPr>
            <a:r>
              <a:rPr lang="ar-SA" altLang="en-US" sz="1900" b="1" dirty="0">
                <a:solidFill>
                  <a:srgbClr val="1B3B6F"/>
                </a:solidFill>
                <a:latin typeface="Amiri" pitchFamily="34" charset="0"/>
                <a:ea typeface="Amiri" pitchFamily="34" charset="-122"/>
                <a:cs typeface="Amiri" pitchFamily="34" charset="-120"/>
              </a:rPr>
              <a:t>سْتَيْقِظُ فِي السَّادِسَةِ، </a:t>
            </a:r>
            <a:pPr rtl="1" algn="r" indent="0" marL="0">
              <a:buNone/>
            </a:pPr>
            <a:r>
              <a:rPr lang="ar-SA" altLang="en-US" sz="1900" b="1" dirty="0">
                <a:solidFill>
                  <a:srgbClr val="0E7C86"/>
                </a:solidFill>
                <a:latin typeface="Amiri" pitchFamily="34" charset="0"/>
                <a:ea typeface="Amiri" pitchFamily="34" charset="-122"/>
                <a:cs typeface="Amiri" pitchFamily="34" charset="-120"/>
              </a:rPr>
              <a:t>ثُمَّ</a:t>
            </a:r>
            <a:pPr rtl="1" algn="r" indent="0" marL="0">
              <a:buNone/>
            </a:pPr>
            <a:r>
              <a:rPr lang="ar-SA" altLang="en-US" sz="1900" b="1" dirty="0">
                <a:solidFill>
                  <a:srgbClr val="1B3B6F"/>
                </a:solidFill>
                <a:latin typeface="Amiri" pitchFamily="34" charset="0"/>
                <a:ea typeface="Amiri" pitchFamily="34" charset="-122"/>
                <a:cs typeface="Amiri" pitchFamily="34" charset="-120"/>
              </a:rPr>
              <a:t> </a:t>
            </a:r>
            <a:pPr rtl="1" algn="r" indent="0" marL="0">
              <a:buNone/>
            </a:pPr>
            <a:r>
              <a:rPr lang="ar-SA" altLang="en-US" sz="1900" b="1" dirty="0">
                <a:solidFill>
                  <a:srgbClr val="1D5FBF"/>
                </a:solidFill>
                <a:latin typeface="Amiri" pitchFamily="34" charset="0"/>
                <a:ea typeface="Amiri" pitchFamily="34" charset="-122"/>
                <a:cs typeface="Amiri" pitchFamily="34" charset="-120"/>
              </a:rPr>
              <a:t>أَ</a:t>
            </a:r>
            <a:pPr rtl="1" algn="r" indent="0" marL="0">
              <a:buNone/>
            </a:pPr>
            <a:r>
              <a:rPr lang="ar-SA" altLang="en-US" sz="1900" b="1" dirty="0">
                <a:solidFill>
                  <a:srgbClr val="1B3B6F"/>
                </a:solidFill>
                <a:latin typeface="Amiri" pitchFamily="34" charset="0"/>
                <a:ea typeface="Amiri" pitchFamily="34" charset="-122"/>
                <a:cs typeface="Amiri" pitchFamily="34" charset="-120"/>
              </a:rPr>
              <a:t>غْتَسِلُ وَ</a:t>
            </a:r>
            <a:pPr rtl="1" algn="r" indent="0" marL="0">
              <a:buNone/>
            </a:pPr>
            <a:r>
              <a:rPr lang="ar-SA" altLang="en-US" sz="1900" b="1" dirty="0">
                <a:solidFill>
                  <a:srgbClr val="1D5FBF"/>
                </a:solidFill>
                <a:latin typeface="Amiri" pitchFamily="34" charset="0"/>
                <a:ea typeface="Amiri" pitchFamily="34" charset="-122"/>
                <a:cs typeface="Amiri" pitchFamily="34" charset="-120"/>
              </a:rPr>
              <a:t>أَ</a:t>
            </a:r>
            <a:pPr rtl="1" algn="r" indent="0" marL="0">
              <a:buNone/>
            </a:pPr>
            <a:r>
              <a:rPr lang="ar-SA" altLang="en-US" sz="1900" b="1" dirty="0">
                <a:solidFill>
                  <a:srgbClr val="1B3B6F"/>
                </a:solidFill>
                <a:latin typeface="Amiri" pitchFamily="34" charset="0"/>
                <a:ea typeface="Amiri" pitchFamily="34" charset="-122"/>
                <a:cs typeface="Amiri" pitchFamily="34" charset="-120"/>
              </a:rPr>
              <a:t>رْتَدِي مَلَابِسِي. أُخْتِي </a:t>
            </a:r>
            <a:pPr rtl="1" algn="r" indent="0" marL="0">
              <a:buNone/>
            </a:pPr>
            <a:r>
              <a:rPr lang="ar-SA" altLang="en-US" sz="1900" b="1" dirty="0">
                <a:solidFill>
                  <a:srgbClr val="D6336C"/>
                </a:solidFill>
                <a:latin typeface="Amiri" pitchFamily="34" charset="0"/>
                <a:ea typeface="Amiri" pitchFamily="34" charset="-122"/>
                <a:cs typeface="Amiri" pitchFamily="34" charset="-120"/>
              </a:rPr>
              <a:t>تَ</a:t>
            </a:r>
            <a:pPr rtl="1" algn="r" indent="0" marL="0">
              <a:buNone/>
            </a:pPr>
            <a:r>
              <a:rPr lang="ar-SA" altLang="en-US" sz="1900" b="1" dirty="0">
                <a:solidFill>
                  <a:srgbClr val="1B3B6F"/>
                </a:solidFill>
                <a:latin typeface="Amiri" pitchFamily="34" charset="0"/>
                <a:ea typeface="Amiri" pitchFamily="34" charset="-122"/>
                <a:cs typeface="Amiri" pitchFamily="34" charset="-120"/>
              </a:rPr>
              <a:t>تَنَاوَلُ الإِفْطَارَ قَبْلِي. </a:t>
            </a:r>
            <a:pPr rtl="1" algn="r" indent="0" marL="0">
              <a:buNone/>
            </a:pPr>
            <a:r>
              <a:rPr lang="ar-SA" altLang="en-US" sz="1900" b="1" dirty="0">
                <a:solidFill>
                  <a:srgbClr val="0E7C86"/>
                </a:solidFill>
                <a:latin typeface="Amiri" pitchFamily="34" charset="0"/>
                <a:ea typeface="Amiri" pitchFamily="34" charset="-122"/>
                <a:cs typeface="Amiri" pitchFamily="34" charset="-120"/>
              </a:rPr>
              <a:t>عَادَةً</a:t>
            </a:r>
            <a:pPr rtl="1" algn="r" indent="0" marL="0">
              <a:buNone/>
            </a:pPr>
            <a:r>
              <a:rPr lang="ar-SA" altLang="en-US" sz="1900" b="1" dirty="0">
                <a:solidFill>
                  <a:srgbClr val="1B3B6F"/>
                </a:solidFill>
                <a:latin typeface="Amiri" pitchFamily="34" charset="0"/>
                <a:ea typeface="Amiri" pitchFamily="34" charset="-122"/>
                <a:cs typeface="Amiri" pitchFamily="34" charset="-120"/>
              </a:rPr>
              <a:t> </a:t>
            </a:r>
            <a:pPr rtl="1" algn="r" indent="0" marL="0">
              <a:buNone/>
            </a:pPr>
            <a:r>
              <a:rPr lang="ar-SA" altLang="en-US" sz="1900" b="1" dirty="0">
                <a:solidFill>
                  <a:srgbClr val="1D5FBF"/>
                </a:solidFill>
                <a:latin typeface="Amiri" pitchFamily="34" charset="0"/>
                <a:ea typeface="Amiri" pitchFamily="34" charset="-122"/>
                <a:cs typeface="Amiri" pitchFamily="34" charset="-120"/>
              </a:rPr>
              <a:t>أَ</a:t>
            </a:r>
            <a:pPr rtl="1" algn="r" indent="0" marL="0">
              <a:buNone/>
            </a:pPr>
            <a:r>
              <a:rPr lang="ar-SA" altLang="en-US" sz="1900" b="1" dirty="0">
                <a:solidFill>
                  <a:srgbClr val="1B3B6F"/>
                </a:solidFill>
                <a:latin typeface="Amiri" pitchFamily="34" charset="0"/>
                <a:ea typeface="Amiri" pitchFamily="34" charset="-122"/>
                <a:cs typeface="Amiri" pitchFamily="34" charset="-120"/>
              </a:rPr>
              <a:t>خْرُجُ مِنَ البَيْتِ فِي السَّابِعَةِ وَالنِّصْفِ.</a:t>
            </a:r>
            <a:endParaRPr lang="ar-SA" sz="19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300" i="1" dirty="0">
                <a:solidFill>
                  <a:srgbClr val="5A6472"/>
                </a:solidFill>
                <a:latin typeface="Calibri" pitchFamily="34" charset="0"/>
                <a:ea typeface="Calibri" pitchFamily="34" charset="-122"/>
                <a:cs typeface="Calibri" pitchFamily="34" charset="-120"/>
              </a:rPr>
              <a:t>First I wake up at six, then I shower and get dressed. My sister has breakfast before me. Usually I leave the house at half past seven.</a:t>
            </a:r>
            <a:endParaRPr lang="en-US" sz="13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46</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D1-L01 · My Morning Routine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D1-L01</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أَسْتَيْقِظُ فِي السَّاعَةِ السَّادِسَةِ وَالنِّصْفِ.</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wake up at half past six.</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Keep the full Form X shape.</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ثُمَّ أَتَوَضَّأُ وَأَسْتَعِدُّ لِلْمَدْرَسَةِ.</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Then I perform wudu and get ready for school.</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Two patterned verbs in one sequence.</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أُخْتِي تَتَنَاوَلُ الإِفْطَارَ قَبْلِي.</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My sister has breakfast before me.</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Feminine subject → تَـ.</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نَادِرًا مَا أَخْرُجُ مِنْ دُونِ إِفْطَارٍ.</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rarely leave without breakfast.</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A more mature frequency expression.</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46</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D1-L01 · My Morning Routine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ea typeface="Calibri" pitchFamily="34" charset="-122"/>
                <a:cs typeface="Calibri" pitchFamily="34" charset="-120"/>
              </a:rPr>
              <a:t>WE DO · PICTURE MATCH · WEBSITE GAME “VISUAL GAME — MY MORNING ROUTINE”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Match the picture to the routine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مَشْهَدُ الرُّوتِينِ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D1-L01</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waking up</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brushing teeth</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breakfast</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أَتَنَاوَلُ الإِفْطَارَ.</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أَسْتَيْقِظُ صَبَاحًا.</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أُنَظِّفُ أَسْنَانِي.</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46</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D1-L01 · My Morning Routine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مَشْهَدُ الرُّوتِينِ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D1-L01</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waking up</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أَسْتَيْقِظُ صَبَاحًا.</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wake up in the morning.</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brushing teeth</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أُنَظِّفُ أَسْنَانِي.</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brush my teeth.</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breakfast</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أَتَنَاوَلُ الإِفْطَارَ.</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have breakfast.</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46</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D1-L01 · My Morning Routine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Build the morning in a logical order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D1-L01</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أَسْتَيْقِظُ مُبَكِّرًا</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أَغْتَسِلُ وَأَتَوَضَّأُ</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أَرْتَدِي مَلَابِسِي</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أَتَنَاوَلُ الإِفْطَارَ</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أُحَضِّرُ حَقِيبَتِي</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أَخْرُجُ مِنَ البَيْتِ</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أَسْتَقِلُّ الحَافِلَةَ</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أَصِلُ إِلَى المَدْرَسَةِ</a:t>
            </a:r>
            <a:endParaRPr lang="ar-SA" sz="1800" dirty="0"/>
          </a:p>
        </p:txBody>
      </p:sp>
      <p:sp>
        <p:nvSpPr>
          <p:cNvPr id="31" name="Shape 28"/>
          <p:cNvSpPr/>
          <p:nvPr/>
        </p:nvSpPr>
        <p:spPr>
          <a:xfrm>
            <a:off x="8095488" y="3017520"/>
            <a:ext cx="3636264"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8232648" y="3127248"/>
            <a:ext cx="3361944"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8232648"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Waking and washing</a:t>
            </a:r>
            <a:endParaRPr lang="en-US" sz="950" dirty="0"/>
          </a:p>
        </p:txBody>
      </p:sp>
      <p:sp>
        <p:nvSpPr>
          <p:cNvPr id="34" name="Shape 31"/>
          <p:cNvSpPr/>
          <p:nvPr/>
        </p:nvSpPr>
        <p:spPr>
          <a:xfrm>
            <a:off x="4276344" y="3017520"/>
            <a:ext cx="3636264"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4413504" y="3127248"/>
            <a:ext cx="3361944"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4413504"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Getting ready and eating</a:t>
            </a:r>
            <a:endParaRPr lang="en-US" sz="950" dirty="0"/>
          </a:p>
        </p:txBody>
      </p:sp>
      <p:sp>
        <p:nvSpPr>
          <p:cNvPr id="37" name="Shape 34"/>
          <p:cNvSpPr/>
          <p:nvPr/>
        </p:nvSpPr>
        <p:spPr>
          <a:xfrm>
            <a:off x="457200" y="3017520"/>
            <a:ext cx="3636264" cy="3291840"/>
          </a:xfrm>
          <a:prstGeom prst="roundRect">
            <a:avLst>
              <a:gd name="adj" fmla="val 2222"/>
            </a:avLst>
          </a:prstGeom>
          <a:solidFill>
            <a:srgbClr val="EEF3FA"/>
          </a:solidFill>
          <a:ln w="9525">
            <a:solidFill>
              <a:srgbClr val="C9D6EA"/>
            </a:solidFill>
            <a:prstDash val="solid"/>
          </a:ln>
        </p:spPr>
      </p:sp>
      <p:sp>
        <p:nvSpPr>
          <p:cNvPr id="38" name="Shape 35"/>
          <p:cNvSpPr/>
          <p:nvPr/>
        </p:nvSpPr>
        <p:spPr>
          <a:xfrm>
            <a:off x="594360" y="3127248"/>
            <a:ext cx="3361944" cy="310896"/>
          </a:xfrm>
          <a:prstGeom prst="roundRect">
            <a:avLst>
              <a:gd name="adj" fmla="val 50000"/>
            </a:avLst>
          </a:prstGeom>
          <a:solidFill>
            <a:srgbClr val="2F6FB0"/>
          </a:solidFill>
          <a:ln w="12700">
            <a:solidFill>
              <a:srgbClr val="2F6FB0"/>
            </a:solidFill>
            <a:prstDash val="solid"/>
          </a:ln>
        </p:spPr>
      </p:sp>
      <p:sp>
        <p:nvSpPr>
          <p:cNvPr id="39" name="Text 36"/>
          <p:cNvSpPr txBox="1"/>
          <p:nvPr/>
        </p:nvSpPr>
        <p:spPr>
          <a:xfrm>
            <a:off x="594360"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Leaving and arriving</a:t>
            </a:r>
            <a:endParaRPr lang="en-US" sz="9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46</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D1-L01 · My Morning Routine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D1-L01</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Waking and washing</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أَسْتَيْقِظُ مُبَكِّرًا</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أَغْتَسِلُ وَأَتَوَضَّأُ</a:t>
            </a:r>
            <a:endParaRPr lang="ar-SA" sz="1800" dirty="0"/>
          </a:p>
        </p:txBody>
      </p:sp>
      <p:sp>
        <p:nvSpPr>
          <p:cNvPr id="22" name="Shape 19"/>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3" name="Shape 20"/>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4" name="Text 21"/>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Getting ready and eating</a:t>
            </a:r>
            <a:endParaRPr lang="en-US" sz="950" dirty="0"/>
          </a:p>
        </p:txBody>
      </p:sp>
      <p:sp>
        <p:nvSpPr>
          <p:cNvPr id="25" name="Shape 22"/>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6" name="Text 23"/>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أَرْتَدِي مَلَابِسِي</a:t>
            </a:r>
            <a:endParaRPr lang="ar-SA" sz="1800" dirty="0"/>
          </a:p>
        </p:txBody>
      </p:sp>
      <p:sp>
        <p:nvSpPr>
          <p:cNvPr id="27" name="Shape 24"/>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أَتَنَاوَلُ الإِفْطَارَ</a:t>
            </a:r>
            <a:endParaRPr lang="ar-SA" sz="1800" dirty="0"/>
          </a:p>
        </p:txBody>
      </p:sp>
      <p:sp>
        <p:nvSpPr>
          <p:cNvPr id="29" name="Shape 26"/>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أُحَضِّرُ حَقِيبَتِي</a:t>
            </a:r>
            <a:endParaRPr lang="ar-SA" sz="1800" dirty="0"/>
          </a:p>
        </p:txBody>
      </p:sp>
      <p:sp>
        <p:nvSpPr>
          <p:cNvPr id="31" name="Shape 28"/>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2" name="Shape 29"/>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Leaving and arriving</a:t>
            </a:r>
            <a:endParaRPr lang="en-US" sz="950" dirty="0"/>
          </a:p>
        </p:txBody>
      </p:sp>
      <p:sp>
        <p:nvSpPr>
          <p:cNvPr id="34" name="Shape 31"/>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5" name="Text 32"/>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أَخْرُجُ مِنَ البَيْتِ</a:t>
            </a:r>
            <a:endParaRPr lang="ar-SA" sz="1800" dirty="0"/>
          </a:p>
        </p:txBody>
      </p:sp>
      <p:sp>
        <p:nvSpPr>
          <p:cNvPr id="36" name="Shape 33"/>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أَسْتَقِلُّ الحَافِلَةَ</a:t>
            </a:r>
            <a:endParaRPr lang="ar-SA" sz="1800" dirty="0"/>
          </a:p>
        </p:txBody>
      </p:sp>
      <p:sp>
        <p:nvSpPr>
          <p:cNvPr id="38" name="Shape 35"/>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أَصِلُ إِلَى المَدْرَسَةِ</a:t>
            </a:r>
            <a:endParaRPr lang="ar-SA" sz="18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46</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D1-L01 · My Morning Routine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3, 5, 6, 7</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contains the complete Form V pattern?</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أَوْضَأُ</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أَتَوَضَأ</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أَتَوَضَّأُ</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3" name="Text 30"/>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4" name="Text 31"/>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أَخِي ___ لِلْمَدْرَسَةِ.</a:t>
            </a:r>
            <a:endParaRPr lang="ar-SA" sz="1500" dirty="0"/>
          </a:p>
        </p:txBody>
      </p:sp>
      <p:sp>
        <p:nvSpPr>
          <p:cNvPr id="35" name="Shape 32"/>
          <p:cNvSpPr/>
          <p:nvPr/>
        </p:nvSpPr>
        <p:spPr>
          <a:xfrm>
            <a:off x="6368796"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أَسْتَعِدُّ</a:t>
            </a:r>
            <a:endParaRPr lang="ar-SA" sz="2050" dirty="0"/>
          </a:p>
        </p:txBody>
      </p:sp>
      <p:sp>
        <p:nvSpPr>
          <p:cNvPr id="38" name="Shape 35"/>
          <p:cNvSpPr/>
          <p:nvPr/>
        </p:nvSpPr>
        <p:spPr>
          <a:xfrm>
            <a:off x="6368796"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يَسْتَعِدُّ</a:t>
            </a:r>
            <a:endParaRPr lang="ar-SA" sz="2050" dirty="0"/>
          </a:p>
        </p:txBody>
      </p:sp>
      <p:sp>
        <p:nvSpPr>
          <p:cNvPr id="41" name="Shape 38"/>
          <p:cNvSpPr/>
          <p:nvPr/>
        </p:nvSpPr>
        <p:spPr>
          <a:xfrm>
            <a:off x="6368796"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تَسْتَعِدُّ</a:t>
            </a:r>
            <a:endParaRPr lang="ar-SA" sz="2050" dirty="0"/>
          </a:p>
        </p:txBody>
      </p:sp>
      <p:sp>
        <p:nvSpPr>
          <p:cNvPr id="44" name="Shape 41"/>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85216" y="4288536"/>
            <a:ext cx="310896" cy="310896"/>
          </a:xfrm>
          <a:prstGeom prst="ellipse">
            <a:avLst/>
          </a:prstGeom>
          <a:solidFill>
            <a:srgbClr val="1B3B6F"/>
          </a:solidFill>
          <a:ln w="12700">
            <a:solidFill>
              <a:srgbClr val="1B3B6F"/>
            </a:solidFill>
            <a:prstDash val="solid"/>
          </a:ln>
        </p:spPr>
      </p:sp>
      <p:sp>
        <p:nvSpPr>
          <p:cNvPr id="46" name="Text 4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7" name="Text 44"/>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means “We have breakfast every day”?</a:t>
            </a:r>
            <a:endParaRPr lang="en-US" sz="125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نَحْنُ يَتَنَاوَلُ الإِفْطَارَ.</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نَحْنُ نَتَنَاوَلُ الإِفْطَارَ كُلَّ يَوْمٍ.</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أَنَا نَتَنَاوَلُ الإِفْطَارَ.</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is the frequency adverb used naturally?</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200" dirty="0">
                <a:solidFill>
                  <a:srgbClr val="1F2A37"/>
                </a:solidFill>
                <a:latin typeface="Amiri" pitchFamily="34" charset="0"/>
                <a:ea typeface="Amiri" pitchFamily="34" charset="-122"/>
                <a:cs typeface="Amiri" pitchFamily="34" charset="-120"/>
              </a:rPr>
              <a:t>أَتَنَاوَلُ عَادَةً الإِفْطَارَ.</a:t>
            </a:r>
            <a:endParaRPr lang="ar-SA" sz="220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200" dirty="0">
                <a:solidFill>
                  <a:srgbClr val="1F2A37"/>
                </a:solidFill>
                <a:latin typeface="Amiri" pitchFamily="34" charset="0"/>
                <a:ea typeface="Amiri" pitchFamily="34" charset="-122"/>
                <a:cs typeface="Amiri" pitchFamily="34" charset="-120"/>
              </a:rPr>
              <a:t>عَادَةً أَتَنَاوَلُ الإِفْطَارَ.</a:t>
            </a:r>
            <a:endParaRPr lang="ar-SA" sz="220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Both can be natural.</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46</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D1-L01 · My Morning Routine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contains the complete Form V pattern?</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أَوْضَأُ</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أَتَوَضَأ</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أَتَوَضَّأُ</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Keep </a:t>
            </a:r>
            <a:pPr algn="l" indent="0" marL="0">
              <a:buNone/>
            </a:pPr>
            <a:r>
              <a:rPr lang="ar-SA" altLang="en-US" sz="1350" dirty="0">
                <a:solidFill>
                  <a:srgbClr val="8A6D1E"/>
                </a:solidFill>
                <a:latin typeface="Amiri" pitchFamily="34" charset="0"/>
                <a:ea typeface="Amiri" pitchFamily="34" charset="-122"/>
                <a:cs typeface="Amiri" pitchFamily="34" charset="-120"/>
              </a:rPr>
              <a:t>ت</a:t>
            </a:r>
            <a:pPr algn="l" indent="0" marL="0">
              <a:buNone/>
            </a:pPr>
            <a:r>
              <a:rPr lang="en-US" sz="1050" i="1" dirty="0">
                <a:solidFill>
                  <a:srgbClr val="8A6D1E"/>
                </a:solidFill>
                <a:latin typeface="Calibri" pitchFamily="34" charset="0"/>
                <a:ea typeface="Calibri" pitchFamily="34" charset="-122"/>
                <a:cs typeface="Calibri" pitchFamily="34" charset="-120"/>
              </a:rPr>
              <a:t> and the doubled consonant: </a:t>
            </a:r>
            <a:pPr algn="l" indent="0" marL="0">
              <a:buNone/>
            </a:pPr>
            <a:r>
              <a:rPr lang="ar-SA" altLang="en-US" sz="1350" dirty="0">
                <a:solidFill>
                  <a:srgbClr val="8A6D1E"/>
                </a:solidFill>
                <a:latin typeface="Amiri" pitchFamily="34" charset="0"/>
                <a:ea typeface="Amiri" pitchFamily="34" charset="-122"/>
                <a:cs typeface="Amiri" pitchFamily="34" charset="-120"/>
              </a:rPr>
              <a:t>أَتَوَضَّأُ</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5" name="Text 32"/>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6" name="Text 33"/>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أَخِي ___ لِلْمَدْرَسَةِ.</a:t>
            </a:r>
            <a:endParaRPr lang="ar-SA" sz="1500" dirty="0"/>
          </a:p>
        </p:txBody>
      </p:sp>
      <p:sp>
        <p:nvSpPr>
          <p:cNvPr id="37" name="Shape 34"/>
          <p:cNvSpPr/>
          <p:nvPr/>
        </p:nvSpPr>
        <p:spPr>
          <a:xfrm>
            <a:off x="6368796" y="2490216"/>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أَسْتَعِدُّ</a:t>
            </a:r>
            <a:endParaRPr lang="ar-SA" sz="1700" dirty="0"/>
          </a:p>
        </p:txBody>
      </p:sp>
      <p:sp>
        <p:nvSpPr>
          <p:cNvPr id="40" name="Shape 37"/>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2862072"/>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3" name="Text 40"/>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يَسْتَعِدُّ</a:t>
            </a:r>
            <a:endParaRPr lang="ar-SA" sz="1700" dirty="0"/>
          </a:p>
        </p:txBody>
      </p:sp>
      <p:sp>
        <p:nvSpPr>
          <p:cNvPr id="44" name="Shape 41"/>
          <p:cNvSpPr/>
          <p:nvPr/>
        </p:nvSpPr>
        <p:spPr>
          <a:xfrm>
            <a:off x="6368796" y="323392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6" name="Text 43"/>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تَسْتَعِدُّ</a:t>
            </a:r>
            <a:endParaRPr lang="ar-SA" sz="1700" dirty="0"/>
          </a:p>
        </p:txBody>
      </p:sp>
      <p:sp>
        <p:nvSpPr>
          <p:cNvPr id="47" name="Text 44"/>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masculine third-person subject takes </a:t>
            </a:r>
            <a:pPr algn="l" indent="0" marL="0">
              <a:buNone/>
            </a:pPr>
            <a:r>
              <a:rPr lang="ar-SA" altLang="en-US" sz="1350" dirty="0">
                <a:solidFill>
                  <a:srgbClr val="8A6D1E"/>
                </a:solidFill>
                <a:latin typeface="Amiri" pitchFamily="34" charset="0"/>
                <a:ea typeface="Amiri" pitchFamily="34" charset="-122"/>
                <a:cs typeface="Amiri" pitchFamily="34" charset="-120"/>
              </a:rPr>
              <a:t>يَـ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8" name="Shape 4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1" name="Text 48"/>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means “We have breakfast every day”?</a:t>
            </a:r>
            <a:endParaRPr lang="en-US" sz="125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نَحْنُ يَتَنَاوَلُ الإِفْطَارَ.</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نَحْنُ نَتَنَاوَلُ الإِفْطَارَ كُلَّ يَوْمٍ.</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أَنَا نَتَنَاوَلُ الإِفْطَارَ.</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نَحْنُ</a:t>
            </a:r>
            <a:pPr algn="l" indent="0" marL="0">
              <a:buNone/>
            </a:pPr>
            <a:r>
              <a:rPr lang="en-US" sz="1050" i="1" dirty="0">
                <a:solidFill>
                  <a:srgbClr val="8A6D1E"/>
                </a:solidFill>
                <a:latin typeface="Calibri" pitchFamily="34" charset="0"/>
                <a:ea typeface="Calibri" pitchFamily="34" charset="-122"/>
                <a:cs typeface="Calibri" pitchFamily="34" charset="-120"/>
              </a:rPr>
              <a:t> takes </a:t>
            </a:r>
            <a:pPr algn="l" indent="0" marL="0">
              <a:buNone/>
            </a:pPr>
            <a:r>
              <a:rPr lang="ar-SA" altLang="en-US" sz="1350" dirty="0">
                <a:solidFill>
                  <a:srgbClr val="8A6D1E"/>
                </a:solidFill>
                <a:latin typeface="Amiri" pitchFamily="34" charset="0"/>
                <a:ea typeface="Amiri" pitchFamily="34" charset="-122"/>
                <a:cs typeface="Amiri" pitchFamily="34" charset="-120"/>
              </a:rPr>
              <a:t>نَـ</a:t>
            </a:r>
            <a:pPr algn="l" indent="0" marL="0">
              <a:buNone/>
            </a:pPr>
            <a:r>
              <a:rPr lang="en-US" sz="1050" i="1" dirty="0">
                <a:solidFill>
                  <a:srgbClr val="8A6D1E"/>
                </a:solidFill>
                <a:latin typeface="Calibri" pitchFamily="34" charset="0"/>
                <a:ea typeface="Calibri" pitchFamily="34" charset="-122"/>
                <a:cs typeface="Calibri" pitchFamily="34" charset="-120"/>
              </a:rPr>
              <a:t>: </a:t>
            </a:r>
            <a:pPr algn="l" indent="0" marL="0">
              <a:buNone/>
            </a:pPr>
            <a:r>
              <a:rPr lang="ar-SA" altLang="en-US" sz="1350" dirty="0">
                <a:solidFill>
                  <a:srgbClr val="8A6D1E"/>
                </a:solidFill>
                <a:latin typeface="Amiri" pitchFamily="34" charset="0"/>
                <a:ea typeface="Amiri" pitchFamily="34" charset="-122"/>
                <a:cs typeface="Amiri" pitchFamily="34" charset="-120"/>
              </a:rPr>
              <a:t>نَتَنَاوَلُ</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is the frequency adverb used naturally?</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2200" dirty="0">
                <a:solidFill>
                  <a:srgbClr val="9AA1AB"/>
                </a:solidFill>
                <a:latin typeface="Amiri" pitchFamily="34" charset="0"/>
                <a:ea typeface="Amiri" pitchFamily="34" charset="-122"/>
                <a:cs typeface="Amiri" pitchFamily="34" charset="-120"/>
              </a:rPr>
              <a:t>أَتَنَاوَلُ عَادَةً الإِفْطَارَ.</a:t>
            </a:r>
            <a:endParaRPr lang="ar-SA" sz="22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2200" dirty="0">
                <a:solidFill>
                  <a:srgbClr val="9AA1AB"/>
                </a:solidFill>
                <a:latin typeface="Amiri" pitchFamily="34" charset="0"/>
                <a:ea typeface="Amiri" pitchFamily="34" charset="-122"/>
                <a:cs typeface="Amiri" pitchFamily="34" charset="-120"/>
              </a:rPr>
              <a:t>عَادَةً أَتَنَاوَلُ الإِفْطَارَ.</a:t>
            </a:r>
            <a:endParaRPr lang="ar-SA" sz="220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Both can be natural.</a:t>
            </a:r>
            <a:endParaRPr lang="en-US" sz="125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Arabic allows the adverb near the verb or at the start for emphasis.</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46</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D1-L01 · My Morning Routine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D1-L01</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أَنَا يَسْتَيْقِظُ مُبَكِّرًا.</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Who is the subject? Check the first letter.</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هِيَ يَتَنَاوَلُ الإِفْطَارَ.</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ar-SA" altLang="en-US" sz="1700" dirty="0">
                <a:solidFill>
                  <a:srgbClr val="5A6472"/>
                </a:solidFill>
                <a:latin typeface="Amiri" pitchFamily="34" charset="0"/>
                <a:ea typeface="Amiri" pitchFamily="34" charset="-122"/>
                <a:cs typeface="Amiri" pitchFamily="34" charset="-120"/>
              </a:rPr>
              <a:t>هِيَ</a:t>
            </a:r>
            <a:pPr algn="l" indent="0" marL="0">
              <a:buNone/>
            </a:pPr>
            <a:r>
              <a:rPr lang="en-US" sz="1300" i="1" dirty="0">
                <a:solidFill>
                  <a:srgbClr val="5A6472"/>
                </a:solidFill>
                <a:latin typeface="Calibri" pitchFamily="34" charset="0"/>
                <a:ea typeface="Calibri" pitchFamily="34" charset="-122"/>
                <a:cs typeface="Calibri" pitchFamily="34" charset="-120"/>
              </a:rPr>
              <a:t> = she. Which prefix?</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أَسْتَعِدُّ ثُمَّ أَوَّلًا أَسْتَيْقِظُ.</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Does the order make sense?</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46</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D1-L01 · My Morning Routine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D1-L01</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أَنَا يَسْتَيْقِظُ مُبَكِّرًا.</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أَنَا أَسْتَيْقِظُ مُبَكِّرًا.</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first-person prefix is </a:t>
            </a:r>
            <a:pPr algn="l" indent="0" marL="0">
              <a:buNone/>
            </a:pPr>
            <a:r>
              <a:rPr lang="ar-SA" altLang="en-US" sz="1500" b="1" dirty="0">
                <a:solidFill>
                  <a:srgbClr val="1B3B6F"/>
                </a:solidFill>
                <a:latin typeface="Amiri" pitchFamily="34" charset="0"/>
                <a:ea typeface="Amiri" pitchFamily="34" charset="-122"/>
                <a:cs typeface="Amiri" pitchFamily="34" charset="-120"/>
              </a:rPr>
              <a:t>أَـ</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هِيَ يَتَنَاوَلُ الإِفْطَارَ.</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هِيَ تَتَنَاوَلُ الإِفْطَارَ.</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 feminine third-person subject takes </a:t>
            </a:r>
            <a:pPr algn="l" indent="0" marL="0">
              <a:buNone/>
            </a:pPr>
            <a:r>
              <a:rPr lang="ar-SA" altLang="en-US" sz="1500" b="1" dirty="0">
                <a:solidFill>
                  <a:srgbClr val="1B3B6F"/>
                </a:solidFill>
                <a:latin typeface="Amiri" pitchFamily="34" charset="0"/>
                <a:ea typeface="Amiri" pitchFamily="34" charset="-122"/>
                <a:cs typeface="Amiri" pitchFamily="34" charset="-120"/>
              </a:rPr>
              <a:t>تَـ</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أَسْتَعِدُّ ثُمَّ أَوَّلًا أَسْتَيْقِظُ.</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أَوَّلًا أَسْتَيْقِظُ، ثُمَّ أَسْتَعِدُّ.</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Sequence markers must match the real order.</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46</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D1-L01 · My Morning Routine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 busy school morning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does the speaker usually wake up?</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6:15</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6:30</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6:45</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much later does the brother wake up?</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ten minutes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one hour</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half an hour</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speaker do before getting dressed?</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eats breakfast</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takes the bus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showers and performs wudu</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time is breakfast?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6:50</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7:10</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7:30</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breakfast useful?</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makes the bus arrive.</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helps concentration.</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makes school shorter.</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1, 3 and 4.</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السَّادِسَةِ</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(six)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أَغْتَسِلُ</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الإِفْطَارَ</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46</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D1-L01 · My Morning Routine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D1-L01</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أَسْتَيْقِظُ عَادَةً فِي السَّادِسَةِ وَالرُّبْعِ، وَلٰكِنَّ أَخِي يَسْتَيْقِظُ بَعْدِي بِنِصْفِ سَاعَةٍ.</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usually wake up at quarter past six, but my brother wakes up half an hour after me.</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أَوَّلًا أَغْتَسِلُ وَأَتَوَضَّأُ، ثُمَّ أَرْتَدِي زِيَّ المَدْرَسَةِ وَأُمَشِّطُ شَعْرِي.</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First I shower and perform wudu, then I put on my school uniform and comb my hair.</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فِي السَّابِعَةِ إِلَّا عَشْرَ دَقَائِقَ أَتَنَاوَلُ إِفْطَارًا خَفِيفًا، وَبَعْدَ ذٰلِكَ أَسْتَعِدُّ لِلْخُرُوجِ.</a:t>
            </a:r>
            <a:endParaRPr lang="ar-SA" sz="19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At ten to seven I have a light breakfast, and after that I get ready to leave.</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34" charset="0"/>
                <a:ea typeface="Amiri" pitchFamily="34" charset="-122"/>
                <a:cs typeface="Amiri" pitchFamily="34" charset="-120"/>
              </a:rPr>
              <a:t>أَسْتَقِلُّ الحَافِلَةَ فِي السَّابِعَةِ وَالنِّصْفِ، وَأَصِلُ إِلَى المَدْرَسَةِ قَبْلَ بَدْءِ الدِّرَاسَةِ بِعَشْرِ دَقَائِقَ.</a:t>
            </a:r>
            <a:endParaRPr lang="ar-SA" sz="17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take the bus at half past seven, and I arrive at school ten minutes before lessons begin.</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أَحْيَانًا أَشْعُرُ بِالنُّعَاسِ، لٰكِنَّ الإِفْطَارَ يُسَاعِدُنِي عَلَى التَّرْكِيزِ.</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Sometimes I feel sleepy, but breakfast helps me concentrate.</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46</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D1-L01 · My Morning Routine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does the speaker usually wake up?</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6:15</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6:30</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6:45</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فِي السَّادِسَةِ وَالرُّبْعِ = 6:15.</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much later does the brother wake up?</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ten minutes</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one hour</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half an hour</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بَعْدِي بِنِصْفِ سَاعَةٍ.</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speaker do before getting dressed?</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eats breakfast</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takes the bus</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showers and performs wudu</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أَوَّلًا أَغْتَسِلُ وَأَتَوَضَّأُ.</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time is breakfast?</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6:50</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7:10</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7:30</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فِي السَّابِعَةِ إِلَّا عَشْرَ دَقَائِقَ = 6:50.</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breakfast useful?</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makes the bus arrive.</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It helps concentration.</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makes school shorter.</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الإِفْطَارُ يُسَاعِدُنِي عَلَى التَّرْكِيزِ.</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1, 3 and 4.</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السَّادِسَةِ</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(six)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أَغْتَسِلُ</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الإِفْطَارَ</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46</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D1-L01 · My Morning Routine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ea typeface="Cambria" pitchFamily="34" charset="-122"/>
                <a:cs typeface="Cambria" pitchFamily="34" charset="-120"/>
              </a:rPr>
              <a:t>Describe and compare morning routines</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D1-L01</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مَاذَا تَفْعَلُ فِي الصَّبَاحِ؟</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صِفْ رُوتِينَكَ الصَّبَاحِيَّ بِالتَّرْتِيبِ.</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مَتَى تَسْتَيْقِظُ فِي أَيَّامِ المَدْرَسَةِ وَفِي نِهَايَةِ الأُسْبُوعِ؟</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قَارِنْ بَيْنَ رُوتِينِكَ وَرُوتِينِ شَخْصٍ آخَرَ فِي أُسْرَتِكَ.</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أَوَّلًا أَسْتَيْقِظُ، ثُمَّ ___ .</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أَسْتَيْقِظُ فِي ___ ، وَبَعْدَ ذٰلِكَ ___ .</a:t>
            </a:r>
            <a:endParaRPr lang="ar-SA" sz="1600" dirty="0"/>
          </a:p>
        </p:txBody>
      </p:sp>
      <p:sp>
        <p:nvSpPr>
          <p:cNvPr id="54" name="Shape 51"/>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أَنَا ___ ، وَلٰكِنَّ أُخْتِي تَـ ___ .</a:t>
            </a:r>
            <a:endParaRPr lang="ar-SA" sz="1600" dirty="0"/>
          </a:p>
        </p:txBody>
      </p:sp>
      <p:sp>
        <p:nvSpPr>
          <p:cNvPr id="57" name="Shape 54"/>
          <p:cNvSpPr/>
          <p:nvPr/>
        </p:nvSpPr>
        <p:spPr>
          <a:xfrm>
            <a:off x="640080" y="4681728"/>
            <a:ext cx="1051560" cy="256032"/>
          </a:xfrm>
          <a:prstGeom prst="roundRect">
            <a:avLst>
              <a:gd name="adj" fmla="val 50000"/>
            </a:avLst>
          </a:prstGeom>
          <a:solidFill>
            <a:srgbClr val="1B3B6F"/>
          </a:solidFill>
          <a:ln w="12700">
            <a:solidFill>
              <a:srgbClr val="1B3B6F"/>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 SUM UP</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هُوَ يَـ ___ / هِيَ تَـ ___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مَتَى تَسْتَيْقِظُ عَادَةً؟</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When do you usually wake up?</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أَسْتَيْقِظُ فِي السَّادِسَةِ وَالنِّصْفِ، ثُمَّ أَغْتَسِلُ وَأَتَنَاوَلُ الإِفْطَارَ. أُفَضِّلُ أَنْ أَسْتَيْقِظَ مُبَكِّرًا لِأَنَّنِي أَصِلُ إِلَى المَدْرَسَةِ هَادِئًا.</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ea typeface="Calibri" pitchFamily="34" charset="-122"/>
                <a:cs typeface="Calibri" pitchFamily="34" charset="-120"/>
              </a:rPr>
              <a:t>I wake up at half past six, then I shower and have breakfast. I prefer to wake up early because I arrive at school calm.</a:t>
            </a:r>
            <a:endParaRPr lang="en-US" sz="7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46</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D1-L01 · My Morning Routine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D1-L01</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6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Build six accurate routine sentences using the model chunks.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Frames + word bank: six morning actions in the “I” form with أَوَّلًا / ثُمَّ.</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8–10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Compare two routines and vary the subject pronouns.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Add exact times and frequency words; describe one family member with يَـ / تَـ.</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90–110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Explain how routine affects concentration or wellbeing using a developed opinion.</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task: compare your real routine with an improved routine; end with an opinion and reason.</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46</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D1-L01 · My Morning Routine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D1-L01</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عَادَةً أَسْتَيْقِظُ فِي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usually wake up at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بَعْدَ ذٰلِكَ ______ لِلْمَدْرَسَةِ.</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After that I get ready for school.</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أَخِي يَـ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brother wakes up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أُخْتِي تَـ ______ الإِفْطَارَ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sister has breakfast …</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نَادِرًا مَا ______ مِنْ دُونِ إِفْطَارٍ.</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rarely leave without breakfast.</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أَوَّلًا أَسْتَيْقِظُ فِي ______ .</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First I wake up at …</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ثُمَّ ______ .</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Then I shower.</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أَرْتَدِي ______ .</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get dressed.</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أَتَنَاوَلُ ______ .</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have breakfast.</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أَخِيرًا ______ مِنَ البَيْتِ.</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Finally I leave the house.</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أَسْتَيْقِظُ  ·  أَغْتَسِلُ  ·  أَتَوَضَّأُ  ·  أَرْتَدِي مَلَابِسِي  ·  أُنَظِّفُ أَسْنَانِي  ·  أَتَنَاوَلُ  ·  أَسْتَعِدُّ  ·  أَخْرُجُ  ·  أَوَّلًا  ·  ثُمَّ  ·  بَعْدَ ذٰلِكَ  ·  أَخِيرًا  ·  عَادَةً  ·  أَحْيَانًا</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46</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D1-L01 · My Morning Routine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D1-L01</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Write 90–110 words comparing your real morning routine with an improved routine you would like to follow.</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Use at least six different routine verbs.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Include at least two derived verbs from different patterns accurately.</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Use four sequence or frequency expressions.</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Mention an exact time and one contrast.</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End with an opinion and reason.</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وَلٰكِنَّنِي أَحْيَانًا أَبْقَى فِي السَّرِيرِ</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but sometimes I stay in bed</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أُرِيدُ أَنْ أُحَسِّنَ رُوتِينِي</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want to improve my routine</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مِنَ الأَفْضَلِ أَنْ أَضَعَ هَاتِفِي بَعِيدًا</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it is better to put my phone away</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أُجَهِّزُ حَقِيبَتِي لَيْلًا</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prepare my bag at night</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34" charset="0"/>
                <a:ea typeface="Amiri" pitchFamily="34" charset="-122"/>
                <a:cs typeface="Amiri" pitchFamily="34" charset="-120"/>
              </a:rPr>
              <a:t>فِي رَأْيِي، الرُّوتِينُ المُنَظَّمُ يَجْعَلُ اليَوْمَ أَهْدَأَ</a:t>
            </a:r>
            <a:endParaRPr lang="ar-SA" sz="155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in my opinion, an organised routine makes the day calmer</a:t>
            </a:r>
            <a:endParaRPr lang="en-US" sz="10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46</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D1-L01 · My Morning Routine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D1-L01</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أَسْتَيْقِظُ عَادَةً فِي السَّادِسَةِ وَالنِّصْفِ، وَلٰكِنَّنِي أَحْيَانًا أَبْقَى فِي السَّرِيرِ عَشْرَ دَقَائِقَ أُخْرَى. أَوَّلًا أَغْتَسِلُ وَأَتَوَضَّأُ، ثُمَّ أَرْتَدِي مَلَابِسِي وَأَتَنَاوَلُ الإِفْطَارَ. بَعْدَ ذٰلِكَ أَسْتَعِدُّ لِلْمَدْرَسَةِ وَأَخْرُجُ مِنَ البَيْتِ. أُرِيدُ أَنْ أُحَسِّنَ رُوتِينِي؛ فَمِنَ الأَفْضَلِ أَنْ أَضَعَ هَاتِفِي بَعِيدًا وَأَنْ أُجَهِّزَ حَقِيبَتِي لَيْلًا. فِي رَأْيِي، الرُّوتِينُ المُنَظَّمُ يَجْعَلُ اليَوْمَ أَهْدَأَ وَأَكْثَرَ نَجَاحًا.</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I usually wake up at half past six, but sometimes I stay in bed another ten minutes. First I shower and perform wudu, then I get dressed and have breakfast. After that I get ready for school and leave the house. I want to improve my routine: it is better to put my phone away and prepare my bag at night. In my opinion, an organised routine makes the day calmer and more successful.</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six routine verbs</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Form X verb</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four sequence / frequency words</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an opinion + reason</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46</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D1-L01 · My Morning Routine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D1-L01</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six morning verbs in the “I” form (</a:t>
            </a:r>
            <a:pPr algn="l" indent="0" marL="0">
              <a:buNone/>
            </a:pPr>
            <a:r>
              <a:rPr lang="ar-SA" altLang="en-US" sz="1700" dirty="0">
                <a:solidFill>
                  <a:srgbClr val="1F2A37"/>
                </a:solidFill>
                <a:latin typeface="Amiri" pitchFamily="34" charset="0"/>
                <a:ea typeface="Amiri" pitchFamily="34" charset="-122"/>
                <a:cs typeface="Amiri" pitchFamily="34" charset="-120"/>
              </a:rPr>
              <a:t>أَـ</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ordered my routine with </a:t>
            </a:r>
            <a:pPr algn="l" indent="0" marL="0">
              <a:buNone/>
            </a:pPr>
            <a:r>
              <a:rPr lang="ar-SA" altLang="en-US" sz="1700" dirty="0">
                <a:solidFill>
                  <a:srgbClr val="1F2A37"/>
                </a:solidFill>
                <a:latin typeface="Amiri" pitchFamily="34" charset="0"/>
                <a:ea typeface="Amiri" pitchFamily="34" charset="-122"/>
                <a:cs typeface="Amiri" pitchFamily="34" charset="-120"/>
              </a:rPr>
              <a:t>أَوَّلًا / ثُمَّ / أَخِيرًا</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changed the prefix for another person (</a:t>
            </a:r>
            <a:pPr algn="l" indent="0" marL="0">
              <a:buNone/>
            </a:pPr>
            <a:r>
              <a:rPr lang="ar-SA" altLang="en-US" sz="1700" dirty="0">
                <a:solidFill>
                  <a:srgbClr val="1F2A37"/>
                </a:solidFill>
                <a:latin typeface="Amiri" pitchFamily="34" charset="0"/>
                <a:ea typeface="Amiri" pitchFamily="34" charset="-122"/>
                <a:cs typeface="Amiri" pitchFamily="34" charset="-120"/>
              </a:rPr>
              <a:t>يَـ / تَـ / نَـ</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added an exact time and a frequency word.</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kept every derived verb whole (</a:t>
            </a:r>
            <a:pPr algn="l" indent="0" marL="0">
              <a:buNone/>
            </a:pPr>
            <a:r>
              <a:rPr lang="ar-SA" altLang="en-US" sz="1700" dirty="0">
                <a:solidFill>
                  <a:srgbClr val="1F2A37"/>
                </a:solidFill>
                <a:latin typeface="Amiri" pitchFamily="34" charset="0"/>
                <a:ea typeface="Amiri" pitchFamily="34" charset="-122"/>
                <a:cs typeface="Amiri" pitchFamily="34" charset="-120"/>
              </a:rPr>
              <a:t>أَسْتَيْقِظُ</a:t>
            </a:r>
            <a:pPr algn="l" indent="0" marL="0">
              <a:buNone/>
            </a:pPr>
            <a:r>
              <a:rPr lang="en-US" sz="1300" dirty="0">
                <a:solidFill>
                  <a:srgbClr val="1F2A37"/>
                </a:solidFill>
                <a:latin typeface="Calibri" pitchFamily="34" charset="0"/>
                <a:ea typeface="Calibri" pitchFamily="34" charset="-122"/>
                <a:cs typeface="Calibri" pitchFamily="34" charset="-120"/>
              </a:rPr>
              <a:t>, </a:t>
            </a:r>
            <a:pPr algn="l" indent="0" marL="0">
              <a:buNone/>
            </a:pPr>
            <a:r>
              <a:rPr lang="ar-SA" altLang="en-US" sz="1700" dirty="0">
                <a:solidFill>
                  <a:srgbClr val="1F2A37"/>
                </a:solidFill>
                <a:latin typeface="Amiri" pitchFamily="34" charset="0"/>
                <a:ea typeface="Amiri" pitchFamily="34" charset="-122"/>
                <a:cs typeface="Amiri" pitchFamily="34" charset="-120"/>
              </a:rPr>
              <a:t>أَتَنَاوَلُ</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46</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D1-L01 · My Morning Routine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means “I get ready”?</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أَسْتَعِدُّ</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أَسْتَيْقِظُ</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أَسْتَقِلُّ</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female form.</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هِيَ يَغْتَسِلُ.</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هِيَ تَغْتَسِلُ.</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هِيَ أَغْتَسِلُ.</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sequence.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34" charset="0"/>
                <a:ea typeface="Amiri" pitchFamily="34" charset="-122"/>
                <a:cs typeface="Amiri" pitchFamily="34" charset="-120"/>
              </a:rPr>
              <a:t>أَوَّلًا أَسْتَيْقِظُ، ثُمَّ أَتَنَاوَلُ الإِفْطَارَ.</a:t>
            </a:r>
            <a:endParaRPr lang="ar-SA" sz="18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34" charset="0"/>
                <a:ea typeface="Amiri" pitchFamily="34" charset="-122"/>
                <a:cs typeface="Amiri" pitchFamily="34" charset="-120"/>
              </a:rPr>
              <a:t>ثُمَّ أَسْتَيْقِظُ أَوَّلًا.</a:t>
            </a:r>
            <a:endParaRPr lang="ar-SA" sz="18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34" charset="0"/>
                <a:ea typeface="Amiri" pitchFamily="34" charset="-122"/>
                <a:cs typeface="Amiri" pitchFamily="34" charset="-120"/>
              </a:rPr>
              <a:t>أَخِيرًا أَسْتَيْقِظُ قَبْلَ أَنْ أَنَامَ.</a:t>
            </a:r>
            <a:endParaRPr lang="ar-SA" sz="18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46</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D1-L01 · My Morning Routine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means “I get ready”?</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أَسْتَعِدُّ</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أَسْتَيْقِظُ</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أَسْتَقِلُّ</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أَسْتَعِدُّ</a:t>
            </a:r>
            <a:pPr algn="l" indent="0" marL="0">
              <a:buNone/>
            </a:pPr>
            <a:r>
              <a:rPr lang="en-US" sz="1050" i="1" dirty="0">
                <a:solidFill>
                  <a:srgbClr val="8A6D1E"/>
                </a:solidFill>
                <a:latin typeface="Calibri" pitchFamily="34" charset="0"/>
                <a:ea typeface="Calibri" pitchFamily="34" charset="-122"/>
                <a:cs typeface="Calibri" pitchFamily="34" charset="-120"/>
              </a:rPr>
              <a:t> = I get ready.</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female form.</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هِيَ يَغْتَسِلُ.</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هِيَ تَغْتَسِلُ.</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هِيَ أَغْتَسِلُ.</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هِيَ</a:t>
            </a:r>
            <a:pPr algn="l" indent="0" marL="0">
              <a:buNone/>
            </a:pPr>
            <a:r>
              <a:rPr lang="en-US" sz="1050" i="1" dirty="0">
                <a:solidFill>
                  <a:srgbClr val="8A6D1E"/>
                </a:solidFill>
                <a:latin typeface="Calibri" pitchFamily="34" charset="0"/>
                <a:ea typeface="Calibri" pitchFamily="34" charset="-122"/>
                <a:cs typeface="Calibri" pitchFamily="34" charset="-120"/>
              </a:rPr>
              <a:t> takes </a:t>
            </a:r>
            <a:pPr algn="l" indent="0" marL="0">
              <a:buNone/>
            </a:pPr>
            <a:r>
              <a:rPr lang="ar-SA" altLang="en-US" sz="1350" dirty="0">
                <a:solidFill>
                  <a:srgbClr val="8A6D1E"/>
                </a:solidFill>
                <a:latin typeface="Amiri" pitchFamily="34" charset="0"/>
                <a:ea typeface="Amiri" pitchFamily="34" charset="-122"/>
                <a:cs typeface="Amiri" pitchFamily="34" charset="-120"/>
              </a:rPr>
              <a:t>تَـ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sequence.</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850" b="1" dirty="0">
                <a:solidFill>
                  <a:srgbClr val="1F2A37"/>
                </a:solidFill>
                <a:latin typeface="Amiri" pitchFamily="34" charset="0"/>
                <a:ea typeface="Amiri" pitchFamily="34" charset="-122"/>
                <a:cs typeface="Amiri" pitchFamily="34" charset="-120"/>
              </a:rPr>
              <a:t>أَوَّلًا أَسْتَيْقِظُ، ثُمَّ أَتَنَاوَلُ الإِفْطَارَ.</a:t>
            </a:r>
            <a:endParaRPr lang="ar-SA" sz="18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850" dirty="0">
                <a:solidFill>
                  <a:srgbClr val="9AA1AB"/>
                </a:solidFill>
                <a:latin typeface="Amiri" pitchFamily="34" charset="0"/>
                <a:ea typeface="Amiri" pitchFamily="34" charset="-122"/>
                <a:cs typeface="Amiri" pitchFamily="34" charset="-120"/>
              </a:rPr>
              <a:t>ثُمَّ أَسْتَيْقِظُ أَوَّلًا.</a:t>
            </a:r>
            <a:endParaRPr lang="ar-SA" sz="18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850" dirty="0">
                <a:solidFill>
                  <a:srgbClr val="9AA1AB"/>
                </a:solidFill>
                <a:latin typeface="Amiri" pitchFamily="34" charset="0"/>
                <a:ea typeface="Amiri" pitchFamily="34" charset="-122"/>
                <a:cs typeface="Amiri" pitchFamily="34" charset="-120"/>
              </a:rPr>
              <a:t>أَخِيرًا أَسْتَيْقِظُ قَبْلَ أَنْ أَنَامَ.</a:t>
            </a:r>
            <a:endParaRPr lang="ar-SA" sz="18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order is logical and grammatically complete.</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46</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D1-L01 · My Morning Routine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 morning routine that changed</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D1-L01</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فِي العَامِ المَاضِي كُنْتُ أَسْتَيْقِظُ مُتَأَخِّرًا، فَكُنْتُ أَخْرُجُ مِنَ البَيْتِ بِعَجَلَةٍ وَأَصِلُ إِلَى المَدْرَسَةِ مُتْعَبًا. أَمَّا الآنَ فَقَدْ نَظَّمْتُ رُوتِينِي. أَضَعُ المُنَبِّهَ بَعِيدًا عَنِ السَّرِيرِ، وَأَسْتَيْقِظُ فِي السَّادِسَةِ وَالنِّصْفِ. بَعْدَ أَنْ أَغْتَسِلَ وَأَرْتَدِيَ مَلَابِسِي، أَتَنَاوَلُ الإِفْطَارَ وَأُرَاجِعُ حَقِيبَتِي. لَا أَسْتَعْمِلُ هَاتِفِي فِي الصَّبَاحِ إِلَّا لِمُرَاجَعَةِ الوَقْتِ. هٰذَا التَّغْيِيرُ جَعَلَنِي أَكْثَرَ نَشَاطًا وَأَقَلَّ تَوَتُّرًا.</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فِي العَامِ المَاضِي</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last year</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كُنْتُ أَسْتَيْقِظُ</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 used to wake up</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بِعَجَلَةٍ</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in a hurry</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مُتْعَبًا</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tired</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أَمَّا الآنَ</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as for now</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نَظَّمْتُ</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 organised</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أُرَاجِعُ حَقِيبَتِي</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 check my bag</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إِلَّا لِـ</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except for</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أَكْثَرَ نَشَاطًا</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more energetic</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أَقَلَّ تَوَتُّرًا</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less stressed</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46</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D1-L01 · My Morning Routine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D1-L01</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problem did the writer have last year?</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missing breakfast because of sport</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waking late and rushing</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travelling by train</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is the alarm placed now?</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under the pillow</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the kitchen</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far from the bed</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happens after washing and dressing?</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breakfast and checking the bag</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phone games</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returning to bed</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is the phone used in the morning?</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for social media</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to check the time</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watch videos</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two effects did the change have?</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more energetic and less stressed</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more tired and late</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more hungry and bored</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ea typeface="Calibri" pitchFamily="34" charset="-122"/>
                <a:cs typeface="Calibri" pitchFamily="34" charset="-120"/>
              </a:rPr>
              <a:t>Which phrase signals contrast between past and now?</a:t>
            </a:r>
            <a:endParaRPr lang="en-US" sz="110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بَعْدَ أَنْ</a:t>
            </a:r>
            <a:endParaRPr lang="ar-SA" sz="20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إِلَّا لِـ</a:t>
            </a:r>
            <a:endParaRPr lang="ar-SA" sz="20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أَمَّا الآنَ</a:t>
            </a:r>
            <a:endParaRPr lang="ar-SA" sz="205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46</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D1-L01 · My Morning Routine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D1-L01</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problem did the writer have last year?</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ea typeface="Calibri" pitchFamily="34" charset="-122"/>
                <a:cs typeface="Calibri" pitchFamily="34" charset="-120"/>
              </a:rPr>
              <a:t>missing breakfast because of sport</a:t>
            </a:r>
            <a:endParaRPr lang="en-US" sz="11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waking late and rushing</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travelling by train</a:t>
            </a:r>
            <a:endParaRPr lang="en-US" sz="12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first sentence describes waking late and leaving in a hurry.</a:t>
            </a:r>
            <a:endParaRPr lang="en-US" sz="10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is the alarm placed now?</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under the pillow</a:t>
            </a:r>
            <a:endParaRPr lang="en-US" sz="125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 the kitchen</a:t>
            </a:r>
            <a:endParaRPr lang="en-US" sz="12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far from the bed</a:t>
            </a:r>
            <a:endParaRPr lang="en-US" sz="12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أَضَعُ المُنَبِّهَ بَعِيدًا عَنِ السَّرِيرِ.</a:t>
            </a:r>
            <a:endParaRPr lang="ar-SA" sz="13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happens after washing and dressing?</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breakfast and checking the bag</a:t>
            </a:r>
            <a:endParaRPr lang="en-US" sz="11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phone games</a:t>
            </a:r>
            <a:endParaRPr lang="en-US" sz="12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returning to bed</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writer eats breakfast and reviews the school bag.</a:t>
            </a:r>
            <a:endParaRPr lang="en-US" sz="10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is the phone used in the morning?</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for social media</a:t>
            </a:r>
            <a:endParaRPr lang="en-US" sz="12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only to check the time</a:t>
            </a:r>
            <a:endParaRPr lang="en-US" sz="125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 watch videos</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إِلَّا لِمُرَاجَعَةِ الوَقْتِ.</a:t>
            </a:r>
            <a:endParaRPr lang="ar-SA" sz="13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two effects did the change have?</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more energetic and less stressed</a:t>
            </a:r>
            <a:endParaRPr lang="en-US" sz="115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more tired and late</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more hungry and bored</a:t>
            </a:r>
            <a:endParaRPr lang="en-US" sz="12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أَكْثَرَ نَشَاطًا وَأَقَلَّ تَوَتُّرًا.</a:t>
            </a:r>
            <a:endParaRPr lang="ar-SA" sz="13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ea typeface="Calibri" pitchFamily="34" charset="-122"/>
                <a:cs typeface="Calibri" pitchFamily="34" charset="-120"/>
              </a:rPr>
              <a:t>Which phrase signals contrast between past and now?</a:t>
            </a:r>
            <a:endParaRPr lang="en-US" sz="110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بَعْدَ أَنْ</a:t>
            </a:r>
            <a:endParaRPr lang="ar-SA" sz="170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إِلَّا لِـ</a:t>
            </a:r>
            <a:endParaRPr lang="ar-SA" sz="170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أَمَّا الآنَ</a:t>
            </a:r>
            <a:endParaRPr lang="ar-SA" sz="170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أَمَّا الآنَ</a:t>
            </a:r>
            <a:pPr algn="l" indent="0" marL="0">
              <a:buNone/>
            </a:pPr>
            <a:r>
              <a:rPr lang="en-US" sz="1050" i="1" dirty="0">
                <a:solidFill>
                  <a:srgbClr val="8A6D1E"/>
                </a:solidFill>
                <a:latin typeface="Calibri" pitchFamily="34" charset="0"/>
                <a:ea typeface="Calibri" pitchFamily="34" charset="-122"/>
                <a:cs typeface="Calibri" pitchFamily="34" charset="-120"/>
              </a:rPr>
              <a:t> introduces the contrasting present situation.</a:t>
            </a:r>
            <a:endParaRPr lang="en-US" sz="10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46</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D1-L01 · My Morning Routine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Morning routine language quest</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D1-L01</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Arabic for: “I wake up at half past six.”</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أَسْتَيْقِظُ فِي السَّادِسَةِ وَالرُّبْعِ.</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أَسْتَيْقِظُ فِي السَّادِسَةِ وَالنِّصْفِ.</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يَسْتَيْقِظُ فِي السَّادِسَةِ وَالنِّصْفِ.</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 the routine:</a:t>
            </a:r>
            <a:endParaRPr lang="en-US" sz="1200" dirty="0"/>
          </a:p>
        </p:txBody>
      </p:sp>
      <p:sp>
        <p:nvSpPr>
          <p:cNvPr id="34" name="Text 31"/>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أَوَّلًا ___، ثُمَّ أَغْتَسِلُ.</a:t>
            </a:r>
            <a:endParaRPr lang="ar-SA" sz="1500" dirty="0"/>
          </a:p>
        </p:txBody>
      </p:sp>
      <p:sp>
        <p:nvSpPr>
          <p:cNvPr id="35" name="Shape 32"/>
          <p:cNvSpPr/>
          <p:nvPr/>
        </p:nvSpPr>
        <p:spPr>
          <a:xfrm>
            <a:off x="4459224"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أَسْتَيْقِظُ</a:t>
            </a:r>
            <a:endParaRPr lang="ar-SA" sz="2050" dirty="0"/>
          </a:p>
        </p:txBody>
      </p:sp>
      <p:sp>
        <p:nvSpPr>
          <p:cNvPr id="38" name="Shape 35"/>
          <p:cNvSpPr/>
          <p:nvPr/>
        </p:nvSpPr>
        <p:spPr>
          <a:xfrm>
            <a:off x="4459224"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يَسْتَيْقِظُ</a:t>
            </a:r>
            <a:endParaRPr lang="ar-SA" sz="2050" dirty="0"/>
          </a:p>
        </p:txBody>
      </p:sp>
      <p:sp>
        <p:nvSpPr>
          <p:cNvPr id="41" name="Shape 38"/>
          <p:cNvSpPr/>
          <p:nvPr/>
        </p:nvSpPr>
        <p:spPr>
          <a:xfrm>
            <a:off x="4459224"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تَسْتَيْقِظِينَ</a:t>
            </a:r>
            <a:endParaRPr lang="ar-SA" sz="2050" dirty="0"/>
          </a:p>
        </p:txBody>
      </p:sp>
      <p:sp>
        <p:nvSpPr>
          <p:cNvPr id="44" name="Shape 41"/>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8223504" y="1947672"/>
            <a:ext cx="310896" cy="310896"/>
          </a:xfrm>
          <a:prstGeom prst="ellipse">
            <a:avLst/>
          </a:prstGeom>
          <a:solidFill>
            <a:srgbClr val="1B3B6F"/>
          </a:solidFill>
          <a:ln w="12700">
            <a:solidFill>
              <a:srgbClr val="1B3B6F"/>
            </a:solidFill>
            <a:prstDash val="solid"/>
          </a:ln>
        </p:spPr>
      </p:sp>
      <p:sp>
        <p:nvSpPr>
          <p:cNvPr id="46" name="Text 43"/>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7" name="Text 44"/>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Mariam is describing her morning. Choose the accurate sentence.</a:t>
            </a:r>
            <a:endParaRPr lang="en-US" sz="1250" dirty="0"/>
          </a:p>
        </p:txBody>
      </p:sp>
      <p:sp>
        <p:nvSpPr>
          <p:cNvPr id="48" name="Shape 45"/>
          <p:cNvSpPr/>
          <p:nvPr/>
        </p:nvSpPr>
        <p:spPr>
          <a:xfrm>
            <a:off x="8278368" y="25328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0" name="Text 47"/>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مَرْيَمُ يَتَنَاوَلُ الإِفْطَارَ.</a:t>
            </a:r>
            <a:endParaRPr lang="ar-SA" sz="2050" dirty="0"/>
          </a:p>
        </p:txBody>
      </p:sp>
      <p:sp>
        <p:nvSpPr>
          <p:cNvPr id="51" name="Shape 48"/>
          <p:cNvSpPr/>
          <p:nvPr/>
        </p:nvSpPr>
        <p:spPr>
          <a:xfrm>
            <a:off x="8278368" y="29900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مَرْيَمُ أَتَنَاوَلُ الإِفْطَارَ.</a:t>
            </a:r>
            <a:endParaRPr lang="ar-SA" sz="2050" dirty="0"/>
          </a:p>
        </p:txBody>
      </p:sp>
      <p:sp>
        <p:nvSpPr>
          <p:cNvPr id="54" name="Shape 51"/>
          <p:cNvSpPr/>
          <p:nvPr/>
        </p:nvSpPr>
        <p:spPr>
          <a:xfrm>
            <a:off x="8278368" y="3447288"/>
            <a:ext cx="256032" cy="256032"/>
          </a:xfrm>
          <a:prstGeom prst="ellipse">
            <a:avLst/>
          </a:prstGeom>
          <a:solidFill>
            <a:srgbClr val="F4F1EA"/>
          </a:solidFill>
          <a:ln w="12700">
            <a:solidFill>
              <a:srgbClr val="F4F1EA"/>
            </a:solidFill>
            <a:prstDash val="solid"/>
          </a:ln>
        </p:spPr>
      </p:sp>
      <p:sp>
        <p:nvSpPr>
          <p:cNvPr id="55" name="Text 52"/>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مَرْيَمُ تَتَنَاوَلُ الإِفْطَارَ.</a:t>
            </a:r>
            <a:endParaRPr lang="ar-SA" sz="2050" dirty="0"/>
          </a:p>
        </p:txBody>
      </p:sp>
      <p:sp>
        <p:nvSpPr>
          <p:cNvPr id="57" name="Shape 54"/>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585216"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0" name="Text 57"/>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means “I rarely leave the house late”?</a:t>
            </a:r>
            <a:endParaRPr lang="en-US" sz="1250" dirty="0"/>
          </a:p>
        </p:txBody>
      </p:sp>
      <p:sp>
        <p:nvSpPr>
          <p:cNvPr id="61" name="Shape 58"/>
          <p:cNvSpPr/>
          <p:nvPr/>
        </p:nvSpPr>
        <p:spPr>
          <a:xfrm>
            <a:off x="640080"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3" name="Text 60"/>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1950" dirty="0">
                <a:solidFill>
                  <a:srgbClr val="1F2A37"/>
                </a:solidFill>
                <a:latin typeface="Amiri" pitchFamily="34" charset="0"/>
                <a:ea typeface="Amiri" pitchFamily="34" charset="-122"/>
                <a:cs typeface="Amiri" pitchFamily="34" charset="-120"/>
              </a:rPr>
              <a:t>دَائِمًا أَخْرُجُ مِنَ البَيْتِ مُتَأَخِّرًا.</a:t>
            </a:r>
            <a:endParaRPr lang="ar-SA" sz="1950" dirty="0"/>
          </a:p>
        </p:txBody>
      </p:sp>
      <p:sp>
        <p:nvSpPr>
          <p:cNvPr id="64" name="Shape 61"/>
          <p:cNvSpPr/>
          <p:nvPr/>
        </p:nvSpPr>
        <p:spPr>
          <a:xfrm>
            <a:off x="640080"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6" name="Text 63"/>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1950" dirty="0">
                <a:solidFill>
                  <a:srgbClr val="1F2A37"/>
                </a:solidFill>
                <a:latin typeface="Amiri" pitchFamily="34" charset="0"/>
                <a:ea typeface="Amiri" pitchFamily="34" charset="-122"/>
                <a:cs typeface="Amiri" pitchFamily="34" charset="-120"/>
              </a:rPr>
              <a:t>أَحْيَانًا يَخْرُجُ مِنَ البَيْتِ مُبَكِّرًا.</a:t>
            </a:r>
            <a:endParaRPr lang="ar-SA" sz="1950" dirty="0"/>
          </a:p>
        </p:txBody>
      </p:sp>
      <p:sp>
        <p:nvSpPr>
          <p:cNvPr id="67" name="Shape 64"/>
          <p:cNvSpPr/>
          <p:nvPr/>
        </p:nvSpPr>
        <p:spPr>
          <a:xfrm>
            <a:off x="640080"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9" name="Text 66"/>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1950" dirty="0">
                <a:solidFill>
                  <a:srgbClr val="1F2A37"/>
                </a:solidFill>
                <a:latin typeface="Amiri" pitchFamily="34" charset="0"/>
                <a:ea typeface="Amiri" pitchFamily="34" charset="-122"/>
                <a:cs typeface="Amiri" pitchFamily="34" charset="-120"/>
              </a:rPr>
              <a:t>نَادِرًا مَا أَخْرُجُ مِنَ البَيْتِ مُتَأَخِّرًا.</a:t>
            </a:r>
            <a:endParaRPr lang="ar-SA" sz="1950" dirty="0"/>
          </a:p>
        </p:txBody>
      </p:sp>
      <p:sp>
        <p:nvSpPr>
          <p:cNvPr id="70" name="Shape 67"/>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1" name="Shape 68"/>
          <p:cNvSpPr/>
          <p:nvPr/>
        </p:nvSpPr>
        <p:spPr>
          <a:xfrm>
            <a:off x="4404360" y="4288536"/>
            <a:ext cx="310896" cy="310896"/>
          </a:xfrm>
          <a:prstGeom prst="ellipse">
            <a:avLst/>
          </a:prstGeom>
          <a:solidFill>
            <a:srgbClr val="1B3B6F"/>
          </a:solidFill>
          <a:ln w="12700">
            <a:solidFill>
              <a:srgbClr val="1B3B6F"/>
            </a:solidFill>
            <a:prstDash val="solid"/>
          </a:ln>
        </p:spPr>
      </p:sp>
      <p:sp>
        <p:nvSpPr>
          <p:cNvPr id="72" name="Text 69"/>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3" name="Text 70"/>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most coherent morning sequence.</a:t>
            </a:r>
            <a:endParaRPr lang="en-US" sz="1250" dirty="0"/>
          </a:p>
        </p:txBody>
      </p:sp>
      <p:sp>
        <p:nvSpPr>
          <p:cNvPr id="74" name="Shape 71"/>
          <p:cNvSpPr/>
          <p:nvPr/>
        </p:nvSpPr>
        <p:spPr>
          <a:xfrm>
            <a:off x="4459224" y="48737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6" name="Text 73"/>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1300" dirty="0">
                <a:solidFill>
                  <a:srgbClr val="1F2A37"/>
                </a:solidFill>
                <a:latin typeface="Amiri" pitchFamily="34" charset="0"/>
                <a:ea typeface="Amiri" pitchFamily="34" charset="-122"/>
                <a:cs typeface="Amiri" pitchFamily="34" charset="-120"/>
              </a:rPr>
              <a:t>أَوَّلًا أَسْتَيْقِظُ، ثُمَّ أَتَوَضَّأُ، وَبَعْدَ ذٰلِكَ أَرْتَدِي مَلَابِسِي.</a:t>
            </a:r>
            <a:endParaRPr lang="ar-SA" sz="1300" dirty="0"/>
          </a:p>
        </p:txBody>
      </p:sp>
      <p:sp>
        <p:nvSpPr>
          <p:cNvPr id="77" name="Shape 74"/>
          <p:cNvSpPr/>
          <p:nvPr/>
        </p:nvSpPr>
        <p:spPr>
          <a:xfrm>
            <a:off x="4459224" y="53309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9" name="Text 76"/>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1300" dirty="0">
                <a:solidFill>
                  <a:srgbClr val="1F2A37"/>
                </a:solidFill>
                <a:latin typeface="Amiri" pitchFamily="34" charset="0"/>
                <a:ea typeface="Amiri" pitchFamily="34" charset="-122"/>
                <a:cs typeface="Amiri" pitchFamily="34" charset="-120"/>
              </a:rPr>
              <a:t>أَخِيرًا أَسْتَيْقِظُ، ثُمَّ أَنَامُ.</a:t>
            </a:r>
            <a:endParaRPr lang="ar-SA" sz="1300" dirty="0"/>
          </a:p>
        </p:txBody>
      </p:sp>
      <p:sp>
        <p:nvSpPr>
          <p:cNvPr id="80" name="Shape 77"/>
          <p:cNvSpPr/>
          <p:nvPr/>
        </p:nvSpPr>
        <p:spPr>
          <a:xfrm>
            <a:off x="4459224" y="5788152"/>
            <a:ext cx="256032" cy="256032"/>
          </a:xfrm>
          <a:prstGeom prst="ellipse">
            <a:avLst/>
          </a:prstGeom>
          <a:solidFill>
            <a:srgbClr val="F4F1EA"/>
          </a:solidFill>
          <a:ln w="12700">
            <a:solidFill>
              <a:srgbClr val="F4F1EA"/>
            </a:solidFill>
            <a:prstDash val="solid"/>
          </a:ln>
        </p:spPr>
      </p:sp>
      <p:sp>
        <p:nvSpPr>
          <p:cNvPr id="81" name="Text 78"/>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2" name="Text 79"/>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1300" dirty="0">
                <a:solidFill>
                  <a:srgbClr val="1F2A37"/>
                </a:solidFill>
                <a:latin typeface="Amiri" pitchFamily="34" charset="0"/>
                <a:ea typeface="Amiri" pitchFamily="34" charset="-122"/>
                <a:cs typeface="Amiri" pitchFamily="34" charset="-120"/>
              </a:rPr>
              <a:t>ثُمَّ أَخْرُجُ، أَوَّلًا أَتَنَاوَلُ الإِفْطَارَ.</a:t>
            </a:r>
            <a:endParaRPr lang="ar-SA" sz="1300" dirty="0"/>
          </a:p>
        </p:txBody>
      </p:sp>
      <p:sp>
        <p:nvSpPr>
          <p:cNvPr id="83" name="Shape 80"/>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4" name="Shape 81"/>
          <p:cNvSpPr/>
          <p:nvPr/>
        </p:nvSpPr>
        <p:spPr>
          <a:xfrm>
            <a:off x="8223504" y="4288536"/>
            <a:ext cx="310896" cy="310896"/>
          </a:xfrm>
          <a:prstGeom prst="ellipse">
            <a:avLst/>
          </a:prstGeom>
          <a:solidFill>
            <a:srgbClr val="1B3B6F"/>
          </a:solidFill>
          <a:ln w="12700">
            <a:solidFill>
              <a:srgbClr val="1B3B6F"/>
            </a:solidFill>
            <a:prstDash val="solid"/>
          </a:ln>
        </p:spPr>
      </p:sp>
      <p:sp>
        <p:nvSpPr>
          <p:cNvPr id="85" name="Text 82"/>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6" name="Text 83"/>
          <p:cNvSpPr txBox="1"/>
          <p:nvPr/>
        </p:nvSpPr>
        <p:spPr>
          <a:xfrm>
            <a:off x="8589264"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Repair the sentence:</a:t>
            </a:r>
            <a:endParaRPr lang="en-US" sz="1200" dirty="0"/>
          </a:p>
        </p:txBody>
      </p:sp>
      <p:sp>
        <p:nvSpPr>
          <p:cNvPr id="87" name="Text 84"/>
          <p:cNvSpPr txBox="1"/>
          <p:nvPr/>
        </p:nvSpPr>
        <p:spPr>
          <a:xfrm>
            <a:off x="10044989" y="4224528"/>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أَنَا يَسْتَيْقِظُ مُبَكِّرًا.</a:t>
            </a:r>
            <a:endParaRPr lang="ar-SA" sz="1500" dirty="0"/>
          </a:p>
        </p:txBody>
      </p:sp>
      <p:sp>
        <p:nvSpPr>
          <p:cNvPr id="88" name="Shape 85"/>
          <p:cNvSpPr/>
          <p:nvPr/>
        </p:nvSpPr>
        <p:spPr>
          <a:xfrm>
            <a:off x="8278368" y="4873752"/>
            <a:ext cx="256032" cy="256032"/>
          </a:xfrm>
          <a:prstGeom prst="ellipse">
            <a:avLst/>
          </a:prstGeom>
          <a:solidFill>
            <a:srgbClr val="F4F1EA"/>
          </a:solidFill>
          <a:ln w="12700">
            <a:solidFill>
              <a:srgbClr val="F4F1EA"/>
            </a:solidFill>
            <a:prstDash val="solid"/>
          </a:ln>
        </p:spPr>
      </p:sp>
      <p:sp>
        <p:nvSpPr>
          <p:cNvPr id="89" name="Text 86"/>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0" name="Text 87"/>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أَنَا تَسْتَيْقِظُ مُبَكِّرًا.</a:t>
            </a:r>
            <a:endParaRPr lang="ar-SA" sz="2050" dirty="0"/>
          </a:p>
        </p:txBody>
      </p:sp>
      <p:sp>
        <p:nvSpPr>
          <p:cNvPr id="91" name="Shape 88"/>
          <p:cNvSpPr/>
          <p:nvPr/>
        </p:nvSpPr>
        <p:spPr>
          <a:xfrm>
            <a:off x="8278368" y="5330952"/>
            <a:ext cx="256032" cy="256032"/>
          </a:xfrm>
          <a:prstGeom prst="ellipse">
            <a:avLst/>
          </a:prstGeom>
          <a:solidFill>
            <a:srgbClr val="F4F1EA"/>
          </a:solidFill>
          <a:ln w="12700">
            <a:solidFill>
              <a:srgbClr val="F4F1EA"/>
            </a:solidFill>
            <a:prstDash val="solid"/>
          </a:ln>
        </p:spPr>
      </p:sp>
      <p:sp>
        <p:nvSpPr>
          <p:cNvPr id="92" name="Text 89"/>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3" name="Text 90"/>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أَنَا أَسْتَيْقِظُ مُبَكِّرًا.</a:t>
            </a:r>
            <a:endParaRPr lang="ar-SA" sz="2050" dirty="0"/>
          </a:p>
        </p:txBody>
      </p:sp>
      <p:sp>
        <p:nvSpPr>
          <p:cNvPr id="94" name="Shape 91"/>
          <p:cNvSpPr/>
          <p:nvPr/>
        </p:nvSpPr>
        <p:spPr>
          <a:xfrm>
            <a:off x="8278368" y="5788152"/>
            <a:ext cx="256032" cy="256032"/>
          </a:xfrm>
          <a:prstGeom prst="ellipse">
            <a:avLst/>
          </a:prstGeom>
          <a:solidFill>
            <a:srgbClr val="F4F1EA"/>
          </a:solidFill>
          <a:ln w="12700">
            <a:solidFill>
              <a:srgbClr val="F4F1EA"/>
            </a:solidFill>
            <a:prstDash val="solid"/>
          </a:ln>
        </p:spPr>
      </p:sp>
      <p:sp>
        <p:nvSpPr>
          <p:cNvPr id="95" name="Text 92"/>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6" name="Text 93"/>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أَنَا نَسْتَيْقِظُ مُبَكِّرًا.</a:t>
            </a:r>
            <a:endParaRPr lang="ar-SA" sz="205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46</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D1-L01 · My Morning Routine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D1-L01</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Arabic for: “I wake up at half past six.”</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أَسْتَيْقِظُ فِي السَّادِسَةِ وَالرُّبْعِ.</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أَسْتَيْقِظُ فِي السَّادِسَةِ وَالنِّصْفِ.</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يَسْتَيْقِظُ فِي السَّادِسَةِ وَالنِّصْفِ.</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أَسْتَيْقِظُ</a:t>
            </a:r>
            <a:pPr algn="l" indent="0" marL="0">
              <a:buNone/>
            </a:pPr>
            <a:r>
              <a:rPr lang="en-US" sz="1050" i="1" dirty="0">
                <a:solidFill>
                  <a:srgbClr val="8A6D1E"/>
                </a:solidFill>
                <a:latin typeface="Calibri" pitchFamily="34" charset="0"/>
                <a:ea typeface="Calibri" pitchFamily="34" charset="-122"/>
                <a:cs typeface="Calibri" pitchFamily="34" charset="-120"/>
              </a:rPr>
              <a:t> is the first-person verb, and </a:t>
            </a:r>
            <a:pPr algn="l" indent="0" marL="0">
              <a:buNone/>
            </a:pPr>
            <a:r>
              <a:rPr lang="ar-SA" altLang="en-US" sz="1350" dirty="0">
                <a:solidFill>
                  <a:srgbClr val="8A6D1E"/>
                </a:solidFill>
                <a:latin typeface="Amiri" pitchFamily="34" charset="0"/>
                <a:ea typeface="Amiri" pitchFamily="34" charset="-122"/>
                <a:cs typeface="Amiri" pitchFamily="34" charset="-120"/>
              </a:rPr>
              <a:t>وَالنِّصْفُ</a:t>
            </a:r>
            <a:pPr algn="l" indent="0" marL="0">
              <a:buNone/>
            </a:pPr>
            <a:r>
              <a:rPr lang="en-US" sz="1050" i="1" dirty="0">
                <a:solidFill>
                  <a:srgbClr val="8A6D1E"/>
                </a:solidFill>
                <a:latin typeface="Calibri" pitchFamily="34" charset="0"/>
                <a:ea typeface="Calibri" pitchFamily="34" charset="-122"/>
                <a:cs typeface="Calibri" pitchFamily="34" charset="-120"/>
              </a:rPr>
              <a:t> means half past.</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2"/>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 the routine:</a:t>
            </a:r>
            <a:endParaRPr lang="en-US" sz="1200" dirty="0"/>
          </a:p>
        </p:txBody>
      </p:sp>
      <p:sp>
        <p:nvSpPr>
          <p:cNvPr id="35" name="Text 33"/>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أَوَّلًا ___، ثُمَّ أَغْتَسِلُ.</a:t>
            </a:r>
            <a:endParaRPr lang="ar-SA" sz="1500" dirty="0"/>
          </a:p>
        </p:txBody>
      </p:sp>
      <p:sp>
        <p:nvSpPr>
          <p:cNvPr id="36" name="Shape 34"/>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7" name="Shape 35"/>
          <p:cNvSpPr/>
          <p:nvPr/>
        </p:nvSpPr>
        <p:spPr>
          <a:xfrm>
            <a:off x="4459224" y="2490216"/>
            <a:ext cx="256032" cy="256032"/>
          </a:xfrm>
          <a:prstGeom prst="ellipse">
            <a:avLst/>
          </a:prstGeom>
          <a:solidFill>
            <a:srgbClr val="2E8B57"/>
          </a:solidFill>
          <a:ln w="12700">
            <a:solidFill>
              <a:srgbClr val="2E8B57"/>
            </a:solidFill>
            <a:prstDash val="solid"/>
          </a:ln>
        </p:spPr>
      </p:sp>
      <p:sp>
        <p:nvSpPr>
          <p:cNvPr id="38" name="Text 36"/>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9" name="Text 37"/>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أَسْتَيْقِظُ</a:t>
            </a:r>
            <a:endParaRPr lang="ar-SA" sz="1700" dirty="0"/>
          </a:p>
        </p:txBody>
      </p:sp>
      <p:sp>
        <p:nvSpPr>
          <p:cNvPr id="40" name="Shape 38"/>
          <p:cNvSpPr/>
          <p:nvPr/>
        </p:nvSpPr>
        <p:spPr>
          <a:xfrm>
            <a:off x="4459224" y="2862072"/>
            <a:ext cx="256032" cy="256032"/>
          </a:xfrm>
          <a:prstGeom prst="ellipse">
            <a:avLst/>
          </a:prstGeom>
          <a:solidFill>
            <a:srgbClr val="C9CED6"/>
          </a:solidFill>
          <a:ln w="12700">
            <a:solidFill>
              <a:srgbClr val="C9CED6"/>
            </a:solidFill>
            <a:prstDash val="solid"/>
          </a:ln>
        </p:spPr>
      </p:sp>
      <p:sp>
        <p:nvSpPr>
          <p:cNvPr id="41" name="Text 39"/>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2" name="Text 40"/>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يَسْتَيْقِظُ</a:t>
            </a:r>
            <a:endParaRPr lang="ar-SA" sz="1700" dirty="0"/>
          </a:p>
        </p:txBody>
      </p:sp>
      <p:sp>
        <p:nvSpPr>
          <p:cNvPr id="43" name="Shape 41"/>
          <p:cNvSpPr/>
          <p:nvPr/>
        </p:nvSpPr>
        <p:spPr>
          <a:xfrm>
            <a:off x="4459224" y="3233928"/>
            <a:ext cx="256032" cy="256032"/>
          </a:xfrm>
          <a:prstGeom prst="ellipse">
            <a:avLst/>
          </a:prstGeom>
          <a:solidFill>
            <a:srgbClr val="C9CED6"/>
          </a:solidFill>
          <a:ln w="12700">
            <a:solidFill>
              <a:srgbClr val="C9CED6"/>
            </a:solidFill>
            <a:prstDash val="solid"/>
          </a:ln>
        </p:spPr>
      </p:sp>
      <p:sp>
        <p:nvSpPr>
          <p:cNvPr id="44" name="Text 42"/>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3"/>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تَسْتَيْقِظِينَ</a:t>
            </a:r>
            <a:endParaRPr lang="ar-SA" sz="1700" dirty="0"/>
          </a:p>
        </p:txBody>
      </p:sp>
      <p:sp>
        <p:nvSpPr>
          <p:cNvPr id="46" name="Text 44"/>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speaker is “I”, so the verb begins with </a:t>
            </a:r>
            <a:pPr algn="l" indent="0" marL="0">
              <a:buNone/>
            </a:pPr>
            <a:r>
              <a:rPr lang="ar-SA" altLang="en-US" sz="1350" dirty="0">
                <a:solidFill>
                  <a:srgbClr val="8A6D1E"/>
                </a:solidFill>
                <a:latin typeface="Amiri" pitchFamily="34" charset="0"/>
                <a:ea typeface="Amiri" pitchFamily="34" charset="-122"/>
                <a:cs typeface="Amiri" pitchFamily="34" charset="-120"/>
              </a:rPr>
              <a:t>أَـ</a:t>
            </a:r>
            <a:pPr algn="l" indent="0" marL="0">
              <a:buNone/>
            </a:pPr>
            <a:r>
              <a:rPr lang="en-US" sz="1050" i="1" dirty="0">
                <a:solidFill>
                  <a:srgbClr val="8A6D1E"/>
                </a:solidFill>
                <a:latin typeface="Calibri" pitchFamily="34" charset="0"/>
                <a:ea typeface="Calibri" pitchFamily="34" charset="-122"/>
                <a:cs typeface="Calibri" pitchFamily="34" charset="-120"/>
              </a:rPr>
              <a:t>: </a:t>
            </a:r>
            <a:pPr algn="l" indent="0" marL="0">
              <a:buNone/>
            </a:pPr>
            <a:r>
              <a:rPr lang="ar-SA" altLang="en-US" sz="1350" dirty="0">
                <a:solidFill>
                  <a:srgbClr val="8A6D1E"/>
                </a:solidFill>
                <a:latin typeface="Amiri" pitchFamily="34" charset="0"/>
                <a:ea typeface="Amiri" pitchFamily="34" charset="-122"/>
                <a:cs typeface="Amiri" pitchFamily="34" charset="-120"/>
              </a:rPr>
              <a:t>أَسْتَيْقِظُ</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7" name="Shape 45"/>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6"/>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7"/>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8"/>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Mariam is describing her morning. Choose the accurate sentence.</a:t>
            </a:r>
            <a:endParaRPr lang="en-US" sz="1250" dirty="0"/>
          </a:p>
        </p:txBody>
      </p:sp>
      <p:sp>
        <p:nvSpPr>
          <p:cNvPr id="51" name="Shape 49"/>
          <p:cNvSpPr/>
          <p:nvPr/>
        </p:nvSpPr>
        <p:spPr>
          <a:xfrm>
            <a:off x="8278368" y="2490216"/>
            <a:ext cx="256032" cy="256032"/>
          </a:xfrm>
          <a:prstGeom prst="ellipse">
            <a:avLst/>
          </a:prstGeom>
          <a:solidFill>
            <a:srgbClr val="C9CED6"/>
          </a:solidFill>
          <a:ln w="12700">
            <a:solidFill>
              <a:srgbClr val="C9CED6"/>
            </a:solidFill>
            <a:prstDash val="solid"/>
          </a:ln>
        </p:spPr>
      </p:sp>
      <p:sp>
        <p:nvSpPr>
          <p:cNvPr id="52"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1"/>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مَرْيَمُ يَتَنَاوَلُ الإِفْطَارَ.</a:t>
            </a:r>
            <a:endParaRPr lang="ar-SA" sz="1700" dirty="0"/>
          </a:p>
        </p:txBody>
      </p:sp>
      <p:sp>
        <p:nvSpPr>
          <p:cNvPr id="54"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5"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6" name="Text 54"/>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مَرْيَمُ أَتَنَاوَلُ الإِفْطَارَ.</a:t>
            </a:r>
            <a:endParaRPr lang="ar-SA" sz="1700" dirty="0"/>
          </a:p>
        </p:txBody>
      </p:sp>
      <p:sp>
        <p:nvSpPr>
          <p:cNvPr id="57" name="Shape 55"/>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8" name="Shape 56"/>
          <p:cNvSpPr/>
          <p:nvPr/>
        </p:nvSpPr>
        <p:spPr>
          <a:xfrm>
            <a:off x="8278368" y="3233928"/>
            <a:ext cx="256032" cy="256032"/>
          </a:xfrm>
          <a:prstGeom prst="ellipse">
            <a:avLst/>
          </a:prstGeom>
          <a:solidFill>
            <a:srgbClr val="2E8B57"/>
          </a:solidFill>
          <a:ln w="12700">
            <a:solidFill>
              <a:srgbClr val="2E8B57"/>
            </a:solidFill>
            <a:prstDash val="solid"/>
          </a:ln>
        </p:spPr>
      </p:sp>
      <p:sp>
        <p:nvSpPr>
          <p:cNvPr id="59" name="Text 57"/>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60" name="Text 58"/>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مَرْيَمُ تَتَنَاوَلُ الإِفْطَارَ.</a:t>
            </a:r>
            <a:endParaRPr lang="ar-SA" sz="1700" dirty="0"/>
          </a:p>
        </p:txBody>
      </p:sp>
      <p:sp>
        <p:nvSpPr>
          <p:cNvPr id="61" name="Text 59"/>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feminine third-person subject takes </a:t>
            </a:r>
            <a:pPr algn="l" indent="0" marL="0">
              <a:buNone/>
            </a:pPr>
            <a:r>
              <a:rPr lang="ar-SA" altLang="en-US" sz="1350" dirty="0">
                <a:solidFill>
                  <a:srgbClr val="8A6D1E"/>
                </a:solidFill>
                <a:latin typeface="Amiri" pitchFamily="34" charset="0"/>
                <a:ea typeface="Amiri" pitchFamily="34" charset="-122"/>
                <a:cs typeface="Amiri" pitchFamily="34" charset="-120"/>
              </a:rPr>
              <a:t>تَـ</a:t>
            </a:r>
            <a:pPr algn="l" indent="0" marL="0">
              <a:buNone/>
            </a:pPr>
            <a:r>
              <a:rPr lang="en-US" sz="1050" i="1" dirty="0">
                <a:solidFill>
                  <a:srgbClr val="8A6D1E"/>
                </a:solidFill>
                <a:latin typeface="Calibri" pitchFamily="34" charset="0"/>
                <a:ea typeface="Calibri" pitchFamily="34" charset="-122"/>
                <a:cs typeface="Calibri" pitchFamily="34" charset="-120"/>
              </a:rPr>
              <a:t>: </a:t>
            </a:r>
            <a:pPr algn="l" indent="0" marL="0">
              <a:buNone/>
            </a:pPr>
            <a:r>
              <a:rPr lang="ar-SA" altLang="en-US" sz="1350" dirty="0">
                <a:solidFill>
                  <a:srgbClr val="8A6D1E"/>
                </a:solidFill>
                <a:latin typeface="Amiri" pitchFamily="34" charset="0"/>
                <a:ea typeface="Amiri" pitchFamily="34" charset="-122"/>
                <a:cs typeface="Amiri" pitchFamily="34" charset="-120"/>
              </a:rPr>
              <a:t>مَرْيَمُ تَتَنَاوَلُ</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2" name="Shape 60"/>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1"/>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3"/>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means “I rarely leave the house late”?</a:t>
            </a:r>
            <a:endParaRPr lang="en-US" sz="1250" dirty="0"/>
          </a:p>
        </p:txBody>
      </p:sp>
      <p:sp>
        <p:nvSpPr>
          <p:cNvPr id="66" name="Shape 64"/>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5"/>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6"/>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دَائِمًا أَخْرُجُ مِنَ البَيْتِ مُتَأَخِّرًا.</a:t>
            </a:r>
            <a:endParaRPr lang="ar-SA" sz="1700" dirty="0"/>
          </a:p>
        </p:txBody>
      </p:sp>
      <p:sp>
        <p:nvSpPr>
          <p:cNvPr id="69" name="Shape 67"/>
          <p:cNvSpPr/>
          <p:nvPr/>
        </p:nvSpPr>
        <p:spPr>
          <a:xfrm>
            <a:off x="640080" y="5202936"/>
            <a:ext cx="256032" cy="256032"/>
          </a:xfrm>
          <a:prstGeom prst="ellipse">
            <a:avLst/>
          </a:prstGeom>
          <a:solidFill>
            <a:srgbClr val="C9CED6"/>
          </a:solidFill>
          <a:ln w="12700">
            <a:solidFill>
              <a:srgbClr val="C9CED6"/>
            </a:solidFill>
            <a:prstDash val="solid"/>
          </a:ln>
        </p:spPr>
      </p:sp>
      <p:sp>
        <p:nvSpPr>
          <p:cNvPr id="70"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9"/>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أَحْيَانًا يَخْرُجُ مِنَ البَيْتِ مُبَكِّرًا.</a:t>
            </a:r>
            <a:endParaRPr lang="ar-SA" sz="1700" dirty="0"/>
          </a:p>
        </p:txBody>
      </p:sp>
      <p:sp>
        <p:nvSpPr>
          <p:cNvPr id="72" name="Shape 70"/>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3" name="Shape 71"/>
          <p:cNvSpPr/>
          <p:nvPr/>
        </p:nvSpPr>
        <p:spPr>
          <a:xfrm>
            <a:off x="640080" y="5574792"/>
            <a:ext cx="256032" cy="256032"/>
          </a:xfrm>
          <a:prstGeom prst="ellipse">
            <a:avLst/>
          </a:prstGeom>
          <a:solidFill>
            <a:srgbClr val="2E8B57"/>
          </a:solidFill>
          <a:ln w="12700">
            <a:solidFill>
              <a:srgbClr val="2E8B57"/>
            </a:solidFill>
            <a:prstDash val="solid"/>
          </a:ln>
        </p:spPr>
      </p:sp>
      <p:sp>
        <p:nvSpPr>
          <p:cNvPr id="74" name="Text 72"/>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5" name="Text 73"/>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نَادِرًا مَا أَخْرُجُ مِنَ البَيْتِ مُتَأَخِّرًا.</a:t>
            </a:r>
            <a:endParaRPr lang="ar-SA" sz="1700" dirty="0"/>
          </a:p>
        </p:txBody>
      </p:sp>
      <p:sp>
        <p:nvSpPr>
          <p:cNvPr id="76" name="Text 74"/>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نَادِرًا مَا</a:t>
            </a:r>
            <a:pPr algn="l" indent="0" marL="0">
              <a:buNone/>
            </a:pPr>
            <a:r>
              <a:rPr lang="en-US" sz="1050" i="1" dirty="0">
                <a:solidFill>
                  <a:srgbClr val="8A6D1E"/>
                </a:solidFill>
                <a:latin typeface="Calibri" pitchFamily="34" charset="0"/>
                <a:ea typeface="Calibri" pitchFamily="34" charset="-122"/>
                <a:cs typeface="Calibri" pitchFamily="34" charset="-120"/>
              </a:rPr>
              <a:t> means “rarely”, and </a:t>
            </a:r>
            <a:pPr algn="l" indent="0" marL="0">
              <a:buNone/>
            </a:pPr>
            <a:r>
              <a:rPr lang="ar-SA" altLang="en-US" sz="1350" dirty="0">
                <a:solidFill>
                  <a:srgbClr val="8A6D1E"/>
                </a:solidFill>
                <a:latin typeface="Amiri" pitchFamily="34" charset="0"/>
                <a:ea typeface="Amiri" pitchFamily="34" charset="-122"/>
                <a:cs typeface="Amiri" pitchFamily="34" charset="-120"/>
              </a:rPr>
              <a:t>أَخْرُجُ</a:t>
            </a:r>
            <a:pPr algn="l" indent="0" marL="0">
              <a:buNone/>
            </a:pPr>
            <a:r>
              <a:rPr lang="en-US" sz="1050" i="1" dirty="0">
                <a:solidFill>
                  <a:srgbClr val="8A6D1E"/>
                </a:solidFill>
                <a:latin typeface="Calibri" pitchFamily="34" charset="0"/>
                <a:ea typeface="Calibri" pitchFamily="34" charset="-122"/>
                <a:cs typeface="Calibri" pitchFamily="34" charset="-120"/>
              </a:rPr>
              <a:t> keeps the answer in the first person.</a:t>
            </a:r>
            <a:endParaRPr lang="en-US" sz="1050" dirty="0"/>
          </a:p>
        </p:txBody>
      </p:sp>
      <p:sp>
        <p:nvSpPr>
          <p:cNvPr id="77" name="Shape 7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6"/>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8"/>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most coherent morning sequence.</a:t>
            </a:r>
            <a:endParaRPr lang="en-US" sz="1250" dirty="0"/>
          </a:p>
        </p:txBody>
      </p:sp>
      <p:sp>
        <p:nvSpPr>
          <p:cNvPr id="81" name="Shape 79"/>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80"/>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1"/>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2"/>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300" b="1" dirty="0">
                <a:solidFill>
                  <a:srgbClr val="1F2A37"/>
                </a:solidFill>
                <a:latin typeface="Amiri" pitchFamily="34" charset="0"/>
                <a:ea typeface="Amiri" pitchFamily="34" charset="-122"/>
                <a:cs typeface="Amiri" pitchFamily="34" charset="-120"/>
              </a:rPr>
              <a:t>أَوَّلًا أَسْتَيْقِظُ، ثُمَّ أَتَوَضَّأُ، وَبَعْدَ ذٰلِكَ أَرْتَدِي مَلَابِسِي.</a:t>
            </a:r>
            <a:endParaRPr lang="ar-SA" sz="1300" dirty="0"/>
          </a:p>
        </p:txBody>
      </p:sp>
      <p:sp>
        <p:nvSpPr>
          <p:cNvPr id="85" name="Shape 83"/>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4"/>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5"/>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300" dirty="0">
                <a:solidFill>
                  <a:srgbClr val="9AA1AB"/>
                </a:solidFill>
                <a:latin typeface="Amiri" pitchFamily="34" charset="0"/>
                <a:ea typeface="Amiri" pitchFamily="34" charset="-122"/>
                <a:cs typeface="Amiri" pitchFamily="34" charset="-120"/>
              </a:rPr>
              <a:t>أَخِيرًا أَسْتَيْقِظُ، ثُمَّ أَنَامُ.</a:t>
            </a:r>
            <a:endParaRPr lang="ar-SA" sz="1300" dirty="0"/>
          </a:p>
        </p:txBody>
      </p:sp>
      <p:sp>
        <p:nvSpPr>
          <p:cNvPr id="88" name="Shape 86"/>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7"/>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8"/>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300" dirty="0">
                <a:solidFill>
                  <a:srgbClr val="9AA1AB"/>
                </a:solidFill>
                <a:latin typeface="Amiri" pitchFamily="34" charset="0"/>
                <a:ea typeface="Amiri" pitchFamily="34" charset="-122"/>
                <a:cs typeface="Amiri" pitchFamily="34" charset="-120"/>
              </a:rPr>
              <a:t>ثُمَّ أَخْرُجُ، أَوَّلًا أَتَنَاوَلُ الإِفْطَارَ.</a:t>
            </a:r>
            <a:endParaRPr lang="ar-SA" sz="1300" dirty="0"/>
          </a:p>
        </p:txBody>
      </p:sp>
      <p:sp>
        <p:nvSpPr>
          <p:cNvPr id="91" name="Text 89"/>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connectors create a logical order: first wake, then perform wudu, then get dressed.</a:t>
            </a:r>
            <a:endParaRPr lang="en-US" sz="1050" dirty="0"/>
          </a:p>
        </p:txBody>
      </p:sp>
      <p:sp>
        <p:nvSpPr>
          <p:cNvPr id="92" name="Shape 90"/>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1"/>
          <p:cNvSpPr/>
          <p:nvPr/>
        </p:nvSpPr>
        <p:spPr>
          <a:xfrm>
            <a:off x="8223504" y="4288536"/>
            <a:ext cx="310896" cy="310896"/>
          </a:xfrm>
          <a:prstGeom prst="ellipse">
            <a:avLst/>
          </a:prstGeom>
          <a:solidFill>
            <a:srgbClr val="1B3B6F"/>
          </a:solidFill>
          <a:ln w="12700">
            <a:solidFill>
              <a:srgbClr val="1B3B6F"/>
            </a:solidFill>
            <a:prstDash val="solid"/>
          </a:ln>
        </p:spPr>
      </p:sp>
      <p:sp>
        <p:nvSpPr>
          <p:cNvPr id="94" name="Text 92"/>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5" name="Text 93"/>
          <p:cNvSpPr txBox="1"/>
          <p:nvPr/>
        </p:nvSpPr>
        <p:spPr>
          <a:xfrm>
            <a:off x="8589264"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Repair the sentence:</a:t>
            </a:r>
            <a:endParaRPr lang="en-US" sz="1200" dirty="0"/>
          </a:p>
        </p:txBody>
      </p:sp>
      <p:sp>
        <p:nvSpPr>
          <p:cNvPr id="96" name="Text 94"/>
          <p:cNvSpPr txBox="1"/>
          <p:nvPr/>
        </p:nvSpPr>
        <p:spPr>
          <a:xfrm>
            <a:off x="10044989" y="4224528"/>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أَنَا يَسْتَيْقِظُ مُبَكِّرًا.</a:t>
            </a:r>
            <a:endParaRPr lang="ar-SA" sz="1500" dirty="0"/>
          </a:p>
        </p:txBody>
      </p:sp>
      <p:sp>
        <p:nvSpPr>
          <p:cNvPr id="97" name="Shape 95"/>
          <p:cNvSpPr/>
          <p:nvPr/>
        </p:nvSpPr>
        <p:spPr>
          <a:xfrm>
            <a:off x="8278368" y="4831080"/>
            <a:ext cx="256032" cy="256032"/>
          </a:xfrm>
          <a:prstGeom prst="ellipse">
            <a:avLst/>
          </a:prstGeom>
          <a:solidFill>
            <a:srgbClr val="C9CED6"/>
          </a:solidFill>
          <a:ln w="12700">
            <a:solidFill>
              <a:srgbClr val="C9CED6"/>
            </a:solidFill>
            <a:prstDash val="solid"/>
          </a:ln>
        </p:spPr>
      </p:sp>
      <p:sp>
        <p:nvSpPr>
          <p:cNvPr id="98" name="Text 96"/>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9" name="Text 97"/>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أَنَا تَسْتَيْقِظُ مُبَكِّرًا.</a:t>
            </a:r>
            <a:endParaRPr lang="ar-SA" sz="1700" dirty="0"/>
          </a:p>
        </p:txBody>
      </p:sp>
      <p:sp>
        <p:nvSpPr>
          <p:cNvPr id="100" name="Shape 98"/>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101" name="Shape 99"/>
          <p:cNvSpPr/>
          <p:nvPr/>
        </p:nvSpPr>
        <p:spPr>
          <a:xfrm>
            <a:off x="8278368" y="5202936"/>
            <a:ext cx="256032" cy="256032"/>
          </a:xfrm>
          <a:prstGeom prst="ellipse">
            <a:avLst/>
          </a:prstGeom>
          <a:solidFill>
            <a:srgbClr val="2E8B57"/>
          </a:solidFill>
          <a:ln w="12700">
            <a:solidFill>
              <a:srgbClr val="2E8B57"/>
            </a:solidFill>
            <a:prstDash val="solid"/>
          </a:ln>
        </p:spPr>
      </p:sp>
      <p:sp>
        <p:nvSpPr>
          <p:cNvPr id="102" name="Text 100"/>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103" name="Text 101"/>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أَنَا أَسْتَيْقِظُ مُبَكِّرًا.</a:t>
            </a:r>
            <a:endParaRPr lang="ar-SA" sz="1700" dirty="0"/>
          </a:p>
        </p:txBody>
      </p:sp>
      <p:sp>
        <p:nvSpPr>
          <p:cNvPr id="104" name="Shape 102"/>
          <p:cNvSpPr/>
          <p:nvPr/>
        </p:nvSpPr>
        <p:spPr>
          <a:xfrm>
            <a:off x="8278368" y="5574792"/>
            <a:ext cx="256032" cy="256032"/>
          </a:xfrm>
          <a:prstGeom prst="ellipse">
            <a:avLst/>
          </a:prstGeom>
          <a:solidFill>
            <a:srgbClr val="C9CED6"/>
          </a:solidFill>
          <a:ln w="12700">
            <a:solidFill>
              <a:srgbClr val="C9CED6"/>
            </a:solidFill>
            <a:prstDash val="solid"/>
          </a:ln>
        </p:spPr>
      </p:sp>
      <p:sp>
        <p:nvSpPr>
          <p:cNvPr id="105" name="Text 103"/>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6" name="Text 104"/>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أَنَا نَسْتَيْقِظُ مُبَكِّرًا.</a:t>
            </a:r>
            <a:endParaRPr lang="ar-SA" sz="1700" dirty="0"/>
          </a:p>
        </p:txBody>
      </p:sp>
      <p:sp>
        <p:nvSpPr>
          <p:cNvPr id="107" name="Text 105"/>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With </a:t>
            </a:r>
            <a:pPr algn="l" indent="0" marL="0">
              <a:buNone/>
            </a:pPr>
            <a:r>
              <a:rPr lang="ar-SA" altLang="en-US" sz="1350" dirty="0">
                <a:solidFill>
                  <a:srgbClr val="8A6D1E"/>
                </a:solidFill>
                <a:latin typeface="Amiri" pitchFamily="34" charset="0"/>
                <a:ea typeface="Amiri" pitchFamily="34" charset="-122"/>
                <a:cs typeface="Amiri" pitchFamily="34" charset="-120"/>
              </a:rPr>
              <a:t>أَنَا</a:t>
            </a:r>
            <a:pPr algn="l" indent="0" marL="0">
              <a:buNone/>
            </a:pPr>
            <a:r>
              <a:rPr lang="en-US" sz="1050" i="1" dirty="0">
                <a:solidFill>
                  <a:srgbClr val="8A6D1E"/>
                </a:solidFill>
                <a:latin typeface="Calibri" pitchFamily="34" charset="0"/>
                <a:ea typeface="Calibri" pitchFamily="34" charset="-122"/>
                <a:cs typeface="Calibri" pitchFamily="34" charset="-120"/>
              </a:rPr>
              <a:t>, the present-tense verb uses the prefix </a:t>
            </a:r>
            <a:pPr algn="l" indent="0" marL="0">
              <a:buNone/>
            </a:pPr>
            <a:r>
              <a:rPr lang="ar-SA" altLang="en-US" sz="1350" dirty="0">
                <a:solidFill>
                  <a:srgbClr val="8A6D1E"/>
                </a:solidFill>
                <a:latin typeface="Amiri" pitchFamily="34" charset="0"/>
                <a:ea typeface="Amiri" pitchFamily="34" charset="-122"/>
                <a:cs typeface="Amiri" pitchFamily="34" charset="-120"/>
              </a:rPr>
              <a:t>أَـ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108" name="Text 10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44 / 46</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D1-L01 · My Morning Routine</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D1-L02: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D1-L01</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D1-L02 · Telling the Time — What Time Is It?</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السَّاعَةُ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the hour, the clock</a:t>
            </a:r>
            <a:pPr indent="0" marL="0">
              <a:buNone/>
            </a:pPr>
            <a:r>
              <a:rPr lang="en-US" sz="1000" i="1" dirty="0">
                <a:solidFill>
                  <a:srgbClr val="5A6472"/>
                </a:solidFill>
                <a:latin typeface="Calibri" pitchFamily="34" charset="0"/>
                <a:ea typeface="Calibri" pitchFamily="34" charset="-122"/>
                <a:cs typeface="Calibri" pitchFamily="34" charset="-120"/>
              </a:rPr>
              <a:t>  pl. السَّاعَاتُ</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وَالنِّصْفُ</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half past</a:t>
            </a:r>
            <a:pPr indent="0" marL="0">
              <a:buNone/>
            </a:pP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وَالرُّبْعُ</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quarter past</a:t>
            </a:r>
            <a:pPr indent="0" marL="0">
              <a:buNone/>
            </a:pP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إِلَّا الرُّبْعَ</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quarter to</a:t>
            </a:r>
            <a:pPr indent="0" marL="0">
              <a:buNone/>
            </a:pP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دَقِيقَةٌ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minute</a:t>
            </a:r>
            <a:pPr indent="0" marL="0">
              <a:buNone/>
            </a:pPr>
            <a:r>
              <a:rPr lang="en-US" sz="1000" i="1" dirty="0">
                <a:solidFill>
                  <a:srgbClr val="5A6472"/>
                </a:solidFill>
                <a:latin typeface="Calibri" pitchFamily="34" charset="0"/>
                <a:ea typeface="Calibri" pitchFamily="34" charset="-122"/>
                <a:cs typeface="Calibri" pitchFamily="34" charset="-120"/>
              </a:rPr>
              <a:t>  pl. دَقَائِقُ</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Write the time you wake up and the time you leave home, in Arabic numerals.</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كَمِ السَّاعَةُ؟</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D1-L01: vocabulary mission and the picture game “My Morning Routine”.</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8 sentences about your morning with times and frequency words.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90–110 words comparing your routine with an improved one.</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45 / 46</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D1-L01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250" b="1" dirty="0">
                <a:solidFill>
                  <a:srgbClr val="FFFFFF"/>
                </a:solidFill>
                <a:latin typeface="Cambria" pitchFamily="34" charset="0"/>
                <a:ea typeface="Cambria" pitchFamily="34" charset="-122"/>
                <a:cs typeface="Cambria" pitchFamily="34" charset="-120"/>
              </a:rPr>
              <a:t>D1-L02 · Telling the Time — What Time Is It?</a:t>
            </a:r>
            <a:endParaRPr lang="en-US" sz="22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كَمِ السَّاعَةُ؟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5 time words + your wake-up time in Arabic.</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46</Slides>
  <Notes>46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46</vt:i4>
      </vt:variant>
    </vt:vector>
  </HeadingPairs>
  <TitlesOfParts>
    <vt:vector size="4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D1-L01 · My Morning Routine</dc:title>
  <dc:subject>PptxGenJS Presentation</dc:subject>
  <dc:creator>Al Madina Online School · Arabic Department</dc:creator>
  <cp:lastModifiedBy>Al Madina Online School · Arabic Department</cp:lastModifiedBy>
  <cp:revision>1</cp:revision>
  <dcterms:created xsi:type="dcterms:W3CDTF">2026-09-27T12:02:07Z</dcterms:created>
  <dcterms:modified xsi:type="dcterms:W3CDTF">2026-09-27T12:02:07Z</dcterms:modified>
</cp:coreProperties>
</file>