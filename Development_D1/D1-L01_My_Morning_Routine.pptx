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Morning verbs, then who is doing it: </a:t>
            </a:r>
            <a:pPr algn="ctr" indent="0" marL="0">
              <a:buNone/>
            </a:pPr>
            <a:r>
              <a:rPr lang="ar-SA" altLang="en-US" sz="1550" dirty="0">
                <a:solidFill>
                  <a:srgbClr val="1F2A37"/>
                </a:solidFill>
                <a:latin typeface="Amiri" pitchFamily="2" charset="-78"/>
                <a:cs typeface="Amiri" pitchFamily="2" charset="-78"/>
              </a:rPr>
              <a:t>أَ / يَ / تَ / 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Foundation: </a:t>
            </a:r>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she · </a:t>
            </a:r>
            <a:pPr algn="l" indent="0" marL="0">
              <a:buNone/>
            </a:pPr>
            <a:r>
              <a:rPr lang="ar-SA" altLang="en-US" sz="1350" dirty="0">
                <a:solidFill>
                  <a:srgbClr val="8A6D1E"/>
                </a:solidFill>
                <a:latin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 he · </a:t>
            </a:r>
            <a:pPr algn="l" indent="0" marL="0">
              <a:buNone/>
            </a:pPr>
            <a:r>
              <a:rPr lang="ar-SA" altLang="en-US" sz="1350" dirty="0">
                <a:solidFill>
                  <a:srgbClr val="8A6D1E"/>
                </a:solidFill>
                <a:latin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الصَّبَاحُ</a:t>
            </a:r>
            <a:pPr algn="l" indent="0" marL="0">
              <a:buNone/>
            </a:pPr>
            <a:r>
              <a:rPr lang="en-US" sz="1050" i="1" dirty="0">
                <a:solidFill>
                  <a:srgbClr val="8A6D1E"/>
                </a:solidFill>
                <a:latin typeface="Calibri" pitchFamily="34" charset="0"/>
                <a:cs typeface="Amiri" pitchFamily="2" charset="-78"/>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كُلَّ</a:t>
            </a:r>
            <a:pPr algn="l" indent="0" marL="0">
              <a:buNone/>
            </a:pPr>
            <a:r>
              <a:rPr lang="en-US" sz="1050" i="1" dirty="0">
                <a:solidFill>
                  <a:srgbClr val="8A6D1E"/>
                </a:solidFill>
                <a:latin typeface="Calibri" pitchFamily="34" charset="0"/>
                <a:cs typeface="Amiri" pitchFamily="2" charset="-78"/>
              </a:rPr>
              <a:t> = every · </a:t>
            </a:r>
            <a:pPr algn="l" indent="0" marL="0">
              <a:buNone/>
            </a:pPr>
            <a:r>
              <a:rPr lang="ar-SA" altLang="en-US" sz="1350" dirty="0">
                <a:solidFill>
                  <a:srgbClr val="8A6D1E"/>
                </a:solidFill>
                <a:latin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first letter of a present verb tells you WHO: </a:t>
            </a:r>
            <a:pPr algn="l" indent="0" marL="0">
              <a:buNone/>
            </a:pPr>
            <a:r>
              <a:rPr lang="ar-SA" altLang="en-US" sz="1700" b="1" dirty="0">
                <a:solidFill>
                  <a:srgbClr val="1F2A37"/>
                </a:solidFill>
                <a:latin typeface="Amiri" pitchFamily="2" charset="-78"/>
                <a:cs typeface="Amiri" pitchFamily="2" charset="-78"/>
              </a:rPr>
              <a:t>أَـ</a:t>
            </a:r>
            <a:pPr algn="l" indent="0" marL="0">
              <a:buNone/>
            </a:pPr>
            <a:r>
              <a:rPr lang="en-US" sz="1300" b="1" dirty="0">
                <a:solidFill>
                  <a:srgbClr val="1F2A37"/>
                </a:solidFill>
                <a:latin typeface="Calibri" pitchFamily="34" charset="0"/>
                <a:cs typeface="Amiri" pitchFamily="2" charset="-78"/>
              </a:rPr>
              <a:t> I · </a:t>
            </a:r>
            <a:pPr algn="l" indent="0" marL="0">
              <a:buNone/>
            </a:pPr>
            <a:r>
              <a:rPr lang="ar-SA" altLang="en-US" sz="1700" b="1" dirty="0">
                <a:solidFill>
                  <a:srgbClr val="1F2A37"/>
                </a:solidFill>
                <a:latin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he · </a:t>
            </a:r>
            <a:pPr algn="l" indent="0" marL="0">
              <a:buNone/>
            </a:pPr>
            <a:r>
              <a:rPr lang="ar-SA" altLang="en-US" sz="1700" b="1" dirty="0">
                <a:solidFill>
                  <a:srgbClr val="1F2A37"/>
                </a:solidFill>
                <a:latin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she · </a:t>
            </a:r>
            <a:pPr algn="l" indent="0" marL="0">
              <a:buNone/>
            </a:pPr>
            <a:r>
              <a:rPr lang="ar-SA" altLang="en-US" sz="1700" b="1" dirty="0">
                <a:solidFill>
                  <a:srgbClr val="1F2A37"/>
                </a:solidFill>
                <a:latin typeface="Amiri" pitchFamily="2" charset="-78"/>
                <a:cs typeface="Amiri" pitchFamily="2" charset="-78"/>
              </a:rPr>
              <a:t>نَـ</a:t>
            </a:r>
            <a:pPr algn="l" indent="0" marL="0">
              <a:buNone/>
            </a:pPr>
            <a:r>
              <a:rPr lang="en-US" sz="1300" b="1" dirty="0">
                <a:solidFill>
                  <a:srgbClr val="1F2A37"/>
                </a:solidFill>
                <a:latin typeface="Calibri" pitchFamily="34" charset="0"/>
                <a:cs typeface="Amiri" pitchFamily="2" charset="-78"/>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أَ</a:t>
            </a:r>
            <a:pPr rtl="1" algn="ctr" indent="0" marL="0">
              <a:lnSpc>
                <a:spcPct val="120000"/>
              </a:lnSpc>
              <a:buNone/>
            </a:pPr>
            <a:r>
              <a:rPr lang="ar-SA" altLang="en-US" sz="1950" b="1" dirty="0">
                <a:solidFill>
                  <a:srgbClr val="1B3B6F"/>
                </a:solidFill>
                <a:latin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cs typeface="Amiri" pitchFamily="2" charset="-78"/>
              </a:rPr>
              <a:t>يَ</a:t>
            </a:r>
            <a:pPr rtl="1" algn="ctr" indent="0" marL="0">
              <a:lnSpc>
                <a:spcPct val="120000"/>
              </a:lnSpc>
              <a:buNone/>
            </a:pPr>
            <a:r>
              <a:rPr lang="ar-SA" altLang="en-US" sz="1950" b="1" dirty="0">
                <a:solidFill>
                  <a:srgbClr val="1B3B6F"/>
                </a:solidFill>
                <a:latin typeface="Amiri" pitchFamily="2" charset="-78"/>
                <a:cs typeface="Amiri" pitchFamily="2" charset="-78"/>
              </a:rPr>
              <a:t>سْتَيْقِظُ · </a:t>
            </a:r>
            <a:pPr rtl="1" algn="ctr" indent="0" marL="0">
              <a:lnSpc>
                <a:spcPct val="120000"/>
              </a:lnSpc>
              <a:buNone/>
            </a:pPr>
            <a:r>
              <a:rPr lang="ar-SA" altLang="en-US" sz="1950" b="1" dirty="0">
                <a:solidFill>
                  <a:srgbClr val="D6336C"/>
                </a:solidFill>
                <a:latin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cs typeface="Amiri" pitchFamily="2" charset="-78"/>
              </a:rPr>
              <a:t>نَ</a:t>
            </a:r>
            <a:pPr rtl="1" algn="ctr" indent="0" marL="0">
              <a:lnSpc>
                <a:spcPct val="120000"/>
              </a:lnSpc>
              <a:buNone/>
            </a:pPr>
            <a:r>
              <a:rPr lang="ar-SA" altLang="en-US" sz="1950" b="1" dirty="0">
                <a:solidFill>
                  <a:srgbClr val="1B3B6F"/>
                </a:solidFill>
                <a:latin typeface="Amiri" pitchFamily="2" charset="-78"/>
                <a:cs typeface="Amiri" pitchFamily="2" charset="-78"/>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them with </a:t>
            </a:r>
            <a:pPr algn="l" indent="0" marL="0">
              <a:buNone/>
            </a:pPr>
            <a:r>
              <a:rPr lang="ar-SA" altLang="en-US" sz="1700" b="1" dirty="0">
                <a:solidFill>
                  <a:srgbClr val="2E8B57"/>
                </a:solidFill>
                <a:latin typeface="Amiri" pitchFamily="2" charset="-78"/>
                <a:cs typeface="Amiri" pitchFamily="2" charset="-78"/>
              </a:rPr>
              <a:t>أَوَّلًا</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cs typeface="Amiri" pitchFamily="2" charset="-78"/>
              </a:rPr>
              <a:t>ثُمَّ</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keep derived patterns whole (</a:t>
            </a:r>
            <a:pPr algn="l" indent="0" marL="0">
              <a:buNone/>
            </a:pPr>
            <a:r>
              <a:rPr lang="ar-SA" altLang="en-US" sz="1700" b="1" dirty="0">
                <a:solidFill>
                  <a:srgbClr val="B83227"/>
                </a:solidFill>
                <a:latin typeface="Amiri" pitchFamily="2" charset="-78"/>
                <a:cs typeface="Amiri" pitchFamily="2" charset="-78"/>
              </a:rPr>
              <a:t>أَسْتَيْقِظُ</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cs typeface="Amiri" pitchFamily="2" charset="-78"/>
              </a:rPr>
              <a:t>أَتَنَاوَلُ</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‎غسل‎ </a:t>
            </a:r>
            <a:pPr indent="0" marL="0">
              <a:buNone/>
            </a:pPr>
            <a:r>
              <a:rPr lang="en-US" sz="950" b="1" dirty="0">
                <a:solidFill>
                  <a:srgbClr val="2E8B57"/>
                </a:solidFill>
                <a:latin typeface="Calibri" pitchFamily="34" charset="0"/>
                <a:cs typeface="Amiri" pitchFamily="2" charset="-78"/>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‎وضو‎ </a:t>
            </a:r>
            <a:pPr indent="0" marL="0">
              <a:buNone/>
            </a:pPr>
            <a:r>
              <a:rPr lang="en-US" sz="950" b="1" dirty="0">
                <a:solidFill>
                  <a:srgbClr val="2E8B57"/>
                </a:solidFill>
                <a:latin typeface="Calibri" pitchFamily="34" charset="0"/>
                <a:cs typeface="Amiri" pitchFamily="2" charset="-78"/>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‎مستعد‎ </a:t>
            </a:r>
            <a:pPr indent="0" marL="0">
              <a:buNone/>
            </a:pPr>
            <a:r>
              <a:rPr lang="en-US" sz="950" b="1" dirty="0">
                <a:solidFill>
                  <a:srgbClr val="2E8B57"/>
                </a:solidFill>
                <a:latin typeface="Calibri" pitchFamily="34" charset="0"/>
                <a:cs typeface="Amiri" pitchFamily="2" charset="-78"/>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 / become awake</a:t>
            </a:r>
            <a:endParaRPr lang="en-US" sz="1350" dirty="0"/>
          </a:p>
          <a:p>
            <a:pPr indent="0" marL="0">
              <a:buNone/>
            </a:pPr>
            <a:r>
              <a:rPr lang="en-US" sz="1100" i="1" dirty="0">
                <a:solidFill>
                  <a:srgbClr val="5A6472"/>
                </a:solidFill>
                <a:latin typeface="Calibri" pitchFamily="34" charset="0"/>
                <a:cs typeface="Amiri" pitchFamily="2" charset="-78"/>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shower / wash myself</a:t>
            </a:r>
            <a:endParaRPr lang="en-US" sz="1350" dirty="0"/>
          </a:p>
          <a:p>
            <a:pPr indent="0" marL="0">
              <a:buNone/>
            </a:pPr>
            <a:r>
              <a:rPr lang="en-US" sz="1100" i="1" dirty="0">
                <a:solidFill>
                  <a:srgbClr val="5A6472"/>
                </a:solidFill>
                <a:latin typeface="Calibri" pitchFamily="34" charset="0"/>
                <a:cs typeface="Amiri" pitchFamily="2" charset="-78"/>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perform wudu</a:t>
            </a:r>
            <a:endParaRPr lang="en-US" sz="1350" dirty="0"/>
          </a:p>
          <a:p>
            <a:pPr indent="0" marL="0">
              <a:buNone/>
            </a:pPr>
            <a:r>
              <a:rPr lang="en-US" sz="1100" i="1" dirty="0">
                <a:solidFill>
                  <a:srgbClr val="5A6472"/>
                </a:solidFill>
                <a:latin typeface="Calibri" pitchFamily="34" charset="0"/>
                <a:cs typeface="Amiri" pitchFamily="2" charset="-78"/>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dressed</a:t>
            </a:r>
            <a:endParaRPr lang="en-US" sz="1350" dirty="0"/>
          </a:p>
          <a:p>
            <a:pPr indent="0" marL="0">
              <a:buNone/>
            </a:pPr>
            <a:r>
              <a:rPr lang="en-US" sz="1100" i="1" dirty="0">
                <a:solidFill>
                  <a:srgbClr val="5A6472"/>
                </a:solidFill>
                <a:latin typeface="Calibri" pitchFamily="34" charset="0"/>
                <a:cs typeface="Amiri" pitchFamily="2" charset="-78"/>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comb my hair</a:t>
            </a:r>
            <a:endParaRPr lang="en-US" sz="1350" dirty="0"/>
          </a:p>
          <a:p>
            <a:pPr indent="0" marL="0">
              <a:buNone/>
            </a:pPr>
            <a:r>
              <a:rPr lang="en-US" sz="1100" i="1" dirty="0">
                <a:solidFill>
                  <a:srgbClr val="5A6472"/>
                </a:solidFill>
                <a:latin typeface="Calibri" pitchFamily="34" charset="0"/>
                <a:cs typeface="Amiri" pitchFamily="2" charset="-78"/>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brush my teeth</a:t>
            </a:r>
            <a:endParaRPr lang="en-US" sz="1350" dirty="0"/>
          </a:p>
          <a:p>
            <a:pPr indent="0" marL="0">
              <a:buNone/>
            </a:pPr>
            <a:r>
              <a:rPr lang="en-US" sz="1100" i="1" dirty="0">
                <a:solidFill>
                  <a:srgbClr val="5A6472"/>
                </a:solidFill>
                <a:latin typeface="Calibri" pitchFamily="34" charset="0"/>
                <a:cs typeface="Amiri" pitchFamily="2" charset="-78"/>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ready</a:t>
            </a:r>
            <a:endParaRPr lang="en-US" sz="1350" dirty="0"/>
          </a:p>
          <a:p>
            <a:pPr indent="0" marL="0">
              <a:buNone/>
            </a:pPr>
            <a:r>
              <a:rPr lang="en-US" sz="1100" i="1" dirty="0">
                <a:solidFill>
                  <a:srgbClr val="5A6472"/>
                </a:solidFill>
                <a:latin typeface="Calibri" pitchFamily="34" charset="0"/>
                <a:cs typeface="Amiri" pitchFamily="2" charset="-78"/>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breakfast</a:t>
            </a:r>
            <a:endParaRPr lang="en-US" sz="1350" dirty="0"/>
          </a:p>
          <a:p>
            <a:pPr indent="0" marL="0">
              <a:buNone/>
            </a:pPr>
            <a:r>
              <a:rPr lang="en-US" sz="1100" i="1" dirty="0">
                <a:solidFill>
                  <a:srgbClr val="5A6472"/>
                </a:solidFill>
                <a:latin typeface="Calibri" pitchFamily="34" charset="0"/>
                <a:cs typeface="Amiri" pitchFamily="2" charset="-78"/>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leave the house</a:t>
            </a:r>
            <a:endParaRPr lang="en-US" sz="1350" dirty="0"/>
          </a:p>
          <a:p>
            <a:pPr indent="0" marL="0">
              <a:buNone/>
            </a:pPr>
            <a:r>
              <a:rPr lang="en-US" sz="1100" i="1" dirty="0">
                <a:solidFill>
                  <a:srgbClr val="5A6472"/>
                </a:solidFill>
                <a:latin typeface="Calibri" pitchFamily="34" charset="0"/>
                <a:cs typeface="Amiri" pitchFamily="2" charset="-78"/>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the bus</a:t>
            </a:r>
            <a:endParaRPr lang="en-US" sz="1350" dirty="0"/>
          </a:p>
          <a:p>
            <a:pPr indent="0" marL="0">
              <a:buNone/>
            </a:pPr>
            <a:r>
              <a:rPr lang="en-US" sz="1100" i="1" dirty="0">
                <a:solidFill>
                  <a:srgbClr val="5A6472"/>
                </a:solidFill>
                <a:latin typeface="Calibri" pitchFamily="34" charset="0"/>
                <a:cs typeface="Amiri" pitchFamily="2" charset="-78"/>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 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alarm clock</a:t>
            </a:r>
            <a:endParaRPr lang="en-US" sz="1350" dirty="0"/>
          </a:p>
          <a:p>
            <a:pPr indent="0" marL="0">
              <a:buNone/>
            </a:pPr>
            <a:r>
              <a:rPr lang="en-US" sz="1100" i="1" dirty="0">
                <a:solidFill>
                  <a:srgbClr val="5A6472"/>
                </a:solidFill>
                <a:latin typeface="Calibri" pitchFamily="34" charset="0"/>
                <a:cs typeface="Amiri" pitchFamily="2" charset="-78"/>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haste</a:t>
            </a:r>
            <a:endParaRPr lang="en-US" sz="1350" dirty="0"/>
          </a:p>
          <a:p>
            <a:pPr indent="0" marL="0">
              <a:buNone/>
            </a:pPr>
            <a:r>
              <a:rPr lang="en-US" sz="1100" i="1" dirty="0">
                <a:solidFill>
                  <a:srgbClr val="5A6472"/>
                </a:solidFill>
                <a:latin typeface="Calibri" pitchFamily="34" charset="0"/>
                <a:cs typeface="Amiri" pitchFamily="2" charset="-78"/>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energetic</a:t>
            </a:r>
            <a:endParaRPr lang="en-US" sz="1350" dirty="0"/>
          </a:p>
          <a:p>
            <a:pPr indent="0" marL="0">
              <a:buNone/>
            </a:pPr>
            <a:r>
              <a:rPr lang="en-US" sz="1100" i="1" dirty="0">
                <a:solidFill>
                  <a:srgbClr val="5A6472"/>
                </a:solidFill>
                <a:latin typeface="Calibri" pitchFamily="34" charset="0"/>
                <a:cs typeface="Amiri" pitchFamily="2" charset="-78"/>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sleepy</a:t>
            </a:r>
            <a:endParaRPr lang="en-US" sz="1350" dirty="0"/>
          </a:p>
          <a:p>
            <a:pPr indent="0" marL="0">
              <a:buNone/>
            </a:pPr>
            <a:r>
              <a:rPr lang="en-US" sz="1100" i="1" dirty="0">
                <a:solidFill>
                  <a:srgbClr val="5A6472"/>
                </a:solidFill>
                <a:latin typeface="Calibri" pitchFamily="34" charset="0"/>
                <a:cs typeface="Amiri" pitchFamily="2" charset="-78"/>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a:t>
            </a:r>
            <a:endParaRPr lang="en-US" sz="1350" dirty="0"/>
          </a:p>
          <a:p>
            <a:pPr indent="0" marL="0">
              <a:buNone/>
            </a:pPr>
            <a:r>
              <a:rPr lang="en-US" sz="1100" i="1" dirty="0">
                <a:solidFill>
                  <a:srgbClr val="5A6472"/>
                </a:solidFill>
                <a:latin typeface="Calibri" pitchFamily="34" charset="0"/>
                <a:cs typeface="Amiri" pitchFamily="2" charset="-78"/>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a:t>
            </a:r>
            <a:endParaRPr lang="en-US" sz="1350" dirty="0"/>
          </a:p>
          <a:p>
            <a:pPr indent="0" marL="0">
              <a:buNone/>
            </a:pPr>
            <a:r>
              <a:rPr lang="en-US" sz="1100" i="1" dirty="0">
                <a:solidFill>
                  <a:srgbClr val="5A6472"/>
                </a:solidFill>
                <a:latin typeface="Calibri" pitchFamily="34" charset="0"/>
                <a:cs typeface="Amiri" pitchFamily="2" charset="-78"/>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a:t>
            </a:r>
            <a:pPr algn="ctr" indent="0" marL="0">
              <a:buNone/>
            </a:pPr>
            <a:r>
              <a:rPr lang="ar-SA" altLang="en-US" sz="1450" b="1" dirty="0">
                <a:solidFill>
                  <a:srgbClr val="FFFFFF"/>
                </a:solidFill>
                <a:latin typeface="Amiri" pitchFamily="2" charset="-78"/>
                <a:cs typeface="Amiri" pitchFamily="2" charset="-78"/>
              </a:rPr>
              <a:t>أَنَا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a:t>
            </a:r>
            <a:pPr algn="ctr" indent="0" marL="0">
              <a:buNone/>
            </a:pPr>
            <a:r>
              <a:rPr lang="ar-SA" altLang="en-US" sz="1450" b="1" dirty="0">
                <a:solidFill>
                  <a:srgbClr val="FFFFFF"/>
                </a:solidFill>
                <a:latin typeface="Amiri" pitchFamily="2" charset="-78"/>
                <a:cs typeface="Amiri" pitchFamily="2" charset="-78"/>
              </a:rPr>
              <a:t>هُوَ</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a:t>
            </a:r>
            <a:pPr algn="ctr" indent="0" marL="0">
              <a:buNone/>
            </a:pPr>
            <a:r>
              <a:rPr lang="ar-SA" altLang="en-US" sz="1450" b="1" dirty="0">
                <a:solidFill>
                  <a:srgbClr val="FFFFFF"/>
                </a:solidFill>
                <a:latin typeface="Amiri" pitchFamily="2" charset="-78"/>
                <a:cs typeface="Amiri" pitchFamily="2" charset="-78"/>
              </a:rPr>
              <a:t>هِيَ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a:t>
            </a:r>
            <a:pPr algn="ctr" indent="0" marL="0">
              <a:buNone/>
            </a:pPr>
            <a:r>
              <a:rPr lang="ar-SA" altLang="en-US" sz="1450" b="1" dirty="0">
                <a:solidFill>
                  <a:srgbClr val="FFFFFF"/>
                </a:solidFill>
                <a:latin typeface="Amiri" pitchFamily="2" charset="-78"/>
                <a:cs typeface="Amiri" pitchFamily="2" charset="-78"/>
              </a:rPr>
              <a:t>نَحْنُ</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a:t>
            </a:r>
            <a:pPr rtl="1" algn="ctr" indent="0" marL="0">
              <a:buNone/>
            </a:pPr>
            <a:r>
              <a:rPr lang="ar-SA" altLang="en-US" sz="2000" b="1" dirty="0">
                <a:solidFill>
                  <a:srgbClr val="1B3B6F"/>
                </a:solidFill>
                <a:latin typeface="Amiri" pitchFamily="2" charset="-78"/>
                <a:cs typeface="Amiri" pitchFamily="2" charset="-78"/>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a:t>
            </a:r>
            <a:pPr rtl="1" algn="ctr" indent="0" marL="0">
              <a:buNone/>
            </a:pPr>
            <a:r>
              <a:rPr lang="ar-SA" altLang="en-US" sz="2000" b="1" dirty="0">
                <a:solidFill>
                  <a:srgbClr val="1B3B6F"/>
                </a:solidFill>
                <a:latin typeface="Amiri" pitchFamily="2" charset="-78"/>
                <a:cs typeface="Amiri" pitchFamily="2" charset="-78"/>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a:t>
            </a:r>
            <a:pPr rtl="1" algn="ctr" indent="0" marL="0">
              <a:buNone/>
            </a:pPr>
            <a:r>
              <a:rPr lang="ar-SA" altLang="en-US" sz="2000" b="1" dirty="0">
                <a:solidFill>
                  <a:srgbClr val="1B3B6F"/>
                </a:solidFill>
                <a:latin typeface="Amiri" pitchFamily="2" charset="-78"/>
                <a:cs typeface="Amiri" pitchFamily="2" charset="-78"/>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نَ</a:t>
            </a:r>
            <a:pPr rtl="1" algn="ctr" indent="0" marL="0">
              <a:buNone/>
            </a:pPr>
            <a:r>
              <a:rPr lang="ar-SA" altLang="en-US" sz="2000" b="1" dirty="0">
                <a:solidFill>
                  <a:srgbClr val="1B3B6F"/>
                </a:solidFill>
                <a:latin typeface="Amiri" pitchFamily="2" charset="-78"/>
                <a:cs typeface="Amiri" pitchFamily="2" charset="-78"/>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a:t>
            </a:r>
            <a:pPr rtl="1" algn="ctr" indent="0" marL="0">
              <a:buNone/>
            </a:pPr>
            <a:r>
              <a:rPr lang="ar-SA" altLang="en-US" sz="2000" b="1" dirty="0">
                <a:solidFill>
                  <a:srgbClr val="1B3B6F"/>
                </a:solidFill>
                <a:latin typeface="Amiri" pitchFamily="2" charset="-78"/>
                <a:cs typeface="Amiri" pitchFamily="2" charset="-78"/>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a:t>
            </a:r>
            <a:pPr rtl="1" algn="ctr" indent="0" marL="0">
              <a:buNone/>
            </a:pPr>
            <a:r>
              <a:rPr lang="ar-SA" altLang="en-US" sz="2000" b="1" dirty="0">
                <a:solidFill>
                  <a:srgbClr val="1B3B6F"/>
                </a:solidFill>
                <a:latin typeface="Amiri" pitchFamily="2" charset="-78"/>
                <a:cs typeface="Amiri" pitchFamily="2" charset="-78"/>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a:t>
            </a:r>
            <a:pPr rtl="1" algn="ctr" indent="0" marL="0">
              <a:buNone/>
            </a:pPr>
            <a:r>
              <a:rPr lang="ar-SA" altLang="en-US" sz="2000" b="1" dirty="0">
                <a:solidFill>
                  <a:srgbClr val="1B3B6F"/>
                </a:solidFill>
                <a:latin typeface="Amiri" pitchFamily="2" charset="-78"/>
                <a:cs typeface="Amiri" pitchFamily="2" charset="-78"/>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نَ</a:t>
            </a:r>
            <a:pPr rtl="1" algn="ctr" indent="0" marL="0">
              <a:buNone/>
            </a:pPr>
            <a:r>
              <a:rPr lang="ar-SA" altLang="en-US" sz="2000" b="1" dirty="0">
                <a:solidFill>
                  <a:srgbClr val="1B3B6F"/>
                </a:solidFill>
                <a:latin typeface="Amiri" pitchFamily="2" charset="-78"/>
                <a:cs typeface="Amiri" pitchFamily="2" charset="-78"/>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a:t>
            </a:r>
            <a:pPr rtl="1" algn="ctr" indent="0" marL="0">
              <a:buNone/>
            </a:pPr>
            <a:r>
              <a:rPr lang="ar-SA" altLang="en-US" sz="2000" b="1" dirty="0">
                <a:solidFill>
                  <a:srgbClr val="1B3B6F"/>
                </a:solidFill>
                <a:latin typeface="Amiri" pitchFamily="2" charset="-78"/>
                <a:cs typeface="Amiri" pitchFamily="2" charset="-78"/>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a:t>
            </a:r>
            <a:pPr rtl="1" algn="ctr" indent="0" marL="0">
              <a:buNone/>
            </a:pPr>
            <a:r>
              <a:rPr lang="ar-SA" altLang="en-US" sz="2000" b="1" dirty="0">
                <a:solidFill>
                  <a:srgbClr val="1B3B6F"/>
                </a:solidFill>
                <a:latin typeface="Amiri" pitchFamily="2" charset="-78"/>
                <a:cs typeface="Amiri" pitchFamily="2" charset="-78"/>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a:t>
            </a:r>
            <a:pPr rtl="1" algn="ctr" indent="0" marL="0">
              <a:buNone/>
            </a:pPr>
            <a:r>
              <a:rPr lang="ar-SA" altLang="en-US" sz="2000" b="1" dirty="0">
                <a:solidFill>
                  <a:srgbClr val="1B3B6F"/>
                </a:solidFill>
                <a:latin typeface="Amiri" pitchFamily="2" charset="-78"/>
                <a:cs typeface="Amiri" pitchFamily="2" charset="-78"/>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نَ</a:t>
            </a:r>
            <a:pPr rtl="1" algn="ctr" indent="0" marL="0">
              <a:buNone/>
            </a:pPr>
            <a:r>
              <a:rPr lang="ar-SA" altLang="en-US" sz="2000" b="1" dirty="0">
                <a:solidFill>
                  <a:srgbClr val="1B3B6F"/>
                </a:solidFill>
                <a:latin typeface="Amiri" pitchFamily="2" charset="-78"/>
                <a:cs typeface="Amiri" pitchFamily="2" charset="-78"/>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a:t>
            </a:r>
            <a:pPr rtl="1" algn="ctr" indent="0" marL="0">
              <a:buNone/>
            </a:pPr>
            <a:r>
              <a:rPr lang="ar-SA" altLang="en-US" sz="2000" b="1" dirty="0">
                <a:solidFill>
                  <a:srgbClr val="1B3B6F"/>
                </a:solidFill>
                <a:latin typeface="Amiri" pitchFamily="2" charset="-78"/>
                <a:cs typeface="Amiri" pitchFamily="2" charset="-78"/>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a:t>
            </a:r>
            <a:pPr rtl="1" algn="ctr" indent="0" marL="0">
              <a:buNone/>
            </a:pPr>
            <a:r>
              <a:rPr lang="ar-SA" altLang="en-US" sz="2000" b="1" dirty="0">
                <a:solidFill>
                  <a:srgbClr val="1B3B6F"/>
                </a:solidFill>
                <a:latin typeface="Amiri" pitchFamily="2" charset="-78"/>
                <a:cs typeface="Amiri" pitchFamily="2" charset="-78"/>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a:t>
            </a:r>
            <a:pPr rtl="1" algn="ctr" indent="0" marL="0">
              <a:buNone/>
            </a:pPr>
            <a:r>
              <a:rPr lang="ar-SA" altLang="en-US" sz="2000" b="1" dirty="0">
                <a:solidFill>
                  <a:srgbClr val="1B3B6F"/>
                </a:solidFill>
                <a:latin typeface="Amiri" pitchFamily="2" charset="-78"/>
                <a:cs typeface="Amiri" pitchFamily="2" charset="-78"/>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نَ</a:t>
            </a:r>
            <a:pPr rtl="1" algn="ctr" indent="0" marL="0">
              <a:buNone/>
            </a:pPr>
            <a:r>
              <a:rPr lang="ar-SA" altLang="en-US" sz="2000" b="1" dirty="0">
                <a:solidFill>
                  <a:srgbClr val="1B3B6F"/>
                </a:solidFill>
                <a:latin typeface="Amiri" pitchFamily="2" charset="-78"/>
                <a:cs typeface="Amiri" pitchFamily="2" charset="-78"/>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a:t>
            </a:r>
            <a:pPr rtl="1" algn="ctr" indent="0" marL="0">
              <a:buNone/>
            </a:pPr>
            <a:r>
              <a:rPr lang="ar-SA" altLang="en-US" sz="2000" b="1" dirty="0">
                <a:solidFill>
                  <a:srgbClr val="1B3B6F"/>
                </a:solidFill>
                <a:latin typeface="Amiri" pitchFamily="2" charset="-78"/>
                <a:cs typeface="Amiri" pitchFamily="2" charset="-78"/>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a:t>
            </a:r>
            <a:pPr rtl="1" algn="ctr" indent="0" marL="0">
              <a:buNone/>
            </a:pPr>
            <a:r>
              <a:rPr lang="ar-SA" altLang="en-US" sz="2000" b="1" dirty="0">
                <a:solidFill>
                  <a:srgbClr val="1B3B6F"/>
                </a:solidFill>
                <a:latin typeface="Amiri" pitchFamily="2" charset="-78"/>
                <a:cs typeface="Amiri" pitchFamily="2" charset="-78"/>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a:t>
            </a:r>
            <a:pPr rtl="1" algn="ctr" indent="0" marL="0">
              <a:buNone/>
            </a:pPr>
            <a:r>
              <a:rPr lang="ar-SA" altLang="en-US" sz="2000" b="1" dirty="0">
                <a:solidFill>
                  <a:srgbClr val="1B3B6F"/>
                </a:solidFill>
                <a:latin typeface="Amiri" pitchFamily="2" charset="-78"/>
                <a:cs typeface="Amiri" pitchFamily="2" charset="-78"/>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نَ</a:t>
            </a:r>
            <a:pPr rtl="1" algn="ctr" indent="0" marL="0">
              <a:buNone/>
            </a:pPr>
            <a:r>
              <a:rPr lang="ar-SA" altLang="en-US" sz="2000" b="1" dirty="0">
                <a:solidFill>
                  <a:srgbClr val="1B3B6F"/>
                </a:solidFill>
                <a:latin typeface="Amiri" pitchFamily="2" charset="-78"/>
                <a:cs typeface="Amiri" pitchFamily="2" charset="-78"/>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long ā (</a:t>
            </a:r>
            <a:pPr algn="l" indent="0" marL="0">
              <a:buNone/>
            </a:pPr>
            <a:r>
              <a:rPr lang="ar-SA" altLang="en-US" sz="1450" dirty="0">
                <a:solidFill>
                  <a:srgbClr val="5A6472"/>
                </a:solidFill>
                <a:latin typeface="Amiri" pitchFamily="2" charset="-78"/>
                <a:cs typeface="Amiri" pitchFamily="2" charset="-78"/>
              </a:rPr>
              <a:t>ـَا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cs typeface="Amiri" pitchFamily="2" charset="-78"/>
              </a:rPr>
              <a:t>سْتَ</a:t>
            </a:r>
            <a:pPr algn="l" indent="0" marL="0">
              <a:buNone/>
            </a:pPr>
            <a:r>
              <a:rPr lang="en-US" sz="1100" dirty="0">
                <a:solidFill>
                  <a:srgbClr val="5A6472"/>
                </a:solidFill>
                <a:latin typeface="Calibri" pitchFamily="34" charset="0"/>
                <a:cs typeface="Amiri" pitchFamily="2" charset="-78"/>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Frequency words (</a:t>
            </a:r>
            <a:pPr algn="l" indent="0" marL="0">
              <a:buNone/>
            </a:pPr>
            <a:r>
              <a:rPr lang="ar-SA" altLang="en-US" sz="1550" b="1" dirty="0">
                <a:solidFill>
                  <a:srgbClr val="8A6D1E"/>
                </a:solidFill>
                <a:latin typeface="Amiri" pitchFamily="2" charset="-78"/>
                <a:cs typeface="Amiri" pitchFamily="2" charset="-78"/>
              </a:rPr>
              <a:t>عَادَةً، دَائِمًا، أَحْيَانًا</a:t>
            </a:r>
            <a:pPr algn="l" indent="0" marL="0">
              <a:buNone/>
            </a:pPr>
            <a:r>
              <a:rPr lang="en-US" sz="1200" b="1" dirty="0">
                <a:solidFill>
                  <a:srgbClr val="8A6D1E"/>
                </a:solidFill>
                <a:latin typeface="Calibri" pitchFamily="34" charset="0"/>
                <a:cs typeface="Amiri" pitchFamily="2" charset="-78"/>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2" charset="-78"/>
                <a:cs typeface="Amiri" pitchFamily="2" charset="-78"/>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cs typeface="Amiri" pitchFamily="2" charset="-78"/>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the prefix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uses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أَوَّلًا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a:t>
            </a:r>
            <a:pPr algn="l" indent="0" marL="0">
              <a:buNone/>
            </a:pPr>
            <a:r>
              <a:rPr lang="ar-SA" altLang="en-US" sz="1500" dirty="0">
                <a:solidFill>
                  <a:srgbClr val="1F2A37"/>
                </a:solidFill>
                <a:latin typeface="Amiri" pitchFamily="2" charset="-78"/>
                <a:cs typeface="Amiri" pitchFamily="2" charset="-78"/>
              </a:rPr>
              <a:t>أَـ</a:t>
            </a:r>
            <a:pPr algn="l" indent="0" marL="0">
              <a:buNone/>
            </a:pPr>
            <a:r>
              <a:rPr lang="en-US" sz="1150" dirty="0">
                <a:solidFill>
                  <a:srgbClr val="1F2A37"/>
                </a:solidFill>
                <a:latin typeface="Calibri" pitchFamily="34" charset="0"/>
                <a:cs typeface="Amiri" pitchFamily="2" charset="-78"/>
              </a:rPr>
              <a:t>. Keep </a:t>
            </a:r>
            <a:pPr algn="l" indent="0" marL="0">
              <a:buNone/>
            </a:pPr>
            <a:r>
              <a:rPr lang="ar-SA" altLang="en-US" sz="1500" dirty="0">
                <a:solidFill>
                  <a:srgbClr val="1F2A37"/>
                </a:solidFill>
                <a:latin typeface="Amiri" pitchFamily="2" charset="-78"/>
                <a:cs typeface="Amiri" pitchFamily="2" charset="-78"/>
              </a:rPr>
              <a:t>سْتَ</a:t>
            </a:r>
            <a:pPr algn="l" indent="0" marL="0">
              <a:buNone/>
            </a:pPr>
            <a:r>
              <a:rPr lang="en-US" sz="1150" dirty="0">
                <a:solidFill>
                  <a:srgbClr val="1F2A37"/>
                </a:solidFill>
                <a:latin typeface="Calibri" pitchFamily="34" charset="0"/>
                <a:cs typeface="Amiri" pitchFamily="2" charset="-78"/>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ثُمَّ</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غْتَسِلُ وَ</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actions joined with </a:t>
            </a:r>
            <a:pPr algn="l" indent="0" marL="0">
              <a:buNone/>
            </a:pPr>
            <a:r>
              <a:rPr lang="ar-SA" altLang="en-US" sz="1500" dirty="0">
                <a:solidFill>
                  <a:srgbClr val="1F2A37"/>
                </a:solidFill>
                <a:latin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أُخْتِي </a:t>
            </a:r>
            <a:pPr rtl="1" algn="ctr" indent="0" marL="0">
              <a:lnSpc>
                <a:spcPct val="120000"/>
              </a:lnSpc>
              <a:buNone/>
            </a:pPr>
            <a:r>
              <a:rPr lang="ar-SA" altLang="en-US" sz="1900" b="1" dirty="0">
                <a:solidFill>
                  <a:srgbClr val="D6336C"/>
                </a:solidFill>
                <a:latin typeface="Amiri" pitchFamily="2" charset="-78"/>
                <a:cs typeface="Amiri" pitchFamily="2" charset="-78"/>
              </a:rPr>
              <a:t>تَ</a:t>
            </a:r>
            <a:pPr rtl="1" algn="ctr" indent="0" marL="0">
              <a:lnSpc>
                <a:spcPct val="120000"/>
              </a:lnSpc>
              <a:buNone/>
            </a:pPr>
            <a:r>
              <a:rPr lang="ar-SA" altLang="en-US" sz="1900" b="1" dirty="0">
                <a:solidFill>
                  <a:srgbClr val="1B3B6F"/>
                </a:solidFill>
                <a:latin typeface="Amiri" pitchFamily="2" charset="-78"/>
                <a:cs typeface="Amiri" pitchFamily="2" charset="-78"/>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sister → she → </a:t>
            </a:r>
            <a:pPr algn="l" indent="0" marL="0">
              <a:buNone/>
            </a:pPr>
            <a:r>
              <a:rPr lang="ar-SA" altLang="en-US" sz="1500" dirty="0">
                <a:solidFill>
                  <a:srgbClr val="1F2A37"/>
                </a:solidFill>
                <a:latin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cs typeface="Amiri" pitchFamily="2" charset="-78"/>
              </a:rPr>
              <a:t>أَ</a:t>
            </a:r>
            <a:pPr rtl="1" algn="ctr" indent="0" marL="0">
              <a:lnSpc>
                <a:spcPct val="120000"/>
              </a:lnSpc>
              <a:buNone/>
            </a:pPr>
            <a:r>
              <a:rPr lang="ar-SA" altLang="en-US" sz="1750" b="1" dirty="0">
                <a:solidFill>
                  <a:srgbClr val="1B3B6F"/>
                </a:solidFill>
                <a:latin typeface="Amiri" pitchFamily="2" charset="-78"/>
                <a:cs typeface="Amiri" pitchFamily="2" charset="-78"/>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cs typeface="Amiri" pitchFamily="2" charset="-78"/>
              </a:rPr>
              <a:t>أَوَّلًا</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cs typeface="Amiri" pitchFamily="2" charset="-78"/>
              </a:rPr>
              <a:t>أَ</a:t>
            </a:r>
            <a:pPr rtl="1" algn="r" indent="0" marL="0">
              <a:buNone/>
            </a:pPr>
            <a:r>
              <a:rPr lang="ar-SA" altLang="en-US" sz="1900" b="1" dirty="0">
                <a:solidFill>
                  <a:srgbClr val="1B3B6F"/>
                </a:solidFill>
                <a:latin typeface="Amiri" pitchFamily="2" charset="-78"/>
                <a:cs typeface="Amiri" pitchFamily="2" charset="-78"/>
              </a:rPr>
              <a:t>سْتَيْقِظُ فِي السَّادِسَةِ، </a:t>
            </a:r>
            <a:pPr rtl="1" algn="r" indent="0" marL="0">
              <a:buNone/>
            </a:pPr>
            <a:r>
              <a:rPr lang="ar-SA" altLang="en-US" sz="1900" b="1" dirty="0">
                <a:solidFill>
                  <a:srgbClr val="0E7C86"/>
                </a:solidFill>
                <a:latin typeface="Amiri" pitchFamily="2" charset="-78"/>
                <a:cs typeface="Amiri" pitchFamily="2" charset="-78"/>
              </a:rPr>
              <a:t>ثُمَّ</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cs typeface="Amiri" pitchFamily="2" charset="-78"/>
              </a:rPr>
              <a:t>أَ</a:t>
            </a:r>
            <a:pPr rtl="1" algn="r" indent="0" marL="0">
              <a:buNone/>
            </a:pPr>
            <a:r>
              <a:rPr lang="ar-SA" altLang="en-US" sz="1900" b="1" dirty="0">
                <a:solidFill>
                  <a:srgbClr val="1B3B6F"/>
                </a:solidFill>
                <a:latin typeface="Amiri" pitchFamily="2" charset="-78"/>
                <a:cs typeface="Amiri" pitchFamily="2" charset="-78"/>
              </a:rPr>
              <a:t>غْتَسِلُ وَ</a:t>
            </a:r>
            <a:pPr rtl="1" algn="r" indent="0" marL="0">
              <a:buNone/>
            </a:pPr>
            <a:r>
              <a:rPr lang="ar-SA" altLang="en-US" sz="1900" b="1" dirty="0">
                <a:solidFill>
                  <a:srgbClr val="1D5FBF"/>
                </a:solidFill>
                <a:latin typeface="Amiri" pitchFamily="2" charset="-78"/>
                <a:cs typeface="Amiri" pitchFamily="2" charset="-78"/>
              </a:rPr>
              <a:t>أَ</a:t>
            </a:r>
            <a:pPr rtl="1" algn="r" indent="0" marL="0">
              <a:buNone/>
            </a:pPr>
            <a:r>
              <a:rPr lang="ar-SA" altLang="en-US" sz="1900" b="1" dirty="0">
                <a:solidFill>
                  <a:srgbClr val="1B3B6F"/>
                </a:solidFill>
                <a:latin typeface="Amiri" pitchFamily="2" charset="-78"/>
                <a:cs typeface="Amiri" pitchFamily="2" charset="-78"/>
              </a:rPr>
              <a:t>رْتَدِي مَلَابِسِي. أُخْتِي </a:t>
            </a:r>
            <a:pPr rtl="1" algn="r" indent="0" marL="0">
              <a:buNone/>
            </a:pPr>
            <a:r>
              <a:rPr lang="ar-SA" altLang="en-US" sz="1900" b="1" dirty="0">
                <a:solidFill>
                  <a:srgbClr val="D6336C"/>
                </a:solidFill>
                <a:latin typeface="Amiri" pitchFamily="2" charset="-78"/>
                <a:cs typeface="Amiri" pitchFamily="2" charset="-78"/>
              </a:rPr>
              <a:t>تَ</a:t>
            </a:r>
            <a:pPr rtl="1" algn="r" indent="0" marL="0">
              <a:buNone/>
            </a:pPr>
            <a:r>
              <a:rPr lang="ar-SA" altLang="en-US" sz="1900" b="1" dirty="0">
                <a:solidFill>
                  <a:srgbClr val="1B3B6F"/>
                </a:solidFill>
                <a:latin typeface="Amiri" pitchFamily="2" charset="-78"/>
                <a:cs typeface="Amiri" pitchFamily="2" charset="-78"/>
              </a:rPr>
              <a:t>تَنَاوَلُ الإِفْطَارَ قَبْلِي. </a:t>
            </a:r>
            <a:pPr rtl="1" algn="r" indent="0" marL="0">
              <a:buNone/>
            </a:pPr>
            <a:r>
              <a:rPr lang="ar-SA" altLang="en-US" sz="1900" b="1" dirty="0">
                <a:solidFill>
                  <a:srgbClr val="0E7C86"/>
                </a:solidFill>
                <a:latin typeface="Amiri" pitchFamily="2" charset="-78"/>
                <a:cs typeface="Amiri" pitchFamily="2" charset="-78"/>
              </a:rPr>
              <a:t>عَادَةً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cs typeface="Amiri" pitchFamily="2" charset="-78"/>
              </a:rPr>
              <a:t>أَ</a:t>
            </a:r>
            <a:pPr rtl="1" algn="r" indent="0" marL="0">
              <a:buNone/>
            </a:pPr>
            <a:r>
              <a:rPr lang="ar-SA" altLang="en-US" sz="1900" b="1" dirty="0">
                <a:solidFill>
                  <a:srgbClr val="1B3B6F"/>
                </a:solidFill>
                <a:latin typeface="Amiri" pitchFamily="2" charset="-78"/>
                <a:cs typeface="Amiri" pitchFamily="2" charset="-78"/>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at half past six.</a:t>
            </a:r>
            <a:endParaRPr lang="en-US" sz="1250" dirty="0"/>
          </a:p>
          <a:p>
            <a:pPr indent="0" marL="0">
              <a:buNone/>
            </a:pPr>
            <a:r>
              <a:rPr lang="en-US" sz="1050" i="1" dirty="0">
                <a:solidFill>
                  <a:srgbClr val="8A6D1E"/>
                </a:solidFill>
                <a:latin typeface="Calibri" pitchFamily="34" charset="0"/>
                <a:cs typeface="Amiri" pitchFamily="2" charset="-78"/>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I perform wudu and get ready for school.</a:t>
            </a:r>
            <a:endParaRPr lang="en-US" sz="1250" dirty="0"/>
          </a:p>
          <a:p>
            <a:pPr indent="0" marL="0">
              <a:buNone/>
            </a:pPr>
            <a:r>
              <a:rPr lang="en-US" sz="1050" i="1" dirty="0">
                <a:solidFill>
                  <a:srgbClr val="8A6D1E"/>
                </a:solidFill>
                <a:latin typeface="Calibri" pitchFamily="34" charset="0"/>
                <a:cs typeface="Amiri" pitchFamily="2" charset="-78"/>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has breakfast before me.</a:t>
            </a:r>
            <a:endParaRPr lang="en-US" sz="1250" dirty="0"/>
          </a:p>
          <a:p>
            <a:pPr indent="0" marL="0">
              <a:buNone/>
            </a:pPr>
            <a:r>
              <a:rPr lang="en-US" sz="1050" i="1" dirty="0">
                <a:solidFill>
                  <a:srgbClr val="8A6D1E"/>
                </a:solidFill>
                <a:latin typeface="Calibri" pitchFamily="34" charset="0"/>
                <a:cs typeface="Amiri" pitchFamily="2" charset="-78"/>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rarely leave without breakfast.</a:t>
            </a:r>
            <a:endParaRPr lang="en-US" sz="1250" dirty="0"/>
          </a:p>
          <a:p>
            <a:pPr indent="0" marL="0">
              <a:buNone/>
            </a:pPr>
            <a:r>
              <a:rPr lang="en-US" sz="1050" i="1" dirty="0">
                <a:solidFill>
                  <a:srgbClr val="8A6D1E"/>
                </a:solidFill>
                <a:latin typeface="Calibri" pitchFamily="34" charset="0"/>
                <a:cs typeface="Amiri" pitchFamily="2" charset="-78"/>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and the doubled consonant: </a:t>
            </a:r>
            <a:pPr algn="l" indent="0" marL="0">
              <a:buNone/>
            </a:pPr>
            <a:r>
              <a:rPr lang="ar-SA" altLang="en-US" sz="1350" dirty="0">
                <a:solidFill>
                  <a:srgbClr val="8A6D1E"/>
                </a:solidFill>
                <a:latin typeface="Amiri" pitchFamily="2" charset="-78"/>
                <a:cs typeface="Amiri" pitchFamily="2" charset="-78"/>
              </a:rPr>
              <a:t>أَتَوَضَّأُ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third-person subject takes </a:t>
            </a:r>
            <a:pPr algn="l" indent="0" marL="0">
              <a:buNone/>
            </a:pPr>
            <a:r>
              <a:rPr lang="ar-SA" altLang="en-US" sz="1350" dirty="0">
                <a:solidFill>
                  <a:srgbClr val="8A6D1E"/>
                </a:solidFill>
                <a:latin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نَتَنَاوَلُ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هِيَ</a:t>
            </a:r>
            <a:pPr algn="l" indent="0" marL="0">
              <a:buNone/>
            </a:pPr>
            <a:r>
              <a:rPr lang="en-US" sz="1300" i="1" dirty="0">
                <a:solidFill>
                  <a:srgbClr val="5A6472"/>
                </a:solidFill>
                <a:latin typeface="Calibri" pitchFamily="34" charset="0"/>
                <a:cs typeface="Amiri" pitchFamily="2" charset="-78"/>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prefix is </a:t>
            </a:r>
            <a:pPr algn="l" indent="0" marL="0">
              <a:buNone/>
            </a:pPr>
            <a:r>
              <a:rPr lang="ar-SA" altLang="en-US" sz="1500" b="1" dirty="0">
                <a:solidFill>
                  <a:srgbClr val="1B3B6F"/>
                </a:solidFill>
                <a:latin typeface="Amiri" pitchFamily="2" charset="-78"/>
                <a:cs typeface="Amiri" pitchFamily="2" charset="-78"/>
              </a:rPr>
              <a:t>أَـ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third-person subject takes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morning verbs in the “I” form (</a:t>
            </a:r>
            <a:pPr algn="l" indent="0" marL="0">
              <a:buNone/>
            </a:pPr>
            <a:r>
              <a:rPr lang="ar-SA" altLang="en-US" sz="1700" dirty="0">
                <a:solidFill>
                  <a:srgbClr val="1F2A37"/>
                </a:solidFill>
                <a:latin typeface="Amiri" pitchFamily="2" charset="-78"/>
                <a:cs typeface="Amiri" pitchFamily="2" charset="-78"/>
              </a:rPr>
              <a:t>أَـ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ordered my routine with </a:t>
            </a:r>
            <a:pPr algn="l" indent="0" marL="0">
              <a:buNone/>
            </a:pPr>
            <a:r>
              <a:rPr lang="ar-SA" altLang="en-US" sz="1700" dirty="0">
                <a:solidFill>
                  <a:srgbClr val="1F2A37"/>
                </a:solidFill>
                <a:latin typeface="Amiri" pitchFamily="2" charset="-78"/>
                <a:cs typeface="Amiri" pitchFamily="2" charset="-78"/>
              </a:rPr>
              <a:t>أَوَّلًا / ثُمَّ / أَخِيرًا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changed the prefix for another person (</a:t>
            </a:r>
            <a:pPr algn="l" indent="0" marL="0">
              <a:buNone/>
            </a:pPr>
            <a:r>
              <a:rPr lang="ar-SA" altLang="en-US" sz="1700" dirty="0">
                <a:solidFill>
                  <a:srgbClr val="1F2A37"/>
                </a:solidFill>
                <a:latin typeface="Amiri" pitchFamily="2" charset="-78"/>
                <a:cs typeface="Amiri" pitchFamily="2" charset="-78"/>
              </a:rPr>
              <a:t>يَـ / تَـ / نَـ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every derived verb whole (</a:t>
            </a:r>
            <a:pPr algn="l" indent="0" marL="0">
              <a:buNone/>
            </a:pPr>
            <a:r>
              <a:rPr lang="ar-SA" altLang="en-US" sz="1700" dirty="0">
                <a:solidFill>
                  <a:srgbClr val="1F2A37"/>
                </a:solidFill>
                <a:latin typeface="Amiri" pitchFamily="2" charset="-78"/>
                <a:cs typeface="Amiri" pitchFamily="2" charset="-78"/>
              </a:rPr>
              <a:t>أَسْتَيْقِظُ</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أَسْتَعِدُّ</a:t>
            </a:r>
            <a:pPr algn="l" indent="0" marL="0">
              <a:buNone/>
            </a:pPr>
            <a:r>
              <a:rPr lang="en-US" sz="1050" i="1" dirty="0">
                <a:solidFill>
                  <a:srgbClr val="8A6D1E"/>
                </a:solidFill>
                <a:latin typeface="Calibri" pitchFamily="34" charset="0"/>
                <a:cs typeface="Amiri" pitchFamily="2" charset="-78"/>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 الآنَ</a:t>
            </a:r>
            <a:pPr algn="l" indent="0" marL="0">
              <a:buNone/>
            </a:pPr>
            <a:r>
              <a:rPr lang="en-US" sz="1050" i="1" dirty="0">
                <a:solidFill>
                  <a:srgbClr val="8A6D1E"/>
                </a:solidFill>
                <a:latin typeface="Calibri" pitchFamily="34" charset="0"/>
                <a:cs typeface="Amiri" pitchFamily="2" charset="-78"/>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is the first-person verb, and </a:t>
            </a:r>
            <a:pPr algn="l" indent="0" marL="0">
              <a:buNone/>
            </a:pPr>
            <a:r>
              <a:rPr lang="ar-SA" altLang="en-US" sz="1350" dirty="0">
                <a:solidFill>
                  <a:srgbClr val="8A6D1E"/>
                </a:solidFill>
                <a:latin typeface="Amiri" pitchFamily="2" charset="-78"/>
                <a:cs typeface="Amiri" pitchFamily="2" charset="-78"/>
              </a:rPr>
              <a:t>وَالنِّصْفُ</a:t>
            </a:r>
            <a:pPr algn="l" indent="0" marL="0">
              <a:buNone/>
            </a:pPr>
            <a:r>
              <a:rPr lang="en-US" sz="1050" i="1" dirty="0">
                <a:solidFill>
                  <a:srgbClr val="8A6D1E"/>
                </a:solidFill>
                <a:latin typeface="Calibri" pitchFamily="34" charset="0"/>
                <a:cs typeface="Amiri" pitchFamily="2" charset="-78"/>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is “I”, so the verb begins with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مَرْيَمُ 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نَادِرًا مَا</a:t>
            </a:r>
            <a:pPr algn="l" indent="0" marL="0">
              <a:buNone/>
            </a:pPr>
            <a:r>
              <a:rPr lang="en-US" sz="1050" i="1" dirty="0">
                <a:solidFill>
                  <a:srgbClr val="8A6D1E"/>
                </a:solidFill>
                <a:latin typeface="Calibri" pitchFamily="34" charset="0"/>
                <a:cs typeface="Amiri" pitchFamily="2" charset="-78"/>
              </a:rPr>
              <a:t> means “rarely”, and </a:t>
            </a:r>
            <a:pPr algn="l" indent="0" marL="0">
              <a:buNone/>
            </a:pPr>
            <a:r>
              <a:rPr lang="ar-SA" altLang="en-US" sz="1350" dirty="0">
                <a:solidFill>
                  <a:srgbClr val="8A6D1E"/>
                </a:solidFill>
                <a:latin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the present-tense verb uses the prefix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hour, the clock</a:t>
            </a:r>
            <a:pPr indent="0" marL="0">
              <a:buNone/>
            </a:pPr>
            <a:r>
              <a:rPr lang="en-US" sz="1000" i="1" dirty="0">
                <a:solidFill>
                  <a:srgbClr val="5A6472"/>
                </a:solidFill>
                <a:latin typeface="Calibri" pitchFamily="34" charset="0"/>
                <a:cs typeface="Amiri" pitchFamily="2" charset="-78"/>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minute</a:t>
            </a:r>
            <a:pPr indent="0" marL="0">
              <a:buNone/>
            </a:pPr>
            <a:r>
              <a:rPr lang="en-US" sz="1000" i="1" dirty="0">
                <a:solidFill>
                  <a:srgbClr val="5A6472"/>
                </a:solidFill>
                <a:latin typeface="Calibri" pitchFamily="34" charset="0"/>
                <a:cs typeface="Amiri" pitchFamily="2" charset="-78"/>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2026-10-11T06:40:25Z</dcterms:created>
  <dcterms:modified xsi:type="dcterms:W3CDTF">2026-10-11T06:40:25Z</dcterms:modified>
</cp:coreProperties>
</file>