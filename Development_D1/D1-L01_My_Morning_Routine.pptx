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D1-L01. The website lesson “My Morning Routine”: vocabulary, grammar rules and quiz, patterns, common mistakes, sorter, listening, reading, speaking prompts and model, writing task and model, differentiation, final check and the lesson mission. Picture match: website visual game “My Morning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First Development lesson (Year 8): the class moves from Foundation chunks to CONTROLLING verbs. Core: ten routine verbs as whole chunks in the “I” form + أَوَّلًا / ثُمَّ. Develop: change the person prefix (أَ / يَ / تَ / نَ). Stretch: name the derived pattern (V, VI, VIII, X) and keep it whole.
• Weak / mixed class: the verb table (I · he · she · we) is the anchor for the whole lesson — keep it visible in You Do.
• Core supports: transliteration on every card, English on every model, picture match with icons, frames and a word bank.
• Urdu bridge: صبح، ناشتہ (not Arabic!), غسل، وضو، تیار — many students already use وضو and غسل.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Retrieval from Foundation (pronouns, the present-tense prefix, time words) — the building blocks for today’s routine verbs.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 first letter of a present verb tells you WHO: أَـ I · يَـ he · تَـ she · نَـ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صبح (subah → الصَّبَاحُ), غسل (ghusl → أَغْتَسِلُ I shower), وضو (wuzu → أَتَوَضَّأُ), مستعد (mustaid → أَسْتَعِدُّ I get ready), عادت (ādat → عَادَةً usually). Warning: Urdu ناشتہ (breakfast) is NOT Arabic — the Arabic is الإِفْطَارُ.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Morning routine verbs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Morning routine verbs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Sequence and frequency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Sequence and frequency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Useful detail (website vocabulary).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“Match the person prefix to the subject” (أَنَا أَـ · هُوَ يَـ · هِيَ تَـ · نَحْنُ نَـ). Blue = I / he / we; pink = she.
Read each row across; students repeat. Website examples: أَنَا أَسْتَيْقِظُ مُبَكِّرًا · أَخِي يَسْتَعِدُّ بِسُرْعَةٍ · أُخْتِي تَتَنَاوَلُ الإِفْطَارَ · نَحْنُ نَخْرُجُ مَعًا.
Website tip: in connected writing, vary the subject instead of keeping every sentence in the first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“Recognise Form V” and “Distinguish Forms VI, VIII and X”. Development Arabic moves beyond memorising isolated verbs: notice each derived pattern, preserve its added letters, then change the person prefix.
Website common error: do not reduce أَسْتَيْقِظُ to أَيْقِظُ, change أَتَنَاوَلُ to أَنَاوَلُ, or treat all derived verbs as one pattern.
Core: recognition only — “the long verbs keep all their letters”. Stretch: name the form of each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“Build a connected routine, not a list” with the website examples. Sequence markers turn separate actions into a coherent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“Development Arabic moves beyond memorising isolated verbs. Notice each derived pattern, preserve its added letters, and then change the person prefix. In this lesson, Form V includes تَوَضَّأَ and تَمَرَّنَ; Form VI includes تَنَاوَلَ; Form VIII includes اِغْتَسَلَ and اِرْتَدَى; and Form X includes اِسْتَيْقَظَ, اِسْتَعَدَّ and اِسْتَقَلَّ.”
• Recognise Form V as a patterned verb: Many Form V verbs carry a reflexive or developed meaning. In the present tense, the initial person marker changes but the internal ت and shadda remain.
• Distinguish Forms VI, VIII and X: These patterns look different and should not be merged. تَنَاوَلَ is Form VI; اِغْتَسَلَ and اِرْتَدَى are Form VIII; اِسْتَيْقَظَ and اِسْتَعَدَّ are Form X. Preserve the full internal pattern when the person prefix changes.
• Match the person prefix to the subject: The verb must identify who performs the action. In connected writing, vary the subject instead of keeping every sentence in the first person.
• Build a connected routine, not a list: Sequence markers turn separate actions into a coherent account. Frequency adverbs normally follow the verb or stand near the start for emphasis.
Website common error: Do not reduce أَسْتَيْقِظُ to أَيْقِظُ, change أَتَنَاوَلُ to أَنَاوَلُ, or treat all derived verbs as one pattern. The added letters identify the form and must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(website patterns 1–3); students watch, then COPY. Say each decision aloud: “Who? → prefix. Which pattern? → keep the letters. When / how often? → add a time or frequency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My Morning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أَسْتَيْقِظُ (wake up) · أَسْنَانِي (my teeth) · الإِفْطَارَ (breakfast). All three start with أَـ / أُـ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My Morning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أَسْتَيْقِظُ (wake up) · أَسْنَانِي (my teeth) · الإِفْطَارَ (breakfast). All three start with أَـ / أُـ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action and place it in the stage where it belongs. This supports listening, reading and connected writing.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action and place it in the stage where it belongs. This supports listening, reading and connected writing.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أَسْتَيْقِظُ عَادَةً فِي السَّادِسَةِ وَالرُّبْعِ، وَلٰكِنَّ أَخِي يَسْتَيْقِظُ بَعْدِي بِنِصْفِ سَاعَةٍ. أَوَّلًا أَغْتَسِلُ وَأَتَوَضَّأُ، ثُمَّ أَرْتَدِي زِيَّ المَدْرَسَةِ وَأُمَشِّطُ شَعْرِي. فِي السَّابِعَةِ إِلَّا عَشْرَ دَقَائِقَ أَتَنَاوَلُ إِفْطَارًا خَفِيفًا، وَبَعْدَ ذٰلِكَ أَسْتَعِدُّ لِلْخُرُوجِ. أَسْتَقِلُّ الحَافِلَةَ فِي السَّابِعَةِ وَالنِّصْفِ، وَأَصِلُ إِلَى المَدْرَسَةِ قَبْلَ بَدْءِ الدِّرَاسَةِ بِعَشْرِ دَقَائِقَ. أَحْيَانًا أَشْعُرُ بِالنُّعَاسِ، لٰكِنَّ الإِفْطَارَ يُسَاعِدُنِي عَلَى التَّرْكِيزِ.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“What do you do in the morning?” — answered with the Core stem. Summarise (↺): report your partner’s routine with يَـ /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Build six accurate routine sentences using the model chunks. · Develop — Compare two routines and vary the subject pronouns. · Stretch — Explain how routine affects concentration or wellbeing using a developed opinion.
Website writing task (Stretch): Write 90–110 words comparing your real morning routine with an improved routine you would like to follow.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أَسْتَيْقِظُ، أَغْتَسِلُ، أَتَوَضَّأُ، أَرْتَدِي، أَتَنَاوَلُ، أَسْتَعِدُّ · Form X: أَسْتَيْقِظُ / أَسْتَعِدُّ · عَادَةً، أَحْيَانًا، أَوَّلًا، ثُمَّ، بَعْدَ ذٰلِكَ · فِي رَأْيِي … يَجْعَلُ.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(D1-L02 · Telling the Time — What Time Is It?) will spend class time USING this language, so students prepare it tonight — short, simple, easy to access (school guidance: “Simple, Short, Interesting, Relevant, Easy to access”). The five words come from the website D1-L02 vocabulary (minutes past and to).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My Morning Routine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رُوتِينِي الصَّبَاحِيُّ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 detailed morning routine through accurate derived verbs, person agreement, precise time, sequence and frequency.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D1-L01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Morning verbs, then who is doing it: </a:t>
            </a:r>
            <a:pPr algn="ctr" indent="0" marL="0">
              <a:buNone/>
            </a:pPr>
            <a:r>
              <a:rPr lang="ar-SA" altLang="en-US" sz="1550" dirty="0">
                <a:solidFill>
                  <a:srgbClr val="1F2A37"/>
                </a:solidFill>
                <a:latin typeface="Amiri" pitchFamily="2" charset="-78"/>
                <a:ea typeface="Amiri" pitchFamily="2" charset="-78"/>
                <a:cs typeface="Amiri" pitchFamily="2" charset="-78"/>
              </a:rPr>
              <a:t>أَ / يَ / تَ / نَ</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morning,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نَحْنُ</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a:t>
            </a:r>
            <a:endParaRPr lang="ar-SA" sz="18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school.</a:t>
            </a:r>
            <a:endParaRPr lang="en-US" sz="12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goes to school.</a:t>
            </a:r>
            <a:endParaRPr lang="en-US" sz="12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go to school.</a:t>
            </a:r>
            <a:endParaRPr lang="en-US" sz="12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morning”?</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المَسَاءُ</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اللَّيْلُ</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الصَّبَاحُ</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الصَّبَاحِ</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 السَّابِعَةِ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يَوْمٍ</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eat”?</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نَأْكُلُ</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يَأْكُلُ</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نَحْنُ</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Foundation: </a:t>
            </a:r>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she · </a:t>
            </a:r>
            <a:pPr algn="l" indent="0" marL="0">
              <a:buNone/>
            </a:pPr>
            <a:r>
              <a:rPr lang="ar-SA" altLang="en-US" sz="1350" dirty="0">
                <a:solidFill>
                  <a:srgbClr val="8A6D1E"/>
                </a:solidFill>
                <a:latin typeface="Amiri" pitchFamily="2" charset="-78"/>
                <a:ea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 = he · </a:t>
            </a:r>
            <a:pPr algn="l" indent="0" marL="0">
              <a:buNone/>
            </a:pPr>
            <a:r>
              <a:rPr lang="ar-SA" altLang="en-US" sz="1350" dirty="0">
                <a:solidFill>
                  <a:srgbClr val="8A6D1E"/>
                </a:solidFill>
                <a:latin typeface="Amiri" pitchFamily="2" charset="-78"/>
                <a:ea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 we.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this sentence mean?</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a:t>
            </a:r>
            <a:endParaRPr lang="ar-SA" sz="18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go to school.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goes to school.</a:t>
            </a:r>
            <a:endParaRPr lang="en-US" sz="125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go to school.</a:t>
            </a:r>
            <a:endParaRPr lang="en-US" sz="125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the start = I.</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“the morning”?</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المَسَاءُ</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اللَّيْلُ</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الصَّبَاحُ</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الصَّبَاحُ</a:t>
            </a:r>
            <a:pPr algn="l" indent="0" marL="0">
              <a:buNone/>
            </a:pPr>
            <a:r>
              <a:rPr lang="en-US" sz="1050" i="1" dirty="0">
                <a:solidFill>
                  <a:srgbClr val="8A6D1E"/>
                </a:solidFill>
                <a:latin typeface="Calibri" pitchFamily="34" charset="0"/>
                <a:cs typeface="Amiri" pitchFamily="2" charset="-78"/>
              </a:rPr>
              <a:t> = the morning (Urdu: subah).</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“every day”?</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الصَّبَاحِ</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السَّاعَةِ السَّابِعَةِ</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كُلَّ يَوْمٍ</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كُلَّ</a:t>
            </a:r>
            <a:pPr algn="l" indent="0" marL="0">
              <a:buNone/>
            </a:pPr>
            <a:r>
              <a:rPr lang="en-US" sz="1050" i="1" dirty="0">
                <a:solidFill>
                  <a:srgbClr val="8A6D1E"/>
                </a:solidFill>
                <a:latin typeface="Calibri" pitchFamily="34" charset="0"/>
                <a:cs typeface="Amiri" pitchFamily="2" charset="-78"/>
              </a:rPr>
              <a:t> = every · </a:t>
            </a:r>
            <a:pPr algn="l" indent="0" marL="0">
              <a:buNone/>
            </a:pPr>
            <a:r>
              <a:rPr lang="ar-SA" altLang="en-US" sz="1350" dirty="0">
                <a:solidFill>
                  <a:srgbClr val="8A6D1E"/>
                </a:solidFill>
                <a:latin typeface="Amiri" pitchFamily="2" charset="-78"/>
                <a:ea typeface="Amiri" pitchFamily="2" charset="-78"/>
                <a:cs typeface="Amiri" pitchFamily="2" charset="-78"/>
              </a:rPr>
              <a:t>يَوْمٌ</a:t>
            </a:r>
            <a:pPr algn="l" indent="0" marL="0">
              <a:buNone/>
            </a:pPr>
            <a:r>
              <a:rPr lang="en-US" sz="1050" i="1" dirty="0">
                <a:solidFill>
                  <a:srgbClr val="8A6D1E"/>
                </a:solidFill>
                <a:latin typeface="Calibri" pitchFamily="34" charset="0"/>
                <a:cs typeface="Amiri" pitchFamily="2" charset="-78"/>
              </a:rPr>
              <a:t> = day.</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“we eat”?</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نَأْكُلُ</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يَأْكُلُ</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at the start = we.</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first letter of a present verb tells you WHO: </a:t>
            </a:r>
            <a:pPr algn="l" indent="0" marL="0">
              <a:buNone/>
            </a:pPr>
            <a:r>
              <a:rPr lang="ar-SA" altLang="en-US" sz="1700" b="1" dirty="0">
                <a:solidFill>
                  <a:srgbClr val="1F2A37"/>
                </a:solidFill>
                <a:latin typeface="Amiri" pitchFamily="2" charset="-78"/>
                <a:ea typeface="Amiri" pitchFamily="2" charset="-78"/>
                <a:cs typeface="Amiri" pitchFamily="2" charset="-78"/>
              </a:rPr>
              <a:t>أَـ</a:t>
            </a:r>
            <a:pPr algn="l" indent="0" marL="0">
              <a:buNone/>
            </a:pPr>
            <a:r>
              <a:rPr lang="en-US" sz="1300" b="1" dirty="0">
                <a:solidFill>
                  <a:srgbClr val="1F2A37"/>
                </a:solidFill>
                <a:latin typeface="Calibri" pitchFamily="34" charset="0"/>
                <a:cs typeface="Amiri" pitchFamily="2" charset="-78"/>
              </a:rPr>
              <a:t> I · </a:t>
            </a:r>
            <a:pPr algn="l" indent="0" marL="0">
              <a:buNone/>
            </a:pPr>
            <a:r>
              <a:rPr lang="ar-SA" altLang="en-US" sz="1700" b="1" dirty="0">
                <a:solidFill>
                  <a:srgbClr val="1F2A37"/>
                </a:solidFill>
                <a:latin typeface="Amiri" pitchFamily="2" charset="-78"/>
                <a:ea typeface="Amiri" pitchFamily="2" charset="-78"/>
                <a:cs typeface="Amiri" pitchFamily="2" charset="-78"/>
              </a:rPr>
              <a:t>يَـ</a:t>
            </a:r>
            <a:pPr algn="l" indent="0" marL="0">
              <a:buNone/>
            </a:pPr>
            <a:r>
              <a:rPr lang="en-US" sz="1300" b="1" dirty="0">
                <a:solidFill>
                  <a:srgbClr val="1F2A37"/>
                </a:solidFill>
                <a:latin typeface="Calibri" pitchFamily="34" charset="0"/>
                <a:cs typeface="Amiri" pitchFamily="2" charset="-78"/>
              </a:rPr>
              <a:t> he · </a:t>
            </a:r>
            <a:pPr algn="l" indent="0" marL="0">
              <a:buNone/>
            </a:pPr>
            <a:r>
              <a:rPr lang="ar-SA" altLang="en-US" sz="1700" b="1" dirty="0">
                <a:solidFill>
                  <a:srgbClr val="1F2A37"/>
                </a:solidFill>
                <a:latin typeface="Amiri" pitchFamily="2" charset="-78"/>
                <a:ea typeface="Amiri" pitchFamily="2" charset="-78"/>
                <a:cs typeface="Amiri" pitchFamily="2" charset="-78"/>
              </a:rPr>
              <a:t>تَـ</a:t>
            </a:r>
            <a:pPr algn="l" indent="0" marL="0">
              <a:buNone/>
            </a:pPr>
            <a:r>
              <a:rPr lang="en-US" sz="1300" b="1" dirty="0">
                <a:solidFill>
                  <a:srgbClr val="1F2A37"/>
                </a:solidFill>
                <a:latin typeface="Calibri" pitchFamily="34" charset="0"/>
                <a:cs typeface="Amiri" pitchFamily="2" charset="-78"/>
              </a:rPr>
              <a:t> she · </a:t>
            </a:r>
            <a:pPr algn="l" indent="0" marL="0">
              <a:buNone/>
            </a:pPr>
            <a:r>
              <a:rPr lang="ar-SA" altLang="en-US" sz="1700" b="1" dirty="0">
                <a:solidFill>
                  <a:srgbClr val="1F2A37"/>
                </a:solidFill>
                <a:latin typeface="Amiri" pitchFamily="2" charset="-78"/>
                <a:ea typeface="Amiri" pitchFamily="2" charset="-78"/>
                <a:cs typeface="Amiri" pitchFamily="2" charset="-78"/>
              </a:rPr>
              <a:t>نَـ</a:t>
            </a:r>
            <a:pPr algn="l" indent="0" marL="0">
              <a:buNone/>
            </a:pPr>
            <a:r>
              <a:rPr lang="en-US" sz="1300" b="1" dirty="0">
                <a:solidFill>
                  <a:srgbClr val="1F2A37"/>
                </a:solidFill>
                <a:latin typeface="Calibri" pitchFamily="34" charset="0"/>
                <a:cs typeface="Amiri" pitchFamily="2" charset="-78"/>
              </a:rPr>
              <a:t> we.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سْتَيْقِظُ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سْتَيْقِظُ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سْتَيْقِظُ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سْتَيْقِظُ</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least ten daily-routine verbs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preserve key Form V, VI, VIII and X patterns.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present-tense prefixes for different subjects.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connected morning routine with time and frequency.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six morning actions in the “I”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order them with </a:t>
            </a:r>
            <a:pPr algn="l" indent="0" marL="0">
              <a:buNone/>
            </a:pPr>
            <a:r>
              <a:rPr lang="ar-SA" altLang="en-US" sz="1700" b="1" dirty="0">
                <a:solidFill>
                  <a:srgbClr val="2E8B57"/>
                </a:solidFill>
                <a:latin typeface="Amiri" pitchFamily="2" charset="-78"/>
                <a:ea typeface="Amiri" pitchFamily="2" charset="-78"/>
                <a:cs typeface="Amiri" pitchFamily="2" charset="-78"/>
              </a:rPr>
              <a:t>أَوَّلًا</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ea typeface="Amiri" pitchFamily="2" charset="-78"/>
                <a:cs typeface="Amiri" pitchFamily="2" charset="-78"/>
              </a:rPr>
              <a:t>ثُمَّ</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change the verb for he / she / we.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time and a frequency word.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keep derived patterns whole (</a:t>
            </a:r>
            <a:pPr algn="l" indent="0" marL="0">
              <a:buNone/>
            </a:pPr>
            <a:r>
              <a:rPr lang="ar-SA" altLang="en-US" sz="1700" b="1" dirty="0">
                <a:solidFill>
                  <a:srgbClr val="B83227"/>
                </a:solidFill>
                <a:latin typeface="Amiri" pitchFamily="2" charset="-78"/>
                <a:ea typeface="Amiri" pitchFamily="2" charset="-78"/>
                <a:cs typeface="Amiri" pitchFamily="2" charset="-78"/>
              </a:rPr>
              <a:t>أَسْتَيْقِظُ</a:t>
            </a:r>
            <a:pPr algn="l" indent="0" marL="0">
              <a:buNone/>
            </a:pPr>
            <a:r>
              <a:rPr lang="en-US" sz="1300" b="1" dirty="0">
                <a:solidFill>
                  <a:srgbClr val="B83227"/>
                </a:solidFill>
                <a:latin typeface="Calibri" pitchFamily="34" charset="0"/>
                <a:cs typeface="Amiri" pitchFamily="2" charset="-78"/>
              </a:rPr>
              <a:t>, </a:t>
            </a:r>
            <a:pPr algn="l" indent="0" marL="0">
              <a:buNone/>
            </a:pPr>
            <a:r>
              <a:rPr lang="ar-SA" altLang="en-US" sz="1700" b="1" dirty="0">
                <a:solidFill>
                  <a:srgbClr val="B83227"/>
                </a:solidFill>
                <a:latin typeface="Amiri" pitchFamily="2" charset="-78"/>
                <a:ea typeface="Amiri" pitchFamily="2" charset="-78"/>
                <a:cs typeface="Amiri" pitchFamily="2" charset="-78"/>
              </a:rPr>
              <a:t>أَتَنَاوَلُ</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routines with a reason.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Morning routine verbs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Sequence and frequency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Useful detail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الصَّبَاحُ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‎صبح‎ </a:t>
            </a:r>
            <a:pPr indent="0" marL="0">
              <a:buNone/>
            </a:pPr>
            <a:r>
              <a:rPr lang="en-US" sz="950" b="1" dirty="0">
                <a:solidFill>
                  <a:srgbClr val="2E8B57"/>
                </a:solidFill>
                <a:latin typeface="Calibri" pitchFamily="34" charset="0"/>
                <a:cs typeface="Amiri" pitchFamily="2" charset="-78"/>
              </a:rPr>
              <a:t> subah · morning</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أَغْتَسِلُ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‎غسل‎ </a:t>
            </a:r>
            <a:pPr indent="0" marL="0">
              <a:buNone/>
            </a:pPr>
            <a:r>
              <a:rPr lang="en-US" sz="950" b="1" dirty="0">
                <a:solidFill>
                  <a:srgbClr val="2E8B57"/>
                </a:solidFill>
                <a:latin typeface="Calibri" pitchFamily="34" charset="0"/>
                <a:cs typeface="Amiri" pitchFamily="2" charset="-78"/>
              </a:rPr>
              <a:t> ghusl · washing, bath</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أَتَوَضَّأُ</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‎وضو‎ </a:t>
            </a:r>
            <a:pPr indent="0" marL="0">
              <a:buNone/>
            </a:pPr>
            <a:r>
              <a:rPr lang="en-US" sz="950" b="1" dirty="0">
                <a:solidFill>
                  <a:srgbClr val="2E8B57"/>
                </a:solidFill>
                <a:latin typeface="Calibri" pitchFamily="34" charset="0"/>
                <a:cs typeface="Amiri" pitchFamily="2" charset="-78"/>
              </a:rPr>
              <a:t> wuzu · ablution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أَسْتَعِدُّ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‎مستعد‎ </a:t>
            </a:r>
            <a:pPr indent="0" marL="0">
              <a:buNone/>
            </a:pPr>
            <a:r>
              <a:rPr lang="en-US" sz="950" b="1" dirty="0">
                <a:solidFill>
                  <a:srgbClr val="2E8B57"/>
                </a:solidFill>
                <a:latin typeface="Calibri" pitchFamily="34" charset="0"/>
                <a:cs typeface="Amiri" pitchFamily="2" charset="-78"/>
              </a:rPr>
              <a:t> mustaid · ready, prepared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 (→ usually)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أَسْتَيْقِظُ</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أَصْحُو</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 / become awake</a:t>
            </a:r>
            <a:endParaRPr lang="en-US" sz="1350" dirty="0"/>
          </a:p>
          <a:p>
            <a:pPr indent="0" marL="0">
              <a:buNone/>
            </a:pPr>
            <a:r>
              <a:rPr lang="en-US" sz="1100" i="1" dirty="0">
                <a:solidFill>
                  <a:srgbClr val="5A6472"/>
                </a:solidFill>
                <a:latin typeface="Calibri" pitchFamily="34" charset="0"/>
                <a:cs typeface="Amiri" pitchFamily="2" charset="-78"/>
              </a:rPr>
              <a:t>aṣ-ḥū</a:t>
            </a:r>
            <a:endParaRPr lang="en-US" sz="1350" dirty="0"/>
          </a:p>
        </p:txBody>
      </p:sp>
      <p:sp>
        <p:nvSpPr>
          <p:cNvPr id="38" name="Text 3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alternative syllabus verb</a:t>
            </a:r>
            <a:endParaRPr lang="en-US" sz="10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أَغْتَسِلُ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shower / wash myself</a:t>
            </a:r>
            <a:endParaRPr lang="en-US" sz="1350" dirty="0"/>
          </a:p>
          <a:p>
            <a:pPr indent="0" marL="0">
              <a:buNone/>
            </a:pPr>
            <a:r>
              <a:rPr lang="en-US" sz="1100" i="1" dirty="0">
                <a:solidFill>
                  <a:srgbClr val="5A6472"/>
                </a:solidFill>
                <a:latin typeface="Calibri" pitchFamily="34" charset="0"/>
                <a:cs typeface="Amiri" pitchFamily="2" charset="-78"/>
              </a:rPr>
              <a:t>agh-ta-si-lu</a:t>
            </a:r>
            <a:endParaRPr lang="en-US" sz="1350" dirty="0"/>
          </a:p>
        </p:txBody>
      </p:sp>
      <p:sp>
        <p:nvSpPr>
          <p:cNvPr id="48" name="Shape 4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أَغْتَسِلُ</a:t>
            </a:r>
            <a:endParaRPr lang="ar-SA" sz="1500" dirty="0"/>
          </a:p>
        </p:txBody>
      </p:sp>
      <p:sp>
        <p:nvSpPr>
          <p:cNvPr id="51" name="Shape 4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3" name="Text 5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يَغْتَسِلُ</a:t>
            </a:r>
            <a:endParaRPr lang="ar-SA" sz="1500" dirty="0"/>
          </a:p>
        </p:txBody>
      </p:sp>
      <p:sp>
        <p:nvSpPr>
          <p:cNvPr id="54" name="Shape 5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تَغْتَسِلُ</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0" name="Shape 5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أَتَوَضَّأُ</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perform wudu</a:t>
            </a:r>
            <a:endParaRPr lang="en-US" sz="1350" dirty="0"/>
          </a:p>
          <a:p>
            <a:pPr indent="0" marL="0">
              <a:buNone/>
            </a:pPr>
            <a:r>
              <a:rPr lang="en-US" sz="1100" i="1" dirty="0">
                <a:solidFill>
                  <a:srgbClr val="5A6472"/>
                </a:solidFill>
                <a:latin typeface="Calibri" pitchFamily="34" charset="0"/>
                <a:cs typeface="Amiri" pitchFamily="2" charset="-78"/>
              </a:rPr>
              <a:t>a-ta-waḍ-ḍa-ʾu</a:t>
            </a:r>
            <a:endParaRPr lang="en-US" sz="135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69" name="Shape 6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أَرْتَدِي مَلَابِسِي</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dressed</a:t>
            </a:r>
            <a:endParaRPr lang="en-US" sz="1350" dirty="0"/>
          </a:p>
          <a:p>
            <a:pPr indent="0" marL="0">
              <a:buNone/>
            </a:pPr>
            <a:r>
              <a:rPr lang="en-US" sz="1100" i="1" dirty="0">
                <a:solidFill>
                  <a:srgbClr val="5A6472"/>
                </a:solidFill>
                <a:latin typeface="Calibri" pitchFamily="34" charset="0"/>
                <a:cs typeface="Amiri" pitchFamily="2" charset="-78"/>
              </a:rPr>
              <a:t>ar-ta-dī ma-lā-bi-sī</a:t>
            </a:r>
            <a:endParaRPr lang="en-US" sz="135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أُمَشِّطُ شَعْرِي</a:t>
            </a:r>
            <a:endParaRPr lang="ar-SA" sz="300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comb my hair</a:t>
            </a:r>
            <a:endParaRPr lang="en-US" sz="1350" dirty="0"/>
          </a:p>
          <a:p>
            <a:pPr indent="0" marL="0">
              <a:buNone/>
            </a:pPr>
            <a:r>
              <a:rPr lang="en-US" sz="1100" i="1" dirty="0">
                <a:solidFill>
                  <a:srgbClr val="5A6472"/>
                </a:solidFill>
                <a:latin typeface="Calibri" pitchFamily="34" charset="0"/>
                <a:cs typeface="Amiri" pitchFamily="2" charset="-78"/>
              </a:rPr>
              <a:t>u-mash-shi-ṭu shaʿ-rī</a:t>
            </a:r>
            <a:endParaRPr lang="en-US"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أُنَظِّفُ أَسْنَانِي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brush my teeth</a:t>
            </a:r>
            <a:endParaRPr lang="en-US" sz="1350" dirty="0"/>
          </a:p>
          <a:p>
            <a:pPr indent="0" marL="0">
              <a:buNone/>
            </a:pPr>
            <a:r>
              <a:rPr lang="en-US" sz="1100" i="1" dirty="0">
                <a:solidFill>
                  <a:srgbClr val="5A6472"/>
                </a:solidFill>
                <a:latin typeface="Calibri" pitchFamily="34" charset="0"/>
                <a:cs typeface="Amiri" pitchFamily="2" charset="-78"/>
              </a:rPr>
              <a:t>u-naẓ-ẓi-fu as-nā-nī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أَسْتَعِدُّ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ready</a:t>
            </a:r>
            <a:endParaRPr lang="en-US" sz="1350" dirty="0"/>
          </a:p>
          <a:p>
            <a:pPr indent="0" marL="0">
              <a:buNone/>
            </a:pPr>
            <a:r>
              <a:rPr lang="en-US" sz="1100" i="1" dirty="0">
                <a:solidFill>
                  <a:srgbClr val="5A6472"/>
                </a:solidFill>
                <a:latin typeface="Calibri" pitchFamily="34" charset="0"/>
                <a:cs typeface="Amiri" pitchFamily="2" charset="-78"/>
              </a:rPr>
              <a:t>as-ta-ʿid-du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أَتَنَاوَلُ الإِفْطَارَ</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breakfast</a:t>
            </a:r>
            <a:endParaRPr lang="en-US" sz="1350" dirty="0"/>
          </a:p>
          <a:p>
            <a:pPr indent="0" marL="0">
              <a:buNone/>
            </a:pPr>
            <a:r>
              <a:rPr lang="en-US" sz="1100" i="1" dirty="0">
                <a:solidFill>
                  <a:srgbClr val="5A6472"/>
                </a:solidFill>
                <a:latin typeface="Calibri" pitchFamily="34" charset="0"/>
                <a:cs typeface="Amiri" pitchFamily="2" charset="-78"/>
              </a:rPr>
              <a:t>a-ta-nā-wa-lu al-if-ṭā-ra</a:t>
            </a:r>
            <a:endParaRPr lang="en-US" sz="1350" dirty="0"/>
          </a:p>
        </p:txBody>
      </p:sp>
      <p:sp>
        <p:nvSpPr>
          <p:cNvPr id="38" name="Shape 3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0" name="Text 3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أَتَنَاوَلُ</a:t>
            </a:r>
            <a:endParaRPr lang="ar-SA" sz="1500" dirty="0"/>
          </a:p>
        </p:txBody>
      </p:sp>
      <p:sp>
        <p:nvSpPr>
          <p:cNvPr id="41" name="Shape 3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3" name="Text 4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يَتَنَاوَلُ</a:t>
            </a:r>
            <a:endParaRPr lang="ar-SA" sz="1500" dirty="0"/>
          </a:p>
        </p:txBody>
      </p:sp>
      <p:sp>
        <p:nvSpPr>
          <p:cNvPr id="44" name="Shape 4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تَتَنَاوَلُ</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أَخْرُجُ مِنَ البَيْتِ</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leave the house</a:t>
            </a:r>
            <a:endParaRPr lang="en-US" sz="1350" dirty="0"/>
          </a:p>
          <a:p>
            <a:pPr indent="0" marL="0">
              <a:buNone/>
            </a:pPr>
            <a:r>
              <a:rPr lang="en-US" sz="1100" i="1" dirty="0">
                <a:solidFill>
                  <a:srgbClr val="5A6472"/>
                </a:solidFill>
                <a:latin typeface="Calibri" pitchFamily="34" charset="0"/>
                <a:cs typeface="Amiri" pitchFamily="2" charset="-78"/>
              </a:rPr>
              <a:t>akh-ru-ju mi-na al-bay-ti</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أَسْتَقِلُّ الحَافِلَةَ</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the bus</a:t>
            </a:r>
            <a:endParaRPr lang="en-US" sz="1350" dirty="0"/>
          </a:p>
          <a:p>
            <a:pPr indent="0" marL="0">
              <a:buNone/>
            </a:pPr>
            <a:r>
              <a:rPr lang="en-US" sz="1100" i="1" dirty="0">
                <a:solidFill>
                  <a:srgbClr val="5A6472"/>
                </a:solidFill>
                <a:latin typeface="Calibri" pitchFamily="34" charset="0"/>
                <a:cs typeface="Amiri" pitchFamily="2" charset="-78"/>
              </a:rPr>
              <a:t>as-ta-qil-lu al-ḥā-fi-la-ta</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إِلَى المَدْرَسَةِ</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al-mad-ra-sa-ti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and frequency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أَخِيرًا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a-khī-ran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Sequence and frequency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نَادِرًا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rarely</a:t>
            </a:r>
            <a:endParaRPr lang="en-US" sz="1350" dirty="0"/>
          </a:p>
          <a:p>
            <a:pPr indent="0" marL="0">
              <a:buNone/>
            </a:pPr>
            <a:r>
              <a:rPr lang="en-US" sz="1100" i="1" dirty="0">
                <a:solidFill>
                  <a:srgbClr val="5A6472"/>
                </a:solidFill>
                <a:latin typeface="Calibri" pitchFamily="34" charset="0"/>
                <a:cs typeface="Amiri" pitchFamily="2" charset="-78"/>
              </a:rPr>
              <a:t>nā-di-ran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 يَوْمٍ</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الصَّبَاحِ البَاكِرِ</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early in the morning</a:t>
            </a:r>
            <a:endParaRPr lang="en-US" sz="1350" dirty="0"/>
          </a:p>
          <a:p>
            <a:pPr indent="0" marL="0">
              <a:buNone/>
            </a:pPr>
            <a:r>
              <a:rPr lang="en-US" sz="1100" i="1" dirty="0">
                <a:solidFill>
                  <a:srgbClr val="5A6472"/>
                </a:solidFill>
                <a:latin typeface="Calibri" pitchFamily="34" charset="0"/>
                <a:cs typeface="Amiri" pitchFamily="2" charset="-78"/>
              </a:rPr>
              <a:t>fī aṣ-ṣa-bā-ḥi al-bā-ki-ri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Useful detail</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مُنَبِّهٌ</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alarm clock</a:t>
            </a:r>
            <a:endParaRPr lang="en-US" sz="1350" dirty="0"/>
          </a:p>
          <a:p>
            <a:pPr indent="0" marL="0">
              <a:buNone/>
            </a:pPr>
            <a:r>
              <a:rPr lang="en-US" sz="1100" i="1" dirty="0">
                <a:solidFill>
                  <a:srgbClr val="5A6472"/>
                </a:solidFill>
                <a:latin typeface="Calibri" pitchFamily="34" charset="0"/>
                <a:cs typeface="Amiri" pitchFamily="2" charset="-78"/>
              </a:rPr>
              <a:t>mu-nab-bi-hun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مُنَبِّهٌ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مُنَبِّهَاتٌ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عَجَلَةٌ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haste</a:t>
            </a:r>
            <a:endParaRPr lang="en-US" sz="1350" dirty="0"/>
          </a:p>
          <a:p>
            <a:pPr indent="0" marL="0">
              <a:buNone/>
            </a:pPr>
            <a:r>
              <a:rPr lang="en-US" sz="1100" i="1" dirty="0">
                <a:solidFill>
                  <a:srgbClr val="5A6472"/>
                </a:solidFill>
                <a:latin typeface="Calibri" pitchFamily="34" charset="0"/>
                <a:cs typeface="Amiri" pitchFamily="2" charset="-78"/>
              </a:rPr>
              <a:t>ʿa-ja-la-tun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8" name="Shape 3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نَشِيطٌ / نَشِيطَةٌ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energetic</a:t>
            </a:r>
            <a:endParaRPr lang="en-US" sz="1350" dirty="0"/>
          </a:p>
          <a:p>
            <a:pPr indent="0" marL="0">
              <a:buNone/>
            </a:pPr>
            <a:r>
              <a:rPr lang="en-US" sz="1100" i="1" dirty="0">
                <a:solidFill>
                  <a:srgbClr val="5A6472"/>
                </a:solidFill>
                <a:latin typeface="Calibri" pitchFamily="34" charset="0"/>
                <a:cs typeface="Amiri" pitchFamily="2" charset="-78"/>
              </a:rPr>
              <a:t>na-shī-ṭun / na-shī-ṭa-tun</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نَشِيطٌ</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نَشِيطَةٌ</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نَشِيطُونَ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نَاعِسٌ / نَاعِسَةٌ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sleepy</a:t>
            </a:r>
            <a:endParaRPr lang="en-US" sz="1350" dirty="0"/>
          </a:p>
          <a:p>
            <a:pPr indent="0" marL="0">
              <a:buNone/>
            </a:pPr>
            <a:r>
              <a:rPr lang="en-US" sz="1100" i="1" dirty="0">
                <a:solidFill>
                  <a:srgbClr val="5A6472"/>
                </a:solidFill>
                <a:latin typeface="Calibri" pitchFamily="34" charset="0"/>
                <a:cs typeface="Amiri" pitchFamily="2" charset="-78"/>
              </a:rPr>
              <a:t>nā-ʿi-sun / nā-ʿi-sa-tun</a:t>
            </a:r>
            <a:endParaRPr lang="en-US" sz="1350" dirty="0"/>
          </a:p>
        </p:txBody>
      </p:sp>
      <p:sp>
        <p:nvSpPr>
          <p:cNvPr id="58" name="Shape 5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0" name="Text 5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نَاعِسٌ</a:t>
            </a:r>
            <a:endParaRPr lang="ar-SA" sz="1500" dirty="0"/>
          </a:p>
        </p:txBody>
      </p:sp>
      <p:sp>
        <p:nvSpPr>
          <p:cNvPr id="61" name="Shape 5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نَاعِسَةٌ</a:t>
            </a:r>
            <a:endParaRPr lang="ar-SA" sz="1500" dirty="0"/>
          </a:p>
        </p:txBody>
      </p:sp>
      <p:sp>
        <p:nvSpPr>
          <p:cNvPr id="64" name="Shape 6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6" name="Text 6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نَاعِسُونَ</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مُبَكِّرًا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early</a:t>
            </a:r>
            <a:endParaRPr lang="en-US" sz="1350" dirty="0"/>
          </a:p>
          <a:p>
            <a:pPr indent="0" marL="0">
              <a:buNone/>
            </a:pPr>
            <a:r>
              <a:rPr lang="en-US" sz="1100" i="1" dirty="0">
                <a:solidFill>
                  <a:srgbClr val="5A6472"/>
                </a:solidFill>
                <a:latin typeface="Calibri" pitchFamily="34" charset="0"/>
                <a:cs typeface="Amiri" pitchFamily="2" charset="-78"/>
              </a:rPr>
              <a:t>mu-bak-ki-ran</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مُتَأَخِّرًا</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late</a:t>
            </a:r>
            <a:endParaRPr lang="en-US" sz="1350" dirty="0"/>
          </a:p>
          <a:p>
            <a:pPr indent="0" marL="0">
              <a:buNone/>
            </a:pPr>
            <a:r>
              <a:rPr lang="en-US" sz="1100" i="1" dirty="0">
                <a:solidFill>
                  <a:srgbClr val="5A6472"/>
                </a:solidFill>
                <a:latin typeface="Calibri" pitchFamily="34" charset="0"/>
                <a:cs typeface="Amiri" pitchFamily="2" charset="-78"/>
              </a:rPr>
              <a:t>mu-ta-ʾakh-khi-ran</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MATCH THE PREFIX TO THE SUBJECT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Who is doing it? Change only the first letter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 هُوَ · هِيَ · نَحْنُ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a:t>
            </a:r>
            <a:pPr algn="ctr" indent="0" marL="0">
              <a:buNone/>
            </a:pPr>
            <a:r>
              <a:rPr lang="ar-SA" altLang="en-US" sz="1450" b="1" dirty="0">
                <a:solidFill>
                  <a:srgbClr val="FFFFFF"/>
                </a:solidFill>
                <a:latin typeface="Amiri" pitchFamily="2" charset="-78"/>
                <a:ea typeface="Amiri" pitchFamily="2" charset="-78"/>
                <a:cs typeface="Amiri" pitchFamily="2" charset="-78"/>
              </a:rPr>
              <a:t>أَنَا</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a:t>
            </a:r>
            <a:pPr algn="ctr" indent="0" marL="0">
              <a:buNone/>
            </a:pPr>
            <a:r>
              <a:rPr lang="ar-SA" altLang="en-US" sz="1450" b="1" dirty="0">
                <a:solidFill>
                  <a:srgbClr val="FFFFFF"/>
                </a:solidFill>
                <a:latin typeface="Amiri" pitchFamily="2" charset="-78"/>
                <a:ea typeface="Amiri" pitchFamily="2" charset="-78"/>
                <a:cs typeface="Amiri" pitchFamily="2" charset="-78"/>
              </a:rPr>
              <a:t>هُوَ</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a:t>
            </a:r>
            <a:pPr algn="ctr" indent="0" marL="0">
              <a:buNone/>
            </a:pPr>
            <a:r>
              <a:rPr lang="ar-SA" altLang="en-US" sz="1450" b="1" dirty="0">
                <a:solidFill>
                  <a:srgbClr val="FFFFFF"/>
                </a:solidFill>
                <a:latin typeface="Amiri" pitchFamily="2" charset="-78"/>
                <a:ea typeface="Amiri" pitchFamily="2" charset="-78"/>
                <a:cs typeface="Amiri" pitchFamily="2" charset="-78"/>
              </a:rPr>
              <a:t>هِيَ</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 (</a:t>
            </a:r>
            <a:pPr algn="ctr" indent="0" marL="0">
              <a:buNone/>
            </a:pPr>
            <a:r>
              <a:rPr lang="ar-SA" altLang="en-US" sz="1450" b="1" dirty="0">
                <a:solidFill>
                  <a:srgbClr val="FFFFFF"/>
                </a:solidFill>
                <a:latin typeface="Amiri" pitchFamily="2" charset="-78"/>
                <a:ea typeface="Amiri" pitchFamily="2" charset="-78"/>
                <a:cs typeface="Amiri" pitchFamily="2" charset="-78"/>
              </a:rPr>
              <a:t>نَحْنُ</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537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a:t>
            </a:r>
            <a:pPr rtl="1" algn="ctr" indent="0" marL="0">
              <a:buNone/>
            </a:pPr>
            <a:r>
              <a:rPr lang="ar-SA" altLang="en-US" sz="2000" b="1" dirty="0">
                <a:solidFill>
                  <a:srgbClr val="1B3B6F"/>
                </a:solidFill>
                <a:latin typeface="Amiri" pitchFamily="2" charset="-78"/>
                <a:ea typeface="Amiri" pitchFamily="2" charset="-78"/>
                <a:cs typeface="Amiri" pitchFamily="2" charset="-78"/>
              </a:rPr>
              <a:t>سْتَيْقِظُ</a:t>
            </a:r>
            <a:endParaRPr lang="ar-SA" sz="2000" dirty="0"/>
          </a:p>
        </p:txBody>
      </p:sp>
      <p:sp>
        <p:nvSpPr>
          <p:cNvPr id="23" name="Text 20"/>
          <p:cNvSpPr txBox="1"/>
          <p:nvPr/>
        </p:nvSpPr>
        <p:spPr>
          <a:xfrm>
            <a:off x="7251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a:t>
            </a:r>
            <a:pPr rtl="1" algn="ctr" indent="0" marL="0">
              <a:buNone/>
            </a:pPr>
            <a:r>
              <a:rPr lang="ar-SA" altLang="en-US" sz="2000" b="1" dirty="0">
                <a:solidFill>
                  <a:srgbClr val="1B3B6F"/>
                </a:solidFill>
                <a:latin typeface="Amiri" pitchFamily="2" charset="-78"/>
                <a:ea typeface="Amiri" pitchFamily="2" charset="-78"/>
                <a:cs typeface="Amiri" pitchFamily="2" charset="-78"/>
              </a:rPr>
              <a:t>سْتَيْقِظُ</a:t>
            </a:r>
            <a:endParaRPr lang="ar-SA" sz="2000" dirty="0"/>
          </a:p>
        </p:txBody>
      </p:sp>
      <p:sp>
        <p:nvSpPr>
          <p:cNvPr id="24" name="Text 21"/>
          <p:cNvSpPr txBox="1"/>
          <p:nvPr/>
        </p:nvSpPr>
        <p:spPr>
          <a:xfrm>
            <a:off x="4965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a:t>
            </a:r>
            <a:pPr rtl="1" algn="ctr" indent="0" marL="0">
              <a:buNone/>
            </a:pPr>
            <a:r>
              <a:rPr lang="ar-SA" altLang="en-US" sz="2000" b="1" dirty="0">
                <a:solidFill>
                  <a:srgbClr val="1B3B6F"/>
                </a:solidFill>
                <a:latin typeface="Amiri" pitchFamily="2" charset="-78"/>
                <a:ea typeface="Amiri" pitchFamily="2" charset="-78"/>
                <a:cs typeface="Amiri" pitchFamily="2" charset="-78"/>
              </a:rPr>
              <a:t>سْتَيْقِظُ</a:t>
            </a:r>
            <a:endParaRPr lang="ar-SA" sz="2000" dirty="0"/>
          </a:p>
        </p:txBody>
      </p:sp>
      <p:sp>
        <p:nvSpPr>
          <p:cNvPr id="25" name="Text 22"/>
          <p:cNvSpPr txBox="1"/>
          <p:nvPr/>
        </p:nvSpPr>
        <p:spPr>
          <a:xfrm>
            <a:off x="2679192"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نَ</a:t>
            </a:r>
            <a:pPr rtl="1" algn="ctr" indent="0" marL="0">
              <a:buNone/>
            </a:pPr>
            <a:r>
              <a:rPr lang="ar-SA" altLang="en-US" sz="2000" b="1" dirty="0">
                <a:solidFill>
                  <a:srgbClr val="1B3B6F"/>
                </a:solidFill>
                <a:latin typeface="Amiri" pitchFamily="2" charset="-78"/>
                <a:ea typeface="Amiri" pitchFamily="2" charset="-78"/>
                <a:cs typeface="Amiri" pitchFamily="2" charset="-78"/>
              </a:rPr>
              <a:t>سْتَيْقِظُ</a:t>
            </a:r>
            <a:endParaRPr lang="ar-SA" sz="2000" dirty="0"/>
          </a:p>
        </p:txBody>
      </p:sp>
      <p:sp>
        <p:nvSpPr>
          <p:cNvPr id="26" name="Text 23"/>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wake up</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537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a:t>
            </a:r>
            <a:pPr rtl="1" algn="ctr" indent="0" marL="0">
              <a:buNone/>
            </a:pPr>
            <a:r>
              <a:rPr lang="ar-SA" altLang="en-US" sz="2000" b="1" dirty="0">
                <a:solidFill>
                  <a:srgbClr val="1B3B6F"/>
                </a:solidFill>
                <a:latin typeface="Amiri" pitchFamily="2" charset="-78"/>
                <a:ea typeface="Amiri" pitchFamily="2" charset="-78"/>
                <a:cs typeface="Amiri" pitchFamily="2" charset="-78"/>
              </a:rPr>
              <a:t>غْتَسِلُ</a:t>
            </a:r>
            <a:endParaRPr lang="ar-SA" sz="2000" dirty="0"/>
          </a:p>
        </p:txBody>
      </p:sp>
      <p:sp>
        <p:nvSpPr>
          <p:cNvPr id="31" name="Text 28"/>
          <p:cNvSpPr txBox="1"/>
          <p:nvPr/>
        </p:nvSpPr>
        <p:spPr>
          <a:xfrm>
            <a:off x="7251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a:t>
            </a:r>
            <a:pPr rtl="1" algn="ctr" indent="0" marL="0">
              <a:buNone/>
            </a:pPr>
            <a:r>
              <a:rPr lang="ar-SA" altLang="en-US" sz="2000" b="1" dirty="0">
                <a:solidFill>
                  <a:srgbClr val="1B3B6F"/>
                </a:solidFill>
                <a:latin typeface="Amiri" pitchFamily="2" charset="-78"/>
                <a:ea typeface="Amiri" pitchFamily="2" charset="-78"/>
                <a:cs typeface="Amiri" pitchFamily="2" charset="-78"/>
              </a:rPr>
              <a:t>غْتَسِلُ</a:t>
            </a:r>
            <a:endParaRPr lang="ar-SA" sz="2000" dirty="0"/>
          </a:p>
        </p:txBody>
      </p:sp>
      <p:sp>
        <p:nvSpPr>
          <p:cNvPr id="32" name="Text 29"/>
          <p:cNvSpPr txBox="1"/>
          <p:nvPr/>
        </p:nvSpPr>
        <p:spPr>
          <a:xfrm>
            <a:off x="4965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a:t>
            </a:r>
            <a:pPr rtl="1" algn="ctr" indent="0" marL="0">
              <a:buNone/>
            </a:pPr>
            <a:r>
              <a:rPr lang="ar-SA" altLang="en-US" sz="2000" b="1" dirty="0">
                <a:solidFill>
                  <a:srgbClr val="1B3B6F"/>
                </a:solidFill>
                <a:latin typeface="Amiri" pitchFamily="2" charset="-78"/>
                <a:ea typeface="Amiri" pitchFamily="2" charset="-78"/>
                <a:cs typeface="Amiri" pitchFamily="2" charset="-78"/>
              </a:rPr>
              <a:t>غْتَسِلُ</a:t>
            </a:r>
            <a:endParaRPr lang="ar-SA" sz="2000" dirty="0"/>
          </a:p>
        </p:txBody>
      </p:sp>
      <p:sp>
        <p:nvSpPr>
          <p:cNvPr id="33" name="Text 30"/>
          <p:cNvSpPr txBox="1"/>
          <p:nvPr/>
        </p:nvSpPr>
        <p:spPr>
          <a:xfrm>
            <a:off x="2679192"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نَ</a:t>
            </a:r>
            <a:pPr rtl="1" algn="ctr" indent="0" marL="0">
              <a:buNone/>
            </a:pPr>
            <a:r>
              <a:rPr lang="ar-SA" altLang="en-US" sz="2000" b="1" dirty="0">
                <a:solidFill>
                  <a:srgbClr val="1B3B6F"/>
                </a:solidFill>
                <a:latin typeface="Amiri" pitchFamily="2" charset="-78"/>
                <a:ea typeface="Amiri" pitchFamily="2" charset="-78"/>
                <a:cs typeface="Amiri" pitchFamily="2" charset="-78"/>
              </a:rPr>
              <a:t>غْتَسِلُ</a:t>
            </a:r>
            <a:endParaRPr lang="ar-SA" sz="2000" dirty="0"/>
          </a:p>
        </p:txBody>
      </p:sp>
      <p:sp>
        <p:nvSpPr>
          <p:cNvPr id="34" name="Text 31"/>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shower</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37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a:t>
            </a:r>
            <a:pPr rtl="1" algn="ctr" indent="0" marL="0">
              <a:buNone/>
            </a:pPr>
            <a:r>
              <a:rPr lang="ar-SA" altLang="en-US" sz="2000" b="1" dirty="0">
                <a:solidFill>
                  <a:srgbClr val="1B3B6F"/>
                </a:solidFill>
                <a:latin typeface="Amiri" pitchFamily="2" charset="-78"/>
                <a:ea typeface="Amiri" pitchFamily="2" charset="-78"/>
                <a:cs typeface="Amiri" pitchFamily="2" charset="-78"/>
              </a:rPr>
              <a:t>تَنَاوَلُ</a:t>
            </a:r>
            <a:endParaRPr lang="ar-SA" sz="2000" dirty="0"/>
          </a:p>
        </p:txBody>
      </p:sp>
      <p:sp>
        <p:nvSpPr>
          <p:cNvPr id="39" name="Text 36"/>
          <p:cNvSpPr txBox="1"/>
          <p:nvPr/>
        </p:nvSpPr>
        <p:spPr>
          <a:xfrm>
            <a:off x="7251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a:t>
            </a:r>
            <a:pPr rtl="1" algn="ctr" indent="0" marL="0">
              <a:buNone/>
            </a:pPr>
            <a:r>
              <a:rPr lang="ar-SA" altLang="en-US" sz="2000" b="1" dirty="0">
                <a:solidFill>
                  <a:srgbClr val="1B3B6F"/>
                </a:solidFill>
                <a:latin typeface="Amiri" pitchFamily="2" charset="-78"/>
                <a:ea typeface="Amiri" pitchFamily="2" charset="-78"/>
                <a:cs typeface="Amiri" pitchFamily="2" charset="-78"/>
              </a:rPr>
              <a:t>تَنَاوَلُ</a:t>
            </a:r>
            <a:endParaRPr lang="ar-SA" sz="2000" dirty="0"/>
          </a:p>
        </p:txBody>
      </p:sp>
      <p:sp>
        <p:nvSpPr>
          <p:cNvPr id="40" name="Text 37"/>
          <p:cNvSpPr txBox="1"/>
          <p:nvPr/>
        </p:nvSpPr>
        <p:spPr>
          <a:xfrm>
            <a:off x="4965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a:t>
            </a:r>
            <a:pPr rtl="1" algn="ctr" indent="0" marL="0">
              <a:buNone/>
            </a:pPr>
            <a:r>
              <a:rPr lang="ar-SA" altLang="en-US" sz="2000" b="1" dirty="0">
                <a:solidFill>
                  <a:srgbClr val="1B3B6F"/>
                </a:solidFill>
                <a:latin typeface="Amiri" pitchFamily="2" charset="-78"/>
                <a:ea typeface="Amiri" pitchFamily="2" charset="-78"/>
                <a:cs typeface="Amiri" pitchFamily="2" charset="-78"/>
              </a:rPr>
              <a:t>تَنَاوَلُ</a:t>
            </a:r>
            <a:endParaRPr lang="ar-SA" sz="2000" dirty="0"/>
          </a:p>
        </p:txBody>
      </p:sp>
      <p:sp>
        <p:nvSpPr>
          <p:cNvPr id="41" name="Text 38"/>
          <p:cNvSpPr txBox="1"/>
          <p:nvPr/>
        </p:nvSpPr>
        <p:spPr>
          <a:xfrm>
            <a:off x="2679192"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نَ</a:t>
            </a:r>
            <a:pPr rtl="1" algn="ctr" indent="0" marL="0">
              <a:buNone/>
            </a:pPr>
            <a:r>
              <a:rPr lang="ar-SA" altLang="en-US" sz="2000" b="1" dirty="0">
                <a:solidFill>
                  <a:srgbClr val="1B3B6F"/>
                </a:solidFill>
                <a:latin typeface="Amiri" pitchFamily="2" charset="-78"/>
                <a:ea typeface="Amiri" pitchFamily="2" charset="-78"/>
                <a:cs typeface="Amiri" pitchFamily="2" charset="-78"/>
              </a:rPr>
              <a:t>تَنَاوَلُ</a:t>
            </a:r>
            <a:endParaRPr lang="ar-SA" sz="2000" dirty="0"/>
          </a:p>
        </p:txBody>
      </p:sp>
      <p:sp>
        <p:nvSpPr>
          <p:cNvPr id="42" name="Text 39"/>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(a meal)</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537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a:t>
            </a:r>
            <a:pPr rtl="1" algn="ctr" indent="0" marL="0">
              <a:buNone/>
            </a:pPr>
            <a:r>
              <a:rPr lang="ar-SA" altLang="en-US" sz="2000" b="1" dirty="0">
                <a:solidFill>
                  <a:srgbClr val="1B3B6F"/>
                </a:solidFill>
                <a:latin typeface="Amiri" pitchFamily="2" charset="-78"/>
                <a:ea typeface="Amiri" pitchFamily="2" charset="-78"/>
                <a:cs typeface="Amiri" pitchFamily="2" charset="-78"/>
              </a:rPr>
              <a:t>رْتَدِي</a:t>
            </a:r>
            <a:endParaRPr lang="ar-SA" sz="2000" dirty="0"/>
          </a:p>
        </p:txBody>
      </p:sp>
      <p:sp>
        <p:nvSpPr>
          <p:cNvPr id="47" name="Text 44"/>
          <p:cNvSpPr txBox="1"/>
          <p:nvPr/>
        </p:nvSpPr>
        <p:spPr>
          <a:xfrm>
            <a:off x="7251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a:t>
            </a:r>
            <a:pPr rtl="1" algn="ctr" indent="0" marL="0">
              <a:buNone/>
            </a:pPr>
            <a:r>
              <a:rPr lang="ar-SA" altLang="en-US" sz="2000" b="1" dirty="0">
                <a:solidFill>
                  <a:srgbClr val="1B3B6F"/>
                </a:solidFill>
                <a:latin typeface="Amiri" pitchFamily="2" charset="-78"/>
                <a:ea typeface="Amiri" pitchFamily="2" charset="-78"/>
                <a:cs typeface="Amiri" pitchFamily="2" charset="-78"/>
              </a:rPr>
              <a:t>رْتَدِي</a:t>
            </a:r>
            <a:endParaRPr lang="ar-SA" sz="2000" dirty="0"/>
          </a:p>
        </p:txBody>
      </p:sp>
      <p:sp>
        <p:nvSpPr>
          <p:cNvPr id="48" name="Text 45"/>
          <p:cNvSpPr txBox="1"/>
          <p:nvPr/>
        </p:nvSpPr>
        <p:spPr>
          <a:xfrm>
            <a:off x="4965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a:t>
            </a:r>
            <a:pPr rtl="1" algn="ctr" indent="0" marL="0">
              <a:buNone/>
            </a:pPr>
            <a:r>
              <a:rPr lang="ar-SA" altLang="en-US" sz="2000" b="1" dirty="0">
                <a:solidFill>
                  <a:srgbClr val="1B3B6F"/>
                </a:solidFill>
                <a:latin typeface="Amiri" pitchFamily="2" charset="-78"/>
                <a:ea typeface="Amiri" pitchFamily="2" charset="-78"/>
                <a:cs typeface="Amiri" pitchFamily="2" charset="-78"/>
              </a:rPr>
              <a:t>رْتَدِي</a:t>
            </a:r>
            <a:endParaRPr lang="ar-SA" sz="2000" dirty="0"/>
          </a:p>
        </p:txBody>
      </p:sp>
      <p:sp>
        <p:nvSpPr>
          <p:cNvPr id="49" name="Text 46"/>
          <p:cNvSpPr txBox="1"/>
          <p:nvPr/>
        </p:nvSpPr>
        <p:spPr>
          <a:xfrm>
            <a:off x="2679192" y="4478731"/>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نَ</a:t>
            </a:r>
            <a:pPr rtl="1" algn="ctr" indent="0" marL="0">
              <a:buNone/>
            </a:pPr>
            <a:r>
              <a:rPr lang="ar-SA" altLang="en-US" sz="2000" b="1" dirty="0">
                <a:solidFill>
                  <a:srgbClr val="1B3B6F"/>
                </a:solidFill>
                <a:latin typeface="Amiri" pitchFamily="2" charset="-78"/>
                <a:ea typeface="Amiri" pitchFamily="2" charset="-78"/>
                <a:cs typeface="Amiri" pitchFamily="2" charset="-78"/>
              </a:rPr>
              <a:t>رْتَدِي</a:t>
            </a:r>
            <a:endParaRPr lang="ar-SA" sz="2000" dirty="0"/>
          </a:p>
        </p:txBody>
      </p:sp>
      <p:sp>
        <p:nvSpPr>
          <p:cNvPr id="50" name="Text 47"/>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wear, put on</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537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a:t>
            </a:r>
            <a:pPr rtl="1" algn="ctr" indent="0" marL="0">
              <a:buNone/>
            </a:pPr>
            <a:r>
              <a:rPr lang="ar-SA" altLang="en-US" sz="2000" b="1" dirty="0">
                <a:solidFill>
                  <a:srgbClr val="1B3B6F"/>
                </a:solidFill>
                <a:latin typeface="Amiri" pitchFamily="2" charset="-78"/>
                <a:ea typeface="Amiri" pitchFamily="2" charset="-78"/>
                <a:cs typeface="Amiri" pitchFamily="2" charset="-78"/>
              </a:rPr>
              <a:t>خْرُجُ</a:t>
            </a:r>
            <a:endParaRPr lang="ar-SA" sz="2000" dirty="0"/>
          </a:p>
        </p:txBody>
      </p:sp>
      <p:sp>
        <p:nvSpPr>
          <p:cNvPr id="53" name="Text 50"/>
          <p:cNvSpPr txBox="1"/>
          <p:nvPr/>
        </p:nvSpPr>
        <p:spPr>
          <a:xfrm>
            <a:off x="7251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يَ</a:t>
            </a:r>
            <a:pPr rtl="1" algn="ctr" indent="0" marL="0">
              <a:buNone/>
            </a:pPr>
            <a:r>
              <a:rPr lang="ar-SA" altLang="en-US" sz="2000" b="1" dirty="0">
                <a:solidFill>
                  <a:srgbClr val="1B3B6F"/>
                </a:solidFill>
                <a:latin typeface="Amiri" pitchFamily="2" charset="-78"/>
                <a:ea typeface="Amiri" pitchFamily="2" charset="-78"/>
                <a:cs typeface="Amiri" pitchFamily="2" charset="-78"/>
              </a:rPr>
              <a:t>خْرُجُ</a:t>
            </a:r>
            <a:endParaRPr lang="ar-SA" sz="2000" dirty="0"/>
          </a:p>
        </p:txBody>
      </p:sp>
      <p:sp>
        <p:nvSpPr>
          <p:cNvPr id="54" name="Text 51"/>
          <p:cNvSpPr txBox="1"/>
          <p:nvPr/>
        </p:nvSpPr>
        <p:spPr>
          <a:xfrm>
            <a:off x="4965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تَ</a:t>
            </a:r>
            <a:pPr rtl="1" algn="ctr" indent="0" marL="0">
              <a:buNone/>
            </a:pPr>
            <a:r>
              <a:rPr lang="ar-SA" altLang="en-US" sz="2000" b="1" dirty="0">
                <a:solidFill>
                  <a:srgbClr val="1B3B6F"/>
                </a:solidFill>
                <a:latin typeface="Amiri" pitchFamily="2" charset="-78"/>
                <a:ea typeface="Amiri" pitchFamily="2" charset="-78"/>
                <a:cs typeface="Amiri" pitchFamily="2" charset="-78"/>
              </a:rPr>
              <a:t>خْرُجُ</a:t>
            </a:r>
            <a:endParaRPr lang="ar-SA" sz="2000" dirty="0"/>
          </a:p>
        </p:txBody>
      </p:sp>
      <p:sp>
        <p:nvSpPr>
          <p:cNvPr id="55" name="Text 52"/>
          <p:cNvSpPr txBox="1"/>
          <p:nvPr/>
        </p:nvSpPr>
        <p:spPr>
          <a:xfrm>
            <a:off x="2679192"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نَ</a:t>
            </a:r>
            <a:pPr rtl="1" algn="ctr" indent="0" marL="0">
              <a:buNone/>
            </a:pPr>
            <a:r>
              <a:rPr lang="ar-SA" altLang="en-US" sz="2000" b="1" dirty="0">
                <a:solidFill>
                  <a:srgbClr val="1B3B6F"/>
                </a:solidFill>
                <a:latin typeface="Amiri" pitchFamily="2" charset="-78"/>
                <a:ea typeface="Amiri" pitchFamily="2" charset="-78"/>
                <a:cs typeface="Amiri" pitchFamily="2" charset="-78"/>
              </a:rPr>
              <a:t>خْرُجُ</a:t>
            </a:r>
            <a:endParaRPr lang="ar-SA" sz="2000" dirty="0"/>
          </a:p>
        </p:txBody>
      </p:sp>
      <p:sp>
        <p:nvSpPr>
          <p:cNvPr id="56" name="Text 53"/>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out, leave</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rest of the verb NEVER changes — only the first letter.</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DERIVED VERB PATTERNS (WEBSITE) · DEVELOP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Keep the pattern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أَوْزَانُ الأَفْعَالِ المَزِيدَةِ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 (past)</a:t>
            </a:r>
            <a:endParaRPr lang="en-US" sz="1100" dirty="0"/>
          </a:p>
        </p:txBody>
      </p:sp>
      <p:sp>
        <p:nvSpPr>
          <p:cNvPr id="17" name="Text 14"/>
          <p:cNvSpPr txBox="1"/>
          <p:nvPr/>
        </p:nvSpPr>
        <p:spPr>
          <a:xfrm>
            <a:off x="50383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Today’s verbs (I)</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Letters that must stay</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62872" y="2286000"/>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تَفَعَّلَ</a:t>
            </a:r>
            <a:endParaRPr lang="ar-SA" sz="2000" dirty="0"/>
          </a:p>
        </p:txBody>
      </p:sp>
      <p:sp>
        <p:nvSpPr>
          <p:cNvPr id="21" name="Text 18"/>
          <p:cNvSpPr txBox="1"/>
          <p:nvPr/>
        </p:nvSpPr>
        <p:spPr>
          <a:xfrm>
            <a:off x="921715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a:t>
            </a:r>
            <a:endParaRPr lang="en-US" sz="950" dirty="0"/>
          </a:p>
        </p:txBody>
      </p:sp>
      <p:sp>
        <p:nvSpPr>
          <p:cNvPr id="22" name="Text 19"/>
          <p:cNvSpPr txBox="1"/>
          <p:nvPr/>
        </p:nvSpPr>
        <p:spPr>
          <a:xfrm>
            <a:off x="5056632"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أَتَوَضَّأُ</a:t>
            </a:r>
            <a:endParaRPr lang="ar-SA" sz="2200" dirty="0"/>
          </a:p>
        </p:txBody>
      </p:sp>
      <p:sp>
        <p:nvSpPr>
          <p:cNvPr id="23" name="Text 20"/>
          <p:cNvSpPr txBox="1"/>
          <p:nvPr/>
        </p:nvSpPr>
        <p:spPr>
          <a:xfrm>
            <a:off x="566928" y="2267712"/>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the doubled middle letter (shadda)</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262872" y="3072384"/>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تَفَاعَلَ</a:t>
            </a:r>
            <a:endParaRPr lang="ar-SA" sz="2000" dirty="0"/>
          </a:p>
        </p:txBody>
      </p:sp>
      <p:sp>
        <p:nvSpPr>
          <p:cNvPr id="28" name="Text 25"/>
          <p:cNvSpPr txBox="1"/>
          <p:nvPr/>
        </p:nvSpPr>
        <p:spPr>
          <a:xfrm>
            <a:off x="921715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VI</a:t>
            </a:r>
            <a:endParaRPr lang="en-US" sz="950" dirty="0"/>
          </a:p>
        </p:txBody>
      </p:sp>
      <p:sp>
        <p:nvSpPr>
          <p:cNvPr id="29" name="Text 26"/>
          <p:cNvSpPr txBox="1"/>
          <p:nvPr/>
        </p:nvSpPr>
        <p:spPr>
          <a:xfrm>
            <a:off x="5056632"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أَتَنَاوَلُ</a:t>
            </a:r>
            <a:endParaRPr lang="ar-SA" sz="2200" dirty="0"/>
          </a:p>
        </p:txBody>
      </p:sp>
      <p:sp>
        <p:nvSpPr>
          <p:cNvPr id="30" name="Text 27"/>
          <p:cNvSpPr txBox="1"/>
          <p:nvPr/>
        </p:nvSpPr>
        <p:spPr>
          <a:xfrm>
            <a:off x="566928" y="3054096"/>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 the long ā (</a:t>
            </a:r>
            <a:pPr algn="l" indent="0" marL="0">
              <a:buNone/>
            </a:pPr>
            <a:r>
              <a:rPr lang="ar-SA" altLang="en-US" sz="1450" dirty="0">
                <a:solidFill>
                  <a:srgbClr val="5A6472"/>
                </a:solidFill>
                <a:latin typeface="Amiri" pitchFamily="2" charset="-78"/>
                <a:ea typeface="Amiri" pitchFamily="2" charset="-78"/>
                <a:cs typeface="Amiri" pitchFamily="2" charset="-78"/>
              </a:rPr>
              <a:t>ـَا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262872" y="3858768"/>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اِفْتَعَلَ</a:t>
            </a:r>
            <a:endParaRPr lang="ar-SA" sz="2000" dirty="0"/>
          </a:p>
        </p:txBody>
      </p:sp>
      <p:sp>
        <p:nvSpPr>
          <p:cNvPr id="35" name="Text 32"/>
          <p:cNvSpPr txBox="1"/>
          <p:nvPr/>
        </p:nvSpPr>
        <p:spPr>
          <a:xfrm>
            <a:off x="921715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VIII</a:t>
            </a:r>
            <a:endParaRPr lang="en-US" sz="950" dirty="0"/>
          </a:p>
        </p:txBody>
      </p:sp>
      <p:sp>
        <p:nvSpPr>
          <p:cNvPr id="36" name="Text 33"/>
          <p:cNvSpPr txBox="1"/>
          <p:nvPr/>
        </p:nvSpPr>
        <p:spPr>
          <a:xfrm>
            <a:off x="5056632"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أَغْتَسِلُ · أَرْتَدِي</a:t>
            </a:r>
            <a:endParaRPr lang="ar-SA" sz="2200" dirty="0"/>
          </a:p>
        </p:txBody>
      </p:sp>
      <p:sp>
        <p:nvSpPr>
          <p:cNvPr id="37" name="Text 34"/>
          <p:cNvSpPr txBox="1"/>
          <p:nvPr/>
        </p:nvSpPr>
        <p:spPr>
          <a:xfrm>
            <a:off x="566928" y="3840480"/>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 after the first root letter</a:t>
            </a:r>
            <a:endParaRPr lang="en-US" sz="110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262872" y="4645152"/>
            <a:ext cx="237744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اِسْتَفْعَلَ</a:t>
            </a:r>
            <a:endParaRPr lang="ar-SA" sz="2000" dirty="0"/>
          </a:p>
        </p:txBody>
      </p:sp>
      <p:sp>
        <p:nvSpPr>
          <p:cNvPr id="40" name="Text 37"/>
          <p:cNvSpPr txBox="1"/>
          <p:nvPr/>
        </p:nvSpPr>
        <p:spPr>
          <a:xfrm>
            <a:off x="921715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Form X</a:t>
            </a:r>
            <a:endParaRPr lang="en-US" sz="950" dirty="0"/>
          </a:p>
        </p:txBody>
      </p:sp>
      <p:sp>
        <p:nvSpPr>
          <p:cNvPr id="41" name="Text 38"/>
          <p:cNvSpPr txBox="1"/>
          <p:nvPr/>
        </p:nvSpPr>
        <p:spPr>
          <a:xfrm>
            <a:off x="5056632" y="4626864"/>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أَسْتَيْقِظُ · أَسْتَعِدُّ · أَسْتَقِلُّ</a:t>
            </a:r>
            <a:endParaRPr lang="ar-SA" sz="2200" dirty="0"/>
          </a:p>
        </p:txBody>
      </p:sp>
      <p:sp>
        <p:nvSpPr>
          <p:cNvPr id="42" name="Text 39"/>
          <p:cNvSpPr txBox="1"/>
          <p:nvPr/>
        </p:nvSpPr>
        <p:spPr>
          <a:xfrm>
            <a:off x="566928" y="4626864"/>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t>
            </a:r>
            <a:pPr algn="l" indent="0" marL="0">
              <a:buNone/>
            </a:pPr>
            <a:r>
              <a:rPr lang="ar-SA" altLang="en-US" sz="1450" dirty="0">
                <a:solidFill>
                  <a:srgbClr val="5A6472"/>
                </a:solidFill>
                <a:latin typeface="Amiri" pitchFamily="2" charset="-78"/>
                <a:ea typeface="Amiri" pitchFamily="2" charset="-78"/>
                <a:cs typeface="Amiri" pitchFamily="2" charset="-78"/>
              </a:rPr>
              <a:t>سْتَ</a:t>
            </a:r>
            <a:pPr algn="l" indent="0" marL="0">
              <a:buNone/>
            </a:pPr>
            <a:r>
              <a:rPr lang="en-US" sz="1100" dirty="0">
                <a:solidFill>
                  <a:srgbClr val="5A6472"/>
                </a:solidFill>
                <a:latin typeface="Calibri" pitchFamily="34" charset="0"/>
                <a:cs typeface="Amiri" pitchFamily="2" charset="-78"/>
              </a:rPr>
              <a:t> at the start</a:t>
            </a:r>
            <a:endParaRPr lang="en-US" sz="11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3 · BUILD A CONNECTED ROUTINE, NOT A LIST (WEBSITE)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 + verb + time / detail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رَابِطٌ + فِعْلٌ + وَقْتٌ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رَابِطٌ</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connector</a:t>
            </a:r>
            <a:endParaRPr lang="en-US" sz="900" dirty="0"/>
          </a:p>
        </p:txBody>
      </p:sp>
      <p:sp>
        <p:nvSpPr>
          <p:cNvPr id="19" name="Shape 16"/>
          <p:cNvSpPr/>
          <p:nvPr/>
        </p:nvSpPr>
        <p:spPr>
          <a:xfrm>
            <a:off x="6336792" y="1810512"/>
            <a:ext cx="2642616" cy="566928"/>
          </a:xfrm>
          <a:prstGeom prst="roundRect">
            <a:avLst>
              <a:gd name="adj" fmla="val 9677"/>
            </a:avLst>
          </a:prstGeom>
          <a:solidFill>
            <a:srgbClr val="1D5FBF"/>
          </a:solidFill>
          <a:ln w="12700">
            <a:solidFill>
              <a:srgbClr val="1D5FB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فِعْلٌ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verb (who?)</a:t>
            </a:r>
            <a:endParaRPr lang="en-US" sz="900" dirty="0"/>
          </a:p>
        </p:txBody>
      </p:sp>
      <p:sp>
        <p:nvSpPr>
          <p:cNvPr id="22" name="Shape 19"/>
          <p:cNvSpPr/>
          <p:nvPr/>
        </p:nvSpPr>
        <p:spPr>
          <a:xfrm>
            <a:off x="3584448" y="1810512"/>
            <a:ext cx="2642616" cy="566928"/>
          </a:xfrm>
          <a:prstGeom prst="roundRect">
            <a:avLst>
              <a:gd name="adj" fmla="val 9677"/>
            </a:avLst>
          </a:prstGeom>
          <a:solidFill>
            <a:srgbClr val="C77700"/>
          </a:solidFill>
          <a:ln w="12700">
            <a:solidFill>
              <a:srgbClr val="C77700"/>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وَقْتٌ / تَفْصِيلٌ</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time / detail</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First I wake up at six.</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أَوَّلًا</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أَسْتَيْقِظُ</a:t>
            </a:r>
            <a:endParaRPr lang="ar-SA" sz="2400" dirty="0"/>
          </a:p>
        </p:txBody>
      </p:sp>
      <p:sp>
        <p:nvSpPr>
          <p:cNvPr id="30" name="Shape 27"/>
          <p:cNvSpPr/>
          <p:nvPr/>
        </p:nvSpPr>
        <p:spPr>
          <a:xfrm>
            <a:off x="3584448" y="2487168"/>
            <a:ext cx="2642616" cy="768096"/>
          </a:xfrm>
          <a:prstGeom prst="roundRect">
            <a:avLst>
              <a:gd name="adj" fmla="val 7143"/>
            </a:avLst>
          </a:prstGeom>
          <a:solidFill>
            <a:srgbClr val="FDF3E3"/>
          </a:solidFill>
          <a:ln w="9525">
            <a:solidFill>
              <a:srgbClr val="FDF3E3"/>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السَّادِسَةِ.</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Then I shower and get dressed.</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ثُمَّ</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أَغْتَسِلُ</a:t>
            </a:r>
            <a:endParaRPr lang="ar-SA" sz="2400" dirty="0"/>
          </a:p>
        </p:txBody>
      </p:sp>
      <p:sp>
        <p:nvSpPr>
          <p:cNvPr id="37" name="Shape 34"/>
          <p:cNvSpPr/>
          <p:nvPr/>
        </p:nvSpPr>
        <p:spPr>
          <a:xfrm>
            <a:off x="3584448" y="3364992"/>
            <a:ext cx="2642616" cy="768096"/>
          </a:xfrm>
          <a:prstGeom prst="roundRect">
            <a:avLst>
              <a:gd name="adj" fmla="val 7143"/>
            </a:avLst>
          </a:prstGeom>
          <a:solidFill>
            <a:srgbClr val="FDF3E3"/>
          </a:solidFill>
          <a:ln w="9525">
            <a:solidFill>
              <a:srgbClr val="FDF3E3"/>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وَأَرْتَدِي مَلَابِسِي.</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Usually I have breakfast with my family.</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عَادَةً</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أَتَنَاوَلُ الإِفْطَارَ</a:t>
            </a:r>
            <a:endParaRPr lang="ar-SA" sz="2400" dirty="0"/>
          </a:p>
        </p:txBody>
      </p:sp>
      <p:sp>
        <p:nvSpPr>
          <p:cNvPr id="44" name="Shape 41"/>
          <p:cNvSpPr/>
          <p:nvPr/>
        </p:nvSpPr>
        <p:spPr>
          <a:xfrm>
            <a:off x="3584448" y="4242816"/>
            <a:ext cx="2642616" cy="768096"/>
          </a:xfrm>
          <a:prstGeom prst="roundRect">
            <a:avLst>
              <a:gd name="adj" fmla="val 7143"/>
            </a:avLst>
          </a:prstGeom>
          <a:solidFill>
            <a:srgbClr val="FDF3E3"/>
          </a:solidFill>
          <a:ln w="9525">
            <a:solidFill>
              <a:srgbClr val="FDF3E3"/>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أُسْرَتِي.</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Finally I leave the house.</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أَخِيرًا</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أَخْرُجُ</a:t>
            </a:r>
            <a:endParaRPr lang="ar-SA" sz="2400" dirty="0"/>
          </a:p>
        </p:txBody>
      </p:sp>
      <p:sp>
        <p:nvSpPr>
          <p:cNvPr id="51" name="Shape 48"/>
          <p:cNvSpPr/>
          <p:nvPr/>
        </p:nvSpPr>
        <p:spPr>
          <a:xfrm>
            <a:off x="3584448" y="5120640"/>
            <a:ext cx="2642616" cy="768096"/>
          </a:xfrm>
          <a:prstGeom prst="roundRect">
            <a:avLst>
              <a:gd name="adj" fmla="val 7143"/>
            </a:avLst>
          </a:prstGeom>
          <a:solidFill>
            <a:srgbClr val="FDF3E3"/>
          </a:solidFill>
          <a:ln w="9525">
            <a:solidFill>
              <a:srgbClr val="FDF3E3"/>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 البَيْتِ.</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Frequency words (</a:t>
            </a:r>
            <a:pPr algn="l" indent="0" marL="0">
              <a:buNone/>
            </a:pPr>
            <a:r>
              <a:rPr lang="ar-SA" altLang="en-US" sz="1550" b="1" dirty="0">
                <a:solidFill>
                  <a:srgbClr val="8A6D1E"/>
                </a:solidFill>
                <a:latin typeface="Amiri" pitchFamily="2" charset="-78"/>
                <a:ea typeface="Amiri" pitchFamily="2" charset="-78"/>
                <a:cs typeface="Amiri" pitchFamily="2" charset="-78"/>
              </a:rPr>
              <a:t>عَادَةً، دَائِمًا، أَحْيَانًا</a:t>
            </a:r>
            <a:pPr algn="l" indent="0" marL="0">
              <a:buNone/>
            </a:pPr>
            <a:r>
              <a:rPr lang="en-US" sz="1200" b="1" dirty="0">
                <a:solidFill>
                  <a:srgbClr val="8A6D1E"/>
                </a:solidFill>
                <a:latin typeface="Calibri" pitchFamily="34" charset="0"/>
                <a:cs typeface="Amiri" pitchFamily="2" charset="-78"/>
              </a:rPr>
              <a:t>) can go at the start or after the verb.</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Derived verb patterns in a morning routine</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050" b="1" dirty="0">
                <a:solidFill>
                  <a:srgbClr val="8A6D1E"/>
                </a:solidFill>
                <a:latin typeface="Amiri" pitchFamily="2" charset="-78"/>
                <a:ea typeface="Amiri" pitchFamily="2" charset="-78"/>
                <a:cs typeface="Amiri" pitchFamily="2" charset="-78"/>
              </a:rPr>
              <a:t>أَوْزَانُ الأَفْعَالِ المَزِيدَةِ فِي الرُّوتِينِ الصَّبَاحِيِّ</a:t>
            </a:r>
            <a:endParaRPr lang="ar-SA" sz="20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Recognise Form V as a patterned verb</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يَتَفَعَّلُ ← أَتَفَعَّلُ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يَتَوَضَّأُ.   ·   أَنَا أَتَوَضَّأُ.   ·   هِيَ تَتَوَضَّأُ.</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 Forms VI, VIII and X</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تَفَاعَلَ · اِفْتَعَلَ · اِسْتَفْعَلَ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أَتَنَاوَلُ الإِفْطَارَ.   ·   أَغْتَسِلُ وَأَرْتَدِي مَلَابِسِي.   ·   أَسْتَيْقِظُ ثُمَّ أَسْتَعِدُّ.</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Match the person prefix to the subject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أَنا أَـ · أَنْتَ تَـ · هُوَ يَـ · هِيَ تَـ · نَحْنُ نَـ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ea typeface="Amiri" pitchFamily="2" charset="-78"/>
                <a:cs typeface="Amiri" pitchFamily="2" charset="-78"/>
              </a:rPr>
              <a:t>أَنَا أَسْتَيْقِظُ مُبَكِّرًا.   ·   أَخِي يَسْتَعِدُّ بِسُرْعَةٍ.   ·   أُخْتِي تَتَنَاوَلُ الإِفْطَارَ.   ·   نَحْنُ نَخْرُجُ مَعًا.</a:t>
            </a:r>
            <a:endParaRPr lang="ar-SA" sz="19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Build a connected routine, not a list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رَابِطٌ + فِعْلٌ + وَقْتٌ / تَفْصِيلٌ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أَوَّلًا أَسْتَيْقِظُ فِي السَّادِسَةِ.   ·   ثُمَّ أَغْتَسِلُ وَأَرْتَدِي مَلَابِسِي.   ·   عَادَةً أَتَنَاوَلُ الإِفْطَارَ مَعَ أُسْرَتِي.   ·   أَخِيرًا أَخْرُجُ مِنَ البَيْتِ.</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فِي السَّادِسَةِ.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تَسْتَيْقِظُ</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connected sequence.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أَغْتَسِلُ. أَخْرُجُ.</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 أَسْتَيْقِظُ، ثُمَّ أَغْتَسِلُ، وَأَخِيرًا أَخْرُجُ.</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 أَسْتَيْقِظُ أَوَّلًا أَخْرُجُ.</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تَتَوَضَّأُ.</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يَتَوَضَّأُ.</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أَتَوَضَّأُ.</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 wake up”.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تَسْتَيْقِظُ</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takes the prefix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فِي السَّادِسَةِ.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تَسْتَيْقِظُ</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أَسْتَيْقِظُ</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uses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in the present tense.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connected sequence.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أَسْتَيْقِظُ. أَغْتَسِلُ. أَخْرُجُ.</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أَوَّلًا أَسْتَيْقِظُ، ثُمَّ أَغْتَسِلُ، وَأَخِيرًا أَخْرُجُ.</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 أَسْتَيْقِظُ أَوَّلًا أَخْرُجُ.</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sequence markers create a logical order.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تَتَوَضَّأُ.</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يَتَوَضَّأُ.</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أَتَوَضَّأُ.</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third-person subject takes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my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Wake up + time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أَوَّلًا</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سْتَيْقِظُ فِي السَّادِسَةِ.</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 </a:t>
            </a:r>
            <a:pPr algn="l" indent="0" marL="0">
              <a:buNone/>
            </a:pPr>
            <a:r>
              <a:rPr lang="ar-SA" altLang="en-US" sz="1500" dirty="0">
                <a:solidFill>
                  <a:srgbClr val="1F2A37"/>
                </a:solidFill>
                <a:latin typeface="Amiri" pitchFamily="2" charset="-78"/>
                <a:ea typeface="Amiri" pitchFamily="2" charset="-78"/>
                <a:cs typeface="Amiri" pitchFamily="2" charset="-78"/>
              </a:rPr>
              <a:t>أَـ</a:t>
            </a:r>
            <a:pPr algn="l" indent="0" marL="0">
              <a:buNone/>
            </a:pPr>
            <a:r>
              <a:rPr lang="en-US" sz="1150" dirty="0">
                <a:solidFill>
                  <a:srgbClr val="1F2A37"/>
                </a:solidFill>
                <a:latin typeface="Calibri" pitchFamily="34" charset="0"/>
                <a:cs typeface="Amiri" pitchFamily="2" charset="-78"/>
              </a:rPr>
              <a:t>. Keep </a:t>
            </a:r>
            <a:pPr algn="l" indent="0" marL="0">
              <a:buNone/>
            </a:pPr>
            <a:r>
              <a:rPr lang="ar-SA" altLang="en-US" sz="1500" dirty="0">
                <a:solidFill>
                  <a:srgbClr val="1F2A37"/>
                </a:solidFill>
                <a:latin typeface="Amiri" pitchFamily="2" charset="-78"/>
                <a:ea typeface="Amiri" pitchFamily="2" charset="-78"/>
                <a:cs typeface="Amiri" pitchFamily="2" charset="-78"/>
              </a:rPr>
              <a:t>سْتَ</a:t>
            </a:r>
            <a:pPr algn="l" indent="0" marL="0">
              <a:buNone/>
            </a:pPr>
            <a:r>
              <a:rPr lang="en-US" sz="1150" dirty="0">
                <a:solidFill>
                  <a:srgbClr val="1F2A37"/>
                </a:solidFill>
                <a:latin typeface="Calibri" pitchFamily="34" charset="0"/>
                <a:cs typeface="Amiri" pitchFamily="2" charset="-78"/>
              </a:rPr>
              <a:t> (Form X).</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Wash + dress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ثُمَّ</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غْتَسِلُ وَ</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رْتَدِي مَلَابِسِي.</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actions joined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Someone else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أُخْتِي </a:t>
            </a:r>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تَنَاوَلُ الإِفْطَارَ قَبْلِي.</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sister → she → </a:t>
            </a:r>
            <a:pPr algn="l" indent="0" marL="0">
              <a:buNone/>
            </a:pPr>
            <a:r>
              <a:rPr lang="ar-SA" altLang="en-US" sz="1500" dirty="0">
                <a:solidFill>
                  <a:srgbClr val="1F2A37"/>
                </a:solidFill>
                <a:latin typeface="Amiri" pitchFamily="2" charset="-78"/>
                <a:ea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Frequency + finish</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عَادَةً</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خْرُجُ فِي السَّابِعَةِ وَالنِّصْفِ.</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frequency word and an exact time.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0E7C86"/>
                </a:solidFill>
                <a:latin typeface="Amiri" pitchFamily="2" charset="-78"/>
                <a:ea typeface="Amiri" pitchFamily="2" charset="-78"/>
                <a:cs typeface="Amiri" pitchFamily="2" charset="-78"/>
              </a:rPr>
              <a:t>أَوَّلًا</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ea typeface="Amiri" pitchFamily="2" charset="-78"/>
                <a:cs typeface="Amiri" pitchFamily="2" charset="-78"/>
              </a:rPr>
              <a:t>أَ</a:t>
            </a:r>
            <a:pPr rtl="1" algn="r" indent="0" marL="0">
              <a:buNone/>
            </a:pPr>
            <a:r>
              <a:rPr lang="ar-SA" altLang="en-US" sz="1900" b="1" dirty="0">
                <a:solidFill>
                  <a:srgbClr val="1B3B6F"/>
                </a:solidFill>
                <a:latin typeface="Amiri" pitchFamily="2" charset="-78"/>
                <a:ea typeface="Amiri" pitchFamily="2" charset="-78"/>
                <a:cs typeface="Amiri" pitchFamily="2" charset="-78"/>
              </a:rPr>
              <a:t>سْتَيْقِظُ فِي السَّادِسَةِ، </a:t>
            </a:r>
            <a:pPr rtl="1" algn="r" indent="0" marL="0">
              <a:buNone/>
            </a:pPr>
            <a:r>
              <a:rPr lang="ar-SA" altLang="en-US" sz="1900" b="1" dirty="0">
                <a:solidFill>
                  <a:srgbClr val="0E7C86"/>
                </a:solidFill>
                <a:latin typeface="Amiri" pitchFamily="2" charset="-78"/>
                <a:ea typeface="Amiri" pitchFamily="2" charset="-78"/>
                <a:cs typeface="Amiri" pitchFamily="2" charset="-78"/>
              </a:rPr>
              <a:t>ثُمَّ</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ea typeface="Amiri" pitchFamily="2" charset="-78"/>
                <a:cs typeface="Amiri" pitchFamily="2" charset="-78"/>
              </a:rPr>
              <a:t>أَ</a:t>
            </a:r>
            <a:pPr rtl="1" algn="r" indent="0" marL="0">
              <a:buNone/>
            </a:pPr>
            <a:r>
              <a:rPr lang="ar-SA" altLang="en-US" sz="1900" b="1" dirty="0">
                <a:solidFill>
                  <a:srgbClr val="1B3B6F"/>
                </a:solidFill>
                <a:latin typeface="Amiri" pitchFamily="2" charset="-78"/>
                <a:ea typeface="Amiri" pitchFamily="2" charset="-78"/>
                <a:cs typeface="Amiri" pitchFamily="2" charset="-78"/>
              </a:rPr>
              <a:t>غْتَسِلُ وَ</a:t>
            </a:r>
            <a:pPr rtl="1" algn="r" indent="0" marL="0">
              <a:buNone/>
            </a:pPr>
            <a:r>
              <a:rPr lang="ar-SA" altLang="en-US" sz="1900" b="1" dirty="0">
                <a:solidFill>
                  <a:srgbClr val="1D5FBF"/>
                </a:solidFill>
                <a:latin typeface="Amiri" pitchFamily="2" charset="-78"/>
                <a:ea typeface="Amiri" pitchFamily="2" charset="-78"/>
                <a:cs typeface="Amiri" pitchFamily="2" charset="-78"/>
              </a:rPr>
              <a:t>أَ</a:t>
            </a:r>
            <a:pPr rtl="1" algn="r" indent="0" marL="0">
              <a:buNone/>
            </a:pPr>
            <a:r>
              <a:rPr lang="ar-SA" altLang="en-US" sz="1900" b="1" dirty="0">
                <a:solidFill>
                  <a:srgbClr val="1B3B6F"/>
                </a:solidFill>
                <a:latin typeface="Amiri" pitchFamily="2" charset="-78"/>
                <a:ea typeface="Amiri" pitchFamily="2" charset="-78"/>
                <a:cs typeface="Amiri" pitchFamily="2" charset="-78"/>
              </a:rPr>
              <a:t>رْتَدِي مَلَابِسِي. أُخْتِي </a:t>
            </a:r>
            <a:pPr rtl="1" algn="r" indent="0" marL="0">
              <a:buNone/>
            </a:pPr>
            <a:r>
              <a:rPr lang="ar-SA" altLang="en-US" sz="1900" b="1" dirty="0">
                <a:solidFill>
                  <a:srgbClr val="D6336C"/>
                </a:solidFill>
                <a:latin typeface="Amiri" pitchFamily="2" charset="-78"/>
                <a:ea typeface="Amiri" pitchFamily="2" charset="-78"/>
                <a:cs typeface="Amiri" pitchFamily="2" charset="-78"/>
              </a:rPr>
              <a:t>تَ</a:t>
            </a:r>
            <a:pPr rtl="1" algn="r" indent="0" marL="0">
              <a:buNone/>
            </a:pPr>
            <a:r>
              <a:rPr lang="ar-SA" altLang="en-US" sz="1900" b="1" dirty="0">
                <a:solidFill>
                  <a:srgbClr val="1B3B6F"/>
                </a:solidFill>
                <a:latin typeface="Amiri" pitchFamily="2" charset="-78"/>
                <a:ea typeface="Amiri" pitchFamily="2" charset="-78"/>
                <a:cs typeface="Amiri" pitchFamily="2" charset="-78"/>
              </a:rPr>
              <a:t>تَنَاوَلُ الإِفْطَارَ قَبْلِي. </a:t>
            </a:r>
            <a:pPr rtl="1" algn="r" indent="0" marL="0">
              <a:buNone/>
            </a:pPr>
            <a:r>
              <a:rPr lang="ar-SA" altLang="en-US" sz="1900" b="1" dirty="0">
                <a:solidFill>
                  <a:srgbClr val="0E7C86"/>
                </a:solidFill>
                <a:latin typeface="Amiri" pitchFamily="2" charset="-78"/>
                <a:ea typeface="Amiri" pitchFamily="2" charset="-78"/>
                <a:cs typeface="Amiri" pitchFamily="2" charset="-78"/>
              </a:rPr>
              <a:t>عَادَةً</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1D5FBF"/>
                </a:solidFill>
                <a:latin typeface="Amiri" pitchFamily="2" charset="-78"/>
                <a:ea typeface="Amiri" pitchFamily="2" charset="-78"/>
                <a:cs typeface="Amiri" pitchFamily="2" charset="-78"/>
              </a:rPr>
              <a:t>أَ</a:t>
            </a:r>
            <a:pPr rtl="1" algn="r" indent="0" marL="0">
              <a:buNone/>
            </a:pPr>
            <a:r>
              <a:rPr lang="ar-SA" altLang="en-US" sz="1900" b="1" dirty="0">
                <a:solidFill>
                  <a:srgbClr val="1B3B6F"/>
                </a:solidFill>
                <a:latin typeface="Amiri" pitchFamily="2" charset="-78"/>
                <a:ea typeface="Amiri" pitchFamily="2" charset="-78"/>
                <a:cs typeface="Amiri" pitchFamily="2" charset="-78"/>
              </a:rPr>
              <a:t>خْرُجُ مِنَ البَيْتِ فِي السَّابِعَةِ وَالنِّصْفِ.</a:t>
            </a:r>
            <a:endParaRPr lang="ar-SA" sz="19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First I wake up at six, then I shower and get dressed. My sister has breakfast before me. Usually I leave the house at half past seven.</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أَسْتَيْقِظُ فِي السَّاعَةِ السَّادِسَةِ وَالنِّصْفِ.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wake up at half past six.</a:t>
            </a:r>
            <a:endParaRPr lang="en-US" sz="1250" dirty="0"/>
          </a:p>
          <a:p>
            <a:pPr indent="0" marL="0">
              <a:buNone/>
            </a:pPr>
            <a:r>
              <a:rPr lang="en-US" sz="1050" i="1" dirty="0">
                <a:solidFill>
                  <a:srgbClr val="8A6D1E"/>
                </a:solidFill>
                <a:latin typeface="Calibri" pitchFamily="34" charset="0"/>
                <a:cs typeface="Amiri" pitchFamily="2" charset="-78"/>
              </a:rPr>
              <a:t>Keep the full Form X shape.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ثُمَّ أَتَوَضَّأُ وَأَسْتَعِدُّ لِلْمَدْرَسَةِ.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Then I perform wudu and get ready for school.</a:t>
            </a:r>
            <a:endParaRPr lang="en-US" sz="1250" dirty="0"/>
          </a:p>
          <a:p>
            <a:pPr indent="0" marL="0">
              <a:buNone/>
            </a:pPr>
            <a:r>
              <a:rPr lang="en-US" sz="1050" i="1" dirty="0">
                <a:solidFill>
                  <a:srgbClr val="8A6D1E"/>
                </a:solidFill>
                <a:latin typeface="Calibri" pitchFamily="34" charset="0"/>
                <a:cs typeface="Amiri" pitchFamily="2" charset="-78"/>
              </a:rPr>
              <a:t>Two patterned verbs in one sequence.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أُخْتِي تَتَنَاوَلُ الإِفْطَارَ قَبْلِي.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sister has breakfast before me.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subject → تَـ.</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نَادِرًا مَا أَخْرُجُ مِنْ دُونِ إِفْطَارٍ.</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rarely leave without breakfast.</a:t>
            </a:r>
            <a:endParaRPr lang="en-US" sz="1250" dirty="0"/>
          </a:p>
          <a:p>
            <a:pPr indent="0" marL="0">
              <a:buNone/>
            </a:pPr>
            <a:r>
              <a:rPr lang="en-US" sz="1050" i="1" dirty="0">
                <a:solidFill>
                  <a:srgbClr val="8A6D1E"/>
                </a:solidFill>
                <a:latin typeface="Calibri" pitchFamily="34" charset="0"/>
                <a:cs typeface="Amiri" pitchFamily="2" charset="-78"/>
              </a:rPr>
              <a:t>A more mature frequency expression.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MY MORNING ROUTINE”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picture to the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waking up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brushing teeth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breakfast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أَتَنَاوَلُ الإِفْطَارَ.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أَسْتَيْقِظُ صَبَاحًا.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أُنَظِّفُ أَسْنَانِي.</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الرُّوتِينِ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waking up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أَسْتَيْقِظُ صَبَاحًا.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wake up in the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brushing teeth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أُنَظِّفُ أَسْنَانِي.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brush my teeth.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breakfast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أَتَنَاوَلُ الإِفْطَارَ.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breakfast.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Build the morning in a logical order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مُبَكِّرًا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أَغْتَسِلُ وَأَتَوَضَّأُ</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أَرْتَدِي مَلَابِسِي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الإِفْطَارَ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أُحَضِّرُ حَقِيبَتِي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أَخْرُجُ مِنَ البَيْتِ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أَسْتَقِلُّ الحَافِلَةَ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أَصِلُ إِلَى المَدْرَسَةِ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Waking and washing</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Getting ready and eating</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Leaving and arriving</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Waking and washing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مُبَكِّرًا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أَغْتَسِلُ وَأَتَوَضَّأُ</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Getting ready and eating</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أَرْتَدِي مَلَابِسِي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أَتَنَاوَلُ الإِفْطَارَ</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أُحَضِّرُ حَقِيبَتِي</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Leaving and arriving</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أَخْرُجُ مِنَ البَيْتِ</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أَسْتَقِلُّ الحَافِلَةَ</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أَصِلُ إِلَى المَدْرَسَةِ</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contains the complete Form V pattern?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أَوْضَأُ</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أَتَوَضَأ</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أَتَوَضَّأُ</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أَخِي ___ لِلْمَدْرَسَةِ.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أَسْتَعِدُّ</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يَسْتَعِدُّ</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تَسْتَعِدُّ</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“We have breakfast every day”?</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نَحْنُ يَتَنَاوَلُ الإِفْطَارَ.</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نَحْنُ نَتَنَاوَلُ الإِفْطَارَ كُلَّ يَوْمٍ.</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نَتَنَاوَلُ الإِفْطَارَ.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frequency adverb used naturally?</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أَتَنَاوَلُ عَادَةً الإِفْطَارَ.</a:t>
            </a:r>
            <a:endParaRPr lang="ar-SA" sz="220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عَادَةً أَتَنَاوَلُ الإِفْطَارَ.</a:t>
            </a:r>
            <a:endParaRPr lang="ar-SA" sz="220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can be natural.</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contains the complete Form V pattern?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أَوْضَأُ</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أَتَوَضَأ</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أَتَوَضَّأُ</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Keep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and the doubled consonant: </a:t>
            </a:r>
            <a:pPr algn="l" indent="0" marL="0">
              <a:buNone/>
            </a:pPr>
            <a:r>
              <a:rPr lang="ar-SA" altLang="en-US" sz="1350" dirty="0">
                <a:solidFill>
                  <a:srgbClr val="8A6D1E"/>
                </a:solidFill>
                <a:latin typeface="Amiri" pitchFamily="2" charset="-78"/>
                <a:ea typeface="Amiri" pitchFamily="2" charset="-78"/>
                <a:cs typeface="Amiri" pitchFamily="2" charset="-78"/>
              </a:rPr>
              <a:t>أَتَوَضَّأُ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أَخِي ___ لِلْمَدْرَسَةِ.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أَسْتَعِدُّ</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يَسْتَعِدُّ</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تَسْتَعِدُّ</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masculine third-person subject takes </a:t>
            </a:r>
            <a:pPr algn="l" indent="0" marL="0">
              <a:buNone/>
            </a:pPr>
            <a:r>
              <a:rPr lang="ar-SA" altLang="en-US" sz="1350" dirty="0">
                <a:solidFill>
                  <a:srgbClr val="8A6D1E"/>
                </a:solidFill>
                <a:latin typeface="Amiri" pitchFamily="2" charset="-78"/>
                <a:ea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“We have breakfast every day”?</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نَحْنُ يَتَنَاوَلُ الإِفْطَارَ.</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نَحْنُ نَتَنَاوَلُ الإِفْطَارَ كُلَّ يَوْمٍ.</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نَتَنَاوَلُ الإِفْطَارَ.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نَـ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نَتَنَاوَلُ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frequency adverb used naturally?</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أَتَنَاوَلُ عَادَةً الإِفْطَارَ.</a:t>
            </a:r>
            <a:endParaRPr lang="ar-SA" sz="22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عَادَةً أَتَنَاوَلُ الإِفْطَارَ.</a:t>
            </a:r>
            <a:endParaRPr lang="ar-SA" sz="22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 can be natural.</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allows the adverb near the verb or at the start for emphasis.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يَسْتَيْقِظُ مُبَكِّرًا.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subject? Check the first letter.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يَتَنَاوَلُ الإِفْطَارَ.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هِيَ</a:t>
            </a:r>
            <a:pPr algn="l" indent="0" marL="0">
              <a:buNone/>
            </a:pPr>
            <a:r>
              <a:rPr lang="en-US" sz="1300" i="1" dirty="0">
                <a:solidFill>
                  <a:srgbClr val="5A6472"/>
                </a:solidFill>
                <a:latin typeface="Calibri" pitchFamily="34" charset="0"/>
                <a:cs typeface="Amiri" pitchFamily="2" charset="-78"/>
              </a:rPr>
              <a:t> = she. Which prefix?</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أَسْتَعِدُّ ثُمَّ أَوَّلًا أَسْتَيْقِظُ.</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the order make sense?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يَسْتَيْقِظُ مُبَكِّرًا.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أَسْتَيْقِظُ مُبَكِّرًا.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first-person prefix is </a:t>
            </a:r>
            <a:pPr algn="l" indent="0" marL="0">
              <a:buNone/>
            </a:pPr>
            <a:r>
              <a:rPr lang="ar-SA" altLang="en-US" sz="1500" b="1" dirty="0">
                <a:solidFill>
                  <a:srgbClr val="1B3B6F"/>
                </a:solidFill>
                <a:latin typeface="Amiri" pitchFamily="2" charset="-78"/>
                <a:ea typeface="Amiri" pitchFamily="2" charset="-78"/>
                <a:cs typeface="Amiri" pitchFamily="2" charset="-78"/>
              </a:rPr>
              <a:t>أَـ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يَتَنَاوَلُ الإِفْطَارَ.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تَتَنَاوَلُ الإِفْطَارَ.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third-person subject takes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أَسْتَعِدُّ ثُمَّ أَوَّلًا أَسْتَيْقِظُ.</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أَسْتَيْقِظُ، ثُمَّ أَسْتَعِدُّ.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Sequence markers must match the real order.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busy school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speaker usually wake up?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6:15</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later does the brother wake up?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minutes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before getting dressed?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breakfast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takes the bus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showers and performs wudu</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6:50</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7:10</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useful?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the bus arrive.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helps concentration.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school shorter.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السَّادِسَةِ</a:t>
            </a:r>
            <a:pPr algn="l" indent="0" marL="0">
              <a:lnSpc>
                <a:spcPct val="115000"/>
              </a:lnSpc>
              <a:buNone/>
            </a:pPr>
            <a:r>
              <a:rPr lang="en-US" sz="1250" dirty="0">
                <a:solidFill>
                  <a:srgbClr val="1E6B52"/>
                </a:solidFill>
                <a:latin typeface="Calibri" pitchFamily="34" charset="0"/>
                <a:cs typeface="Amiri" pitchFamily="2" charset="-78"/>
              </a:rPr>
              <a:t> (six)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أَغْتَسِلُ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الإِفْطَارَ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أَسْتَيْقِظُ عَادَةً فِي السَّادِسَةِ وَالرُّبْعِ، وَلٰكِنَّ أَخِي يَسْتَيْقِظُ بَعْدِي بِنِصْفِ سَاعَةٍ.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usually wake up at quarter past six, but my brother wakes up half an hour after 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 أَغْتَسِلُ وَأَتَوَضَّأُ، ثُمَّ أَرْتَدِي زِيَّ المَدْرَسَةِ وَأُمَشِّطُ شَعْرِي.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I shower and perform wudu, then I put on my school uniform and comb my hair.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السَّابِعَةِ إِلَّا عَشْرَ دَقَائِقَ أَتَنَاوَلُ إِفْطَارًا خَفِيفًا، وَبَعْدَ ذٰلِكَ أَسْتَعِدُّ لِلْخُرُوجِ.</a:t>
            </a:r>
            <a:endParaRPr lang="ar-SA" sz="19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ten to seven I have a light breakfast, and after that I get ready to leave.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أَسْتَقِلُّ الحَافِلَةَ فِي السَّابِعَةِ وَالنِّصْفِ، وَأَصِلُ إِلَى المَدْرَسَةِ قَبْلَ بَدْءِ الدِّرَاسَةِ بِعَشْرِ دَقَائِقَ.</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take the bus at half past seven, and I arrive at school ten minutes before lessons begin.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أَحْيَانًا أَشْعُرُ بِالنُّعَاسِ، لٰكِنَّ الإِفْطَارَ يُسَاعِدُنِي عَلَى التَّرْكِيزِ.</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I feel sleepy, but breakfast helps me concentrate.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speaker usually wake up?</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6:15</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6:45</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السَّادِسَةِ وَالرُّبْعِ = 6:15.</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later does the brother wake up?</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 minutes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 an hour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بَعْدِي بِنِصْفِ سَاعَةٍ.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before getting dressed?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breakfast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takes the bus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showers and performs wudu</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أَوَّلًا أَغْتَسِلُ وَأَتَوَضَّأُ.</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6:50</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7:10</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السَّابِعَةِ إِلَّا عَشْرَ دَقَائِقَ = 6:50.</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breakfast useful?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makes the bus arrive.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helps concentration.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makes school shorter.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الإِفْطَارُ يُسَاعِدُنِي عَلَى التَّرْكِيزِ.</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السَّادِسَةِ</a:t>
            </a:r>
            <a:pPr algn="l" indent="0" marL="0">
              <a:lnSpc>
                <a:spcPct val="115000"/>
              </a:lnSpc>
              <a:buNone/>
            </a:pPr>
            <a:r>
              <a:rPr lang="en-US" sz="1250" dirty="0">
                <a:solidFill>
                  <a:srgbClr val="1E6B52"/>
                </a:solidFill>
                <a:latin typeface="Calibri" pitchFamily="34" charset="0"/>
                <a:cs typeface="Amiri" pitchFamily="2" charset="-78"/>
              </a:rPr>
              <a:t> (six)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أَغْتَسِلُ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الإِفْطَارَ</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Describe and compare morning routines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فِي الصَّبَاحِ؟</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رُوتِينَكَ الصَّبَاحِيَّ بِالتَّرْتِيبِ.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تَسْتَيْقِظُ فِي أَيَّامِ المَدْرَسَةِ وَفِي نِهَايَةِ الأُسْبُوعِ؟</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رُوتِينِكَ وَرُوتِينِ شَخْصٍ آخَرَ فِي أُسْرَتِكَ.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أَوَّلًا أَسْتَيْقِظُ، ثُمَّ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أَسْتَيْقِظُ فِي ___ ، وَبَعْدَ ذٰلِكَ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أَنَا ___ ، وَلٰكِنَّ أُخْتِي تَـ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يَـ ___ / هِيَ تَـ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تَسْتَيْقِظُ عَادَةً؟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 you usually wake up?</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أَسْتَيْقِظُ فِي السَّادِسَةِ وَالنِّصْفِ، ثُمَّ أَغْتَسِلُ وَأَتَنَاوَلُ الإِفْطَارَ. أُفَضِّلُ أَنْ أَسْتَيْقِظَ مُبَكِّرًا لِأَنَّنِي أَصِلُ إِلَى المَدْرَسَةِ هَادِئًا.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wake up at half past six, then I shower and have breakfast. I prefer to wake up early because I arrive at school calm.</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Build six accurate routine sentences using the model chunks.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Frames + word bank: six morning actions in the “I” form with أَوَّلًا / ثُمَّ.</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8–10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routines and vary the subject pronouns.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exact times and frequency words; describe one family member with يَـ / تَـ.</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how routine affects concentration or wellbeing using a developed opinion.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your real routine with an improved routine; end with an opinion and reason.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أَسْتَيْقِظُ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usually wake up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______ لِلْمَدْرَسَةِ.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get ready for school.</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يَـ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wakes up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تَـ ______ الإِفْطَارَ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has breakfast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نَادِرًا مَا ______ مِنْ دُونِ إِفْطَارٍ.</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rarely leave without breakfast.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أَسْتَيْقِظُ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I wake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shower.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أَرْتَدِي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dressed.</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أَتَنَاوَلُ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breakfast.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 ______ مِنَ البَيْتِ.</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 leave the house.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أَغْتَسِلُ  ·  أَتَوَضَّأُ  ·  أَرْتَدِي مَلَابِسِي  ·  أُنَظِّفُ أَسْنَانِي  ·  أَتَنَاوَلُ  ·  أَسْتَعِدُّ  ·  أَخْرُجُ  ·  أَوَّلًا  ·  ثُمَّ  ·  بَعْدَ ذٰلِكَ  ·  أَخِيرًا  ·  عَادَةً  ·  أَحْيَانًا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90–110 words comparing your real morning routine with an improved routine you would like to follow.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different routine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two derived verbs from different patterns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four sequence or frequency expressions.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Mention an exact time and one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End with an opinion and reason.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وَلٰكِنَّنِي أَحْيَانًا أَبْقَى فِي السَّرِيرِ</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sometimes I stay in bed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أُحَسِّنَ رُوتِينِي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improve my routine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الأَفْضَلِ أَنْ أَضَعَ هَاتِفِي بَعِيدًا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to put my phone away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أُجَهِّزُ حَقِيبَتِي لَيْلًا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prepare my bag at night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رَأْيِي، الرُّوتِينُ المُنَظَّمُ يَجْعَلُ اليَوْمَ أَهْدَأَ</a:t>
            </a:r>
            <a:endParaRPr lang="ar-SA" sz="155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an organised routine makes the day calmer</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أَسْتَيْقِظُ عَادَةً فِي السَّادِسَةِ وَالنِّصْفِ، وَلٰكِنَّنِي أَحْيَانًا أَبْقَى فِي السَّرِيرِ عَشْرَ دَقَائِقَ أُخْرَى. أَوَّلًا أَغْتَسِلُ وَأَتَوَضَّأُ، ثُمَّ أَرْتَدِي مَلَابِسِي وَأَتَنَاوَلُ الإِفْطَارَ. بَعْدَ ذٰلِكَ أَسْتَعِدُّ لِلْمَدْرَسَةِ وَأَخْرُجُ مِنَ البَيْتِ. أُرِيدُ أَنْ أُحَسِّنَ رُوتِينِي؛ فَمِنَ الأَفْضَلِ أَنْ أَضَعَ هَاتِفِي بَعِيدًا وَأَنْ أُجَهِّزَ حَقِيبَتِي لَيْلًا. فِي رَأْيِي، الرُّوتِينُ المُنَظَّمُ يَجْعَلُ اليَوْمَ أَهْدَأَ وَأَكْثَرَ نَجَاحًا.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usually wake up at half past six, but sometimes I stay in bed another ten minutes. First I shower and perform wudu, then I get dressed and have breakfast. After that I get ready for school and leave the house. I want to improve my routine: it is better to put my phone away and prepare my bag at night. In my opinion, an organised routine makes the day calmer and more successful.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six routine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Form X verb</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sequence / frequency words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six morning verbs in the “I” form (</a:t>
            </a:r>
            <a:pPr algn="l" indent="0" marL="0">
              <a:buNone/>
            </a:pPr>
            <a:r>
              <a:rPr lang="ar-SA" altLang="en-US" sz="1700" dirty="0">
                <a:solidFill>
                  <a:srgbClr val="1F2A37"/>
                </a:solidFill>
                <a:latin typeface="Amiri" pitchFamily="2" charset="-78"/>
                <a:ea typeface="Amiri" pitchFamily="2" charset="-78"/>
                <a:cs typeface="Amiri" pitchFamily="2" charset="-78"/>
              </a:rPr>
              <a:t>أَـ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ordered my routine with </a:t>
            </a:r>
            <a:pPr algn="l" indent="0" marL="0">
              <a:buNone/>
            </a:pPr>
            <a:r>
              <a:rPr lang="ar-SA" altLang="en-US" sz="1700" dirty="0">
                <a:solidFill>
                  <a:srgbClr val="1F2A37"/>
                </a:solidFill>
                <a:latin typeface="Amiri" pitchFamily="2" charset="-78"/>
                <a:ea typeface="Amiri" pitchFamily="2" charset="-78"/>
                <a:cs typeface="Amiri" pitchFamily="2" charset="-78"/>
              </a:rPr>
              <a:t>أَوَّلًا / ثُمَّ / أَخِيرًا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changed the prefix for another person (</a:t>
            </a:r>
            <a:pPr algn="l" indent="0" marL="0">
              <a:buNone/>
            </a:pPr>
            <a:r>
              <a:rPr lang="ar-SA" altLang="en-US" sz="1700" dirty="0">
                <a:solidFill>
                  <a:srgbClr val="1F2A37"/>
                </a:solidFill>
                <a:latin typeface="Amiri" pitchFamily="2" charset="-78"/>
                <a:ea typeface="Amiri" pitchFamily="2" charset="-78"/>
                <a:cs typeface="Amiri" pitchFamily="2" charset="-78"/>
              </a:rPr>
              <a:t>يَـ / تَـ / نَـ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exact time and a frequency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every derived verb whole (</a:t>
            </a:r>
            <a:pPr algn="l" indent="0" marL="0">
              <a:buNone/>
            </a:pPr>
            <a:r>
              <a:rPr lang="ar-SA" altLang="en-US" sz="1700" dirty="0">
                <a:solidFill>
                  <a:srgbClr val="1F2A37"/>
                </a:solidFill>
                <a:latin typeface="Amiri" pitchFamily="2" charset="-78"/>
                <a:ea typeface="Amiri" pitchFamily="2" charset="-78"/>
                <a:cs typeface="Amiri" pitchFamily="2" charset="-78"/>
              </a:rPr>
              <a:t>أَسْتَيْقِظُ</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أَتَنَاوَلُ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get ready”?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أَسْتَعِدُّ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أَسْتَقِلُّ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female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يَغْتَسِلُ.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تَغْتَسِلُ.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أَغْتَسِلُ.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أَوَّلًا أَسْتَيْقِظُ، ثُمَّ أَتَنَاوَلُ الإِفْطَارَ.</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ثُمَّ أَسْتَيْقِظُ أَوَّلًا.</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أَخِيرًا أَسْتَيْقِظُ قَبْلَ أَنْ أَنَامَ.</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get ready”?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أَسْتَعِدُّ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أَسْتَيْقِظُ</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أَسْتَقِلُّ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أَسْتَعِدُّ</a:t>
            </a:r>
            <a:pPr algn="l" indent="0" marL="0">
              <a:buNone/>
            </a:pPr>
            <a:r>
              <a:rPr lang="en-US" sz="1050" i="1" dirty="0">
                <a:solidFill>
                  <a:srgbClr val="8A6D1E"/>
                </a:solidFill>
                <a:latin typeface="Calibri" pitchFamily="34" charset="0"/>
                <a:cs typeface="Amiri" pitchFamily="2" charset="-78"/>
              </a:rPr>
              <a:t> = I get ready.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female form.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يَغْتَسِلُ.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هِيَ تَغْتَسِلُ.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أَغْتَسِلُ.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sequence.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ea typeface="Amiri" pitchFamily="2" charset="-78"/>
                <a:cs typeface="Amiri" pitchFamily="2" charset="-78"/>
              </a:rPr>
              <a:t>أَوَّلًا أَسْتَيْقِظُ، ثُمَّ أَتَنَاوَلُ الإِفْطَارَ.</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ثُمَّ أَسْتَيْقِظُ أَوَّلًا.</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ea typeface="Amiri" pitchFamily="2" charset="-78"/>
                <a:cs typeface="Amiri" pitchFamily="2" charset="-78"/>
              </a:rPr>
              <a:t>أَخِيرًا أَسْتَيْقِظُ قَبْلَ أَنْ أَنَامَ.</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order is logical and grammatically complete.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morning routine that changed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العَامِ المَاضِي كُنْتُ أَسْتَيْقِظُ مُتَأَخِّرًا، فَكُنْتُ أَخْرُجُ مِنَ البَيْتِ بِعَجَلَةٍ وَأَصِلُ إِلَى المَدْرَسَةِ مُتْعَبًا. أَمَّا الآنَ فَقَدْ نَظَّمْتُ رُوتِينِي. أَضَعُ المُنَبِّهَ بَعِيدًا عَنِ السَّرِيرِ، وَأَسْتَيْقِظُ فِي السَّادِسَةِ وَالنِّصْفِ. بَعْدَ أَنْ أَغْتَسِلَ وَأَرْتَدِيَ مَلَابِسِي، أَتَنَاوَلُ الإِفْطَارَ وَأُرَاجِعُ حَقِيبَتِي. لَا أَسْتَعْمِلُ هَاتِفِي فِي الصَّبَاحِ إِلَّا لِمُرَاجَعَةِ الوَقْتِ. هٰذَا التَّغْيِيرُ جَعَلَنِي أَكْثَرَ نَشَاطًا وَأَقَلَّ تَوَتُّرًا.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العَامِ المَاضِي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year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كُنْتُ أَسْتَيْقِظُ</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used to wake up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بِعَجَلَةٍ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a hurry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مُتْعَبًا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 الآنَ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 for now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نَظَّمْتُ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organised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أُرَاجِعُ حَقِيبَتِي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check my bag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إِلَّا لِـ</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except for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أَكْثَرَ نَشَاطًا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energetic</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أَقَلَّ تَوَتُّرًا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stressed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writer have last year?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missing breakfast because of sport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waking late and rushing</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 by train</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alarm placed now?</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pillow</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far from the bed</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washing and dressing?</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 and checking the bag</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 games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returning to bed</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phone used in the morning?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social media</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to check the time</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watch videos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effects did the change have?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energetic and less stressed</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tired and late</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hungry and bored</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phrase signals contrast between past and now?</a:t>
            </a:r>
            <a:endParaRPr lang="en-US" sz="110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أَنْ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إِلَّا لِـ</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الآنَ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writer have last year?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missing breakfast because of sport</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waking late and rushing</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 by train</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sentence describes waking late and leaving in a hurry.</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alarm placed now?</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pillow</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kitchen</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far from the bed</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أَضَعُ المُنَبِّهَ بَعِيدًا عَنِ السَّرِيرِ.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after washing and dressing?</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breakfast and checking the bag</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 games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returning to bed</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eats breakfast and reviews the school bag.</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phone used in the morning?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social media</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only to check the time</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watch videos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إِلَّا لِمُرَاجَعَةِ الوَقْتِ.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effects did the change have?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more energetic and less stressed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tired and late</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hungry and bored</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نَشَاطًا وَأَقَلَّ تَوَتُّرًا.</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Which phrase signals contrast between past and now?</a:t>
            </a:r>
            <a:endParaRPr lang="en-US" sz="110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أَنْ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إِلَّا لِـ</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الآنَ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 الآنَ</a:t>
            </a:r>
            <a:pPr algn="l" indent="0" marL="0">
              <a:buNone/>
            </a:pPr>
            <a:r>
              <a:rPr lang="en-US" sz="1050" i="1" dirty="0">
                <a:solidFill>
                  <a:srgbClr val="8A6D1E"/>
                </a:solidFill>
                <a:latin typeface="Calibri" pitchFamily="34" charset="0"/>
                <a:cs typeface="Amiri" pitchFamily="2" charset="-78"/>
              </a:rPr>
              <a:t> introduces the contrasting present situation.</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routine language quest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“I wake up at half past six.”</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فِي السَّادِسَةِ وَالرُّبْعِ.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فِي السَّادِسَةِ وَالنِّصْفِ.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 فِي السَّادِسَةِ وَالنِّصْفِ.</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routine: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أَوَّلًا ___، ثُمَّ أَغْتَسِلُ.</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تَسْتَيْقِظِينَ</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Mariam is describing her morning. Choose the accurate sentence.</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يَتَنَاوَلُ الإِفْطَارَ.</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أَتَنَاوَلُ الإِفْطَارَ.</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تَتَنَاوَلُ الإِفْطَارَ.</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rarely leave the house late”?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دَائِمًا أَخْرُجُ مِنَ البَيْتِ مُتَأَخِّرًا.</a:t>
            </a:r>
            <a:endParaRPr lang="ar-SA" sz="19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أَحْيَانًا يَخْرُجُ مِنَ البَيْتِ مُبَكِّرًا.</a:t>
            </a:r>
            <a:endParaRPr lang="ar-SA" sz="19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نَادِرًا مَا أَخْرُجُ مِنَ البَيْتِ مُتَأَخِّرًا.</a:t>
            </a:r>
            <a:endParaRPr lang="ar-SA" sz="19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coherent morning sequence.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أَوَّلًا أَسْتَيْقِظُ، ثُمَّ أَتَوَضَّأُ، وَبَعْدَ ذٰلِكَ أَرْتَدِي مَلَابِسِي.</a:t>
            </a:r>
            <a:endParaRPr lang="ar-SA" sz="130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أَخِيرًا أَسْتَيْقِظُ، ثُمَّ أَنَامُ.</a:t>
            </a:r>
            <a:endParaRPr lang="ar-SA" sz="130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ثُمَّ أَخْرُجُ، أَوَّلًا أَتَنَاوَلُ الإِفْطَارَ.</a:t>
            </a:r>
            <a:endParaRPr lang="ar-SA" sz="130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sentence:</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يَسْتَيْقِظُ مُبَكِّرًا.</a:t>
            </a:r>
            <a:endParaRPr lang="ar-SA" sz="150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تَسْتَيْقِظُ مُبَكِّرًا.</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أَسْتَيْقِظُ مُبَكِّرًا.</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نَسْتَيْقِظُ مُبَكِّرًا.</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“I wake up at half past six.”</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أَسْتَيْقِظُ فِي السَّادِسَةِ وَالرُّبْعِ.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 فِي السَّادِسَةِ وَالنِّصْفِ.</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 فِي السَّادِسَةِ وَالنِّصْفِ.</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 is the first-person verb, and </a:t>
            </a:r>
            <a:pPr algn="l" indent="0" marL="0">
              <a:buNone/>
            </a:pPr>
            <a:r>
              <a:rPr lang="ar-SA" altLang="en-US" sz="1350" dirty="0">
                <a:solidFill>
                  <a:srgbClr val="8A6D1E"/>
                </a:solidFill>
                <a:latin typeface="Amiri" pitchFamily="2" charset="-78"/>
                <a:ea typeface="Amiri" pitchFamily="2" charset="-78"/>
                <a:cs typeface="Amiri" pitchFamily="2" charset="-78"/>
              </a:rPr>
              <a:t>وَالنِّصْفُ</a:t>
            </a:r>
            <a:pPr algn="l" indent="0" marL="0">
              <a:buNone/>
            </a:pPr>
            <a:r>
              <a:rPr lang="en-US" sz="1050" i="1" dirty="0">
                <a:solidFill>
                  <a:srgbClr val="8A6D1E"/>
                </a:solidFill>
                <a:latin typeface="Calibri" pitchFamily="34" charset="0"/>
                <a:cs typeface="Amiri" pitchFamily="2" charset="-78"/>
              </a:rPr>
              <a:t> means half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routine: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أَوَّلًا ___، ثُمَّ أَغْتَسِلُ.</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تَسْتَيْقِظِينَ</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is “I”, so the verb begins with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Mariam is describing her morning. Choose the accurate sentence.</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 يَتَنَاوَلُ الإِفْطَارَ.</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 أَتَنَاوَلُ الإِفْطَارَ.</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مَرْيَمُ تَتَنَاوَلُ الإِفْطَارَ.</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third-person subject takes </a:t>
            </a:r>
            <a:pPr algn="l" indent="0" marL="0">
              <a:buNone/>
            </a:pPr>
            <a:r>
              <a:rPr lang="ar-SA" altLang="en-US" sz="1350" dirty="0">
                <a:solidFill>
                  <a:srgbClr val="8A6D1E"/>
                </a:solidFill>
                <a:latin typeface="Amiri" pitchFamily="2" charset="-78"/>
                <a:ea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مَرْيَمُ تَتَنَاوَلُ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rarely leave the house late”?</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دَائِمًا أَخْرُجُ مِنَ البَيْتِ مُتَأَخِّرًا.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أَحْيَانًا يَخْرُجُ مِنَ البَيْتِ مُبَكِّرًا.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نَادِرًا مَا أَخْرُجُ مِنَ البَيْتِ مُتَأَخِّرًا.</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نَادِرًا مَا</a:t>
            </a:r>
            <a:pPr algn="l" indent="0" marL="0">
              <a:buNone/>
            </a:pPr>
            <a:r>
              <a:rPr lang="en-US" sz="1050" i="1" dirty="0">
                <a:solidFill>
                  <a:srgbClr val="8A6D1E"/>
                </a:solidFill>
                <a:latin typeface="Calibri" pitchFamily="34" charset="0"/>
                <a:cs typeface="Amiri" pitchFamily="2" charset="-78"/>
              </a:rPr>
              <a:t> means “rarely”, and </a:t>
            </a:r>
            <a:pPr algn="l" indent="0" marL="0">
              <a:buNone/>
            </a:pPr>
            <a:r>
              <a:rPr lang="ar-SA" altLang="en-US" sz="1350" dirty="0">
                <a:solidFill>
                  <a:srgbClr val="8A6D1E"/>
                </a:solidFill>
                <a:latin typeface="Amiri" pitchFamily="2" charset="-78"/>
                <a:ea typeface="Amiri" pitchFamily="2" charset="-78"/>
                <a:cs typeface="Amiri" pitchFamily="2" charset="-78"/>
              </a:rPr>
              <a:t>أَخْرُجُ</a:t>
            </a:r>
            <a:pPr algn="l" indent="0" marL="0">
              <a:buNone/>
            </a:pPr>
            <a:r>
              <a:rPr lang="en-US" sz="1050" i="1" dirty="0">
                <a:solidFill>
                  <a:srgbClr val="8A6D1E"/>
                </a:solidFill>
                <a:latin typeface="Calibri" pitchFamily="34" charset="0"/>
                <a:cs typeface="Amiri" pitchFamily="2" charset="-78"/>
              </a:rPr>
              <a:t> keeps the answer in the first person.</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coherent morning sequence.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أَوَّلًا أَسْتَيْقِظُ، ثُمَّ أَتَوَضَّأُ، وَبَعْدَ ذٰلِكَ أَرْتَدِي مَلَابِسِي.</a:t>
            </a:r>
            <a:endParaRPr lang="ar-SA" sz="13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أَخِيرًا أَسْتَيْقِظُ، ثُمَّ أَنَامُ.</a:t>
            </a:r>
            <a:endParaRPr lang="ar-SA" sz="13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ثُمَّ أَخْرُجُ، أَوَّلًا أَتَنَاوَلُ الإِفْطَارَ.</a:t>
            </a:r>
            <a:endParaRPr lang="ar-SA" sz="13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connectors create a logical order: first wake, then perform wudu, then get dressed.</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 the sentence:</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 يَسْتَيْقِظُ مُبَكِّرًا.</a:t>
            </a:r>
            <a:endParaRPr lang="ar-SA" sz="150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تَسْتَيْقِظُ مُبَكِّرًا.</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أَسْتَيْقِظُ مُبَكِّرًا.</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نَسْتَيْقِظُ مُبَكِّرًا.</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a:t>
            </a:r>
            <a:pPr algn="l" indent="0" marL="0">
              <a:buNone/>
            </a:pPr>
            <a:r>
              <a:rPr lang="ar-SA" altLang="en-US" sz="1350" dirty="0">
                <a:solidFill>
                  <a:srgbClr val="8A6D1E"/>
                </a:solidFill>
                <a:latin typeface="Amiri" pitchFamily="2" charset="-78"/>
                <a:ea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the present-tense verb uses the prefix </a:t>
            </a:r>
            <a:pPr algn="l" indent="0" marL="0">
              <a:buNone/>
            </a:pPr>
            <a:r>
              <a:rPr lang="ar-SA" altLang="en-US" sz="1350" dirty="0">
                <a:solidFill>
                  <a:srgbClr val="8A6D1E"/>
                </a:solidFill>
                <a:latin typeface="Amiri" pitchFamily="2" charset="-78"/>
                <a:ea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D1-L01 · My Morning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D1-L02 · Telling the Time — What Time Is It?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السَّاعَةُ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hour, the clock</a:t>
            </a:r>
            <a:pPr indent="0" marL="0">
              <a:buNone/>
            </a:pPr>
            <a:r>
              <a:rPr lang="ar-SA" sz="1000" i="1" dirty="0">
                <a:solidFill>
                  <a:srgbClr val="5A6472"/>
                </a:solidFill>
                <a:latin typeface="Calibri" pitchFamily="34" charset="0"/>
                <a:ea typeface="Amiri" pitchFamily="2" charset="-78"/>
                <a:cs typeface="Amiri" pitchFamily="2" charset="-78"/>
              </a:rPr>
              <a:t>  pl. السَّاعَاتُ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وَالنِّصْفُ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half past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وَالرُّبْعُ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 past</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إِلَّا الرُّبْعَ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quarter to</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دَقِيقَةٌ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minute</a:t>
            </a:r>
            <a:pPr indent="0" marL="0">
              <a:buNone/>
            </a:pPr>
            <a:r>
              <a:rPr lang="ar-SA" sz="1000" i="1" dirty="0">
                <a:solidFill>
                  <a:srgbClr val="5A6472"/>
                </a:solidFill>
                <a:latin typeface="Calibri" pitchFamily="34" charset="0"/>
                <a:ea typeface="Amiri" pitchFamily="2" charset="-78"/>
                <a:cs typeface="Amiri" pitchFamily="2" charset="-78"/>
              </a:rPr>
              <a:t>  pl. دَقَائِقُ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the time you wake up and the time you leave home, in Arabic numerals.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كَمِ السَّاعَةُ؟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D1-L01: vocabulary mission and the picture game “My Morning Routine”.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about your morning with times and frequency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90–110 words comparing your routine with an improved one.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D1-L02 · Telling the Time — What Time Is It?</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السَّاعَةُ؟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time words + your wake-up time in Arabic.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D1-L01 · My Morning Routine</dc:title>
  <dc:subject>PptxGenJS Presentation</dc:subject>
  <dc:creator>Al Madina Online School · Arabic Department</dc:creator>
  <cp:lastModifiedBy>Al Madina Online School · Arabic Department</cp:lastModifiedBy>
  <cp:revision>1</cp:revision>
  <dcterms:created xsi:type="dcterms:W3CDTF">2026-10-11T06:40:25Z</dcterms:created>
  <dcterms:modified xsi:type="dcterms:W3CDTF">2026-10-11T06:40:25Z</dcterms:modified>
</cp:coreProperties>
</file>