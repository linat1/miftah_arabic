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D1-L04. The website lesson “Before and After — Sequencing My Day”: vocabulary, grammar rules and quiz, patterns, common mistakes, sorter, listening, reading, speaking prompts and model, writing task and model, differentiation, final check and the lesson mission. Picture match: website visual game “Before and After — Sequencing My Day”.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ONE decision only — is the next word a NOUN (no أَنْ) or a VERB (use أَنْ)? Core students may write noun structures (قَبْلَ النَّوْمِ، بَعْدَ المَدْرَسَةِ) plus one learnt chunk: قَبْلَ أَنْ أَنَامَ.
• Develop: control the singular subjunctive (final ḍamma → fatḥa) in a paragraph. Stretch: the five verbs lose ن (تُكْمِلِينَ → أَنْ تُكْمِلِي).
• The ending is colour-coded pink on every grammar slide: students only need to watch the LAST letter.
• Recycling: frequency (D1-L03), time (D1-L02) and the D1-L01 routine verbs.
• Urdu bridge: قبل، بعد، فوراً، دوران / اثنا (اثناء)، آخر.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D1-L03 (frequency, بَيْنَمَا) and D1-L02 (time).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قَبْلَ / بَعْدَ + a noun: nothing extra. قَبْلَ أَنْ / بَعْدَ أَنْ + a verb: the verb ending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قبل / بعد are identical (قبل از، بعد میں). فوراً (immediately) → فَوْرَ أَنْ. اثنا (اس اثنا میں = meanwhile) → أَثْنَاءَ (during). نہایت is a FALSE FRIEND: Urdu “extremely”, Arabic النِّهَايَةُ = the end (فِي النِّهَايَةِ = in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Sequence structures (website vocabulary (1 of 2)). Hear → Say → See → Use. Transliteration is printed for Core students (cover it for Develop/Stretch).
Sort as you teach: قَبْلَ أَنْ، بَعْدَ أَنْ، بِمُجَرَّدِ أَنْ، فَوْرَ أَنْ are followed by a VERB. أَثْنَاءَ is followed by a NOUN (أَثْنَاءَ الدَّرْسِ). عِنْدَمَا / حِينَ take an ordinary verb (no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Sequence structures (website vocabulary (2 of 2)). Hear → Say → See → Use. Transliteration is printed for Core students (cover it for Develop/Stretch).
Sort as you teach: قَبْلَ أَنْ، بَعْدَ أَنْ، بِمُجَرَّدِ أَنْ، فَوْرَ أَنْ are followed by a VERB. أَثْنَاءَ is followed by a NOUN (أَثْنَاءَ الدَّرْسِ). عِنْدَمَا / حِينَ take an ordinary verb (no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Daily actions beyond the morning (website vocabulary (1 of 2)). Hear → Say → See → Use. Transliteration is printed for Core students (cover it for Develop/Stretch).
Card forms: “after an” shows the changed ending — point at the final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Daily actions beyond the morning (website vocabulary (2 of 2)). Hear → Say → See → Use. Transliteration is printed for Core students (cover it for Develop/Stretch).
FLEX: teach if time allows; otherwise these are on the website vocabulary tab for homework.
Card forms: “after an” shows the changed ending — point at the final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Frequency and amount (website vocabulary (1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Frequency and amount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“Use a noun after قَبْلَ / بَعْدَ without أَنْ” and the website comparison table.
Teacher script: “Before and after are easy with a NOUN. Only when a VERB follows do we need the little bridge أَنْ.”
Quick-fire: say a word (النَّوْمِ / أَنَامَ / المَدْرَسَةِ / أَخْرُجَ); students show a flat hand (noun) or two fingers (verb + أَنْ).
Website common error: قَبْلَ أَنْ الإِفْطَارِ ✗ → قَبْلَ الإِفْطَارِ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“Use قَبْلَ أَنْ for an action that happens first”, “Use بَعْدَ أَنْ for the completed first action”, “Remove final ن from the five verbs after أَنْ”.
Website overview: the verb after أَنْ is in the subjunctive: in singular verbs the final ḍamma becomes fatḥa; in the five verbs (ending ون / ان / ين) the ن disappears.
Teacher script: “أَنْ is a little magnet — it pulls the last vowel from u to a.” Say both columns aloud; students clap on the changed ending.
Website warning: قَبْلَ أَنْ أَخْرُجُ ✗ → قَبْلَ أَنْ أَخْرُجَ ✓. Note: عِنْدَمَا does NOT change the verb (عِنْدَمَا أَعُودُ).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“When قَبْلَ or بَعْدَ introduces a second action, Arabic uses أَنْ followed by a present verb in the subjunctive. In many singular verbs the final ḍamma disappears; in the five verbs the final ن is removed. The subject may stay the same or change.”
• Use قَبْلَ أَنْ for an action that happens first: The verb after أَنْ is not an ordinary indicative present. Listen for and notice the changed ending.
• Use بَعْدَ أَنْ for the completed first action: The clause after بَعْدَ أَنْ names the action completed before the main action.
• Remove final ن from the five verbs after أَنْ: With forms ending ون / ان / ين, the nūn drops after أَنْ.
• Use a noun after قَبْلَ / بَعْدَ without أَنْ: أَنْ is only needed before a verb. Compare قَبْلَ الدَّرْسِ with قَبْلَ أَنْ يَبْدَأَ الدَّرْسُ.
Website common error: Do not write قَبْلَ أَنْ أَخْرُجُ. After أَنْ, write the subjunctive form: قَبْلَ أَنْ أَخْرُجَ.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1–3 combined into a short afternoon, with a think-aloud. For each before/after, ask: “noun or verb?” Students copy it and circle every changed (pink)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Before and After — Sequencing My Day”)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All six use a NOUN after قَبْلَ / بَعْدَ — perfect for Core. Ask: which action happens FIRST? Other cards for homework: بَعْدَ المَدْرَسَةِ، بَعْدَ العَشَاءِ، بَعْدَ الاِسْتِحْمَامِ.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Before and After — Sequencing My Day”)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All six use a NOUN after قَبْلَ / بَعْدَ — perfect for Core. Ask: which action happens FIRST? Other cards for homework: بَعْدَ المَدْرَسَةِ، بَعْدَ العَشَاءِ، بَعْدَ الاِسْتِحْمَامِ.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whether the expression needs أَنْ.
Core support: point to الـ — every item with الـ is a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whether the expression needs أَنْ.
Core support: point to الـ — every item with الـ is a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5.
Listen 1: just listen. Listen 2: note answers. Then chat the letters.
Support: after the second listening, show the read-along slide (Arabic + English, line by line) for Core students.
SCRIPT (read aloud):
بَعْدَ أَنْ أَعُودَ مِنَ المَدْرَسَةِ، أَتَنَاوَلُ وَجْبَةً خَفِيفَةً وَأَسْتَرِيحُ لِمُدَّةِ عِشْرِينَ دَقِيقَةً. ثُمَّ أُكْمِلُ وَاجِبِي قَبْلَ أَنْ أَفْتَحَ هَاتِفِي. يَوْمَيِ الاِثْنَيْنِ وَالخَمِيسِ أَتَمَرَّنُ فِي النَّادِي، أَيْ مَرَّتَيْنِ فِي الأُسْبُوعِ. أَمَّا فِي الأَيَّامِ الأُخْرَى فَأُسَاعِدُ أُسْرَتِي أَوْ أَقْرَأُ. قَبْلَ أَنْ أَنَامَ، أُحَضِّرُ مَلَابِسِي وَحَقِيبَتِي لِلْيَوْمِ التَّالِي، وَبِذٰلِكَ لَا أَضْطَرُّ إِلَى العَجَلَةِ صَبَاحًا.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uses nouns only: “What do you do after school? And before sleep?” Develop/Stretch prompts are the website prompts. Website model answer on the slide: accurate subjunctive (أَنَامَ، أَسْتَيْقِظَ) and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noun structures such as بَعْدَ المَدْرَسَةِ and one verb structure. · Develop — Control the singular subjunctive after أَنْ in a connected paragraph. · Stretch — Use plural/feminine five-verb forms and explain the grammar choice.
Website writing task (Stretch): Write 100–120 words sequencing your school day from waking to sleeping. Use قَبْلَ أَنْ and بَعْدَ أَنْ accurately.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أَنْ أَعُودَ · أَنْ أَسْتَعْمِلَ · أَنْ نَذْهَبَ · أَنْ أُقَلِّلَ · بَعْدَ العَشَاءِ (noun) · مَرَّتَيْنِ فِي الأُسْبُوعِ · بَيْنَمَا / وَلٰكِنَّ.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(D1-L05 · After School and Evening Routine) will spend class time USING this language, so students prepare it tonight — short, simple, easy to access (school guidance: “Simple, Short, Interesting, Relevant, Easy to access”). The five words come from the website D1-L05 vocabulary (after school, evening routine, duration).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D1  ·  D1-L04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D1-L04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50" b="1" dirty="0">
                <a:solidFill>
                  <a:srgbClr val="FFFFFF"/>
                </a:solidFill>
                <a:latin typeface="Cambria" pitchFamily="34" charset="0"/>
                <a:cs typeface="Amiri" pitchFamily="2" charset="-78"/>
              </a:rPr>
              <a:t>Before and After — Sequencing My Day</a:t>
            </a:r>
            <a:endParaRPr lang="en-US" sz="2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قَبْلَ وَبَعْدَ — تَرْتِيبُ يَوْمِي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Sequence a whole day with </a:t>
            </a:r>
            <a:pPr algn="l" indent="0" marL="0">
              <a:buNone/>
            </a:pPr>
            <a:r>
              <a:rPr lang="ar-SA" altLang="en-US" sz="1800" dirty="0">
                <a:solidFill>
                  <a:srgbClr val="C6D2E6"/>
                </a:solidFill>
                <a:latin typeface="Amiri" pitchFamily="2" charset="-78"/>
                <a:cs typeface="Amiri" pitchFamily="2" charset="-78"/>
              </a:rPr>
              <a:t>قَبْلَ / بَعْدَ</a:t>
            </a:r>
            <a:pPr algn="l" indent="0" marL="0">
              <a:buNone/>
            </a:pPr>
            <a:r>
              <a:rPr lang="en-US" sz="1400" dirty="0">
                <a:solidFill>
                  <a:srgbClr val="C6D2E6"/>
                </a:solidFill>
                <a:latin typeface="Calibri" pitchFamily="34" charset="0"/>
                <a:cs typeface="Amiri" pitchFamily="2" charset="-78"/>
              </a:rPr>
              <a:t> + noun and </a:t>
            </a:r>
            <a:pPr algn="l" indent="0" marL="0">
              <a:buNone/>
            </a:pPr>
            <a:r>
              <a:rPr lang="ar-SA" altLang="en-US" sz="1800" dirty="0">
                <a:solidFill>
                  <a:srgbClr val="C6D2E6"/>
                </a:solidFill>
                <a:latin typeface="Amiri" pitchFamily="2" charset="-78"/>
                <a:cs typeface="Amiri" pitchFamily="2" charset="-78"/>
              </a:rPr>
              <a:t>قَبْلَ أَنْ / بَعْدَ أَنْ</a:t>
            </a:r>
            <a:pPr algn="l" indent="0" marL="0">
              <a:buNone/>
            </a:pPr>
            <a:r>
              <a:rPr lang="en-US" sz="1400" dirty="0">
                <a:solidFill>
                  <a:srgbClr val="C6D2E6"/>
                </a:solidFill>
                <a:latin typeface="Calibri" pitchFamily="34" charset="0"/>
                <a:cs typeface="Amiri" pitchFamily="2" charset="-78"/>
              </a:rPr>
              <a:t> + verb, and notice the verb ending that changes after </a:t>
            </a:r>
            <a:pPr algn="l" indent="0" marL="0">
              <a:buNone/>
            </a:pPr>
            <a:r>
              <a:rPr lang="ar-SA" altLang="en-US" sz="1800" dirty="0">
                <a:solidFill>
                  <a:srgbClr val="C6D2E6"/>
                </a:solidFill>
                <a:latin typeface="Amiri" pitchFamily="2" charset="-78"/>
                <a:cs typeface="Amiri" pitchFamily="2" charset="-78"/>
              </a:rPr>
              <a:t>أَنْ</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D1-L04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D1 › D1-L04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Noun or verb after before/after? Then the ending that changes after </a:t>
            </a:r>
            <a:pPr algn="ctr" indent="0" marL="0">
              <a:buNone/>
            </a:pPr>
            <a:r>
              <a:rPr lang="ar-SA" altLang="en-US" sz="1550" dirty="0">
                <a:solidFill>
                  <a:srgbClr val="1F2A37"/>
                </a:solidFill>
                <a:latin typeface="Amiri" pitchFamily="2" charset="-78"/>
                <a:cs typeface="Amiri" pitchFamily="2" charset="-78"/>
              </a:rPr>
              <a:t>أَنْ</a:t>
            </a:r>
            <a:pPr algn="ctr" indent="0" marL="0">
              <a:buNone/>
            </a:pPr>
            <a:r>
              <a:rPr lang="en-US" sz="1200" dirty="0">
                <a:solidFill>
                  <a:srgbClr val="1F2A37"/>
                </a:solidFill>
                <a:latin typeface="Calibri" pitchFamily="34" charset="0"/>
                <a:cs typeface="Amiri" pitchFamily="2" charset="-78"/>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noun/verb,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D1-L05.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قَبْلَ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 verb)</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 verb)</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أَسْتَرِيحُ</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rest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revise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return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نَادِرًا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always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daily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rarely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أَتَمَرَّنُ يَوْمِيًّا، بَيْنَمَا أَتَمَرَّنُ أُخْتِي أُسْبُوعِيًّا.</a:t>
            </a:r>
            <a:endParaRPr lang="ar-SA" sz="150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أَتَمَرَّنُ يَوْمِيًّا، بَيْنَمَا يَتَمَرَّنُ أُخْتِي أُسْبُوعِيًّا.</a:t>
            </a:r>
            <a:endParaRPr lang="ar-SA" sz="150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أَتَمَرَّنُ يَوْمِيًّا، بَيْنَمَا تَتَمَرَّنُ أُخْتِي أُسْبُوعِيًّا.</a:t>
            </a:r>
            <a:endParaRPr lang="ar-SA" sz="150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half past four?</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٤:٣٠</a:t>
            </a:r>
            <a:endParaRPr lang="ar-SA" sz="220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الرَّابِعَةُ وَالنِّصْفُ</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الرَّابِعَةُ إِلَّا الرُّبْعَ</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الخَامِسَةُ وَالنِّصْفُ</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قَبْلَ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 verb)</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before (+ verb)</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أَسْتَرِيحُ</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rest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revise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return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نَادِرًا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always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daily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rarely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D1-L03 frequency ladder.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cs typeface="Amiri" pitchFamily="2" charset="-78"/>
              </a:rPr>
              <a:t>أَتَمَرَّنُ يَوْمِيًّا، بَيْنَمَا أَتَمَرَّنُ أُخْتِي أُسْبُوعِيًّا.</a:t>
            </a:r>
            <a:endParaRPr lang="ar-SA" sz="15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cs typeface="Amiri" pitchFamily="2" charset="-78"/>
              </a:rPr>
              <a:t>أَتَمَرَّنُ يَوْمِيًّا، بَيْنَمَا يَتَمَرَّنُ أُخْتِي أُسْبُوعِيًّا.</a:t>
            </a:r>
            <a:endParaRPr lang="ar-SA" sz="15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أَتَمَرَّنُ يَوْمِيًّا، بَيْنَمَا تَتَمَرَّنُ أُخْتِي أُسْبُوعِيًّا.</a:t>
            </a:r>
            <a:endParaRPr lang="ar-SA" sz="15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D1-L03: after </a:t>
            </a:r>
            <a:pPr algn="l" indent="0" marL="0">
              <a:buNone/>
            </a:pPr>
            <a:r>
              <a:rPr lang="ar-SA" altLang="en-US" sz="1350" dirty="0">
                <a:solidFill>
                  <a:srgbClr val="8A6D1E"/>
                </a:solidFill>
                <a:latin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 the verb matches its own subject.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half past four?</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٤:٣٠</a:t>
            </a:r>
            <a:endParaRPr lang="ar-SA" sz="220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الرَّابِعَةُ وَالنِّصْفُ</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الرَّابِعَةُ إِلَّا الرُّبْعَ</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الخَامِسَةُ وَالنِّصْفُ</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D1-L02 time.</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ar-SA" altLang="en-US" sz="1700" b="1" dirty="0">
                <a:solidFill>
                  <a:srgbClr val="1F2A37"/>
                </a:solidFill>
                <a:latin typeface="Amiri" pitchFamily="2" charset="-78"/>
                <a:cs typeface="Amiri" pitchFamily="2" charset="-78"/>
              </a:rPr>
              <a:t>قَبْلَ / بَعْدَ</a:t>
            </a:r>
            <a:pPr algn="l" indent="0" marL="0">
              <a:buNone/>
            </a:pPr>
            <a:r>
              <a:rPr lang="en-US" sz="1300" b="1" dirty="0">
                <a:solidFill>
                  <a:srgbClr val="1F2A37"/>
                </a:solidFill>
                <a:latin typeface="Calibri" pitchFamily="34" charset="0"/>
                <a:cs typeface="Amiri" pitchFamily="2" charset="-78"/>
              </a:rPr>
              <a:t> + a noun: nothing extra. </a:t>
            </a:r>
            <a:pPr algn="l" indent="0" marL="0">
              <a:buNone/>
            </a:pPr>
            <a:r>
              <a:rPr lang="ar-SA" altLang="en-US" sz="1700" b="1" dirty="0">
                <a:solidFill>
                  <a:srgbClr val="1F2A37"/>
                </a:solidFill>
                <a:latin typeface="Amiri" pitchFamily="2" charset="-78"/>
                <a:cs typeface="Amiri" pitchFamily="2" charset="-78"/>
              </a:rPr>
              <a:t>قَبْلَ أَنْ / بَعْدَ أَنْ</a:t>
            </a:r>
            <a:pPr algn="l" indent="0" marL="0">
              <a:buNone/>
            </a:pPr>
            <a:r>
              <a:rPr lang="en-US" sz="1300" b="1" dirty="0">
                <a:solidFill>
                  <a:srgbClr val="1F2A37"/>
                </a:solidFill>
                <a:latin typeface="Calibri" pitchFamily="34" charset="0"/>
                <a:cs typeface="Amiri" pitchFamily="2" charset="-78"/>
              </a:rPr>
              <a:t> + a verb: the verb ending changes.</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قَبْلَ </a:t>
            </a:r>
            <a:pPr rtl="1" algn="ctr" indent="0" marL="0">
              <a:buNone/>
            </a:pPr>
            <a:r>
              <a:rPr lang="ar-SA" altLang="en-US" sz="2400" b="1" dirty="0">
                <a:solidFill>
                  <a:srgbClr val="0E7C86"/>
                </a:solidFill>
                <a:latin typeface="Amiri" pitchFamily="2" charset="-78"/>
                <a:cs typeface="Amiri" pitchFamily="2" charset="-78"/>
              </a:rPr>
              <a:t>النَّوْمِ</a:t>
            </a:r>
            <a:pPr rtl="1" algn="ctr" indent="0" marL="0">
              <a:buNone/>
            </a:pPr>
            <a:r>
              <a:rPr lang="ar-SA" altLang="en-US" sz="2400" b="1" dirty="0">
                <a:solidFill>
                  <a:srgbClr val="1B3B6F"/>
                </a:solidFill>
                <a:latin typeface="Amiri" pitchFamily="2" charset="-78"/>
                <a:cs typeface="Amiri" pitchFamily="2" charset="-78"/>
              </a:rPr>
              <a:t>  ←→  قَبْلَ </a:t>
            </a:r>
            <a:pPr rtl="1" algn="ctr" indent="0" marL="0">
              <a:buNone/>
            </a:pPr>
            <a:r>
              <a:rPr lang="ar-SA" altLang="en-US" sz="2400" b="1" dirty="0">
                <a:solidFill>
                  <a:srgbClr val="0E7C86"/>
                </a:solidFill>
                <a:latin typeface="Amiri" pitchFamily="2" charset="-78"/>
                <a:cs typeface="Amiri" pitchFamily="2" charset="-78"/>
              </a:rPr>
              <a:t>أَنْ</a:t>
            </a:r>
            <a:pPr rtl="1" algn="ctr" indent="0" marL="0">
              <a:buNone/>
            </a:pPr>
            <a:r>
              <a:rPr lang="ar-SA" altLang="en-US" sz="2400" b="1" dirty="0">
                <a:solidFill>
                  <a:srgbClr val="1B3B6F"/>
                </a:solidFill>
                <a:latin typeface="Amiri" pitchFamily="2" charset="-78"/>
                <a:cs typeface="Amiri" pitchFamily="2" charset="-78"/>
              </a:rPr>
              <a:t> أَنَا</a:t>
            </a:r>
            <a:pPr rtl="1" algn="ctr" indent="0" marL="0">
              <a:buNone/>
            </a:pPr>
            <a:r>
              <a:rPr lang="ar-SA" altLang="en-US" sz="2400" b="1" dirty="0">
                <a:solidFill>
                  <a:srgbClr val="D6336C"/>
                </a:solidFill>
                <a:latin typeface="Amiri" pitchFamily="2" charset="-78"/>
                <a:cs typeface="Amiri" pitchFamily="2" charset="-78"/>
              </a:rPr>
              <a:t>مَ</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before/after structures with nouns and verbs.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the basic subjunctive change after </a:t>
            </a:r>
            <a:pPr algn="l" indent="0" marL="0">
              <a:buNone/>
            </a:pPr>
            <a:r>
              <a:rPr lang="ar-SA" altLang="en-US" sz="1700" dirty="0">
                <a:solidFill>
                  <a:srgbClr val="1F2A37"/>
                </a:solidFill>
                <a:latin typeface="Amiri" pitchFamily="2" charset="-78"/>
                <a:cs typeface="Amiri" pitchFamily="2" charset="-78"/>
              </a:rPr>
              <a:t>أَنْ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Remove final </a:t>
            </a:r>
            <a:pPr algn="l" indent="0" marL="0">
              <a:buNone/>
            </a:pPr>
            <a:r>
              <a:rPr lang="ar-SA" altLang="en-US" sz="1700" dirty="0">
                <a:solidFill>
                  <a:srgbClr val="1F2A37"/>
                </a:solidFill>
                <a:latin typeface="Amiri" pitchFamily="2" charset="-78"/>
                <a:cs typeface="Amiri" pitchFamily="2" charset="-78"/>
              </a:rPr>
              <a:t>ن</a:t>
            </a:r>
            <a:pPr algn="l" indent="0" marL="0">
              <a:buNone/>
            </a:pPr>
            <a:r>
              <a:rPr lang="en-US" sz="1300" dirty="0">
                <a:solidFill>
                  <a:srgbClr val="1F2A37"/>
                </a:solidFill>
                <a:latin typeface="Calibri" pitchFamily="34" charset="0"/>
                <a:cs typeface="Amiri" pitchFamily="2" charset="-78"/>
              </a:rPr>
              <a:t> from relevant forms.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Build a coherent afternoon and evening routine.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before/after with a noun (</a:t>
            </a:r>
            <a:pPr algn="l" indent="0" marL="0">
              <a:buNone/>
            </a:pPr>
            <a:r>
              <a:rPr lang="ar-SA" altLang="en-US" sz="1700" b="1" dirty="0">
                <a:solidFill>
                  <a:srgbClr val="2E8B57"/>
                </a:solidFill>
                <a:latin typeface="Amiri" pitchFamily="2" charset="-78"/>
                <a:cs typeface="Amiri" pitchFamily="2" charset="-78"/>
              </a:rPr>
              <a:t>قَبْلَ النَّوْمِ</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order five actions in my afternoon.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a:r>
            <a:pPr algn="l" indent="0" marL="0">
              <a:buNone/>
            </a:pPr>
            <a:r>
              <a:rPr lang="ar-SA" altLang="en-US" sz="1700" b="1" dirty="0">
                <a:solidFill>
                  <a:srgbClr val="C9780A"/>
                </a:solidFill>
                <a:latin typeface="Amiri" pitchFamily="2" charset="-78"/>
                <a:cs typeface="Amiri" pitchFamily="2" charset="-78"/>
              </a:rPr>
              <a:t>قَبْلَ أَنْ / بَعْدَ أَنْ</a:t>
            </a:r>
            <a:pPr algn="l" indent="0" marL="0">
              <a:buNone/>
            </a:pPr>
            <a:r>
              <a:rPr lang="en-US" sz="1300" b="1" dirty="0">
                <a:solidFill>
                  <a:srgbClr val="C9780A"/>
                </a:solidFill>
                <a:latin typeface="Calibri" pitchFamily="34" charset="0"/>
                <a:cs typeface="Amiri" pitchFamily="2" charset="-78"/>
              </a:rPr>
              <a:t> with the correct ending.</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once / twice / three times.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drop the final </a:t>
            </a:r>
            <a:pPr algn="l" indent="0" marL="0">
              <a:buNone/>
            </a:pPr>
            <a:r>
              <a:rPr lang="ar-SA" altLang="en-US" sz="1700" b="1" dirty="0">
                <a:solidFill>
                  <a:srgbClr val="B83227"/>
                </a:solidFill>
                <a:latin typeface="Amiri" pitchFamily="2" charset="-78"/>
                <a:cs typeface="Amiri" pitchFamily="2" charset="-78"/>
              </a:rPr>
              <a:t>ن</a:t>
            </a:r>
            <a:pPr algn="l" indent="0" marL="0">
              <a:buNone/>
            </a:pPr>
            <a:r>
              <a:rPr lang="en-US" sz="1300" b="1" dirty="0">
                <a:solidFill>
                  <a:srgbClr val="B83227"/>
                </a:solidFill>
                <a:latin typeface="Calibri" pitchFamily="34" charset="0"/>
                <a:cs typeface="Amiri" pitchFamily="2" charset="-78"/>
              </a:rPr>
              <a:t> of the five verbs after </a:t>
            </a:r>
            <a:pPr algn="l" indent="0" marL="0">
              <a:buNone/>
            </a:pPr>
            <a:r>
              <a:rPr lang="ar-SA" altLang="en-US" sz="1700" b="1" dirty="0">
                <a:solidFill>
                  <a:srgbClr val="B83227"/>
                </a:solidFill>
                <a:latin typeface="Amiri" pitchFamily="2" charset="-78"/>
                <a:cs typeface="Amiri" pitchFamily="2" charset="-78"/>
              </a:rPr>
              <a:t>أَنْ</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join eight actions into one paragraph.</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27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Sequence structures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Daily actions beyond the morning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Frequency and amount · 7</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قَبْلَ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‎قبل‎ </a:t>
            </a:r>
            <a:pPr indent="0" marL="0">
              <a:buNone/>
            </a:pPr>
            <a:r>
              <a:rPr lang="en-US" sz="950" b="1" dirty="0">
                <a:solidFill>
                  <a:srgbClr val="2E8B57"/>
                </a:solidFill>
                <a:latin typeface="Calibri" pitchFamily="34" charset="0"/>
                <a:cs typeface="Amiri" pitchFamily="2" charset="-78"/>
              </a:rPr>
              <a:t> qabl · before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بَعْدَ</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‎بعد‎ </a:t>
            </a:r>
            <a:pPr indent="0" marL="0">
              <a:buNone/>
            </a:pPr>
            <a:r>
              <a:rPr lang="en-US" sz="950" b="1" dirty="0">
                <a:solidFill>
                  <a:srgbClr val="2E8B57"/>
                </a:solidFill>
                <a:latin typeface="Calibri" pitchFamily="34" charset="0"/>
                <a:cs typeface="Amiri" pitchFamily="2" charset="-78"/>
              </a:rPr>
              <a:t> ba'd · after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فَوْرَ</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‎فوراً‎ </a:t>
            </a:r>
            <a:pPr indent="0" marL="0">
              <a:buNone/>
            </a:pPr>
            <a:r>
              <a:rPr lang="en-US" sz="950" b="1" dirty="0">
                <a:solidFill>
                  <a:srgbClr val="2E8B57"/>
                </a:solidFill>
                <a:latin typeface="Calibri" pitchFamily="34" charset="0"/>
                <a:cs typeface="Amiri" pitchFamily="2" charset="-78"/>
              </a:rPr>
              <a:t> fauran · immediately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أَثْنَاءَ</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‎اثنا‎ </a:t>
            </a:r>
            <a:pPr indent="0" marL="0">
              <a:buNone/>
            </a:pPr>
            <a:r>
              <a:rPr lang="en-US" sz="950" b="1" dirty="0">
                <a:solidFill>
                  <a:srgbClr val="2E8B57"/>
                </a:solidFill>
                <a:latin typeface="Calibri" pitchFamily="34" charset="0"/>
                <a:cs typeface="Amiri" pitchFamily="2" charset="-78"/>
              </a:rPr>
              <a:t> isnā · during (in the meantime)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فِي النِّهَايَةِ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‎نہایت‎ </a:t>
            </a:r>
            <a:pPr indent="0" marL="0">
              <a:buNone/>
            </a:pPr>
            <a:r>
              <a:rPr lang="en-US" sz="950" b="1" dirty="0">
                <a:solidFill>
                  <a:srgbClr val="2E8B57"/>
                </a:solidFill>
                <a:latin typeface="Calibri" pitchFamily="34" charset="0"/>
                <a:cs typeface="Amiri" pitchFamily="2" charset="-78"/>
              </a:rPr>
              <a:t> nihāyat · Urdu: extremely · Arabic: the end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Sequence structures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قَبْلَ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before + verb</a:t>
            </a:r>
            <a:endParaRPr lang="en-US" sz="1350" dirty="0"/>
          </a:p>
          <a:p>
            <a:pPr indent="0" marL="0">
              <a:buNone/>
            </a:pPr>
            <a:r>
              <a:rPr lang="en-US" sz="1100" i="1" dirty="0">
                <a:solidFill>
                  <a:srgbClr val="5A6472"/>
                </a:solidFill>
                <a:latin typeface="Calibri" pitchFamily="34" charset="0"/>
                <a:cs typeface="Amiri" pitchFamily="2" charset="-78"/>
              </a:rPr>
              <a:t>qab-la 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بَعْدَ أَنْ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after + verb</a:t>
            </a:r>
            <a:endParaRPr lang="en-US" sz="1350" dirty="0"/>
          </a:p>
          <a:p>
            <a:pPr indent="0" marL="0">
              <a:buNone/>
            </a:pPr>
            <a:r>
              <a:rPr lang="en-US" sz="1100" i="1" dirty="0">
                <a:solidFill>
                  <a:srgbClr val="5A6472"/>
                </a:solidFill>
                <a:latin typeface="Calibri" pitchFamily="34" charset="0"/>
                <a:cs typeface="Amiri" pitchFamily="2" charset="-78"/>
              </a:rPr>
              <a:t>baʿ-da an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عِنْدَمَا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when</a:t>
            </a:r>
            <a:endParaRPr lang="en-US" sz="1350" dirty="0"/>
          </a:p>
          <a:p>
            <a:pPr indent="0" marL="0">
              <a:buNone/>
            </a:pPr>
            <a:r>
              <a:rPr lang="en-US" sz="1100" i="1" dirty="0">
                <a:solidFill>
                  <a:srgbClr val="5A6472"/>
                </a:solidFill>
                <a:latin typeface="Calibri" pitchFamily="34" charset="0"/>
                <a:cs typeface="Amiri" pitchFamily="2" charset="-78"/>
              </a:rPr>
              <a:t>ʿin-da-mā</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حِينَ</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when / while</a:t>
            </a:r>
            <a:endParaRPr lang="en-US" sz="1350" dirty="0"/>
          </a:p>
          <a:p>
            <a:pPr indent="0" marL="0">
              <a:buNone/>
            </a:pPr>
            <a:r>
              <a:rPr lang="en-US" sz="1100" i="1" dirty="0">
                <a:solidFill>
                  <a:srgbClr val="5A6472"/>
                </a:solidFill>
                <a:latin typeface="Calibri" pitchFamily="34" charset="0"/>
                <a:cs typeface="Amiri" pitchFamily="2" charset="-78"/>
              </a:rPr>
              <a:t>ḥī-na</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بِمُجَرَّدِ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soon as</a:t>
            </a:r>
            <a:endParaRPr lang="en-US" sz="1350" dirty="0"/>
          </a:p>
          <a:p>
            <a:pPr indent="0" marL="0">
              <a:buNone/>
            </a:pPr>
            <a:r>
              <a:rPr lang="en-US" sz="1100" i="1" dirty="0">
                <a:solidFill>
                  <a:srgbClr val="5A6472"/>
                </a:solidFill>
                <a:latin typeface="Calibri" pitchFamily="34" charset="0"/>
                <a:cs typeface="Amiri" pitchFamily="2" charset="-78"/>
              </a:rPr>
              <a:t>bi-mu-jar-ra-di an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Sequence structures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فَوْرَ أَنْ</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immediately after</a:t>
            </a:r>
            <a:endParaRPr lang="en-US" sz="1350" dirty="0"/>
          </a:p>
          <a:p>
            <a:pPr indent="0" marL="0">
              <a:buNone/>
            </a:pPr>
            <a:r>
              <a:rPr lang="en-US" sz="1100" i="1" dirty="0">
                <a:solidFill>
                  <a:srgbClr val="5A6472"/>
                </a:solidFill>
                <a:latin typeface="Calibri" pitchFamily="34" charset="0"/>
                <a:cs typeface="Amiri" pitchFamily="2" charset="-78"/>
              </a:rPr>
              <a:t>faw-ra an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أَثْنَاءَ</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during</a:t>
            </a:r>
            <a:endParaRPr lang="en-US" sz="1350" dirty="0"/>
          </a:p>
          <a:p>
            <a:pPr indent="0" marL="0">
              <a:buNone/>
            </a:pPr>
            <a:r>
              <a:rPr lang="en-US" sz="1100" i="1" dirty="0">
                <a:solidFill>
                  <a:srgbClr val="5A6472"/>
                </a:solidFill>
                <a:latin typeface="Calibri" pitchFamily="34" charset="0"/>
                <a:cs typeface="Amiri" pitchFamily="2" charset="-78"/>
              </a:rPr>
              <a:t>ath-nā-ʾa</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قَبْلَ ذٰلِكَ</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before that</a:t>
            </a:r>
            <a:endParaRPr lang="en-US" sz="1350" dirty="0"/>
          </a:p>
          <a:p>
            <a:pPr indent="0" marL="0">
              <a:buNone/>
            </a:pPr>
            <a:r>
              <a:rPr lang="en-US" sz="1100" i="1" dirty="0">
                <a:solidFill>
                  <a:srgbClr val="5A6472"/>
                </a:solidFill>
                <a:latin typeface="Calibri" pitchFamily="34" charset="0"/>
                <a:cs typeface="Amiri" pitchFamily="2" charset="-78"/>
              </a:rPr>
              <a:t>qab-la dhā-li-ka</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3" name="Shape 3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بَعْدَ ذٰلِكَ</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after that</a:t>
            </a:r>
            <a:endParaRPr lang="en-US" sz="1350" dirty="0"/>
          </a:p>
          <a:p>
            <a:pPr indent="0" marL="0">
              <a:buNone/>
            </a:pPr>
            <a:r>
              <a:rPr lang="en-US" sz="1100" i="1" dirty="0">
                <a:solidFill>
                  <a:srgbClr val="5A6472"/>
                </a:solidFill>
                <a:latin typeface="Calibri" pitchFamily="34" charset="0"/>
                <a:cs typeface="Amiri" pitchFamily="2" charset="-78"/>
              </a:rPr>
              <a:t>baʿ-da dhā-li-ka</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0" name="Shape 3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النِّهَايَةِ</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end</a:t>
            </a:r>
            <a:endParaRPr lang="en-US" sz="1350" dirty="0"/>
          </a:p>
          <a:p>
            <a:pPr indent="0" marL="0">
              <a:buNone/>
            </a:pPr>
            <a:r>
              <a:rPr lang="en-US" sz="1100" i="1" dirty="0">
                <a:solidFill>
                  <a:srgbClr val="5A6472"/>
                </a:solidFill>
                <a:latin typeface="Calibri" pitchFamily="34" charset="0"/>
                <a:cs typeface="Amiri" pitchFamily="2" charset="-78"/>
              </a:rPr>
              <a:t>fī an-ni-hā-ya-ti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Daily actions beyond the morning (1 of 2)</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أُرَاجِعُ دُرُوسِي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revise my lessons</a:t>
            </a:r>
            <a:endParaRPr lang="en-US" sz="1350" dirty="0"/>
          </a:p>
          <a:p>
            <a:pPr indent="0" marL="0">
              <a:buNone/>
            </a:pPr>
            <a:r>
              <a:rPr lang="en-US" sz="1100" i="1" dirty="0">
                <a:solidFill>
                  <a:srgbClr val="5A6472"/>
                </a:solidFill>
                <a:latin typeface="Calibri" pitchFamily="34" charset="0"/>
                <a:cs typeface="Amiri" pitchFamily="2" charset="-78"/>
              </a:rPr>
              <a:t>u-rā-ji-ʿu du-rū-sī</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يُرَاجِعُ</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تُرَاجِعُ</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after an</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أَنْ أُرَاجِعَ</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أُكْمِلُ وَاجِبِي</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complete my homework</a:t>
            </a:r>
            <a:endParaRPr lang="en-US" sz="1350" dirty="0"/>
          </a:p>
          <a:p>
            <a:pPr indent="0" marL="0">
              <a:buNone/>
            </a:pPr>
            <a:r>
              <a:rPr lang="en-US" sz="1100" i="1" dirty="0">
                <a:solidFill>
                  <a:srgbClr val="5A6472"/>
                </a:solidFill>
                <a:latin typeface="Calibri" pitchFamily="34" charset="0"/>
                <a:cs typeface="Amiri" pitchFamily="2" charset="-78"/>
              </a:rPr>
              <a:t>uk-mi-lu wā-ji-bī</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يُكْمِلُ</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تُكْمِلُ</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after an</a:t>
            </a:r>
            <a:endParaRPr lang="en-US" sz="700" dirty="0"/>
          </a:p>
        </p:txBody>
      </p:sp>
      <p:sp>
        <p:nvSpPr>
          <p:cNvPr id="50" name="Text 47"/>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أَنْ أُكْمِلَ</a:t>
            </a:r>
            <a:endParaRPr lang="ar-SA" sz="135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54" name="Shape 5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أُسَاعِدُ أُسْرَتِي</a:t>
            </a:r>
            <a:endParaRPr lang="ar-SA" sz="3000" dirty="0"/>
          </a:p>
        </p:txBody>
      </p:sp>
      <p:sp>
        <p:nvSpPr>
          <p:cNvPr id="57" name="Text 5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help my family</a:t>
            </a:r>
            <a:endParaRPr lang="en-US" sz="1350" dirty="0"/>
          </a:p>
          <a:p>
            <a:pPr indent="0" marL="0">
              <a:buNone/>
            </a:pPr>
            <a:r>
              <a:rPr lang="en-US" sz="1100" i="1" dirty="0">
                <a:solidFill>
                  <a:srgbClr val="5A6472"/>
                </a:solidFill>
                <a:latin typeface="Calibri" pitchFamily="34" charset="0"/>
                <a:cs typeface="Amiri" pitchFamily="2" charset="-78"/>
              </a:rPr>
              <a:t>u-sā-ʿi-du us-ra-tī</a:t>
            </a:r>
            <a:endParaRPr lang="en-US" sz="135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3" name="Shape 6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أَسْتَرِيحُ</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rest</a:t>
            </a:r>
            <a:endParaRPr lang="en-US" sz="1350" dirty="0"/>
          </a:p>
          <a:p>
            <a:pPr indent="0" marL="0">
              <a:buNone/>
            </a:pPr>
            <a:r>
              <a:rPr lang="en-US" sz="1100" i="1" dirty="0">
                <a:solidFill>
                  <a:srgbClr val="5A6472"/>
                </a:solidFill>
                <a:latin typeface="Calibri" pitchFamily="34" charset="0"/>
                <a:cs typeface="Amiri" pitchFamily="2" charset="-78"/>
              </a:rPr>
              <a:t>as-ta-rī-ḥu</a:t>
            </a:r>
            <a:endParaRPr lang="en-US" sz="1350" dirty="0"/>
          </a:p>
        </p:txBody>
      </p:sp>
      <p:sp>
        <p:nvSpPr>
          <p:cNvPr id="67" name="Shape 64"/>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69" name="Text 66"/>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يَسْتَرِيحُ</a:t>
            </a:r>
            <a:endParaRPr lang="ar-SA" sz="1500" dirty="0"/>
          </a:p>
        </p:txBody>
      </p:sp>
      <p:sp>
        <p:nvSpPr>
          <p:cNvPr id="70" name="Shape 67"/>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2" name="Text 69"/>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تَسْتَرِيحُ</a:t>
            </a:r>
            <a:endParaRPr lang="ar-SA" sz="1500" dirty="0"/>
          </a:p>
        </p:txBody>
      </p:sp>
      <p:sp>
        <p:nvSpPr>
          <p:cNvPr id="73" name="Shape 70"/>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after an</a:t>
            </a:r>
            <a:endParaRPr lang="en-US" sz="700" dirty="0"/>
          </a:p>
        </p:txBody>
      </p:sp>
      <p:sp>
        <p:nvSpPr>
          <p:cNvPr id="75" name="Text 72"/>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أَنْ أَسْتَرِيحَ</a:t>
            </a:r>
            <a:endParaRPr lang="ar-SA" sz="1350" dirty="0"/>
          </a:p>
        </p:txBody>
      </p:sp>
      <p:sp>
        <p:nvSpPr>
          <p:cNvPr id="76" name="Shape 7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389120" y="4261104"/>
            <a:ext cx="310896" cy="310896"/>
          </a:xfrm>
          <a:prstGeom prst="ellipse">
            <a:avLst/>
          </a:prstGeom>
          <a:solidFill>
            <a:srgbClr val="F4F1EA"/>
          </a:solidFill>
          <a:ln w="12700">
            <a:solidFill>
              <a:srgbClr val="F4F1EA"/>
            </a:solidFill>
            <a:prstDash val="solid"/>
          </a:ln>
        </p:spPr>
      </p:sp>
      <p:sp>
        <p:nvSpPr>
          <p:cNvPr id="78" name="Text 7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79" name="Shape 76"/>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80" name="Text 77"/>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81" name="Text 7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أَتَمَرَّنُ</a:t>
            </a:r>
            <a:endParaRPr lang="ar-SA" sz="3000" dirty="0"/>
          </a:p>
        </p:txBody>
      </p:sp>
      <p:sp>
        <p:nvSpPr>
          <p:cNvPr id="82" name="Text 7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exercise</a:t>
            </a:r>
            <a:endParaRPr lang="en-US" sz="1350" dirty="0"/>
          </a:p>
          <a:p>
            <a:pPr indent="0" marL="0">
              <a:buNone/>
            </a:pPr>
            <a:r>
              <a:rPr lang="en-US" sz="1100" i="1" dirty="0">
                <a:solidFill>
                  <a:srgbClr val="5A6472"/>
                </a:solidFill>
                <a:latin typeface="Calibri" pitchFamily="34" charset="0"/>
                <a:cs typeface="Amiri" pitchFamily="2" charset="-78"/>
              </a:rPr>
              <a:t>a-ta-mar-ra-nu</a:t>
            </a:r>
            <a:endParaRPr lang="en-US" sz="1350" dirty="0"/>
          </a:p>
        </p:txBody>
      </p:sp>
      <p:sp>
        <p:nvSpPr>
          <p:cNvPr id="83" name="Shape 80"/>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85" name="Text 82"/>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يَتَمَرَّنُ</a:t>
            </a:r>
            <a:endParaRPr lang="ar-SA" sz="1500" dirty="0"/>
          </a:p>
        </p:txBody>
      </p:sp>
      <p:sp>
        <p:nvSpPr>
          <p:cNvPr id="86" name="Shape 83"/>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87" name="Text 84"/>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88" name="Text 85"/>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تَتَمَرَّنُ</a:t>
            </a:r>
            <a:endParaRPr lang="ar-SA" sz="1500" dirty="0"/>
          </a:p>
        </p:txBody>
      </p:sp>
      <p:sp>
        <p:nvSpPr>
          <p:cNvPr id="89" name="Shape 86"/>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0" name="Text 87"/>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91" name="Text 88"/>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نَتَمَرَّنُ</a:t>
            </a:r>
            <a:endParaRPr lang="ar-SA" sz="1500" dirty="0"/>
          </a:p>
        </p:txBody>
      </p:sp>
      <p:sp>
        <p:nvSpPr>
          <p:cNvPr id="92" name="Text 8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Daily actions beyond the morning (2 of 2)</a:t>
            </a:r>
            <a:endParaRPr lang="en-US" sz="23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أَتَجَنَّبُ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avoid</a:t>
            </a:r>
            <a:endParaRPr lang="en-US" sz="1350" dirty="0"/>
          </a:p>
          <a:p>
            <a:pPr indent="0" marL="0">
              <a:buNone/>
            </a:pPr>
            <a:r>
              <a:rPr lang="en-US" sz="1100" i="1" dirty="0">
                <a:solidFill>
                  <a:srgbClr val="5A6472"/>
                </a:solidFill>
                <a:latin typeface="Calibri" pitchFamily="34" charset="0"/>
                <a:cs typeface="Amiri" pitchFamily="2" charset="-78"/>
              </a:rPr>
              <a:t>a-ta-jan-na-bu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أَقْضِي وَقْتًا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spend time</a:t>
            </a:r>
            <a:endParaRPr lang="en-US" sz="1350" dirty="0"/>
          </a:p>
          <a:p>
            <a:pPr indent="0" marL="0">
              <a:buNone/>
            </a:pPr>
            <a:r>
              <a:rPr lang="en-US" sz="1100" i="1" dirty="0">
                <a:solidFill>
                  <a:srgbClr val="5A6472"/>
                </a:solidFill>
                <a:latin typeface="Calibri" pitchFamily="34" charset="0"/>
                <a:cs typeface="Amiri" pitchFamily="2" charset="-78"/>
              </a:rPr>
              <a:t>aq-ḍī waq-tan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أُحَضِّرُ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prepare</a:t>
            </a:r>
            <a:endParaRPr lang="en-US" sz="1350" dirty="0"/>
          </a:p>
          <a:p>
            <a:pPr indent="0" marL="0">
              <a:buNone/>
            </a:pPr>
            <a:r>
              <a:rPr lang="en-US" sz="1100" i="1" dirty="0">
                <a:solidFill>
                  <a:srgbClr val="5A6472"/>
                </a:solidFill>
                <a:latin typeface="Calibri" pitchFamily="34" charset="0"/>
                <a:cs typeface="Amiri" pitchFamily="2" charset="-78"/>
              </a:rPr>
              <a:t>u-ḥaḍ-ḍi-ru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أُنَظِّمُ</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organise</a:t>
            </a:r>
            <a:endParaRPr lang="en-US" sz="1350" dirty="0"/>
          </a:p>
          <a:p>
            <a:pPr indent="0" marL="0">
              <a:buNone/>
            </a:pPr>
            <a:r>
              <a:rPr lang="en-US" sz="1100" i="1" dirty="0">
                <a:solidFill>
                  <a:srgbClr val="5A6472"/>
                </a:solidFill>
                <a:latin typeface="Calibri" pitchFamily="34" charset="0"/>
                <a:cs typeface="Amiri" pitchFamily="2" charset="-78"/>
              </a:rPr>
              <a:t>u-naẓ-ẓi-mu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0" name="Shape 37"/>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2" name="Text 3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أَخْلُدُ إِلَى النَّوْمِ</a:t>
            </a:r>
            <a:endParaRPr lang="ar-SA" sz="3000" dirty="0"/>
          </a:p>
        </p:txBody>
      </p:sp>
      <p:sp>
        <p:nvSpPr>
          <p:cNvPr id="43" name="Text 4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go to sleep</a:t>
            </a:r>
            <a:endParaRPr lang="en-US" sz="1350" dirty="0"/>
          </a:p>
          <a:p>
            <a:pPr indent="0" marL="0">
              <a:buNone/>
            </a:pPr>
            <a:r>
              <a:rPr lang="en-US" sz="1100" i="1" dirty="0">
                <a:solidFill>
                  <a:srgbClr val="5A6472"/>
                </a:solidFill>
                <a:latin typeface="Calibri" pitchFamily="34" charset="0"/>
                <a:cs typeface="Amiri" pitchFamily="2" charset="-78"/>
              </a:rPr>
              <a:t>akh-lu-du i-lā an-naw-mi</a:t>
            </a:r>
            <a:endParaRPr lang="en-US" sz="1350" dirty="0"/>
          </a:p>
        </p:txBody>
      </p:sp>
      <p:sp>
        <p:nvSpPr>
          <p:cNvPr id="44" name="Shape 41"/>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6" name="Text 43"/>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يَخْلُدُ</a:t>
            </a:r>
            <a:endParaRPr lang="ar-SA" sz="1500" dirty="0"/>
          </a:p>
        </p:txBody>
      </p:sp>
      <p:sp>
        <p:nvSpPr>
          <p:cNvPr id="47" name="Shape 44"/>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9" name="Text 46"/>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تَخْلُدُ</a:t>
            </a:r>
            <a:endParaRPr lang="ar-SA" sz="1500" dirty="0"/>
          </a:p>
        </p:txBody>
      </p:sp>
      <p:sp>
        <p:nvSpPr>
          <p:cNvPr id="50" name="Shape 47"/>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after an</a:t>
            </a:r>
            <a:endParaRPr lang="en-US" sz="700" dirty="0"/>
          </a:p>
        </p:txBody>
      </p:sp>
      <p:sp>
        <p:nvSpPr>
          <p:cNvPr id="52" name="Text 49"/>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أَنْ أَخْلُدَ</a:t>
            </a:r>
            <a:endParaRPr lang="ar-SA"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Frequency and amount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مَرَّةً فِي اليَوْمِ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once a day</a:t>
            </a:r>
            <a:endParaRPr lang="en-US" sz="1350" dirty="0"/>
          </a:p>
          <a:p>
            <a:pPr indent="0" marL="0">
              <a:buNone/>
            </a:pPr>
            <a:r>
              <a:rPr lang="en-US" sz="1100" i="1" dirty="0">
                <a:solidFill>
                  <a:srgbClr val="5A6472"/>
                </a:solidFill>
                <a:latin typeface="Calibri" pitchFamily="34" charset="0"/>
                <a:cs typeface="Amiri" pitchFamily="2" charset="-78"/>
              </a:rPr>
              <a:t>mar-ra-tan fī al-yaw-mi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مَرَّتَيْنِ فِي الأُسْبُوعِ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twice a week</a:t>
            </a:r>
            <a:endParaRPr lang="en-US" sz="1350" dirty="0"/>
          </a:p>
          <a:p>
            <a:pPr indent="0" marL="0">
              <a:buNone/>
            </a:pPr>
            <a:r>
              <a:rPr lang="en-US" sz="1100" i="1" dirty="0">
                <a:solidFill>
                  <a:srgbClr val="5A6472"/>
                </a:solidFill>
                <a:latin typeface="Calibri" pitchFamily="34" charset="0"/>
                <a:cs typeface="Amiri" pitchFamily="2" charset="-78"/>
              </a:rPr>
              <a:t>mar-ra-tay-ni fī al-us-bū-ʿi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ثَلَاثَ مَرَّاتٍ</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three times</a:t>
            </a:r>
            <a:endParaRPr lang="en-US" sz="1350" dirty="0"/>
          </a:p>
          <a:p>
            <a:pPr indent="0" marL="0">
              <a:buNone/>
            </a:pPr>
            <a:r>
              <a:rPr lang="en-US" sz="1100" i="1" dirty="0">
                <a:solidFill>
                  <a:srgbClr val="5A6472"/>
                </a:solidFill>
                <a:latin typeface="Calibri" pitchFamily="34" charset="0"/>
                <a:cs typeface="Amiri" pitchFamily="2" charset="-78"/>
              </a:rPr>
              <a:t>tha-lā-tha mar-rā-tin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غَالِبًا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often</a:t>
            </a:r>
            <a:endParaRPr lang="en-US" sz="1350" dirty="0"/>
          </a:p>
          <a:p>
            <a:pPr indent="0" marL="0">
              <a:buNone/>
            </a:pPr>
            <a:r>
              <a:rPr lang="en-US" sz="1100" i="1" dirty="0">
                <a:solidFill>
                  <a:srgbClr val="5A6472"/>
                </a:solidFill>
                <a:latin typeface="Calibri" pitchFamily="34" charset="0"/>
                <a:cs typeface="Amiri" pitchFamily="2" charset="-78"/>
              </a:rPr>
              <a:t>ghā-li-ban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Frequency and amount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حِينٍ إِلَى آخَرَ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from time to time</a:t>
            </a:r>
            <a:endParaRPr lang="en-US" sz="1350" dirty="0"/>
          </a:p>
          <a:p>
            <a:pPr indent="0" marL="0">
              <a:buNone/>
            </a:pPr>
            <a:r>
              <a:rPr lang="en-US" sz="1100" i="1" dirty="0">
                <a:solidFill>
                  <a:srgbClr val="5A6472"/>
                </a:solidFill>
                <a:latin typeface="Calibri" pitchFamily="34" charset="0"/>
                <a:cs typeface="Amiri" pitchFamily="2" charset="-78"/>
              </a:rPr>
              <a:t>min ḥī-nin i-lā ā-kha-ra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تَقْرِيبًا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approximately</a:t>
            </a:r>
            <a:endParaRPr lang="en-US" sz="1350" dirty="0"/>
          </a:p>
          <a:p>
            <a:pPr indent="0" marL="0">
              <a:buNone/>
            </a:pPr>
            <a:r>
              <a:rPr lang="en-US" sz="1100" i="1" dirty="0">
                <a:solidFill>
                  <a:srgbClr val="5A6472"/>
                </a:solidFill>
                <a:latin typeface="Calibri" pitchFamily="34" charset="0"/>
                <a:cs typeface="Amiri" pitchFamily="2" charset="-78"/>
              </a:rPr>
              <a:t>taq-rī-ban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لِمُدَّةِ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a period of</a:t>
            </a:r>
            <a:endParaRPr lang="en-US" sz="1350" dirty="0"/>
          </a:p>
          <a:p>
            <a:pPr indent="0" marL="0">
              <a:buNone/>
            </a:pPr>
            <a:r>
              <a:rPr lang="en-US" sz="1100" i="1" dirty="0">
                <a:solidFill>
                  <a:srgbClr val="5A6472"/>
                </a:solidFill>
                <a:latin typeface="Calibri" pitchFamily="34" charset="0"/>
                <a:cs typeface="Amiri" pitchFamily="2" charset="-78"/>
              </a:rPr>
              <a:t>li-mud-da-ti</a:t>
            </a:r>
            <a:endParaRPr lang="en-US" sz="13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NOUN OR VERB?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Is the next word a noun or a verb?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اِسْمٌ أَمْ 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7298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With a noun: no extra word</a:t>
            </a:r>
            <a:endParaRPr lang="en-US" sz="1100" dirty="0"/>
          </a:p>
        </p:txBody>
      </p:sp>
      <p:sp>
        <p:nvSpPr>
          <p:cNvPr id="17" name="Text 14"/>
          <p:cNvSpPr txBox="1"/>
          <p:nvPr/>
        </p:nvSpPr>
        <p:spPr>
          <a:xfrm>
            <a:off x="3273552" y="1810512"/>
            <a:ext cx="4453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With a verb: add an</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891272" y="2286000"/>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قَبْلَ </a:t>
            </a:r>
            <a:pPr rtl="1" algn="ctr" indent="0" marL="0">
              <a:buNone/>
            </a:pPr>
            <a:r>
              <a:rPr lang="ar-SA" altLang="en-US" sz="2100" b="1" dirty="0">
                <a:solidFill>
                  <a:srgbClr val="0E7C86"/>
                </a:solidFill>
                <a:latin typeface="Amiri" pitchFamily="2" charset="-78"/>
                <a:cs typeface="Amiri" pitchFamily="2" charset="-78"/>
              </a:rPr>
              <a:t>الدَّرْسِ</a:t>
            </a:r>
            <a:endParaRPr lang="ar-SA" sz="2100" dirty="0"/>
          </a:p>
        </p:txBody>
      </p:sp>
      <p:sp>
        <p:nvSpPr>
          <p:cNvPr id="21" name="Text 18"/>
          <p:cNvSpPr txBox="1"/>
          <p:nvPr/>
        </p:nvSpPr>
        <p:spPr>
          <a:xfrm>
            <a:off x="7845552" y="2706624"/>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before the lesson</a:t>
            </a:r>
            <a:endParaRPr lang="en-US" sz="950" dirty="0"/>
          </a:p>
        </p:txBody>
      </p:sp>
      <p:sp>
        <p:nvSpPr>
          <p:cNvPr id="22" name="Text 19"/>
          <p:cNvSpPr txBox="1"/>
          <p:nvPr/>
        </p:nvSpPr>
        <p:spPr>
          <a:xfrm>
            <a:off x="3291840" y="2286000"/>
            <a:ext cx="44165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قَبْلَ </a:t>
            </a:r>
            <a:pPr rtl="1" algn="ctr" indent="0" marL="0">
              <a:buNone/>
            </a:pPr>
            <a:r>
              <a:rPr lang="ar-SA" altLang="en-US" sz="2100" b="1" dirty="0">
                <a:solidFill>
                  <a:srgbClr val="0E7C86"/>
                </a:solidFill>
                <a:latin typeface="Amiri" pitchFamily="2" charset="-78"/>
                <a:cs typeface="Amiri" pitchFamily="2" charset="-78"/>
              </a:rPr>
              <a:t>أَنْ</a:t>
            </a:r>
            <a:pPr rtl="1" algn="ctr" indent="0" marL="0">
              <a:buNone/>
            </a:pPr>
            <a:r>
              <a:rPr lang="ar-SA" altLang="en-US" sz="2100" b="1" dirty="0">
                <a:solidFill>
                  <a:srgbClr val="1B3B6F"/>
                </a:solidFill>
                <a:latin typeface="Amiri" pitchFamily="2" charset="-78"/>
                <a:cs typeface="Amiri" pitchFamily="2" charset="-78"/>
              </a:rPr>
              <a:t> يَبْدَأَ الدَّرْسُ</a:t>
            </a:r>
            <a:endParaRPr lang="ar-SA" sz="2100" dirty="0"/>
          </a:p>
        </p:txBody>
      </p:sp>
      <p:sp>
        <p:nvSpPr>
          <p:cNvPr id="23" name="Text 20"/>
          <p:cNvSpPr txBox="1"/>
          <p:nvPr/>
        </p:nvSpPr>
        <p:spPr>
          <a:xfrm>
            <a:off x="3246120" y="2706624"/>
            <a:ext cx="4507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before the lesson starts</a:t>
            </a:r>
            <a:endParaRPr lang="en-US" sz="950" dirty="0"/>
          </a:p>
        </p:txBody>
      </p:sp>
      <p:sp>
        <p:nvSpPr>
          <p:cNvPr id="24" name="Text 21"/>
          <p:cNvSpPr txBox="1"/>
          <p:nvPr/>
        </p:nvSpPr>
        <p:spPr>
          <a:xfrm>
            <a:off x="56692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891272" y="3072384"/>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بَعْدَ </a:t>
            </a:r>
            <a:pPr rtl="1" algn="ctr" indent="0" marL="0">
              <a:buNone/>
            </a:pPr>
            <a:r>
              <a:rPr lang="ar-SA" altLang="en-US" sz="2100" b="1" dirty="0">
                <a:solidFill>
                  <a:srgbClr val="0E7C86"/>
                </a:solidFill>
                <a:latin typeface="Amiri" pitchFamily="2" charset="-78"/>
                <a:cs typeface="Amiri" pitchFamily="2" charset="-78"/>
              </a:rPr>
              <a:t>التَّمْرِينِ</a:t>
            </a:r>
            <a:endParaRPr lang="ar-SA" sz="2100" dirty="0"/>
          </a:p>
        </p:txBody>
      </p:sp>
      <p:sp>
        <p:nvSpPr>
          <p:cNvPr id="29" name="Text 26"/>
          <p:cNvSpPr txBox="1"/>
          <p:nvPr/>
        </p:nvSpPr>
        <p:spPr>
          <a:xfrm>
            <a:off x="7845552" y="3493008"/>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after training</a:t>
            </a:r>
            <a:endParaRPr lang="en-US" sz="950" dirty="0"/>
          </a:p>
        </p:txBody>
      </p:sp>
      <p:sp>
        <p:nvSpPr>
          <p:cNvPr id="30" name="Text 27"/>
          <p:cNvSpPr txBox="1"/>
          <p:nvPr/>
        </p:nvSpPr>
        <p:spPr>
          <a:xfrm>
            <a:off x="3291840" y="3072384"/>
            <a:ext cx="44165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بَعْدَ </a:t>
            </a:r>
            <a:pPr rtl="1" algn="ctr" indent="0" marL="0">
              <a:buNone/>
            </a:pPr>
            <a:r>
              <a:rPr lang="ar-SA" altLang="en-US" sz="2100" b="1" dirty="0">
                <a:solidFill>
                  <a:srgbClr val="0E7C86"/>
                </a:solidFill>
                <a:latin typeface="Amiri" pitchFamily="2" charset="-78"/>
                <a:cs typeface="Amiri" pitchFamily="2" charset="-78"/>
              </a:rPr>
              <a:t>أَنْ</a:t>
            </a:r>
            <a:pPr rtl="1" algn="ctr" indent="0" marL="0">
              <a:buNone/>
            </a:pPr>
            <a:r>
              <a:rPr lang="ar-SA" altLang="en-US" sz="2100" b="1" dirty="0">
                <a:solidFill>
                  <a:srgbClr val="1B3B6F"/>
                </a:solidFill>
                <a:latin typeface="Amiri" pitchFamily="2" charset="-78"/>
                <a:cs typeface="Amiri" pitchFamily="2" charset="-78"/>
              </a:rPr>
              <a:t> يَنْتَهِيَ التَّمْرِينُ</a:t>
            </a:r>
            <a:endParaRPr lang="ar-SA" sz="2100" dirty="0"/>
          </a:p>
        </p:txBody>
      </p:sp>
      <p:sp>
        <p:nvSpPr>
          <p:cNvPr id="31" name="Text 28"/>
          <p:cNvSpPr txBox="1"/>
          <p:nvPr/>
        </p:nvSpPr>
        <p:spPr>
          <a:xfrm>
            <a:off x="3246120" y="3493008"/>
            <a:ext cx="4507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after training finishes</a:t>
            </a:r>
            <a:endParaRPr lang="en-US" sz="950" dirty="0"/>
          </a:p>
        </p:txBody>
      </p:sp>
      <p:sp>
        <p:nvSpPr>
          <p:cNvPr id="32" name="Text 29"/>
          <p:cNvSpPr txBox="1"/>
          <p:nvPr/>
        </p:nvSpPr>
        <p:spPr>
          <a:xfrm>
            <a:off x="56692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a:t>
            </a:r>
            <a:endParaRPr lang="en-US" sz="110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7891272" y="3858768"/>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عِنْدَ </a:t>
            </a:r>
            <a:pPr rtl="1" algn="ctr" indent="0" marL="0">
              <a:buNone/>
            </a:pPr>
            <a:r>
              <a:rPr lang="ar-SA" altLang="en-US" sz="2100" b="1" dirty="0">
                <a:solidFill>
                  <a:srgbClr val="0E7C86"/>
                </a:solidFill>
                <a:latin typeface="Amiri" pitchFamily="2" charset="-78"/>
                <a:cs typeface="Amiri" pitchFamily="2" charset="-78"/>
              </a:rPr>
              <a:t>الوُصُولِ</a:t>
            </a:r>
            <a:endParaRPr lang="ar-SA" sz="2100" dirty="0"/>
          </a:p>
        </p:txBody>
      </p:sp>
      <p:sp>
        <p:nvSpPr>
          <p:cNvPr id="37" name="Text 34"/>
          <p:cNvSpPr txBox="1"/>
          <p:nvPr/>
        </p:nvSpPr>
        <p:spPr>
          <a:xfrm>
            <a:off x="7845552" y="4279392"/>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on arrival</a:t>
            </a:r>
            <a:endParaRPr lang="en-US" sz="950" dirty="0"/>
          </a:p>
        </p:txBody>
      </p:sp>
      <p:sp>
        <p:nvSpPr>
          <p:cNvPr id="38" name="Text 35"/>
          <p:cNvSpPr txBox="1"/>
          <p:nvPr/>
        </p:nvSpPr>
        <p:spPr>
          <a:xfrm>
            <a:off x="3291840" y="3858768"/>
            <a:ext cx="44165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عِنْدَمَا أَصِلُ</a:t>
            </a:r>
            <a:endParaRPr lang="ar-SA" sz="2100" dirty="0"/>
          </a:p>
        </p:txBody>
      </p:sp>
      <p:sp>
        <p:nvSpPr>
          <p:cNvPr id="39" name="Text 36"/>
          <p:cNvSpPr txBox="1"/>
          <p:nvPr/>
        </p:nvSpPr>
        <p:spPr>
          <a:xfrm>
            <a:off x="3246120" y="4279392"/>
            <a:ext cx="4507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when I arrive (no change!)</a:t>
            </a:r>
            <a:endParaRPr lang="en-US" sz="950" dirty="0"/>
          </a:p>
        </p:txBody>
      </p:sp>
      <p:sp>
        <p:nvSpPr>
          <p:cNvPr id="40" name="Text 37"/>
          <p:cNvSpPr txBox="1"/>
          <p:nvPr/>
        </p:nvSpPr>
        <p:spPr>
          <a:xfrm>
            <a:off x="56692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a:t>
            </a:r>
            <a:endParaRPr lang="en-US" sz="110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7891272" y="4645152"/>
            <a:ext cx="37490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أَثْنَاءَ </a:t>
            </a:r>
            <a:pPr rtl="1" algn="ctr" indent="0" marL="0">
              <a:buNone/>
            </a:pPr>
            <a:r>
              <a:rPr lang="ar-SA" altLang="en-US" sz="2100" b="1" dirty="0">
                <a:solidFill>
                  <a:srgbClr val="0E7C86"/>
                </a:solidFill>
                <a:latin typeface="Amiri" pitchFamily="2" charset="-78"/>
                <a:cs typeface="Amiri" pitchFamily="2" charset="-78"/>
              </a:rPr>
              <a:t>الدَّرْسِ</a:t>
            </a:r>
            <a:endParaRPr lang="ar-SA" sz="2100" dirty="0"/>
          </a:p>
        </p:txBody>
      </p:sp>
      <p:sp>
        <p:nvSpPr>
          <p:cNvPr id="43" name="Text 40"/>
          <p:cNvSpPr txBox="1"/>
          <p:nvPr/>
        </p:nvSpPr>
        <p:spPr>
          <a:xfrm>
            <a:off x="7845552" y="5065776"/>
            <a:ext cx="38404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during the lesson</a:t>
            </a:r>
            <a:endParaRPr lang="en-US" sz="950" dirty="0"/>
          </a:p>
        </p:txBody>
      </p:sp>
      <p:sp>
        <p:nvSpPr>
          <p:cNvPr id="44" name="Text 41"/>
          <p:cNvSpPr txBox="1"/>
          <p:nvPr/>
        </p:nvSpPr>
        <p:spPr>
          <a:xfrm>
            <a:off x="3291840" y="4645152"/>
            <a:ext cx="44165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بِمُجَرَّدِ </a:t>
            </a:r>
            <a:pPr rtl="1" algn="ctr" indent="0" marL="0">
              <a:buNone/>
            </a:pPr>
            <a:r>
              <a:rPr lang="ar-SA" altLang="en-US" sz="2100" b="1" dirty="0">
                <a:solidFill>
                  <a:srgbClr val="0E7C86"/>
                </a:solidFill>
                <a:latin typeface="Amiri" pitchFamily="2" charset="-78"/>
                <a:cs typeface="Amiri" pitchFamily="2" charset="-78"/>
              </a:rPr>
              <a:t>أَنْ</a:t>
            </a:r>
            <a:pPr rtl="1" algn="ctr" indent="0" marL="0">
              <a:buNone/>
            </a:pPr>
            <a:r>
              <a:rPr lang="ar-SA" altLang="en-US" sz="2100" b="1" dirty="0">
                <a:solidFill>
                  <a:srgbClr val="1B3B6F"/>
                </a:solidFill>
                <a:latin typeface="Amiri" pitchFamily="2" charset="-78"/>
                <a:cs typeface="Amiri" pitchFamily="2" charset="-78"/>
              </a:rPr>
              <a:t> أَنْتَهِيَ</a:t>
            </a:r>
            <a:endParaRPr lang="ar-SA" sz="2100" dirty="0"/>
          </a:p>
        </p:txBody>
      </p:sp>
      <p:sp>
        <p:nvSpPr>
          <p:cNvPr id="45" name="Text 42"/>
          <p:cNvSpPr txBox="1"/>
          <p:nvPr/>
        </p:nvSpPr>
        <p:spPr>
          <a:xfrm>
            <a:off x="3246120" y="5065776"/>
            <a:ext cx="4507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as soon as I finish</a:t>
            </a:r>
            <a:endParaRPr lang="en-US" sz="950" dirty="0"/>
          </a:p>
        </p:txBody>
      </p:sp>
      <p:sp>
        <p:nvSpPr>
          <p:cNvPr id="46" name="Text 43"/>
          <p:cNvSpPr txBox="1"/>
          <p:nvPr/>
        </p:nvSpPr>
        <p:spPr>
          <a:xfrm>
            <a:off x="566928" y="4626864"/>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during / as soon as</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Test: can you put “the” (</a:t>
            </a:r>
            <a:pPr algn="l" indent="0" marL="0">
              <a:buNone/>
            </a:pPr>
            <a:r>
              <a:rPr lang="ar-SA" altLang="en-US" sz="1500" b="1" dirty="0">
                <a:solidFill>
                  <a:srgbClr val="1B3B6F"/>
                </a:solidFill>
                <a:latin typeface="Amiri" pitchFamily="2" charset="-78"/>
                <a:cs typeface="Amiri" pitchFamily="2" charset="-78"/>
              </a:rPr>
              <a:t>الـ</a:t>
            </a:r>
            <a:pPr algn="l" indent="0" marL="0">
              <a:buNone/>
            </a:pPr>
            <a:r>
              <a:rPr lang="en-US" sz="1150" b="1" dirty="0">
                <a:solidFill>
                  <a:srgbClr val="1B3B6F"/>
                </a:solidFill>
                <a:latin typeface="Calibri" pitchFamily="34" charset="0"/>
                <a:cs typeface="Amiri" pitchFamily="2" charset="-78"/>
              </a:rPr>
              <a:t>) on the next word? → noun → no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THE VERB ENDING CHANGES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After </a:t>
            </a:r>
            <a:pPr algn="l" indent="0" marL="0">
              <a:buNone/>
            </a:pPr>
            <a:r>
              <a:rPr lang="ar-SA" altLang="en-US" sz="3650" b="1" dirty="0">
                <a:solidFill>
                  <a:srgbClr val="1B3B6F"/>
                </a:solidFill>
                <a:latin typeface="Amiri" pitchFamily="2" charset="-78"/>
                <a:cs typeface="Amiri" pitchFamily="2" charset="-78"/>
              </a:rPr>
              <a:t>أَنْ</a:t>
            </a:r>
            <a:pPr algn="l" indent="0" marL="0">
              <a:buNone/>
            </a:pPr>
            <a:r>
              <a:rPr lang="en-US" sz="2800" b="1" dirty="0">
                <a:solidFill>
                  <a:srgbClr val="1B3B6F"/>
                </a:solidFill>
                <a:latin typeface="Cambria" pitchFamily="34" charset="0"/>
                <a:cs typeface="Amiri" pitchFamily="2" charset="-78"/>
              </a:rPr>
              <a:t>: watch the last 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الفِعْلُ بَعْدَ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38744"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Ordinary present</a:t>
            </a:r>
            <a:endParaRPr lang="en-US" sz="1100" dirty="0"/>
          </a:p>
        </p:txBody>
      </p:sp>
      <p:sp>
        <p:nvSpPr>
          <p:cNvPr id="17" name="Text 14"/>
          <p:cNvSpPr txBox="1"/>
          <p:nvPr/>
        </p:nvSpPr>
        <p:spPr>
          <a:xfrm>
            <a:off x="403250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After an (subjunctive)</a:t>
            </a:r>
            <a:endParaRPr lang="en-US" sz="1100" dirty="0"/>
          </a:p>
        </p:txBody>
      </p:sp>
      <p:sp>
        <p:nvSpPr>
          <p:cNvPr id="18" name="Text 15"/>
          <p:cNvSpPr txBox="1"/>
          <p:nvPr/>
        </p:nvSpPr>
        <p:spPr>
          <a:xfrm>
            <a:off x="530352" y="1810512"/>
            <a:ext cx="3355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changes</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257032" y="2286000"/>
            <a:ext cx="33832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أَخْرُ</a:t>
            </a:r>
            <a:pPr rtl="1" algn="ctr" indent="0" marL="0">
              <a:buNone/>
            </a:pPr>
            <a:r>
              <a:rPr lang="ar-SA" altLang="en-US" sz="1950" b="1" dirty="0">
                <a:solidFill>
                  <a:srgbClr val="D6336C"/>
                </a:solidFill>
                <a:latin typeface="Amiri" pitchFamily="2" charset="-78"/>
                <a:cs typeface="Amiri" pitchFamily="2" charset="-78"/>
              </a:rPr>
              <a:t>جُ</a:t>
            </a:r>
            <a:endParaRPr lang="ar-SA" sz="1950" dirty="0"/>
          </a:p>
        </p:txBody>
      </p:sp>
      <p:sp>
        <p:nvSpPr>
          <p:cNvPr id="21" name="Text 18"/>
          <p:cNvSpPr txBox="1"/>
          <p:nvPr/>
        </p:nvSpPr>
        <p:spPr>
          <a:xfrm>
            <a:off x="8211312" y="2676997"/>
            <a:ext cx="34747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go out</a:t>
            </a:r>
            <a:endParaRPr lang="en-US" sz="950" dirty="0"/>
          </a:p>
        </p:txBody>
      </p:sp>
      <p:sp>
        <p:nvSpPr>
          <p:cNvPr id="22" name="Text 19"/>
          <p:cNvSpPr txBox="1"/>
          <p:nvPr/>
        </p:nvSpPr>
        <p:spPr>
          <a:xfrm>
            <a:off x="4050792" y="2286000"/>
            <a:ext cx="40233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قَبْلَ أَنْ أَخْرُ</a:t>
            </a:r>
            <a:pPr rtl="1" algn="ctr" indent="0" marL="0">
              <a:buNone/>
            </a:pPr>
            <a:r>
              <a:rPr lang="ar-SA" altLang="en-US" sz="1950" b="1" dirty="0">
                <a:solidFill>
                  <a:srgbClr val="D6336C"/>
                </a:solidFill>
                <a:latin typeface="Amiri" pitchFamily="2" charset="-78"/>
                <a:cs typeface="Amiri" pitchFamily="2" charset="-78"/>
              </a:rPr>
              <a:t>جَ</a:t>
            </a:r>
            <a:endParaRPr lang="ar-SA" sz="1950" dirty="0"/>
          </a:p>
        </p:txBody>
      </p:sp>
      <p:sp>
        <p:nvSpPr>
          <p:cNvPr id="23" name="Text 20"/>
          <p:cNvSpPr txBox="1"/>
          <p:nvPr/>
        </p:nvSpPr>
        <p:spPr>
          <a:xfrm>
            <a:off x="4005072" y="2676997"/>
            <a:ext cx="41148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before I go out</a:t>
            </a:r>
            <a:endParaRPr lang="en-US" sz="950" dirty="0"/>
          </a:p>
        </p:txBody>
      </p:sp>
      <p:sp>
        <p:nvSpPr>
          <p:cNvPr id="24" name="Text 21"/>
          <p:cNvSpPr txBox="1"/>
          <p:nvPr/>
        </p:nvSpPr>
        <p:spPr>
          <a:xfrm>
            <a:off x="566928" y="2267712"/>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ḍamma → fatḥa</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57032" y="3023006"/>
            <a:ext cx="33832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أَنَا</a:t>
            </a:r>
            <a:pPr rtl="1" algn="ctr" indent="0" marL="0">
              <a:buNone/>
            </a:pPr>
            <a:r>
              <a:rPr lang="ar-SA" altLang="en-US" sz="1950" b="1" dirty="0">
                <a:solidFill>
                  <a:srgbClr val="D6336C"/>
                </a:solidFill>
                <a:latin typeface="Amiri" pitchFamily="2" charset="-78"/>
                <a:cs typeface="Amiri" pitchFamily="2" charset="-78"/>
              </a:rPr>
              <a:t>مُ</a:t>
            </a:r>
            <a:endParaRPr lang="ar-SA" sz="1950" dirty="0"/>
          </a:p>
        </p:txBody>
      </p:sp>
      <p:sp>
        <p:nvSpPr>
          <p:cNvPr id="29" name="Text 26"/>
          <p:cNvSpPr txBox="1"/>
          <p:nvPr/>
        </p:nvSpPr>
        <p:spPr>
          <a:xfrm>
            <a:off x="8211312" y="3414004"/>
            <a:ext cx="34747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sleep</a:t>
            </a:r>
            <a:endParaRPr lang="en-US" sz="950" dirty="0"/>
          </a:p>
        </p:txBody>
      </p:sp>
      <p:sp>
        <p:nvSpPr>
          <p:cNvPr id="30" name="Text 27"/>
          <p:cNvSpPr txBox="1"/>
          <p:nvPr/>
        </p:nvSpPr>
        <p:spPr>
          <a:xfrm>
            <a:off x="4050792" y="3023006"/>
            <a:ext cx="40233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قَبْلَ أَنْ أَنَا</a:t>
            </a:r>
            <a:pPr rtl="1" algn="ctr" indent="0" marL="0">
              <a:buNone/>
            </a:pPr>
            <a:r>
              <a:rPr lang="ar-SA" altLang="en-US" sz="1950" b="1" dirty="0">
                <a:solidFill>
                  <a:srgbClr val="D6336C"/>
                </a:solidFill>
                <a:latin typeface="Amiri" pitchFamily="2" charset="-78"/>
                <a:cs typeface="Amiri" pitchFamily="2" charset="-78"/>
              </a:rPr>
              <a:t>مَ</a:t>
            </a:r>
            <a:endParaRPr lang="ar-SA" sz="1950" dirty="0"/>
          </a:p>
        </p:txBody>
      </p:sp>
      <p:sp>
        <p:nvSpPr>
          <p:cNvPr id="31" name="Text 28"/>
          <p:cNvSpPr txBox="1"/>
          <p:nvPr/>
        </p:nvSpPr>
        <p:spPr>
          <a:xfrm>
            <a:off x="4005072" y="3414004"/>
            <a:ext cx="41148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before I sleep</a:t>
            </a:r>
            <a:endParaRPr lang="en-US" sz="950" dirty="0"/>
          </a:p>
        </p:txBody>
      </p:sp>
      <p:sp>
        <p:nvSpPr>
          <p:cNvPr id="32" name="Text 29"/>
          <p:cNvSpPr txBox="1"/>
          <p:nvPr/>
        </p:nvSpPr>
        <p:spPr>
          <a:xfrm>
            <a:off x="566928" y="3004718"/>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ḍamma → fatḥa</a:t>
            </a:r>
            <a:endParaRPr lang="en-US" sz="1100" dirty="0"/>
          </a:p>
        </p:txBody>
      </p:sp>
      <p:sp>
        <p:nvSpPr>
          <p:cNvPr id="33" name="Shape 30"/>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8257032" y="3760013"/>
            <a:ext cx="33832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أَعُو</a:t>
            </a:r>
            <a:pPr rtl="1" algn="ctr" indent="0" marL="0">
              <a:buNone/>
            </a:pPr>
            <a:r>
              <a:rPr lang="ar-SA" altLang="en-US" sz="1950" b="1" dirty="0">
                <a:solidFill>
                  <a:srgbClr val="D6336C"/>
                </a:solidFill>
                <a:latin typeface="Amiri" pitchFamily="2" charset="-78"/>
                <a:cs typeface="Amiri" pitchFamily="2" charset="-78"/>
              </a:rPr>
              <a:t>دُ</a:t>
            </a:r>
            <a:endParaRPr lang="ar-SA" sz="1950" dirty="0"/>
          </a:p>
        </p:txBody>
      </p:sp>
      <p:sp>
        <p:nvSpPr>
          <p:cNvPr id="37" name="Text 34"/>
          <p:cNvSpPr txBox="1"/>
          <p:nvPr/>
        </p:nvSpPr>
        <p:spPr>
          <a:xfrm>
            <a:off x="8211312" y="4151010"/>
            <a:ext cx="34747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return</a:t>
            </a:r>
            <a:endParaRPr lang="en-US" sz="950" dirty="0"/>
          </a:p>
        </p:txBody>
      </p:sp>
      <p:sp>
        <p:nvSpPr>
          <p:cNvPr id="38" name="Text 35"/>
          <p:cNvSpPr txBox="1"/>
          <p:nvPr/>
        </p:nvSpPr>
        <p:spPr>
          <a:xfrm>
            <a:off x="4050792" y="3760013"/>
            <a:ext cx="40233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بَعْدَ أَنْ أَعُو</a:t>
            </a:r>
            <a:pPr rtl="1" algn="ctr" indent="0" marL="0">
              <a:buNone/>
            </a:pPr>
            <a:r>
              <a:rPr lang="ar-SA" altLang="en-US" sz="1950" b="1" dirty="0">
                <a:solidFill>
                  <a:srgbClr val="D6336C"/>
                </a:solidFill>
                <a:latin typeface="Amiri" pitchFamily="2" charset="-78"/>
                <a:cs typeface="Amiri" pitchFamily="2" charset="-78"/>
              </a:rPr>
              <a:t>دَ</a:t>
            </a:r>
            <a:endParaRPr lang="ar-SA" sz="1950" dirty="0"/>
          </a:p>
        </p:txBody>
      </p:sp>
      <p:sp>
        <p:nvSpPr>
          <p:cNvPr id="39" name="Text 36"/>
          <p:cNvSpPr txBox="1"/>
          <p:nvPr/>
        </p:nvSpPr>
        <p:spPr>
          <a:xfrm>
            <a:off x="4005072" y="4151010"/>
            <a:ext cx="41148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after I return</a:t>
            </a:r>
            <a:endParaRPr lang="en-US" sz="950" dirty="0"/>
          </a:p>
        </p:txBody>
      </p:sp>
      <p:sp>
        <p:nvSpPr>
          <p:cNvPr id="40" name="Text 37"/>
          <p:cNvSpPr txBox="1"/>
          <p:nvPr/>
        </p:nvSpPr>
        <p:spPr>
          <a:xfrm>
            <a:off x="566928" y="3741725"/>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ḍamma → fatḥa</a:t>
            </a:r>
            <a:endParaRPr lang="en-US" sz="110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57032" y="4497019"/>
            <a:ext cx="33832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تُكْمِلِي</a:t>
            </a:r>
            <a:pPr rtl="1" algn="ctr" indent="0" marL="0">
              <a:buNone/>
            </a:pPr>
            <a:r>
              <a:rPr lang="ar-SA" altLang="en-US" sz="1950" b="1" dirty="0">
                <a:solidFill>
                  <a:srgbClr val="D6336C"/>
                </a:solidFill>
                <a:latin typeface="Amiri" pitchFamily="2" charset="-78"/>
                <a:cs typeface="Amiri" pitchFamily="2" charset="-78"/>
              </a:rPr>
              <a:t>نَ</a:t>
            </a:r>
            <a:endParaRPr lang="ar-SA" sz="1950" dirty="0"/>
          </a:p>
        </p:txBody>
      </p:sp>
      <p:sp>
        <p:nvSpPr>
          <p:cNvPr id="43" name="Text 40"/>
          <p:cNvSpPr txBox="1"/>
          <p:nvPr/>
        </p:nvSpPr>
        <p:spPr>
          <a:xfrm>
            <a:off x="8211312" y="4888017"/>
            <a:ext cx="34747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you (f.) complete</a:t>
            </a:r>
            <a:endParaRPr lang="en-US" sz="950" dirty="0"/>
          </a:p>
        </p:txBody>
      </p:sp>
      <p:sp>
        <p:nvSpPr>
          <p:cNvPr id="44" name="Text 41"/>
          <p:cNvSpPr txBox="1"/>
          <p:nvPr/>
        </p:nvSpPr>
        <p:spPr>
          <a:xfrm>
            <a:off x="4050792" y="4497019"/>
            <a:ext cx="40233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بَعْدَ أَنْ تُكْمِلِي</a:t>
            </a:r>
            <a:endParaRPr lang="ar-SA" sz="1950" dirty="0"/>
          </a:p>
        </p:txBody>
      </p:sp>
      <p:sp>
        <p:nvSpPr>
          <p:cNvPr id="45" name="Text 42"/>
          <p:cNvSpPr txBox="1"/>
          <p:nvPr/>
        </p:nvSpPr>
        <p:spPr>
          <a:xfrm>
            <a:off x="4005072" y="4888017"/>
            <a:ext cx="41148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after you (f.) complete</a:t>
            </a:r>
            <a:endParaRPr lang="en-US" sz="950" dirty="0"/>
          </a:p>
        </p:txBody>
      </p:sp>
      <p:sp>
        <p:nvSpPr>
          <p:cNvPr id="46" name="Text 43"/>
          <p:cNvSpPr txBox="1"/>
          <p:nvPr/>
        </p:nvSpPr>
        <p:spPr>
          <a:xfrm>
            <a:off x="566928" y="4478731"/>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a:t>
            </a:r>
            <a:pPr algn="l" indent="0" marL="0">
              <a:buNone/>
            </a:pPr>
            <a:r>
              <a:rPr lang="ar-SA" altLang="en-US" sz="1450" dirty="0">
                <a:solidFill>
                  <a:srgbClr val="5A6472"/>
                </a:solidFill>
                <a:latin typeface="Amiri" pitchFamily="2" charset="-78"/>
                <a:cs typeface="Amiri" pitchFamily="2" charset="-78"/>
              </a:rPr>
              <a:t>ن</a:t>
            </a:r>
            <a:pPr algn="l" indent="0" marL="0">
              <a:buNone/>
            </a:pPr>
            <a:r>
              <a:rPr lang="en-US" sz="1100" dirty="0">
                <a:solidFill>
                  <a:srgbClr val="5A6472"/>
                </a:solidFill>
                <a:latin typeface="Calibri" pitchFamily="34" charset="0"/>
                <a:cs typeface="Amiri" pitchFamily="2" charset="-78"/>
              </a:rPr>
              <a:t> removed</a:t>
            </a:r>
            <a:endParaRPr lang="en-US" sz="1100" dirty="0"/>
          </a:p>
        </p:txBody>
      </p:sp>
      <p:sp>
        <p:nvSpPr>
          <p:cNvPr id="47" name="Shape 4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8" name="Text 45"/>
          <p:cNvSpPr txBox="1"/>
          <p:nvPr/>
        </p:nvSpPr>
        <p:spPr>
          <a:xfrm>
            <a:off x="8257032" y="5234026"/>
            <a:ext cx="33832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تَذْهَبُو</a:t>
            </a:r>
            <a:pPr rtl="1" algn="ctr" indent="0" marL="0">
              <a:buNone/>
            </a:pPr>
            <a:r>
              <a:rPr lang="ar-SA" altLang="en-US" sz="1950" b="1" dirty="0">
                <a:solidFill>
                  <a:srgbClr val="D6336C"/>
                </a:solidFill>
                <a:latin typeface="Amiri" pitchFamily="2" charset="-78"/>
                <a:cs typeface="Amiri" pitchFamily="2" charset="-78"/>
              </a:rPr>
              <a:t>نَ</a:t>
            </a:r>
            <a:endParaRPr lang="ar-SA" sz="1950" dirty="0"/>
          </a:p>
        </p:txBody>
      </p:sp>
      <p:sp>
        <p:nvSpPr>
          <p:cNvPr id="49" name="Text 46"/>
          <p:cNvSpPr txBox="1"/>
          <p:nvPr/>
        </p:nvSpPr>
        <p:spPr>
          <a:xfrm>
            <a:off x="8211312" y="5625023"/>
            <a:ext cx="34747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you (pl.) go</a:t>
            </a:r>
            <a:endParaRPr lang="en-US" sz="950" dirty="0"/>
          </a:p>
        </p:txBody>
      </p:sp>
      <p:sp>
        <p:nvSpPr>
          <p:cNvPr id="50" name="Text 47"/>
          <p:cNvSpPr txBox="1"/>
          <p:nvPr/>
        </p:nvSpPr>
        <p:spPr>
          <a:xfrm>
            <a:off x="4050792" y="5234026"/>
            <a:ext cx="40233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قَبْلَ أَنْ تَذْهَبُوا</a:t>
            </a:r>
            <a:endParaRPr lang="ar-SA" sz="1950" dirty="0"/>
          </a:p>
        </p:txBody>
      </p:sp>
      <p:sp>
        <p:nvSpPr>
          <p:cNvPr id="51" name="Text 48"/>
          <p:cNvSpPr txBox="1"/>
          <p:nvPr/>
        </p:nvSpPr>
        <p:spPr>
          <a:xfrm>
            <a:off x="4005072" y="5625023"/>
            <a:ext cx="41148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before you (pl.) go</a:t>
            </a:r>
            <a:endParaRPr lang="en-US" sz="950" dirty="0"/>
          </a:p>
        </p:txBody>
      </p:sp>
      <p:sp>
        <p:nvSpPr>
          <p:cNvPr id="52" name="Text 49"/>
          <p:cNvSpPr txBox="1"/>
          <p:nvPr/>
        </p:nvSpPr>
        <p:spPr>
          <a:xfrm>
            <a:off x="566928" y="5215738"/>
            <a:ext cx="3319272"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ن</a:t>
            </a:r>
            <a:pPr algn="l" indent="0" marL="0">
              <a:buNone/>
            </a:pPr>
            <a:r>
              <a:rPr lang="en-US" sz="1100" dirty="0">
                <a:solidFill>
                  <a:srgbClr val="5A6472"/>
                </a:solidFill>
                <a:latin typeface="Calibri" pitchFamily="34" charset="0"/>
                <a:cs typeface="Amiri" pitchFamily="2" charset="-78"/>
              </a:rPr>
              <a:t> removed + alif</a:t>
            </a:r>
            <a:endParaRPr lang="en-US" sz="110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Core: learn rows 1–2 as chunks. Develop: rows 1–3. Stretch: all five.</a:t>
            </a:r>
            <a:endParaRPr lang="en-US" sz="11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and after with a verbal clause</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قَبْلَ أَنْ وَبَعْدَ أَنْ مَعَ الفِعْلِ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Use </a:t>
            </a:r>
            <a:pPr algn="l" indent="0" marL="0">
              <a:buNone/>
            </a:pPr>
            <a:r>
              <a:rPr lang="ar-SA" altLang="en-US" sz="1650" b="1" dirty="0">
                <a:solidFill>
                  <a:srgbClr val="1B3B6F"/>
                </a:solidFill>
                <a:latin typeface="Amiri" pitchFamily="2" charset="-78"/>
                <a:cs typeface="Amiri" pitchFamily="2" charset="-78"/>
              </a:rPr>
              <a:t>قَبْلَ أَنْ</a:t>
            </a:r>
            <a:pPr algn="l" indent="0" marL="0">
              <a:buNone/>
            </a:pPr>
            <a:r>
              <a:rPr lang="en-US" sz="1250" b="1" dirty="0">
                <a:solidFill>
                  <a:srgbClr val="1B3B6F"/>
                </a:solidFill>
                <a:latin typeface="Calibri" pitchFamily="34" charset="0"/>
                <a:cs typeface="Amiri" pitchFamily="2" charset="-78"/>
              </a:rPr>
              <a:t> for an action that happens first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قَبْلَ أَنْ + فِعْلٌ مَنْصُوبٌ</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أُحَضِّرُ حَقِيبَتِي قَبْلَ أَنْ أَنَامَ.   ·   أَتَنَاوَلُ الإِفْطَارَ قَبْلَ أَنْ أَخْرُجَ.</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Use </a:t>
            </a:r>
            <a:pPr algn="l" indent="0" marL="0">
              <a:buNone/>
            </a:pPr>
            <a:r>
              <a:rPr lang="ar-SA" altLang="en-US" sz="1650" b="1" dirty="0">
                <a:solidFill>
                  <a:srgbClr val="1B3B6F"/>
                </a:solidFill>
                <a:latin typeface="Amiri" pitchFamily="2" charset="-78"/>
                <a:cs typeface="Amiri" pitchFamily="2" charset="-78"/>
              </a:rPr>
              <a:t>بَعْدَ أَنْ</a:t>
            </a:r>
            <a:pPr algn="l" indent="0" marL="0">
              <a:buNone/>
            </a:pPr>
            <a:r>
              <a:rPr lang="en-US" sz="1250" b="1" dirty="0">
                <a:solidFill>
                  <a:srgbClr val="1B3B6F"/>
                </a:solidFill>
                <a:latin typeface="Calibri" pitchFamily="34" charset="0"/>
                <a:cs typeface="Amiri" pitchFamily="2" charset="-78"/>
              </a:rPr>
              <a:t> for the completed first action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بَعْدَ أَنْ + فِعْلٌ مَنْصُوبٌ</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أَسْتَرِيحُ بَعْدَ أَنْ أَعُودَ مِنَ المَدْرَسَةِ.   ·   تَتَمَرَّنُ بَعْدَ أَنْ تُكْمِلَ وَاجِبَهَا.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Remove final </a:t>
            </a:r>
            <a:pPr algn="l" indent="0" marL="0">
              <a:buNone/>
            </a:pPr>
            <a:r>
              <a:rPr lang="ar-SA" altLang="en-US" sz="1650" b="1" dirty="0">
                <a:solidFill>
                  <a:srgbClr val="1B3B6F"/>
                </a:solidFill>
                <a:latin typeface="Amiri" pitchFamily="2" charset="-78"/>
                <a:cs typeface="Amiri" pitchFamily="2" charset="-78"/>
              </a:rPr>
              <a:t>ن</a:t>
            </a:r>
            <a:pPr algn="l" indent="0" marL="0">
              <a:buNone/>
            </a:pPr>
            <a:r>
              <a:rPr lang="en-US" sz="1250" b="1" dirty="0">
                <a:solidFill>
                  <a:srgbClr val="1B3B6F"/>
                </a:solidFill>
                <a:latin typeface="Calibri" pitchFamily="34" charset="0"/>
                <a:cs typeface="Amiri" pitchFamily="2" charset="-78"/>
              </a:rPr>
              <a:t> from the five verbs after </a:t>
            </a:r>
            <a:pPr algn="l" indent="0" marL="0">
              <a:buNone/>
            </a:pPr>
            <a:r>
              <a:rPr lang="ar-SA" altLang="en-US" sz="1650" b="1" dirty="0">
                <a:solidFill>
                  <a:srgbClr val="1B3B6F"/>
                </a:solidFill>
                <a:latin typeface="Amiri" pitchFamily="2" charset="-78"/>
                <a:cs typeface="Amiri" pitchFamily="2" charset="-78"/>
              </a:rPr>
              <a:t>أَنْ</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تَذْهَبُونَ ← أَنْ تَذْهَبُوا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قَبْلَ أَنْ تَذْهَبُوا إِلَى المَدْرَسَةِ.   ·   بَعْدَ أَنْ تُكْمِلِي وَاجِبَكِ.   ·   قَبْلَ أَنْ يَنَامَا.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Use a noun after </a:t>
            </a:r>
            <a:pPr algn="l" indent="0" marL="0">
              <a:buNone/>
            </a:pPr>
            <a:r>
              <a:rPr lang="ar-SA" altLang="en-US" sz="1650" b="1" dirty="0">
                <a:solidFill>
                  <a:srgbClr val="1B3B6F"/>
                </a:solidFill>
                <a:latin typeface="Amiri" pitchFamily="2" charset="-78"/>
                <a:cs typeface="Amiri" pitchFamily="2" charset="-78"/>
              </a:rPr>
              <a:t>قَبْلَ / بَعْدَ</a:t>
            </a:r>
            <a:pPr algn="l" indent="0" marL="0">
              <a:buNone/>
            </a:pPr>
            <a:r>
              <a:rPr lang="en-US" sz="1250" b="1" dirty="0">
                <a:solidFill>
                  <a:srgbClr val="1B3B6F"/>
                </a:solidFill>
                <a:latin typeface="Calibri" pitchFamily="34" charset="0"/>
                <a:cs typeface="Amiri" pitchFamily="2" charset="-78"/>
              </a:rPr>
              <a:t> without </a:t>
            </a:r>
            <a:pPr algn="l" indent="0" marL="0">
              <a:buNone/>
            </a:pPr>
            <a:r>
              <a:rPr lang="ar-SA" altLang="en-US" sz="1650" b="1" dirty="0">
                <a:solidFill>
                  <a:srgbClr val="1B3B6F"/>
                </a:solidFill>
                <a:latin typeface="Amiri" pitchFamily="2" charset="-78"/>
                <a:cs typeface="Amiri" pitchFamily="2" charset="-78"/>
              </a:rPr>
              <a:t>أَنْ</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قَبْلَ + اِسْمٍ · بَعْدَ + اِسْمٍ</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قَبْلَ الإِفْطَارِ أَشْرَبُ المَاءَ.   ·   بَعْدَ المَدْرَسَةِ أَذْهَبُ إِلَى النَّادِي.</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قَبْلَ أَنْ أَنَامُ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قَبْلَ أَنْ نَوْمِي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قَبْلَ أَنْ أَنَامَ</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أَسْتَرِيحُ بَعْدَ أَنْ ___ مِنَ المَدْرَسَةِ.</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أَعُودَ</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أَعُودُ</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عُدْ</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needs no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بَعْدَ أَعُودُ</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بَعْدَ المَدْرَسَةِ</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بَعْدَ يَنْتَهِي</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plural form after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 تَذْهَبُوا</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 تَذْهَبُونَ</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 ذَهَبْتُمْ</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قَبْلَ أَنْ أَنَامُ</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قَبْلَ أَنْ نَوْمِي</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قَبْلَ أَنْ أَنَامَ</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ḍamma changes 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أَسْتَرِيحُ بَعْدَ أَنْ ___ مِنَ المَدْرَسَةِ.</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أَعُودَ</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أَعُودُ</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عُدْ</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requires the subjunctive </a:t>
            </a:r>
            <a:pPr algn="l" indent="0" marL="0">
              <a:buNone/>
            </a:pPr>
            <a:r>
              <a:rPr lang="ar-SA" altLang="en-US" sz="1350" dirty="0">
                <a:solidFill>
                  <a:srgbClr val="8A6D1E"/>
                </a:solidFill>
                <a:latin typeface="Amiri" pitchFamily="2" charset="-78"/>
                <a:cs typeface="Amiri" pitchFamily="2" charset="-78"/>
              </a:rPr>
              <a:t>أَعُودَ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needs no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بَعْدَ أَعُودُ</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بَعْدَ المَدْرَسَةِ</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بَعْدَ يَنْتَهِي</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noun follows </a:t>
            </a:r>
            <a:pPr algn="l" indent="0" marL="0">
              <a:buNone/>
            </a:pPr>
            <a:r>
              <a:rPr lang="ar-SA" altLang="en-US" sz="1350" dirty="0">
                <a:solidFill>
                  <a:srgbClr val="8A6D1E"/>
                </a:solidFill>
                <a:latin typeface="Amiri" pitchFamily="2" charset="-78"/>
                <a:cs typeface="Amiri" pitchFamily="2" charset="-78"/>
              </a:rPr>
              <a:t>بَعْدَ</a:t>
            </a:r>
            <a:pPr algn="l" indent="0" marL="0">
              <a:buNone/>
            </a:pPr>
            <a:r>
              <a:rPr lang="en-US" sz="1050" i="1" dirty="0">
                <a:solidFill>
                  <a:srgbClr val="8A6D1E"/>
                </a:solidFill>
                <a:latin typeface="Calibri" pitchFamily="34" charset="0"/>
                <a:cs typeface="Amiri" pitchFamily="2" charset="-78"/>
              </a:rPr>
              <a:t> directly.</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plural form after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أَنْ تَذْهَبُوا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 تَذْهَبُونَ</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 ذَهَبْتُمْ</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a:t>
            </a:r>
            <a:pPr algn="l" indent="0" marL="0">
              <a:buNone/>
            </a:pPr>
            <a:r>
              <a:rPr lang="ar-SA" altLang="en-US" sz="1350" dirty="0">
                <a:solidFill>
                  <a:srgbClr val="8A6D1E"/>
                </a:solidFill>
                <a:latin typeface="Amiri" pitchFamily="2" charset="-78"/>
                <a:cs typeface="Amiri" pitchFamily="2" charset="-78"/>
              </a:rPr>
              <a:t>ن</a:t>
            </a:r>
            <a:pPr algn="l" indent="0" marL="0">
              <a:buNone/>
            </a:pPr>
            <a:r>
              <a:rPr lang="en-US" sz="1050" i="1" dirty="0">
                <a:solidFill>
                  <a:srgbClr val="8A6D1E"/>
                </a:solidFill>
                <a:latin typeface="Calibri" pitchFamily="34" charset="0"/>
                <a:cs typeface="Amiri" pitchFamily="2" charset="-78"/>
              </a:rPr>
              <a:t> is removed.</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sequence my afternoon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0E7C86"/>
                </a:solidFill>
                <a:latin typeface="Amiri" pitchFamily="2" charset="-78"/>
                <a:cs typeface="Amiri" pitchFamily="2" charset="-78"/>
              </a:rPr>
              <a:t>بَعْدَ</a:t>
            </a:r>
            <a:pPr rtl="1" algn="ctr" indent="0" marL="0">
              <a:lnSpc>
                <a:spcPct val="120000"/>
              </a:lnSpc>
              <a:buNone/>
            </a:pPr>
            <a:r>
              <a:rPr lang="ar-SA" altLang="en-US" sz="1800" b="1" dirty="0">
                <a:solidFill>
                  <a:srgbClr val="1B3B6F"/>
                </a:solidFill>
                <a:latin typeface="Amiri" pitchFamily="2" charset="-78"/>
                <a:cs typeface="Amiri" pitchFamily="2" charset="-78"/>
              </a:rPr>
              <a:t> المَدْرَسَةِ أَعُودُ إِلَى البَيْتِ.</a:t>
            </a:r>
            <a:endParaRPr lang="ar-SA" sz="1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cs typeface="Amiri" pitchFamily="2" charset="-78"/>
              </a:rPr>
              <a:t>المَدْرَسَةِ</a:t>
            </a:r>
            <a:pPr algn="l" indent="0" marL="0">
              <a:buNone/>
            </a:pPr>
            <a:r>
              <a:rPr lang="en-US" sz="1150" dirty="0">
                <a:solidFill>
                  <a:srgbClr val="1F2A37"/>
                </a:solidFill>
                <a:latin typeface="Calibri" pitchFamily="34" charset="0"/>
                <a:cs typeface="Amiri" pitchFamily="2" charset="-78"/>
              </a:rPr>
              <a:t> is a noun → no </a:t>
            </a:r>
            <a:pPr algn="l" indent="0" marL="0">
              <a:buNone/>
            </a:pPr>
            <a:r>
              <a:rPr lang="ar-SA" altLang="en-US" sz="1500" dirty="0">
                <a:solidFill>
                  <a:srgbClr val="1F2A37"/>
                </a:solidFill>
                <a:latin typeface="Amiri" pitchFamily="2" charset="-78"/>
                <a:cs typeface="Amiri" pitchFamily="2" charset="-78"/>
              </a:rPr>
              <a:t>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After + verb</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cs typeface="Amiri" pitchFamily="2" charset="-78"/>
              </a:rPr>
              <a:t>بَعْدَ أَنْ</a:t>
            </a:r>
            <a:pPr rtl="1" algn="ctr" indent="0" marL="0">
              <a:lnSpc>
                <a:spcPct val="120000"/>
              </a:lnSpc>
              <a:buNone/>
            </a:pPr>
            <a:r>
              <a:rPr lang="ar-SA" altLang="en-US" sz="1750" b="1" dirty="0">
                <a:solidFill>
                  <a:srgbClr val="1B3B6F"/>
                </a:solidFill>
                <a:latin typeface="Amiri" pitchFamily="2" charset="-78"/>
                <a:cs typeface="Amiri" pitchFamily="2" charset="-78"/>
              </a:rPr>
              <a:t> أَعُو</a:t>
            </a:r>
            <a:pPr rtl="1" algn="ctr" indent="0" marL="0">
              <a:lnSpc>
                <a:spcPct val="120000"/>
              </a:lnSpc>
              <a:buNone/>
            </a:pPr>
            <a:r>
              <a:rPr lang="ar-SA" altLang="en-US" sz="1750" b="1" dirty="0">
                <a:solidFill>
                  <a:srgbClr val="D6336C"/>
                </a:solidFill>
                <a:latin typeface="Amiri" pitchFamily="2" charset="-78"/>
                <a:cs typeface="Amiri" pitchFamily="2" charset="-78"/>
              </a:rPr>
              <a:t>دَ</a:t>
            </a:r>
            <a:pPr rtl="1" algn="ctr" indent="0" marL="0">
              <a:lnSpc>
                <a:spcPct val="120000"/>
              </a:lnSpc>
              <a:buNone/>
            </a:pPr>
            <a:r>
              <a:rPr lang="ar-SA" altLang="en-US" sz="1750" b="1" dirty="0">
                <a:solidFill>
                  <a:srgbClr val="1B3B6F"/>
                </a:solidFill>
                <a:latin typeface="Amiri" pitchFamily="2" charset="-78"/>
                <a:cs typeface="Amiri" pitchFamily="2" charset="-78"/>
              </a:rPr>
              <a:t>، أَسْتَرِيحُ نِصْفَ سَاعَةٍ.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After </a:t>
            </a:r>
            <a:pPr algn="l" indent="0" marL="0">
              <a:buNone/>
            </a:pPr>
            <a:r>
              <a:rPr lang="ar-SA" altLang="en-US" sz="1500" dirty="0">
                <a:solidFill>
                  <a:srgbClr val="1F2A37"/>
                </a:solidFill>
                <a:latin typeface="Amiri" pitchFamily="2" charset="-78"/>
                <a:cs typeface="Amiri" pitchFamily="2" charset="-78"/>
              </a:rPr>
              <a:t>أَنْ</a:t>
            </a:r>
            <a:pPr algn="l" indent="0" marL="0">
              <a:buNone/>
            </a:pPr>
            <a:r>
              <a:rPr lang="en-US" sz="1150" dirty="0">
                <a:solidFill>
                  <a:srgbClr val="1F2A37"/>
                </a:solidFill>
                <a:latin typeface="Calibri" pitchFamily="34" charset="0"/>
                <a:cs typeface="Amiri" pitchFamily="2" charset="-78"/>
              </a:rPr>
              <a:t>: </a:t>
            </a:r>
            <a:pPr algn="l" indent="0" marL="0">
              <a:buNone/>
            </a:pPr>
            <a:r>
              <a:rPr lang="ar-SA" altLang="en-US" sz="1500" dirty="0">
                <a:solidFill>
                  <a:srgbClr val="1F2A37"/>
                </a:solidFill>
                <a:latin typeface="Amiri" pitchFamily="2" charset="-78"/>
                <a:cs typeface="Amiri" pitchFamily="2" charset="-78"/>
              </a:rPr>
              <a:t>أَعُودُ</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cs typeface="Amiri" pitchFamily="2" charset="-78"/>
              </a:rPr>
              <a:t>أَعُودَ</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Before + verb</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أُكْمِلُ وَاجِبِي </a:t>
            </a:r>
            <a:pPr rtl="1" algn="ctr" indent="0" marL="0">
              <a:lnSpc>
                <a:spcPct val="120000"/>
              </a:lnSpc>
              <a:buNone/>
            </a:pPr>
            <a:r>
              <a:rPr lang="ar-SA" altLang="en-US" sz="1750" b="1" dirty="0">
                <a:solidFill>
                  <a:srgbClr val="0E7C86"/>
                </a:solidFill>
                <a:latin typeface="Amiri" pitchFamily="2" charset="-78"/>
                <a:cs typeface="Amiri" pitchFamily="2" charset="-78"/>
              </a:rPr>
              <a:t>قَبْلَ أَنْ</a:t>
            </a:r>
            <a:pPr rtl="1" algn="ctr" indent="0" marL="0">
              <a:lnSpc>
                <a:spcPct val="120000"/>
              </a:lnSpc>
              <a:buNone/>
            </a:pPr>
            <a:r>
              <a:rPr lang="ar-SA" altLang="en-US" sz="1750" b="1" dirty="0">
                <a:solidFill>
                  <a:srgbClr val="1B3B6F"/>
                </a:solidFill>
                <a:latin typeface="Amiri" pitchFamily="2" charset="-78"/>
                <a:cs typeface="Amiri" pitchFamily="2" charset="-78"/>
              </a:rPr>
              <a:t> أَسْتَعْمِ</a:t>
            </a:r>
            <a:pPr rtl="1" algn="ctr" indent="0" marL="0">
              <a:lnSpc>
                <a:spcPct val="120000"/>
              </a:lnSpc>
              <a:buNone/>
            </a:pPr>
            <a:r>
              <a:rPr lang="ar-SA" altLang="en-US" sz="1750" b="1" dirty="0">
                <a:solidFill>
                  <a:srgbClr val="D6336C"/>
                </a:solidFill>
                <a:latin typeface="Amiri" pitchFamily="2" charset="-78"/>
                <a:cs typeface="Amiri" pitchFamily="2" charset="-78"/>
              </a:rPr>
              <a:t>لَ</a:t>
            </a:r>
            <a:pPr rtl="1" algn="ctr" indent="0" marL="0">
              <a:lnSpc>
                <a:spcPct val="120000"/>
              </a:lnSpc>
              <a:buNone/>
            </a:pPr>
            <a:r>
              <a:rPr lang="ar-SA" altLang="en-US" sz="1750" b="1" dirty="0">
                <a:solidFill>
                  <a:srgbClr val="1B3B6F"/>
                </a:solidFill>
                <a:latin typeface="Amiri" pitchFamily="2" charset="-78"/>
                <a:cs typeface="Amiri" pitchFamily="2" charset="-78"/>
              </a:rPr>
              <a:t> هَاتِفِي.</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homework happens FIRST.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How often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أَتَمَرَّنُ </a:t>
            </a:r>
            <a:pPr rtl="1" algn="ctr" indent="0" marL="0">
              <a:buNone/>
            </a:pPr>
            <a:r>
              <a:rPr lang="ar-SA" altLang="en-US" sz="2100" b="1" dirty="0">
                <a:solidFill>
                  <a:srgbClr val="1D5FBF"/>
                </a:solidFill>
                <a:latin typeface="Amiri" pitchFamily="2" charset="-78"/>
                <a:cs typeface="Amiri" pitchFamily="2" charset="-78"/>
              </a:rPr>
              <a:t>مَرَّتَيْنِ</a:t>
            </a:r>
            <a:pPr rtl="1" algn="ctr" indent="0" marL="0">
              <a:buNone/>
            </a:pPr>
            <a:r>
              <a:rPr lang="ar-SA" altLang="en-US" sz="2100" b="1" dirty="0">
                <a:solidFill>
                  <a:srgbClr val="1B3B6F"/>
                </a:solidFill>
                <a:latin typeface="Amiri" pitchFamily="2" charset="-78"/>
                <a:cs typeface="Amiri" pitchFamily="2" charset="-78"/>
              </a:rPr>
              <a:t> فِي الأُسْبُوعِ.</a:t>
            </a:r>
            <a:endParaRPr lang="ar-SA" sz="21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Recycle D1-L03.</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BEFORE / AFTER</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CHANGED ENDING</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FREQUENCY</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00" b="1" dirty="0">
                <a:solidFill>
                  <a:srgbClr val="0E7C86"/>
                </a:solidFill>
                <a:latin typeface="Amiri" pitchFamily="2" charset="-78"/>
                <a:cs typeface="Amiri" pitchFamily="2" charset="-78"/>
              </a:rPr>
              <a:t>بَعْدَ</a:t>
            </a:r>
            <a:pPr rtl="1" algn="r" indent="0" marL="0">
              <a:lnSpc>
                <a:spcPct val="120000"/>
              </a:lnSpc>
              <a:buNone/>
            </a:pPr>
            <a:r>
              <a:rPr lang="ar-SA" altLang="en-US" sz="1500" b="1" dirty="0">
                <a:solidFill>
                  <a:srgbClr val="1B3B6F"/>
                </a:solidFill>
                <a:latin typeface="Amiri" pitchFamily="2" charset="-78"/>
                <a:cs typeface="Amiri" pitchFamily="2" charset="-78"/>
              </a:rPr>
              <a:t> المَدْرَسَةِ أَعُودُ إِلَى البَيْتِ. </a:t>
            </a:r>
            <a:pPr rtl="1" algn="r" indent="0" marL="0">
              <a:lnSpc>
                <a:spcPct val="120000"/>
              </a:lnSpc>
              <a:buNone/>
            </a:pPr>
            <a:r>
              <a:rPr lang="ar-SA" altLang="en-US" sz="1500" b="1" dirty="0">
                <a:solidFill>
                  <a:srgbClr val="0E7C86"/>
                </a:solidFill>
                <a:latin typeface="Amiri" pitchFamily="2" charset="-78"/>
                <a:cs typeface="Amiri" pitchFamily="2" charset="-78"/>
              </a:rPr>
              <a:t>بَعْدَ أَنْ</a:t>
            </a:r>
            <a:pPr rtl="1" algn="r" indent="0" marL="0">
              <a:lnSpc>
                <a:spcPct val="120000"/>
              </a:lnSpc>
              <a:buNone/>
            </a:pPr>
            <a:r>
              <a:rPr lang="ar-SA" altLang="en-US" sz="1500" b="1" dirty="0">
                <a:solidFill>
                  <a:srgbClr val="1B3B6F"/>
                </a:solidFill>
                <a:latin typeface="Amiri" pitchFamily="2" charset="-78"/>
                <a:cs typeface="Amiri" pitchFamily="2" charset="-78"/>
              </a:rPr>
              <a:t> أَعُو</a:t>
            </a:r>
            <a:pPr rtl="1" algn="r" indent="0" marL="0">
              <a:lnSpc>
                <a:spcPct val="120000"/>
              </a:lnSpc>
              <a:buNone/>
            </a:pPr>
            <a:r>
              <a:rPr lang="ar-SA" altLang="en-US" sz="1500" b="1" dirty="0">
                <a:solidFill>
                  <a:srgbClr val="D6336C"/>
                </a:solidFill>
                <a:latin typeface="Amiri" pitchFamily="2" charset="-78"/>
                <a:cs typeface="Amiri" pitchFamily="2" charset="-78"/>
              </a:rPr>
              <a:t>دَ</a:t>
            </a:r>
            <a:pPr rtl="1" algn="r" indent="0" marL="0">
              <a:lnSpc>
                <a:spcPct val="120000"/>
              </a:lnSpc>
              <a:buNone/>
            </a:pPr>
            <a:r>
              <a:rPr lang="ar-SA" altLang="en-US" sz="1500" b="1" dirty="0">
                <a:solidFill>
                  <a:srgbClr val="1B3B6F"/>
                </a:solidFill>
                <a:latin typeface="Amiri" pitchFamily="2" charset="-78"/>
                <a:cs typeface="Amiri" pitchFamily="2" charset="-78"/>
              </a:rPr>
              <a:t>، أَسْتَرِيحُ نِصْفَ سَاعَةٍ. ثُمَّ أُكْمِلُ وَاجِبِي </a:t>
            </a:r>
            <a:pPr rtl="1" algn="r" indent="0" marL="0">
              <a:lnSpc>
                <a:spcPct val="120000"/>
              </a:lnSpc>
              <a:buNone/>
            </a:pPr>
            <a:r>
              <a:rPr lang="ar-SA" altLang="en-US" sz="1500" b="1" dirty="0">
                <a:solidFill>
                  <a:srgbClr val="0E7C86"/>
                </a:solidFill>
                <a:latin typeface="Amiri" pitchFamily="2" charset="-78"/>
                <a:cs typeface="Amiri" pitchFamily="2" charset="-78"/>
              </a:rPr>
              <a:t>قَبْلَ أَنْ</a:t>
            </a:r>
            <a:pPr rtl="1" algn="r" indent="0" marL="0">
              <a:lnSpc>
                <a:spcPct val="120000"/>
              </a:lnSpc>
              <a:buNone/>
            </a:pPr>
            <a:r>
              <a:rPr lang="ar-SA" altLang="en-US" sz="1500" b="1" dirty="0">
                <a:solidFill>
                  <a:srgbClr val="1B3B6F"/>
                </a:solidFill>
                <a:latin typeface="Amiri" pitchFamily="2" charset="-78"/>
                <a:cs typeface="Amiri" pitchFamily="2" charset="-78"/>
              </a:rPr>
              <a:t> أَسْتَعْمِ</a:t>
            </a:r>
            <a:pPr rtl="1" algn="r" indent="0" marL="0">
              <a:lnSpc>
                <a:spcPct val="120000"/>
              </a:lnSpc>
              <a:buNone/>
            </a:pPr>
            <a:r>
              <a:rPr lang="ar-SA" altLang="en-US" sz="1500" b="1" dirty="0">
                <a:solidFill>
                  <a:srgbClr val="D6336C"/>
                </a:solidFill>
                <a:latin typeface="Amiri" pitchFamily="2" charset="-78"/>
                <a:cs typeface="Amiri" pitchFamily="2" charset="-78"/>
              </a:rPr>
              <a:t>لَ</a:t>
            </a:r>
            <a:pPr rtl="1" algn="r" indent="0" marL="0">
              <a:lnSpc>
                <a:spcPct val="120000"/>
              </a:lnSpc>
              <a:buNone/>
            </a:pPr>
            <a:r>
              <a:rPr lang="ar-SA" altLang="en-US" sz="1500" b="1" dirty="0">
                <a:solidFill>
                  <a:srgbClr val="1B3B6F"/>
                </a:solidFill>
                <a:latin typeface="Amiri" pitchFamily="2" charset="-78"/>
                <a:cs typeface="Amiri" pitchFamily="2" charset="-78"/>
              </a:rPr>
              <a:t> هَاتِفِي. أَتَمَرَّنُ </a:t>
            </a:r>
            <a:pPr rtl="1" algn="r" indent="0" marL="0">
              <a:lnSpc>
                <a:spcPct val="120000"/>
              </a:lnSpc>
              <a:buNone/>
            </a:pPr>
            <a:r>
              <a:rPr lang="ar-SA" altLang="en-US" sz="1500" b="1" dirty="0">
                <a:solidFill>
                  <a:srgbClr val="1D5FBF"/>
                </a:solidFill>
                <a:latin typeface="Amiri" pitchFamily="2" charset="-78"/>
                <a:cs typeface="Amiri" pitchFamily="2" charset="-78"/>
              </a:rPr>
              <a:t>مَرَّتَيْنِ</a:t>
            </a:r>
            <a:pPr rtl="1" algn="r" indent="0" marL="0">
              <a:lnSpc>
                <a:spcPct val="120000"/>
              </a:lnSpc>
              <a:buNone/>
            </a:pPr>
            <a:r>
              <a:rPr lang="ar-SA" altLang="en-US" sz="1500" b="1" dirty="0">
                <a:solidFill>
                  <a:srgbClr val="1B3B6F"/>
                </a:solidFill>
                <a:latin typeface="Amiri" pitchFamily="2" charset="-78"/>
                <a:cs typeface="Amiri" pitchFamily="2" charset="-78"/>
              </a:rPr>
              <a:t> فِي الأُسْبُوعِ، وَ</a:t>
            </a:r>
            <a:pPr rtl="1" algn="r" indent="0" marL="0">
              <a:lnSpc>
                <a:spcPct val="120000"/>
              </a:lnSpc>
              <a:buNone/>
            </a:pPr>
            <a:r>
              <a:rPr lang="ar-SA" altLang="en-US" sz="1500" b="1" dirty="0">
                <a:solidFill>
                  <a:srgbClr val="0E7C86"/>
                </a:solidFill>
                <a:latin typeface="Amiri" pitchFamily="2" charset="-78"/>
                <a:cs typeface="Amiri" pitchFamily="2" charset="-78"/>
              </a:rPr>
              <a:t>قَبْلَ أَنْ</a:t>
            </a:r>
            <a:pPr rtl="1" algn="r" indent="0" marL="0">
              <a:lnSpc>
                <a:spcPct val="120000"/>
              </a:lnSpc>
              <a:buNone/>
            </a:pPr>
            <a:r>
              <a:rPr lang="ar-SA" altLang="en-US" sz="1500" b="1" dirty="0">
                <a:solidFill>
                  <a:srgbClr val="1B3B6F"/>
                </a:solidFill>
                <a:latin typeface="Amiri" pitchFamily="2" charset="-78"/>
                <a:cs typeface="Amiri" pitchFamily="2" charset="-78"/>
              </a:rPr>
              <a:t> أَنَا</a:t>
            </a:r>
            <a:pPr rtl="1" algn="r" indent="0" marL="0">
              <a:lnSpc>
                <a:spcPct val="120000"/>
              </a:lnSpc>
              <a:buNone/>
            </a:pPr>
            <a:r>
              <a:rPr lang="ar-SA" altLang="en-US" sz="1500" b="1" dirty="0">
                <a:solidFill>
                  <a:srgbClr val="D6336C"/>
                </a:solidFill>
                <a:latin typeface="Amiri" pitchFamily="2" charset="-78"/>
                <a:cs typeface="Amiri" pitchFamily="2" charset="-78"/>
              </a:rPr>
              <a:t>مَ</a:t>
            </a:r>
            <a:pPr rtl="1" algn="r" indent="0" marL="0">
              <a:lnSpc>
                <a:spcPct val="120000"/>
              </a:lnSpc>
              <a:buNone/>
            </a:pPr>
            <a:r>
              <a:rPr lang="ar-SA" altLang="en-US" sz="1500" b="1" dirty="0">
                <a:solidFill>
                  <a:srgbClr val="1B3B6F"/>
                </a:solidFill>
                <a:latin typeface="Amiri" pitchFamily="2" charset="-78"/>
                <a:cs typeface="Amiri" pitchFamily="2" charset="-78"/>
              </a:rPr>
              <a:t> أُحَضِّرُ حَقِيبَتِي.</a:t>
            </a:r>
            <a:endParaRPr lang="ar-SA" sz="15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After school I return home. After I return, I rest for half an hour. Then I finish my homework before I use my phone. I exercise twice a week, and before I sleep I prepare my bag.</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أُكْمِلُ وَاجِبِي قَبْلَ أَنْ أَسْتَعْمِلَ هَاتِفِي.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finish my homework before using my phone.</a:t>
            </a:r>
            <a:endParaRPr lang="en-US" sz="1250" dirty="0"/>
          </a:p>
          <a:p>
            <a:pPr indent="0" marL="0">
              <a:buNone/>
            </a:pPr>
            <a:r>
              <a:rPr lang="en-US" sz="1050" i="1" dirty="0">
                <a:solidFill>
                  <a:srgbClr val="8A6D1E"/>
                </a:solidFill>
                <a:latin typeface="Calibri" pitchFamily="34" charset="0"/>
                <a:cs typeface="Amiri" pitchFamily="2" charset="-78"/>
              </a:rPr>
              <a:t>Subjunctive after أَنْ.</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بَعْدَ أَنْ أَعُودَ، أَسْتَرِيحُ نِصْفَ سَاعَةٍ.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After I return, I rest for half an hour.</a:t>
            </a:r>
            <a:endParaRPr lang="en-US" sz="1250" dirty="0"/>
          </a:p>
          <a:p>
            <a:pPr indent="0" marL="0">
              <a:buNone/>
            </a:pPr>
            <a:r>
              <a:rPr lang="en-US" sz="1050" i="1" dirty="0">
                <a:solidFill>
                  <a:srgbClr val="8A6D1E"/>
                </a:solidFill>
                <a:latin typeface="Calibri" pitchFamily="34" charset="0"/>
                <a:cs typeface="Amiri" pitchFamily="2" charset="-78"/>
              </a:rPr>
              <a:t>Add duration.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أَتَمَرَّنُ مَرَّتَيْنِ فِي الأُسْبُوعِ.</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exercise twice a week.</a:t>
            </a:r>
            <a:endParaRPr lang="en-US" sz="1250" dirty="0"/>
          </a:p>
          <a:p>
            <a:pPr indent="0" marL="0">
              <a:buNone/>
            </a:pPr>
            <a:r>
              <a:rPr lang="en-US" sz="1050" i="1" dirty="0">
                <a:solidFill>
                  <a:srgbClr val="8A6D1E"/>
                </a:solidFill>
                <a:latin typeface="Calibri" pitchFamily="34" charset="0"/>
                <a:cs typeface="Amiri" pitchFamily="2" charset="-78"/>
              </a:rPr>
              <a:t>Dual frequency expression.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عِنْدَمَا أَنْتَهِي مِنَ العَمَلِ، أُسَاعِدُ أُسْرَتِي.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When I finish work, I help my family.</a:t>
            </a:r>
            <a:endParaRPr lang="en-US" sz="1250" dirty="0"/>
          </a:p>
          <a:p>
            <a:pPr indent="0" marL="0">
              <a:buNone/>
            </a:pPr>
            <a:r>
              <a:rPr lang="en-US" sz="1050" i="1" dirty="0">
                <a:solidFill>
                  <a:srgbClr val="8A6D1E"/>
                </a:solidFill>
                <a:latin typeface="Calibri" pitchFamily="34" charset="0"/>
                <a:cs typeface="Amiri" pitchFamily="2" charset="-78"/>
              </a:rPr>
              <a:t>A second sequence structure.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BEFORE AND AFTER — SEQUENCING MY DAY”</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Which comes first? Match the picture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رَتِّبِ اليَوْمَ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 wake → 2 breakfast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 teeth → 2 bed</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 homework → 2 games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قَبْلَ النَّوْمِ أُنَظِّفُ أَسْنَانِي.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بَعْدَ الوَاجِبِ أَلْعَبُ.</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قَبْلَ الإِفْطَارِ أَسْتَيْقِظُ.</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رَتِّبِ اليَوْمَ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 wake → 2 breakfast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قَبْلَ الإِفْطَارِ أَسْتَيْقِظُ.</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Before breakfast I wake up.</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 teeth → 2 bed</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قَبْلَ النَّوْمِ أُنَظِّفُ أَسْنَانِي.</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Before sleeping I brush my teeth.</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 homework → 2 games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بَعْدَ الوَاجِبِ أَلْعَبُ.</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After homework I play.</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Noun or verb after before/after?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قَبْلَ المَدْرَسَةِ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بَعْدَ العَشَاءِ</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قَبْلَ أَنْ أَخْرُجَ</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بَعْدَ أَنْ أَنْتَهِيَ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قَبْلَ النَّوْمِ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بَعْدَ أَنْ نَعُودَ</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قَبْلَ التَّمْرِينِ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بَعْدَ أَنْ تَكْتُبِي</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Noun: no أَنْ</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Verb: use أَنْ</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Noun: no أَنْ</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قَبْلَ المَدْرَسَةِ</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بَعْدَ العَشَاءِ</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قَبْلَ النَّوْمِ</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قَبْلَ التَّمْرِينِ</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Verb: use أَنْ</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قَبْلَ أَنْ أَخْرُجَ</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بَعْدَ أَنْ أَنْتَهِيَ</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بَعْدَ أَنْ نَعُودَ</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بَعْدَ أَنْ تَكْتُبِي</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قَبْلَ أَنْ ___ وَاجِبَكِ.</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تُكْمِلِينَ</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تُكْمِلُ</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تُكْمِلِي</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“After I finish, I rest”?</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قَبْلَ أَنْ أَنْتَهِيَ، أَسْتَرِيحُ.</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بَعْدَ أَنْ أَنْتَهِيَ، أَسْتَرِيحُ.</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بَعْدَ أَنْ أَسْتَرِيحَ، أَنْتَهِي.</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contains a noun structure?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قَبْلَ أَنْ أَنَامَ</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قَبْلَ النَّوْمِ</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عِنْدَمَا أَنَامُ</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most developed sequence.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أُرَاجِعُ دُرُوسِي. أَنَامُ.</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قَبْلَ دُرُوسِي أَنَامُ.</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أُرَاجِعُ دُرُوسِي قَبْلَ أَنْ أَخْلُدَ إِلَى النَّوْمِ.</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قَبْلَ أَنْ ___ وَاجِبَكِ.</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تُكْمِلِينَ</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تُكْمِلُ</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تُكْمِلِي</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singular five-verb form loses </a:t>
            </a:r>
            <a:pPr algn="l" indent="0" marL="0">
              <a:buNone/>
            </a:pPr>
            <a:r>
              <a:rPr lang="ar-SA" altLang="en-US" sz="1350" dirty="0">
                <a:solidFill>
                  <a:srgbClr val="8A6D1E"/>
                </a:solidFill>
                <a:latin typeface="Amiri" pitchFamily="2" charset="-78"/>
                <a:cs typeface="Amiri" pitchFamily="2" charset="-78"/>
              </a:rPr>
              <a:t>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“After I finish, I rest”?</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قَبْلَ أَنْ أَنْتَهِيَ، أَسْتَرِيحُ.</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بَعْدَ أَنْ أَنْتَهِيَ، أَسْتَرِيحُ.</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بَعْدَ أَنْ أَسْتَرِيحَ، أَنْتَهِي.</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completion comes first, then rest.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contains a noun structure?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قَبْلَ أَنْ أَنَامَ</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قَبْلَ النَّوْمِ</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عِنْدَمَا أَنَامُ</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النَّوْمِ</a:t>
            </a:r>
            <a:pPr algn="l" indent="0" marL="0">
              <a:buNone/>
            </a:pPr>
            <a:r>
              <a:rPr lang="en-US" sz="1050" i="1" dirty="0">
                <a:solidFill>
                  <a:srgbClr val="8A6D1E"/>
                </a:solidFill>
                <a:latin typeface="Calibri" pitchFamily="34" charset="0"/>
                <a:cs typeface="Amiri" pitchFamily="2" charset="-78"/>
              </a:rPr>
              <a:t> is a noun.</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most developed sequence.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أُرَاجِعُ دُرُوسِي. أَنَامُ.</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قَبْلَ دُرُوسِي أَنَامُ.</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أُرَاجِعُ دُرُوسِي قَبْلَ أَنْ أَخْلُدَ إِلَى النَّوْمِ.</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connects the actions accurately with </a:t>
            </a:r>
            <a:pPr algn="l" indent="0" marL="0">
              <a:buNone/>
            </a:pPr>
            <a:r>
              <a:rPr lang="ar-SA" altLang="en-US" sz="1350" dirty="0">
                <a:solidFill>
                  <a:srgbClr val="8A6D1E"/>
                </a:solidFill>
                <a:latin typeface="Amiri" pitchFamily="2" charset="-78"/>
                <a:cs typeface="Amiri" pitchFamily="2" charset="-78"/>
              </a:rPr>
              <a:t>قَبْلَ 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قَبْلَ أَنْ أَخْرُجُ.</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t>
            </a:r>
            <a:pPr algn="l" indent="0" marL="0">
              <a:buNone/>
            </a:pPr>
            <a:r>
              <a:rPr lang="ar-SA" altLang="en-US" sz="1700" dirty="0">
                <a:solidFill>
                  <a:srgbClr val="5A6472"/>
                </a:solidFill>
                <a:latin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 what happens to the last vowel?</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بَعْدَ أَنْ تُكْمِلِينَ.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Five verb (-</a:t>
            </a:r>
            <a:pPr algn="l" indent="0" marL="0">
              <a:buNone/>
            </a:pPr>
            <a:r>
              <a:rPr lang="ar-SA" altLang="en-US" sz="1700" dirty="0">
                <a:solidFill>
                  <a:srgbClr val="5A6472"/>
                </a:solidFill>
                <a:latin typeface="Amiri" pitchFamily="2" charset="-78"/>
                <a:cs typeface="Amiri" pitchFamily="2" charset="-78"/>
              </a:rPr>
              <a:t>ينَ</a:t>
            </a:r>
            <a:pPr algn="l" indent="0" marL="0">
              <a:buNone/>
            </a:pPr>
            <a:r>
              <a:rPr lang="en-US" sz="1300" i="1" dirty="0">
                <a:solidFill>
                  <a:srgbClr val="5A6472"/>
                </a:solidFill>
                <a:latin typeface="Calibri" pitchFamily="34" charset="0"/>
                <a:cs typeface="Amiri" pitchFamily="2" charset="-78"/>
              </a:rPr>
              <a:t>). What disappears?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قَبْلَ أَنْ الإِفْطَارِ.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a:t>
            </a:r>
            <a:pPr algn="l" indent="0" marL="0">
              <a:buNone/>
            </a:pPr>
            <a:r>
              <a:rPr lang="ar-SA" altLang="en-US" sz="1700" dirty="0">
                <a:solidFill>
                  <a:srgbClr val="5A6472"/>
                </a:solidFill>
                <a:latin typeface="Amiri" pitchFamily="2" charset="-78"/>
                <a:cs typeface="Amiri" pitchFamily="2" charset="-78"/>
              </a:rPr>
              <a:t>الإِفْطَارِ</a:t>
            </a:r>
            <a:pPr algn="l" indent="0" marL="0">
              <a:buNone/>
            </a:pPr>
            <a:r>
              <a:rPr lang="en-US" sz="1300" i="1" dirty="0">
                <a:solidFill>
                  <a:srgbClr val="5A6472"/>
                </a:solidFill>
                <a:latin typeface="Calibri" pitchFamily="34" charset="0"/>
                <a:cs typeface="Amiri" pitchFamily="2" charset="-78"/>
              </a:rPr>
              <a:t> a noun or a verb?</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قَبْلَ أَنْ أَخْرُجُ.</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قَبْلَ أَنْ أَخْرُجَ.</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the subjunctive after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بَعْدَ أَنْ تُكْمِلِينَ.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بَعْدَ أَنْ تُكْمِلِي.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Drop final </a:t>
            </a:r>
            <a:pPr algn="l" indent="0" marL="0">
              <a:buNone/>
            </a:pPr>
            <a:r>
              <a:rPr lang="ar-SA" altLang="en-US" sz="1500" b="1" dirty="0">
                <a:solidFill>
                  <a:srgbClr val="1B3B6F"/>
                </a:solidFill>
                <a:latin typeface="Amiri" pitchFamily="2" charset="-78"/>
                <a:cs typeface="Amiri" pitchFamily="2" charset="-78"/>
              </a:rPr>
              <a:t>ن</a:t>
            </a:r>
            <a:pPr algn="l" indent="0" marL="0">
              <a:buNone/>
            </a:pPr>
            <a:r>
              <a:rPr lang="en-US" sz="1150" b="1" dirty="0">
                <a:solidFill>
                  <a:srgbClr val="1B3B6F"/>
                </a:solidFill>
                <a:latin typeface="Calibri" pitchFamily="34" charset="0"/>
                <a:cs typeface="Amiri" pitchFamily="2" charset="-78"/>
              </a:rPr>
              <a:t> from the five verbs.</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قَبْلَ أَنْ الإِفْطَارِ.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قَبْلَ الإِفْطَارِ.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Do not use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before a noun.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After-school choices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immediately after returning home?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snack and a short rest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sports training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phone use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be completed before opening the phone?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dinner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homework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is training?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week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day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a week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may happen on other days?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helping family or reading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travelling</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sleeping all afternoon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prepare clothes and the bag at night?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exercise more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avoid rushing in the morning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sleep later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بَعْدَ أَنْ أَعُودَ</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مَرَّتَيْنِ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قَبْلَ أَنْ أَنَامَ</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cs typeface="Amiri" pitchFamily="2" charset="-78"/>
              </a:rPr>
              <a:t>بَعْدَ أَنْ أَعُودَ مِنَ المَدْرَسَةِ، أَتَنَاوَلُ وَجْبَةً خَفِيفَةً وَأَسْتَرِيحُ لِمُدَّةِ عِشْرِينَ دَقِيقَةً.</a:t>
            </a:r>
            <a:endParaRPr lang="ar-SA" sz="19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I return from school, I have a snack and rest for twenty minutes.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ثُمَّ أُكْمِلُ وَاجِبِي قَبْلَ أَنْ أَفْتَحَ هَاتِفِي.</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Then I finish my homework before I open my phone.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يَوْمَيِ الاِثْنَيْنِ وَالخَمِيسِ أَتَمَرَّنُ فِي النَّادِي، أَيْ مَرَّتَيْنِ فِي الأُسْبُوعِ.</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Mondays and Thursdays I train at the club, that is twice a week.</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أَمَّا فِي الأَيَّامِ الأُخْرَى فَأُسَاعِدُ أُسْرَتِي أَوْ أَقْرَأُ.</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the other days, I help my family or read.</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cs typeface="Amiri" pitchFamily="2" charset="-78"/>
              </a:rPr>
              <a:t>قَبْلَ أَنْ أَنَامَ، أُحَضِّرُ مَلَابِسِي وَحَقِيبَتِي لِلْيَوْمِ التَّالِي، وَبِذٰلِكَ لَا أَضْطَرُّ إِلَى العَجَلَةِ صَبَاحًا.</a:t>
            </a:r>
            <a:endParaRPr lang="ar-SA" sz="16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I sleep, I prepare my clothes and bag for the next day, so I do not have to rush in the morning.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immediately after returning home?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snack and a short rest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sports training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phone use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eats a snack and rests.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be completed before opening the phone?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dinner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training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homework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أُكْمِلُ وَاجِبِي قَبْلَ أَنْ أَفْتَحَ هَاتِفِي.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is training?</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a week</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day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twice a week</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مَرَّتَيْنِ فِي الأُسْبُوعِ.</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may happen on other days?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helping family or reading</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travelling</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sleeping all afternoon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helps family or reads.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prepare clothes and the bag at night?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exercise more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avoid rushing in the morning</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sleep later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أَضْطَرُّ إِلَى العَجَلَةِ صَبَاحًا.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بَعْدَ أَنْ أَعُودَ</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مَرَّتَيْنِ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قَبْلَ أَنْ أَنَامَ</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Explain the order of your afternoon and evening</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تَفْعَلُ بَعْدَ المَدْرَسَةِ؟ وَقَبْلَ النَّوْمِ؟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تَفْعَلُ بَعْدَ أَنْ تَعُودَ مِنَ المَدْرَسَةِ؟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كَمْ مَرَّةً تَتَمَرَّنُ أَوْ تَقْرَأُ فِي الأُسْبُوعِ؟</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 عَادَةٍ مَسَائِيَّةٍ تُرِيدُ أَنْ تُغَيِّرَهَا؟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D5FBF"/>
                </a:solidFill>
                <a:latin typeface="Amiri" pitchFamily="2" charset="-78"/>
                <a:cs typeface="Amiri" pitchFamily="2" charset="-78"/>
              </a:rPr>
              <a:t>بَعْدَ المَدْرَسَةِ ___ ، وَقَبْلَ النَّوْمِ ___ .</a:t>
            </a:r>
            <a:endParaRPr lang="ar-SA" sz="155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بَعْدَ أَنْ أَعُودَ ،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أُرِيدُ أَنْ أُغَيِّرَ ___ لِأَنَّ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قَبْلَ أَنْ أَنَامَ ،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مَاذَا تَفْعَلُ قَبْلَ أَنْ تَنَامَ؟</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do you do before sleeping?</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قَبْلَ أَنْ أَنَامَ، أُحَضِّرُ حَقِيبَتِي وَأَقْرَأُ قَلِيلًا. أَفْعَلُ ذٰلِكَ لِأَنَّنِي أُرِيدُ أَنْ أَسْتَيْقِظَ هَادِئًا.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Before I sleep, I prepare my bag and read a little. I do that because I want to wake up calm.</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noun structures such as </a:t>
            </a:r>
            <a:pPr algn="l" indent="0" marL="0">
              <a:buNone/>
            </a:pPr>
            <a:r>
              <a:rPr lang="ar-SA" altLang="en-US" sz="1800" b="1" dirty="0">
                <a:solidFill>
                  <a:srgbClr val="1F2A37"/>
                </a:solidFill>
                <a:latin typeface="Amiri" pitchFamily="2" charset="-78"/>
                <a:cs typeface="Amiri" pitchFamily="2" charset="-78"/>
              </a:rPr>
              <a:t>بَعْدَ المَدْرَسَةِ</a:t>
            </a:r>
            <a:pPr algn="l" indent="0" marL="0">
              <a:buNone/>
            </a:pPr>
            <a:r>
              <a:rPr lang="en-US" sz="1400" b="1" dirty="0">
                <a:solidFill>
                  <a:srgbClr val="1F2A37"/>
                </a:solidFill>
                <a:latin typeface="Calibri" pitchFamily="34" charset="0"/>
                <a:cs typeface="Amiri" pitchFamily="2" charset="-78"/>
              </a:rPr>
              <a:t> and one verb structure.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Five actions in order: after school, then, after that, before sleep, in the end. Use the Core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Control the singular subjunctive after </a:t>
            </a:r>
            <a:pPr algn="l" indent="0" marL="0">
              <a:buNone/>
            </a:pPr>
            <a:r>
              <a:rPr lang="ar-SA" altLang="en-US" sz="1800" b="1" dirty="0">
                <a:solidFill>
                  <a:srgbClr val="1F2A37"/>
                </a:solidFill>
                <a:latin typeface="Amiri" pitchFamily="2" charset="-78"/>
                <a:cs typeface="Amiri" pitchFamily="2" charset="-78"/>
              </a:rPr>
              <a:t>أَنْ</a:t>
            </a:r>
            <a:pPr algn="l" indent="0" marL="0">
              <a:buNone/>
            </a:pPr>
            <a:r>
              <a:rPr lang="en-US" sz="1400" b="1" dirty="0">
                <a:solidFill>
                  <a:srgbClr val="1F2A37"/>
                </a:solidFill>
                <a:latin typeface="Calibri" pitchFamily="34" charset="0"/>
                <a:cs typeface="Amiri" pitchFamily="2" charset="-78"/>
              </a:rPr>
              <a:t> in a connected paragraph.</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Afternoon and evening: two before/after + verb sentences (fatḥa ending!) and one “twice a week”.</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plural/feminine five-verb forms and explain the grammar choice.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waking to sleeping, one five-verb form without ن, a contrast and a judgement.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بَعْدَ أَنْ أَعُودَ ،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I return, I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قَبْلَ أَنْ أَسْتَعْمِلَ هَاتِفِي.</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 before I use my phone.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بِمُجَرَّدِ أَنْ أَنْتَهِيَ ،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soon as I finish, I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أَتَمَرَّنُ ______ فِي الأُسْبُوعِ.</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exercise … a week.</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قَبْلَ أَنْ نَذْهَبَ إِلَى النَّوْمِ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Before we go to sleep, we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بَعْدَ المَدْرَسَةِ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school I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ثُمَّ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I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بَعْدَ ذٰلِكَ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that I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قَبْلَ النَّوْمِ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Before sleep I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النِّهَايَةِ أَنَامُ فِي السَّاعَةِ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end I sleep at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قَبْلَ أَنْ  ·  بَعْدَ أَنْ  ·  عِنْدَمَا  ·  ثُمَّ  ·  بَعْدَ ذٰلِكَ  ·  فِي النِّهَايَةِ  ·  أَعُودَ  ·  أَنَامَ  ·  أَخْرُجَ  ·  أُكْمِلُ وَاجِبِي  ·  أَسْتَرِيحُ  ·  أُسَاعِدُ أُسْرَتِي  ·  مَرَّتَيْنِ  ·  أُحَضِّرُ حَقِيبَتِي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words sequencing your school day from waking to sleeping. Use </a:t>
            </a:r>
            <a:pPr algn="l" indent="0" marL="0">
              <a:buNone/>
            </a:pPr>
            <a:r>
              <a:rPr lang="ar-SA" altLang="en-US" sz="1750" b="1" dirty="0">
                <a:solidFill>
                  <a:srgbClr val="1F2A37"/>
                </a:solidFill>
                <a:latin typeface="Amiri" pitchFamily="2" charset="-78"/>
                <a:cs typeface="Amiri" pitchFamily="2" charset="-78"/>
              </a:rPr>
              <a:t>قَبْلَ أَنْ</a:t>
            </a:r>
            <a:pPr algn="l" indent="0" marL="0">
              <a:buNone/>
            </a:pPr>
            <a:r>
              <a:rPr lang="en-US" sz="1350" b="1" dirty="0">
                <a:solidFill>
                  <a:srgbClr val="1F2A37"/>
                </a:solidFill>
                <a:latin typeface="Calibri" pitchFamily="34" charset="0"/>
                <a:cs typeface="Amiri" pitchFamily="2" charset="-78"/>
              </a:rPr>
              <a:t> and </a:t>
            </a:r>
            <a:pPr algn="l" indent="0" marL="0">
              <a:buNone/>
            </a:pPr>
            <a:r>
              <a:rPr lang="ar-SA" altLang="en-US" sz="1750" b="1" dirty="0">
                <a:solidFill>
                  <a:srgbClr val="1F2A37"/>
                </a:solidFill>
                <a:latin typeface="Amiri" pitchFamily="2" charset="-78"/>
                <a:cs typeface="Amiri" pitchFamily="2" charset="-78"/>
              </a:rPr>
              <a:t>بَعْدَ أَنْ</a:t>
            </a:r>
            <a:pPr algn="l" indent="0" marL="0">
              <a:buNone/>
            </a:pPr>
            <a:r>
              <a:rPr lang="en-US" sz="1350" b="1" dirty="0">
                <a:solidFill>
                  <a:srgbClr val="1F2A37"/>
                </a:solidFill>
                <a:latin typeface="Calibri" pitchFamily="34" charset="0"/>
                <a:cs typeface="Amiri" pitchFamily="2" charset="-78"/>
              </a:rPr>
              <a:t> accurately.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cs typeface="Amiri" pitchFamily="2" charset="-78"/>
              </a:rPr>
              <a:t>قَبْلَ أَنْ</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cs typeface="Amiri" pitchFamily="2" charset="-78"/>
              </a:rPr>
              <a:t>بَعْدَ أَنْ</a:t>
            </a:r>
            <a:pPr algn="l" indent="0" marL="0">
              <a:buNone/>
            </a:pPr>
            <a:r>
              <a:rPr lang="en-US" sz="1200" dirty="0">
                <a:solidFill>
                  <a:srgbClr val="1F2A37"/>
                </a:solidFill>
                <a:latin typeface="Calibri" pitchFamily="34" charset="0"/>
                <a:cs typeface="Amiri" pitchFamily="2" charset="-78"/>
              </a:rPr>
              <a:t> at least twice.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one five-verb form with the final </a:t>
            </a:r>
            <a:pPr algn="l" indent="0" marL="0">
              <a:buNone/>
            </a:pPr>
            <a:r>
              <a:rPr lang="ar-SA" altLang="en-US" sz="1550" dirty="0">
                <a:solidFill>
                  <a:srgbClr val="1F2A37"/>
                </a:solidFill>
                <a:latin typeface="Amiri" pitchFamily="2" charset="-78"/>
                <a:cs typeface="Amiri" pitchFamily="2" charset="-78"/>
              </a:rPr>
              <a:t>ن</a:t>
            </a:r>
            <a:pPr algn="l" indent="0" marL="0">
              <a:buNone/>
            </a:pPr>
            <a:r>
              <a:rPr lang="en-US" sz="1200" dirty="0">
                <a:solidFill>
                  <a:srgbClr val="1F2A37"/>
                </a:solidFill>
                <a:latin typeface="Calibri" pitchFamily="34" charset="0"/>
                <a:cs typeface="Amiri" pitchFamily="2" charset="-78"/>
              </a:rPr>
              <a:t> removed.</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frequency and duration.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 contrast between two days or habits.</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Give a reasoned judgement at the end.</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قَبْلَ أَنْ نَذْهَبَ إِلَى النَّوْمِ</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before we go to sleep (</a:t>
            </a:r>
            <a:pPr algn="r" indent="0" marL="0">
              <a:buNone/>
            </a:pPr>
            <a:r>
              <a:rPr lang="ar-SA" altLang="en-US" sz="1350" dirty="0">
                <a:solidFill>
                  <a:srgbClr val="5A6472"/>
                </a:solidFill>
                <a:latin typeface="Amiri" pitchFamily="2" charset="-78"/>
                <a:cs typeface="Amiri" pitchFamily="2" charset="-78"/>
              </a:rPr>
              <a:t>نَذْهَبَ</a:t>
            </a:r>
            <a:pPr algn="r"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بَعْدَ أَنْ تُكْمِلِي وَاجِبَكِ</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after you (f.) finish your homework — no </a:t>
            </a:r>
            <a:pPr algn="r" indent="0" marL="0">
              <a:buNone/>
            </a:pPr>
            <a:r>
              <a:rPr lang="ar-SA" altLang="en-US" sz="1350" dirty="0">
                <a:solidFill>
                  <a:srgbClr val="5A6472"/>
                </a:solidFill>
                <a:latin typeface="Amiri" pitchFamily="2" charset="-78"/>
                <a:cs typeface="Amiri" pitchFamily="2" charset="-78"/>
              </a:rPr>
              <a:t>ن</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يَجْمَعُ بَيْنَ العَمَلِ وَالرَّاحَةِ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combines work and rest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الأَفْضَلِ أَنْ أُقَلِّلَ وَقْتَ الشَّاشَةِ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better that I reduce screen time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وَبِذٰلِكَ لَا أَضْطَرُّ إِلَى العَجَلَةِ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I do not have to rush</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بَعْدَ أَنْ أَعُودَ مِنَ المَدْرَسَةِ، أَتَنَاوَلُ وَجْبَةً خَفِيفَةً وَأَسْتَرِيحُ نِصْفَ سَاعَةٍ. ثُمَّ أُكْمِلُ وَاجِبِي قَبْلَ أَنْ أَسْتَعْمِلَ هَاتِفِي. أَتَمَرَّنُ مَرَّتَيْنِ فِي الأُسْبُوعِ، بَيْنَمَا أَقْضِي يَوْمَ الجُمُعَةِ مَعَ أُسْرَتِي. بَعْدَ العَشَاءِ أُرَاجِعُ دُرُوسِي، وَقَبْلَ أَنْ نَذْهَبَ إِلَى النَّوْمِ نُحَضِّرُ أَشْيَاءَنَا لِلْيَوْمِ التَّالِي. فِي رَأْيِي، رُوتِينِي مُفِيدٌ لِأَنَّهُ يَجْمَعُ بَيْنَ العَمَلِ وَالرَّاحَةِ، وَلٰكِنَّ مِنَ الأَفْضَلِ أَنْ أُقَلِّلَ وَقْتَ الشَّاشَةِ.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After I return from school, I have a snack and rest for half an hour. Then I finish my homework before I use my phone. I exercise twice a week, whereas I spend Friday with my family. After dinner I revise my lessons, and before we go to sleep we prepare our things for the next day. In my opinion, my routine is useful because it combines work and rest, but it is better that I reduce screen time.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verbs with a changed ending after أَنْ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noun after بَعْدَ</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frequency expression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contrast word</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actions are in the right order.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before/after with a noun (no extra word).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t>
            </a:r>
            <a:pPr algn="l" indent="0" marL="0">
              <a:buNone/>
            </a:pPr>
            <a:r>
              <a:rPr lang="ar-SA" altLang="en-US" sz="1700" dirty="0">
                <a:solidFill>
                  <a:srgbClr val="1F2A37"/>
                </a:solidFill>
                <a:latin typeface="Amiri" pitchFamily="2" charset="-78"/>
                <a:cs typeface="Amiri" pitchFamily="2" charset="-78"/>
              </a:rPr>
              <a:t>أَنْ</a:t>
            </a:r>
            <a:pPr algn="l" indent="0" marL="0">
              <a:buNone/>
            </a:pPr>
            <a:r>
              <a:rPr lang="en-US" sz="1300" dirty="0">
                <a:solidFill>
                  <a:srgbClr val="1F2A37"/>
                </a:solidFill>
                <a:latin typeface="Calibri" pitchFamily="34" charset="0"/>
                <a:cs typeface="Amiri" pitchFamily="2" charset="-78"/>
              </a:rPr>
              <a:t>, my verb ends in fatḥa.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said how often (once / twice a week).</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dropped the final </a:t>
            </a:r>
            <a:pPr algn="l" indent="0" marL="0">
              <a:buNone/>
            </a:pPr>
            <a:r>
              <a:rPr lang="ar-SA" altLang="en-US" sz="1700" dirty="0">
                <a:solidFill>
                  <a:srgbClr val="1F2A37"/>
                </a:solidFill>
                <a:latin typeface="Amiri" pitchFamily="2" charset="-78"/>
                <a:cs typeface="Amiri" pitchFamily="2" charset="-78"/>
              </a:rPr>
              <a:t>ن</a:t>
            </a:r>
            <a:pPr algn="l" indent="0" marL="0">
              <a:buNone/>
            </a:pPr>
            <a:r>
              <a:rPr lang="en-US" sz="1300" dirty="0">
                <a:solidFill>
                  <a:srgbClr val="1F2A37"/>
                </a:solidFill>
                <a:latin typeface="Calibri" pitchFamily="34" charset="0"/>
                <a:cs typeface="Amiri" pitchFamily="2" charset="-78"/>
              </a:rPr>
              <a:t> of a five verb after </a:t>
            </a:r>
            <a:pPr algn="l" indent="0" marL="0">
              <a:buNone/>
            </a:pPr>
            <a:r>
              <a:rPr lang="ar-SA" altLang="en-US" sz="1700" dirty="0">
                <a:solidFill>
                  <a:srgbClr val="1F2A37"/>
                </a:solidFill>
                <a:latin typeface="Amiri" pitchFamily="2" charset="-78"/>
                <a:cs typeface="Amiri" pitchFamily="2" charset="-78"/>
              </a:rPr>
              <a:t>أَنْ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قَبْلَ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إِلَى النَّوْمِ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أَذْهَبَ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أَذْهَبُ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ذَهَبْتُ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needs no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بَعْدَ أَنْ أَتَعَشَّى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بَعْدَ العَشَاءِ</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قَبْلَ أَنْ أَنَامَ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five-verb form.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قَبْلَ أَنْ تَخْرُجُوا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قَبْلَ أَنْ تَخْرُجُونَ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قَبْلَ أَنْ خَرَجْتُمْ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قَبْلَ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إِلَى النَّوْمِ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أَذْهَبَ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أَذْهَبُ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ذَهَبْتُ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use the subjunctive.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needs no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بَعْدَ أَنْ أَتَعَشَّى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بَعْدَ العَشَاءِ</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قَبْلَ أَنْ أَنَامَ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العَشَاءِ</a:t>
            </a:r>
            <a:pPr algn="l" indent="0" marL="0">
              <a:buNone/>
            </a:pPr>
            <a:r>
              <a:rPr lang="en-US" sz="1050" i="1" dirty="0">
                <a:solidFill>
                  <a:srgbClr val="8A6D1E"/>
                </a:solidFill>
                <a:latin typeface="Calibri" pitchFamily="34" charset="0"/>
                <a:cs typeface="Amiri" pitchFamily="2" charset="-78"/>
              </a:rPr>
              <a:t> is a noun.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five-verb form.</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قَبْلَ أَنْ تَخْرُجُوا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قَبْلَ أَنْ تَخْرُجُونَ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قَبْلَ أَنْ خَرَجْتُمْ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Drop final </a:t>
            </a:r>
            <a:pPr algn="l" indent="0" marL="0">
              <a:buNone/>
            </a:pPr>
            <a:r>
              <a:rPr lang="ar-SA" altLang="en-US" sz="1350" dirty="0">
                <a:solidFill>
                  <a:srgbClr val="8A6D1E"/>
                </a:solidFill>
                <a:latin typeface="Amiri" pitchFamily="2" charset="-78"/>
                <a:cs typeface="Amiri" pitchFamily="2" charset="-78"/>
              </a:rPr>
              <a:t>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balanced evening</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تَعْتَقِدُ لَيْلَى أَنَّ المَسَاءَ المُنَظَّمَ يُؤَثِّرُ فِي اليَوْمِ التَّالِي. بَعْدَ المَدْرَسَةِ تَسْتَرِيحُ قَلِيلًا، وَلٰكِنَّهَا لَا تَسْتَعْمِلُ الأَلْعَابَ الإِلِكْتُرُونِيَّةَ قَبْلَ أَنْ تُكْمِلَ وَاجِبَهَا. عِنْدَمَا تَنْتَهِي، تَتَمَرَّنُ أَوْ تَمْشِي مَعَ أُمِّهَا. بَعْدَ العَشَاءِ تُرَاجِعُ مَا سَتَحْتَاجُ إِلَيْهِ فِي المَدْرَسَةِ. تَتَجَنَّبُ المَشْرُوبَاتِ الَّتِي تَحْتَوِي عَلَى الكَافِيِينِ قَبْلَ النَّوْمِ، لِأَنَّهَا تُرِيدُ أَنْ تَنَامَ بِعُمْقٍ. تَقْرَأُ عَشْرَ دَقَائِقَ، ثُمَّ تَخْلُدُ إِلَى النَّوْمِ.</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تَعْتَقِدُ</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believes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المُنَظَّمَ</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organised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يُؤَثِّرُ فِي</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affects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اليَوْمِ التَّالِي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next day</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الأَلْعَابَ الإِلِكْتُرُونِيَّةَ</a:t>
            </a:r>
            <a:endParaRPr lang="ar-SA" sz="155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electronic games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تَمْشِي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walks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تُرَاجِعُ</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reviews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تَتَجَنَّبُ</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avoids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الكَافِيِينِ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caffeine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بِعُمْقٍ</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deeply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Layla’s main belief?</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games improve homework</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organised evening improves the next day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 is unnecessary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she do before electronic games?</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 dinner</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walk</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finish homework</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do after finishing?</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exercise or walk</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drink coffee</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 straight to sleep</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review after dinner?</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television programme</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she needs for school</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travel timetable</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avoid caffeine?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sleep deeply</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wake later</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train harder</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detail shows a calm bedtime routine?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playing games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doing more homework</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for ten minutes</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Layla’s main belief?</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games improve homework</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an organised evening improves the next day</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 is unnecessary</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opening states that an organised evening affects the next day.</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she do before electronic games?</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eat dinner</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walk</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finish homework</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قَبْلَ أَنْ تُكْمِلَ وَاجِبَهَا.</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do after finishing?</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exercise or walk</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drink coffee</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 straight to sleep</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تَتَمَرَّنُ أَوْ تَمْشِي.</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review after dinner?</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television programme</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what she needs for school</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travel timetable</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مَا سَتَحْتَاجُ إِلَيْهِ فِي المَدْرَسَةِ.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avoid caffeine?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sleep deeply</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wake later</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train harder</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لِأَنَّهَا تُرِيدُ أَنْ تَنَامَ بِعُمْقٍ.</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detail shows a calm bedtime routine?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playing games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doing more homework</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reading for ten minutes</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reads briefly before sleep.</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Sequence sentence rescue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for “before I leave”.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قَبْلَ أَنْ أَخْرُجُ</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قَبْلَ أَنْ أَخْرُجَ</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قَبْلَ أَخْرُجَ أَنْ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for “after we return”.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بَعْدَ أَنْ نَعُودَ</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بَعْدَ أَنْ نَعُودُ</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بَعْدَ نَحْنُ نَعُودَ</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cs typeface="Amiri" pitchFamily="2" charset="-78"/>
              </a:rPr>
              <a:t>بَعْدَ أَنْ ___ وَاجِبِي أَسْتَرِيحُ.</a:t>
            </a:r>
            <a:endParaRPr lang="ar-SA"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أُكْمِلُ</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أَكْمَلْتُ</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أُكْمِلَ</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“I eat dinner after I finish my homework”?</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أَتَنَاوَلُ العَشَاءَ قَبْلَ وَاجِبِي أَنْ.</a:t>
            </a:r>
            <a:endParaRPr lang="ar-SA" sz="180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بَعْدَ العَشَاءِ أُكْمِلَ أَنْ وَاجِبِي.</a:t>
            </a:r>
            <a:endParaRPr lang="ar-SA" sz="180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أَتَنَاوَلُ العَشَاءَ بَعْدَ أَنْ أُكْمِلَ وَاجِبِي.</a:t>
            </a:r>
            <a:endParaRPr lang="ar-SA" sz="180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“as soon as” sentence.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بِمُجَرَّدِ أَنْ أَنْتَهِيَ أَسْتَرِيحُ.</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بِمُجَرَّدِ أَنَا أَنْتَهِي أَسْتَرِيحُ.</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بِمُجَرَّدِ أَنْ أَنْتَهِيُ أَسْتَرِيحُ.</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87" name="Text 8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cs typeface="Amiri" pitchFamily="2" charset="-78"/>
              </a:rPr>
              <a:t>بَعْدَ أَنْ أُرَاجِعُ دُرُوسِي أَنَامُ.</a:t>
            </a:r>
            <a:endParaRPr lang="ar-SA"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بَعْدَ أَنْ يُرَاجِعُ دُرُوسِي أَنَامُ.</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بَعْدَ أَنْ أُرَاجِعَ دُرُوسِي أَنَامُ.</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بَعْدَ أُرَاجِعَ أَنْ دُرُوسِي أَنَامُ.</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for “before I leave”.</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قَبْلَ أَنْ أَخْرُجُ</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قَبْلَ أَنْ أَخْرُجَ</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قَبْلَ أَخْرُجَ أَنْ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قَبْلَ أَنْ</a:t>
            </a:r>
            <a:pPr algn="l" indent="0" marL="0">
              <a:buNone/>
            </a:pPr>
            <a:r>
              <a:rPr lang="en-US" sz="1050" i="1" dirty="0">
                <a:solidFill>
                  <a:srgbClr val="8A6D1E"/>
                </a:solidFill>
                <a:latin typeface="Calibri" pitchFamily="34" charset="0"/>
                <a:cs typeface="Amiri" pitchFamily="2" charset="-78"/>
              </a:rPr>
              <a:t>, the present verb takes the subjunctive ending: </a:t>
            </a:r>
            <a:pPr algn="l" indent="0" marL="0">
              <a:buNone/>
            </a:pPr>
            <a:r>
              <a:rPr lang="ar-SA" altLang="en-US" sz="1350" dirty="0">
                <a:solidFill>
                  <a:srgbClr val="8A6D1E"/>
                </a:solidFill>
                <a:latin typeface="Amiri" pitchFamily="2" charset="-78"/>
                <a:cs typeface="Amiri" pitchFamily="2" charset="-78"/>
              </a:rPr>
              <a:t>أَخْرُجَ</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for “after we return”.</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بَعْدَ أَنْ نَعُودَ</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بَعْدَ أَنْ نَعُودُ</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بَعْدَ نَحْنُ نَعُودَ</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cs typeface="Amiri" pitchFamily="2" charset="-78"/>
              </a:rPr>
              <a:t>نَعُودُ</a:t>
            </a:r>
            <a:pPr algn="l" indent="0" marL="0">
              <a:buNone/>
            </a:pPr>
            <a:r>
              <a:rPr lang="en-US" sz="1050" i="1" dirty="0">
                <a:solidFill>
                  <a:srgbClr val="8A6D1E"/>
                </a:solidFill>
                <a:latin typeface="Calibri" pitchFamily="34" charset="0"/>
                <a:cs typeface="Amiri" pitchFamily="2" charset="-78"/>
              </a:rPr>
              <a:t> changes to </a:t>
            </a:r>
            <a:pPr algn="l" indent="0" marL="0">
              <a:buNone/>
            </a:pPr>
            <a:r>
              <a:rPr lang="ar-SA" altLang="en-US" sz="1350" dirty="0">
                <a:solidFill>
                  <a:srgbClr val="8A6D1E"/>
                </a:solidFill>
                <a:latin typeface="Amiri" pitchFamily="2" charset="-78"/>
                <a:cs typeface="Amiri" pitchFamily="2" charset="-78"/>
              </a:rPr>
              <a:t>نَعُودَ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cs typeface="Amiri" pitchFamily="2" charset="-78"/>
              </a:rPr>
              <a:t>بَعْدَ أَنْ ___ وَاجِبِي أَسْتَرِيحُ.</a:t>
            </a:r>
            <a:endParaRPr lang="ar-SA"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أُكْمِلُ</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أَكْمَلْتُ</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أُكْمِلَ</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is subjunctive: </a:t>
            </a:r>
            <a:pPr algn="l" indent="0" marL="0">
              <a:buNone/>
            </a:pPr>
            <a:r>
              <a:rPr lang="ar-SA" altLang="en-US" sz="1350" dirty="0">
                <a:solidFill>
                  <a:srgbClr val="8A6D1E"/>
                </a:solidFill>
                <a:latin typeface="Amiri" pitchFamily="2" charset="-78"/>
                <a:cs typeface="Amiri" pitchFamily="2" charset="-78"/>
              </a:rPr>
              <a:t>أُكْمِلَ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“I eat dinner after I finish my homework”?</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أَتَنَاوَلُ العَشَاءَ قَبْلَ وَاجِبِي أَنْ.</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بَعْدَ العَشَاءِ أُكْمِلَ أَنْ وَاجِبِي.</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أَتَنَاوَلُ العَشَاءَ بَعْدَ أَنْ أُكْمِلَ وَاجِبِي.</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sequence is clear: main action + </a:t>
            </a:r>
            <a:pPr algn="l" indent="0" marL="0">
              <a:buNone/>
            </a:pPr>
            <a:r>
              <a:rPr lang="ar-SA" altLang="en-US" sz="1350" dirty="0">
                <a:solidFill>
                  <a:srgbClr val="8A6D1E"/>
                </a:solidFill>
                <a:latin typeface="Amiri" pitchFamily="2" charset="-78"/>
                <a:cs typeface="Amiri" pitchFamily="2" charset="-78"/>
              </a:rPr>
              <a:t>بَعْدَ أَنْ</a:t>
            </a:r>
            <a:pPr algn="l" indent="0" marL="0">
              <a:buNone/>
            </a:pPr>
            <a:r>
              <a:rPr lang="en-US" sz="1050" i="1" dirty="0">
                <a:solidFill>
                  <a:srgbClr val="8A6D1E"/>
                </a:solidFill>
                <a:latin typeface="Calibri" pitchFamily="34" charset="0"/>
                <a:cs typeface="Amiri" pitchFamily="2" charset="-78"/>
              </a:rPr>
              <a:t> + completed action.</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“as soon as” sentence.</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بِمُجَرَّدِ أَنْ أَنْتَهِيَ أَسْتَرِيحُ.</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بِمُجَرَّدِ أَنَا أَنْتَهِي أَسْتَرِيحُ.</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بِمُجَرَّدِ أَنْ أَنْتَهِيُ أَسْتَرِيحُ.</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بِمُجَرَّدِ أَنْ</a:t>
            </a:r>
            <a:pPr algn="l" indent="0" marL="0">
              <a:buNone/>
            </a:pPr>
            <a:r>
              <a:rPr lang="en-US" sz="1050" i="1" dirty="0">
                <a:solidFill>
                  <a:srgbClr val="8A6D1E"/>
                </a:solidFill>
                <a:latin typeface="Calibri" pitchFamily="34" charset="0"/>
                <a:cs typeface="Amiri" pitchFamily="2" charset="-78"/>
              </a:rPr>
              <a:t> is followed by a subjunctive present verb: </a:t>
            </a:r>
            <a:pPr algn="l" indent="0" marL="0">
              <a:buNone/>
            </a:pPr>
            <a:r>
              <a:rPr lang="ar-SA" altLang="en-US" sz="1350" dirty="0">
                <a:solidFill>
                  <a:srgbClr val="8A6D1E"/>
                </a:solidFill>
                <a:latin typeface="Amiri" pitchFamily="2" charset="-78"/>
                <a:cs typeface="Amiri" pitchFamily="2" charset="-78"/>
              </a:rPr>
              <a:t>أَنْتَهِيَ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96" name="Text 9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cs typeface="Amiri" pitchFamily="2" charset="-78"/>
              </a:rPr>
              <a:t>بَعْدَ أَنْ أُرَاجِعُ دُرُوسِي أَنَامُ.</a:t>
            </a:r>
            <a:endParaRPr lang="ar-SA"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بَعْدَ أَنْ يُرَاجِعُ دُرُوسِي أَنَامُ.</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بَعْدَ أَنْ أُرَاجِعَ دُرُوسِي أَنَامُ.</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بَعْدَ أُرَاجِعَ أَنْ دُرُوسِي أَنَامُ.</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أُرَاجِعُ</a:t>
            </a:r>
            <a:pPr algn="l" indent="0" marL="0">
              <a:buNone/>
            </a:pPr>
            <a:r>
              <a:rPr lang="en-US" sz="1050" i="1" dirty="0">
                <a:solidFill>
                  <a:srgbClr val="8A6D1E"/>
                </a:solidFill>
                <a:latin typeface="Calibri" pitchFamily="34" charset="0"/>
                <a:cs typeface="Amiri" pitchFamily="2" charset="-78"/>
              </a:rPr>
              <a:t> becomes </a:t>
            </a:r>
            <a:pPr algn="l" indent="0" marL="0">
              <a:buNone/>
            </a:pPr>
            <a:r>
              <a:rPr lang="ar-SA" altLang="en-US" sz="1350" dirty="0">
                <a:solidFill>
                  <a:srgbClr val="8A6D1E"/>
                </a:solidFill>
                <a:latin typeface="Amiri" pitchFamily="2" charset="-78"/>
                <a:cs typeface="Amiri" pitchFamily="2" charset="-78"/>
              </a:rPr>
              <a:t>أُرَاجِعَ</a:t>
            </a:r>
            <a:pPr algn="l" indent="0" marL="0">
              <a:buNone/>
            </a:pPr>
            <a:r>
              <a:rPr lang="en-US" sz="1050" i="1" dirty="0">
                <a:solidFill>
                  <a:srgbClr val="8A6D1E"/>
                </a:solidFill>
                <a:latin typeface="Calibri" pitchFamily="34" charset="0"/>
                <a:cs typeface="Amiri" pitchFamily="2" charset="-78"/>
              </a:rPr>
              <a:t> 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D1-L04 · Before and After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D1-L05: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D1-L05 · After School and Evening Routine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أُغَيِّرُ مَلَابِسِي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change my clothes</a:t>
            </a:r>
            <a:pPr indent="0" marL="0">
              <a:buNone/>
            </a:pPr>
            <a:r>
              <a:rPr lang="en-US" sz="1000" i="1" dirty="0">
                <a:solidFill>
                  <a:srgbClr val="5A6472"/>
                </a:solidFill>
                <a:latin typeface="Calibri" pitchFamily="34" charset="0"/>
                <a:cs typeface="Amiri" pitchFamily="2" charset="-78"/>
              </a:rPr>
              <a:t>  he: يُغَيِّرُ</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أَتَنَاوَلُ وَجْبَةً خَفِيفَةً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have a snack</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أُرَتِّبُ غُرْفَتِي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tidy my room</a:t>
            </a:r>
            <a:pPr indent="0" marL="0">
              <a:buNone/>
            </a:pPr>
            <a:r>
              <a:rPr lang="en-US" sz="1000" i="1" dirty="0">
                <a:solidFill>
                  <a:srgbClr val="5A6472"/>
                </a:solidFill>
                <a:latin typeface="Calibri" pitchFamily="34" charset="0"/>
                <a:cs typeface="Amiri" pitchFamily="2" charset="-78"/>
              </a:rPr>
              <a:t>  he: يُرَتِّبُ</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أَغْسِلُ الأَطْبَاقَ</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wash the dishes</a:t>
            </a:r>
            <a:pPr indent="0" marL="0">
              <a:buNone/>
            </a:pPr>
            <a:r>
              <a:rPr lang="en-US" sz="1000" i="1" dirty="0">
                <a:solidFill>
                  <a:srgbClr val="5A6472"/>
                </a:solidFill>
                <a:latin typeface="Calibri" pitchFamily="34" charset="0"/>
                <a:cs typeface="Amiri" pitchFamily="2" charset="-78"/>
              </a:rPr>
              <a:t>  he: يَغْسِلُ</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لِمُدَّةِ نِصْفِ سَاعَةٍ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for half an hour</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do you do between arriving home and going to bed? Put five actions in order.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مَاذَا تَفْعَلُ فِي المَسَاءِ؟</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D1-L04: the picture game “Which comes first?” and the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8 sentences about your afternoon with </a:t>
            </a:r>
            <a:pPr algn="l" indent="0" marL="0">
              <a:buNone/>
            </a:pPr>
            <a:r>
              <a:rPr lang="ar-SA" altLang="en-US" sz="1550" dirty="0">
                <a:solidFill>
                  <a:srgbClr val="1F2A37"/>
                </a:solidFill>
                <a:latin typeface="Amiri" pitchFamily="2" charset="-78"/>
                <a:cs typeface="Amiri" pitchFamily="2" charset="-78"/>
              </a:rPr>
              <a:t>قَبْلَ أَنْ / بَعْدَ أَنْ</a:t>
            </a:r>
            <a:pPr algn="l" indent="0" marL="0">
              <a:buNone/>
            </a:pPr>
            <a:r>
              <a:rPr lang="en-US" sz="1200" dirty="0">
                <a:solidFill>
                  <a:srgbClr val="1F2A37"/>
                </a:solidFill>
                <a:latin typeface="Calibri" pitchFamily="34" charset="0"/>
                <a:cs typeface="Amiri" pitchFamily="2" charset="-78"/>
              </a:rPr>
              <a:t> — colour every changed ending.</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100–120 words, waking to sleeping.</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D1-L04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cs typeface="Amiri" pitchFamily="2" charset="-78"/>
              </a:rPr>
              <a:t>D1-L05 · After School and Evening Routine</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بَعْدَ المَدْرَسَةِ وَرُوتِينُ المَسَاءِ</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noun → no </a:t>
            </a:r>
            <a:pPr algn="l" indent="0" marL="0">
              <a:buNone/>
            </a:pPr>
            <a:r>
              <a:rPr lang="ar-SA" altLang="en-US" sz="1700" b="1" dirty="0">
                <a:solidFill>
                  <a:srgbClr val="FFFFFF"/>
                </a:solidFill>
                <a:latin typeface="Amiri" pitchFamily="2" charset="-78"/>
                <a:cs typeface="Amiri" pitchFamily="2" charset="-78"/>
              </a:rPr>
              <a:t>أَنْ</a:t>
            </a:r>
            <a:pPr algn="l" indent="0" marL="0">
              <a:buNone/>
            </a:pPr>
            <a:r>
              <a:rPr lang="en-US" sz="1300" b="1" dirty="0">
                <a:solidFill>
                  <a:srgbClr val="FFFFFF"/>
                </a:solidFill>
                <a:latin typeface="Calibri" pitchFamily="34" charset="0"/>
                <a:cs typeface="Amiri" pitchFamily="2" charset="-78"/>
              </a:rPr>
              <a:t>. Verb → </a:t>
            </a:r>
            <a:pPr algn="l" indent="0" marL="0">
              <a:buNone/>
            </a:pPr>
            <a:r>
              <a:rPr lang="ar-SA" altLang="en-US" sz="1700" b="1" dirty="0">
                <a:solidFill>
                  <a:srgbClr val="FFFFFF"/>
                </a:solidFill>
                <a:latin typeface="Amiri" pitchFamily="2" charset="-78"/>
                <a:cs typeface="Amiri" pitchFamily="2" charset="-78"/>
              </a:rPr>
              <a:t>أَنْ</a:t>
            </a:r>
            <a:pPr algn="l" indent="0" marL="0">
              <a:buNone/>
            </a:pPr>
            <a:r>
              <a:rPr lang="en-US" sz="1300" b="1" dirty="0">
                <a:solidFill>
                  <a:srgbClr val="FFFFFF"/>
                </a:solidFill>
                <a:latin typeface="Calibri" pitchFamily="34" charset="0"/>
                <a:cs typeface="Amiri" pitchFamily="2" charset="-78"/>
              </a:rPr>
              <a:t> + fatḥa.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D1-L04 · Before and After — Sequencing My Day</dc:title>
  <dc:subject>PptxGenJS Presentation</dc:subject>
  <dc:creator>Al Madina Online School · Arabic Department</dc:creator>
  <cp:lastModifiedBy>Al Madina Online School · Arabic Department</cp:lastModifiedBy>
  <cp:revision>1</cp:revision>
  <dcterms:created xsi:type="dcterms:W3CDTF">2026-10-11T06:40:27Z</dcterms:created>
  <dcterms:modified xsi:type="dcterms:W3CDTF">2026-10-11T06:40:27Z</dcterms:modified>
</cp:coreProperties>
</file>